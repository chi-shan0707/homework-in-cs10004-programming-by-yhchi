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81"/>
  </p:notesMasterIdLst>
  <p:sldIdLst>
    <p:sldId id="256" r:id="rId2"/>
    <p:sldId id="478" r:id="rId3"/>
    <p:sldId id="477" r:id="rId4"/>
    <p:sldId id="525" r:id="rId5"/>
    <p:sldId id="294" r:id="rId6"/>
    <p:sldId id="301" r:id="rId7"/>
    <p:sldId id="302" r:id="rId8"/>
    <p:sldId id="303" r:id="rId9"/>
    <p:sldId id="488" r:id="rId10"/>
    <p:sldId id="507" r:id="rId11"/>
    <p:sldId id="508" r:id="rId12"/>
    <p:sldId id="510" r:id="rId13"/>
    <p:sldId id="492" r:id="rId14"/>
    <p:sldId id="493" r:id="rId15"/>
    <p:sldId id="494" r:id="rId16"/>
    <p:sldId id="495" r:id="rId17"/>
    <p:sldId id="496" r:id="rId18"/>
    <p:sldId id="504" r:id="rId19"/>
    <p:sldId id="505" r:id="rId20"/>
    <p:sldId id="497" r:id="rId21"/>
    <p:sldId id="473" r:id="rId22"/>
    <p:sldId id="339" r:id="rId23"/>
    <p:sldId id="446" r:id="rId24"/>
    <p:sldId id="476" r:id="rId25"/>
    <p:sldId id="449" r:id="rId26"/>
    <p:sldId id="484" r:id="rId27"/>
    <p:sldId id="485" r:id="rId28"/>
    <p:sldId id="486" r:id="rId29"/>
    <p:sldId id="448" r:id="rId30"/>
    <p:sldId id="363" r:id="rId31"/>
    <p:sldId id="475" r:id="rId32"/>
    <p:sldId id="450" r:id="rId33"/>
    <p:sldId id="451" r:id="rId34"/>
    <p:sldId id="452" r:id="rId35"/>
    <p:sldId id="453" r:id="rId36"/>
    <p:sldId id="481" r:id="rId37"/>
    <p:sldId id="412" r:id="rId38"/>
    <p:sldId id="365" r:id="rId39"/>
    <p:sldId id="366" r:id="rId40"/>
    <p:sldId id="460" r:id="rId41"/>
    <p:sldId id="367" r:id="rId42"/>
    <p:sldId id="461" r:id="rId43"/>
    <p:sldId id="512" r:id="rId44"/>
    <p:sldId id="372" r:id="rId45"/>
    <p:sldId id="464" r:id="rId46"/>
    <p:sldId id="373" r:id="rId47"/>
    <p:sldId id="374" r:id="rId48"/>
    <p:sldId id="375" r:id="rId49"/>
    <p:sldId id="466" r:id="rId50"/>
    <p:sldId id="381" r:id="rId51"/>
    <p:sldId id="414" r:id="rId52"/>
    <p:sldId id="379" r:id="rId53"/>
    <p:sldId id="415" r:id="rId54"/>
    <p:sldId id="380" r:id="rId55"/>
    <p:sldId id="382" r:id="rId56"/>
    <p:sldId id="383" r:id="rId57"/>
    <p:sldId id="384" r:id="rId58"/>
    <p:sldId id="385" r:id="rId59"/>
    <p:sldId id="418" r:id="rId60"/>
    <p:sldId id="443" r:id="rId61"/>
    <p:sldId id="442" r:id="rId62"/>
    <p:sldId id="419" r:id="rId63"/>
    <p:sldId id="420" r:id="rId64"/>
    <p:sldId id="421" r:id="rId65"/>
    <p:sldId id="521" r:id="rId66"/>
    <p:sldId id="522" r:id="rId67"/>
    <p:sldId id="523" r:id="rId68"/>
    <p:sldId id="513" r:id="rId69"/>
    <p:sldId id="514" r:id="rId70"/>
    <p:sldId id="517" r:id="rId71"/>
    <p:sldId id="519" r:id="rId72"/>
    <p:sldId id="520" r:id="rId73"/>
    <p:sldId id="422" r:id="rId74"/>
    <p:sldId id="423" r:id="rId75"/>
    <p:sldId id="424" r:id="rId76"/>
    <p:sldId id="425" r:id="rId77"/>
    <p:sldId id="430" r:id="rId78"/>
    <p:sldId id="439" r:id="rId79"/>
    <p:sldId id="440" r:id="rId80"/>
  </p:sldIdLst>
  <p:sldSz cx="9144000" cy="6858000" type="screen4x3"/>
  <p:notesSz cx="6858000" cy="9144000"/>
  <p:defaultTextStyle>
    <a:defPPr>
      <a:defRPr lang="en-US"/>
    </a:defPPr>
    <a:lvl1pPr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1pPr>
    <a:lvl2pPr marL="4572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2pPr>
    <a:lvl3pPr marL="9144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3pPr>
    <a:lvl4pPr marL="13716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4pPr>
    <a:lvl5pPr marL="18288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5pPr>
    <a:lvl6pPr marL="2286000" algn="l" defTabSz="914400" rtl="0" eaLnBrk="1" latinLnBrk="0" hangingPunct="1">
      <a:defRPr sz="3200" kern="1200">
        <a:solidFill>
          <a:schemeClr val="tx1"/>
        </a:solidFill>
        <a:latin typeface="Times New Roman" pitchFamily="18" charset="0"/>
        <a:ea typeface="隶书" pitchFamily="49" charset="-122"/>
        <a:cs typeface="+mn-cs"/>
      </a:defRPr>
    </a:lvl6pPr>
    <a:lvl7pPr marL="2743200" algn="l" defTabSz="914400" rtl="0" eaLnBrk="1" latinLnBrk="0" hangingPunct="1">
      <a:defRPr sz="3200" kern="1200">
        <a:solidFill>
          <a:schemeClr val="tx1"/>
        </a:solidFill>
        <a:latin typeface="Times New Roman" pitchFamily="18" charset="0"/>
        <a:ea typeface="隶书" pitchFamily="49" charset="-122"/>
        <a:cs typeface="+mn-cs"/>
      </a:defRPr>
    </a:lvl7pPr>
    <a:lvl8pPr marL="3200400" algn="l" defTabSz="914400" rtl="0" eaLnBrk="1" latinLnBrk="0" hangingPunct="1">
      <a:defRPr sz="3200" kern="1200">
        <a:solidFill>
          <a:schemeClr val="tx1"/>
        </a:solidFill>
        <a:latin typeface="Times New Roman" pitchFamily="18" charset="0"/>
        <a:ea typeface="隶书" pitchFamily="49" charset="-122"/>
        <a:cs typeface="+mn-cs"/>
      </a:defRPr>
    </a:lvl8pPr>
    <a:lvl9pPr marL="3657600" algn="l" defTabSz="914400" rtl="0" eaLnBrk="1" latinLnBrk="0" hangingPunct="1">
      <a:defRPr sz="3200" kern="1200">
        <a:solidFill>
          <a:schemeClr val="tx1"/>
        </a:solidFill>
        <a:latin typeface="Times New Roman" pitchFamily="18" charset="0"/>
        <a:ea typeface="隶书"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66"/>
    <a:srgbClr val="FF6600"/>
    <a:srgbClr val="CC0000"/>
    <a:srgbClr val="008080"/>
    <a:srgbClr val="0000FF"/>
    <a:srgbClr val="FFFF99"/>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6" autoAdjust="0"/>
    <p:restoredTop sz="95455" autoAdjust="0"/>
  </p:normalViewPr>
  <p:slideViewPr>
    <p:cSldViewPr>
      <p:cViewPr>
        <p:scale>
          <a:sx n="86" d="100"/>
          <a:sy n="86" d="100"/>
        </p:scale>
        <p:origin x="1358" y="154"/>
      </p:cViewPr>
      <p:guideLst>
        <p:guide orient="horz" pos="2160"/>
        <p:guide pos="2880"/>
      </p:guideLst>
    </p:cSldViewPr>
  </p:slideViewPr>
  <p:outlineViewPr>
    <p:cViewPr>
      <p:scale>
        <a:sx n="33" d="100"/>
        <a:sy n="33" d="100"/>
      </p:scale>
      <p:origin x="0" y="1071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2447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901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447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447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2447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CC4AF74-579E-4D7D-AD7F-D1F891650F9A}" type="slidenum">
              <a:rPr lang="zh-CN" altLang="en-US"/>
              <a:pPr>
                <a:defRPr/>
              </a:pPr>
              <a:t>‹#›</a:t>
            </a:fld>
            <a:endParaRPr lang="en-US" altLang="zh-CN"/>
          </a:p>
        </p:txBody>
      </p:sp>
    </p:spTree>
    <p:extLst>
      <p:ext uri="{BB962C8B-B14F-4D97-AF65-F5344CB8AC3E}">
        <p14:creationId xmlns:p14="http://schemas.microsoft.com/office/powerpoint/2010/main" val="36229955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苏启松  </a:t>
            </a:r>
            <a:r>
              <a:rPr lang="en-US" altLang="zh-CN" dirty="0"/>
              <a:t>24210240294</a:t>
            </a:r>
            <a:endParaRPr lang="zh-CN" altLang="en-US"/>
          </a:p>
          <a:p>
            <a:endParaRPr lang="zh-CN" altLang="en-US"/>
          </a:p>
        </p:txBody>
      </p:sp>
      <p:sp>
        <p:nvSpPr>
          <p:cNvPr id="4" name="灯片编号占位符 3"/>
          <p:cNvSpPr>
            <a:spLocks noGrp="1"/>
          </p:cNvSpPr>
          <p:nvPr>
            <p:ph type="sldNum" sz="quarter" idx="5"/>
          </p:nvPr>
        </p:nvSpPr>
        <p:spPr/>
        <p:txBody>
          <a:bodyPr/>
          <a:lstStyle/>
          <a:p>
            <a:pPr>
              <a:defRPr/>
            </a:pPr>
            <a:fld id="{CCC4AF74-579E-4D7D-AD7F-D1F891650F9A}" type="slidenum">
              <a:rPr lang="zh-CN" altLang="en-US" smtClean="0"/>
              <a:pPr>
                <a:defRPr/>
              </a:pPr>
              <a:t>2</a:t>
            </a:fld>
            <a:endParaRPr lang="en-US" altLang="zh-CN"/>
          </a:p>
        </p:txBody>
      </p:sp>
    </p:spTree>
    <p:extLst>
      <p:ext uri="{BB962C8B-B14F-4D97-AF65-F5344CB8AC3E}">
        <p14:creationId xmlns:p14="http://schemas.microsoft.com/office/powerpoint/2010/main" val="1011887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CC4AF74-579E-4D7D-AD7F-D1F891650F9A}" type="slidenum">
              <a:rPr lang="zh-CN" altLang="en-US" smtClean="0"/>
              <a:pPr>
                <a:defRPr/>
              </a:pPr>
              <a:t>30</a:t>
            </a:fld>
            <a:endParaRPr lang="en-US" altLang="zh-CN"/>
          </a:p>
        </p:txBody>
      </p:sp>
    </p:spTree>
    <p:extLst>
      <p:ext uri="{BB962C8B-B14F-4D97-AF65-F5344CB8AC3E}">
        <p14:creationId xmlns:p14="http://schemas.microsoft.com/office/powerpoint/2010/main" val="2657584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CC4AF74-579E-4D7D-AD7F-D1F891650F9A}" type="slidenum">
              <a:rPr lang="zh-CN" altLang="en-US" smtClean="0"/>
              <a:pPr>
                <a:defRPr/>
              </a:pPr>
              <a:t>52</a:t>
            </a:fld>
            <a:endParaRPr lang="en-US" altLang="zh-CN"/>
          </a:p>
        </p:txBody>
      </p:sp>
    </p:spTree>
    <p:extLst>
      <p:ext uri="{BB962C8B-B14F-4D97-AF65-F5344CB8AC3E}">
        <p14:creationId xmlns:p14="http://schemas.microsoft.com/office/powerpoint/2010/main" val="410784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ltLang="zh-CN"/>
          </a:p>
        </p:txBody>
      </p:sp>
      <p:sp>
        <p:nvSpPr>
          <p:cNvPr id="5" name="Footer Placeholder 18"/>
          <p:cNvSpPr>
            <a:spLocks noGrp="1"/>
          </p:cNvSpPr>
          <p:nvPr>
            <p:ph type="ftr" sz="quarter" idx="11"/>
          </p:nvPr>
        </p:nvSpPr>
        <p:spPr/>
        <p:txBody>
          <a:bodyPr/>
          <a:lstStyle>
            <a:lvl1pPr>
              <a:defRPr/>
            </a:lvl1pPr>
          </a:lstStyle>
          <a:p>
            <a:pPr>
              <a:defRPr/>
            </a:pPr>
            <a:endParaRPr lang="en-US" altLang="zh-CN"/>
          </a:p>
        </p:txBody>
      </p:sp>
      <p:sp>
        <p:nvSpPr>
          <p:cNvPr id="6" name="Slide Number Placeholder 26"/>
          <p:cNvSpPr>
            <a:spLocks noGrp="1"/>
          </p:cNvSpPr>
          <p:nvPr>
            <p:ph type="sldNum" sz="quarter" idx="12"/>
          </p:nvPr>
        </p:nvSpPr>
        <p:spPr/>
        <p:txBody>
          <a:bodyPr/>
          <a:lstStyle>
            <a:lvl1pPr>
              <a:defRPr/>
            </a:lvl1pPr>
          </a:lstStyle>
          <a:p>
            <a:pPr>
              <a:defRPr/>
            </a:pPr>
            <a:fld id="{2AA43795-6B45-4E6E-B2DE-F308C15FE028}"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F5B931C6-46ED-4D6F-ADB1-4B91676450DC}" type="slidenum">
              <a:rPr lang="zh-CN" altLang="en-US"/>
              <a:pPr>
                <a:defRPr/>
              </a:pPr>
              <a:t>‹#›</a:t>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94A00B77-AD6E-4E5C-BE6A-BC3D4A405B60}"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C88ABF4C-5ABD-465D-AA6F-0BA9F36B9658}" type="slidenum">
              <a:rPr lang="zh-CN" altLang="en-US"/>
              <a:pPr>
                <a:defRPr/>
              </a:pPr>
              <a:t>‹#›</a:t>
            </a:fld>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ltLang="zh-CN"/>
          </a:p>
        </p:txBody>
      </p:sp>
      <p:sp>
        <p:nvSpPr>
          <p:cNvPr id="8" name="Footer Placeholder 21"/>
          <p:cNvSpPr>
            <a:spLocks noGrp="1"/>
          </p:cNvSpPr>
          <p:nvPr>
            <p:ph type="ftr" sz="quarter" idx="11"/>
          </p:nvPr>
        </p:nvSpPr>
        <p:spPr/>
        <p:txBody>
          <a:bodyPr/>
          <a:lstStyle>
            <a:lvl1pPr>
              <a:defRPr/>
            </a:lvl1pPr>
          </a:lstStyle>
          <a:p>
            <a:pPr>
              <a:defRPr/>
            </a:pPr>
            <a:endParaRPr lang="en-US" altLang="zh-CN"/>
          </a:p>
        </p:txBody>
      </p:sp>
      <p:sp>
        <p:nvSpPr>
          <p:cNvPr id="9" name="Slide Number Placeholder 17"/>
          <p:cNvSpPr>
            <a:spLocks noGrp="1"/>
          </p:cNvSpPr>
          <p:nvPr>
            <p:ph type="sldNum" sz="quarter" idx="12"/>
          </p:nvPr>
        </p:nvSpPr>
        <p:spPr/>
        <p:txBody>
          <a:bodyPr/>
          <a:lstStyle>
            <a:lvl1pPr>
              <a:defRPr/>
            </a:lvl1pPr>
          </a:lstStyle>
          <a:p>
            <a:pPr>
              <a:defRPr/>
            </a:pPr>
            <a:fld id="{2ADDF1C6-90E9-484B-908F-300C219593E5}" type="slidenum">
              <a:rPr lang="zh-CN" altLang="en-US"/>
              <a:pPr>
                <a:defRPr/>
              </a:pPr>
              <a:t>‹#›</a:t>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ltLang="zh-CN"/>
          </a:p>
        </p:txBody>
      </p:sp>
      <p:sp>
        <p:nvSpPr>
          <p:cNvPr id="4" name="Footer Placeholder 21"/>
          <p:cNvSpPr>
            <a:spLocks noGrp="1"/>
          </p:cNvSpPr>
          <p:nvPr>
            <p:ph type="ftr" sz="quarter" idx="11"/>
          </p:nvPr>
        </p:nvSpPr>
        <p:spPr/>
        <p:txBody>
          <a:bodyPr/>
          <a:lstStyle>
            <a:lvl1pPr>
              <a:defRPr/>
            </a:lvl1pPr>
          </a:lstStyle>
          <a:p>
            <a:pPr>
              <a:defRPr/>
            </a:pPr>
            <a:endParaRPr lang="en-US" altLang="zh-CN"/>
          </a:p>
        </p:txBody>
      </p:sp>
      <p:sp>
        <p:nvSpPr>
          <p:cNvPr id="5" name="Slide Number Placeholder 17"/>
          <p:cNvSpPr>
            <a:spLocks noGrp="1"/>
          </p:cNvSpPr>
          <p:nvPr>
            <p:ph type="sldNum" sz="quarter" idx="12"/>
          </p:nvPr>
        </p:nvSpPr>
        <p:spPr/>
        <p:txBody>
          <a:bodyPr/>
          <a:lstStyle>
            <a:lvl1pPr>
              <a:defRPr/>
            </a:lvl1pPr>
          </a:lstStyle>
          <a:p>
            <a:pPr>
              <a:defRPr/>
            </a:pPr>
            <a:fld id="{49718909-9BF4-4491-AC1B-F07842726577}" type="slidenum">
              <a:rPr lang="zh-CN" altLang="en-US"/>
              <a:pPr>
                <a:defRPr/>
              </a:pPr>
              <a:t>‹#›</a:t>
            </a:fld>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ltLang="zh-CN"/>
          </a:p>
        </p:txBody>
      </p:sp>
      <p:sp>
        <p:nvSpPr>
          <p:cNvPr id="3" name="Footer Placeholder 21"/>
          <p:cNvSpPr>
            <a:spLocks noGrp="1"/>
          </p:cNvSpPr>
          <p:nvPr>
            <p:ph type="ftr" sz="quarter" idx="11"/>
          </p:nvPr>
        </p:nvSpPr>
        <p:spPr/>
        <p:txBody>
          <a:bodyPr/>
          <a:lstStyle>
            <a:lvl1pPr>
              <a:defRPr/>
            </a:lvl1pPr>
          </a:lstStyle>
          <a:p>
            <a:pPr>
              <a:defRPr/>
            </a:pPr>
            <a:endParaRPr lang="en-US" altLang="zh-CN"/>
          </a:p>
        </p:txBody>
      </p:sp>
      <p:sp>
        <p:nvSpPr>
          <p:cNvPr id="4" name="Slide Number Placeholder 17"/>
          <p:cNvSpPr>
            <a:spLocks noGrp="1"/>
          </p:cNvSpPr>
          <p:nvPr>
            <p:ph type="sldNum" sz="quarter" idx="12"/>
          </p:nvPr>
        </p:nvSpPr>
        <p:spPr/>
        <p:txBody>
          <a:bodyPr/>
          <a:lstStyle>
            <a:lvl1pPr>
              <a:defRPr/>
            </a:lvl1pPr>
          </a:lstStyle>
          <a:p>
            <a:pPr>
              <a:defRPr/>
            </a:pPr>
            <a:fld id="{A3CB19E2-EEA6-4DE7-A7FB-BCEE68A113B7}" type="slidenum">
              <a:rPr lang="zh-CN" altLang="en-US"/>
              <a:pPr>
                <a:defRPr/>
              </a:pPr>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919FE29B-30DB-4250-A6AB-D6A2BF3C0654}" type="slidenum">
              <a:rPr lang="zh-CN" altLang="en-US"/>
              <a:pPr>
                <a:defRPr/>
              </a:pPr>
              <a:t>‹#›</a:t>
            </a:fld>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ltLang="zh-CN"/>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ltLang="zh-CN"/>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altLang="zh-CN"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ltLang="zh-CN"/>
          </a:p>
        </p:txBody>
      </p:sp>
      <p:sp>
        <p:nvSpPr>
          <p:cNvPr id="10" name="Footer Placeholder 5"/>
          <p:cNvSpPr>
            <a:spLocks noGrp="1"/>
          </p:cNvSpPr>
          <p:nvPr>
            <p:ph type="ftr" sz="quarter" idx="11"/>
          </p:nvPr>
        </p:nvSpPr>
        <p:spPr/>
        <p:txBody>
          <a:bodyPr/>
          <a:lstStyle>
            <a:lvl1pPr>
              <a:defRPr/>
            </a:lvl1pPr>
          </a:lstStyle>
          <a:p>
            <a:pPr>
              <a:defRPr/>
            </a:pPr>
            <a:endParaRPr lang="en-US" altLang="zh-C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348E731D-7ED6-4A92-8DA8-D8903DEB8D6D}" type="slidenum">
              <a:rPr lang="zh-CN" altLang="en-US"/>
              <a:pPr>
                <a:defRPr/>
              </a:pPr>
              <a:t>‹#›</a:t>
            </a:fld>
            <a:endParaRPr lang="en-US" altLang="zh-C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36B1776F-3031-47D2-8887-44819319B003}" type="slidenum">
              <a:rPr lang="zh-CN" altLang="en-US"/>
              <a:pPr>
                <a:defRPr/>
              </a:pPr>
              <a:t>‹#›</a:t>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F671C77D-3836-4145-BD3B-093F6BFEB3D7}" type="slidenum">
              <a:rPr lang="zh-CN" altLang="en-US"/>
              <a:pPr>
                <a:defRPr/>
              </a:pPr>
              <a:t>‹#›</a:t>
            </a:fld>
            <a:endParaRPr lang="en-US" altLang="zh-CN"/>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87450" y="692150"/>
            <a:ext cx="7727950" cy="1008063"/>
          </a:xfrm>
        </p:spPr>
        <p:txBody>
          <a:bodyPr/>
          <a:lstStyle/>
          <a:p>
            <a:r>
              <a:rPr lang="zh-CN" altLang="en-US"/>
              <a:t>单击此处编辑母版标题样式</a:t>
            </a:r>
          </a:p>
        </p:txBody>
      </p:sp>
      <p:sp>
        <p:nvSpPr>
          <p:cNvPr id="3" name="文本占位符 2"/>
          <p:cNvSpPr>
            <a:spLocks noGrp="1"/>
          </p:cNvSpPr>
          <p:nvPr>
            <p:ph type="body" sz="half" idx="1"/>
          </p:nvPr>
        </p:nvSpPr>
        <p:spPr>
          <a:xfrm>
            <a:off x="2819400" y="1981200"/>
            <a:ext cx="2971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943600" y="1981200"/>
            <a:ext cx="2971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DC6CEEE1-9C7A-48AC-8E53-952ADFF47822}"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87450" y="692150"/>
            <a:ext cx="7727950" cy="5403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451B2CC-D984-40B1-AE3F-F824478A226C}"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2052"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ltLang="zh-CN"/>
              <a:t>Click to edit Master title style</a:t>
            </a:r>
          </a:p>
        </p:txBody>
      </p:sp>
      <p:sp>
        <p:nvSpPr>
          <p:cNvPr id="2053"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6ED09946-BC78-4E2A-932E-1FB7B7AB144C}" type="slidenum">
              <a:rPr lang="zh-CN" altLang="en-US"/>
              <a:pPr>
                <a:defRPr/>
              </a:pPr>
              <a:t>‹#›</a:t>
            </a:fld>
            <a:endParaRPr lang="en-US" altLang="zh-CN"/>
          </a:p>
        </p:txBody>
      </p:sp>
      <p:grpSp>
        <p:nvGrpSpPr>
          <p:cNvPr id="2057"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844" r:id="rId1"/>
    <p:sldLayoutId id="2147483836" r:id="rId2"/>
    <p:sldLayoutId id="2147483845" r:id="rId3"/>
    <p:sldLayoutId id="2147483837" r:id="rId4"/>
    <p:sldLayoutId id="2147483838" r:id="rId5"/>
    <p:sldLayoutId id="2147483839" r:id="rId6"/>
    <p:sldLayoutId id="2147483840" r:id="rId7"/>
    <p:sldLayoutId id="2147483841" r:id="rId8"/>
    <p:sldLayoutId id="2147483846" r:id="rId9"/>
    <p:sldLayoutId id="2147483842" r:id="rId10"/>
    <p:sldLayoutId id="2147483843" r:id="rId11"/>
    <p:sldLayoutId id="2147483847" r:id="rId12"/>
    <p:sldLayoutId id="2147483848" r:id="rId13"/>
  </p:sldLayoutIdLst>
  <p:hf hdr="0" ftr="0" dt="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defRPr>
      </a:lvl2pPr>
      <a:lvl3pPr algn="l" rtl="0" fontAlgn="base">
        <a:spcBef>
          <a:spcPct val="0"/>
        </a:spcBef>
        <a:spcAft>
          <a:spcPct val="0"/>
        </a:spcAft>
        <a:defRPr sz="5000">
          <a:solidFill>
            <a:schemeClr val="tx2"/>
          </a:solidFill>
          <a:latin typeface="Calibri" pitchFamily="34" charset="0"/>
        </a:defRPr>
      </a:lvl3pPr>
      <a:lvl4pPr algn="l" rtl="0" fontAlgn="base">
        <a:spcBef>
          <a:spcPct val="0"/>
        </a:spcBef>
        <a:spcAft>
          <a:spcPct val="0"/>
        </a:spcAft>
        <a:defRPr sz="5000">
          <a:solidFill>
            <a:schemeClr val="tx2"/>
          </a:solidFill>
          <a:latin typeface="Calibri" pitchFamily="34" charset="0"/>
        </a:defRPr>
      </a:lvl4pPr>
      <a:lvl5pPr algn="l" rtl="0" fontAlgn="base">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en.wikipedia.org/wiki/Computer_program" TargetMode="External"/><Relationship Id="rId2" Type="http://schemas.openxmlformats.org/officeDocument/2006/relationships/hyperlink" Target="http://en.wikipedia.org/wiki/Undecidable_problem" TargetMode="External"/><Relationship Id="rId1" Type="http://schemas.openxmlformats.org/officeDocument/2006/relationships/slideLayout" Target="../slideLayouts/slideLayout5.xml"/><Relationship Id="rId5" Type="http://schemas.openxmlformats.org/officeDocument/2006/relationships/hyperlink" Target="http://en.wikipedia.org/wiki/Algorithm" TargetMode="External"/><Relationship Id="rId4" Type="http://schemas.openxmlformats.org/officeDocument/2006/relationships/hyperlink" Target="http://en.wikipedia.org/wiki/Alan_Turi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en.wikipedia.org/wiki/Computer_progra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6.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pattFill prst="pct50">
          <a:fgClr>
            <a:schemeClr val="accent1">
              <a:lumMod val="60000"/>
              <a:lumOff val="40000"/>
            </a:schemeClr>
          </a:fgClr>
          <a:bgClr>
            <a:schemeClr val="bg1"/>
          </a:bgClr>
        </a:patt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403648" y="2708920"/>
            <a:ext cx="5976937" cy="1150938"/>
          </a:xfrm>
        </p:spPr>
        <p:txBody>
          <a:bodyPr>
            <a:normAutofit fontScale="90000"/>
          </a:bodyPr>
          <a:lstStyle/>
          <a:p>
            <a:pPr algn="ctr" fontAlgn="auto">
              <a:spcAft>
                <a:spcPts val="0"/>
              </a:spcAft>
              <a:defRPr/>
            </a:pPr>
            <a:r>
              <a:rPr lang="en-US" altLang="zh-CN" sz="6100" dirty="0">
                <a:solidFill>
                  <a:srgbClr val="FF6600"/>
                </a:solidFill>
              </a:rPr>
              <a:t/>
            </a:r>
            <a:br>
              <a:rPr lang="en-US" altLang="zh-CN" sz="6100" dirty="0">
                <a:solidFill>
                  <a:srgbClr val="FF6600"/>
                </a:solidFill>
              </a:rPr>
            </a:br>
            <a:r>
              <a:rPr lang="en-US" altLang="zh-CN" sz="6100" dirty="0">
                <a:solidFill>
                  <a:srgbClr val="FF6600"/>
                </a:solidFill>
              </a:rPr>
              <a:t/>
            </a:r>
            <a:br>
              <a:rPr lang="en-US" altLang="zh-CN" sz="6100" dirty="0">
                <a:solidFill>
                  <a:srgbClr val="FF6600"/>
                </a:solidFill>
              </a:rPr>
            </a:br>
            <a:r>
              <a:rPr lang="en-US" altLang="zh-CN" sz="6100" dirty="0">
                <a:solidFill>
                  <a:srgbClr val="FF6600"/>
                </a:solidFill>
              </a:rPr>
              <a:t/>
            </a:r>
            <a:br>
              <a:rPr lang="en-US" altLang="zh-CN" sz="6100" dirty="0">
                <a:solidFill>
                  <a:srgbClr val="FF6600"/>
                </a:solidFill>
              </a:rPr>
            </a:br>
            <a:r>
              <a:rPr lang="en-US" altLang="zh-CN" sz="6100" dirty="0">
                <a:solidFill>
                  <a:srgbClr val="FF6600"/>
                </a:solidFill>
              </a:rPr>
              <a:t/>
            </a:r>
            <a:br>
              <a:rPr lang="en-US" altLang="zh-CN" sz="6100" dirty="0">
                <a:solidFill>
                  <a:srgbClr val="FF6600"/>
                </a:solidFill>
              </a:rPr>
            </a:br>
            <a:r>
              <a:rPr lang="en-US" altLang="zh-CN" sz="6100" dirty="0">
                <a:solidFill>
                  <a:srgbClr val="FF6600"/>
                </a:solidFill>
              </a:rPr>
              <a:t/>
            </a:r>
            <a:br>
              <a:rPr lang="en-US" altLang="zh-CN" sz="6100" dirty="0">
                <a:solidFill>
                  <a:srgbClr val="FF6600"/>
                </a:solidFill>
              </a:rPr>
            </a:br>
            <a:r>
              <a:rPr lang="zh-CN" altLang="en-US" sz="6100" dirty="0">
                <a:solidFill>
                  <a:srgbClr val="FF6600"/>
                </a:solidFill>
              </a:rPr>
              <a:t>程序设计</a:t>
            </a:r>
            <a:r>
              <a:rPr lang="en-US" altLang="zh-CN" sz="6100" dirty="0">
                <a:solidFill>
                  <a:srgbClr val="FF6600"/>
                </a:solidFill>
              </a:rPr>
              <a:t/>
            </a:r>
            <a:br>
              <a:rPr lang="en-US" altLang="zh-CN" sz="6100" dirty="0">
                <a:solidFill>
                  <a:srgbClr val="FF6600"/>
                </a:solidFill>
              </a:rPr>
            </a:br>
            <a:r>
              <a:rPr lang="en-US" altLang="zh-CN" sz="6100" dirty="0">
                <a:solidFill>
                  <a:srgbClr val="FF6600"/>
                </a:solidFill>
              </a:rPr>
              <a:t>   CS10004.08</a:t>
            </a:r>
            <a:r>
              <a:rPr lang="en-US" altLang="zh-CN" sz="5300" dirty="0">
                <a:solidFill>
                  <a:srgbClr val="FF6600"/>
                </a:solidFill>
              </a:rPr>
              <a:t>	</a:t>
            </a:r>
            <a:r>
              <a:rPr lang="en-US" altLang="zh-CN" sz="6100" dirty="0">
                <a:solidFill>
                  <a:srgbClr val="FF6600"/>
                </a:solidFill>
              </a:rPr>
              <a:t/>
            </a:r>
            <a:br>
              <a:rPr lang="en-US" altLang="zh-CN" sz="6100" dirty="0">
                <a:solidFill>
                  <a:srgbClr val="FF6600"/>
                </a:solidFill>
              </a:rPr>
            </a:br>
            <a:endParaRPr lang="zh-CN" altLang="en-US" sz="6100" dirty="0">
              <a:solidFill>
                <a:srgbClr val="FF6600"/>
              </a:solidFill>
            </a:endParaRPr>
          </a:p>
        </p:txBody>
      </p:sp>
      <p:sp>
        <p:nvSpPr>
          <p:cNvPr id="6" name="Rectangle 8"/>
          <p:cNvSpPr>
            <a:spLocks noGrp="1" noChangeArrowheads="1"/>
          </p:cNvSpPr>
          <p:nvPr>
            <p:ph type="sldNum" sz="quarter" idx="12"/>
          </p:nvPr>
        </p:nvSpPr>
        <p:spPr/>
        <p:txBody>
          <a:bodyPr/>
          <a:lstStyle/>
          <a:p>
            <a:pPr defTabSz="1128713">
              <a:defRPr/>
            </a:pPr>
            <a:fld id="{55CEE910-0184-4F82-BC47-48336F8FF901}" type="slidenum">
              <a:rPr lang="zh-CN" altLang="en-US">
                <a:latin typeface="+mn-lt"/>
              </a:rPr>
              <a:pPr defTabSz="1128713">
                <a:defRPr/>
              </a:pPr>
              <a:t>1</a:t>
            </a:fld>
            <a:endParaRPr lang="en-US" altLang="zh-CN" dirty="0">
              <a:latin typeface="+mn-lt"/>
            </a:endParaRPr>
          </a:p>
        </p:txBody>
      </p:sp>
      <p:sp>
        <p:nvSpPr>
          <p:cNvPr id="5" name="Date Placeholder 4"/>
          <p:cNvSpPr>
            <a:spLocks noGrp="1"/>
          </p:cNvSpPr>
          <p:nvPr>
            <p:ph type="dt" sz="half" idx="10"/>
          </p:nvPr>
        </p:nvSpPr>
        <p:spPr/>
        <p:txBody>
          <a:bodyPr/>
          <a:lstStyle/>
          <a:p>
            <a:pPr>
              <a:defRPr/>
            </a:pPr>
            <a:fld id="{A29CB967-4A5E-4B5F-8732-B98C62C10382}" type="datetime1">
              <a:rPr lang="zh-CN" altLang="en-US" smtClean="0"/>
              <a:pPr>
                <a:defRPr/>
              </a:pPr>
              <a:t>2025/9/11</a:t>
            </a:fld>
            <a:endParaRPr lang="en-US" altLang="zh-CN" dirty="0"/>
          </a:p>
        </p:txBody>
      </p:sp>
      <p:sp>
        <p:nvSpPr>
          <p:cNvPr id="2" name="TextBox 1"/>
          <p:cNvSpPr txBox="1"/>
          <p:nvPr/>
        </p:nvSpPr>
        <p:spPr>
          <a:xfrm>
            <a:off x="1115616" y="4653136"/>
            <a:ext cx="7056784" cy="1569660"/>
          </a:xfrm>
          <a:prstGeom prst="rect">
            <a:avLst/>
          </a:prstGeom>
          <a:noFill/>
        </p:spPr>
        <p:txBody>
          <a:bodyPr wrap="square" rtlCol="0">
            <a:spAutoFit/>
          </a:bodyPr>
          <a:lstStyle/>
          <a:p>
            <a:r>
              <a:rPr lang="zh-CN" altLang="en-US" dirty="0"/>
              <a:t>逸夫楼</a:t>
            </a:r>
            <a:r>
              <a:rPr lang="en-US" altLang="zh-CN" dirty="0"/>
              <a:t>302-305			</a:t>
            </a:r>
            <a:r>
              <a:rPr lang="zh-CN" altLang="en-US" dirty="0"/>
              <a:t>三 </a:t>
            </a:r>
            <a:r>
              <a:rPr lang="en-US" altLang="zh-CN" dirty="0"/>
              <a:t>1-2</a:t>
            </a:r>
          </a:p>
          <a:p>
            <a:r>
              <a:rPr lang="en-US" altLang="zh-CN" dirty="0"/>
              <a:t>HGX104                              </a:t>
            </a:r>
            <a:r>
              <a:rPr lang="zh-CN" altLang="en-US" dirty="0"/>
              <a:t>四 </a:t>
            </a:r>
            <a:r>
              <a:rPr lang="en-US" altLang="zh-CN" dirty="0"/>
              <a:t>6-8	</a:t>
            </a:r>
          </a:p>
          <a:p>
            <a:endParaRPr lang="zh-CN" altLang="en-US" dirty="0"/>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785794"/>
            <a:ext cx="8363272" cy="5538806"/>
          </a:xfrm>
        </p:spPr>
        <p:txBody>
          <a:bodyPr/>
          <a:lstStyle/>
          <a:p>
            <a:pPr algn="just"/>
            <a:r>
              <a:rPr lang="zh-CN" altLang="en-US" b="1" dirty="0"/>
              <a:t>教师：谈子敬</a:t>
            </a:r>
            <a:endParaRPr lang="en-US" altLang="zh-CN" b="1" dirty="0"/>
          </a:p>
          <a:p>
            <a:pPr lvl="1"/>
            <a:r>
              <a:rPr lang="zh-CN" altLang="en-US" b="1" dirty="0"/>
              <a:t>计算与智能创新学院</a:t>
            </a:r>
            <a:endParaRPr lang="en-US" altLang="zh-CN" b="1" dirty="0"/>
          </a:p>
          <a:p>
            <a:pPr lvl="1"/>
            <a:r>
              <a:rPr lang="zh-CN" altLang="en-US" b="1" dirty="0"/>
              <a:t>办公室：江湾校区交叉二号楼</a:t>
            </a:r>
            <a:r>
              <a:rPr lang="en-US" altLang="zh-CN" b="1" dirty="0"/>
              <a:t>D3019</a:t>
            </a:r>
          </a:p>
          <a:p>
            <a:pPr lvl="1"/>
            <a:r>
              <a:rPr lang="en-US" altLang="zh-CN" b="1" dirty="0"/>
              <a:t>Email:  zjtan@fudan.edu.cn</a:t>
            </a:r>
          </a:p>
          <a:p>
            <a:pPr lvl="1"/>
            <a:endParaRPr lang="en-US" altLang="zh-CN" b="1" dirty="0"/>
          </a:p>
          <a:p>
            <a:pPr lvl="1"/>
            <a:endParaRPr lang="en-US" altLang="zh-CN" b="1" dirty="0"/>
          </a:p>
          <a:p>
            <a:r>
              <a:rPr lang="zh-CN" altLang="en-US" b="1" dirty="0"/>
              <a:t>助教：</a:t>
            </a:r>
            <a:endParaRPr lang="en-US" altLang="zh-CN" b="1" dirty="0"/>
          </a:p>
          <a:p>
            <a:pPr>
              <a:buNone/>
            </a:pPr>
            <a:r>
              <a:rPr lang="zh-CN" altLang="en-US" dirty="0"/>
              <a:t>陈仕瀚  </a:t>
            </a:r>
            <a:r>
              <a:rPr lang="en-US" altLang="zh-CN" dirty="0"/>
              <a:t>24212010002</a:t>
            </a:r>
          </a:p>
          <a:p>
            <a:pPr>
              <a:buNone/>
            </a:pPr>
            <a:r>
              <a:rPr lang="zh-CN" altLang="en-US" dirty="0" smtClean="0"/>
              <a:t>周天成  </a:t>
            </a:r>
            <a:r>
              <a:rPr lang="en-US" altLang="zh-CN"/>
              <a:t>25213050524</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zh-CN" altLang="en-US" sz="2800" b="1" dirty="0"/>
              <a:t>教材：夏宽理  赵子正</a:t>
            </a:r>
            <a:r>
              <a:rPr lang="en-US" altLang="zh-CN" sz="2800" b="1" dirty="0"/>
              <a:t>, C</a:t>
            </a:r>
            <a:r>
              <a:rPr lang="zh-CN" altLang="en-US" sz="2800" b="1" dirty="0"/>
              <a:t>语言程序设计</a:t>
            </a:r>
            <a:r>
              <a:rPr lang="en-US" altLang="zh-CN" sz="2800" b="1" dirty="0"/>
              <a:t>(</a:t>
            </a:r>
            <a:r>
              <a:rPr lang="zh-CN" altLang="en-US" sz="2800" b="1" dirty="0"/>
              <a:t>第三版</a:t>
            </a:r>
            <a:r>
              <a:rPr lang="en-US" altLang="zh-CN" sz="2800" b="1" dirty="0"/>
              <a:t>), </a:t>
            </a:r>
            <a:r>
              <a:rPr lang="zh-CN" altLang="en-US" sz="2800" b="1" dirty="0"/>
              <a:t>中国铁道出版社</a:t>
            </a:r>
            <a:endParaRPr lang="en-US" altLang="zh-CN" sz="2800" b="1" dirty="0"/>
          </a:p>
          <a:p>
            <a:endParaRPr lang="zh-CN" altLang="en-US" sz="2800" b="1" dirty="0"/>
          </a:p>
          <a:p>
            <a:endParaRPr lang="en-US" altLang="zh-CN" b="1" dirty="0"/>
          </a:p>
          <a:p>
            <a:endParaRPr lang="en-US" altLang="zh-CN" b="1" dirty="0"/>
          </a:p>
          <a:p>
            <a:endParaRPr lang="zh-CN" altLang="en-US" b="1" dirty="0"/>
          </a:p>
        </p:txBody>
      </p:sp>
      <p:sp>
        <p:nvSpPr>
          <p:cNvPr id="4" name="Slide Number Placeholder 3"/>
          <p:cNvSpPr>
            <a:spLocks noGrp="1"/>
          </p:cNvSpPr>
          <p:nvPr>
            <p:ph type="sldNum" sz="quarter" idx="12"/>
          </p:nvPr>
        </p:nvSpPr>
        <p:spPr/>
        <p:txBody>
          <a:bodyPr/>
          <a:lstStyle/>
          <a:p>
            <a:pPr>
              <a:defRPr/>
            </a:pPr>
            <a:fld id="{F5B931C6-46ED-4D6F-ADB1-4B91676450DC}" type="slidenum">
              <a:rPr lang="zh-CN" altLang="en-US" smtClean="0"/>
              <a:pPr>
                <a:defRPr/>
              </a:pPr>
              <a:t>3</a:t>
            </a:fld>
            <a:endParaRPr lang="en-US" altLang="zh-CN" dirty="0"/>
          </a:p>
        </p:txBody>
      </p:sp>
    </p:spTree>
    <p:extLst>
      <p:ext uri="{BB962C8B-B14F-4D97-AF65-F5344CB8AC3E}">
        <p14:creationId xmlns:p14="http://schemas.microsoft.com/office/powerpoint/2010/main" val="4126490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教学目的</a:t>
            </a:r>
            <a:r>
              <a:rPr lang="en-US" altLang="zh-CN" dirty="0"/>
              <a:t>	</a:t>
            </a:r>
            <a:endParaRPr lang="zh-CN" altLang="en-US" dirty="0"/>
          </a:p>
        </p:txBody>
      </p:sp>
      <p:sp>
        <p:nvSpPr>
          <p:cNvPr id="3" name="内容占位符 2"/>
          <p:cNvSpPr>
            <a:spLocks noGrp="1"/>
          </p:cNvSpPr>
          <p:nvPr>
            <p:ph idx="1"/>
          </p:nvPr>
        </p:nvSpPr>
        <p:spPr>
          <a:xfrm>
            <a:off x="457200" y="1935163"/>
            <a:ext cx="8229600" cy="4662189"/>
          </a:xfrm>
        </p:spPr>
        <p:txBody>
          <a:bodyPr/>
          <a:lstStyle/>
          <a:p>
            <a:r>
              <a:rPr lang="zh-CN" altLang="en-US" sz="3200" b="1" dirty="0">
                <a:latin typeface="楷体_GB2312" pitchFamily="49" charset="-122"/>
                <a:ea typeface="楷体_GB2312" pitchFamily="49" charset="-122"/>
              </a:rPr>
              <a:t>初步学习程序设计</a:t>
            </a:r>
            <a:endParaRPr lang="en-US" altLang="zh-CN" dirty="0"/>
          </a:p>
          <a:p>
            <a:pPr marL="393700" lvl="1" indent="0">
              <a:buNone/>
            </a:pPr>
            <a:r>
              <a:rPr lang="zh-CN" altLang="en-US" sz="3200" dirty="0"/>
              <a:t>写程序既是计算机学科的基本功，也是核心竞争力</a:t>
            </a:r>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4</a:t>
            </a:fld>
            <a:endParaRPr lang="en-US" altLang="zh-CN" dirty="0"/>
          </a:p>
        </p:txBody>
      </p:sp>
    </p:spTree>
    <p:extLst>
      <p:ext uri="{BB962C8B-B14F-4D97-AF65-F5344CB8AC3E}">
        <p14:creationId xmlns:p14="http://schemas.microsoft.com/office/powerpoint/2010/main" val="3269073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1"/>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76964" y="248479"/>
            <a:ext cx="8990073" cy="636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085515" y="782973"/>
            <a:ext cx="2334397" cy="334294"/>
          </a:xfrm>
          <a:prstGeom prst="rect">
            <a:avLst/>
          </a:prstGeom>
          <a:noFill/>
        </p:spPr>
        <p:txBody>
          <a:bodyPr wrap="none" lIns="0" tIns="0" rIns="0" bIns="0"/>
          <a:lstStyle/>
          <a:p>
            <a:pPr defTabSz="1087941">
              <a:defRPr/>
            </a:pPr>
            <a:r>
              <a:rPr lang="zh-CN" altLang="en-US" sz="2624">
                <a:solidFill>
                  <a:prstClr val="black"/>
                </a:solidFill>
                <a:latin typeface="NSimSun" panose="02010609030101010101" pitchFamily="49" charset="-122"/>
                <a:ea typeface="等线" panose="02010600030101010101" pitchFamily="2" charset="-122"/>
              </a:rPr>
              <a:t>重要性：图灵奖</a:t>
            </a:r>
          </a:p>
        </p:txBody>
      </p:sp>
      <p:sp>
        <p:nvSpPr>
          <p:cNvPr id="4" name="文本框 3"/>
          <p:cNvSpPr txBox="1"/>
          <p:nvPr/>
        </p:nvSpPr>
        <p:spPr>
          <a:xfrm>
            <a:off x="1145951" y="1464783"/>
            <a:ext cx="6323270" cy="186979"/>
          </a:xfrm>
          <a:prstGeom prst="rect">
            <a:avLst/>
          </a:prstGeom>
          <a:noFill/>
        </p:spPr>
        <p:txBody>
          <a:bodyPr wrap="none" lIns="0" tIns="0" rIns="0" bIns="0"/>
          <a:lstStyle/>
          <a:p>
            <a:pPr defTabSz="1087941">
              <a:defRPr/>
            </a:pPr>
            <a:r>
              <a:rPr lang="en-US" altLang="zh-CN" sz="1639" b="1" dirty="0">
                <a:solidFill>
                  <a:prstClr val="black"/>
                </a:solidFill>
                <a:latin typeface="TimesNewRomanPS"/>
                <a:ea typeface="等线" panose="02010600030101010101" pitchFamily="2" charset="-122"/>
              </a:rPr>
              <a:t>1966-2010</a:t>
            </a:r>
            <a:r>
              <a:rPr lang="zh-CN" altLang="en-US" sz="1639" dirty="0">
                <a:solidFill>
                  <a:prstClr val="black"/>
                </a:solidFill>
                <a:latin typeface="SimSun" panose="02010600030101010101" pitchFamily="2" charset="-122"/>
                <a:ea typeface="等线" panose="02010600030101010101" pitchFamily="2" charset="-122"/>
              </a:rPr>
              <a:t>，</a:t>
            </a:r>
            <a:r>
              <a:rPr lang="en-US" altLang="zh-CN" sz="1639" b="1" dirty="0">
                <a:solidFill>
                  <a:prstClr val="black"/>
                </a:solidFill>
                <a:latin typeface="TimesNewRomanPS"/>
                <a:ea typeface="等线" panose="02010600030101010101" pitchFamily="2" charset="-122"/>
              </a:rPr>
              <a:t>45</a:t>
            </a:r>
            <a:r>
              <a:rPr lang="zh-CN" altLang="en-US" sz="1639" dirty="0">
                <a:solidFill>
                  <a:prstClr val="black"/>
                </a:solidFill>
                <a:latin typeface="SimSun" panose="02010600030101010101" pitchFamily="2" charset="-122"/>
                <a:ea typeface="等线" panose="02010600030101010101" pitchFamily="2" charset="-122"/>
              </a:rPr>
              <a:t>届图灵奖，</a:t>
            </a:r>
            <a:r>
              <a:rPr lang="en-US" altLang="zh-CN" sz="1639" b="1" dirty="0">
                <a:solidFill>
                  <a:prstClr val="black"/>
                </a:solidFill>
                <a:latin typeface="TimesNewRomanPS"/>
                <a:ea typeface="等线" panose="02010600030101010101" pitchFamily="2" charset="-122"/>
              </a:rPr>
              <a:t>15</a:t>
            </a:r>
            <a:r>
              <a:rPr lang="zh-CN" altLang="en-US" sz="1639" dirty="0">
                <a:solidFill>
                  <a:prstClr val="black"/>
                </a:solidFill>
                <a:latin typeface="SimSun" panose="02010600030101010101" pitchFamily="2" charset="-122"/>
                <a:ea typeface="等线" panose="02010600030101010101" pitchFamily="2" charset="-122"/>
              </a:rPr>
              <a:t>届是与程序设计语言有关的工作</a:t>
            </a:r>
          </a:p>
        </p:txBody>
      </p:sp>
      <p:sp>
        <p:nvSpPr>
          <p:cNvPr id="5" name="文本框 4"/>
          <p:cNvSpPr txBox="1"/>
          <p:nvPr/>
        </p:nvSpPr>
        <p:spPr>
          <a:xfrm>
            <a:off x="1144063" y="1840630"/>
            <a:ext cx="3242847" cy="169980"/>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1966, Alan J. Perlis,</a:t>
            </a:r>
            <a:r>
              <a:rPr lang="zh-CN" altLang="en-US" sz="1477">
                <a:solidFill>
                  <a:prstClr val="black"/>
                </a:solidFill>
                <a:ea typeface="等线" panose="02010600030101010101" pitchFamily="2" charset="-122"/>
              </a:rPr>
              <a:t> 早期语言和</a:t>
            </a:r>
            <a:r>
              <a:rPr lang="en-US" altLang="zh-CN" sz="1477" b="1">
                <a:solidFill>
                  <a:prstClr val="black"/>
                </a:solidFill>
                <a:ea typeface="等线" panose="02010600030101010101" pitchFamily="2" charset="-122"/>
              </a:rPr>
              <a:t>Algol 60</a:t>
            </a:r>
            <a:endParaRPr lang="zh-CN" altLang="en-US" sz="1477" b="1">
              <a:solidFill>
                <a:prstClr val="black"/>
              </a:solidFill>
              <a:ea typeface="等线" panose="02010600030101010101" pitchFamily="2" charset="-122"/>
            </a:endParaRPr>
          </a:p>
        </p:txBody>
      </p:sp>
      <p:sp>
        <p:nvSpPr>
          <p:cNvPr id="6" name="文本框 5"/>
          <p:cNvSpPr txBox="1"/>
          <p:nvPr/>
        </p:nvSpPr>
        <p:spPr>
          <a:xfrm>
            <a:off x="1144064" y="2065380"/>
            <a:ext cx="2440163" cy="186979"/>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的贡献，图灵奖第一位获奖者</a:t>
            </a:r>
          </a:p>
        </p:txBody>
      </p:sp>
      <p:sp>
        <p:nvSpPr>
          <p:cNvPr id="7" name="文本框 6"/>
          <p:cNvSpPr txBox="1"/>
          <p:nvPr/>
        </p:nvSpPr>
        <p:spPr>
          <a:xfrm>
            <a:off x="1144064" y="2346793"/>
            <a:ext cx="3290064" cy="169980"/>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1971, John McCarthy, LISP</a:t>
            </a:r>
            <a:r>
              <a:rPr lang="zh-CN" altLang="en-US" sz="1477">
                <a:solidFill>
                  <a:prstClr val="black"/>
                </a:solidFill>
                <a:ea typeface="等线" panose="02010600030101010101" pitchFamily="2" charset="-122"/>
              </a:rPr>
              <a:t>语言</a:t>
            </a:r>
            <a:r>
              <a:rPr lang="en-US" altLang="zh-CN" sz="1477" b="1">
                <a:solidFill>
                  <a:prstClr val="black"/>
                </a:solidFill>
                <a:ea typeface="等线" panose="02010600030101010101" pitchFamily="2" charset="-122"/>
              </a:rPr>
              <a:t>,</a:t>
            </a:r>
            <a:r>
              <a:rPr lang="zh-CN" altLang="en-US" sz="1477">
                <a:solidFill>
                  <a:prstClr val="black"/>
                </a:solidFill>
                <a:ea typeface="等线" panose="02010600030101010101" pitchFamily="2" charset="-122"/>
              </a:rPr>
              <a:t> 程序语</a:t>
            </a:r>
          </a:p>
        </p:txBody>
      </p:sp>
      <p:sp>
        <p:nvSpPr>
          <p:cNvPr id="8" name="文本框 7"/>
          <p:cNvSpPr txBox="1"/>
          <p:nvPr/>
        </p:nvSpPr>
        <p:spPr>
          <a:xfrm>
            <a:off x="1144062" y="2558323"/>
            <a:ext cx="1033103" cy="202087"/>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义</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 程序理论</a:t>
            </a:r>
          </a:p>
        </p:txBody>
      </p:sp>
      <p:sp>
        <p:nvSpPr>
          <p:cNvPr id="9" name="文本框 8"/>
          <p:cNvSpPr txBox="1"/>
          <p:nvPr/>
        </p:nvSpPr>
        <p:spPr>
          <a:xfrm>
            <a:off x="1144064" y="2854844"/>
            <a:ext cx="3189964" cy="168092"/>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1972, E. W. Dijkstra, Algol</a:t>
            </a:r>
            <a:r>
              <a:rPr lang="zh-CN" altLang="en-US" sz="1477">
                <a:solidFill>
                  <a:prstClr val="black"/>
                </a:solidFill>
                <a:ea typeface="等线" panose="02010600030101010101" pitchFamily="2" charset="-122"/>
              </a:rPr>
              <a:t>编译</a:t>
            </a:r>
            <a:r>
              <a:rPr lang="en-US" altLang="zh-CN" sz="1477" b="1">
                <a:solidFill>
                  <a:prstClr val="black"/>
                </a:solidFill>
                <a:ea typeface="等线" panose="02010600030101010101" pitchFamily="2" charset="-122"/>
              </a:rPr>
              <a:t>,</a:t>
            </a:r>
            <a:r>
              <a:rPr lang="zh-CN" altLang="en-US" sz="1477">
                <a:solidFill>
                  <a:prstClr val="black"/>
                </a:solidFill>
                <a:ea typeface="等线" panose="02010600030101010101" pitchFamily="2" charset="-122"/>
              </a:rPr>
              <a:t> 结构化</a:t>
            </a:r>
          </a:p>
        </p:txBody>
      </p:sp>
      <p:sp>
        <p:nvSpPr>
          <p:cNvPr id="10" name="文本框 9"/>
          <p:cNvSpPr txBox="1"/>
          <p:nvPr/>
        </p:nvSpPr>
        <p:spPr>
          <a:xfrm>
            <a:off x="1144064" y="3066376"/>
            <a:ext cx="3237182" cy="200199"/>
          </a:xfrm>
          <a:prstGeom prst="rect">
            <a:avLst/>
          </a:prstGeom>
          <a:noFill/>
        </p:spPr>
        <p:txBody>
          <a:bodyPr wrap="none" lIns="0" tIns="0" rIns="0" bIns="0"/>
          <a:lstStyle/>
          <a:p>
            <a:pPr defTabSz="1087941">
              <a:defRPr/>
            </a:pPr>
            <a:r>
              <a:rPr lang="zh-CN" altLang="en-US" sz="1477">
                <a:solidFill>
                  <a:prstClr val="black"/>
                </a:solidFill>
                <a:ea typeface="等线" panose="02010600030101010101" pitchFamily="2" charset="-122"/>
              </a:rPr>
              <a:t>程序设计</a:t>
            </a:r>
            <a:r>
              <a:rPr lang="en-US" altLang="zh-CN" sz="1477" b="1">
                <a:solidFill>
                  <a:prstClr val="black"/>
                </a:solidFill>
                <a:ea typeface="等线" panose="02010600030101010101" pitchFamily="2" charset="-122"/>
              </a:rPr>
              <a:t>,</a:t>
            </a:r>
            <a:r>
              <a:rPr lang="zh-CN" altLang="en-US" sz="1477">
                <a:solidFill>
                  <a:prstClr val="black"/>
                </a:solidFill>
                <a:ea typeface="等线" panose="02010600030101010101" pitchFamily="2" charset="-122"/>
              </a:rPr>
              <a:t> 并发概念和原语</a:t>
            </a:r>
            <a:r>
              <a:rPr lang="en-US" altLang="zh-CN" sz="1477" b="1">
                <a:solidFill>
                  <a:prstClr val="black"/>
                </a:solidFill>
                <a:ea typeface="等线" panose="02010600030101010101" pitchFamily="2" charset="-122"/>
              </a:rPr>
              <a:t>,</a:t>
            </a:r>
            <a:r>
              <a:rPr lang="zh-CN" altLang="en-US" sz="1477">
                <a:solidFill>
                  <a:prstClr val="black"/>
                </a:solidFill>
                <a:ea typeface="等线" panose="02010600030101010101" pitchFamily="2" charset="-122"/>
              </a:rPr>
              <a:t> 形式化推导</a:t>
            </a:r>
            <a:r>
              <a:rPr lang="en-US" altLang="zh-CN" sz="1477" b="1">
                <a:solidFill>
                  <a:prstClr val="black"/>
                </a:solidFill>
                <a:ea typeface="等线" panose="02010600030101010101" pitchFamily="2" charset="-122"/>
              </a:rPr>
              <a:t>,</a:t>
            </a:r>
            <a:endParaRPr lang="zh-CN" altLang="en-US" sz="1477" b="1">
              <a:solidFill>
                <a:prstClr val="black"/>
              </a:solidFill>
              <a:ea typeface="等线" panose="02010600030101010101" pitchFamily="2" charset="-122"/>
            </a:endParaRPr>
          </a:p>
        </p:txBody>
      </p:sp>
      <p:sp>
        <p:nvSpPr>
          <p:cNvPr id="11" name="文本框 10"/>
          <p:cNvSpPr txBox="1"/>
          <p:nvPr/>
        </p:nvSpPr>
        <p:spPr>
          <a:xfrm>
            <a:off x="1144064" y="3304348"/>
            <a:ext cx="938669" cy="186979"/>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卫式命令等</a:t>
            </a:r>
          </a:p>
        </p:txBody>
      </p:sp>
      <p:sp>
        <p:nvSpPr>
          <p:cNvPr id="12" name="文本框 11"/>
          <p:cNvSpPr txBox="1"/>
          <p:nvPr/>
        </p:nvSpPr>
        <p:spPr>
          <a:xfrm>
            <a:off x="1144064" y="3587649"/>
            <a:ext cx="3346724" cy="168092"/>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1977, John Backus, Fortran</a:t>
            </a:r>
            <a:r>
              <a:rPr lang="zh-CN" altLang="en-US" sz="1477">
                <a:solidFill>
                  <a:prstClr val="black"/>
                </a:solidFill>
                <a:ea typeface="等线" panose="02010600030101010101" pitchFamily="2" charset="-122"/>
              </a:rPr>
              <a:t>语言</a:t>
            </a:r>
            <a:r>
              <a:rPr lang="en-US" altLang="zh-CN" sz="1477" b="1">
                <a:solidFill>
                  <a:prstClr val="black"/>
                </a:solidFill>
                <a:ea typeface="等线" panose="02010600030101010101" pitchFamily="2" charset="-122"/>
              </a:rPr>
              <a:t>, FP</a:t>
            </a:r>
            <a:r>
              <a:rPr lang="zh-CN" altLang="en-US" sz="1477">
                <a:solidFill>
                  <a:prstClr val="black"/>
                </a:solidFill>
                <a:ea typeface="等线" panose="02010600030101010101" pitchFamily="2" charset="-122"/>
              </a:rPr>
              <a:t>语言</a:t>
            </a:r>
            <a:r>
              <a:rPr lang="en-US" altLang="zh-CN" sz="1477" b="1">
                <a:solidFill>
                  <a:prstClr val="black"/>
                </a:solidFill>
                <a:ea typeface="等线" panose="02010600030101010101" pitchFamily="2" charset="-122"/>
              </a:rPr>
              <a:t>,</a:t>
            </a:r>
            <a:endParaRPr lang="zh-CN" altLang="en-US" sz="1477" b="1">
              <a:solidFill>
                <a:prstClr val="black"/>
              </a:solidFill>
              <a:ea typeface="等线" panose="02010600030101010101" pitchFamily="2" charset="-122"/>
            </a:endParaRPr>
          </a:p>
        </p:txBody>
      </p:sp>
      <p:sp>
        <p:nvSpPr>
          <p:cNvPr id="13" name="文本框 12"/>
          <p:cNvSpPr txBox="1"/>
          <p:nvPr/>
        </p:nvSpPr>
        <p:spPr>
          <a:xfrm>
            <a:off x="1144064" y="3812401"/>
            <a:ext cx="562824" cy="168091"/>
          </a:xfrm>
          <a:prstGeom prst="rect">
            <a:avLst/>
          </a:prstGeom>
          <a:noFill/>
        </p:spPr>
        <p:txBody>
          <a:bodyPr wrap="none" lIns="0" tIns="0" rIns="0" bIns="0"/>
          <a:lstStyle/>
          <a:p>
            <a:pPr defTabSz="1087941">
              <a:defRPr/>
            </a:pPr>
            <a:r>
              <a:rPr lang="en-US" altLang="zh-CN" sz="1477" b="1">
                <a:solidFill>
                  <a:prstClr val="black"/>
                </a:solidFill>
                <a:latin typeface="TimesNewRomanPS"/>
                <a:ea typeface="等线" panose="02010600030101010101" pitchFamily="2" charset="-122"/>
              </a:rPr>
              <a:t>BNF</a:t>
            </a:r>
            <a:r>
              <a:rPr lang="zh-CN" altLang="en-US" sz="1477">
                <a:solidFill>
                  <a:prstClr val="black"/>
                </a:solidFill>
                <a:latin typeface="SimSun" panose="02010600030101010101" pitchFamily="2" charset="-122"/>
                <a:ea typeface="等线" panose="02010600030101010101" pitchFamily="2" charset="-122"/>
              </a:rPr>
              <a:t>等</a:t>
            </a:r>
          </a:p>
        </p:txBody>
      </p:sp>
      <p:sp>
        <p:nvSpPr>
          <p:cNvPr id="14" name="文本框 13"/>
          <p:cNvSpPr txBox="1"/>
          <p:nvPr/>
        </p:nvSpPr>
        <p:spPr>
          <a:xfrm>
            <a:off x="1144064" y="4093812"/>
            <a:ext cx="3325949" cy="168092"/>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1978, Robert Floyd, Algol</a:t>
            </a:r>
            <a:r>
              <a:rPr lang="zh-CN" altLang="en-US" sz="1477">
                <a:solidFill>
                  <a:prstClr val="black"/>
                </a:solidFill>
                <a:ea typeface="等线" panose="02010600030101010101" pitchFamily="2" charset="-122"/>
              </a:rPr>
              <a:t>编译</a:t>
            </a:r>
            <a:r>
              <a:rPr lang="en-US" altLang="zh-CN" sz="1477" b="1">
                <a:solidFill>
                  <a:prstClr val="black"/>
                </a:solidFill>
                <a:ea typeface="等线" panose="02010600030101010101" pitchFamily="2" charset="-122"/>
              </a:rPr>
              <a:t>,</a:t>
            </a:r>
            <a:r>
              <a:rPr lang="zh-CN" altLang="en-US" sz="1477">
                <a:solidFill>
                  <a:prstClr val="black"/>
                </a:solidFill>
                <a:ea typeface="等线" panose="02010600030101010101" pitchFamily="2" charset="-122"/>
              </a:rPr>
              <a:t> 编译技术</a:t>
            </a:r>
            <a:r>
              <a:rPr lang="en-US" altLang="zh-CN" sz="1477" b="1">
                <a:solidFill>
                  <a:prstClr val="black"/>
                </a:solidFill>
                <a:ea typeface="等线" panose="02010600030101010101" pitchFamily="2" charset="-122"/>
              </a:rPr>
              <a:t>,</a:t>
            </a:r>
            <a:endParaRPr lang="zh-CN" altLang="en-US" sz="1477" b="1">
              <a:solidFill>
                <a:prstClr val="black"/>
              </a:solidFill>
              <a:ea typeface="等线" panose="02010600030101010101" pitchFamily="2" charset="-122"/>
            </a:endParaRPr>
          </a:p>
        </p:txBody>
      </p:sp>
      <p:sp>
        <p:nvSpPr>
          <p:cNvPr id="15" name="文本框 14"/>
          <p:cNvSpPr txBox="1"/>
          <p:nvPr/>
        </p:nvSpPr>
        <p:spPr>
          <a:xfrm>
            <a:off x="1144064" y="4305344"/>
            <a:ext cx="3189964" cy="200199"/>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程序优化</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 归纳断言法和前后断言</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 程序</a:t>
            </a:r>
          </a:p>
        </p:txBody>
      </p:sp>
      <p:sp>
        <p:nvSpPr>
          <p:cNvPr id="16" name="文本框 15"/>
          <p:cNvSpPr txBox="1"/>
          <p:nvPr/>
        </p:nvSpPr>
        <p:spPr>
          <a:xfrm>
            <a:off x="1144064" y="4530096"/>
            <a:ext cx="1407059" cy="202087"/>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正确性</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 编译生成</a:t>
            </a:r>
          </a:p>
        </p:txBody>
      </p:sp>
      <p:sp>
        <p:nvSpPr>
          <p:cNvPr id="17" name="文本框 16"/>
          <p:cNvSpPr txBox="1"/>
          <p:nvPr/>
        </p:nvSpPr>
        <p:spPr>
          <a:xfrm>
            <a:off x="1144063" y="4826617"/>
            <a:ext cx="2375948" cy="168092"/>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1979, K. E. Iverson, APL</a:t>
            </a:r>
            <a:r>
              <a:rPr lang="zh-CN" altLang="en-US" sz="1477">
                <a:solidFill>
                  <a:prstClr val="black"/>
                </a:solidFill>
                <a:ea typeface="等线" panose="02010600030101010101" pitchFamily="2" charset="-122"/>
              </a:rPr>
              <a:t>语言</a:t>
            </a:r>
          </a:p>
        </p:txBody>
      </p:sp>
      <p:sp>
        <p:nvSpPr>
          <p:cNvPr id="18" name="文本框 17"/>
          <p:cNvSpPr txBox="1"/>
          <p:nvPr/>
        </p:nvSpPr>
        <p:spPr>
          <a:xfrm>
            <a:off x="4834526" y="1840630"/>
            <a:ext cx="3195631" cy="169980"/>
          </a:xfrm>
          <a:prstGeom prst="rect">
            <a:avLst/>
          </a:prstGeom>
          <a:noFill/>
        </p:spPr>
        <p:txBody>
          <a:bodyPr wrap="none" lIns="0" tIns="0" rIns="0" bIns="0"/>
          <a:lstStyle/>
          <a:p>
            <a:pPr defTabSz="1087941">
              <a:defRPr/>
            </a:pPr>
            <a:r>
              <a:rPr lang="en-US" altLang="zh-CN" sz="1477" b="1" dirty="0">
                <a:solidFill>
                  <a:srgbClr val="FF0000"/>
                </a:solidFill>
                <a:ea typeface="等线" panose="02010600030101010101" pitchFamily="2" charset="-122"/>
              </a:rPr>
              <a:t>1983, Dennis Ritchie</a:t>
            </a:r>
            <a:r>
              <a:rPr lang="zh-CN" altLang="en-US" sz="1477" dirty="0">
                <a:solidFill>
                  <a:srgbClr val="FF0000"/>
                </a:solidFill>
                <a:ea typeface="等线" panose="02010600030101010101" pitchFamily="2" charset="-122"/>
              </a:rPr>
              <a:t> 和</a:t>
            </a:r>
            <a:r>
              <a:rPr lang="en-US" altLang="zh-CN" sz="1477" b="1" dirty="0">
                <a:solidFill>
                  <a:srgbClr val="FF0000"/>
                </a:solidFill>
                <a:ea typeface="等线" panose="02010600030101010101" pitchFamily="2" charset="-122"/>
              </a:rPr>
              <a:t> Thompson, C</a:t>
            </a:r>
            <a:r>
              <a:rPr lang="zh-CN" altLang="en-US" sz="1477" dirty="0">
                <a:solidFill>
                  <a:srgbClr val="FF0000"/>
                </a:solidFill>
                <a:ea typeface="等线" panose="02010600030101010101" pitchFamily="2" charset="-122"/>
              </a:rPr>
              <a:t>语</a:t>
            </a:r>
          </a:p>
        </p:txBody>
      </p:sp>
      <p:sp>
        <p:nvSpPr>
          <p:cNvPr id="19" name="文本框 18"/>
          <p:cNvSpPr txBox="1"/>
          <p:nvPr/>
        </p:nvSpPr>
        <p:spPr>
          <a:xfrm>
            <a:off x="4834527" y="2052160"/>
            <a:ext cx="902784" cy="202087"/>
          </a:xfrm>
          <a:prstGeom prst="rect">
            <a:avLst/>
          </a:prstGeom>
          <a:noFill/>
        </p:spPr>
        <p:txBody>
          <a:bodyPr wrap="none" lIns="0" tIns="0" rIns="0" bIns="0"/>
          <a:lstStyle/>
          <a:p>
            <a:pPr defTabSz="1087941">
              <a:defRPr/>
            </a:pPr>
            <a:r>
              <a:rPr lang="zh-CN" altLang="en-US" sz="1477" dirty="0">
                <a:solidFill>
                  <a:srgbClr val="FF0000"/>
                </a:solidFill>
                <a:latin typeface="SimSun" panose="02010600030101010101" pitchFamily="2" charset="-122"/>
                <a:ea typeface="等线" panose="02010600030101010101" pitchFamily="2" charset="-122"/>
              </a:rPr>
              <a:t>言和</a:t>
            </a:r>
            <a:r>
              <a:rPr lang="en-US" altLang="zh-CN" sz="1477" b="1" dirty="0">
                <a:solidFill>
                  <a:srgbClr val="FF0000"/>
                </a:solidFill>
                <a:latin typeface="TimesNewRomanPS"/>
                <a:ea typeface="等线" panose="02010600030101010101" pitchFamily="2" charset="-122"/>
              </a:rPr>
              <a:t> UNIX</a:t>
            </a:r>
            <a:endParaRPr lang="zh-CN" altLang="en-US" sz="1477" b="1" dirty="0">
              <a:solidFill>
                <a:srgbClr val="FF0000"/>
              </a:solidFill>
              <a:latin typeface="TimesNewRomanPS"/>
              <a:ea typeface="等线" panose="02010600030101010101" pitchFamily="2" charset="-122"/>
            </a:endParaRPr>
          </a:p>
        </p:txBody>
      </p:sp>
      <p:sp>
        <p:nvSpPr>
          <p:cNvPr id="20" name="文本框 19"/>
          <p:cNvSpPr txBox="1"/>
          <p:nvPr/>
        </p:nvSpPr>
        <p:spPr>
          <a:xfrm>
            <a:off x="4834527" y="2346793"/>
            <a:ext cx="3086088" cy="169980"/>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1984, Niklaus Wirth, Algol W, PL 360,</a:t>
            </a:r>
            <a:endParaRPr lang="zh-CN" altLang="en-US" sz="1477" b="1">
              <a:solidFill>
                <a:prstClr val="black"/>
              </a:solidFill>
              <a:ea typeface="等线" panose="02010600030101010101" pitchFamily="2" charset="-122"/>
            </a:endParaRPr>
          </a:p>
        </p:txBody>
      </p:sp>
      <p:sp>
        <p:nvSpPr>
          <p:cNvPr id="21" name="文本框 20"/>
          <p:cNvSpPr txBox="1"/>
          <p:nvPr/>
        </p:nvSpPr>
        <p:spPr>
          <a:xfrm>
            <a:off x="4834526" y="2573434"/>
            <a:ext cx="3133304" cy="168091"/>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Pascal, Modula-1/2, Oberon,</a:t>
            </a:r>
            <a:r>
              <a:rPr lang="zh-CN" altLang="en-US" sz="1477">
                <a:solidFill>
                  <a:prstClr val="black"/>
                </a:solidFill>
                <a:ea typeface="等线" panose="02010600030101010101" pitchFamily="2" charset="-122"/>
              </a:rPr>
              <a:t> 逐步求精</a:t>
            </a:r>
            <a:r>
              <a:rPr lang="en-US" altLang="zh-CN" sz="1477" b="1">
                <a:solidFill>
                  <a:prstClr val="black"/>
                </a:solidFill>
                <a:ea typeface="等线" panose="02010600030101010101" pitchFamily="2" charset="-122"/>
              </a:rPr>
              <a:t>,</a:t>
            </a:r>
            <a:endParaRPr lang="zh-CN" altLang="en-US" sz="1477" b="1">
              <a:solidFill>
                <a:prstClr val="black"/>
              </a:solidFill>
              <a:ea typeface="等线" panose="02010600030101010101" pitchFamily="2" charset="-122"/>
            </a:endParaRPr>
          </a:p>
        </p:txBody>
      </p:sp>
      <p:sp>
        <p:nvSpPr>
          <p:cNvPr id="22" name="文本框 21"/>
          <p:cNvSpPr txBox="1"/>
          <p:nvPr/>
        </p:nvSpPr>
        <p:spPr>
          <a:xfrm>
            <a:off x="4834526" y="2784965"/>
            <a:ext cx="1969883" cy="200199"/>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结构化程序设计</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 语法图</a:t>
            </a:r>
          </a:p>
        </p:txBody>
      </p:sp>
      <p:sp>
        <p:nvSpPr>
          <p:cNvPr id="23" name="文本框 22"/>
          <p:cNvSpPr txBox="1"/>
          <p:nvPr/>
        </p:nvSpPr>
        <p:spPr>
          <a:xfrm>
            <a:off x="4834527" y="3079598"/>
            <a:ext cx="3222072" cy="169980"/>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1991, Robin Milner, ML</a:t>
            </a:r>
            <a:r>
              <a:rPr lang="zh-CN" altLang="en-US" sz="1477">
                <a:solidFill>
                  <a:prstClr val="black"/>
                </a:solidFill>
                <a:ea typeface="等线" panose="02010600030101010101" pitchFamily="2" charset="-122"/>
              </a:rPr>
              <a:t>语言</a:t>
            </a:r>
            <a:r>
              <a:rPr lang="en-US" altLang="zh-CN" sz="1477" b="1">
                <a:solidFill>
                  <a:prstClr val="black"/>
                </a:solidFill>
                <a:ea typeface="等线" panose="02010600030101010101" pitchFamily="2" charset="-122"/>
              </a:rPr>
              <a:t>,</a:t>
            </a:r>
            <a:r>
              <a:rPr lang="zh-CN" altLang="en-US" sz="1477">
                <a:solidFill>
                  <a:prstClr val="black"/>
                </a:solidFill>
                <a:ea typeface="等线" panose="02010600030101010101" pitchFamily="2" charset="-122"/>
              </a:rPr>
              <a:t> 并发理论</a:t>
            </a:r>
            <a:r>
              <a:rPr lang="en-US" altLang="zh-CN" sz="1477" b="1">
                <a:solidFill>
                  <a:prstClr val="black"/>
                </a:solidFill>
                <a:ea typeface="等线" panose="02010600030101010101" pitchFamily="2" charset="-122"/>
              </a:rPr>
              <a:t>,</a:t>
            </a:r>
            <a:endParaRPr lang="zh-CN" altLang="en-US" sz="1477" b="1">
              <a:solidFill>
                <a:prstClr val="black"/>
              </a:solidFill>
              <a:ea typeface="等线" panose="02010600030101010101" pitchFamily="2" charset="-122"/>
            </a:endParaRPr>
          </a:p>
        </p:txBody>
      </p:sp>
      <p:sp>
        <p:nvSpPr>
          <p:cNvPr id="24" name="文本框 23"/>
          <p:cNvSpPr txBox="1"/>
          <p:nvPr/>
        </p:nvSpPr>
        <p:spPr>
          <a:xfrm>
            <a:off x="4834526" y="3306238"/>
            <a:ext cx="375845" cy="168091"/>
          </a:xfrm>
          <a:prstGeom prst="rect">
            <a:avLst/>
          </a:prstGeom>
          <a:noFill/>
        </p:spPr>
        <p:txBody>
          <a:bodyPr wrap="none" lIns="0" tIns="0" rIns="0" bIns="0"/>
          <a:lstStyle/>
          <a:p>
            <a:pPr defTabSz="1087941">
              <a:defRPr/>
            </a:pPr>
            <a:r>
              <a:rPr lang="en-US" altLang="zh-CN" sz="1477" b="1">
                <a:solidFill>
                  <a:prstClr val="black"/>
                </a:solidFill>
                <a:latin typeface="TimesNewRomanPS"/>
                <a:ea typeface="等线" panose="02010600030101010101" pitchFamily="2" charset="-122"/>
              </a:rPr>
              <a:t>CCS</a:t>
            </a:r>
            <a:endParaRPr lang="zh-CN" altLang="en-US" sz="1477" b="1">
              <a:solidFill>
                <a:prstClr val="black"/>
              </a:solidFill>
              <a:latin typeface="TimesNewRomanPS"/>
              <a:ea typeface="等线" panose="02010600030101010101" pitchFamily="2" charset="-122"/>
            </a:endParaRPr>
          </a:p>
        </p:txBody>
      </p:sp>
      <p:sp>
        <p:nvSpPr>
          <p:cNvPr id="25" name="文本框 24"/>
          <p:cNvSpPr txBox="1"/>
          <p:nvPr/>
        </p:nvSpPr>
        <p:spPr>
          <a:xfrm>
            <a:off x="4834526" y="3587649"/>
            <a:ext cx="2621475" cy="168092"/>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2001, Ole-Johan Dahl</a:t>
            </a:r>
            <a:r>
              <a:rPr lang="zh-CN" altLang="en-US" sz="1477">
                <a:solidFill>
                  <a:prstClr val="black"/>
                </a:solidFill>
                <a:ea typeface="等线" panose="02010600030101010101" pitchFamily="2" charset="-122"/>
              </a:rPr>
              <a:t> 和</a:t>
            </a:r>
            <a:r>
              <a:rPr lang="en-US" altLang="zh-CN" sz="1477" b="1">
                <a:solidFill>
                  <a:prstClr val="black"/>
                </a:solidFill>
                <a:ea typeface="等线" panose="02010600030101010101" pitchFamily="2" charset="-122"/>
              </a:rPr>
              <a:t> Kristen</a:t>
            </a:r>
            <a:endParaRPr lang="zh-CN" altLang="en-US" sz="1477" b="1">
              <a:solidFill>
                <a:prstClr val="black"/>
              </a:solidFill>
              <a:ea typeface="等线" panose="02010600030101010101" pitchFamily="2" charset="-122"/>
            </a:endParaRPr>
          </a:p>
        </p:txBody>
      </p:sp>
      <p:sp>
        <p:nvSpPr>
          <p:cNvPr id="26" name="文本框 25"/>
          <p:cNvSpPr txBox="1"/>
          <p:nvPr/>
        </p:nvSpPr>
        <p:spPr>
          <a:xfrm>
            <a:off x="4834526" y="3812401"/>
            <a:ext cx="2491157" cy="168091"/>
          </a:xfrm>
          <a:prstGeom prst="rect">
            <a:avLst/>
          </a:prstGeom>
          <a:noFill/>
        </p:spPr>
        <p:txBody>
          <a:bodyPr wrap="none" lIns="0" tIns="0" rIns="0" bIns="0"/>
          <a:lstStyle/>
          <a:p>
            <a:pPr defTabSz="1087941">
              <a:defRPr/>
            </a:pPr>
            <a:r>
              <a:rPr lang="en-US" altLang="zh-CN" sz="1477" b="1">
                <a:solidFill>
                  <a:prstClr val="black"/>
                </a:solidFill>
                <a:latin typeface="TimesNewRomanPS"/>
                <a:ea typeface="等线" panose="02010600030101010101" pitchFamily="2" charset="-122"/>
              </a:rPr>
              <a:t>Nygaard, Simula</a:t>
            </a:r>
            <a:r>
              <a:rPr lang="zh-CN" altLang="en-US" sz="1477">
                <a:solidFill>
                  <a:prstClr val="black"/>
                </a:solidFill>
                <a:latin typeface="SimSun" panose="02010600030101010101" pitchFamily="2" charset="-122"/>
                <a:ea typeface="等线" panose="02010600030101010101" pitchFamily="2" charset="-122"/>
              </a:rPr>
              <a:t>语言</a:t>
            </a:r>
            <a:r>
              <a:rPr lang="en-US" altLang="zh-CN" sz="1477" b="1">
                <a:solidFill>
                  <a:prstClr val="black"/>
                </a:solidFill>
                <a:latin typeface="TimesNewRomanPS"/>
                <a:ea typeface="等线" panose="02010600030101010101" pitchFamily="2" charset="-122"/>
              </a:rPr>
              <a:t>, OO</a:t>
            </a:r>
            <a:r>
              <a:rPr lang="zh-CN" altLang="en-US" sz="1477">
                <a:solidFill>
                  <a:prstClr val="black"/>
                </a:solidFill>
                <a:latin typeface="SimSun" panose="02010600030101010101" pitchFamily="2" charset="-122"/>
                <a:ea typeface="等线" panose="02010600030101010101" pitchFamily="2" charset="-122"/>
              </a:rPr>
              <a:t>概念</a:t>
            </a:r>
          </a:p>
        </p:txBody>
      </p:sp>
      <p:sp>
        <p:nvSpPr>
          <p:cNvPr id="27" name="文本框 26"/>
          <p:cNvSpPr txBox="1"/>
          <p:nvPr/>
        </p:nvSpPr>
        <p:spPr>
          <a:xfrm>
            <a:off x="4834526" y="4093812"/>
            <a:ext cx="3048315" cy="168092"/>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2003, Alan Kay, Smalltalk</a:t>
            </a:r>
            <a:r>
              <a:rPr lang="zh-CN" altLang="en-US" sz="1477">
                <a:solidFill>
                  <a:prstClr val="black"/>
                </a:solidFill>
                <a:ea typeface="等线" panose="02010600030101010101" pitchFamily="2" charset="-122"/>
              </a:rPr>
              <a:t>语言</a:t>
            </a:r>
            <a:r>
              <a:rPr lang="en-US" altLang="zh-CN" sz="1477" b="1">
                <a:solidFill>
                  <a:prstClr val="black"/>
                </a:solidFill>
                <a:ea typeface="等线" panose="02010600030101010101" pitchFamily="2" charset="-122"/>
              </a:rPr>
              <a:t>, OO</a:t>
            </a:r>
            <a:r>
              <a:rPr lang="zh-CN" altLang="en-US" sz="1477">
                <a:solidFill>
                  <a:prstClr val="black"/>
                </a:solidFill>
                <a:ea typeface="等线" panose="02010600030101010101" pitchFamily="2" charset="-122"/>
              </a:rPr>
              <a:t>概</a:t>
            </a:r>
          </a:p>
        </p:txBody>
      </p:sp>
      <p:sp>
        <p:nvSpPr>
          <p:cNvPr id="28" name="文本框 27"/>
          <p:cNvSpPr txBox="1"/>
          <p:nvPr/>
        </p:nvSpPr>
        <p:spPr>
          <a:xfrm>
            <a:off x="4834527" y="4318565"/>
            <a:ext cx="1688472" cy="186977"/>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念、语言和程序设计</a:t>
            </a:r>
          </a:p>
        </p:txBody>
      </p:sp>
      <p:sp>
        <p:nvSpPr>
          <p:cNvPr id="29" name="文本框 28"/>
          <p:cNvSpPr txBox="1"/>
          <p:nvPr/>
        </p:nvSpPr>
        <p:spPr>
          <a:xfrm>
            <a:off x="4834528" y="4599977"/>
            <a:ext cx="3101197" cy="169980"/>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2005, Peter Naur, Algol 60</a:t>
            </a:r>
            <a:r>
              <a:rPr lang="zh-CN" altLang="en-US" sz="1477">
                <a:solidFill>
                  <a:prstClr val="black"/>
                </a:solidFill>
                <a:ea typeface="等线" panose="02010600030101010101" pitchFamily="2" charset="-122"/>
              </a:rPr>
              <a:t> 语言的设计</a:t>
            </a:r>
          </a:p>
        </p:txBody>
      </p:sp>
      <p:sp>
        <p:nvSpPr>
          <p:cNvPr id="30" name="文本框 29"/>
          <p:cNvSpPr txBox="1"/>
          <p:nvPr/>
        </p:nvSpPr>
        <p:spPr>
          <a:xfrm>
            <a:off x="4834527" y="4811508"/>
            <a:ext cx="3002987" cy="202089"/>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和定义</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 编译</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 程序设计的原理和实践</a:t>
            </a:r>
          </a:p>
        </p:txBody>
      </p:sp>
      <p:sp>
        <p:nvSpPr>
          <p:cNvPr id="31" name="文本框 30"/>
          <p:cNvSpPr txBox="1"/>
          <p:nvPr/>
        </p:nvSpPr>
        <p:spPr>
          <a:xfrm>
            <a:off x="4834526" y="5108030"/>
            <a:ext cx="3172967" cy="168091"/>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2006, Frances Allen,</a:t>
            </a:r>
            <a:r>
              <a:rPr lang="zh-CN" altLang="en-US" sz="1477">
                <a:solidFill>
                  <a:prstClr val="black"/>
                </a:solidFill>
                <a:ea typeface="等线" panose="02010600030101010101" pitchFamily="2" charset="-122"/>
              </a:rPr>
              <a:t> 优化编译和并行化</a:t>
            </a:r>
          </a:p>
        </p:txBody>
      </p:sp>
      <p:sp>
        <p:nvSpPr>
          <p:cNvPr id="32" name="文本框 31"/>
          <p:cNvSpPr txBox="1"/>
          <p:nvPr/>
        </p:nvSpPr>
        <p:spPr>
          <a:xfrm>
            <a:off x="4834526" y="5389440"/>
            <a:ext cx="3163523" cy="168092"/>
          </a:xfrm>
          <a:prstGeom prst="rect">
            <a:avLst/>
          </a:prstGeom>
          <a:noFill/>
        </p:spPr>
        <p:txBody>
          <a:bodyPr wrap="none" lIns="0" tIns="0" rIns="0" bIns="0"/>
          <a:lstStyle/>
          <a:p>
            <a:pPr defTabSz="1087941">
              <a:defRPr/>
            </a:pPr>
            <a:r>
              <a:rPr lang="en-US" altLang="zh-CN" sz="1477" b="1">
                <a:solidFill>
                  <a:prstClr val="black"/>
                </a:solidFill>
                <a:ea typeface="等线" panose="02010600030101010101" pitchFamily="2" charset="-122"/>
              </a:rPr>
              <a:t>2008, Barbara Liskov,</a:t>
            </a:r>
            <a:r>
              <a:rPr lang="zh-CN" altLang="en-US" sz="1477">
                <a:solidFill>
                  <a:prstClr val="black"/>
                </a:solidFill>
                <a:ea typeface="等线" panose="02010600030101010101" pitchFamily="2" charset="-122"/>
              </a:rPr>
              <a:t> 数据抽象</a:t>
            </a:r>
            <a:r>
              <a:rPr lang="en-US" altLang="zh-CN" sz="1477" b="1">
                <a:solidFill>
                  <a:prstClr val="black"/>
                </a:solidFill>
                <a:ea typeface="等线" panose="02010600030101010101" pitchFamily="2" charset="-122"/>
              </a:rPr>
              <a:t>/OO/</a:t>
            </a:r>
            <a:r>
              <a:rPr lang="zh-CN" altLang="en-US" sz="1477">
                <a:solidFill>
                  <a:prstClr val="black"/>
                </a:solidFill>
                <a:ea typeface="等线" panose="02010600030101010101" pitchFamily="2" charset="-122"/>
              </a:rPr>
              <a:t>容</a:t>
            </a:r>
          </a:p>
        </p:txBody>
      </p:sp>
      <p:sp>
        <p:nvSpPr>
          <p:cNvPr id="33" name="文本框 32"/>
          <p:cNvSpPr txBox="1"/>
          <p:nvPr/>
        </p:nvSpPr>
        <p:spPr>
          <a:xfrm>
            <a:off x="4834526" y="5599083"/>
            <a:ext cx="2678136" cy="202087"/>
          </a:xfrm>
          <a:prstGeom prst="rect">
            <a:avLst/>
          </a:prstGeom>
          <a:noFill/>
        </p:spPr>
        <p:txBody>
          <a:bodyPr wrap="none" lIns="0" tIns="0" rIns="0" bIns="0"/>
          <a:lstStyle/>
          <a:p>
            <a:pPr defTabSz="1087941">
              <a:defRPr/>
            </a:pPr>
            <a:r>
              <a:rPr lang="zh-CN" altLang="en-US" sz="1477">
                <a:solidFill>
                  <a:prstClr val="black"/>
                </a:solidFill>
                <a:latin typeface="SimSun" panose="02010600030101010101" pitchFamily="2" charset="-122"/>
                <a:ea typeface="等线" panose="02010600030101010101" pitchFamily="2" charset="-122"/>
              </a:rPr>
              <a:t>错</a:t>
            </a:r>
            <a:r>
              <a:rPr lang="en-US" altLang="zh-CN" sz="1477" b="1">
                <a:solidFill>
                  <a:prstClr val="black"/>
                </a:solidFill>
                <a:latin typeface="TimesNewRomanPS"/>
                <a:ea typeface="等线" panose="02010600030101010101" pitchFamily="2" charset="-122"/>
              </a:rPr>
              <a:t>/</a:t>
            </a:r>
            <a:r>
              <a:rPr lang="zh-CN" altLang="en-US" sz="1477">
                <a:solidFill>
                  <a:prstClr val="black"/>
                </a:solidFill>
                <a:latin typeface="SimSun" panose="02010600030101010101" pitchFamily="2" charset="-122"/>
                <a:ea typeface="等线" panose="02010600030101010101" pitchFamily="2" charset="-122"/>
              </a:rPr>
              <a:t>分布式计算程序的基础和语言</a:t>
            </a:r>
          </a:p>
        </p:txBody>
      </p:sp>
      <p:sp>
        <p:nvSpPr>
          <p:cNvPr id="35" name="文本框 34"/>
          <p:cNvSpPr txBox="1"/>
          <p:nvPr/>
        </p:nvSpPr>
        <p:spPr>
          <a:xfrm>
            <a:off x="1144064" y="5113695"/>
            <a:ext cx="3354279" cy="186979"/>
          </a:xfrm>
          <a:prstGeom prst="rect">
            <a:avLst/>
          </a:prstGeom>
          <a:noFill/>
        </p:spPr>
        <p:txBody>
          <a:bodyPr wrap="none" lIns="0" tIns="0" rIns="0" bIns="0"/>
          <a:lstStyle/>
          <a:p>
            <a:pPr defTabSz="1087941">
              <a:defRPr/>
            </a:pPr>
            <a:r>
              <a:rPr lang="en-US" altLang="zh-CN" sz="1639" b="1">
                <a:solidFill>
                  <a:prstClr val="black"/>
                </a:solidFill>
                <a:ea typeface="等线" panose="02010600030101010101" pitchFamily="2" charset="-122"/>
              </a:rPr>
              <a:t>1980, C.A.R. Hoare,</a:t>
            </a:r>
            <a:r>
              <a:rPr lang="zh-CN" altLang="en-US" sz="1639">
                <a:solidFill>
                  <a:prstClr val="black"/>
                </a:solidFill>
                <a:ea typeface="等线" panose="02010600030101010101" pitchFamily="2" charset="-122"/>
              </a:rPr>
              <a:t> 结构化程序设计</a:t>
            </a:r>
            <a:r>
              <a:rPr lang="en-US" altLang="zh-CN" sz="1639" b="1">
                <a:solidFill>
                  <a:prstClr val="black"/>
                </a:solidFill>
                <a:ea typeface="等线" panose="02010600030101010101" pitchFamily="2" charset="-122"/>
              </a:rPr>
              <a:t>,</a:t>
            </a:r>
            <a:endParaRPr lang="zh-CN" altLang="en-US" sz="1639" b="1">
              <a:solidFill>
                <a:prstClr val="black"/>
              </a:solidFill>
              <a:ea typeface="等线" panose="02010600030101010101" pitchFamily="2" charset="-122"/>
            </a:endParaRPr>
          </a:p>
        </p:txBody>
      </p:sp>
      <p:sp>
        <p:nvSpPr>
          <p:cNvPr id="36" name="文本框 35"/>
          <p:cNvSpPr txBox="1"/>
          <p:nvPr/>
        </p:nvSpPr>
        <p:spPr>
          <a:xfrm>
            <a:off x="1144064" y="5364889"/>
            <a:ext cx="3341058" cy="186977"/>
          </a:xfrm>
          <a:prstGeom prst="rect">
            <a:avLst/>
          </a:prstGeom>
          <a:noFill/>
        </p:spPr>
        <p:txBody>
          <a:bodyPr wrap="none" lIns="0" tIns="0" rIns="0" bIns="0"/>
          <a:lstStyle/>
          <a:p>
            <a:pPr defTabSz="1087941">
              <a:defRPr/>
            </a:pPr>
            <a:r>
              <a:rPr lang="en-US" altLang="zh-CN" sz="1639" b="1">
                <a:solidFill>
                  <a:prstClr val="black"/>
                </a:solidFill>
                <a:ea typeface="等线" panose="02010600030101010101" pitchFamily="2" charset="-122"/>
              </a:rPr>
              <a:t>case</a:t>
            </a:r>
            <a:r>
              <a:rPr lang="zh-CN" altLang="en-US" sz="1639">
                <a:solidFill>
                  <a:prstClr val="black"/>
                </a:solidFill>
                <a:ea typeface="等线" panose="02010600030101010101" pitchFamily="2" charset="-122"/>
              </a:rPr>
              <a:t>语句</a:t>
            </a:r>
            <a:r>
              <a:rPr lang="en-US" altLang="zh-CN" sz="1639" b="1">
                <a:solidFill>
                  <a:prstClr val="black"/>
                </a:solidFill>
                <a:ea typeface="等线" panose="02010600030101010101" pitchFamily="2" charset="-122"/>
              </a:rPr>
              <a:t>,</a:t>
            </a:r>
            <a:r>
              <a:rPr lang="zh-CN" altLang="en-US" sz="1639">
                <a:solidFill>
                  <a:prstClr val="black"/>
                </a:solidFill>
                <a:ea typeface="等线" panose="02010600030101010101" pitchFamily="2" charset="-122"/>
              </a:rPr>
              <a:t> 公理语义学</a:t>
            </a:r>
            <a:r>
              <a:rPr lang="en-US" altLang="zh-CN" sz="1639" b="1">
                <a:solidFill>
                  <a:prstClr val="black"/>
                </a:solidFill>
                <a:ea typeface="等线" panose="02010600030101010101" pitchFamily="2" charset="-122"/>
              </a:rPr>
              <a:t>,</a:t>
            </a:r>
            <a:r>
              <a:rPr lang="zh-CN" altLang="en-US" sz="1639">
                <a:solidFill>
                  <a:prstClr val="black"/>
                </a:solidFill>
                <a:ea typeface="等线" panose="02010600030101010101" pitchFamily="2" charset="-122"/>
              </a:rPr>
              <a:t> 并发程序理论</a:t>
            </a:r>
            <a:r>
              <a:rPr lang="en-US" altLang="zh-CN" sz="1639" b="1">
                <a:solidFill>
                  <a:prstClr val="black"/>
                </a:solidFill>
                <a:ea typeface="等线" panose="02010600030101010101" pitchFamily="2" charset="-122"/>
              </a:rPr>
              <a:t>,</a:t>
            </a:r>
            <a:endParaRPr lang="zh-CN" altLang="en-US" sz="1639" b="1">
              <a:solidFill>
                <a:prstClr val="black"/>
              </a:solidFill>
              <a:ea typeface="等线" panose="02010600030101010101" pitchFamily="2" charset="-122"/>
            </a:endParaRPr>
          </a:p>
        </p:txBody>
      </p:sp>
      <p:sp>
        <p:nvSpPr>
          <p:cNvPr id="37" name="文本框 36"/>
          <p:cNvSpPr txBox="1"/>
          <p:nvPr/>
        </p:nvSpPr>
        <p:spPr>
          <a:xfrm>
            <a:off x="1144064" y="5614193"/>
            <a:ext cx="655368" cy="186977"/>
          </a:xfrm>
          <a:prstGeom prst="rect">
            <a:avLst/>
          </a:prstGeom>
          <a:noFill/>
        </p:spPr>
        <p:txBody>
          <a:bodyPr wrap="none" lIns="0" tIns="0" rIns="0" bIns="0"/>
          <a:lstStyle/>
          <a:p>
            <a:pPr defTabSz="1087941">
              <a:defRPr/>
            </a:pPr>
            <a:r>
              <a:rPr lang="en-US" altLang="zh-CN" sz="1639" b="1">
                <a:solidFill>
                  <a:prstClr val="black"/>
                </a:solidFill>
                <a:latin typeface="TimesNewRomanPS"/>
                <a:ea typeface="等线" panose="02010600030101010101" pitchFamily="2" charset="-122"/>
              </a:rPr>
              <a:t>CSP</a:t>
            </a:r>
            <a:r>
              <a:rPr lang="zh-CN" altLang="en-US" sz="1639">
                <a:solidFill>
                  <a:prstClr val="black"/>
                </a:solidFill>
                <a:latin typeface="SimSun" panose="02010600030101010101" pitchFamily="2" charset="-122"/>
                <a:ea typeface="等线" panose="02010600030101010101" pitchFamily="2" charset="-122"/>
              </a:rPr>
              <a:t> 等</a:t>
            </a:r>
          </a:p>
        </p:txBody>
      </p:sp>
    </p:spTree>
    <p:extLst>
      <p:ext uri="{BB962C8B-B14F-4D97-AF65-F5344CB8AC3E}">
        <p14:creationId xmlns:p14="http://schemas.microsoft.com/office/powerpoint/2010/main" val="114708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xmlns="" id="{664F6C94-08B8-0EBC-CD44-831AFA839CA3}"/>
              </a:ext>
            </a:extLst>
          </p:cNvPr>
          <p:cNvGraphicFramePr>
            <a:graphicFrameLocks noGrp="1"/>
          </p:cNvGraphicFramePr>
          <p:nvPr>
            <p:extLst>
              <p:ext uri="{D42A27DB-BD31-4B8C-83A1-F6EECF244321}">
                <p14:modId xmlns:p14="http://schemas.microsoft.com/office/powerpoint/2010/main" val="3536541292"/>
              </p:ext>
            </p:extLst>
          </p:nvPr>
        </p:nvGraphicFramePr>
        <p:xfrm>
          <a:off x="0" y="248479"/>
          <a:ext cx="9144000" cy="5755793"/>
        </p:xfrm>
        <a:graphic>
          <a:graphicData uri="http://schemas.openxmlformats.org/drawingml/2006/table">
            <a:tbl>
              <a:tblPr firstRow="1" firstCol="1" bandRow="1">
                <a:tableStyleId>{5C22544A-7EE6-4342-B048-85BDC9FD1C3A}</a:tableStyleId>
              </a:tblPr>
              <a:tblGrid>
                <a:gridCol w="1141797">
                  <a:extLst>
                    <a:ext uri="{9D8B030D-6E8A-4147-A177-3AD203B41FA5}">
                      <a16:colId xmlns:a16="http://schemas.microsoft.com/office/drawing/2014/main" xmlns="" val="2311800075"/>
                    </a:ext>
                  </a:extLst>
                </a:gridCol>
                <a:gridCol w="1949718">
                  <a:extLst>
                    <a:ext uri="{9D8B030D-6E8A-4147-A177-3AD203B41FA5}">
                      <a16:colId xmlns:a16="http://schemas.microsoft.com/office/drawing/2014/main" xmlns="" val="3869725322"/>
                    </a:ext>
                  </a:extLst>
                </a:gridCol>
                <a:gridCol w="6052485">
                  <a:extLst>
                    <a:ext uri="{9D8B030D-6E8A-4147-A177-3AD203B41FA5}">
                      <a16:colId xmlns:a16="http://schemas.microsoft.com/office/drawing/2014/main" xmlns="" val="3785793764"/>
                    </a:ext>
                  </a:extLst>
                </a:gridCol>
              </a:tblGrid>
              <a:tr h="1965123">
                <a:tc>
                  <a:txBody>
                    <a:bodyPr/>
                    <a:lstStyle/>
                    <a:p>
                      <a:pPr algn="l"/>
                      <a:r>
                        <a:rPr lang="en-US" sz="1700" kern="0">
                          <a:effectLst/>
                        </a:rPr>
                        <a:t>2014</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marL="0" algn="l" rtl="0" eaLnBrk="1" latinLnBrk="0" hangingPunct="1"/>
                      <a:r>
                        <a:rPr kumimoji="0" lang="en-US" sz="1700" kern="0" dirty="0" err="1">
                          <a:solidFill>
                            <a:schemeClr val="dk1"/>
                          </a:solidFill>
                          <a:effectLst/>
                          <a:latin typeface="+mn-lt"/>
                          <a:ea typeface="+mn-ea"/>
                          <a:cs typeface="+mn-cs"/>
                        </a:rPr>
                        <a:t>Stonebraker</a:t>
                      </a:r>
                      <a:r>
                        <a:rPr kumimoji="0" lang="en-US" sz="1700" kern="0" dirty="0">
                          <a:solidFill>
                            <a:schemeClr val="dk1"/>
                          </a:solidFill>
                          <a:effectLst/>
                          <a:latin typeface="+mn-lt"/>
                          <a:ea typeface="+mn-ea"/>
                          <a:cs typeface="+mn-cs"/>
                        </a:rPr>
                        <a:t>, Michael</a:t>
                      </a:r>
                      <a:endParaRPr kumimoji="0" lang="zh-CN" altLang="en-US" sz="1700" kern="0" dirty="0">
                        <a:solidFill>
                          <a:schemeClr val="dk1"/>
                        </a:solidFill>
                        <a:effectLst/>
                        <a:latin typeface="+mn-lt"/>
                        <a:ea typeface="+mn-ea"/>
                        <a:cs typeface="+mn-cs"/>
                      </a:endParaRPr>
                    </a:p>
                  </a:txBody>
                  <a:tcPr marL="66261" marR="66261" marT="66261" marB="66261" anchor="ctr"/>
                </a:tc>
                <a:tc>
                  <a:txBody>
                    <a:bodyPr/>
                    <a:lstStyle/>
                    <a:p>
                      <a:pPr algn="l"/>
                      <a:r>
                        <a:rPr lang="en-US" sz="1700" kern="0" dirty="0">
                          <a:effectLst/>
                        </a:rPr>
                        <a:t> </a:t>
                      </a:r>
                    </a:p>
                    <a:p>
                      <a:pPr algn="l"/>
                      <a:r>
                        <a:rPr lang="en-US" sz="1700" kern="0" dirty="0">
                          <a:effectLst/>
                        </a:rPr>
                        <a:t>Databases   </a:t>
                      </a:r>
                      <a:r>
                        <a:rPr lang="zh-CN" altLang="en-US" sz="1700" kern="100" dirty="0">
                          <a:effectLst/>
                        </a:rPr>
                        <a:t> </a:t>
                      </a:r>
                      <a:r>
                        <a:rPr lang="zh-CN" altLang="en-US" sz="1700" kern="0" dirty="0">
                          <a:effectLst/>
                        </a:rPr>
                        <a:t>领导开发了</a:t>
                      </a:r>
                      <a:r>
                        <a:rPr lang="en-US" sz="1700" kern="0" dirty="0">
                          <a:effectLst/>
                        </a:rPr>
                        <a:t>Ingres</a:t>
                      </a:r>
                      <a:r>
                        <a:rPr lang="zh-CN" altLang="en-US" sz="1700" kern="0" dirty="0">
                          <a:effectLst/>
                        </a:rPr>
                        <a:t>、</a:t>
                      </a:r>
                      <a:r>
                        <a:rPr lang="en-US" sz="1700" kern="0" dirty="0">
                          <a:effectLst/>
                        </a:rPr>
                        <a:t>Postgres</a:t>
                      </a:r>
                      <a:r>
                        <a:rPr lang="zh-CN" altLang="en-US" sz="1700" kern="0" dirty="0">
                          <a:effectLst/>
                        </a:rPr>
                        <a:t>、</a:t>
                      </a:r>
                      <a:r>
                        <a:rPr lang="en-US" sz="1700" kern="0" dirty="0">
                          <a:effectLst/>
                        </a:rPr>
                        <a:t>Mariposa</a:t>
                      </a:r>
                      <a:r>
                        <a:rPr lang="zh-CN" altLang="en-US" sz="1700" kern="0" dirty="0">
                          <a:effectLst/>
                        </a:rPr>
                        <a:t>，同时也是以下数据库公司的创始人：</a:t>
                      </a:r>
                      <a:r>
                        <a:rPr lang="en-US" sz="1700" kern="0" dirty="0">
                          <a:effectLst/>
                        </a:rPr>
                        <a:t>Ingres</a:t>
                      </a:r>
                      <a:r>
                        <a:rPr lang="zh-CN" altLang="en-US" sz="1700" kern="0" dirty="0">
                          <a:effectLst/>
                        </a:rPr>
                        <a:t>、</a:t>
                      </a:r>
                      <a:r>
                        <a:rPr lang="en-US" sz="1700" kern="0" dirty="0" err="1">
                          <a:effectLst/>
                        </a:rPr>
                        <a:t>Illustra</a:t>
                      </a:r>
                      <a:r>
                        <a:rPr lang="zh-CN" altLang="en-US" sz="1700" kern="0" dirty="0">
                          <a:effectLst/>
                        </a:rPr>
                        <a:t>、</a:t>
                      </a:r>
                      <a:r>
                        <a:rPr lang="en-US" sz="1700" kern="0" dirty="0" err="1">
                          <a:effectLst/>
                        </a:rPr>
                        <a:t>Cohera</a:t>
                      </a:r>
                      <a:r>
                        <a:rPr lang="zh-CN" altLang="en-US" sz="1700" kern="0" dirty="0">
                          <a:effectLst/>
                        </a:rPr>
                        <a:t>、</a:t>
                      </a:r>
                      <a:r>
                        <a:rPr lang="en-US" sz="1700" kern="0" dirty="0" err="1">
                          <a:effectLst/>
                        </a:rPr>
                        <a:t>StreamBase</a:t>
                      </a:r>
                      <a:r>
                        <a:rPr lang="en-US" sz="1700" kern="0" dirty="0">
                          <a:effectLst/>
                        </a:rPr>
                        <a:t> Systems</a:t>
                      </a:r>
                      <a:r>
                        <a:rPr lang="zh-CN" altLang="en-US" sz="1700" kern="0" dirty="0">
                          <a:effectLst/>
                        </a:rPr>
                        <a:t>和</a:t>
                      </a:r>
                      <a:r>
                        <a:rPr lang="en-US" sz="1700" kern="0" dirty="0">
                          <a:effectLst/>
                        </a:rPr>
                        <a:t>Vertica </a:t>
                      </a:r>
                      <a:r>
                        <a:rPr lang="zh-CN" altLang="en-US" sz="1700" kern="0" dirty="0">
                          <a:effectLst/>
                        </a:rPr>
                        <a:t>等，将大量研究成果和原型系统实现商业化，其中</a:t>
                      </a:r>
                      <a:r>
                        <a:rPr lang="en-US" sz="1700" kern="0" dirty="0">
                          <a:effectLst/>
                        </a:rPr>
                        <a:t>Ingres </a:t>
                      </a:r>
                      <a:r>
                        <a:rPr lang="zh-CN" altLang="en-US" sz="1700" kern="0" dirty="0">
                          <a:effectLst/>
                        </a:rPr>
                        <a:t>被公认为关系数据库系统的先驱</a:t>
                      </a:r>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2768748060"/>
                  </a:ext>
                </a:extLst>
              </a:tr>
              <a:tr h="821750">
                <a:tc>
                  <a:txBody>
                    <a:bodyPr/>
                    <a:lstStyle/>
                    <a:p>
                      <a:pPr algn="l"/>
                      <a:r>
                        <a:rPr lang="en-US" sz="1700" kern="0">
                          <a:effectLst/>
                        </a:rPr>
                        <a:t>2015</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a:effectLst/>
                        </a:rPr>
                        <a:t>Diffie, Whitfield</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dirty="0">
                          <a:effectLst/>
                        </a:rPr>
                        <a:t>Cryptography  </a:t>
                      </a:r>
                      <a:r>
                        <a:rPr lang="zh-CN" altLang="en-US" sz="1700" kern="0" dirty="0">
                          <a:effectLst/>
                        </a:rPr>
                        <a:t>公开密钥加密 非对称加密</a:t>
                      </a:r>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1787873427"/>
                  </a:ext>
                </a:extLst>
              </a:tr>
              <a:tr h="676224">
                <a:tc>
                  <a:txBody>
                    <a:bodyPr/>
                    <a:lstStyle/>
                    <a:p>
                      <a:pPr algn="l"/>
                      <a:r>
                        <a:rPr lang="en-US" sz="1700" kern="0">
                          <a:effectLst/>
                        </a:rPr>
                        <a:t>2015</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dirty="0">
                          <a:effectLst/>
                        </a:rPr>
                        <a:t>Hellman, Martin</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dirty="0">
                          <a:effectLst/>
                        </a:rPr>
                        <a:t>cryptography</a:t>
                      </a:r>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1553057344"/>
                  </a:ext>
                </a:extLst>
              </a:tr>
              <a:tr h="1095669">
                <a:tc>
                  <a:txBody>
                    <a:bodyPr/>
                    <a:lstStyle/>
                    <a:p>
                      <a:pPr algn="l"/>
                      <a:r>
                        <a:rPr lang="en-US" sz="1700" kern="0">
                          <a:effectLst/>
                        </a:rPr>
                        <a:t>2016</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marL="0" algn="l" rtl="0" eaLnBrk="1" latinLnBrk="0" hangingPunct="1"/>
                      <a:r>
                        <a:rPr kumimoji="0" lang="en-US" sz="1700" kern="0" dirty="0">
                          <a:solidFill>
                            <a:schemeClr val="dk1"/>
                          </a:solidFill>
                          <a:effectLst/>
                          <a:latin typeface="+mn-lt"/>
                          <a:ea typeface="+mn-ea"/>
                          <a:cs typeface="+mn-cs"/>
                        </a:rPr>
                        <a:t>Berners-Lee, Tim</a:t>
                      </a:r>
                      <a:endParaRPr kumimoji="0" lang="zh-CN" altLang="en-US" sz="1700" kern="0" dirty="0">
                        <a:solidFill>
                          <a:schemeClr val="dk1"/>
                        </a:solidFill>
                        <a:effectLst/>
                        <a:latin typeface="+mn-lt"/>
                        <a:ea typeface="+mn-ea"/>
                        <a:cs typeface="+mn-cs"/>
                      </a:endParaRPr>
                    </a:p>
                  </a:txBody>
                  <a:tcPr marL="66261" marR="66261" marT="66261" marB="66261" anchor="ctr"/>
                </a:tc>
                <a:tc>
                  <a:txBody>
                    <a:bodyPr/>
                    <a:lstStyle/>
                    <a:p>
                      <a:pPr marL="0" algn="l" rtl="0" eaLnBrk="1" latinLnBrk="0" hangingPunct="1"/>
                      <a:r>
                        <a:rPr kumimoji="0" lang="en-US" sz="1700" kern="0" dirty="0">
                          <a:solidFill>
                            <a:schemeClr val="dk1"/>
                          </a:solidFill>
                          <a:effectLst/>
                          <a:latin typeface="+mn-lt"/>
                          <a:ea typeface="+mn-ea"/>
                          <a:cs typeface="+mn-cs"/>
                        </a:rPr>
                        <a:t> </a:t>
                      </a:r>
                    </a:p>
                    <a:p>
                      <a:pPr marL="0" algn="l" rtl="0" eaLnBrk="1" latinLnBrk="0" hangingPunct="1"/>
                      <a:r>
                        <a:rPr kumimoji="0" lang="en-US" sz="1700" kern="0" dirty="0" err="1">
                          <a:solidFill>
                            <a:schemeClr val="dk1"/>
                          </a:solidFill>
                          <a:effectLst/>
                          <a:latin typeface="+mn-lt"/>
                          <a:ea typeface="+mn-ea"/>
                          <a:cs typeface="+mn-cs"/>
                        </a:rPr>
                        <a:t>HyperText</a:t>
                      </a:r>
                      <a:r>
                        <a:rPr kumimoji="0" lang="en-US" sz="1700" kern="0" dirty="0">
                          <a:solidFill>
                            <a:schemeClr val="dk1"/>
                          </a:solidFill>
                          <a:effectLst/>
                          <a:latin typeface="+mn-lt"/>
                          <a:ea typeface="+mn-ea"/>
                          <a:cs typeface="+mn-cs"/>
                        </a:rPr>
                        <a:t> Transfer Protocol (HTTP), Hypertext Markup Language (HTML), and the World Wide Web</a:t>
                      </a:r>
                      <a:endParaRPr kumimoji="0" lang="zh-CN" altLang="en-US" sz="1700" kern="0" dirty="0">
                        <a:solidFill>
                          <a:schemeClr val="dk1"/>
                        </a:solidFill>
                        <a:effectLst/>
                        <a:latin typeface="+mn-lt"/>
                        <a:ea typeface="+mn-ea"/>
                        <a:cs typeface="+mn-cs"/>
                      </a:endParaRPr>
                    </a:p>
                  </a:txBody>
                  <a:tcPr marL="66261" marR="66261" marT="66261" marB="66261" anchor="ctr"/>
                </a:tc>
                <a:extLst>
                  <a:ext uri="{0D108BD9-81ED-4DB2-BD59-A6C34878D82A}">
                    <a16:rowId xmlns:a16="http://schemas.microsoft.com/office/drawing/2014/main" xmlns="" val="2592408035"/>
                  </a:ext>
                </a:extLst>
              </a:tr>
              <a:tr h="520803">
                <a:tc>
                  <a:txBody>
                    <a:bodyPr/>
                    <a:lstStyle/>
                    <a:p>
                      <a:pPr algn="l"/>
                      <a:r>
                        <a:rPr lang="en-US" sz="1700" kern="0">
                          <a:effectLst/>
                        </a:rPr>
                        <a:t>2017</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a:effectLst/>
                        </a:rPr>
                        <a:t>Hennessy, John L.</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dirty="0">
                          <a:effectLst/>
                        </a:rPr>
                        <a:t> computer architecture   </a:t>
                      </a:r>
                      <a:r>
                        <a:rPr lang="en-US" sz="1700" kern="100" dirty="0">
                          <a:effectLst/>
                        </a:rPr>
                        <a:t>RISC</a:t>
                      </a:r>
                      <a:r>
                        <a:rPr lang="zh-CN" altLang="en-US" sz="1700" kern="100" dirty="0">
                          <a:effectLst/>
                        </a:rPr>
                        <a:t>微处理器</a:t>
                      </a:r>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1489386502"/>
                  </a:ext>
                </a:extLst>
              </a:tr>
              <a:tr h="676224">
                <a:tc>
                  <a:txBody>
                    <a:bodyPr/>
                    <a:lstStyle/>
                    <a:p>
                      <a:pPr algn="l"/>
                      <a:r>
                        <a:rPr lang="en-US" sz="1700" kern="0">
                          <a:effectLst/>
                        </a:rPr>
                        <a:t>2017</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a:effectLst/>
                        </a:rPr>
                        <a:t>Patterson, David</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dirty="0">
                          <a:effectLst/>
                        </a:rPr>
                        <a:t>computer architecture</a:t>
                      </a:r>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2693380763"/>
                  </a:ext>
                </a:extLst>
              </a:tr>
            </a:tbl>
          </a:graphicData>
        </a:graphic>
      </p:graphicFrame>
    </p:spTree>
    <p:extLst>
      <p:ext uri="{BB962C8B-B14F-4D97-AF65-F5344CB8AC3E}">
        <p14:creationId xmlns:p14="http://schemas.microsoft.com/office/powerpoint/2010/main" val="3109406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xmlns="" id="{29FD5DED-B0BC-FADC-D6D5-9F1FBB17AE72}"/>
              </a:ext>
            </a:extLst>
          </p:cNvPr>
          <p:cNvGraphicFramePr>
            <a:graphicFrameLocks noGrp="1"/>
          </p:cNvGraphicFramePr>
          <p:nvPr>
            <p:extLst>
              <p:ext uri="{D42A27DB-BD31-4B8C-83A1-F6EECF244321}">
                <p14:modId xmlns:p14="http://schemas.microsoft.com/office/powerpoint/2010/main" val="3291823341"/>
              </p:ext>
            </p:extLst>
          </p:nvPr>
        </p:nvGraphicFramePr>
        <p:xfrm>
          <a:off x="0" y="353858"/>
          <a:ext cx="9144000" cy="6328772"/>
        </p:xfrm>
        <a:graphic>
          <a:graphicData uri="http://schemas.openxmlformats.org/drawingml/2006/table">
            <a:tbl>
              <a:tblPr firstRow="1" firstCol="1" bandRow="1">
                <a:tableStyleId>{5C22544A-7EE6-4342-B048-85BDC9FD1C3A}</a:tableStyleId>
              </a:tblPr>
              <a:tblGrid>
                <a:gridCol w="1053787">
                  <a:extLst>
                    <a:ext uri="{9D8B030D-6E8A-4147-A177-3AD203B41FA5}">
                      <a16:colId xmlns:a16="http://schemas.microsoft.com/office/drawing/2014/main" xmlns="" val="1056253359"/>
                    </a:ext>
                  </a:extLst>
                </a:gridCol>
                <a:gridCol w="1561522">
                  <a:extLst>
                    <a:ext uri="{9D8B030D-6E8A-4147-A177-3AD203B41FA5}">
                      <a16:colId xmlns:a16="http://schemas.microsoft.com/office/drawing/2014/main" xmlns="" val="3504698499"/>
                    </a:ext>
                  </a:extLst>
                </a:gridCol>
                <a:gridCol w="6528691">
                  <a:extLst>
                    <a:ext uri="{9D8B030D-6E8A-4147-A177-3AD203B41FA5}">
                      <a16:colId xmlns:a16="http://schemas.microsoft.com/office/drawing/2014/main" xmlns="" val="2680139156"/>
                    </a:ext>
                  </a:extLst>
                </a:gridCol>
              </a:tblGrid>
              <a:tr h="547094">
                <a:tc>
                  <a:txBody>
                    <a:bodyPr/>
                    <a:lstStyle/>
                    <a:p>
                      <a:pPr algn="l"/>
                      <a:r>
                        <a:rPr lang="en-US" sz="1600" kern="0">
                          <a:effectLst/>
                        </a:rPr>
                        <a:t>2018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marL="0" algn="l" defTabSz="604517" rtl="0" eaLnBrk="1" latinLnBrk="0" hangingPunct="1"/>
                      <a:r>
                        <a:rPr lang="en-US" sz="1600" b="0" kern="0" dirty="0" err="1">
                          <a:solidFill>
                            <a:schemeClr val="dk1"/>
                          </a:solidFill>
                          <a:effectLst/>
                          <a:latin typeface="+mn-lt"/>
                          <a:ea typeface="+mn-ea"/>
                          <a:cs typeface="+mn-cs"/>
                        </a:rPr>
                        <a:t>Bengio</a:t>
                      </a:r>
                      <a:r>
                        <a:rPr lang="en-US" sz="1600" b="0" kern="0" dirty="0">
                          <a:solidFill>
                            <a:schemeClr val="dk1"/>
                          </a:solidFill>
                          <a:effectLst/>
                          <a:latin typeface="+mn-lt"/>
                          <a:ea typeface="+mn-ea"/>
                          <a:cs typeface="+mn-cs"/>
                        </a:rPr>
                        <a:t>, </a:t>
                      </a:r>
                      <a:r>
                        <a:rPr lang="en-US" sz="1600" b="0" kern="0" dirty="0" err="1">
                          <a:solidFill>
                            <a:schemeClr val="dk1"/>
                          </a:solidFill>
                          <a:effectLst/>
                          <a:latin typeface="+mn-lt"/>
                          <a:ea typeface="+mn-ea"/>
                          <a:cs typeface="+mn-cs"/>
                        </a:rPr>
                        <a:t>Yoshua</a:t>
                      </a:r>
                      <a:endParaRPr lang="zh-CN" sz="1600" b="0" kern="0" dirty="0">
                        <a:solidFill>
                          <a:schemeClr val="dk1"/>
                        </a:solidFill>
                        <a:effectLst/>
                        <a:latin typeface="+mn-lt"/>
                        <a:ea typeface="+mn-ea"/>
                        <a:cs typeface="+mn-cs"/>
                      </a:endParaRPr>
                    </a:p>
                  </a:txBody>
                  <a:tcPr marL="66261" marR="66261" marT="66261" marB="66261" anchor="ctr"/>
                </a:tc>
                <a:tc>
                  <a:txBody>
                    <a:bodyPr/>
                    <a:lstStyle/>
                    <a:p>
                      <a:pPr marL="0" algn="l" defTabSz="604517" rtl="0" eaLnBrk="1" latinLnBrk="0" hangingPunct="1"/>
                      <a:r>
                        <a:rPr lang="en-US" sz="1600" b="0" kern="0" dirty="0">
                          <a:solidFill>
                            <a:schemeClr val="dk1"/>
                          </a:solidFill>
                          <a:effectLst/>
                          <a:latin typeface="+mn-lt"/>
                          <a:ea typeface="+mn-ea"/>
                          <a:cs typeface="+mn-cs"/>
                        </a:rPr>
                        <a:t>artificial intelligence  </a:t>
                      </a:r>
                      <a:r>
                        <a:rPr lang="zh-CN" altLang="en-US" sz="1600" b="0" kern="0" dirty="0">
                          <a:solidFill>
                            <a:schemeClr val="dk1"/>
                          </a:solidFill>
                          <a:effectLst/>
                          <a:latin typeface="+mn-lt"/>
                          <a:ea typeface="+mn-ea"/>
                          <a:cs typeface="+mn-cs"/>
                        </a:rPr>
                        <a:t>深度学习</a:t>
                      </a:r>
                    </a:p>
                  </a:txBody>
                  <a:tcPr marL="66261" marR="66261" marT="66261" marB="66261" anchor="ctr"/>
                </a:tc>
                <a:extLst>
                  <a:ext uri="{0D108BD9-81ED-4DB2-BD59-A6C34878D82A}">
                    <a16:rowId xmlns:a16="http://schemas.microsoft.com/office/drawing/2014/main" xmlns="" val="913035944"/>
                  </a:ext>
                </a:extLst>
              </a:tr>
              <a:tr h="609600">
                <a:tc>
                  <a:txBody>
                    <a:bodyPr/>
                    <a:lstStyle/>
                    <a:p>
                      <a:pPr algn="l"/>
                      <a:r>
                        <a:rPr lang="en-US" sz="1600" kern="0">
                          <a:effectLst/>
                        </a:rPr>
                        <a:t>2018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dirty="0">
                          <a:effectLst/>
                        </a:rPr>
                        <a:t>Hinton, Geoffrey</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dirty="0">
                          <a:effectLst/>
                        </a:rPr>
                        <a:t>artificial intelligence</a:t>
                      </a: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3724705732"/>
                  </a:ext>
                </a:extLst>
              </a:tr>
              <a:tr h="547094">
                <a:tc>
                  <a:txBody>
                    <a:bodyPr/>
                    <a:lstStyle/>
                    <a:p>
                      <a:pPr algn="l"/>
                      <a:r>
                        <a:rPr lang="en-US" sz="1600" kern="0">
                          <a:effectLst/>
                        </a:rPr>
                        <a:t>2018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a:effectLst/>
                        </a:rPr>
                        <a:t>LeCun, Yann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dirty="0">
                          <a:effectLst/>
                        </a:rPr>
                        <a:t>artificial intelligence</a:t>
                      </a: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1563572273"/>
                  </a:ext>
                </a:extLst>
              </a:tr>
              <a:tr h="1107530">
                <a:tc>
                  <a:txBody>
                    <a:bodyPr/>
                    <a:lstStyle/>
                    <a:p>
                      <a:pPr algn="l"/>
                      <a:r>
                        <a:rPr lang="en-US" sz="1600" kern="0">
                          <a:effectLst/>
                        </a:rPr>
                        <a:t>2019</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a:effectLst/>
                        </a:rPr>
                        <a:t>Catmull, Edwin 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dirty="0">
                          <a:effectLst/>
                        </a:rPr>
                        <a:t>3D computer graphics  </a:t>
                      </a:r>
                      <a:r>
                        <a:rPr lang="zh-CN" altLang="en-US" sz="1600" kern="100" dirty="0">
                          <a:effectLst/>
                        </a:rPr>
                        <a:t>迪士尼动画工作室和皮克斯动画工作室现任总裁，</a:t>
                      </a:r>
                      <a:r>
                        <a:rPr kumimoji="0" lang="en-US" sz="1600" kern="0" dirty="0" err="1">
                          <a:solidFill>
                            <a:schemeClr val="dk1"/>
                          </a:solidFill>
                          <a:effectLst/>
                          <a:latin typeface="+mn-lt"/>
                          <a:ea typeface="+mn-ea"/>
                          <a:cs typeface="+mn-cs"/>
                        </a:rPr>
                        <a:t>皮克斯</a:t>
                      </a:r>
                      <a:r>
                        <a:rPr kumimoji="0" lang="zh-CN" altLang="en-US" sz="1600" kern="0" dirty="0">
                          <a:solidFill>
                            <a:schemeClr val="dk1"/>
                          </a:solidFill>
                          <a:effectLst/>
                          <a:latin typeface="+mn-lt"/>
                          <a:ea typeface="+mn-ea"/>
                          <a:cs typeface="+mn-cs"/>
                        </a:rPr>
                        <a:t>的创始人之一</a:t>
                      </a:r>
                    </a:p>
                  </a:txBody>
                  <a:tcPr marL="66261" marR="66261" marT="66261" marB="66261" anchor="ctr"/>
                </a:tc>
                <a:extLst>
                  <a:ext uri="{0D108BD9-81ED-4DB2-BD59-A6C34878D82A}">
                    <a16:rowId xmlns:a16="http://schemas.microsoft.com/office/drawing/2014/main" xmlns="" val="2681386726"/>
                  </a:ext>
                </a:extLst>
              </a:tr>
              <a:tr h="706938">
                <a:tc>
                  <a:txBody>
                    <a:bodyPr/>
                    <a:lstStyle/>
                    <a:p>
                      <a:pPr algn="l"/>
                      <a:r>
                        <a:rPr lang="en-US" sz="1600" kern="0">
                          <a:effectLst/>
                        </a:rPr>
                        <a:t>2019</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a:effectLst/>
                        </a:rPr>
                        <a:t>Hanrahan, Patrick M.</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dirty="0">
                          <a:effectLst/>
                        </a:rPr>
                        <a:t>3D computer graphics</a:t>
                      </a: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361947938"/>
                  </a:ext>
                </a:extLst>
              </a:tr>
              <a:tr h="1732416">
                <a:tc>
                  <a:txBody>
                    <a:bodyPr/>
                    <a:lstStyle/>
                    <a:p>
                      <a:pPr algn="l"/>
                      <a:r>
                        <a:rPr lang="en-US" sz="1600" kern="0">
                          <a:effectLst/>
                        </a:rPr>
                        <a:t>2020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a:effectLst/>
                        </a:rPr>
                        <a:t>Aho, Alfred Vaino</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spcAft>
                          <a:spcPts val="2250"/>
                        </a:spcAft>
                      </a:pPr>
                      <a:r>
                        <a:rPr lang="en-US" sz="1600" kern="100" dirty="0">
                          <a:effectLst/>
                        </a:rPr>
                        <a:t>algorithms and theory underlying programming language implementation </a:t>
                      </a:r>
                      <a:endParaRPr lang="zh-CN" altLang="en-US" sz="1600" kern="100" dirty="0">
                        <a:effectLst/>
                      </a:endParaRPr>
                    </a:p>
                    <a:p>
                      <a:pPr>
                        <a:spcAft>
                          <a:spcPts val="2250"/>
                        </a:spcAft>
                      </a:pPr>
                      <a:r>
                        <a:rPr lang="en-US" sz="1600" kern="100" dirty="0">
                          <a:effectLst/>
                        </a:rPr>
                        <a:t>  Principles of Compiler Design</a:t>
                      </a:r>
                      <a:r>
                        <a:rPr lang="zh-CN" altLang="en-US" sz="1600" kern="100" dirty="0">
                          <a:effectLst/>
                        </a:rPr>
                        <a:t>（</a:t>
                      </a:r>
                      <a:r>
                        <a:rPr lang="en-US" sz="1600" kern="100" dirty="0">
                          <a:effectLst/>
                        </a:rPr>
                        <a:t>1977</a:t>
                      </a:r>
                      <a:r>
                        <a:rPr lang="zh-CN" altLang="en-US" sz="1600" kern="100" dirty="0">
                          <a:effectLst/>
                        </a:rPr>
                        <a:t>）</a:t>
                      </a:r>
                    </a:p>
                    <a:p>
                      <a:pPr>
                        <a:spcAft>
                          <a:spcPts val="2250"/>
                        </a:spcAft>
                      </a:pPr>
                      <a:r>
                        <a:rPr lang="en-US" sz="1600" kern="100" dirty="0">
                          <a:effectLst/>
                        </a:rPr>
                        <a:t> The Design and Analysis of Computer Algorithms (1974)</a:t>
                      </a:r>
                      <a:endParaRPr lang="zh-CN" altLang="en-US" sz="1600" kern="100" dirty="0">
                        <a:effectLst/>
                        <a:latin typeface="等线" panose="02010600030101010101" pitchFamily="2" charset="-122"/>
                        <a:ea typeface="等线" panose="02010600030101010101" pitchFamily="2" charset="-122"/>
                      </a:endParaRPr>
                    </a:p>
                  </a:txBody>
                  <a:tcPr marL="66261" marR="66261" marT="66261" marB="66261" anchor="ctr"/>
                </a:tc>
                <a:extLst>
                  <a:ext uri="{0D108BD9-81ED-4DB2-BD59-A6C34878D82A}">
                    <a16:rowId xmlns:a16="http://schemas.microsoft.com/office/drawing/2014/main" xmlns="" val="4284787116"/>
                  </a:ext>
                </a:extLst>
              </a:tr>
              <a:tr h="1067498">
                <a:tc>
                  <a:txBody>
                    <a:bodyPr/>
                    <a:lstStyle/>
                    <a:p>
                      <a:pPr algn="l"/>
                      <a:r>
                        <a:rPr lang="en-US" sz="1600" kern="0">
                          <a:effectLst/>
                        </a:rPr>
                        <a:t>2020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a:effectLst/>
                        </a:rPr>
                        <a:t>Ullman, Jeffrey David</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600" kern="0" dirty="0">
                          <a:effectLst/>
                        </a:rPr>
                        <a:t>algorithms and theory underlying programming language implementation</a:t>
                      </a: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solidFill>
                      <a:srgbClr val="EAEFF7"/>
                    </a:solidFill>
                  </a:tcPr>
                </a:tc>
                <a:extLst>
                  <a:ext uri="{0D108BD9-81ED-4DB2-BD59-A6C34878D82A}">
                    <a16:rowId xmlns:a16="http://schemas.microsoft.com/office/drawing/2014/main" xmlns="" val="4186469178"/>
                  </a:ext>
                </a:extLst>
              </a:tr>
            </a:tbl>
          </a:graphicData>
        </a:graphic>
      </p:graphicFrame>
    </p:spTree>
    <p:extLst>
      <p:ext uri="{BB962C8B-B14F-4D97-AF65-F5344CB8AC3E}">
        <p14:creationId xmlns:p14="http://schemas.microsoft.com/office/powerpoint/2010/main" val="2521037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a:extLst>
              <a:ext uri="{FF2B5EF4-FFF2-40B4-BE49-F238E27FC236}">
                <a16:creationId xmlns:a16="http://schemas.microsoft.com/office/drawing/2014/main" xmlns="" id="{0FB06223-0690-074F-BAE4-B2CC745EB7E7}"/>
              </a:ext>
            </a:extLst>
          </p:cNvPr>
          <p:cNvGraphicFramePr>
            <a:graphicFrameLocks noGrp="1"/>
          </p:cNvGraphicFramePr>
          <p:nvPr/>
        </p:nvGraphicFramePr>
        <p:xfrm>
          <a:off x="129942" y="381000"/>
          <a:ext cx="8847909" cy="1722783"/>
        </p:xfrm>
        <a:graphic>
          <a:graphicData uri="http://schemas.openxmlformats.org/drawingml/2006/table">
            <a:tbl>
              <a:tblPr firstRow="1" firstCol="1" bandRow="1">
                <a:tableStyleId>{5C22544A-7EE6-4342-B048-85BDC9FD1C3A}</a:tableStyleId>
              </a:tblPr>
              <a:tblGrid>
                <a:gridCol w="2211977">
                  <a:extLst>
                    <a:ext uri="{9D8B030D-6E8A-4147-A177-3AD203B41FA5}">
                      <a16:colId xmlns:a16="http://schemas.microsoft.com/office/drawing/2014/main" xmlns="" val="3607455065"/>
                    </a:ext>
                  </a:extLst>
                </a:gridCol>
                <a:gridCol w="2211977">
                  <a:extLst>
                    <a:ext uri="{9D8B030D-6E8A-4147-A177-3AD203B41FA5}">
                      <a16:colId xmlns:a16="http://schemas.microsoft.com/office/drawing/2014/main" xmlns="" val="2340226768"/>
                    </a:ext>
                  </a:extLst>
                </a:gridCol>
                <a:gridCol w="4423955">
                  <a:extLst>
                    <a:ext uri="{9D8B030D-6E8A-4147-A177-3AD203B41FA5}">
                      <a16:colId xmlns:a16="http://schemas.microsoft.com/office/drawing/2014/main" xmlns="" val="431200958"/>
                    </a:ext>
                  </a:extLst>
                </a:gridCol>
              </a:tblGrid>
              <a:tr h="1722783">
                <a:tc>
                  <a:txBody>
                    <a:bodyPr/>
                    <a:lstStyle/>
                    <a:p>
                      <a:pPr algn="l"/>
                      <a:r>
                        <a:rPr lang="en-US" sz="1700" kern="0" dirty="0">
                          <a:effectLst/>
                        </a:rPr>
                        <a:t>2021</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solidFill>
                      <a:schemeClr val="accent1"/>
                    </a:solidFill>
                  </a:tcPr>
                </a:tc>
                <a:tc>
                  <a:txBody>
                    <a:bodyPr/>
                    <a:lstStyle/>
                    <a:p>
                      <a:pPr algn="l"/>
                      <a:r>
                        <a:rPr lang="en-US" sz="1700" kern="0" dirty="0" err="1">
                          <a:effectLst/>
                        </a:rPr>
                        <a:t>Dongarra</a:t>
                      </a:r>
                      <a:r>
                        <a:rPr lang="en-US" sz="1700" kern="0" dirty="0">
                          <a:effectLst/>
                        </a:rPr>
                        <a:t>, Jack</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solidFill>
                      <a:schemeClr val="accent1"/>
                    </a:solidFill>
                  </a:tcPr>
                </a:tc>
                <a:tc>
                  <a:txBody>
                    <a:bodyPr/>
                    <a:lstStyle/>
                    <a:p>
                      <a:pPr algn="l"/>
                      <a:r>
                        <a:rPr lang="en-US" sz="1700" kern="0" dirty="0">
                          <a:effectLst/>
                        </a:rPr>
                        <a:t>algorithms and software </a:t>
                      </a:r>
                      <a:endParaRPr lang="zh-CN" altLang="en-US" sz="1700" kern="100" dirty="0">
                        <a:effectLst/>
                      </a:endParaRPr>
                    </a:p>
                    <a:p>
                      <a:pPr algn="l"/>
                      <a:r>
                        <a:rPr lang="en-US" sz="1700" kern="0" dirty="0">
                          <a:effectLst/>
                        </a:rPr>
                        <a:t> </a:t>
                      </a:r>
                      <a:endParaRPr lang="zh-CN" altLang="en-US" sz="1700" kern="100" dirty="0">
                        <a:effectLst/>
                      </a:endParaRPr>
                    </a:p>
                    <a:p>
                      <a:pPr algn="l"/>
                      <a:r>
                        <a:rPr lang="zh-CN" altLang="en-US" sz="1700" kern="0" dirty="0">
                          <a:effectLst/>
                        </a:rPr>
                        <a:t>通过对线性代数操作的高效数值算法、并行计算编程机制和性能评估工具的贡献，引领了高性能计算的世界。</a:t>
                      </a:r>
                      <a:endParaRPr lang="zh-CN" altLang="en-US" sz="1700" kern="100" dirty="0">
                        <a:effectLst/>
                      </a:endParaRPr>
                    </a:p>
                    <a:p>
                      <a:pPr algn="l"/>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solidFill>
                      <a:schemeClr val="accent1"/>
                    </a:solidFill>
                  </a:tcPr>
                </a:tc>
                <a:extLst>
                  <a:ext uri="{0D108BD9-81ED-4DB2-BD59-A6C34878D82A}">
                    <a16:rowId xmlns:a16="http://schemas.microsoft.com/office/drawing/2014/main" xmlns="" val="2426322598"/>
                  </a:ext>
                </a:extLst>
              </a:tr>
            </a:tbl>
          </a:graphicData>
        </a:graphic>
      </p:graphicFrame>
      <p:sp>
        <p:nvSpPr>
          <p:cNvPr id="16" name="Rectangle 4">
            <a:extLst>
              <a:ext uri="{FF2B5EF4-FFF2-40B4-BE49-F238E27FC236}">
                <a16:creationId xmlns:a16="http://schemas.microsoft.com/office/drawing/2014/main" xmlns="" id="{FD47C8E5-7D8C-6881-1E23-8DC8EF19E46A}"/>
              </a:ext>
            </a:extLst>
          </p:cNvPr>
          <p:cNvSpPr>
            <a:spLocks noChangeArrowheads="1"/>
          </p:cNvSpPr>
          <p:nvPr/>
        </p:nvSpPr>
        <p:spPr bwMode="auto">
          <a:xfrm>
            <a:off x="206584" y="5775561"/>
            <a:ext cx="160644" cy="347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9513" tIns="39757" rIns="79513" bIns="39757" numCol="1" anchor="ctr" anchorCtr="0" compatLnSpc="1">
            <a:prstTxWarp prst="textNoShape">
              <a:avLst/>
            </a:prstTxWarp>
            <a:spAutoFit/>
          </a:bodyPr>
          <a:lstStyle/>
          <a:p>
            <a:endParaRPr lang="zh-CN" altLang="en-US" sz="1739"/>
          </a:p>
        </p:txBody>
      </p:sp>
      <p:graphicFrame>
        <p:nvGraphicFramePr>
          <p:cNvPr id="7" name="表格 6">
            <a:extLst>
              <a:ext uri="{FF2B5EF4-FFF2-40B4-BE49-F238E27FC236}">
                <a16:creationId xmlns:a16="http://schemas.microsoft.com/office/drawing/2014/main" xmlns="" id="{0FB06223-0690-074F-BAE4-B2CC745EB7E7}"/>
              </a:ext>
            </a:extLst>
          </p:cNvPr>
          <p:cNvGraphicFramePr>
            <a:graphicFrameLocks noGrp="1"/>
          </p:cNvGraphicFramePr>
          <p:nvPr>
            <p:extLst>
              <p:ext uri="{D42A27DB-BD31-4B8C-83A1-F6EECF244321}">
                <p14:modId xmlns:p14="http://schemas.microsoft.com/office/powerpoint/2010/main" val="1341557880"/>
              </p:ext>
            </p:extLst>
          </p:nvPr>
        </p:nvGraphicFramePr>
        <p:xfrm>
          <a:off x="129942" y="2103783"/>
          <a:ext cx="8847909" cy="474704"/>
        </p:xfrm>
        <a:graphic>
          <a:graphicData uri="http://schemas.openxmlformats.org/drawingml/2006/table">
            <a:tbl>
              <a:tblPr firstRow="1" firstCol="1" bandRow="1">
                <a:tableStyleId>{5C22544A-7EE6-4342-B048-85BDC9FD1C3A}</a:tableStyleId>
              </a:tblPr>
              <a:tblGrid>
                <a:gridCol w="2211977">
                  <a:extLst>
                    <a:ext uri="{9D8B030D-6E8A-4147-A177-3AD203B41FA5}">
                      <a16:colId xmlns:a16="http://schemas.microsoft.com/office/drawing/2014/main" xmlns="" val="3607455065"/>
                    </a:ext>
                  </a:extLst>
                </a:gridCol>
                <a:gridCol w="2211977">
                  <a:extLst>
                    <a:ext uri="{9D8B030D-6E8A-4147-A177-3AD203B41FA5}">
                      <a16:colId xmlns:a16="http://schemas.microsoft.com/office/drawing/2014/main" xmlns="" val="2340226768"/>
                    </a:ext>
                  </a:extLst>
                </a:gridCol>
                <a:gridCol w="4423955">
                  <a:extLst>
                    <a:ext uri="{9D8B030D-6E8A-4147-A177-3AD203B41FA5}">
                      <a16:colId xmlns:a16="http://schemas.microsoft.com/office/drawing/2014/main" xmlns="" val="431200958"/>
                    </a:ext>
                  </a:extLst>
                </a:gridCol>
              </a:tblGrid>
              <a:tr h="474704">
                <a:tc>
                  <a:txBody>
                    <a:bodyPr/>
                    <a:lstStyle/>
                    <a:p>
                      <a:pPr algn="l"/>
                      <a:r>
                        <a:rPr lang="en-US" sz="1700" kern="0" dirty="0">
                          <a:effectLst/>
                        </a:rPr>
                        <a:t>2022</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en-US" sz="1700" kern="0" dirty="0">
                          <a:effectLst/>
                        </a:rPr>
                        <a:t>Bob Metcalfe</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rPr>
                        <a:t>以太网（最广泛使用的局域网技术）</a:t>
                      </a:r>
                    </a:p>
                  </a:txBody>
                  <a:tcPr marL="66261" marR="66261" marT="66261" marB="66261" anchor="ctr"/>
                </a:tc>
                <a:extLst>
                  <a:ext uri="{0D108BD9-81ED-4DB2-BD59-A6C34878D82A}">
                    <a16:rowId xmlns:a16="http://schemas.microsoft.com/office/drawing/2014/main" xmlns="" val="2426322598"/>
                  </a:ext>
                </a:extLst>
              </a:tr>
            </a:tbl>
          </a:graphicData>
        </a:graphic>
      </p:graphicFrame>
      <p:graphicFrame>
        <p:nvGraphicFramePr>
          <p:cNvPr id="2" name="表格 1">
            <a:extLst>
              <a:ext uri="{FF2B5EF4-FFF2-40B4-BE49-F238E27FC236}">
                <a16:creationId xmlns:a16="http://schemas.microsoft.com/office/drawing/2014/main" xmlns="" id="{84DA35A0-81E6-97A2-8832-8978F474A0AF}"/>
              </a:ext>
            </a:extLst>
          </p:cNvPr>
          <p:cNvGraphicFramePr>
            <a:graphicFrameLocks noGrp="1"/>
          </p:cNvGraphicFramePr>
          <p:nvPr>
            <p:extLst>
              <p:ext uri="{D42A27DB-BD31-4B8C-83A1-F6EECF244321}">
                <p14:modId xmlns:p14="http://schemas.microsoft.com/office/powerpoint/2010/main" val="3972478109"/>
              </p:ext>
            </p:extLst>
          </p:nvPr>
        </p:nvGraphicFramePr>
        <p:xfrm>
          <a:off x="107504" y="2594256"/>
          <a:ext cx="8847909" cy="1610802"/>
        </p:xfrm>
        <a:graphic>
          <a:graphicData uri="http://schemas.openxmlformats.org/drawingml/2006/table">
            <a:tbl>
              <a:tblPr firstRow="1" firstCol="1" bandRow="1">
                <a:tableStyleId>{5C22544A-7EE6-4342-B048-85BDC9FD1C3A}</a:tableStyleId>
              </a:tblPr>
              <a:tblGrid>
                <a:gridCol w="2211977">
                  <a:extLst>
                    <a:ext uri="{9D8B030D-6E8A-4147-A177-3AD203B41FA5}">
                      <a16:colId xmlns:a16="http://schemas.microsoft.com/office/drawing/2014/main" xmlns="" val="1870705980"/>
                    </a:ext>
                  </a:extLst>
                </a:gridCol>
                <a:gridCol w="2211977">
                  <a:extLst>
                    <a:ext uri="{9D8B030D-6E8A-4147-A177-3AD203B41FA5}">
                      <a16:colId xmlns:a16="http://schemas.microsoft.com/office/drawing/2014/main" xmlns="" val="2732176612"/>
                    </a:ext>
                  </a:extLst>
                </a:gridCol>
                <a:gridCol w="4423955">
                  <a:extLst>
                    <a:ext uri="{9D8B030D-6E8A-4147-A177-3AD203B41FA5}">
                      <a16:colId xmlns:a16="http://schemas.microsoft.com/office/drawing/2014/main" xmlns="" val="2501117000"/>
                    </a:ext>
                  </a:extLst>
                </a:gridCol>
              </a:tblGrid>
              <a:tr h="474704">
                <a:tc>
                  <a:txBody>
                    <a:bodyPr/>
                    <a:lstStyle/>
                    <a:p>
                      <a:pPr algn="l"/>
                      <a:r>
                        <a:rPr lang="en-US" sz="1700" kern="0" dirty="0">
                          <a:effectLst/>
                        </a:rPr>
                        <a:t>2023</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kumimoji="0" lang="en-US" altLang="zh-CN" sz="1600" b="0" i="0" kern="1200" dirty="0">
                          <a:solidFill>
                            <a:schemeClr val="lt1"/>
                          </a:solidFill>
                          <a:effectLst/>
                          <a:latin typeface="+mn-lt"/>
                          <a:ea typeface="+mn-ea"/>
                          <a:cs typeface="+mn-cs"/>
                        </a:rPr>
                        <a:t>Avi </a:t>
                      </a:r>
                      <a:r>
                        <a:rPr kumimoji="0" lang="en-US" altLang="zh-CN" sz="1600" b="0" i="0" kern="1200" dirty="0" err="1">
                          <a:solidFill>
                            <a:schemeClr val="lt1"/>
                          </a:solidFill>
                          <a:effectLst/>
                          <a:latin typeface="+mn-lt"/>
                          <a:ea typeface="+mn-ea"/>
                          <a:cs typeface="+mn-cs"/>
                        </a:rPr>
                        <a:t>Wigderson</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kumimoji="0" lang="zh-CN" altLang="en-US" sz="1600" b="0" i="0" kern="1200" dirty="0">
                          <a:solidFill>
                            <a:schemeClr val="lt1"/>
                          </a:solidFill>
                          <a:effectLst/>
                          <a:latin typeface="+mn-lt"/>
                          <a:ea typeface="+mn-ea"/>
                          <a:cs typeface="+mn-cs"/>
                        </a:rPr>
                        <a:t>计算理论领域的奠基性贡献，尤其是重塑了人们对计算中随机性的理解</a:t>
                      </a:r>
                      <a:endParaRPr kumimoji="0" lang="en-US" altLang="zh-CN" sz="1600" b="0" i="0" kern="1200" dirty="0">
                        <a:solidFill>
                          <a:schemeClr val="lt1"/>
                        </a:solidFill>
                        <a:effectLst/>
                        <a:latin typeface="+mn-lt"/>
                        <a:ea typeface="+mn-ea"/>
                        <a:cs typeface="+mn-cs"/>
                      </a:endParaRPr>
                    </a:p>
                    <a:p>
                      <a:pPr algn="l"/>
                      <a:endParaRPr kumimoji="0" lang="en-US" altLang="zh-CN" sz="1600" b="0" i="0" kern="1200" dirty="0">
                        <a:solidFill>
                          <a:schemeClr val="lt1"/>
                        </a:solidFill>
                        <a:effectLst/>
                        <a:latin typeface="+mn-lt"/>
                        <a:ea typeface="+mn-ea"/>
                        <a:cs typeface="+mn-cs"/>
                      </a:endParaRPr>
                    </a:p>
                    <a:p>
                      <a:r>
                        <a:rPr kumimoji="0" lang="zh-CN" altLang="en-US" sz="1600" b="1" i="0" kern="1200" dirty="0">
                          <a:solidFill>
                            <a:schemeClr val="lt1"/>
                          </a:solidFill>
                          <a:effectLst/>
                          <a:latin typeface="+mn-lt"/>
                          <a:ea typeface="+mn-ea"/>
                          <a:cs typeface="+mn-cs"/>
                        </a:rPr>
                        <a:t>首个同时拿下数学和计算机最高奖的科学家</a:t>
                      </a:r>
                      <a:r>
                        <a:rPr kumimoji="0" lang="zh-CN" altLang="en-US" sz="1600" b="0" i="0" kern="1200" dirty="0">
                          <a:solidFill>
                            <a:schemeClr val="lt1"/>
                          </a:solidFill>
                          <a:effectLst/>
                          <a:latin typeface="+mn-lt"/>
                          <a:ea typeface="+mn-ea"/>
                          <a:cs typeface="+mn-cs"/>
                        </a:rPr>
                        <a:t>（阿贝尔奖也被誉为“数学界诺贝尔奖”）</a:t>
                      </a:r>
                    </a:p>
                    <a:p>
                      <a:pPr algn="l"/>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3352148244"/>
                  </a:ext>
                </a:extLst>
              </a:tr>
            </a:tbl>
          </a:graphicData>
        </a:graphic>
      </p:graphicFrame>
      <p:graphicFrame>
        <p:nvGraphicFramePr>
          <p:cNvPr id="3" name="表格 2">
            <a:extLst>
              <a:ext uri="{FF2B5EF4-FFF2-40B4-BE49-F238E27FC236}">
                <a16:creationId xmlns:a16="http://schemas.microsoft.com/office/drawing/2014/main" xmlns="" id="{77FC9225-41B6-7EAB-8032-443895263193}"/>
              </a:ext>
            </a:extLst>
          </p:cNvPr>
          <p:cNvGraphicFramePr>
            <a:graphicFrameLocks noGrp="1"/>
          </p:cNvGraphicFramePr>
          <p:nvPr>
            <p:extLst>
              <p:ext uri="{D42A27DB-BD31-4B8C-83A1-F6EECF244321}">
                <p14:modId xmlns:p14="http://schemas.microsoft.com/office/powerpoint/2010/main" val="166894479"/>
              </p:ext>
            </p:extLst>
          </p:nvPr>
        </p:nvGraphicFramePr>
        <p:xfrm>
          <a:off x="116579" y="4338478"/>
          <a:ext cx="8847909" cy="620202"/>
        </p:xfrm>
        <a:graphic>
          <a:graphicData uri="http://schemas.openxmlformats.org/drawingml/2006/table">
            <a:tbl>
              <a:tblPr firstRow="1" firstCol="1" bandRow="1">
                <a:tableStyleId>{5C22544A-7EE6-4342-B048-85BDC9FD1C3A}</a:tableStyleId>
              </a:tblPr>
              <a:tblGrid>
                <a:gridCol w="2211977">
                  <a:extLst>
                    <a:ext uri="{9D8B030D-6E8A-4147-A177-3AD203B41FA5}">
                      <a16:colId xmlns:a16="http://schemas.microsoft.com/office/drawing/2014/main" xmlns="" val="1870705980"/>
                    </a:ext>
                  </a:extLst>
                </a:gridCol>
                <a:gridCol w="2211977">
                  <a:extLst>
                    <a:ext uri="{9D8B030D-6E8A-4147-A177-3AD203B41FA5}">
                      <a16:colId xmlns:a16="http://schemas.microsoft.com/office/drawing/2014/main" xmlns="" val="2732176612"/>
                    </a:ext>
                  </a:extLst>
                </a:gridCol>
                <a:gridCol w="4423955">
                  <a:extLst>
                    <a:ext uri="{9D8B030D-6E8A-4147-A177-3AD203B41FA5}">
                      <a16:colId xmlns:a16="http://schemas.microsoft.com/office/drawing/2014/main" xmlns="" val="2501117000"/>
                    </a:ext>
                  </a:extLst>
                </a:gridCol>
              </a:tblGrid>
              <a:tr h="474704">
                <a:tc>
                  <a:txBody>
                    <a:bodyPr/>
                    <a:lstStyle/>
                    <a:p>
                      <a:pPr algn="l"/>
                      <a:r>
                        <a:rPr lang="en-US" sz="1700" kern="0" dirty="0">
                          <a:effectLst/>
                        </a:rPr>
                        <a:t>2024</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kumimoji="0" lang="en-US" altLang="zh-CN" sz="1600" b="1" i="0" kern="1200" dirty="0">
                          <a:solidFill>
                            <a:schemeClr val="lt1"/>
                          </a:solidFill>
                          <a:effectLst/>
                          <a:latin typeface="+mn-lt"/>
                          <a:ea typeface="+mn-ea"/>
                          <a:cs typeface="+mn-cs"/>
                        </a:rPr>
                        <a:t>Andrew Barto</a:t>
                      </a:r>
                      <a:r>
                        <a:rPr kumimoji="0" lang="zh-CN" altLang="en-US" sz="1600" b="0" i="0" kern="1200" dirty="0">
                          <a:solidFill>
                            <a:schemeClr val="lt1"/>
                          </a:solidFill>
                          <a:effectLst/>
                          <a:latin typeface="+mn-lt"/>
                          <a:ea typeface="+mn-ea"/>
                          <a:cs typeface="+mn-cs"/>
                        </a:rPr>
                        <a:t>，</a:t>
                      </a:r>
                      <a:r>
                        <a:rPr kumimoji="0" lang="en-US" altLang="zh-CN" sz="1600" b="1" i="0" kern="1200" dirty="0">
                          <a:solidFill>
                            <a:schemeClr val="lt1"/>
                          </a:solidFill>
                          <a:effectLst/>
                          <a:latin typeface="+mn-lt"/>
                          <a:ea typeface="+mn-ea"/>
                          <a:cs typeface="+mn-cs"/>
                        </a:rPr>
                        <a:t>Richard Sutton</a:t>
                      </a:r>
                      <a:r>
                        <a:rPr kumimoji="0" lang="zh-CN" altLang="en-US" sz="1600" b="0" i="0" kern="1200" dirty="0">
                          <a:solidFill>
                            <a:schemeClr val="lt1"/>
                          </a:solidFill>
                          <a:effectLst/>
                          <a:latin typeface="+mn-lt"/>
                          <a:ea typeface="+mn-ea"/>
                          <a:cs typeface="+mn-cs"/>
                        </a:rPr>
                        <a:t>。</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tc>
                  <a:txBody>
                    <a:bodyPr/>
                    <a:lstStyle/>
                    <a:p>
                      <a:pPr algn="l"/>
                      <a:r>
                        <a:rPr kumimoji="0" lang="zh-CN" altLang="en-US" sz="1600" b="0" i="0" kern="1200" dirty="0">
                          <a:solidFill>
                            <a:schemeClr val="lt1"/>
                          </a:solidFill>
                          <a:effectLst/>
                          <a:latin typeface="+mn-lt"/>
                          <a:ea typeface="+mn-ea"/>
                          <a:cs typeface="+mn-cs"/>
                        </a:rPr>
                        <a:t>强化学习</a:t>
                      </a:r>
                      <a:endParaRPr lang="zh-CN" altLang="en-US"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6261" marR="66261" marT="66261" marB="66261" anchor="ctr"/>
                </a:tc>
                <a:extLst>
                  <a:ext uri="{0D108BD9-81ED-4DB2-BD59-A6C34878D82A}">
                    <a16:rowId xmlns:a16="http://schemas.microsoft.com/office/drawing/2014/main" xmlns="" val="3352148244"/>
                  </a:ext>
                </a:extLst>
              </a:tr>
            </a:tbl>
          </a:graphicData>
        </a:graphic>
      </p:graphicFrame>
    </p:spTree>
    <p:extLst>
      <p:ext uri="{BB962C8B-B14F-4D97-AF65-F5344CB8AC3E}">
        <p14:creationId xmlns:p14="http://schemas.microsoft.com/office/powerpoint/2010/main" val="409382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教学目的</a:t>
            </a:r>
            <a:r>
              <a:rPr lang="en-US" altLang="zh-CN" dirty="0"/>
              <a:t>	</a:t>
            </a:r>
            <a:endParaRPr lang="zh-CN" altLang="en-US" dirty="0"/>
          </a:p>
        </p:txBody>
      </p:sp>
      <p:sp>
        <p:nvSpPr>
          <p:cNvPr id="3" name="内容占位符 2"/>
          <p:cNvSpPr>
            <a:spLocks noGrp="1"/>
          </p:cNvSpPr>
          <p:nvPr>
            <p:ph idx="1"/>
          </p:nvPr>
        </p:nvSpPr>
        <p:spPr>
          <a:xfrm>
            <a:off x="457200" y="1935163"/>
            <a:ext cx="8229600" cy="4662189"/>
          </a:xfrm>
        </p:spPr>
        <p:txBody>
          <a:bodyPr/>
          <a:lstStyle/>
          <a:p>
            <a:r>
              <a:rPr lang="zh-CN" altLang="en-US" sz="3200" b="1" dirty="0">
                <a:latin typeface="楷体_GB2312" pitchFamily="49" charset="-122"/>
                <a:ea typeface="楷体_GB2312" pitchFamily="49" charset="-122"/>
              </a:rPr>
              <a:t>掌握一门语言</a:t>
            </a:r>
            <a:r>
              <a:rPr lang="en-US" altLang="zh-CN" sz="3200" b="1" dirty="0">
                <a:latin typeface="楷体_GB2312" pitchFamily="49" charset="-122"/>
                <a:ea typeface="楷体_GB2312" pitchFamily="49" charset="-122"/>
              </a:rPr>
              <a:t>-----C</a:t>
            </a:r>
            <a:r>
              <a:rPr lang="zh-CN" altLang="en-US" sz="3200" b="1" dirty="0">
                <a:latin typeface="楷体_GB2312" pitchFamily="49" charset="-122"/>
                <a:ea typeface="楷体_GB2312" pitchFamily="49" charset="-122"/>
              </a:rPr>
              <a:t>语言</a:t>
            </a:r>
            <a:endParaRPr lang="en-US" altLang="zh-CN" sz="3200" b="1" dirty="0">
              <a:latin typeface="楷体_GB2312" pitchFamily="49" charset="-122"/>
              <a:ea typeface="楷体_GB2312" pitchFamily="49" charset="-122"/>
            </a:endParaRPr>
          </a:p>
          <a:p>
            <a:pPr lvl="1"/>
            <a:r>
              <a:rPr lang="zh-CN" altLang="en-US" sz="3200" b="1" dirty="0">
                <a:latin typeface="楷体_GB2312" pitchFamily="49" charset="-122"/>
                <a:ea typeface="楷体_GB2312" pitchFamily="49" charset="-122"/>
              </a:rPr>
              <a:t>为什么是</a:t>
            </a:r>
            <a:r>
              <a:rPr lang="en-US" altLang="zh-CN" sz="3200" b="1" dirty="0">
                <a:latin typeface="楷体_GB2312" pitchFamily="49" charset="-122"/>
                <a:ea typeface="楷体_GB2312" pitchFamily="49" charset="-122"/>
              </a:rPr>
              <a:t>C</a:t>
            </a:r>
            <a:r>
              <a:rPr lang="zh-CN" altLang="en-US" sz="3200" b="1" dirty="0">
                <a:latin typeface="楷体_GB2312" pitchFamily="49" charset="-122"/>
                <a:ea typeface="楷体_GB2312" pitchFamily="49" charset="-122"/>
              </a:rPr>
              <a:t>语言，一门</a:t>
            </a:r>
            <a:r>
              <a:rPr lang="en-US" altLang="zh-CN" sz="3200" b="1" dirty="0">
                <a:latin typeface="楷体_GB2312" pitchFamily="49" charset="-122"/>
                <a:ea typeface="楷体_GB2312" pitchFamily="49" charset="-122"/>
              </a:rPr>
              <a:t>50</a:t>
            </a:r>
            <a:r>
              <a:rPr lang="zh-CN" altLang="en-US" sz="3200" b="1" dirty="0">
                <a:latin typeface="楷体_GB2312" pitchFamily="49" charset="-122"/>
                <a:ea typeface="楷体_GB2312" pitchFamily="49" charset="-122"/>
              </a:rPr>
              <a:t>年历史的语言</a:t>
            </a:r>
            <a:endParaRPr lang="en-US" altLang="zh-CN" sz="3200" b="1" dirty="0">
              <a:latin typeface="楷体_GB2312" pitchFamily="49" charset="-122"/>
              <a:ea typeface="楷体_GB2312" pitchFamily="49" charset="-122"/>
            </a:endParaRPr>
          </a:p>
          <a:p>
            <a:pPr lvl="2"/>
            <a:r>
              <a:rPr lang="zh-CN" altLang="en-US" sz="3200" b="1" dirty="0">
                <a:latin typeface="楷体_GB2312" pitchFamily="49" charset="-122"/>
                <a:ea typeface="楷体_GB2312" pitchFamily="49" charset="-122"/>
              </a:rPr>
              <a:t>广泛使用的语言</a:t>
            </a:r>
            <a:endParaRPr lang="en-US" altLang="zh-CN" sz="3200" b="1" dirty="0">
              <a:latin typeface="楷体_GB2312" pitchFamily="49" charset="-122"/>
              <a:ea typeface="楷体_GB2312" pitchFamily="49" charset="-122"/>
            </a:endParaRPr>
          </a:p>
          <a:p>
            <a:pPr lvl="2"/>
            <a:r>
              <a:rPr lang="zh-CN" altLang="en-US" sz="3200" b="1" dirty="0">
                <a:latin typeface="楷体_GB2312" pitchFamily="49" charset="-122"/>
                <a:ea typeface="楷体_GB2312" pitchFamily="49" charset="-122"/>
              </a:rPr>
              <a:t>高效的语言</a:t>
            </a:r>
            <a:endParaRPr lang="en-US" altLang="zh-CN" sz="3200" b="1" dirty="0">
              <a:latin typeface="楷体_GB2312" pitchFamily="49" charset="-122"/>
              <a:ea typeface="楷体_GB2312" pitchFamily="49" charset="-122"/>
            </a:endParaRPr>
          </a:p>
          <a:p>
            <a:pPr lvl="2"/>
            <a:r>
              <a:rPr lang="zh-CN" altLang="en-US" sz="3200" b="1" dirty="0">
                <a:latin typeface="楷体_GB2312" pitchFamily="49" charset="-122"/>
                <a:ea typeface="楷体_GB2312" pitchFamily="49" charset="-122"/>
              </a:rPr>
              <a:t>很多流行语言的基础，比如</a:t>
            </a:r>
            <a:r>
              <a:rPr lang="en-US" altLang="zh-CN" sz="3200" b="1" dirty="0">
                <a:latin typeface="楷体_GB2312" pitchFamily="49" charset="-122"/>
                <a:ea typeface="楷体_GB2312" pitchFamily="49" charset="-122"/>
              </a:rPr>
              <a:t>C++</a:t>
            </a:r>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JAVA</a:t>
            </a:r>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Rust</a:t>
            </a:r>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Go</a:t>
            </a:r>
            <a:r>
              <a:rPr lang="zh-CN" altLang="en-US" sz="3200" b="1" dirty="0">
                <a:latin typeface="楷体_GB2312" pitchFamily="49" charset="-122"/>
                <a:ea typeface="楷体_GB2312" pitchFamily="49" charset="-122"/>
              </a:rPr>
              <a:t>等等</a:t>
            </a:r>
            <a:endParaRPr lang="en-US" altLang="zh-CN" sz="3200" b="1" dirty="0">
              <a:latin typeface="楷体_GB2312" pitchFamily="49" charset="-122"/>
              <a:ea typeface="楷体_GB2312" pitchFamily="49" charset="-122"/>
            </a:endParaRPr>
          </a:p>
          <a:p>
            <a:r>
              <a:rPr lang="zh-CN" altLang="en-US" sz="3200" b="1" dirty="0">
                <a:latin typeface="楷体_GB2312" pitchFamily="49" charset="-122"/>
                <a:ea typeface="楷体_GB2312" pitchFamily="49" charset="-122"/>
              </a:rPr>
              <a:t>学习编程思维</a:t>
            </a:r>
            <a:endParaRPr lang="en-US" altLang="zh-CN" sz="3200" b="1" dirty="0">
              <a:latin typeface="楷体_GB2312" pitchFamily="49" charset="-122"/>
              <a:ea typeface="楷体_GB2312" pitchFamily="49" charset="-122"/>
            </a:endParaRP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9</a:t>
            </a:fld>
            <a:endParaRPr lang="en-US" altLang="zh-CN" dirty="0"/>
          </a:p>
        </p:txBody>
      </p:sp>
      <p:pic>
        <p:nvPicPr>
          <p:cNvPr id="7" name="图片 6">
            <a:extLst>
              <a:ext uri="{FF2B5EF4-FFF2-40B4-BE49-F238E27FC236}">
                <a16:creationId xmlns:a16="http://schemas.microsoft.com/office/drawing/2014/main" xmlns="" id="{5C355C6F-CFF3-4C1F-C676-348496CFDE46}"/>
              </a:ext>
            </a:extLst>
          </p:cNvPr>
          <p:cNvPicPr>
            <a:picLocks noChangeAspect="1"/>
          </p:cNvPicPr>
          <p:nvPr/>
        </p:nvPicPr>
        <p:blipFill>
          <a:blip r:embed="rId2">
            <a:extLst>
              <a:ext uri="{28A0092B-C50C-407E-A947-70E740481C1C}">
                <a14:useLocalDpi xmlns:a14="http://schemas.microsoft.com/office/drawing/2010/main" val="0"/>
              </a:ext>
            </a:extLst>
          </a:blip>
          <a:srcRect t="25597" r="112" b="19803"/>
          <a:stretch>
            <a:fillRect/>
          </a:stretch>
        </p:blipFill>
        <p:spPr>
          <a:xfrm>
            <a:off x="10185" y="1268760"/>
            <a:ext cx="9133815" cy="4320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xit" presetSubtype="21" fill="hold" nodeType="clickEffect">
                                  <p:stCondLst>
                                    <p:cond delay="0"/>
                                  </p:stCondLst>
                                  <p:childTnLst>
                                    <p:animEffect transition="out" filter="barn(inVertical)">
                                      <p:cBhvr>
                                        <p:cTn id="24" dur="500"/>
                                        <p:tgtEl>
                                          <p:spTgt spid="7"/>
                                        </p:tgtEl>
                                      </p:cBhvr>
                                    </p:animEffect>
                                    <p:set>
                                      <p:cBhvr>
                                        <p:cTn id="25" dur="1" fill="hold">
                                          <p:stCondLst>
                                            <p:cond delay="499"/>
                                          </p:stCondLst>
                                        </p:cTn>
                                        <p:tgtEl>
                                          <p:spTgt spid="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科学思维</a:t>
            </a:r>
          </a:p>
        </p:txBody>
      </p:sp>
      <p:sp>
        <p:nvSpPr>
          <p:cNvPr id="3" name="内容占位符 2"/>
          <p:cNvSpPr>
            <a:spLocks noGrp="1"/>
          </p:cNvSpPr>
          <p:nvPr>
            <p:ph idx="1"/>
          </p:nvPr>
        </p:nvSpPr>
        <p:spPr>
          <a:xfrm>
            <a:off x="457200" y="1935163"/>
            <a:ext cx="8507288" cy="4389437"/>
          </a:xfrm>
        </p:spPr>
        <p:txBody>
          <a:bodyPr/>
          <a:lstStyle/>
          <a:p>
            <a:r>
              <a:rPr lang="zh-CN" altLang="en-US" dirty="0"/>
              <a:t>科学思维主要分为理论思维、实验思维和计算思维三大类，它们是推动人类文明进步和科技发展的三大支柱。</a:t>
            </a:r>
            <a:endParaRPr lang="en-US" altLang="zh-CN" dirty="0"/>
          </a:p>
          <a:p>
            <a:endParaRPr lang="en-US" altLang="zh-CN" dirty="0"/>
          </a:p>
          <a:p>
            <a:r>
              <a:rPr lang="zh-CN" altLang="en-US" dirty="0"/>
              <a:t>理论源于数学，理论思维支撑着所有的学科领域。正如数学一样，定义是理论思维的灵魂，定理和证明则是它的精髓。公理化方法是最重要的理论思维方法。用公理化方法构建的理论体系称为公理系统，如欧氏几何。</a:t>
            </a:r>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10</a:t>
            </a:fld>
            <a:endParaRPr lang="en-US" altLang="zh-CN" dirty="0"/>
          </a:p>
        </p:txBody>
      </p:sp>
    </p:spTree>
    <p:extLst>
      <p:ext uri="{BB962C8B-B14F-4D97-AF65-F5344CB8AC3E}">
        <p14:creationId xmlns:p14="http://schemas.microsoft.com/office/powerpoint/2010/main" val="257076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与理论思维不同，实验思维往往需要借助于某些特定的设备（科学工具），并用它们来获取数据以供以后的分析。例如，“近代科学之父”伽利略就不仅设计和演示了许多实验，而且还亲自研制出不少先进的实验仪器，如温度计、望远镜、显微镜等。</a:t>
            </a:r>
          </a:p>
          <a:p>
            <a:endParaRPr lang="en-US" altLang="zh-CN" dirty="0"/>
          </a:p>
          <a:p>
            <a:r>
              <a:rPr lang="zh-CN" altLang="en-US" dirty="0"/>
              <a:t>以实验为基础的学科有物理、化学、地学、天文学、生物学、医学、农业科学、冶金、机械，以及由此派生的众多学科。</a:t>
            </a:r>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11</a:t>
            </a:fld>
            <a:endParaRPr lang="en-US" altLang="zh-CN" dirty="0"/>
          </a:p>
        </p:txBody>
      </p:sp>
    </p:spTree>
    <p:extLst>
      <p:ext uri="{BB962C8B-B14F-4D97-AF65-F5344CB8AC3E}">
        <p14:creationId xmlns:p14="http://schemas.microsoft.com/office/powerpoint/2010/main" val="4199809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计算思维是运用计算机科学的基础概念进行问题求解、系统设计，以及人类行为理解的涵盖计算机科学之广度的一系列思维活动。</a:t>
            </a:r>
          </a:p>
          <a:p>
            <a:endParaRPr lang="zh-CN" altLang="en-US" dirty="0"/>
          </a:p>
          <a:p>
            <a:r>
              <a:rPr lang="zh-CN" altLang="en-US" dirty="0"/>
              <a:t>计算思维是数学与工程思维的互补与融合。计算机科学在本质上源自数学思维，它的形式化基础建筑于数学之上。计算机科学又从本质上源自工程思维，因为我们建造的是能够与现实世界互动的系统。</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12</a:t>
            </a:fld>
            <a:endParaRPr lang="en-US" altLang="zh-CN" dirty="0"/>
          </a:p>
        </p:txBody>
      </p:sp>
    </p:spTree>
    <p:extLst>
      <p:ext uri="{BB962C8B-B14F-4D97-AF65-F5344CB8AC3E}">
        <p14:creationId xmlns:p14="http://schemas.microsoft.com/office/powerpoint/2010/main" val="177373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692696"/>
            <a:ext cx="8229600" cy="1143000"/>
          </a:xfrm>
        </p:spPr>
        <p:txBody>
          <a:bodyPr/>
          <a:lstStyle/>
          <a:p>
            <a:r>
              <a:rPr lang="zh-CN" altLang="en-US" dirty="0"/>
              <a:t>数独的例子</a:t>
            </a:r>
          </a:p>
        </p:txBody>
      </p:sp>
      <p:sp>
        <p:nvSpPr>
          <p:cNvPr id="5" name="内容占位符 4"/>
          <p:cNvSpPr>
            <a:spLocks noGrp="1"/>
          </p:cNvSpPr>
          <p:nvPr>
            <p:ph sz="quarter" idx="2"/>
          </p:nvPr>
        </p:nvSpPr>
        <p:spPr>
          <a:xfrm>
            <a:off x="457200" y="1916832"/>
            <a:ext cx="8219256" cy="4443488"/>
          </a:xfrm>
        </p:spPr>
        <p:txBody>
          <a:bodyPr/>
          <a:lstStyle/>
          <a:p>
            <a:r>
              <a:rPr lang="en-US" altLang="zh-CN" dirty="0"/>
              <a:t>18 </a:t>
            </a:r>
            <a:r>
              <a:rPr lang="zh-CN" altLang="en-US" dirty="0"/>
              <a:t>世纪末，瑞士数学家欧拉发明了一种叫做“拉丁方阵（</a:t>
            </a:r>
            <a:r>
              <a:rPr lang="en-US" altLang="zh-CN" dirty="0"/>
              <a:t>Latin Square</a:t>
            </a:r>
            <a:r>
              <a:rPr lang="zh-CN" altLang="en-US" dirty="0"/>
              <a:t>）”的游戏。虽然最初这个游戏并没有风靡起来，但随着时间的推移，在 </a:t>
            </a:r>
            <a:r>
              <a:rPr lang="en-US" altLang="zh-CN" dirty="0"/>
              <a:t>20 </a:t>
            </a:r>
            <a:r>
              <a:rPr lang="zh-CN" altLang="en-US" dirty="0"/>
              <a:t>世纪 </a:t>
            </a:r>
            <a:r>
              <a:rPr lang="en-US" altLang="zh-CN" dirty="0"/>
              <a:t>70 </a:t>
            </a:r>
            <a:r>
              <a:rPr lang="zh-CN" altLang="en-US" dirty="0"/>
              <a:t>年代的美国，这个游戏迅速流行起来，之后逐渐流传到日本、英国，到现在已经成为了红遍全球的智力游戏。</a:t>
            </a:r>
          </a:p>
          <a:p>
            <a:r>
              <a:rPr lang="zh-CN" altLang="en-US" dirty="0"/>
              <a:t>数独游戏基本规则是这样的：在一个九宫格中给出一些初始数字。玩家需要在九宫格内填入缺失的数字（</a:t>
            </a:r>
            <a:r>
              <a:rPr lang="en-US" altLang="zh-CN" dirty="0"/>
              <a:t>1 - 9</a:t>
            </a:r>
            <a:r>
              <a:rPr lang="zh-CN" altLang="en-US" dirty="0"/>
              <a:t>），保证：</a:t>
            </a:r>
          </a:p>
          <a:p>
            <a:pPr lvl="1"/>
            <a:r>
              <a:rPr lang="zh-CN" altLang="en-US" dirty="0"/>
              <a:t>每一行的 </a:t>
            </a:r>
            <a:r>
              <a:rPr lang="en-US" altLang="zh-CN" dirty="0"/>
              <a:t>9 </a:t>
            </a:r>
            <a:r>
              <a:rPr lang="zh-CN" altLang="en-US" dirty="0"/>
              <a:t>个数字各不相同 </a:t>
            </a:r>
            <a:endParaRPr lang="en-US" altLang="zh-CN" dirty="0"/>
          </a:p>
          <a:p>
            <a:pPr lvl="1"/>
            <a:r>
              <a:rPr lang="zh-CN" altLang="en-US" dirty="0"/>
              <a:t>每一列的 </a:t>
            </a:r>
            <a:r>
              <a:rPr lang="en-US" altLang="zh-CN" dirty="0"/>
              <a:t>9 </a:t>
            </a:r>
            <a:r>
              <a:rPr lang="zh-CN" altLang="en-US" dirty="0"/>
              <a:t>个数字各不相同 </a:t>
            </a:r>
            <a:endParaRPr lang="en-US" altLang="zh-CN" dirty="0"/>
          </a:p>
          <a:p>
            <a:pPr lvl="1"/>
            <a:r>
              <a:rPr lang="zh-CN" altLang="en-US" dirty="0"/>
              <a:t>每一个用粗线标识出的 </a:t>
            </a:r>
            <a:r>
              <a:rPr lang="en-US" altLang="zh-CN" dirty="0"/>
              <a:t>3 × 3 </a:t>
            </a:r>
            <a:r>
              <a:rPr lang="zh-CN" altLang="en-US" dirty="0"/>
              <a:t>的小正方形内 </a:t>
            </a:r>
            <a:r>
              <a:rPr lang="en-US" altLang="zh-CN" dirty="0"/>
              <a:t>9 </a:t>
            </a:r>
            <a:r>
              <a:rPr lang="zh-CN" altLang="en-US" dirty="0"/>
              <a:t>个数字也各不相同</a:t>
            </a:r>
          </a:p>
        </p:txBody>
      </p:sp>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13</a:t>
            </a:fld>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14</a:t>
            </a:fld>
            <a:endParaRPr lang="en-US" altLang="zh-CN" dirty="0"/>
          </a:p>
        </p:txBody>
      </p:sp>
      <p:pic>
        <p:nvPicPr>
          <p:cNvPr id="8" name="图片 7" descr="zhh0g1.png"/>
          <p:cNvPicPr>
            <a:picLocks noChangeAspect="1"/>
          </p:cNvPicPr>
          <p:nvPr/>
        </p:nvPicPr>
        <p:blipFill>
          <a:blip r:embed="rId2" cstate="print"/>
          <a:stretch>
            <a:fillRect/>
          </a:stretch>
        </p:blipFill>
        <p:spPr>
          <a:xfrm>
            <a:off x="683568" y="260648"/>
            <a:ext cx="7416823" cy="6192687"/>
          </a:xfrm>
          <a:prstGeom prst="rect">
            <a:avLst/>
          </a:prstGeom>
        </p:spPr>
      </p:pic>
      <p:sp>
        <p:nvSpPr>
          <p:cNvPr id="9" name="矩形 8"/>
          <p:cNvSpPr/>
          <p:nvPr/>
        </p:nvSpPr>
        <p:spPr>
          <a:xfrm>
            <a:off x="7308304" y="4509120"/>
            <a:ext cx="57606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71600" y="1772816"/>
            <a:ext cx="50405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83568" y="260648"/>
            <a:ext cx="2520280" cy="208823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6" grpId="0" animBg="1"/>
      <p:bldP spid="6"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2"/>
          </p:nvPr>
        </p:nvSpPr>
        <p:spPr>
          <a:xfrm>
            <a:off x="457200" y="980728"/>
            <a:ext cx="8435280" cy="5379592"/>
          </a:xfrm>
        </p:spPr>
        <p:txBody>
          <a:bodyPr/>
          <a:lstStyle/>
          <a:p>
            <a:r>
              <a:rPr lang="zh-CN" altLang="en-US" dirty="0"/>
              <a:t>数学家在 </a:t>
            </a:r>
            <a:r>
              <a:rPr lang="en-US" altLang="zh-CN" dirty="0"/>
              <a:t>2005 </a:t>
            </a:r>
            <a:r>
              <a:rPr lang="zh-CN" altLang="en-US" dirty="0"/>
              <a:t>年证明，数独的解共有 </a:t>
            </a:r>
            <a:r>
              <a:rPr lang="en-US" altLang="zh-CN" dirty="0"/>
              <a:t>9! × 722 × 27 × 27,704,267,971 </a:t>
            </a:r>
            <a:r>
              <a:rPr lang="zh-CN" altLang="en-US" dirty="0"/>
              <a:t>种不同的可能组合</a:t>
            </a:r>
            <a:endParaRPr lang="en-US" altLang="zh-CN" dirty="0"/>
          </a:p>
          <a:p>
            <a:endParaRPr lang="en-US" altLang="zh-CN" dirty="0"/>
          </a:p>
          <a:p>
            <a:r>
              <a:rPr lang="zh-CN" altLang="en-US" b="1" dirty="0"/>
              <a:t>至少给定多少个初始数字，数独才会有唯一解？</a:t>
            </a:r>
            <a:r>
              <a:rPr lang="zh-CN" altLang="en-US" dirty="0"/>
              <a:t> 此前已经有人给出了一些包含 </a:t>
            </a:r>
            <a:r>
              <a:rPr lang="en-US" altLang="zh-CN" dirty="0"/>
              <a:t>17 </a:t>
            </a:r>
            <a:r>
              <a:rPr lang="zh-CN" altLang="en-US" dirty="0"/>
              <a:t>个初始数字的数独，并利用计算机证明了其解是唯一的（对于某个给定了 </a:t>
            </a:r>
            <a:r>
              <a:rPr lang="en-US" altLang="zh-CN" dirty="0"/>
              <a:t>17 </a:t>
            </a:r>
            <a:r>
              <a:rPr lang="zh-CN" altLang="en-US" dirty="0"/>
              <a:t>个初始数字的数独，计算机枚举了所有可能的排列情况，只找到一个解），从而证明了 </a:t>
            </a:r>
            <a:r>
              <a:rPr lang="en-US" altLang="zh-CN" dirty="0"/>
              <a:t>17 </a:t>
            </a:r>
            <a:r>
              <a:rPr lang="zh-CN" altLang="en-US" dirty="0"/>
              <a:t>个初始数字的数独是可以存在唯一解的</a:t>
            </a:r>
            <a:endParaRPr lang="en-US" altLang="zh-CN" dirty="0"/>
          </a:p>
          <a:p>
            <a:endParaRPr lang="en-US" altLang="zh-CN" dirty="0"/>
          </a:p>
          <a:p>
            <a:r>
              <a:rPr lang="zh-CN" altLang="en-US" dirty="0"/>
              <a:t> </a:t>
            </a:r>
            <a:r>
              <a:rPr lang="en-US" altLang="zh-CN" dirty="0"/>
              <a:t>16 </a:t>
            </a:r>
            <a:r>
              <a:rPr lang="zh-CN" altLang="en-US" dirty="0"/>
              <a:t>个初始数字的数独是否存在唯一解？在 </a:t>
            </a:r>
            <a:r>
              <a:rPr lang="en-US" altLang="zh-CN" dirty="0"/>
              <a:t>2012</a:t>
            </a:r>
            <a:r>
              <a:rPr lang="zh-CN" altLang="en-US" dirty="0"/>
              <a:t>，都柏林大学的数学家们给出了答案：</a:t>
            </a:r>
            <a:r>
              <a:rPr lang="en-US" altLang="zh-CN" dirty="0"/>
              <a:t>16 </a:t>
            </a:r>
            <a:r>
              <a:rPr lang="zh-CN" altLang="en-US" dirty="0"/>
              <a:t>个初始数字的数独不存在唯一解。</a:t>
            </a:r>
            <a:endParaRPr lang="en-US" altLang="zh-CN" dirty="0"/>
          </a:p>
          <a:p>
            <a:endParaRPr lang="zh-CN" altLang="en-US" dirty="0"/>
          </a:p>
        </p:txBody>
      </p:sp>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15</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怎么做？</a:t>
            </a:r>
            <a:r>
              <a:rPr lang="en-US" altLang="zh-CN" dirty="0"/>
              <a:t>---</a:t>
            </a:r>
            <a:r>
              <a:rPr lang="zh-CN" altLang="en-US" dirty="0"/>
              <a:t>回溯法</a:t>
            </a:r>
          </a:p>
        </p:txBody>
      </p:sp>
      <p:sp>
        <p:nvSpPr>
          <p:cNvPr id="5" name="内容占位符 4"/>
          <p:cNvSpPr>
            <a:spLocks noGrp="1"/>
          </p:cNvSpPr>
          <p:nvPr>
            <p:ph sz="quarter" idx="2"/>
          </p:nvPr>
        </p:nvSpPr>
        <p:spPr>
          <a:xfrm>
            <a:off x="457200" y="1844824"/>
            <a:ext cx="8075240" cy="4515496"/>
          </a:xfrm>
        </p:spPr>
        <p:txBody>
          <a:bodyPr/>
          <a:lstStyle/>
          <a:p>
            <a:r>
              <a:rPr lang="zh-CN" altLang="en-US" b="1" dirty="0"/>
              <a:t>尝试每一种有 </a:t>
            </a:r>
            <a:r>
              <a:rPr lang="en-US" altLang="zh-CN" b="1" dirty="0"/>
              <a:t>16 </a:t>
            </a:r>
            <a:r>
              <a:rPr lang="zh-CN" altLang="en-US" b="1" dirty="0"/>
              <a:t>个初始数字的数独？</a:t>
            </a:r>
            <a:r>
              <a:rPr lang="zh-CN" altLang="en-US" dirty="0"/>
              <a:t> 即使是现在最快的计算机，也不可能在我们的有生之年穷尽所有的组合</a:t>
            </a:r>
            <a:endParaRPr lang="en-US" altLang="zh-CN" dirty="0"/>
          </a:p>
          <a:p>
            <a:endParaRPr lang="en-US" altLang="zh-CN" dirty="0"/>
          </a:p>
          <a:p>
            <a:r>
              <a:rPr lang="zh-CN" altLang="en-US" dirty="0"/>
              <a:t>使用部分方法来减少尝试的次数。例如，部分数独是等价的</a:t>
            </a:r>
          </a:p>
        </p:txBody>
      </p:sp>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16</a:t>
            </a:fld>
            <a:endParaRPr lang="en-US" altLang="zh-CN" dirty="0"/>
          </a:p>
        </p:txBody>
      </p:sp>
      <p:pic>
        <p:nvPicPr>
          <p:cNvPr id="8" name="图片 7" descr="hft8jq.png"/>
          <p:cNvPicPr>
            <a:picLocks noChangeAspect="1"/>
          </p:cNvPicPr>
          <p:nvPr/>
        </p:nvPicPr>
        <p:blipFill>
          <a:blip r:embed="rId2" cstate="print"/>
          <a:stretch>
            <a:fillRect/>
          </a:stretch>
        </p:blipFill>
        <p:spPr>
          <a:xfrm>
            <a:off x="1835696" y="3573016"/>
            <a:ext cx="5587302" cy="279365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2"/>
          </p:nvPr>
        </p:nvSpPr>
        <p:spPr>
          <a:xfrm>
            <a:off x="457200" y="980728"/>
            <a:ext cx="8147248" cy="5379592"/>
          </a:xfrm>
        </p:spPr>
        <p:txBody>
          <a:bodyPr/>
          <a:lstStyle/>
          <a:p>
            <a:r>
              <a:rPr lang="zh-CN" altLang="en-US" dirty="0"/>
              <a:t>⒈ 列与列的重新排列（例如上图）</a:t>
            </a:r>
          </a:p>
          <a:p>
            <a:r>
              <a:rPr lang="zh-CN" altLang="en-US" dirty="0"/>
              <a:t>⒉ 行与行的重新排列</a:t>
            </a:r>
          </a:p>
          <a:p>
            <a:r>
              <a:rPr lang="zh-CN" altLang="en-US" dirty="0"/>
              <a:t>⒊ 数字 </a:t>
            </a:r>
            <a:r>
              <a:rPr lang="en-US" altLang="zh-CN" dirty="0"/>
              <a:t>1 </a:t>
            </a:r>
            <a:r>
              <a:rPr lang="zh-CN" altLang="en-US" dirty="0"/>
              <a:t>到 </a:t>
            </a:r>
            <a:r>
              <a:rPr lang="en-US" altLang="zh-CN" dirty="0"/>
              <a:t>9 </a:t>
            </a:r>
            <a:r>
              <a:rPr lang="zh-CN" altLang="en-US" dirty="0"/>
              <a:t>的重新排列。如把原先是 </a:t>
            </a:r>
            <a:r>
              <a:rPr lang="en-US" altLang="zh-CN" dirty="0"/>
              <a:t>1 </a:t>
            </a:r>
            <a:r>
              <a:rPr lang="zh-CN" altLang="en-US" dirty="0"/>
              <a:t>的位置都填上 </a:t>
            </a:r>
            <a:r>
              <a:rPr lang="en-US" altLang="zh-CN" dirty="0"/>
              <a:t>2</a:t>
            </a:r>
            <a:r>
              <a:rPr lang="zh-CN" altLang="en-US" dirty="0"/>
              <a:t>，然后把原先是 </a:t>
            </a:r>
            <a:r>
              <a:rPr lang="en-US" altLang="zh-CN" dirty="0"/>
              <a:t>2 </a:t>
            </a:r>
            <a:r>
              <a:rPr lang="zh-CN" altLang="en-US" dirty="0"/>
              <a:t>的位置都填上</a:t>
            </a:r>
            <a:r>
              <a:rPr lang="en-US" altLang="zh-CN" dirty="0"/>
              <a:t>……</a:t>
            </a:r>
            <a:r>
              <a:rPr lang="zh-CN" altLang="en-US" dirty="0"/>
              <a:t>直到把原先是 </a:t>
            </a:r>
            <a:r>
              <a:rPr lang="en-US" altLang="zh-CN" dirty="0"/>
              <a:t>9 </a:t>
            </a:r>
            <a:r>
              <a:rPr lang="zh-CN" altLang="en-US" dirty="0"/>
              <a:t>的位置都填上 </a:t>
            </a:r>
            <a:r>
              <a:rPr lang="en-US" altLang="zh-CN" dirty="0"/>
              <a:t>1 </a:t>
            </a:r>
            <a:r>
              <a:rPr lang="zh-CN" altLang="en-US" dirty="0"/>
              <a:t>等</a:t>
            </a:r>
          </a:p>
          <a:p>
            <a:r>
              <a:rPr lang="zh-CN" altLang="en-US" dirty="0"/>
              <a:t>⒋ 网格的变换。如整个数独顺时针旋转</a:t>
            </a:r>
            <a:r>
              <a:rPr lang="en-US" altLang="zh-CN" dirty="0"/>
              <a:t>90</a:t>
            </a:r>
            <a:r>
              <a:rPr lang="zh-CN" altLang="en-US" dirty="0"/>
              <a:t>度，整个数独做镜像对称等</a:t>
            </a:r>
          </a:p>
          <a:p>
            <a:endParaRPr lang="en-US" altLang="zh-CN" dirty="0"/>
          </a:p>
          <a:p>
            <a:r>
              <a:rPr lang="zh-CN" altLang="en-US" dirty="0"/>
              <a:t>排除以上几种重复后，数独总共有 </a:t>
            </a:r>
            <a:r>
              <a:rPr lang="en-US" altLang="zh-CN" dirty="0"/>
              <a:t>5,475,730,538 </a:t>
            </a:r>
            <a:r>
              <a:rPr lang="zh-CN" altLang="en-US" dirty="0"/>
              <a:t>个等价类</a:t>
            </a:r>
            <a:endParaRPr lang="en-US" altLang="zh-CN" dirty="0"/>
          </a:p>
          <a:p>
            <a:endParaRPr lang="en-US" altLang="zh-CN" dirty="0"/>
          </a:p>
          <a:p>
            <a:r>
              <a:rPr lang="zh-CN" altLang="en-US" dirty="0"/>
              <a:t>还是太多了，继续优化。。。。。。</a:t>
            </a:r>
            <a:endParaRPr lang="en-US" altLang="zh-CN" dirty="0"/>
          </a:p>
          <a:p>
            <a:endParaRPr lang="en-US" altLang="zh-CN" dirty="0"/>
          </a:p>
          <a:p>
            <a:r>
              <a:rPr lang="zh-CN" altLang="en-US" dirty="0"/>
              <a:t>最终，在一台有</a:t>
            </a:r>
            <a:r>
              <a:rPr lang="en-US" altLang="zh-CN" dirty="0"/>
              <a:t>640</a:t>
            </a:r>
            <a:r>
              <a:rPr lang="zh-CN" altLang="en-US" dirty="0"/>
              <a:t>个</a:t>
            </a:r>
            <a:r>
              <a:rPr lang="en-US" altLang="zh-CN" dirty="0"/>
              <a:t>Intel Xeon 16</a:t>
            </a:r>
            <a:r>
              <a:rPr lang="zh-CN" altLang="en-US" dirty="0"/>
              <a:t>核处理器的机器上开始于</a:t>
            </a:r>
            <a:r>
              <a:rPr lang="en-US" altLang="zh-CN" dirty="0"/>
              <a:t>2011</a:t>
            </a:r>
            <a:r>
              <a:rPr lang="zh-CN" altLang="en-US" dirty="0"/>
              <a:t>年</a:t>
            </a:r>
            <a:r>
              <a:rPr lang="en-US" altLang="zh-CN" dirty="0"/>
              <a:t>1</a:t>
            </a:r>
            <a:r>
              <a:rPr lang="zh-CN" altLang="en-US" dirty="0"/>
              <a:t>月，结束于</a:t>
            </a:r>
            <a:r>
              <a:rPr lang="en-US" altLang="zh-CN" dirty="0"/>
              <a:t>12</a:t>
            </a:r>
            <a:r>
              <a:rPr lang="zh-CN" altLang="en-US" dirty="0"/>
              <a:t>月</a:t>
            </a:r>
            <a:br>
              <a:rPr lang="zh-CN" altLang="en-US" dirty="0"/>
            </a:br>
            <a:endParaRPr lang="zh-CN" altLang="en-US" dirty="0"/>
          </a:p>
        </p:txBody>
      </p:sp>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17</a:t>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计算问题的复杂度</a:t>
            </a:r>
          </a:p>
        </p:txBody>
      </p:sp>
      <p:sp>
        <p:nvSpPr>
          <p:cNvPr id="5" name="内容占位符 4"/>
          <p:cNvSpPr>
            <a:spLocks noGrp="1"/>
          </p:cNvSpPr>
          <p:nvPr>
            <p:ph sz="quarter" idx="2"/>
          </p:nvPr>
        </p:nvSpPr>
        <p:spPr>
          <a:xfrm>
            <a:off x="457200" y="1916832"/>
            <a:ext cx="8147248" cy="4443488"/>
          </a:xfrm>
        </p:spPr>
        <p:txBody>
          <a:bodyPr/>
          <a:lstStyle/>
          <a:p>
            <a:r>
              <a:rPr lang="zh-CN" altLang="en-US" dirty="0"/>
              <a:t>解决问题的难易程度：</a:t>
            </a:r>
            <a:endParaRPr lang="en-US" altLang="zh-CN" dirty="0"/>
          </a:p>
          <a:p>
            <a:pPr lvl="1"/>
            <a:r>
              <a:rPr lang="zh-CN" altLang="en-US" dirty="0"/>
              <a:t>找到最大的同学年龄                            </a:t>
            </a:r>
            <a:endParaRPr lang="en-US" altLang="zh-CN" dirty="0"/>
          </a:p>
          <a:p>
            <a:pPr lvl="1">
              <a:buNone/>
            </a:pPr>
            <a:r>
              <a:rPr lang="en-US" altLang="zh-CN" dirty="0"/>
              <a:t>	</a:t>
            </a:r>
            <a:r>
              <a:rPr lang="zh-CN" altLang="en-US" i="1" dirty="0">
                <a:solidFill>
                  <a:srgbClr val="FF0000"/>
                </a:solidFill>
              </a:rPr>
              <a:t>线性</a:t>
            </a:r>
            <a:endParaRPr lang="en-US" altLang="zh-CN" i="1" dirty="0">
              <a:solidFill>
                <a:srgbClr val="FF0000"/>
              </a:solidFill>
            </a:endParaRPr>
          </a:p>
          <a:p>
            <a:pPr lvl="1"/>
            <a:endParaRPr lang="en-US" altLang="zh-CN" dirty="0"/>
          </a:p>
          <a:p>
            <a:pPr lvl="1"/>
            <a:r>
              <a:rPr lang="zh-CN" altLang="en-US" dirty="0"/>
              <a:t>同学按年龄排序</a:t>
            </a:r>
            <a:endParaRPr lang="en-US" altLang="zh-CN" dirty="0"/>
          </a:p>
          <a:p>
            <a:pPr>
              <a:buNone/>
            </a:pPr>
            <a:r>
              <a:rPr lang="en-US" altLang="zh-CN" dirty="0"/>
              <a:t>		1. </a:t>
            </a:r>
            <a:r>
              <a:rPr lang="zh-CN" altLang="en-US" dirty="0"/>
              <a:t>从第一个元素开始，该元素可以认为已经被排序</a:t>
            </a:r>
            <a:endParaRPr lang="en-US" altLang="zh-CN" dirty="0"/>
          </a:p>
          <a:p>
            <a:pPr>
              <a:buNone/>
            </a:pPr>
            <a:r>
              <a:rPr lang="en-US" altLang="zh-CN" dirty="0"/>
              <a:t>   		2. </a:t>
            </a:r>
            <a:r>
              <a:rPr lang="zh-CN" altLang="en-US" dirty="0"/>
              <a:t>取出下一个元素，在已经排序的元素序列中从后向前扫描，直到找到已排序的元素小于（等于）新元素，将新元素插入到该位置后</a:t>
            </a:r>
          </a:p>
          <a:p>
            <a:pPr>
              <a:buNone/>
            </a:pPr>
            <a:r>
              <a:rPr lang="en-US" altLang="zh-CN" dirty="0"/>
              <a:t>   		 3. </a:t>
            </a:r>
            <a:r>
              <a:rPr lang="zh-CN" altLang="en-US" dirty="0"/>
              <a:t>重复步骤</a:t>
            </a:r>
            <a:r>
              <a:rPr lang="en-US" altLang="zh-CN" dirty="0"/>
              <a:t>2</a:t>
            </a:r>
          </a:p>
          <a:p>
            <a:pPr lvl="1"/>
            <a:r>
              <a:rPr lang="zh-CN" altLang="en-US" i="1" dirty="0">
                <a:solidFill>
                  <a:srgbClr val="FF0000"/>
                </a:solidFill>
              </a:rPr>
              <a:t>最差时间复杂度  平方</a:t>
            </a:r>
            <a:endParaRPr lang="en-US" altLang="zh-CN" i="1" dirty="0">
              <a:solidFill>
                <a:srgbClr val="FF0000"/>
              </a:solidFill>
            </a:endParaRPr>
          </a:p>
          <a:p>
            <a:pPr lvl="1"/>
            <a:r>
              <a:rPr lang="zh-CN" altLang="en-US" i="1" dirty="0">
                <a:solidFill>
                  <a:srgbClr val="FF0000"/>
                </a:solidFill>
              </a:rPr>
              <a:t>最优时间复杂度   线性</a:t>
            </a:r>
            <a:endParaRPr lang="en-US" altLang="zh-CN" i="1" dirty="0">
              <a:solidFill>
                <a:srgbClr val="FF0000"/>
              </a:solidFill>
            </a:endParaRPr>
          </a:p>
          <a:p>
            <a:pPr>
              <a:buNone/>
            </a:pPr>
            <a:endParaRPr lang="zh-CN" altLang="en-US" dirty="0"/>
          </a:p>
        </p:txBody>
      </p:sp>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18</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 calcmode="lin" valueType="num">
                                      <p:cBhvr additive="base">
                                        <p:cTn id="2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 calcmode="lin" valueType="num">
                                      <p:cBhvr additive="base">
                                        <p:cTn id="2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 calcmode="lin" valueType="num">
                                      <p:cBhvr additive="base">
                                        <p:cTn id="3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anim calcmode="lin" valueType="num">
                                      <p:cBhvr additive="base">
                                        <p:cTn id="3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计算问题的复杂度</a:t>
            </a:r>
          </a:p>
        </p:txBody>
      </p:sp>
      <p:sp>
        <p:nvSpPr>
          <p:cNvPr id="5" name="内容占位符 4"/>
          <p:cNvSpPr>
            <a:spLocks noGrp="1"/>
          </p:cNvSpPr>
          <p:nvPr>
            <p:ph sz="quarter" idx="2"/>
          </p:nvPr>
        </p:nvSpPr>
        <p:spPr>
          <a:xfrm>
            <a:off x="457200" y="1916832"/>
            <a:ext cx="8147248" cy="4443488"/>
          </a:xfrm>
        </p:spPr>
        <p:txBody>
          <a:bodyPr/>
          <a:lstStyle/>
          <a:p>
            <a:r>
              <a:rPr lang="zh-CN" altLang="en-US" dirty="0"/>
              <a:t>解决问题的难易程度：</a:t>
            </a:r>
            <a:endParaRPr lang="en-US" altLang="zh-CN" dirty="0"/>
          </a:p>
          <a:p>
            <a:pPr lvl="1"/>
            <a:endParaRPr lang="en-US" altLang="zh-CN" dirty="0"/>
          </a:p>
          <a:p>
            <a:pPr lvl="1"/>
            <a:r>
              <a:rPr lang="zh-CN" altLang="en-US" dirty="0"/>
              <a:t>是否能从</a:t>
            </a:r>
            <a:r>
              <a:rPr lang="en-US" altLang="zh-CN" dirty="0"/>
              <a:t>n</a:t>
            </a:r>
            <a:r>
              <a:rPr lang="zh-CN" altLang="en-US" dirty="0"/>
              <a:t>个同学中找到</a:t>
            </a:r>
            <a:r>
              <a:rPr lang="en-US" altLang="zh-CN" dirty="0"/>
              <a:t>k</a:t>
            </a:r>
            <a:r>
              <a:rPr lang="zh-CN" altLang="en-US" dirty="0"/>
              <a:t>个同学，他们的年龄之和为给定数？</a:t>
            </a:r>
            <a:endParaRPr lang="en-US" altLang="zh-CN" dirty="0"/>
          </a:p>
          <a:p>
            <a:pPr lvl="1"/>
            <a:endParaRPr lang="en-US" altLang="zh-CN" dirty="0"/>
          </a:p>
          <a:p>
            <a:pPr lvl="1">
              <a:buNone/>
            </a:pPr>
            <a:r>
              <a:rPr lang="en-US" altLang="zh-CN" dirty="0"/>
              <a:t>	</a:t>
            </a:r>
            <a:r>
              <a:rPr lang="zh-CN" altLang="en-US" dirty="0"/>
              <a:t>质朴方法：枚举，</a:t>
            </a:r>
            <a:r>
              <a:rPr lang="en-US" altLang="zh-CN" i="1" dirty="0">
                <a:solidFill>
                  <a:srgbClr val="FF0000"/>
                </a:solidFill>
              </a:rPr>
              <a:t>2</a:t>
            </a:r>
            <a:r>
              <a:rPr lang="en-US" altLang="zh-CN" i="1" baseline="30000" dirty="0">
                <a:solidFill>
                  <a:srgbClr val="FF0000"/>
                </a:solidFill>
              </a:rPr>
              <a:t>n</a:t>
            </a:r>
            <a:r>
              <a:rPr lang="zh-CN" altLang="en-US" i="1" dirty="0">
                <a:solidFill>
                  <a:srgbClr val="FF0000"/>
                </a:solidFill>
              </a:rPr>
              <a:t>，</a:t>
            </a:r>
            <a:r>
              <a:rPr lang="en-US" altLang="zh-CN" i="1" dirty="0">
                <a:solidFill>
                  <a:srgbClr val="FF0000"/>
                </a:solidFill>
              </a:rPr>
              <a:t>n</a:t>
            </a:r>
            <a:r>
              <a:rPr lang="zh-CN" altLang="en-US" i="1" dirty="0">
                <a:solidFill>
                  <a:srgbClr val="FF0000"/>
                </a:solidFill>
              </a:rPr>
              <a:t>是学生人数</a:t>
            </a:r>
            <a:endParaRPr lang="en-US" altLang="zh-CN" i="1" dirty="0">
              <a:solidFill>
                <a:srgbClr val="FF0000"/>
              </a:solidFill>
            </a:endParaRPr>
          </a:p>
          <a:p>
            <a:pPr lvl="1">
              <a:buNone/>
            </a:pPr>
            <a:r>
              <a:rPr lang="en-US" altLang="zh-CN" i="1" dirty="0">
                <a:solidFill>
                  <a:srgbClr val="FF0000"/>
                </a:solidFill>
              </a:rPr>
              <a:t>    </a:t>
            </a:r>
          </a:p>
          <a:p>
            <a:pPr lvl="1">
              <a:buNone/>
            </a:pPr>
            <a:r>
              <a:rPr lang="en-US" altLang="zh-CN" i="1" dirty="0">
                <a:solidFill>
                  <a:srgbClr val="FF0000"/>
                </a:solidFill>
              </a:rPr>
              <a:t>    </a:t>
            </a:r>
            <a:r>
              <a:rPr lang="zh-CN" altLang="en-US" dirty="0"/>
              <a:t>是否存在多项式时间的解法？</a:t>
            </a:r>
            <a:endParaRPr lang="en-US" altLang="zh-CN" i="1" dirty="0">
              <a:solidFill>
                <a:srgbClr val="FF0000"/>
              </a:solidFill>
            </a:endParaRPr>
          </a:p>
          <a:p>
            <a:pPr lvl="1">
              <a:buNone/>
            </a:pPr>
            <a:endParaRPr lang="en-US" altLang="zh-CN" i="1" baseline="30000" dirty="0">
              <a:solidFill>
                <a:srgbClr val="FF0000"/>
              </a:solidFill>
            </a:endParaRPr>
          </a:p>
          <a:p>
            <a:pPr lvl="1">
              <a:buNone/>
            </a:pPr>
            <a:r>
              <a:rPr lang="en-US" altLang="zh-CN" i="1" baseline="30000" dirty="0">
                <a:solidFill>
                  <a:srgbClr val="FF0000"/>
                </a:solidFill>
              </a:rPr>
              <a:t>     </a:t>
            </a:r>
            <a:r>
              <a:rPr lang="en-US" altLang="zh-CN" dirty="0"/>
              <a:t> </a:t>
            </a:r>
            <a:r>
              <a:rPr lang="en-US" altLang="zh-CN" i="1" dirty="0">
                <a:solidFill>
                  <a:srgbClr val="FF0000"/>
                </a:solidFill>
              </a:rPr>
              <a:t>NP-complete</a:t>
            </a:r>
            <a:r>
              <a:rPr lang="zh-CN" altLang="en-US" i="1" dirty="0">
                <a:solidFill>
                  <a:srgbClr val="FF0000"/>
                </a:solidFill>
              </a:rPr>
              <a:t>问题   </a:t>
            </a:r>
            <a:endParaRPr lang="en-US" altLang="zh-CN" i="1" dirty="0">
              <a:solidFill>
                <a:srgbClr val="FF0000"/>
              </a:solidFill>
            </a:endParaRPr>
          </a:p>
          <a:p>
            <a:pPr lvl="1">
              <a:buNone/>
            </a:pPr>
            <a:endParaRPr lang="zh-CN" altLang="en-US" dirty="0"/>
          </a:p>
          <a:p>
            <a:pPr lvl="1"/>
            <a:r>
              <a:rPr lang="zh-CN" altLang="en-US" dirty="0"/>
              <a:t>有多少种可能的同学组合？（</a:t>
            </a:r>
            <a:r>
              <a:rPr lang="en-US" altLang="zh-CN" dirty="0"/>
              <a:t>counting problem</a:t>
            </a:r>
            <a:r>
              <a:rPr lang="zh-CN" altLang="en-US" dirty="0"/>
              <a:t>）</a:t>
            </a:r>
            <a:endParaRPr lang="en-US" altLang="zh-CN" dirty="0"/>
          </a:p>
          <a:p>
            <a:pPr lvl="2">
              <a:buNone/>
            </a:pPr>
            <a:r>
              <a:rPr lang="en-US" altLang="zh-CN" sz="2000" b="1" i="1" dirty="0">
                <a:solidFill>
                  <a:srgbClr val="FF0000"/>
                </a:solidFill>
              </a:rPr>
              <a:t>#P</a:t>
            </a:r>
            <a:endParaRPr lang="en-US" altLang="zh-CN" sz="2000" i="1" dirty="0">
              <a:solidFill>
                <a:srgbClr val="FF0000"/>
              </a:solidFill>
            </a:endParaRPr>
          </a:p>
          <a:p>
            <a:pPr lvl="1"/>
            <a:endParaRPr lang="en-US" altLang="zh-CN" dirty="0"/>
          </a:p>
          <a:p>
            <a:pPr lvl="1"/>
            <a:endParaRPr lang="en-US" altLang="zh-CN" dirty="0"/>
          </a:p>
          <a:p>
            <a:pPr>
              <a:buNone/>
            </a:pPr>
            <a:endParaRPr lang="zh-CN" altLang="en-US" dirty="0"/>
          </a:p>
        </p:txBody>
      </p:sp>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19</a:t>
            </a:fld>
            <a:endParaRPr lang="en-US" altLang="zh-CN" dirty="0"/>
          </a:p>
        </p:txBody>
      </p:sp>
      <p:sp>
        <p:nvSpPr>
          <p:cNvPr id="8" name="矩形 7"/>
          <p:cNvSpPr/>
          <p:nvPr/>
        </p:nvSpPr>
        <p:spPr>
          <a:xfrm>
            <a:off x="4788024" y="3284984"/>
            <a:ext cx="4248472" cy="172819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P/NP</a:t>
            </a:r>
            <a:r>
              <a:rPr lang="zh-CN" altLang="en-US" sz="2400" b="1" dirty="0"/>
              <a:t>问题，七个千禧年大奖难题之一，</a:t>
            </a:r>
            <a:r>
              <a:rPr lang="zh-CN" altLang="en-US" sz="2400" dirty="0"/>
              <a:t>又称世界七大数学难题。每一题的解答者，会颁发奖金</a:t>
            </a:r>
            <a:r>
              <a:rPr lang="en-US" altLang="zh-CN" sz="2400" dirty="0"/>
              <a:t>100</a:t>
            </a:r>
            <a:r>
              <a:rPr lang="zh-CN" altLang="en-US" sz="2400" dirty="0"/>
              <a:t>万美元。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 calcmode="lin" valueType="num">
                                      <p:cBhvr additive="base">
                                        <p:cTn id="1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8"/>
                                        </p:tgtEl>
                                        <p:attrNameLst>
                                          <p:attrName>ppt_x</p:attrName>
                                        </p:attrNameLst>
                                      </p:cBhvr>
                                      <p:tavLst>
                                        <p:tav tm="0">
                                          <p:val>
                                            <p:strVal val="ppt_x"/>
                                          </p:val>
                                        </p:tav>
                                        <p:tav tm="100000">
                                          <p:val>
                                            <p:strVal val="ppt_x"/>
                                          </p:val>
                                        </p:tav>
                                      </p:tavLst>
                                    </p:anim>
                                    <p:anim calcmode="lin" valueType="num">
                                      <p:cBhvr additive="base">
                                        <p:cTn id="37" dur="500"/>
                                        <p:tgtEl>
                                          <p:spTgt spid="8"/>
                                        </p:tgtEl>
                                        <p:attrNameLst>
                                          <p:attrName>ppt_y</p:attrName>
                                        </p:attrNameLst>
                                      </p:cBhvr>
                                      <p:tavLst>
                                        <p:tav tm="0">
                                          <p:val>
                                            <p:strVal val="ppt_y"/>
                                          </p:val>
                                        </p:tav>
                                        <p:tav tm="100000">
                                          <p:val>
                                            <p:strVal val="1+ppt_h/2"/>
                                          </p:val>
                                        </p:tav>
                                      </p:tavLst>
                                    </p:anim>
                                    <p:set>
                                      <p:cBhvr>
                                        <p:cTn id="38" dur="1" fill="hold">
                                          <p:stCondLst>
                                            <p:cond delay="499"/>
                                          </p:stCondLst>
                                        </p:cTn>
                                        <p:tgtEl>
                                          <p:spTgt spid="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anim calcmode="lin" valueType="num">
                                      <p:cBhvr additive="base">
                                        <p:cTn id="4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11" end="11"/>
                                            </p:txEl>
                                          </p:spTgt>
                                        </p:tgtEl>
                                        <p:attrNameLst>
                                          <p:attrName>style.visibility</p:attrName>
                                        </p:attrNameLst>
                                      </p:cBhvr>
                                      <p:to>
                                        <p:strVal val="visible"/>
                                      </p:to>
                                    </p:set>
                                    <p:anim calcmode="lin" valueType="num">
                                      <p:cBhvr additive="base">
                                        <p:cTn id="49"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更复杂的？</a:t>
            </a:r>
          </a:p>
        </p:txBody>
      </p:sp>
      <p:sp>
        <p:nvSpPr>
          <p:cNvPr id="5" name="内容占位符 4"/>
          <p:cNvSpPr>
            <a:spLocks noGrp="1"/>
          </p:cNvSpPr>
          <p:nvPr>
            <p:ph sz="quarter" idx="2"/>
          </p:nvPr>
        </p:nvSpPr>
        <p:spPr>
          <a:xfrm>
            <a:off x="395536" y="1844824"/>
            <a:ext cx="8075240" cy="4752528"/>
          </a:xfrm>
        </p:spPr>
        <p:txBody>
          <a:bodyPr/>
          <a:lstStyle/>
          <a:p>
            <a:r>
              <a:rPr lang="zh-CN" altLang="en-US" dirty="0"/>
              <a:t>最极端的情况：存在某些问题，不可能构建一个总是可以给出正确结果的</a:t>
            </a:r>
            <a:r>
              <a:rPr lang="zh-CN" altLang="en-US" dirty="0">
                <a:solidFill>
                  <a:srgbClr val="FF0000"/>
                </a:solidFill>
              </a:rPr>
              <a:t>程序</a:t>
            </a:r>
            <a:r>
              <a:rPr lang="en-US" altLang="zh-CN" dirty="0">
                <a:solidFill>
                  <a:srgbClr val="FF0000"/>
                </a:solidFill>
              </a:rPr>
              <a:t>   </a:t>
            </a:r>
            <a:r>
              <a:rPr lang="en-US" altLang="zh-CN" i="1" dirty="0">
                <a:solidFill>
                  <a:srgbClr val="FF0000"/>
                </a:solidFill>
                <a:hlinkClick r:id="rId2" tooltip="Undecidable problem">
                  <a:extLst>
                    <a:ext uri="{A12FA001-AC4F-418D-AE19-62706E023703}">
                      <ahyp:hlinkClr xmlns="" xmlns:ahyp="http://schemas.microsoft.com/office/drawing/2018/hyperlinkcolor" val="tx"/>
                    </a:ext>
                  </a:extLst>
                </a:hlinkClick>
              </a:rPr>
              <a:t>undecidable</a:t>
            </a:r>
            <a:r>
              <a:rPr lang="en-US" altLang="zh-CN" dirty="0">
                <a:solidFill>
                  <a:srgbClr val="FF0000"/>
                </a:solidFill>
              </a:rPr>
              <a:t> </a:t>
            </a:r>
          </a:p>
          <a:p>
            <a:endParaRPr lang="en-US" altLang="zh-CN" dirty="0"/>
          </a:p>
          <a:p>
            <a:r>
              <a:rPr lang="en-US" altLang="zh-CN" dirty="0"/>
              <a:t> </a:t>
            </a:r>
            <a:r>
              <a:rPr lang="en-US" altLang="zh-CN" b="1" dirty="0"/>
              <a:t>halting problem</a:t>
            </a:r>
            <a:r>
              <a:rPr lang="en-US" altLang="zh-CN" dirty="0"/>
              <a:t>: "</a:t>
            </a:r>
            <a:r>
              <a:rPr lang="en-US" altLang="zh-CN" i="1" dirty="0"/>
              <a:t>Given a description of an arbitrary </a:t>
            </a:r>
            <a:r>
              <a:rPr lang="en-US" altLang="zh-CN" i="1" dirty="0">
                <a:solidFill>
                  <a:srgbClr val="FF0000"/>
                </a:solidFill>
                <a:hlinkClick r:id="rId3" tooltip="Computer program">
                  <a:extLst>
                    <a:ext uri="{A12FA001-AC4F-418D-AE19-62706E023703}">
                      <ahyp:hlinkClr xmlns="" xmlns:ahyp="http://schemas.microsoft.com/office/drawing/2018/hyperlinkcolor" val="tx"/>
                    </a:ext>
                  </a:extLst>
                </a:hlinkClick>
              </a:rPr>
              <a:t>computer program</a:t>
            </a:r>
            <a:r>
              <a:rPr lang="en-US" altLang="zh-CN" i="1" dirty="0"/>
              <a:t>, decide whether the program finishes running or continues to run forever</a:t>
            </a:r>
            <a:r>
              <a:rPr lang="en-US" altLang="zh-CN" dirty="0"/>
              <a:t>". This is equivalent to the problem of deciding, given a program and an input, whether the program will eventually halt when run with that input, or will run forever.</a:t>
            </a:r>
          </a:p>
          <a:p>
            <a:r>
              <a:rPr lang="en-US" altLang="zh-CN" dirty="0">
                <a:solidFill>
                  <a:srgbClr val="FF0000"/>
                </a:solidFill>
                <a:hlinkClick r:id="rId4" tooltip="Alan Turing">
                  <a:extLst>
                    <a:ext uri="{A12FA001-AC4F-418D-AE19-62706E023703}">
                      <ahyp:hlinkClr xmlns="" xmlns:ahyp="http://schemas.microsoft.com/office/drawing/2018/hyperlinkcolor" val="tx"/>
                    </a:ext>
                  </a:extLst>
                </a:hlinkClick>
              </a:rPr>
              <a:t>Alan Turing</a:t>
            </a:r>
            <a:r>
              <a:rPr lang="en-US" altLang="zh-CN" dirty="0">
                <a:solidFill>
                  <a:srgbClr val="FF0000"/>
                </a:solidFill>
              </a:rPr>
              <a:t> </a:t>
            </a:r>
            <a:r>
              <a:rPr lang="en-US" altLang="zh-CN" dirty="0"/>
              <a:t>proved in 1936 that a general </a:t>
            </a:r>
            <a:r>
              <a:rPr lang="en-US" altLang="zh-CN" dirty="0">
                <a:solidFill>
                  <a:srgbClr val="FF0000"/>
                </a:solidFill>
                <a:hlinkClick r:id="rId5" tooltip="Algorithm">
                  <a:extLst>
                    <a:ext uri="{A12FA001-AC4F-418D-AE19-62706E023703}">
                      <ahyp:hlinkClr xmlns="" xmlns:ahyp="http://schemas.microsoft.com/office/drawing/2018/hyperlinkcolor" val="tx"/>
                    </a:ext>
                  </a:extLst>
                </a:hlinkClick>
              </a:rPr>
              <a:t>algorithm</a:t>
            </a:r>
            <a:r>
              <a:rPr lang="en-US" altLang="zh-CN" dirty="0">
                <a:solidFill>
                  <a:srgbClr val="FF0000"/>
                </a:solidFill>
              </a:rPr>
              <a:t> </a:t>
            </a:r>
            <a:r>
              <a:rPr lang="en-US" altLang="zh-CN" dirty="0"/>
              <a:t>to solve the halting problem for </a:t>
            </a:r>
            <a:r>
              <a:rPr lang="en-US" altLang="zh-CN" i="1" dirty="0"/>
              <a:t>all</a:t>
            </a:r>
            <a:r>
              <a:rPr lang="en-US" altLang="zh-CN" dirty="0"/>
              <a:t> possible program-input pairs cannot exist. </a:t>
            </a:r>
          </a:p>
          <a:p>
            <a:endParaRPr lang="zh-CN" altLang="en-US" dirty="0"/>
          </a:p>
        </p:txBody>
      </p:sp>
      <p:sp>
        <p:nvSpPr>
          <p:cNvPr id="7" name="灯片编号占位符 6"/>
          <p:cNvSpPr>
            <a:spLocks noGrp="1"/>
          </p:cNvSpPr>
          <p:nvPr>
            <p:ph type="sldNum" sz="quarter" idx="12"/>
          </p:nvPr>
        </p:nvSpPr>
        <p:spPr/>
        <p:txBody>
          <a:bodyPr/>
          <a:lstStyle/>
          <a:p>
            <a:pPr>
              <a:defRPr/>
            </a:pPr>
            <a:fld id="{2ADDF1C6-90E9-484B-908F-300C219593E5}" type="slidenum">
              <a:rPr lang="zh-CN" altLang="en-US" smtClean="0"/>
              <a:pPr>
                <a:defRPr/>
              </a:pPr>
              <a:t>20</a:t>
            </a:fld>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11188" y="476250"/>
            <a:ext cx="7993062" cy="1008063"/>
          </a:xfrm>
        </p:spPr>
        <p:txBody>
          <a:bodyPr/>
          <a:lstStyle/>
          <a:p>
            <a:pPr algn="ctr"/>
            <a:r>
              <a:rPr lang="zh-CN" altLang="en-US" sz="4900" b="1" dirty="0">
                <a:solidFill>
                  <a:srgbClr val="C00000"/>
                </a:solidFill>
                <a:effectLst>
                  <a:outerShdw blurRad="38100" dist="38100" dir="2700000" algn="tl">
                    <a:srgbClr val="000000">
                      <a:alpha val="43137"/>
                    </a:srgbClr>
                  </a:outerShdw>
                </a:effectLst>
                <a:latin typeface="黑体" pitchFamily="2" charset="-122"/>
                <a:ea typeface="黑体" pitchFamily="2" charset="-122"/>
              </a:rPr>
              <a:t>第1章 程序设计基础</a:t>
            </a:r>
            <a:endParaRPr lang="zh-CN" altLang="en-US" b="1" dirty="0">
              <a:solidFill>
                <a:srgbClr val="C00000"/>
              </a:solidFill>
              <a:effectLst>
                <a:outerShdw blurRad="38100" dist="38100" dir="2700000" algn="tl">
                  <a:srgbClr val="000000">
                    <a:alpha val="43137"/>
                  </a:srgbClr>
                </a:outerShdw>
              </a:effectLst>
              <a:latin typeface="黑体" pitchFamily="2" charset="-122"/>
              <a:ea typeface="黑体" pitchFamily="2" charset="-122"/>
            </a:endParaRPr>
          </a:p>
        </p:txBody>
      </p:sp>
      <p:sp>
        <p:nvSpPr>
          <p:cNvPr id="291843" name="Rectangle 3"/>
          <p:cNvSpPr>
            <a:spLocks noGrp="1" noChangeArrowheads="1"/>
          </p:cNvSpPr>
          <p:nvPr>
            <p:ph idx="1"/>
          </p:nvPr>
        </p:nvSpPr>
        <p:spPr>
          <a:xfrm>
            <a:off x="323850" y="1700213"/>
            <a:ext cx="8569325" cy="4200525"/>
          </a:xfrm>
        </p:spPr>
        <p:txBody>
          <a:bodyPr>
            <a:normAutofit/>
          </a:bodyPr>
          <a:lstStyle/>
          <a:p>
            <a:pPr marL="0" indent="0" fontAlgn="auto">
              <a:spcAft>
                <a:spcPts val="0"/>
              </a:spcAft>
              <a:buClr>
                <a:schemeClr val="accent3"/>
              </a:buClr>
              <a:buFont typeface="Monotype Sorts" pitchFamily="2" charset="2"/>
              <a:buNone/>
              <a:defRPr/>
            </a:pPr>
            <a:r>
              <a:rPr lang="zh-CN" altLang="en-US" sz="3100" b="1" dirty="0">
                <a:effectLst>
                  <a:outerShdw blurRad="38100" dist="38100" dir="2700000" algn="tl">
                    <a:srgbClr val="000000"/>
                  </a:outerShdw>
                </a:effectLst>
              </a:rPr>
              <a:t>本章学习的目标：</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1</a:t>
            </a:r>
            <a:r>
              <a:rPr lang="zh-CN" altLang="en-US" sz="3100" b="1" dirty="0">
                <a:effectLst>
                  <a:outerShdw blurRad="38100" dist="38100" dir="2700000" algn="tl">
                    <a:srgbClr val="000000"/>
                  </a:outerShdw>
                </a:effectLst>
              </a:rPr>
              <a:t>、了解计算机的组成和工作原理。</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2</a:t>
            </a:r>
            <a:r>
              <a:rPr lang="zh-CN" altLang="en-US" sz="3100" b="1" dirty="0">
                <a:effectLst>
                  <a:outerShdw blurRad="38100" dist="38100" dir="2700000" algn="tl">
                    <a:srgbClr val="000000"/>
                  </a:outerShdw>
                </a:effectLst>
              </a:rPr>
              <a:t>、了解程序、程序设计、程序设计语言。</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3</a:t>
            </a:r>
            <a:r>
              <a:rPr lang="zh-CN" altLang="en-US" sz="3100" b="1" dirty="0">
                <a:effectLst>
                  <a:outerShdw blurRad="38100" dist="38100" dir="2700000" algn="tl">
                    <a:srgbClr val="000000"/>
                  </a:outerShdw>
                </a:effectLst>
              </a:rPr>
              <a:t>、了解算法、数据结构。</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4</a:t>
            </a:r>
            <a:r>
              <a:rPr lang="zh-CN" altLang="en-US" sz="3100" b="1" dirty="0">
                <a:effectLst>
                  <a:outerShdw blurRad="38100" dist="38100" dir="2700000" algn="tl">
                    <a:srgbClr val="000000"/>
                  </a:outerShdw>
                </a:effectLst>
              </a:rPr>
              <a:t>、了解结构化程序设计、结构化控制结构。</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5</a:t>
            </a:r>
            <a:r>
              <a:rPr lang="zh-CN" altLang="en-US" sz="3100" b="1" dirty="0">
                <a:effectLst>
                  <a:outerShdw blurRad="38100" dist="38100" dir="2700000" algn="tl">
                    <a:srgbClr val="000000"/>
                  </a:outerShdw>
                </a:effectLst>
              </a:rPr>
              <a:t>、了解</a:t>
            </a:r>
            <a:r>
              <a:rPr lang="en-US" altLang="zh-CN" sz="3100" b="1" dirty="0">
                <a:effectLst>
                  <a:outerShdw blurRad="38100" dist="38100" dir="2700000" algn="tl">
                    <a:srgbClr val="000000"/>
                  </a:outerShdw>
                </a:effectLst>
              </a:rPr>
              <a:t>C</a:t>
            </a:r>
            <a:r>
              <a:rPr lang="zh-CN" altLang="en-US" sz="3100" b="1" dirty="0">
                <a:effectLst>
                  <a:outerShdw blurRad="38100" dist="38100" dir="2700000" algn="tl">
                    <a:srgbClr val="000000"/>
                  </a:outerShdw>
                </a:effectLst>
              </a:rPr>
              <a:t>程序设计语言的特点，初步认识</a:t>
            </a:r>
            <a:r>
              <a:rPr lang="en-US" altLang="zh-CN" sz="3100" b="1" dirty="0">
                <a:effectLst>
                  <a:outerShdw blurRad="38100" dist="38100" dir="2700000" algn="tl">
                    <a:srgbClr val="000000"/>
                  </a:outerShdw>
                </a:effectLst>
              </a:rPr>
              <a:t>C</a:t>
            </a:r>
            <a:r>
              <a:rPr lang="zh-CN" altLang="en-US" sz="3100" b="1" dirty="0">
                <a:effectLst>
                  <a:outerShdw blurRad="38100" dist="38100" dir="2700000" algn="tl">
                    <a:srgbClr val="000000"/>
                  </a:outerShdw>
                </a:effectLst>
              </a:rPr>
              <a:t>程序设计语言，</a:t>
            </a:r>
            <a:r>
              <a:rPr lang="en-US" altLang="zh-CN" sz="3100" b="1" dirty="0">
                <a:effectLst>
                  <a:outerShdw blurRad="38100" dist="38100" dir="2700000" algn="tl">
                    <a:srgbClr val="000000"/>
                  </a:outerShdw>
                </a:effectLst>
              </a:rPr>
              <a:t>C</a:t>
            </a:r>
            <a:r>
              <a:rPr lang="zh-CN" altLang="en-US" sz="3100" b="1" dirty="0">
                <a:effectLst>
                  <a:outerShdw blurRad="38100" dist="38100" dir="2700000" algn="tl">
                    <a:srgbClr val="000000"/>
                  </a:outerShdw>
                </a:effectLst>
              </a:rPr>
              <a:t>程序的上机过程。</a:t>
            </a:r>
            <a:r>
              <a:rPr lang="zh-CN" altLang="en-US" sz="3100" dirty="0"/>
              <a:t> </a:t>
            </a:r>
          </a:p>
        </p:txBody>
      </p:sp>
      <p:sp>
        <p:nvSpPr>
          <p:cNvPr id="6" name="灯片编号占位符 5"/>
          <p:cNvSpPr>
            <a:spLocks noGrp="1"/>
          </p:cNvSpPr>
          <p:nvPr>
            <p:ph type="sldNum" sz="quarter" idx="12"/>
          </p:nvPr>
        </p:nvSpPr>
        <p:spPr/>
        <p:txBody>
          <a:bodyPr/>
          <a:lstStyle/>
          <a:p>
            <a:pPr defTabSz="1128713">
              <a:defRPr/>
            </a:pPr>
            <a:fld id="{E8207337-10E4-4621-BAF9-E2A38F59D2CB}" type="slidenum">
              <a:rPr lang="zh-CN" altLang="en-US">
                <a:latin typeface="+mn-lt"/>
              </a:rPr>
              <a:pPr defTabSz="1128713">
                <a:defRPr/>
              </a:pPr>
              <a:t>21</a:t>
            </a:fld>
            <a:endParaRPr lang="en-US" altLang="zh-CN" dirty="0">
              <a:latin typeface="+mn-lt"/>
            </a:endParaRP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p:cNvSpPr>
            <a:spLocks noGrp="1" noChangeArrowheads="1"/>
          </p:cNvSpPr>
          <p:nvPr>
            <p:ph idx="1"/>
          </p:nvPr>
        </p:nvSpPr>
        <p:spPr>
          <a:xfrm>
            <a:off x="468313" y="476250"/>
            <a:ext cx="8382000" cy="6121400"/>
          </a:xfrm>
        </p:spPr>
        <p:txBody>
          <a:bodyPr/>
          <a:lstStyle/>
          <a:p>
            <a:pPr marL="0" indent="0">
              <a:buFont typeface="Monotype Sorts" charset="2"/>
              <a:buNone/>
            </a:pPr>
            <a:r>
              <a:rPr lang="zh-CN" altLang="en-US" sz="3600" b="1" dirty="0">
                <a:solidFill>
                  <a:srgbClr val="C00000"/>
                </a:solidFill>
                <a:latin typeface="黑体" pitchFamily="2" charset="-122"/>
                <a:ea typeface="黑体" pitchFamily="2" charset="-122"/>
              </a:rPr>
              <a:t>电子计算机</a:t>
            </a:r>
          </a:p>
          <a:p>
            <a:pPr marL="0" indent="0">
              <a:buFont typeface="Monotype Sorts" charset="2"/>
              <a:buNone/>
            </a:pPr>
            <a:r>
              <a:rPr lang="zh-CN" altLang="en-US" sz="3200" b="1" dirty="0">
                <a:solidFill>
                  <a:srgbClr val="000066"/>
                </a:solidFill>
                <a:latin typeface="楷体_GB2312" pitchFamily="49" charset="-122"/>
                <a:ea typeface="楷体_GB2312" pitchFamily="49" charset="-122"/>
              </a:rPr>
              <a:t>由电子器件和其他有关器件设备组成的自动计算装置或自动解题装置。</a:t>
            </a:r>
            <a:r>
              <a:rPr lang="en-US" altLang="zh-CN" sz="3200" b="1" dirty="0">
                <a:solidFill>
                  <a:srgbClr val="000066"/>
                </a:solidFill>
                <a:latin typeface="楷体_GB2312" pitchFamily="49" charset="-122"/>
                <a:ea typeface="楷体_GB2312" pitchFamily="49" charset="-122"/>
              </a:rPr>
              <a:t>   </a:t>
            </a:r>
            <a:r>
              <a:rPr lang="en-US" altLang="zh-CN" sz="1800" b="1" dirty="0">
                <a:solidFill>
                  <a:srgbClr val="000066"/>
                </a:solidFill>
                <a:latin typeface="楷体_GB2312" pitchFamily="49" charset="-122"/>
                <a:ea typeface="楷体_GB2312" pitchFamily="49" charset="-122"/>
              </a:rPr>
              <a:t>—</a:t>
            </a:r>
            <a:r>
              <a:rPr lang="zh-CN" altLang="en-US" sz="1800" b="1" dirty="0">
                <a:solidFill>
                  <a:srgbClr val="000066"/>
                </a:solidFill>
                <a:latin typeface="楷体_GB2312" pitchFamily="49" charset="-122"/>
                <a:ea typeface="楷体_GB2312" pitchFamily="49" charset="-122"/>
              </a:rPr>
              <a:t>计算机科学技术百科全书</a:t>
            </a:r>
            <a:endParaRPr lang="en-US" altLang="zh-CN" sz="1800" b="1" dirty="0">
              <a:solidFill>
                <a:srgbClr val="000066"/>
              </a:solidFill>
              <a:latin typeface="楷体_GB2312" pitchFamily="49" charset="-122"/>
              <a:ea typeface="楷体_GB2312" pitchFamily="49" charset="-122"/>
            </a:endParaRPr>
          </a:p>
          <a:p>
            <a:pPr marL="0" indent="0">
              <a:buFont typeface="Monotype Sorts" charset="2"/>
              <a:buNone/>
            </a:pPr>
            <a:endParaRPr lang="zh-CN" altLang="en-US" sz="3200" b="1" dirty="0">
              <a:solidFill>
                <a:srgbClr val="000066"/>
              </a:solidFill>
              <a:latin typeface="楷体_GB2312" pitchFamily="49" charset="-122"/>
              <a:ea typeface="楷体_GB2312" pitchFamily="49" charset="-122"/>
            </a:endParaRPr>
          </a:p>
        </p:txBody>
      </p:sp>
      <p:sp>
        <p:nvSpPr>
          <p:cNvPr id="17" name="灯片编号占位符 5"/>
          <p:cNvSpPr>
            <a:spLocks noGrp="1"/>
          </p:cNvSpPr>
          <p:nvPr>
            <p:ph type="sldNum" sz="quarter" idx="12"/>
          </p:nvPr>
        </p:nvSpPr>
        <p:spPr/>
        <p:txBody>
          <a:bodyPr/>
          <a:lstStyle/>
          <a:p>
            <a:pPr defTabSz="1128713">
              <a:defRPr/>
            </a:pPr>
            <a:fld id="{C12F9A14-4A1D-4AD6-BD1C-A613D76BA3AE}" type="slidenum">
              <a:rPr lang="zh-CN" altLang="en-US">
                <a:latin typeface="+mn-lt"/>
              </a:rPr>
              <a:pPr defTabSz="1128713">
                <a:defRPr/>
              </a:pPr>
              <a:t>22</a:t>
            </a:fld>
            <a:endParaRPr lang="en-US" altLang="zh-CN" dirty="0">
              <a:latin typeface="+mn-lt"/>
            </a:endParaRPr>
          </a:p>
        </p:txBody>
      </p:sp>
      <p:sp>
        <p:nvSpPr>
          <p:cNvPr id="11269" name="TextBox 17"/>
          <p:cNvSpPr txBox="1">
            <a:spLocks noChangeArrowheads="1"/>
          </p:cNvSpPr>
          <p:nvPr/>
        </p:nvSpPr>
        <p:spPr bwMode="auto">
          <a:xfrm>
            <a:off x="4716016" y="3936479"/>
            <a:ext cx="4213672" cy="2654300"/>
          </a:xfrm>
          <a:prstGeom prst="rect">
            <a:avLst/>
          </a:prstGeom>
          <a:noFill/>
          <a:ln w="9525">
            <a:noFill/>
            <a:miter lim="800000"/>
            <a:headEnd/>
            <a:tailEnd/>
          </a:ln>
        </p:spPr>
        <p:txBody>
          <a:bodyPr wrap="square">
            <a:spAutoFit/>
          </a:bodyPr>
          <a:lstStyle/>
          <a:p>
            <a:pPr eaLnBrk="1" hangingPunct="1">
              <a:buFont typeface="Monotype Sorts" charset="2"/>
              <a:buNone/>
            </a:pPr>
            <a:r>
              <a:rPr lang="zh-CN" altLang="en-US" sz="2800" b="1" dirty="0">
                <a:latin typeface="楷体_GB2312" pitchFamily="49" charset="-122"/>
                <a:ea typeface="楷体_GB2312" pitchFamily="49" charset="-122"/>
              </a:rPr>
              <a:t>计算机主要由中央处理器</a:t>
            </a:r>
            <a:r>
              <a:rPr lang="en-US" altLang="zh-CN" sz="2800" b="1" dirty="0">
                <a:latin typeface="楷体_GB2312" pitchFamily="49" charset="-122"/>
                <a:ea typeface="楷体_GB2312" pitchFamily="49" charset="-122"/>
              </a:rPr>
              <a:t>(CPU)</a:t>
            </a:r>
            <a:r>
              <a:rPr lang="zh-CN" altLang="en-US" sz="2800" b="1" dirty="0">
                <a:latin typeface="楷体_GB2312" pitchFamily="49" charset="-122"/>
                <a:ea typeface="楷体_GB2312" pitchFamily="49" charset="-122"/>
              </a:rPr>
              <a:t>、主存储器</a:t>
            </a:r>
            <a:r>
              <a:rPr lang="en-US" altLang="zh-CN" sz="2800" b="1" dirty="0">
                <a:latin typeface="楷体_GB2312" pitchFamily="49" charset="-122"/>
                <a:ea typeface="楷体_GB2312" pitchFamily="49" charset="-122"/>
              </a:rPr>
              <a:t>(MM)</a:t>
            </a:r>
            <a:r>
              <a:rPr lang="zh-CN" altLang="en-US" sz="2800" b="1" dirty="0">
                <a:latin typeface="楷体_GB2312" pitchFamily="49" charset="-122"/>
                <a:ea typeface="楷体_GB2312" pitchFamily="49" charset="-122"/>
              </a:rPr>
              <a:t>、输入输出设备</a:t>
            </a:r>
            <a:r>
              <a:rPr lang="en-US" altLang="zh-CN" sz="2800" b="1" dirty="0">
                <a:latin typeface="楷体_GB2312" pitchFamily="49" charset="-122"/>
                <a:ea typeface="楷体_GB2312" pitchFamily="49" charset="-122"/>
              </a:rPr>
              <a:t>(I/O)</a:t>
            </a:r>
            <a:r>
              <a:rPr lang="zh-CN" altLang="en-US" sz="2800" b="1" dirty="0">
                <a:latin typeface="楷体_GB2312" pitchFamily="49" charset="-122"/>
                <a:ea typeface="楷体_GB2312" pitchFamily="49" charset="-122"/>
              </a:rPr>
              <a:t>三大部分组成。</a:t>
            </a:r>
          </a:p>
          <a:p>
            <a:pPr eaLnBrk="1" hangingPunct="1">
              <a:buFont typeface="Monotype Sorts" charset="2"/>
              <a:buNone/>
            </a:pPr>
            <a:endParaRPr lang="zh-CN" altLang="en-US" sz="2800" b="1" dirty="0">
              <a:solidFill>
                <a:srgbClr val="0000FF"/>
              </a:solidFill>
              <a:latin typeface="楷体_GB2312" pitchFamily="49" charset="-122"/>
              <a:ea typeface="楷体_GB2312" pitchFamily="49" charset="-122"/>
            </a:endParaRPr>
          </a:p>
          <a:p>
            <a:endParaRPr lang="zh-CN" altLang="en-US" sz="2800" dirty="0"/>
          </a:p>
        </p:txBody>
      </p:sp>
      <p:sp>
        <p:nvSpPr>
          <p:cNvPr id="31" name="Rectangle 30"/>
          <p:cNvSpPr/>
          <p:nvPr/>
        </p:nvSpPr>
        <p:spPr>
          <a:xfrm>
            <a:off x="179512" y="4941168"/>
            <a:ext cx="720080"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CPU</a:t>
            </a:r>
            <a:endParaRPr lang="zh-CN" altLang="en-US" sz="2000" dirty="0"/>
          </a:p>
        </p:txBody>
      </p:sp>
      <p:sp>
        <p:nvSpPr>
          <p:cNvPr id="32" name="Rectangle 31"/>
          <p:cNvSpPr/>
          <p:nvPr/>
        </p:nvSpPr>
        <p:spPr>
          <a:xfrm>
            <a:off x="1259632" y="3429000"/>
            <a:ext cx="113042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主存</a:t>
            </a:r>
          </a:p>
        </p:txBody>
      </p:sp>
      <p:sp>
        <p:nvSpPr>
          <p:cNvPr id="34" name="Rectangle 33"/>
          <p:cNvSpPr/>
          <p:nvPr/>
        </p:nvSpPr>
        <p:spPr>
          <a:xfrm>
            <a:off x="2771800" y="4509120"/>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辅助存储器</a:t>
            </a:r>
          </a:p>
        </p:txBody>
      </p:sp>
      <p:sp>
        <p:nvSpPr>
          <p:cNvPr id="35" name="Right Arrow 34"/>
          <p:cNvSpPr/>
          <p:nvPr/>
        </p:nvSpPr>
        <p:spPr>
          <a:xfrm>
            <a:off x="1979712" y="4725144"/>
            <a:ext cx="79208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接口</a:t>
            </a:r>
          </a:p>
        </p:txBody>
      </p:sp>
      <p:sp>
        <p:nvSpPr>
          <p:cNvPr id="36" name="Up-Down Arrow 35"/>
          <p:cNvSpPr/>
          <p:nvPr/>
        </p:nvSpPr>
        <p:spPr>
          <a:xfrm>
            <a:off x="1475656" y="4221088"/>
            <a:ext cx="648072" cy="252028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系统总线</a:t>
            </a:r>
          </a:p>
        </p:txBody>
      </p:sp>
      <p:sp>
        <p:nvSpPr>
          <p:cNvPr id="37" name="Right Arrow 36"/>
          <p:cNvSpPr/>
          <p:nvPr/>
        </p:nvSpPr>
        <p:spPr>
          <a:xfrm>
            <a:off x="1979712" y="5589240"/>
            <a:ext cx="792088"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600" dirty="0">
                <a:solidFill>
                  <a:prstClr val="white"/>
                </a:solidFill>
              </a:rPr>
              <a:t>接口</a:t>
            </a:r>
          </a:p>
        </p:txBody>
      </p:sp>
      <p:sp>
        <p:nvSpPr>
          <p:cNvPr id="38" name="Rectangle 37"/>
          <p:cNvSpPr/>
          <p:nvPr/>
        </p:nvSpPr>
        <p:spPr>
          <a:xfrm>
            <a:off x="2771800" y="551723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I/O</a:t>
            </a:r>
            <a:endParaRPr lang="zh-CN" altLang="en-US" sz="1400" dirty="0"/>
          </a:p>
        </p:txBody>
      </p:sp>
      <p:sp>
        <p:nvSpPr>
          <p:cNvPr id="39" name="Right Arrow 38"/>
          <p:cNvSpPr/>
          <p:nvPr/>
        </p:nvSpPr>
        <p:spPr>
          <a:xfrm>
            <a:off x="899592" y="4941168"/>
            <a:ext cx="792088" cy="648072"/>
          </a:xfrm>
          <a:prstGeom prst="rightArrow">
            <a:avLst>
              <a:gd name="adj1" fmla="val 50000"/>
              <a:gd name="adj2" fmla="val 522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总线控制</a:t>
            </a:r>
          </a:p>
        </p:txBody>
      </p:sp>
      <p:sp>
        <p:nvSpPr>
          <p:cNvPr id="13" name="矩形 12"/>
          <p:cNvSpPr/>
          <p:nvPr/>
        </p:nvSpPr>
        <p:spPr>
          <a:xfrm>
            <a:off x="539552" y="260648"/>
            <a:ext cx="8136904" cy="3046988"/>
          </a:xfrm>
          <a:prstGeom prst="rect">
            <a:avLst/>
          </a:prstGeom>
          <a:solidFill>
            <a:schemeClr val="accent1"/>
          </a:solidFill>
        </p:spPr>
        <p:txBody>
          <a:bodyPr wrap="square">
            <a:spAutoFit/>
          </a:bodyPr>
          <a:lstStyle/>
          <a:p>
            <a:r>
              <a:rPr lang="en-US" altLang="zh-CN" dirty="0"/>
              <a:t>A </a:t>
            </a:r>
            <a:r>
              <a:rPr lang="en-US" altLang="zh-CN" b="1" dirty="0"/>
              <a:t>computer</a:t>
            </a:r>
            <a:r>
              <a:rPr lang="en-US" altLang="zh-CN" dirty="0"/>
              <a:t> is a general purpose device which can be </a:t>
            </a:r>
            <a:r>
              <a:rPr lang="en-US" altLang="zh-CN" dirty="0">
                <a:hlinkClick r:id="rId2" tooltip="Computer program"/>
              </a:rPr>
              <a:t>programmed</a:t>
            </a:r>
            <a:r>
              <a:rPr lang="en-US" altLang="zh-CN" dirty="0"/>
              <a:t> to carry out a finite set of arithmetic or logical operations. Since a sequence of operations can be readily changed, the computer can solve more than one kind of problem.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xit" presetSubtype="16" fill="hold" grpId="1" nodeType="clickEffect">
                                  <p:stCondLst>
                                    <p:cond delay="0"/>
                                  </p:stCondLst>
                                  <p:childTnLst>
                                    <p:animEffect transition="out" filter="box(in)">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idx="1"/>
          </p:nvPr>
        </p:nvSpPr>
        <p:spPr>
          <a:xfrm>
            <a:off x="468313" y="476250"/>
            <a:ext cx="8382000" cy="6121400"/>
          </a:xfrm>
        </p:spPr>
        <p:txBody>
          <a:bodyPr/>
          <a:lstStyle/>
          <a:p>
            <a:pPr marL="0" indent="0">
              <a:buFont typeface="Monotype Sorts" charset="2"/>
              <a:buNone/>
            </a:pPr>
            <a:r>
              <a:rPr lang="zh-CN" altLang="en-US" dirty="0"/>
              <a:t> </a:t>
            </a:r>
          </a:p>
        </p:txBody>
      </p:sp>
      <p:sp>
        <p:nvSpPr>
          <p:cNvPr id="51" name="灯片编号占位符 5"/>
          <p:cNvSpPr>
            <a:spLocks noGrp="1"/>
          </p:cNvSpPr>
          <p:nvPr>
            <p:ph type="sldNum" sz="quarter" idx="12"/>
          </p:nvPr>
        </p:nvSpPr>
        <p:spPr/>
        <p:txBody>
          <a:bodyPr/>
          <a:lstStyle/>
          <a:p>
            <a:pPr defTabSz="1128713">
              <a:defRPr/>
            </a:pPr>
            <a:fld id="{19683A2A-B1A3-4C26-86E5-7C450A8F35B2}" type="slidenum">
              <a:rPr lang="zh-CN" altLang="en-US">
                <a:latin typeface="+mn-lt"/>
              </a:rPr>
              <a:pPr defTabSz="1128713">
                <a:defRPr/>
              </a:pPr>
              <a:t>23</a:t>
            </a:fld>
            <a:endParaRPr lang="en-US" altLang="zh-CN" dirty="0">
              <a:latin typeface="+mn-lt"/>
            </a:endParaRPr>
          </a:p>
        </p:txBody>
      </p:sp>
      <p:sp>
        <p:nvSpPr>
          <p:cNvPr id="12292" name="TextBox 49"/>
          <p:cNvSpPr txBox="1">
            <a:spLocks noChangeArrowheads="1"/>
          </p:cNvSpPr>
          <p:nvPr/>
        </p:nvSpPr>
        <p:spPr bwMode="auto">
          <a:xfrm>
            <a:off x="2483768" y="5229200"/>
            <a:ext cx="4493538" cy="584775"/>
          </a:xfrm>
          <a:prstGeom prst="rect">
            <a:avLst/>
          </a:prstGeom>
          <a:noFill/>
          <a:ln w="9525">
            <a:noFill/>
            <a:miter lim="800000"/>
            <a:headEnd/>
            <a:tailEnd/>
          </a:ln>
        </p:spPr>
        <p:txBody>
          <a:bodyPr wrap="none">
            <a:spAutoFit/>
          </a:bodyPr>
          <a:lstStyle/>
          <a:p>
            <a:r>
              <a:rPr lang="zh-CN" altLang="en-US" sz="2400" dirty="0"/>
              <a:t>以</a:t>
            </a:r>
            <a:r>
              <a:rPr lang="zh-CN" altLang="en-US" dirty="0">
                <a:solidFill>
                  <a:srgbClr val="FF0000"/>
                </a:solidFill>
              </a:rPr>
              <a:t>存储器</a:t>
            </a:r>
            <a:r>
              <a:rPr lang="zh-CN" altLang="en-US" sz="2400" dirty="0"/>
              <a:t>为中心的计算机结构</a:t>
            </a:r>
          </a:p>
        </p:txBody>
      </p:sp>
      <p:pic>
        <p:nvPicPr>
          <p:cNvPr id="12293" name="Picture 50" descr="t1"/>
          <p:cNvPicPr>
            <a:picLocks noChangeAspect="1" noChangeArrowheads="1"/>
          </p:cNvPicPr>
          <p:nvPr/>
        </p:nvPicPr>
        <p:blipFill>
          <a:blip r:embed="rId2" cstate="print"/>
          <a:srcRect l="7243"/>
          <a:stretch>
            <a:fillRect/>
          </a:stretch>
        </p:blipFill>
        <p:spPr bwMode="auto">
          <a:xfrm>
            <a:off x="1691680" y="1557338"/>
            <a:ext cx="6456958" cy="3597275"/>
          </a:xfrm>
          <a:prstGeom prst="rect">
            <a:avLst/>
          </a:prstGeom>
          <a:noFill/>
          <a:ln w="9525">
            <a:noFill/>
            <a:miter lim="800000"/>
            <a:headEnd/>
            <a:tailEnd/>
          </a:ln>
        </p:spPr>
      </p:pic>
      <p:sp>
        <p:nvSpPr>
          <p:cNvPr id="6" name="TextBox 49"/>
          <p:cNvSpPr txBox="1">
            <a:spLocks noChangeArrowheads="1"/>
          </p:cNvSpPr>
          <p:nvPr/>
        </p:nvSpPr>
        <p:spPr bwMode="auto">
          <a:xfrm>
            <a:off x="2483768" y="6093296"/>
            <a:ext cx="4493538" cy="461665"/>
          </a:xfrm>
          <a:prstGeom prst="rect">
            <a:avLst/>
          </a:prstGeom>
          <a:noFill/>
          <a:ln w="9525">
            <a:noFill/>
            <a:miter lim="800000"/>
            <a:headEnd/>
            <a:tailEnd/>
          </a:ln>
        </p:spPr>
        <p:txBody>
          <a:bodyPr wrap="none">
            <a:spAutoFit/>
          </a:bodyPr>
          <a:lstStyle/>
          <a:p>
            <a:r>
              <a:rPr lang="zh-CN" altLang="en-US" sz="2400" dirty="0"/>
              <a:t>这个架构和人的工作架构很类似</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Content Placeholder 5" descr="intel-xeon-cpu-04351.jpg"/>
          <p:cNvPicPr>
            <a:picLocks noGrp="1" noChangeAspect="1"/>
          </p:cNvPicPr>
          <p:nvPr>
            <p:ph idx="1"/>
          </p:nvPr>
        </p:nvPicPr>
        <p:blipFill>
          <a:blip r:embed="rId2" cstate="print"/>
          <a:srcRect/>
          <a:stretch>
            <a:fillRect/>
          </a:stretch>
        </p:blipFill>
        <p:spPr>
          <a:xfrm>
            <a:off x="285750" y="214313"/>
            <a:ext cx="3810000" cy="3000375"/>
          </a:xfrm>
        </p:spPr>
      </p:pic>
      <p:sp>
        <p:nvSpPr>
          <p:cNvPr id="4" name="Slide Number Placeholder 3"/>
          <p:cNvSpPr>
            <a:spLocks noGrp="1"/>
          </p:cNvSpPr>
          <p:nvPr>
            <p:ph type="sldNum" sz="quarter" idx="12"/>
          </p:nvPr>
        </p:nvSpPr>
        <p:spPr/>
        <p:txBody>
          <a:bodyPr/>
          <a:lstStyle/>
          <a:p>
            <a:pPr>
              <a:defRPr/>
            </a:pPr>
            <a:fld id="{53281937-0069-4AD4-B988-AB5FD4E47A4F}" type="slidenum">
              <a:rPr lang="zh-CN" altLang="en-US"/>
              <a:pPr>
                <a:defRPr/>
              </a:pPr>
              <a:t>24</a:t>
            </a:fld>
            <a:endParaRPr lang="en-US" altLang="zh-CN" dirty="0"/>
          </a:p>
        </p:txBody>
      </p:sp>
      <p:sp>
        <p:nvSpPr>
          <p:cNvPr id="13316" name="Rectangle 6"/>
          <p:cNvSpPr>
            <a:spLocks noChangeArrowheads="1"/>
          </p:cNvSpPr>
          <p:nvPr/>
        </p:nvSpPr>
        <p:spPr bwMode="auto">
          <a:xfrm>
            <a:off x="4572000" y="1000125"/>
            <a:ext cx="3714750" cy="1077913"/>
          </a:xfrm>
          <a:prstGeom prst="rect">
            <a:avLst/>
          </a:prstGeom>
          <a:noFill/>
          <a:ln w="9525">
            <a:noFill/>
            <a:miter lim="800000"/>
            <a:headEnd/>
            <a:tailEnd/>
          </a:ln>
        </p:spPr>
        <p:txBody>
          <a:bodyPr>
            <a:spAutoFit/>
          </a:bodyPr>
          <a:lstStyle/>
          <a:p>
            <a:pPr eaLnBrk="1" hangingPunct="1">
              <a:buFont typeface="Monotype Sorts" charset="2"/>
              <a:buNone/>
            </a:pPr>
            <a:r>
              <a:rPr lang="en-US" altLang="zh-CN" b="1" dirty="0">
                <a:solidFill>
                  <a:srgbClr val="000066"/>
                </a:solidFill>
                <a:latin typeface="楷体_GB2312" pitchFamily="49" charset="-122"/>
                <a:ea typeface="楷体_GB2312" pitchFamily="49" charset="-122"/>
              </a:rPr>
              <a:t>CPU</a:t>
            </a:r>
            <a:r>
              <a:rPr lang="zh-CN" altLang="en-US" b="1">
                <a:solidFill>
                  <a:srgbClr val="000066"/>
                </a:solidFill>
                <a:latin typeface="楷体_GB2312" pitchFamily="49" charset="-122"/>
                <a:ea typeface="楷体_GB2312" pitchFamily="49" charset="-122"/>
              </a:rPr>
              <a:t>主要由控制器和运算器两部分组成</a:t>
            </a:r>
          </a:p>
        </p:txBody>
      </p:sp>
      <p:sp>
        <p:nvSpPr>
          <p:cNvPr id="8" name="Rectangle 7"/>
          <p:cNvSpPr/>
          <p:nvPr/>
        </p:nvSpPr>
        <p:spPr>
          <a:xfrm>
            <a:off x="500063" y="3071813"/>
            <a:ext cx="8143875" cy="3540125"/>
          </a:xfrm>
          <a:prstGeom prst="rect">
            <a:avLst/>
          </a:prstGeom>
        </p:spPr>
        <p:txBody>
          <a:bodyPr>
            <a:normAutofit/>
          </a:bodyPr>
          <a:lstStyle/>
          <a:p>
            <a:pPr eaLnBrk="1" hangingPunct="1">
              <a:buFont typeface="Monotype Sorts" pitchFamily="2" charset="2"/>
              <a:buNone/>
              <a:defRPr/>
            </a:pP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控制器的功能</a:t>
            </a:r>
            <a:r>
              <a:rPr lang="en-US" altLang="zh-CN" b="1" dirty="0">
                <a:effectLst>
                  <a:outerShdw blurRad="38100" dist="38100" dir="2700000" algn="tl">
                    <a:schemeClr val="accent6">
                      <a:lumMod val="75000"/>
                      <a:alpha val="62000"/>
                    </a:schemeClr>
                  </a:outerShdw>
                </a:effectLst>
                <a:latin typeface="楷体_GB2312" pitchFamily="49" charset="-122"/>
                <a:ea typeface="楷体_GB2312" pitchFamily="49" charset="-122"/>
              </a:rPr>
              <a:t>:</a:t>
            </a: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自动从主存储器读取指令，予以解释、执行、并控制与输入输出设备联系等。</a:t>
            </a:r>
          </a:p>
          <a:p>
            <a:pPr eaLnBrk="1" hangingPunct="1">
              <a:buFont typeface="Monotype Sorts" pitchFamily="2" charset="2"/>
              <a:buNone/>
              <a:defRPr/>
            </a:pPr>
            <a:endParaRPr lang="zh-CN" altLang="en-US" b="1" dirty="0">
              <a:solidFill>
                <a:srgbClr val="0000FF"/>
              </a:solidFill>
              <a:effectLst>
                <a:outerShdw blurRad="38100" dist="38100" dir="2700000" algn="tl">
                  <a:schemeClr val="accent6">
                    <a:lumMod val="75000"/>
                    <a:alpha val="62000"/>
                  </a:schemeClr>
                </a:outerShdw>
              </a:effectLst>
              <a:latin typeface="楷体_GB2312" pitchFamily="49" charset="-122"/>
              <a:ea typeface="楷体_GB2312" pitchFamily="49" charset="-122"/>
            </a:endParaRPr>
          </a:p>
          <a:p>
            <a:pPr eaLnBrk="1" hangingPunct="1">
              <a:buFont typeface="Monotype Sorts" pitchFamily="2" charset="2"/>
              <a:buNone/>
              <a:defRPr/>
            </a:pP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运算器的功能</a:t>
            </a:r>
            <a:r>
              <a:rPr lang="en-US" altLang="zh-CN" b="1" dirty="0">
                <a:effectLst>
                  <a:outerShdw blurRad="38100" dist="38100" dir="2700000" algn="tl">
                    <a:schemeClr val="accent6">
                      <a:lumMod val="75000"/>
                      <a:alpha val="62000"/>
                    </a:schemeClr>
                  </a:outerShdw>
                </a:effectLst>
                <a:latin typeface="楷体_GB2312" pitchFamily="49" charset="-122"/>
                <a:ea typeface="楷体_GB2312" pitchFamily="49" charset="-122"/>
              </a:rPr>
              <a:t>:</a:t>
            </a: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按照指令的指示完成相应的算术运算或逻辑运算，并与存储器或</a:t>
            </a:r>
            <a:r>
              <a:rPr lang="en-US" altLang="zh-CN" b="1" dirty="0">
                <a:effectLst>
                  <a:outerShdw blurRad="38100" dist="38100" dir="2700000" algn="tl">
                    <a:schemeClr val="accent6">
                      <a:lumMod val="75000"/>
                      <a:alpha val="62000"/>
                    </a:schemeClr>
                  </a:outerShdw>
                </a:effectLst>
                <a:latin typeface="楷体_GB2312" pitchFamily="49" charset="-122"/>
                <a:ea typeface="楷体_GB2312" pitchFamily="49" charset="-122"/>
              </a:rPr>
              <a:t>I/O</a:t>
            </a: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设备交换数据。</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8050" name="Rectangle 2"/>
          <p:cNvSpPr>
            <a:spLocks noGrp="1" noChangeArrowheads="1"/>
          </p:cNvSpPr>
          <p:nvPr>
            <p:ph idx="1"/>
          </p:nvPr>
        </p:nvSpPr>
        <p:spPr>
          <a:xfrm>
            <a:off x="468313" y="476250"/>
            <a:ext cx="8382000" cy="6121400"/>
          </a:xfrm>
        </p:spPr>
        <p:txBody>
          <a:bodyPr>
            <a:normAutofit/>
          </a:bodyPr>
          <a:lstStyle/>
          <a:p>
            <a:pPr marL="0" indent="0" fontAlgn="auto">
              <a:spcAft>
                <a:spcPts val="0"/>
              </a:spcAft>
              <a:buClr>
                <a:schemeClr val="accent3"/>
              </a:buClr>
              <a:buFont typeface="Monotype Sorts" pitchFamily="2" charset="2"/>
              <a:buNone/>
              <a:defRPr/>
            </a:pPr>
            <a:endParaRPr lang="zh-CN" altLang="en-US" sz="3100" b="1" dirty="0">
              <a:solidFill>
                <a:srgbClr val="006600"/>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r>
              <a:rPr lang="zh-CN" altLang="en-US" sz="3100" b="1" dirty="0">
                <a:latin typeface="楷体_GB2312" pitchFamily="49" charset="-122"/>
                <a:ea typeface="楷体_GB2312" pitchFamily="49" charset="-122"/>
              </a:rPr>
              <a:t>主存储器简称主存或内存。它是可随机存取的存储器，也称随机存储器</a:t>
            </a:r>
            <a:r>
              <a:rPr lang="en-US" altLang="zh-CN" sz="3100" b="1" dirty="0">
                <a:latin typeface="楷体_GB2312" pitchFamily="49" charset="-122"/>
                <a:ea typeface="楷体_GB2312" pitchFamily="49" charset="-122"/>
              </a:rPr>
              <a:t>RAM</a:t>
            </a:r>
            <a:r>
              <a:rPr lang="zh-CN" altLang="en-US" sz="3100" b="1" dirty="0">
                <a:latin typeface="楷体_GB2312" pitchFamily="49" charset="-122"/>
                <a:ea typeface="楷体_GB2312" pitchFamily="49" charset="-122"/>
              </a:rPr>
              <a:t>，用来存储计算机运行时随时需要的程序和数据。</a:t>
            </a:r>
          </a:p>
        </p:txBody>
      </p:sp>
      <p:sp>
        <p:nvSpPr>
          <p:cNvPr id="5" name="灯片编号占位符 5"/>
          <p:cNvSpPr>
            <a:spLocks noGrp="1"/>
          </p:cNvSpPr>
          <p:nvPr>
            <p:ph type="sldNum" sz="quarter" idx="12"/>
          </p:nvPr>
        </p:nvSpPr>
        <p:spPr/>
        <p:txBody>
          <a:bodyPr/>
          <a:lstStyle/>
          <a:p>
            <a:pPr defTabSz="1128713">
              <a:defRPr/>
            </a:pPr>
            <a:fld id="{938FEBEB-A67C-40D9-8063-ACC65E243F63}" type="slidenum">
              <a:rPr lang="zh-CN" altLang="en-US">
                <a:latin typeface="+mn-lt"/>
              </a:rPr>
              <a:pPr defTabSz="1128713">
                <a:defRPr/>
              </a:pPr>
              <a:t>25</a:t>
            </a:fld>
            <a:endParaRPr lang="en-US" altLang="zh-CN" dirty="0">
              <a:latin typeface="+mn-lt"/>
            </a:endParaRPr>
          </a:p>
        </p:txBody>
      </p:sp>
      <p:pic>
        <p:nvPicPr>
          <p:cNvPr id="14340" name="Picture 3" descr="to_ddr333memory_350.gif"/>
          <p:cNvPicPr>
            <a:picLocks noChangeAspect="1"/>
          </p:cNvPicPr>
          <p:nvPr/>
        </p:nvPicPr>
        <p:blipFill>
          <a:blip r:embed="rId2" cstate="print"/>
          <a:srcRect/>
          <a:stretch>
            <a:fillRect/>
          </a:stretch>
        </p:blipFill>
        <p:spPr bwMode="auto">
          <a:xfrm>
            <a:off x="328198" y="476672"/>
            <a:ext cx="3333750" cy="3333750"/>
          </a:xfrm>
          <a:prstGeom prst="rect">
            <a:avLst/>
          </a:prstGeom>
          <a:noFill/>
          <a:ln w="9525">
            <a:noFill/>
            <a:miter lim="800000"/>
            <a:headEnd/>
            <a:tailEnd/>
          </a:ln>
        </p:spPr>
      </p:pic>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447622"/>
            <a:ext cx="3528580" cy="2650356"/>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198" y="375463"/>
            <a:ext cx="3333750" cy="3454657"/>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49" charset="-122"/>
                <a:ea typeface="黑体" pitchFamily="49" charset="-122"/>
              </a:rPr>
              <a:t>存储 </a:t>
            </a:r>
            <a:r>
              <a:rPr lang="en-US" altLang="zh-CN" dirty="0">
                <a:latin typeface="黑体" pitchFamily="49" charset="-122"/>
                <a:ea typeface="黑体" pitchFamily="49" charset="-122"/>
              </a:rPr>
              <a:t>&amp; </a:t>
            </a:r>
            <a:r>
              <a:rPr lang="zh-CN" altLang="en-US" dirty="0">
                <a:latin typeface="黑体" pitchFamily="49" charset="-122"/>
                <a:ea typeface="黑体" pitchFamily="49" charset="-122"/>
              </a:rPr>
              <a:t>二进制</a:t>
            </a:r>
            <a:r>
              <a:rPr lang="en-US" altLang="zh-CN" dirty="0">
                <a:latin typeface="黑体" pitchFamily="49" charset="-122"/>
                <a:ea typeface="黑体" pitchFamily="49" charset="-122"/>
              </a:rPr>
              <a:t>…</a:t>
            </a:r>
            <a:endParaRPr lang="zh-CN" altLang="en-US" sz="2800" dirty="0">
              <a:latin typeface="黑体" pitchFamily="49" charset="-122"/>
              <a:ea typeface="黑体" pitchFamily="49" charset="-122"/>
            </a:endParaRPr>
          </a:p>
        </p:txBody>
      </p:sp>
      <p:sp>
        <p:nvSpPr>
          <p:cNvPr id="3" name="内容占位符 2"/>
          <p:cNvSpPr>
            <a:spLocks noGrp="1"/>
          </p:cNvSpPr>
          <p:nvPr>
            <p:ph idx="1"/>
          </p:nvPr>
        </p:nvSpPr>
        <p:spPr/>
        <p:txBody>
          <a:bodyPr/>
          <a:lstStyle/>
          <a:p>
            <a:r>
              <a:rPr lang="zh-CN" altLang="en-US" b="1" dirty="0"/>
              <a:t>上古结绳而治         </a:t>
            </a:r>
            <a:r>
              <a:rPr lang="en-US" altLang="zh-CN" sz="1200" b="1" dirty="0"/>
              <a:t>--《</a:t>
            </a:r>
            <a:r>
              <a:rPr lang="zh-CN" altLang="en-US" sz="1200" b="1" dirty="0"/>
              <a:t>易</a:t>
            </a:r>
            <a:r>
              <a:rPr lang="en-US" altLang="zh-CN" sz="1200" b="1" dirty="0"/>
              <a:t>·</a:t>
            </a:r>
            <a:r>
              <a:rPr lang="zh-CN" altLang="en-US" sz="1200" b="1" dirty="0"/>
              <a:t>系辞</a:t>
            </a:r>
            <a:r>
              <a:rPr lang="en-US" altLang="zh-CN" sz="1200" b="1" dirty="0"/>
              <a:t>》</a:t>
            </a:r>
            <a:endParaRPr lang="en-US" altLang="zh-CN" b="1" dirty="0"/>
          </a:p>
          <a:p>
            <a:r>
              <a:rPr lang="zh-CN" altLang="en-US" b="1" dirty="0"/>
              <a:t>文字与书写</a:t>
            </a:r>
            <a:endParaRPr lang="en-US" altLang="zh-CN" b="1" dirty="0"/>
          </a:p>
          <a:p>
            <a:endParaRPr lang="en-US" altLang="zh-CN" b="1" dirty="0"/>
          </a:p>
          <a:p>
            <a:r>
              <a:rPr lang="zh-CN" altLang="en-US" b="1" dirty="0"/>
              <a:t>最简单的计数机制：二进制</a:t>
            </a:r>
            <a:endParaRPr lang="en-US" altLang="zh-CN" b="1" dirty="0"/>
          </a:p>
          <a:p>
            <a:pPr lvl="1"/>
            <a:r>
              <a:rPr lang="zh-CN" altLang="en-US" b="1" dirty="0"/>
              <a:t>古人：</a:t>
            </a:r>
            <a:endParaRPr lang="en-US" altLang="zh-CN" b="1" dirty="0"/>
          </a:p>
          <a:p>
            <a:pPr lvl="2"/>
            <a:r>
              <a:rPr lang="zh-CN" altLang="en-US" b="1" dirty="0"/>
              <a:t>（太极 阴、阳）</a:t>
            </a:r>
            <a:endParaRPr lang="en-US" altLang="zh-CN" b="1" dirty="0"/>
          </a:p>
          <a:p>
            <a:pPr lvl="1"/>
            <a:r>
              <a:rPr lang="zh-CN" altLang="en-US" b="1" dirty="0"/>
              <a:t>现代科技：</a:t>
            </a:r>
            <a:endParaRPr lang="en-US" altLang="zh-CN" b="1" dirty="0"/>
          </a:p>
          <a:p>
            <a:pPr lvl="2"/>
            <a:r>
              <a:rPr lang="zh-CN" altLang="en-US" b="1" dirty="0"/>
              <a:t>状态门电路</a:t>
            </a:r>
            <a:r>
              <a:rPr lang="en-US" altLang="zh-CN" b="1" dirty="0"/>
              <a:t>--  </a:t>
            </a:r>
            <a:r>
              <a:rPr lang="zh-CN" altLang="en-US" b="1" dirty="0"/>
              <a:t>电平（高低），磁体极性等等</a:t>
            </a:r>
            <a:endParaRPr lang="en-US" altLang="zh-CN" b="1" dirty="0"/>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26</a:t>
            </a:fld>
            <a:endParaRPr lang="en-US" altLang="zh-CN" dirty="0"/>
          </a:p>
        </p:txBody>
      </p:sp>
    </p:spTree>
    <p:extLst>
      <p:ext uri="{BB962C8B-B14F-4D97-AF65-F5344CB8AC3E}">
        <p14:creationId xmlns:p14="http://schemas.microsoft.com/office/powerpoint/2010/main" val="1091615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49" charset="-122"/>
                <a:ea typeface="黑体" pitchFamily="49" charset="-122"/>
              </a:rPr>
              <a:t>二进制数</a:t>
            </a:r>
          </a:p>
        </p:txBody>
      </p:sp>
      <p:sp>
        <p:nvSpPr>
          <p:cNvPr id="3" name="内容占位符 2"/>
          <p:cNvSpPr>
            <a:spLocks noGrp="1"/>
          </p:cNvSpPr>
          <p:nvPr>
            <p:ph idx="1"/>
          </p:nvPr>
        </p:nvSpPr>
        <p:spPr/>
        <p:txBody>
          <a:bodyPr/>
          <a:lstStyle/>
          <a:p>
            <a:r>
              <a:rPr lang="en-US" altLang="zh-CN" dirty="0"/>
              <a:t>0</a:t>
            </a:r>
            <a:r>
              <a:rPr lang="zh-CN" altLang="en-US" dirty="0"/>
              <a:t>，</a:t>
            </a:r>
            <a:r>
              <a:rPr lang="en-US" altLang="zh-CN" dirty="0"/>
              <a:t>1</a:t>
            </a:r>
            <a:r>
              <a:rPr lang="zh-CN" altLang="en-US" dirty="0"/>
              <a:t>为基本符号的所有数字串。     如：</a:t>
            </a:r>
            <a:r>
              <a:rPr lang="en-US" altLang="zh-CN" dirty="0"/>
              <a:t>1 1 1 1 1 1</a:t>
            </a:r>
          </a:p>
          <a:p>
            <a:r>
              <a:rPr lang="en-US" altLang="zh-CN" dirty="0"/>
              <a:t> </a:t>
            </a:r>
            <a:r>
              <a:rPr lang="zh-CN" altLang="en-US" dirty="0"/>
              <a:t>电子计算机是一种二进制为基础的计算装置，其内部存储的数据、计算指令都是以二进制数字形式存放与处理。</a:t>
            </a:r>
            <a:endParaRPr lang="en-US" altLang="zh-CN" dirty="0"/>
          </a:p>
          <a:p>
            <a:r>
              <a:rPr lang="zh-CN" altLang="en-US" dirty="0"/>
              <a:t>从</a:t>
            </a:r>
            <a:r>
              <a:rPr lang="en-US" altLang="zh-CN" dirty="0"/>
              <a:t>10</a:t>
            </a:r>
            <a:r>
              <a:rPr lang="zh-CN" altLang="en-US" dirty="0"/>
              <a:t>进制到</a:t>
            </a:r>
            <a:r>
              <a:rPr lang="en-US" altLang="zh-CN" dirty="0"/>
              <a:t>2</a:t>
            </a:r>
            <a:r>
              <a:rPr lang="zh-CN" altLang="en-US" dirty="0"/>
              <a:t>进制</a:t>
            </a:r>
            <a:endParaRPr lang="en-US" altLang="zh-CN" dirty="0"/>
          </a:p>
          <a:p>
            <a:endParaRPr lang="en-US" altLang="zh-CN" dirty="0"/>
          </a:p>
          <a:p>
            <a:r>
              <a:rPr lang="zh-CN" altLang="en-US" dirty="0"/>
              <a:t>例如，</a:t>
            </a:r>
            <a:r>
              <a:rPr lang="en-US" altLang="zh-CN" dirty="0"/>
              <a:t>6  </a:t>
            </a:r>
            <a:r>
              <a:rPr lang="zh-CN" altLang="en-US" dirty="0"/>
              <a:t>的二进制数表示为：</a:t>
            </a:r>
            <a:endParaRPr lang="en-US" altLang="zh-CN" dirty="0"/>
          </a:p>
          <a:p>
            <a:r>
              <a:rPr lang="en-US" altLang="zh-CN" dirty="0"/>
              <a:t>                                                      1   1   0</a:t>
            </a:r>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27</a:t>
            </a:fld>
            <a:endParaRPr lang="en-US" altLang="zh-CN" dirty="0"/>
          </a:p>
        </p:txBody>
      </p:sp>
    </p:spTree>
    <p:extLst>
      <p:ext uri="{BB962C8B-B14F-4D97-AF65-F5344CB8AC3E}">
        <p14:creationId xmlns:p14="http://schemas.microsoft.com/office/powerpoint/2010/main" val="223670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itchFamily="49" charset="-122"/>
                <a:ea typeface="黑体" pitchFamily="49" charset="-122"/>
              </a:rPr>
              <a:t>8</a:t>
            </a:r>
            <a:r>
              <a:rPr lang="zh-CN" altLang="en-US" dirty="0">
                <a:latin typeface="黑体" pitchFamily="49" charset="-122"/>
                <a:ea typeface="黑体" pitchFamily="49" charset="-122"/>
              </a:rPr>
              <a:t>进制与</a:t>
            </a:r>
            <a:r>
              <a:rPr lang="en-US" altLang="zh-CN" dirty="0">
                <a:latin typeface="黑体" pitchFamily="49" charset="-122"/>
                <a:ea typeface="黑体" pitchFamily="49" charset="-122"/>
              </a:rPr>
              <a:t>16</a:t>
            </a:r>
            <a:r>
              <a:rPr lang="zh-CN" altLang="en-US" dirty="0">
                <a:latin typeface="黑体" pitchFamily="49" charset="-122"/>
                <a:ea typeface="黑体" pitchFamily="49" charset="-122"/>
              </a:rPr>
              <a:t>进制数</a:t>
            </a:r>
          </a:p>
        </p:txBody>
      </p:sp>
      <p:sp>
        <p:nvSpPr>
          <p:cNvPr id="3" name="内容占位符 2"/>
          <p:cNvSpPr>
            <a:spLocks noGrp="1"/>
          </p:cNvSpPr>
          <p:nvPr>
            <p:ph idx="1"/>
          </p:nvPr>
        </p:nvSpPr>
        <p:spPr/>
        <p:txBody>
          <a:bodyPr/>
          <a:lstStyle/>
          <a:p>
            <a:r>
              <a:rPr lang="en-US" altLang="zh-CN" dirty="0"/>
              <a:t>8</a:t>
            </a:r>
            <a:r>
              <a:rPr lang="zh-CN" altLang="en-US" dirty="0"/>
              <a:t>进制：</a:t>
            </a:r>
            <a:endParaRPr lang="en-US" altLang="zh-CN" dirty="0"/>
          </a:p>
          <a:p>
            <a:pPr lvl="1"/>
            <a:r>
              <a:rPr lang="zh-CN" altLang="en-US" dirty="0"/>
              <a:t>基本符号 </a:t>
            </a:r>
            <a:r>
              <a:rPr lang="en-US" altLang="zh-CN" dirty="0"/>
              <a:t>0-7</a:t>
            </a:r>
            <a:r>
              <a:rPr lang="zh-CN" altLang="en-US" dirty="0"/>
              <a:t>， 在文字表达时规定以</a:t>
            </a:r>
            <a:r>
              <a:rPr lang="en-US" altLang="zh-CN" dirty="0"/>
              <a:t>0</a:t>
            </a:r>
            <a:r>
              <a:rPr lang="zh-CN" altLang="en-US" dirty="0"/>
              <a:t>开头，如</a:t>
            </a:r>
            <a:r>
              <a:rPr lang="en-US" altLang="zh-CN" dirty="0"/>
              <a:t>077</a:t>
            </a:r>
          </a:p>
          <a:p>
            <a:r>
              <a:rPr lang="en-US" altLang="zh-CN" dirty="0"/>
              <a:t>16</a:t>
            </a:r>
            <a:r>
              <a:rPr lang="zh-CN" altLang="en-US" dirty="0"/>
              <a:t>进制：</a:t>
            </a:r>
            <a:endParaRPr lang="en-US" altLang="zh-CN" dirty="0"/>
          </a:p>
          <a:p>
            <a:pPr lvl="1"/>
            <a:r>
              <a:rPr lang="zh-CN" altLang="en-US" dirty="0"/>
              <a:t>基本符号 </a:t>
            </a:r>
            <a:r>
              <a:rPr lang="en-US" altLang="zh-CN" dirty="0"/>
              <a:t>0-9, </a:t>
            </a:r>
            <a:r>
              <a:rPr lang="en-US" altLang="zh-CN" dirty="0" err="1"/>
              <a:t>a,b,c,d,e,f</a:t>
            </a:r>
            <a:r>
              <a:rPr lang="en-US" altLang="zh-CN" dirty="0"/>
              <a:t>   </a:t>
            </a:r>
            <a:r>
              <a:rPr lang="zh-CN" altLang="en-US" dirty="0"/>
              <a:t>在文字表达时规定以</a:t>
            </a:r>
            <a:r>
              <a:rPr lang="en-US" altLang="zh-CN" dirty="0"/>
              <a:t>0x</a:t>
            </a:r>
            <a:r>
              <a:rPr lang="zh-CN" altLang="en-US" dirty="0"/>
              <a:t>开头，如</a:t>
            </a:r>
            <a:r>
              <a:rPr lang="en-US" altLang="zh-CN" dirty="0"/>
              <a:t>0x3f</a:t>
            </a:r>
          </a:p>
          <a:p>
            <a:r>
              <a:rPr lang="en-US" altLang="zh-CN" dirty="0"/>
              <a:t>1 1 1 1 1 1 </a:t>
            </a:r>
            <a:r>
              <a:rPr lang="zh-CN" altLang="en-US" dirty="0"/>
              <a:t>到</a:t>
            </a:r>
            <a:r>
              <a:rPr lang="en-US" altLang="zh-CN" dirty="0"/>
              <a:t>8</a:t>
            </a:r>
            <a:r>
              <a:rPr lang="zh-CN" altLang="en-US" dirty="0"/>
              <a:t>进制、</a:t>
            </a:r>
            <a:r>
              <a:rPr lang="en-US" altLang="zh-CN" dirty="0"/>
              <a:t>16</a:t>
            </a:r>
            <a:r>
              <a:rPr lang="zh-CN" altLang="en-US" dirty="0"/>
              <a:t>进制数的转换：</a:t>
            </a:r>
            <a:endParaRPr lang="en-US" altLang="zh-CN" dirty="0"/>
          </a:p>
          <a:p>
            <a:pPr lvl="1"/>
            <a:r>
              <a:rPr lang="en-US" altLang="zh-CN" u="sng" dirty="0"/>
              <a:t>1  1  1 </a:t>
            </a:r>
            <a:r>
              <a:rPr lang="en-US" altLang="zh-CN" dirty="0"/>
              <a:t>  </a:t>
            </a:r>
            <a:r>
              <a:rPr lang="en-US" altLang="zh-CN" u="sng" dirty="0"/>
              <a:t>1  1  1  </a:t>
            </a:r>
            <a:r>
              <a:rPr lang="en-US" altLang="zh-CN" dirty="0"/>
              <a:t>                           </a:t>
            </a:r>
            <a:r>
              <a:rPr lang="en-US" altLang="zh-CN" u="sng" dirty="0"/>
              <a:t> 0 0 1  1 </a:t>
            </a:r>
            <a:r>
              <a:rPr lang="en-US" altLang="zh-CN" dirty="0"/>
              <a:t>   </a:t>
            </a:r>
            <a:r>
              <a:rPr lang="en-US" altLang="zh-CN" u="sng" dirty="0"/>
              <a:t>1  1  1  1</a:t>
            </a:r>
          </a:p>
          <a:p>
            <a:pPr lvl="1"/>
            <a:r>
              <a:rPr lang="en-US" altLang="zh-CN" dirty="0"/>
              <a:t>   7         7                                   3           f</a:t>
            </a:r>
          </a:p>
          <a:p>
            <a:pPr lvl="1"/>
            <a:r>
              <a:rPr lang="en-US" altLang="zh-CN" dirty="0"/>
              <a:t>       077                                          0x3f</a:t>
            </a:r>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28</a:t>
            </a:fld>
            <a:endParaRPr lang="en-US" altLang="zh-CN"/>
          </a:p>
        </p:txBody>
      </p:sp>
    </p:spTree>
    <p:extLst>
      <p:ext uri="{BB962C8B-B14F-4D97-AF65-F5344CB8AC3E}">
        <p14:creationId xmlns:p14="http://schemas.microsoft.com/office/powerpoint/2010/main" val="147113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7026" name="Rectangle 2"/>
          <p:cNvSpPr>
            <a:spLocks noGrp="1" noChangeArrowheads="1"/>
          </p:cNvSpPr>
          <p:nvPr>
            <p:ph idx="1"/>
          </p:nvPr>
        </p:nvSpPr>
        <p:spPr>
          <a:xfrm>
            <a:off x="468313" y="476250"/>
            <a:ext cx="8382000" cy="6121400"/>
          </a:xfrm>
        </p:spPr>
        <p:txBody>
          <a:bodyPr>
            <a:normAutofit/>
          </a:bodyPr>
          <a:lstStyle/>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r>
              <a:rPr lang="zh-CN" altLang="en-US" b="1" dirty="0">
                <a:ea typeface="楷体_GB2312" pitchFamily="49" charset="-122"/>
              </a:rPr>
              <a:t>计算机的输入设备能将待输入的各种形式的信息转换成适宜于计算机处理的信息，并送入计算机。例如，磁盘机、键盘、鼠标器等。</a:t>
            </a:r>
          </a:p>
          <a:p>
            <a:pPr marL="0" indent="0" fontAlgn="auto">
              <a:spcAft>
                <a:spcPts val="0"/>
              </a:spcAft>
              <a:buClr>
                <a:schemeClr val="accent3"/>
              </a:buClr>
              <a:buFont typeface="Monotype Sorts" pitchFamily="2" charset="2"/>
              <a:buNone/>
              <a:defRPr/>
            </a:pPr>
            <a:endParaRPr lang="zh-CN" altLang="en-US" b="1" dirty="0">
              <a:ea typeface="楷体_GB2312" pitchFamily="49" charset="-122"/>
            </a:endParaRPr>
          </a:p>
          <a:p>
            <a:pPr marL="0" indent="0" fontAlgn="auto">
              <a:spcAft>
                <a:spcPts val="0"/>
              </a:spcAft>
              <a:buClr>
                <a:schemeClr val="accent3"/>
              </a:buClr>
              <a:buFont typeface="Monotype Sorts" pitchFamily="2" charset="2"/>
              <a:buNone/>
              <a:defRPr/>
            </a:pPr>
            <a:r>
              <a:rPr lang="zh-CN" altLang="en-US" b="1" dirty="0">
                <a:ea typeface="楷体_GB2312" pitchFamily="49" charset="-122"/>
              </a:rPr>
              <a:t>输出设备接受计算机处理过的信息，并能将信息转变成其它机器能识别的形式或人能理解的形式存储、打印或显示。例如，磁盘机、显示屏幕、打印机等。</a:t>
            </a:r>
          </a:p>
        </p:txBody>
      </p:sp>
      <p:sp>
        <p:nvSpPr>
          <p:cNvPr id="5" name="灯片编号占位符 5"/>
          <p:cNvSpPr>
            <a:spLocks noGrp="1"/>
          </p:cNvSpPr>
          <p:nvPr>
            <p:ph type="sldNum" sz="quarter" idx="12"/>
          </p:nvPr>
        </p:nvSpPr>
        <p:spPr/>
        <p:txBody>
          <a:bodyPr/>
          <a:lstStyle/>
          <a:p>
            <a:pPr defTabSz="1128713">
              <a:defRPr/>
            </a:pPr>
            <a:fld id="{9E5ADCA9-AD57-4298-BDDF-8901CA4708EC}" type="slidenum">
              <a:rPr lang="zh-CN" altLang="en-US">
                <a:latin typeface="+mn-lt"/>
              </a:rPr>
              <a:pPr defTabSz="1128713">
                <a:defRPr/>
              </a:pPr>
              <a:t>29</a:t>
            </a:fld>
            <a:endParaRPr lang="en-US" altLang="zh-CN">
              <a:latin typeface="+mn-lt"/>
            </a:endParaRPr>
          </a:p>
        </p:txBody>
      </p:sp>
      <p:pic>
        <p:nvPicPr>
          <p:cNvPr id="15364" name="Picture 3" descr="keyboardMouse.jpg"/>
          <p:cNvPicPr>
            <a:picLocks noChangeAspect="1"/>
          </p:cNvPicPr>
          <p:nvPr/>
        </p:nvPicPr>
        <p:blipFill>
          <a:blip r:embed="rId2" cstate="print"/>
          <a:srcRect/>
          <a:stretch>
            <a:fillRect/>
          </a:stretch>
        </p:blipFill>
        <p:spPr bwMode="auto">
          <a:xfrm>
            <a:off x="857250" y="1143000"/>
            <a:ext cx="2714625" cy="1579563"/>
          </a:xfrm>
          <a:prstGeom prst="rect">
            <a:avLst/>
          </a:prstGeom>
          <a:noFill/>
          <a:ln w="9525">
            <a:noFill/>
            <a:miter lim="800000"/>
            <a:headEnd/>
            <a:tailEnd/>
          </a:ln>
        </p:spPr>
      </p:pic>
      <p:pic>
        <p:nvPicPr>
          <p:cNvPr id="15365" name="Picture 5" descr="92da11e771f35e766573bc2068622ac5.jpg"/>
          <p:cNvPicPr>
            <a:picLocks noChangeAspect="1"/>
          </p:cNvPicPr>
          <p:nvPr/>
        </p:nvPicPr>
        <p:blipFill>
          <a:blip r:embed="rId3" cstate="print"/>
          <a:srcRect/>
          <a:stretch>
            <a:fillRect/>
          </a:stretch>
        </p:blipFill>
        <p:spPr bwMode="auto">
          <a:xfrm>
            <a:off x="6286500" y="785813"/>
            <a:ext cx="1976438" cy="2132012"/>
          </a:xfrm>
          <a:prstGeom prst="rect">
            <a:avLst/>
          </a:prstGeom>
          <a:noFill/>
          <a:ln w="9525">
            <a:noFill/>
            <a:miter lim="800000"/>
            <a:headEnd/>
            <a:tailEnd/>
          </a:ln>
        </p:spPr>
      </p:pic>
      <p:pic>
        <p:nvPicPr>
          <p:cNvPr id="15366" name="Picture 6" descr="hp-laserjet-2300-laser-printer-review.jpg"/>
          <p:cNvPicPr>
            <a:picLocks noChangeAspect="1"/>
          </p:cNvPicPr>
          <p:nvPr/>
        </p:nvPicPr>
        <p:blipFill>
          <a:blip r:embed="rId4" cstate="print"/>
          <a:srcRect/>
          <a:stretch>
            <a:fillRect/>
          </a:stretch>
        </p:blipFill>
        <p:spPr bwMode="auto">
          <a:xfrm>
            <a:off x="4000500" y="1143000"/>
            <a:ext cx="1857375" cy="1663700"/>
          </a:xfrm>
          <a:prstGeom prst="rect">
            <a:avLst/>
          </a:prstGeom>
          <a:noFill/>
          <a:ln w="9525">
            <a:noFill/>
            <a:miter lim="800000"/>
            <a:headEnd/>
            <a:tailEnd/>
          </a:ln>
        </p:spPr>
      </p:pic>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idx="1"/>
          </p:nvPr>
        </p:nvSpPr>
        <p:spPr>
          <a:xfrm>
            <a:off x="323850" y="404813"/>
            <a:ext cx="8424863" cy="6119812"/>
          </a:xfrm>
        </p:spPr>
        <p:txBody>
          <a:bodyPr>
            <a:normAutofit/>
          </a:bodyPr>
          <a:lstStyle/>
          <a:p>
            <a:pPr marL="0" indent="0" fontAlgn="auto">
              <a:spcAft>
                <a:spcPts val="0"/>
              </a:spcAft>
              <a:buClr>
                <a:schemeClr val="accent3"/>
              </a:buClr>
              <a:buFont typeface="Monotype Sorts" charset="2"/>
              <a:buNone/>
              <a:defRPr/>
            </a:pPr>
            <a:r>
              <a:rPr lang="en-US" altLang="zh-CN" sz="3600" b="1" dirty="0">
                <a:solidFill>
                  <a:srgbClr val="C00000"/>
                </a:solidFill>
                <a:effectLst>
                  <a:outerShdw blurRad="38100" dist="38100" dir="2700000" algn="tl">
                    <a:srgbClr val="000000"/>
                  </a:outerShdw>
                </a:effectLst>
                <a:latin typeface="黑体" pitchFamily="2" charset="-122"/>
                <a:ea typeface="黑体" pitchFamily="2" charset="-122"/>
              </a:rPr>
              <a:t>2 </a:t>
            </a:r>
            <a:r>
              <a:rPr lang="zh-CN" altLang="en-US" sz="3600" b="1" dirty="0">
                <a:solidFill>
                  <a:srgbClr val="C00000"/>
                </a:solidFill>
                <a:effectLst>
                  <a:outerShdw blurRad="38100" dist="38100" dir="2700000" algn="tl">
                    <a:srgbClr val="000000"/>
                  </a:outerShdw>
                </a:effectLst>
                <a:latin typeface="黑体" pitchFamily="2" charset="-122"/>
                <a:ea typeface="黑体" pitchFamily="2" charset="-122"/>
              </a:rPr>
              <a:t>计算机的基本工作过程</a:t>
            </a:r>
          </a:p>
          <a:p>
            <a:pPr marL="0" indent="0" fontAlgn="auto">
              <a:spcAft>
                <a:spcPts val="0"/>
              </a:spcAft>
              <a:buClr>
                <a:schemeClr val="accent3"/>
              </a:buClr>
              <a:buFont typeface="Monotype Sorts"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计算机的</a:t>
            </a:r>
            <a:r>
              <a:rPr lang="en-US" altLang="zh-CN" sz="3200" b="1" dirty="0">
                <a:latin typeface="楷体_GB2312" pitchFamily="49" charset="-122"/>
                <a:ea typeface="楷体_GB2312" pitchFamily="49" charset="-122"/>
              </a:rPr>
              <a:t>CPU</a:t>
            </a:r>
            <a:r>
              <a:rPr lang="zh-CN" altLang="en-US" sz="3200" b="1" dirty="0">
                <a:latin typeface="楷体_GB2312" pitchFamily="49" charset="-122"/>
                <a:ea typeface="楷体_GB2312" pitchFamily="49" charset="-122"/>
              </a:rPr>
              <a:t>是计算机的控制中心和计算机执行程序时的工作平台。</a:t>
            </a:r>
            <a:endParaRPr lang="en-US" altLang="zh-CN" sz="3200" b="1" dirty="0">
              <a:latin typeface="楷体_GB2312" pitchFamily="49" charset="-122"/>
              <a:ea typeface="楷体_GB2312" pitchFamily="49" charset="-122"/>
            </a:endParaRPr>
          </a:p>
          <a:p>
            <a:pPr marL="0" indent="0" fontAlgn="auto">
              <a:spcAft>
                <a:spcPts val="0"/>
              </a:spcAft>
              <a:buClr>
                <a:schemeClr val="accent3"/>
              </a:buClr>
              <a:defRPr/>
            </a:pPr>
            <a:endParaRPr lang="zh-CN" altLang="en-US" sz="3200" b="1" dirty="0">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内存是计算机存储程序和数据的存储场所，内存被分割成许许多多单元。</a:t>
            </a:r>
            <a:endParaRPr lang="en-US" altLang="zh-CN" sz="3200" b="1" dirty="0">
              <a:latin typeface="楷体_GB2312" pitchFamily="49" charset="-122"/>
              <a:ea typeface="楷体_GB2312" pitchFamily="49" charset="-122"/>
            </a:endParaRPr>
          </a:p>
          <a:p>
            <a:pPr marL="0" indent="0" fontAlgn="auto">
              <a:spcAft>
                <a:spcPts val="0"/>
              </a:spcAft>
              <a:buClr>
                <a:schemeClr val="accent3"/>
              </a:buClr>
              <a:defRPr/>
            </a:pPr>
            <a:endParaRPr lang="zh-CN" altLang="en-US" sz="3200" b="1" dirty="0">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为区别内存不同单元的存储位置，各内存单元按顺序对应一个数字（二进制数）编号，内存单元的编号称为内存单元的地址</a:t>
            </a:r>
            <a:r>
              <a:rPr lang="en-US" altLang="zh-CN" sz="3200" b="1" dirty="0">
                <a:latin typeface="楷体_GB2312" pitchFamily="49" charset="-122"/>
                <a:ea typeface="楷体_GB2312" pitchFamily="49" charset="-122"/>
              </a:rPr>
              <a:t>(address)</a:t>
            </a:r>
            <a:r>
              <a:rPr lang="zh-CN" altLang="en-US" sz="32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defTabSz="1128713">
              <a:defRPr/>
            </a:pPr>
            <a:fld id="{DDF85C71-02D7-47D5-A436-F314C46E557E}" type="slidenum">
              <a:rPr lang="zh-CN" altLang="en-US">
                <a:latin typeface="+mn-lt"/>
              </a:rPr>
              <a:pPr defTabSz="1128713">
                <a:defRPr/>
              </a:pPr>
              <a:t>30</a:t>
            </a:fld>
            <a:endParaRPr lang="en-US" altLang="zh-CN">
              <a:latin typeface="+mn-lt"/>
            </a:endParaRP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5" descr="memory01"/>
          <p:cNvPicPr>
            <a:picLocks noChangeAspect="1" noChangeArrowheads="1"/>
          </p:cNvPicPr>
          <p:nvPr/>
        </p:nvPicPr>
        <p:blipFill>
          <a:blip r:embed="rId2" cstate="print"/>
          <a:srcRect/>
          <a:stretch>
            <a:fillRect/>
          </a:stretch>
        </p:blipFill>
        <p:spPr bwMode="auto">
          <a:xfrm>
            <a:off x="857224" y="857232"/>
            <a:ext cx="3405187" cy="5353050"/>
          </a:xfrm>
          <a:prstGeom prst="rect">
            <a:avLst/>
          </a:prstGeom>
          <a:noFill/>
          <a:ln w="9525">
            <a:noFill/>
            <a:miter lim="800000"/>
            <a:headEnd/>
            <a:tailEnd/>
          </a:ln>
        </p:spPr>
      </p:pic>
      <p:sp>
        <p:nvSpPr>
          <p:cNvPr id="10" name="Rectangular Callout 9"/>
          <p:cNvSpPr/>
          <p:nvPr/>
        </p:nvSpPr>
        <p:spPr>
          <a:xfrm>
            <a:off x="3995936" y="188640"/>
            <a:ext cx="1728192" cy="648072"/>
          </a:xfrm>
          <a:prstGeom prst="wedgeRectCallout">
            <a:avLst>
              <a:gd name="adj1" fmla="val -89701"/>
              <a:gd name="adj2" fmla="val 75938"/>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Rectangle 10"/>
          <p:cNvSpPr/>
          <p:nvPr/>
        </p:nvSpPr>
        <p:spPr>
          <a:xfrm>
            <a:off x="3995936"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1</a:t>
            </a:r>
            <a:endParaRPr lang="zh-CN" altLang="en-US" dirty="0"/>
          </a:p>
        </p:txBody>
      </p:sp>
      <p:sp>
        <p:nvSpPr>
          <p:cNvPr id="12" name="Rectangle 11"/>
          <p:cNvSpPr/>
          <p:nvPr/>
        </p:nvSpPr>
        <p:spPr>
          <a:xfrm>
            <a:off x="4211960"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3" name="Rectangle 12"/>
          <p:cNvSpPr/>
          <p:nvPr/>
        </p:nvSpPr>
        <p:spPr>
          <a:xfrm>
            <a:off x="4427984"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4" name="Rectangle 13"/>
          <p:cNvSpPr/>
          <p:nvPr/>
        </p:nvSpPr>
        <p:spPr>
          <a:xfrm>
            <a:off x="4644008"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5" name="Rectangle 14"/>
          <p:cNvSpPr/>
          <p:nvPr/>
        </p:nvSpPr>
        <p:spPr>
          <a:xfrm>
            <a:off x="4860032"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6" name="Rectangle 15"/>
          <p:cNvSpPr/>
          <p:nvPr/>
        </p:nvSpPr>
        <p:spPr>
          <a:xfrm>
            <a:off x="5076056"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7" name="Rectangle 16"/>
          <p:cNvSpPr/>
          <p:nvPr/>
        </p:nvSpPr>
        <p:spPr>
          <a:xfrm>
            <a:off x="5292080"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8" name="Rectangle 17"/>
          <p:cNvSpPr/>
          <p:nvPr/>
        </p:nvSpPr>
        <p:spPr>
          <a:xfrm>
            <a:off x="5508104"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9" name="Rounded Rectangular Callout 18"/>
          <p:cNvSpPr/>
          <p:nvPr/>
        </p:nvSpPr>
        <p:spPr>
          <a:xfrm>
            <a:off x="2411760" y="0"/>
            <a:ext cx="1440160" cy="332656"/>
          </a:xfrm>
          <a:prstGeom prst="wedgeRoundRectCallout">
            <a:avLst>
              <a:gd name="adj1" fmla="val 65551"/>
              <a:gd name="adj2" fmla="val 53774"/>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位，</a:t>
            </a:r>
            <a:r>
              <a:rPr lang="en-US" altLang="zh-CN" sz="2400" dirty="0"/>
              <a:t>bit</a:t>
            </a:r>
            <a:endParaRPr lang="zh-CN" altLang="en-US" sz="2400" dirty="0"/>
          </a:p>
        </p:txBody>
      </p:sp>
      <p:sp>
        <p:nvSpPr>
          <p:cNvPr id="20" name="Rounded Rectangular Callout 19"/>
          <p:cNvSpPr/>
          <p:nvPr/>
        </p:nvSpPr>
        <p:spPr>
          <a:xfrm>
            <a:off x="323528" y="692696"/>
            <a:ext cx="2160240" cy="432048"/>
          </a:xfrm>
          <a:prstGeom prst="wedgeRoundRectCallout">
            <a:avLst>
              <a:gd name="adj1" fmla="val 65551"/>
              <a:gd name="adj2" fmla="val 53774"/>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字节，</a:t>
            </a:r>
            <a:r>
              <a:rPr lang="en-US" altLang="zh-CN" sz="2400" dirty="0"/>
              <a:t>byte</a:t>
            </a: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p:cNvSpPr>
            <a:spLocks noGrp="1" noChangeArrowheads="1"/>
          </p:cNvSpPr>
          <p:nvPr>
            <p:ph idx="1"/>
          </p:nvPr>
        </p:nvSpPr>
        <p:spPr>
          <a:xfrm>
            <a:off x="323850" y="549275"/>
            <a:ext cx="8424863" cy="5975350"/>
          </a:xfrm>
        </p:spPr>
        <p:txBody>
          <a:bodyPr>
            <a:normAutofit/>
          </a:bodyPr>
          <a:lstStyle/>
          <a:p>
            <a:pPr marL="0" indent="0" fontAlgn="auto">
              <a:spcAft>
                <a:spcPts val="0"/>
              </a:spcAft>
              <a:buClr>
                <a:schemeClr val="accent3"/>
              </a:buClr>
              <a:buFont typeface="Wingdings 2"/>
              <a:buChar char=""/>
              <a:defRPr/>
            </a:pPr>
            <a:r>
              <a:rPr lang="en-US" altLang="zh-CN" sz="3200" b="1" dirty="0">
                <a:effectLst>
                  <a:outerShdw blurRad="38100" dist="38100" dir="2700000" algn="tl">
                    <a:srgbClr val="000000"/>
                  </a:outerShdw>
                </a:effectLst>
                <a:latin typeface="楷体_GB2312" pitchFamily="49" charset="-122"/>
                <a:ea typeface="楷体_GB2312" pitchFamily="49" charset="-122"/>
              </a:rPr>
              <a:t> </a:t>
            </a:r>
            <a:r>
              <a:rPr lang="en-US" altLang="zh-CN" sz="3200" b="1" dirty="0">
                <a:latin typeface="楷体_GB2312" pitchFamily="49" charset="-122"/>
                <a:ea typeface="楷体_GB2312" pitchFamily="49" charset="-122"/>
              </a:rPr>
              <a:t>CPU</a:t>
            </a:r>
            <a:r>
              <a:rPr lang="zh-CN" altLang="en-US" sz="3200" b="1" dirty="0">
                <a:latin typeface="楷体_GB2312" pitchFamily="49" charset="-122"/>
                <a:ea typeface="楷体_GB2312" pitchFamily="49" charset="-122"/>
              </a:rPr>
              <a:t>的几个关键部件：指令译码部件、算术逻辑运算部件和若干寄存器</a:t>
            </a:r>
            <a:endParaRPr lang="en-US" altLang="zh-CN" sz="32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200" b="1" dirty="0">
                <a:latin typeface="楷体_GB2312" pitchFamily="49" charset="-122"/>
                <a:ea typeface="楷体_GB2312" pitchFamily="49" charset="-122"/>
              </a:rPr>
              <a:t>指令译码部件分析当前要执行的指令，并将它转换成能让算术逻辑部件理解的电子信号</a:t>
            </a:r>
            <a:endParaRPr lang="en-US" altLang="zh-CN" sz="32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200" b="1" dirty="0">
                <a:latin typeface="楷体_GB2312" pitchFamily="49" charset="-122"/>
                <a:ea typeface="楷体_GB2312" pitchFamily="49" charset="-122"/>
              </a:rPr>
              <a:t>算术逻辑部件完成算术或逻辑运算</a:t>
            </a:r>
            <a:endParaRPr lang="en-US" altLang="zh-CN" sz="32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200" b="1" dirty="0">
                <a:latin typeface="楷体_GB2312" pitchFamily="49" charset="-122"/>
                <a:ea typeface="楷体_GB2312" pitchFamily="49" charset="-122"/>
              </a:rPr>
              <a:t>寄存器如同手工计算时所用的便签，用来暂存计算时所需要的操作数和计算过程中所产生的临时结果。</a:t>
            </a:r>
          </a:p>
        </p:txBody>
      </p:sp>
      <p:sp>
        <p:nvSpPr>
          <p:cNvPr id="5" name="灯片编号占位符 5"/>
          <p:cNvSpPr>
            <a:spLocks noGrp="1"/>
          </p:cNvSpPr>
          <p:nvPr>
            <p:ph type="sldNum" sz="quarter" idx="12"/>
          </p:nvPr>
        </p:nvSpPr>
        <p:spPr/>
        <p:txBody>
          <a:bodyPr/>
          <a:lstStyle/>
          <a:p>
            <a:pPr defTabSz="1128713">
              <a:defRPr/>
            </a:pPr>
            <a:fld id="{F29B4057-F1BF-484B-92D1-EB4CE885CA91}" type="slidenum">
              <a:rPr lang="zh-CN" altLang="en-US">
                <a:latin typeface="+mn-lt"/>
              </a:rPr>
              <a:pPr defTabSz="1128713">
                <a:defRPr/>
              </a:pPr>
              <a:t>32</a:t>
            </a:fld>
            <a:endParaRPr lang="en-US" altLang="zh-CN">
              <a:latin typeface="+mn-lt"/>
            </a:endParaRP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idx="1"/>
          </p:nvPr>
        </p:nvSpPr>
        <p:spPr>
          <a:xfrm>
            <a:off x="214282" y="1214422"/>
            <a:ext cx="8424863" cy="5000660"/>
          </a:xfrm>
        </p:spPr>
        <p:txBody>
          <a:bodyPr/>
          <a:lstStyle/>
          <a:p>
            <a:pPr marL="0" indent="0">
              <a:lnSpc>
                <a:spcPct val="90000"/>
              </a:lnSpc>
              <a:spcAft>
                <a:spcPts val="1200"/>
              </a:spcAft>
            </a:pPr>
            <a:r>
              <a:rPr lang="zh-CN" altLang="en-US" sz="3200" b="1" dirty="0">
                <a:latin typeface="楷体_GB2312" pitchFamily="49" charset="-122"/>
                <a:ea typeface="楷体_GB2312" pitchFamily="49" charset="-122"/>
              </a:rPr>
              <a:t> 计算机可以直接执行的指令称为机器指令，一台计算机的全部机器指令构成了该计算机的机器语言。</a:t>
            </a:r>
            <a:endParaRPr lang="en-US" altLang="zh-CN" sz="3200" b="1" dirty="0">
              <a:latin typeface="楷体_GB2312" pitchFamily="49" charset="-122"/>
              <a:ea typeface="楷体_GB2312" pitchFamily="49" charset="-122"/>
            </a:endParaRPr>
          </a:p>
          <a:p>
            <a:pPr marL="0" indent="0">
              <a:lnSpc>
                <a:spcPct val="90000"/>
              </a:lnSpc>
              <a:spcAft>
                <a:spcPts val="1200"/>
              </a:spcAft>
            </a:pP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机器指令是一种二进制代码。一部分代码指定指令的操作功能；一部分代码指出指令的操作对象和其它特征信息。</a:t>
            </a:r>
          </a:p>
          <a:p>
            <a:pPr marL="0" indent="0">
              <a:lnSpc>
                <a:spcPct val="90000"/>
              </a:lnSpc>
              <a:spcAft>
                <a:spcPts val="1200"/>
              </a:spcAft>
            </a:pPr>
            <a:r>
              <a:rPr lang="en-US" altLang="zh-CN" sz="3200" b="1" dirty="0">
                <a:latin typeface="楷体_GB2312" pitchFamily="49" charset="-122"/>
                <a:ea typeface="楷体_GB2312" pitchFamily="49" charset="-122"/>
              </a:rPr>
              <a:t> CPU</a:t>
            </a:r>
            <a:r>
              <a:rPr lang="zh-CN" altLang="en-US" sz="3200" b="1" dirty="0">
                <a:latin typeface="楷体_GB2312" pitchFamily="49" charset="-122"/>
                <a:ea typeface="楷体_GB2312" pitchFamily="49" charset="-122"/>
              </a:rPr>
              <a:t>中有一个称为指令计数器的寄存器，由它指出程序中下一条将要执行的指令在内存中的地址。</a:t>
            </a:r>
          </a:p>
        </p:txBody>
      </p:sp>
      <p:sp>
        <p:nvSpPr>
          <p:cNvPr id="5" name="灯片编号占位符 5"/>
          <p:cNvSpPr>
            <a:spLocks noGrp="1"/>
          </p:cNvSpPr>
          <p:nvPr>
            <p:ph type="sldNum" sz="quarter" idx="12"/>
          </p:nvPr>
        </p:nvSpPr>
        <p:spPr/>
        <p:txBody>
          <a:bodyPr/>
          <a:lstStyle/>
          <a:p>
            <a:pPr defTabSz="1128713">
              <a:defRPr/>
            </a:pPr>
            <a:fld id="{AAC991F9-F36D-4D90-ADEB-298C13F39892}" type="slidenum">
              <a:rPr lang="zh-CN" altLang="en-US">
                <a:latin typeface="+mn-lt"/>
              </a:rPr>
              <a:pPr defTabSz="1128713">
                <a:defRPr/>
              </a:pPr>
              <a:t>33</a:t>
            </a:fld>
            <a:endParaRPr lang="en-US" altLang="zh-CN">
              <a:latin typeface="+mn-lt"/>
            </a:endParaRP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idx="1"/>
          </p:nvPr>
        </p:nvSpPr>
        <p:spPr>
          <a:xfrm>
            <a:off x="323850" y="1241425"/>
            <a:ext cx="8424863" cy="5283200"/>
          </a:xfrm>
        </p:spPr>
        <p:txBody>
          <a:bodyPr/>
          <a:lstStyle/>
          <a:p>
            <a:pPr marL="0" indent="0"/>
            <a:r>
              <a:rPr lang="zh-CN" altLang="en-US" sz="3600" b="1">
                <a:latin typeface="楷体_GB2312" pitchFamily="49" charset="-122"/>
                <a:ea typeface="楷体_GB2312" pitchFamily="49" charset="-122"/>
              </a:rPr>
              <a:t>计算机执行一条指令大致包括五个阶段：</a:t>
            </a:r>
          </a:p>
          <a:p>
            <a:pPr marL="0" indent="0">
              <a:buFont typeface="Monotype Sorts" charset="2"/>
              <a:buNone/>
            </a:pPr>
            <a:r>
              <a:rPr lang="en-US" altLang="zh-CN" sz="3600" b="1">
                <a:latin typeface="楷体_GB2312" pitchFamily="49" charset="-122"/>
                <a:ea typeface="楷体_GB2312" pitchFamily="49" charset="-122"/>
              </a:rPr>
              <a:t>(1)</a:t>
            </a:r>
            <a:r>
              <a:rPr lang="zh-CN" altLang="en-US" sz="3600" b="1">
                <a:latin typeface="楷体_GB2312" pitchFamily="49" charset="-122"/>
                <a:ea typeface="楷体_GB2312" pitchFamily="49" charset="-122"/>
              </a:rPr>
              <a:t>取指令阶段</a:t>
            </a:r>
            <a:endParaRPr lang="en-US" altLang="zh-CN" sz="3600" b="1">
              <a:latin typeface="楷体_GB2312" pitchFamily="49" charset="-122"/>
              <a:ea typeface="楷体_GB2312" pitchFamily="49" charset="-122"/>
            </a:endParaRPr>
          </a:p>
          <a:p>
            <a:pPr marL="0" indent="0">
              <a:buFont typeface="Monotype Sorts" charset="2"/>
              <a:buNone/>
            </a:pPr>
            <a:r>
              <a:rPr lang="zh-CN" altLang="en-US" sz="3600" b="1">
                <a:latin typeface="楷体_GB2312" pitchFamily="49" charset="-122"/>
                <a:ea typeface="楷体_GB2312" pitchFamily="49" charset="-122"/>
              </a:rPr>
              <a:t>  根据指令计数器取出程序中要执行的指令，并使指令计数器改为下一条指令的地址。译码单元将取得的指令中的操作码转换成各指令执行单元能理解的电子信号。</a:t>
            </a:r>
          </a:p>
        </p:txBody>
      </p:sp>
      <p:sp>
        <p:nvSpPr>
          <p:cNvPr id="5" name="灯片编号占位符 5"/>
          <p:cNvSpPr>
            <a:spLocks noGrp="1"/>
          </p:cNvSpPr>
          <p:nvPr>
            <p:ph type="sldNum" sz="quarter" idx="12"/>
          </p:nvPr>
        </p:nvSpPr>
        <p:spPr/>
        <p:txBody>
          <a:bodyPr/>
          <a:lstStyle/>
          <a:p>
            <a:pPr defTabSz="1128713">
              <a:defRPr/>
            </a:pPr>
            <a:fld id="{65073CC9-2351-4177-96BC-77203E3DB488}" type="slidenum">
              <a:rPr lang="zh-CN" altLang="en-US">
                <a:latin typeface="+mn-lt"/>
              </a:rPr>
              <a:pPr defTabSz="1128713">
                <a:defRPr/>
              </a:pPr>
              <a:t>34</a:t>
            </a:fld>
            <a:endParaRPr lang="en-US" altLang="zh-CN">
              <a:latin typeface="+mn-lt"/>
            </a:endParaRP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idx="1"/>
          </p:nvPr>
        </p:nvSpPr>
        <p:spPr>
          <a:xfrm>
            <a:off x="323850" y="1241425"/>
            <a:ext cx="8424863" cy="5283200"/>
          </a:xfrm>
        </p:spPr>
        <p:txBody>
          <a:bodyPr/>
          <a:lstStyle/>
          <a:p>
            <a:pPr marL="0" indent="0">
              <a:buFont typeface="Wingdings 2" pitchFamily="18" charset="2"/>
              <a:buNone/>
            </a:pPr>
            <a:r>
              <a:rPr lang="en-US" altLang="zh-CN" sz="2800" b="1">
                <a:latin typeface="楷体_GB2312" pitchFamily="49" charset="-122"/>
                <a:ea typeface="楷体_GB2312" pitchFamily="49" charset="-122"/>
              </a:rPr>
              <a:t>(</a:t>
            </a:r>
            <a:r>
              <a:rPr lang="en-US" altLang="zh-CN" sz="3200" b="1">
                <a:latin typeface="楷体_GB2312" pitchFamily="49" charset="-122"/>
                <a:ea typeface="楷体_GB2312" pitchFamily="49" charset="-122"/>
              </a:rPr>
              <a:t>2)</a:t>
            </a:r>
            <a:r>
              <a:rPr lang="zh-CN" altLang="en-US" sz="3200" b="1">
                <a:latin typeface="楷体_GB2312" pitchFamily="49" charset="-122"/>
                <a:ea typeface="楷体_GB2312" pitchFamily="49" charset="-122"/>
              </a:rPr>
              <a:t>取操作数阶段  </a:t>
            </a:r>
            <a:endParaRPr lang="en-US" altLang="zh-CN" sz="3200" b="1">
              <a:latin typeface="楷体_GB2312" pitchFamily="49" charset="-122"/>
              <a:ea typeface="楷体_GB2312" pitchFamily="49" charset="-122"/>
            </a:endParaRPr>
          </a:p>
          <a:p>
            <a:pPr marL="0" indent="0">
              <a:buFont typeface="Wingdings 2" pitchFamily="18" charset="2"/>
              <a:buNone/>
            </a:pP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根据指令给定的操作数地址取出操作数。</a:t>
            </a:r>
          </a:p>
          <a:p>
            <a:pPr marL="0" indent="0">
              <a:buFont typeface="Monotype Sorts" charset="2"/>
              <a:buNone/>
            </a:pPr>
            <a:r>
              <a:rPr lang="en-US" altLang="zh-CN" sz="2800" b="1">
                <a:latin typeface="楷体_GB2312" pitchFamily="49" charset="-122"/>
                <a:ea typeface="楷体_GB2312" pitchFamily="49" charset="-122"/>
              </a:rPr>
              <a:t>(3)</a:t>
            </a:r>
            <a:r>
              <a:rPr lang="zh-CN" altLang="en-US" sz="2800" b="1">
                <a:latin typeface="楷体_GB2312" pitchFamily="49" charset="-122"/>
                <a:ea typeface="楷体_GB2312" pitchFamily="49" charset="-122"/>
              </a:rPr>
              <a:t>执行阶段  </a:t>
            </a:r>
            <a:endParaRPr lang="en-US" altLang="zh-CN" sz="2800" b="1">
              <a:latin typeface="楷体_GB2312" pitchFamily="49" charset="-122"/>
              <a:ea typeface="楷体_GB2312" pitchFamily="49" charset="-122"/>
            </a:endParaRPr>
          </a:p>
          <a:p>
            <a:pPr marL="0" indent="0">
              <a:buFont typeface="Monotype Sorts" charset="2"/>
              <a:buNone/>
            </a:pP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执行单元完成译码单元传送来的命令，完成指令所规定的计算功能。如是算术逻辑运算指令，则由算术逻辑单元完成计算。</a:t>
            </a:r>
          </a:p>
          <a:p>
            <a:pPr marL="0" indent="0">
              <a:buFont typeface="Monotype Sorts" charset="2"/>
              <a:buNone/>
            </a:pPr>
            <a:r>
              <a:rPr lang="en-US" altLang="zh-CN" sz="2800" b="1">
                <a:latin typeface="楷体_GB2312" pitchFamily="49" charset="-122"/>
                <a:ea typeface="楷体_GB2312" pitchFamily="49" charset="-122"/>
              </a:rPr>
              <a:t>(4)</a:t>
            </a:r>
            <a:r>
              <a:rPr lang="zh-CN" altLang="en-US" sz="2800" b="1">
                <a:latin typeface="楷体_GB2312" pitchFamily="49" charset="-122"/>
                <a:ea typeface="楷体_GB2312" pitchFamily="49" charset="-122"/>
              </a:rPr>
              <a:t>结果处理阶段  </a:t>
            </a:r>
            <a:endParaRPr lang="en-US" altLang="zh-CN" sz="2800" b="1">
              <a:latin typeface="楷体_GB2312" pitchFamily="49" charset="-122"/>
              <a:ea typeface="楷体_GB2312" pitchFamily="49" charset="-122"/>
            </a:endParaRPr>
          </a:p>
          <a:p>
            <a:pPr marL="0" indent="0">
              <a:buFont typeface="Monotype Sorts" charset="2"/>
              <a:buNone/>
            </a:pP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存储计算结果，并建立结果特征信息。</a:t>
            </a:r>
          </a:p>
          <a:p>
            <a:pPr marL="0" indent="0">
              <a:buFont typeface="Monotype Sorts" charset="2"/>
              <a:buNone/>
            </a:pPr>
            <a:r>
              <a:rPr lang="en-US" altLang="zh-CN" sz="2800" b="1">
                <a:latin typeface="楷体_GB2312" pitchFamily="49" charset="-122"/>
                <a:ea typeface="楷体_GB2312" pitchFamily="49" charset="-122"/>
              </a:rPr>
              <a:t>(5)</a:t>
            </a:r>
            <a:r>
              <a:rPr lang="zh-CN" altLang="en-US" sz="2800" b="1">
                <a:latin typeface="楷体_GB2312" pitchFamily="49" charset="-122"/>
                <a:ea typeface="楷体_GB2312" pitchFamily="49" charset="-122"/>
              </a:rPr>
              <a:t>推进阶段  </a:t>
            </a:r>
            <a:endParaRPr lang="en-US" altLang="zh-CN" sz="2800" b="1">
              <a:latin typeface="楷体_GB2312" pitchFamily="49" charset="-122"/>
              <a:ea typeface="楷体_GB2312" pitchFamily="49" charset="-122"/>
            </a:endParaRPr>
          </a:p>
          <a:p>
            <a:pPr marL="0" indent="0">
              <a:buFont typeface="Monotype Sorts" charset="2"/>
              <a:buNone/>
            </a:pP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回到第一阶段继续工作。</a:t>
            </a:r>
          </a:p>
        </p:txBody>
      </p:sp>
      <p:sp>
        <p:nvSpPr>
          <p:cNvPr id="5" name="灯片编号占位符 5"/>
          <p:cNvSpPr>
            <a:spLocks noGrp="1"/>
          </p:cNvSpPr>
          <p:nvPr>
            <p:ph type="sldNum" sz="quarter" idx="12"/>
          </p:nvPr>
        </p:nvSpPr>
        <p:spPr/>
        <p:txBody>
          <a:bodyPr/>
          <a:lstStyle/>
          <a:p>
            <a:pPr defTabSz="1128713">
              <a:defRPr/>
            </a:pPr>
            <a:fld id="{DFAD9F10-E142-49A7-B894-901EC7A6072A}" type="slidenum">
              <a:rPr lang="zh-CN" altLang="en-US">
                <a:latin typeface="+mn-lt"/>
              </a:rPr>
              <a:pPr defTabSz="1128713">
                <a:defRPr/>
              </a:pPr>
              <a:t>35</a:t>
            </a:fld>
            <a:endParaRPr lang="en-US" altLang="zh-CN">
              <a:latin typeface="+mn-lt"/>
            </a:endParaRP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endParaRPr lang="zh-CN" altLang="en-US"/>
          </a:p>
        </p:txBody>
      </p:sp>
      <p:sp>
        <p:nvSpPr>
          <p:cNvPr id="3" name="Content Placeholder 2"/>
          <p:cNvSpPr>
            <a:spLocks noGrp="1"/>
          </p:cNvSpPr>
          <p:nvPr>
            <p:ph sz="quarter" idx="2"/>
          </p:nvPr>
        </p:nvSpPr>
        <p:spPr>
          <a:xfrm>
            <a:off x="457200" y="1866528"/>
            <a:ext cx="4040188" cy="3845720"/>
          </a:xfrm>
        </p:spPr>
        <p:txBody>
          <a:bodyPr/>
          <a:lstStyle/>
          <a:p>
            <a:r>
              <a:rPr lang="zh-CN" altLang="en-US" sz="2800" b="1" dirty="0">
                <a:latin typeface="楷体_GB2312" pitchFamily="49" charset="-122"/>
                <a:ea typeface="楷体_GB2312" pitchFamily="49" charset="-122"/>
              </a:rPr>
              <a:t>一个完整的计算机系统通常由硬件系统与软件系统两部分组成</a:t>
            </a:r>
            <a:endParaRPr lang="en-US" altLang="zh-CN" sz="2800" b="1" dirty="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软件一般是指由数据与指令序列组成的集合。</a:t>
            </a:r>
            <a:endParaRPr lang="en-US" altLang="zh-CN" sz="2800" b="1" dirty="0">
              <a:latin typeface="楷体_GB2312" pitchFamily="49" charset="-122"/>
              <a:ea typeface="楷体_GB2312" pitchFamily="49" charset="-122"/>
            </a:endParaRPr>
          </a:p>
          <a:p>
            <a:endParaRPr lang="zh-CN" altLang="en-US" sz="2800" b="1" dirty="0">
              <a:latin typeface="楷体_GB2312" pitchFamily="49" charset="-122"/>
              <a:ea typeface="楷体_GB2312" pitchFamily="49" charset="-122"/>
            </a:endParaRPr>
          </a:p>
        </p:txBody>
      </p:sp>
      <p:sp>
        <p:nvSpPr>
          <p:cNvPr id="21" name="Content Placeholder 20"/>
          <p:cNvSpPr>
            <a:spLocks noGrp="1"/>
          </p:cNvSpPr>
          <p:nvPr>
            <p:ph sz="quarter" idx="4"/>
          </p:nvPr>
        </p:nvSpPr>
        <p:spPr>
          <a:xfrm>
            <a:off x="4645025" y="1866528"/>
            <a:ext cx="4041775" cy="3845720"/>
          </a:xfrm>
        </p:spPr>
        <p:txBody>
          <a:bodyPr/>
          <a:lstStyle/>
          <a:p>
            <a:endParaRPr lang="zh-CN" altLang="en-US"/>
          </a:p>
        </p:txBody>
      </p:sp>
      <p:sp>
        <p:nvSpPr>
          <p:cNvPr id="6" name="Oval 12"/>
          <p:cNvSpPr>
            <a:spLocks noChangeArrowheads="1"/>
          </p:cNvSpPr>
          <p:nvPr/>
        </p:nvSpPr>
        <p:spPr bwMode="auto">
          <a:xfrm>
            <a:off x="4860032" y="1772816"/>
            <a:ext cx="3867176" cy="3675161"/>
          </a:xfrm>
          <a:prstGeom prst="ellipse">
            <a:avLst/>
          </a:prstGeom>
          <a:solidFill>
            <a:srgbClr val="7030A0"/>
          </a:solidFill>
          <a:ln w="9525">
            <a:solidFill>
              <a:srgbClr val="009999"/>
            </a:solidFill>
            <a:round/>
            <a:headEnd/>
            <a:tailEnd/>
          </a:ln>
        </p:spPr>
        <p:txBody>
          <a:bodyPr wrap="none" anchor="ctr"/>
          <a:lstStyle/>
          <a:p>
            <a:endParaRPr lang="zh-CN" altLang="en-US" sz="6000" dirty="0"/>
          </a:p>
        </p:txBody>
      </p:sp>
      <p:sp>
        <p:nvSpPr>
          <p:cNvPr id="7" name="Oval 12"/>
          <p:cNvSpPr>
            <a:spLocks noChangeArrowheads="1"/>
          </p:cNvSpPr>
          <p:nvPr/>
        </p:nvSpPr>
        <p:spPr bwMode="auto">
          <a:xfrm>
            <a:off x="5523360" y="2348880"/>
            <a:ext cx="2571768" cy="2451191"/>
          </a:xfrm>
          <a:prstGeom prst="ellipse">
            <a:avLst/>
          </a:prstGeom>
          <a:solidFill>
            <a:srgbClr val="C00000"/>
          </a:solidFill>
          <a:ln w="9525">
            <a:solidFill>
              <a:srgbClr val="009999"/>
            </a:solidFill>
            <a:round/>
            <a:headEnd/>
            <a:tailEnd/>
          </a:ln>
        </p:spPr>
        <p:txBody>
          <a:bodyPr wrap="none" anchor="ctr"/>
          <a:lstStyle/>
          <a:p>
            <a:endParaRPr lang="zh-CN" altLang="en-US" sz="6000" dirty="0"/>
          </a:p>
        </p:txBody>
      </p:sp>
      <p:grpSp>
        <p:nvGrpSpPr>
          <p:cNvPr id="2" name="Group 10"/>
          <p:cNvGrpSpPr>
            <a:grpSpLocks noChangeAspect="1"/>
          </p:cNvGrpSpPr>
          <p:nvPr/>
        </p:nvGrpSpPr>
        <p:grpSpPr bwMode="auto">
          <a:xfrm>
            <a:off x="6315448" y="3068960"/>
            <a:ext cx="1133893" cy="1105677"/>
            <a:chOff x="4140" y="7492"/>
            <a:chExt cx="4320" cy="4212"/>
          </a:xfrm>
        </p:grpSpPr>
        <p:sp>
          <p:nvSpPr>
            <p:cNvPr id="9" name="AutoShape 11"/>
            <p:cNvSpPr>
              <a:spLocks noChangeAspect="1" noChangeArrowheads="1"/>
            </p:cNvSpPr>
            <p:nvPr/>
          </p:nvSpPr>
          <p:spPr bwMode="auto">
            <a:xfrm>
              <a:off x="4140" y="7492"/>
              <a:ext cx="4320" cy="4212"/>
            </a:xfrm>
            <a:prstGeom prst="rect">
              <a:avLst/>
            </a:prstGeom>
            <a:noFill/>
            <a:ln w="9525">
              <a:noFill/>
              <a:miter lim="800000"/>
              <a:headEnd/>
              <a:tailEnd/>
            </a:ln>
          </p:spPr>
          <p:txBody>
            <a:bodyPr/>
            <a:lstStyle/>
            <a:p>
              <a:endParaRPr lang="zh-CN" altLang="en-US" sz="6000"/>
            </a:p>
          </p:txBody>
        </p:sp>
        <p:sp>
          <p:nvSpPr>
            <p:cNvPr id="10" name="Oval 12"/>
            <p:cNvSpPr>
              <a:spLocks noChangeArrowheads="1"/>
            </p:cNvSpPr>
            <p:nvPr/>
          </p:nvSpPr>
          <p:spPr bwMode="auto">
            <a:xfrm>
              <a:off x="4140" y="7492"/>
              <a:ext cx="4320" cy="4212"/>
            </a:xfrm>
            <a:prstGeom prst="ellipse">
              <a:avLst/>
            </a:prstGeom>
            <a:solidFill>
              <a:schemeClr val="bg2"/>
            </a:solidFill>
            <a:ln w="9525">
              <a:solidFill>
                <a:srgbClr val="009999"/>
              </a:solidFill>
              <a:round/>
              <a:headEnd/>
              <a:tailEnd/>
            </a:ln>
          </p:spPr>
          <p:txBody>
            <a:bodyPr wrap="none" anchor="ctr"/>
            <a:lstStyle/>
            <a:p>
              <a:endParaRPr lang="zh-CN" altLang="en-US" sz="6000" dirty="0"/>
            </a:p>
          </p:txBody>
        </p:sp>
        <p:sp>
          <p:nvSpPr>
            <p:cNvPr id="15" name="Text Box 17"/>
            <p:cNvSpPr txBox="1">
              <a:spLocks noChangeArrowheads="1"/>
            </p:cNvSpPr>
            <p:nvPr/>
          </p:nvSpPr>
          <p:spPr bwMode="auto">
            <a:xfrm>
              <a:off x="5436" y="7992"/>
              <a:ext cx="1584" cy="3468"/>
            </a:xfrm>
            <a:prstGeom prst="rect">
              <a:avLst/>
            </a:prstGeom>
            <a:noFill/>
            <a:ln w="9525">
              <a:noFill/>
              <a:miter lim="800000"/>
              <a:headEnd/>
              <a:tailEnd/>
            </a:ln>
          </p:spPr>
          <p:txBody>
            <a:bodyPr wrap="square" lIns="78638" tIns="39319" rIns="78638" bIns="39319">
              <a:spAutoFit/>
            </a:bodyPr>
            <a:lstStyle/>
            <a:p>
              <a:pPr algn="just"/>
              <a:r>
                <a:rPr lang="zh-CN" altLang="en-US" sz="1800" dirty="0"/>
                <a:t>计算机</a:t>
              </a:r>
              <a:endParaRPr lang="zh-CN" altLang="en-US" sz="4000" dirty="0"/>
            </a:p>
          </p:txBody>
        </p:sp>
      </p:grpSp>
      <p:sp>
        <p:nvSpPr>
          <p:cNvPr id="16" name="TextBox 15"/>
          <p:cNvSpPr txBox="1"/>
          <p:nvPr/>
        </p:nvSpPr>
        <p:spPr>
          <a:xfrm>
            <a:off x="5811392" y="2492896"/>
            <a:ext cx="1826141" cy="584775"/>
          </a:xfrm>
          <a:prstGeom prst="rect">
            <a:avLst/>
          </a:prstGeom>
          <a:noFill/>
        </p:spPr>
        <p:txBody>
          <a:bodyPr wrap="none" rtlCol="0">
            <a:spAutoFit/>
          </a:bodyPr>
          <a:lstStyle/>
          <a:p>
            <a:r>
              <a:rPr lang="zh-CN" altLang="en-US" dirty="0">
                <a:solidFill>
                  <a:schemeClr val="bg1"/>
                </a:solidFill>
              </a:rPr>
              <a:t>操作系统</a:t>
            </a:r>
          </a:p>
        </p:txBody>
      </p:sp>
      <p:sp>
        <p:nvSpPr>
          <p:cNvPr id="17" name="TextBox 16"/>
          <p:cNvSpPr txBox="1"/>
          <p:nvPr/>
        </p:nvSpPr>
        <p:spPr>
          <a:xfrm>
            <a:off x="5811392" y="1844824"/>
            <a:ext cx="1826141" cy="584775"/>
          </a:xfrm>
          <a:prstGeom prst="rect">
            <a:avLst/>
          </a:prstGeom>
          <a:noFill/>
        </p:spPr>
        <p:txBody>
          <a:bodyPr wrap="none" rtlCol="0">
            <a:spAutoFit/>
          </a:bodyPr>
          <a:lstStyle/>
          <a:p>
            <a:r>
              <a:rPr lang="zh-CN" altLang="en-US" dirty="0">
                <a:solidFill>
                  <a:schemeClr val="bg1"/>
                </a:solidFill>
              </a:rPr>
              <a:t>应用系统</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5" name="Rectangle 3"/>
          <p:cNvSpPr>
            <a:spLocks noGrp="1" noChangeArrowheads="1"/>
          </p:cNvSpPr>
          <p:nvPr>
            <p:ph idx="1"/>
          </p:nvPr>
        </p:nvSpPr>
        <p:spPr>
          <a:xfrm>
            <a:off x="323850" y="1143000"/>
            <a:ext cx="8424863" cy="5410200"/>
          </a:xfrm>
        </p:spPr>
        <p:txBody>
          <a:bodyPr>
            <a:normAutofit/>
          </a:bodyPr>
          <a:lstStyle/>
          <a:p>
            <a:pPr marL="0" indent="0" fontAlgn="auto">
              <a:spcAft>
                <a:spcPts val="0"/>
              </a:spcAft>
              <a:buClr>
                <a:schemeClr val="accent3"/>
              </a:buClr>
              <a:buFont typeface="Monotype Sorts" charset="2"/>
              <a:buNone/>
              <a:defRPr/>
            </a:pPr>
            <a:r>
              <a:rPr lang="zh-CN" altLang="en-US" sz="3200" b="1" dirty="0">
                <a:solidFill>
                  <a:srgbClr val="C00000"/>
                </a:solidFill>
                <a:effectLst>
                  <a:outerShdw blurRad="38100" dist="38100" dir="2700000" algn="tl">
                    <a:srgbClr val="000000"/>
                  </a:outerShdw>
                </a:effectLst>
                <a:latin typeface="黑体" pitchFamily="2" charset="-122"/>
                <a:ea typeface="黑体" pitchFamily="2" charset="-122"/>
              </a:rPr>
              <a:t>什么是程序设计语言？</a:t>
            </a:r>
          </a:p>
          <a:p>
            <a:pPr marL="0" indent="0" fontAlgn="auto">
              <a:spcAft>
                <a:spcPts val="0"/>
              </a:spcAft>
              <a:buClr>
                <a:schemeClr val="accent3"/>
              </a:buClr>
              <a:buFont typeface="Monotype Sorts"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Wingdings 2"/>
              <a:buChar char=""/>
              <a:defRPr/>
            </a:pPr>
            <a:r>
              <a:rPr lang="zh-CN" altLang="en-US" sz="3200" b="1" dirty="0">
                <a:latin typeface="楷体_GB2312" pitchFamily="49" charset="-122"/>
                <a:ea typeface="楷体_GB2312" pitchFamily="49" charset="-122"/>
              </a:rPr>
              <a:t> 程序设计语言是人与计算机进行信息交流的工具，是一种用来书写计算机程序的语言。计算机发展到今天，程序设计语言大约有几千种，它们大致可分为如下三类</a:t>
            </a:r>
            <a:r>
              <a:rPr lang="en-US" altLang="zh-CN" sz="3200" b="1" dirty="0">
                <a:latin typeface="楷体_GB2312" pitchFamily="49" charset="-122"/>
                <a:ea typeface="楷体_GB2312" pitchFamily="49" charset="-122"/>
              </a:rPr>
              <a:t>:</a:t>
            </a:r>
          </a:p>
          <a:p>
            <a:pPr marL="365760" lvl="1" indent="0" fontAlgn="auto">
              <a:spcAft>
                <a:spcPts val="0"/>
              </a:spcAft>
              <a:buFont typeface="Wingdings 2"/>
              <a:buChar char=""/>
              <a:defRPr/>
            </a:pPr>
            <a:r>
              <a:rPr lang="zh-CN" altLang="en-US" sz="3000" b="1" dirty="0">
                <a:latin typeface="楷体_GB2312" pitchFamily="49" charset="-122"/>
                <a:ea typeface="楷体_GB2312" pitchFamily="49" charset="-122"/>
              </a:rPr>
              <a:t>机器语言  </a:t>
            </a:r>
            <a:endParaRPr lang="en-US" altLang="zh-CN" sz="30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000" b="1" dirty="0">
                <a:latin typeface="楷体_GB2312" pitchFamily="49" charset="-122"/>
                <a:ea typeface="楷体_GB2312" pitchFamily="49" charset="-122"/>
              </a:rPr>
              <a:t>汇编语言  </a:t>
            </a:r>
            <a:endParaRPr lang="en-US" altLang="zh-CN" sz="30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000" b="1" dirty="0">
                <a:latin typeface="楷体_GB2312" pitchFamily="49" charset="-122"/>
                <a:ea typeface="楷体_GB2312" pitchFamily="49" charset="-122"/>
              </a:rPr>
              <a:t>高级语言</a:t>
            </a:r>
            <a:endParaRPr lang="zh-CN" altLang="en-US" b="1"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3BBE71EE-9630-44F2-9ABB-8A851CFFE40C}" type="slidenum">
              <a:rPr lang="zh-CN" altLang="en-US">
                <a:latin typeface="+mn-lt"/>
              </a:rPr>
              <a:pPr defTabSz="1128713">
                <a:defRPr/>
              </a:pPr>
              <a:t>37</a:t>
            </a:fld>
            <a:endParaRPr lang="en-US" altLang="zh-CN">
              <a:latin typeface="+mn-lt"/>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3"/>
          <p:cNvSpPr>
            <a:spLocks noGrp="1" noChangeArrowheads="1"/>
          </p:cNvSpPr>
          <p:nvPr>
            <p:ph idx="1"/>
          </p:nvPr>
        </p:nvSpPr>
        <p:spPr>
          <a:xfrm>
            <a:off x="539750" y="765175"/>
            <a:ext cx="8153400" cy="5543550"/>
          </a:xfrm>
        </p:spPr>
        <p:txBody>
          <a:bodyPr/>
          <a:lstStyle/>
          <a:p>
            <a:pPr marL="0" indent="0">
              <a:buFont typeface="Monotype Sorts" charset="2"/>
              <a:buNone/>
            </a:pPr>
            <a:r>
              <a:rPr lang="en-US" altLang="zh-CN" sz="3100" b="1" dirty="0">
                <a:latin typeface="楷体_GB2312" pitchFamily="49" charset="-122"/>
                <a:ea typeface="楷体_GB2312" pitchFamily="49" charset="-122"/>
              </a:rPr>
              <a:t>(1)</a:t>
            </a:r>
            <a:r>
              <a:rPr lang="zh-CN" altLang="en-US" sz="3100" b="1" dirty="0">
                <a:latin typeface="楷体_GB2312" pitchFamily="49" charset="-122"/>
                <a:ea typeface="楷体_GB2312" pitchFamily="49" charset="-122"/>
              </a:rPr>
              <a:t>机器语言</a:t>
            </a:r>
          </a:p>
          <a:p>
            <a:pPr marL="0" indent="0"/>
            <a:r>
              <a:rPr lang="zh-CN" altLang="en-US" sz="3100" b="1" dirty="0">
                <a:latin typeface="楷体_GB2312" pitchFamily="49" charset="-122"/>
                <a:ea typeface="楷体_GB2312" pitchFamily="49" charset="-122"/>
              </a:rPr>
              <a:t>计算机的指令系统称为机器语言，所有的计算机都只能直接执行由其自身机器语言编写的程序。</a:t>
            </a:r>
            <a:endParaRPr lang="en-US" altLang="zh-CN" sz="3100" b="1" dirty="0">
              <a:latin typeface="楷体_GB2312" pitchFamily="49" charset="-122"/>
              <a:ea typeface="楷体_GB2312" pitchFamily="49" charset="-122"/>
            </a:endParaRPr>
          </a:p>
          <a:p>
            <a:pPr marL="0" indent="0"/>
            <a:r>
              <a:rPr lang="zh-CN" altLang="en-US" sz="3100" b="1" dirty="0">
                <a:latin typeface="楷体_GB2312" pitchFamily="49" charset="-122"/>
                <a:ea typeface="楷体_GB2312" pitchFamily="49" charset="-122"/>
              </a:rPr>
              <a:t>机器语言与计算机的硬件密切相关，机器语言中的计算机指令用二进制形式的代码表示，由若干位</a:t>
            </a:r>
            <a:r>
              <a:rPr lang="en-US" altLang="zh-CN" sz="3100" b="1" dirty="0">
                <a:latin typeface="楷体_GB2312" pitchFamily="49" charset="-122"/>
                <a:ea typeface="楷体_GB2312" pitchFamily="49" charset="-122"/>
              </a:rPr>
              <a:t>1</a:t>
            </a:r>
            <a:r>
              <a:rPr lang="zh-CN" altLang="en-US" sz="3100" b="1" dirty="0">
                <a:latin typeface="楷体_GB2312" pitchFamily="49" charset="-122"/>
                <a:ea typeface="楷体_GB2312" pitchFamily="49" charset="-122"/>
              </a:rPr>
              <a:t>和</a:t>
            </a:r>
            <a:r>
              <a:rPr lang="en-US" altLang="zh-CN" sz="3100" b="1" dirty="0">
                <a:latin typeface="楷体_GB2312" pitchFamily="49" charset="-122"/>
                <a:ea typeface="楷体_GB2312" pitchFamily="49" charset="-122"/>
              </a:rPr>
              <a:t>0</a:t>
            </a:r>
            <a:r>
              <a:rPr lang="zh-CN" altLang="en-US" sz="3100" b="1" dirty="0">
                <a:latin typeface="楷体_GB2312" pitchFamily="49" charset="-122"/>
                <a:ea typeface="楷体_GB2312" pitchFamily="49" charset="-122"/>
              </a:rPr>
              <a:t>组成。通常，一条计算机指令只能指示计算机完成一个最基本的操作。</a:t>
            </a:r>
            <a:endParaRPr lang="en-US" altLang="zh-CN" sz="3100" b="1" dirty="0">
              <a:latin typeface="楷体_GB2312" pitchFamily="49" charset="-122"/>
              <a:ea typeface="楷体_GB2312" pitchFamily="49" charset="-122"/>
            </a:endParaRPr>
          </a:p>
          <a:p>
            <a:pPr marL="366713" lvl="1" indent="0"/>
            <a:r>
              <a:rPr lang="zh-CN" altLang="en-US" sz="2900" b="1" dirty="0">
                <a:latin typeface="楷体_GB2312" pitchFamily="49" charset="-122"/>
                <a:ea typeface="楷体_GB2312" pitchFamily="49" charset="-122"/>
              </a:rPr>
              <a:t>例如，将某个地址中的内容读入某个寄存器、某寄存器的内容加上另一寄存器的内容，将某寄存器的内容存入某地址等。</a:t>
            </a:r>
          </a:p>
        </p:txBody>
      </p:sp>
      <p:sp>
        <p:nvSpPr>
          <p:cNvPr id="5" name="灯片编号占位符 5"/>
          <p:cNvSpPr>
            <a:spLocks noGrp="1"/>
          </p:cNvSpPr>
          <p:nvPr>
            <p:ph type="sldNum" sz="quarter" idx="12"/>
          </p:nvPr>
        </p:nvSpPr>
        <p:spPr/>
        <p:txBody>
          <a:bodyPr/>
          <a:lstStyle/>
          <a:p>
            <a:pPr defTabSz="1128713">
              <a:defRPr/>
            </a:pPr>
            <a:fld id="{3A230956-E623-4234-AEC5-870CE7BC7B38}" type="slidenum">
              <a:rPr lang="zh-CN" altLang="en-US">
                <a:latin typeface="+mn-lt"/>
              </a:rPr>
              <a:pPr defTabSz="1128713">
                <a:defRPr/>
              </a:pPr>
              <a:t>38</a:t>
            </a:fld>
            <a:endParaRPr lang="en-US" altLang="zh-CN">
              <a:latin typeface="+mn-lt"/>
            </a:endParaRP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7" name="Rectangle 3"/>
          <p:cNvSpPr>
            <a:spLocks noGrp="1" noChangeArrowheads="1"/>
          </p:cNvSpPr>
          <p:nvPr>
            <p:ph idx="1"/>
          </p:nvPr>
        </p:nvSpPr>
        <p:spPr>
          <a:xfrm>
            <a:off x="533400" y="476250"/>
            <a:ext cx="8153400" cy="5467350"/>
          </a:xfrm>
        </p:spPr>
        <p:txBody>
          <a:bodyPr>
            <a:normAutofit/>
          </a:bodyPr>
          <a:lstStyle/>
          <a:p>
            <a:pPr marL="0" indent="0" fontAlgn="auto">
              <a:spcAft>
                <a:spcPts val="0"/>
              </a:spcAft>
              <a:buClr>
                <a:schemeClr val="accent3"/>
              </a:buClr>
              <a:buFont typeface="Monotype Sorts" pitchFamily="2" charset="2"/>
              <a:buNone/>
              <a:defRPr/>
            </a:pPr>
            <a:r>
              <a:rPr lang="en-US" altLang="zh-CN" sz="3600" b="1" dirty="0">
                <a:solidFill>
                  <a:srgbClr val="000066"/>
                </a:solidFill>
                <a:latin typeface="楷体_GB2312" pitchFamily="49" charset="-122"/>
                <a:ea typeface="楷体_GB2312" pitchFamily="49" charset="-122"/>
              </a:rPr>
              <a:t>(</a:t>
            </a:r>
            <a:r>
              <a:rPr lang="en-US" altLang="zh-CN" sz="3600" b="1" dirty="0">
                <a:latin typeface="楷体_GB2312" pitchFamily="49" charset="-122"/>
                <a:ea typeface="楷体_GB2312" pitchFamily="49" charset="-122"/>
              </a:rPr>
              <a:t>2)</a:t>
            </a:r>
            <a:r>
              <a:rPr lang="zh-CN" altLang="en-US" sz="3600" b="1" dirty="0">
                <a:latin typeface="楷体_GB2312" pitchFamily="49" charset="-122"/>
                <a:ea typeface="楷体_GB2312" pitchFamily="49" charset="-122"/>
              </a:rPr>
              <a:t>汇编语言</a:t>
            </a:r>
          </a:p>
          <a:p>
            <a:pPr marL="0" indent="0" fontAlgn="auto">
              <a:spcAft>
                <a:spcPts val="0"/>
              </a:spcAft>
              <a:buClr>
                <a:schemeClr val="accent3"/>
              </a:buClr>
              <a:buFont typeface="Monotype Sorts" pitchFamily="2" charset="2"/>
              <a:buNone/>
              <a:defRPr/>
            </a:pPr>
            <a:endParaRPr lang="zh-CN" altLang="en-US" sz="3600" b="1" dirty="0">
              <a:latin typeface="楷体_GB2312" pitchFamily="49" charset="-122"/>
              <a:ea typeface="楷体_GB2312" pitchFamily="49" charset="-122"/>
            </a:endParaRPr>
          </a:p>
          <a:p>
            <a:pPr marL="0" indent="0" fontAlgn="auto">
              <a:spcAft>
                <a:spcPts val="0"/>
              </a:spcAft>
              <a:buClr>
                <a:schemeClr val="accent3"/>
              </a:buClr>
              <a:defRPr/>
            </a:pPr>
            <a:r>
              <a:rPr lang="zh-CN" altLang="en-US" sz="3600" b="1" dirty="0">
                <a:latin typeface="楷体_GB2312" pitchFamily="49" charset="-122"/>
                <a:ea typeface="楷体_GB2312" pitchFamily="49" charset="-122"/>
              </a:rPr>
              <a:t>由于计算机的机器语言难于被人理解和阅读，人们用类英语单词缩写的符号指令代替机器语言的二进制代码指令，汇编语言就是用有助于记忆的符号表示计算机机器指令的程序设计语言。</a:t>
            </a:r>
          </a:p>
        </p:txBody>
      </p:sp>
      <p:sp>
        <p:nvSpPr>
          <p:cNvPr id="5" name="灯片编号占位符 5"/>
          <p:cNvSpPr>
            <a:spLocks noGrp="1"/>
          </p:cNvSpPr>
          <p:nvPr>
            <p:ph type="sldNum" sz="quarter" idx="12"/>
          </p:nvPr>
        </p:nvSpPr>
        <p:spPr/>
        <p:txBody>
          <a:bodyPr/>
          <a:lstStyle/>
          <a:p>
            <a:pPr defTabSz="1128713">
              <a:defRPr/>
            </a:pPr>
            <a:fld id="{7808CC34-525B-4D64-A5DB-E375B49A6794}" type="slidenum">
              <a:rPr lang="zh-CN" altLang="en-US">
                <a:latin typeface="+mn-lt"/>
              </a:rPr>
              <a:pPr defTabSz="1128713">
                <a:defRPr/>
              </a:pPr>
              <a:t>39</a:t>
            </a:fld>
            <a:endParaRPr lang="en-US" altLang="zh-CN">
              <a:latin typeface="+mn-lt"/>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338" name="Rectangle 2"/>
          <p:cNvSpPr>
            <a:spLocks noGrp="1" noChangeArrowheads="1"/>
          </p:cNvSpPr>
          <p:nvPr>
            <p:ph idx="1"/>
          </p:nvPr>
        </p:nvSpPr>
        <p:spPr>
          <a:xfrm>
            <a:off x="500063" y="928688"/>
            <a:ext cx="8153400" cy="5467350"/>
          </a:xfrm>
        </p:spPr>
        <p:txBody>
          <a:bodyPr>
            <a:normAutofit/>
          </a:bodyPr>
          <a:lstStyle/>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如：取数指令</a:t>
            </a:r>
            <a:r>
              <a:rPr lang="zh-CN" altLang="en-US" sz="3200" b="1" dirty="0">
                <a:ea typeface="楷体_GB2312" pitchFamily="49" charset="-122"/>
              </a:rPr>
              <a:t>“</a:t>
            </a:r>
            <a:r>
              <a:rPr lang="en-US" altLang="zh-CN" sz="3200" b="1" dirty="0">
                <a:latin typeface="楷体_GB2312" pitchFamily="49" charset="-122"/>
                <a:ea typeface="楷体_GB2312" pitchFamily="49" charset="-122"/>
              </a:rPr>
              <a:t>LD GR0, X</a:t>
            </a:r>
            <a:r>
              <a:rPr lang="en-US" altLang="zh-CN" sz="3200" b="1" dirty="0">
                <a:ea typeface="楷体_GB2312" pitchFamily="49" charset="-122"/>
              </a:rPr>
              <a:t>”</a:t>
            </a:r>
            <a:r>
              <a:rPr lang="zh-CN" altLang="en-US" sz="3200" b="1" dirty="0">
                <a:latin typeface="楷体_GB2312" pitchFamily="49" charset="-122"/>
                <a:ea typeface="楷体_GB2312" pitchFamily="49" charset="-122"/>
              </a:rPr>
              <a:t>表示从对应变量</a:t>
            </a:r>
            <a:r>
              <a:rPr lang="en-US" altLang="zh-CN" sz="3200" b="1" dirty="0">
                <a:latin typeface="楷体_GB2312" pitchFamily="49" charset="-122"/>
                <a:ea typeface="楷体_GB2312" pitchFamily="49" charset="-122"/>
              </a:rPr>
              <a:t>X</a:t>
            </a:r>
            <a:r>
              <a:rPr lang="zh-CN" altLang="en-US" sz="3200" b="1" dirty="0">
                <a:latin typeface="楷体_GB2312" pitchFamily="49" charset="-122"/>
                <a:ea typeface="楷体_GB2312" pitchFamily="49" charset="-122"/>
              </a:rPr>
              <a:t>的内存中取数到寄存器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a:t>
            </a:r>
          </a:p>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加指令</a:t>
            </a:r>
            <a:r>
              <a:rPr lang="zh-CN" altLang="en-US" sz="3200" b="1" dirty="0">
                <a:ea typeface="楷体_GB2312" pitchFamily="49" charset="-122"/>
              </a:rPr>
              <a:t>“</a:t>
            </a:r>
            <a:r>
              <a:rPr lang="en-US" altLang="zh-CN" sz="3200" b="1" dirty="0">
                <a:latin typeface="楷体_GB2312" pitchFamily="49" charset="-122"/>
                <a:ea typeface="楷体_GB2312" pitchFamily="49" charset="-122"/>
              </a:rPr>
              <a:t>ADD GR0, GR1</a:t>
            </a:r>
            <a:r>
              <a:rPr lang="en-US" altLang="zh-CN" sz="3200" b="1" dirty="0">
                <a:ea typeface="楷体_GB2312" pitchFamily="49" charset="-122"/>
              </a:rPr>
              <a:t>”</a:t>
            </a:r>
            <a:r>
              <a:rPr lang="zh-CN" altLang="en-US" sz="3200" b="1" dirty="0">
                <a:latin typeface="楷体_GB2312" pitchFamily="49" charset="-122"/>
                <a:ea typeface="楷体_GB2312" pitchFamily="49" charset="-122"/>
              </a:rPr>
              <a:t>将寄存器</a:t>
            </a:r>
            <a:r>
              <a:rPr lang="en-US" altLang="zh-CN" sz="3200" b="1" dirty="0">
                <a:latin typeface="楷体_GB2312" pitchFamily="49" charset="-122"/>
                <a:ea typeface="楷体_GB2312" pitchFamily="49" charset="-122"/>
              </a:rPr>
              <a:t>GR1</a:t>
            </a:r>
            <a:r>
              <a:rPr lang="zh-CN" altLang="en-US" sz="3200" b="1" dirty="0">
                <a:latin typeface="楷体_GB2312" pitchFamily="49" charset="-122"/>
                <a:ea typeface="楷体_GB2312" pitchFamily="49" charset="-122"/>
              </a:rPr>
              <a:t>中的内容与寄存器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中的内容相加，并把结果存于寄存器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a:t>
            </a:r>
          </a:p>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存数指令</a:t>
            </a:r>
            <a:r>
              <a:rPr lang="zh-CN" altLang="en-US" sz="3200" b="1" dirty="0">
                <a:ea typeface="楷体_GB2312" pitchFamily="49" charset="-122"/>
              </a:rPr>
              <a:t>“</a:t>
            </a:r>
            <a:r>
              <a:rPr lang="en-US" altLang="zh-CN" sz="3200" b="1" dirty="0">
                <a:latin typeface="楷体_GB2312" pitchFamily="49" charset="-122"/>
                <a:ea typeface="楷体_GB2312" pitchFamily="49" charset="-122"/>
              </a:rPr>
              <a:t>ST GR0, X</a:t>
            </a:r>
            <a:r>
              <a:rPr lang="en-US" altLang="zh-CN" sz="3200" b="1" dirty="0">
                <a:ea typeface="楷体_GB2312" pitchFamily="49" charset="-122"/>
              </a:rPr>
              <a:t>”</a:t>
            </a:r>
            <a:r>
              <a:rPr lang="zh-CN" altLang="en-US" sz="3200" b="1" dirty="0">
                <a:latin typeface="楷体_GB2312" pitchFamily="49" charset="-122"/>
                <a:ea typeface="楷体_GB2312" pitchFamily="49" charset="-122"/>
              </a:rPr>
              <a:t>将寄存器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中的内容存入与变量</a:t>
            </a:r>
            <a:r>
              <a:rPr lang="en-US" altLang="zh-CN" sz="3200" b="1" dirty="0">
                <a:latin typeface="楷体_GB2312" pitchFamily="49" charset="-122"/>
                <a:ea typeface="楷体_GB2312" pitchFamily="49" charset="-122"/>
              </a:rPr>
              <a:t>X</a:t>
            </a:r>
            <a:r>
              <a:rPr lang="zh-CN" altLang="en-US" sz="3200" b="1" dirty="0">
                <a:latin typeface="楷体_GB2312" pitchFamily="49" charset="-122"/>
                <a:ea typeface="楷体_GB2312" pitchFamily="49" charset="-122"/>
              </a:rPr>
              <a:t>对应的内存中。 </a:t>
            </a:r>
          </a:p>
          <a:p>
            <a:pPr marL="0" indent="0" fontAlgn="auto">
              <a:lnSpc>
                <a:spcPct val="80000"/>
              </a:lnSpc>
              <a:spcAft>
                <a:spcPts val="0"/>
              </a:spcAft>
              <a:buClr>
                <a:schemeClr val="accent3"/>
              </a:buClr>
              <a:buFont typeface="Monotype Sorts" pitchFamily="2" charset="2"/>
              <a:buNone/>
              <a:defRPr/>
            </a:pPr>
            <a:endParaRPr lang="zh-CN" altLang="en-US" sz="32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用汇编语言编写的程序要在计算机上执行，先要把用汇编语言编写的源程序转换成机器语言程序。完成这个转换功能的程序称为</a:t>
            </a:r>
          </a:p>
          <a:p>
            <a:pPr marL="0" indent="0" fontAlgn="auto">
              <a:lnSpc>
                <a:spcPct val="80000"/>
              </a:lnSpc>
              <a:spcAft>
                <a:spcPts val="0"/>
              </a:spcAft>
              <a:buClr>
                <a:schemeClr val="accent3"/>
              </a:buClr>
              <a:buFont typeface="Monotype Sorts" pitchFamily="2" charset="2"/>
              <a:buNone/>
              <a:defRPr/>
            </a:pPr>
            <a:r>
              <a:rPr lang="zh-CN" altLang="en-US" sz="3200" b="1" dirty="0">
                <a:solidFill>
                  <a:srgbClr val="CC0000"/>
                </a:solidFill>
                <a:latin typeface="楷体_GB2312" pitchFamily="49" charset="-122"/>
                <a:ea typeface="楷体_GB2312" pitchFamily="49" charset="-122"/>
              </a:rPr>
              <a:t>汇编程序</a:t>
            </a:r>
            <a:r>
              <a:rPr lang="zh-CN" altLang="en-US" sz="3200" b="1" dirty="0">
                <a:solidFill>
                  <a:srgbClr val="000066"/>
                </a:solidFill>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defTabSz="1128713">
              <a:defRPr/>
            </a:pPr>
            <a:fld id="{545F18DC-8136-4264-ADD3-6CE2A333C091}" type="slidenum">
              <a:rPr lang="zh-CN" altLang="en-US">
                <a:latin typeface="+mn-lt"/>
              </a:rPr>
              <a:pPr defTabSz="1128713">
                <a:defRPr/>
              </a:pPr>
              <a:t>40</a:t>
            </a:fld>
            <a:endParaRPr lang="en-US" altLang="zh-CN">
              <a:latin typeface="+mn-lt"/>
            </a:endParaRP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a:xfrm>
            <a:off x="304800" y="476250"/>
            <a:ext cx="8382000" cy="5924550"/>
          </a:xfrm>
        </p:spPr>
        <p:txBody>
          <a:bodyPr/>
          <a:lstStyle/>
          <a:p>
            <a:pPr marL="0" indent="0">
              <a:lnSpc>
                <a:spcPct val="90000"/>
              </a:lnSpc>
              <a:buFont typeface="Monotype Sorts" charset="2"/>
              <a:buNone/>
            </a:pPr>
            <a:r>
              <a:rPr lang="en-US" altLang="zh-CN" sz="3600" b="1" dirty="0">
                <a:latin typeface="楷体_GB2312" pitchFamily="49" charset="-122"/>
                <a:ea typeface="楷体_GB2312" pitchFamily="49" charset="-122"/>
              </a:rPr>
              <a:t>(3)</a:t>
            </a:r>
            <a:r>
              <a:rPr lang="zh-CN" altLang="en-US" sz="3600" b="1" dirty="0">
                <a:latin typeface="楷体_GB2312" pitchFamily="49" charset="-122"/>
                <a:ea typeface="楷体_GB2312" pitchFamily="49" charset="-122"/>
              </a:rPr>
              <a:t>高级语言</a:t>
            </a:r>
          </a:p>
          <a:p>
            <a:pPr marL="0" indent="0">
              <a:lnSpc>
                <a:spcPct val="90000"/>
              </a:lnSpc>
              <a:buFont typeface="Monotype Sorts" charset="2"/>
              <a:buNone/>
            </a:pPr>
            <a:r>
              <a:rPr lang="zh-CN" altLang="en-US" sz="3600" b="1" dirty="0">
                <a:latin typeface="楷体_GB2312" pitchFamily="49" charset="-122"/>
                <a:ea typeface="楷体_GB2312" pitchFamily="49" charset="-122"/>
              </a:rPr>
              <a:t>高级语言主要由类似英语的语句构成，有一定书写规则，程序员用语句表达要计算机完成的操作。与汇编语言比较，高级语言有统一的语法，独立于具体机器，便于人们编码，阅读和理解。</a:t>
            </a:r>
          </a:p>
          <a:p>
            <a:pPr marL="0" indent="0">
              <a:lnSpc>
                <a:spcPct val="90000"/>
              </a:lnSpc>
              <a:buFont typeface="Monotype Sorts" charset="2"/>
              <a:buNone/>
            </a:pPr>
            <a:r>
              <a:rPr lang="zh-CN" altLang="en-US" sz="3600" b="1" dirty="0">
                <a:latin typeface="楷体_GB2312" pitchFamily="49" charset="-122"/>
                <a:ea typeface="楷体_GB2312" pitchFamily="49" charset="-122"/>
              </a:rPr>
              <a:t>用高级语言编写的源程序在计算机上执行，先要将源程序转换成机器语言程序。</a:t>
            </a:r>
          </a:p>
          <a:p>
            <a:pPr marL="0" indent="0">
              <a:lnSpc>
                <a:spcPct val="90000"/>
              </a:lnSpc>
              <a:buFont typeface="Monotype Sorts" charset="2"/>
              <a:buNone/>
            </a:pPr>
            <a:r>
              <a:rPr lang="zh-CN" altLang="en-US" sz="3600" b="1" dirty="0">
                <a:latin typeface="楷体_GB2312" pitchFamily="49" charset="-122"/>
                <a:ea typeface="楷体_GB2312" pitchFamily="49" charset="-122"/>
              </a:rPr>
              <a:t>把用高级语言编写的源程序转换成机器语言程序的翻译程序称为</a:t>
            </a:r>
          </a:p>
          <a:p>
            <a:pPr marL="0" indent="0">
              <a:lnSpc>
                <a:spcPct val="90000"/>
              </a:lnSpc>
              <a:buFont typeface="Monotype Sorts" charset="2"/>
              <a:buNone/>
            </a:pPr>
            <a:r>
              <a:rPr lang="zh-CN" altLang="en-US" sz="3600" b="1" dirty="0">
                <a:latin typeface="楷体_GB2312" pitchFamily="49" charset="-122"/>
                <a:ea typeface="楷体_GB2312" pitchFamily="49" charset="-122"/>
              </a:rPr>
              <a:t>       </a:t>
            </a:r>
            <a:r>
              <a:rPr lang="zh-CN" altLang="en-US" sz="3600" b="1" dirty="0">
                <a:solidFill>
                  <a:srgbClr val="FF0000"/>
                </a:solidFill>
                <a:latin typeface="楷体_GB2312" pitchFamily="49" charset="-122"/>
                <a:ea typeface="楷体_GB2312" pitchFamily="49" charset="-122"/>
              </a:rPr>
              <a:t>编译器（</a:t>
            </a:r>
            <a:r>
              <a:rPr lang="en-US" altLang="zh-CN" sz="3600" b="1" dirty="0">
                <a:solidFill>
                  <a:srgbClr val="FF0000"/>
                </a:solidFill>
                <a:latin typeface="楷体_GB2312" pitchFamily="49" charset="-122"/>
                <a:ea typeface="楷体_GB2312" pitchFamily="49" charset="-122"/>
              </a:rPr>
              <a:t>compiler</a:t>
            </a:r>
            <a:r>
              <a:rPr lang="zh-CN" altLang="en-US" sz="3600" b="1" dirty="0">
                <a:solidFill>
                  <a:srgbClr val="FF0000"/>
                </a:solidFill>
                <a:latin typeface="楷体_GB2312" pitchFamily="49" charset="-122"/>
                <a:ea typeface="楷体_GB2312" pitchFamily="49" charset="-122"/>
              </a:rPr>
              <a:t>）</a:t>
            </a:r>
            <a:endParaRPr lang="en-US" altLang="zh-CN" sz="3600" b="1" dirty="0">
              <a:solidFill>
                <a:srgbClr val="FF0000"/>
              </a:solidFill>
              <a:latin typeface="楷体_GB2312" pitchFamily="49" charset="-122"/>
              <a:ea typeface="楷体_GB2312" pitchFamily="49" charset="-122"/>
            </a:endParaRPr>
          </a:p>
          <a:p>
            <a:pPr marL="0" indent="0">
              <a:lnSpc>
                <a:spcPct val="90000"/>
              </a:lnSpc>
              <a:buFont typeface="Monotype Sorts" charset="2"/>
              <a:buNone/>
            </a:pPr>
            <a:endParaRPr lang="zh-CN" altLang="en-US" sz="3600" b="1" dirty="0">
              <a:solidFill>
                <a:srgbClr val="FF0000"/>
              </a:solidFill>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5507631F-2D57-490E-BA13-A9CEA7AA1BE9}" type="slidenum">
              <a:rPr lang="zh-CN" altLang="en-US">
                <a:latin typeface="+mn-lt"/>
              </a:rPr>
              <a:pPr defTabSz="1128713">
                <a:defRPr/>
              </a:pPr>
              <a:t>41</a:t>
            </a:fld>
            <a:endParaRPr lang="en-US" altLang="zh-CN">
              <a:latin typeface="+mn-lt"/>
            </a:endParaRP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idx="1"/>
          </p:nvPr>
        </p:nvSpPr>
        <p:spPr>
          <a:xfrm>
            <a:off x="304800" y="476250"/>
            <a:ext cx="8839200" cy="5924550"/>
          </a:xfrm>
        </p:spPr>
        <p:txBody>
          <a:bodyPr/>
          <a:lstStyle/>
          <a:p>
            <a:pPr marL="0" indent="0">
              <a:buFont typeface="Monotype Sorts" charset="2"/>
              <a:buNone/>
            </a:pPr>
            <a:r>
              <a:rPr lang="zh-CN" altLang="en-US" sz="4000" b="1">
                <a:latin typeface="楷体_GB2312" pitchFamily="49" charset="-122"/>
                <a:ea typeface="楷体_GB2312" pitchFamily="49" charset="-122"/>
              </a:rPr>
              <a:t>高级语言是一种既能方便地描述客观对象，又能借助于编译器为计算机所接受、理解和执行的人工语言。</a:t>
            </a:r>
          </a:p>
          <a:p>
            <a:pPr marL="365125" lvl="1" indent="0"/>
            <a:r>
              <a:rPr lang="zh-CN" altLang="en-US" sz="3800" b="1">
                <a:latin typeface="楷体_GB2312" pitchFamily="49" charset="-122"/>
                <a:ea typeface="楷体_GB2312" pitchFamily="49" charset="-122"/>
              </a:rPr>
              <a:t>用于科学计算的</a:t>
            </a:r>
            <a:r>
              <a:rPr lang="en-US" altLang="zh-CN" sz="3800" b="1">
                <a:latin typeface="楷体_GB2312" pitchFamily="49" charset="-122"/>
                <a:ea typeface="楷体_GB2312" pitchFamily="49" charset="-122"/>
              </a:rPr>
              <a:t>FORTRAN</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早期非常普及的</a:t>
            </a:r>
            <a:r>
              <a:rPr lang="en-US" altLang="zh-CN" sz="3800" b="1">
                <a:latin typeface="楷体_GB2312" pitchFamily="49" charset="-122"/>
                <a:ea typeface="楷体_GB2312" pitchFamily="49" charset="-122"/>
              </a:rPr>
              <a:t>BASIC</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第一个用严格的文法描述的</a:t>
            </a:r>
            <a:r>
              <a:rPr lang="en-US" altLang="zh-CN" sz="3800" b="1">
                <a:latin typeface="楷体_GB2312" pitchFamily="49" charset="-122"/>
                <a:ea typeface="楷体_GB2312" pitchFamily="49" charset="-122"/>
              </a:rPr>
              <a:t>ALGOL60</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便于编写结构化程序的</a:t>
            </a:r>
            <a:r>
              <a:rPr lang="en-US" altLang="zh-CN" sz="3800" b="1">
                <a:latin typeface="楷体_GB2312" pitchFamily="49" charset="-122"/>
                <a:ea typeface="楷体_GB2312" pitchFamily="49" charset="-122"/>
              </a:rPr>
              <a:t>PASCAL</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本书讲述的</a:t>
            </a:r>
            <a:r>
              <a:rPr lang="en-US" altLang="zh-CN" sz="3800" b="1">
                <a:latin typeface="楷体_GB2312" pitchFamily="49" charset="-122"/>
                <a:ea typeface="楷体_GB2312" pitchFamily="49" charset="-122"/>
              </a:rPr>
              <a:t>C</a:t>
            </a:r>
            <a:r>
              <a:rPr lang="zh-CN" altLang="en-US" sz="3800" b="1">
                <a:latin typeface="楷体_GB2312" pitchFamily="49" charset="-122"/>
                <a:ea typeface="楷体_GB2312" pitchFamily="49" charset="-122"/>
              </a:rPr>
              <a:t>语言。</a:t>
            </a:r>
          </a:p>
        </p:txBody>
      </p:sp>
      <p:sp>
        <p:nvSpPr>
          <p:cNvPr id="5" name="灯片编号占位符 5"/>
          <p:cNvSpPr>
            <a:spLocks noGrp="1"/>
          </p:cNvSpPr>
          <p:nvPr>
            <p:ph type="sldNum" sz="quarter" idx="12"/>
          </p:nvPr>
        </p:nvSpPr>
        <p:spPr/>
        <p:txBody>
          <a:bodyPr/>
          <a:lstStyle/>
          <a:p>
            <a:pPr defTabSz="1128713">
              <a:defRPr/>
            </a:pPr>
            <a:fld id="{9F9AB4DF-F60D-4357-AB83-F133BEA70101}" type="slidenum">
              <a:rPr lang="zh-CN" altLang="en-US">
                <a:latin typeface="+mn-lt"/>
              </a:rPr>
              <a:pPr defTabSz="1128713">
                <a:defRPr/>
              </a:pPr>
              <a:t>42</a:t>
            </a:fld>
            <a:endParaRPr lang="en-US" altLang="zh-CN">
              <a:latin typeface="+mn-lt"/>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1" name="Rectangle 3"/>
          <p:cNvSpPr>
            <a:spLocks noGrp="1" noChangeArrowheads="1"/>
          </p:cNvSpPr>
          <p:nvPr>
            <p:ph idx="1"/>
          </p:nvPr>
        </p:nvSpPr>
        <p:spPr>
          <a:xfrm>
            <a:off x="611188" y="692150"/>
            <a:ext cx="8064500" cy="5672138"/>
          </a:xfrm>
        </p:spPr>
        <p:txBody>
          <a:bodyPr>
            <a:normAutofit/>
          </a:bodyPr>
          <a:lstStyle/>
          <a:p>
            <a:pPr marL="0" indent="0" fontAlgn="auto">
              <a:lnSpc>
                <a:spcPct val="90000"/>
              </a:lnSpc>
              <a:spcAft>
                <a:spcPts val="0"/>
              </a:spcAft>
              <a:buClr>
                <a:schemeClr val="accent3"/>
              </a:buClr>
              <a:buFont typeface="Monotype Sorts" charset="2"/>
              <a:buNone/>
              <a:defRPr/>
            </a:pPr>
            <a:r>
              <a:rPr lang="zh-CN" altLang="en-US" sz="3600" b="1" dirty="0">
                <a:solidFill>
                  <a:srgbClr val="C00000"/>
                </a:solidFill>
                <a:effectLst>
                  <a:outerShdw blurRad="38100" dist="38100" dir="2700000" algn="tl">
                    <a:srgbClr val="000000">
                      <a:alpha val="43137"/>
                    </a:srgbClr>
                  </a:outerShdw>
                </a:effectLst>
                <a:latin typeface="黑体" pitchFamily="2" charset="-122"/>
                <a:ea typeface="黑体" pitchFamily="2" charset="-122"/>
              </a:rPr>
              <a:t>计算机程序</a:t>
            </a:r>
          </a:p>
          <a:p>
            <a:pPr marL="0" indent="0" fontAlgn="auto">
              <a:lnSpc>
                <a:spcPct val="90000"/>
              </a:lnSpc>
              <a:spcAft>
                <a:spcPts val="0"/>
              </a:spcAft>
              <a:buClr>
                <a:schemeClr val="accent3"/>
              </a:buClr>
              <a:buFont typeface="Wingdings 2"/>
              <a:buChar char=""/>
              <a:defRPr/>
            </a:pPr>
            <a:r>
              <a:rPr lang="zh-CN" altLang="en-US" sz="3100" b="1" dirty="0">
                <a:solidFill>
                  <a:srgbClr val="0000FF"/>
                </a:solidFill>
                <a:latin typeface="楷体_GB2312" pitchFamily="49" charset="-122"/>
                <a:ea typeface="楷体_GB2312" pitchFamily="49" charset="-122"/>
              </a:rPr>
              <a:t> </a:t>
            </a:r>
            <a:r>
              <a:rPr lang="zh-CN" altLang="en-US" sz="3100" b="1" dirty="0">
                <a:latin typeface="楷体_GB2312" pitchFamily="49" charset="-122"/>
                <a:ea typeface="楷体_GB2312" pitchFamily="49" charset="-122"/>
              </a:rPr>
              <a:t>为使计算机完成预定的工作，必须把要完成工作的具体步骤编写成相应的计算机指令（序列）。这样的指令序列就是程序。</a:t>
            </a:r>
            <a:endParaRPr lang="en-US" altLang="zh-CN" sz="3100" b="1" dirty="0">
              <a:latin typeface="楷体_GB2312" pitchFamily="49" charset="-122"/>
              <a:ea typeface="楷体_GB2312" pitchFamily="49" charset="-122"/>
            </a:endParaRPr>
          </a:p>
          <a:p>
            <a:pPr marL="365760" lvl="1" indent="0" fontAlgn="auto">
              <a:lnSpc>
                <a:spcPct val="90000"/>
              </a:lnSpc>
              <a:spcAft>
                <a:spcPts val="0"/>
              </a:spcAft>
              <a:buFont typeface="Wingdings 2"/>
              <a:buChar char=""/>
              <a:defRPr/>
            </a:pPr>
            <a:r>
              <a:rPr lang="zh-CN" altLang="en-US" sz="3100" b="1" dirty="0">
                <a:latin typeface="楷体_GB2312" pitchFamily="49" charset="-122"/>
                <a:ea typeface="楷体_GB2312" pitchFamily="49" charset="-122"/>
              </a:rPr>
              <a:t>计算机程序主要包含两方面的内容：</a:t>
            </a:r>
          </a:p>
          <a:p>
            <a:pPr marL="0" indent="0" fontAlgn="auto">
              <a:lnSpc>
                <a:spcPct val="90000"/>
              </a:lnSpc>
              <a:spcAft>
                <a:spcPts val="0"/>
              </a:spcAft>
              <a:buClr>
                <a:schemeClr val="accent3"/>
              </a:buClr>
              <a:buFont typeface="Monotype Sorts" charset="2"/>
              <a:buNone/>
              <a:defRPr/>
            </a:pPr>
            <a:r>
              <a:rPr lang="zh-CN" altLang="en-US" sz="3100" b="1" dirty="0">
                <a:solidFill>
                  <a:srgbClr val="CC0000"/>
                </a:solidFill>
                <a:latin typeface="楷体_GB2312" pitchFamily="49" charset="-122"/>
                <a:ea typeface="楷体_GB2312" pitchFamily="49" charset="-122"/>
              </a:rPr>
              <a:t>  </a:t>
            </a:r>
            <a:r>
              <a:rPr lang="zh-CN" altLang="en-US" sz="3100" b="1" dirty="0">
                <a:solidFill>
                  <a:srgbClr val="C00000"/>
                </a:solidFill>
                <a:latin typeface="楷体_GB2312" pitchFamily="49" charset="-122"/>
                <a:ea typeface="楷体_GB2312" pitchFamily="49" charset="-122"/>
              </a:rPr>
              <a:t>数据结构、算法</a:t>
            </a:r>
          </a:p>
          <a:p>
            <a:pPr marL="365760" lvl="1" indent="0" fontAlgn="auto">
              <a:lnSpc>
                <a:spcPct val="90000"/>
              </a:lnSpc>
              <a:spcAft>
                <a:spcPts val="0"/>
              </a:spcAft>
              <a:buFont typeface="Wingdings 2"/>
              <a:buChar char=""/>
              <a:defRPr/>
            </a:pPr>
            <a:r>
              <a:rPr lang="zh-CN" altLang="en-US" sz="2900" b="1" dirty="0">
                <a:latin typeface="楷体_GB2312" pitchFamily="49" charset="-122"/>
                <a:ea typeface="楷体_GB2312" pitchFamily="49" charset="-122"/>
              </a:rPr>
              <a:t>数据结构：描述数据及数据之间的关系</a:t>
            </a:r>
          </a:p>
          <a:p>
            <a:pPr marL="365760" lvl="1" indent="0" fontAlgn="auto">
              <a:lnSpc>
                <a:spcPct val="90000"/>
              </a:lnSpc>
              <a:spcAft>
                <a:spcPts val="0"/>
              </a:spcAft>
              <a:buFont typeface="Wingdings 2"/>
              <a:buChar char=""/>
              <a:defRPr/>
            </a:pPr>
            <a:r>
              <a:rPr lang="zh-CN" altLang="en-US" sz="2900" b="1" dirty="0">
                <a:latin typeface="楷体_GB2312" pitchFamily="49" charset="-122"/>
                <a:ea typeface="楷体_GB2312" pitchFamily="49" charset="-122"/>
              </a:rPr>
              <a:t>算法：描述数据对象的处理过程。</a:t>
            </a:r>
          </a:p>
        </p:txBody>
      </p:sp>
      <p:sp>
        <p:nvSpPr>
          <p:cNvPr id="5" name="灯片编号占位符 5"/>
          <p:cNvSpPr>
            <a:spLocks noGrp="1"/>
          </p:cNvSpPr>
          <p:nvPr>
            <p:ph type="sldNum" sz="quarter" idx="12"/>
          </p:nvPr>
        </p:nvSpPr>
        <p:spPr/>
        <p:txBody>
          <a:bodyPr/>
          <a:lstStyle/>
          <a:p>
            <a:pPr defTabSz="1128713">
              <a:defRPr/>
            </a:pPr>
            <a:fld id="{CE3AF22B-8405-49A7-9FC4-012043ABFF9F}" type="slidenum">
              <a:rPr lang="zh-CN" altLang="en-US">
                <a:latin typeface="+mn-lt"/>
              </a:rPr>
              <a:pPr defTabSz="1128713">
                <a:defRPr/>
              </a:pPr>
              <a:t>43</a:t>
            </a:fld>
            <a:endParaRPr lang="en-US" altLang="zh-CN">
              <a:latin typeface="+mn-lt"/>
            </a:endParaRPr>
          </a:p>
        </p:txBody>
      </p:sp>
    </p:spTree>
    <p:extLst>
      <p:ext uri="{BB962C8B-B14F-4D97-AF65-F5344CB8AC3E}">
        <p14:creationId xmlns:p14="http://schemas.microsoft.com/office/powerpoint/2010/main" val="3726106314"/>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1" name="Rectangle 3"/>
          <p:cNvSpPr>
            <a:spLocks noGrp="1" noChangeArrowheads="1"/>
          </p:cNvSpPr>
          <p:nvPr>
            <p:ph idx="1"/>
          </p:nvPr>
        </p:nvSpPr>
        <p:spPr>
          <a:xfrm>
            <a:off x="539750" y="476250"/>
            <a:ext cx="8353425" cy="6049963"/>
          </a:xfrm>
        </p:spPr>
        <p:txBody>
          <a:bodyPr>
            <a:normAutofit/>
          </a:bodyPr>
          <a:lstStyle/>
          <a:p>
            <a:pPr marL="0" indent="0" fontAlgn="auto">
              <a:spcAft>
                <a:spcPts val="0"/>
              </a:spcAft>
              <a:buClr>
                <a:schemeClr val="accent3"/>
              </a:buClr>
              <a:buFont typeface="Monotype Sorts" charset="2"/>
              <a:buNone/>
              <a:defRPr/>
            </a:pPr>
            <a:r>
              <a:rPr lang="zh-CN" altLang="en-US" sz="3200" b="1" dirty="0">
                <a:solidFill>
                  <a:srgbClr val="C00000"/>
                </a:solidFill>
                <a:latin typeface="黑体" pitchFamily="2" charset="-122"/>
                <a:ea typeface="黑体" pitchFamily="2" charset="-122"/>
              </a:rPr>
              <a:t>算法</a:t>
            </a:r>
          </a:p>
          <a:p>
            <a:pPr marL="0" indent="0" fontAlgn="auto">
              <a:spcAft>
                <a:spcPts val="0"/>
              </a:spcAft>
              <a:buClr>
                <a:schemeClr val="accent3"/>
              </a:buClr>
              <a:buFont typeface="Monotype Sorts"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Wingdings 2"/>
              <a:buChar char=""/>
              <a:defRPr/>
            </a:pPr>
            <a:r>
              <a:rPr lang="zh-CN" altLang="en-US" sz="3600" b="1" dirty="0">
                <a:solidFill>
                  <a:srgbClr val="FF6600"/>
                </a:solidFill>
                <a:latin typeface="楷体_GB2312" pitchFamily="49" charset="-122"/>
                <a:ea typeface="楷体_GB2312" pitchFamily="49" charset="-122"/>
              </a:rPr>
              <a:t> </a:t>
            </a:r>
            <a:r>
              <a:rPr lang="zh-CN" altLang="en-US" sz="3600" b="1" dirty="0">
                <a:latin typeface="楷体_GB2312" pitchFamily="49" charset="-122"/>
                <a:ea typeface="楷体_GB2312" pitchFamily="49" charset="-122"/>
              </a:rPr>
              <a:t>算法是解题过程的精确描述，由有限条可执行的、有确定结果的指令构成。</a:t>
            </a:r>
            <a:endParaRPr lang="en-US" altLang="zh-CN" sz="3600" b="1" dirty="0">
              <a:latin typeface="楷体_GB2312" pitchFamily="49" charset="-122"/>
              <a:ea typeface="楷体_GB2312" pitchFamily="49" charset="-122"/>
            </a:endParaRPr>
          </a:p>
          <a:p>
            <a:pPr marL="0" indent="0" fontAlgn="auto">
              <a:spcAft>
                <a:spcPts val="0"/>
              </a:spcAft>
              <a:buClr>
                <a:schemeClr val="accent3"/>
              </a:buClr>
              <a:buFont typeface="Wingdings 2"/>
              <a:buChar char=""/>
              <a:defRPr/>
            </a:pPr>
            <a:r>
              <a:rPr lang="zh-CN" altLang="en-US" sz="3600" b="1" dirty="0">
                <a:solidFill>
                  <a:srgbClr val="0000FF"/>
                </a:solidFill>
                <a:latin typeface="楷体_GB2312" pitchFamily="49" charset="-122"/>
                <a:ea typeface="楷体_GB2312" pitchFamily="49" charset="-122"/>
              </a:rPr>
              <a:t> </a:t>
            </a:r>
            <a:r>
              <a:rPr lang="zh-CN" altLang="en-US" sz="3600" b="1" dirty="0">
                <a:latin typeface="楷体_GB2312" pitchFamily="49" charset="-122"/>
                <a:ea typeface="楷体_GB2312" pitchFamily="49" charset="-122"/>
              </a:rPr>
              <a:t>从程序的角度理解：算法由明确说明的一组简单指令和规则组成。计算机按规则执行其中的指令能在有限的步骤内解决目标问题或者完成函数的计算。</a:t>
            </a:r>
          </a:p>
        </p:txBody>
      </p:sp>
      <p:sp>
        <p:nvSpPr>
          <p:cNvPr id="5" name="灯片编号占位符 5"/>
          <p:cNvSpPr>
            <a:spLocks noGrp="1"/>
          </p:cNvSpPr>
          <p:nvPr>
            <p:ph type="sldNum" sz="quarter" idx="12"/>
          </p:nvPr>
        </p:nvSpPr>
        <p:spPr/>
        <p:txBody>
          <a:bodyPr/>
          <a:lstStyle/>
          <a:p>
            <a:pPr defTabSz="1128713">
              <a:defRPr/>
            </a:pPr>
            <a:fld id="{D1B6EE79-9641-4E90-8DE2-CA97B0A28499}" type="slidenum">
              <a:rPr lang="zh-CN" altLang="en-US">
                <a:latin typeface="+mn-lt"/>
              </a:rPr>
              <a:pPr defTabSz="1128713">
                <a:defRPr/>
              </a:pPr>
              <a:t>44</a:t>
            </a:fld>
            <a:endParaRPr lang="en-US" altLang="zh-CN">
              <a:latin typeface="+mn-lt"/>
            </a:endParaRP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idx="1"/>
          </p:nvPr>
        </p:nvSpPr>
        <p:spPr>
          <a:xfrm>
            <a:off x="539750" y="476250"/>
            <a:ext cx="8353425" cy="6049963"/>
          </a:xfrm>
        </p:spPr>
        <p:txBody>
          <a:bodyPr/>
          <a:lstStyle/>
          <a:p>
            <a:pPr marL="0" indent="0">
              <a:lnSpc>
                <a:spcPct val="90000"/>
              </a:lnSpc>
            </a:pPr>
            <a:r>
              <a:rPr lang="zh-CN" altLang="en-US" sz="3100" b="1" dirty="0">
                <a:ea typeface="楷体_GB2312" pitchFamily="49" charset="-122"/>
              </a:rPr>
              <a:t>求解同一个问题可能会有多种算法可供选择，选择算法的标准首先是算法的正确性和可靠性，算法简单性和易理解性。其它的标准还有算法执行速度快，所需要的存储空间少等。</a:t>
            </a:r>
            <a:endParaRPr lang="en-US" altLang="zh-CN" sz="3100" b="1" dirty="0">
              <a:ea typeface="楷体_GB2312" pitchFamily="49" charset="-122"/>
            </a:endParaRPr>
          </a:p>
          <a:p>
            <a:pPr marL="0" indent="0">
              <a:lnSpc>
                <a:spcPct val="90000"/>
              </a:lnSpc>
            </a:pPr>
            <a:endParaRPr lang="zh-CN" altLang="en-US" sz="3100" b="1" dirty="0">
              <a:ea typeface="楷体_GB2312" pitchFamily="49" charset="-122"/>
            </a:endParaRPr>
          </a:p>
          <a:p>
            <a:pPr marL="0" indent="0">
              <a:lnSpc>
                <a:spcPct val="90000"/>
              </a:lnSpc>
            </a:pPr>
            <a:r>
              <a:rPr lang="zh-CN" altLang="en-US" sz="3100" b="1" dirty="0">
                <a:ea typeface="楷体_GB2312" pitchFamily="49" charset="-122"/>
              </a:rPr>
              <a:t> 描述算法可用流程图</a:t>
            </a:r>
            <a:r>
              <a:rPr lang="en-US" altLang="zh-CN" sz="3100" b="1" dirty="0">
                <a:ea typeface="楷体_GB2312" pitchFamily="49" charset="-122"/>
              </a:rPr>
              <a:t>(</a:t>
            </a:r>
            <a:r>
              <a:rPr lang="zh-CN" altLang="en-US" sz="3100" b="1" dirty="0">
                <a:ea typeface="楷体_GB2312" pitchFamily="49" charset="-122"/>
              </a:rPr>
              <a:t>框图</a:t>
            </a:r>
            <a:r>
              <a:rPr lang="en-US" altLang="zh-CN" sz="3100" b="1" dirty="0">
                <a:ea typeface="楷体_GB2312" pitchFamily="49" charset="-122"/>
              </a:rPr>
              <a:t>)</a:t>
            </a:r>
            <a:r>
              <a:rPr lang="zh-CN" altLang="en-US" sz="3100" b="1" dirty="0">
                <a:ea typeface="楷体_GB2312" pitchFamily="49" charset="-122"/>
              </a:rPr>
              <a:t>。流程图是算法的图形描述，由于流程图往往比程序更直观清晰，容易阅读和理解，所以它不仅可以作为编写程序的依据，而且也是交流算法思想的重要工具。</a:t>
            </a:r>
          </a:p>
        </p:txBody>
      </p:sp>
      <p:sp>
        <p:nvSpPr>
          <p:cNvPr id="5" name="灯片编号占位符 5"/>
          <p:cNvSpPr>
            <a:spLocks noGrp="1"/>
          </p:cNvSpPr>
          <p:nvPr>
            <p:ph type="sldNum" sz="quarter" idx="12"/>
          </p:nvPr>
        </p:nvSpPr>
        <p:spPr/>
        <p:txBody>
          <a:bodyPr/>
          <a:lstStyle/>
          <a:p>
            <a:pPr defTabSz="1128713">
              <a:defRPr/>
            </a:pPr>
            <a:fld id="{4BD09D39-E07E-4B6A-A075-0E18F3E34C6A}" type="slidenum">
              <a:rPr lang="zh-CN" altLang="en-US">
                <a:latin typeface="+mn-lt"/>
              </a:rPr>
              <a:pPr defTabSz="1128713">
                <a:defRPr/>
              </a:pPr>
              <a:t>45</a:t>
            </a:fld>
            <a:endParaRPr lang="en-US" altLang="zh-CN">
              <a:latin typeface="+mn-lt"/>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idx="1"/>
          </p:nvPr>
        </p:nvSpPr>
        <p:spPr>
          <a:xfrm>
            <a:off x="250825" y="1196975"/>
            <a:ext cx="8569325" cy="5251450"/>
          </a:xfrm>
        </p:spPr>
        <p:txBody>
          <a:bodyPr>
            <a:normAutofit/>
          </a:bodyPr>
          <a:lstStyle/>
          <a:p>
            <a:pPr marL="0" indent="0" fontAlgn="auto">
              <a:spcAft>
                <a:spcPts val="0"/>
              </a:spcAft>
              <a:buClr>
                <a:schemeClr val="accent3"/>
              </a:buClr>
              <a:buFont typeface="Monotype Sorts" pitchFamily="2" charset="2"/>
              <a:buNone/>
              <a:defRPr/>
            </a:pPr>
            <a:r>
              <a:rPr lang="zh-CN" altLang="en-US" sz="2800" b="1">
                <a:solidFill>
                  <a:srgbClr val="0000FF"/>
                </a:solidFill>
                <a:effectLst>
                  <a:outerShdw blurRad="38100" dist="38100" dir="2700000" algn="tl">
                    <a:srgbClr val="000000"/>
                  </a:outerShdw>
                </a:effectLst>
                <a:latin typeface="楷体_GB2312" pitchFamily="49" charset="-122"/>
                <a:ea typeface="楷体_GB2312" pitchFamily="49" charset="-122"/>
              </a:rPr>
              <a:t>     </a:t>
            </a:r>
            <a:endParaRPr lang="zh-CN" altLang="en-US" sz="3600" b="1">
              <a:solidFill>
                <a:srgbClr val="0000FF"/>
              </a:solidFill>
              <a:effectLst>
                <a:outerShdw blurRad="38100" dist="38100" dir="2700000" algn="tl">
                  <a:srgbClr val="000000"/>
                </a:outerShdw>
              </a:effectLst>
              <a:latin typeface="楷体_GB2312" pitchFamily="49" charset="-122"/>
              <a:ea typeface="楷体_GB2312" pitchFamily="49" charset="-122"/>
            </a:endParaRPr>
          </a:p>
        </p:txBody>
      </p:sp>
      <p:sp>
        <p:nvSpPr>
          <p:cNvPr id="27" name="灯片编号占位符 5"/>
          <p:cNvSpPr>
            <a:spLocks noGrp="1"/>
          </p:cNvSpPr>
          <p:nvPr>
            <p:ph type="sldNum" sz="quarter" idx="12"/>
          </p:nvPr>
        </p:nvSpPr>
        <p:spPr/>
        <p:txBody>
          <a:bodyPr/>
          <a:lstStyle/>
          <a:p>
            <a:pPr defTabSz="1128713">
              <a:defRPr/>
            </a:pPr>
            <a:fld id="{B882CAE5-FBD5-471B-A69B-2D72AFAF59E2}" type="slidenum">
              <a:rPr lang="zh-CN" altLang="en-US">
                <a:latin typeface="+mn-lt"/>
              </a:rPr>
              <a:pPr defTabSz="1128713">
                <a:defRPr/>
              </a:pPr>
              <a:t>46</a:t>
            </a:fld>
            <a:endParaRPr lang="en-US" altLang="zh-CN">
              <a:latin typeface="+mn-lt"/>
            </a:endParaRPr>
          </a:p>
        </p:txBody>
      </p:sp>
      <p:sp>
        <p:nvSpPr>
          <p:cNvPr id="43012" name="Text Box 26"/>
          <p:cNvSpPr txBox="1">
            <a:spLocks noChangeArrowheads="1"/>
          </p:cNvSpPr>
          <p:nvPr/>
        </p:nvSpPr>
        <p:spPr bwMode="auto">
          <a:xfrm>
            <a:off x="755650" y="549275"/>
            <a:ext cx="8064500" cy="969963"/>
          </a:xfrm>
          <a:prstGeom prst="rect">
            <a:avLst/>
          </a:prstGeom>
          <a:noFill/>
          <a:ln w="9525">
            <a:noFill/>
            <a:miter lim="800000"/>
            <a:headEnd/>
            <a:tailEnd/>
          </a:ln>
        </p:spPr>
        <p:txBody>
          <a:bodyPr>
            <a:spAutoFit/>
          </a:bodyPr>
          <a:lstStyle/>
          <a:p>
            <a:pPr eaLnBrk="1" hangingPunct="1">
              <a:lnSpc>
                <a:spcPct val="80000"/>
              </a:lnSpc>
              <a:spcBef>
                <a:spcPct val="20000"/>
              </a:spcBef>
              <a:buClr>
                <a:schemeClr val="hlink"/>
              </a:buClr>
              <a:buSzPct val="50000"/>
              <a:buFont typeface="Monotype Sorts" charset="2"/>
              <a:buNone/>
            </a:pPr>
            <a:r>
              <a:rPr kumimoji="1" lang="zh-CN" altLang="en-US" b="1"/>
              <a:t>输入</a:t>
            </a:r>
            <a:r>
              <a:rPr kumimoji="1" lang="en-US" altLang="zh-CN" b="1"/>
              <a:t>10</a:t>
            </a:r>
            <a:r>
              <a:rPr kumimoji="1" lang="zh-CN" altLang="en-US" b="1"/>
              <a:t>个整数求和计算的算法</a:t>
            </a:r>
          </a:p>
          <a:p>
            <a:endParaRPr lang="zh-CN" altLang="en-US"/>
          </a:p>
        </p:txBody>
      </p:sp>
      <p:pic>
        <p:nvPicPr>
          <p:cNvPr id="43013" name="Picture 26" descr="图1_1"/>
          <p:cNvPicPr>
            <a:picLocks noChangeAspect="1" noChangeArrowheads="1"/>
          </p:cNvPicPr>
          <p:nvPr/>
        </p:nvPicPr>
        <p:blipFill>
          <a:blip r:embed="rId2" cstate="print"/>
          <a:srcRect/>
          <a:stretch>
            <a:fillRect/>
          </a:stretch>
        </p:blipFill>
        <p:spPr bwMode="auto">
          <a:xfrm>
            <a:off x="2419350" y="1143000"/>
            <a:ext cx="4938713" cy="5214938"/>
          </a:xfrm>
          <a:prstGeom prst="rect">
            <a:avLst/>
          </a:prstGeom>
          <a:noFill/>
          <a:ln w="9525">
            <a:noFill/>
            <a:miter lim="800000"/>
            <a:headEnd/>
            <a:tailEnd/>
          </a:ln>
        </p:spPr>
      </p:pic>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p:cNvSpPr>
            <a:spLocks noGrp="1" noChangeArrowheads="1"/>
          </p:cNvSpPr>
          <p:nvPr>
            <p:ph idx="1"/>
          </p:nvPr>
        </p:nvSpPr>
        <p:spPr>
          <a:xfrm>
            <a:off x="323850" y="476250"/>
            <a:ext cx="8424863" cy="6049963"/>
          </a:xfrm>
        </p:spPr>
        <p:txBody>
          <a:bodyPr>
            <a:normAutofit/>
          </a:bodyPr>
          <a:lstStyle/>
          <a:p>
            <a:pPr marL="0" indent="0" fontAlgn="auto">
              <a:lnSpc>
                <a:spcPct val="9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结构化程序设计方法中，目前多数采用结构化的伪代码来描述算法。本书采用与</a:t>
            </a:r>
            <a:r>
              <a:rPr lang="en-US" altLang="zh-CN" sz="3200" b="1" dirty="0">
                <a:latin typeface="楷体_GB2312" pitchFamily="49" charset="-122"/>
                <a:ea typeface="楷体_GB2312" pitchFamily="49" charset="-122"/>
              </a:rPr>
              <a:t>C</a:t>
            </a:r>
            <a:r>
              <a:rPr lang="zh-CN" altLang="en-US" sz="3200" b="1" dirty="0">
                <a:latin typeface="楷体_GB2312" pitchFamily="49" charset="-122"/>
                <a:ea typeface="楷体_GB2312" pitchFamily="49" charset="-122"/>
              </a:rPr>
              <a:t>语言控制结构一致的伪代码描述算法。例如，上图的算法用伪代码可描述如下：</a:t>
            </a:r>
          </a:p>
          <a:p>
            <a:pPr marL="0" indent="0" fontAlgn="auto">
              <a:lnSpc>
                <a:spcPct val="90000"/>
              </a:lnSpc>
              <a:spcAft>
                <a:spcPts val="0"/>
              </a:spcAft>
              <a:buClr>
                <a:schemeClr val="accent3"/>
              </a:buClr>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    </a:t>
            </a:r>
            <a:endParaRPr lang="en-US" altLang="zh-CN" b="1" dirty="0">
              <a:effectLst>
                <a:outerShdw blurRad="38100" dist="38100" dir="2700000" algn="tl">
                  <a:srgbClr val="000000"/>
                </a:outerShdw>
              </a:effectLst>
              <a:latin typeface="楷体_GB2312" pitchFamily="49" charset="-122"/>
              <a:ea typeface="楷体_GB2312" pitchFamily="49" charset="-122"/>
            </a:endParaRP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s = 0; k = 0;</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a:solidFill>
                  <a:srgbClr val="FF0000"/>
                </a:solidFill>
                <a:effectLst>
                  <a:outerShdw blurRad="38100" dist="38100" dir="2700000" algn="tl">
                    <a:srgbClr val="000000"/>
                  </a:outerShdw>
                </a:effectLst>
                <a:latin typeface="楷体_GB2312" pitchFamily="49" charset="-122"/>
                <a:ea typeface="楷体_GB2312" pitchFamily="49" charset="-122"/>
              </a:rPr>
              <a:t>do</a:t>
            </a:r>
            <a:r>
              <a:rPr lang="en-US" altLang="zh-CN" b="1" dirty="0">
                <a:effectLst>
                  <a:outerShdw blurRad="38100" dist="38100" dir="2700000" algn="tl">
                    <a:srgbClr val="000000"/>
                  </a:outerShdw>
                </a:effectLst>
                <a:latin typeface="楷体_GB2312" pitchFamily="49" charset="-122"/>
                <a:ea typeface="楷体_GB2312" pitchFamily="49" charset="-122"/>
              </a:rPr>
              <a:t> {</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zh-CN" altLang="en-US" b="1" dirty="0">
                <a:effectLst>
                  <a:outerShdw blurRad="38100" dist="38100" dir="2700000" algn="tl">
                    <a:srgbClr val="000000"/>
                  </a:outerShdw>
                </a:effectLst>
                <a:latin typeface="楷体_GB2312" pitchFamily="49" charset="-122"/>
                <a:ea typeface="楷体_GB2312" pitchFamily="49" charset="-122"/>
              </a:rPr>
              <a:t>输入</a:t>
            </a:r>
            <a:r>
              <a:rPr lang="en-US" altLang="zh-CN" b="1" dirty="0">
                <a:effectLst>
                  <a:outerShdw blurRad="38100" dist="38100" dir="2700000" algn="tl">
                    <a:srgbClr val="000000"/>
                  </a:outerShdw>
                </a:effectLst>
                <a:latin typeface="楷体_GB2312" pitchFamily="49" charset="-122"/>
                <a:ea typeface="楷体_GB2312" pitchFamily="49" charset="-122"/>
              </a:rPr>
              <a:t>x;</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s = </a:t>
            </a:r>
            <a:r>
              <a:rPr lang="en-US" altLang="zh-CN" b="1" dirty="0" err="1">
                <a:effectLst>
                  <a:outerShdw blurRad="38100" dist="38100" dir="2700000" algn="tl">
                    <a:srgbClr val="000000"/>
                  </a:outerShdw>
                </a:effectLst>
                <a:latin typeface="楷体_GB2312" pitchFamily="49" charset="-122"/>
                <a:ea typeface="楷体_GB2312" pitchFamily="49" charset="-122"/>
              </a:rPr>
              <a:t>s+x</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k = k+1;</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 </a:t>
            </a:r>
            <a:r>
              <a:rPr lang="en-US" altLang="zh-CN" b="1" dirty="0">
                <a:solidFill>
                  <a:srgbClr val="FF0000"/>
                </a:solidFill>
                <a:effectLst>
                  <a:outerShdw blurRad="38100" dist="38100" dir="2700000" algn="tl">
                    <a:srgbClr val="000000"/>
                  </a:outerShdw>
                </a:effectLst>
                <a:latin typeface="楷体_GB2312" pitchFamily="49" charset="-122"/>
                <a:ea typeface="楷体_GB2312" pitchFamily="49" charset="-122"/>
              </a:rPr>
              <a:t>while</a:t>
            </a:r>
            <a:r>
              <a:rPr lang="en-US" altLang="zh-CN" b="1" dirty="0">
                <a:effectLst>
                  <a:outerShdw blurRad="38100" dist="38100" dir="2700000" algn="tl">
                    <a:srgbClr val="000000"/>
                  </a:outerShdw>
                </a:effectLst>
                <a:latin typeface="楷体_GB2312" pitchFamily="49" charset="-122"/>
                <a:ea typeface="楷体_GB2312" pitchFamily="49" charset="-122"/>
              </a:rPr>
              <a:t>(k &lt; 10); </a:t>
            </a:r>
          </a:p>
        </p:txBody>
      </p:sp>
      <p:sp>
        <p:nvSpPr>
          <p:cNvPr id="5" name="灯片编号占位符 5"/>
          <p:cNvSpPr>
            <a:spLocks noGrp="1"/>
          </p:cNvSpPr>
          <p:nvPr>
            <p:ph type="sldNum" sz="quarter" idx="12"/>
          </p:nvPr>
        </p:nvSpPr>
        <p:spPr/>
        <p:txBody>
          <a:bodyPr/>
          <a:lstStyle/>
          <a:p>
            <a:pPr defTabSz="1128713">
              <a:defRPr/>
            </a:pPr>
            <a:fld id="{4806FE77-99DB-4149-9306-D0E402024DB5}" type="slidenum">
              <a:rPr lang="zh-CN" altLang="en-US">
                <a:latin typeface="+mn-lt"/>
              </a:rPr>
              <a:pPr defTabSz="1128713">
                <a:defRPr/>
              </a:pPr>
              <a:t>47</a:t>
            </a:fld>
            <a:endParaRPr lang="en-US" altLang="zh-CN">
              <a:latin typeface="+mn-lt"/>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3" name="Rectangle 3"/>
          <p:cNvSpPr>
            <a:spLocks noGrp="1" noChangeArrowheads="1"/>
          </p:cNvSpPr>
          <p:nvPr>
            <p:ph idx="1"/>
          </p:nvPr>
        </p:nvSpPr>
        <p:spPr>
          <a:xfrm>
            <a:off x="304800" y="333375"/>
            <a:ext cx="8515350" cy="6296025"/>
          </a:xfrm>
        </p:spPr>
        <p:txBody>
          <a:bodyPr>
            <a:normAutofit/>
          </a:bodyPr>
          <a:lstStyle/>
          <a:p>
            <a:pPr marL="0" indent="0" fontAlgn="auto">
              <a:lnSpc>
                <a:spcPct val="90000"/>
              </a:lnSpc>
              <a:spcAft>
                <a:spcPts val="0"/>
              </a:spcAft>
              <a:buClr>
                <a:schemeClr val="accent3"/>
              </a:buClr>
              <a:buFont typeface="Monotype Sorts" charset="2"/>
              <a:buNone/>
              <a:defRPr/>
            </a:pPr>
            <a:r>
              <a:rPr lang="zh-CN" altLang="en-US" sz="3600" b="1" dirty="0">
                <a:solidFill>
                  <a:srgbClr val="C00000"/>
                </a:solidFill>
                <a:latin typeface="黑体" pitchFamily="2" charset="-122"/>
                <a:ea typeface="黑体" pitchFamily="2" charset="-122"/>
              </a:rPr>
              <a:t>数据类型与数据结构</a:t>
            </a:r>
          </a:p>
          <a:p>
            <a:pPr marL="0" indent="0" fontAlgn="auto">
              <a:lnSpc>
                <a:spcPct val="90000"/>
              </a:lnSpc>
              <a:spcAft>
                <a:spcPts val="0"/>
              </a:spcAft>
              <a:buClr>
                <a:schemeClr val="accent3"/>
              </a:buClr>
              <a:buFont typeface="Monotype Sorts" charset="2"/>
              <a:buNone/>
              <a:defRPr/>
            </a:pPr>
            <a:endParaRPr lang="zh-CN" altLang="en-US"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lnSpc>
                <a:spcPct val="90000"/>
              </a:lnSpc>
              <a:spcAft>
                <a:spcPts val="0"/>
              </a:spcAft>
              <a:buClr>
                <a:schemeClr val="accent3"/>
              </a:buClr>
              <a:buFont typeface="Wingdings 2"/>
              <a:buChar char=""/>
              <a:defRPr/>
            </a:pPr>
            <a:r>
              <a:rPr lang="zh-CN" altLang="en-US" sz="3100" b="1" dirty="0">
                <a:latin typeface="楷体_GB2312" pitchFamily="49" charset="-122"/>
                <a:ea typeface="楷体_GB2312" pitchFamily="49" charset="-122"/>
              </a:rPr>
              <a:t> 程序处理的是描述客观事物的数据，由于事物的多样性，数据形式也不尽相同，如整数、实数、字符，以及所有计算机能够接收、存储和处理的各种各样符号集合。</a:t>
            </a:r>
          </a:p>
          <a:p>
            <a:pPr marL="0" indent="0" fontAlgn="auto">
              <a:lnSpc>
                <a:spcPct val="90000"/>
              </a:lnSpc>
              <a:spcAft>
                <a:spcPts val="0"/>
              </a:spcAft>
              <a:buClr>
                <a:schemeClr val="accent3"/>
              </a:buClr>
              <a:buFont typeface="Wingdings 2"/>
              <a:buChar char=""/>
              <a:defRPr/>
            </a:pPr>
            <a:r>
              <a:rPr lang="zh-CN" altLang="en-US" sz="3100" b="1" dirty="0">
                <a:latin typeface="楷体_GB2312" pitchFamily="49" charset="-122"/>
                <a:ea typeface="楷体_GB2312" pitchFamily="49" charset="-122"/>
              </a:rPr>
              <a:t> 在计算机程序中，形式不同的数据采用数据类型来标识。变量的数据类型说明变量可能取的值的集合，以及可能施加于变量的操作的集合。</a:t>
            </a:r>
          </a:p>
          <a:p>
            <a:pPr marL="0" indent="0" fontAlgn="auto">
              <a:lnSpc>
                <a:spcPct val="90000"/>
              </a:lnSpc>
              <a:spcAft>
                <a:spcPts val="0"/>
              </a:spcAft>
              <a:buClr>
                <a:schemeClr val="accent3"/>
              </a:buClr>
              <a:buFont typeface="Monotype Sorts" charset="2"/>
              <a:buNone/>
              <a:defRPr/>
            </a:pPr>
            <a:r>
              <a:rPr lang="zh-CN" altLang="en-US" sz="3100" b="1" dirty="0">
                <a:latin typeface="楷体_GB2312" pitchFamily="49" charset="-122"/>
                <a:ea typeface="楷体_GB2312" pitchFamily="49" charset="-122"/>
              </a:rPr>
              <a:t>例如，对于记录计算机个数的变量，一般只能取大于或等于零的整数，对它施行整数的四则运算。所以数据类型</a:t>
            </a:r>
            <a:r>
              <a:rPr lang="zh-CN" altLang="en-US" sz="3100" b="1" dirty="0">
                <a:solidFill>
                  <a:srgbClr val="FF0000"/>
                </a:solidFill>
                <a:latin typeface="楷体_GB2312" pitchFamily="49" charset="-122"/>
                <a:ea typeface="楷体_GB2312" pitchFamily="49" charset="-122"/>
              </a:rPr>
              <a:t>不仅定义了一个形式相同的数据集，也定义了对这组数据可施行的一个操作集</a:t>
            </a:r>
            <a:r>
              <a:rPr lang="zh-CN" altLang="en-US" sz="31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defTabSz="1128713">
              <a:defRPr/>
            </a:pPr>
            <a:fld id="{3851234C-6FF8-48D6-B076-0702CDFB1F97}" type="slidenum">
              <a:rPr lang="zh-CN" altLang="en-US">
                <a:latin typeface="+mn-lt"/>
              </a:rPr>
              <a:pPr defTabSz="1128713">
                <a:defRPr/>
              </a:pPr>
              <a:t>48</a:t>
            </a:fld>
            <a:endParaRPr lang="en-US" altLang="zh-CN">
              <a:latin typeface="+mn-lt"/>
            </a:endParaRP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idx="1"/>
          </p:nvPr>
        </p:nvSpPr>
        <p:spPr>
          <a:xfrm>
            <a:off x="304800" y="928688"/>
            <a:ext cx="8515350" cy="5700712"/>
          </a:xfrm>
        </p:spPr>
        <p:txBody>
          <a:bodyPr/>
          <a:lstStyle/>
          <a:p>
            <a:pPr marL="0" indent="0"/>
            <a:r>
              <a:rPr lang="zh-CN" altLang="en-US" sz="3600" b="1" dirty="0">
                <a:ea typeface="楷体_GB2312" pitchFamily="49" charset="-122"/>
              </a:rPr>
              <a:t> 数据结构是指数据对象及其相互关系，程序的数据结构描述了程序中数据间的组织形式和结构关系。</a:t>
            </a:r>
          </a:p>
          <a:p>
            <a:pPr marL="0" indent="0">
              <a:buFont typeface="Monotype Sorts" charset="2"/>
              <a:buNone/>
            </a:pPr>
            <a:endParaRPr lang="zh-CN" altLang="en-US" sz="3600" b="1" dirty="0">
              <a:ea typeface="楷体_GB2312" pitchFamily="49" charset="-122"/>
            </a:endParaRPr>
          </a:p>
          <a:p>
            <a:pPr marL="0" indent="0"/>
            <a:r>
              <a:rPr lang="zh-CN" altLang="en-US" sz="3600" b="1" dirty="0">
                <a:ea typeface="楷体_GB2312" pitchFamily="49" charset="-122"/>
              </a:rPr>
              <a:t>数据结构与算法有密切的关系，明确了问题的算法，才能较好地设计数据结构。选择好的算法，又常常依赖于合理的数据结构。数据结构是构造算法的基础。</a:t>
            </a:r>
          </a:p>
        </p:txBody>
      </p:sp>
      <p:sp>
        <p:nvSpPr>
          <p:cNvPr id="5" name="灯片编号占位符 5"/>
          <p:cNvSpPr>
            <a:spLocks noGrp="1"/>
          </p:cNvSpPr>
          <p:nvPr>
            <p:ph type="sldNum" sz="quarter" idx="12"/>
          </p:nvPr>
        </p:nvSpPr>
        <p:spPr/>
        <p:txBody>
          <a:bodyPr/>
          <a:lstStyle/>
          <a:p>
            <a:pPr defTabSz="1128713">
              <a:defRPr/>
            </a:pPr>
            <a:fld id="{E25CB3B0-230F-459C-B80B-6F12671E3AFD}" type="slidenum">
              <a:rPr lang="zh-CN" altLang="en-US">
                <a:latin typeface="+mn-lt"/>
              </a:rPr>
              <a:pPr defTabSz="1128713">
                <a:defRPr/>
              </a:pPr>
              <a:t>49</a:t>
            </a:fld>
            <a:endParaRPr lang="en-US" altLang="zh-CN">
              <a:latin typeface="+mn-lt"/>
            </a:endParaRP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7" name="Rectangle 3"/>
          <p:cNvSpPr>
            <a:spLocks noGrp="1" noChangeArrowheads="1"/>
          </p:cNvSpPr>
          <p:nvPr>
            <p:ph idx="1"/>
          </p:nvPr>
        </p:nvSpPr>
        <p:spPr>
          <a:xfrm>
            <a:off x="468313" y="620713"/>
            <a:ext cx="8280400" cy="5891212"/>
          </a:xfrm>
        </p:spPr>
        <p:txBody>
          <a:bodyPr>
            <a:normAutofit/>
          </a:bodyPr>
          <a:lstStyle/>
          <a:p>
            <a:pPr marL="0" indent="0" fontAlgn="auto">
              <a:spcAft>
                <a:spcPts val="0"/>
              </a:spcAft>
              <a:buClr>
                <a:schemeClr val="accent3"/>
              </a:buClr>
              <a:buFont typeface="Monotype Sorts" pitchFamily="2" charset="2"/>
              <a:buNone/>
              <a:defRPr/>
            </a:pPr>
            <a:r>
              <a:rPr lang="zh-CN" altLang="en-US" sz="3200" b="1" dirty="0">
                <a:solidFill>
                  <a:srgbClr val="C00000"/>
                </a:solidFill>
                <a:latin typeface="黑体" pitchFamily="2" charset="-122"/>
                <a:ea typeface="黑体" pitchFamily="2" charset="-122"/>
              </a:rPr>
              <a:t>程序的组织</a:t>
            </a:r>
          </a:p>
          <a:p>
            <a:pPr marL="0" indent="0" fontAlgn="auto">
              <a:spcAft>
                <a:spcPts val="0"/>
              </a:spcAft>
              <a:buClr>
                <a:schemeClr val="accent3"/>
              </a:buClr>
              <a:buFont typeface="Monotype Sorts" pitchFamily="2" charset="2"/>
              <a:buNone/>
              <a:defRPr/>
            </a:pPr>
            <a:endParaRPr lang="zh-CN" altLang="en-US" b="1" dirty="0">
              <a:solidFill>
                <a:schemeClr val="bg2"/>
              </a:solidFill>
              <a:effectLst>
                <a:outerShdw blurRad="38100" dist="38100" dir="2700000" algn="tl">
                  <a:srgbClr val="FFFFFF"/>
                </a:outerShdw>
              </a:effectLst>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 在早期的程序设计活动中，因没有统一的现成方法，因人习惯而异，编制的程序结构混乱，很难阅读和修改。</a:t>
            </a:r>
            <a:endParaRPr lang="en-US" altLang="zh-CN" sz="3200" b="1" dirty="0">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 随着理论的发展，研究人员已归结出</a:t>
            </a:r>
            <a:r>
              <a:rPr lang="zh-CN" altLang="en-US" sz="3200" b="1" dirty="0">
                <a:solidFill>
                  <a:srgbClr val="FF0000"/>
                </a:solidFill>
                <a:latin typeface="楷体_GB2312" pitchFamily="49" charset="-122"/>
                <a:ea typeface="楷体_GB2312" pitchFamily="49" charset="-122"/>
              </a:rPr>
              <a:t>顺序、选择和循环</a:t>
            </a:r>
            <a:r>
              <a:rPr lang="zh-CN" altLang="en-US" sz="3200" b="1" dirty="0">
                <a:latin typeface="楷体_GB2312" pitchFamily="49" charset="-122"/>
                <a:ea typeface="楷体_GB2312" pitchFamily="49" charset="-122"/>
              </a:rPr>
              <a:t>三种结构化的控制结构，并在</a:t>
            </a:r>
            <a:r>
              <a:rPr lang="zh-CN" altLang="en-US" sz="3200" b="1" dirty="0">
                <a:solidFill>
                  <a:srgbClr val="FF0000"/>
                </a:solidFill>
                <a:latin typeface="楷体_GB2312" pitchFamily="49" charset="-122"/>
                <a:ea typeface="楷体_GB2312" pitchFamily="49" charset="-122"/>
              </a:rPr>
              <a:t>理论上证明</a:t>
            </a:r>
            <a:r>
              <a:rPr lang="zh-CN" altLang="en-US" sz="3200" b="1" dirty="0">
                <a:latin typeface="楷体_GB2312" pitchFamily="49" charset="-122"/>
                <a:ea typeface="楷体_GB2312" pitchFamily="49" charset="-122"/>
              </a:rPr>
              <a:t>了解决可计算问题的程序都可用这三种控制结构来描述。</a:t>
            </a:r>
          </a:p>
        </p:txBody>
      </p:sp>
      <p:sp>
        <p:nvSpPr>
          <p:cNvPr id="5" name="灯片编号占位符 5"/>
          <p:cNvSpPr>
            <a:spLocks noGrp="1"/>
          </p:cNvSpPr>
          <p:nvPr>
            <p:ph type="sldNum" sz="quarter" idx="12"/>
          </p:nvPr>
        </p:nvSpPr>
        <p:spPr/>
        <p:txBody>
          <a:bodyPr/>
          <a:lstStyle/>
          <a:p>
            <a:pPr defTabSz="1128713">
              <a:defRPr/>
            </a:pPr>
            <a:fld id="{AEF360CA-BAC5-40C6-8BE9-F6064C697412}" type="slidenum">
              <a:rPr lang="zh-CN" altLang="en-US">
                <a:latin typeface="+mn-lt"/>
              </a:rPr>
              <a:pPr defTabSz="1128713">
                <a:defRPr/>
              </a:pPr>
              <a:t>50</a:t>
            </a:fld>
            <a:endParaRPr lang="en-US" altLang="zh-CN">
              <a:latin typeface="+mn-lt"/>
            </a:endParaRP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3" name="Rectangle 3"/>
          <p:cNvSpPr>
            <a:spLocks noGrp="1" noChangeArrowheads="1"/>
          </p:cNvSpPr>
          <p:nvPr>
            <p:ph type="body" sz="half" idx="1"/>
          </p:nvPr>
        </p:nvSpPr>
        <p:spPr>
          <a:xfrm>
            <a:off x="179388" y="596900"/>
            <a:ext cx="6264275" cy="5761038"/>
          </a:xfrm>
        </p:spPr>
        <p:txBody>
          <a:bodyPr>
            <a:normAutofit/>
          </a:bodyPr>
          <a:lstStyle/>
          <a:p>
            <a:pPr marL="363538" indent="17463" fontAlgn="auto">
              <a:spcAft>
                <a:spcPts val="0"/>
              </a:spcAft>
              <a:buClr>
                <a:schemeClr val="accent3"/>
              </a:buClr>
              <a:buFont typeface="Monotype Sorts" pitchFamily="2" charset="2"/>
              <a:buNone/>
              <a:defRPr/>
            </a:pPr>
            <a:r>
              <a:rPr lang="zh-CN" altLang="en-US" sz="3600" b="1" dirty="0">
                <a:solidFill>
                  <a:srgbClr val="C00000"/>
                </a:solidFill>
                <a:effectLst>
                  <a:outerShdw blurRad="38100" dist="38100" dir="2700000" algn="tl">
                    <a:srgbClr val="000000"/>
                  </a:outerShdw>
                </a:effectLst>
                <a:latin typeface="黑体" pitchFamily="2" charset="-122"/>
                <a:ea typeface="黑体" pitchFamily="2" charset="-122"/>
              </a:rPr>
              <a:t>顺序结构</a:t>
            </a:r>
          </a:p>
          <a:p>
            <a:pPr marL="363538" indent="17463" fontAlgn="auto">
              <a:spcAft>
                <a:spcPts val="0"/>
              </a:spcAft>
              <a:buClr>
                <a:schemeClr val="accent3"/>
              </a:buClr>
              <a:buFont typeface="Monotype Sorts" pitchFamily="2" charset="2"/>
              <a:buNone/>
              <a:defRPr/>
            </a:pPr>
            <a:endParaRPr lang="en-US" altLang="zh-CN" b="1" dirty="0">
              <a:latin typeface="楷体_GB2312" pitchFamily="49" charset="-122"/>
              <a:ea typeface="楷体_GB2312" pitchFamily="49" charset="-122"/>
            </a:endParaRPr>
          </a:p>
          <a:p>
            <a:pPr marL="363538" indent="17463" fontAlgn="auto">
              <a:spcAft>
                <a:spcPts val="0"/>
              </a:spcAft>
              <a:buClr>
                <a:schemeClr val="accent3"/>
              </a:buClr>
              <a:buFont typeface="Wingdings 2"/>
              <a:buChar char=""/>
              <a:defRPr/>
            </a:pPr>
            <a:r>
              <a:rPr lang="zh-CN" altLang="en-US" b="1" dirty="0">
                <a:latin typeface="楷体_GB2312" pitchFamily="49" charset="-122"/>
                <a:ea typeface="楷体_GB2312" pitchFamily="49" charset="-122"/>
              </a:rPr>
              <a:t>把复杂工作分解成多项简单的子任务序列，并逐一完成，直至最终完成整个工作。</a:t>
            </a:r>
            <a:endParaRPr lang="en-US" altLang="zh-CN" b="1" dirty="0">
              <a:latin typeface="楷体_GB2312" pitchFamily="49" charset="-122"/>
              <a:ea typeface="楷体_GB2312" pitchFamily="49" charset="-122"/>
            </a:endParaRPr>
          </a:p>
          <a:p>
            <a:pPr marL="363538" indent="17463" fontAlgn="auto">
              <a:spcAft>
                <a:spcPts val="0"/>
              </a:spcAft>
              <a:buClr>
                <a:schemeClr val="accent3"/>
              </a:buClr>
              <a:buFont typeface="Wingdings 2"/>
              <a:buChar char=""/>
              <a:defRPr/>
            </a:pPr>
            <a:r>
              <a:rPr lang="zh-CN" altLang="en-US" b="1" dirty="0">
                <a:latin typeface="楷体_GB2312" pitchFamily="49" charset="-122"/>
                <a:ea typeface="楷体_GB2312" pitchFamily="49" charset="-122"/>
              </a:rPr>
              <a:t> 顺序结构用于控制若干简单计算的顺序执行。</a:t>
            </a:r>
          </a:p>
          <a:p>
            <a:pPr marL="363538" indent="17463" fontAlgn="auto">
              <a:spcAft>
                <a:spcPts val="0"/>
              </a:spcAft>
              <a:buClr>
                <a:schemeClr val="accent3"/>
              </a:buClr>
              <a:buFont typeface="Wingdings 2"/>
              <a:buChar char=""/>
              <a:defRPr/>
            </a:pPr>
            <a:r>
              <a:rPr lang="zh-CN" altLang="en-US" b="1" dirty="0">
                <a:latin typeface="楷体_GB2312" pitchFamily="49" charset="-122"/>
                <a:ea typeface="楷体_GB2312" pitchFamily="49" charset="-122"/>
              </a:rPr>
              <a:t> 顺序结构执行时，从操作序列的第一个步骤开始，顺序执行序列中的每个操作，直至序列的最后一个操作执行后结束。右图表示只有操作步骤</a:t>
            </a:r>
            <a:r>
              <a:rPr lang="en-US" altLang="zh-CN" b="1" dirty="0">
                <a:latin typeface="楷体_GB2312" pitchFamily="49" charset="-122"/>
                <a:ea typeface="楷体_GB2312" pitchFamily="49" charset="-122"/>
              </a:rPr>
              <a:t>A </a:t>
            </a:r>
            <a:r>
              <a:rPr lang="zh-CN" altLang="en-US" b="1" dirty="0">
                <a:latin typeface="楷体_GB2312" pitchFamily="49" charset="-122"/>
                <a:ea typeface="楷体_GB2312" pitchFamily="49" charset="-122"/>
              </a:rPr>
              <a:t>和操作步骤</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组成的一个顺序结构，该结构控制操作步骤</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和操作步骤</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的顺序执行。</a:t>
            </a:r>
          </a:p>
        </p:txBody>
      </p:sp>
      <p:graphicFrame>
        <p:nvGraphicFramePr>
          <p:cNvPr id="1026" name="Object 5"/>
          <p:cNvGraphicFramePr>
            <a:graphicFrameLocks noGrp="1" noChangeAspect="1"/>
          </p:cNvGraphicFramePr>
          <p:nvPr>
            <p:ph sz="half" idx="2"/>
          </p:nvPr>
        </p:nvGraphicFramePr>
        <p:xfrm>
          <a:off x="6500813" y="1643063"/>
          <a:ext cx="2382837" cy="4114800"/>
        </p:xfrm>
        <a:graphic>
          <a:graphicData uri="http://schemas.openxmlformats.org/presentationml/2006/ole">
            <mc:AlternateContent xmlns:mc="http://schemas.openxmlformats.org/markup-compatibility/2006">
              <mc:Choice xmlns:v="urn:schemas-microsoft-com:vml" Requires="v">
                <p:oleObj spid="_x0000_s1030" name="Visio" r:id="rId3" imgW="2914802" imgH="5031943" progId="Visio.Drawing.11">
                  <p:embed/>
                </p:oleObj>
              </mc:Choice>
              <mc:Fallback>
                <p:oleObj name="Visio" r:id="rId3" imgW="2914802" imgH="5031943" progId="Visio.Drawing.11">
                  <p:embed/>
                  <p:pic>
                    <p:nvPicPr>
                      <p:cNvPr id="0" name="Picture 1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0813" y="1643063"/>
                        <a:ext cx="2382837" cy="411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defTabSz="1128713">
              <a:defRPr/>
            </a:pPr>
            <a:fld id="{4ECDB194-7B34-4513-B5F8-58C0386DD8F5}" type="slidenum">
              <a:rPr lang="zh-CN" altLang="en-US">
                <a:latin typeface="+mn-lt"/>
              </a:rPr>
              <a:pPr defTabSz="1128713">
                <a:defRPr/>
              </a:pPr>
              <a:t>51</a:t>
            </a:fld>
            <a:endParaRPr lang="en-US" altLang="zh-CN">
              <a:latin typeface="+mn-lt"/>
            </a:endParaRPr>
          </a:p>
        </p:txBody>
      </p:sp>
      <p:sp>
        <p:nvSpPr>
          <p:cNvPr id="1029" name="Text Box 8"/>
          <p:cNvSpPr txBox="1">
            <a:spLocks noChangeArrowheads="1"/>
          </p:cNvSpPr>
          <p:nvPr/>
        </p:nvSpPr>
        <p:spPr bwMode="auto">
          <a:xfrm>
            <a:off x="6715125" y="5715000"/>
            <a:ext cx="2428875" cy="579438"/>
          </a:xfrm>
          <a:prstGeom prst="rect">
            <a:avLst/>
          </a:prstGeom>
          <a:noFill/>
          <a:ln w="9525">
            <a:noFill/>
            <a:miter lim="800000"/>
            <a:headEnd/>
            <a:tailEnd/>
          </a:ln>
        </p:spPr>
        <p:txBody>
          <a:bodyPr>
            <a:spAutoFit/>
          </a:bodyPr>
          <a:lstStyle/>
          <a:p>
            <a:r>
              <a:rPr lang="zh-CN" altLang="en-US" sz="2400"/>
              <a:t>顺序结构示意图</a:t>
            </a:r>
            <a:r>
              <a:rPr lang="zh-CN" altLang="en-US"/>
              <a:t> </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9" name="Rectangle 3"/>
          <p:cNvSpPr>
            <a:spLocks noGrp="1" noChangeArrowheads="1"/>
          </p:cNvSpPr>
          <p:nvPr>
            <p:ph idx="1"/>
          </p:nvPr>
        </p:nvSpPr>
        <p:spPr>
          <a:xfrm>
            <a:off x="304800" y="1052513"/>
            <a:ext cx="8382000" cy="5329237"/>
          </a:xfrm>
        </p:spPr>
        <p:txBody>
          <a:bodyPr>
            <a:normAutofit/>
          </a:bodyPr>
          <a:lstStyle/>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上图的顺序结构也可用以下形式的伪代码表示：</a:t>
            </a:r>
          </a:p>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操作步骤</a:t>
            </a:r>
            <a:r>
              <a:rPr lang="en-US" altLang="zh-CN" b="1" dirty="0">
                <a:latin typeface="楷体_GB2312" pitchFamily="49" charset="-122"/>
                <a:ea typeface="楷体_GB2312" pitchFamily="49" charset="-122"/>
              </a:rPr>
              <a:t>A;</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操作步骤</a:t>
            </a:r>
            <a:r>
              <a:rPr lang="en-US" altLang="zh-CN" b="1" dirty="0">
                <a:latin typeface="楷体_GB2312" pitchFamily="49" charset="-122"/>
                <a:ea typeface="楷体_GB2312" pitchFamily="49" charset="-122"/>
              </a:rPr>
              <a:t>B; </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p>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例如，为交换变量</a:t>
            </a:r>
            <a:r>
              <a:rPr lang="en-US" altLang="zh-CN" b="1" dirty="0">
                <a:latin typeface="楷体_GB2312" pitchFamily="49" charset="-122"/>
                <a:ea typeface="楷体_GB2312" pitchFamily="49" charset="-122"/>
              </a:rPr>
              <a:t>x</a:t>
            </a:r>
            <a:r>
              <a:rPr lang="zh-CN" altLang="en-US" b="1" dirty="0">
                <a:latin typeface="楷体_GB2312" pitchFamily="49" charset="-122"/>
                <a:ea typeface="楷体_GB2312" pitchFamily="49" charset="-122"/>
              </a:rPr>
              <a:t>和</a:t>
            </a:r>
            <a:r>
              <a:rPr lang="en-US" altLang="zh-CN" b="1" dirty="0">
                <a:latin typeface="楷体_GB2312" pitchFamily="49" charset="-122"/>
                <a:ea typeface="楷体_GB2312" pitchFamily="49" charset="-122"/>
              </a:rPr>
              <a:t>y</a:t>
            </a:r>
            <a:r>
              <a:rPr lang="zh-CN" altLang="en-US" b="1" dirty="0">
                <a:latin typeface="楷体_GB2312" pitchFamily="49" charset="-122"/>
                <a:ea typeface="楷体_GB2312" pitchFamily="49" charset="-122"/>
              </a:rPr>
              <a:t>的值，可分解为顺序执行的三个操作，写成顺序结构有：</a:t>
            </a:r>
          </a:p>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temp = x;    /* </a:t>
            </a:r>
            <a:r>
              <a:rPr lang="zh-CN" altLang="en-US" b="1" dirty="0">
                <a:solidFill>
                  <a:srgbClr val="FF0000"/>
                </a:solidFill>
                <a:latin typeface="楷体_GB2312" pitchFamily="49" charset="-122"/>
                <a:ea typeface="楷体_GB2312" pitchFamily="49" charset="-122"/>
              </a:rPr>
              <a:t>将</a:t>
            </a:r>
            <a:r>
              <a:rPr lang="en-US" altLang="zh-CN" b="1" dirty="0">
                <a:solidFill>
                  <a:srgbClr val="FF0000"/>
                </a:solidFill>
                <a:latin typeface="楷体_GB2312" pitchFamily="49" charset="-122"/>
                <a:ea typeface="楷体_GB2312" pitchFamily="49" charset="-122"/>
              </a:rPr>
              <a:t>x</a:t>
            </a:r>
            <a:r>
              <a:rPr lang="zh-CN" altLang="en-US" b="1" dirty="0">
                <a:solidFill>
                  <a:srgbClr val="FF0000"/>
                </a:solidFill>
                <a:latin typeface="楷体_GB2312" pitchFamily="49" charset="-122"/>
                <a:ea typeface="楷体_GB2312" pitchFamily="49" charset="-122"/>
              </a:rPr>
              <a:t>的值暂存于</a:t>
            </a:r>
            <a:r>
              <a:rPr lang="en-US" altLang="zh-CN" b="1" dirty="0">
                <a:solidFill>
                  <a:srgbClr val="FF0000"/>
                </a:solidFill>
                <a:latin typeface="楷体_GB2312" pitchFamily="49" charset="-122"/>
                <a:ea typeface="楷体_GB2312" pitchFamily="49" charset="-122"/>
              </a:rPr>
              <a:t>temp</a:t>
            </a:r>
            <a:r>
              <a:rPr lang="en-US" altLang="zh-CN" b="1" dirty="0">
                <a:latin typeface="楷体_GB2312" pitchFamily="49" charset="-122"/>
                <a:ea typeface="楷体_GB2312" pitchFamily="49" charset="-122"/>
              </a:rPr>
              <a:t> */</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x    = y;    /* </a:t>
            </a:r>
            <a:r>
              <a:rPr lang="zh-CN" altLang="en-US" b="1" dirty="0">
                <a:solidFill>
                  <a:srgbClr val="FF0000"/>
                </a:solidFill>
                <a:latin typeface="楷体_GB2312" pitchFamily="49" charset="-122"/>
                <a:ea typeface="楷体_GB2312" pitchFamily="49" charset="-122"/>
              </a:rPr>
              <a:t>将</a:t>
            </a:r>
            <a:r>
              <a:rPr lang="en-US" altLang="zh-CN" b="1" dirty="0">
                <a:solidFill>
                  <a:srgbClr val="FF0000"/>
                </a:solidFill>
                <a:latin typeface="楷体_GB2312" pitchFamily="49" charset="-122"/>
                <a:ea typeface="楷体_GB2312" pitchFamily="49" charset="-122"/>
              </a:rPr>
              <a:t>x</a:t>
            </a:r>
            <a:r>
              <a:rPr lang="zh-CN" altLang="en-US" b="1" dirty="0">
                <a:solidFill>
                  <a:srgbClr val="FF0000"/>
                </a:solidFill>
                <a:latin typeface="楷体_GB2312" pitchFamily="49" charset="-122"/>
                <a:ea typeface="楷体_GB2312" pitchFamily="49" charset="-122"/>
              </a:rPr>
              <a:t>置成</a:t>
            </a:r>
            <a:r>
              <a:rPr lang="en-US" altLang="zh-CN" b="1" dirty="0">
                <a:solidFill>
                  <a:srgbClr val="FF0000"/>
                </a:solidFill>
                <a:latin typeface="楷体_GB2312" pitchFamily="49" charset="-122"/>
                <a:ea typeface="楷体_GB2312" pitchFamily="49" charset="-122"/>
              </a:rPr>
              <a:t>y</a:t>
            </a:r>
            <a:r>
              <a:rPr lang="zh-CN" altLang="en-US" b="1" dirty="0">
                <a:solidFill>
                  <a:srgbClr val="FF0000"/>
                </a:solidFill>
                <a:latin typeface="楷体_GB2312" pitchFamily="49" charset="-122"/>
                <a:ea typeface="楷体_GB2312" pitchFamily="49" charset="-122"/>
              </a:rPr>
              <a:t>的值 </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y    = temp; /* </a:t>
            </a:r>
            <a:r>
              <a:rPr lang="zh-CN" altLang="en-US" b="1" dirty="0">
                <a:solidFill>
                  <a:srgbClr val="FF0000"/>
                </a:solidFill>
                <a:latin typeface="楷体_GB2312" pitchFamily="49" charset="-122"/>
                <a:ea typeface="楷体_GB2312" pitchFamily="49" charset="-122"/>
              </a:rPr>
              <a:t>将</a:t>
            </a:r>
            <a:r>
              <a:rPr lang="en-US" altLang="zh-CN" b="1" dirty="0">
                <a:solidFill>
                  <a:srgbClr val="FF0000"/>
                </a:solidFill>
                <a:latin typeface="楷体_GB2312" pitchFamily="49" charset="-122"/>
                <a:ea typeface="楷体_GB2312" pitchFamily="49" charset="-122"/>
              </a:rPr>
              <a:t>y</a:t>
            </a:r>
            <a:r>
              <a:rPr lang="zh-CN" altLang="en-US" b="1" dirty="0">
                <a:solidFill>
                  <a:srgbClr val="FF0000"/>
                </a:solidFill>
                <a:latin typeface="楷体_GB2312" pitchFamily="49" charset="-122"/>
                <a:ea typeface="楷体_GB2312" pitchFamily="49" charset="-122"/>
              </a:rPr>
              <a:t>置成暂存于</a:t>
            </a:r>
            <a:r>
              <a:rPr lang="en-US" altLang="zh-CN" b="1" dirty="0">
                <a:solidFill>
                  <a:srgbClr val="FF0000"/>
                </a:solidFill>
                <a:latin typeface="楷体_GB2312" pitchFamily="49" charset="-122"/>
                <a:ea typeface="楷体_GB2312" pitchFamily="49" charset="-122"/>
              </a:rPr>
              <a:t>temp</a:t>
            </a:r>
            <a:r>
              <a:rPr lang="zh-CN" altLang="en-US" b="1" dirty="0">
                <a:solidFill>
                  <a:srgbClr val="FF0000"/>
                </a:solidFill>
                <a:latin typeface="楷体_GB2312" pitchFamily="49" charset="-122"/>
                <a:ea typeface="楷体_GB2312" pitchFamily="49" charset="-122"/>
              </a:rPr>
              <a:t>的值</a:t>
            </a: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r>
              <a:rPr lang="en-US" altLang="zh-CN" b="1" dirty="0" smtClean="0">
                <a:latin typeface="楷体_GB2312" pitchFamily="49" charset="-122"/>
                <a:ea typeface="楷体_GB2312" pitchFamily="49" charset="-122"/>
              </a:rPr>
              <a:t>}</a:t>
            </a:r>
            <a:r>
              <a:rPr lang="zh-CN" altLang="en-US" b="1" dirty="0" smtClean="0">
                <a:solidFill>
                  <a:schemeClr val="accent1"/>
                </a:solidFill>
                <a:latin typeface="楷体_GB2312" pitchFamily="49" charset="-122"/>
                <a:ea typeface="楷体_GB2312" pitchFamily="49" charset="-122"/>
              </a:rPr>
              <a:t>本质：调换</a:t>
            </a:r>
            <a:r>
              <a:rPr lang="en-US" altLang="zh-CN" b="1" dirty="0" smtClean="0">
                <a:solidFill>
                  <a:schemeClr val="accent1"/>
                </a:solidFill>
                <a:latin typeface="楷体_GB2312" pitchFamily="49" charset="-122"/>
                <a:ea typeface="楷体_GB2312" pitchFamily="49" charset="-122"/>
              </a:rPr>
              <a:t>x</a:t>
            </a:r>
            <a:r>
              <a:rPr lang="zh-CN" altLang="en-US" b="1" dirty="0" smtClean="0">
                <a:solidFill>
                  <a:schemeClr val="accent1"/>
                </a:solidFill>
                <a:latin typeface="楷体_GB2312" pitchFamily="49" charset="-122"/>
                <a:ea typeface="楷体_GB2312" pitchFamily="49" charset="-122"/>
              </a:rPr>
              <a:t>和</a:t>
            </a:r>
            <a:r>
              <a:rPr lang="en-US" altLang="zh-CN" b="1" dirty="0" smtClean="0">
                <a:solidFill>
                  <a:schemeClr val="accent1"/>
                </a:solidFill>
                <a:latin typeface="楷体_GB2312" pitchFamily="49" charset="-122"/>
                <a:ea typeface="楷体_GB2312" pitchFamily="49" charset="-122"/>
              </a:rPr>
              <a:t>y</a:t>
            </a:r>
            <a:r>
              <a:rPr lang="zh-CN" altLang="en-US" b="1" dirty="0" smtClean="0">
                <a:solidFill>
                  <a:schemeClr val="accent1"/>
                </a:solidFill>
                <a:latin typeface="楷体_GB2312" pitchFamily="49" charset="-122"/>
                <a:ea typeface="楷体_GB2312" pitchFamily="49" charset="-122"/>
              </a:rPr>
              <a:t>的值</a:t>
            </a:r>
            <a:endParaRPr lang="zh-CN" altLang="en-US" b="1" dirty="0">
              <a:solidFill>
                <a:schemeClr val="accent1"/>
              </a:solidFill>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7BFC8F84-F282-4280-8355-9BE41F37A99C}" type="slidenum">
              <a:rPr lang="zh-CN" altLang="en-US">
                <a:latin typeface="+mn-lt"/>
              </a:rPr>
              <a:pPr defTabSz="1128713">
                <a:defRPr/>
              </a:pPr>
              <a:t>52</a:t>
            </a:fld>
            <a:endParaRPr lang="en-US" altLang="zh-CN">
              <a:latin typeface="+mn-lt"/>
            </a:endParaRP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7" name="Rectangle 3"/>
          <p:cNvSpPr>
            <a:spLocks noGrp="1" noChangeArrowheads="1"/>
          </p:cNvSpPr>
          <p:nvPr>
            <p:ph idx="1"/>
          </p:nvPr>
        </p:nvSpPr>
        <p:spPr>
          <a:xfrm>
            <a:off x="250825" y="549275"/>
            <a:ext cx="5321300" cy="6308725"/>
          </a:xfrm>
        </p:spPr>
        <p:txBody>
          <a:bodyPr>
            <a:normAutofit/>
          </a:bodyPr>
          <a:lstStyle/>
          <a:p>
            <a:pPr marL="0" indent="0" fontAlgn="auto">
              <a:lnSpc>
                <a:spcPct val="90000"/>
              </a:lnSpc>
              <a:spcAft>
                <a:spcPts val="0"/>
              </a:spcAft>
              <a:buClr>
                <a:schemeClr val="accent3"/>
              </a:buClr>
              <a:buFont typeface="Monotype Sorts" pitchFamily="2" charset="2"/>
              <a:buNone/>
              <a:defRPr/>
            </a:pPr>
            <a:r>
              <a:rPr lang="zh-CN" altLang="en-US" sz="2800" b="1" dirty="0">
                <a:solidFill>
                  <a:srgbClr val="C00000"/>
                </a:solidFill>
                <a:effectLst>
                  <a:outerShdw blurRad="38100" dist="38100" dir="2700000" algn="tl">
                    <a:srgbClr val="000000"/>
                  </a:outerShdw>
                </a:effectLst>
                <a:latin typeface="黑体" pitchFamily="2" charset="-122"/>
                <a:ea typeface="黑体" pitchFamily="2" charset="-122"/>
              </a:rPr>
              <a:t>条件选择结构（枚举）</a:t>
            </a:r>
          </a:p>
          <a:p>
            <a:pPr marL="0" indent="0" fontAlgn="auto">
              <a:lnSpc>
                <a:spcPct val="90000"/>
              </a:lnSpc>
              <a:spcAft>
                <a:spcPts val="0"/>
              </a:spcAft>
              <a:buClr>
                <a:schemeClr val="accent3"/>
              </a:buClr>
              <a:buFont typeface="Wingdings 2"/>
              <a:buChar char=""/>
              <a:defRPr/>
            </a:pPr>
            <a:r>
              <a:rPr lang="zh-CN" altLang="en-US" sz="2800" b="1" dirty="0">
                <a:latin typeface="楷体_GB2312" pitchFamily="49" charset="-122"/>
                <a:ea typeface="楷体_GB2312" pitchFamily="49" charset="-122"/>
              </a:rPr>
              <a:t> 根据不同情况，选择一个操作步骤执行。</a:t>
            </a:r>
            <a:endParaRPr lang="en-US" altLang="zh-CN" sz="2800" b="1" dirty="0">
              <a:latin typeface="楷体_GB2312" pitchFamily="49" charset="-122"/>
              <a:ea typeface="楷体_GB2312" pitchFamily="49" charset="-122"/>
            </a:endParaRPr>
          </a:p>
          <a:p>
            <a:pPr marL="0" indent="0" fontAlgn="auto">
              <a:lnSpc>
                <a:spcPct val="90000"/>
              </a:lnSpc>
              <a:spcAft>
                <a:spcPts val="0"/>
              </a:spcAft>
              <a:buClr>
                <a:schemeClr val="accent3"/>
              </a:buClr>
              <a:buFont typeface="Wingdings 2"/>
              <a:buChar char=""/>
              <a:defRPr/>
            </a:pPr>
            <a:r>
              <a:rPr lang="zh-CN" altLang="en-US" sz="2800" b="1" dirty="0">
                <a:latin typeface="楷体_GB2312" pitchFamily="49" charset="-122"/>
                <a:ea typeface="楷体_GB2312" pitchFamily="49" charset="-122"/>
              </a:rPr>
              <a:t> 条件选择结构有一个判断条件和两个供选择的操作步骤</a:t>
            </a:r>
            <a:r>
              <a:rPr lang="en-US" altLang="zh-CN" sz="2800" b="1" dirty="0">
                <a:latin typeface="楷体_GB2312" pitchFamily="49" charset="-122"/>
                <a:ea typeface="楷体_GB2312" pitchFamily="49" charset="-122"/>
              </a:rPr>
              <a:t>A</a:t>
            </a:r>
            <a:r>
              <a:rPr lang="zh-CN" altLang="en-US" sz="2800" b="1" dirty="0">
                <a:latin typeface="楷体_GB2312" pitchFamily="49" charset="-122"/>
                <a:ea typeface="楷体_GB2312" pitchFamily="49" charset="-122"/>
              </a:rPr>
              <a:t>和</a:t>
            </a:r>
            <a:r>
              <a:rPr lang="en-US" altLang="zh-CN" sz="2800" b="1" dirty="0">
                <a:latin typeface="楷体_GB2312" pitchFamily="49" charset="-122"/>
                <a:ea typeface="楷体_GB2312" pitchFamily="49" charset="-122"/>
              </a:rPr>
              <a:t>B</a:t>
            </a:r>
            <a:r>
              <a:rPr lang="zh-CN" altLang="en-US" sz="2800" b="1" dirty="0">
                <a:latin typeface="楷体_GB2312" pitchFamily="49" charset="-122"/>
                <a:ea typeface="楷体_GB2312" pitchFamily="49" charset="-122"/>
              </a:rPr>
              <a:t>组成，该控制结构实现如右图所示的选择控制。</a:t>
            </a:r>
            <a:endParaRPr lang="en-US" altLang="zh-CN" sz="2800" b="1" dirty="0">
              <a:latin typeface="楷体_GB2312" pitchFamily="49" charset="-122"/>
              <a:ea typeface="楷体_GB2312" pitchFamily="49" charset="-122"/>
            </a:endParaRPr>
          </a:p>
          <a:p>
            <a:pPr marL="0" indent="0" fontAlgn="auto">
              <a:lnSpc>
                <a:spcPct val="90000"/>
              </a:lnSpc>
              <a:spcAft>
                <a:spcPts val="0"/>
              </a:spcAft>
              <a:buClr>
                <a:schemeClr val="accent3"/>
              </a:buClr>
              <a:buFont typeface="Wingdings 2"/>
              <a:buChar char=""/>
              <a:defRPr/>
            </a:pPr>
            <a:r>
              <a:rPr lang="zh-CN" altLang="en-US" sz="2800" b="1" dirty="0">
                <a:latin typeface="楷体_GB2312" pitchFamily="49" charset="-122"/>
                <a:ea typeface="楷体_GB2312" pitchFamily="49" charset="-122"/>
              </a:rPr>
              <a:t> 条件选择结构执行时，先计算条件的值，如果条件的值为真，即条件成立，则执行操作步骤</a:t>
            </a:r>
            <a:r>
              <a:rPr lang="en-US" altLang="zh-CN" sz="2800" b="1" dirty="0">
                <a:latin typeface="楷体_GB2312" pitchFamily="49" charset="-122"/>
                <a:ea typeface="楷体_GB2312" pitchFamily="49" charset="-122"/>
              </a:rPr>
              <a:t>A</a:t>
            </a:r>
            <a:r>
              <a:rPr lang="zh-CN" altLang="en-US" sz="2800" b="1" dirty="0">
                <a:latin typeface="楷体_GB2312" pitchFamily="49" charset="-122"/>
                <a:ea typeface="楷体_GB2312" pitchFamily="49" charset="-122"/>
              </a:rPr>
              <a:t>；否则，条件的值为假，即条件不成立，则执行操作步骤</a:t>
            </a:r>
            <a:r>
              <a:rPr lang="en-US" altLang="zh-CN" sz="2800" b="1" dirty="0">
                <a:latin typeface="楷体_GB2312" pitchFamily="49" charset="-122"/>
                <a:ea typeface="楷体_GB2312" pitchFamily="49" charset="-122"/>
              </a:rPr>
              <a:t>B</a:t>
            </a:r>
            <a:r>
              <a:rPr lang="zh-CN" altLang="en-US" sz="28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a:p>
            <a:pPr marL="0" indent="0" fontAlgn="auto">
              <a:lnSpc>
                <a:spcPct val="90000"/>
              </a:lnSpc>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无论条件为何值，条件选择结构只执行操作步骤</a:t>
            </a:r>
            <a:r>
              <a:rPr lang="en-US" altLang="zh-CN" sz="2800" b="1" dirty="0">
                <a:latin typeface="楷体_GB2312" pitchFamily="49" charset="-122"/>
                <a:ea typeface="楷体_GB2312" pitchFamily="49" charset="-122"/>
              </a:rPr>
              <a:t>A</a:t>
            </a:r>
            <a:r>
              <a:rPr lang="zh-CN" altLang="en-US" sz="2800" b="1" dirty="0">
                <a:latin typeface="楷体_GB2312" pitchFamily="49" charset="-122"/>
                <a:ea typeface="楷体_GB2312" pitchFamily="49" charset="-122"/>
              </a:rPr>
              <a:t>或</a:t>
            </a:r>
            <a:r>
              <a:rPr lang="en-US" altLang="zh-CN" sz="2800" b="1" dirty="0">
                <a:latin typeface="楷体_GB2312" pitchFamily="49" charset="-122"/>
                <a:ea typeface="楷体_GB2312" pitchFamily="49" charset="-122"/>
              </a:rPr>
              <a:t>B</a:t>
            </a:r>
            <a:r>
              <a:rPr lang="zh-CN" altLang="en-US" sz="2800" b="1" dirty="0">
                <a:latin typeface="楷体_GB2312" pitchFamily="49" charset="-122"/>
                <a:ea typeface="楷体_GB2312" pitchFamily="49" charset="-122"/>
              </a:rPr>
              <a:t>中的某一个。</a:t>
            </a:r>
            <a:endParaRPr lang="zh-CN" altLang="en-US" sz="2800"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80ACE4AA-AC88-4734-8489-C5C36AF64439}" type="slidenum">
              <a:rPr lang="zh-CN" altLang="en-US">
                <a:latin typeface="+mn-lt"/>
              </a:rPr>
              <a:pPr defTabSz="1128713">
                <a:defRPr/>
              </a:pPr>
              <a:t>53</a:t>
            </a:fld>
            <a:endParaRPr lang="en-US" altLang="zh-CN">
              <a:latin typeface="+mn-lt"/>
            </a:endParaRPr>
          </a:p>
        </p:txBody>
      </p:sp>
      <p:sp>
        <p:nvSpPr>
          <p:cNvPr id="58373" name="Text Box 8"/>
          <p:cNvSpPr txBox="1">
            <a:spLocks noChangeArrowheads="1"/>
          </p:cNvSpPr>
          <p:nvPr/>
        </p:nvSpPr>
        <p:spPr bwMode="auto">
          <a:xfrm>
            <a:off x="6000760" y="5357826"/>
            <a:ext cx="2646363" cy="584200"/>
          </a:xfrm>
          <a:prstGeom prst="rect">
            <a:avLst/>
          </a:prstGeom>
          <a:noFill/>
          <a:ln w="9525">
            <a:noFill/>
            <a:miter lim="800000"/>
            <a:headEnd/>
            <a:tailEnd/>
          </a:ln>
        </p:spPr>
        <p:txBody>
          <a:bodyPr wrap="none">
            <a:spAutoFit/>
          </a:bodyPr>
          <a:lstStyle/>
          <a:p>
            <a:r>
              <a:rPr lang="zh-CN" altLang="en-US" b="1" dirty="0">
                <a:latin typeface="楷体_GB2312" pitchFamily="49" charset="-122"/>
                <a:ea typeface="楷体_GB2312" pitchFamily="49" charset="-122"/>
              </a:rPr>
              <a:t>条件选择结构</a:t>
            </a:r>
          </a:p>
        </p:txBody>
      </p:sp>
      <p:sp>
        <p:nvSpPr>
          <p:cNvPr id="6" name="Diamond 5"/>
          <p:cNvSpPr/>
          <p:nvPr/>
        </p:nvSpPr>
        <p:spPr>
          <a:xfrm>
            <a:off x="6429388" y="1785926"/>
            <a:ext cx="1857388" cy="9286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条件</a:t>
            </a:r>
          </a:p>
        </p:txBody>
      </p:sp>
      <p:cxnSp>
        <p:nvCxnSpPr>
          <p:cNvPr id="8" name="Straight Arrow Connector 7"/>
          <p:cNvCxnSpPr/>
          <p:nvPr/>
        </p:nvCxnSpPr>
        <p:spPr>
          <a:xfrm rot="5400000">
            <a:off x="7000895" y="1428733"/>
            <a:ext cx="714379" cy="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1"/>
          </p:cNvCxnSpPr>
          <p:nvPr/>
        </p:nvCxnSpPr>
        <p:spPr>
          <a:xfrm rot="10800000" flipV="1">
            <a:off x="6429388" y="2250272"/>
            <a:ext cx="1588" cy="96441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6" idx="3"/>
          </p:cNvCxnSpPr>
          <p:nvPr/>
        </p:nvCxnSpPr>
        <p:spPr>
          <a:xfrm>
            <a:off x="8286776" y="2250273"/>
            <a:ext cx="1" cy="9644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929322" y="3214686"/>
            <a:ext cx="107157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步骤</a:t>
            </a:r>
            <a:r>
              <a:rPr lang="en-US" altLang="zh-CN" sz="2400" dirty="0"/>
              <a:t>A</a:t>
            </a:r>
            <a:endParaRPr lang="zh-CN" altLang="en-US" sz="2400" dirty="0"/>
          </a:p>
        </p:txBody>
      </p:sp>
      <p:sp>
        <p:nvSpPr>
          <p:cNvPr id="22" name="Rectangle 21"/>
          <p:cNvSpPr/>
          <p:nvPr/>
        </p:nvSpPr>
        <p:spPr>
          <a:xfrm>
            <a:off x="7715272" y="3214686"/>
            <a:ext cx="107157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步骤</a:t>
            </a:r>
            <a:r>
              <a:rPr lang="en-US" altLang="zh-CN" sz="2400" dirty="0"/>
              <a:t>B</a:t>
            </a:r>
            <a:endParaRPr lang="zh-CN" altLang="en-US" sz="2400" dirty="0"/>
          </a:p>
        </p:txBody>
      </p:sp>
      <p:cxnSp>
        <p:nvCxnSpPr>
          <p:cNvPr id="24" name="Shape 23"/>
          <p:cNvCxnSpPr>
            <a:stCxn id="21" idx="2"/>
            <a:endCxn id="22" idx="2"/>
          </p:cNvCxnSpPr>
          <p:nvPr/>
        </p:nvCxnSpPr>
        <p:spPr>
          <a:xfrm rot="16200000" flipH="1">
            <a:off x="7358082" y="2893215"/>
            <a:ext cx="1588" cy="1785950"/>
          </a:xfrm>
          <a:prstGeom prst="bentConnector3">
            <a:avLst>
              <a:gd name="adj1" fmla="val 26277464"/>
            </a:avLst>
          </a:prstGeom>
          <a:ln w="38100"/>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7000895" y="4572006"/>
            <a:ext cx="714379" cy="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215074" y="1571612"/>
            <a:ext cx="800219" cy="461665"/>
          </a:xfrm>
          <a:prstGeom prst="rect">
            <a:avLst/>
          </a:prstGeom>
          <a:noFill/>
        </p:spPr>
        <p:txBody>
          <a:bodyPr wrap="none" rtlCol="0">
            <a:spAutoFit/>
          </a:bodyPr>
          <a:lstStyle/>
          <a:p>
            <a:r>
              <a:rPr lang="zh-CN" altLang="en-US" sz="2400" dirty="0">
                <a:latin typeface="楷体_GB2312" pitchFamily="49" charset="-122"/>
                <a:ea typeface="楷体_GB2312" pitchFamily="49" charset="-122"/>
              </a:rPr>
              <a:t>成立</a:t>
            </a:r>
          </a:p>
        </p:txBody>
      </p:sp>
      <p:sp>
        <p:nvSpPr>
          <p:cNvPr id="32" name="TextBox 31"/>
          <p:cNvSpPr txBox="1"/>
          <p:nvPr/>
        </p:nvSpPr>
        <p:spPr>
          <a:xfrm>
            <a:off x="7715272" y="1643050"/>
            <a:ext cx="1107996" cy="461665"/>
          </a:xfrm>
          <a:prstGeom prst="rect">
            <a:avLst/>
          </a:prstGeom>
          <a:noFill/>
        </p:spPr>
        <p:txBody>
          <a:bodyPr wrap="none" rtlCol="0">
            <a:spAutoFit/>
          </a:bodyPr>
          <a:lstStyle/>
          <a:p>
            <a:r>
              <a:rPr lang="zh-CN" altLang="en-US" sz="2400" dirty="0">
                <a:latin typeface="楷体_GB2312" pitchFamily="49" charset="-122"/>
                <a:ea typeface="楷体_GB2312" pitchFamily="49" charset="-122"/>
              </a:rPr>
              <a:t>不成立</a:t>
            </a: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4"/>
          <p:cNvSpPr>
            <a:spLocks noGrp="1"/>
          </p:cNvSpPr>
          <p:nvPr>
            <p:ph type="sldNum" sz="quarter" idx="12"/>
          </p:nvPr>
        </p:nvSpPr>
        <p:spPr/>
        <p:txBody>
          <a:bodyPr/>
          <a:lstStyle/>
          <a:p>
            <a:pPr defTabSz="1128713">
              <a:defRPr/>
            </a:pPr>
            <a:fld id="{9CC8ACFA-3BE6-411B-95D7-87B1118ED1AB}" type="slidenum">
              <a:rPr lang="zh-CN" altLang="en-US">
                <a:latin typeface="+mn-lt"/>
              </a:rPr>
              <a:pPr defTabSz="1128713">
                <a:defRPr/>
              </a:pPr>
              <a:t>54</a:t>
            </a:fld>
            <a:endParaRPr lang="en-US" altLang="zh-CN">
              <a:latin typeface="+mn-lt"/>
            </a:endParaRPr>
          </a:p>
        </p:txBody>
      </p:sp>
      <p:sp>
        <p:nvSpPr>
          <p:cNvPr id="168967" name="Text Box 7"/>
          <p:cNvSpPr txBox="1">
            <a:spLocks noChangeArrowheads="1"/>
          </p:cNvSpPr>
          <p:nvPr/>
        </p:nvSpPr>
        <p:spPr bwMode="auto">
          <a:xfrm>
            <a:off x="179388" y="1558925"/>
            <a:ext cx="7678737" cy="4032250"/>
          </a:xfrm>
          <a:prstGeom prst="rect">
            <a:avLst/>
          </a:prstGeom>
          <a:noFill/>
          <a:ln w="9525">
            <a:noFill/>
            <a:miter lim="800000"/>
            <a:headEnd/>
            <a:tailEnd/>
          </a:ln>
          <a:effectLst/>
        </p:spPr>
        <p:txBody>
          <a:bodyPr>
            <a:spAutoFit/>
          </a:bodyPr>
          <a:lstStyle/>
          <a:p>
            <a:pPr>
              <a:defRPr/>
            </a:pPr>
            <a:r>
              <a:rPr lang="zh-CN" altLang="en-US" dirty="0"/>
              <a:t>    </a:t>
            </a:r>
            <a:r>
              <a:rPr lang="en-US" altLang="zh-CN" b="1" dirty="0">
                <a:solidFill>
                  <a:srgbClr val="FF0000"/>
                </a:solidFill>
                <a:latin typeface="楷体_GB2312" pitchFamily="49" charset="-122"/>
                <a:ea typeface="楷体_GB2312" pitchFamily="49" charset="-122"/>
              </a:rPr>
              <a:t>if (</a:t>
            </a:r>
            <a:r>
              <a:rPr lang="zh-CN" altLang="en-US" b="1" dirty="0">
                <a:solidFill>
                  <a:srgbClr val="FF0000"/>
                </a:solidFill>
                <a:latin typeface="楷体_GB2312" pitchFamily="49" charset="-122"/>
                <a:ea typeface="楷体_GB2312" pitchFamily="49" charset="-122"/>
              </a:rPr>
              <a:t>条件</a:t>
            </a:r>
            <a:r>
              <a:rPr lang="en-US" altLang="zh-CN" b="1" dirty="0">
                <a:solidFill>
                  <a:srgbClr val="FF0000"/>
                </a:solidFill>
                <a:latin typeface="楷体_GB2312" pitchFamily="49" charset="-122"/>
                <a:ea typeface="楷体_GB2312" pitchFamily="49" charset="-122"/>
              </a:rPr>
              <a:t>)</a:t>
            </a:r>
            <a:endParaRPr lang="zh-CN" altLang="en-US" b="1" dirty="0">
              <a:solidFill>
                <a:srgbClr val="FF0000"/>
              </a:solidFill>
              <a:latin typeface="楷体_GB2312" pitchFamily="49" charset="-122"/>
              <a:ea typeface="楷体_GB2312" pitchFamily="49" charset="-122"/>
            </a:endParaRPr>
          </a:p>
          <a:p>
            <a:pPr>
              <a:defRPr/>
            </a:pPr>
            <a:r>
              <a:rPr lang="zh-CN" altLang="en-US" b="1" dirty="0">
                <a:solidFill>
                  <a:srgbClr val="FF0000"/>
                </a:solidFill>
                <a:latin typeface="楷体_GB2312" pitchFamily="49" charset="-122"/>
                <a:ea typeface="楷体_GB2312" pitchFamily="49" charset="-122"/>
              </a:rPr>
              <a:t>       操作步骤</a:t>
            </a:r>
            <a:r>
              <a:rPr lang="en-US" altLang="zh-CN" b="1" dirty="0">
                <a:solidFill>
                  <a:srgbClr val="FF0000"/>
                </a:solidFill>
                <a:latin typeface="楷体_GB2312" pitchFamily="49" charset="-122"/>
                <a:ea typeface="楷体_GB2312" pitchFamily="49" charset="-122"/>
              </a:rPr>
              <a:t>A;</a:t>
            </a:r>
          </a:p>
          <a:p>
            <a:pPr>
              <a:defRPr/>
            </a:pPr>
            <a:r>
              <a:rPr lang="en-US" altLang="zh-CN" b="1" dirty="0">
                <a:solidFill>
                  <a:srgbClr val="FF0000"/>
                </a:solidFill>
                <a:latin typeface="楷体_GB2312" pitchFamily="49" charset="-122"/>
                <a:ea typeface="楷体_GB2312" pitchFamily="49" charset="-122"/>
              </a:rPr>
              <a:t>  else</a:t>
            </a:r>
          </a:p>
          <a:p>
            <a:pPr>
              <a:defRPr/>
            </a:pPr>
            <a:r>
              <a:rPr lang="en-US" altLang="zh-CN" b="1" dirty="0">
                <a:solidFill>
                  <a:srgbClr val="FF0000"/>
                </a:solidFill>
                <a:latin typeface="楷体_GB2312" pitchFamily="49" charset="-122"/>
                <a:ea typeface="楷体_GB2312" pitchFamily="49" charset="-122"/>
              </a:rPr>
              <a:t>       </a:t>
            </a:r>
            <a:r>
              <a:rPr lang="zh-CN" altLang="en-US" b="1" dirty="0">
                <a:solidFill>
                  <a:srgbClr val="FF0000"/>
                </a:solidFill>
                <a:latin typeface="楷体_GB2312" pitchFamily="49" charset="-122"/>
                <a:ea typeface="楷体_GB2312" pitchFamily="49" charset="-122"/>
              </a:rPr>
              <a:t>操作步骤</a:t>
            </a:r>
            <a:r>
              <a:rPr lang="en-US" altLang="zh-CN" b="1" dirty="0">
                <a:solidFill>
                  <a:srgbClr val="FF0000"/>
                </a:solidFill>
                <a:latin typeface="楷体_GB2312" pitchFamily="49" charset="-122"/>
                <a:ea typeface="楷体_GB2312" pitchFamily="49" charset="-122"/>
              </a:rPr>
              <a:t>B;    </a:t>
            </a:r>
            <a:r>
              <a:rPr lang="en-US" altLang="zh-CN" b="1" dirty="0">
                <a:latin typeface="楷体_GB2312" pitchFamily="49" charset="-122"/>
                <a:ea typeface="楷体_GB2312" pitchFamily="49" charset="-122"/>
              </a:rPr>
              <a:t>                                        </a:t>
            </a:r>
          </a:p>
          <a:p>
            <a:pPr>
              <a:defRPr/>
            </a:pPr>
            <a:r>
              <a:rPr lang="zh-CN" altLang="en-US" b="1" dirty="0">
                <a:latin typeface="楷体_GB2312" pitchFamily="49" charset="-122"/>
                <a:ea typeface="楷体_GB2312" pitchFamily="49" charset="-122"/>
              </a:rPr>
              <a:t>条件选择结构中的操作步骤称为分支操作，分支操作又可以是任何控制结构，特别当分支操作又是条件选择结构时，就呈现嵌套的条件选择结构。</a:t>
            </a:r>
          </a:p>
        </p:txBody>
      </p:sp>
      <p:sp>
        <p:nvSpPr>
          <p:cNvPr id="59396" name="Text Box 9"/>
          <p:cNvSpPr txBox="1">
            <a:spLocks noChangeArrowheads="1"/>
          </p:cNvSpPr>
          <p:nvPr/>
        </p:nvSpPr>
        <p:spPr bwMode="auto">
          <a:xfrm>
            <a:off x="250825" y="182563"/>
            <a:ext cx="5834063" cy="1570037"/>
          </a:xfrm>
          <a:prstGeom prst="rect">
            <a:avLst/>
          </a:prstGeom>
          <a:noFill/>
          <a:ln w="9525">
            <a:noFill/>
            <a:miter lim="800000"/>
            <a:headEnd/>
            <a:tailEnd/>
          </a:ln>
        </p:spPr>
        <p:txBody>
          <a:bodyPr>
            <a:spAutoFit/>
          </a:bodyPr>
          <a:lstStyle/>
          <a:p>
            <a:pPr eaLnBrk="1" hangingPunct="1">
              <a:spcBef>
                <a:spcPct val="20000"/>
              </a:spcBef>
              <a:buClr>
                <a:schemeClr val="hlink"/>
              </a:buClr>
              <a:buSzPct val="50000"/>
              <a:buFont typeface="Monotype Sorts" charset="2"/>
              <a:buNone/>
            </a:pPr>
            <a:r>
              <a:rPr kumimoji="1" lang="zh-CN" altLang="en-US" b="1">
                <a:latin typeface="楷体_GB2312" pitchFamily="49" charset="-122"/>
                <a:ea typeface="楷体_GB2312" pitchFamily="49" charset="-122"/>
              </a:rPr>
              <a:t>条件选择结构用伪代码描述可写成以下形式：</a:t>
            </a:r>
            <a:r>
              <a:rPr kumimoji="1" lang="zh-CN" altLang="en-US">
                <a:latin typeface="楷体_GB2312" pitchFamily="49" charset="-122"/>
                <a:ea typeface="楷体_GB2312" pitchFamily="49" charset="-122"/>
              </a:rPr>
              <a:t> </a:t>
            </a:r>
          </a:p>
          <a:p>
            <a:endParaRPr lang="zh-CN" altLang="en-US"/>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1" name="Rectangle 3"/>
          <p:cNvSpPr>
            <a:spLocks noGrp="1" noChangeArrowheads="1"/>
          </p:cNvSpPr>
          <p:nvPr>
            <p:ph idx="1"/>
          </p:nvPr>
        </p:nvSpPr>
        <p:spPr>
          <a:xfrm>
            <a:off x="323850" y="260350"/>
            <a:ext cx="8362950" cy="6292850"/>
          </a:xfrm>
        </p:spPr>
        <p:txBody>
          <a:bodyPr>
            <a:normAutofit/>
          </a:bodyPr>
          <a:lstStyle/>
          <a:p>
            <a:pPr marL="179388" lvl="1" indent="0" fontAlgn="auto">
              <a:spcAft>
                <a:spcPts val="0"/>
              </a:spcAft>
              <a:buFont typeface="Monotype Sorts" pitchFamily="2" charset="2"/>
              <a:buNone/>
              <a:defRPr/>
            </a:pPr>
            <a:r>
              <a:rPr lang="zh-CN" altLang="en-US" sz="3600" b="1" dirty="0">
                <a:solidFill>
                  <a:srgbClr val="C00000"/>
                </a:solidFill>
                <a:effectLst>
                  <a:outerShdw blurRad="38100" dist="38100" dir="2700000" algn="tl">
                    <a:srgbClr val="000000"/>
                  </a:outerShdw>
                </a:effectLst>
                <a:latin typeface="黑体" pitchFamily="2" charset="-122"/>
                <a:ea typeface="黑体" pitchFamily="2" charset="-122"/>
              </a:rPr>
              <a:t>循环结构（归纳）</a:t>
            </a:r>
          </a:p>
          <a:p>
            <a:pPr marL="179388" lvl="1" indent="0" fontAlgn="auto">
              <a:spcAft>
                <a:spcPts val="0"/>
              </a:spcAft>
              <a:buFont typeface="Monotype Sorts" pitchFamily="2"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179388" lvl="1" indent="0" fontAlgn="auto">
              <a:spcAft>
                <a:spcPts val="0"/>
              </a:spcAft>
              <a:buFont typeface="Wingdings 2"/>
              <a:buChar char=""/>
              <a:defRPr/>
            </a:pPr>
            <a:r>
              <a:rPr lang="zh-CN" altLang="en-US" sz="3600" b="1" dirty="0">
                <a:latin typeface="楷体_GB2312" pitchFamily="49" charset="-122"/>
                <a:ea typeface="楷体_GB2312" pitchFamily="49" charset="-122"/>
              </a:rPr>
              <a:t>循环结构为描述重复循环操作提供控制手段。</a:t>
            </a:r>
            <a:r>
              <a:rPr lang="en-US" altLang="zh-CN" sz="3600" b="1" dirty="0">
                <a:latin typeface="楷体_GB2312" pitchFamily="49" charset="-122"/>
                <a:ea typeface="楷体_GB2312" pitchFamily="49" charset="-122"/>
              </a:rPr>
              <a:t>C</a:t>
            </a:r>
            <a:r>
              <a:rPr lang="zh-CN" altLang="en-US" sz="3600" b="1" dirty="0">
                <a:latin typeface="楷体_GB2312" pitchFamily="49" charset="-122"/>
                <a:ea typeface="楷体_GB2312" pitchFamily="49" charset="-122"/>
              </a:rPr>
              <a:t>语言最常见的循环结构有：</a:t>
            </a:r>
          </a:p>
          <a:p>
            <a:pPr marL="179388" lvl="1" indent="0" fontAlgn="auto">
              <a:spcAft>
                <a:spcPts val="0"/>
              </a:spcAft>
              <a:buFont typeface="Monotype Sorts" pitchFamily="2" charset="2"/>
              <a:buNone/>
              <a:defRPr/>
            </a:pPr>
            <a:endParaRPr lang="en-US" altLang="zh-CN"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453708" lvl="2" indent="0" fontAlgn="auto">
              <a:spcAft>
                <a:spcPts val="0"/>
              </a:spcAft>
              <a:buFont typeface="Wingdings 2"/>
              <a:buChar char=""/>
              <a:defRPr/>
            </a:pPr>
            <a:r>
              <a:rPr lang="en-US" altLang="zh-CN" sz="3300" b="1" dirty="0">
                <a:latin typeface="楷体_GB2312" pitchFamily="49" charset="-122"/>
                <a:ea typeface="楷体_GB2312" pitchFamily="49" charset="-122"/>
              </a:rPr>
              <a:t>while</a:t>
            </a:r>
            <a:r>
              <a:rPr lang="zh-CN" altLang="en-US" sz="3300" b="1" dirty="0">
                <a:latin typeface="楷体_GB2312" pitchFamily="49" charset="-122"/>
                <a:ea typeface="楷体_GB2312" pitchFamily="49" charset="-122"/>
              </a:rPr>
              <a:t>型循环结构</a:t>
            </a:r>
          </a:p>
          <a:p>
            <a:pPr marL="453708" lvl="2" indent="0" fontAlgn="auto">
              <a:spcAft>
                <a:spcPts val="0"/>
              </a:spcAft>
              <a:buFont typeface="Wingdings 2"/>
              <a:buChar char=""/>
              <a:defRPr/>
            </a:pPr>
            <a:endParaRPr lang="en-US" altLang="zh-CN" sz="3300" b="1" dirty="0">
              <a:latin typeface="楷体_GB2312" pitchFamily="49" charset="-122"/>
              <a:ea typeface="楷体_GB2312" pitchFamily="49" charset="-122"/>
            </a:endParaRPr>
          </a:p>
          <a:p>
            <a:pPr marL="453708" lvl="2" indent="0" fontAlgn="auto">
              <a:spcAft>
                <a:spcPts val="0"/>
              </a:spcAft>
              <a:buFont typeface="Wingdings 2"/>
              <a:buChar char=""/>
              <a:defRPr/>
            </a:pPr>
            <a:r>
              <a:rPr lang="en-US" altLang="zh-CN" sz="3300" b="1" dirty="0">
                <a:latin typeface="楷体_GB2312" pitchFamily="49" charset="-122"/>
                <a:ea typeface="楷体_GB2312" pitchFamily="49" charset="-122"/>
              </a:rPr>
              <a:t>do-while</a:t>
            </a:r>
            <a:r>
              <a:rPr lang="zh-CN" altLang="en-US" sz="3300" b="1" dirty="0">
                <a:latin typeface="楷体_GB2312" pitchFamily="49" charset="-122"/>
                <a:ea typeface="楷体_GB2312" pitchFamily="49" charset="-122"/>
              </a:rPr>
              <a:t>型循环结构。</a:t>
            </a:r>
            <a:endParaRPr lang="en-US" altLang="zh-CN" sz="3300" b="1" dirty="0">
              <a:latin typeface="楷体_GB2312" pitchFamily="49" charset="-122"/>
              <a:ea typeface="楷体_GB2312" pitchFamily="49" charset="-122"/>
            </a:endParaRPr>
          </a:p>
          <a:p>
            <a:pPr marL="453708" lvl="2" indent="0" fontAlgn="auto">
              <a:spcAft>
                <a:spcPts val="0"/>
              </a:spcAft>
              <a:buFont typeface="Wingdings 2"/>
              <a:buChar char=""/>
              <a:defRPr/>
            </a:pPr>
            <a:endParaRPr lang="en-US" altLang="zh-CN" sz="3300" b="1" dirty="0">
              <a:latin typeface="楷体_GB2312" pitchFamily="49" charset="-122"/>
              <a:ea typeface="楷体_GB2312" pitchFamily="49" charset="-122"/>
            </a:endParaRPr>
          </a:p>
          <a:p>
            <a:pPr marL="453708" lvl="2" indent="0" fontAlgn="auto">
              <a:spcAft>
                <a:spcPts val="0"/>
              </a:spcAft>
              <a:buFont typeface="Wingdings 2"/>
              <a:buChar char=""/>
              <a:defRPr/>
            </a:pPr>
            <a:r>
              <a:rPr lang="en-US" altLang="zh-CN" sz="3300" b="1" dirty="0">
                <a:latin typeface="楷体_GB2312" pitchFamily="49" charset="-122"/>
                <a:ea typeface="楷体_GB2312" pitchFamily="49" charset="-122"/>
              </a:rPr>
              <a:t>For </a:t>
            </a:r>
            <a:r>
              <a:rPr lang="zh-CN" altLang="en-US" sz="3300" b="1" dirty="0">
                <a:latin typeface="楷体_GB2312" pitchFamily="49" charset="-122"/>
                <a:ea typeface="楷体_GB2312" pitchFamily="49" charset="-122"/>
              </a:rPr>
              <a:t>循环</a:t>
            </a:r>
          </a:p>
        </p:txBody>
      </p:sp>
      <p:sp>
        <p:nvSpPr>
          <p:cNvPr id="5" name="灯片编号占位符 5"/>
          <p:cNvSpPr>
            <a:spLocks noGrp="1"/>
          </p:cNvSpPr>
          <p:nvPr>
            <p:ph type="sldNum" sz="quarter" idx="12"/>
          </p:nvPr>
        </p:nvSpPr>
        <p:spPr/>
        <p:txBody>
          <a:bodyPr/>
          <a:lstStyle/>
          <a:p>
            <a:pPr defTabSz="1128713">
              <a:defRPr/>
            </a:pPr>
            <a:fld id="{8A0E186A-A47E-4BFB-8F75-2F60A0F11EF6}" type="slidenum">
              <a:rPr lang="zh-CN" altLang="en-US">
                <a:latin typeface="+mn-lt"/>
              </a:rPr>
              <a:pPr defTabSz="1128713">
                <a:defRPr/>
              </a:pPr>
              <a:t>55</a:t>
            </a:fld>
            <a:endParaRPr lang="en-US" altLang="zh-CN">
              <a:latin typeface="+mn-lt"/>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defTabSz="1128713">
              <a:defRPr/>
            </a:pPr>
            <a:fld id="{90B9A26F-3097-42CA-8DC6-70E37B0C27C7}" type="slidenum">
              <a:rPr lang="zh-CN" altLang="en-US">
                <a:latin typeface="+mn-lt"/>
              </a:rPr>
              <a:pPr defTabSz="1128713">
                <a:defRPr/>
              </a:pPr>
              <a:t>56</a:t>
            </a:fld>
            <a:endParaRPr lang="en-US" altLang="zh-CN">
              <a:latin typeface="+mn-lt"/>
            </a:endParaRPr>
          </a:p>
        </p:txBody>
      </p:sp>
      <p:sp>
        <p:nvSpPr>
          <p:cNvPr id="172041" name="Text Box 9"/>
          <p:cNvSpPr txBox="1">
            <a:spLocks noChangeArrowheads="1"/>
          </p:cNvSpPr>
          <p:nvPr/>
        </p:nvSpPr>
        <p:spPr bwMode="auto">
          <a:xfrm>
            <a:off x="250825" y="1341438"/>
            <a:ext cx="4897438" cy="1066800"/>
          </a:xfrm>
          <a:prstGeom prst="rect">
            <a:avLst/>
          </a:prstGeom>
          <a:noFill/>
          <a:ln w="9525">
            <a:noFill/>
            <a:miter lim="800000"/>
            <a:headEnd/>
            <a:tailEnd/>
          </a:ln>
          <a:effectLst/>
        </p:spPr>
        <p:txBody>
          <a:bodyPr>
            <a:spAutoFit/>
          </a:bodyPr>
          <a:lstStyle/>
          <a:p>
            <a:pPr>
              <a:defRPr/>
            </a:pPr>
            <a:r>
              <a:rPr lang="en-US" altLang="zh-CN" dirty="0">
                <a:effectLst>
                  <a:outerShdw blurRad="38100" dist="38100" dir="2700000" algn="tl">
                    <a:srgbClr val="000000">
                      <a:alpha val="43137"/>
                    </a:srgbClr>
                  </a:outerShdw>
                </a:effectLst>
              </a:rPr>
              <a:t>   </a:t>
            </a: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while (</a:t>
            </a:r>
            <a:r>
              <a:rPr lang="zh-CN" altLang="en-US" b="1" dirty="0">
                <a:effectLst>
                  <a:outerShdw blurRad="38100" dist="38100" dir="2700000" algn="tl">
                    <a:srgbClr val="000000">
                      <a:alpha val="43137"/>
                    </a:srgbClr>
                  </a:outerShdw>
                </a:effectLst>
                <a:latin typeface="楷体_GB2312" pitchFamily="49" charset="-122"/>
                <a:ea typeface="楷体_GB2312" pitchFamily="49" charset="-122"/>
              </a:rPr>
              <a:t>条件</a:t>
            </a: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a:t>
            </a:r>
          </a:p>
          <a:p>
            <a:pPr>
              <a:defRPr/>
            </a:pP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       </a:t>
            </a:r>
            <a:r>
              <a:rPr lang="zh-CN" altLang="en-US" b="1" dirty="0">
                <a:effectLst>
                  <a:outerShdw blurRad="38100" dist="38100" dir="2700000" algn="tl">
                    <a:srgbClr val="000000">
                      <a:alpha val="43137"/>
                    </a:srgbClr>
                  </a:outerShdw>
                </a:effectLst>
                <a:latin typeface="楷体_GB2312" pitchFamily="49" charset="-122"/>
                <a:ea typeface="楷体_GB2312" pitchFamily="49" charset="-122"/>
              </a:rPr>
              <a:t>一个操作步骤</a:t>
            </a: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a:t>
            </a:r>
            <a:r>
              <a:rPr lang="en-US" altLang="zh-CN" b="1" dirty="0">
                <a:effectLst>
                  <a:outerShdw blurRad="38100" dist="38100" dir="2700000" algn="tl">
                    <a:srgbClr val="000000">
                      <a:alpha val="43137"/>
                    </a:srgbClr>
                  </a:outerShdw>
                </a:effectLst>
              </a:rPr>
              <a:t> </a:t>
            </a:r>
          </a:p>
        </p:txBody>
      </p:sp>
      <p:sp>
        <p:nvSpPr>
          <p:cNvPr id="61444" name="Text Box 10"/>
          <p:cNvSpPr txBox="1">
            <a:spLocks noChangeArrowheads="1"/>
          </p:cNvSpPr>
          <p:nvPr/>
        </p:nvSpPr>
        <p:spPr bwMode="auto">
          <a:xfrm>
            <a:off x="5567363" y="5065713"/>
            <a:ext cx="3148012" cy="1077912"/>
          </a:xfrm>
          <a:prstGeom prst="rect">
            <a:avLst/>
          </a:prstGeom>
          <a:noFill/>
          <a:ln w="9525">
            <a:noFill/>
            <a:miter lim="800000"/>
            <a:headEnd/>
            <a:tailEnd/>
          </a:ln>
        </p:spPr>
        <p:txBody>
          <a:bodyPr wrap="none">
            <a:spAutoFit/>
          </a:bodyPr>
          <a:lstStyle/>
          <a:p>
            <a:r>
              <a:rPr lang="en-US" altLang="zh-CN"/>
              <a:t>while</a:t>
            </a:r>
            <a:r>
              <a:rPr lang="zh-CN" altLang="en-US"/>
              <a:t>型循环结构</a:t>
            </a:r>
          </a:p>
          <a:p>
            <a:endParaRPr lang="zh-CN" altLang="en-US"/>
          </a:p>
        </p:txBody>
      </p:sp>
      <p:sp>
        <p:nvSpPr>
          <p:cNvPr id="61445" name="Text Box 11"/>
          <p:cNvSpPr txBox="1">
            <a:spLocks noChangeArrowheads="1"/>
          </p:cNvSpPr>
          <p:nvPr/>
        </p:nvSpPr>
        <p:spPr bwMode="auto">
          <a:xfrm>
            <a:off x="250825" y="182563"/>
            <a:ext cx="6121400" cy="1066800"/>
          </a:xfrm>
          <a:prstGeom prst="rect">
            <a:avLst/>
          </a:prstGeom>
          <a:noFill/>
          <a:ln w="9525">
            <a:noFill/>
            <a:miter lim="800000"/>
            <a:headEnd/>
            <a:tailEnd/>
          </a:ln>
        </p:spPr>
        <p:txBody>
          <a:bodyPr>
            <a:spAutoFit/>
          </a:bodyPr>
          <a:lstStyle/>
          <a:p>
            <a:r>
              <a:rPr lang="en-US" altLang="zh-CN" b="1">
                <a:latin typeface="楷体_GB2312" pitchFamily="49" charset="-122"/>
                <a:ea typeface="楷体_GB2312" pitchFamily="49" charset="-122"/>
              </a:rPr>
              <a:t>while</a:t>
            </a:r>
            <a:r>
              <a:rPr lang="zh-CN" altLang="en-US" b="1">
                <a:latin typeface="楷体_GB2312" pitchFamily="49" charset="-122"/>
                <a:ea typeface="楷体_GB2312" pitchFamily="49" charset="-122"/>
              </a:rPr>
              <a:t>型循环结构用伪代码描述可写成以下形式：</a:t>
            </a:r>
          </a:p>
        </p:txBody>
      </p:sp>
      <p:sp>
        <p:nvSpPr>
          <p:cNvPr id="61446" name="Text Box 13"/>
          <p:cNvSpPr txBox="1">
            <a:spLocks noChangeArrowheads="1"/>
          </p:cNvSpPr>
          <p:nvPr/>
        </p:nvSpPr>
        <p:spPr bwMode="auto">
          <a:xfrm>
            <a:off x="0" y="2492375"/>
            <a:ext cx="4932363" cy="4130675"/>
          </a:xfrm>
          <a:prstGeom prst="rect">
            <a:avLst/>
          </a:prstGeom>
          <a:noFill/>
          <a:ln w="9525">
            <a:noFill/>
            <a:miter lim="800000"/>
            <a:headEnd/>
            <a:tailEnd/>
          </a:ln>
        </p:spPr>
        <p:txBody>
          <a:bodyPr>
            <a:spAutoFit/>
          </a:bodyPr>
          <a:lstStyle/>
          <a:p>
            <a:pPr lvl="1" eaLnBrk="1" hangingPunct="1">
              <a:lnSpc>
                <a:spcPct val="90000"/>
              </a:lnSpc>
              <a:spcBef>
                <a:spcPct val="20000"/>
              </a:spcBef>
              <a:buClr>
                <a:schemeClr val="tx2"/>
              </a:buClr>
              <a:buSzPct val="75000"/>
              <a:buFont typeface="Monotype Sorts" charset="2"/>
              <a:buNone/>
            </a:pPr>
            <a:r>
              <a:rPr kumimoji="1" lang="zh-CN" altLang="en-US" b="1">
                <a:ea typeface="楷体_GB2312" pitchFamily="49" charset="-122"/>
              </a:rPr>
              <a:t>执行过程是：每次循环前，先求条件的值，当条件成立（真）时，就执行内含的操作步骤，并接着再次求条件的值，以确定操作步骤是否再次被执行。当条件的值为假，则结束循环操作。</a:t>
            </a:r>
          </a:p>
          <a:p>
            <a:endParaRPr lang="zh-CN" altLang="en-US">
              <a:ea typeface="楷体_GB2312" pitchFamily="49" charset="-122"/>
            </a:endParaRPr>
          </a:p>
        </p:txBody>
      </p:sp>
      <p:pic>
        <p:nvPicPr>
          <p:cNvPr id="61447" name="Picture 8" descr="图1_5"/>
          <p:cNvPicPr>
            <a:picLocks noChangeAspect="1" noChangeArrowheads="1"/>
          </p:cNvPicPr>
          <p:nvPr/>
        </p:nvPicPr>
        <p:blipFill>
          <a:blip r:embed="rId2" cstate="print"/>
          <a:srcRect r="60547" b="63020"/>
          <a:stretch>
            <a:fillRect/>
          </a:stretch>
        </p:blipFill>
        <p:spPr bwMode="auto">
          <a:xfrm>
            <a:off x="4857750" y="1357313"/>
            <a:ext cx="3967163" cy="3643312"/>
          </a:xfrm>
          <a:prstGeom prst="rect">
            <a:avLst/>
          </a:prstGeom>
          <a:noFill/>
          <a:ln w="9525">
            <a:noFill/>
            <a:miter lim="800000"/>
            <a:headEnd/>
            <a:tailEnd/>
          </a:ln>
        </p:spPr>
      </p:pic>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62466" name="Rectangle 3"/>
          <p:cNvSpPr>
            <a:spLocks noGrp="1" noChangeArrowheads="1"/>
          </p:cNvSpPr>
          <p:nvPr>
            <p:ph type="body" sz="half" idx="1"/>
          </p:nvPr>
        </p:nvSpPr>
        <p:spPr>
          <a:xfrm>
            <a:off x="468313" y="1916113"/>
            <a:ext cx="5322887" cy="5041900"/>
          </a:xfrm>
        </p:spPr>
        <p:txBody>
          <a:bodyPr/>
          <a:lstStyle/>
          <a:p>
            <a:pPr marL="0" indent="0">
              <a:buFont typeface="Monotype Sorts" charset="2"/>
              <a:buNone/>
            </a:pPr>
            <a:r>
              <a:rPr lang="zh-CN" altLang="en-US" sz="3000" b="1">
                <a:latin typeface="楷体_GB2312" pitchFamily="49" charset="-122"/>
                <a:ea typeface="楷体_GB2312" pitchFamily="49" charset="-122"/>
              </a:rPr>
              <a:t>每次循环前，首先执行操作步骤，接着再求条件，当条件成立（真）时，再重复执行操作步骤。如此反复，直到条件的值为假，结束循环。</a:t>
            </a:r>
            <a:r>
              <a:rPr lang="en-US" altLang="zh-CN" sz="3000" b="1">
                <a:latin typeface="楷体_GB2312" pitchFamily="49" charset="-122"/>
                <a:ea typeface="楷体_GB2312" pitchFamily="49" charset="-122"/>
              </a:rPr>
              <a:t>do-while</a:t>
            </a:r>
            <a:r>
              <a:rPr lang="zh-CN" altLang="en-US" sz="3000" b="1">
                <a:latin typeface="楷体_GB2312" pitchFamily="49" charset="-122"/>
                <a:ea typeface="楷体_GB2312" pitchFamily="49" charset="-122"/>
              </a:rPr>
              <a:t>型循环结构用伪代码描述：</a:t>
            </a:r>
          </a:p>
          <a:p>
            <a:pPr marL="0" indent="0">
              <a:buFont typeface="Monotype Sorts" charset="2"/>
              <a:buNone/>
            </a:pPr>
            <a:r>
              <a:rPr lang="zh-CN" altLang="en-US" sz="3000" b="1">
                <a:latin typeface="楷体_GB2312" pitchFamily="49" charset="-122"/>
                <a:ea typeface="楷体_GB2312" pitchFamily="49" charset="-122"/>
              </a:rPr>
              <a:t>   </a:t>
            </a:r>
            <a:r>
              <a:rPr lang="en-US" altLang="zh-CN" sz="3000" b="1">
                <a:latin typeface="楷体_GB2312" pitchFamily="49" charset="-122"/>
                <a:ea typeface="楷体_GB2312" pitchFamily="49" charset="-122"/>
              </a:rPr>
              <a:t>do</a:t>
            </a:r>
          </a:p>
          <a:p>
            <a:pPr marL="0" indent="0">
              <a:buFont typeface="Monotype Sorts" charset="2"/>
              <a:buNone/>
            </a:pPr>
            <a:r>
              <a:rPr lang="en-US" altLang="zh-CN" sz="3000" b="1">
                <a:latin typeface="楷体_GB2312" pitchFamily="49" charset="-122"/>
                <a:ea typeface="楷体_GB2312" pitchFamily="49" charset="-122"/>
              </a:rPr>
              <a:t>     </a:t>
            </a:r>
            <a:r>
              <a:rPr lang="zh-CN" altLang="en-US" sz="3000" b="1">
                <a:latin typeface="楷体_GB2312" pitchFamily="49" charset="-122"/>
                <a:ea typeface="楷体_GB2312" pitchFamily="49" charset="-122"/>
              </a:rPr>
              <a:t>一个操作步骤</a:t>
            </a:r>
            <a:r>
              <a:rPr lang="en-US" altLang="zh-CN" sz="3000" b="1">
                <a:latin typeface="楷体_GB2312" pitchFamily="49" charset="-122"/>
                <a:ea typeface="楷体_GB2312" pitchFamily="49" charset="-122"/>
              </a:rPr>
              <a:t>;</a:t>
            </a:r>
          </a:p>
          <a:p>
            <a:pPr marL="0" indent="0">
              <a:buFont typeface="Monotype Sorts" charset="2"/>
              <a:buNone/>
            </a:pPr>
            <a:r>
              <a:rPr lang="en-US" altLang="zh-CN" sz="3000" b="1">
                <a:latin typeface="楷体_GB2312" pitchFamily="49" charset="-122"/>
                <a:ea typeface="楷体_GB2312" pitchFamily="49" charset="-122"/>
              </a:rPr>
              <a:t>   while (</a:t>
            </a:r>
            <a:r>
              <a:rPr lang="zh-CN" altLang="en-US" sz="3000" b="1">
                <a:latin typeface="楷体_GB2312" pitchFamily="49" charset="-122"/>
                <a:ea typeface="楷体_GB2312" pitchFamily="49" charset="-122"/>
              </a:rPr>
              <a:t>条件</a:t>
            </a:r>
            <a:r>
              <a:rPr lang="en-US" altLang="zh-CN" sz="3000" b="1">
                <a:latin typeface="楷体_GB2312" pitchFamily="49" charset="-122"/>
                <a:ea typeface="楷体_GB2312" pitchFamily="49" charset="-122"/>
              </a:rPr>
              <a:t>)</a:t>
            </a:r>
            <a:r>
              <a:rPr lang="en-US" altLang="zh-CN" sz="4000" b="1">
                <a:solidFill>
                  <a:srgbClr val="C00000"/>
                </a:solidFill>
                <a:latin typeface="楷体_GB2312" pitchFamily="49" charset="-122"/>
                <a:ea typeface="楷体_GB2312" pitchFamily="49" charset="-122"/>
              </a:rPr>
              <a:t>;</a:t>
            </a:r>
            <a:endParaRPr lang="zh-CN" altLang="en-US" sz="3000" b="1">
              <a:solidFill>
                <a:srgbClr val="C00000"/>
              </a:solidFill>
              <a:latin typeface="楷体_GB2312" pitchFamily="49" charset="-122"/>
              <a:ea typeface="楷体_GB2312" pitchFamily="49" charset="-122"/>
            </a:endParaRPr>
          </a:p>
        </p:txBody>
      </p:sp>
      <p:pic>
        <p:nvPicPr>
          <p:cNvPr id="62467" name="Picture 7" descr="图1_6"/>
          <p:cNvPicPr>
            <a:picLocks noGrp="1" noChangeAspect="1" noChangeArrowheads="1"/>
          </p:cNvPicPr>
          <p:nvPr>
            <p:ph sz="half" idx="2"/>
          </p:nvPr>
        </p:nvPicPr>
        <p:blipFill>
          <a:blip r:embed="rId2" cstate="print"/>
          <a:srcRect r="60742" b="57292"/>
          <a:stretch>
            <a:fillRect/>
          </a:stretch>
        </p:blipFill>
        <p:spPr>
          <a:xfrm>
            <a:off x="5635625" y="2143125"/>
            <a:ext cx="3508375" cy="3286125"/>
          </a:xfrm>
          <a:noFill/>
        </p:spPr>
      </p:pic>
      <p:sp>
        <p:nvSpPr>
          <p:cNvPr id="8" name="灯片编号占位符 6"/>
          <p:cNvSpPr>
            <a:spLocks noGrp="1"/>
          </p:cNvSpPr>
          <p:nvPr>
            <p:ph type="sldNum" sz="quarter" idx="12"/>
          </p:nvPr>
        </p:nvSpPr>
        <p:spPr/>
        <p:txBody>
          <a:bodyPr/>
          <a:lstStyle/>
          <a:p>
            <a:pPr defTabSz="1128713">
              <a:defRPr/>
            </a:pPr>
            <a:fld id="{A80FC8CA-F895-4038-91E6-F4332ACFE719}" type="slidenum">
              <a:rPr lang="zh-CN" altLang="en-US">
                <a:latin typeface="+mn-lt"/>
              </a:rPr>
              <a:pPr defTabSz="1128713">
                <a:defRPr/>
              </a:pPr>
              <a:t>57</a:t>
            </a:fld>
            <a:endParaRPr lang="en-US" altLang="zh-CN" dirty="0">
              <a:latin typeface="+mn-lt"/>
            </a:endParaRPr>
          </a:p>
        </p:txBody>
      </p:sp>
      <p:sp>
        <p:nvSpPr>
          <p:cNvPr id="62469" name="Text Box 8"/>
          <p:cNvSpPr txBox="1">
            <a:spLocks noChangeArrowheads="1"/>
          </p:cNvSpPr>
          <p:nvPr/>
        </p:nvSpPr>
        <p:spPr bwMode="auto">
          <a:xfrm>
            <a:off x="6046788" y="5715000"/>
            <a:ext cx="3097212" cy="396875"/>
          </a:xfrm>
          <a:prstGeom prst="rect">
            <a:avLst/>
          </a:prstGeom>
          <a:noFill/>
          <a:ln w="9525">
            <a:noFill/>
            <a:miter lim="800000"/>
            <a:headEnd/>
            <a:tailEnd/>
          </a:ln>
        </p:spPr>
        <p:txBody>
          <a:bodyPr>
            <a:spAutoFit/>
          </a:bodyPr>
          <a:lstStyle/>
          <a:p>
            <a:r>
              <a:rPr lang="en-US" altLang="zh-CN" sz="2000"/>
              <a:t>      do-while</a:t>
            </a:r>
            <a:r>
              <a:rPr lang="zh-CN" altLang="en-US" sz="2000"/>
              <a:t>型循环结构 </a:t>
            </a:r>
          </a:p>
        </p:txBody>
      </p:sp>
      <p:sp>
        <p:nvSpPr>
          <p:cNvPr id="62470" name="Text Box 9"/>
          <p:cNvSpPr txBox="1">
            <a:spLocks noChangeArrowheads="1"/>
          </p:cNvSpPr>
          <p:nvPr/>
        </p:nvSpPr>
        <p:spPr bwMode="auto">
          <a:xfrm>
            <a:off x="323850" y="260350"/>
            <a:ext cx="8569325" cy="1569660"/>
          </a:xfrm>
          <a:prstGeom prst="rect">
            <a:avLst/>
          </a:prstGeom>
          <a:noFill/>
          <a:ln w="9525">
            <a:noFill/>
            <a:miter lim="800000"/>
            <a:headEnd/>
            <a:tailEnd/>
          </a:ln>
        </p:spPr>
        <p:txBody>
          <a:bodyPr>
            <a:spAutoFit/>
          </a:bodyPr>
          <a:lstStyle/>
          <a:p>
            <a:pPr>
              <a:spcBef>
                <a:spcPct val="50000"/>
              </a:spcBef>
            </a:pPr>
            <a:r>
              <a:rPr kumimoji="1" lang="en-US" altLang="zh-CN" b="1" dirty="0">
                <a:solidFill>
                  <a:srgbClr val="000066"/>
                </a:solidFill>
                <a:latin typeface="楷体_GB2312" pitchFamily="49" charset="-122"/>
                <a:ea typeface="楷体_GB2312" pitchFamily="49" charset="-122"/>
              </a:rPr>
              <a:t>do-while</a:t>
            </a:r>
            <a:r>
              <a:rPr kumimoji="1" lang="zh-CN" altLang="en-US" b="1" dirty="0">
                <a:solidFill>
                  <a:srgbClr val="000066"/>
                </a:solidFill>
                <a:latin typeface="楷体_GB2312" pitchFamily="49" charset="-122"/>
                <a:ea typeface="楷体_GB2312" pitchFamily="49" charset="-122"/>
              </a:rPr>
              <a:t>型循环结构由一个条件和一个要重复执行的操作步骤组成，该结构实现如图</a:t>
            </a:r>
            <a:r>
              <a:rPr kumimoji="1" lang="en-US" altLang="zh-CN" b="1" dirty="0">
                <a:solidFill>
                  <a:srgbClr val="000066"/>
                </a:solidFill>
                <a:latin typeface="楷体_GB2312" pitchFamily="49" charset="-122"/>
                <a:ea typeface="楷体_GB2312" pitchFamily="49" charset="-122"/>
              </a:rPr>
              <a:t>1.6</a:t>
            </a:r>
            <a:r>
              <a:rPr kumimoji="1" lang="zh-CN" altLang="en-US" b="1" dirty="0">
                <a:solidFill>
                  <a:srgbClr val="000066"/>
                </a:solidFill>
                <a:latin typeface="楷体_GB2312" pitchFamily="49" charset="-122"/>
                <a:ea typeface="楷体_GB2312" pitchFamily="49" charset="-122"/>
              </a:rPr>
              <a:t>所示的控制。</a:t>
            </a:r>
            <a:r>
              <a:rPr kumimoji="1" lang="en-US" altLang="zh-CN" b="1" dirty="0">
                <a:solidFill>
                  <a:srgbClr val="000066"/>
                </a:solidFill>
                <a:latin typeface="楷体_GB2312" pitchFamily="49" charset="-122"/>
                <a:ea typeface="楷体_GB2312" pitchFamily="49" charset="-122"/>
              </a:rPr>
              <a:t>do-while</a:t>
            </a:r>
            <a:r>
              <a:rPr kumimoji="1" lang="zh-CN" altLang="en-US" b="1" dirty="0">
                <a:solidFill>
                  <a:srgbClr val="000066"/>
                </a:solidFill>
                <a:latin typeface="楷体_GB2312" pitchFamily="49" charset="-122"/>
                <a:ea typeface="楷体_GB2312" pitchFamily="49" charset="-122"/>
              </a:rPr>
              <a:t>型循环结构的执行过程是：</a:t>
            </a: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3"/>
          <p:cNvSpPr>
            <a:spLocks noGrp="1" noChangeArrowheads="1"/>
          </p:cNvSpPr>
          <p:nvPr>
            <p:ph idx="1"/>
          </p:nvPr>
        </p:nvSpPr>
        <p:spPr>
          <a:xfrm>
            <a:off x="179388" y="928688"/>
            <a:ext cx="8640762" cy="5524500"/>
          </a:xfrm>
        </p:spPr>
        <p:txBody>
          <a:bodyPr/>
          <a:lstStyle/>
          <a:p>
            <a:pPr marL="0" indent="0">
              <a:lnSpc>
                <a:spcPct val="90000"/>
              </a:lnSpc>
              <a:spcAft>
                <a:spcPts val="600"/>
              </a:spcAft>
            </a:pPr>
            <a:r>
              <a:rPr lang="zh-CN" altLang="en-US" sz="3200" b="1" dirty="0">
                <a:latin typeface="楷体_GB2312" pitchFamily="49" charset="-122"/>
                <a:ea typeface="楷体_GB2312" pitchFamily="49" charset="-122"/>
              </a:rPr>
              <a:t> </a:t>
            </a:r>
            <a:r>
              <a:rPr lang="zh-CN" altLang="en-US" sz="3200" b="1" dirty="0">
                <a:solidFill>
                  <a:srgbClr val="C00000"/>
                </a:solidFill>
                <a:latin typeface="楷体_GB2312" pitchFamily="49" charset="-122"/>
                <a:ea typeface="楷体_GB2312" pitchFamily="49" charset="-122"/>
              </a:rPr>
              <a:t>其中操作步骤既可以是简单的操作步骤，也可以是某种控制结构</a:t>
            </a:r>
            <a:r>
              <a:rPr lang="en-US" altLang="zh-CN" sz="3200" b="1" dirty="0">
                <a:solidFill>
                  <a:srgbClr val="C00000"/>
                </a:solidFill>
                <a:latin typeface="楷体_GB2312" pitchFamily="49" charset="-122"/>
                <a:ea typeface="楷体_GB2312" pitchFamily="49" charset="-122"/>
              </a:rPr>
              <a:t>!</a:t>
            </a:r>
            <a:endParaRPr lang="zh-CN" altLang="en-US" sz="3200" b="1" dirty="0">
              <a:solidFill>
                <a:srgbClr val="C00000"/>
              </a:solidFill>
              <a:latin typeface="楷体_GB2312" pitchFamily="49" charset="-122"/>
              <a:ea typeface="楷体_GB2312" pitchFamily="49" charset="-122"/>
            </a:endParaRPr>
          </a:p>
          <a:p>
            <a:pPr marL="0" indent="0">
              <a:lnSpc>
                <a:spcPct val="90000"/>
              </a:lnSpc>
              <a:spcAft>
                <a:spcPts val="600"/>
              </a:spcAft>
            </a:pPr>
            <a:endParaRPr lang="zh-CN" altLang="en-US" sz="3200" b="1" dirty="0">
              <a:latin typeface="楷体_GB2312" pitchFamily="49" charset="-122"/>
              <a:ea typeface="楷体_GB2312" pitchFamily="49" charset="-122"/>
            </a:endParaRPr>
          </a:p>
          <a:p>
            <a:pPr marL="0" indent="0">
              <a:lnSpc>
                <a:spcPct val="90000"/>
              </a:lnSpc>
              <a:spcAft>
                <a:spcPts val="600"/>
              </a:spcAft>
            </a:pPr>
            <a:r>
              <a:rPr lang="zh-CN" altLang="en-US" sz="3200" b="1" dirty="0">
                <a:latin typeface="楷体_GB2312" pitchFamily="49" charset="-122"/>
                <a:ea typeface="楷体_GB2312" pitchFamily="49" charset="-122"/>
              </a:rPr>
              <a:t> 计算理论证明，程序可以由一些简单的操作配合上述三种控制结构的反复应用来描述。</a:t>
            </a:r>
          </a:p>
          <a:p>
            <a:pPr marL="0" indent="0">
              <a:lnSpc>
                <a:spcPct val="90000"/>
              </a:lnSpc>
              <a:spcAft>
                <a:spcPts val="600"/>
              </a:spcAft>
            </a:pPr>
            <a:endParaRPr lang="zh-CN" altLang="en-US" sz="3200" b="1" dirty="0">
              <a:latin typeface="楷体_GB2312" pitchFamily="49" charset="-122"/>
              <a:ea typeface="楷体_GB2312" pitchFamily="49" charset="-122"/>
            </a:endParaRPr>
          </a:p>
          <a:p>
            <a:pPr marL="0" indent="0">
              <a:lnSpc>
                <a:spcPct val="90000"/>
              </a:lnSpc>
              <a:spcAft>
                <a:spcPts val="600"/>
              </a:spcAft>
            </a:pPr>
            <a:r>
              <a:rPr lang="zh-CN" altLang="en-US" sz="3200" b="1" dirty="0">
                <a:latin typeface="楷体_GB2312" pitchFamily="49" charset="-122"/>
                <a:ea typeface="楷体_GB2312" pitchFamily="49" charset="-122"/>
              </a:rPr>
              <a:t> 程序员严格按照前述的规则编写程序，有利于程序的结构性和可读性。</a:t>
            </a:r>
            <a:endParaRPr lang="en-US" altLang="zh-CN" sz="3200" b="1" dirty="0">
              <a:latin typeface="楷体_GB2312" pitchFamily="49" charset="-122"/>
              <a:ea typeface="楷体_GB2312" pitchFamily="49" charset="-122"/>
            </a:endParaRPr>
          </a:p>
          <a:p>
            <a:pPr marL="0" indent="0">
              <a:lnSpc>
                <a:spcPct val="90000"/>
              </a:lnSpc>
              <a:spcAft>
                <a:spcPts val="600"/>
              </a:spcAft>
            </a:pPr>
            <a:endParaRPr lang="en-US" altLang="zh-CN" sz="3200" b="1" dirty="0">
              <a:latin typeface="楷体_GB2312" pitchFamily="49" charset="-122"/>
              <a:ea typeface="楷体_GB2312" pitchFamily="49" charset="-122"/>
            </a:endParaRPr>
          </a:p>
          <a:p>
            <a:pPr marL="0" indent="0">
              <a:lnSpc>
                <a:spcPct val="90000"/>
              </a:lnSpc>
              <a:spcAft>
                <a:spcPts val="600"/>
              </a:spcAft>
              <a:buFont typeface="Wingdings 2" pitchFamily="18" charset="2"/>
              <a:buNone/>
            </a:pPr>
            <a:r>
              <a:rPr lang="zh-CN" altLang="en-US" sz="32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defTabSz="1128713">
              <a:defRPr/>
            </a:pPr>
            <a:fld id="{F873AECA-56CB-48BA-B3CC-8E295068C435}" type="slidenum">
              <a:rPr lang="zh-CN" altLang="en-US">
                <a:latin typeface="+mn-lt"/>
              </a:rPr>
              <a:pPr defTabSz="1128713">
                <a:defRPr/>
              </a:pPr>
              <a:t>58</a:t>
            </a:fld>
            <a:endParaRPr lang="en-US" altLang="zh-CN">
              <a:latin typeface="+mn-lt"/>
            </a:endParaRPr>
          </a:p>
        </p:txBody>
      </p:sp>
      <p:sp>
        <p:nvSpPr>
          <p:cNvPr id="63492" name="AutoShape 5">
            <a:hlinkClick r:id="rId2" action="ppaction://hlinksldjump" highlightClick="1"/>
          </p:cNvPr>
          <p:cNvSpPr>
            <a:spLocks noChangeArrowheads="1"/>
          </p:cNvSpPr>
          <p:nvPr/>
        </p:nvSpPr>
        <p:spPr bwMode="auto">
          <a:xfrm>
            <a:off x="8531225" y="6238875"/>
            <a:ext cx="504825" cy="503238"/>
          </a:xfrm>
          <a:prstGeom prst="actionButtonInformation">
            <a:avLst/>
          </a:prstGeom>
          <a:solidFill>
            <a:schemeClr val="accent1"/>
          </a:solidFill>
          <a:ln w="9525">
            <a:noFill/>
            <a:miter lim="800000"/>
            <a:headEnd/>
            <a:tailEnd/>
          </a:ln>
        </p:spPr>
        <p:txBody>
          <a:bodyPr wrap="none" anchor="ctr"/>
          <a:lstStyle/>
          <a:p>
            <a:endParaRPr lang="zh-CN" altLang="en-US"/>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381000" y="304800"/>
            <a:ext cx="8458200" cy="762000"/>
          </a:xfrm>
        </p:spPr>
        <p:txBody>
          <a:bodyPr>
            <a:normAutofit fontScale="90000"/>
          </a:bodyPr>
          <a:lstStyle/>
          <a:p>
            <a:pPr fontAlgn="auto">
              <a:spcAft>
                <a:spcPts val="0"/>
              </a:spcAft>
              <a:defRPr/>
            </a:pPr>
            <a:r>
              <a:rPr lang="zh-CN" altLang="en-US" sz="4400" dirty="0">
                <a:solidFill>
                  <a:srgbClr val="C00000"/>
                </a:solidFill>
                <a:latin typeface="黑体" pitchFamily="2" charset="-122"/>
                <a:ea typeface="黑体" pitchFamily="2" charset="-122"/>
              </a:rPr>
              <a:t>1.</a:t>
            </a:r>
            <a:r>
              <a:rPr lang="en-US" altLang="zh-CN" sz="4400" dirty="0">
                <a:solidFill>
                  <a:srgbClr val="C00000"/>
                </a:solidFill>
                <a:latin typeface="黑体" pitchFamily="2" charset="-122"/>
                <a:ea typeface="黑体" pitchFamily="2" charset="-122"/>
              </a:rPr>
              <a:t>2  </a:t>
            </a:r>
            <a:r>
              <a:rPr lang="en-US" altLang="zh-CN" dirty="0">
                <a:solidFill>
                  <a:srgbClr val="C00000"/>
                </a:solidFill>
                <a:latin typeface="黑体" pitchFamily="2" charset="-122"/>
                <a:ea typeface="黑体" pitchFamily="2" charset="-122"/>
              </a:rPr>
              <a:t>C</a:t>
            </a:r>
            <a:r>
              <a:rPr lang="zh-CN" altLang="en-US" dirty="0">
                <a:solidFill>
                  <a:srgbClr val="C00000"/>
                </a:solidFill>
                <a:latin typeface="黑体" pitchFamily="2" charset="-122"/>
                <a:ea typeface="黑体" pitchFamily="2" charset="-122"/>
              </a:rPr>
              <a:t>语言的历史和特点 </a:t>
            </a:r>
          </a:p>
        </p:txBody>
      </p:sp>
      <p:sp>
        <p:nvSpPr>
          <p:cNvPr id="220163" name="Rectangle 3"/>
          <p:cNvSpPr>
            <a:spLocks noGrp="1" noChangeArrowheads="1"/>
          </p:cNvSpPr>
          <p:nvPr>
            <p:ph idx="1"/>
          </p:nvPr>
        </p:nvSpPr>
        <p:spPr>
          <a:xfrm>
            <a:off x="250825" y="1196975"/>
            <a:ext cx="8515350" cy="5153025"/>
          </a:xfrm>
        </p:spPr>
        <p:txBody>
          <a:bodyPr>
            <a:normAutofit/>
          </a:bodyPr>
          <a:lstStyle/>
          <a:p>
            <a:pPr marL="0" indent="0" algn="just" fontAlgn="auto">
              <a:spcAft>
                <a:spcPts val="0"/>
              </a:spcAft>
              <a:buClr>
                <a:schemeClr val="accent3"/>
              </a:buClr>
              <a:buFont typeface="Monotype Sorts" pitchFamily="2" charset="2"/>
              <a:buNone/>
              <a:defRPr/>
            </a:pPr>
            <a:r>
              <a:rPr lang="en-US" altLang="zh-CN" sz="4000" b="1" dirty="0">
                <a:latin typeface="楷体_GB2312" pitchFamily="49" charset="-122"/>
                <a:ea typeface="楷体_GB2312" pitchFamily="49" charset="-122"/>
              </a:rPr>
              <a:t>C</a:t>
            </a:r>
            <a:r>
              <a:rPr lang="zh-CN" altLang="en-US" sz="4000" b="1" dirty="0">
                <a:latin typeface="楷体_GB2312" pitchFamily="49" charset="-122"/>
                <a:ea typeface="楷体_GB2312" pitchFamily="49" charset="-122"/>
              </a:rPr>
              <a:t>语言的起源</a:t>
            </a:r>
            <a:endParaRPr lang="en-US" altLang="zh-CN" sz="40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1963</a:t>
            </a:r>
            <a:r>
              <a:rPr lang="zh-CN" altLang="en-US" sz="3200" b="1" dirty="0">
                <a:latin typeface="楷体_GB2312" pitchFamily="49" charset="-122"/>
                <a:ea typeface="楷体_GB2312" pitchFamily="49" charset="-122"/>
              </a:rPr>
              <a:t>年剑桥大学推出</a:t>
            </a:r>
            <a:r>
              <a:rPr lang="en-US" altLang="zh-CN" sz="3200" b="1" dirty="0">
                <a:latin typeface="楷体_GB2312" pitchFamily="49" charset="-122"/>
                <a:ea typeface="楷体_GB2312" pitchFamily="49" charset="-122"/>
              </a:rPr>
              <a:t>CPL</a:t>
            </a:r>
            <a:r>
              <a:rPr lang="zh-CN" altLang="en-US" sz="3200" b="1" dirty="0">
                <a:latin typeface="楷体_GB2312" pitchFamily="49" charset="-122"/>
                <a:ea typeface="楷体_GB2312" pitchFamily="49" charset="-122"/>
              </a:rPr>
              <a:t>语言（</a:t>
            </a:r>
            <a:r>
              <a:rPr lang="en-US" altLang="zh-CN" sz="3200" b="1" dirty="0">
                <a:latin typeface="楷体_GB2312" pitchFamily="49" charset="-122"/>
                <a:ea typeface="楷体_GB2312" pitchFamily="49" charset="-122"/>
              </a:rPr>
              <a:t>Combined Programming Language</a:t>
            </a:r>
            <a:r>
              <a:rPr lang="zh-CN" altLang="en-US" sz="3200" b="1" dirty="0">
                <a:latin typeface="楷体_GB2312" pitchFamily="49" charset="-122"/>
                <a:ea typeface="楷体_GB2312" pitchFamily="49" charset="-122"/>
              </a:rPr>
              <a:t>）</a:t>
            </a:r>
            <a:endParaRPr lang="en-US" altLang="zh-CN" sz="32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1967</a:t>
            </a:r>
            <a:r>
              <a:rPr lang="zh-CN" altLang="en-US" sz="3200" b="1" dirty="0">
                <a:latin typeface="楷体_GB2312" pitchFamily="49" charset="-122"/>
                <a:ea typeface="楷体_GB2312" pitchFamily="49" charset="-122"/>
              </a:rPr>
              <a:t>年推出简化版</a:t>
            </a:r>
            <a:r>
              <a:rPr lang="en-US" altLang="zh-CN" sz="3200" b="1" dirty="0">
                <a:latin typeface="楷体_GB2312" pitchFamily="49" charset="-122"/>
                <a:ea typeface="楷体_GB2312" pitchFamily="49" charset="-122"/>
              </a:rPr>
              <a:t>BCPL</a:t>
            </a:r>
            <a:r>
              <a:rPr lang="zh-CN" altLang="en-US" sz="3200" b="1" dirty="0">
                <a:latin typeface="楷体_GB2312" pitchFamily="49" charset="-122"/>
                <a:ea typeface="楷体_GB2312" pitchFamily="49" charset="-122"/>
              </a:rPr>
              <a:t>语言（</a:t>
            </a:r>
            <a:r>
              <a:rPr lang="en-US" altLang="zh-CN" sz="3200" b="1" dirty="0">
                <a:latin typeface="楷体_GB2312" pitchFamily="49" charset="-122"/>
                <a:ea typeface="楷体_GB2312" pitchFamily="49" charset="-122"/>
              </a:rPr>
              <a:t>Basic CPL </a:t>
            </a:r>
            <a:r>
              <a:rPr lang="zh-CN" altLang="en-US" sz="3200" b="1" dirty="0">
                <a:latin typeface="楷体_GB2312" pitchFamily="49" charset="-122"/>
                <a:ea typeface="楷体_GB2312" pitchFamily="49" charset="-122"/>
              </a:rPr>
              <a:t>）</a:t>
            </a:r>
            <a:endParaRPr lang="en-US" altLang="zh-CN" sz="32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1970</a:t>
            </a:r>
            <a:r>
              <a:rPr lang="zh-CN" altLang="en-US" sz="3200" b="1" dirty="0">
                <a:latin typeface="楷体_GB2312" pitchFamily="49" charset="-122"/>
                <a:ea typeface="楷体_GB2312" pitchFamily="49" charset="-122"/>
              </a:rPr>
              <a:t>年贝尔实验室进一步简化，取名为</a:t>
            </a:r>
            <a:r>
              <a:rPr lang="en-US" altLang="zh-CN" sz="3200" b="1" dirty="0">
                <a:latin typeface="楷体_GB2312" pitchFamily="49" charset="-122"/>
                <a:ea typeface="楷体_GB2312" pitchFamily="49" charset="-122"/>
              </a:rPr>
              <a:t>B</a:t>
            </a:r>
            <a:r>
              <a:rPr lang="zh-CN" altLang="en-US" sz="3200" b="1" dirty="0">
                <a:latin typeface="楷体_GB2312" pitchFamily="49" charset="-122"/>
                <a:ea typeface="楷体_GB2312" pitchFamily="49" charset="-122"/>
              </a:rPr>
              <a:t>语言（取</a:t>
            </a:r>
            <a:r>
              <a:rPr lang="en-US" altLang="zh-CN" sz="3200" b="1" dirty="0">
                <a:latin typeface="楷体_GB2312" pitchFamily="49" charset="-122"/>
                <a:ea typeface="楷体_GB2312" pitchFamily="49" charset="-122"/>
              </a:rPr>
              <a:t>BCPL</a:t>
            </a:r>
            <a:r>
              <a:rPr lang="zh-CN" altLang="en-US" sz="3200" b="1" dirty="0">
                <a:latin typeface="楷体_GB2312" pitchFamily="49" charset="-122"/>
                <a:ea typeface="楷体_GB2312" pitchFamily="49" charset="-122"/>
              </a:rPr>
              <a:t>的第</a:t>
            </a:r>
            <a:r>
              <a:rPr lang="en-US" altLang="zh-CN" sz="3200" b="1" dirty="0">
                <a:latin typeface="楷体_GB2312" pitchFamily="49" charset="-122"/>
                <a:ea typeface="楷体_GB2312" pitchFamily="49" charset="-122"/>
              </a:rPr>
              <a:t>1</a:t>
            </a:r>
            <a:r>
              <a:rPr lang="zh-CN" altLang="en-US" sz="3200" b="1" dirty="0">
                <a:latin typeface="楷体_GB2312" pitchFamily="49" charset="-122"/>
                <a:ea typeface="楷体_GB2312" pitchFamily="49" charset="-122"/>
              </a:rPr>
              <a:t>个字母）并用</a:t>
            </a:r>
            <a:r>
              <a:rPr lang="en-US" altLang="zh-CN" sz="3200" b="1" dirty="0">
                <a:latin typeface="楷体_GB2312" pitchFamily="49" charset="-122"/>
                <a:ea typeface="楷体_GB2312" pitchFamily="49" charset="-122"/>
              </a:rPr>
              <a:t>B</a:t>
            </a:r>
            <a:r>
              <a:rPr lang="zh-CN" altLang="en-US" sz="3200" b="1" dirty="0">
                <a:latin typeface="楷体_GB2312" pitchFamily="49" charset="-122"/>
                <a:ea typeface="楷体_GB2312" pitchFamily="49" charset="-122"/>
              </a:rPr>
              <a:t>语言编写了</a:t>
            </a:r>
            <a:r>
              <a:rPr lang="en-US" altLang="zh-CN" sz="3200" b="1" dirty="0">
                <a:latin typeface="楷体_GB2312" pitchFamily="49" charset="-122"/>
                <a:ea typeface="楷体_GB2312" pitchFamily="49" charset="-122"/>
              </a:rPr>
              <a:t>UNIX</a:t>
            </a:r>
            <a:r>
              <a:rPr lang="zh-CN" altLang="en-US" sz="3200" b="1" dirty="0">
                <a:latin typeface="楷体_GB2312" pitchFamily="49" charset="-122"/>
                <a:ea typeface="楷体_GB2312" pitchFamily="49" charset="-122"/>
              </a:rPr>
              <a:t>操作系统</a:t>
            </a:r>
            <a:endParaRPr lang="en-US" altLang="zh-CN" sz="32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1972</a:t>
            </a:r>
            <a:r>
              <a:rPr lang="zh-CN" altLang="en-US" sz="3200" b="1" dirty="0">
                <a:latin typeface="楷体_GB2312" pitchFamily="49" charset="-122"/>
                <a:ea typeface="楷体_GB2312" pitchFamily="49" charset="-122"/>
              </a:rPr>
              <a:t>年贝尔实验室在</a:t>
            </a:r>
            <a:r>
              <a:rPr lang="en-US" altLang="zh-CN" sz="3200" b="1" dirty="0">
                <a:latin typeface="楷体_GB2312" pitchFamily="49" charset="-122"/>
                <a:ea typeface="楷体_GB2312" pitchFamily="49" charset="-122"/>
              </a:rPr>
              <a:t>B</a:t>
            </a:r>
            <a:r>
              <a:rPr lang="zh-CN" altLang="en-US" sz="3200" b="1" dirty="0">
                <a:latin typeface="楷体_GB2312" pitchFamily="49" charset="-122"/>
                <a:ea typeface="楷体_GB2312" pitchFamily="49" charset="-122"/>
              </a:rPr>
              <a:t>语言基础上设计出</a:t>
            </a:r>
            <a:r>
              <a:rPr lang="en-US" altLang="zh-CN" sz="3200" b="1" dirty="0">
                <a:latin typeface="楷体_GB2312" pitchFamily="49" charset="-122"/>
                <a:ea typeface="楷体_GB2312" pitchFamily="49" charset="-122"/>
              </a:rPr>
              <a:t>C</a:t>
            </a:r>
            <a:r>
              <a:rPr lang="zh-CN" altLang="en-US" sz="3200" b="1" dirty="0">
                <a:latin typeface="楷体_GB2312" pitchFamily="49" charset="-122"/>
                <a:ea typeface="楷体_GB2312" pitchFamily="49" charset="-122"/>
              </a:rPr>
              <a:t>语言（取</a:t>
            </a:r>
            <a:r>
              <a:rPr lang="en-US" altLang="zh-CN" sz="3200" b="1" dirty="0">
                <a:latin typeface="楷体_GB2312" pitchFamily="49" charset="-122"/>
                <a:ea typeface="楷体_GB2312" pitchFamily="49" charset="-122"/>
              </a:rPr>
              <a:t>BCPL</a:t>
            </a:r>
            <a:r>
              <a:rPr lang="zh-CN" altLang="en-US" sz="3200" b="1" dirty="0">
                <a:latin typeface="楷体_GB2312" pitchFamily="49" charset="-122"/>
                <a:ea typeface="楷体_GB2312" pitchFamily="49" charset="-122"/>
              </a:rPr>
              <a:t>的第</a:t>
            </a:r>
            <a:r>
              <a:rPr lang="en-US" altLang="zh-CN" sz="3200" b="1" dirty="0">
                <a:latin typeface="楷体_GB2312" pitchFamily="49" charset="-122"/>
                <a:ea typeface="楷体_GB2312" pitchFamily="49" charset="-122"/>
              </a:rPr>
              <a:t>2</a:t>
            </a:r>
            <a:r>
              <a:rPr lang="zh-CN" altLang="en-US" sz="3200" b="1" dirty="0">
                <a:latin typeface="楷体_GB2312" pitchFamily="49" charset="-122"/>
                <a:ea typeface="楷体_GB2312" pitchFamily="49" charset="-122"/>
              </a:rPr>
              <a:t>个字母） </a:t>
            </a:r>
          </a:p>
        </p:txBody>
      </p:sp>
      <p:sp>
        <p:nvSpPr>
          <p:cNvPr id="6" name="灯片编号占位符 5"/>
          <p:cNvSpPr>
            <a:spLocks noGrp="1"/>
          </p:cNvSpPr>
          <p:nvPr>
            <p:ph type="sldNum" sz="quarter" idx="12"/>
          </p:nvPr>
        </p:nvSpPr>
        <p:spPr/>
        <p:txBody>
          <a:bodyPr/>
          <a:lstStyle/>
          <a:p>
            <a:pPr defTabSz="1128713">
              <a:defRPr/>
            </a:pPr>
            <a:fld id="{4D50CE83-487F-4922-802D-C22526A53C8B}" type="slidenum">
              <a:rPr lang="zh-CN" altLang="en-US">
                <a:latin typeface="+mn-lt"/>
              </a:rPr>
              <a:pPr defTabSz="1128713">
                <a:defRPr/>
              </a:pPr>
              <a:t>59</a:t>
            </a:fld>
            <a:endParaRPr lang="en-US" altLang="zh-CN">
              <a:latin typeface="+mn-lt"/>
            </a:endParaRP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381000" y="304800"/>
            <a:ext cx="8458200" cy="762000"/>
          </a:xfrm>
        </p:spPr>
        <p:txBody>
          <a:bodyPr/>
          <a:lstStyle/>
          <a:p>
            <a:r>
              <a:rPr lang="en-US" altLang="zh-CN" sz="4400">
                <a:solidFill>
                  <a:schemeClr val="tx1"/>
                </a:solidFill>
                <a:latin typeface="黑体" pitchFamily="2" charset="-122"/>
                <a:ea typeface="黑体" pitchFamily="2" charset="-122"/>
              </a:rPr>
              <a:t>C </a:t>
            </a:r>
            <a:r>
              <a:rPr lang="zh-CN" altLang="en-US" sz="4400">
                <a:solidFill>
                  <a:schemeClr val="tx1"/>
                </a:solidFill>
                <a:latin typeface="黑体" pitchFamily="2" charset="-122"/>
                <a:ea typeface="黑体" pitchFamily="2" charset="-122"/>
              </a:rPr>
              <a:t>语言的特点</a:t>
            </a:r>
          </a:p>
        </p:txBody>
      </p:sp>
      <p:sp>
        <p:nvSpPr>
          <p:cNvPr id="250883" name="Rectangle 3"/>
          <p:cNvSpPr>
            <a:spLocks noGrp="1" noChangeArrowheads="1"/>
          </p:cNvSpPr>
          <p:nvPr>
            <p:ph idx="1"/>
          </p:nvPr>
        </p:nvSpPr>
        <p:spPr>
          <a:xfrm>
            <a:off x="304800" y="1371600"/>
            <a:ext cx="8839200" cy="5153025"/>
          </a:xfrm>
        </p:spPr>
        <p:txBody>
          <a:bodyPr>
            <a:normAutofit/>
          </a:bodyPr>
          <a:lstStyle/>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语言表达能力强</a:t>
            </a: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具有数据类型构造能力和结构化的程序控制结构</a:t>
            </a:r>
            <a:endParaRPr lang="en-US" altLang="zh-CN" sz="3600" dirty="0">
              <a:latin typeface="楷体_GB2312" pitchFamily="49" charset="-122"/>
              <a:ea typeface="楷体_GB2312" pitchFamily="49" charset="-122"/>
            </a:endParaRP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语言简洁、紧凑、使用方便灵活</a:t>
            </a: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能使编译程序产生执行效率较高的代码</a:t>
            </a: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用</a:t>
            </a:r>
            <a:r>
              <a:rPr lang="en-US" sz="3600" dirty="0">
                <a:latin typeface="楷体_GB2312" pitchFamily="49" charset="-122"/>
                <a:ea typeface="楷体_GB2312" pitchFamily="49" charset="-122"/>
              </a:rPr>
              <a:t>C</a:t>
            </a:r>
            <a:r>
              <a:rPr lang="zh-CN" altLang="en-US" sz="3600" dirty="0">
                <a:latin typeface="楷体_GB2312" pitchFamily="49" charset="-122"/>
                <a:ea typeface="楷体_GB2312" pitchFamily="49" charset="-122"/>
              </a:rPr>
              <a:t>语言可编写移植性较好的程序</a:t>
            </a:r>
            <a:endParaRPr lang="en-US" altLang="zh-CN" sz="3600" dirty="0">
              <a:latin typeface="楷体_GB2312" pitchFamily="49" charset="-122"/>
              <a:ea typeface="楷体_GB2312" pitchFamily="49" charset="-122"/>
            </a:endParaRP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语法检查不太严格，灵活度高</a:t>
            </a:r>
            <a:endParaRPr lang="en-US" altLang="zh-CN" sz="3600" dirty="0">
              <a:latin typeface="楷体_GB2312" pitchFamily="49" charset="-122"/>
              <a:ea typeface="楷体_GB2312" pitchFamily="49" charset="-122"/>
            </a:endParaRP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a:latin typeface="楷体_GB2312" pitchFamily="49" charset="-122"/>
                <a:ea typeface="楷体_GB2312" pitchFamily="49" charset="-122"/>
              </a:rPr>
              <a:t>可以实现汇编语言的大部分功能</a:t>
            </a:r>
            <a:endParaRPr lang="zh-CN" altLang="en-US" sz="3600" dirty="0">
              <a:latin typeface="楷体_GB2312" pitchFamily="49" charset="-122"/>
              <a:ea typeface="楷体_GB2312" pitchFamily="49" charset="-122"/>
            </a:endParaRPr>
          </a:p>
          <a:p>
            <a:pPr marL="666750" indent="-666750" algn="just" fontAlgn="auto">
              <a:lnSpc>
                <a:spcPct val="90000"/>
              </a:lnSpc>
              <a:spcAft>
                <a:spcPts val="0"/>
              </a:spcAft>
              <a:buClr>
                <a:schemeClr val="accent3"/>
              </a:buClr>
              <a:buFont typeface="Monotype Sorts" pitchFamily="2" charset="2"/>
              <a:buNone/>
              <a:defRPr/>
            </a:pPr>
            <a:endParaRPr lang="zh-CN" altLang="en-US" sz="3600" dirty="0"/>
          </a:p>
        </p:txBody>
      </p:sp>
      <p:sp>
        <p:nvSpPr>
          <p:cNvPr id="6" name="灯片编号占位符 5"/>
          <p:cNvSpPr>
            <a:spLocks noGrp="1"/>
          </p:cNvSpPr>
          <p:nvPr>
            <p:ph type="sldNum" sz="quarter" idx="12"/>
          </p:nvPr>
        </p:nvSpPr>
        <p:spPr/>
        <p:txBody>
          <a:bodyPr/>
          <a:lstStyle/>
          <a:p>
            <a:pPr defTabSz="1128713">
              <a:defRPr/>
            </a:pPr>
            <a:fld id="{46758AE5-D486-4A2D-9218-F5D283ABE192}" type="slidenum">
              <a:rPr lang="zh-CN" altLang="en-US">
                <a:latin typeface="+mn-lt"/>
              </a:rPr>
              <a:pPr defTabSz="1128713">
                <a:defRPr/>
              </a:pPr>
              <a:t>60</a:t>
            </a:fld>
            <a:endParaRPr lang="en-US" altLang="zh-CN">
              <a:latin typeface="+mn-lt"/>
            </a:endParaRPr>
          </a:p>
        </p:txBody>
      </p:sp>
      <p:sp>
        <p:nvSpPr>
          <p:cNvPr id="65541" name="AutoShape 5">
            <a:hlinkClick r:id="rId2" action="ppaction://hlinksldjump" highlightClick="1"/>
          </p:cNvPr>
          <p:cNvSpPr>
            <a:spLocks noChangeArrowheads="1"/>
          </p:cNvSpPr>
          <p:nvPr/>
        </p:nvSpPr>
        <p:spPr bwMode="auto">
          <a:xfrm>
            <a:off x="7929563" y="6164263"/>
            <a:ext cx="431800" cy="504825"/>
          </a:xfrm>
          <a:prstGeom prst="actionButtonInformation">
            <a:avLst/>
          </a:prstGeom>
          <a:solidFill>
            <a:schemeClr val="accent1"/>
          </a:solidFill>
          <a:ln w="9525">
            <a:noFill/>
            <a:miter lim="800000"/>
            <a:headEnd/>
            <a:tailEnd/>
          </a:ln>
        </p:spPr>
        <p:txBody>
          <a:bodyPr wrap="none" anchor="ctr"/>
          <a:lstStyle/>
          <a:p>
            <a:endParaRPr lang="zh-CN" altLang="en-US"/>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381000" y="304800"/>
            <a:ext cx="8458200" cy="762000"/>
          </a:xfrm>
        </p:spPr>
        <p:txBody>
          <a:bodyPr>
            <a:normAutofit fontScale="90000"/>
          </a:bodyPr>
          <a:lstStyle/>
          <a:p>
            <a:pPr fontAlgn="auto">
              <a:spcAft>
                <a:spcPts val="0"/>
              </a:spcAft>
              <a:defRPr/>
            </a:pPr>
            <a:r>
              <a:rPr lang="en-US" altLang="zh-CN" dirty="0">
                <a:solidFill>
                  <a:srgbClr val="C00000"/>
                </a:solidFill>
                <a:latin typeface="黑体" pitchFamily="2" charset="-122"/>
                <a:ea typeface="黑体" pitchFamily="2" charset="-122"/>
              </a:rPr>
              <a:t>1.3 </a:t>
            </a:r>
            <a:r>
              <a:rPr lang="zh-CN" altLang="en-US" dirty="0">
                <a:solidFill>
                  <a:srgbClr val="C00000"/>
                </a:solidFill>
                <a:latin typeface="黑体" pitchFamily="2" charset="-122"/>
                <a:ea typeface="黑体" pitchFamily="2" charset="-122"/>
              </a:rPr>
              <a:t>几个简单的</a:t>
            </a:r>
            <a:r>
              <a:rPr lang="en-US" altLang="zh-CN" dirty="0">
                <a:solidFill>
                  <a:srgbClr val="C00000"/>
                </a:solidFill>
                <a:latin typeface="黑体" pitchFamily="2" charset="-122"/>
                <a:ea typeface="黑体" pitchFamily="2" charset="-122"/>
              </a:rPr>
              <a:t>C</a:t>
            </a:r>
            <a:r>
              <a:rPr lang="zh-CN" altLang="en-US" dirty="0">
                <a:solidFill>
                  <a:srgbClr val="C00000"/>
                </a:solidFill>
                <a:latin typeface="黑体" pitchFamily="2" charset="-122"/>
                <a:ea typeface="黑体" pitchFamily="2" charset="-122"/>
              </a:rPr>
              <a:t>程序 </a:t>
            </a:r>
          </a:p>
        </p:txBody>
      </p:sp>
      <p:sp>
        <p:nvSpPr>
          <p:cNvPr id="249859" name="Rectangle 3"/>
          <p:cNvSpPr>
            <a:spLocks noGrp="1" noChangeArrowheads="1"/>
          </p:cNvSpPr>
          <p:nvPr>
            <p:ph idx="1"/>
          </p:nvPr>
        </p:nvSpPr>
        <p:spPr>
          <a:xfrm>
            <a:off x="304800" y="1371600"/>
            <a:ext cx="8382000" cy="5153025"/>
          </a:xfrm>
        </p:spPr>
        <p:txBody>
          <a:bodyPr>
            <a:normAutofit/>
          </a:bodyPr>
          <a:lstStyle/>
          <a:p>
            <a:pPr marL="274320" indent="-274320" algn="just" fontAlgn="auto">
              <a:spcAft>
                <a:spcPts val="0"/>
              </a:spcAft>
              <a:buClr>
                <a:schemeClr val="accent3"/>
              </a:buClr>
              <a:buFont typeface="Monotype Sorts" pitchFamily="2" charset="2"/>
              <a:buNone/>
              <a:defRPr/>
            </a:pPr>
            <a:r>
              <a:rPr lang="zh-CN" altLang="en-US" sz="3600" b="1" dirty="0">
                <a:effectLst>
                  <a:outerShdw blurRad="38100" dist="38100" dir="2700000" algn="tl">
                    <a:srgbClr val="000000"/>
                  </a:outerShdw>
                </a:effectLst>
                <a:latin typeface="楷体_GB2312" pitchFamily="49" charset="-122"/>
                <a:ea typeface="楷体_GB2312" pitchFamily="49" charset="-122"/>
              </a:rPr>
              <a:t>一个只输出一行信息的Ｃ程序 </a:t>
            </a:r>
          </a:p>
          <a:p>
            <a:pPr marL="274320" indent="-274320" algn="just" fontAlgn="auto">
              <a:spcAft>
                <a:spcPts val="0"/>
              </a:spcAft>
              <a:buClr>
                <a:schemeClr val="accent3"/>
              </a:buClr>
              <a:buFont typeface="Monotype Sorts" pitchFamily="2" charset="2"/>
              <a:buNone/>
              <a:defRPr/>
            </a:pPr>
            <a:r>
              <a:rPr lang="zh-CN" altLang="en-US" sz="3600" b="1" dirty="0">
                <a:latin typeface="黑体" pitchFamily="2" charset="-122"/>
                <a:ea typeface="黑体" pitchFamily="2" charset="-122"/>
              </a:rPr>
              <a:t>#</a:t>
            </a:r>
            <a:r>
              <a:rPr lang="en-US" altLang="zh-CN" sz="3600" b="1" dirty="0">
                <a:latin typeface="黑体" pitchFamily="2" charset="-122"/>
                <a:ea typeface="黑体" pitchFamily="2" charset="-122"/>
              </a:rPr>
              <a:t>include  &lt;</a:t>
            </a:r>
            <a:r>
              <a:rPr lang="en-US" altLang="zh-CN" sz="3600" b="1" dirty="0" err="1">
                <a:latin typeface="黑体" pitchFamily="2" charset="-122"/>
                <a:ea typeface="黑体" pitchFamily="2" charset="-122"/>
              </a:rPr>
              <a:t>stdio.h</a:t>
            </a:r>
            <a:r>
              <a:rPr lang="en-US" altLang="zh-CN" sz="3600" b="1" dirty="0">
                <a:latin typeface="黑体" pitchFamily="2" charset="-122"/>
                <a:ea typeface="黑体" pitchFamily="2" charset="-122"/>
              </a:rPr>
              <a:t>&gt;</a:t>
            </a:r>
          </a:p>
          <a:p>
            <a:pPr marL="274320" indent="-274320" algn="just" fontAlgn="auto">
              <a:spcAft>
                <a:spcPts val="0"/>
              </a:spcAft>
              <a:buClr>
                <a:schemeClr val="accent3"/>
              </a:buClr>
              <a:buFont typeface="Monotype Sorts" pitchFamily="2" charset="2"/>
              <a:buNone/>
              <a:defRPr/>
            </a:pPr>
            <a:r>
              <a:rPr lang="en-US" altLang="zh-CN" sz="3600" b="1" dirty="0">
                <a:latin typeface="黑体" pitchFamily="2" charset="-122"/>
                <a:ea typeface="黑体" pitchFamily="2" charset="-122"/>
              </a:rPr>
              <a:t>void main( )      /* </a:t>
            </a:r>
            <a:r>
              <a:rPr lang="zh-CN" altLang="en-US" sz="3600" b="1" dirty="0">
                <a:latin typeface="黑体" pitchFamily="2" charset="-122"/>
                <a:ea typeface="黑体" pitchFamily="2" charset="-122"/>
              </a:rPr>
              <a:t>主函数 */</a:t>
            </a:r>
          </a:p>
          <a:p>
            <a:pPr marL="274320" indent="-274320" algn="just" fontAlgn="auto">
              <a:spcAft>
                <a:spcPts val="0"/>
              </a:spcAft>
              <a:buClr>
                <a:schemeClr val="accent3"/>
              </a:buClr>
              <a:buFont typeface="Monotype Sorts" pitchFamily="2" charset="2"/>
              <a:buNone/>
              <a:defRPr/>
            </a:pPr>
            <a:r>
              <a:rPr lang="zh-CN" altLang="en-US" sz="3600" b="1" dirty="0">
                <a:latin typeface="黑体" pitchFamily="2" charset="-122"/>
                <a:ea typeface="黑体" pitchFamily="2" charset="-122"/>
              </a:rPr>
              <a:t>{</a:t>
            </a:r>
          </a:p>
          <a:p>
            <a:pPr marL="274320" indent="-274320" algn="just" fontAlgn="auto">
              <a:spcAft>
                <a:spcPts val="0"/>
              </a:spcAft>
              <a:buClr>
                <a:schemeClr val="accent3"/>
              </a:buClr>
              <a:buFont typeface="Monotype Sorts" pitchFamily="2" charset="2"/>
              <a:buNone/>
              <a:defRPr/>
            </a:pPr>
            <a:r>
              <a:rPr lang="zh-CN" altLang="en-US" sz="3600" b="1" dirty="0">
                <a:latin typeface="黑体" pitchFamily="2" charset="-122"/>
                <a:ea typeface="黑体" pitchFamily="2" charset="-122"/>
              </a:rPr>
              <a:t> </a:t>
            </a:r>
            <a:r>
              <a:rPr lang="en-US" altLang="zh-CN" sz="3600" b="1" dirty="0" err="1">
                <a:latin typeface="黑体" pitchFamily="2" charset="-122"/>
                <a:ea typeface="黑体" pitchFamily="2" charset="-122"/>
              </a:rPr>
              <a:t>printf</a:t>
            </a:r>
            <a:r>
              <a:rPr lang="en-US" altLang="zh-CN" sz="3600" b="1" dirty="0">
                <a:latin typeface="黑体" pitchFamily="2" charset="-122"/>
                <a:ea typeface="黑体" pitchFamily="2" charset="-122"/>
              </a:rPr>
              <a:t>("This book is &lt;Programming with C languages&gt;.\n");</a:t>
            </a:r>
          </a:p>
          <a:p>
            <a:pPr marL="274320" indent="-274320" algn="just" fontAlgn="auto">
              <a:spcAft>
                <a:spcPts val="0"/>
              </a:spcAft>
              <a:buClr>
                <a:schemeClr val="accent3"/>
              </a:buClr>
              <a:buFont typeface="Monotype Sorts" pitchFamily="2" charset="2"/>
              <a:buNone/>
              <a:defRPr/>
            </a:pPr>
            <a:r>
              <a:rPr lang="en-US" altLang="zh-CN" sz="36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267124D2-4253-4977-A384-FCEB0980096E}" type="slidenum">
              <a:rPr lang="zh-CN" altLang="en-US">
                <a:latin typeface="+mn-lt"/>
              </a:rPr>
              <a:pPr defTabSz="1128713">
                <a:defRPr/>
              </a:pPr>
              <a:t>61</a:t>
            </a:fld>
            <a:endParaRPr lang="en-US" altLang="zh-CN">
              <a:latin typeface="+mn-lt"/>
            </a:endParaRP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1026"/>
          <p:cNvSpPr>
            <a:spLocks noGrp="1" noChangeArrowheads="1"/>
          </p:cNvSpPr>
          <p:nvPr>
            <p:ph type="title"/>
          </p:nvPr>
        </p:nvSpPr>
        <p:spPr>
          <a:xfrm>
            <a:off x="381000" y="304800"/>
            <a:ext cx="8458200" cy="762000"/>
          </a:xfrm>
        </p:spPr>
        <p:txBody>
          <a:bodyPr/>
          <a:lstStyle/>
          <a:p>
            <a:r>
              <a:rPr lang="en-US" altLang="zh-CN" sz="4400" dirty="0">
                <a:solidFill>
                  <a:srgbClr val="FF0000"/>
                </a:solidFill>
                <a:latin typeface="Times New Roman" pitchFamily="18" charset="0"/>
              </a:rPr>
              <a:t>C </a:t>
            </a:r>
            <a:r>
              <a:rPr lang="zh-CN" altLang="en-US" sz="4400" dirty="0">
                <a:solidFill>
                  <a:srgbClr val="FF0000"/>
                </a:solidFill>
                <a:latin typeface="楷体_GB2312" pitchFamily="49" charset="-122"/>
              </a:rPr>
              <a:t>程序有以下几个特点</a:t>
            </a:r>
          </a:p>
        </p:txBody>
      </p:sp>
      <p:sp>
        <p:nvSpPr>
          <p:cNvPr id="221187" name="Rectangle 1027"/>
          <p:cNvSpPr>
            <a:spLocks noGrp="1" noChangeArrowheads="1"/>
          </p:cNvSpPr>
          <p:nvPr>
            <p:ph idx="1"/>
          </p:nvPr>
        </p:nvSpPr>
        <p:spPr>
          <a:xfrm>
            <a:off x="395288" y="1196975"/>
            <a:ext cx="8382000" cy="5257800"/>
          </a:xfrm>
        </p:spPr>
        <p:txBody>
          <a:bodyPr>
            <a:normAutofit lnSpcReduction="10000"/>
          </a:bodyPr>
          <a:lstStyle/>
          <a:p>
            <a:pPr marL="274320" indent="-274320" fontAlgn="auto">
              <a:spcAft>
                <a:spcPts val="0"/>
              </a:spcAft>
              <a:buClr>
                <a:schemeClr val="accent3"/>
              </a:buClr>
              <a:buSzPct val="85000"/>
              <a:buFont typeface="Wingdings 2"/>
              <a:buChar char=""/>
              <a:defRPr/>
            </a:pPr>
            <a:r>
              <a:rPr lang="zh-CN" altLang="en-US" sz="4000" b="1" dirty="0">
                <a:latin typeface="楷体_GB2312" pitchFamily="49" charset="-122"/>
                <a:ea typeface="楷体_GB2312" pitchFamily="49" charset="-122"/>
              </a:rPr>
              <a:t>任何可执行的Ｃ程序都有一个名为 </a:t>
            </a:r>
            <a:r>
              <a:rPr lang="en-US" altLang="zh-CN" sz="4000" b="1" dirty="0">
                <a:latin typeface="楷体_GB2312" pitchFamily="49" charset="-122"/>
                <a:ea typeface="楷体_GB2312" pitchFamily="49" charset="-122"/>
              </a:rPr>
              <a:t>main </a:t>
            </a:r>
            <a:r>
              <a:rPr lang="zh-CN" altLang="en-US" sz="4000" b="1" dirty="0">
                <a:latin typeface="楷体_GB2312" pitchFamily="49" charset="-122"/>
                <a:ea typeface="楷体_GB2312" pitchFamily="49" charset="-122"/>
              </a:rPr>
              <a:t>的主函数（</a:t>
            </a:r>
            <a:r>
              <a:rPr lang="en-US" altLang="zh-CN" sz="3500" b="1" dirty="0">
                <a:solidFill>
                  <a:schemeClr val="tx2"/>
                </a:solidFill>
                <a:latin typeface="楷体_GB2312" pitchFamily="49" charset="-122"/>
                <a:ea typeface="楷体_GB2312" pitchFamily="49" charset="-122"/>
              </a:rPr>
              <a:t>C</a:t>
            </a:r>
            <a:r>
              <a:rPr lang="zh-CN" altLang="en-US" sz="3500" b="1" dirty="0">
                <a:solidFill>
                  <a:schemeClr val="tx2"/>
                </a:solidFill>
                <a:latin typeface="楷体_GB2312" pitchFamily="49" charset="-122"/>
                <a:ea typeface="楷体_GB2312" pitchFamily="49" charset="-122"/>
              </a:rPr>
              <a:t>程序一般由多个函数组成，但是只能有一个</a:t>
            </a:r>
            <a:r>
              <a:rPr lang="en-US" altLang="zh-CN" sz="3500" b="1" dirty="0">
                <a:solidFill>
                  <a:schemeClr val="tx2"/>
                </a:solidFill>
                <a:latin typeface="楷体_GB2312" pitchFamily="49" charset="-122"/>
                <a:ea typeface="楷体_GB2312" pitchFamily="49" charset="-122"/>
              </a:rPr>
              <a:t>main</a:t>
            </a:r>
            <a:r>
              <a:rPr lang="zh-CN" altLang="en-US" sz="3500" b="1" dirty="0">
                <a:solidFill>
                  <a:schemeClr val="tx2"/>
                </a:solidFill>
                <a:latin typeface="楷体_GB2312" pitchFamily="49" charset="-122"/>
                <a:ea typeface="楷体_GB2312" pitchFamily="49" charset="-122"/>
              </a:rPr>
              <a:t>函数，不论</a:t>
            </a:r>
            <a:r>
              <a:rPr lang="en-US" altLang="zh-CN" sz="3500" b="1" dirty="0">
                <a:solidFill>
                  <a:schemeClr val="tx2"/>
                </a:solidFill>
                <a:latin typeface="楷体_GB2312" pitchFamily="49" charset="-122"/>
                <a:ea typeface="楷体_GB2312" pitchFamily="49" charset="-122"/>
              </a:rPr>
              <a:t>main</a:t>
            </a:r>
            <a:r>
              <a:rPr lang="zh-CN" altLang="en-US" sz="3500" b="1" dirty="0">
                <a:solidFill>
                  <a:schemeClr val="tx2"/>
                </a:solidFill>
                <a:latin typeface="楷体_GB2312" pitchFamily="49" charset="-122"/>
                <a:ea typeface="楷体_GB2312" pitchFamily="49" charset="-122"/>
              </a:rPr>
              <a:t>的位置如何，程序首先从</a:t>
            </a:r>
            <a:r>
              <a:rPr lang="en-US" altLang="zh-CN" sz="3500" b="1" dirty="0">
                <a:solidFill>
                  <a:schemeClr val="tx2"/>
                </a:solidFill>
                <a:latin typeface="楷体_GB2312" pitchFamily="49" charset="-122"/>
                <a:ea typeface="楷体_GB2312" pitchFamily="49" charset="-122"/>
              </a:rPr>
              <a:t>main</a:t>
            </a:r>
            <a:r>
              <a:rPr lang="zh-CN" altLang="en-US" sz="3500" b="1" dirty="0">
                <a:solidFill>
                  <a:schemeClr val="tx2"/>
                </a:solidFill>
                <a:latin typeface="楷体_GB2312" pitchFamily="49" charset="-122"/>
                <a:ea typeface="楷体_GB2312" pitchFamily="49" charset="-122"/>
              </a:rPr>
              <a:t>函数开始执行</a:t>
            </a:r>
            <a:r>
              <a:rPr lang="zh-CN" altLang="en-US" sz="4000" b="1" dirty="0">
                <a:latin typeface="楷体_GB2312" pitchFamily="49" charset="-122"/>
                <a:ea typeface="楷体_GB2312" pitchFamily="49" charset="-122"/>
              </a:rPr>
              <a:t>）。</a:t>
            </a:r>
          </a:p>
          <a:p>
            <a:pPr marL="274320" indent="-274320" algn="just" fontAlgn="auto">
              <a:spcAft>
                <a:spcPts val="0"/>
              </a:spcAft>
              <a:buClr>
                <a:schemeClr val="accent3"/>
              </a:buClr>
              <a:buSzPct val="85000"/>
              <a:buFont typeface="Wingdings 2"/>
              <a:buChar char=""/>
              <a:defRPr/>
            </a:pPr>
            <a:r>
              <a:rPr lang="zh-CN" altLang="en-US" sz="4000" b="1" dirty="0">
                <a:latin typeface="楷体_GB2312" pitchFamily="49" charset="-122"/>
                <a:ea typeface="楷体_GB2312" pitchFamily="49" charset="-122"/>
              </a:rPr>
              <a:t>在函数名之后要有一对圆括号。</a:t>
            </a:r>
          </a:p>
          <a:p>
            <a:pPr marL="274320" indent="-274320" algn="just" fontAlgn="auto">
              <a:spcAft>
                <a:spcPts val="0"/>
              </a:spcAft>
              <a:buClr>
                <a:schemeClr val="accent3"/>
              </a:buClr>
              <a:buSzPct val="85000"/>
              <a:buFont typeface="Wingdings 2"/>
              <a:buChar char=""/>
              <a:defRPr/>
            </a:pPr>
            <a:r>
              <a:rPr lang="zh-CN" altLang="en-US" sz="4000" b="1" dirty="0">
                <a:latin typeface="楷体_GB2312" pitchFamily="49" charset="-122"/>
                <a:ea typeface="楷体_GB2312" pitchFamily="49" charset="-122"/>
              </a:rPr>
              <a:t>函数体用花括号</a:t>
            </a:r>
            <a:r>
              <a:rPr lang="zh-CN" altLang="en-US" sz="4000" b="1" dirty="0">
                <a:latin typeface="Times New Roman"/>
                <a:ea typeface="楷体_GB2312" pitchFamily="49" charset="-122"/>
              </a:rPr>
              <a:t>“</a:t>
            </a:r>
            <a:r>
              <a:rPr lang="zh-CN" altLang="en-US" sz="4000" b="1" dirty="0">
                <a:latin typeface="楷体_GB2312" pitchFamily="49" charset="-122"/>
                <a:ea typeface="楷体_GB2312" pitchFamily="49" charset="-122"/>
              </a:rPr>
              <a:t>{ }</a:t>
            </a:r>
            <a:r>
              <a:rPr lang="zh-CN" altLang="en-US" sz="4000" b="1" dirty="0">
                <a:latin typeface="Times New Roman"/>
                <a:ea typeface="楷体_GB2312" pitchFamily="49" charset="-122"/>
              </a:rPr>
              <a:t>”</a:t>
            </a:r>
            <a:r>
              <a:rPr lang="zh-CN" altLang="en-US" sz="4000" b="1" dirty="0">
                <a:latin typeface="楷体_GB2312" pitchFamily="49" charset="-122"/>
                <a:ea typeface="楷体_GB2312" pitchFamily="49" charset="-122"/>
              </a:rPr>
              <a:t> 括住。花括号可以用来括起任何一组Ｃ代码，从而构成复合语句或分程序。</a:t>
            </a:r>
            <a:endParaRPr lang="zh-CN" altLang="zh-CN" sz="4000" dirty="0">
              <a:latin typeface="Times New Roman" pitchFamily="18" charset="0"/>
            </a:endParaRPr>
          </a:p>
        </p:txBody>
      </p:sp>
      <p:sp>
        <p:nvSpPr>
          <p:cNvPr id="6" name="灯片编号占位符 5"/>
          <p:cNvSpPr>
            <a:spLocks noGrp="1"/>
          </p:cNvSpPr>
          <p:nvPr>
            <p:ph type="sldNum" sz="quarter" idx="12"/>
          </p:nvPr>
        </p:nvSpPr>
        <p:spPr/>
        <p:txBody>
          <a:bodyPr/>
          <a:lstStyle/>
          <a:p>
            <a:pPr defTabSz="1128713">
              <a:defRPr/>
            </a:pPr>
            <a:fld id="{A0E20C10-F00F-4F38-B322-3AD3CC7869AE}" type="slidenum">
              <a:rPr lang="zh-CN" altLang="en-US">
                <a:latin typeface="+mn-lt"/>
              </a:rPr>
              <a:pPr defTabSz="1128713">
                <a:defRPr/>
              </a:pPr>
              <a:t>62</a:t>
            </a:fld>
            <a:endParaRPr lang="en-US" altLang="zh-CN">
              <a:latin typeface="+mn-lt"/>
            </a:endParaRPr>
          </a:p>
        </p:txBody>
      </p:sp>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3"/>
          <p:cNvSpPr>
            <a:spLocks noGrp="1" noChangeArrowheads="1"/>
          </p:cNvSpPr>
          <p:nvPr>
            <p:ph idx="1"/>
          </p:nvPr>
        </p:nvSpPr>
        <p:spPr>
          <a:xfrm>
            <a:off x="251520" y="836712"/>
            <a:ext cx="8382000" cy="5257800"/>
          </a:xfrm>
        </p:spPr>
        <p:txBody>
          <a:bodyPr/>
          <a:lstStyle/>
          <a:p>
            <a:pPr>
              <a:buSzPct val="80000"/>
            </a:pPr>
            <a:r>
              <a:rPr lang="zh-CN" altLang="en-US" sz="4000" b="1" dirty="0">
                <a:latin typeface="楷体_GB2312" pitchFamily="49" charset="-122"/>
                <a:ea typeface="楷体_GB2312" pitchFamily="49" charset="-122"/>
              </a:rPr>
              <a:t>简单Ｃ语句之后有一个分号</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a:t>
            </a:r>
          </a:p>
          <a:p>
            <a:pPr algn="just">
              <a:buSzPct val="80000"/>
            </a:pPr>
            <a:r>
              <a:rPr lang="zh-CN" altLang="en-US" sz="4000" b="1" dirty="0">
                <a:latin typeface="楷体_GB2312" pitchFamily="49" charset="-122"/>
                <a:ea typeface="楷体_GB2312" pitchFamily="49" charset="-122"/>
              </a:rPr>
              <a:t>程序中的</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 </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 */</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表示程序的注释部分。注释便于人阅读程序，对程序编译和运行都没有作用。</a:t>
            </a:r>
            <a:endParaRPr lang="en-US" altLang="zh-CN" sz="4000" b="1" dirty="0">
              <a:latin typeface="楷体_GB2312" pitchFamily="49" charset="-122"/>
              <a:ea typeface="楷体_GB2312" pitchFamily="49" charset="-122"/>
            </a:endParaRPr>
          </a:p>
          <a:p>
            <a:pPr algn="just">
              <a:buSzPct val="80000"/>
            </a:pPr>
            <a:r>
              <a:rPr lang="en-US" altLang="zh-CN" sz="4000" b="1" dirty="0">
                <a:latin typeface="楷体_GB2312" pitchFamily="49" charset="-122"/>
                <a:ea typeface="楷体_GB2312" pitchFamily="49" charset="-122"/>
              </a:rPr>
              <a:t>C</a:t>
            </a:r>
            <a:r>
              <a:rPr lang="zh-CN" altLang="en-US" sz="4000" b="1" dirty="0">
                <a:latin typeface="楷体_GB2312" pitchFamily="49" charset="-122"/>
                <a:ea typeface="楷体_GB2312" pitchFamily="49" charset="-122"/>
              </a:rPr>
              <a:t>程序中无论函数或变量、常量都必须先定义后使用。</a:t>
            </a:r>
          </a:p>
          <a:p>
            <a:pPr algn="just">
              <a:buSzPct val="80000"/>
            </a:pPr>
            <a:r>
              <a:rPr lang="zh-CN" altLang="en-US" sz="4000" b="1" dirty="0">
                <a:latin typeface="楷体_GB2312" pitchFamily="49" charset="-122"/>
                <a:ea typeface="楷体_GB2312" pitchFamily="49" charset="-122"/>
              </a:rPr>
              <a:t>#</a:t>
            </a:r>
            <a:r>
              <a:rPr lang="en-US" altLang="zh-CN" sz="4000" b="1" dirty="0">
                <a:latin typeface="楷体_GB2312" pitchFamily="49" charset="-122"/>
                <a:ea typeface="楷体_GB2312" pitchFamily="49" charset="-122"/>
              </a:rPr>
              <a:t>include  &lt;</a:t>
            </a:r>
            <a:r>
              <a:rPr lang="en-US" altLang="zh-CN" sz="4000" b="1" dirty="0" err="1">
                <a:latin typeface="楷体_GB2312" pitchFamily="49" charset="-122"/>
                <a:ea typeface="楷体_GB2312" pitchFamily="49" charset="-122"/>
              </a:rPr>
              <a:t>stdio.h</a:t>
            </a:r>
            <a:r>
              <a:rPr lang="en-US" altLang="zh-CN" sz="4000" b="1" dirty="0">
                <a:latin typeface="楷体_GB2312" pitchFamily="49" charset="-122"/>
                <a:ea typeface="楷体_GB2312" pitchFamily="49" charset="-122"/>
              </a:rPr>
              <a:t>&gt;</a:t>
            </a:r>
            <a:r>
              <a:rPr lang="zh-CN" altLang="en-US" sz="4000" b="1" dirty="0">
                <a:latin typeface="楷体_GB2312" pitchFamily="49" charset="-122"/>
                <a:ea typeface="楷体_GB2312" pitchFamily="49" charset="-122"/>
              </a:rPr>
              <a:t>是编译预处理命令行，指明有关输入和输出标准函数也将是程序的一部分。</a:t>
            </a:r>
            <a:endParaRPr lang="zh-CN" altLang="zh-CN" dirty="0">
              <a:latin typeface="Times New Roman" pitchFamily="18" charset="0"/>
            </a:endParaRPr>
          </a:p>
        </p:txBody>
      </p:sp>
      <p:sp>
        <p:nvSpPr>
          <p:cNvPr id="6" name="灯片编号占位符 5"/>
          <p:cNvSpPr>
            <a:spLocks noGrp="1"/>
          </p:cNvSpPr>
          <p:nvPr>
            <p:ph type="sldNum" sz="quarter" idx="12"/>
          </p:nvPr>
        </p:nvSpPr>
        <p:spPr/>
        <p:txBody>
          <a:bodyPr/>
          <a:lstStyle/>
          <a:p>
            <a:pPr defTabSz="1128713">
              <a:defRPr/>
            </a:pPr>
            <a:fld id="{358B30D9-3634-48CD-BC02-E2E6994CA268}" type="slidenum">
              <a:rPr lang="zh-CN" altLang="en-US">
                <a:latin typeface="+mn-lt"/>
              </a:rPr>
              <a:pPr defTabSz="1128713">
                <a:defRPr/>
              </a:pPr>
              <a:t>63</a:t>
            </a:fld>
            <a:endParaRPr lang="en-US" altLang="zh-CN">
              <a:latin typeface="+mn-lt"/>
            </a:endParaRPr>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Rectangle 3"/>
          <p:cNvSpPr>
            <a:spLocks noGrp="1" noChangeArrowheads="1"/>
          </p:cNvSpPr>
          <p:nvPr>
            <p:ph type="title"/>
          </p:nvPr>
        </p:nvSpPr>
        <p:spPr>
          <a:xfrm>
            <a:off x="468313" y="404813"/>
            <a:ext cx="8304212" cy="792162"/>
          </a:xfrm>
        </p:spPr>
        <p:txBody>
          <a:bodyPr>
            <a:normAutofit/>
          </a:bodyPr>
          <a:lstStyle/>
          <a:p>
            <a:pPr fontAlgn="auto">
              <a:lnSpc>
                <a:spcPct val="115000"/>
              </a:lnSpc>
              <a:spcBef>
                <a:spcPct val="25000"/>
              </a:spcBef>
              <a:spcAft>
                <a:spcPts val="0"/>
              </a:spcAft>
              <a:defRPr/>
            </a:pPr>
            <a:r>
              <a:rPr lang="zh-CN" altLang="en-US" sz="36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读入两个整数，输出它们的和</a:t>
            </a:r>
            <a:endParaRPr lang="zh-CN" altLang="en-US" sz="49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63491" name="Rectangle 2"/>
          <p:cNvSpPr>
            <a:spLocks noGrp="1" noChangeArrowheads="1"/>
          </p:cNvSpPr>
          <p:nvPr>
            <p:ph idx="1"/>
          </p:nvPr>
        </p:nvSpPr>
        <p:spPr>
          <a:xfrm>
            <a:off x="468313" y="1341438"/>
            <a:ext cx="8424862" cy="5099050"/>
          </a:xfrm>
        </p:spPr>
        <p:txBody>
          <a:bodyPr>
            <a:normAutofit fontScale="92500" lnSpcReduction="10000"/>
          </a:bodyPr>
          <a:lstStyle/>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a:t>
            </a:r>
            <a:r>
              <a:rPr lang="en-US" altLang="zh-CN" sz="2800" b="1" dirty="0">
                <a:latin typeface="黑体" pitchFamily="2" charset="-122"/>
                <a:ea typeface="黑体" pitchFamily="2" charset="-122"/>
              </a:rPr>
              <a:t>include  &lt;</a:t>
            </a:r>
            <a:r>
              <a:rPr lang="en-US" altLang="zh-CN" sz="2800" b="1" dirty="0" err="1">
                <a:latin typeface="黑体" pitchFamily="2" charset="-122"/>
                <a:ea typeface="黑体" pitchFamily="2" charset="-122"/>
              </a:rPr>
              <a:t>stdio.h</a:t>
            </a:r>
            <a:r>
              <a:rPr lang="en-US" altLang="zh-CN" sz="2800" b="1" dirty="0">
                <a:latin typeface="黑体" pitchFamily="2" charset="-122"/>
                <a:ea typeface="黑体" pitchFamily="2" charset="-122"/>
              </a:rPr>
              <a:t>&gt;</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a:solidFill>
                  <a:srgbClr val="FF0000"/>
                </a:solidFill>
                <a:latin typeface="黑体" pitchFamily="2" charset="-122"/>
                <a:ea typeface="黑体" pitchFamily="2" charset="-122"/>
              </a:rPr>
              <a:t>void</a:t>
            </a:r>
            <a:r>
              <a:rPr lang="en-US" altLang="zh-CN" sz="2800" b="1" dirty="0">
                <a:latin typeface="黑体" pitchFamily="2" charset="-122"/>
                <a:ea typeface="黑体" pitchFamily="2" charset="-122"/>
              </a:rPr>
              <a:t> main()</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变量定义部分 */</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solidFill>
                  <a:srgbClr val="FF0000"/>
                </a:solidFill>
                <a:latin typeface="黑体" pitchFamily="2" charset="-122"/>
                <a:ea typeface="黑体" pitchFamily="2" charset="-122"/>
              </a:rPr>
              <a:t>int</a:t>
            </a:r>
            <a:r>
              <a:rPr lang="en-US" altLang="zh-CN" sz="2800" b="1" dirty="0">
                <a:latin typeface="黑体" pitchFamily="2" charset="-122"/>
                <a:ea typeface="黑体" pitchFamily="2" charset="-122"/>
              </a:rPr>
              <a:t> x = 9, y, sum; /* </a:t>
            </a:r>
            <a:r>
              <a:rPr lang="zh-CN" altLang="en-US" sz="2800" b="1" dirty="0">
                <a:latin typeface="黑体" pitchFamily="2" charset="-122"/>
                <a:ea typeface="黑体" pitchFamily="2" charset="-122"/>
              </a:rPr>
              <a:t>定义 </a:t>
            </a:r>
            <a:r>
              <a:rPr lang="en-US" altLang="zh-CN" sz="2800" b="1" dirty="0">
                <a:latin typeface="黑体" pitchFamily="2" charset="-122"/>
                <a:ea typeface="黑体" pitchFamily="2" charset="-122"/>
              </a:rPr>
              <a:t>x, y, sum */</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a:t>
            </a:r>
          </a:p>
          <a:p>
            <a:pPr marL="274320" indent="-274320" algn="just" fontAlgn="auto">
              <a:spcAft>
                <a:spcPts val="0"/>
              </a:spcAft>
              <a:buClr>
                <a:schemeClr val="accent3"/>
              </a:buClr>
              <a:buFont typeface="Monotype Sorts" charset="2"/>
              <a:buNone/>
              <a:defRPr/>
            </a:pP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以下为语句序列 */</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("Input y\n");</a:t>
            </a:r>
            <a:r>
              <a:rPr lang="en-US" altLang="zh-CN" sz="2800" b="1" dirty="0">
                <a:solidFill>
                  <a:srgbClr val="0000FF"/>
                </a:solidFill>
                <a:latin typeface="黑体" pitchFamily="2" charset="-122"/>
                <a:ea typeface="黑体" pitchFamily="2" charset="-122"/>
              </a:rPr>
              <a:t>/*</a:t>
            </a:r>
            <a:r>
              <a:rPr lang="zh-CN" altLang="en-US" sz="2800" b="1" dirty="0">
                <a:solidFill>
                  <a:srgbClr val="0000FF"/>
                </a:solidFill>
                <a:latin typeface="黑体" pitchFamily="2" charset="-122"/>
                <a:ea typeface="黑体" pitchFamily="2" charset="-122"/>
              </a:rPr>
              <a:t>提示输入数据*/</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latin typeface="黑体" pitchFamily="2" charset="-122"/>
                <a:ea typeface="黑体" pitchFamily="2" charset="-122"/>
              </a:rPr>
              <a:t>scanf</a:t>
            </a:r>
            <a:r>
              <a:rPr lang="en-US" altLang="zh-CN" sz="2800" b="1" dirty="0">
                <a:latin typeface="黑体" pitchFamily="2" charset="-122"/>
                <a:ea typeface="黑体" pitchFamily="2" charset="-122"/>
              </a:rPr>
              <a:t>("%d", &amp;y);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输入</a:t>
            </a:r>
            <a:r>
              <a:rPr lang="en-US" altLang="zh-CN" sz="2800" b="1" dirty="0">
                <a:solidFill>
                  <a:srgbClr val="0000FF"/>
                </a:solidFill>
                <a:latin typeface="黑体" pitchFamily="2" charset="-122"/>
                <a:ea typeface="黑体" pitchFamily="2" charset="-122"/>
              </a:rPr>
              <a:t>x</a:t>
            </a:r>
            <a:r>
              <a:rPr lang="zh-CN" altLang="en-US" sz="2800" b="1" dirty="0">
                <a:solidFill>
                  <a:srgbClr val="0000FF"/>
                </a:solidFill>
                <a:latin typeface="黑体" pitchFamily="2" charset="-122"/>
                <a:ea typeface="黑体" pitchFamily="2" charset="-122"/>
              </a:rPr>
              <a:t>和</a:t>
            </a:r>
            <a:r>
              <a:rPr lang="en-US" altLang="zh-CN" sz="2800" b="1" dirty="0">
                <a:solidFill>
                  <a:srgbClr val="0000FF"/>
                </a:solidFill>
                <a:latin typeface="黑体" pitchFamily="2" charset="-122"/>
                <a:ea typeface="黑体" pitchFamily="2" charset="-122"/>
              </a:rPr>
              <a:t>y</a:t>
            </a:r>
            <a:r>
              <a:rPr lang="zh-CN" altLang="en-US" sz="2800" b="1" dirty="0">
                <a:solidFill>
                  <a:srgbClr val="0000FF"/>
                </a:solidFill>
                <a:latin typeface="黑体" pitchFamily="2" charset="-122"/>
                <a:ea typeface="黑体" pitchFamily="2" charset="-122"/>
              </a:rPr>
              <a:t>的值 */</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a:latin typeface="黑体" pitchFamily="2" charset="-122"/>
                <a:ea typeface="黑体" pitchFamily="2" charset="-122"/>
              </a:rPr>
              <a:t>sum = x + y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完成</a:t>
            </a:r>
            <a:r>
              <a:rPr lang="en-US" altLang="zh-CN" sz="2800" b="1" dirty="0" err="1">
                <a:solidFill>
                  <a:srgbClr val="0000FF"/>
                </a:solidFill>
                <a:latin typeface="黑体" pitchFamily="2" charset="-122"/>
                <a:ea typeface="黑体" pitchFamily="2" charset="-122"/>
              </a:rPr>
              <a:t>x+y</a:t>
            </a:r>
            <a:r>
              <a:rPr lang="zh-CN" altLang="en-US" sz="2800" b="1" dirty="0">
                <a:solidFill>
                  <a:srgbClr val="0000FF"/>
                </a:solidFill>
                <a:latin typeface="黑体" pitchFamily="2" charset="-122"/>
                <a:ea typeface="黑体" pitchFamily="2" charset="-122"/>
              </a:rPr>
              <a:t>的计算,求</a:t>
            </a:r>
            <a:r>
              <a:rPr lang="en-US" altLang="zh-CN" sz="2800" b="1" dirty="0">
                <a:solidFill>
                  <a:srgbClr val="0000FF"/>
                </a:solidFill>
                <a:latin typeface="黑体" pitchFamily="2" charset="-122"/>
                <a:ea typeface="黑体" pitchFamily="2" charset="-122"/>
              </a:rPr>
              <a:t>sum=</a:t>
            </a:r>
            <a:r>
              <a:rPr lang="en-US" altLang="zh-CN" sz="2800" b="1" dirty="0" err="1">
                <a:solidFill>
                  <a:srgbClr val="0000FF"/>
                </a:solidFill>
                <a:latin typeface="黑体" pitchFamily="2" charset="-122"/>
                <a:ea typeface="黑体" pitchFamily="2" charset="-122"/>
              </a:rPr>
              <a:t>x+y</a:t>
            </a:r>
            <a:r>
              <a:rPr lang="en-US" altLang="zh-CN" sz="2800" b="1" dirty="0">
                <a:solidFill>
                  <a:srgbClr val="0000FF"/>
                </a:solidFill>
                <a:latin typeface="黑体" pitchFamily="2" charset="-122"/>
                <a:ea typeface="黑体" pitchFamily="2" charset="-122"/>
              </a:rPr>
              <a:t> */</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("x + y = %d\n", sum);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输出结果 */</a:t>
            </a:r>
            <a:endParaRPr lang="zh-CN" altLang="en-US" sz="2800" b="1" dirty="0">
              <a:latin typeface="黑体" pitchFamily="2" charset="-122"/>
              <a:ea typeface="黑体" pitchFamily="2" charset="-122"/>
            </a:endParaRP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8C0D5522-6113-4254-AFD3-34AA851330C1}" type="slidenum">
              <a:rPr lang="zh-CN" altLang="en-US">
                <a:latin typeface="+mn-lt"/>
              </a:rPr>
              <a:pPr defTabSz="1128713">
                <a:defRPr/>
              </a:pPr>
              <a:t>64</a:t>
            </a:fld>
            <a:endParaRPr lang="en-US" altLang="zh-CN">
              <a:latin typeface="+mn-lt"/>
            </a:endParaRPr>
          </a:p>
        </p:txBody>
      </p:sp>
      <p:sp>
        <p:nvSpPr>
          <p:cNvPr id="5" name="Left Brace 4"/>
          <p:cNvSpPr/>
          <p:nvPr/>
        </p:nvSpPr>
        <p:spPr>
          <a:xfrm rot="10800000">
            <a:off x="6643702" y="2214554"/>
            <a:ext cx="500066" cy="1011170"/>
          </a:xfrm>
          <a:prstGeom prst="leftBrace">
            <a:avLst>
              <a:gd name="adj1" fmla="val 33862"/>
              <a:gd name="adj2" fmla="val 45383"/>
            </a:avLst>
          </a:prstGeom>
          <a:solidFill>
            <a:schemeClr val="bg1"/>
          </a:solidFill>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FF0000"/>
              </a:solidFill>
            </a:endParaRPr>
          </a:p>
        </p:txBody>
      </p:sp>
      <p:sp>
        <p:nvSpPr>
          <p:cNvPr id="8" name="TextBox 7"/>
          <p:cNvSpPr txBox="1"/>
          <p:nvPr/>
        </p:nvSpPr>
        <p:spPr>
          <a:xfrm>
            <a:off x="7143768" y="2214554"/>
            <a:ext cx="1826141" cy="1077218"/>
          </a:xfrm>
          <a:prstGeom prst="rect">
            <a:avLst/>
          </a:prstGeom>
          <a:noFill/>
        </p:spPr>
        <p:txBody>
          <a:bodyPr wrap="none" rtlCol="0">
            <a:spAutoFit/>
          </a:bodyPr>
          <a:lstStyle/>
          <a:p>
            <a:r>
              <a:rPr lang="zh-CN" altLang="en-US" b="1" dirty="0">
                <a:latin typeface="楷体_GB2312" pitchFamily="49" charset="-122"/>
                <a:ea typeface="楷体_GB2312" pitchFamily="49" charset="-122"/>
              </a:rPr>
              <a:t>先声明，</a:t>
            </a:r>
            <a:endParaRPr lang="en-US" altLang="zh-CN" b="1" dirty="0">
              <a:latin typeface="楷体_GB2312" pitchFamily="49" charset="-122"/>
              <a:ea typeface="楷体_GB2312" pitchFamily="49" charset="-122"/>
            </a:endParaRPr>
          </a:p>
          <a:p>
            <a:r>
              <a:rPr lang="zh-CN" altLang="en-US" b="1" dirty="0">
                <a:latin typeface="楷体_GB2312" pitchFamily="49" charset="-122"/>
                <a:ea typeface="楷体_GB2312" pitchFamily="49" charset="-122"/>
              </a:rPr>
              <a:t>后使用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a:xfrm>
            <a:off x="228600" y="228600"/>
            <a:ext cx="8664575" cy="1328738"/>
          </a:xfrm>
        </p:spPr>
        <p:txBody>
          <a:bodyPr/>
          <a:lstStyle/>
          <a:p>
            <a:r>
              <a:rPr lang="zh-CN" altLang="en-US" sz="4000" b="1" dirty="0">
                <a:solidFill>
                  <a:srgbClr val="C00000"/>
                </a:solidFill>
                <a:latin typeface="黑体" pitchFamily="2" charset="-122"/>
                <a:ea typeface="黑体" pitchFamily="2" charset="-122"/>
              </a:rPr>
              <a:t>Ｃ语言的词汇、数据类型、常量和变量</a:t>
            </a:r>
          </a:p>
        </p:txBody>
      </p:sp>
      <p:sp>
        <p:nvSpPr>
          <p:cNvPr id="74755" name="Rectangle 1027"/>
          <p:cNvSpPr>
            <a:spLocks noGrp="1" noChangeArrowheads="1"/>
          </p:cNvSpPr>
          <p:nvPr>
            <p:ph idx="1"/>
          </p:nvPr>
        </p:nvSpPr>
        <p:spPr>
          <a:xfrm>
            <a:off x="323850" y="1628775"/>
            <a:ext cx="8496300" cy="4637088"/>
          </a:xfrm>
        </p:spPr>
        <p:txBody>
          <a:bodyPr/>
          <a:lstStyle/>
          <a:p>
            <a:pPr marL="0" indent="0" algn="just">
              <a:lnSpc>
                <a:spcPct val="115000"/>
              </a:lnSpc>
              <a:buFont typeface="Monotype Sorts" charset="2"/>
              <a:buNone/>
            </a:pPr>
            <a:r>
              <a:rPr lang="en-US" altLang="zh-CN" sz="4000" b="1" dirty="0">
                <a:latin typeface="宋体" charset="-122"/>
              </a:rPr>
              <a:t>1</a:t>
            </a:r>
            <a:r>
              <a:rPr lang="zh-CN" altLang="en-US" sz="4000" b="1" dirty="0">
                <a:latin typeface="宋体" charset="-122"/>
              </a:rPr>
              <a:t>、</a:t>
            </a:r>
            <a:r>
              <a:rPr lang="zh-CN" altLang="en-US" sz="4000" b="1" dirty="0">
                <a:latin typeface="楷体_GB2312" pitchFamily="49" charset="-122"/>
                <a:ea typeface="楷体_GB2312" pitchFamily="49" charset="-122"/>
              </a:rPr>
              <a:t>基本符号:  </a:t>
            </a:r>
            <a:endParaRPr lang="zh-CN" altLang="en-US" sz="3600" b="1" dirty="0">
              <a:latin typeface="楷体_GB2312" pitchFamily="49" charset="-122"/>
              <a:ea typeface="楷体_GB2312" pitchFamily="49" charset="-122"/>
            </a:endParaRP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数字10个(0～9)</a:t>
            </a: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英文字母大、小写各26个(</a:t>
            </a:r>
            <a:r>
              <a:rPr lang="en-US" altLang="zh-CN" sz="3600" b="1" dirty="0" err="1">
                <a:latin typeface="楷体_GB2312" pitchFamily="49" charset="-122"/>
                <a:ea typeface="楷体_GB2312" pitchFamily="49" charset="-122"/>
              </a:rPr>
              <a:t>A～Z,a～z</a:t>
            </a:r>
            <a:r>
              <a:rPr lang="en-US" altLang="zh-CN" sz="3600" b="1" dirty="0">
                <a:latin typeface="楷体_GB2312" pitchFamily="49" charset="-122"/>
                <a:ea typeface="楷体_GB2312" pitchFamily="49" charset="-122"/>
              </a:rPr>
              <a:t>)</a:t>
            </a: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下线字符“_”</a:t>
            </a: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其他构成特殊符号的字符集 </a:t>
            </a:r>
            <a:r>
              <a:rPr lang="en-US" altLang="zh-CN"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defTabSz="1128713">
              <a:defRPr/>
            </a:pPr>
            <a:fld id="{2DD767B7-3AEA-4C21-A516-7CE54FFF8B70}" type="slidenum">
              <a:rPr lang="zh-CN" altLang="en-US">
                <a:latin typeface="+mn-lt"/>
              </a:rPr>
              <a:pPr defTabSz="1128713">
                <a:defRPr/>
              </a:pPr>
              <a:t>65</a:t>
            </a:fld>
            <a:endParaRPr lang="en-US" altLang="zh-CN">
              <a:latin typeface="+mn-lt"/>
            </a:endParaRPr>
          </a:p>
        </p:txBody>
      </p:sp>
    </p:spTree>
    <p:extLst>
      <p:ext uri="{BB962C8B-B14F-4D97-AF65-F5344CB8AC3E}">
        <p14:creationId xmlns:p14="http://schemas.microsoft.com/office/powerpoint/2010/main" val="2924629003"/>
      </p:ext>
    </p:extLst>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a:xfrm>
            <a:off x="250825" y="333375"/>
            <a:ext cx="8686800" cy="990600"/>
          </a:xfrm>
        </p:spPr>
        <p:txBody>
          <a:bodyPr/>
          <a:lstStyle/>
          <a:p>
            <a:r>
              <a:rPr lang="en-US" altLang="zh-CN" sz="4000">
                <a:solidFill>
                  <a:schemeClr val="tx1"/>
                </a:solidFill>
                <a:latin typeface="黑体" pitchFamily="2" charset="-122"/>
                <a:ea typeface="黑体" pitchFamily="2" charset="-122"/>
              </a:rPr>
              <a:t>2</a:t>
            </a:r>
            <a:r>
              <a:rPr lang="zh-CN" altLang="en-US" sz="4000">
                <a:solidFill>
                  <a:schemeClr val="tx1"/>
                </a:solidFill>
                <a:latin typeface="黑体" pitchFamily="2" charset="-122"/>
                <a:ea typeface="黑体" pitchFamily="2" charset="-122"/>
              </a:rPr>
              <a:t>、基本词汇</a:t>
            </a:r>
          </a:p>
        </p:txBody>
      </p:sp>
      <p:sp>
        <p:nvSpPr>
          <p:cNvPr id="75779" name="Rectangle 1027"/>
          <p:cNvSpPr>
            <a:spLocks noGrp="1" noChangeArrowheads="1"/>
          </p:cNvSpPr>
          <p:nvPr>
            <p:ph idx="1"/>
          </p:nvPr>
        </p:nvSpPr>
        <p:spPr>
          <a:xfrm>
            <a:off x="468313" y="1371600"/>
            <a:ext cx="8064500" cy="5257800"/>
          </a:xfrm>
        </p:spPr>
        <p:txBody>
          <a:bodyPr/>
          <a:lstStyle/>
          <a:p>
            <a:pPr algn="just"/>
            <a:r>
              <a:rPr lang="zh-CN" altLang="en-US" sz="4000" b="1">
                <a:latin typeface="宋体" charset="-122"/>
                <a:sym typeface="Wingdings" pitchFamily="2" charset="2"/>
              </a:rPr>
              <a:t> </a:t>
            </a:r>
            <a:r>
              <a:rPr lang="zh-CN" altLang="en-US" sz="4000" b="1">
                <a:latin typeface="宋体" charset="-122"/>
              </a:rPr>
              <a:t>字面形式常量：如</a:t>
            </a:r>
            <a:r>
              <a:rPr lang="en-US" altLang="zh-CN" sz="4000" b="1">
                <a:latin typeface="宋体" charset="-122"/>
              </a:rPr>
              <a:t>100</a:t>
            </a:r>
            <a:r>
              <a:rPr lang="zh-CN" altLang="en-US" sz="4000" b="1">
                <a:latin typeface="宋体" charset="-122"/>
              </a:rPr>
              <a:t>、</a:t>
            </a:r>
            <a:r>
              <a:rPr lang="en-US" altLang="zh-CN" sz="4000" b="1">
                <a:latin typeface="宋体" charset="-122"/>
              </a:rPr>
              <a:t>15.0</a:t>
            </a:r>
            <a:r>
              <a:rPr lang="zh-CN" altLang="en-US" sz="4000" b="1">
                <a:latin typeface="宋体" charset="-122"/>
              </a:rPr>
              <a:t>、  </a:t>
            </a:r>
            <a:r>
              <a:rPr lang="en-US" altLang="zh-CN" sz="4000" b="1"/>
              <a:t>'A'</a:t>
            </a:r>
            <a:r>
              <a:rPr lang="zh-CN" altLang="en-US" sz="4000" b="1"/>
              <a:t>、</a:t>
            </a:r>
            <a:r>
              <a:rPr lang="en-US" altLang="zh-CN" sz="4000" b="1"/>
              <a:t>"ABC"</a:t>
            </a:r>
            <a:endParaRPr lang="zh-CN" altLang="zh-CN" sz="4000" b="1">
              <a:latin typeface="宋体" charset="-122"/>
            </a:endParaRPr>
          </a:p>
          <a:p>
            <a:pPr algn="just"/>
            <a:r>
              <a:rPr lang="zh-CN" altLang="en-US" sz="4000" b="1">
                <a:latin typeface="宋体" charset="-122"/>
                <a:sym typeface="Wingdings" pitchFamily="2" charset="2"/>
              </a:rPr>
              <a:t> </a:t>
            </a:r>
            <a:r>
              <a:rPr lang="zh-CN" altLang="en-US" sz="4000" b="1">
                <a:latin typeface="宋体" charset="-122"/>
              </a:rPr>
              <a:t>特殊符号：如各种运算符</a:t>
            </a:r>
            <a:endParaRPr lang="en-US" altLang="zh-CN" sz="4000" b="1">
              <a:latin typeface="宋体" charset="-122"/>
            </a:endParaRPr>
          </a:p>
          <a:p>
            <a:r>
              <a:rPr lang="zh-CN" altLang="en-US" sz="4000" b="1">
                <a:latin typeface="宋体" charset="-122"/>
                <a:sym typeface="Wingdings" pitchFamily="2" charset="2"/>
              </a:rPr>
              <a:t> </a:t>
            </a:r>
            <a:r>
              <a:rPr lang="zh-CN" altLang="en-US" sz="4000" b="1">
                <a:latin typeface="宋体" charset="-122"/>
              </a:rPr>
              <a:t>关键字（见下一张幻灯片</a:t>
            </a:r>
            <a:r>
              <a:rPr lang="en-US" altLang="zh-CN" sz="4000" b="1">
                <a:latin typeface="宋体" charset="-122"/>
              </a:rPr>
              <a:t>)</a:t>
            </a:r>
            <a:endParaRPr lang="zh-CN" altLang="en-US" sz="4000" b="1">
              <a:latin typeface="宋体" charset="-122"/>
            </a:endParaRPr>
          </a:p>
          <a:p>
            <a:pPr algn="just"/>
            <a:r>
              <a:rPr lang="zh-CN" altLang="en-US" sz="4000" b="1">
                <a:latin typeface="宋体" charset="-122"/>
                <a:sym typeface="Wingdings" pitchFamily="2" charset="2"/>
              </a:rPr>
              <a:t> 标识符</a:t>
            </a:r>
            <a:r>
              <a:rPr lang="en-US" altLang="zh-CN" sz="4000" b="1">
                <a:latin typeface="宋体" charset="-122"/>
                <a:sym typeface="Wingdings" pitchFamily="2" charset="2"/>
              </a:rPr>
              <a:t>(</a:t>
            </a:r>
            <a:r>
              <a:rPr lang="zh-CN" altLang="en-US" sz="4000" b="1">
                <a:latin typeface="宋体" charset="-122"/>
              </a:rPr>
              <a:t>见后面说明</a:t>
            </a:r>
            <a:r>
              <a:rPr lang="en-US" altLang="zh-CN" sz="4000" b="1">
                <a:latin typeface="宋体" charset="-122"/>
              </a:rPr>
              <a:t>)</a:t>
            </a:r>
            <a:endParaRPr lang="zh-CN" altLang="en-US" sz="4000" b="1">
              <a:latin typeface="宋体" charset="-122"/>
            </a:endParaRPr>
          </a:p>
        </p:txBody>
      </p:sp>
      <p:sp>
        <p:nvSpPr>
          <p:cNvPr id="6" name="灯片编号占位符 5"/>
          <p:cNvSpPr>
            <a:spLocks noGrp="1"/>
          </p:cNvSpPr>
          <p:nvPr>
            <p:ph type="sldNum" sz="quarter" idx="12"/>
          </p:nvPr>
        </p:nvSpPr>
        <p:spPr/>
        <p:txBody>
          <a:bodyPr/>
          <a:lstStyle/>
          <a:p>
            <a:pPr defTabSz="1128713">
              <a:defRPr/>
            </a:pPr>
            <a:fld id="{7F9AB16C-52FD-46F4-9030-5E1485FEE949}" type="slidenum">
              <a:rPr lang="zh-CN" altLang="en-US">
                <a:latin typeface="+mn-lt"/>
              </a:rPr>
              <a:pPr defTabSz="1128713">
                <a:defRPr/>
              </a:pPr>
              <a:t>66</a:t>
            </a:fld>
            <a:endParaRPr lang="en-US" altLang="zh-CN" dirty="0">
              <a:latin typeface="+mn-lt"/>
            </a:endParaRPr>
          </a:p>
        </p:txBody>
      </p:sp>
    </p:spTree>
    <p:extLst>
      <p:ext uri="{BB962C8B-B14F-4D97-AF65-F5344CB8AC3E}">
        <p14:creationId xmlns:p14="http://schemas.microsoft.com/office/powerpoint/2010/main" val="1468446705"/>
      </p:ext>
    </p:extLst>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1027"/>
          <p:cNvSpPr>
            <a:spLocks noGrp="1" noChangeArrowheads="1"/>
          </p:cNvSpPr>
          <p:nvPr>
            <p:ph type="title"/>
          </p:nvPr>
        </p:nvSpPr>
        <p:spPr>
          <a:xfrm>
            <a:off x="250825" y="333375"/>
            <a:ext cx="8686800" cy="990600"/>
          </a:xfrm>
        </p:spPr>
        <p:txBody>
          <a:bodyPr/>
          <a:lstStyle/>
          <a:p>
            <a:r>
              <a:rPr lang="zh-CN" altLang="en-US"/>
              <a:t>关键字</a:t>
            </a:r>
          </a:p>
        </p:txBody>
      </p:sp>
      <p:sp>
        <p:nvSpPr>
          <p:cNvPr id="76803" name="Rectangle 1026"/>
          <p:cNvSpPr>
            <a:spLocks noGrp="1" noChangeArrowheads="1"/>
          </p:cNvSpPr>
          <p:nvPr>
            <p:ph idx="1"/>
          </p:nvPr>
        </p:nvSpPr>
        <p:spPr>
          <a:xfrm>
            <a:off x="539750" y="1412875"/>
            <a:ext cx="8208963" cy="4608513"/>
          </a:xfrm>
        </p:spPr>
        <p:txBody>
          <a:bodyPr/>
          <a:lstStyle/>
          <a:p>
            <a:pPr marL="0" indent="0" algn="just">
              <a:lnSpc>
                <a:spcPct val="90000"/>
              </a:lnSpc>
              <a:buFont typeface="Monotype Sorts" charset="2"/>
              <a:buNone/>
            </a:pPr>
            <a:r>
              <a:rPr lang="en-US" altLang="zh-CN" sz="3200" b="1">
                <a:latin typeface="宋体" charset="-122"/>
              </a:rPr>
              <a:t>auto      break      case       char</a:t>
            </a:r>
          </a:p>
          <a:p>
            <a:pPr marL="0" indent="0" algn="just">
              <a:lnSpc>
                <a:spcPct val="90000"/>
              </a:lnSpc>
              <a:buFont typeface="Monotype Sorts" charset="2"/>
              <a:buNone/>
            </a:pPr>
            <a:r>
              <a:rPr lang="en-US" altLang="zh-CN" sz="3200" b="1">
                <a:latin typeface="宋体" charset="-122"/>
              </a:rPr>
              <a:t>const     continue   default    do</a:t>
            </a:r>
          </a:p>
          <a:p>
            <a:pPr marL="0" indent="0" algn="just">
              <a:lnSpc>
                <a:spcPct val="90000"/>
              </a:lnSpc>
              <a:buFont typeface="Monotype Sorts" charset="2"/>
              <a:buNone/>
            </a:pPr>
            <a:r>
              <a:rPr lang="en-US" altLang="zh-CN" sz="3200" b="1">
                <a:latin typeface="宋体" charset="-122"/>
              </a:rPr>
              <a:t>double    else       enum       extern</a:t>
            </a:r>
          </a:p>
          <a:p>
            <a:pPr marL="0" indent="0" algn="just">
              <a:lnSpc>
                <a:spcPct val="90000"/>
              </a:lnSpc>
              <a:buFont typeface="Monotype Sorts" charset="2"/>
              <a:buNone/>
            </a:pPr>
            <a:r>
              <a:rPr lang="en-US" altLang="zh-CN" sz="3200" b="1">
                <a:latin typeface="宋体" charset="-122"/>
              </a:rPr>
              <a:t>float     for        goto       if  </a:t>
            </a:r>
          </a:p>
          <a:p>
            <a:pPr marL="0" indent="0" algn="just">
              <a:lnSpc>
                <a:spcPct val="90000"/>
              </a:lnSpc>
              <a:buFont typeface="Monotype Sorts" charset="2"/>
              <a:buNone/>
            </a:pPr>
            <a:r>
              <a:rPr lang="en-US" altLang="zh-CN" sz="3200" b="1">
                <a:latin typeface="宋体" charset="-122"/>
              </a:rPr>
              <a:t>int       long       register   return  </a:t>
            </a:r>
          </a:p>
          <a:p>
            <a:pPr marL="0" indent="0" algn="just">
              <a:lnSpc>
                <a:spcPct val="90000"/>
              </a:lnSpc>
              <a:buFont typeface="Monotype Sorts" charset="2"/>
              <a:buNone/>
            </a:pPr>
            <a:r>
              <a:rPr lang="en-US" altLang="zh-CN" sz="3200" b="1">
                <a:latin typeface="宋体" charset="-122"/>
              </a:rPr>
              <a:t>short     signed     sizeof     static </a:t>
            </a:r>
          </a:p>
          <a:p>
            <a:pPr marL="0" indent="0" algn="just">
              <a:lnSpc>
                <a:spcPct val="90000"/>
              </a:lnSpc>
              <a:buFont typeface="Monotype Sorts" charset="2"/>
              <a:buNone/>
            </a:pPr>
            <a:r>
              <a:rPr lang="en-US" altLang="zh-CN" sz="3200" b="1">
                <a:latin typeface="宋体" charset="-122"/>
              </a:rPr>
              <a:t>struct    switch     typedef    union</a:t>
            </a:r>
          </a:p>
          <a:p>
            <a:pPr marL="0" indent="0" algn="just">
              <a:lnSpc>
                <a:spcPct val="90000"/>
              </a:lnSpc>
              <a:buFont typeface="Monotype Sorts" charset="2"/>
              <a:buNone/>
            </a:pPr>
            <a:r>
              <a:rPr lang="en-US" altLang="zh-CN" sz="3200" b="1">
                <a:latin typeface="宋体" charset="-122"/>
              </a:rPr>
              <a:t>unsigned  void       volatile   while</a:t>
            </a:r>
            <a:endParaRPr lang="zh-CN" altLang="zh-CN" sz="2000" b="1">
              <a:latin typeface="宋体" charset="-122"/>
            </a:endParaRPr>
          </a:p>
        </p:txBody>
      </p:sp>
      <p:sp>
        <p:nvSpPr>
          <p:cNvPr id="6" name="灯片编号占位符 5"/>
          <p:cNvSpPr>
            <a:spLocks noGrp="1"/>
          </p:cNvSpPr>
          <p:nvPr>
            <p:ph type="sldNum" sz="quarter" idx="12"/>
          </p:nvPr>
        </p:nvSpPr>
        <p:spPr/>
        <p:txBody>
          <a:bodyPr/>
          <a:lstStyle/>
          <a:p>
            <a:pPr defTabSz="1128713">
              <a:defRPr/>
            </a:pPr>
            <a:fld id="{419735CF-0075-4D49-8FEB-8C9E4A2778C8}" type="slidenum">
              <a:rPr lang="zh-CN" altLang="en-US">
                <a:latin typeface="+mn-lt"/>
              </a:rPr>
              <a:pPr defTabSz="1128713">
                <a:defRPr/>
              </a:pPr>
              <a:t>67</a:t>
            </a:fld>
            <a:endParaRPr lang="en-US" altLang="zh-CN">
              <a:latin typeface="+mn-lt"/>
            </a:endParaRPr>
          </a:p>
        </p:txBody>
      </p:sp>
    </p:spTree>
    <p:extLst>
      <p:ext uri="{BB962C8B-B14F-4D97-AF65-F5344CB8AC3E}">
        <p14:creationId xmlns:p14="http://schemas.microsoft.com/office/powerpoint/2010/main" val="1615346398"/>
      </p:ext>
    </p:extLst>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1027"/>
          <p:cNvSpPr>
            <a:spLocks noGrp="1" noChangeArrowheads="1"/>
          </p:cNvSpPr>
          <p:nvPr>
            <p:ph type="title"/>
          </p:nvPr>
        </p:nvSpPr>
        <p:spPr>
          <a:xfrm>
            <a:off x="250825" y="333375"/>
            <a:ext cx="8686800" cy="990600"/>
          </a:xfrm>
        </p:spPr>
        <p:txBody>
          <a:bodyPr/>
          <a:lstStyle/>
          <a:p>
            <a:r>
              <a:rPr lang="zh-CN" altLang="en-US">
                <a:solidFill>
                  <a:srgbClr val="C00000"/>
                </a:solidFill>
                <a:latin typeface="黑体" pitchFamily="2" charset="-122"/>
                <a:ea typeface="黑体" pitchFamily="2" charset="-122"/>
              </a:rPr>
              <a:t>标识符</a:t>
            </a:r>
          </a:p>
        </p:txBody>
      </p:sp>
      <p:sp>
        <p:nvSpPr>
          <p:cNvPr id="78851" name="Rectangle 1026"/>
          <p:cNvSpPr>
            <a:spLocks noGrp="1" noChangeArrowheads="1"/>
          </p:cNvSpPr>
          <p:nvPr>
            <p:ph idx="1"/>
          </p:nvPr>
        </p:nvSpPr>
        <p:spPr>
          <a:xfrm>
            <a:off x="395288" y="1484313"/>
            <a:ext cx="8367712" cy="4806950"/>
          </a:xfrm>
        </p:spPr>
        <p:txBody>
          <a:bodyPr/>
          <a:lstStyle/>
          <a:p>
            <a:pPr marL="0" indent="0" algn="just">
              <a:lnSpc>
                <a:spcPct val="90000"/>
              </a:lnSpc>
              <a:buFont typeface="Monotype Sorts" charset="2"/>
              <a:buNone/>
            </a:pPr>
            <a:r>
              <a:rPr lang="zh-CN" altLang="en-US" sz="4000" b="1">
                <a:latin typeface="楷体_GB2312" pitchFamily="49" charset="-122"/>
                <a:ea typeface="楷体_GB2312" pitchFamily="49" charset="-122"/>
              </a:rPr>
              <a:t>作用：用来标识变量、常量、类型、函数、语句等程序对象，Ｃ语言用标识符给它们命名。</a:t>
            </a:r>
          </a:p>
          <a:p>
            <a:pPr marL="0" indent="0" algn="just">
              <a:lnSpc>
                <a:spcPct val="90000"/>
              </a:lnSpc>
              <a:buFont typeface="Monotype Sorts" charset="2"/>
              <a:buNone/>
            </a:pPr>
            <a:r>
              <a:rPr lang="zh-CN" altLang="en-US" sz="4000" b="1">
                <a:latin typeface="楷体_GB2312" pitchFamily="49" charset="-122"/>
                <a:ea typeface="楷体_GB2312" pitchFamily="49" charset="-122"/>
              </a:rPr>
              <a:t>命名规则：在Ｃ语言中，一个合理的标识符由英文字母或下线符开头，后可跟由字母、下线符、数字组成的字符序列。一般以下线符开头的标识符为系统内部使用。</a:t>
            </a:r>
            <a:endParaRPr lang="zh-CN" altLang="en-US" sz="2400" b="1">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defTabSz="1128713">
              <a:defRPr/>
            </a:pPr>
            <a:fld id="{8D07F89D-7E3A-4485-9C7E-9B83D97518DA}" type="slidenum">
              <a:rPr lang="zh-CN" altLang="en-US">
                <a:latin typeface="+mn-lt"/>
              </a:rPr>
              <a:pPr defTabSz="1128713">
                <a:defRPr/>
              </a:pPr>
              <a:t>68</a:t>
            </a:fld>
            <a:endParaRPr lang="en-US" altLang="zh-CN">
              <a:latin typeface="+mn-lt"/>
            </a:endParaRPr>
          </a:p>
        </p:txBody>
      </p:sp>
    </p:spTree>
    <p:extLst>
      <p:ext uri="{BB962C8B-B14F-4D97-AF65-F5344CB8AC3E}">
        <p14:creationId xmlns:p14="http://schemas.microsoft.com/office/powerpoint/2010/main" val="1034921400"/>
      </p:ext>
    </p:extLst>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3074"/>
          <p:cNvSpPr>
            <a:spLocks noGrp="1" noChangeArrowheads="1"/>
          </p:cNvSpPr>
          <p:nvPr>
            <p:ph idx="1"/>
          </p:nvPr>
        </p:nvSpPr>
        <p:spPr>
          <a:xfrm>
            <a:off x="395288" y="1484313"/>
            <a:ext cx="8380412" cy="4751387"/>
          </a:xfrm>
        </p:spPr>
        <p:txBody>
          <a:bodyPr/>
          <a:lstStyle/>
          <a:p>
            <a:pPr marL="0" indent="0" algn="just">
              <a:buFont typeface="Monotype Sorts" charset="2"/>
              <a:buNone/>
            </a:pPr>
            <a:r>
              <a:rPr lang="zh-CN" altLang="en-US" sz="4000" b="1">
                <a:latin typeface="楷体_GB2312" pitchFamily="49" charset="-122"/>
                <a:ea typeface="楷体_GB2312" pitchFamily="49" charset="-122"/>
              </a:rPr>
              <a:t>命名要求：标识符作为程序成分对象的名称，为了便于联想和记忆，建议使用能反映该对象意义的标识符。</a:t>
            </a:r>
          </a:p>
          <a:p>
            <a:pPr marL="0" indent="0" algn="just">
              <a:buFont typeface="Monotype Sorts" charset="2"/>
              <a:buNone/>
            </a:pPr>
            <a:r>
              <a:rPr lang="zh-CN" altLang="en-US" sz="4000" b="1">
                <a:latin typeface="楷体_GB2312" pitchFamily="49" charset="-122"/>
                <a:ea typeface="楷体_GB2312" pitchFamily="49" charset="-122"/>
              </a:rPr>
              <a:t>注意：</a:t>
            </a:r>
            <a:r>
              <a:rPr lang="en-US" altLang="zh-CN" sz="4000" b="1">
                <a:latin typeface="楷体_GB2312" pitchFamily="49" charset="-122"/>
                <a:ea typeface="楷体_GB2312" pitchFamily="49" charset="-122"/>
              </a:rPr>
              <a:t>1.</a:t>
            </a:r>
            <a:r>
              <a:rPr lang="zh-CN" altLang="en-US" sz="4000" b="1">
                <a:latin typeface="楷体_GB2312" pitchFamily="49" charset="-122"/>
                <a:ea typeface="楷体_GB2312" pitchFamily="49" charset="-122"/>
              </a:rPr>
              <a:t>标识符长度（字符个数）随不同系统而定；</a:t>
            </a:r>
            <a:r>
              <a:rPr lang="en-US" altLang="zh-CN" sz="4000" b="1">
                <a:latin typeface="楷体_GB2312" pitchFamily="49" charset="-122"/>
                <a:ea typeface="楷体_GB2312" pitchFamily="49" charset="-122"/>
              </a:rPr>
              <a:t>2.</a:t>
            </a:r>
            <a:r>
              <a:rPr lang="zh-CN" altLang="en-US" sz="4000" b="1">
                <a:solidFill>
                  <a:srgbClr val="FF0000"/>
                </a:solidFill>
                <a:latin typeface="楷体_GB2312" pitchFamily="49" charset="-122"/>
                <a:ea typeface="楷体_GB2312" pitchFamily="49" charset="-122"/>
              </a:rPr>
              <a:t>标识符中字母大小写有区别</a:t>
            </a:r>
            <a:r>
              <a:rPr lang="zh-CN" altLang="en-US" sz="4000" b="1">
                <a:latin typeface="楷体_GB2312" pitchFamily="49" charset="-122"/>
                <a:ea typeface="楷体_GB2312" pitchFamily="49" charset="-122"/>
              </a:rPr>
              <a:t>，</a:t>
            </a:r>
            <a:r>
              <a:rPr lang="en-US" altLang="zh-CN" sz="4000" b="1">
                <a:latin typeface="楷体_GB2312" pitchFamily="49" charset="-122"/>
                <a:ea typeface="楷体_GB2312" pitchFamily="49" charset="-122"/>
              </a:rPr>
              <a:t>C</a:t>
            </a:r>
            <a:r>
              <a:rPr lang="zh-CN" altLang="en-US" sz="4000" b="1">
                <a:latin typeface="楷体_GB2312" pitchFamily="49" charset="-122"/>
                <a:ea typeface="楷体_GB2312" pitchFamily="49" charset="-122"/>
              </a:rPr>
              <a:t>语言建议用小写字母表示变量，大写字母表示符号常量名。</a:t>
            </a:r>
            <a:endParaRPr lang="zh-CN" altLang="en-US" sz="400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BDDA7E4A-396B-4B27-9036-BEF707610D02}" type="slidenum">
              <a:rPr lang="zh-CN" altLang="en-US">
                <a:latin typeface="+mn-lt"/>
              </a:rPr>
              <a:pPr defTabSz="1128713">
                <a:defRPr/>
              </a:pPr>
              <a:t>69</a:t>
            </a:fld>
            <a:endParaRPr lang="en-US" altLang="zh-CN">
              <a:latin typeface="+mn-lt"/>
            </a:endParaRPr>
          </a:p>
        </p:txBody>
      </p:sp>
    </p:spTree>
    <p:extLst>
      <p:ext uri="{BB962C8B-B14F-4D97-AF65-F5344CB8AC3E}">
        <p14:creationId xmlns:p14="http://schemas.microsoft.com/office/powerpoint/2010/main" val="2082607040"/>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381000" y="228600"/>
            <a:ext cx="8458200" cy="838200"/>
          </a:xfrm>
        </p:spPr>
        <p:txBody>
          <a:bodyPr/>
          <a:lstStyle/>
          <a:p>
            <a:r>
              <a:rPr lang="zh-CN" altLang="en-US" sz="4400" dirty="0">
                <a:solidFill>
                  <a:srgbClr val="C00000"/>
                </a:solidFill>
                <a:latin typeface="黑体" pitchFamily="2" charset="-122"/>
                <a:ea typeface="黑体" pitchFamily="2" charset="-122"/>
              </a:rPr>
              <a:t>常量</a:t>
            </a:r>
          </a:p>
        </p:txBody>
      </p:sp>
      <p:sp>
        <p:nvSpPr>
          <p:cNvPr id="82947" name="Rectangle 3"/>
          <p:cNvSpPr>
            <a:spLocks noGrp="1" noChangeArrowheads="1"/>
          </p:cNvSpPr>
          <p:nvPr>
            <p:ph idx="1"/>
          </p:nvPr>
        </p:nvSpPr>
        <p:spPr>
          <a:xfrm>
            <a:off x="381000" y="1295400"/>
            <a:ext cx="8305800" cy="5334000"/>
          </a:xfrm>
        </p:spPr>
        <p:txBody>
          <a:bodyPr/>
          <a:lstStyle/>
          <a:p>
            <a:pPr marL="0" indent="0" algn="just">
              <a:lnSpc>
                <a:spcPct val="90000"/>
              </a:lnSpc>
              <a:buFont typeface="Monotype Sorts" charset="2"/>
              <a:buNone/>
            </a:pPr>
            <a:r>
              <a:rPr lang="zh-CN" altLang="en-US" sz="4000" b="1">
                <a:latin typeface="楷体_GB2312" pitchFamily="49" charset="-122"/>
                <a:ea typeface="楷体_GB2312" pitchFamily="49" charset="-122"/>
              </a:rPr>
              <a:t>在程序运行过程中，其值不允许改变的量称为常量。</a:t>
            </a:r>
          </a:p>
          <a:p>
            <a:pPr marL="0" indent="0" algn="just">
              <a:lnSpc>
                <a:spcPct val="90000"/>
              </a:lnSpc>
              <a:buFont typeface="Monotype Sorts" charset="2"/>
              <a:buNone/>
            </a:pPr>
            <a:r>
              <a:rPr lang="zh-CN" altLang="en-US" sz="4000" b="1">
                <a:latin typeface="楷体_GB2312" pitchFamily="49" charset="-122"/>
                <a:ea typeface="楷体_GB2312" pitchFamily="49" charset="-122"/>
              </a:rPr>
              <a:t>常量的类型有:</a:t>
            </a:r>
          </a:p>
          <a:p>
            <a:pPr marL="0" indent="0" algn="just">
              <a:lnSpc>
                <a:spcPct val="90000"/>
              </a:lnSpc>
              <a:spcBef>
                <a:spcPct val="15000"/>
              </a:spcBef>
              <a:buFont typeface="Monotype Sorts" charset="2"/>
              <a:buNone/>
            </a:pPr>
            <a:r>
              <a:rPr lang="zh-CN" altLang="en-US" sz="4000" b="1">
                <a:latin typeface="楷体_GB2312" pitchFamily="49" charset="-122"/>
                <a:ea typeface="楷体_GB2312" pitchFamily="49" charset="-122"/>
              </a:rPr>
              <a:t>整型常量   如，15、</a:t>
            </a:r>
            <a:r>
              <a:rPr lang="en-US" altLang="zh-CN" sz="4000" b="1">
                <a:latin typeface="楷体_GB2312" pitchFamily="49" charset="-122"/>
                <a:ea typeface="楷体_GB2312" pitchFamily="49" charset="-122"/>
              </a:rPr>
              <a:t>0</a:t>
            </a:r>
            <a:r>
              <a:rPr lang="zh-CN" altLang="en-US" sz="4000" b="1">
                <a:latin typeface="楷体_GB2312" pitchFamily="49" charset="-122"/>
                <a:ea typeface="楷体_GB2312" pitchFamily="49" charset="-122"/>
              </a:rPr>
              <a:t>、－</a:t>
            </a:r>
            <a:r>
              <a:rPr lang="en-US" altLang="zh-CN" sz="4000" b="1">
                <a:latin typeface="楷体_GB2312" pitchFamily="49" charset="-122"/>
                <a:ea typeface="楷体_GB2312" pitchFamily="49" charset="-122"/>
              </a:rPr>
              <a:t>7</a:t>
            </a:r>
          </a:p>
          <a:p>
            <a:pPr marL="0" indent="0" algn="just">
              <a:lnSpc>
                <a:spcPct val="90000"/>
              </a:lnSpc>
              <a:spcBef>
                <a:spcPct val="15000"/>
              </a:spcBef>
              <a:buFont typeface="Monotype Sorts" charset="2"/>
              <a:buNone/>
            </a:pPr>
            <a:r>
              <a:rPr lang="zh-CN" altLang="en-US" sz="4000" b="1">
                <a:latin typeface="楷体_GB2312" pitchFamily="49" charset="-122"/>
                <a:ea typeface="楷体_GB2312" pitchFamily="49" charset="-122"/>
              </a:rPr>
              <a:t>浮点型常量 如，5.0、－</a:t>
            </a:r>
            <a:r>
              <a:rPr lang="en-US" altLang="zh-CN" sz="4000" b="1">
                <a:latin typeface="楷体_GB2312" pitchFamily="49" charset="-122"/>
                <a:ea typeface="楷体_GB2312" pitchFamily="49" charset="-122"/>
              </a:rPr>
              <a:t>12.36</a:t>
            </a:r>
          </a:p>
          <a:p>
            <a:pPr marL="0" indent="0" algn="just">
              <a:lnSpc>
                <a:spcPct val="90000"/>
              </a:lnSpc>
              <a:spcBef>
                <a:spcPct val="15000"/>
              </a:spcBef>
              <a:buFont typeface="Monotype Sorts" charset="2"/>
              <a:buNone/>
            </a:pPr>
            <a:r>
              <a:rPr lang="zh-CN" altLang="en-US" sz="4000" b="1">
                <a:latin typeface="楷体_GB2312" pitchFamily="49" charset="-122"/>
                <a:ea typeface="楷体_GB2312" pitchFamily="49" charset="-122"/>
              </a:rPr>
              <a:t>字符型常量 如，</a:t>
            </a:r>
            <a:r>
              <a:rPr lang="en-US" altLang="zh-CN" sz="4000" b="1">
                <a:latin typeface="楷体_GB2312" pitchFamily="49" charset="-122"/>
                <a:ea typeface="楷体_GB2312" pitchFamily="49" charset="-122"/>
              </a:rPr>
              <a:t>'A'</a:t>
            </a:r>
            <a:r>
              <a:rPr lang="zh-CN" altLang="en-US" sz="4000" b="1">
                <a:latin typeface="楷体_GB2312" pitchFamily="49" charset="-122"/>
                <a:ea typeface="楷体_GB2312" pitchFamily="49" charset="-122"/>
              </a:rPr>
              <a:t>、’</a:t>
            </a:r>
            <a:r>
              <a:rPr lang="en-US" altLang="zh-CN" sz="4000" b="1">
                <a:latin typeface="楷体_GB2312" pitchFamily="49" charset="-122"/>
                <a:ea typeface="楷体_GB2312" pitchFamily="49" charset="-122"/>
              </a:rPr>
              <a:t>a’</a:t>
            </a:r>
            <a:r>
              <a:rPr lang="zh-CN" altLang="en-US" sz="4000" b="1">
                <a:latin typeface="楷体_GB2312" pitchFamily="49" charset="-122"/>
                <a:ea typeface="楷体_GB2312" pitchFamily="49" charset="-122"/>
              </a:rPr>
              <a:t> </a:t>
            </a:r>
          </a:p>
          <a:p>
            <a:pPr marL="0" indent="0" algn="just">
              <a:lnSpc>
                <a:spcPct val="90000"/>
              </a:lnSpc>
              <a:spcBef>
                <a:spcPct val="15000"/>
              </a:spcBef>
              <a:buFont typeface="Monotype Sorts" charset="2"/>
              <a:buNone/>
            </a:pPr>
            <a:r>
              <a:rPr lang="zh-CN" altLang="en-US" sz="4000" b="1">
                <a:latin typeface="楷体_GB2312" pitchFamily="49" charset="-122"/>
                <a:ea typeface="楷体_GB2312" pitchFamily="49" charset="-122"/>
              </a:rPr>
              <a:t>指针常量   如，</a:t>
            </a:r>
            <a:r>
              <a:rPr lang="en-US" altLang="zh-CN" sz="4000" b="1">
                <a:latin typeface="楷体_GB2312" pitchFamily="49" charset="-122"/>
                <a:ea typeface="楷体_GB2312" pitchFamily="49" charset="-122"/>
              </a:rPr>
              <a:t>NULL</a:t>
            </a:r>
          </a:p>
          <a:p>
            <a:pPr marL="0" indent="0" algn="just">
              <a:lnSpc>
                <a:spcPct val="90000"/>
              </a:lnSpc>
              <a:spcBef>
                <a:spcPct val="15000"/>
              </a:spcBef>
              <a:buFont typeface="Monotype Sorts" charset="2"/>
              <a:buNone/>
            </a:pPr>
            <a:r>
              <a:rPr lang="zh-CN" altLang="en-US" sz="4000" b="1">
                <a:latin typeface="楷体_GB2312" pitchFamily="49" charset="-122"/>
                <a:ea typeface="楷体_GB2312" pitchFamily="49" charset="-122"/>
              </a:rPr>
              <a:t>字符串常量 如，”</a:t>
            </a:r>
            <a:r>
              <a:rPr lang="en-US" altLang="zh-CN" sz="4000" b="1">
                <a:latin typeface="楷体_GB2312" pitchFamily="49" charset="-122"/>
                <a:ea typeface="楷体_GB2312" pitchFamily="49" charset="-122"/>
              </a:rPr>
              <a:t>ABC”</a:t>
            </a:r>
          </a:p>
        </p:txBody>
      </p:sp>
      <p:sp>
        <p:nvSpPr>
          <p:cNvPr id="6" name="灯片编号占位符 5"/>
          <p:cNvSpPr>
            <a:spLocks noGrp="1"/>
          </p:cNvSpPr>
          <p:nvPr>
            <p:ph type="sldNum" sz="quarter" idx="12"/>
          </p:nvPr>
        </p:nvSpPr>
        <p:spPr/>
        <p:txBody>
          <a:bodyPr/>
          <a:lstStyle/>
          <a:p>
            <a:pPr defTabSz="1128713">
              <a:defRPr/>
            </a:pPr>
            <a:fld id="{672439D7-0225-4D95-90FB-36AE9CBAE3D3}" type="slidenum">
              <a:rPr lang="zh-CN" altLang="en-US">
                <a:latin typeface="+mn-lt"/>
              </a:rPr>
              <a:pPr defTabSz="1128713">
                <a:defRPr/>
              </a:pPr>
              <a:t>70</a:t>
            </a:fld>
            <a:endParaRPr lang="en-US" altLang="zh-CN">
              <a:latin typeface="+mn-lt"/>
            </a:endParaRPr>
          </a:p>
        </p:txBody>
      </p:sp>
    </p:spTree>
    <p:extLst>
      <p:ext uri="{BB962C8B-B14F-4D97-AF65-F5344CB8AC3E}">
        <p14:creationId xmlns:p14="http://schemas.microsoft.com/office/powerpoint/2010/main" val="3045805044"/>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81000" y="228600"/>
            <a:ext cx="8458200" cy="1066800"/>
          </a:xfrm>
        </p:spPr>
        <p:txBody>
          <a:bodyPr/>
          <a:lstStyle/>
          <a:p>
            <a:r>
              <a:rPr lang="zh-CN" altLang="en-US" sz="4400" dirty="0">
                <a:solidFill>
                  <a:schemeClr val="tx1"/>
                </a:solidFill>
                <a:latin typeface="黑体" pitchFamily="2" charset="-122"/>
                <a:ea typeface="黑体" pitchFamily="2" charset="-122"/>
              </a:rPr>
              <a:t>变量</a:t>
            </a:r>
          </a:p>
        </p:txBody>
      </p:sp>
      <p:sp>
        <p:nvSpPr>
          <p:cNvPr id="84995" name="Rectangle 3"/>
          <p:cNvSpPr>
            <a:spLocks noGrp="1" noChangeArrowheads="1"/>
          </p:cNvSpPr>
          <p:nvPr>
            <p:ph idx="1"/>
          </p:nvPr>
        </p:nvSpPr>
        <p:spPr>
          <a:xfrm>
            <a:off x="381000" y="1295400"/>
            <a:ext cx="8305800" cy="5334000"/>
          </a:xfrm>
        </p:spPr>
        <p:txBody>
          <a:bodyPr/>
          <a:lstStyle/>
          <a:p>
            <a:pPr marL="0" indent="0" algn="just"/>
            <a:r>
              <a:rPr lang="zh-CN" altLang="en-US" sz="3200" b="1">
                <a:solidFill>
                  <a:srgbClr val="CC0000"/>
                </a:solidFill>
                <a:latin typeface="楷体_GB2312" pitchFamily="49" charset="-122"/>
                <a:ea typeface="楷体_GB2312" pitchFamily="49" charset="-122"/>
              </a:rPr>
              <a:t> 在程序运行过程中，其值可以改变的量称为变量。</a:t>
            </a:r>
          </a:p>
          <a:p>
            <a:pPr marL="0" indent="0" algn="just"/>
            <a:r>
              <a:rPr lang="zh-CN" altLang="en-US" sz="3200" b="1">
                <a:latin typeface="楷体_GB2312" pitchFamily="49" charset="-122"/>
                <a:ea typeface="楷体_GB2312" pitchFamily="49" charset="-122"/>
              </a:rPr>
              <a:t> 变量在内存中占据一定的存储单元，存放变量的值。</a:t>
            </a:r>
          </a:p>
          <a:p>
            <a:pPr marL="0" indent="0" algn="just"/>
            <a:r>
              <a:rPr lang="zh-CN" altLang="en-US" sz="3200" b="1">
                <a:latin typeface="楷体_GB2312" pitchFamily="49" charset="-122"/>
                <a:ea typeface="楷体_GB2312" pitchFamily="49" charset="-122"/>
              </a:rPr>
              <a:t> 与变量有关的概念有：</a:t>
            </a:r>
            <a:endParaRPr lang="en-US" altLang="zh-CN" sz="32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变量名、</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变量数据类型、</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变量在内存中的地址、</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变量在程序中的有效范围、</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变量在程序执行期间的存在时间等。</a:t>
            </a:r>
          </a:p>
        </p:txBody>
      </p:sp>
      <p:sp>
        <p:nvSpPr>
          <p:cNvPr id="6" name="灯片编号占位符 5"/>
          <p:cNvSpPr>
            <a:spLocks noGrp="1"/>
          </p:cNvSpPr>
          <p:nvPr>
            <p:ph type="sldNum" sz="quarter" idx="12"/>
          </p:nvPr>
        </p:nvSpPr>
        <p:spPr/>
        <p:txBody>
          <a:bodyPr/>
          <a:lstStyle/>
          <a:p>
            <a:pPr defTabSz="1128713">
              <a:defRPr/>
            </a:pPr>
            <a:fld id="{0D3175BF-D30D-4AF4-A706-054A3C8BD312}" type="slidenum">
              <a:rPr lang="zh-CN" altLang="en-US">
                <a:latin typeface="+mn-lt"/>
              </a:rPr>
              <a:pPr defTabSz="1128713">
                <a:defRPr/>
              </a:pPr>
              <a:t>71</a:t>
            </a:fld>
            <a:endParaRPr lang="en-US" altLang="zh-CN">
              <a:latin typeface="+mn-lt"/>
            </a:endParaRPr>
          </a:p>
        </p:txBody>
      </p:sp>
    </p:spTree>
    <p:extLst>
      <p:ext uri="{BB962C8B-B14F-4D97-AF65-F5344CB8AC3E}">
        <p14:creationId xmlns:p14="http://schemas.microsoft.com/office/powerpoint/2010/main" val="195768894"/>
      </p:ext>
    </p:ext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3" name="Rectangle 3"/>
          <p:cNvSpPr>
            <a:spLocks noGrp="1" noChangeArrowheads="1"/>
          </p:cNvSpPr>
          <p:nvPr>
            <p:ph idx="1"/>
          </p:nvPr>
        </p:nvSpPr>
        <p:spPr>
          <a:xfrm>
            <a:off x="304800" y="476250"/>
            <a:ext cx="8534400" cy="6153150"/>
          </a:xfrm>
        </p:spPr>
        <p:txBody>
          <a:bodyPr>
            <a:normAutofit/>
          </a:bodyPr>
          <a:lstStyle/>
          <a:p>
            <a:pPr marL="0" indent="0" algn="just" fontAlgn="auto">
              <a:spcAft>
                <a:spcPts val="0"/>
              </a:spcAft>
              <a:buClr>
                <a:schemeClr val="accent3"/>
              </a:buClr>
              <a:buFont typeface="Monotype Sorts" pitchFamily="2" charset="2"/>
              <a:buNone/>
              <a:defRPr/>
            </a:pPr>
            <a:r>
              <a:rPr lang="zh-CN" altLang="en-US" sz="4000" b="1" dirty="0">
                <a:latin typeface="楷体_GB2312" pitchFamily="49" charset="-122"/>
                <a:ea typeface="楷体_GB2312" pitchFamily="49" charset="-122"/>
              </a:rPr>
              <a:t>变量定义的一般形式： </a:t>
            </a:r>
          </a:p>
          <a:p>
            <a:pPr marL="0" indent="0" algn="just" fontAlgn="auto">
              <a:spcAft>
                <a:spcPts val="0"/>
              </a:spcAft>
              <a:buClr>
                <a:schemeClr val="accent3"/>
              </a:buClr>
              <a:buFont typeface="Monotype Sorts" pitchFamily="2" charset="2"/>
              <a:buNone/>
              <a:defRPr/>
            </a:pPr>
            <a:r>
              <a:rPr lang="zh-CN" altLang="en-US" sz="4000" b="1" dirty="0">
                <a:latin typeface="楷体_GB2312" pitchFamily="49" charset="-122"/>
                <a:ea typeface="楷体_GB2312" pitchFamily="49" charset="-122"/>
              </a:rPr>
              <a:t>     类型  变量名表 ;</a:t>
            </a:r>
          </a:p>
          <a:p>
            <a:pPr marL="0" indent="0" algn="just" fontAlgn="auto">
              <a:spcAft>
                <a:spcPts val="0"/>
              </a:spcAft>
              <a:buClr>
                <a:schemeClr val="accent3"/>
              </a:buClr>
              <a:buFont typeface="Monotype Sorts" pitchFamily="2" charset="2"/>
              <a:buNone/>
              <a:defRPr/>
            </a:pPr>
            <a:r>
              <a:rPr lang="zh-CN" altLang="en-US" sz="4000" b="1" dirty="0">
                <a:latin typeface="楷体_GB2312" pitchFamily="49" charset="-122"/>
                <a:ea typeface="楷体_GB2312" pitchFamily="49" charset="-122"/>
              </a:rPr>
              <a:t>例如</a:t>
            </a:r>
          </a:p>
          <a:p>
            <a:pPr marL="0" indent="0" algn="just" fontAlgn="auto">
              <a:spcAft>
                <a:spcPts val="0"/>
              </a:spcAft>
              <a:buClr>
                <a:schemeClr val="accent3"/>
              </a:buClr>
              <a:buFont typeface="Monotype Sorts" pitchFamily="2" charset="2"/>
              <a:buNone/>
              <a:defRPr/>
            </a:pPr>
            <a:r>
              <a:rPr lang="en-US" altLang="zh-CN" sz="4000" b="1" dirty="0" err="1">
                <a:latin typeface="楷体_GB2312" pitchFamily="49" charset="-122"/>
                <a:ea typeface="楷体_GB2312" pitchFamily="49" charset="-122"/>
              </a:rPr>
              <a:t>int</a:t>
            </a:r>
            <a:r>
              <a:rPr lang="en-US" altLang="zh-CN" sz="4000" b="1" dirty="0">
                <a:latin typeface="楷体_GB2312" pitchFamily="49" charset="-122"/>
                <a:ea typeface="楷体_GB2312" pitchFamily="49" charset="-122"/>
              </a:rPr>
              <a:t> </a:t>
            </a:r>
            <a:r>
              <a:rPr lang="en-US" altLang="zh-CN" sz="4000" b="1" dirty="0" err="1">
                <a:latin typeface="楷体_GB2312" pitchFamily="49" charset="-122"/>
                <a:ea typeface="楷体_GB2312" pitchFamily="49" charset="-122"/>
              </a:rPr>
              <a:t>i,j,sum</a:t>
            </a:r>
            <a:r>
              <a:rPr lang="zh-CN" altLang="en-US" sz="4000" b="1" dirty="0">
                <a:latin typeface="楷体_GB2312" pitchFamily="49" charset="-122"/>
                <a:ea typeface="楷体_GB2312" pitchFamily="49" charset="-122"/>
              </a:rPr>
              <a:t>；</a:t>
            </a:r>
          </a:p>
          <a:p>
            <a:pPr marL="0" indent="0" algn="just" fontAlgn="auto">
              <a:spcAft>
                <a:spcPts val="0"/>
              </a:spcAft>
              <a:buClr>
                <a:schemeClr val="accent3"/>
              </a:buClr>
              <a:buFont typeface="Monotype Sorts" pitchFamily="2" charset="2"/>
              <a:buNone/>
              <a:defRPr/>
            </a:pPr>
            <a:r>
              <a:rPr lang="en-US" altLang="zh-CN" sz="4000" b="1" dirty="0" err="1">
                <a:latin typeface="楷体_GB2312" pitchFamily="49" charset="-122"/>
                <a:ea typeface="楷体_GB2312" pitchFamily="49" charset="-122"/>
              </a:rPr>
              <a:t>int</a:t>
            </a:r>
            <a:r>
              <a:rPr lang="en-US" altLang="zh-CN" sz="4000" b="1" dirty="0">
                <a:latin typeface="楷体_GB2312" pitchFamily="49" charset="-122"/>
                <a:ea typeface="楷体_GB2312" pitchFamily="49" charset="-122"/>
              </a:rPr>
              <a:t> index=100,big_int=10000;</a:t>
            </a:r>
          </a:p>
          <a:p>
            <a:pPr marL="0" indent="0" algn="just" fontAlgn="auto">
              <a:spcAft>
                <a:spcPts val="0"/>
              </a:spcAft>
              <a:buClr>
                <a:schemeClr val="accent3"/>
              </a:buClr>
              <a:buFont typeface="Monotype Sorts" pitchFamily="2" charset="2"/>
              <a:buNone/>
              <a:defRPr/>
            </a:pPr>
            <a:r>
              <a:rPr lang="en-US" altLang="zh-CN" sz="4000" b="1" dirty="0">
                <a:latin typeface="楷体_GB2312" pitchFamily="49" charset="-122"/>
                <a:ea typeface="楷体_GB2312" pitchFamily="49" charset="-122"/>
              </a:rPr>
              <a:t>float x;</a:t>
            </a:r>
          </a:p>
          <a:p>
            <a:pPr marL="0" indent="0" algn="just" fontAlgn="auto">
              <a:spcAft>
                <a:spcPts val="0"/>
              </a:spcAft>
              <a:buClr>
                <a:schemeClr val="accent3"/>
              </a:buClr>
              <a:buFont typeface="Monotype Sorts" pitchFamily="2" charset="2"/>
              <a:buNone/>
              <a:defRPr/>
            </a:pPr>
            <a:r>
              <a:rPr lang="en-US" altLang="zh-CN" sz="4000" b="1" dirty="0">
                <a:latin typeface="楷体_GB2312" pitchFamily="49" charset="-122"/>
                <a:ea typeface="楷体_GB2312" pitchFamily="49" charset="-122"/>
              </a:rPr>
              <a:t>double </a:t>
            </a:r>
            <a:r>
              <a:rPr lang="en-US" altLang="zh-CN" sz="4000" b="1" dirty="0" err="1">
                <a:latin typeface="楷体_GB2312" pitchFamily="49" charset="-122"/>
                <a:ea typeface="楷体_GB2312" pitchFamily="49" charset="-122"/>
              </a:rPr>
              <a:t>y,z</a:t>
            </a:r>
            <a:r>
              <a:rPr lang="en-US" altLang="zh-CN" sz="40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defTabSz="1128713">
              <a:defRPr/>
            </a:pPr>
            <a:fld id="{E2E8DD15-54F8-47DA-B066-39DF93CA8147}" type="slidenum">
              <a:rPr lang="zh-CN" altLang="en-US">
                <a:latin typeface="+mn-lt"/>
              </a:rPr>
              <a:pPr defTabSz="1128713">
                <a:defRPr/>
              </a:pPr>
              <a:t>72</a:t>
            </a:fld>
            <a:endParaRPr lang="en-US" altLang="zh-CN">
              <a:latin typeface="+mn-lt"/>
            </a:endParaRPr>
          </a:p>
        </p:txBody>
      </p:sp>
      <p:sp>
        <p:nvSpPr>
          <p:cNvPr id="86020" name="AutoShape 3">
            <a:hlinkClick r:id="rId2" action="ppaction://hlinksldjump" highlightClick="1"/>
          </p:cNvPr>
          <p:cNvSpPr>
            <a:spLocks noChangeArrowheads="1"/>
          </p:cNvSpPr>
          <p:nvPr/>
        </p:nvSpPr>
        <p:spPr bwMode="auto">
          <a:xfrm>
            <a:off x="8388350" y="6092825"/>
            <a:ext cx="576263" cy="576263"/>
          </a:xfrm>
          <a:prstGeom prst="actionButtonInformation">
            <a:avLst/>
          </a:prstGeom>
          <a:solidFill>
            <a:schemeClr val="accent1"/>
          </a:solidFill>
          <a:ln w="9525">
            <a:noFill/>
            <a:miter lim="800000"/>
            <a:headEnd/>
            <a:tailEnd/>
          </a:ln>
        </p:spPr>
        <p:txBody>
          <a:bodyPr wrap="none" anchor="ctr"/>
          <a:lstStyle/>
          <a:p>
            <a:endParaRPr lang="zh-CN" altLang="en-US"/>
          </a:p>
        </p:txBody>
      </p:sp>
    </p:spTree>
    <p:extLst>
      <p:ext uri="{BB962C8B-B14F-4D97-AF65-F5344CB8AC3E}">
        <p14:creationId xmlns:p14="http://schemas.microsoft.com/office/powerpoint/2010/main" val="3470823794"/>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0658" name="Rectangle 3"/>
          <p:cNvSpPr>
            <a:spLocks noGrp="1" noChangeArrowheads="1"/>
          </p:cNvSpPr>
          <p:nvPr>
            <p:ph type="title"/>
          </p:nvPr>
        </p:nvSpPr>
        <p:spPr>
          <a:xfrm>
            <a:off x="539750" y="404813"/>
            <a:ext cx="8375650" cy="1295400"/>
          </a:xfrm>
        </p:spPr>
        <p:txBody>
          <a:bodyPr/>
          <a:lstStyle/>
          <a:p>
            <a:r>
              <a:rPr lang="zh-CN" altLang="en-US" sz="3200">
                <a:latin typeface="宋体" charset="-122"/>
                <a:ea typeface="宋体" charset="-122"/>
              </a:rPr>
              <a:t>【例</a:t>
            </a:r>
            <a:r>
              <a:rPr lang="en-US" altLang="zh-CN" sz="3200">
                <a:latin typeface="宋体" charset="-122"/>
                <a:ea typeface="宋体" charset="-122"/>
              </a:rPr>
              <a:t>1.3】</a:t>
            </a:r>
            <a:r>
              <a:rPr lang="zh-CN" altLang="en-US" sz="3200">
                <a:latin typeface="宋体" charset="-122"/>
                <a:ea typeface="宋体" charset="-122"/>
              </a:rPr>
              <a:t>已知华氏温度0、20、</a:t>
            </a:r>
            <a:r>
              <a:rPr lang="zh-CN" altLang="en-US" sz="3200">
                <a:latin typeface="Courier New" pitchFamily="49" charset="0"/>
                <a:ea typeface="宋体" charset="-122"/>
              </a:rPr>
              <a:t>…</a:t>
            </a:r>
            <a:r>
              <a:rPr lang="zh-CN" altLang="en-US" sz="3200">
                <a:latin typeface="宋体" charset="-122"/>
                <a:ea typeface="宋体" charset="-122"/>
              </a:rPr>
              <a:t>、200，求对应的摄氏温度。</a:t>
            </a:r>
          </a:p>
        </p:txBody>
      </p:sp>
      <p:sp>
        <p:nvSpPr>
          <p:cNvPr id="64515" name="Rectangle 2"/>
          <p:cNvSpPr>
            <a:spLocks noGrp="1" noChangeArrowheads="1"/>
          </p:cNvSpPr>
          <p:nvPr>
            <p:ph idx="1"/>
          </p:nvPr>
        </p:nvSpPr>
        <p:spPr>
          <a:xfrm>
            <a:off x="611188" y="1557338"/>
            <a:ext cx="8064500" cy="5111750"/>
          </a:xfrm>
        </p:spPr>
        <p:txBody>
          <a:bodyPr>
            <a:normAutofit lnSpcReduction="10000"/>
          </a:bodyPr>
          <a:lstStyle/>
          <a:p>
            <a:pPr marL="0" indent="0" algn="just" fontAlgn="auto">
              <a:spcBef>
                <a:spcPct val="0"/>
              </a:spcBef>
              <a:spcAft>
                <a:spcPts val="0"/>
              </a:spcAft>
              <a:buClr>
                <a:schemeClr val="accent3"/>
              </a:buClr>
              <a:buFont typeface="Monotype Sorts" charset="2"/>
              <a:buNone/>
              <a:defRPr/>
            </a:pPr>
            <a:r>
              <a:rPr lang="zh-CN" altLang="en-US" sz="2800" b="1" dirty="0">
                <a:latin typeface="黑体" pitchFamily="2" charset="-122"/>
                <a:ea typeface="黑体" pitchFamily="2" charset="-122"/>
              </a:rPr>
              <a:t>#</a:t>
            </a:r>
            <a:r>
              <a:rPr lang="en-US" altLang="zh-CN" sz="2800" b="1" dirty="0">
                <a:latin typeface="黑体" pitchFamily="2" charset="-122"/>
                <a:ea typeface="黑体" pitchFamily="2" charset="-122"/>
              </a:rPr>
              <a:t>include  &lt;</a:t>
            </a:r>
            <a:r>
              <a:rPr lang="en-US" altLang="zh-CN" sz="2800" b="1" dirty="0" err="1">
                <a:latin typeface="黑体" pitchFamily="2" charset="-122"/>
                <a:ea typeface="黑体" pitchFamily="2" charset="-122"/>
              </a:rPr>
              <a:t>stdio.h</a:t>
            </a:r>
            <a:r>
              <a:rPr lang="en-US" altLang="zh-CN" sz="2800" b="1" dirty="0">
                <a:latin typeface="黑体" pitchFamily="2" charset="-122"/>
                <a:ea typeface="黑体" pitchFamily="2" charset="-122"/>
              </a:rPr>
              <a:t>&gt;</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void main()</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double f, c;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变量定义 */</a:t>
            </a:r>
          </a:p>
          <a:p>
            <a:pPr marL="0" indent="0" algn="just" fontAlgn="auto">
              <a:spcBef>
                <a:spcPct val="0"/>
              </a:spcBef>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latin typeface="黑体" pitchFamily="2" charset="-122"/>
                <a:ea typeface="黑体" pitchFamily="2" charset="-122"/>
              </a:rPr>
              <a:t>int</a:t>
            </a:r>
            <a:r>
              <a:rPr lang="en-US" altLang="zh-CN" sz="2800" b="1" dirty="0">
                <a:latin typeface="黑体" pitchFamily="2" charset="-122"/>
                <a:ea typeface="黑体" pitchFamily="2" charset="-122"/>
              </a:rPr>
              <a:t> lower, upper, step;</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lower = 0;   upper = 200;   </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step = 20;   f = lower;</a:t>
            </a:r>
          </a:p>
          <a:p>
            <a:pPr marL="0" indent="0" algn="just" fontAlgn="auto">
              <a:spcBef>
                <a:spcPct val="0"/>
              </a:spcBef>
              <a:spcAft>
                <a:spcPts val="0"/>
              </a:spcAft>
              <a:buClr>
                <a:schemeClr val="accent3"/>
              </a:buClr>
              <a:buFont typeface="Monotype Sorts" charset="2"/>
              <a:buNone/>
              <a:defRPr/>
            </a:pPr>
            <a:r>
              <a:rPr lang="en-US" altLang="zh-CN" sz="2800" b="1" dirty="0">
                <a:solidFill>
                  <a:srgbClr val="C00000"/>
                </a:solidFill>
                <a:latin typeface="黑体" pitchFamily="2" charset="-122"/>
                <a:ea typeface="黑体" pitchFamily="2" charset="-122"/>
              </a:rPr>
              <a:t>   while </a:t>
            </a:r>
            <a:r>
              <a:rPr lang="en-US" altLang="zh-CN" sz="2800" b="1" dirty="0">
                <a:latin typeface="黑体" pitchFamily="2" charset="-122"/>
                <a:ea typeface="黑体" pitchFamily="2" charset="-122"/>
              </a:rPr>
              <a:t>(</a:t>
            </a:r>
            <a:r>
              <a:rPr lang="en-US" altLang="zh-CN" sz="2800" b="1" dirty="0">
                <a:solidFill>
                  <a:srgbClr val="C00000"/>
                </a:solidFill>
                <a:latin typeface="黑体" pitchFamily="2" charset="-122"/>
                <a:ea typeface="黑体" pitchFamily="2" charset="-122"/>
              </a:rPr>
              <a:t>f &lt;= upper</a:t>
            </a:r>
            <a:r>
              <a:rPr lang="en-US" altLang="zh-CN" sz="2800" b="1" dirty="0">
                <a:latin typeface="黑体" pitchFamily="2" charset="-122"/>
                <a:ea typeface="黑体" pitchFamily="2" charset="-122"/>
              </a:rPr>
              <a:t>) </a:t>
            </a:r>
            <a:r>
              <a:rPr lang="en-US" altLang="zh-CN" sz="2800" b="1" dirty="0">
                <a:solidFill>
                  <a:srgbClr val="C00000"/>
                </a:solidFill>
                <a:latin typeface="黑体" pitchFamily="2" charset="-122"/>
                <a:ea typeface="黑体" pitchFamily="2" charset="-122"/>
              </a:rPr>
              <a:t>{</a:t>
            </a:r>
            <a:r>
              <a:rPr lang="en-US" altLang="zh-CN" sz="2800" b="1" dirty="0">
                <a:latin typeface="黑体" pitchFamily="2" charset="-122"/>
                <a:ea typeface="黑体" pitchFamily="2" charset="-122"/>
              </a:rPr>
              <a:t>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循环计算 */</a:t>
            </a:r>
          </a:p>
          <a:p>
            <a:pPr marL="0" indent="0" algn="just" fontAlgn="auto">
              <a:spcBef>
                <a:spcPct val="0"/>
              </a:spcBef>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a:latin typeface="黑体" pitchFamily="2" charset="-122"/>
                <a:ea typeface="黑体" pitchFamily="2" charset="-122"/>
              </a:rPr>
              <a:t>c = 5.0/9.0 * (f - 32.0);</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("\t%7.0f   %7.1f\n", f, c);</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a:solidFill>
                  <a:srgbClr val="C00000"/>
                </a:solidFill>
                <a:latin typeface="黑体" pitchFamily="2" charset="-122"/>
                <a:ea typeface="黑体" pitchFamily="2" charset="-122"/>
              </a:rPr>
              <a:t>f = f + step</a:t>
            </a:r>
            <a:r>
              <a:rPr lang="en-US" altLang="zh-CN" sz="2800" b="1" dirty="0">
                <a:latin typeface="黑体" pitchFamily="2" charset="-122"/>
                <a:ea typeface="黑体" pitchFamily="2" charset="-122"/>
              </a:rPr>
              <a:t>;</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a:solidFill>
                  <a:srgbClr val="C00000"/>
                </a:solidFill>
                <a:latin typeface="黑体" pitchFamily="2" charset="-122"/>
                <a:ea typeface="黑体" pitchFamily="2" charset="-122"/>
              </a:rPr>
              <a:t>}</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A9D666A9-25E2-49CD-8F72-66E432A90410}" type="slidenum">
              <a:rPr lang="zh-CN" altLang="en-US">
                <a:latin typeface="+mn-lt"/>
              </a:rPr>
              <a:pPr defTabSz="1128713">
                <a:defRPr/>
              </a:pPr>
              <a:t>73</a:t>
            </a:fld>
            <a:endParaRPr lang="en-US" altLang="zh-CN">
              <a:latin typeface="+mn-lt"/>
            </a:endParaRP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323850" y="188913"/>
            <a:ext cx="8640763" cy="720725"/>
          </a:xfrm>
        </p:spPr>
        <p:txBody>
          <a:bodyPr/>
          <a:lstStyle/>
          <a:p>
            <a:r>
              <a:rPr lang="zh-CN" altLang="en-US" sz="3200">
                <a:latin typeface="宋体" charset="-122"/>
                <a:ea typeface="宋体" charset="-122"/>
              </a:rPr>
              <a:t>【例</a:t>
            </a:r>
            <a:r>
              <a:rPr lang="en-US" altLang="zh-CN" sz="3200">
                <a:latin typeface="宋体" charset="-122"/>
                <a:ea typeface="宋体" charset="-122"/>
              </a:rPr>
              <a:t>1.4】</a:t>
            </a:r>
            <a:r>
              <a:rPr lang="zh-CN" altLang="en-US" sz="3200">
                <a:latin typeface="宋体" charset="-122"/>
                <a:ea typeface="宋体" charset="-122"/>
              </a:rPr>
              <a:t>输入两个实数, 输出它们中的小的数</a:t>
            </a:r>
            <a:endParaRPr lang="en-US" altLang="zh-CN" sz="3200">
              <a:latin typeface="宋体" charset="-122"/>
              <a:ea typeface="宋体" charset="-122"/>
            </a:endParaRPr>
          </a:p>
        </p:txBody>
      </p:sp>
      <p:sp>
        <p:nvSpPr>
          <p:cNvPr id="71683" name="Rectangle 2"/>
          <p:cNvSpPr>
            <a:spLocks noGrp="1" noChangeArrowheads="1"/>
          </p:cNvSpPr>
          <p:nvPr>
            <p:ph idx="1"/>
          </p:nvPr>
        </p:nvSpPr>
        <p:spPr>
          <a:xfrm>
            <a:off x="468313" y="836613"/>
            <a:ext cx="8382000" cy="5792787"/>
          </a:xfrm>
        </p:spPr>
        <p:txBody>
          <a:bodyPr/>
          <a:lstStyle/>
          <a:p>
            <a:pPr algn="just">
              <a:lnSpc>
                <a:spcPct val="90000"/>
              </a:lnSpc>
              <a:spcBef>
                <a:spcPct val="0"/>
              </a:spcBef>
              <a:buFont typeface="Monotype Sorts" charset="2"/>
              <a:buNone/>
            </a:pPr>
            <a:r>
              <a:rPr lang="zh-CN" altLang="en-US" sz="2800" b="1" dirty="0">
                <a:latin typeface="黑体" pitchFamily="2" charset="-122"/>
                <a:ea typeface="黑体" pitchFamily="2" charset="-122"/>
              </a:rPr>
              <a:t>#</a:t>
            </a:r>
            <a:r>
              <a:rPr lang="en-US" altLang="zh-CN" sz="2800" b="1" dirty="0">
                <a:latin typeface="黑体" pitchFamily="2" charset="-122"/>
                <a:ea typeface="黑体" pitchFamily="2" charset="-122"/>
              </a:rPr>
              <a:t>include  &lt;</a:t>
            </a:r>
            <a:r>
              <a:rPr lang="en-US" altLang="zh-CN" sz="2800" b="1" dirty="0" err="1">
                <a:latin typeface="黑体" pitchFamily="2" charset="-122"/>
                <a:ea typeface="黑体" pitchFamily="2" charset="-122"/>
              </a:rPr>
              <a:t>stdio.h</a:t>
            </a:r>
            <a:r>
              <a:rPr lang="en-US" altLang="zh-CN" sz="2800" b="1" dirty="0">
                <a:latin typeface="黑体" pitchFamily="2" charset="-122"/>
                <a:ea typeface="黑体" pitchFamily="2" charset="-122"/>
              </a:rPr>
              <a:t>&gt;</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float min(float a, float b)</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float temp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函数使用的变量的定义 */</a:t>
            </a:r>
          </a:p>
          <a:p>
            <a:pPr algn="just">
              <a:lnSpc>
                <a:spcPct val="90000"/>
              </a:lnSpc>
              <a:spcBef>
                <a:spcPct val="0"/>
              </a:spcBef>
              <a:buFont typeface="Monotype Sorts" charset="2"/>
              <a:buNone/>
            </a:pPr>
            <a:r>
              <a:rPr lang="zh-CN" altLang="en-US" sz="2800" b="1" dirty="0">
                <a:latin typeface="黑体" pitchFamily="2" charset="-122"/>
                <a:ea typeface="黑体" pitchFamily="2" charset="-122"/>
              </a:rPr>
              <a:t>   </a:t>
            </a:r>
            <a:r>
              <a:rPr lang="en-US" altLang="zh-CN" sz="2800" b="1" dirty="0">
                <a:latin typeface="黑体" pitchFamily="2" charset="-122"/>
                <a:ea typeface="黑体" pitchFamily="2" charset="-122"/>
              </a:rPr>
              <a:t>if (a &lt; b) temp = a;</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else  temp = b;</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return temp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返回 </a:t>
            </a:r>
            <a:r>
              <a:rPr lang="en-US" altLang="zh-CN" sz="2800" b="1" dirty="0">
                <a:solidFill>
                  <a:srgbClr val="0000FF"/>
                </a:solidFill>
                <a:latin typeface="黑体" pitchFamily="2" charset="-122"/>
                <a:ea typeface="黑体" pitchFamily="2" charset="-122"/>
              </a:rPr>
              <a:t>temp </a:t>
            </a:r>
            <a:r>
              <a:rPr lang="zh-CN" altLang="en-US" sz="2800" b="1" dirty="0">
                <a:solidFill>
                  <a:srgbClr val="0000FF"/>
                </a:solidFill>
                <a:latin typeface="黑体" pitchFamily="2" charset="-122"/>
                <a:ea typeface="黑体" pitchFamily="2" charset="-122"/>
              </a:rPr>
              <a:t>到调用 </a:t>
            </a:r>
            <a:r>
              <a:rPr lang="en-US" altLang="zh-CN" sz="2800" b="1" dirty="0">
                <a:solidFill>
                  <a:srgbClr val="0000FF"/>
                </a:solidFill>
                <a:latin typeface="黑体" pitchFamily="2" charset="-122"/>
                <a:ea typeface="黑体" pitchFamily="2" charset="-122"/>
              </a:rPr>
              <a:t>min() </a:t>
            </a:r>
            <a:r>
              <a:rPr lang="zh-CN" altLang="en-US" sz="2800" b="1" dirty="0">
                <a:solidFill>
                  <a:srgbClr val="0000FF"/>
                </a:solidFill>
                <a:latin typeface="黑体" pitchFamily="2" charset="-122"/>
                <a:ea typeface="黑体" pitchFamily="2" charset="-122"/>
              </a:rPr>
              <a:t>函数处 */</a:t>
            </a:r>
          </a:p>
          <a:p>
            <a:pPr algn="just">
              <a:lnSpc>
                <a:spcPct val="90000"/>
              </a:lnSpc>
              <a:spcBef>
                <a:spcPct val="0"/>
              </a:spcBef>
              <a:buFont typeface="Monotype Sorts" charset="2"/>
              <a:buNone/>
            </a:pPr>
            <a:r>
              <a:rPr lang="zh-CN" altLang="en-US" sz="2800" b="1" dirty="0">
                <a:latin typeface="黑体" pitchFamily="2" charset="-122"/>
                <a:ea typeface="黑体" pitchFamily="2" charset="-122"/>
              </a:rPr>
              <a:t>}</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void main()</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float x, y, c;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变量定义 */</a:t>
            </a:r>
            <a:endParaRPr lang="zh-CN" altLang="en-US" sz="2800" b="1" dirty="0">
              <a:latin typeface="黑体" pitchFamily="2" charset="-122"/>
              <a:ea typeface="黑体" pitchFamily="2" charset="-122"/>
            </a:endParaRPr>
          </a:p>
          <a:p>
            <a:pPr algn="just">
              <a:lnSpc>
                <a:spcPct val="90000"/>
              </a:lnSpc>
              <a:spcBef>
                <a:spcPct val="0"/>
              </a:spcBef>
              <a:buFont typeface="Monotype Sorts" charset="2"/>
              <a:buNone/>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a:t>
            </a:r>
            <a:r>
              <a:rPr lang="zh-CN" altLang="en-US" sz="2800" b="1" dirty="0">
                <a:latin typeface="黑体" pitchFamily="2" charset="-122"/>
                <a:ea typeface="黑体" pitchFamily="2" charset="-122"/>
              </a:rPr>
              <a:t>输入</a:t>
            </a:r>
            <a:r>
              <a:rPr lang="en-US" altLang="zh-CN" sz="2800" b="1" dirty="0">
                <a:latin typeface="黑体" pitchFamily="2" charset="-122"/>
                <a:ea typeface="黑体" pitchFamily="2" charset="-122"/>
              </a:rPr>
              <a:t>x</a:t>
            </a:r>
            <a:r>
              <a:rPr lang="zh-CN" altLang="en-US" sz="2800" b="1" dirty="0">
                <a:latin typeface="黑体" pitchFamily="2" charset="-122"/>
                <a:ea typeface="黑体" pitchFamily="2" charset="-122"/>
              </a:rPr>
              <a:t>和</a:t>
            </a:r>
            <a:r>
              <a:rPr lang="en-US" altLang="zh-CN" sz="2800" b="1" dirty="0">
                <a:latin typeface="黑体" pitchFamily="2" charset="-122"/>
                <a:ea typeface="黑体" pitchFamily="2" charset="-122"/>
              </a:rPr>
              <a:t>y.\n"); </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scanf</a:t>
            </a:r>
            <a:r>
              <a:rPr lang="en-US" altLang="zh-CN" sz="2800" b="1" dirty="0">
                <a:latin typeface="黑体" pitchFamily="2" charset="-122"/>
                <a:ea typeface="黑体" pitchFamily="2" charset="-122"/>
              </a:rPr>
              <a:t>("%</a:t>
            </a:r>
            <a:r>
              <a:rPr lang="en-US" altLang="zh-CN" sz="2800" b="1" dirty="0" err="1">
                <a:latin typeface="黑体" pitchFamily="2" charset="-122"/>
                <a:ea typeface="黑体" pitchFamily="2" charset="-122"/>
              </a:rPr>
              <a:t>f%f</a:t>
            </a:r>
            <a:r>
              <a:rPr lang="en-US" altLang="zh-CN" sz="2800" b="1" dirty="0">
                <a:latin typeface="黑体" pitchFamily="2" charset="-122"/>
                <a:ea typeface="黑体" pitchFamily="2" charset="-122"/>
              </a:rPr>
              <a:t>", &amp;x, &amp;y );</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c = min(x, y);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调用函数 </a:t>
            </a:r>
            <a:r>
              <a:rPr lang="en-US" altLang="zh-CN" sz="2800" b="1" dirty="0">
                <a:solidFill>
                  <a:srgbClr val="0000FF"/>
                </a:solidFill>
                <a:latin typeface="黑体" pitchFamily="2" charset="-122"/>
                <a:ea typeface="黑体" pitchFamily="2" charset="-122"/>
              </a:rPr>
              <a:t>min() */</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("MIN(%.2f, %.2f)= %.2f\</a:t>
            </a:r>
            <a:r>
              <a:rPr lang="en-US" altLang="zh-CN" sz="2800" b="1" dirty="0" err="1">
                <a:latin typeface="黑体" pitchFamily="2" charset="-122"/>
                <a:ea typeface="黑体" pitchFamily="2" charset="-122"/>
              </a:rPr>
              <a:t>n",x,y,c</a:t>
            </a:r>
            <a:r>
              <a:rPr lang="en-US" altLang="zh-CN" sz="2800" b="1" dirty="0">
                <a:latin typeface="黑体" pitchFamily="2" charset="-122"/>
                <a:ea typeface="黑体" pitchFamily="2" charset="-122"/>
              </a:rPr>
              <a:t>);</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7091FCE1-C22E-4191-915A-992C4A31D716}" type="slidenum">
              <a:rPr lang="zh-CN" altLang="en-US">
                <a:latin typeface="+mn-lt"/>
              </a:rPr>
              <a:pPr defTabSz="1128713">
                <a:defRPr/>
              </a:pPr>
              <a:t>74</a:t>
            </a:fld>
            <a:endParaRPr lang="en-US" altLang="zh-CN">
              <a:latin typeface="+mn-lt"/>
            </a:endParaRP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2706" name="Rectangle 3"/>
          <p:cNvSpPr>
            <a:spLocks noGrp="1" noChangeArrowheads="1"/>
          </p:cNvSpPr>
          <p:nvPr>
            <p:ph type="title"/>
          </p:nvPr>
        </p:nvSpPr>
        <p:spPr>
          <a:xfrm>
            <a:off x="395288" y="404813"/>
            <a:ext cx="7727950" cy="792162"/>
          </a:xfrm>
        </p:spPr>
        <p:txBody>
          <a:bodyPr/>
          <a:lstStyle/>
          <a:p>
            <a:r>
              <a:rPr lang="zh-CN" altLang="en-US" sz="4400">
                <a:solidFill>
                  <a:schemeClr val="tx1"/>
                </a:solidFill>
                <a:latin typeface="黑体" pitchFamily="2" charset="-122"/>
                <a:ea typeface="黑体" pitchFamily="2" charset="-122"/>
              </a:rPr>
              <a:t>函数定义</a:t>
            </a:r>
          </a:p>
        </p:txBody>
      </p:sp>
      <p:sp>
        <p:nvSpPr>
          <p:cNvPr id="226306" name="Rectangle 2"/>
          <p:cNvSpPr>
            <a:spLocks noGrp="1" noChangeArrowheads="1"/>
          </p:cNvSpPr>
          <p:nvPr>
            <p:ph idx="1"/>
          </p:nvPr>
        </p:nvSpPr>
        <p:spPr>
          <a:xfrm>
            <a:off x="395288" y="1412875"/>
            <a:ext cx="8382000" cy="4968875"/>
          </a:xfrm>
        </p:spPr>
        <p:txBody>
          <a:bodyPr>
            <a:normAutofit lnSpcReduction="10000"/>
          </a:bodyPr>
          <a:lstStyle/>
          <a:p>
            <a:pPr marL="0" indent="0" algn="just" fontAlgn="auto">
              <a:lnSpc>
                <a:spcPct val="105000"/>
              </a:lnSpc>
              <a:spcBef>
                <a:spcPct val="10000"/>
              </a:spcBef>
              <a:spcAft>
                <a:spcPts val="0"/>
              </a:spcAft>
              <a:buClr>
                <a:schemeClr val="accent3"/>
              </a:buClr>
              <a:buFont typeface="Wingdings 2"/>
              <a:buChar char=""/>
              <a:defRPr/>
            </a:pPr>
            <a:r>
              <a:rPr lang="zh-CN" altLang="en-US" sz="2400" b="1" dirty="0">
                <a:effectLst>
                  <a:outerShdw blurRad="38100" dist="38100" dir="2700000" algn="tl">
                    <a:srgbClr val="000000"/>
                  </a:outerShdw>
                </a:effectLst>
                <a:latin typeface="宋体" pitchFamily="2" charset="-122"/>
              </a:rPr>
              <a:t> </a:t>
            </a:r>
            <a:r>
              <a:rPr lang="zh-CN" altLang="en-US" sz="2800" b="1" dirty="0">
                <a:latin typeface="楷体_GB2312" pitchFamily="49" charset="-122"/>
                <a:ea typeface="楷体_GB2312" pitchFamily="49" charset="-122"/>
              </a:rPr>
              <a:t>Ｃ程序由若干函数组成。主函数名为</a:t>
            </a:r>
            <a:r>
              <a:rPr lang="en-US" altLang="zh-CN" sz="2800" b="1" dirty="0">
                <a:latin typeface="楷体_GB2312" pitchFamily="49" charset="-122"/>
                <a:ea typeface="楷体_GB2312" pitchFamily="49" charset="-122"/>
              </a:rPr>
              <a:t>main()</a:t>
            </a:r>
            <a:r>
              <a:rPr lang="zh-CN" altLang="en-US" sz="2800" b="1" dirty="0">
                <a:latin typeface="楷体_GB2312" pitchFamily="49" charset="-122"/>
                <a:ea typeface="楷体_GB2312" pitchFamily="49" charset="-122"/>
              </a:rPr>
              <a:t>，总是优先运行。</a:t>
            </a:r>
            <a:endParaRPr lang="en-US" altLang="zh-CN" sz="2800" b="1" dirty="0">
              <a:latin typeface="楷体_GB2312" pitchFamily="49" charset="-122"/>
              <a:ea typeface="楷体_GB2312" pitchFamily="49" charset="-122"/>
            </a:endParaRPr>
          </a:p>
          <a:p>
            <a:pPr marL="0" indent="0" algn="just" fontAlgn="auto">
              <a:lnSpc>
                <a:spcPct val="105000"/>
              </a:lnSpc>
              <a:spcBef>
                <a:spcPct val="10000"/>
              </a:spcBef>
              <a:spcAft>
                <a:spcPts val="0"/>
              </a:spcAft>
              <a:buClr>
                <a:schemeClr val="accent3"/>
              </a:buClr>
              <a:buFont typeface="Wingdings 2"/>
              <a:buChar char=""/>
              <a:defRPr/>
            </a:pPr>
            <a:r>
              <a:rPr lang="zh-CN" altLang="en-US" sz="2800" b="1" dirty="0">
                <a:latin typeface="楷体_GB2312" pitchFamily="49" charset="-122"/>
                <a:ea typeface="楷体_GB2312" pitchFamily="49" charset="-122"/>
              </a:rPr>
              <a:t> 一个函数由函数头和函数体组成。</a:t>
            </a:r>
            <a:r>
              <a:rPr lang="zh-CN" altLang="en-US" sz="2800" b="1" dirty="0">
                <a:solidFill>
                  <a:srgbClr val="FF0000"/>
                </a:solidFill>
                <a:latin typeface="楷体_GB2312" pitchFamily="49" charset="-122"/>
                <a:ea typeface="楷体_GB2312" pitchFamily="49" charset="-122"/>
              </a:rPr>
              <a:t>函数头</a:t>
            </a:r>
            <a:r>
              <a:rPr lang="zh-CN" altLang="en-US" sz="2800" b="1" dirty="0">
                <a:latin typeface="楷体_GB2312" pitchFamily="49" charset="-122"/>
                <a:ea typeface="楷体_GB2312" pitchFamily="49" charset="-122"/>
              </a:rPr>
              <a:t>包括函数属性、 函数返回值类型、函数名、函数形式参数名，形式参数类型。</a:t>
            </a:r>
          </a:p>
          <a:p>
            <a:pPr marL="0" indent="0" algn="just" fontAlgn="auto">
              <a:lnSpc>
                <a:spcPct val="105000"/>
              </a:lnSpc>
              <a:spcBef>
                <a:spcPct val="10000"/>
              </a:spcBef>
              <a:spcAft>
                <a:spcPts val="0"/>
              </a:spcAft>
              <a:buClr>
                <a:schemeClr val="accent3"/>
              </a:buClr>
              <a:buFont typeface="Wingdings 2"/>
              <a:buChar char=""/>
              <a:defRPr/>
            </a:pPr>
            <a:r>
              <a:rPr lang="zh-CN" altLang="en-US" sz="2800" b="1" dirty="0">
                <a:latin typeface="楷体_GB2312" pitchFamily="49" charset="-122"/>
                <a:ea typeface="楷体_GB2312" pitchFamily="49" charset="-122"/>
              </a:rPr>
              <a:t> 函数结构的一般形式：</a:t>
            </a:r>
            <a:endParaRPr lang="en-US" altLang="zh-CN" sz="2800" b="1" dirty="0">
              <a:latin typeface="楷体_GB2312" pitchFamily="49" charset="-122"/>
              <a:ea typeface="楷体_GB2312" pitchFamily="49" charset="-122"/>
            </a:endParaRPr>
          </a:p>
          <a:p>
            <a:pPr marL="0" indent="0" algn="just" fontAlgn="auto">
              <a:lnSpc>
                <a:spcPct val="105000"/>
              </a:lnSpc>
              <a:spcBef>
                <a:spcPct val="10000"/>
              </a:spcBef>
              <a:spcAft>
                <a:spcPts val="0"/>
              </a:spcAft>
              <a:buClr>
                <a:schemeClr val="accent3"/>
              </a:buClr>
              <a:buFont typeface="Wingdings 2"/>
              <a:buChar char=""/>
              <a:defRPr/>
            </a:pPr>
            <a:endParaRPr lang="zh-CN" altLang="en-US" sz="2800" b="1" dirty="0">
              <a:latin typeface="楷体_GB2312" pitchFamily="49" charset="-122"/>
              <a:ea typeface="楷体_GB2312" pitchFamily="49" charset="-122"/>
            </a:endParaRP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函数返回值类型  函数名(参数说明表)</a:t>
            </a: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 说明和定义部分;</a:t>
            </a: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执行语句序列</a:t>
            </a: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defTabSz="1128713">
              <a:defRPr/>
            </a:pPr>
            <a:fld id="{60C6C3DD-4C3D-4A6C-B265-023A98206073}" type="slidenum">
              <a:rPr lang="zh-CN" altLang="en-US">
                <a:latin typeface="+mn-lt"/>
              </a:rPr>
              <a:pPr defTabSz="1128713">
                <a:defRPr/>
              </a:pPr>
              <a:t>75</a:t>
            </a:fld>
            <a:endParaRPr lang="en-US" altLang="zh-CN">
              <a:latin typeface="+mn-lt"/>
            </a:endParaRP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3730" name="Rectangle 2"/>
          <p:cNvSpPr>
            <a:spLocks noGrp="1" noChangeArrowheads="1"/>
          </p:cNvSpPr>
          <p:nvPr>
            <p:ph idx="1"/>
          </p:nvPr>
        </p:nvSpPr>
        <p:spPr>
          <a:xfrm>
            <a:off x="395288" y="692150"/>
            <a:ext cx="8382000" cy="5792788"/>
          </a:xfrm>
        </p:spPr>
        <p:txBody>
          <a:bodyPr/>
          <a:lstStyle/>
          <a:p>
            <a:pPr marL="0" indent="0" algn="just"/>
            <a:r>
              <a:rPr lang="zh-CN" altLang="en-US" sz="3200" b="1">
                <a:latin typeface="楷体_GB2312" pitchFamily="49" charset="-122"/>
                <a:ea typeface="楷体_GB2312" pitchFamily="49" charset="-122"/>
              </a:rPr>
              <a:t>函数可以没有参数，但函数名之后的一对圆括号是必须的。</a:t>
            </a:r>
            <a:r>
              <a:rPr lang="zh-CN" altLang="en-US" sz="3200" b="1">
                <a:solidFill>
                  <a:srgbClr val="FF0000"/>
                </a:solidFill>
                <a:latin typeface="楷体_GB2312" pitchFamily="49" charset="-122"/>
                <a:ea typeface="楷体_GB2312" pitchFamily="49" charset="-122"/>
              </a:rPr>
              <a:t>函数体</a:t>
            </a:r>
            <a:r>
              <a:rPr lang="zh-CN" altLang="en-US" sz="3200" b="1">
                <a:latin typeface="楷体_GB2312" pitchFamily="49" charset="-122"/>
                <a:ea typeface="楷体_GB2312" pitchFamily="49" charset="-122"/>
              </a:rPr>
              <a:t>是函数头之后用一对花括号括住的部分。函数体用于描述实现函数功能的代码，它又包括：</a:t>
            </a:r>
          </a:p>
          <a:p>
            <a:pPr marL="365125" lvl="1" indent="0" algn="just"/>
            <a:r>
              <a:rPr lang="zh-CN" altLang="en-US" sz="3000" b="1">
                <a:latin typeface="楷体_GB2312" pitchFamily="49" charset="-122"/>
                <a:ea typeface="楷体_GB2312" pitchFamily="49" charset="-122"/>
              </a:rPr>
              <a:t> </a:t>
            </a:r>
            <a:r>
              <a:rPr lang="zh-CN" altLang="en-US" sz="3000" b="1">
                <a:solidFill>
                  <a:srgbClr val="000066"/>
                </a:solidFill>
                <a:latin typeface="楷体_GB2312" pitchFamily="49" charset="-122"/>
                <a:ea typeface="楷体_GB2312" pitchFamily="49" charset="-122"/>
              </a:rPr>
              <a:t>说明和定义部分</a:t>
            </a:r>
            <a:r>
              <a:rPr lang="zh-CN" altLang="en-US" sz="3000" b="1">
                <a:latin typeface="楷体_GB2312" pitchFamily="49" charset="-122"/>
                <a:ea typeface="楷体_GB2312" pitchFamily="49" charset="-122"/>
              </a:rPr>
              <a:t> </a:t>
            </a:r>
            <a:endParaRPr lang="en-US" altLang="zh-CN" sz="3000" b="1">
              <a:latin typeface="楷体_GB2312" pitchFamily="49" charset="-122"/>
              <a:ea typeface="楷体_GB2312" pitchFamily="49" charset="-122"/>
            </a:endParaRPr>
          </a:p>
          <a:p>
            <a:pPr marL="639763" lvl="2" indent="0" algn="just"/>
            <a:r>
              <a:rPr lang="zh-CN" altLang="en-US" sz="2900" b="1">
                <a:latin typeface="楷体_GB2312" pitchFamily="49" charset="-122"/>
                <a:ea typeface="楷体_GB2312" pitchFamily="49" charset="-122"/>
              </a:rPr>
              <a:t>说明数据结构(类型)和定义函数专用的局部变量等。</a:t>
            </a:r>
          </a:p>
          <a:p>
            <a:pPr marL="365125" lvl="1" indent="0" algn="just"/>
            <a:r>
              <a:rPr lang="zh-CN" altLang="en-US" sz="3000" b="1">
                <a:solidFill>
                  <a:srgbClr val="000066"/>
                </a:solidFill>
                <a:latin typeface="楷体_GB2312" pitchFamily="49" charset="-122"/>
                <a:ea typeface="楷体_GB2312" pitchFamily="49" charset="-122"/>
              </a:rPr>
              <a:t>执行部分</a:t>
            </a:r>
            <a:r>
              <a:rPr lang="zh-CN" altLang="en-US" sz="3000" b="1">
                <a:latin typeface="楷体_GB2312" pitchFamily="49" charset="-122"/>
                <a:ea typeface="楷体_GB2312" pitchFamily="49" charset="-122"/>
              </a:rPr>
              <a:t>  </a:t>
            </a:r>
          </a:p>
          <a:p>
            <a:pPr marL="639763" lvl="2" indent="0" algn="just"/>
            <a:r>
              <a:rPr lang="zh-CN" altLang="en-US" sz="2700" b="1">
                <a:latin typeface="楷体_GB2312" pitchFamily="49" charset="-122"/>
                <a:ea typeface="楷体_GB2312" pitchFamily="49" charset="-122"/>
              </a:rPr>
              <a:t>由Ｃ语句和控制结构代码组成。</a:t>
            </a:r>
            <a:endParaRPr lang="zh-CN" altLang="en-US" sz="1300" b="1">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defTabSz="1128713">
              <a:defRPr/>
            </a:pPr>
            <a:fld id="{900605E4-1D77-4859-B6EC-74A5EE3AB64E}" type="slidenum">
              <a:rPr lang="zh-CN" altLang="en-US">
                <a:latin typeface="+mn-lt"/>
              </a:rPr>
              <a:pPr defTabSz="1128713">
                <a:defRPr/>
              </a:pPr>
              <a:t>76</a:t>
            </a:fld>
            <a:endParaRPr lang="en-US" altLang="zh-CN">
              <a:latin typeface="+mn-lt"/>
            </a:endParaRPr>
          </a:p>
        </p:txBody>
      </p:sp>
      <p:sp>
        <p:nvSpPr>
          <p:cNvPr id="73732" name="AutoShape 5">
            <a:hlinkClick r:id="rId2" action="ppaction://hlinksldjump" highlightClick="1"/>
          </p:cNvPr>
          <p:cNvSpPr>
            <a:spLocks noChangeArrowheads="1"/>
          </p:cNvSpPr>
          <p:nvPr/>
        </p:nvSpPr>
        <p:spPr bwMode="auto">
          <a:xfrm>
            <a:off x="7885113" y="5734050"/>
            <a:ext cx="503237" cy="574675"/>
          </a:xfrm>
          <a:prstGeom prst="actionButtonInformation">
            <a:avLst/>
          </a:prstGeom>
          <a:solidFill>
            <a:schemeClr val="accent1"/>
          </a:solidFill>
          <a:ln w="9525">
            <a:noFill/>
            <a:miter lim="800000"/>
            <a:headEnd/>
            <a:tailEnd/>
          </a:ln>
        </p:spPr>
        <p:txBody>
          <a:bodyPr wrap="none" anchor="ctr"/>
          <a:lstStyle/>
          <a:p>
            <a:endParaRPr lang="zh-CN" altLang="en-US"/>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7826" name="Rectangle 2"/>
          <p:cNvSpPr>
            <a:spLocks noGrp="1" noChangeArrowheads="1"/>
          </p:cNvSpPr>
          <p:nvPr>
            <p:ph idx="1"/>
          </p:nvPr>
        </p:nvSpPr>
        <p:spPr>
          <a:xfrm>
            <a:off x="468313" y="1196975"/>
            <a:ext cx="8380412" cy="4983163"/>
          </a:xfrm>
        </p:spPr>
        <p:txBody>
          <a:bodyPr/>
          <a:lstStyle/>
          <a:p>
            <a:pPr marL="0" indent="0" algn="just">
              <a:buFont typeface="Monotype Sorts" charset="2"/>
              <a:buNone/>
            </a:pPr>
            <a:r>
              <a:rPr lang="zh-CN" altLang="en-US" sz="4000" b="1">
                <a:latin typeface="楷体_GB2312" pitchFamily="49" charset="-122"/>
                <a:ea typeface="楷体_GB2312" pitchFamily="49" charset="-122"/>
              </a:rPr>
              <a:t>下面几个虽不属于关键字，但建议把它们看作关键字，不要在程序中随便使用。它们用在Ｃ程序的预处理命令行中。</a:t>
            </a:r>
          </a:p>
          <a:p>
            <a:pPr marL="0" indent="0" algn="just">
              <a:buFont typeface="Monotype Sorts" charset="2"/>
              <a:buNone/>
            </a:pPr>
            <a:r>
              <a:rPr lang="en-US" altLang="zh-CN" sz="4000" b="1">
                <a:latin typeface="宋体" charset="-122"/>
              </a:rPr>
              <a:t>define  undef  include  ifdef</a:t>
            </a:r>
          </a:p>
          <a:p>
            <a:pPr marL="0" indent="0" algn="just">
              <a:buFont typeface="Monotype Sorts" charset="2"/>
              <a:buNone/>
            </a:pPr>
            <a:r>
              <a:rPr lang="en-US" altLang="zh-CN" sz="4000" b="1">
                <a:latin typeface="宋体" charset="-122"/>
              </a:rPr>
              <a:t>ifndef</a:t>
            </a:r>
          </a:p>
          <a:p>
            <a:pPr marL="0" indent="0" algn="just">
              <a:buFont typeface="Monotype Sorts" charset="2"/>
              <a:buNone/>
            </a:pPr>
            <a:r>
              <a:rPr lang="en-US" altLang="zh-CN" sz="4000" b="1">
                <a:latin typeface="宋体" charset="-122"/>
              </a:rPr>
              <a:t>endif   line   elif</a:t>
            </a:r>
            <a:endParaRPr lang="zh-CN" altLang="en-US" sz="4000">
              <a:latin typeface="宋体" charset="-122"/>
            </a:endParaRPr>
          </a:p>
        </p:txBody>
      </p:sp>
      <p:sp>
        <p:nvSpPr>
          <p:cNvPr id="5" name="灯片编号占位符 5"/>
          <p:cNvSpPr>
            <a:spLocks noGrp="1"/>
          </p:cNvSpPr>
          <p:nvPr>
            <p:ph type="sldNum" sz="quarter" idx="12"/>
          </p:nvPr>
        </p:nvSpPr>
        <p:spPr/>
        <p:txBody>
          <a:bodyPr/>
          <a:lstStyle/>
          <a:p>
            <a:pPr defTabSz="1128713">
              <a:defRPr/>
            </a:pPr>
            <a:fld id="{31459968-2411-4F3F-BBE4-DB651EC58529}" type="slidenum">
              <a:rPr lang="zh-CN" altLang="en-US">
                <a:latin typeface="+mn-lt"/>
              </a:rPr>
              <a:pPr defTabSz="1128713">
                <a:defRPr/>
              </a:pPr>
              <a:t>77</a:t>
            </a:fld>
            <a:endParaRPr lang="en-US" altLang="zh-CN">
              <a:latin typeface="+mn-lt"/>
            </a:endParaRP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0" y="228600"/>
            <a:ext cx="9324975" cy="1400175"/>
          </a:xfrm>
        </p:spPr>
        <p:txBody>
          <a:bodyPr/>
          <a:lstStyle/>
          <a:p>
            <a:r>
              <a:rPr lang="zh-CN" altLang="en-US" sz="4500">
                <a:solidFill>
                  <a:srgbClr val="C00000"/>
                </a:solidFill>
                <a:latin typeface="黑体" pitchFamily="2" charset="-122"/>
                <a:ea typeface="黑体" pitchFamily="2" charset="-122"/>
              </a:rPr>
              <a:t>1.</a:t>
            </a:r>
            <a:r>
              <a:rPr lang="en-US" altLang="zh-CN" sz="4500">
                <a:solidFill>
                  <a:srgbClr val="C00000"/>
                </a:solidFill>
                <a:latin typeface="黑体" pitchFamily="2" charset="-122"/>
                <a:ea typeface="黑体" pitchFamily="2" charset="-122"/>
              </a:rPr>
              <a:t>5 </a:t>
            </a:r>
            <a:r>
              <a:rPr lang="zh-CN" altLang="en-US" sz="4500">
                <a:solidFill>
                  <a:srgbClr val="C00000"/>
                </a:solidFill>
                <a:latin typeface="黑体" pitchFamily="2" charset="-122"/>
                <a:ea typeface="黑体" pitchFamily="2" charset="-122"/>
              </a:rPr>
              <a:t>程序开发环境基本知识</a:t>
            </a:r>
            <a:endParaRPr lang="zh-CN" altLang="en-US" sz="6000">
              <a:solidFill>
                <a:srgbClr val="C00000"/>
              </a:solidFill>
              <a:latin typeface="黑体" pitchFamily="2" charset="-122"/>
              <a:ea typeface="黑体" pitchFamily="2" charset="-122"/>
            </a:endParaRPr>
          </a:p>
        </p:txBody>
      </p:sp>
      <p:sp>
        <p:nvSpPr>
          <p:cNvPr id="87043" name="Rectangle 3"/>
          <p:cNvSpPr>
            <a:spLocks noGrp="1" noChangeArrowheads="1"/>
          </p:cNvSpPr>
          <p:nvPr>
            <p:ph idx="1"/>
          </p:nvPr>
        </p:nvSpPr>
        <p:spPr>
          <a:xfrm>
            <a:off x="381000" y="1700213"/>
            <a:ext cx="8305800" cy="4929187"/>
          </a:xfrm>
        </p:spPr>
        <p:txBody>
          <a:bodyPr/>
          <a:lstStyle/>
          <a:p>
            <a:pPr marL="449263" indent="-449263" algn="just">
              <a:lnSpc>
                <a:spcPct val="90000"/>
              </a:lnSpc>
              <a:buFont typeface="Monotype Sorts" charset="2"/>
              <a:buNone/>
            </a:pPr>
            <a:r>
              <a:rPr lang="en-US" altLang="zh-CN" sz="3600" b="1">
                <a:latin typeface="楷体_GB2312" pitchFamily="49" charset="-122"/>
                <a:ea typeface="楷体_GB2312" pitchFamily="49" charset="-122"/>
              </a:rPr>
              <a:t>C</a:t>
            </a:r>
            <a:r>
              <a:rPr lang="zh-CN" altLang="en-US" sz="3600" b="1">
                <a:latin typeface="楷体_GB2312" pitchFamily="49" charset="-122"/>
                <a:ea typeface="楷体_GB2312" pitchFamily="49" charset="-122"/>
              </a:rPr>
              <a:t>程序从开发到运行大致经历四个阶段：</a:t>
            </a:r>
          </a:p>
          <a:p>
            <a:pPr marL="449263" indent="-449263" algn="just">
              <a:lnSpc>
                <a:spcPct val="90000"/>
              </a:lnSpc>
              <a:buFont typeface="Monotype Sorts" charset="2"/>
              <a:buNone/>
            </a:pPr>
            <a:r>
              <a:rPr lang="en-US" altLang="zh-CN" sz="3600" b="1">
                <a:latin typeface="楷体_GB2312" pitchFamily="49" charset="-122"/>
                <a:ea typeface="楷体_GB2312" pitchFamily="49" charset="-122"/>
              </a:rPr>
              <a:t>1.</a:t>
            </a:r>
            <a:r>
              <a:rPr lang="zh-CN" altLang="en-US" sz="3200" b="1">
                <a:solidFill>
                  <a:srgbClr val="FF0000"/>
                </a:solidFill>
                <a:latin typeface="楷体_GB2312" pitchFamily="49" charset="-122"/>
                <a:ea typeface="楷体_GB2312" pitchFamily="49" charset="-122"/>
              </a:rPr>
              <a:t>编辑</a:t>
            </a:r>
            <a:r>
              <a:rPr lang="zh-CN" altLang="en-US" sz="3200" b="1">
                <a:latin typeface="楷体_GB2312" pitchFamily="49" charset="-122"/>
                <a:ea typeface="楷体_GB2312" pitchFamily="49" charset="-122"/>
              </a:rPr>
              <a:t>:程序员用系统环境提供的编辑器编辑源程序，产生一个源程序文件.</a:t>
            </a:r>
            <a:r>
              <a:rPr lang="en-US" altLang="zh-CN" sz="3200" b="1">
                <a:latin typeface="楷体_GB2312" pitchFamily="49" charset="-122"/>
                <a:ea typeface="楷体_GB2312" pitchFamily="49" charset="-122"/>
              </a:rPr>
              <a:t>c </a:t>
            </a:r>
            <a:r>
              <a:rPr lang="zh-CN" altLang="zh-CN" sz="3200" b="1">
                <a:latin typeface="楷体_GB2312" pitchFamily="49" charset="-122"/>
                <a:ea typeface="楷体_GB2312" pitchFamily="49" charset="-122"/>
              </a:rPr>
              <a:t>或</a:t>
            </a:r>
            <a:r>
              <a:rPr lang="zh-CN" altLang="en-US" sz="3200" b="1">
                <a:latin typeface="楷体_GB2312" pitchFamily="49" charset="-122"/>
                <a:ea typeface="楷体_GB2312" pitchFamily="49" charset="-122"/>
              </a:rPr>
              <a:t>.</a:t>
            </a:r>
            <a:r>
              <a:rPr lang="en-US" altLang="zh-CN" sz="3200" b="1">
                <a:latin typeface="楷体_GB2312" pitchFamily="49" charset="-122"/>
                <a:ea typeface="楷体_GB2312" pitchFamily="49" charset="-122"/>
              </a:rPr>
              <a:t>h</a:t>
            </a:r>
            <a:r>
              <a:rPr lang="zh-CN" altLang="en-US" sz="3200" b="1">
                <a:latin typeface="楷体_GB2312" pitchFamily="49" charset="-122"/>
                <a:ea typeface="楷体_GB2312" pitchFamily="49" charset="-122"/>
              </a:rPr>
              <a:t> 。</a:t>
            </a:r>
          </a:p>
          <a:p>
            <a:pPr marL="449263" indent="-449263" algn="just">
              <a:lnSpc>
                <a:spcPct val="90000"/>
              </a:lnSpc>
              <a:buFont typeface="Monotype Sorts" charset="2"/>
              <a:buNone/>
            </a:pPr>
            <a:r>
              <a:rPr lang="en-US" altLang="zh-CN" sz="3200" b="1">
                <a:latin typeface="楷体_GB2312" pitchFamily="49" charset="-122"/>
                <a:ea typeface="楷体_GB2312" pitchFamily="49" charset="-122"/>
              </a:rPr>
              <a:t>2.</a:t>
            </a:r>
            <a:r>
              <a:rPr lang="zh-CN" altLang="en-US" sz="3200" b="1">
                <a:solidFill>
                  <a:srgbClr val="FF0000"/>
                </a:solidFill>
                <a:latin typeface="楷体_GB2312" pitchFamily="49" charset="-122"/>
                <a:ea typeface="楷体_GB2312" pitchFamily="49" charset="-122"/>
              </a:rPr>
              <a:t>编译</a:t>
            </a:r>
            <a:r>
              <a:rPr lang="zh-CN" altLang="en-US" sz="3200" b="1">
                <a:latin typeface="楷体_GB2312" pitchFamily="49" charset="-122"/>
                <a:ea typeface="楷体_GB2312" pitchFamily="49" charset="-122"/>
              </a:rPr>
              <a:t>:编译前，</a:t>
            </a:r>
            <a:r>
              <a:rPr lang="en-US" altLang="zh-CN" sz="3200" b="1">
                <a:latin typeface="楷体_GB2312" pitchFamily="49" charset="-122"/>
                <a:ea typeface="楷体_GB2312" pitchFamily="49" charset="-122"/>
              </a:rPr>
              <a:t>C</a:t>
            </a:r>
            <a:r>
              <a:rPr lang="zh-CN" altLang="en-US" sz="3200" b="1">
                <a:latin typeface="楷体_GB2312" pitchFamily="49" charset="-122"/>
                <a:ea typeface="楷体_GB2312" pitchFamily="49" charset="-122"/>
              </a:rPr>
              <a:t>编译器先自动调用预处理程序，对源程序文件作文字转换，产生一个新的内部程序代码。若编译过程中发现程序有错误，则输出错误的详细信息；对正确的源程序产生机器语言程序，称为源程序的目的代码。</a:t>
            </a:r>
          </a:p>
        </p:txBody>
      </p:sp>
      <p:sp>
        <p:nvSpPr>
          <p:cNvPr id="6" name="灯片编号占位符 5"/>
          <p:cNvSpPr>
            <a:spLocks noGrp="1"/>
          </p:cNvSpPr>
          <p:nvPr>
            <p:ph type="sldNum" sz="quarter" idx="12"/>
          </p:nvPr>
        </p:nvSpPr>
        <p:spPr/>
        <p:txBody>
          <a:bodyPr/>
          <a:lstStyle/>
          <a:p>
            <a:pPr defTabSz="1128713">
              <a:defRPr/>
            </a:pPr>
            <a:fld id="{8FF8BBE9-7698-4CED-B930-0CC034E5311C}" type="slidenum">
              <a:rPr lang="zh-CN" altLang="en-US">
                <a:latin typeface="+mn-lt"/>
              </a:rPr>
              <a:pPr defTabSz="1128713">
                <a:defRPr/>
              </a:pPr>
              <a:t>78</a:t>
            </a:fld>
            <a:endParaRPr lang="en-US" altLang="zh-CN">
              <a:latin typeface="+mn-lt"/>
            </a:endParaRPr>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Rectangle 3"/>
          <p:cNvSpPr>
            <a:spLocks noGrp="1" noChangeArrowheads="1"/>
          </p:cNvSpPr>
          <p:nvPr>
            <p:ph idx="1"/>
          </p:nvPr>
        </p:nvSpPr>
        <p:spPr>
          <a:xfrm>
            <a:off x="428625" y="500063"/>
            <a:ext cx="8305800" cy="5857875"/>
          </a:xfrm>
        </p:spPr>
        <p:txBody>
          <a:bodyPr>
            <a:normAutofit fontScale="85000" lnSpcReduction="20000"/>
          </a:bodyPr>
          <a:lstStyle/>
          <a:p>
            <a:pPr marL="536575" indent="-536575" algn="just" fontAlgn="auto">
              <a:spcAft>
                <a:spcPts val="0"/>
              </a:spcAft>
              <a:buClr>
                <a:schemeClr val="accent3"/>
              </a:buClr>
              <a:buFont typeface="Monotype Sorts" pitchFamily="2" charset="2"/>
              <a:buNone/>
              <a:defRPr/>
            </a:pPr>
            <a:r>
              <a:rPr lang="en-US" altLang="zh-CN" sz="3600" b="1" dirty="0">
                <a:latin typeface="楷体_GB2312" pitchFamily="49" charset="-122"/>
                <a:ea typeface="楷体_GB2312" pitchFamily="49" charset="-122"/>
              </a:rPr>
              <a:t>3.</a:t>
            </a:r>
            <a:r>
              <a:rPr lang="zh-CN" altLang="en-US" sz="3600" b="1" dirty="0">
                <a:solidFill>
                  <a:srgbClr val="C00000"/>
                </a:solidFill>
                <a:latin typeface="楷体_GB2312" pitchFamily="49" charset="-122"/>
                <a:ea typeface="楷体_GB2312" pitchFamily="49" charset="-122"/>
              </a:rPr>
              <a:t>连接</a:t>
            </a:r>
            <a:r>
              <a:rPr lang="zh-CN" altLang="en-US" sz="3600" b="1" dirty="0">
                <a:latin typeface="楷体_GB2312" pitchFamily="49" charset="-122"/>
                <a:ea typeface="楷体_GB2312" pitchFamily="49" charset="-122"/>
              </a:rPr>
              <a:t>:连接程序将目的代码和程序调用的库函数或其他源程序中定义的函数的目的代码连接起来，产生计算机可直接执行的程序映象文件。</a:t>
            </a:r>
            <a:endParaRPr lang="en-US" altLang="zh-CN" sz="3600" b="1" dirty="0">
              <a:latin typeface="楷体_GB2312" pitchFamily="49" charset="-122"/>
              <a:ea typeface="楷体_GB2312" pitchFamily="49" charset="-122"/>
            </a:endParaRPr>
          </a:p>
          <a:p>
            <a:pPr marL="536575" indent="-536575" algn="just" fontAlgn="auto">
              <a:spcAft>
                <a:spcPts val="0"/>
              </a:spcAft>
              <a:buClr>
                <a:schemeClr val="accent3"/>
              </a:buClr>
              <a:buFont typeface="Monotype Sorts" pitchFamily="2" charset="2"/>
              <a:buNone/>
              <a:defRPr/>
            </a:pPr>
            <a:endParaRPr lang="zh-CN" altLang="en-US" sz="3600" b="1" dirty="0">
              <a:latin typeface="楷体_GB2312" pitchFamily="49" charset="-122"/>
              <a:ea typeface="楷体_GB2312" pitchFamily="49" charset="-122"/>
            </a:endParaRPr>
          </a:p>
          <a:p>
            <a:pPr marL="536575" indent="-536575" algn="just" fontAlgn="auto">
              <a:spcAft>
                <a:spcPts val="0"/>
              </a:spcAft>
              <a:buClr>
                <a:schemeClr val="accent3"/>
              </a:buClr>
              <a:buFont typeface="Monotype Sorts" pitchFamily="2" charset="2"/>
              <a:buNone/>
              <a:defRPr/>
            </a:pPr>
            <a:r>
              <a:rPr lang="en-US" altLang="zh-CN" sz="3600" b="1" dirty="0">
                <a:latin typeface="楷体_GB2312" pitchFamily="49" charset="-122"/>
                <a:ea typeface="楷体_GB2312" pitchFamily="49" charset="-122"/>
              </a:rPr>
              <a:t>4.</a:t>
            </a:r>
            <a:r>
              <a:rPr lang="zh-CN" altLang="en-US" sz="3600" b="1" dirty="0">
                <a:solidFill>
                  <a:srgbClr val="C00000"/>
                </a:solidFill>
                <a:latin typeface="楷体_GB2312" pitchFamily="49" charset="-122"/>
                <a:ea typeface="楷体_GB2312" pitchFamily="49" charset="-122"/>
              </a:rPr>
              <a:t>运行</a:t>
            </a:r>
            <a:r>
              <a:rPr lang="zh-CN" altLang="en-US" sz="3600" b="1" dirty="0">
                <a:latin typeface="楷体_GB2312" pitchFamily="49" charset="-122"/>
                <a:ea typeface="楷体_GB2312" pitchFamily="49" charset="-122"/>
              </a:rPr>
              <a:t>:运行前，操作系统（</a:t>
            </a:r>
            <a:r>
              <a:rPr lang="en-US" altLang="zh-CN" sz="3600" b="1" dirty="0">
                <a:latin typeface="楷体_GB2312" pitchFamily="49" charset="-122"/>
                <a:ea typeface="楷体_GB2312" pitchFamily="49" charset="-122"/>
              </a:rPr>
              <a:t>OS</a:t>
            </a:r>
            <a:r>
              <a:rPr lang="zh-CN" altLang="en-US" sz="3600" b="1" dirty="0">
                <a:latin typeface="楷体_GB2312" pitchFamily="49" charset="-122"/>
                <a:ea typeface="楷体_GB2312" pitchFamily="49" charset="-122"/>
              </a:rPr>
              <a:t>）将要执行的程序装入内存。装入内存的程序在计算机的操作系统控制下执行。</a:t>
            </a:r>
            <a:endParaRPr lang="en-US" altLang="zh-CN" sz="3600" b="1" dirty="0">
              <a:latin typeface="楷体_GB2312" pitchFamily="49" charset="-122"/>
              <a:ea typeface="楷体_GB2312" pitchFamily="49" charset="-122"/>
            </a:endParaRPr>
          </a:p>
          <a:p>
            <a:pPr marL="536575" indent="-536575" algn="just" fontAlgn="auto">
              <a:spcAft>
                <a:spcPts val="0"/>
              </a:spcAft>
              <a:buClr>
                <a:schemeClr val="accent3"/>
              </a:buClr>
              <a:buFont typeface="Monotype Sorts" pitchFamily="2" charset="2"/>
              <a:buNone/>
              <a:defRPr/>
            </a:pPr>
            <a:endParaRPr lang="en-US" altLang="zh-CN" sz="3600" b="1" dirty="0">
              <a:latin typeface="楷体_GB2312" pitchFamily="49" charset="-122"/>
              <a:ea typeface="楷体_GB2312" pitchFamily="49" charset="-122"/>
            </a:endParaRPr>
          </a:p>
          <a:p>
            <a:pPr marL="536575" indent="-536575" algn="just" fontAlgn="auto">
              <a:spcAft>
                <a:spcPts val="0"/>
              </a:spcAft>
              <a:buClr>
                <a:schemeClr val="accent3"/>
              </a:buClr>
              <a:buFont typeface="Wingdings 2"/>
              <a:buChar char=""/>
              <a:defRPr/>
            </a:pPr>
            <a:r>
              <a:rPr lang="zh-CN" altLang="en-US" sz="3500" b="1" dirty="0">
                <a:latin typeface="楷体_GB2312" pitchFamily="49" charset="-122"/>
                <a:ea typeface="楷体_GB2312" pitchFamily="49" charset="-122"/>
              </a:rPr>
              <a:t>如果在编译阶段产生句法错误，或连接时发现有变量或函数没有定义，或运行后，产生不正确的结果，就要寻找源程序中的错误，都要重新回到编辑阶段，修正程序中的错误。</a:t>
            </a:r>
          </a:p>
          <a:p>
            <a:pPr marL="536575" indent="-536575" algn="just" fontAlgn="auto">
              <a:spcAft>
                <a:spcPts val="0"/>
              </a:spcAft>
              <a:buClr>
                <a:schemeClr val="accent3"/>
              </a:buClr>
              <a:buFont typeface="Monotype Sorts" pitchFamily="2" charset="2"/>
              <a:buNone/>
              <a:defRPr/>
            </a:pPr>
            <a:endParaRPr lang="zh-CN" altLang="en-US" sz="3600" b="1"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C5FCA414-6C71-436B-8C3A-A0248B3A0FA7}" type="slidenum">
              <a:rPr lang="zh-CN" altLang="en-US">
                <a:latin typeface="+mn-lt"/>
              </a:rPr>
              <a:pPr defTabSz="1128713">
                <a:defRPr/>
              </a:pPr>
              <a:t>79</a:t>
            </a:fld>
            <a:endParaRPr lang="en-US" altLang="zh-CN">
              <a:latin typeface="+mn-lt"/>
            </a:endParaRPr>
          </a:p>
        </p:txBody>
      </p:sp>
    </p:spTree>
  </p:cSld>
  <p:clrMapOvr>
    <a:masterClrMapping/>
  </p:clrMapOvr>
  <p:transition>
    <p:random/>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Default Theme</Template>
  <TotalTime>10147</TotalTime>
  <Words>5444</Words>
  <Application>Microsoft Office PowerPoint</Application>
  <PresentationFormat>全屏显示(4:3)</PresentationFormat>
  <Paragraphs>641</Paragraphs>
  <Slides>79</Slides>
  <Notes>3</Notes>
  <HiddenSlides>6</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79</vt:i4>
      </vt:variant>
    </vt:vector>
  </HeadingPairs>
  <TitlesOfParts>
    <vt:vector size="96" baseType="lpstr">
      <vt:lpstr>Monotype Sorts</vt:lpstr>
      <vt:lpstr>TimesNewRomanPS</vt:lpstr>
      <vt:lpstr>等线</vt:lpstr>
      <vt:lpstr>黑体</vt:lpstr>
      <vt:lpstr>楷体_GB2312</vt:lpstr>
      <vt:lpstr>隶书</vt:lpstr>
      <vt:lpstr>宋体</vt:lpstr>
      <vt:lpstr>宋体</vt:lpstr>
      <vt:lpstr>NSimSun</vt:lpstr>
      <vt:lpstr>Calibri</vt:lpstr>
      <vt:lpstr>Constantia</vt:lpstr>
      <vt:lpstr>Courier New</vt:lpstr>
      <vt:lpstr>Times New Roman</vt:lpstr>
      <vt:lpstr>Wingdings</vt:lpstr>
      <vt:lpstr>Wingdings 2</vt:lpstr>
      <vt:lpstr>Flow</vt:lpstr>
      <vt:lpstr>Visio</vt:lpstr>
      <vt:lpstr>     程序设计    CS10004.08  </vt:lpstr>
      <vt:lpstr>PowerPoint 演示文稿</vt:lpstr>
      <vt:lpstr>PowerPoint 演示文稿</vt:lpstr>
      <vt:lpstr>教学目的 </vt:lpstr>
      <vt:lpstr>PowerPoint 演示文稿</vt:lpstr>
      <vt:lpstr>PowerPoint 演示文稿</vt:lpstr>
      <vt:lpstr>PowerPoint 演示文稿</vt:lpstr>
      <vt:lpstr>PowerPoint 演示文稿</vt:lpstr>
      <vt:lpstr>教学目的 </vt:lpstr>
      <vt:lpstr>科学思维</vt:lpstr>
      <vt:lpstr>PowerPoint 演示文稿</vt:lpstr>
      <vt:lpstr>PowerPoint 演示文稿</vt:lpstr>
      <vt:lpstr>数独的例子</vt:lpstr>
      <vt:lpstr>PowerPoint 演示文稿</vt:lpstr>
      <vt:lpstr>PowerPoint 演示文稿</vt:lpstr>
      <vt:lpstr>怎么做？---回溯法</vt:lpstr>
      <vt:lpstr>PowerPoint 演示文稿</vt:lpstr>
      <vt:lpstr>计算问题的复杂度</vt:lpstr>
      <vt:lpstr>计算问题的复杂度</vt:lpstr>
      <vt:lpstr>更复杂的？</vt:lpstr>
      <vt:lpstr>第1章 程序设计基础</vt:lpstr>
      <vt:lpstr>PowerPoint 演示文稿</vt:lpstr>
      <vt:lpstr>PowerPoint 演示文稿</vt:lpstr>
      <vt:lpstr>PowerPoint 演示文稿</vt:lpstr>
      <vt:lpstr>PowerPoint 演示文稿</vt:lpstr>
      <vt:lpstr>存储 &amp; 二进制…</vt:lpstr>
      <vt:lpstr>二进制数</vt:lpstr>
      <vt:lpstr>8进制与16进制数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  C语言的历史和特点 </vt:lpstr>
      <vt:lpstr>C 语言的特点</vt:lpstr>
      <vt:lpstr>1.3 几个简单的C程序 </vt:lpstr>
      <vt:lpstr>C 程序有以下几个特点</vt:lpstr>
      <vt:lpstr>PowerPoint 演示文稿</vt:lpstr>
      <vt:lpstr>读入两个整数，输出它们的和</vt:lpstr>
      <vt:lpstr>Ｃ语言的词汇、数据类型、常量和变量</vt:lpstr>
      <vt:lpstr>2、基本词汇</vt:lpstr>
      <vt:lpstr>关键字</vt:lpstr>
      <vt:lpstr>标识符</vt:lpstr>
      <vt:lpstr>PowerPoint 演示文稿</vt:lpstr>
      <vt:lpstr>常量</vt:lpstr>
      <vt:lpstr>变量</vt:lpstr>
      <vt:lpstr>PowerPoint 演示文稿</vt:lpstr>
      <vt:lpstr>【例1.3】已知华氏温度0、20、…、200，求对应的摄氏温度。</vt:lpstr>
      <vt:lpstr>【例1.4】输入两个实数, 输出它们中的小的数</vt:lpstr>
      <vt:lpstr>函数定义</vt:lpstr>
      <vt:lpstr>PowerPoint 演示文稿</vt:lpstr>
      <vt:lpstr>PowerPoint 演示文稿</vt:lpstr>
      <vt:lpstr>1.5 程序开发环境基本知识</vt:lpstr>
      <vt:lpstr>PowerPoint 演示文稿</vt:lpstr>
    </vt:vector>
  </TitlesOfParts>
  <Company>复旦</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程序设计基础</dc:title>
  <dc:subject>程序设计</dc:subject>
  <dc:creator>xkl&amp;zzz</dc:creator>
  <cp:lastModifiedBy>user</cp:lastModifiedBy>
  <cp:revision>616</cp:revision>
  <dcterms:created xsi:type="dcterms:W3CDTF">1998-11-11T02:43:28Z</dcterms:created>
  <dcterms:modified xsi:type="dcterms:W3CDTF">2025-09-11T08:00:46Z</dcterms:modified>
</cp:coreProperties>
</file>