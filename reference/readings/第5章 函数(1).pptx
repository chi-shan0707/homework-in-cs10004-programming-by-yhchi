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84"/>
  </p:notesMasterIdLst>
  <p:handoutMasterIdLst>
    <p:handoutMasterId r:id="rId85"/>
  </p:handoutMasterIdLst>
  <p:sldIdLst>
    <p:sldId id="256" r:id="rId2"/>
    <p:sldId id="309" r:id="rId3"/>
    <p:sldId id="383" r:id="rId4"/>
    <p:sldId id="385" r:id="rId5"/>
    <p:sldId id="389" r:id="rId6"/>
    <p:sldId id="390" r:id="rId7"/>
    <p:sldId id="392" r:id="rId8"/>
    <p:sldId id="391" r:id="rId9"/>
    <p:sldId id="393" r:id="rId10"/>
    <p:sldId id="394" r:id="rId11"/>
    <p:sldId id="395" r:id="rId12"/>
    <p:sldId id="396" r:id="rId13"/>
    <p:sldId id="452" r:id="rId14"/>
    <p:sldId id="454" r:id="rId15"/>
    <p:sldId id="407" r:id="rId16"/>
    <p:sldId id="404" r:id="rId17"/>
    <p:sldId id="405" r:id="rId18"/>
    <p:sldId id="408" r:id="rId19"/>
    <p:sldId id="409" r:id="rId20"/>
    <p:sldId id="410" r:id="rId21"/>
    <p:sldId id="453" r:id="rId22"/>
    <p:sldId id="411" r:id="rId23"/>
    <p:sldId id="402" r:id="rId24"/>
    <p:sldId id="456" r:id="rId25"/>
    <p:sldId id="413" r:id="rId26"/>
    <p:sldId id="457" r:id="rId27"/>
    <p:sldId id="459" r:id="rId28"/>
    <p:sldId id="458" r:id="rId29"/>
    <p:sldId id="460" r:id="rId30"/>
    <p:sldId id="461" r:id="rId31"/>
    <p:sldId id="429" r:id="rId32"/>
    <p:sldId id="465" r:id="rId33"/>
    <p:sldId id="466" r:id="rId34"/>
    <p:sldId id="467" r:id="rId35"/>
    <p:sldId id="468" r:id="rId36"/>
    <p:sldId id="469" r:id="rId37"/>
    <p:sldId id="470" r:id="rId38"/>
    <p:sldId id="430" r:id="rId39"/>
    <p:sldId id="482" r:id="rId40"/>
    <p:sldId id="431" r:id="rId41"/>
    <p:sldId id="472" r:id="rId42"/>
    <p:sldId id="471" r:id="rId43"/>
    <p:sldId id="473" r:id="rId44"/>
    <p:sldId id="474" r:id="rId45"/>
    <p:sldId id="432" r:id="rId46"/>
    <p:sldId id="475" r:id="rId47"/>
    <p:sldId id="476" r:id="rId48"/>
    <p:sldId id="477" r:id="rId49"/>
    <p:sldId id="433" r:id="rId50"/>
    <p:sldId id="463" r:id="rId51"/>
    <p:sldId id="478" r:id="rId52"/>
    <p:sldId id="464" r:id="rId53"/>
    <p:sldId id="479" r:id="rId54"/>
    <p:sldId id="480" r:id="rId55"/>
    <p:sldId id="481" r:id="rId56"/>
    <p:sldId id="462" r:id="rId57"/>
    <p:sldId id="415" r:id="rId58"/>
    <p:sldId id="416" r:id="rId59"/>
    <p:sldId id="417" r:id="rId60"/>
    <p:sldId id="418" r:id="rId61"/>
    <p:sldId id="419" r:id="rId62"/>
    <p:sldId id="420" r:id="rId63"/>
    <p:sldId id="422" r:id="rId64"/>
    <p:sldId id="421" r:id="rId65"/>
    <p:sldId id="423" r:id="rId66"/>
    <p:sldId id="424" r:id="rId67"/>
    <p:sldId id="425" r:id="rId68"/>
    <p:sldId id="426" r:id="rId69"/>
    <p:sldId id="427" r:id="rId70"/>
    <p:sldId id="483" r:id="rId71"/>
    <p:sldId id="428" r:id="rId72"/>
    <p:sldId id="435" r:id="rId73"/>
    <p:sldId id="436" r:id="rId74"/>
    <p:sldId id="484" r:id="rId75"/>
    <p:sldId id="437" r:id="rId76"/>
    <p:sldId id="486" r:id="rId77"/>
    <p:sldId id="438" r:id="rId78"/>
    <p:sldId id="439" r:id="rId79"/>
    <p:sldId id="485" r:id="rId80"/>
    <p:sldId id="440" r:id="rId81"/>
    <p:sldId id="384" r:id="rId82"/>
    <p:sldId id="382" r:id="rId8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u"/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u"/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u"/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u"/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folHlink"/>
      </a:buClr>
      <a:buSzPct val="60000"/>
      <a:buFont typeface="Wingdings" pitchFamily="2" charset="2"/>
      <a:buChar char="u"/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i="1" kern="1200">
        <a:solidFill>
          <a:schemeClr val="tx1"/>
        </a:solidFill>
        <a:latin typeface="Arial Unicode MS" panose="020B0604020202020204" pitchFamily="34" charset="-128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71" autoAdjust="0"/>
    <p:restoredTop sz="87049" autoAdjust="0"/>
  </p:normalViewPr>
  <p:slideViewPr>
    <p:cSldViewPr>
      <p:cViewPr varScale="1">
        <p:scale>
          <a:sx n="108" d="100"/>
          <a:sy n="108" d="100"/>
        </p:scale>
        <p:origin x="208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66CCAD4-C1AA-AF88-9534-2F0F670F7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89FC442-762C-943E-35E4-2C4DB531C8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00AD4F54-1F91-804F-8315-6F251E4679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65DFBA67-D69E-87B9-3E3D-0358D0BB969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590E4946-E876-CA46-8681-1026B601FD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70E5C5E-3143-25E0-2F1D-60BD68BCF9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DDECCDFF-122A-3B8E-2F37-CA69933070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3C40369A-FF01-2179-7550-5CB884276B7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B2B5D493-21BB-16AB-0C4D-77C1B3A69B9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93C1F341-5766-E2EC-9DC8-72EDE5F1C8C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B8A5D1C4-2BE5-3CA8-1447-F9930FD87F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spcBef>
                <a:spcPct val="0"/>
              </a:spcBef>
              <a:buClrTx/>
              <a:buSzTx/>
              <a:buFontTx/>
              <a:buNone/>
              <a:defRPr sz="1300" i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57CF9179-0068-694B-934B-DB8C7762522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 </a:t>
            </a:r>
            <a:r>
              <a:rPr lang="en-US" altLang="zh-CN"/>
              <a:t>C </a:t>
            </a:r>
            <a:r>
              <a:rPr lang="zh-CN" altLang="en-US"/>
              <a:t>语言中，不允许函数重名。在同一个作用域（如同一个源文件中），函数名必须是唯一的。这是因为 </a:t>
            </a:r>
            <a:r>
              <a:rPr lang="en-US" altLang="zh-CN"/>
              <a:t>C </a:t>
            </a:r>
            <a:r>
              <a:rPr lang="zh-CN" altLang="en-US"/>
              <a:t>语言中的函数名会在编译时转换为链接器使用的符号，如果两个函数重名，链接器无法区分它们，从而引发编译错误。</a:t>
            </a:r>
          </a:p>
          <a:p>
            <a:r>
              <a:rPr lang="zh-CN" altLang="en-US" b="1"/>
              <a:t>原因：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/>
              <a:t>全局命名空间</a:t>
            </a:r>
            <a:r>
              <a:rPr lang="zh-CN" altLang="en-US"/>
              <a:t>：</a:t>
            </a:r>
            <a:r>
              <a:rPr lang="en-US" altLang="zh-CN"/>
              <a:t>C </a:t>
            </a:r>
            <a:r>
              <a:rPr lang="zh-CN" altLang="en-US"/>
              <a:t>语言中的函数通常处于全局命名空间中，这意味着它们在整个程序中都必须唯一。在编译时，编译器将函数名转换为特定的符号，这些符号用于链接。如果有两个重名的函数，链接器将无法正确解析它们，从而导致链接时错误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/>
              <a:t>函数签名</a:t>
            </a:r>
            <a:r>
              <a:rPr lang="zh-CN" altLang="en-US"/>
              <a:t>：</a:t>
            </a:r>
            <a:r>
              <a:rPr lang="en-US" altLang="zh-CN"/>
              <a:t>C </a:t>
            </a:r>
            <a:r>
              <a:rPr lang="zh-CN" altLang="en-US"/>
              <a:t>语言并不支持函数重载（不同参数类型或参数数量的函数重名）。这是与 </a:t>
            </a:r>
            <a:r>
              <a:rPr lang="en-US" altLang="zh-CN"/>
              <a:t>C++ </a:t>
            </a:r>
            <a:r>
              <a:rPr lang="zh-CN" altLang="en-US"/>
              <a:t>的一个显著区别。在 </a:t>
            </a:r>
            <a:r>
              <a:rPr lang="en-US" altLang="zh-CN"/>
              <a:t>C++ </a:t>
            </a:r>
            <a:r>
              <a:rPr lang="zh-CN" altLang="en-US"/>
              <a:t>中，函数重载是通过函数的参数类型和数量来实现的，编译器会根据函数签名来区分重载的函数；但在 </a:t>
            </a:r>
            <a:r>
              <a:rPr lang="en-US" altLang="zh-CN"/>
              <a:t>C </a:t>
            </a:r>
            <a:r>
              <a:rPr lang="zh-CN" altLang="en-US"/>
              <a:t>语言中，函数名和参数类型不会一起参与名称解析。</a:t>
            </a:r>
          </a:p>
          <a:p>
            <a:endParaRPr kumimoji="1" lang="en-US" altLang="zh-CN"/>
          </a:p>
          <a:p>
            <a:r>
              <a:rPr lang="zh-CN" altLang="en-US" b="1"/>
              <a:t>解决方法：</a:t>
            </a:r>
          </a:p>
          <a:p>
            <a:pPr>
              <a:buFont typeface="+mj-lt"/>
              <a:buAutoNum type="arabicPeriod"/>
            </a:pPr>
            <a:r>
              <a:rPr lang="zh-CN" altLang="en-US" b="1"/>
              <a:t>不同文件使用相同函数名</a:t>
            </a:r>
            <a:r>
              <a:rPr lang="zh-CN" altLang="en-US"/>
              <a:t>：如果你确实需要在不同文件中使用相同的函数名，可以通过将函数定义为</a:t>
            </a:r>
            <a:r>
              <a:rPr lang="zh-CN" altLang="en-US" b="1"/>
              <a:t>静态函数</a:t>
            </a:r>
            <a:r>
              <a:rPr lang="zh-CN" altLang="en-US"/>
              <a:t>。静态函数的作用域仅限于定义它的文件，这样即使在不同文件中定义相同名称的函数，它们也不会冲突。</a:t>
            </a:r>
          </a:p>
          <a:p>
            <a:r>
              <a:rPr lang="en-US" altLang="zh-CN" b="1"/>
              <a:t>2.</a:t>
            </a:r>
            <a:r>
              <a:rPr lang="zh-CN" altLang="en-US" b="1"/>
              <a:t>命名规范</a:t>
            </a:r>
            <a:r>
              <a:rPr lang="zh-CN" altLang="en-US"/>
              <a:t>：为了避免函数名冲突，通常使用特定的命名规则，比如在函数名前加上模块或功能的前缀。</a:t>
            </a:r>
            <a:endParaRPr kumimoji="1" lang="zh-CN" altLang="en-US"/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358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1FBCE0-4D47-3CBF-BE05-B3E30FD479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54E4AE-4384-D647-9D3F-395BD2720A64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581634" name="Rectangle 2">
            <a:extLst>
              <a:ext uri="{FF2B5EF4-FFF2-40B4-BE49-F238E27FC236}">
                <a16:creationId xmlns:a16="http://schemas.microsoft.com/office/drawing/2014/main" id="{62396BC4-F179-843D-7E7E-66EF56E215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581635" name="Rectangle 3">
            <a:extLst>
              <a:ext uri="{FF2B5EF4-FFF2-40B4-BE49-F238E27FC236}">
                <a16:creationId xmlns:a16="http://schemas.microsoft.com/office/drawing/2014/main" id="{8753545A-4614-9E5C-768F-3C0320C34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r>
              <a:rPr lang="en-US" altLang="zh-CN"/>
              <a:t>RealEqual()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91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>
                <a:solidFill>
                  <a:srgbClr val="273239"/>
                </a:solidFill>
                <a:effectLst/>
                <a:latin typeface="Source Sans 3"/>
              </a:rPr>
              <a:t>Assertions in C/C++</a:t>
            </a:r>
          </a:p>
          <a:p>
            <a:r>
              <a:rPr kumimoji="1" lang="en-US" altLang="zh-CN"/>
              <a:t>https://www.geeksforgeeks.org/assertions-cc/</a:t>
            </a:r>
          </a:p>
          <a:p>
            <a:endParaRPr kumimoji="1"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 </a:t>
            </a:r>
            <a:r>
              <a:rPr lang="zh-CN" altLang="en-US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标准库 </a:t>
            </a:r>
            <a:r>
              <a:rPr lang="en-US" altLang="zh-CN" b="1" i="0" u="none" strike="noStrike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- </a:t>
            </a:r>
            <a:r>
              <a:rPr lang="en-US" altLang="zh-CN" b="1" i="0" u="none" strike="noStrike">
                <a:solidFill>
                  <a:srgbClr val="64854C"/>
                </a:solidFill>
                <a:effectLst/>
                <a:latin typeface="Helvetica Neue" panose="02000503000000020004" pitchFamily="2" charset="0"/>
              </a:rPr>
              <a:t>&lt;assert.h&gt;</a:t>
            </a:r>
            <a:endParaRPr kumimoji="1" lang="en-US" altLang="zh-CN"/>
          </a:p>
          <a:p>
            <a:r>
              <a:rPr kumimoji="1" lang="en-US" altLang="zh-CN"/>
              <a:t>https://www.runoob.com/cprogramming/c-standard-library-assert-h.html</a:t>
            </a:r>
          </a:p>
          <a:p>
            <a:endParaRPr kumimoji="1" lang="en-US" altLang="zh-CN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断言</a:t>
            </a:r>
            <a:r>
              <a:rPr lang="en-US" altLang="zh-CN" b="1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(assert)</a:t>
            </a:r>
            <a:r>
              <a:rPr lang="zh-CN" altLang="en-US" b="1" i="0">
                <a:solidFill>
                  <a:srgbClr val="333333"/>
                </a:solidFill>
                <a:effectLst/>
                <a:latin typeface="Helvetica Neue" panose="02000503000000020004" pitchFamily="2" charset="0"/>
              </a:rPr>
              <a:t>的用法</a:t>
            </a:r>
          </a:p>
          <a:p>
            <a:r>
              <a:rPr kumimoji="1" lang="en-US" altLang="zh-CN"/>
              <a:t>https://www.runoob.com/w3cnote/c-assert.html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7983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可以用</a:t>
            </a:r>
            <a:r>
              <a:rPr lang="en-US" altLang="zh-CN" b="1" i="0">
                <a:solidFill>
                  <a:srgbClr val="062270"/>
                </a:solidFill>
                <a:effectLst/>
                <a:latin typeface="verdana" panose="020B0604030504040204" pitchFamily="34" charset="0"/>
              </a:rPr>
              <a:t>Python Tutor</a:t>
            </a:r>
            <a:r>
              <a:rPr lang="zh-CN" altLang="en-US" b="1" i="0">
                <a:solidFill>
                  <a:srgbClr val="062270"/>
                </a:solidFill>
                <a:effectLst/>
                <a:latin typeface="verdana" panose="020B0604030504040204" pitchFamily="34" charset="0"/>
              </a:rPr>
              <a:t>演示下运行过程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50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>
                <a:solidFill>
                  <a:srgbClr val="E93F34"/>
                </a:solidFill>
                <a:effectLst/>
                <a:latin typeface="Courier" panose="02070309020205020404" pitchFamily="49" charset="0"/>
              </a:rPr>
              <a:t>error: 'y' undeclared (first use in this function)</a:t>
            </a:r>
          </a:p>
          <a:p>
            <a:endParaRPr kumimoji="1" lang="en-US" altLang="zh-CN" b="0" i="0">
              <a:solidFill>
                <a:srgbClr val="E93F34"/>
              </a:solidFill>
              <a:effectLst/>
              <a:latin typeface="Courier" panose="02070309020205020404" pitchFamily="49" charset="0"/>
            </a:endParaRPr>
          </a:p>
          <a:p>
            <a:r>
              <a:rPr lang="zh-CN" altLang="en-US" b="1"/>
              <a:t>匿名代码块</a:t>
            </a:r>
            <a:r>
              <a:rPr lang="zh-CN" altLang="en-US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在某些情况下，可以使用没有任何特殊功能的代码块来限制某些变量的作用范围。这通常用于内存管理或将某些逻辑分隔开。</a:t>
            </a: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7377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16F7-AE8A-9E05-6160-04636174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512FB1-85DD-34B2-D929-2D0762A17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61CC5E-284F-6343-BAEE-F6753EBF9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243E60-D414-6765-A5F0-C181FB670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5354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0189F-3D78-FAE3-837E-6FDDA770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9D3943-F46F-689E-2EEA-2A39509E3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8C158C-B150-7A4F-3C72-BAFB9BCFF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>
                <a:solidFill>
                  <a:srgbClr val="E93F34"/>
                </a:solidFill>
                <a:effectLst/>
                <a:latin typeface="Courier" panose="02070309020205020404" pitchFamily="49" charset="0"/>
              </a:rPr>
              <a:t>error: ’i' undeclared (first use in this function)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A8EF4A-A1F9-F240-57A2-8B1AA93D6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753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CEFE168-47D7-7004-729F-08FA984F46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B81B8-4CE0-6B4E-B968-7F35BBCE0BBD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633858" name="Rectangle 2">
            <a:extLst>
              <a:ext uri="{FF2B5EF4-FFF2-40B4-BE49-F238E27FC236}">
                <a16:creationId xmlns:a16="http://schemas.microsoft.com/office/drawing/2014/main" id="{3131AFF3-1D3B-AD3F-2CE3-BB681F16E9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CAE962D2-B777-0253-4D71-6614F5244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r>
              <a:rPr lang="zh-CN" altLang="en-US"/>
              <a:t>静态</a:t>
            </a:r>
            <a:r>
              <a:rPr lang="en-US" altLang="zh-CN"/>
              <a:t>static</a:t>
            </a:r>
            <a:r>
              <a:rPr lang="zh-CN" altLang="en-US"/>
              <a:t>和全局</a:t>
            </a:r>
            <a:r>
              <a:rPr lang="en-US" altLang="zh-CN"/>
              <a:t>/</a:t>
            </a:r>
            <a:r>
              <a:rPr lang="zh-CN" altLang="en-US"/>
              <a:t>局部是一个正交的概念，表达不同含义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全局</a:t>
            </a:r>
            <a:r>
              <a:rPr lang="en-US" altLang="zh-CN"/>
              <a:t>/</a:t>
            </a:r>
            <a:r>
              <a:rPr lang="zh-CN" altLang="en-US"/>
              <a:t>局部：表达的是作用范围（或可见范围）</a:t>
            </a:r>
            <a:endParaRPr lang="en-US" altLang="zh-CN"/>
          </a:p>
          <a:p>
            <a:r>
              <a:rPr lang="zh-CN" altLang="en-US"/>
              <a:t>静态：表达的是一个生命周期的概念；但叠加“全局”会限制作用域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420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CFED-A43E-CB92-67A3-5AA9A8AE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CE74C4F-A9D8-3EC3-AB3C-E44B707B5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B81B8-4CE0-6B4E-B968-7F35BBCE0BBD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633858" name="Rectangle 2">
            <a:extLst>
              <a:ext uri="{FF2B5EF4-FFF2-40B4-BE49-F238E27FC236}">
                <a16:creationId xmlns:a16="http://schemas.microsoft.com/office/drawing/2014/main" id="{59BDB994-E617-EE4A-E71D-8CC040AA8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90A3DB3C-739A-219F-E287-E76578DCD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892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ADEE-833F-9B58-1B20-D3E436DFB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4372C0-879F-FD1A-DBB7-85842CCE8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B81B8-4CE0-6B4E-B968-7F35BBCE0BBD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633858" name="Rectangle 2">
            <a:extLst>
              <a:ext uri="{FF2B5EF4-FFF2-40B4-BE49-F238E27FC236}">
                <a16:creationId xmlns:a16="http://schemas.microsoft.com/office/drawing/2014/main" id="{BFF8B06B-92D3-B606-173A-E5418C32DA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08E8AA92-6124-23C6-E373-32FC2A268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0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E6C6-8821-797D-6BD2-9E41EDA42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7320C5C-04F2-7E1E-F147-58A415AA2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B81B8-4CE0-6B4E-B968-7F35BBCE0BBD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633858" name="Rectangle 2">
            <a:extLst>
              <a:ext uri="{FF2B5EF4-FFF2-40B4-BE49-F238E27FC236}">
                <a16:creationId xmlns:a16="http://schemas.microsoft.com/office/drawing/2014/main" id="{E1902C0B-1C3C-8770-B46D-FDA9B4753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3A9DC37F-7C6B-5D62-743A-B4653094F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r>
              <a:rPr lang="zh-CN" altLang="en-US"/>
              <a:t>全局静态变量的关键作用是：</a:t>
            </a:r>
          </a:p>
          <a:p>
            <a:r>
              <a:rPr lang="zh-CN" altLang="en-US" b="1"/>
              <a:t>限制作用域、延长生命周期、保护数据。</a:t>
            </a:r>
            <a:endParaRPr lang="zh-CN" altLang="en-US"/>
          </a:p>
          <a:p>
            <a:r>
              <a:rPr lang="zh-CN" altLang="en-US"/>
              <a:t>它既是“全局的”，又是“受保护的”。</a:t>
            </a:r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① </a:t>
            </a:r>
            <a:r>
              <a:rPr lang="zh-CN" altLang="en-US" b="1"/>
              <a:t>作用域：仅限当前源文件（文件内可见）</a:t>
            </a:r>
          </a:p>
          <a:p>
            <a:r>
              <a:rPr lang="zh-CN" altLang="en-US"/>
              <a:t>普通全局变量（不加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static</a:t>
            </a:r>
            <a:r>
              <a:rPr lang="zh-CN" altLang="en-US"/>
              <a:t>）具有</a:t>
            </a:r>
            <a:r>
              <a:rPr lang="zh-CN" altLang="en-US" b="1"/>
              <a:t>外部链接（</a:t>
            </a:r>
            <a:r>
              <a:rPr lang="en-US" altLang="zh-CN" b="1"/>
              <a:t>external linkage</a:t>
            </a:r>
            <a:r>
              <a:rPr lang="zh-CN" altLang="en-US" b="1"/>
              <a:t>）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可被其他源文件通过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extern</a:t>
            </a:r>
            <a:r>
              <a:rPr lang="en-US" altLang="zh-CN"/>
              <a:t> </a:t>
            </a:r>
            <a:r>
              <a:rPr lang="zh-CN" altLang="en-US"/>
              <a:t>引用。</a:t>
            </a:r>
          </a:p>
          <a:p>
            <a:r>
              <a:rPr lang="zh-CN" altLang="en-US"/>
              <a:t>而加了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static</a:t>
            </a:r>
            <a:r>
              <a:rPr lang="en-US" altLang="zh-CN"/>
              <a:t> </a:t>
            </a:r>
            <a:r>
              <a:rPr lang="zh-CN" altLang="en-US"/>
              <a:t>之后，变量就变成</a:t>
            </a:r>
            <a:r>
              <a:rPr lang="zh-CN" altLang="en-US" b="1"/>
              <a:t>内部链接（</a:t>
            </a:r>
            <a:r>
              <a:rPr lang="en-US" altLang="zh-CN" b="1"/>
              <a:t>internal linkage</a:t>
            </a:r>
            <a:r>
              <a:rPr lang="zh-CN" altLang="en-US" b="1"/>
              <a:t>）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只能在</a:t>
            </a:r>
            <a:r>
              <a:rPr lang="zh-CN" altLang="en-US" b="1"/>
              <a:t>当前文件内</a:t>
            </a:r>
            <a:r>
              <a:rPr lang="zh-CN" altLang="en-US"/>
              <a:t>使用。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② </a:t>
            </a:r>
            <a:r>
              <a:rPr lang="zh-CN" altLang="en-US" b="1"/>
              <a:t>生命周期：整个程序运行期间存在</a:t>
            </a:r>
          </a:p>
          <a:p>
            <a:r>
              <a:rPr lang="zh-CN" altLang="en-US"/>
              <a:t>即使作用域被限制在文件内，它仍然是“静态存储区”的变量。</a:t>
            </a:r>
            <a:br>
              <a:rPr lang="zh-CN" altLang="en-US"/>
            </a:br>
            <a:r>
              <a:rPr lang="zh-CN" altLang="en-US"/>
              <a:t>也就是说：</a:t>
            </a:r>
          </a:p>
          <a:p>
            <a:r>
              <a:rPr lang="zh-CN" altLang="en-US"/>
              <a:t>从程序开始运行到结束，全局静态变量的内存始终保留，不会被销毁。</a:t>
            </a:r>
          </a:p>
          <a:p>
            <a:endParaRPr lang="en-US" altLang="zh-CN"/>
          </a:p>
          <a:p>
            <a:r>
              <a:rPr lang="en-US" altLang="zh-CN" b="1"/>
              <a:t>③ </a:t>
            </a:r>
            <a:r>
              <a:rPr lang="zh-CN" altLang="en-US" b="1"/>
              <a:t>初始化：只初始化一次，默认值为</a:t>
            </a:r>
            <a:r>
              <a:rPr lang="en-US" altLang="zh-CN" b="1"/>
              <a:t>0</a:t>
            </a:r>
          </a:p>
          <a:p>
            <a:r>
              <a:rPr lang="zh-CN" altLang="en-US"/>
              <a:t>与普通全局变量一样，全局静态变量：</a:t>
            </a:r>
          </a:p>
          <a:p>
            <a:r>
              <a:rPr lang="zh-CN" altLang="en-US"/>
              <a:t>若未显式赋值，默认初始化为 </a:t>
            </a:r>
            <a:r>
              <a:rPr lang="en-US" altLang="zh-CN" b="1"/>
              <a:t>0</a:t>
            </a:r>
            <a:r>
              <a:rPr lang="zh-CN" altLang="en-US"/>
              <a:t>；</a:t>
            </a:r>
          </a:p>
          <a:p>
            <a:r>
              <a:rPr lang="zh-CN" altLang="en-US"/>
              <a:t>程序运行时只初始化一次。</a:t>
            </a:r>
          </a:p>
          <a:p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589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589E-C416-C919-4C4E-E4D169FD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9B59DF5-54FA-73B3-B2C3-D2F1D7DD6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2B81B8-4CE0-6B4E-B968-7F35BBCE0BBD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633858" name="Rectangle 2">
            <a:extLst>
              <a:ext uri="{FF2B5EF4-FFF2-40B4-BE49-F238E27FC236}">
                <a16:creationId xmlns:a16="http://schemas.microsoft.com/office/drawing/2014/main" id="{EEA2B172-FB00-4D41-090D-2301F92029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8100" cy="3838575"/>
          </a:xfrm>
          <a:ln/>
        </p:spPr>
      </p:sp>
      <p:sp>
        <p:nvSpPr>
          <p:cNvPr id="633859" name="Rectangle 3">
            <a:extLst>
              <a:ext uri="{FF2B5EF4-FFF2-40B4-BE49-F238E27FC236}">
                <a16:creationId xmlns:a16="http://schemas.microsoft.com/office/drawing/2014/main" id="{EB4D0223-31B8-3EE6-B3D0-323477DFE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1200" y="4860925"/>
            <a:ext cx="5678488" cy="4606925"/>
          </a:xfrm>
          <a:noFill/>
          <a:ln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853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寄存器通常只有几十到几百字节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357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</a:t>
            </a:r>
            <a:r>
              <a:rPr lang="zh-CN" altLang="en-US" b="1"/>
              <a:t>变量</a:t>
            </a:r>
            <a:r>
              <a:rPr lang="zh-CN" altLang="en-US"/>
              <a:t>来说，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extern</a:t>
            </a:r>
            <a:r>
              <a:rPr lang="en-US" altLang="zh-CN"/>
              <a:t> </a:t>
            </a:r>
            <a:r>
              <a:rPr lang="zh-CN" altLang="en-US"/>
              <a:t>的意义非常重要，表示“只是声明，不分配存储空间”。</a:t>
            </a:r>
            <a:endParaRPr lang="en-US" altLang="zh-CN"/>
          </a:p>
          <a:p>
            <a:endParaRPr kumimoji="1" lang="en-US" altLang="zh-CN"/>
          </a:p>
          <a:p>
            <a:r>
              <a:rPr lang="zh-CN" altLang="en-US"/>
              <a:t>对</a:t>
            </a:r>
            <a:r>
              <a:rPr lang="zh-CN" altLang="en-US" b="1"/>
              <a:t>函数</a:t>
            </a:r>
            <a:r>
              <a:rPr lang="zh-CN" altLang="en-US"/>
              <a:t>来说，写不写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extern</a:t>
            </a:r>
            <a:r>
              <a:rPr lang="en-US" altLang="zh-CN"/>
              <a:t> </a:t>
            </a:r>
            <a:r>
              <a:rPr lang="zh-CN" altLang="en-US"/>
              <a:t>没区别，因为函数声明本身默认就是外部链接。</a:t>
            </a:r>
            <a:endParaRPr lang="en-US" altLang="zh-CN"/>
          </a:p>
          <a:p>
            <a:endParaRPr kumimoji="1" lang="en-US" altLang="zh-CN"/>
          </a:p>
          <a:p>
            <a:r>
              <a:rPr lang="zh-CN" altLang="en-US"/>
              <a:t>在</a:t>
            </a:r>
            <a:r>
              <a:rPr lang="en-US" altLang="zh-CN"/>
              <a:t>C</a:t>
            </a:r>
            <a:r>
              <a:rPr lang="zh-CN" altLang="en-US"/>
              <a:t>语言里，</a:t>
            </a:r>
            <a:r>
              <a:rPr lang="zh-CN" altLang="en-US" b="1"/>
              <a:t>函数声明默认就是 </a:t>
            </a:r>
            <a:r>
              <a:rPr lang="en-US" altLang="zh-CN" sz="1200" b="1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extern</a:t>
            </a:r>
            <a:r>
              <a:rPr lang="en-US" altLang="zh-CN" b="1"/>
              <a:t> </a:t>
            </a:r>
            <a:r>
              <a:rPr lang="zh-CN" altLang="en-US" b="1"/>
              <a:t>的</a:t>
            </a:r>
            <a:r>
              <a:rPr lang="zh-CN" altLang="en-US"/>
              <a:t>。因为函数的定义本来就具有“外部链接性（</a:t>
            </a:r>
            <a:r>
              <a:rPr lang="en-US" altLang="zh-CN"/>
              <a:t>external linkage</a:t>
            </a:r>
            <a:r>
              <a:rPr lang="zh-CN" altLang="en-US"/>
              <a:t>）”。虽然没必要加，但有时在大型工程里，程序员会显式写上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extern</a:t>
            </a:r>
            <a:r>
              <a:rPr lang="zh-CN" altLang="en-US"/>
              <a:t>，以强调“这个函数不是本文件定义的”。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995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>
                <a:latin typeface="SimSun" panose="02010600030101010101" pitchFamily="2" charset="-122"/>
                <a:ea typeface="SimSun" panose="02010600030101010101" pitchFamily="2" charset="-122"/>
              </a:rPr>
              <a:t>E(n)</a:t>
            </a:r>
            <a:r>
              <a:rPr lang="zh-CN" altLang="en-US" sz="1200" b="1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200" b="1">
                <a:latin typeface="SimSun" panose="02010600030101010101" pitchFamily="2" charset="-122"/>
                <a:ea typeface="SimSun" panose="02010600030101010101" pitchFamily="2" charset="-122"/>
              </a:rPr>
              <a:t>==</a:t>
            </a:r>
            <a:r>
              <a:rPr lang="zh-CN" altLang="en-US" sz="1200" b="1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200" b="1">
                <a:latin typeface="SimSun" panose="02010600030101010101" pitchFamily="2" charset="-122"/>
                <a:ea typeface="SimSun" panose="02010600030101010101" pitchFamily="2" charset="-122"/>
              </a:rPr>
              <a:t>False</a:t>
            </a:r>
            <a:r>
              <a:rPr lang="zh-CN" altLang="en-US" sz="1200" b="1">
                <a:latin typeface="SimSun" panose="02010600030101010101" pitchFamily="2" charset="-122"/>
                <a:ea typeface="SimSun" panose="02010600030101010101" pitchFamily="2" charset="-122"/>
              </a:rPr>
              <a:t> 是这个递归的结束条件，并且会执行一次</a:t>
            </a:r>
            <a:r>
              <a:rPr lang="en-US" altLang="zh-CN" sz="1200" b="1">
                <a:latin typeface="SimSun" panose="02010600030101010101" pitchFamily="2" charset="-122"/>
                <a:ea typeface="SimSun" panose="02010600030101010101" pitchFamily="2" charset="-122"/>
              </a:rPr>
              <a:t>U(n)</a:t>
            </a:r>
            <a:r>
              <a:rPr lang="zh-CN" altLang="en-US" sz="1200" b="1">
                <a:latin typeface="SimSun" panose="02010600030101010101" pitchFamily="2" charset="-122"/>
                <a:ea typeface="SimSun" panose="02010600030101010101" pitchFamily="2" charset="-122"/>
              </a:rPr>
              <a:t>返回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695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为了避免不同文件冲突，一般宏名写成：</a:t>
            </a:r>
          </a:p>
          <a:p>
            <a:pPr rtl="0"/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&lt;PROJECT&gt;_&lt;FILENAME&gt;_H_</a:t>
            </a:r>
          </a:p>
          <a:p>
            <a:endParaRPr kumimoji="1" lang="en-US" altLang="zh-CN"/>
          </a:p>
          <a:p>
            <a:r>
              <a:rPr lang="zh-CN" altLang="en-US" b="1"/>
              <a:t>可选写法（</a:t>
            </a:r>
            <a:r>
              <a:rPr lang="en-US" altLang="zh-CN" b="1"/>
              <a:t>GCC</a:t>
            </a:r>
            <a:r>
              <a:rPr lang="zh-CN" altLang="en-US" b="1"/>
              <a:t>专用快捷形式）</a:t>
            </a:r>
          </a:p>
          <a:p>
            <a:r>
              <a:rPr lang="zh-CN" altLang="en-US"/>
              <a:t>有些编译器（如 </a:t>
            </a:r>
            <a:r>
              <a:rPr lang="en-US" altLang="zh-CN"/>
              <a:t>GCC</a:t>
            </a:r>
            <a:r>
              <a:rPr lang="zh-CN" altLang="en-US"/>
              <a:t>）支持：</a:t>
            </a:r>
          </a:p>
          <a:p>
            <a:pPr rtl="0"/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#pragma once</a:t>
            </a:r>
          </a:p>
          <a:p>
            <a:r>
              <a:rPr lang="zh-CN" altLang="en-US"/>
              <a:t>效果等价于上面的 </a:t>
            </a:r>
            <a:r>
              <a:rPr lang="en-US" altLang="zh-CN" sz="12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#ifndef</a:t>
            </a:r>
            <a:r>
              <a:rPr lang="en-US" altLang="zh-CN"/>
              <a:t> </a:t>
            </a:r>
            <a:r>
              <a:rPr lang="zh-CN" altLang="en-US"/>
              <a:t>写法，但更简洁，且避免宏命名冲突。</a:t>
            </a: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F9179-0068-694B-934B-DB8C77625225}" type="slidenum">
              <a:rPr lang="en-US" altLang="zh-CN"/>
              <a:pPr/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385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81503DA4-4AEE-EF3E-B64B-E9C34819D0B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507" name="Group 3">
              <a:extLst>
                <a:ext uri="{FF2B5EF4-FFF2-40B4-BE49-F238E27FC236}">
                  <a16:creationId xmlns:a16="http://schemas.microsoft.com/office/drawing/2014/main" id="{66027471-D725-9124-8864-2501296C4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508" name="Rectangle 4">
                <a:extLst>
                  <a:ext uri="{FF2B5EF4-FFF2-40B4-BE49-F238E27FC236}">
                    <a16:creationId xmlns:a16="http://schemas.microsoft.com/office/drawing/2014/main" id="{5932F676-70B2-D693-BA7E-4625409861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09" name="Rectangle 5">
                <a:extLst>
                  <a:ext uri="{FF2B5EF4-FFF2-40B4-BE49-F238E27FC236}">
                    <a16:creationId xmlns:a16="http://schemas.microsoft.com/office/drawing/2014/main" id="{E33E9C11-E740-FC1D-C1C5-A1331133D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10" name="Group 6">
              <a:extLst>
                <a:ext uri="{FF2B5EF4-FFF2-40B4-BE49-F238E27FC236}">
                  <a16:creationId xmlns:a16="http://schemas.microsoft.com/office/drawing/2014/main" id="{E69BF617-BA3A-60BC-BCC5-51A3E70F8F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511" name="Rectangle 7">
                <a:extLst>
                  <a:ext uri="{FF2B5EF4-FFF2-40B4-BE49-F238E27FC236}">
                    <a16:creationId xmlns:a16="http://schemas.microsoft.com/office/drawing/2014/main" id="{4F39F3E3-51A4-BA80-623D-3B3992787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12" name="Rectangle 8">
                <a:extLst>
                  <a:ext uri="{FF2B5EF4-FFF2-40B4-BE49-F238E27FC236}">
                    <a16:creationId xmlns:a16="http://schemas.microsoft.com/office/drawing/2014/main" id="{7E5A9622-5DDB-49AA-C18C-577EDA99F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13" name="Rectangle 9">
              <a:extLst>
                <a:ext uri="{FF2B5EF4-FFF2-40B4-BE49-F238E27FC236}">
                  <a16:creationId xmlns:a16="http://schemas.microsoft.com/office/drawing/2014/main" id="{38643B53-74DF-25BF-B7D5-20B035D61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4" name="Rectangle 10">
              <a:extLst>
                <a:ext uri="{FF2B5EF4-FFF2-40B4-BE49-F238E27FC236}">
                  <a16:creationId xmlns:a16="http://schemas.microsoft.com/office/drawing/2014/main" id="{51062C6C-7697-6FE0-24BE-DB43ABE62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Rectangle 11">
              <a:extLst>
                <a:ext uri="{FF2B5EF4-FFF2-40B4-BE49-F238E27FC236}">
                  <a16:creationId xmlns:a16="http://schemas.microsoft.com/office/drawing/2014/main" id="{E9BB101A-7AC8-01D3-17B8-BB1F6EB7B7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F230EF8F-1782-F95E-1934-3148855B52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29893107-DECD-1123-5CB1-51C2C9C8E8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9505386B-184E-E2AD-7C47-FD472CF6D6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223C46FD-2E9F-A0D7-304A-435D809649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D7BD741F-7C45-F158-5FD5-84F9C181AD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38AF427-3D4A-BC44-A5EA-76EF82B6050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856EA-43F2-4D45-4DFC-9EF84AD0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0887B-A17A-5CFA-7607-661E4218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D862CE-21F9-6610-B5C9-D6EE55C5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7EFC07-1A41-DAE1-2C24-858F58C9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CEDD0A-064A-7653-7310-D67D37E0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719EAD-036C-194C-B54B-B8A73940D1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5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669C8-0F87-71A0-1682-922DE9BCD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31746A-37CC-E23B-AB1C-48555EE77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9FFD4-3020-0424-AF63-A4ADCE2E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FDF67E-760C-8924-01A7-70BBB585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4E108-200C-A966-B493-C1B54286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B752E-3502-0243-8A3A-59F653340D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726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78A8B-6022-6503-B652-6ECEF6D8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9A8E6-F68A-197F-BA2F-9EE045B85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2108A4-23FA-FC0D-DF7E-88E6AEBEC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72F8C2-504F-381F-8F73-4957802A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6A530E-AD0D-A559-7576-C0A76359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860F79-83ED-B0E6-7248-60504C23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CC974-620E-A04F-AEEE-FD8449E722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009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96D62-16B7-37C9-9611-4F3357595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950DC4-941E-839E-3FDB-B282B56BE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B7D3B3-7762-769A-3B67-F1EB15330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0BBE41-59D2-9ADA-2071-AF8DB05E7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1FF2CF-6983-B024-7828-607A53C73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C48012-143F-EEC2-3E45-E3EC6729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EC53A1-0E1B-73D3-C131-3714FA71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CAB013-8180-12E8-754A-DFD08F24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27FFD7-671F-534A-84EB-968B918FDAB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59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FC4E8-C009-5E89-6D31-ED39636B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B249F7B-42A6-942E-CE38-D9C895967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2827E6-2B20-969D-F09D-28776CC3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BC7CD5-E829-BE19-E449-C04540BB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3A265-A373-F041-B694-8858C8471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91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CA3D46-CA44-6F7B-5B1B-370B0B558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055B46-B4F2-B554-483E-5D12FB5C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0E08B5-B3DF-E3D9-9208-BCB1DC4A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36D590-6299-644A-9F7A-97AE45C460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27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28DEB-1004-7A5B-98FD-030B0CA4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DD4E30-E7B8-10D5-C457-A12615DD7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712919-66EA-2A76-C448-A72829390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5C6237-4C05-5515-F6C2-65B9C9FE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2F20D9-4D9B-66AA-5DC6-E0530047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FC887A-9D19-4080-E8B3-FDA1714C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7B25F0-E468-DE40-89DD-8ABB2D8779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182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4564A-A04D-2917-8D07-399E69A2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CB399C-D100-4E5A-75A8-76F0C6099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F29FAC-4B3D-1458-EDE8-8BF30C6A2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1D40B7-5969-3B05-3DD1-FB7CF264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77575-56BB-A7DF-07BB-8FAE12BE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D526E-C79E-BA78-5983-6B990499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D56B1-2C9B-FA4C-B18A-C50AE8ED81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04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B89FA-7B4F-27ED-1127-D1594322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889B3B-9965-1B85-4732-8F3E20A0B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BFD02C-3056-048C-C4E8-035B6CC61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4F470-8EC0-5E7C-A8AE-E12FBE605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8A5F6A-2D34-B23B-C23E-AC7EA64D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5830F-D4B0-CF40-9F12-F5947179DD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126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055CE1-C467-EA2C-0439-8A973C35F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7E5C72-8D8C-A32E-DAE0-2EB07ACCB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8D21A-0432-1292-4107-A4D368CB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1EBD5-D35D-562E-6016-90D3A77D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04CC26-5E83-A52B-E391-405DE8A0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806C2C-0D11-9844-9414-2D684D38FB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66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CAC5C1E-472B-72B1-69D4-4E9138B225E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BC6530C-0C43-1811-DD0B-FCF89A5BB4E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32FCFE5-4FB9-DCA8-E57E-9F2A8151C6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230BD2A-F591-2547-CD74-841A8D10E1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659FD582-5CE6-DBFA-F868-03DB1FC1F7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5A852319-392D-8ADC-8FF9-CEEBCE6AF0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65B587BE-0FC5-A42E-4C0E-2523EB2403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zh-CN" altLang="zh-CN" sz="2400" i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0102AAC4-51F6-4B87-498A-9B1334572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99DF08C1-BCF2-074B-C261-AECFADDFF2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EED6E155-C2EA-D3A8-C56C-46B5580321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 i="0"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492" name="Rectangle 12">
            <a:extLst>
              <a:ext uri="{FF2B5EF4-FFF2-40B4-BE49-F238E27FC236}">
                <a16:creationId xmlns:a16="http://schemas.microsoft.com/office/drawing/2014/main" id="{75E4F199-F292-8E14-7EF6-625A0C4EDF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400" i="0"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EF2022D2-50F0-ACAD-843E-FD86CF2E6B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 i="0">
                <a:latin typeface="+mn-lt"/>
                <a:ea typeface="宋体" panose="02010600030101010101" pitchFamily="2" charset="-122"/>
              </a:defRPr>
            </a:lvl1pPr>
          </a:lstStyle>
          <a:p>
            <a:fld id="{F3CAE330-D2E1-624C-AD6E-1B74A201A5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Unicode MS" panose="020B0604020202020204" pitchFamily="34" charset="-128"/>
          <a:ea typeface="华文隶书" panose="020108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hontutor.com/render.html#mode=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hontutor.com/render.html#mode=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hontutor.com/render.html#mode=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render.html#mode=displa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hontutor.com/render.html#mode=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ythontutor.com/render.html#mode=displ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lib.bicea.edu.cn/jsjwh/tools/pc.jpg&amp;imgrefurl=http://lib.bicea.edu.cn/jsjwh/index.htm&amp;h=327&amp;w=300&amp;sz=21&amp;hl=zh-CN&amp;start=292&amp;tbnid=qLAHl96qtX_H8M:&amp;tbnh=118&amp;tbnw=108&amp;prev=/images%3Fq%3D%25E8%25AE%25A1%25E7%25AE%2597%25E6%259C%25BA%2B%25E5%259F%25BA%25E7%25A1%2580%26start%3D280%26gbv%3D2%26ndsp%3D20%26svnum%3D10%26hl%3Dzh-CN%26newwindow%3D1%26sa%3DN" TargetMode="Externa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Relationship Id="rId4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&#31532;4&#21608;%20%20&#20316;&#19994;.ppt#-1,1,PowerPoint &#28436;&#31034;&#25991;&#31295;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>
            <a:extLst>
              <a:ext uri="{FF2B5EF4-FFF2-40B4-BE49-F238E27FC236}">
                <a16:creationId xmlns:a16="http://schemas.microsoft.com/office/drawing/2014/main" id="{95D53EB0-7603-4D13-4B6B-2B5D75FF0ED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sz="7200">
                <a:solidFill>
                  <a:schemeClr val="folHlink"/>
                </a:solidFill>
              </a:rPr>
              <a:t>C</a:t>
            </a:r>
            <a:r>
              <a:rPr lang="zh-CN" altLang="en-US" sz="7200">
                <a:solidFill>
                  <a:schemeClr val="folHlink"/>
                </a:solidFill>
              </a:rPr>
              <a:t>语言程序设计</a:t>
            </a:r>
          </a:p>
        </p:txBody>
      </p:sp>
      <p:pic>
        <p:nvPicPr>
          <p:cNvPr id="2067" name="Picture 19">
            <a:hlinkClick r:id="rId2"/>
            <a:extLst>
              <a:ext uri="{FF2B5EF4-FFF2-40B4-BE49-F238E27FC236}">
                <a16:creationId xmlns:a16="http://schemas.microsoft.com/office/drawing/2014/main" id="{851078F0-FE4E-7926-A220-1A9617AC9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ABCC71E-72A1-C0B1-D924-05B0901CFE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章 函数</a:t>
            </a:r>
            <a:endParaRPr lang="zh-CN" altLang="en-US" sz="4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>
            <a:extLst>
              <a:ext uri="{FF2B5EF4-FFF2-40B4-BE49-F238E27FC236}">
                <a16:creationId xmlns:a16="http://schemas.microsoft.com/office/drawing/2014/main" id="{BFD6662B-9FE6-956F-22C8-40BFAC9B95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本节课我们将</a:t>
            </a:r>
            <a:r>
              <a:rPr lang="en-US" altLang="zh-CN"/>
              <a:t>…</a:t>
            </a:r>
          </a:p>
        </p:txBody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AB8B0D2E-13E5-CE0F-E5D3-876407473C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349752" cy="4114800"/>
          </a:xfrm>
        </p:spPr>
        <p:txBody>
          <a:bodyPr/>
          <a:lstStyle/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函数及其相关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函数的基本概念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库函数的使用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函数的定义、函数的调用</a:t>
            </a:r>
            <a:endParaRPr lang="en-US" altLang="zh-CN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变量作用域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参数的传递</a:t>
            </a:r>
            <a:endParaRPr lang="en-US" altLang="zh-CN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函数的返回值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递归函数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>
            <a:extLst>
              <a:ext uri="{FF2B5EF4-FFF2-40B4-BE49-F238E27FC236}">
                <a16:creationId xmlns:a16="http://schemas.microsoft.com/office/drawing/2014/main" id="{36ADE476-CE7A-8649-883B-4160B16A46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folHlink"/>
                </a:solidFill>
              </a:rPr>
              <a:t>函数的基本概念</a:t>
            </a:r>
          </a:p>
        </p:txBody>
      </p:sp>
      <p:pic>
        <p:nvPicPr>
          <p:cNvPr id="553987" name="Picture 3">
            <a:hlinkClick r:id="rId2"/>
            <a:extLst>
              <a:ext uri="{FF2B5EF4-FFF2-40B4-BE49-F238E27FC236}">
                <a16:creationId xmlns:a16="http://schemas.microsoft.com/office/drawing/2014/main" id="{4618DA65-9046-E8DC-A959-B315CE136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>
            <a:extLst>
              <a:ext uri="{FF2B5EF4-FFF2-40B4-BE49-F238E27FC236}">
                <a16:creationId xmlns:a16="http://schemas.microsoft.com/office/drawing/2014/main" id="{465ABF09-A354-0EC1-DC7D-6E8A990D3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假如不模块化</a:t>
            </a:r>
          </a:p>
        </p:txBody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DC6AC7A4-001C-1B1B-4421-0A46BD7C8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读多少行的程序能让你不头疼？</a:t>
            </a:r>
          </a:p>
          <a:p>
            <a:pPr>
              <a:spcAft>
                <a:spcPts val="600"/>
              </a:spcAft>
            </a:pPr>
            <a:r>
              <a:rPr lang="en-US" altLang="zh-CN" sz="2800" b="1">
                <a:latin typeface="Courier New" panose="02070309020205020404" pitchFamily="49" charset="0"/>
                <a:ea typeface="宋体" panose="02010600030101010101" pitchFamily="2" charset="-122"/>
              </a:rPr>
              <a:t>main()</a:t>
            </a:r>
            <a:r>
              <a:rPr lang="zh-CN" altLang="en-US" sz="2800" b="1">
                <a:ea typeface="宋体" panose="02010600030101010101" pitchFamily="2" charset="-122"/>
              </a:rPr>
              <a:t>当中能放多少行程序？</a:t>
            </a:r>
          </a:p>
          <a:p>
            <a:pPr>
              <a:spcAft>
                <a:spcPts val="6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假如</a:t>
            </a:r>
            <a:r>
              <a:rPr lang="en-US" altLang="zh-CN" sz="2800" b="1">
                <a:latin typeface="Courier New" panose="02070309020205020404" pitchFamily="49" charset="0"/>
                <a:ea typeface="宋体" panose="02010600030101010101" pitchFamily="2" charset="-122"/>
              </a:rPr>
              <a:t>printf()</a:t>
            </a:r>
            <a:r>
              <a:rPr lang="zh-CN" altLang="en-US" sz="2800" b="1">
                <a:ea typeface="宋体" panose="02010600030101010101" pitchFamily="2" charset="-122"/>
              </a:rPr>
              <a:t>函数由</a:t>
            </a:r>
            <a:r>
              <a:rPr lang="en-US" altLang="zh-CN" sz="2800" b="1">
                <a:ea typeface="宋体" panose="02010600030101010101" pitchFamily="2" charset="-122"/>
              </a:rPr>
              <a:t>10</a:t>
            </a:r>
            <a:r>
              <a:rPr lang="zh-CN" altLang="en-US" sz="2800" b="1">
                <a:ea typeface="宋体" panose="02010600030101010101" pitchFamily="2" charset="-122"/>
              </a:rPr>
              <a:t>行代码替换，那么你见过的程序会成什么样子？</a:t>
            </a:r>
          </a:p>
          <a:p>
            <a:pPr>
              <a:spcAft>
                <a:spcPts val="6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如果所有代码都在</a:t>
            </a:r>
            <a:r>
              <a:rPr lang="en-US" altLang="zh-CN" sz="2800" b="1">
                <a:latin typeface="Courier New" panose="02070309020205020404" pitchFamily="49" charset="0"/>
                <a:ea typeface="宋体" panose="02010600030101010101" pitchFamily="2" charset="-122"/>
              </a:rPr>
              <a:t>main()</a:t>
            </a:r>
            <a:r>
              <a:rPr lang="zh-CN" altLang="en-US" sz="2800" b="1">
                <a:ea typeface="宋体" panose="02010600030101010101" pitchFamily="2" charset="-122"/>
              </a:rPr>
              <a:t>当中，怎么团队合作？</a:t>
            </a:r>
          </a:p>
          <a:p>
            <a:pPr>
              <a:spcAft>
                <a:spcPts val="600"/>
              </a:spcAft>
            </a:pPr>
            <a:r>
              <a:rPr lang="zh-CN" altLang="en-US" sz="2800" b="1">
                <a:ea typeface="宋体" panose="02010600030101010101" pitchFamily="2" charset="-122"/>
              </a:rPr>
              <a:t>如果代码都在一个文件中，怎么团队合作？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4A85CAB8-4CDA-90B6-7013-6072C567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模块化的优点</a:t>
            </a:r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8A081B7F-D73B-9713-344A-60E5418D7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0938" y="2132855"/>
            <a:ext cx="7993062" cy="382661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ea typeface="宋体" panose="02010600030101010101" pitchFamily="2" charset="-122"/>
              </a:rPr>
              <a:t>模块各司其职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ea typeface="宋体" panose="02010600030101010101" pitchFamily="2" charset="-122"/>
              </a:rPr>
              <a:t>每个模块只负责一件事情，它可以更专心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ea typeface="宋体" panose="02010600030101010101" pitchFamily="2" charset="-122"/>
              </a:rPr>
              <a:t>便于进行单个模块的设计、开发、调试、测试和维护等工作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ea typeface="宋体" panose="02010600030101010101" pitchFamily="2" charset="-122"/>
              </a:rPr>
              <a:t>一个模块一个模块地完成，最后再将它们集成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ea typeface="宋体" panose="02010600030101010101" pitchFamily="2" charset="-122"/>
              </a:rPr>
              <a:t>开发人员各司其职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ea typeface="宋体" panose="02010600030101010101" pitchFamily="2" charset="-122"/>
              </a:rPr>
              <a:t>按模块分配任务，职责明确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ea typeface="宋体" panose="02010600030101010101" pitchFamily="2" charset="-122"/>
              </a:rPr>
              <a:t>并行开发，缩短开发时间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ea typeface="宋体" panose="02010600030101010101" pitchFamily="2" charset="-122"/>
              </a:rPr>
              <a:t>分而治之（</a:t>
            </a:r>
            <a:r>
              <a:rPr lang="en-US" altLang="zh-CN" sz="2400" b="1">
                <a:ea typeface="宋体" panose="02010600030101010101" pitchFamily="2" charset="-122"/>
              </a:rPr>
              <a:t>Wirth, 1971 </a:t>
            </a:r>
            <a:r>
              <a:rPr lang="zh-CN" altLang="en-US" sz="2400" b="1">
                <a:ea typeface="宋体" panose="02010600030101010101" pitchFamily="2" charset="-122"/>
              </a:rPr>
              <a:t>）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ea typeface="宋体" panose="02010600030101010101" pitchFamily="2" charset="-122"/>
              </a:rPr>
              <a:t>信息隐藏（</a:t>
            </a:r>
            <a:r>
              <a:rPr lang="en-US" altLang="zh-CN" sz="2400" b="1">
                <a:ea typeface="宋体" panose="02010600030101010101" pitchFamily="2" charset="-122"/>
              </a:rPr>
              <a:t>Parnas, 1972</a:t>
            </a:r>
            <a:r>
              <a:rPr lang="zh-CN" altLang="en-US" sz="2400" b="1">
                <a:ea typeface="宋体" panose="02010600030101010101" pitchFamily="2" charset="-122"/>
              </a:rPr>
              <a:t>）</a:t>
            </a:r>
            <a:endParaRPr lang="zh-CN" altLang="en-US" sz="2800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>
            <a:extLst>
              <a:ext uri="{FF2B5EF4-FFF2-40B4-BE49-F238E27FC236}">
                <a16:creationId xmlns:a16="http://schemas.microsoft.com/office/drawing/2014/main" id="{A8D07E90-200E-AE81-D0CF-04EFAC9BB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544" y="926530"/>
            <a:ext cx="8480425" cy="839788"/>
          </a:xfrm>
        </p:spPr>
        <p:txBody>
          <a:bodyPr/>
          <a:lstStyle/>
          <a:p>
            <a:r>
              <a:rPr lang="zh-CN" altLang="en-US" sz="4000"/>
              <a:t>函数（</a:t>
            </a:r>
            <a:r>
              <a:rPr lang="en-US" altLang="zh-CN" sz="4000"/>
              <a:t>function</a:t>
            </a:r>
            <a:r>
              <a:rPr lang="zh-CN" altLang="en-US" sz="4000"/>
              <a:t>）和模块（ </a:t>
            </a:r>
            <a:r>
              <a:rPr lang="en-US" altLang="zh-CN" sz="4000"/>
              <a:t>module</a:t>
            </a:r>
            <a:r>
              <a:rPr lang="zh-CN" altLang="en-US" sz="4000"/>
              <a:t>）</a:t>
            </a:r>
          </a:p>
        </p:txBody>
      </p:sp>
      <p:sp>
        <p:nvSpPr>
          <p:cNvPr id="561155" name="Rectangle 3">
            <a:extLst>
              <a:ext uri="{FF2B5EF4-FFF2-40B4-BE49-F238E27FC236}">
                <a16:creationId xmlns:a16="http://schemas.microsoft.com/office/drawing/2014/main" id="{3FD72687-4BBA-708D-2D7E-8AA5DA002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835150"/>
            <a:ext cx="7772400" cy="4114800"/>
          </a:xfrm>
        </p:spPr>
        <p:txBody>
          <a:bodyPr/>
          <a:lstStyle/>
          <a:p>
            <a:r>
              <a:rPr lang="zh-CN" altLang="en-US" sz="2800" b="1">
                <a:ea typeface="宋体" panose="02010600030101010101" pitchFamily="2" charset="-122"/>
              </a:rPr>
              <a:t>函数是</a:t>
            </a:r>
            <a:r>
              <a:rPr lang="en-US" altLang="zh-CN" sz="2800" b="1">
                <a:ea typeface="宋体" panose="02010600030101010101" pitchFamily="2" charset="-122"/>
              </a:rPr>
              <a:t>C</a:t>
            </a:r>
            <a:r>
              <a:rPr lang="zh-CN" altLang="en-US" sz="2800" b="1">
                <a:ea typeface="宋体" panose="02010600030101010101" pitchFamily="2" charset="-122"/>
              </a:rPr>
              <a:t>语言中模块化编程的最小单位</a:t>
            </a:r>
          </a:p>
          <a:p>
            <a:pPr lvl="1"/>
            <a:r>
              <a:rPr lang="zh-CN" altLang="en-US" sz="2400" b="1">
                <a:ea typeface="宋体" panose="02010600030101010101" pitchFamily="2" charset="-122"/>
              </a:rPr>
              <a:t>可以把每个函数看作一个模块</a:t>
            </a:r>
          </a:p>
          <a:p>
            <a:r>
              <a:rPr lang="zh-CN" altLang="en-US" sz="2800" b="1">
                <a:ea typeface="宋体" panose="02010600030101010101" pitchFamily="2" charset="-122"/>
              </a:rPr>
              <a:t>若干相关的函数可以合并作一个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en-US" sz="2800" b="1">
                <a:ea typeface="宋体" panose="02010600030101010101" pitchFamily="2" charset="-122"/>
              </a:rPr>
              <a:t>模块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endParaRPr lang="zh-CN" altLang="en-US" sz="2800" b="1">
              <a:ea typeface="宋体" panose="02010600030101010101" pitchFamily="2" charset="-122"/>
            </a:endParaRPr>
          </a:p>
        </p:txBody>
      </p:sp>
      <p:grpSp>
        <p:nvGrpSpPr>
          <p:cNvPr id="561156" name="Group 4">
            <a:extLst>
              <a:ext uri="{FF2B5EF4-FFF2-40B4-BE49-F238E27FC236}">
                <a16:creationId xmlns:a16="http://schemas.microsoft.com/office/drawing/2014/main" id="{00AC0446-F727-DBA4-891D-58C85511F61A}"/>
              </a:ext>
            </a:extLst>
          </p:cNvPr>
          <p:cNvGrpSpPr>
            <a:grpSpLocks/>
          </p:cNvGrpSpPr>
          <p:nvPr/>
        </p:nvGrpSpPr>
        <p:grpSpPr bwMode="auto">
          <a:xfrm>
            <a:off x="223838" y="3732213"/>
            <a:ext cx="4392612" cy="2801937"/>
            <a:chOff x="113" y="2341"/>
            <a:chExt cx="2767" cy="1765"/>
          </a:xfrm>
        </p:grpSpPr>
        <p:sp>
          <p:nvSpPr>
            <p:cNvPr id="561157" name="Text Box 5">
              <a:extLst>
                <a:ext uri="{FF2B5EF4-FFF2-40B4-BE49-F238E27FC236}">
                  <a16:creationId xmlns:a16="http://schemas.microsoft.com/office/drawing/2014/main" id="{6ABD172E-1D93-3290-2116-19898668F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2341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main()</a:t>
              </a:r>
            </a:p>
          </p:txBody>
        </p:sp>
        <p:sp>
          <p:nvSpPr>
            <p:cNvPr id="561158" name="Text Box 6">
              <a:extLst>
                <a:ext uri="{FF2B5EF4-FFF2-40B4-BE49-F238E27FC236}">
                  <a16:creationId xmlns:a16="http://schemas.microsoft.com/office/drawing/2014/main" id="{8CE87C2D-7F66-E47B-DDA6-AA3FC58B0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931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printf()</a:t>
              </a:r>
            </a:p>
          </p:txBody>
        </p:sp>
        <p:cxnSp>
          <p:nvCxnSpPr>
            <p:cNvPr id="561159" name="AutoShape 7">
              <a:extLst>
                <a:ext uri="{FF2B5EF4-FFF2-40B4-BE49-F238E27FC236}">
                  <a16:creationId xmlns:a16="http://schemas.microsoft.com/office/drawing/2014/main" id="{9C45CDA7-FB27-90C5-21B1-F1BBF6DBDB24}"/>
                </a:ext>
              </a:extLst>
            </p:cNvPr>
            <p:cNvCxnSpPr>
              <a:cxnSpLocks noChangeShapeType="1"/>
              <a:stCxn id="561157" idx="2"/>
              <a:endCxn id="561158" idx="0"/>
            </p:cNvCxnSpPr>
            <p:nvPr/>
          </p:nvCxnSpPr>
          <p:spPr bwMode="auto">
            <a:xfrm flipH="1">
              <a:off x="553" y="2618"/>
              <a:ext cx="953" cy="30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1160" name="Text Box 8">
              <a:extLst>
                <a:ext uri="{FF2B5EF4-FFF2-40B4-BE49-F238E27FC236}">
                  <a16:creationId xmlns:a16="http://schemas.microsoft.com/office/drawing/2014/main" id="{A375A927-5D18-E2D2-7131-946DE90C9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" y="2931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scanf()</a:t>
              </a:r>
            </a:p>
          </p:txBody>
        </p:sp>
        <p:cxnSp>
          <p:nvCxnSpPr>
            <p:cNvPr id="561161" name="AutoShape 9">
              <a:extLst>
                <a:ext uri="{FF2B5EF4-FFF2-40B4-BE49-F238E27FC236}">
                  <a16:creationId xmlns:a16="http://schemas.microsoft.com/office/drawing/2014/main" id="{49BF4E7D-A886-09A7-3DD4-BA0DA15CFF6E}"/>
                </a:ext>
              </a:extLst>
            </p:cNvPr>
            <p:cNvCxnSpPr>
              <a:cxnSpLocks noChangeShapeType="1"/>
              <a:stCxn id="561157" idx="2"/>
              <a:endCxn id="561160" idx="0"/>
            </p:cNvCxnSpPr>
            <p:nvPr/>
          </p:nvCxnSpPr>
          <p:spPr bwMode="auto">
            <a:xfrm>
              <a:off x="1506" y="2618"/>
              <a:ext cx="935" cy="30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1162" name="Text Box 10">
              <a:extLst>
                <a:ext uri="{FF2B5EF4-FFF2-40B4-BE49-F238E27FC236}">
                  <a16:creationId xmlns:a16="http://schemas.microsoft.com/office/drawing/2014/main" id="{FB6AAED8-CD5F-C674-8E2C-1E99345CB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3838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power()</a:t>
              </a:r>
            </a:p>
          </p:txBody>
        </p:sp>
        <p:cxnSp>
          <p:nvCxnSpPr>
            <p:cNvPr id="561163" name="AutoShape 11">
              <a:extLst>
                <a:ext uri="{FF2B5EF4-FFF2-40B4-BE49-F238E27FC236}">
                  <a16:creationId xmlns:a16="http://schemas.microsoft.com/office/drawing/2014/main" id="{9B9357DB-6E90-82C5-9142-B131F0F648F3}"/>
                </a:ext>
              </a:extLst>
            </p:cNvPr>
            <p:cNvCxnSpPr>
              <a:cxnSpLocks noChangeShapeType="1"/>
              <a:stCxn id="561157" idx="2"/>
              <a:endCxn id="561162" idx="0"/>
            </p:cNvCxnSpPr>
            <p:nvPr/>
          </p:nvCxnSpPr>
          <p:spPr bwMode="auto">
            <a:xfrm>
              <a:off x="1506" y="2618"/>
              <a:ext cx="0" cy="1211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1164" name="Text Box 12">
              <a:extLst>
                <a:ext uri="{FF2B5EF4-FFF2-40B4-BE49-F238E27FC236}">
                  <a16:creationId xmlns:a16="http://schemas.microsoft.com/office/drawing/2014/main" id="{928FE6EE-E716-968F-BF84-2AA399FBF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3385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putchar()</a:t>
              </a:r>
            </a:p>
          </p:txBody>
        </p:sp>
        <p:cxnSp>
          <p:nvCxnSpPr>
            <p:cNvPr id="561165" name="AutoShape 13">
              <a:extLst>
                <a:ext uri="{FF2B5EF4-FFF2-40B4-BE49-F238E27FC236}">
                  <a16:creationId xmlns:a16="http://schemas.microsoft.com/office/drawing/2014/main" id="{528B1396-8988-34B4-301E-A50A7B6A81E0}"/>
                </a:ext>
              </a:extLst>
            </p:cNvPr>
            <p:cNvCxnSpPr>
              <a:cxnSpLocks noChangeShapeType="1"/>
              <a:stCxn id="561158" idx="2"/>
              <a:endCxn id="561164" idx="0"/>
            </p:cNvCxnSpPr>
            <p:nvPr/>
          </p:nvCxnSpPr>
          <p:spPr bwMode="auto">
            <a:xfrm>
              <a:off x="553" y="3208"/>
              <a:ext cx="408" cy="16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1166" name="Text Box 14">
              <a:extLst>
                <a:ext uri="{FF2B5EF4-FFF2-40B4-BE49-F238E27FC236}">
                  <a16:creationId xmlns:a16="http://schemas.microsoft.com/office/drawing/2014/main" id="{04F44150-CF8E-227F-1BFC-90642EEF1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385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getchar()</a:t>
              </a:r>
            </a:p>
          </p:txBody>
        </p:sp>
        <p:cxnSp>
          <p:nvCxnSpPr>
            <p:cNvPr id="561167" name="AutoShape 15">
              <a:extLst>
                <a:ext uri="{FF2B5EF4-FFF2-40B4-BE49-F238E27FC236}">
                  <a16:creationId xmlns:a16="http://schemas.microsoft.com/office/drawing/2014/main" id="{7F106D28-0C10-68F0-7442-BB84EB5D3E9F}"/>
                </a:ext>
              </a:extLst>
            </p:cNvPr>
            <p:cNvCxnSpPr>
              <a:cxnSpLocks noChangeShapeType="1"/>
              <a:stCxn id="561160" idx="2"/>
              <a:endCxn id="561166" idx="0"/>
            </p:cNvCxnSpPr>
            <p:nvPr/>
          </p:nvCxnSpPr>
          <p:spPr bwMode="auto">
            <a:xfrm flipH="1">
              <a:off x="2050" y="3208"/>
              <a:ext cx="391" cy="16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1168" name="AutoShape 16">
              <a:extLst>
                <a:ext uri="{FF2B5EF4-FFF2-40B4-BE49-F238E27FC236}">
                  <a16:creationId xmlns:a16="http://schemas.microsoft.com/office/drawing/2014/main" id="{C8EA7CB6-B684-4535-FA2D-AA1981C119E0}"/>
                </a:ext>
              </a:extLst>
            </p:cNvPr>
            <p:cNvCxnSpPr>
              <a:cxnSpLocks noChangeShapeType="1"/>
              <a:stCxn id="561157" idx="2"/>
              <a:endCxn id="561164" idx="0"/>
            </p:cNvCxnSpPr>
            <p:nvPr/>
          </p:nvCxnSpPr>
          <p:spPr bwMode="auto">
            <a:xfrm flipH="1">
              <a:off x="961" y="2618"/>
              <a:ext cx="545" cy="7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1169" name="AutoShape 17">
              <a:extLst>
                <a:ext uri="{FF2B5EF4-FFF2-40B4-BE49-F238E27FC236}">
                  <a16:creationId xmlns:a16="http://schemas.microsoft.com/office/drawing/2014/main" id="{DFA8B933-01D0-A78F-1B9B-5C84CE269D4C}"/>
                </a:ext>
              </a:extLst>
            </p:cNvPr>
            <p:cNvCxnSpPr>
              <a:cxnSpLocks noChangeShapeType="1"/>
              <a:stCxn id="561157" idx="2"/>
              <a:endCxn id="561166" idx="0"/>
            </p:cNvCxnSpPr>
            <p:nvPr/>
          </p:nvCxnSpPr>
          <p:spPr bwMode="auto">
            <a:xfrm>
              <a:off x="1506" y="2618"/>
              <a:ext cx="544" cy="7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61170" name="Group 18">
            <a:extLst>
              <a:ext uri="{FF2B5EF4-FFF2-40B4-BE49-F238E27FC236}">
                <a16:creationId xmlns:a16="http://schemas.microsoft.com/office/drawing/2014/main" id="{C7E6EB01-07F2-98B9-F88E-2DD4255BD3D3}"/>
              </a:ext>
            </a:extLst>
          </p:cNvPr>
          <p:cNvGrpSpPr>
            <a:grpSpLocks/>
          </p:cNvGrpSpPr>
          <p:nvPr/>
        </p:nvGrpSpPr>
        <p:grpSpPr bwMode="auto">
          <a:xfrm>
            <a:off x="4976813" y="3732213"/>
            <a:ext cx="3771900" cy="2865437"/>
            <a:chOff x="3107" y="2026"/>
            <a:chExt cx="2376" cy="1805"/>
          </a:xfrm>
        </p:grpSpPr>
        <p:sp>
          <p:nvSpPr>
            <p:cNvPr id="561171" name="Text Box 19">
              <a:extLst>
                <a:ext uri="{FF2B5EF4-FFF2-40B4-BE49-F238E27FC236}">
                  <a16:creationId xmlns:a16="http://schemas.microsoft.com/office/drawing/2014/main" id="{E95FEE7B-DE5C-BD99-068C-7DC59A165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026"/>
              <a:ext cx="879" cy="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main()</a:t>
              </a:r>
            </a:p>
          </p:txBody>
        </p:sp>
        <p:sp>
          <p:nvSpPr>
            <p:cNvPr id="561172" name="Text Box 20">
              <a:extLst>
                <a:ext uri="{FF2B5EF4-FFF2-40B4-BE49-F238E27FC236}">
                  <a16:creationId xmlns:a16="http://schemas.microsoft.com/office/drawing/2014/main" id="{E38FFA98-979E-17EF-E55D-45C238638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795"/>
              <a:ext cx="1089" cy="10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stdio:</a:t>
              </a:r>
            </a:p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printf()</a:t>
              </a:r>
            </a:p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scanf()</a:t>
              </a:r>
            </a:p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putchar()</a:t>
              </a:r>
            </a:p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getchar()</a:t>
              </a:r>
            </a:p>
          </p:txBody>
        </p:sp>
        <p:sp>
          <p:nvSpPr>
            <p:cNvPr id="561173" name="Text Box 21">
              <a:extLst>
                <a:ext uri="{FF2B5EF4-FFF2-40B4-BE49-F238E27FC236}">
                  <a16:creationId xmlns:a16="http://schemas.microsoft.com/office/drawing/2014/main" id="{CDDF4EFA-BE15-4584-F11B-794F443C88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795"/>
              <a:ext cx="879" cy="46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mymdl:</a:t>
              </a:r>
            </a:p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power()</a:t>
              </a:r>
            </a:p>
          </p:txBody>
        </p:sp>
        <p:cxnSp>
          <p:nvCxnSpPr>
            <p:cNvPr id="561174" name="AutoShape 22">
              <a:extLst>
                <a:ext uri="{FF2B5EF4-FFF2-40B4-BE49-F238E27FC236}">
                  <a16:creationId xmlns:a16="http://schemas.microsoft.com/office/drawing/2014/main" id="{0F94B9CB-3EB8-6115-3AA5-48B4CB414A63}"/>
                </a:ext>
              </a:extLst>
            </p:cNvPr>
            <p:cNvCxnSpPr>
              <a:cxnSpLocks noChangeShapeType="1"/>
              <a:stCxn id="561171" idx="2"/>
              <a:endCxn id="561173" idx="0"/>
            </p:cNvCxnSpPr>
            <p:nvPr/>
          </p:nvCxnSpPr>
          <p:spPr bwMode="auto">
            <a:xfrm>
              <a:off x="4363" y="2303"/>
              <a:ext cx="681" cy="48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1175" name="AutoShape 23">
              <a:extLst>
                <a:ext uri="{FF2B5EF4-FFF2-40B4-BE49-F238E27FC236}">
                  <a16:creationId xmlns:a16="http://schemas.microsoft.com/office/drawing/2014/main" id="{636F4143-3C42-E04C-727B-061101664811}"/>
                </a:ext>
              </a:extLst>
            </p:cNvPr>
            <p:cNvCxnSpPr>
              <a:cxnSpLocks noChangeShapeType="1"/>
              <a:stCxn id="561171" idx="2"/>
              <a:endCxn id="561172" idx="0"/>
            </p:cNvCxnSpPr>
            <p:nvPr/>
          </p:nvCxnSpPr>
          <p:spPr bwMode="auto">
            <a:xfrm flipH="1">
              <a:off x="3652" y="2303"/>
              <a:ext cx="711" cy="483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1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1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500"/>
                                        <p:tgtEl>
                                          <p:spTgt spid="56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>
            <a:extLst>
              <a:ext uri="{FF2B5EF4-FFF2-40B4-BE49-F238E27FC236}">
                <a16:creationId xmlns:a16="http://schemas.microsoft.com/office/drawing/2014/main" id="{0F5F5C76-F525-EF5F-4206-32532C0F27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folHlink"/>
                </a:solidFill>
              </a:rPr>
              <a:t>函数的分类</a:t>
            </a:r>
          </a:p>
        </p:txBody>
      </p:sp>
      <p:pic>
        <p:nvPicPr>
          <p:cNvPr id="560131" name="Picture 3">
            <a:hlinkClick r:id="rId2"/>
            <a:extLst>
              <a:ext uri="{FF2B5EF4-FFF2-40B4-BE49-F238E27FC236}">
                <a16:creationId xmlns:a16="http://schemas.microsoft.com/office/drawing/2014/main" id="{87D1A31A-BA25-8EA0-2B07-D283C377C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>
            <a:extLst>
              <a:ext uri="{FF2B5EF4-FFF2-40B4-BE49-F238E27FC236}">
                <a16:creationId xmlns:a16="http://schemas.microsoft.com/office/drawing/2014/main" id="{CA55F9E8-DDFA-61B7-18B3-F69BA2828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函数的分类</a:t>
            </a:r>
          </a:p>
        </p:txBody>
      </p:sp>
      <p:sp>
        <p:nvSpPr>
          <p:cNvPr id="562179" name="Rectangle 3">
            <a:extLst>
              <a:ext uri="{FF2B5EF4-FFF2-40B4-BE49-F238E27FC236}">
                <a16:creationId xmlns:a16="http://schemas.microsoft.com/office/drawing/2014/main" id="{1E433659-14D5-B8E2-2313-8B76D2ED2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421760" cy="4114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 sz="2800" b="1">
                <a:ea typeface="宋体" panose="02010600030101010101" pitchFamily="2" charset="-122"/>
              </a:rPr>
              <a:t>函数生来都是平等的，没有高低贵贱之分，只有</a:t>
            </a:r>
            <a:r>
              <a:rPr lang="fr-FR" altLang="zh-CN" sz="2800" b="1">
                <a:latin typeface="Courier New" panose="02070309020205020404" pitchFamily="49" charset="0"/>
                <a:ea typeface="宋体" panose="02010600030101010101" pitchFamily="2" charset="-122"/>
              </a:rPr>
              <a:t>main()</a:t>
            </a:r>
            <a:r>
              <a:rPr lang="zh-CN" altLang="en-US" sz="2800" b="1">
                <a:ea typeface="宋体" panose="02010600030101010101" pitchFamily="2" charset="-122"/>
              </a:rPr>
              <a:t>稍微特殊一点点</a:t>
            </a:r>
          </a:p>
          <a:p>
            <a:pPr>
              <a:lnSpc>
                <a:spcPct val="85000"/>
              </a:lnSpc>
            </a:pPr>
            <a:r>
              <a:rPr lang="zh-CN" altLang="en-US" sz="2800" b="1">
                <a:ea typeface="宋体" panose="02010600030101010101" pitchFamily="2" charset="-122"/>
              </a:rPr>
              <a:t>库函数</a:t>
            </a:r>
          </a:p>
          <a:p>
            <a:pPr lvl="1">
              <a:lnSpc>
                <a:spcPct val="85000"/>
              </a:lnSpc>
            </a:pPr>
            <a:r>
              <a:rPr lang="en-US" altLang="zh-CN" sz="2400" b="1">
                <a:ea typeface="宋体" panose="02010600030101010101" pitchFamily="2" charset="-122"/>
              </a:rPr>
              <a:t>ANSI C</a:t>
            </a:r>
            <a:r>
              <a:rPr lang="zh-CN" altLang="en-US" sz="2400" b="1">
                <a:ea typeface="宋体" panose="02010600030101010101" pitchFamily="2" charset="-122"/>
              </a:rPr>
              <a:t>定义的标准库函数</a:t>
            </a:r>
          </a:p>
          <a:p>
            <a:pPr lvl="2">
              <a:lnSpc>
                <a:spcPct val="85000"/>
              </a:lnSpc>
            </a:pPr>
            <a:r>
              <a:rPr lang="zh-CN" altLang="en-US" sz="2000" b="1">
                <a:ea typeface="宋体" panose="02010600030101010101" pitchFamily="2" charset="-122"/>
              </a:rPr>
              <a:t>符合标准的</a:t>
            </a:r>
            <a:r>
              <a:rPr lang="en-US" altLang="zh-CN" sz="2000" b="1">
                <a:ea typeface="宋体" panose="02010600030101010101" pitchFamily="2" charset="-122"/>
              </a:rPr>
              <a:t>C</a:t>
            </a:r>
            <a:r>
              <a:rPr lang="zh-CN" altLang="en-US" sz="2000" b="1">
                <a:ea typeface="宋体" panose="02010600030101010101" pitchFamily="2" charset="-122"/>
              </a:rPr>
              <a:t>语言编译器必须提供这些函数</a:t>
            </a:r>
          </a:p>
          <a:p>
            <a:pPr lvl="2">
              <a:lnSpc>
                <a:spcPct val="85000"/>
              </a:lnSpc>
            </a:pPr>
            <a:r>
              <a:rPr lang="zh-CN" altLang="en-US" sz="2000" b="1">
                <a:ea typeface="宋体" panose="02010600030101010101" pitchFamily="2" charset="-122"/>
              </a:rPr>
              <a:t>函数的行为也要符合</a:t>
            </a:r>
            <a:r>
              <a:rPr lang="en-US" altLang="zh-CN" sz="2000" b="1">
                <a:ea typeface="宋体" panose="02010600030101010101" pitchFamily="2" charset="-122"/>
              </a:rPr>
              <a:t>ANSI C</a:t>
            </a:r>
            <a:r>
              <a:rPr lang="zh-CN" altLang="en-US" sz="2000" b="1">
                <a:ea typeface="宋体" panose="02010600030101010101" pitchFamily="2" charset="-122"/>
              </a:rPr>
              <a:t>的定义</a:t>
            </a:r>
          </a:p>
          <a:p>
            <a:pPr lvl="1">
              <a:lnSpc>
                <a:spcPct val="85000"/>
              </a:lnSpc>
            </a:pPr>
            <a:r>
              <a:rPr lang="zh-CN" altLang="en-US" sz="2400" b="1">
                <a:ea typeface="宋体" panose="02010600030101010101" pitchFamily="2" charset="-122"/>
              </a:rPr>
              <a:t>第三方库函数</a:t>
            </a:r>
          </a:p>
          <a:p>
            <a:pPr lvl="2">
              <a:lnSpc>
                <a:spcPct val="85000"/>
              </a:lnSpc>
            </a:pPr>
            <a:r>
              <a:rPr lang="zh-CN" altLang="en-US" sz="2000" b="1">
                <a:ea typeface="宋体" panose="02010600030101010101" pitchFamily="2" charset="-122"/>
              </a:rPr>
              <a:t>由其它厂商自行开发的</a:t>
            </a:r>
            <a:r>
              <a:rPr lang="en-US" altLang="zh-CN" sz="2000" b="1">
                <a:ea typeface="宋体" panose="02010600030101010101" pitchFamily="2" charset="-122"/>
              </a:rPr>
              <a:t>C</a:t>
            </a:r>
            <a:r>
              <a:rPr lang="zh-CN" altLang="en-US" sz="2000" b="1">
                <a:ea typeface="宋体" panose="02010600030101010101" pitchFamily="2" charset="-122"/>
              </a:rPr>
              <a:t>语言函数库</a:t>
            </a:r>
          </a:p>
          <a:p>
            <a:pPr lvl="2">
              <a:lnSpc>
                <a:spcPct val="85000"/>
              </a:lnSpc>
            </a:pPr>
            <a:r>
              <a:rPr lang="zh-CN" altLang="en-US" sz="2000" b="1">
                <a:ea typeface="宋体" panose="02010600030101010101" pitchFamily="2" charset="-122"/>
              </a:rPr>
              <a:t>不在标准范围内，能扩充</a:t>
            </a:r>
            <a:r>
              <a:rPr lang="en-US" altLang="zh-CN" sz="2000" b="1">
                <a:ea typeface="宋体" panose="02010600030101010101" pitchFamily="2" charset="-122"/>
              </a:rPr>
              <a:t>C</a:t>
            </a:r>
            <a:r>
              <a:rPr lang="zh-CN" altLang="en-US" sz="2000" b="1">
                <a:ea typeface="宋体" panose="02010600030101010101" pitchFamily="2" charset="-122"/>
              </a:rPr>
              <a:t>语言的功能</a:t>
            </a:r>
          </a:p>
          <a:p>
            <a:pPr>
              <a:lnSpc>
                <a:spcPct val="85000"/>
              </a:lnSpc>
            </a:pPr>
            <a:r>
              <a:rPr lang="zh-CN" altLang="en-US" sz="2800" b="1">
                <a:ea typeface="宋体" panose="02010600030101010101" pitchFamily="2" charset="-122"/>
              </a:rPr>
              <a:t>自定义函数</a:t>
            </a:r>
          </a:p>
          <a:p>
            <a:pPr lvl="1">
              <a:lnSpc>
                <a:spcPct val="85000"/>
              </a:lnSpc>
            </a:pPr>
            <a:r>
              <a:rPr lang="zh-CN" altLang="en-US" sz="2400" b="1">
                <a:ea typeface="宋体" panose="02010600030101010101" pitchFamily="2" charset="-122"/>
              </a:rPr>
              <a:t>自己编写的函数</a:t>
            </a:r>
          </a:p>
          <a:p>
            <a:pPr lvl="2">
              <a:lnSpc>
                <a:spcPct val="85000"/>
              </a:lnSpc>
            </a:pPr>
            <a:r>
              <a:rPr lang="zh-CN" altLang="en-US" sz="2000" b="1">
                <a:ea typeface="宋体" panose="02010600030101010101" pitchFamily="2" charset="-122"/>
              </a:rPr>
              <a:t>包装后，也可成为函数库，供别人使用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>
            <a:extLst>
              <a:ext uri="{FF2B5EF4-FFF2-40B4-BE49-F238E27FC236}">
                <a16:creationId xmlns:a16="http://schemas.microsoft.com/office/drawing/2014/main" id="{1593B159-DE7B-52AA-CB2F-6E90FE3D0B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folHlink"/>
                </a:solidFill>
              </a:rPr>
              <a:t>函数的定义</a:t>
            </a:r>
          </a:p>
        </p:txBody>
      </p:sp>
      <p:pic>
        <p:nvPicPr>
          <p:cNvPr id="563203" name="Picture 3">
            <a:hlinkClick r:id="rId2"/>
            <a:extLst>
              <a:ext uri="{FF2B5EF4-FFF2-40B4-BE49-F238E27FC236}">
                <a16:creationId xmlns:a16="http://schemas.microsoft.com/office/drawing/2014/main" id="{9B84DA66-12CA-ED9A-BF53-E8BE61336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>
            <a:extLst>
              <a:ext uri="{FF2B5EF4-FFF2-40B4-BE49-F238E27FC236}">
                <a16:creationId xmlns:a16="http://schemas.microsoft.com/office/drawing/2014/main" id="{293CADD9-0ADD-3A63-02E1-A8DECED35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函数定义（</a:t>
            </a:r>
            <a:r>
              <a:rPr lang="en-US" altLang="zh-CN"/>
              <a:t>definition</a:t>
            </a:r>
            <a:r>
              <a:rPr lang="zh-CN" altLang="en-US"/>
              <a:t>）</a:t>
            </a:r>
          </a:p>
        </p:txBody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111FBA51-8233-E445-9D01-A6E0B4183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4928" y="3521348"/>
            <a:ext cx="8229600" cy="33242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类型 函数名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类型 参数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1, </a:t>
            </a: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类型 参数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2, ……)</a:t>
            </a:r>
            <a:b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函数体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800" b="1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Courier New" panose="02070309020205020404" pitchFamily="49" charset="0"/>
              </a:rPr>
              <a:t>表达式</a:t>
            </a: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zh-CN" sz="28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64228" name="AutoShape 4">
            <a:extLst>
              <a:ext uri="{FF2B5EF4-FFF2-40B4-BE49-F238E27FC236}">
                <a16:creationId xmlns:a16="http://schemas.microsoft.com/office/drawing/2014/main" id="{7F955D34-48FA-F69E-130B-31F890D3D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28" y="2203723"/>
            <a:ext cx="1547813" cy="1081087"/>
          </a:xfrm>
          <a:prstGeom prst="wedgeEllipseCallout">
            <a:avLst>
              <a:gd name="adj1" fmla="val 23435"/>
              <a:gd name="adj2" fmla="val 65273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返回值类型</a:t>
            </a:r>
          </a:p>
        </p:txBody>
      </p:sp>
      <p:sp>
        <p:nvSpPr>
          <p:cNvPr id="564229" name="AutoShape 5">
            <a:extLst>
              <a:ext uri="{FF2B5EF4-FFF2-40B4-BE49-F238E27FC236}">
                <a16:creationId xmlns:a16="http://schemas.microsoft.com/office/drawing/2014/main" id="{82EF26FD-D480-6457-D5E2-7E72AAAD4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5903" y="2203723"/>
            <a:ext cx="1906588" cy="647700"/>
          </a:xfrm>
          <a:prstGeom prst="wedgeEllipseCallout">
            <a:avLst>
              <a:gd name="adj1" fmla="val -35264"/>
              <a:gd name="adj2" fmla="val 13774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标识符</a:t>
            </a:r>
          </a:p>
        </p:txBody>
      </p:sp>
      <p:sp>
        <p:nvSpPr>
          <p:cNvPr id="564230" name="AutoShape 6">
            <a:extLst>
              <a:ext uri="{FF2B5EF4-FFF2-40B4-BE49-F238E27FC236}">
                <a16:creationId xmlns:a16="http://schemas.microsoft.com/office/drawing/2014/main" id="{3EE6EFF0-3C64-6386-89EF-B5D772FCD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66" y="2060848"/>
            <a:ext cx="1906587" cy="647700"/>
          </a:xfrm>
          <a:prstGeom prst="wedgeEllipseCallout">
            <a:avLst>
              <a:gd name="adj1" fmla="val -6954"/>
              <a:gd name="adj2" fmla="val 9215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参数表</a:t>
            </a:r>
          </a:p>
        </p:txBody>
      </p:sp>
      <p:sp>
        <p:nvSpPr>
          <p:cNvPr id="564231" name="AutoShape 7">
            <a:extLst>
              <a:ext uri="{FF2B5EF4-FFF2-40B4-BE49-F238E27FC236}">
                <a16:creationId xmlns:a16="http://schemas.microsoft.com/office/drawing/2014/main" id="{67694154-1892-6C7A-3A71-979517782B5F}"/>
              </a:ext>
            </a:extLst>
          </p:cNvPr>
          <p:cNvSpPr>
            <a:spLocks/>
          </p:cNvSpPr>
          <p:nvPr/>
        </p:nvSpPr>
        <p:spPr bwMode="auto">
          <a:xfrm rot="-5400000">
            <a:off x="5641528" y="763860"/>
            <a:ext cx="504825" cy="4968875"/>
          </a:xfrm>
          <a:prstGeom prst="rightBrace">
            <a:avLst>
              <a:gd name="adj1" fmla="val 8202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4232" name="AutoShape 8">
            <a:extLst>
              <a:ext uri="{FF2B5EF4-FFF2-40B4-BE49-F238E27FC236}">
                <a16:creationId xmlns:a16="http://schemas.microsoft.com/office/drawing/2014/main" id="{F21DA523-59D3-18C7-2528-88A41DD2F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453" y="5802585"/>
            <a:ext cx="1547813" cy="793750"/>
          </a:xfrm>
          <a:prstGeom prst="wedgeEllipseCallout">
            <a:avLst>
              <a:gd name="adj1" fmla="val -144051"/>
              <a:gd name="adj2" fmla="val -122801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返回值</a:t>
            </a:r>
          </a:p>
        </p:txBody>
      </p:sp>
      <p:sp>
        <p:nvSpPr>
          <p:cNvPr id="564233" name="AutoShape 9">
            <a:extLst>
              <a:ext uri="{FF2B5EF4-FFF2-40B4-BE49-F238E27FC236}">
                <a16:creationId xmlns:a16="http://schemas.microsoft.com/office/drawing/2014/main" id="{40B22D3C-AE4F-C7E7-C2E6-6E9091B5F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178" y="5875610"/>
            <a:ext cx="2160588" cy="720725"/>
          </a:xfrm>
          <a:prstGeom prst="wedgeEllipseCallout">
            <a:avLst>
              <a:gd name="adj1" fmla="val 2241"/>
              <a:gd name="adj2" fmla="val -141852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函数出口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6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6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228" grpId="0" animBg="1"/>
      <p:bldP spid="564229" grpId="0" animBg="1"/>
      <p:bldP spid="564230" grpId="0" animBg="1"/>
      <p:bldP spid="564232" grpId="0" animBg="1"/>
      <p:bldP spid="5642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0882A2D4-A642-4F4B-2B31-05F31CAD5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函数定义（</a:t>
            </a:r>
            <a:r>
              <a:rPr lang="en-US" altLang="zh-CN"/>
              <a:t>definition</a:t>
            </a:r>
            <a:r>
              <a:rPr lang="zh-CN" altLang="en-US"/>
              <a:t>）</a:t>
            </a: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E1CFB930-64AB-FE4E-DFE4-2C50EC5B8E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2098" y="1988840"/>
            <a:ext cx="7988374" cy="43204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函数是这样的一种运算：</a:t>
            </a:r>
          </a:p>
          <a:p>
            <a:pPr lvl="1">
              <a:spcAft>
                <a:spcPts val="600"/>
              </a:spcAft>
            </a:pPr>
            <a:r>
              <a:rPr lang="zh-CN" altLang="en-US" sz="16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函数名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说明运算规则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功能（</a:t>
            </a:r>
            <a:r>
              <a:rPr lang="en-US" altLang="zh-CN" sz="16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6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语言不允许函数重名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lvl="1">
              <a:spcAft>
                <a:spcPts val="600"/>
              </a:spcAft>
            </a:pPr>
            <a:r>
              <a:rPr lang="zh-CN" altLang="en-US" sz="16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是运算的操作数</a:t>
            </a:r>
          </a:p>
          <a:p>
            <a:pPr lvl="1">
              <a:spcAft>
                <a:spcPts val="600"/>
              </a:spcAft>
            </a:pPr>
            <a:r>
              <a:rPr lang="zh-CN" altLang="en-US" sz="16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返回值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是运算的结果</a:t>
            </a:r>
          </a:p>
          <a:p>
            <a:pPr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当函数执行到</a:t>
            </a:r>
            <a:r>
              <a:rPr lang="en-US" altLang="zh-CN" sz="18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return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语句或 </a:t>
            </a:r>
            <a:r>
              <a:rPr lang="en-US" altLang="zh-CN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 时，函数的运算停止。程序从当次调用函数的地方继续执行</a:t>
            </a:r>
          </a:p>
          <a:p>
            <a:pPr lvl="1">
              <a:spcAft>
                <a:spcPts val="600"/>
              </a:spcAft>
            </a:pP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函数可以有多个</a:t>
            </a:r>
            <a:r>
              <a:rPr lang="en-US" altLang="zh-CN" sz="16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return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，但最好只有一个且是最后一行</a:t>
            </a:r>
          </a:p>
          <a:p>
            <a:pPr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用</a:t>
            </a:r>
            <a:r>
              <a:rPr lang="en-US" altLang="zh-CN" sz="18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定义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返回值类型</a:t>
            </a:r>
          </a:p>
          <a:p>
            <a:pPr lvl="1">
              <a:spcAft>
                <a:spcPts val="600"/>
              </a:spcAft>
            </a:pP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函数没有运算结果，没有返回值</a:t>
            </a:r>
          </a:p>
          <a:p>
            <a:pPr lvl="1">
              <a:spcAft>
                <a:spcPts val="600"/>
              </a:spcAft>
            </a:pPr>
            <a:r>
              <a:rPr lang="en-US" altLang="zh-CN" sz="16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return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语句之后不需要任何表达式，或不需要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return</a:t>
            </a:r>
            <a:r>
              <a:rPr lang="zh-CN" altLang="en-US" sz="1600" b="1">
                <a:latin typeface="SimSun" panose="02010600030101010101" pitchFamily="2" charset="-122"/>
                <a:ea typeface="SimSun" panose="02010600030101010101" pitchFamily="2" charset="-122"/>
              </a:rPr>
              <a:t>语句</a:t>
            </a:r>
            <a:endParaRPr lang="zh-CN" altLang="en-US" sz="1600" b="1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用</a:t>
            </a:r>
            <a:r>
              <a:rPr lang="en-US" altLang="zh-CN" sz="18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定义</a:t>
            </a:r>
            <a:r>
              <a:rPr lang="zh-CN" altLang="en-US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参数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，表示没有参数</a:t>
            </a:r>
          </a:p>
          <a:p>
            <a:pPr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参数表里的参数（叫</a:t>
            </a:r>
            <a:r>
              <a:rPr lang="zh-CN" altLang="en-US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形式参数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parameter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）也是函数的语句块内的变量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64848-21A3-C9FF-45EC-98081F5C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9D75733F-4DC8-1191-013D-20F8144A5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函数定义（</a:t>
            </a:r>
            <a:r>
              <a:rPr lang="en-US" altLang="zh-CN"/>
              <a:t>definition</a:t>
            </a:r>
            <a:r>
              <a:rPr lang="zh-CN" altLang="en-US"/>
              <a:t>）</a:t>
            </a:r>
          </a:p>
        </p:txBody>
      </p:sp>
      <p:pic>
        <p:nvPicPr>
          <p:cNvPr id="1026" name="Picture 2" descr="Function Defination in C">
            <a:extLst>
              <a:ext uri="{FF2B5EF4-FFF2-40B4-BE49-F238E27FC236}">
                <a16:creationId xmlns:a16="http://schemas.microsoft.com/office/drawing/2014/main" id="{B91C1591-8B10-D4F9-34CC-CF1FFB68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72" y="2060848"/>
            <a:ext cx="7348256" cy="406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A584AA2-99D4-A53D-9BF8-DDC45E2CEFEB}"/>
              </a:ext>
            </a:extLst>
          </p:cNvPr>
          <p:cNvSpPr txBox="1"/>
          <p:nvPr/>
        </p:nvSpPr>
        <p:spPr>
          <a:xfrm>
            <a:off x="3131840" y="6352530"/>
            <a:ext cx="30963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</a:rPr>
              <a:t>https://www.geeksforgeeks.org/c-functions/?ref=shm</a:t>
            </a:r>
          </a:p>
        </p:txBody>
      </p:sp>
    </p:spTree>
    <p:extLst>
      <p:ext uri="{BB962C8B-B14F-4D97-AF65-F5344CB8AC3E}">
        <p14:creationId xmlns:p14="http://schemas.microsoft.com/office/powerpoint/2010/main" val="2275961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D9CA0-B378-F97D-2000-E03B2A59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348B82C7-9D03-2D1C-6420-F2C712AEB6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函数定义（</a:t>
            </a:r>
            <a:r>
              <a:rPr lang="en-US" altLang="zh-CN"/>
              <a:t>definition</a:t>
            </a:r>
            <a:r>
              <a:rPr lang="zh-CN" altLang="en-US"/>
              <a:t>）</a:t>
            </a: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26759F07-87F9-859C-5B14-96B7CA22D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1850" y="2132856"/>
            <a:ext cx="7793037" cy="432048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000" b="1"/>
              <a:t>函数参数和返回值的</a:t>
            </a:r>
            <a:r>
              <a:rPr lang="zh-CN" altLang="en-US" sz="2000" b="1">
                <a:solidFill>
                  <a:srgbClr val="0070C0"/>
                </a:solidFill>
              </a:rPr>
              <a:t>四种情况</a:t>
            </a:r>
            <a:r>
              <a:rPr lang="zh-CN" altLang="en-US" sz="2000" b="1"/>
              <a:t>：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800" b="1"/>
              <a:t>Function with arguments and return value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800" b="1"/>
              <a:t>Function with arguments and no return value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800" b="1"/>
              <a:t>Function with no arguments and with return value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800" b="1"/>
              <a:t>Function with no arguments and no return value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120FEB-CF7B-26D5-D13B-201DB1F2C18D}"/>
              </a:ext>
            </a:extLst>
          </p:cNvPr>
          <p:cNvSpPr txBox="1"/>
          <p:nvPr/>
        </p:nvSpPr>
        <p:spPr>
          <a:xfrm>
            <a:off x="2555776" y="6654552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</a:rPr>
              <a:t>https://www.geeksforgeeks.org/c-function-argument-return-values/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761A56-1A62-DEB2-5EA6-15D558900F71}"/>
              </a:ext>
            </a:extLst>
          </p:cNvPr>
          <p:cNvSpPr txBox="1"/>
          <p:nvPr/>
        </p:nvSpPr>
        <p:spPr>
          <a:xfrm>
            <a:off x="1007604" y="4153548"/>
            <a:ext cx="3096344" cy="2049792"/>
          </a:xfrm>
          <a:prstGeom prst="rect">
            <a:avLst/>
          </a:prstGeom>
          <a:noFill/>
          <a:ln>
            <a:solidFill>
              <a:schemeClr val="accent5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i="0"/>
              <a:t>// C code for function with no</a:t>
            </a:r>
          </a:p>
          <a:p>
            <a:pPr>
              <a:buNone/>
            </a:pPr>
            <a:r>
              <a:rPr lang="zh-CN" altLang="en-US" sz="1200" i="0"/>
              <a:t>// arguments and no return value</a:t>
            </a:r>
          </a:p>
          <a:p>
            <a:pPr>
              <a:buNone/>
            </a:pPr>
            <a:r>
              <a:rPr lang="zh-CN" altLang="en-US" sz="1200" i="0"/>
              <a:t>#include &lt;stdio.h&gt;</a:t>
            </a:r>
          </a:p>
          <a:p>
            <a:pPr>
              <a:buNone/>
            </a:pPr>
            <a:endParaRPr lang="zh-CN" altLang="en-US" sz="1200" i="0"/>
          </a:p>
          <a:p>
            <a:pPr>
              <a:buNone/>
            </a:pPr>
            <a:r>
              <a:rPr lang="zh-CN" altLang="en-US" sz="1200" i="0"/>
              <a:t>void value(void);</a:t>
            </a:r>
          </a:p>
          <a:p>
            <a:pPr>
              <a:buNone/>
            </a:pPr>
            <a:endParaRPr lang="zh-CN" altLang="en-US" sz="1200" i="0"/>
          </a:p>
          <a:p>
            <a:pPr>
              <a:buNone/>
            </a:pPr>
            <a:r>
              <a:rPr lang="zh-CN" altLang="en-US" sz="1200" i="0"/>
              <a:t>void main() { </a:t>
            </a:r>
          </a:p>
          <a:p>
            <a:pPr>
              <a:buNone/>
            </a:pPr>
            <a:r>
              <a:rPr lang="zh-CN" altLang="en-US" sz="1200" i="0"/>
              <a:t>  value(); </a:t>
            </a:r>
          </a:p>
          <a:p>
            <a:pPr>
              <a:buNone/>
            </a:pPr>
            <a:r>
              <a:rPr lang="zh-CN" altLang="en-US" sz="1200" i="0"/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670F1B-F8BF-0503-C95C-7EF218A2D065}"/>
              </a:ext>
            </a:extLst>
          </p:cNvPr>
          <p:cNvSpPr txBox="1"/>
          <p:nvPr/>
        </p:nvSpPr>
        <p:spPr>
          <a:xfrm>
            <a:off x="4497503" y="4077072"/>
            <a:ext cx="4195394" cy="2492990"/>
          </a:xfrm>
          <a:prstGeom prst="rect">
            <a:avLst/>
          </a:prstGeom>
          <a:noFill/>
          <a:ln>
            <a:solidFill>
              <a:schemeClr val="accent5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i="0"/>
              <a:t>void value(void)</a:t>
            </a:r>
          </a:p>
          <a:p>
            <a:pPr>
              <a:buNone/>
            </a:pPr>
            <a:r>
              <a:rPr lang="zh-CN" altLang="en-US" sz="1200" i="0"/>
              <a:t>{</a:t>
            </a:r>
          </a:p>
          <a:p>
            <a:pPr>
              <a:buNone/>
            </a:pPr>
            <a:r>
              <a:rPr lang="zh-CN" altLang="en-US" sz="1200" i="0"/>
              <a:t>    float year = 1, period = 5, amount = 5000, inrate = 0.12;</a:t>
            </a:r>
          </a:p>
          <a:p>
            <a:pPr>
              <a:buNone/>
            </a:pPr>
            <a:r>
              <a:rPr lang="zh-CN" altLang="en-US" sz="1200" i="0"/>
              <a:t>    float sum;</a:t>
            </a:r>
          </a:p>
          <a:p>
            <a:pPr>
              <a:buNone/>
            </a:pPr>
            <a:r>
              <a:rPr lang="zh-CN" altLang="en-US" sz="1200" i="0"/>
              <a:t>    sum = amount;</a:t>
            </a:r>
          </a:p>
          <a:p>
            <a:pPr>
              <a:buNone/>
            </a:pPr>
            <a:r>
              <a:rPr lang="zh-CN" altLang="en-US" sz="1200" i="0"/>
              <a:t>    while (year &lt;= period) {</a:t>
            </a:r>
          </a:p>
          <a:p>
            <a:pPr>
              <a:buNone/>
            </a:pPr>
            <a:r>
              <a:rPr lang="zh-CN" altLang="en-US" sz="1200" i="0"/>
              <a:t>        sum = sum * (1 + inrate);</a:t>
            </a:r>
          </a:p>
          <a:p>
            <a:pPr>
              <a:buNone/>
            </a:pPr>
            <a:r>
              <a:rPr lang="zh-CN" altLang="en-US" sz="1200" i="0"/>
              <a:t>        year = year + 1;</a:t>
            </a:r>
          </a:p>
          <a:p>
            <a:pPr>
              <a:buNone/>
            </a:pPr>
            <a:r>
              <a:rPr lang="zh-CN" altLang="en-US" sz="1200" i="0"/>
              <a:t>    }</a:t>
            </a:r>
          </a:p>
          <a:p>
            <a:pPr>
              <a:buNone/>
            </a:pPr>
            <a:r>
              <a:rPr lang="zh-CN" altLang="en-US" sz="1200" i="0"/>
              <a:t>    printf(" The total amount is :%f", sum);</a:t>
            </a:r>
          </a:p>
          <a:p>
            <a:pPr>
              <a:buNone/>
            </a:pPr>
            <a:r>
              <a:rPr lang="zh-CN" altLang="en-US" sz="1200" i="0"/>
              <a:t>}</a:t>
            </a:r>
          </a:p>
        </p:txBody>
      </p:sp>
      <p:sp>
        <p:nvSpPr>
          <p:cNvPr id="2" name="圆角右箭头 1">
            <a:extLst>
              <a:ext uri="{FF2B5EF4-FFF2-40B4-BE49-F238E27FC236}">
                <a16:creationId xmlns:a16="http://schemas.microsoft.com/office/drawing/2014/main" id="{DA06250D-4EAD-360E-B2A3-47AE847BEB68}"/>
              </a:ext>
            </a:extLst>
          </p:cNvPr>
          <p:cNvSpPr/>
          <p:nvPr/>
        </p:nvSpPr>
        <p:spPr bwMode="auto">
          <a:xfrm rot="5400000">
            <a:off x="7452320" y="3645024"/>
            <a:ext cx="360040" cy="504056"/>
          </a:xfrm>
          <a:prstGeom prst="ben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u"/>
              <a:tabLst/>
            </a:pPr>
            <a:endParaRPr kumimoji="0" lang="zh-CN" altLang="en-US" sz="32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673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962C3842-E847-384E-C3EB-354D0655ED1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folHlink"/>
                </a:solidFill>
              </a:rPr>
              <a:t>函数的声明与调用</a:t>
            </a:r>
          </a:p>
        </p:txBody>
      </p:sp>
      <p:pic>
        <p:nvPicPr>
          <p:cNvPr id="584707" name="Picture 3">
            <a:hlinkClick r:id="rId2"/>
            <a:extLst>
              <a:ext uri="{FF2B5EF4-FFF2-40B4-BE49-F238E27FC236}">
                <a16:creationId xmlns:a16="http://schemas.microsoft.com/office/drawing/2014/main" id="{C1781EB7-BFD7-B579-4984-FAD2FA78D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>
            <a:extLst>
              <a:ext uri="{FF2B5EF4-FFF2-40B4-BE49-F238E27FC236}">
                <a16:creationId xmlns:a16="http://schemas.microsoft.com/office/drawing/2014/main" id="{F6F48733-A546-51BD-8CE0-C56D2AB4B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函数调用（</a:t>
            </a:r>
            <a:r>
              <a:rPr lang="en-US" altLang="zh-CN"/>
              <a:t>call</a:t>
            </a:r>
            <a:r>
              <a:rPr lang="zh-CN" altLang="en-US"/>
              <a:t>）</a:t>
            </a:r>
          </a:p>
        </p:txBody>
      </p:sp>
      <p:sp>
        <p:nvSpPr>
          <p:cNvPr id="580611" name="Rectangle 3">
            <a:extLst>
              <a:ext uri="{FF2B5EF4-FFF2-40B4-BE49-F238E27FC236}">
                <a16:creationId xmlns:a16="http://schemas.microsoft.com/office/drawing/2014/main" id="{3E9C8955-7A99-58A1-5C3F-A778B31165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584" y="2017713"/>
            <a:ext cx="7920880" cy="411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函数名</a:t>
            </a:r>
            <a:r>
              <a:rPr lang="en-US" altLang="zh-CN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表达式</a:t>
            </a:r>
            <a:r>
              <a:rPr lang="en-US" altLang="zh-CN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1, 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表达式</a:t>
            </a:r>
            <a:r>
              <a:rPr lang="en-US" altLang="zh-CN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2, ……);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调用一个函数之前，先要对其返回值类型、函数名和参数进行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声明（</a:t>
            </a:r>
            <a:r>
              <a:rPr lang="en-US" altLang="zh-CN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declaration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函数定义也有声明函数的效果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调用函数时，提供的表达式（叫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实际参数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, argument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）和该函数的形式参数必须匹配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数目一致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类型一一对应（会发生自动类型转换）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表达式的值赋值给对应的参数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返回值可以按需处理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>
            <a:extLst>
              <a:ext uri="{FF2B5EF4-FFF2-40B4-BE49-F238E27FC236}">
                <a16:creationId xmlns:a16="http://schemas.microsoft.com/office/drawing/2014/main" id="{F0D66C16-EB45-4FDF-26CC-9FB72A4B0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函数调用的过程</a:t>
            </a:r>
          </a:p>
        </p:txBody>
      </p:sp>
      <p:sp>
        <p:nvSpPr>
          <p:cNvPr id="582659" name="Rectangle 3">
            <a:extLst>
              <a:ext uri="{FF2B5EF4-FFF2-40B4-BE49-F238E27FC236}">
                <a16:creationId xmlns:a16="http://schemas.microsoft.com/office/drawing/2014/main" id="{7648782B-A6D1-A0A4-5B9A-82C7F2144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988839"/>
            <a:ext cx="7632848" cy="43924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函数的每次执行都会</a:t>
            </a:r>
            <a:r>
              <a:rPr lang="zh-CN" altLang="en-US" sz="2000" b="1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建立一个全新的独立的环境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zh-CN" altLang="en-US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“栈”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中为函数的每个变量（包括形式参数）</a:t>
            </a:r>
            <a:r>
              <a:rPr lang="zh-CN" altLang="en-US" sz="1800" b="1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分配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内存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把实际参数的值复制给形式参数（</a:t>
            </a:r>
            <a:r>
              <a:rPr lang="zh-CN" altLang="en-US" sz="1800" b="1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传参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开始执行函数内的第一条语句</a:t>
            </a: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函数内的代码在这个独立的环境内工作</a:t>
            </a: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函数退出时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求出返回值，将其存入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一个可以被调用者访问的地方（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x86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中通常使用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EAX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寄存器）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收回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分配给所有变量（包括形式参数）的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内存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程序控制权交给调用者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，调用者拿到返回值，将其作为函数调用表达式的结果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>
            <a:extLst>
              <a:ext uri="{FF2B5EF4-FFF2-40B4-BE49-F238E27FC236}">
                <a16:creationId xmlns:a16="http://schemas.microsoft.com/office/drawing/2014/main" id="{F065B1D0-83EC-E9F7-4D45-C99884BC44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函数说明</a:t>
            </a:r>
            <a:r>
              <a:rPr lang="en-US" altLang="zh-CN"/>
              <a:t>/</a:t>
            </a:r>
            <a:r>
              <a:rPr lang="zh-CN" altLang="en-US"/>
              <a:t>声明的作用</a:t>
            </a:r>
          </a:p>
        </p:txBody>
      </p:sp>
      <p:sp>
        <p:nvSpPr>
          <p:cNvPr id="585731" name="Rectangle 3">
            <a:extLst>
              <a:ext uri="{FF2B5EF4-FFF2-40B4-BE49-F238E27FC236}">
                <a16:creationId xmlns:a16="http://schemas.microsoft.com/office/drawing/2014/main" id="{3C71B599-6DD1-7181-C333-E45563592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421760" cy="411480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一个函数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要调用另一个函数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，应知道有关如何正确调用函数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的一些信息。</a:t>
            </a:r>
            <a:r>
              <a:rPr lang="zh-CN" altLang="en-US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编译程序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根据这些信息</a:t>
            </a:r>
            <a:r>
              <a:rPr lang="zh-CN" altLang="en-US" sz="2800" b="1" u="sng">
                <a:latin typeface="SimSun" panose="02010600030101010101" pitchFamily="2" charset="-122"/>
                <a:ea typeface="SimSun" panose="02010600030101010101" pitchFamily="2" charset="-122"/>
              </a:rPr>
              <a:t>检查调用的正确性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。对不正确的调用给出错误信息，对正确的调用编译出实现的机器代码。</a:t>
            </a:r>
            <a:endParaRPr lang="en-US" altLang="zh-CN" sz="2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作用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  <a:r>
              <a:rPr lang="zh-CN" altLang="en-US" sz="2800" b="1" u="sng">
                <a:latin typeface="SimSun" panose="02010600030101010101" pitchFamily="2" charset="-122"/>
                <a:ea typeface="SimSun" panose="02010600030101010101" pitchFamily="2" charset="-122"/>
              </a:rPr>
              <a:t>使编译程序预先知道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该标识符是函数名、它的返回值的类型和它的形参个数及各形参的类型。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>
            <a:extLst>
              <a:ext uri="{FF2B5EF4-FFF2-40B4-BE49-F238E27FC236}">
                <a16:creationId xmlns:a16="http://schemas.microsoft.com/office/drawing/2014/main" id="{F8DAD40D-4512-D2B2-5DE5-6E44EF11D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函数调用的几种情况</a:t>
            </a:r>
          </a:p>
        </p:txBody>
      </p:sp>
      <p:sp>
        <p:nvSpPr>
          <p:cNvPr id="586755" name="Rectangle 3">
            <a:extLst>
              <a:ext uri="{FF2B5EF4-FFF2-40B4-BE49-F238E27FC236}">
                <a16:creationId xmlns:a16="http://schemas.microsoft.com/office/drawing/2014/main" id="{4422A7B8-47FD-EE70-0849-8D7A9E8A2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421760" cy="4114800"/>
          </a:xfrm>
        </p:spPr>
        <p:txBody>
          <a:bodyPr/>
          <a:lstStyle/>
          <a:p>
            <a:pPr marL="533400" indent="-533400" algn="just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调用函数与被调用函数之间在程序正文中可能会存在以下几种情况：</a:t>
            </a:r>
          </a:p>
          <a:p>
            <a:pPr marL="914400" lvl="1" indent="-457200" algn="just">
              <a:spcAft>
                <a:spcPts val="600"/>
              </a:spcAft>
              <a:buSzPct val="100000"/>
              <a:buFont typeface="+mj-ea"/>
              <a:buAutoNum type="circleNumDbPlain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调用同一程序文件中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前面已定义的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函数。</a:t>
            </a:r>
          </a:p>
          <a:p>
            <a:pPr marL="914400" lvl="1" indent="-457200" algn="just">
              <a:spcAft>
                <a:spcPts val="600"/>
              </a:spcAft>
              <a:buSzPct val="100000"/>
              <a:buFont typeface="+mj-ea"/>
              <a:buAutoNum type="circleNumDbPlain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调用处于同一程序文件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后面定义的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函数。</a:t>
            </a:r>
          </a:p>
          <a:p>
            <a:pPr marL="914400" lvl="1" indent="-457200" algn="just">
              <a:spcAft>
                <a:spcPts val="600"/>
              </a:spcAft>
              <a:buSzPct val="100000"/>
              <a:buFont typeface="+mj-ea"/>
              <a:buAutoNum type="circleNumDbPlain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调用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别的程序文件中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定义的函数。</a:t>
            </a:r>
          </a:p>
          <a:p>
            <a:pPr marL="533400" indent="-533400" algn="just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对于情况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①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，在函数调用处，被调用函数的详细信息已被编译程序所接受。</a:t>
            </a:r>
          </a:p>
          <a:p>
            <a:pPr marL="533400" indent="-533400" algn="just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对于情况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②③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，这时因被调用函数的信息还未被编译程序所接受，不能检查函数调用的正确性，</a:t>
            </a: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所以在调用之前需对被调用函数有关调用的一些信息作出说明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>
            <a:extLst>
              <a:ext uri="{FF2B5EF4-FFF2-40B4-BE49-F238E27FC236}">
                <a16:creationId xmlns:a16="http://schemas.microsoft.com/office/drawing/2014/main" id="{D26A94F6-C3CF-B221-43F8-0F383497F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函数说明</a:t>
            </a:r>
            <a:r>
              <a:rPr lang="en-US" altLang="zh-CN"/>
              <a:t>/</a:t>
            </a:r>
            <a:r>
              <a:rPr lang="zh-CN" altLang="en-US"/>
              <a:t>声明</a:t>
            </a: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C7682665-5AFE-AE22-3126-7473297FB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277744" cy="411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函数说明：在程序中只给出函数的调用信息</a:t>
            </a:r>
          </a:p>
          <a:p>
            <a:pPr algn="just"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函数说明的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一般形式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为：</a:t>
            </a:r>
          </a:p>
          <a:p>
            <a:pPr lvl="1" algn="just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类型  标识符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形参类型表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20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lvl="1" algn="just">
              <a:spcAft>
                <a:spcPts val="600"/>
              </a:spcAft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函数返回值类型  函数名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形参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类型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,…,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形参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类型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en-US" altLang="zh-CN" sz="20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algn="just"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形参类型表可以为空。为了强调函数没有形参，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空形参类型表可以写作</a:t>
            </a:r>
            <a:r>
              <a:rPr lang="en-US" altLang="zh-CN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void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例：</a:t>
            </a:r>
          </a:p>
          <a:p>
            <a:pPr lvl="1">
              <a:spcAft>
                <a:spcPts val="600"/>
              </a:spcAft>
            </a:pPr>
            <a:r>
              <a:rPr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</a:rPr>
              <a:t>double power(double, int);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66F5E-230A-D604-41BE-EF27E58ED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5D6C4C7D-BB6A-EE3B-D99A-61C42977D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函数说明</a:t>
            </a:r>
            <a:r>
              <a:rPr lang="en-US" altLang="zh-CN"/>
              <a:t>/</a:t>
            </a:r>
            <a:r>
              <a:rPr lang="zh-CN" altLang="en-US"/>
              <a:t>声明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B7B06E-7A8C-149F-B500-5B34785A112F}"/>
              </a:ext>
            </a:extLst>
          </p:cNvPr>
          <p:cNvSpPr txBox="1"/>
          <p:nvPr/>
        </p:nvSpPr>
        <p:spPr>
          <a:xfrm>
            <a:off x="3131840" y="6352530"/>
            <a:ext cx="30963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</a:rPr>
              <a:t>https://www.geeksforgeeks.org/c-functions/?ref=shm</a:t>
            </a:r>
          </a:p>
        </p:txBody>
      </p:sp>
      <p:pic>
        <p:nvPicPr>
          <p:cNvPr id="2050" name="Picture 2" descr="Function Declaration">
            <a:extLst>
              <a:ext uri="{FF2B5EF4-FFF2-40B4-BE49-F238E27FC236}">
                <a16:creationId xmlns:a16="http://schemas.microsoft.com/office/drawing/2014/main" id="{E6E85E00-F125-CB20-3D34-0D58CAD58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888" y="2132856"/>
            <a:ext cx="6804248" cy="407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180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>
            <a:extLst>
              <a:ext uri="{FF2B5EF4-FFF2-40B4-BE49-F238E27FC236}">
                <a16:creationId xmlns:a16="http://schemas.microsoft.com/office/drawing/2014/main" id="{AF8D9F1B-251D-61CE-C9ED-796CDF518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需要使用函数说明的两种情况</a:t>
            </a:r>
          </a:p>
        </p:txBody>
      </p:sp>
      <p:sp>
        <p:nvSpPr>
          <p:cNvPr id="588803" name="Rectangle 3">
            <a:extLst>
              <a:ext uri="{FF2B5EF4-FFF2-40B4-BE49-F238E27FC236}">
                <a16:creationId xmlns:a16="http://schemas.microsoft.com/office/drawing/2014/main" id="{2AEE8112-C4DF-93FC-F224-8546629DA9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565776" cy="4114800"/>
          </a:xfrm>
        </p:spPr>
        <p:txBody>
          <a:bodyPr/>
          <a:lstStyle/>
          <a:p>
            <a:pPr algn="just"/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情况一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：被调用函数是库函数</a:t>
            </a:r>
          </a:p>
          <a:p>
            <a:pPr lvl="1" algn="just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需使用预处理命令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#include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将对应的头文件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(header file)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包含进来，如</a:t>
            </a:r>
          </a:p>
          <a:p>
            <a:pPr lvl="2" algn="just"/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#include &lt;stdio.h&gt;</a:t>
            </a:r>
          </a:p>
          <a:p>
            <a:pPr lvl="1" algn="just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用户程序也可以有自己的头文件，如</a:t>
            </a:r>
          </a:p>
          <a:p>
            <a:pPr lvl="2" algn="just"/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#include "d_type.h"</a:t>
            </a:r>
          </a:p>
          <a:p>
            <a:pPr algn="just"/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情况二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：调用同一程序文件中后面定义的函数，或是调用别的程序文件中定义的函数</a:t>
            </a:r>
          </a:p>
          <a:p>
            <a:pPr lvl="1" algn="just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应在调用函数之前对被调用函数作函数说明。</a:t>
            </a:r>
          </a:p>
          <a:p>
            <a:endParaRPr lang="zh-CN" altLang="en-US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b="1" i="1">
                <a:latin typeface="SimSun" panose="02010600030101010101" pitchFamily="2" charset="-122"/>
                <a:ea typeface="SimSun" panose="02010600030101010101" pitchFamily="2" charset="-122"/>
              </a:rPr>
              <a:t>有些开发环境中，在上述两种情况下也不一定需要使用函数说明。但在此时，仍旧使用函数说明是一种好的程序设计风格。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>
            <a:extLst>
              <a:ext uri="{FF2B5EF4-FFF2-40B4-BE49-F238E27FC236}">
                <a16:creationId xmlns:a16="http://schemas.microsoft.com/office/drawing/2014/main" id="{3BA24317-C816-8501-CF50-9093B0B19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使用函数要注意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59E0C820-A1DE-B7A6-A83A-5A09B12D5B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421760" cy="411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每个函数只完成一个功能（包括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main()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对函数的功能可以用</a:t>
            </a:r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不含连词的一句话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描述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函数不能过长</a:t>
            </a:r>
          </a:p>
          <a:p>
            <a:pPr lvl="1">
              <a:spcAft>
                <a:spcPts val="600"/>
              </a:spcAft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1986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年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IBM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在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OS/360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的研究结果：大多数有错误的函数都大于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500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行</a:t>
            </a:r>
          </a:p>
          <a:p>
            <a:pPr lvl="1">
              <a:spcAft>
                <a:spcPts val="600"/>
              </a:spcAft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1991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年对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148,000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行代码的研究表明：小于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143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行的函数比更长的函数更容易维护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函数一定要对传进来的非法参数做点什么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向调用者提供错误信息</a:t>
            </a:r>
          </a:p>
          <a:p>
            <a:pPr lvl="1">
              <a:spcAft>
                <a:spcPts val="600"/>
              </a:spcAft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assert()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7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CAE97-2C96-DACB-5A2A-77B40987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7C99EE36-21F2-1B35-8400-8EAF85DAE4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folHlink"/>
                </a:solidFill>
              </a:rPr>
              <a:t>函数的传参</a:t>
            </a:r>
          </a:p>
        </p:txBody>
      </p:sp>
      <p:pic>
        <p:nvPicPr>
          <p:cNvPr id="584707" name="Picture 3">
            <a:hlinkClick r:id="rId3"/>
            <a:extLst>
              <a:ext uri="{FF2B5EF4-FFF2-40B4-BE49-F238E27FC236}">
                <a16:creationId xmlns:a16="http://schemas.microsoft.com/office/drawing/2014/main" id="{C61A01D7-C592-7822-21E7-FE83D9B3E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8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C821C661-BC91-BF63-0C5E-1A9C3BE74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函数的传参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3F97320A-B949-9047-1408-324401309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3608" y="2204863"/>
            <a:ext cx="7560840" cy="4438824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设置形参的目的：函数被调用时，能从调用处获得数据或指针信息。</a:t>
            </a:r>
          </a:p>
          <a:p>
            <a:pPr algn="just">
              <a:lnSpc>
                <a:spcPct val="90000"/>
              </a:lnSpc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关于形参和传参的几点说明：</a:t>
            </a:r>
          </a:p>
          <a:p>
            <a:pPr lvl="1" algn="just">
              <a:lnSpc>
                <a:spcPct val="90000"/>
              </a:lnSpc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函数</a:t>
            </a:r>
            <a:r>
              <a:rPr lang="zh-CN" altLang="en-US" sz="24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形参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可看作函数内部的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局部变量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lnSpc>
                <a:spcPct val="90000"/>
              </a:lnSpc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函数调用时，形参从实参获得初值。</a:t>
            </a:r>
          </a:p>
          <a:p>
            <a:pPr lvl="1" algn="just">
              <a:lnSpc>
                <a:spcPct val="90000"/>
              </a:lnSpc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传参（参数传递）是函数调用中向函数传递数据的方式。</a:t>
            </a:r>
            <a:endParaRPr lang="en-US" altLang="zh-CN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lnSpc>
                <a:spcPct val="90000"/>
              </a:lnSpc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传参有两种主要的方式：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值传递 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和 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引用传递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（或地址传递）。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90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E1F6F40-0E86-2038-4A51-6DDAC2D0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211639A1-9BDE-5712-F053-4FFA4AA6F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传参方式</a:t>
            </a:r>
            <a:r>
              <a:rPr lang="en-US" altLang="zh-CN"/>
              <a:t>1</a:t>
            </a:r>
            <a:r>
              <a:rPr lang="zh-CN" altLang="en-US"/>
              <a:t>：值传递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4C9766C3-4EE8-3166-E6ED-488D0CFA22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2204863"/>
            <a:ext cx="7344816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在值传递中，函数接收到的是传入参数的副本。函数对参数的修改</a:t>
            </a:r>
            <a:r>
              <a:rPr lang="zh-CN" altLang="en-US" sz="28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不会影响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到调用该函数的实际变量。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这种方式适用于传递简单的数据类型（如 </a:t>
            </a:r>
            <a:r>
              <a:rPr lang="en-US" altLang="zh-CN" sz="2800">
                <a:latin typeface="SimSun" panose="02010600030101010101" pitchFamily="2" charset="-122"/>
                <a:ea typeface="SimSun" panose="02010600030101010101" pitchFamily="2" charset="-122"/>
              </a:rPr>
              <a:t>int, float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），因为它不会改变原始数据的值。</a:t>
            </a:r>
          </a:p>
        </p:txBody>
      </p:sp>
    </p:spTree>
    <p:extLst>
      <p:ext uri="{BB962C8B-B14F-4D97-AF65-F5344CB8AC3E}">
        <p14:creationId xmlns:p14="http://schemas.microsoft.com/office/powerpoint/2010/main" val="380385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81FF61-4A38-48DA-06D7-E2B6FDEB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78DECF6B-EFC9-058A-344C-7695B390D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传参方式</a:t>
            </a:r>
            <a:r>
              <a:rPr lang="en-US" altLang="zh-CN"/>
              <a:t>1</a:t>
            </a:r>
            <a:r>
              <a:rPr lang="zh-CN" altLang="en-US"/>
              <a:t>：值传递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701D27-9CA4-51F3-F9EC-FD92B2E96FC8}"/>
              </a:ext>
            </a:extLst>
          </p:cNvPr>
          <p:cNvSpPr txBox="1"/>
          <p:nvPr/>
        </p:nvSpPr>
        <p:spPr>
          <a:xfrm>
            <a:off x="1241797" y="2492896"/>
            <a:ext cx="6858595" cy="33547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i="0"/>
              <a:t>void foo(int x) {</a:t>
            </a:r>
          </a:p>
          <a:p>
            <a:pPr>
              <a:buNone/>
            </a:pPr>
            <a:r>
              <a:rPr lang="zh-CN" altLang="en-US" sz="2000" i="0"/>
              <a:t>    x = 5; </a:t>
            </a:r>
            <a:r>
              <a:rPr lang="zh-CN" altLang="en-US" sz="2000" i="0">
                <a:solidFill>
                  <a:srgbClr val="00B050"/>
                </a:solidFill>
              </a:rPr>
              <a:t>// 只改变了 x 的副本，不影响主函数中的变量</a:t>
            </a:r>
          </a:p>
          <a:p>
            <a:pPr>
              <a:buNone/>
            </a:pPr>
            <a:r>
              <a:rPr lang="zh-CN" altLang="en-US" sz="2000" i="0"/>
              <a:t>}</a:t>
            </a:r>
          </a:p>
          <a:p>
            <a:pPr>
              <a:buNone/>
            </a:pPr>
            <a:endParaRPr lang="zh-CN" altLang="en-US" sz="2000" i="0"/>
          </a:p>
          <a:p>
            <a:pPr>
              <a:buNone/>
            </a:pPr>
            <a:r>
              <a:rPr lang="zh-CN" altLang="en-US" sz="2000" i="0"/>
              <a:t>int main() {</a:t>
            </a:r>
          </a:p>
          <a:p>
            <a:pPr>
              <a:buNone/>
            </a:pPr>
            <a:r>
              <a:rPr lang="zh-CN" altLang="en-US" sz="2000" i="0"/>
              <a:t>    int a = 10;</a:t>
            </a:r>
          </a:p>
          <a:p>
            <a:pPr>
              <a:buNone/>
            </a:pPr>
            <a:r>
              <a:rPr lang="zh-CN" altLang="en-US" sz="2000" i="0"/>
              <a:t>    foo(a);</a:t>
            </a:r>
          </a:p>
          <a:p>
            <a:pPr>
              <a:buNone/>
            </a:pPr>
            <a:r>
              <a:rPr lang="zh-CN" altLang="en-US" sz="2000" i="0"/>
              <a:t>    printf("%d", a); </a:t>
            </a:r>
            <a:r>
              <a:rPr lang="zh-CN" altLang="en-US" sz="2000" i="0">
                <a:solidFill>
                  <a:srgbClr val="00B050"/>
                </a:solidFill>
              </a:rPr>
              <a:t>// 输出仍然是10</a:t>
            </a:r>
          </a:p>
          <a:p>
            <a:pPr>
              <a:buNone/>
            </a:pPr>
            <a:r>
              <a:rPr lang="zh-CN" altLang="en-US" sz="2000" i="0"/>
              <a:t>}</a:t>
            </a:r>
          </a:p>
        </p:txBody>
      </p:sp>
      <p:pic>
        <p:nvPicPr>
          <p:cNvPr id="5" name="图形 4" descr="教师 纯色填充">
            <a:hlinkClick r:id="rId2"/>
            <a:extLst>
              <a:ext uri="{FF2B5EF4-FFF2-40B4-BE49-F238E27FC236}">
                <a16:creationId xmlns:a16="http://schemas.microsoft.com/office/drawing/2014/main" id="{CE8A4524-820A-0060-504E-7411458C3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38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10707D-0139-1CBA-0883-AA7ACE9B2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D2EB12D0-2927-5ED9-571E-C18A315CF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传参方式</a:t>
            </a:r>
            <a:r>
              <a:rPr lang="en-US" altLang="zh-CN" sz="4000"/>
              <a:t>2</a:t>
            </a:r>
            <a:r>
              <a:rPr lang="zh-CN" altLang="en-US" sz="4000"/>
              <a:t>：引用传递（地址传递）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39310885-4FD7-7E56-BDBB-DF6079D0A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0938" y="2204863"/>
            <a:ext cx="7453510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在引用传递中，函数接收的是变量的地址（即指针），通过地址</a:t>
            </a:r>
            <a:r>
              <a:rPr lang="zh-CN" altLang="en-US" sz="28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可以直接修改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调用者的原始数据（即可以修改实参的数据）。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这种方式通常用于传递复杂的数据结构（如数组、结构体）或需要在函数中修改变量值的情况。</a:t>
            </a:r>
          </a:p>
        </p:txBody>
      </p:sp>
    </p:spTree>
    <p:extLst>
      <p:ext uri="{BB962C8B-B14F-4D97-AF65-F5344CB8AC3E}">
        <p14:creationId xmlns:p14="http://schemas.microsoft.com/office/powerpoint/2010/main" val="29555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A39C4CF-122B-E273-C9D8-69ACFE6A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D4E93552-547C-303E-B7B9-3B35CAA52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传参方式</a:t>
            </a:r>
            <a:r>
              <a:rPr lang="en-US" altLang="zh-CN" sz="4000"/>
              <a:t>2</a:t>
            </a:r>
            <a:r>
              <a:rPr lang="zh-CN" altLang="en-US" sz="4000"/>
              <a:t>：引用传递（地址传递）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F2D3BD-ABB0-B33C-69FD-3C82F493EDF4}"/>
              </a:ext>
            </a:extLst>
          </p:cNvPr>
          <p:cNvSpPr txBox="1"/>
          <p:nvPr/>
        </p:nvSpPr>
        <p:spPr>
          <a:xfrm>
            <a:off x="1475656" y="2348880"/>
            <a:ext cx="6192688" cy="33547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000" i="0"/>
              <a:t>void foo(</a:t>
            </a:r>
            <a:r>
              <a:rPr lang="zh-CN" altLang="en-US" sz="2000" i="0">
                <a:solidFill>
                  <a:srgbClr val="00B0F0"/>
                </a:solidFill>
              </a:rPr>
              <a:t>int *x</a:t>
            </a:r>
            <a:r>
              <a:rPr lang="zh-CN" altLang="en-US" sz="2000" i="0"/>
              <a:t>) {</a:t>
            </a:r>
          </a:p>
          <a:p>
            <a:pPr>
              <a:buNone/>
            </a:pPr>
            <a:r>
              <a:rPr lang="zh-CN" altLang="en-US" sz="2000" i="0"/>
              <a:t>    *x = 5; </a:t>
            </a:r>
            <a:r>
              <a:rPr lang="zh-CN" altLang="en-US" sz="2000" i="0">
                <a:solidFill>
                  <a:srgbClr val="00B050"/>
                </a:solidFill>
              </a:rPr>
              <a:t>// 通过指针修改了主函数中的变量</a:t>
            </a:r>
          </a:p>
          <a:p>
            <a:pPr>
              <a:buNone/>
            </a:pPr>
            <a:r>
              <a:rPr lang="zh-CN" altLang="en-US" sz="2000" i="0"/>
              <a:t>}</a:t>
            </a:r>
          </a:p>
          <a:p>
            <a:pPr>
              <a:buNone/>
            </a:pPr>
            <a:endParaRPr lang="zh-CN" altLang="en-US" sz="2000" i="0"/>
          </a:p>
          <a:p>
            <a:pPr>
              <a:buNone/>
            </a:pPr>
            <a:r>
              <a:rPr lang="zh-CN" altLang="en-US" sz="2000" i="0"/>
              <a:t>int main() {</a:t>
            </a:r>
          </a:p>
          <a:p>
            <a:pPr>
              <a:buNone/>
            </a:pPr>
            <a:r>
              <a:rPr lang="zh-CN" altLang="en-US" sz="2000" i="0"/>
              <a:t>    int a = 10;</a:t>
            </a:r>
          </a:p>
          <a:p>
            <a:pPr>
              <a:buNone/>
            </a:pPr>
            <a:r>
              <a:rPr lang="zh-CN" altLang="en-US" sz="2000" i="0"/>
              <a:t>    foo(</a:t>
            </a:r>
            <a:r>
              <a:rPr lang="zh-CN" altLang="en-US" sz="2000" i="0">
                <a:solidFill>
                  <a:srgbClr val="00B0F0"/>
                </a:solidFill>
              </a:rPr>
              <a:t>&amp;a</a:t>
            </a:r>
            <a:r>
              <a:rPr lang="zh-CN" altLang="en-US" sz="2000" i="0"/>
              <a:t>); </a:t>
            </a:r>
            <a:r>
              <a:rPr lang="zh-CN" altLang="en-US" sz="2000" i="0">
                <a:solidFill>
                  <a:srgbClr val="00B050"/>
                </a:solidFill>
              </a:rPr>
              <a:t>// 传递变量的地址</a:t>
            </a:r>
          </a:p>
          <a:p>
            <a:pPr>
              <a:buNone/>
            </a:pPr>
            <a:r>
              <a:rPr lang="zh-CN" altLang="en-US" sz="2000" i="0"/>
              <a:t>    printf("%d", a); </a:t>
            </a:r>
            <a:r>
              <a:rPr lang="zh-CN" altLang="en-US" sz="2000" i="0">
                <a:solidFill>
                  <a:srgbClr val="00B050"/>
                </a:solidFill>
              </a:rPr>
              <a:t>// 输出5，变量值被修改</a:t>
            </a:r>
          </a:p>
          <a:p>
            <a:pPr>
              <a:buNone/>
            </a:pPr>
            <a:r>
              <a:rPr lang="zh-CN" altLang="en-US" sz="2000" i="0"/>
              <a:t>}</a:t>
            </a:r>
          </a:p>
        </p:txBody>
      </p:sp>
      <p:pic>
        <p:nvPicPr>
          <p:cNvPr id="5" name="图形 4" descr="教师 纯色填充">
            <a:hlinkClick r:id="rId2"/>
            <a:extLst>
              <a:ext uri="{FF2B5EF4-FFF2-40B4-BE49-F238E27FC236}">
                <a16:creationId xmlns:a16="http://schemas.microsoft.com/office/drawing/2014/main" id="{D56B404F-5966-3F08-7E6A-21ABFF54A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31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CAD8B17-0004-4DBB-C1AE-887AA4CD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FCD3D763-1FD9-E334-CD72-F380E8FE0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传参方式</a:t>
            </a:r>
            <a:r>
              <a:rPr lang="en-US" altLang="zh-CN" sz="4000"/>
              <a:t>2</a:t>
            </a:r>
            <a:r>
              <a:rPr lang="zh-CN" altLang="en-US" sz="4000"/>
              <a:t>：引用传递（地址传递）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5D774DC-1EF8-3CB0-AB2A-F3F05414A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9" y="2017713"/>
            <a:ext cx="7349752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1800" u="sng"/>
              <a:t>数组在传参时是通过指针传递的</a:t>
            </a:r>
            <a:r>
              <a:rPr kumimoji="1" lang="zh-CN" altLang="en-US" sz="1800"/>
              <a:t>，实际上是引用传递。即使不显式传递指针，数组名本身就是一个指向数组第一个元素的指针。</a:t>
            </a:r>
          </a:p>
        </p:txBody>
      </p:sp>
      <p:pic>
        <p:nvPicPr>
          <p:cNvPr id="5" name="图形 4" descr="教师 纯色填充">
            <a:hlinkClick r:id="rId3"/>
            <a:extLst>
              <a:ext uri="{FF2B5EF4-FFF2-40B4-BE49-F238E27FC236}">
                <a16:creationId xmlns:a16="http://schemas.microsoft.com/office/drawing/2014/main" id="{19F84B0C-6D10-04AC-5515-8C22A4FBD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3570C81-4ADF-66F2-0B33-982BFB3A727A}"/>
              </a:ext>
            </a:extLst>
          </p:cNvPr>
          <p:cNvSpPr txBox="1"/>
          <p:nvPr/>
        </p:nvSpPr>
        <p:spPr>
          <a:xfrm>
            <a:off x="1737033" y="3119061"/>
            <a:ext cx="6192688" cy="33547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void foo(</a:t>
            </a:r>
            <a:r>
              <a:rPr lang="en-US" altLang="zh-CN" sz="2000" i="0">
                <a:solidFill>
                  <a:srgbClr val="00B0F0"/>
                </a:solidFill>
              </a:rPr>
              <a:t>int arr[]</a:t>
            </a:r>
            <a:r>
              <a:rPr lang="en-US" altLang="zh-CN" sz="2000" i="0"/>
              <a:t>, int size) {</a:t>
            </a:r>
          </a:p>
          <a:p>
            <a:pPr>
              <a:buNone/>
            </a:pPr>
            <a:r>
              <a:rPr lang="en-US" altLang="zh-CN" sz="2000" i="0"/>
              <a:t>    arr[0] = 5; </a:t>
            </a:r>
            <a:r>
              <a:rPr lang="en-US" altLang="zh-CN" sz="2000" i="0">
                <a:solidFill>
                  <a:srgbClr val="00B050"/>
                </a:solidFill>
              </a:rPr>
              <a:t>// </a:t>
            </a:r>
            <a:r>
              <a:rPr lang="zh-CN" altLang="en-US" sz="2000" i="0">
                <a:solidFill>
                  <a:srgbClr val="00B050"/>
                </a:solidFill>
              </a:rPr>
              <a:t>修改数组的第一个元素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  <a:p>
            <a:pPr>
              <a:buNone/>
            </a:pP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int main() {</a:t>
            </a:r>
          </a:p>
          <a:p>
            <a:pPr>
              <a:buNone/>
            </a:pPr>
            <a:r>
              <a:rPr lang="en-US" altLang="zh-CN" sz="2000" i="0"/>
              <a:t>    int arr[3] = {1, 2, 3};</a:t>
            </a:r>
          </a:p>
          <a:p>
            <a:pPr>
              <a:buNone/>
            </a:pPr>
            <a:r>
              <a:rPr lang="en-US" altLang="zh-CN" sz="2000" i="0"/>
              <a:t>    foo(</a:t>
            </a:r>
            <a:r>
              <a:rPr lang="en-US" altLang="zh-CN" sz="2000" i="0">
                <a:solidFill>
                  <a:srgbClr val="00B0F0"/>
                </a:solidFill>
              </a:rPr>
              <a:t>arr</a:t>
            </a:r>
            <a:r>
              <a:rPr lang="en-US" altLang="zh-CN" sz="2000" i="0"/>
              <a:t>, 3);  </a:t>
            </a:r>
            <a:r>
              <a:rPr lang="en-US" altLang="zh-CN" sz="2000" i="0">
                <a:solidFill>
                  <a:srgbClr val="00B050"/>
                </a:solidFill>
              </a:rPr>
              <a:t>// </a:t>
            </a:r>
            <a:r>
              <a:rPr lang="zh-CN" altLang="en-US" sz="2000" i="0">
                <a:solidFill>
                  <a:srgbClr val="00B050"/>
                </a:solidFill>
              </a:rPr>
              <a:t>数组名是指针</a:t>
            </a:r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printf("%d", arr[0]); // </a:t>
            </a:r>
            <a:r>
              <a:rPr lang="zh-CN" altLang="en-US" sz="2000" i="0"/>
              <a:t>输出</a:t>
            </a:r>
            <a:r>
              <a:rPr lang="en-US" altLang="zh-CN" sz="2000" i="0"/>
              <a:t>5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6981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>
            <a:extLst>
              <a:ext uri="{FF2B5EF4-FFF2-40B4-BE49-F238E27FC236}">
                <a16:creationId xmlns:a16="http://schemas.microsoft.com/office/drawing/2014/main" id="{5513543C-12DD-722C-D026-C99D683278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zh-CN" altLang="en-US" sz="4800">
                <a:solidFill>
                  <a:schemeClr val="folHlink"/>
                </a:solidFill>
              </a:rPr>
              <a:t>变量作用域</a:t>
            </a:r>
          </a:p>
        </p:txBody>
      </p:sp>
      <p:pic>
        <p:nvPicPr>
          <p:cNvPr id="630787" name="Picture 3">
            <a:hlinkClick r:id="rId3"/>
            <a:extLst>
              <a:ext uri="{FF2B5EF4-FFF2-40B4-BE49-F238E27FC236}">
                <a16:creationId xmlns:a16="http://schemas.microsoft.com/office/drawing/2014/main" id="{CA1E794C-E5A6-A3B9-E186-F34C359AC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388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2E50-4828-55A5-E200-7865EF06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66D6AC9C-9860-8E82-6CA2-4A42DAA2A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FC14F6CB-BD61-E898-1181-298A33F39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132857"/>
            <a:ext cx="7793037" cy="38266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局部变量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是指</a:t>
            </a:r>
            <a:r>
              <a:rPr lang="zh-CN" altLang="en-US" sz="2400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在函数或代码块内部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声明的变量，它们只在声明它们的函数或代码块的范围内有效。</a:t>
            </a:r>
            <a:endParaRPr lang="en-US" altLang="zh-CN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作用域：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局部变量的作用域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仅限于声明它的代码块或函数内部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，不能在函数外部访问。</a:t>
            </a:r>
            <a:endParaRPr lang="en-US" altLang="zh-CN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生命周期：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局部变量的生命周期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开始于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变量声明时，并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结束于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所在的代码块或函数退出时。</a:t>
            </a: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每次函数调用，都会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重新分配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局部变量的内存空间，不同的调用之间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不会共享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局部变量的值。</a:t>
            </a:r>
            <a:endParaRPr lang="zh-CN" altLang="en-US" sz="36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51560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8516-B922-B9C7-67CC-66FB0465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82A49DBD-A080-5894-1570-B1B6FF272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8765EE61-C832-4440-AA6E-948614E575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132857"/>
            <a:ext cx="7793037" cy="38266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存储类型：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局部变量默认</a:t>
            </a:r>
            <a:r>
              <a:rPr lang="zh-CN" altLang="en-US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存储在栈（</a:t>
            </a:r>
            <a:r>
              <a:rPr lang="en-US" altLang="zh-CN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stack</a:t>
            </a:r>
            <a:r>
              <a:rPr lang="zh-CN" altLang="en-US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）上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r>
              <a:rPr lang="zh-CN" altLang="en-US" sz="2000" u="sng">
                <a:latin typeface="SimSun" panose="02010600030101010101" pitchFamily="2" charset="-122"/>
                <a:ea typeface="SimSun" panose="02010600030101010101" pitchFamily="2" charset="-122"/>
              </a:rPr>
              <a:t>当函数返回时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，栈上分配的</a:t>
            </a:r>
            <a:r>
              <a:rPr lang="zh-CN" altLang="en-US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内存会被释放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局部变量的默认存储类型是 </a:t>
            </a:r>
            <a:r>
              <a:rPr lang="en-US" altLang="zh-CN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auto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，即自动存储类。</a:t>
            </a:r>
            <a:endParaRPr lang="en-US" altLang="zh-CN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初始化：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如果局部变量未被显式初始化，它的值是</a:t>
            </a: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不确定的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，可能包含垃圾值。因此，使用局部变量之前，</a:t>
            </a: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通常需要进行初始化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159856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6AF04-5856-9AAD-B729-AACC3874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36AA7196-9C7E-6DB4-EF6A-188BBD3A9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A25910-6FE1-4D57-A9DD-AF9A3FA5855C}"/>
              </a:ext>
            </a:extLst>
          </p:cNvPr>
          <p:cNvSpPr txBox="1"/>
          <p:nvPr/>
        </p:nvSpPr>
        <p:spPr>
          <a:xfrm>
            <a:off x="899592" y="2172592"/>
            <a:ext cx="7793036" cy="44627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#include &lt;stdio.h&gt;</a:t>
            </a:r>
          </a:p>
          <a:p>
            <a:pPr>
              <a:buNone/>
            </a:pP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void example() {</a:t>
            </a:r>
          </a:p>
          <a:p>
            <a:pPr>
              <a:buNone/>
            </a:pPr>
            <a:r>
              <a:rPr lang="en-US" altLang="zh-CN" sz="2000" i="0"/>
              <a:t>    int x = 10;  // 'x' </a:t>
            </a:r>
            <a:r>
              <a:rPr lang="zh-CN" altLang="en-US" sz="2000" i="0"/>
              <a:t>是局部变量，只在 </a:t>
            </a:r>
            <a:r>
              <a:rPr lang="en-US" altLang="zh-CN" sz="2000" i="0"/>
              <a:t>example </a:t>
            </a:r>
            <a:r>
              <a:rPr lang="zh-CN" altLang="en-US" sz="2000" i="0"/>
              <a:t>函数内有效</a:t>
            </a:r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printf("x = %d\n", x);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  <a:p>
            <a:pPr>
              <a:buNone/>
            </a:pP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int main() {</a:t>
            </a:r>
          </a:p>
          <a:p>
            <a:pPr>
              <a:buNone/>
            </a:pPr>
            <a:r>
              <a:rPr lang="en-US" altLang="zh-CN" sz="2000" i="0"/>
              <a:t>    example();</a:t>
            </a:r>
          </a:p>
          <a:p>
            <a:pPr>
              <a:buNone/>
            </a:pPr>
            <a:r>
              <a:rPr lang="en-US" altLang="zh-CN" sz="2000" i="0"/>
              <a:t>    </a:t>
            </a:r>
            <a:r>
              <a:rPr lang="en-US" altLang="zh-CN" sz="2000" i="0">
                <a:solidFill>
                  <a:srgbClr val="FF0000"/>
                </a:solidFill>
              </a:rPr>
              <a:t>// printf("%d", x);  // </a:t>
            </a:r>
            <a:r>
              <a:rPr lang="zh-CN" altLang="en-US" sz="2000" i="0">
                <a:solidFill>
                  <a:srgbClr val="FF0000"/>
                </a:solidFill>
              </a:rPr>
              <a:t>错误，无法访问 </a:t>
            </a:r>
            <a:r>
              <a:rPr lang="en-US" altLang="zh-CN" sz="2000" i="0">
                <a:solidFill>
                  <a:srgbClr val="FF0000"/>
                </a:solidFill>
              </a:rPr>
              <a:t>example </a:t>
            </a:r>
            <a:r>
              <a:rPr lang="zh-CN" altLang="en-US" sz="2000" i="0">
                <a:solidFill>
                  <a:srgbClr val="FF0000"/>
                </a:solidFill>
              </a:rPr>
              <a:t>函数内的局部变量</a:t>
            </a:r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return 0;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9388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8139-FE3B-9737-6868-DF75712C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5F4C17EB-5EAC-2A0B-CAE5-663C5ED6B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C76D8C86-4C5C-4D54-D238-32AEE4CDD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132857"/>
            <a:ext cx="7793037" cy="38266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代码块：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代码块（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Code Block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）是由一对花括号 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{} 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包围的多条语句集合。代码块用于控制程序执行的逻辑，并定义变量的作用域。它广泛用于控制流结构、函数体、循环和条件语句中。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88334E-6E4E-A0A9-D881-7B93959543DE}"/>
              </a:ext>
            </a:extLst>
          </p:cNvPr>
          <p:cNvSpPr txBox="1"/>
          <p:nvPr/>
        </p:nvSpPr>
        <p:spPr>
          <a:xfrm>
            <a:off x="1763688" y="3757213"/>
            <a:ext cx="6157366" cy="269612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/>
              <a:t>int main() {</a:t>
            </a:r>
          </a:p>
          <a:p>
            <a:pPr>
              <a:buNone/>
            </a:pPr>
            <a:r>
              <a:rPr lang="en-US" altLang="zh-CN" sz="1800" i="0"/>
              <a:t>    int x = 10;</a:t>
            </a:r>
          </a:p>
          <a:p>
            <a:pPr>
              <a:buNone/>
            </a:pPr>
            <a:r>
              <a:rPr lang="en-US" altLang="zh-CN" sz="1800" i="0"/>
              <a:t>    {</a:t>
            </a:r>
          </a:p>
          <a:p>
            <a:pPr>
              <a:buNone/>
            </a:pPr>
            <a:r>
              <a:rPr lang="en-US" altLang="zh-CN" sz="1800" i="0"/>
              <a:t>        int y = 20;  // y </a:t>
            </a:r>
            <a:r>
              <a:rPr lang="zh-CN" altLang="en-US" sz="1800" i="0"/>
              <a:t>只在这个代码块中有效</a:t>
            </a:r>
          </a:p>
          <a:p>
            <a:pPr>
              <a:buNone/>
            </a:pPr>
            <a:r>
              <a:rPr lang="zh-CN" altLang="en-US" sz="1800" i="0"/>
              <a:t>        </a:t>
            </a:r>
            <a:r>
              <a:rPr lang="en-US" altLang="zh-CN" sz="1800" i="0"/>
              <a:t>printf("%d\n", y);</a:t>
            </a:r>
          </a:p>
          <a:p>
            <a:pPr>
              <a:buNone/>
            </a:pPr>
            <a:r>
              <a:rPr lang="en-US" altLang="zh-CN" sz="1800" i="0"/>
              <a:t>    }</a:t>
            </a:r>
          </a:p>
          <a:p>
            <a:pPr>
              <a:buNone/>
            </a:pPr>
            <a:r>
              <a:rPr lang="en-US" altLang="zh-CN" sz="1800" i="0"/>
              <a:t>    </a:t>
            </a:r>
            <a:r>
              <a:rPr lang="en-US" altLang="zh-CN" sz="1800" i="0">
                <a:solidFill>
                  <a:srgbClr val="FF0000"/>
                </a:solidFill>
              </a:rPr>
              <a:t>// printf("%d", y);  // </a:t>
            </a:r>
            <a:r>
              <a:rPr lang="zh-CN" altLang="en-US" sz="1800" i="0">
                <a:solidFill>
                  <a:srgbClr val="FF0000"/>
                </a:solidFill>
              </a:rPr>
              <a:t>错误：</a:t>
            </a:r>
            <a:r>
              <a:rPr lang="en-US" altLang="zh-CN" sz="1800" i="0">
                <a:solidFill>
                  <a:srgbClr val="FF0000"/>
                </a:solidFill>
              </a:rPr>
              <a:t>y </a:t>
            </a:r>
            <a:r>
              <a:rPr lang="zh-CN" altLang="en-US" sz="1800" i="0">
                <a:solidFill>
                  <a:srgbClr val="FF0000"/>
                </a:solidFill>
              </a:rPr>
              <a:t>不在这个作用域</a:t>
            </a:r>
          </a:p>
          <a:p>
            <a:pPr>
              <a:buNone/>
            </a:pPr>
            <a:r>
              <a:rPr lang="en-US" altLang="zh-CN" sz="1800" i="0"/>
              <a:t>}</a:t>
            </a:r>
          </a:p>
        </p:txBody>
      </p:sp>
      <p:pic>
        <p:nvPicPr>
          <p:cNvPr id="3" name="图形 2" descr="教师 纯色填充">
            <a:hlinkClick r:id="rId3"/>
            <a:extLst>
              <a:ext uri="{FF2B5EF4-FFF2-40B4-BE49-F238E27FC236}">
                <a16:creationId xmlns:a16="http://schemas.microsoft.com/office/drawing/2014/main" id="{E098A1B9-8757-2F11-429B-A1F808D8D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1331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2BF3-7379-848B-A20B-F6EE1DFB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C3FCD60C-5425-088F-677C-40D7E2571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3DE34125-8D8E-80ED-0E49-2EBA0F392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132857"/>
            <a:ext cx="7793037" cy="38266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代码块：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D2B0C6-78A3-F7F7-9898-B92B91DA35FB}"/>
              </a:ext>
            </a:extLst>
          </p:cNvPr>
          <p:cNvSpPr txBox="1"/>
          <p:nvPr/>
        </p:nvSpPr>
        <p:spPr>
          <a:xfrm>
            <a:off x="755576" y="2708920"/>
            <a:ext cx="2733008" cy="2696123"/>
          </a:xfrm>
          <a:prstGeom prst="rect">
            <a:avLst/>
          </a:prstGeom>
          <a:solidFill>
            <a:schemeClr val="accent5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/>
              <a:t>if (condition) {</a:t>
            </a:r>
          </a:p>
          <a:p>
            <a:pPr>
              <a:buNone/>
            </a:pPr>
            <a:r>
              <a:rPr lang="en-US" altLang="zh-CN" sz="1800" i="0"/>
              <a:t>    // </a:t>
            </a:r>
            <a:r>
              <a:rPr lang="zh-CN" altLang="en-US" sz="1800" i="0"/>
              <a:t>这是一个代码块</a:t>
            </a:r>
          </a:p>
          <a:p>
            <a:pPr>
              <a:buNone/>
            </a:pPr>
            <a:r>
              <a:rPr lang="zh-CN" altLang="en-US" sz="1800" i="0"/>
              <a:t>    </a:t>
            </a:r>
            <a:r>
              <a:rPr lang="en-US" altLang="zh-CN" sz="1800" i="0"/>
              <a:t>statement1;</a:t>
            </a:r>
          </a:p>
          <a:p>
            <a:pPr>
              <a:buNone/>
            </a:pPr>
            <a:r>
              <a:rPr lang="en-US" altLang="zh-CN" sz="1800" i="0"/>
              <a:t>    statement2;</a:t>
            </a:r>
          </a:p>
          <a:p>
            <a:pPr>
              <a:buNone/>
            </a:pPr>
            <a:r>
              <a:rPr lang="en-US" altLang="zh-CN" sz="1800" i="0"/>
              <a:t>} else {</a:t>
            </a:r>
          </a:p>
          <a:p>
            <a:pPr>
              <a:buNone/>
            </a:pPr>
            <a:r>
              <a:rPr lang="en-US" altLang="zh-CN" sz="1800" i="0"/>
              <a:t>    // </a:t>
            </a:r>
            <a:r>
              <a:rPr lang="zh-CN" altLang="en-US" sz="1800" i="0"/>
              <a:t>这是另一个代码块</a:t>
            </a:r>
          </a:p>
          <a:p>
            <a:pPr>
              <a:buNone/>
            </a:pPr>
            <a:r>
              <a:rPr lang="zh-CN" altLang="en-US" sz="1800" i="0"/>
              <a:t>    </a:t>
            </a:r>
            <a:r>
              <a:rPr lang="en-US" altLang="zh-CN" sz="1800" i="0"/>
              <a:t>statement3;</a:t>
            </a:r>
          </a:p>
          <a:p>
            <a:pPr>
              <a:buNone/>
            </a:pPr>
            <a:r>
              <a:rPr lang="en-US" altLang="zh-CN" sz="1800" i="0"/>
              <a:t>}</a:t>
            </a:r>
          </a:p>
        </p:txBody>
      </p:sp>
      <p:pic>
        <p:nvPicPr>
          <p:cNvPr id="3" name="图形 2" descr="教师 纯色填充">
            <a:hlinkClick r:id="rId3"/>
            <a:extLst>
              <a:ext uri="{FF2B5EF4-FFF2-40B4-BE49-F238E27FC236}">
                <a16:creationId xmlns:a16="http://schemas.microsoft.com/office/drawing/2014/main" id="{80532D66-0D14-8DDD-92B1-A5567C582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8D6FF81-DCCF-3909-D1B2-B15FABBEABE8}"/>
              </a:ext>
            </a:extLst>
          </p:cNvPr>
          <p:cNvSpPr txBox="1"/>
          <p:nvPr/>
        </p:nvSpPr>
        <p:spPr>
          <a:xfrm>
            <a:off x="3707904" y="2708920"/>
            <a:ext cx="2376264" cy="30285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/>
              <a:t>void main() {</a:t>
            </a:r>
          </a:p>
          <a:p>
            <a:pPr>
              <a:buNone/>
            </a:pPr>
            <a:r>
              <a:rPr lang="en-US" altLang="zh-CN" sz="1800" i="0"/>
              <a:t>    int condition = 1;</a:t>
            </a:r>
          </a:p>
          <a:p>
            <a:pPr>
              <a:buNone/>
            </a:pPr>
            <a:r>
              <a:rPr lang="en-US" altLang="zh-CN" sz="1800" i="0"/>
              <a:t>    if (condition) {</a:t>
            </a:r>
          </a:p>
          <a:p>
            <a:pPr>
              <a:buNone/>
            </a:pPr>
            <a:r>
              <a:rPr lang="en-US" altLang="zh-CN" sz="1800" i="0"/>
              <a:t>      int x=1;</a:t>
            </a:r>
          </a:p>
          <a:p>
            <a:pPr>
              <a:buNone/>
            </a:pPr>
            <a:r>
              <a:rPr lang="en-US" altLang="zh-CN" sz="1800" i="0"/>
              <a:t>    }</a:t>
            </a:r>
          </a:p>
          <a:p>
            <a:pPr>
              <a:buNone/>
            </a:pPr>
            <a:r>
              <a:rPr lang="en-US" altLang="zh-CN" sz="1800" i="0"/>
              <a:t>    else {</a:t>
            </a:r>
          </a:p>
          <a:p>
            <a:pPr>
              <a:buNone/>
            </a:pPr>
            <a:r>
              <a:rPr lang="en-US" altLang="zh-CN" sz="1800" i="0"/>
              <a:t>      int x=2;</a:t>
            </a:r>
          </a:p>
          <a:p>
            <a:pPr>
              <a:buNone/>
            </a:pPr>
            <a:r>
              <a:rPr lang="en-US" altLang="zh-CN" sz="1800" i="0"/>
              <a:t>    }</a:t>
            </a:r>
          </a:p>
          <a:p>
            <a:pPr>
              <a:buNone/>
            </a:pPr>
            <a:r>
              <a:rPr lang="en-US" altLang="zh-CN" sz="1800" i="0"/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B0F0DD-AB53-FD17-31B2-D005506071E0}"/>
              </a:ext>
            </a:extLst>
          </p:cNvPr>
          <p:cNvSpPr txBox="1"/>
          <p:nvPr/>
        </p:nvSpPr>
        <p:spPr>
          <a:xfrm>
            <a:off x="6372200" y="2708920"/>
            <a:ext cx="2376264" cy="33609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/>
              <a:t>void main() {</a:t>
            </a:r>
          </a:p>
          <a:p>
            <a:pPr>
              <a:buNone/>
            </a:pPr>
            <a:r>
              <a:rPr lang="en-US" altLang="zh-CN" sz="1800" i="0"/>
              <a:t>    int condition = 1;</a:t>
            </a:r>
          </a:p>
          <a:p>
            <a:pPr>
              <a:buNone/>
            </a:pPr>
            <a:r>
              <a:rPr lang="en-US" altLang="zh-CN" sz="1800" i="0"/>
              <a:t>    int x = 0;</a:t>
            </a:r>
          </a:p>
          <a:p>
            <a:pPr>
              <a:buNone/>
            </a:pPr>
            <a:r>
              <a:rPr lang="en-US" altLang="zh-CN" sz="1800" i="0"/>
              <a:t>    if (condition) {</a:t>
            </a:r>
          </a:p>
          <a:p>
            <a:pPr>
              <a:buNone/>
            </a:pPr>
            <a:r>
              <a:rPr lang="en-US" altLang="zh-CN" sz="1800" i="0"/>
              <a:t>      x=1;</a:t>
            </a:r>
          </a:p>
          <a:p>
            <a:pPr>
              <a:buNone/>
            </a:pPr>
            <a:r>
              <a:rPr lang="en-US" altLang="zh-CN" sz="1800" i="0"/>
              <a:t>    }</a:t>
            </a:r>
          </a:p>
          <a:p>
            <a:pPr>
              <a:buNone/>
            </a:pPr>
            <a:r>
              <a:rPr lang="en-US" altLang="zh-CN" sz="1800" i="0"/>
              <a:t>    else {</a:t>
            </a:r>
          </a:p>
          <a:p>
            <a:pPr>
              <a:buNone/>
            </a:pPr>
            <a:r>
              <a:rPr lang="en-US" altLang="zh-CN" sz="1800" i="0"/>
              <a:t>      x=2;</a:t>
            </a:r>
          </a:p>
          <a:p>
            <a:pPr>
              <a:buNone/>
            </a:pPr>
            <a:r>
              <a:rPr lang="en-US" altLang="zh-CN" sz="1800" i="0"/>
              <a:t>    }</a:t>
            </a:r>
          </a:p>
          <a:p>
            <a:pPr>
              <a:buNone/>
            </a:pPr>
            <a:r>
              <a:rPr lang="en-US" altLang="zh-CN" sz="1800" i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7408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2F4B-272C-B000-CC99-D0A02F11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1B94EB20-3F38-EE26-F4B8-930CB6806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局部变量（</a:t>
            </a:r>
            <a:r>
              <a:rPr lang="en-US" altLang="zh-CN"/>
              <a:t>Local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6B6BD857-D26D-7667-0F55-113EC3D29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2132857"/>
            <a:ext cx="7793037" cy="38266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代码块：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176DC7-5260-D206-9520-88BCC69DCA1C}"/>
              </a:ext>
            </a:extLst>
          </p:cNvPr>
          <p:cNvSpPr txBox="1"/>
          <p:nvPr/>
        </p:nvSpPr>
        <p:spPr>
          <a:xfrm>
            <a:off x="1475656" y="2780928"/>
            <a:ext cx="6445398" cy="29854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int main() {</a:t>
            </a:r>
          </a:p>
          <a:p>
            <a:pPr>
              <a:buNone/>
            </a:pPr>
            <a:r>
              <a:rPr lang="en-US" altLang="zh-CN" sz="2000" i="0"/>
              <a:t>    //int i = 1;</a:t>
            </a:r>
          </a:p>
          <a:p>
            <a:pPr>
              <a:buNone/>
            </a:pPr>
            <a:r>
              <a:rPr lang="en-US" altLang="zh-CN" sz="2000" i="0"/>
              <a:t>    for(int i=1; i&lt;5; i++)</a:t>
            </a:r>
          </a:p>
          <a:p>
            <a:pPr>
              <a:buNone/>
            </a:pPr>
            <a:r>
              <a:rPr lang="en-US" altLang="zh-CN" sz="2000" i="0"/>
              <a:t>    {</a:t>
            </a:r>
          </a:p>
          <a:p>
            <a:pPr>
              <a:buNone/>
            </a:pPr>
            <a:r>
              <a:rPr lang="en-US" altLang="zh-CN" sz="2000" i="0"/>
              <a:t>      printf("%d\n",i);</a:t>
            </a:r>
          </a:p>
          <a:p>
            <a:pPr>
              <a:buNone/>
            </a:pPr>
            <a:r>
              <a:rPr lang="en-US" altLang="zh-CN" sz="2000" i="0"/>
              <a:t>    }</a:t>
            </a:r>
          </a:p>
          <a:p>
            <a:pPr>
              <a:buNone/>
            </a:pPr>
            <a:r>
              <a:rPr lang="en-US" altLang="zh-CN" sz="2000" i="0"/>
              <a:t>    </a:t>
            </a:r>
            <a:r>
              <a:rPr lang="en-US" altLang="zh-CN" sz="2000" i="0">
                <a:solidFill>
                  <a:srgbClr val="FF0000"/>
                </a:solidFill>
              </a:rPr>
              <a:t>printf("After loop, i=%d", i);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  <p:pic>
        <p:nvPicPr>
          <p:cNvPr id="3" name="图形 2" descr="教师 纯色填充">
            <a:hlinkClick r:id="rId3"/>
            <a:extLst>
              <a:ext uri="{FF2B5EF4-FFF2-40B4-BE49-F238E27FC236}">
                <a16:creationId xmlns:a16="http://schemas.microsoft.com/office/drawing/2014/main" id="{CB61F0AB-F50D-0635-A506-972D4DE3B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E2D9CC-6BA0-4CA0-8807-7A5DA7470165}"/>
              </a:ext>
            </a:extLst>
          </p:cNvPr>
          <p:cNvSpPr txBox="1"/>
          <p:nvPr/>
        </p:nvSpPr>
        <p:spPr>
          <a:xfrm>
            <a:off x="1475656" y="6223227"/>
            <a:ext cx="5832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b="0" i="0">
                <a:solidFill>
                  <a:srgbClr val="E93F34"/>
                </a:solidFill>
                <a:effectLst/>
                <a:latin typeface="Courier" panose="02070309020205020404" pitchFamily="49" charset="0"/>
              </a:rPr>
              <a:t>error: ’i' undeclared (first use in this function)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765607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947D7C80-4201-31CB-CF3F-972CA98B9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全局变量（</a:t>
            </a:r>
            <a:r>
              <a:rPr lang="en-US" altLang="zh-CN"/>
              <a:t>Global Variable</a:t>
            </a:r>
            <a:r>
              <a:rPr lang="zh-CN" altLang="en-US"/>
              <a:t>）</a:t>
            </a:r>
          </a:p>
        </p:txBody>
      </p:sp>
      <p:sp>
        <p:nvSpPr>
          <p:cNvPr id="631811" name="Rectangle 3">
            <a:extLst>
              <a:ext uri="{FF2B5EF4-FFF2-40B4-BE49-F238E27FC236}">
                <a16:creationId xmlns:a16="http://schemas.microsoft.com/office/drawing/2014/main" id="{2C44966D-767E-6B32-79CB-16BAAA8E3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2204863"/>
            <a:ext cx="7632848" cy="3754611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 u="sng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在所有函数之外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定义的变量是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全局变量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，在定义它的位置以后都有效</a:t>
            </a: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全局变量</a:t>
            </a:r>
            <a:r>
              <a:rPr lang="zh-CN" altLang="en-US" sz="2000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自动初始化为</a:t>
            </a:r>
            <a:r>
              <a:rPr lang="en-US" altLang="zh-CN" sz="2000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全局变量使函数之间的数据交换更容易，效率也高一些</a:t>
            </a:r>
          </a:p>
          <a:p>
            <a:pPr lvl="1">
              <a:spcAft>
                <a:spcPts val="600"/>
              </a:spcAft>
            </a:pP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但是</a:t>
            </a:r>
            <a:r>
              <a:rPr lang="zh-CN" altLang="en-US" sz="200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不推荐</a:t>
            </a:r>
            <a:r>
              <a:rPr lang="zh-CN" altLang="en-US" sz="20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大量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使用</a:t>
            </a:r>
            <a:r>
              <a:rPr lang="zh-CN" altLang="en-US" sz="2000" strike="sngStrike">
                <a:latin typeface="SimSun" panose="02010600030101010101" pitchFamily="2" charset="-122"/>
                <a:ea typeface="SimSun" panose="02010600030101010101" pitchFamily="2" charset="-122"/>
              </a:rPr>
              <a:t>，甚至</a:t>
            </a:r>
            <a:r>
              <a:rPr lang="zh-CN" altLang="en-US" sz="2000" strike="sngStrike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禁止</a:t>
            </a:r>
            <a:r>
              <a:rPr lang="zh-CN" altLang="en-US" sz="2000" strike="sngStrike">
                <a:latin typeface="SimSun" panose="02010600030101010101" pitchFamily="2" charset="-122"/>
                <a:ea typeface="SimSun" panose="02010600030101010101" pitchFamily="2" charset="-122"/>
              </a:rPr>
              <a:t>使用</a:t>
            </a:r>
          </a:p>
          <a:p>
            <a:pPr>
              <a:spcAft>
                <a:spcPts val="600"/>
              </a:spcAft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程序的任何部分都可以改写全局变量，很难确定在程序的哪里改写了它，程序结构混乱</a:t>
            </a:r>
          </a:p>
          <a:p>
            <a:pPr>
              <a:spcAft>
                <a:spcPts val="600"/>
              </a:spcAft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不得不用的时候（这种情况比较少见），要严格控制对它的改写</a:t>
            </a:r>
          </a:p>
        </p:txBody>
      </p:sp>
    </p:spTree>
    <p:extLst>
      <p:ext uri="{BB962C8B-B14F-4D97-AF65-F5344CB8AC3E}">
        <p14:creationId xmlns:p14="http://schemas.microsoft.com/office/powerpoint/2010/main" val="393849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F401-A5B4-EE12-2A40-56EAF773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1999E2BD-B8A8-A9FD-F078-C0913CDD6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全局变量（</a:t>
            </a:r>
            <a:r>
              <a:rPr lang="en-US" altLang="zh-CN"/>
              <a:t>Global Variable</a:t>
            </a:r>
            <a:r>
              <a:rPr lang="zh-CN" altLang="en-US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14647B-3DF2-54E3-B4F0-57ED19D77017}"/>
              </a:ext>
            </a:extLst>
          </p:cNvPr>
          <p:cNvSpPr txBox="1"/>
          <p:nvPr/>
        </p:nvSpPr>
        <p:spPr>
          <a:xfrm>
            <a:off x="899592" y="2060848"/>
            <a:ext cx="7344816" cy="44627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#include &lt;stdio.h&gt;</a:t>
            </a:r>
          </a:p>
          <a:p>
            <a:pPr>
              <a:buNone/>
            </a:pPr>
            <a:r>
              <a:rPr lang="en-US" altLang="zh-CN" sz="2000" i="0"/>
              <a:t>int x = 10;</a:t>
            </a:r>
            <a:r>
              <a:rPr lang="zh-CN" altLang="en-US" sz="2000" i="0"/>
              <a:t>  </a:t>
            </a:r>
            <a:r>
              <a:rPr lang="en-US" altLang="zh-CN" sz="2000" i="0"/>
              <a:t>//x</a:t>
            </a:r>
            <a:r>
              <a:rPr lang="zh-CN" altLang="en-US" sz="2000" i="0"/>
              <a:t>是全局变量</a:t>
            </a: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void example() {</a:t>
            </a:r>
          </a:p>
          <a:p>
            <a:pPr>
              <a:buNone/>
            </a:pPr>
            <a:r>
              <a:rPr lang="en-US" altLang="zh-CN" sz="2000" i="0"/>
              <a:t>    printf("x = %d\n", x);</a:t>
            </a:r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x</a:t>
            </a:r>
            <a:r>
              <a:rPr lang="zh-CN" altLang="en-US" sz="2000" i="0"/>
              <a:t> </a:t>
            </a:r>
            <a:r>
              <a:rPr lang="en-US" altLang="zh-CN" sz="2000" i="0"/>
              <a:t>=</a:t>
            </a:r>
            <a:r>
              <a:rPr lang="zh-CN" altLang="en-US" sz="2000" i="0"/>
              <a:t> </a:t>
            </a:r>
            <a:r>
              <a:rPr lang="en-US" altLang="zh-CN" sz="2000" i="0"/>
              <a:t>100;</a:t>
            </a:r>
            <a:r>
              <a:rPr lang="zh-CN" altLang="en-US" sz="2000" i="0"/>
              <a:t>   </a:t>
            </a: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}</a:t>
            </a:r>
          </a:p>
          <a:p>
            <a:pPr>
              <a:buNone/>
            </a:pPr>
            <a:endParaRPr lang="en-US" altLang="zh-CN" sz="2000" i="0"/>
          </a:p>
          <a:p>
            <a:pPr>
              <a:buNone/>
            </a:pPr>
            <a:r>
              <a:rPr lang="en-US" altLang="zh-CN" sz="2000" i="0"/>
              <a:t>int main() {</a:t>
            </a:r>
          </a:p>
          <a:p>
            <a:pPr>
              <a:buNone/>
            </a:pPr>
            <a:r>
              <a:rPr lang="en-US" altLang="zh-CN" sz="2000" i="0"/>
              <a:t>    example();</a:t>
            </a:r>
          </a:p>
          <a:p>
            <a:pPr>
              <a:buNone/>
            </a:pPr>
            <a:r>
              <a:rPr lang="en-US" altLang="zh-CN" sz="2000" i="0"/>
              <a:t>    printf("%d", x);  </a:t>
            </a:r>
            <a:endParaRPr lang="zh-CN" altLang="en-US" sz="2000" i="0"/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return 0;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  <p:pic>
        <p:nvPicPr>
          <p:cNvPr id="4" name="图形 3" descr="教师 纯色填充">
            <a:hlinkClick r:id="rId2"/>
            <a:extLst>
              <a:ext uri="{FF2B5EF4-FFF2-40B4-BE49-F238E27FC236}">
                <a16:creationId xmlns:a16="http://schemas.microsoft.com/office/drawing/2014/main" id="{8B1F16EF-7060-B8D6-6926-5F918A761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9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71A7686A-F573-BBAE-06F1-F27EFA341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静态变量（</a:t>
            </a:r>
            <a:r>
              <a:rPr lang="en-US" altLang="zh-CN">
                <a:latin typeface="Courier New" panose="02070309020205020404" pitchFamily="49" charset="0"/>
              </a:rPr>
              <a:t>static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1F37CA2A-E77B-F5F1-A122-FECE3DAB21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204864"/>
            <a:ext cx="7643192" cy="392764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函数的内部（局部）变量在函数退出后失效（内存释放）。再次进入函数，变量重新定义并分配内存。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每次函数执行都建立一个全新的执行环境，不受其它函数的干扰</a:t>
            </a: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把此变量定义为</a:t>
            </a:r>
            <a:r>
              <a:rPr lang="en-US" altLang="zh-CN" sz="20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static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，则变量的值可以保存到下次进入函数</a:t>
            </a:r>
          </a:p>
          <a:p>
            <a:pPr lvl="1">
              <a:spcAft>
                <a:spcPts val="600"/>
              </a:spcAft>
            </a:pPr>
            <a:r>
              <a:rPr lang="en-US" altLang="zh-CN" sz="18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static</a:t>
            </a:r>
            <a:r>
              <a:rPr lang="en-US" altLang="zh-CN" sz="18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lang="en-US" altLang="zh-CN" sz="18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i;</a:t>
            </a: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静态变量</a:t>
            </a:r>
            <a:r>
              <a:rPr lang="zh-CN" altLang="en-US" sz="20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自动初始化为</a:t>
            </a:r>
            <a:r>
              <a:rPr lang="en-US" altLang="zh-CN" sz="20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</a:t>
            </a: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静态变量的合理使用可以减少内存重复分配，且保持数据的一致性，有助于优化程序的效率。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主要分为</a:t>
            </a: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局部静态变量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全局静态变量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两类。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81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23B5-0D39-8CD3-2272-D3F4CFEC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32E81F7A-B760-3E41-CD49-DD5782F7D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静态变量（</a:t>
            </a:r>
            <a:r>
              <a:rPr lang="en-US" altLang="zh-CN">
                <a:latin typeface="Courier New" panose="02070309020205020404" pitchFamily="49" charset="0"/>
              </a:rPr>
              <a:t>static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838336B5-F3B7-7E64-C689-A0B12ED2C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060848"/>
            <a:ext cx="7643192" cy="4071665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局部静态变量</a:t>
            </a:r>
            <a:endParaRPr lang="en-US" altLang="zh-CN" sz="2400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在函数或代码块内部用 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static 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关键字声明的变量，</a:t>
            </a:r>
            <a:r>
              <a:rPr lang="zh-CN" altLang="en-US" sz="20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只在其作用域内可见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，但其生命周期从程序开始到结束。</a:t>
            </a:r>
            <a:endParaRPr lang="en-US" altLang="zh-CN" sz="2000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这种变量在函数第一次调用时初始化，后续调用不会重新初始化。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8265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93A4-237D-F739-4934-3279F63B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B9AE113D-8013-AC1B-AA31-A1BF0128B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静态变量（</a:t>
            </a:r>
            <a:r>
              <a:rPr lang="en-US" altLang="zh-CN">
                <a:latin typeface="Courier New" panose="02070309020205020404" pitchFamily="49" charset="0"/>
              </a:rPr>
              <a:t>static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31DD5C33-819B-1AE6-0A9C-E861050BA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060848"/>
            <a:ext cx="7643192" cy="407166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局部静态变量</a:t>
            </a:r>
            <a:endParaRPr lang="en-US" altLang="zh-CN" sz="2400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0D3A18-6AB9-676C-DAC0-0DD47D9121DE}"/>
              </a:ext>
            </a:extLst>
          </p:cNvPr>
          <p:cNvSpPr txBox="1"/>
          <p:nvPr/>
        </p:nvSpPr>
        <p:spPr>
          <a:xfrm>
            <a:off x="1547664" y="2618387"/>
            <a:ext cx="6445398" cy="38841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i="0"/>
              <a:t>void counter() {</a:t>
            </a:r>
          </a:p>
          <a:p>
            <a:pPr>
              <a:buNone/>
            </a:pPr>
            <a:r>
              <a:rPr lang="en-US" altLang="zh-CN" sz="1600" i="0"/>
              <a:t>    static int count;  // </a:t>
            </a:r>
            <a:r>
              <a:rPr lang="zh-CN" altLang="en-US" sz="1600" i="0"/>
              <a:t>静态局部变量只初始化一次</a:t>
            </a:r>
          </a:p>
          <a:p>
            <a:pPr>
              <a:buNone/>
            </a:pPr>
            <a:r>
              <a:rPr lang="zh-CN" altLang="en-US" sz="1600" i="0"/>
              <a:t>    </a:t>
            </a:r>
            <a:r>
              <a:rPr lang="en-US" altLang="zh-CN" sz="1600" i="0"/>
              <a:t>count++;</a:t>
            </a:r>
          </a:p>
          <a:p>
            <a:pPr>
              <a:buNone/>
            </a:pPr>
            <a:r>
              <a:rPr lang="en-US" altLang="zh-CN" sz="1600" i="0"/>
              <a:t>    printf("Count = %d\n", count);</a:t>
            </a:r>
          </a:p>
          <a:p>
            <a:pPr>
              <a:buNone/>
            </a:pPr>
            <a:r>
              <a:rPr lang="en-US" altLang="zh-CN" sz="1600" i="0"/>
              <a:t>}</a:t>
            </a:r>
          </a:p>
          <a:p>
            <a:pPr>
              <a:buNone/>
            </a:pPr>
            <a:endParaRPr lang="en-US" altLang="zh-CN" sz="1600" i="0"/>
          </a:p>
          <a:p>
            <a:pPr>
              <a:buNone/>
            </a:pPr>
            <a:r>
              <a:rPr lang="en-US" altLang="zh-CN" sz="1600" i="0"/>
              <a:t>int main() {</a:t>
            </a:r>
          </a:p>
          <a:p>
            <a:pPr>
              <a:buNone/>
            </a:pPr>
            <a:r>
              <a:rPr lang="en-US" altLang="zh-CN" sz="1600" i="0"/>
              <a:t>    counter();  // </a:t>
            </a:r>
            <a:r>
              <a:rPr lang="zh-CN" altLang="en-US" sz="1600" i="0"/>
              <a:t>输出 </a:t>
            </a:r>
            <a:r>
              <a:rPr lang="en-US" altLang="zh-CN" sz="1600" i="0"/>
              <a:t>Count = 1</a:t>
            </a:r>
          </a:p>
          <a:p>
            <a:pPr>
              <a:buNone/>
            </a:pPr>
            <a:r>
              <a:rPr lang="en-US" altLang="zh-CN" sz="1600" i="0"/>
              <a:t>    counter();  // </a:t>
            </a:r>
            <a:r>
              <a:rPr lang="zh-CN" altLang="en-US" sz="1600" i="0"/>
              <a:t>输出 </a:t>
            </a:r>
            <a:r>
              <a:rPr lang="en-US" altLang="zh-CN" sz="1600" i="0"/>
              <a:t>Count = 2</a:t>
            </a:r>
          </a:p>
          <a:p>
            <a:pPr>
              <a:buNone/>
            </a:pPr>
            <a:r>
              <a:rPr lang="en-US" altLang="zh-CN" sz="1600" i="0"/>
              <a:t>    counter();  // </a:t>
            </a:r>
            <a:r>
              <a:rPr lang="zh-CN" altLang="en-US" sz="1600" i="0"/>
              <a:t>输出 </a:t>
            </a:r>
            <a:r>
              <a:rPr lang="en-US" altLang="zh-CN" sz="1600" i="0"/>
              <a:t>Count = 3</a:t>
            </a:r>
          </a:p>
          <a:p>
            <a:pPr>
              <a:buNone/>
            </a:pPr>
            <a:r>
              <a:rPr lang="en-US" altLang="zh-CN" sz="1600" i="0"/>
              <a:t>    </a:t>
            </a:r>
            <a:r>
              <a:rPr lang="en-US" altLang="zh-CN" sz="1600" i="0">
                <a:solidFill>
                  <a:srgbClr val="FF0000"/>
                </a:solidFill>
              </a:rPr>
              <a:t>//printf(“Count = %d\n”, count);  //</a:t>
            </a:r>
            <a:r>
              <a:rPr lang="zh-CN" altLang="en-US" sz="1600" i="0">
                <a:solidFill>
                  <a:srgbClr val="FF0000"/>
                </a:solidFill>
              </a:rPr>
              <a:t>错误，超出作用域</a:t>
            </a:r>
            <a:endParaRPr lang="en-US" altLang="zh-CN" sz="1600" i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1600" i="0"/>
              <a:t>    return 0;</a:t>
            </a:r>
          </a:p>
          <a:p>
            <a:pPr>
              <a:buNone/>
            </a:pPr>
            <a:r>
              <a:rPr lang="en-US" altLang="zh-CN" sz="1600" i="0"/>
              <a:t>}</a:t>
            </a:r>
          </a:p>
        </p:txBody>
      </p:sp>
      <p:pic>
        <p:nvPicPr>
          <p:cNvPr id="3" name="图形 2" descr="教师 纯色填充">
            <a:hlinkClick r:id="rId3"/>
            <a:extLst>
              <a:ext uri="{FF2B5EF4-FFF2-40B4-BE49-F238E27FC236}">
                <a16:creationId xmlns:a16="http://schemas.microsoft.com/office/drawing/2014/main" id="{F95E14CE-0A49-2150-226B-DBD29DCA3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56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0272-0C72-AA99-C4CF-FBBA972A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4CBEFA8D-DBDF-551E-D381-99D50816F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静态变量（</a:t>
            </a:r>
            <a:r>
              <a:rPr lang="en-US" altLang="zh-CN">
                <a:latin typeface="Courier New" panose="02070309020205020404" pitchFamily="49" charset="0"/>
              </a:rPr>
              <a:t>static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781D7A18-74BB-78B8-A6C4-B5087CEE11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060848"/>
            <a:ext cx="7643192" cy="4071665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全局静态变量</a:t>
            </a:r>
            <a:endParaRPr lang="en-US" altLang="zh-CN" sz="2400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在函数外部（全局作用域）使用 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static 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关键字声明的变量</a:t>
            </a:r>
            <a:r>
              <a:rPr lang="zh-CN" altLang="en-US" sz="20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只在该文件内可见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，不能被其他文件访问，即</a:t>
            </a:r>
            <a:r>
              <a:rPr lang="zh-CN" altLang="en-US" sz="20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具有文件作用域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通常用于实现模块化编程，避免变量污染其他文件的全局命名空间。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646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6D6A-2F9C-4F01-EDB1-19F3DDF2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>
            <a:extLst>
              <a:ext uri="{FF2B5EF4-FFF2-40B4-BE49-F238E27FC236}">
                <a16:creationId xmlns:a16="http://schemas.microsoft.com/office/drawing/2014/main" id="{2522C054-FBB3-60E8-B219-CC9EAF618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静态变量（</a:t>
            </a:r>
            <a:r>
              <a:rPr lang="en-US" altLang="zh-CN">
                <a:latin typeface="Courier New" panose="02070309020205020404" pitchFamily="49" charset="0"/>
              </a:rPr>
              <a:t>static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2835" name="Rectangle 3">
            <a:extLst>
              <a:ext uri="{FF2B5EF4-FFF2-40B4-BE49-F238E27FC236}">
                <a16:creationId xmlns:a16="http://schemas.microsoft.com/office/drawing/2014/main" id="{1F1AE6CC-3F6F-E1AB-4442-02C769C32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060848"/>
            <a:ext cx="7643192" cy="407166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全局静态变量</a:t>
            </a:r>
            <a:endParaRPr lang="en-US" altLang="zh-CN" sz="2400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776D88-726C-7A6F-57D0-F8E6F4D43ECB}"/>
              </a:ext>
            </a:extLst>
          </p:cNvPr>
          <p:cNvSpPr txBox="1"/>
          <p:nvPr/>
        </p:nvSpPr>
        <p:spPr>
          <a:xfrm>
            <a:off x="1547664" y="2914433"/>
            <a:ext cx="6445398" cy="187743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static int globalVar = 100;  // </a:t>
            </a:r>
            <a:r>
              <a:rPr lang="zh-CN" altLang="en-US" sz="2000" i="0"/>
              <a:t>只能在本文件内访问</a:t>
            </a:r>
          </a:p>
          <a:p>
            <a:pPr>
              <a:buNone/>
            </a:pPr>
            <a:endParaRPr lang="zh-CN" altLang="en-US" sz="2000" i="0"/>
          </a:p>
          <a:p>
            <a:pPr>
              <a:buNone/>
            </a:pPr>
            <a:r>
              <a:rPr lang="en-US" altLang="zh-CN" sz="2000" i="0"/>
              <a:t>void printGlobalVar() {</a:t>
            </a:r>
          </a:p>
          <a:p>
            <a:pPr>
              <a:buNone/>
            </a:pPr>
            <a:r>
              <a:rPr lang="en-US" altLang="zh-CN" sz="2000" i="0"/>
              <a:t>    printf("%d\n", globalVar);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  <p:pic>
        <p:nvPicPr>
          <p:cNvPr id="3" name="图形 2" descr="教师 纯色填充">
            <a:hlinkClick r:id="rId3"/>
            <a:extLst>
              <a:ext uri="{FF2B5EF4-FFF2-40B4-BE49-F238E27FC236}">
                <a16:creationId xmlns:a16="http://schemas.microsoft.com/office/drawing/2014/main" id="{425EA3CC-7A8B-DE27-216E-C13626C04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27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32EF32F2-E750-EAE4-7AFB-28D170010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寄存器变量（</a:t>
            </a:r>
            <a:r>
              <a:rPr lang="en-US" altLang="zh-CN">
                <a:latin typeface="Courier New" panose="02070309020205020404" pitchFamily="49" charset="0"/>
              </a:rPr>
              <a:t>register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AFD1DB7F-894A-511C-3025-A4CE945A04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3762" y="2204864"/>
            <a:ext cx="7793037" cy="392764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寄存器是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CPU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内的高速但容量有限的存储器。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热点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变量声明为寄存器变量，访问速度更快。</a:t>
            </a:r>
          </a:p>
          <a:p>
            <a:pPr>
              <a:spcAft>
                <a:spcPts val="600"/>
              </a:spcAft>
            </a:pPr>
            <a:r>
              <a:rPr lang="en-US" altLang="zh-CN" sz="24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register</a:t>
            </a:r>
            <a:r>
              <a:rPr lang="en-US" altLang="zh-CN" sz="24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int</a:t>
            </a:r>
            <a:r>
              <a:rPr lang="en-US" altLang="zh-CN" sz="24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i;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限制：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现代</a:t>
            </a:r>
            <a:r>
              <a:rPr lang="zh-CN" altLang="en-US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编译器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有能力自动把普通变量</a:t>
            </a:r>
            <a:r>
              <a:rPr lang="zh-CN" altLang="en-US" sz="1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优化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为寄存器变量，并且可以忽略用户的指定，所以一般无需特别说明变量为寄存器变量。</a:t>
            </a:r>
            <a:endParaRPr lang="en-US" altLang="zh-CN" sz="1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1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只能用于局部变量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（函数内）或函数的参数中，不能用于全局变量。</a:t>
            </a:r>
            <a:endParaRPr lang="en-US" altLang="zh-CN" sz="1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不能获取寄存器变量的地址，因为寄存器不像内存那样有固定的地址。</a:t>
            </a:r>
          </a:p>
        </p:txBody>
      </p:sp>
    </p:spTree>
    <p:extLst>
      <p:ext uri="{BB962C8B-B14F-4D97-AF65-F5344CB8AC3E}">
        <p14:creationId xmlns:p14="http://schemas.microsoft.com/office/powerpoint/2010/main" val="597587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2E070-F868-B2E3-5BB4-F694B47B7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3D1D8AAB-6613-EEC9-71B8-798847516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寄存器变量（</a:t>
            </a:r>
            <a:r>
              <a:rPr lang="en-US" altLang="zh-CN">
                <a:latin typeface="Courier New" panose="02070309020205020404" pitchFamily="49" charset="0"/>
              </a:rPr>
              <a:t>register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6331379F-69FB-DDEB-77DE-FB7888E78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3762" y="1988840"/>
            <a:ext cx="7793037" cy="414367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使用场景：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循环计数器：循环中的计数器变量是寄存器变量的典型使用场景，因为它们需要频繁地被访问和更新。</a:t>
            </a:r>
          </a:p>
          <a:p>
            <a:pPr lvl="1">
              <a:spcAft>
                <a:spcPts val="600"/>
              </a:spcAft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频繁操作的变量：寄存器变量适合那些在短时间内需要被频繁访问或修改的变量。</a:t>
            </a:r>
            <a:endParaRPr lang="en-US" altLang="zh-CN" sz="1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5DF35E-BCB0-30CA-7BE4-B243CA08D73B}"/>
              </a:ext>
            </a:extLst>
          </p:cNvPr>
          <p:cNvSpPr txBox="1"/>
          <p:nvPr/>
        </p:nvSpPr>
        <p:spPr>
          <a:xfrm>
            <a:off x="1567581" y="4060676"/>
            <a:ext cx="6445398" cy="224676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i="0"/>
              <a:t>void example() {</a:t>
            </a:r>
          </a:p>
          <a:p>
            <a:pPr>
              <a:buNone/>
            </a:pPr>
            <a:r>
              <a:rPr lang="en-US" altLang="zh-CN" sz="2000" i="0"/>
              <a:t>    register int counter = 0;  // </a:t>
            </a:r>
            <a:r>
              <a:rPr lang="zh-CN" altLang="en-US" sz="2000" i="0"/>
              <a:t>声明一个寄存器变量</a:t>
            </a:r>
          </a:p>
          <a:p>
            <a:pPr>
              <a:buNone/>
            </a:pPr>
            <a:r>
              <a:rPr lang="zh-CN" altLang="en-US" sz="2000" i="0"/>
              <a:t>    </a:t>
            </a:r>
            <a:r>
              <a:rPr lang="en-US" altLang="zh-CN" sz="2000" i="0"/>
              <a:t>for (counter = 0; counter &lt; 10; counter++) {</a:t>
            </a:r>
          </a:p>
          <a:p>
            <a:pPr>
              <a:buNone/>
            </a:pPr>
            <a:r>
              <a:rPr lang="en-US" altLang="zh-CN" sz="2000" i="0"/>
              <a:t>        printf("%d\n", counter);</a:t>
            </a:r>
          </a:p>
          <a:p>
            <a:pPr>
              <a:buNone/>
            </a:pPr>
            <a:r>
              <a:rPr lang="en-US" altLang="zh-CN" sz="2000" i="0"/>
              <a:t>    }</a:t>
            </a:r>
          </a:p>
          <a:p>
            <a:pPr>
              <a:buNone/>
            </a:pPr>
            <a:r>
              <a:rPr lang="en-US" altLang="zh-CN" sz="2000" i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5119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64305-7B48-C302-0EF1-6836E9C4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A6816A1D-B0ED-81E0-7156-330E9B265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外部变量（</a:t>
            </a:r>
            <a:r>
              <a:rPr lang="en-US" altLang="zh-CN">
                <a:latin typeface="Courier New" panose="02070309020205020404" pitchFamily="49" charset="0"/>
              </a:rPr>
              <a:t>extern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73FD6D25-34BB-BC65-E095-56FA62205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3762" y="2204864"/>
            <a:ext cx="7793037" cy="392764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extern 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关键字：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使用 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extern 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关键字，可以在其他文件中访问外部变量。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34EFE0-720D-39CD-D687-1E8105B5E48C}"/>
              </a:ext>
            </a:extLst>
          </p:cNvPr>
          <p:cNvSpPr txBox="1"/>
          <p:nvPr/>
        </p:nvSpPr>
        <p:spPr>
          <a:xfrm>
            <a:off x="1475656" y="3523655"/>
            <a:ext cx="6445398" cy="6340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i="0"/>
              <a:t>// file1.c</a:t>
            </a:r>
          </a:p>
          <a:p>
            <a:pPr>
              <a:buNone/>
            </a:pPr>
            <a:r>
              <a:rPr lang="en-US" altLang="zh-CN" sz="1600" i="0"/>
              <a:t>int external_var = 200;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0A5030-5D60-72B7-36B9-93152D98A838}"/>
              </a:ext>
            </a:extLst>
          </p:cNvPr>
          <p:cNvSpPr txBox="1"/>
          <p:nvPr/>
        </p:nvSpPr>
        <p:spPr>
          <a:xfrm>
            <a:off x="1475656" y="4725144"/>
            <a:ext cx="6445398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i="0"/>
              <a:t>// file2.c</a:t>
            </a:r>
          </a:p>
          <a:p>
            <a:pPr>
              <a:buNone/>
            </a:pPr>
            <a:r>
              <a:rPr lang="en-US" altLang="zh-CN" sz="1600" i="0">
                <a:solidFill>
                  <a:srgbClr val="00B0F0"/>
                </a:solidFill>
              </a:rPr>
              <a:t>extern</a:t>
            </a:r>
            <a:r>
              <a:rPr lang="en-US" altLang="zh-CN" sz="1600" i="0"/>
              <a:t> int external_var;</a:t>
            </a:r>
          </a:p>
          <a:p>
            <a:pPr>
              <a:buNone/>
            </a:pPr>
            <a:endParaRPr lang="en-US" altLang="zh-CN" sz="1600" i="0"/>
          </a:p>
          <a:p>
            <a:pPr>
              <a:buNone/>
            </a:pPr>
            <a:r>
              <a:rPr lang="en-US" altLang="zh-CN" sz="1600" i="0"/>
              <a:t>void print_var() {</a:t>
            </a:r>
          </a:p>
          <a:p>
            <a:pPr>
              <a:buNone/>
            </a:pPr>
            <a:r>
              <a:rPr lang="en-US" altLang="zh-CN" sz="1600" i="0"/>
              <a:t>    printf("%d\n", external_var);  // </a:t>
            </a:r>
            <a:r>
              <a:rPr lang="zh-CN" altLang="en-US" sz="1600" i="0"/>
              <a:t>输出 </a:t>
            </a:r>
            <a:r>
              <a:rPr lang="en-US" altLang="zh-CN" sz="1600" i="0"/>
              <a:t>200</a:t>
            </a:r>
          </a:p>
          <a:p>
            <a:pPr>
              <a:buNone/>
            </a:pPr>
            <a:r>
              <a:rPr lang="en-US" altLang="zh-CN" sz="1600" i="0"/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83D618-D56F-0264-AAA2-74AD77BB9045}"/>
              </a:ext>
            </a:extLst>
          </p:cNvPr>
          <p:cNvSpPr txBox="1"/>
          <p:nvPr/>
        </p:nvSpPr>
        <p:spPr>
          <a:xfrm>
            <a:off x="1440581" y="31409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>
                <a:solidFill>
                  <a:srgbClr val="0070C0"/>
                </a:solidFill>
              </a:rPr>
              <a:t>file1.c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F517B3-41E7-6872-754A-834CE82531F4}"/>
              </a:ext>
            </a:extLst>
          </p:cNvPr>
          <p:cNvSpPr txBox="1"/>
          <p:nvPr/>
        </p:nvSpPr>
        <p:spPr>
          <a:xfrm>
            <a:off x="1432741" y="43558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i="0">
                <a:solidFill>
                  <a:srgbClr val="0070C0"/>
                </a:solidFill>
              </a:rPr>
              <a:t>file2.c</a:t>
            </a:r>
          </a:p>
        </p:txBody>
      </p:sp>
    </p:spTree>
    <p:extLst>
      <p:ext uri="{BB962C8B-B14F-4D97-AF65-F5344CB8AC3E}">
        <p14:creationId xmlns:p14="http://schemas.microsoft.com/office/powerpoint/2010/main" val="2332863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640D7-66D3-0926-125D-3E862DB5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6918A1FC-3B9E-65F5-E8FF-04E267E73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Courier New" panose="02070309020205020404" pitchFamily="49" charset="0"/>
              </a:rPr>
              <a:t>外部变量（</a:t>
            </a:r>
            <a:r>
              <a:rPr lang="en-US" altLang="zh-CN">
                <a:latin typeface="Courier New" panose="02070309020205020404" pitchFamily="49" charset="0"/>
              </a:rPr>
              <a:t>extern</a:t>
            </a:r>
            <a:r>
              <a:rPr lang="zh-CN" altLang="en-US">
                <a:latin typeface="Courier New" panose="02070309020205020404" pitchFamily="49" charset="0"/>
              </a:rPr>
              <a:t>）</a:t>
            </a:r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99ECA854-F665-E476-D3A9-CEA029EB2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3762" y="2204864"/>
            <a:ext cx="7793037" cy="392764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注意事项：</a:t>
            </a:r>
            <a:endParaRPr lang="en-US" altLang="zh-CN" sz="24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1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命名冲突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：外部变量是全局的，如果不加以控制，容易与其他全局变量或局部变量发生命名冲突。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可以通过 </a:t>
            </a:r>
            <a:r>
              <a:rPr lang="en-US" altLang="zh-CN" sz="1800" b="1" u="sng">
                <a:latin typeface="SimSun" panose="02010600030101010101" pitchFamily="2" charset="-122"/>
                <a:ea typeface="SimSun" panose="02010600030101010101" pitchFamily="2" charset="-122"/>
              </a:rPr>
              <a:t>static 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关键字将外部变量限制在当前文件内部，避免其他文件访问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1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zh-CN" altLang="en-US" sz="1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可维护性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：过度使用外部变量会使代码难以维护和调试，因为程序中任何地方的代码都可以修改它的值，造成意外行为。因此，</a:t>
            </a:r>
            <a:r>
              <a:rPr lang="zh-CN" altLang="en-US" sz="1800" b="1" u="sng">
                <a:latin typeface="SimSun" panose="02010600030101010101" pitchFamily="2" charset="-122"/>
                <a:ea typeface="SimSun" panose="02010600030101010101" pitchFamily="2" charset="-122"/>
              </a:rPr>
              <a:t>外部变量通常用于全局状态共享的场景，应谨慎使用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848397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>
            <a:extLst>
              <a:ext uri="{FF2B5EF4-FFF2-40B4-BE49-F238E27FC236}">
                <a16:creationId xmlns:a16="http://schemas.microsoft.com/office/drawing/2014/main" id="{5F936088-069F-C368-FC84-24C3C8C78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模块</a:t>
            </a:r>
          </a:p>
        </p:txBody>
      </p:sp>
      <p:sp>
        <p:nvSpPr>
          <p:cNvPr id="635907" name="Rectangle 3">
            <a:extLst>
              <a:ext uri="{FF2B5EF4-FFF2-40B4-BE49-F238E27FC236}">
                <a16:creationId xmlns:a16="http://schemas.microsoft.com/office/drawing/2014/main" id="{38A8E60F-AADA-CEC0-AA17-F577143C0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0938" y="2060848"/>
            <a:ext cx="7381502" cy="4071665"/>
          </a:xfrm>
        </p:spPr>
        <p:txBody>
          <a:bodyPr/>
          <a:lstStyle/>
          <a:p>
            <a:pPr marL="533400" indent="-533400"/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模块包含两部分</a:t>
            </a:r>
          </a:p>
          <a:p>
            <a:pPr marL="1022350" lvl="1" indent="-457200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源文件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(xxx.c)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：一系列相关函数的定义</a:t>
            </a:r>
          </a:p>
          <a:p>
            <a:pPr marL="1022350" lvl="1" indent="-457200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头文件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(xxx.h)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：这些函数的声明等必要信息</a:t>
            </a:r>
          </a:p>
          <a:p>
            <a:pPr marL="1422400" lvl="2" indent="-381000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函数声明、外部变量声明、宏定义、类型定义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……</a:t>
            </a:r>
          </a:p>
          <a:p>
            <a:pPr marL="533400" indent="-533400"/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可以将模块编译为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.obj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文件，同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.h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文件一起供别人使用，从而保护了源代码</a:t>
            </a:r>
          </a:p>
          <a:p>
            <a:pPr marL="533400" indent="-533400"/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使用模块的过程</a:t>
            </a:r>
          </a:p>
          <a:p>
            <a:pPr marL="1022350" lvl="1" indent="-457200">
              <a:buFontTx/>
              <a:buAutoNum type="arabicPeriod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建立一个工程（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project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</a:p>
          <a:p>
            <a:pPr marL="1022350" lvl="1" indent="-457200">
              <a:buFontTx/>
              <a:buAutoNum type="arabicPeriod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把各模块都加入到工程中</a:t>
            </a:r>
          </a:p>
          <a:p>
            <a:pPr marL="1022350" lvl="1" indent="-457200">
              <a:buFontTx/>
              <a:buAutoNum type="arabicPeriod"/>
            </a:pPr>
            <a:r>
              <a:rPr lang="en-US" altLang="zh-CN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#include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模块的头文件</a:t>
            </a:r>
          </a:p>
          <a:p>
            <a:pPr marL="1022350" lvl="1" indent="-457200">
              <a:buFontTx/>
              <a:buAutoNum type="arabicPeriod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开始使用此模块</a:t>
            </a:r>
          </a:p>
        </p:txBody>
      </p:sp>
    </p:spTree>
    <p:extLst>
      <p:ext uri="{BB962C8B-B14F-4D97-AF65-F5344CB8AC3E}">
        <p14:creationId xmlns:p14="http://schemas.microsoft.com/office/powerpoint/2010/main" val="2429530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6CEAE-B44F-333F-69E8-CB5E2D34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>
            <a:extLst>
              <a:ext uri="{FF2B5EF4-FFF2-40B4-BE49-F238E27FC236}">
                <a16:creationId xmlns:a16="http://schemas.microsoft.com/office/drawing/2014/main" id="{ED03B8F3-2080-B9D0-0F7A-D7000ADCF2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zh-CN" altLang="en-US" sz="4800">
                <a:solidFill>
                  <a:schemeClr val="folHlink"/>
                </a:solidFill>
              </a:rPr>
              <a:t>函数的返回值（</a:t>
            </a:r>
            <a:r>
              <a:rPr lang="en-US" altLang="zh-CN" sz="4800">
                <a:solidFill>
                  <a:schemeClr val="folHlink"/>
                </a:solidFill>
              </a:rPr>
              <a:t>revisited</a:t>
            </a:r>
            <a:r>
              <a:rPr lang="zh-CN" altLang="en-US" sz="4800">
                <a:solidFill>
                  <a:schemeClr val="folHlink"/>
                </a:solidFill>
              </a:rPr>
              <a:t>）</a:t>
            </a:r>
          </a:p>
        </p:txBody>
      </p:sp>
      <p:pic>
        <p:nvPicPr>
          <p:cNvPr id="630787" name="Picture 3">
            <a:hlinkClick r:id="rId3"/>
            <a:extLst>
              <a:ext uri="{FF2B5EF4-FFF2-40B4-BE49-F238E27FC236}">
                <a16:creationId xmlns:a16="http://schemas.microsoft.com/office/drawing/2014/main" id="{0713CB02-7942-20FB-EFA2-CAB432CD9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2940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7548624-A087-AE7F-8928-7D9030F0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E7171922-2E4E-CE7D-C204-84F218D1A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函数的返回值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0AED1D1B-4979-3589-F272-86D9F3185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2060848"/>
            <a:ext cx="7344816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函数可以没有返回值。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使用</a:t>
            </a:r>
            <a:r>
              <a:rPr lang="en-US" altLang="zh-CN" sz="2800">
                <a:latin typeface="SimSun" panose="02010600030101010101" pitchFamily="2" charset="-122"/>
                <a:ea typeface="SimSun" panose="02010600030101010101" pitchFamily="2" charset="-122"/>
              </a:rPr>
              <a:t>return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返回值，</a:t>
            </a:r>
            <a:r>
              <a:rPr lang="zh-CN" altLang="en-US" sz="28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只能返回一个值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，可以是各种基本数据类型、指针、结构。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如果要返回多个值，怎么办？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spcAft>
                <a:spcPts val="600"/>
              </a:spcAft>
            </a:pP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可以直接返回一个数组吗？</a:t>
            </a:r>
            <a:r>
              <a:rPr lang="en-US" altLang="zh-CN" sz="2400"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zh-CN" altLang="en-US" sz="240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不可以，因为数组不能作为返回值。</a:t>
            </a:r>
            <a:endParaRPr lang="en-US" altLang="zh-CN" sz="240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696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28D5E8-74EB-B75C-84E0-A328139D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D7A2B2A4-CDA6-0D9B-D622-FC2B1700C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函数的返回值（返回数组）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ADA0B405-4A64-AA19-ED6E-9FEB8A732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3608" y="2060848"/>
            <a:ext cx="7560840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解法一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：函数可以返回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指向数组的指针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，但需保证返回的指针指向的数组在函数调用后依然有效。常见的做法是：</a:t>
            </a:r>
            <a:endParaRPr lang="en-US" altLang="zh-CN" sz="24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spcAft>
                <a:spcPts val="600"/>
              </a:spcAft>
            </a:pP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静态数组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：在函数中声明一个静态数组，使得它的生命周期延续到函数结束之后。</a:t>
            </a:r>
          </a:p>
          <a:p>
            <a:pPr lvl="1" algn="just">
              <a:spcAft>
                <a:spcPts val="600"/>
              </a:spcAft>
            </a:pP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动态分配的数组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：使用 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malloc 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在“堆（</a:t>
            </a:r>
            <a:r>
              <a:rPr lang="en-US" altLang="zh-CN" sz="2000">
                <a:latin typeface="SimSun" panose="02010600030101010101" pitchFamily="2" charset="-122"/>
                <a:ea typeface="SimSun" panose="02010600030101010101" pitchFamily="2" charset="-122"/>
              </a:rPr>
              <a:t>heap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）”上动态分配数组，然后返回其指针。</a:t>
            </a:r>
            <a:endParaRPr lang="en-US" altLang="zh-CN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 algn="just">
              <a:spcAft>
                <a:spcPts val="600"/>
              </a:spcAft>
            </a:pP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引用传参：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数组在传参时是通过指针传递，</a:t>
            </a:r>
            <a:r>
              <a:rPr lang="zh-CN" altLang="en-US" sz="200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但不是通过返回值的形式</a:t>
            </a:r>
            <a:r>
              <a:rPr lang="zh-CN" altLang="en-US" sz="2000">
                <a:latin typeface="SimSun" panose="02010600030101010101" pitchFamily="2" charset="-122"/>
                <a:ea typeface="SimSun" panose="02010600030101010101" pitchFamily="2" charset="-122"/>
              </a:rPr>
              <a:t>，而是通过改变参数（数组）的值来达到类似效果。</a:t>
            </a:r>
            <a:endParaRPr lang="en-US" altLang="zh-CN" sz="200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解法二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：函数可以返回包含数组的</a:t>
            </a:r>
            <a:r>
              <a:rPr lang="zh-CN" altLang="en-US" sz="2400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结构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400">
                <a:latin typeface="SimSun" panose="02010600030101010101" pitchFamily="2" charset="-122"/>
                <a:ea typeface="SimSun" panose="02010600030101010101" pitchFamily="2" charset="-122"/>
              </a:rPr>
              <a:t>Struct</a:t>
            </a:r>
            <a:r>
              <a:rPr lang="zh-CN" altLang="en-US" sz="2400">
                <a:latin typeface="SimSun" panose="02010600030101010101" pitchFamily="2" charset="-122"/>
                <a:ea typeface="SimSun" panose="02010600030101010101" pitchFamily="2" charset="-122"/>
              </a:rPr>
              <a:t>）。</a:t>
            </a:r>
            <a:endParaRPr lang="en-US" altLang="zh-CN" sz="24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90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0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0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0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1E8423-C392-AA1C-E4B1-8A28289E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44B7400F-3247-B2D6-4213-E2C94B5E0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函数的返回值（返回数组）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6B519FD2-8728-70C7-96C7-27919B9C3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1916832"/>
            <a:ext cx="7344816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示例 </a:t>
            </a:r>
            <a:r>
              <a:rPr lang="en-US" altLang="zh-CN" sz="2800">
                <a:latin typeface="SimSun" panose="02010600030101010101" pitchFamily="2" charset="-122"/>
                <a:ea typeface="SimSun" panose="02010600030101010101" pitchFamily="2" charset="-122"/>
              </a:rPr>
              <a:t>1: 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静态数组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E37C4C-79D8-6B54-AF04-F60B45410ED3}"/>
              </a:ext>
            </a:extLst>
          </p:cNvPr>
          <p:cNvSpPr txBox="1"/>
          <p:nvPr/>
        </p:nvSpPr>
        <p:spPr>
          <a:xfrm>
            <a:off x="1547664" y="2581624"/>
            <a:ext cx="6445398" cy="31516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i="0">
                <a:solidFill>
                  <a:srgbClr val="00B0F0"/>
                </a:solidFill>
              </a:rPr>
              <a:t>int* </a:t>
            </a:r>
            <a:r>
              <a:rPr lang="en-US" altLang="zh-CN" sz="1400" i="0"/>
              <a:t>getArray() {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static</a:t>
            </a:r>
            <a:r>
              <a:rPr lang="en-US" altLang="zh-CN" sz="1400" i="0"/>
              <a:t> int arr[5] = {1, 2, 3, 4, 5};</a:t>
            </a:r>
          </a:p>
          <a:p>
            <a:pPr>
              <a:buNone/>
            </a:pPr>
            <a:r>
              <a:rPr lang="en-US" altLang="zh-CN" sz="1400" i="0"/>
              <a:t>    return </a:t>
            </a:r>
            <a:r>
              <a:rPr lang="en-US" altLang="zh-CN" sz="1400" i="0">
                <a:solidFill>
                  <a:srgbClr val="00B0F0"/>
                </a:solidFill>
              </a:rPr>
              <a:t>arr</a:t>
            </a:r>
            <a:r>
              <a:rPr lang="en-US" altLang="zh-CN" sz="1400" i="0"/>
              <a:t>;  // </a:t>
            </a:r>
            <a:r>
              <a:rPr lang="zh-CN" altLang="en-US" sz="1400" i="0"/>
              <a:t>返回静态数组的指针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  <a:p>
            <a:pPr>
              <a:buNone/>
            </a:pPr>
            <a:endParaRPr lang="en-US" altLang="zh-CN" sz="1400" i="0"/>
          </a:p>
          <a:p>
            <a:pPr>
              <a:buNone/>
            </a:pPr>
            <a:r>
              <a:rPr lang="en-US" altLang="zh-CN" sz="1400" i="0"/>
              <a:t>int main() {</a:t>
            </a:r>
          </a:p>
          <a:p>
            <a:pPr>
              <a:buNone/>
            </a:pPr>
            <a:r>
              <a:rPr lang="en-US" altLang="zh-CN" sz="1400" i="0"/>
              <a:t>    int *arr = getArray();</a:t>
            </a:r>
          </a:p>
          <a:p>
            <a:pPr>
              <a:buNone/>
            </a:pPr>
            <a:r>
              <a:rPr lang="en-US" altLang="zh-CN" sz="1400" i="0"/>
              <a:t>    for(int i = 0; i &lt; 5; i++) {</a:t>
            </a:r>
          </a:p>
          <a:p>
            <a:pPr>
              <a:buNone/>
            </a:pPr>
            <a:r>
              <a:rPr lang="en-US" altLang="zh-CN" sz="1400" i="0"/>
              <a:t>        printf("%d ", arr[i]);  // </a:t>
            </a:r>
            <a:r>
              <a:rPr lang="zh-CN" altLang="en-US" sz="1400" i="0"/>
              <a:t>输出</a:t>
            </a:r>
            <a:r>
              <a:rPr lang="en-US" altLang="zh-CN" sz="1400" i="0"/>
              <a:t>: 1 2 3 4 5</a:t>
            </a:r>
          </a:p>
          <a:p>
            <a:pPr>
              <a:buNone/>
            </a:pPr>
            <a:r>
              <a:rPr lang="en-US" altLang="zh-CN" sz="1400" i="0"/>
              <a:t>    }</a:t>
            </a:r>
          </a:p>
          <a:p>
            <a:pPr>
              <a:buNone/>
            </a:pPr>
            <a:r>
              <a:rPr lang="en-US" altLang="zh-CN" sz="1400" i="0"/>
              <a:t>    return 0;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400520-2DD2-7D97-6DB2-A20FA9D44830}"/>
              </a:ext>
            </a:extLst>
          </p:cNvPr>
          <p:cNvSpPr txBox="1"/>
          <p:nvPr/>
        </p:nvSpPr>
        <p:spPr>
          <a:xfrm>
            <a:off x="1547664" y="5733256"/>
            <a:ext cx="6445398" cy="108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i="0"/>
              <a:t>int* getArray() {</a:t>
            </a:r>
          </a:p>
          <a:p>
            <a:pPr>
              <a:buNone/>
            </a:pPr>
            <a:r>
              <a:rPr lang="en-US" altLang="zh-CN" sz="1400" i="0"/>
              <a:t>    int arr[5] = {1, 2, 3, 4, 5};</a:t>
            </a:r>
          </a:p>
          <a:p>
            <a:pPr>
              <a:buNone/>
            </a:pPr>
            <a:r>
              <a:rPr lang="en-US" altLang="zh-CN" sz="1400" i="0"/>
              <a:t>    return arr;  </a:t>
            </a:r>
            <a:r>
              <a:rPr lang="en-US" altLang="zh-CN" sz="1400" i="0">
                <a:solidFill>
                  <a:srgbClr val="FF0000"/>
                </a:solidFill>
              </a:rPr>
              <a:t>// </a:t>
            </a:r>
            <a:r>
              <a:rPr lang="zh-CN" altLang="en-US" sz="1400" i="0">
                <a:solidFill>
                  <a:srgbClr val="FF0000"/>
                </a:solidFill>
              </a:rPr>
              <a:t>错误，返回局部数组指针，函数结束后无效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</p:txBody>
      </p:sp>
      <p:sp>
        <p:nvSpPr>
          <p:cNvPr id="4" name="乘 3">
            <a:extLst>
              <a:ext uri="{FF2B5EF4-FFF2-40B4-BE49-F238E27FC236}">
                <a16:creationId xmlns:a16="http://schemas.microsoft.com/office/drawing/2014/main" id="{8955F0E9-9298-6EFD-6517-4894B99FEA26}"/>
              </a:ext>
            </a:extLst>
          </p:cNvPr>
          <p:cNvSpPr/>
          <p:nvPr/>
        </p:nvSpPr>
        <p:spPr bwMode="auto">
          <a:xfrm>
            <a:off x="6948264" y="6004099"/>
            <a:ext cx="504056" cy="541687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u"/>
              <a:tabLst/>
            </a:pPr>
            <a:endParaRPr kumimoji="0" lang="zh-CN" altLang="en-US" sz="32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787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D38EA4-710F-7EBA-7F09-63454A6A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8D21B4ED-937F-3E49-276A-447C32BA4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函数的返回值（返回数组）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A3C9F823-B102-6DAA-E11E-2C55B7703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1916832"/>
            <a:ext cx="7344816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示例 </a:t>
            </a:r>
            <a:r>
              <a:rPr lang="en-US" altLang="zh-CN" sz="2800">
                <a:latin typeface="SimSun" panose="02010600030101010101" pitchFamily="2" charset="-122"/>
                <a:ea typeface="SimSun" panose="02010600030101010101" pitchFamily="2" charset="-122"/>
              </a:rPr>
              <a:t>2: 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动态分配数组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51A879-CB98-49DE-B3B6-5FA5257AB730}"/>
              </a:ext>
            </a:extLst>
          </p:cNvPr>
          <p:cNvSpPr txBox="1"/>
          <p:nvPr/>
        </p:nvSpPr>
        <p:spPr>
          <a:xfrm>
            <a:off x="1547664" y="2564904"/>
            <a:ext cx="6445398" cy="418576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i="0"/>
              <a:t>int* createArray(int size) {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int *</a:t>
            </a:r>
            <a:r>
              <a:rPr lang="en-US" altLang="zh-CN" sz="1400" i="0"/>
              <a:t>arr = </a:t>
            </a:r>
            <a:r>
              <a:rPr lang="en-US" altLang="zh-CN" sz="1400" i="0">
                <a:solidFill>
                  <a:srgbClr val="00B0F0"/>
                </a:solidFill>
              </a:rPr>
              <a:t>malloc</a:t>
            </a:r>
            <a:r>
              <a:rPr lang="en-US" altLang="zh-CN" sz="1400" i="0"/>
              <a:t>(size * sizeof(int));  </a:t>
            </a:r>
            <a:r>
              <a:rPr lang="en-US" altLang="zh-CN" sz="1400" i="0">
                <a:solidFill>
                  <a:srgbClr val="00B050"/>
                </a:solidFill>
              </a:rPr>
              <a:t>// </a:t>
            </a:r>
            <a:r>
              <a:rPr lang="zh-CN" altLang="en-US" sz="1400" i="0">
                <a:solidFill>
                  <a:srgbClr val="00B050"/>
                </a:solidFill>
              </a:rPr>
              <a:t>动态分配内存</a:t>
            </a:r>
          </a:p>
          <a:p>
            <a:pPr>
              <a:buNone/>
            </a:pPr>
            <a:r>
              <a:rPr lang="zh-CN" altLang="en-US" sz="1400" i="0"/>
              <a:t>    </a:t>
            </a:r>
            <a:r>
              <a:rPr lang="en-US" altLang="zh-CN" sz="1400" i="0"/>
              <a:t>for (int i = 0; i &lt; size; i++) {</a:t>
            </a:r>
          </a:p>
          <a:p>
            <a:pPr>
              <a:buNone/>
            </a:pPr>
            <a:r>
              <a:rPr lang="en-US" altLang="zh-CN" sz="1400" i="0"/>
              <a:t>        arr[i] = i + 1;  </a:t>
            </a:r>
            <a:r>
              <a:rPr lang="en-US" altLang="zh-CN" sz="1400" i="0">
                <a:solidFill>
                  <a:srgbClr val="00B050"/>
                </a:solidFill>
              </a:rPr>
              <a:t>// </a:t>
            </a:r>
            <a:r>
              <a:rPr lang="zh-CN" altLang="en-US" sz="1400" i="0">
                <a:solidFill>
                  <a:srgbClr val="00B050"/>
                </a:solidFill>
              </a:rPr>
              <a:t>初始化数组</a:t>
            </a:r>
          </a:p>
          <a:p>
            <a:pPr>
              <a:buNone/>
            </a:pPr>
            <a:r>
              <a:rPr lang="zh-CN" altLang="en-US" sz="1400" i="0"/>
              <a:t>    </a:t>
            </a:r>
            <a:r>
              <a:rPr lang="en-US" altLang="zh-CN" sz="1400" i="0"/>
              <a:t>}</a:t>
            </a:r>
          </a:p>
          <a:p>
            <a:pPr>
              <a:buNone/>
            </a:pPr>
            <a:r>
              <a:rPr lang="en-US" altLang="zh-CN" sz="1400" i="0"/>
              <a:t>    return </a:t>
            </a:r>
            <a:r>
              <a:rPr lang="en-US" altLang="zh-CN" sz="1400" i="0">
                <a:solidFill>
                  <a:srgbClr val="00B0F0"/>
                </a:solidFill>
              </a:rPr>
              <a:t>arr</a:t>
            </a:r>
            <a:r>
              <a:rPr lang="en-US" altLang="zh-CN" sz="1400" i="0"/>
              <a:t>;  </a:t>
            </a:r>
            <a:r>
              <a:rPr lang="en-US" altLang="zh-CN" sz="1400" i="0">
                <a:solidFill>
                  <a:srgbClr val="00B050"/>
                </a:solidFill>
              </a:rPr>
              <a:t>// </a:t>
            </a:r>
            <a:r>
              <a:rPr lang="zh-CN" altLang="en-US" sz="1400" i="0">
                <a:solidFill>
                  <a:srgbClr val="00B050"/>
                </a:solidFill>
              </a:rPr>
              <a:t>返回指向动态数组的指针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  <a:p>
            <a:pPr>
              <a:buNone/>
            </a:pPr>
            <a:endParaRPr lang="en-US" altLang="zh-CN" sz="1400" i="0"/>
          </a:p>
          <a:p>
            <a:pPr>
              <a:buNone/>
            </a:pPr>
            <a:r>
              <a:rPr lang="en-US" altLang="zh-CN" sz="1400" i="0"/>
              <a:t>int main() {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int *</a:t>
            </a:r>
            <a:r>
              <a:rPr lang="en-US" altLang="zh-CN" sz="1400" i="0"/>
              <a:t>arr = createArray(5);</a:t>
            </a:r>
          </a:p>
          <a:p>
            <a:pPr>
              <a:buNone/>
            </a:pPr>
            <a:r>
              <a:rPr lang="en-US" altLang="zh-CN" sz="1400" i="0"/>
              <a:t>    for (int i = 0; i &lt; 5; i++) {</a:t>
            </a:r>
          </a:p>
          <a:p>
            <a:pPr>
              <a:buNone/>
            </a:pPr>
            <a:r>
              <a:rPr lang="en-US" altLang="zh-CN" sz="1400" i="0"/>
              <a:t>        printf("%d ", arr[i]);  </a:t>
            </a:r>
            <a:r>
              <a:rPr lang="en-US" altLang="zh-CN" sz="1400" i="0">
                <a:solidFill>
                  <a:srgbClr val="00B050"/>
                </a:solidFill>
              </a:rPr>
              <a:t>// </a:t>
            </a:r>
            <a:r>
              <a:rPr lang="zh-CN" altLang="en-US" sz="1400" i="0">
                <a:solidFill>
                  <a:srgbClr val="00B050"/>
                </a:solidFill>
              </a:rPr>
              <a:t>输出</a:t>
            </a:r>
            <a:r>
              <a:rPr lang="en-US" altLang="zh-CN" sz="1400" i="0">
                <a:solidFill>
                  <a:srgbClr val="00B050"/>
                </a:solidFill>
              </a:rPr>
              <a:t>: 1 2 3 4 5</a:t>
            </a:r>
          </a:p>
          <a:p>
            <a:pPr>
              <a:buNone/>
            </a:pPr>
            <a:r>
              <a:rPr lang="en-US" altLang="zh-CN" sz="1400" i="0"/>
              <a:t>    }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free(arr);  </a:t>
            </a:r>
            <a:r>
              <a:rPr lang="en-US" altLang="zh-CN" sz="1400" i="0">
                <a:solidFill>
                  <a:srgbClr val="00B050"/>
                </a:solidFill>
              </a:rPr>
              <a:t>// </a:t>
            </a:r>
            <a:r>
              <a:rPr lang="zh-CN" altLang="en-US" sz="1400" i="0">
                <a:solidFill>
                  <a:srgbClr val="00B050"/>
                </a:solidFill>
              </a:rPr>
              <a:t>释放动态分配的内存</a:t>
            </a:r>
          </a:p>
          <a:p>
            <a:pPr>
              <a:buNone/>
            </a:pPr>
            <a:r>
              <a:rPr lang="zh-CN" altLang="en-US" sz="1400" i="0"/>
              <a:t>    </a:t>
            </a:r>
            <a:r>
              <a:rPr lang="en-US" altLang="zh-CN" sz="1400" i="0"/>
              <a:t>return 0;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</p:txBody>
      </p:sp>
      <p:pic>
        <p:nvPicPr>
          <p:cNvPr id="3" name="图形 2" descr="教师 纯色填充">
            <a:hlinkClick r:id="rId2"/>
            <a:extLst>
              <a:ext uri="{FF2B5EF4-FFF2-40B4-BE49-F238E27FC236}">
                <a16:creationId xmlns:a16="http://schemas.microsoft.com/office/drawing/2014/main" id="{4D6324B9-9615-0A6A-7EA4-FB89C3584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5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137D44D-7B86-ED54-6FCA-07AAE4AD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>
            <a:extLst>
              <a:ext uri="{FF2B5EF4-FFF2-40B4-BE49-F238E27FC236}">
                <a16:creationId xmlns:a16="http://schemas.microsoft.com/office/drawing/2014/main" id="{97EDA5F7-5A9C-08F9-0043-F62841E6C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函数的返回值（返回数组）</a:t>
            </a:r>
          </a:p>
        </p:txBody>
      </p:sp>
      <p:sp>
        <p:nvSpPr>
          <p:cNvPr id="590851" name="Rectangle 3">
            <a:extLst>
              <a:ext uri="{FF2B5EF4-FFF2-40B4-BE49-F238E27FC236}">
                <a16:creationId xmlns:a16="http://schemas.microsoft.com/office/drawing/2014/main" id="{7B7810B8-0D88-1675-8053-1530D5A6E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1916832"/>
            <a:ext cx="7344816" cy="4438824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示例 </a:t>
            </a:r>
            <a:r>
              <a:rPr lang="en-US" altLang="zh-CN" sz="2800">
                <a:latin typeface="SimSun" panose="02010600030101010101" pitchFamily="2" charset="-122"/>
                <a:ea typeface="SimSun" panose="02010600030101010101" pitchFamily="2" charset="-122"/>
              </a:rPr>
              <a:t>3: </a:t>
            </a:r>
            <a:r>
              <a:rPr lang="zh-CN" altLang="en-US" sz="2800">
                <a:latin typeface="SimSun" panose="02010600030101010101" pitchFamily="2" charset="-122"/>
                <a:ea typeface="SimSun" panose="02010600030101010101" pitchFamily="2" charset="-122"/>
              </a:rPr>
              <a:t>使用结构体</a:t>
            </a:r>
            <a:endParaRPr lang="en-US" altLang="zh-CN" sz="280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65B364-92D4-8DEE-1833-C4A95B6A9DFA}"/>
              </a:ext>
            </a:extLst>
          </p:cNvPr>
          <p:cNvSpPr txBox="1"/>
          <p:nvPr/>
        </p:nvSpPr>
        <p:spPr>
          <a:xfrm>
            <a:off x="1547664" y="2492896"/>
            <a:ext cx="6445398" cy="418576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400" i="0"/>
              <a:t>struct Array {</a:t>
            </a:r>
          </a:p>
          <a:p>
            <a:pPr>
              <a:buNone/>
            </a:pPr>
            <a:r>
              <a:rPr lang="en-US" altLang="zh-CN" sz="1400" i="0"/>
              <a:t>    int arr[5];</a:t>
            </a:r>
          </a:p>
          <a:p>
            <a:pPr>
              <a:buNone/>
            </a:pPr>
            <a:r>
              <a:rPr lang="en-US" altLang="zh-CN" sz="1400" i="0"/>
              <a:t>};</a:t>
            </a:r>
          </a:p>
          <a:p>
            <a:pPr>
              <a:buNone/>
            </a:pPr>
            <a:endParaRPr lang="en-US" altLang="zh-CN" sz="1400" i="0"/>
          </a:p>
          <a:p>
            <a:pPr>
              <a:buNone/>
            </a:pPr>
            <a:r>
              <a:rPr lang="en-US" altLang="zh-CN" sz="1400" i="0"/>
              <a:t>struct Array getArray() {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struct Array a </a:t>
            </a:r>
            <a:r>
              <a:rPr lang="en-US" altLang="zh-CN" sz="1400" i="0"/>
              <a:t>= {{1, 2, 3, 4, 5}};</a:t>
            </a:r>
          </a:p>
          <a:p>
            <a:pPr>
              <a:buNone/>
            </a:pPr>
            <a:r>
              <a:rPr lang="en-US" altLang="zh-CN" sz="1400" i="0"/>
              <a:t>    return a;  // </a:t>
            </a:r>
            <a:r>
              <a:rPr lang="zh-CN" altLang="en-US" sz="1400" i="0"/>
              <a:t>返回包含数组的结构体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  <a:p>
            <a:pPr>
              <a:buNone/>
            </a:pPr>
            <a:endParaRPr lang="en-US" altLang="zh-CN" sz="1400" i="0"/>
          </a:p>
          <a:p>
            <a:pPr>
              <a:buNone/>
            </a:pPr>
            <a:r>
              <a:rPr lang="en-US" altLang="zh-CN" sz="1400" i="0"/>
              <a:t>int main() {</a:t>
            </a:r>
          </a:p>
          <a:p>
            <a:pPr>
              <a:buNone/>
            </a:pPr>
            <a:r>
              <a:rPr lang="en-US" altLang="zh-CN" sz="1400" i="0"/>
              <a:t>    </a:t>
            </a:r>
            <a:r>
              <a:rPr lang="en-US" altLang="zh-CN" sz="1400" i="0">
                <a:solidFill>
                  <a:srgbClr val="00B0F0"/>
                </a:solidFill>
              </a:rPr>
              <a:t>struct Array </a:t>
            </a:r>
            <a:r>
              <a:rPr lang="en-US" altLang="zh-CN" sz="1400" i="0"/>
              <a:t>a = getArray();</a:t>
            </a:r>
          </a:p>
          <a:p>
            <a:pPr>
              <a:buNone/>
            </a:pPr>
            <a:r>
              <a:rPr lang="en-US" altLang="zh-CN" sz="1400" i="0"/>
              <a:t>    for (int i = 0; i &lt; 5; i++) {</a:t>
            </a:r>
          </a:p>
          <a:p>
            <a:pPr>
              <a:buNone/>
            </a:pPr>
            <a:r>
              <a:rPr lang="en-US" altLang="zh-CN" sz="1400" i="0"/>
              <a:t>        printf("%d ", a.arr[i]);  // </a:t>
            </a:r>
            <a:r>
              <a:rPr lang="zh-CN" altLang="en-US" sz="1400" i="0"/>
              <a:t>输出</a:t>
            </a:r>
            <a:r>
              <a:rPr lang="en-US" altLang="zh-CN" sz="1400" i="0"/>
              <a:t>: 1 2 3 4 5</a:t>
            </a:r>
          </a:p>
          <a:p>
            <a:pPr>
              <a:buNone/>
            </a:pPr>
            <a:r>
              <a:rPr lang="en-US" altLang="zh-CN" sz="1400" i="0"/>
              <a:t>    }</a:t>
            </a:r>
          </a:p>
          <a:p>
            <a:pPr>
              <a:buNone/>
            </a:pPr>
            <a:r>
              <a:rPr lang="en-US" altLang="zh-CN" sz="1400" i="0"/>
              <a:t>    return 0;</a:t>
            </a:r>
          </a:p>
          <a:p>
            <a:pPr>
              <a:buNone/>
            </a:pPr>
            <a:r>
              <a:rPr lang="en-US" altLang="zh-CN" sz="1400" i="0"/>
              <a:t>}</a:t>
            </a:r>
          </a:p>
        </p:txBody>
      </p:sp>
      <p:pic>
        <p:nvPicPr>
          <p:cNvPr id="3" name="图形 2" descr="教师 纯色填充">
            <a:hlinkClick r:id="rId2"/>
            <a:extLst>
              <a:ext uri="{FF2B5EF4-FFF2-40B4-BE49-F238E27FC236}">
                <a16:creationId xmlns:a16="http://schemas.microsoft.com/office/drawing/2014/main" id="{5A979483-9392-3ED1-48C3-717334F0D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6416" y="6064378"/>
            <a:ext cx="579309" cy="57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2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0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51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D3D66-B86F-2F29-B081-C6F5D589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>
            <a:extLst>
              <a:ext uri="{FF2B5EF4-FFF2-40B4-BE49-F238E27FC236}">
                <a16:creationId xmlns:a16="http://schemas.microsoft.com/office/drawing/2014/main" id="{B2C01F33-EEED-BE89-2EFB-A7BB2E9B70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zh-CN" altLang="en-US" sz="4800"/>
              <a:t>递归函数基础</a:t>
            </a:r>
            <a:endParaRPr lang="zh-CN" altLang="en-US" sz="4800">
              <a:solidFill>
                <a:schemeClr val="folHlink"/>
              </a:solidFill>
            </a:endParaRPr>
          </a:p>
        </p:txBody>
      </p:sp>
      <p:pic>
        <p:nvPicPr>
          <p:cNvPr id="630787" name="Picture 3">
            <a:hlinkClick r:id="rId3"/>
            <a:extLst>
              <a:ext uri="{FF2B5EF4-FFF2-40B4-BE49-F238E27FC236}">
                <a16:creationId xmlns:a16="http://schemas.microsoft.com/office/drawing/2014/main" id="{C38E3CB0-68D6-F268-884F-8AB108C6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03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>
            <a:extLst>
              <a:ext uri="{FF2B5EF4-FFF2-40B4-BE49-F238E27FC236}">
                <a16:creationId xmlns:a16="http://schemas.microsoft.com/office/drawing/2014/main" id="{3DB695FB-29D9-A0AC-B839-1299C1F17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概念：函数调用链和递归调用</a:t>
            </a:r>
          </a:p>
        </p:txBody>
      </p:sp>
      <p:sp>
        <p:nvSpPr>
          <p:cNvPr id="616451" name="Rectangle 3">
            <a:extLst>
              <a:ext uri="{FF2B5EF4-FFF2-40B4-BE49-F238E27FC236}">
                <a16:creationId xmlns:a16="http://schemas.microsoft.com/office/drawing/2014/main" id="{9950B4C3-2570-53F6-B555-3F9DD4BC9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2017713"/>
            <a:ext cx="7632848" cy="4114800"/>
          </a:xfrm>
        </p:spPr>
        <p:txBody>
          <a:bodyPr/>
          <a:lstStyle/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一个</a:t>
            </a:r>
            <a:r>
              <a:rPr lang="zh-CN" altLang="en-US" sz="2000" b="1">
                <a:solidFill>
                  <a:schemeClr val="folHlin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函数为完成它的复杂工作，可以调用其他函数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。例如，从主函数出发，主函数调用函数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又调用函数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B()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B()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又调用函数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C()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，等等。</a:t>
            </a:r>
            <a:r>
              <a:rPr lang="zh-CN" altLang="en-US" sz="2000" b="1" u="sng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这样从主函数出发，形成一个长长的</a:t>
            </a:r>
            <a:r>
              <a:rPr lang="zh-CN" altLang="en-US" sz="2000" b="1" u="sng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调用链</a:t>
            </a:r>
            <a:r>
              <a:rPr lang="zh-CN" altLang="en-US" sz="2000" b="1" u="sng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，就是通常所说的函数嵌套调用。</a:t>
            </a:r>
            <a:endParaRPr lang="en-US" altLang="zh-CN" sz="2000" b="1" u="sng">
              <a:solidFill>
                <a:srgbClr val="CC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函数嵌套调用时，有一个重要的特征，</a:t>
            </a:r>
            <a:r>
              <a:rPr lang="zh-CN" altLang="en-US" sz="20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先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被调用的函数</a:t>
            </a:r>
            <a:r>
              <a:rPr lang="zh-CN" altLang="en-US" sz="20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后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返回。如这里所举例子，待函数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C()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完成计算返回后，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B()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函数继续计算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可能还要调用其他函数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，待计算完成，返回到函数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，函数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A()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计算完成后，才返回到主函数。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endParaRPr lang="zh-CN" altLang="en-US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当函数调用链上的某两个函数</a:t>
            </a:r>
            <a:r>
              <a:rPr lang="zh-CN" altLang="en-US" sz="20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为同一个函数时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，称这种函数调用方式为</a:t>
            </a:r>
            <a:r>
              <a:rPr lang="zh-CN" altLang="en-US" sz="20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递归调用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>
            <a:extLst>
              <a:ext uri="{FF2B5EF4-FFF2-40B4-BE49-F238E27FC236}">
                <a16:creationId xmlns:a16="http://schemas.microsoft.com/office/drawing/2014/main" id="{A9CF6EE8-D284-7A7D-935A-15267E2A9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递归函数</a:t>
            </a:r>
            <a:endParaRPr lang="zh-CN" altLang="en-US" sz="4800" b="1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17475" name="Rectangle 3">
            <a:extLst>
              <a:ext uri="{FF2B5EF4-FFF2-40B4-BE49-F238E27FC236}">
                <a16:creationId xmlns:a16="http://schemas.microsoft.com/office/drawing/2014/main" id="{3898E764-C312-D4DA-6B28-A1CFAFC1E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5426" y="2017713"/>
            <a:ext cx="7793038" cy="411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递归的定义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：若一个对象部分地包含它自己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或用它自己给自己定义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则称这个对象是递归的。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递归函数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：一个函数直接地或间接地调用自己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则称这个函数是递归函数。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在以下三种情况下，常常用到递归方法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 定义是递归的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 数据结构是递归的</a:t>
            </a:r>
          </a:p>
          <a:p>
            <a:pPr lvl="1">
              <a:spcAft>
                <a:spcPts val="600"/>
              </a:spcAft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 问题的解法是递归的</a:t>
            </a:r>
          </a:p>
          <a:p>
            <a:pPr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在使用递归策略时，</a:t>
            </a:r>
            <a:r>
              <a:rPr lang="zh-CN" altLang="en-US" sz="2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必须有一个明确的递归结束条件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，称为</a:t>
            </a:r>
            <a:r>
              <a:rPr lang="zh-CN" altLang="en-US" sz="24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递归出口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>
            <a:extLst>
              <a:ext uri="{FF2B5EF4-FFF2-40B4-BE49-F238E27FC236}">
                <a16:creationId xmlns:a16="http://schemas.microsoft.com/office/drawing/2014/main" id="{B73EFE85-536E-0887-E53B-C90DC85E6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分别用循环和递归实现阶乘计算函数</a:t>
            </a:r>
          </a:p>
        </p:txBody>
      </p:sp>
      <p:sp>
        <p:nvSpPr>
          <p:cNvPr id="618499" name="Rectangle 3">
            <a:extLst>
              <a:ext uri="{FF2B5EF4-FFF2-40B4-BE49-F238E27FC236}">
                <a16:creationId xmlns:a16="http://schemas.microsoft.com/office/drawing/2014/main" id="{BBB9FB86-1212-EC19-7BD9-D510A757BF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16 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用循环实现阶乘计算的函数</a:t>
            </a:r>
          </a:p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分析：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n!=1*2*…*n</a:t>
            </a:r>
          </a:p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代码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long </a:t>
            </a:r>
            <a:r>
              <a:rPr lang="en-US" altLang="zh-CN" sz="1400" b="1">
                <a:latin typeface="SimSun" panose="02010600030101010101" pitchFamily="2" charset="-122"/>
                <a:ea typeface="SimSun" panose="02010600030101010101" pitchFamily="2" charset="-122"/>
              </a:rPr>
              <a:t>factorial 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(int n) {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long s;    int  i;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for(s = 1L, i = 1; i &lt;= n; i++)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       s *= i;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return s;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  <a:p>
            <a:pPr marL="533400" indent="-533400">
              <a:lnSpc>
                <a:spcPct val="80000"/>
              </a:lnSpc>
            </a:pPr>
            <a:endParaRPr lang="en-US" altLang="zh-CN" sz="1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例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17 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用递归实现阶乘计算函数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(*)</a:t>
            </a:r>
          </a:p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分析：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0!=1; n!=n*(n-1)!</a:t>
            </a:r>
          </a:p>
          <a:p>
            <a:pPr marL="533400" indent="-533400">
              <a:lnSpc>
                <a:spcPct val="80000"/>
              </a:lnSpc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代码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long </a:t>
            </a:r>
            <a:r>
              <a:rPr lang="en-US" altLang="zh-CN" sz="1400" b="1">
                <a:latin typeface="SimSun" panose="02010600030101010101" pitchFamily="2" charset="-122"/>
                <a:ea typeface="SimSun" panose="02010600030101010101" pitchFamily="2" charset="-122"/>
              </a:rPr>
              <a:t>factorial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(int n ) {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if ( </a:t>
            </a:r>
            <a:r>
              <a:rPr lang="en-US" altLang="zh-CN" sz="16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 &lt;= 0 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) </a:t>
            </a:r>
            <a:r>
              <a:rPr lang="en-US" altLang="zh-CN" sz="16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return 1L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;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  else return  long(</a:t>
            </a:r>
            <a:r>
              <a:rPr lang="en-US" altLang="zh-CN" sz="16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n*</a:t>
            </a:r>
            <a:r>
              <a:rPr lang="en-US" altLang="zh-CN" sz="14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factorial</a:t>
            </a:r>
            <a:r>
              <a:rPr lang="en-US" altLang="zh-CN" sz="16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(n-1)</a:t>
            </a: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);</a:t>
            </a:r>
          </a:p>
          <a:p>
            <a:pPr marL="914400" lvl="1" indent="-4572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zh-CN" sz="16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8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8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8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8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8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8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8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8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8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8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8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8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8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8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18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18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18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8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8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8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8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8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8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184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99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>
            <a:extLst>
              <a:ext uri="{FF2B5EF4-FFF2-40B4-BE49-F238E27FC236}">
                <a16:creationId xmlns:a16="http://schemas.microsoft.com/office/drawing/2014/main" id="{8ECDB257-5956-2E55-1A10-A9884ED86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递归过程例</a:t>
            </a:r>
          </a:p>
        </p:txBody>
      </p:sp>
      <p:sp>
        <p:nvSpPr>
          <p:cNvPr id="619523" name="Rectangle 3">
            <a:extLst>
              <a:ext uri="{FF2B5EF4-FFF2-40B4-BE49-F238E27FC236}">
                <a16:creationId xmlns:a16="http://schemas.microsoft.com/office/drawing/2014/main" id="{35EE3D40-6B1A-BC13-D440-37A7983965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9592" y="2017713"/>
            <a:ext cx="7848872" cy="4114800"/>
          </a:xfrm>
        </p:spPr>
        <p:txBody>
          <a:bodyPr/>
          <a:lstStyle/>
          <a:p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对于例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17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，以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n=4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为例，递归调用的过程如下图所示：</a:t>
            </a:r>
          </a:p>
        </p:txBody>
      </p:sp>
      <p:pic>
        <p:nvPicPr>
          <p:cNvPr id="619524" name="Picture 4">
            <a:extLst>
              <a:ext uri="{FF2B5EF4-FFF2-40B4-BE49-F238E27FC236}">
                <a16:creationId xmlns:a16="http://schemas.microsoft.com/office/drawing/2014/main" id="{FAA020D3-A90B-C04F-CB5E-9FC793D0A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590577"/>
            <a:ext cx="5847519" cy="4078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>
            <a:extLst>
              <a:ext uri="{FF2B5EF4-FFF2-40B4-BE49-F238E27FC236}">
                <a16:creationId xmlns:a16="http://schemas.microsoft.com/office/drawing/2014/main" id="{AD7113E0-FBE8-9262-86CF-442052AFB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18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620547" name="Rectangle 3">
            <a:extLst>
              <a:ext uri="{FF2B5EF4-FFF2-40B4-BE49-F238E27FC236}">
                <a16:creationId xmlns:a16="http://schemas.microsoft.com/office/drawing/2014/main" id="{E3B837D3-180D-035E-09D7-2719C110B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用递归函数对数组元素求和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int rsum(int *a, int n)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{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  if (n == 0) return 0;</a:t>
            </a:r>
            <a:b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             </a:t>
            </a:r>
            <a:r>
              <a:rPr lang="en-US" altLang="zh-CN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若数组没有元素，则返回</a:t>
            </a:r>
            <a:r>
              <a:rPr lang="en-US" altLang="zh-CN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 */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  return *a+rsum(a+1, n-1); </a:t>
            </a:r>
            <a:b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             </a:t>
            </a:r>
            <a:r>
              <a:rPr lang="en-US" altLang="zh-CN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当前元素与其余元素的和 *</a:t>
            </a:r>
            <a:r>
              <a:rPr lang="en-US" altLang="zh-CN" sz="24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>
            <a:extLst>
              <a:ext uri="{FF2B5EF4-FFF2-40B4-BE49-F238E27FC236}">
                <a16:creationId xmlns:a16="http://schemas.microsoft.com/office/drawing/2014/main" id="{C334749F-D97E-15FD-986C-E1B051977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19  </a:t>
            </a:r>
            <a:r>
              <a:rPr lang="zh-CN" altLang="en-US"/>
              <a:t>求解</a:t>
            </a:r>
            <a:r>
              <a:rPr lang="en-US" altLang="zh-CN"/>
              <a:t>Hanoi</a:t>
            </a:r>
            <a:r>
              <a:rPr lang="zh-CN" altLang="en-US"/>
              <a:t>塔问题</a:t>
            </a:r>
            <a:endParaRPr lang="zh-CN" altLang="en-US" sz="32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621571" name="Rectangle 3">
            <a:extLst>
              <a:ext uri="{FF2B5EF4-FFF2-40B4-BE49-F238E27FC236}">
                <a16:creationId xmlns:a16="http://schemas.microsoft.com/office/drawing/2014/main" id="{AB559997-3580-C459-03DC-53E6BA8642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421760" cy="4114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Hanoi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塔问题：有三根针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设分别为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C)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，在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针上有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张大小均不相同的金片，大的在下，小的在上。要求按以下规则，把这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张金片从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针搬到</a:t>
            </a:r>
            <a:r>
              <a:rPr lang="en-US" altLang="zh-CN" sz="28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针上：</a:t>
            </a:r>
          </a:p>
          <a:p>
            <a:pPr lvl="1"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在搬动过程中可使用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针；</a:t>
            </a:r>
          </a:p>
          <a:p>
            <a:pPr lvl="1"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每次只允许搬动一张金片；</a:t>
            </a:r>
          </a:p>
          <a:p>
            <a:pPr lvl="1">
              <a:spcAft>
                <a:spcPts val="600"/>
              </a:spcAft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在搬动过程中，必须保证大金片在下，小金片在上。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>
            <a:extLst>
              <a:ext uri="{FF2B5EF4-FFF2-40B4-BE49-F238E27FC236}">
                <a16:creationId xmlns:a16="http://schemas.microsoft.com/office/drawing/2014/main" id="{5302527B-F904-5772-A12A-80E00AE5E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19  </a:t>
            </a:r>
            <a:r>
              <a:rPr lang="zh-CN" altLang="en-US"/>
              <a:t>解题思路图示</a:t>
            </a:r>
          </a:p>
        </p:txBody>
      </p:sp>
      <p:sp>
        <p:nvSpPr>
          <p:cNvPr id="623619" name="Rectangle 3">
            <a:extLst>
              <a:ext uri="{FF2B5EF4-FFF2-40B4-BE49-F238E27FC236}">
                <a16:creationId xmlns:a16="http://schemas.microsoft.com/office/drawing/2014/main" id="{12BCCD50-9684-4882-268E-8FA0014EE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623620" name="Picture 4">
            <a:extLst>
              <a:ext uri="{FF2B5EF4-FFF2-40B4-BE49-F238E27FC236}">
                <a16:creationId xmlns:a16="http://schemas.microsoft.com/office/drawing/2014/main" id="{F1417750-FC45-3BA0-6D22-D9097C60F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17825"/>
            <a:ext cx="6665912" cy="429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>
            <a:extLst>
              <a:ext uri="{FF2B5EF4-FFF2-40B4-BE49-F238E27FC236}">
                <a16:creationId xmlns:a16="http://schemas.microsoft.com/office/drawing/2014/main" id="{6546D2E0-E124-4482-239A-30B9D4D7B5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19  </a:t>
            </a:r>
            <a:r>
              <a:rPr lang="zh-CN" altLang="en-US"/>
              <a:t>解题思路</a:t>
            </a:r>
            <a:r>
              <a:rPr lang="en-US" altLang="zh-CN"/>
              <a:t>(</a:t>
            </a:r>
            <a:r>
              <a:rPr lang="zh-CN" altLang="en-US"/>
              <a:t>使用递归</a:t>
            </a:r>
            <a:r>
              <a:rPr lang="en-US" altLang="zh-CN"/>
              <a:t>)(*)</a:t>
            </a:r>
          </a:p>
        </p:txBody>
      </p:sp>
      <p:sp>
        <p:nvSpPr>
          <p:cNvPr id="622595" name="Rectangle 3">
            <a:extLst>
              <a:ext uri="{FF2B5EF4-FFF2-40B4-BE49-F238E27FC236}">
                <a16:creationId xmlns:a16="http://schemas.microsoft.com/office/drawing/2014/main" id="{B37094DC-B5D6-C3D5-1208-E0039DD17D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576" y="1988840"/>
            <a:ext cx="8155066" cy="4114800"/>
          </a:xfrm>
        </p:spPr>
        <p:txBody>
          <a:bodyPr/>
          <a:lstStyle/>
          <a:p>
            <a:pPr marL="533400" indent="-533400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把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张金片按小到大编号为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1,2,…,n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，并将搬动抽象成：将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张金片从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针搬到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针，搬动过程中可以使用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针。</a:t>
            </a:r>
          </a:p>
          <a:p>
            <a:pPr marL="533400" indent="-533400"/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hanoi(int n, char A, char C, char B)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{ 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将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张金片从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针搬到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针，搬动过程可使用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针 *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if (n==1)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对于只搬动一张金片情况 *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  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将金片 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n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从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针搬到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;                                   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else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{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搬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n(&gt;1)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张金片时，按同样算法先搬前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n-1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张金片 *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将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针上的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n-1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张金片搬到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B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针上，中间可使用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;  </a:t>
            </a:r>
            <a:r>
              <a:rPr lang="en-US" altLang="zh-CN" sz="18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lang="zh-CN" altLang="en-US" sz="18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    将金片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从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针搬到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;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搬动第 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n </a:t>
            </a:r>
            <a:r>
              <a:rPr lang="zh-CN" altLang="en-US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张金片*</a:t>
            </a:r>
            <a:r>
              <a:rPr lang="en-US" altLang="zh-CN" sz="18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将 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B 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针上的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n-1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张金片搬到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C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针，中间可使用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A</a:t>
            </a: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针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; </a:t>
            </a:r>
            <a:r>
              <a:rPr lang="en-US" altLang="zh-CN" sz="18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//</a:t>
            </a:r>
            <a:r>
              <a:rPr lang="zh-CN" altLang="en-US" sz="1800" b="1">
                <a:solidFill>
                  <a:srgbClr val="0066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   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  <a:p>
            <a:pPr marL="914400" lvl="1" indent="-457200" algn="just"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>
            <a:extLst>
              <a:ext uri="{FF2B5EF4-FFF2-40B4-BE49-F238E27FC236}">
                <a16:creationId xmlns:a16="http://schemas.microsoft.com/office/drawing/2014/main" id="{1AC28CD4-8D7A-644B-D674-B4771E94C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19  </a:t>
            </a:r>
            <a:r>
              <a:rPr lang="zh-CN" altLang="en-US"/>
              <a:t>程序</a:t>
            </a:r>
            <a:r>
              <a:rPr lang="en-US" altLang="zh-CN"/>
              <a:t>(*)</a:t>
            </a:r>
          </a:p>
        </p:txBody>
      </p:sp>
      <p:sp>
        <p:nvSpPr>
          <p:cNvPr id="624643" name="Rectangle 3">
            <a:extLst>
              <a:ext uri="{FF2B5EF4-FFF2-40B4-BE49-F238E27FC236}">
                <a16:creationId xmlns:a16="http://schemas.microsoft.com/office/drawing/2014/main" id="{AAA012BB-E419-60FC-A146-1CC524C53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2017713"/>
            <a:ext cx="8270875" cy="4114800"/>
          </a:xfrm>
        </p:spPr>
        <p:txBody>
          <a:bodyPr/>
          <a:lstStyle/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#include &lt;stdio.h&gt;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void hanoi (int n,char A,char C,char B){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if ( n == 1 )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	printf("move %c  to %c\n",A, C);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else { 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  </a:t>
            </a:r>
            <a:r>
              <a:rPr lang="en-US" altLang="zh-CN" sz="20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hanoi ( n-1, A, B, C );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			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  printf( "move %c  to %c\n",A, C);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  </a:t>
            </a:r>
            <a:r>
              <a:rPr lang="en-US" altLang="zh-CN" sz="2000" b="1">
                <a:solidFill>
                  <a:srgbClr val="00B0F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hanoi ( n-1, B, C, A );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	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}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void main(){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   hanoi(4,'A','C','B');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>
            <a:extLst>
              <a:ext uri="{FF2B5EF4-FFF2-40B4-BE49-F238E27FC236}">
                <a16:creationId xmlns:a16="http://schemas.microsoft.com/office/drawing/2014/main" id="{BE1B800D-99BB-BF70-3F52-DE2CC0527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递归的进一步讨论</a:t>
            </a:r>
          </a:p>
        </p:txBody>
      </p:sp>
      <p:sp>
        <p:nvSpPr>
          <p:cNvPr id="625667" name="Rectangle 3">
            <a:extLst>
              <a:ext uri="{FF2B5EF4-FFF2-40B4-BE49-F238E27FC236}">
                <a16:creationId xmlns:a16="http://schemas.microsoft.com/office/drawing/2014/main" id="{DDBC18FD-FCB4-7B10-A883-A6CC7C573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2017713"/>
            <a:ext cx="8064896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对于算法间接地由其自身定义情况，称为</a:t>
            </a:r>
            <a:r>
              <a:rPr lang="zh-CN" altLang="en-US" sz="2000" b="1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间接递归。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在间接递归情况，函数调用链中，在同一个函数再次出现之前，有一个或多个其他别的函数。</a:t>
            </a: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通常，以递归形式定义算法与非递归算法比较，</a:t>
            </a:r>
            <a:r>
              <a:rPr lang="zh-CN" altLang="en-US" sz="2000" b="1">
                <a:solidFill>
                  <a:schemeClr val="folHlin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算法结构会更紧凑，清晰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。但是，递归函数在递归调用过程中，会</a:t>
            </a:r>
            <a:r>
              <a:rPr lang="zh-CN" altLang="en-US" sz="2000" b="1">
                <a:solidFill>
                  <a:schemeClr val="folHlink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占用更多的内存空间和需更多的运行时间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另外，在编写递归函数时，</a:t>
            </a:r>
            <a:r>
              <a:rPr lang="zh-CN" altLang="en-US" sz="2000" b="1" i="1" u="sng">
                <a:solidFill>
                  <a:srgbClr val="CC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必须防止遗漏递归终止条件和防止振荡式的相互递归调用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，否则会产生无限递归调用现象。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>
            <a:extLst>
              <a:ext uri="{FF2B5EF4-FFF2-40B4-BE49-F238E27FC236}">
                <a16:creationId xmlns:a16="http://schemas.microsoft.com/office/drawing/2014/main" id="{DE2A9FBF-E3D6-25A2-036B-8E6A84D67C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线性递归</a:t>
            </a:r>
          </a:p>
        </p:txBody>
      </p:sp>
      <p:sp>
        <p:nvSpPr>
          <p:cNvPr id="626691" name="Rectangle 3">
            <a:extLst>
              <a:ext uri="{FF2B5EF4-FFF2-40B4-BE49-F238E27FC236}">
                <a16:creationId xmlns:a16="http://schemas.microsoft.com/office/drawing/2014/main" id="{FF2DF6B3-AC5A-AD4F-BC74-90C20B5F7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2017713"/>
            <a:ext cx="8270875" cy="4114800"/>
          </a:xfrm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在算法的递归定义形式中，有一种称之为</a:t>
            </a:r>
            <a:r>
              <a:rPr lang="zh-CN" altLang="en-US" sz="24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线性递归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的情况，线性递归的算法有以下所示的一般形式：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p(int n){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S(n);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if (E(n)) 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p(n-1); </a:t>
            </a:r>
            <a:r>
              <a:rPr lang="en-US" altLang="zh-CN" sz="20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/* </a:t>
            </a:r>
            <a:r>
              <a:rPr lang="zh-CN" altLang="en-US" sz="20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递归调用 *</a:t>
            </a:r>
            <a:r>
              <a:rPr lang="en-US" altLang="zh-CN" sz="2000" b="1">
                <a:solidFill>
                  <a:srgbClr val="00B05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/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T(n);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}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else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     U(n);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    }</a:t>
            </a:r>
          </a:p>
          <a:p>
            <a:pPr marL="533400" indent="-533400">
              <a:lnSpc>
                <a:spcPct val="90000"/>
              </a:lnSpc>
            </a:pP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其中，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S(n)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E(n)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、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T(n)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U(n) 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是可能与</a:t>
            </a:r>
            <a:r>
              <a:rPr lang="en-US" altLang="zh-CN" sz="2400" b="1">
                <a:latin typeface="SimSun" panose="02010600030101010101" pitchFamily="2" charset="-122"/>
                <a:ea typeface="SimSun" panose="02010600030101010101" pitchFamily="2" charset="-122"/>
              </a:rPr>
              <a:t>n</a:t>
            </a:r>
            <a:r>
              <a:rPr lang="zh-CN" altLang="en-US" sz="2400" b="1">
                <a:latin typeface="SimSun" panose="02010600030101010101" pitchFamily="2" charset="-122"/>
                <a:ea typeface="SimSun" panose="02010600030101010101" pitchFamily="2" charset="-122"/>
              </a:rPr>
              <a:t>有关的非递归计算的代码段，也可能为空。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>
            <a:extLst>
              <a:ext uri="{FF2B5EF4-FFF2-40B4-BE49-F238E27FC236}">
                <a16:creationId xmlns:a16="http://schemas.microsoft.com/office/drawing/2014/main" id="{311C6D3A-1C2B-2469-4B5C-01F3712291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把线性递归改造成循环</a:t>
            </a:r>
          </a:p>
        </p:txBody>
      </p:sp>
      <p:sp>
        <p:nvSpPr>
          <p:cNvPr id="627715" name="Rectangle 3">
            <a:extLst>
              <a:ext uri="{FF2B5EF4-FFF2-40B4-BE49-F238E27FC236}">
                <a16:creationId xmlns:a16="http://schemas.microsoft.com/office/drawing/2014/main" id="{E5811641-2D26-2CA3-4541-C49683D06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576" y="2017713"/>
            <a:ext cx="7992888" cy="4625974"/>
          </a:xfrm>
        </p:spPr>
        <p:txBody>
          <a:bodyPr/>
          <a:lstStyle/>
          <a:p>
            <a:pPr marL="533400" indent="-533400"/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线性递归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能机械地被转换成一个功能等价的</a:t>
            </a: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非递归描述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：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CN" altLang="en-US" sz="1800" b="1">
                <a:latin typeface="SimSun" panose="02010600030101010101" pitchFamily="2" charset="-122"/>
                <a:ea typeface="SimSun" panose="02010600030101010101" pitchFamily="2" charset="-122"/>
              </a:rPr>
              <a:t>    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p(int n){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int k = n+1;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do  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    k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--</a:t>
            </a: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;    S(k);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} while E(k);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U(k);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while (k&lt;n) {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    k++;   T(k);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   }</a:t>
            </a:r>
          </a:p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 b="1">
                <a:latin typeface="SimSun" panose="02010600030101010101" pitchFamily="2" charset="-122"/>
                <a:ea typeface="SimSun" panose="02010600030101010101" pitchFamily="2" charset="-122"/>
              </a:rPr>
              <a:t>    }</a:t>
            </a:r>
          </a:p>
          <a:p>
            <a:pPr marL="533400" indent="-533400"/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除能将线性递归机械地变换成非递归的循环实现外，有很多的直接递归问题可改造成</a:t>
            </a:r>
            <a:r>
              <a:rPr lang="zh-CN" altLang="en-US" sz="20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递推的方式实现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zh-CN" altLang="en-US" sz="1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>
            <a:extLst>
              <a:ext uri="{FF2B5EF4-FFF2-40B4-BE49-F238E27FC236}">
                <a16:creationId xmlns:a16="http://schemas.microsoft.com/office/drawing/2014/main" id="{2CD2306B-0A91-3ED6-4A46-EF54294EE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20  </a:t>
            </a:r>
            <a:r>
              <a:rPr lang="zh-CN" altLang="en-US"/>
              <a:t>用递推实现递归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28739" name="Rectangle 3">
            <a:extLst>
              <a:ext uri="{FF2B5EF4-FFF2-40B4-BE49-F238E27FC236}">
                <a16:creationId xmlns:a16="http://schemas.microsoft.com/office/drawing/2014/main" id="{B12F25FB-4D73-48FB-442C-14B34B807F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9592" y="2017713"/>
            <a:ext cx="8055496" cy="4114800"/>
          </a:xfrm>
        </p:spPr>
        <p:txBody>
          <a:bodyPr/>
          <a:lstStyle/>
          <a:p>
            <a:pPr marL="533400" indent="-533400">
              <a:lnSpc>
                <a:spcPct val="150000"/>
              </a:lnSpc>
            </a:pPr>
            <a:r>
              <a:rPr lang="zh-CN" altLang="en-US" sz="2000">
                <a:solidFill>
                  <a:srgbClr val="0070C0"/>
                </a:solidFill>
              </a:rPr>
              <a:t>勒让得多项式</a:t>
            </a:r>
            <a:r>
              <a:rPr lang="zh-CN" altLang="en-US" sz="2000"/>
              <a:t>的递归定义为：</a:t>
            </a:r>
          </a:p>
          <a:p>
            <a:pPr marL="914400" lvl="1" indent="-457200">
              <a:lnSpc>
                <a:spcPct val="90000"/>
              </a:lnSpc>
            </a:pPr>
            <a:r>
              <a:rPr lang="zh-CN" altLang="en-US" sz="1800"/>
              <a:t>                  ┌  </a:t>
            </a:r>
            <a:r>
              <a:rPr lang="en-US" altLang="zh-CN" sz="1800"/>
              <a:t>1</a:t>
            </a:r>
            <a:r>
              <a:rPr lang="zh-CN" altLang="en-US" sz="1800"/>
              <a:t>，                                                       </a:t>
            </a:r>
            <a:r>
              <a:rPr lang="en-US" altLang="zh-CN" sz="1800"/>
              <a:t>n=0;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zh-CN" sz="1800"/>
              <a:t>p(n</a:t>
            </a:r>
            <a:r>
              <a:rPr lang="zh-CN" altLang="en-US" sz="1800"/>
              <a:t>，</a:t>
            </a:r>
            <a:r>
              <a:rPr lang="en-US" altLang="zh-CN" sz="1800"/>
              <a:t>x) = </a:t>
            </a:r>
            <a:r>
              <a:rPr lang="zh-CN" altLang="en-US" sz="1800"/>
              <a:t>   </a:t>
            </a:r>
            <a:r>
              <a:rPr lang="en-US" altLang="zh-CN" sz="1800"/>
              <a:t>┤  x</a:t>
            </a:r>
            <a:r>
              <a:rPr lang="zh-CN" altLang="en-US" sz="1800"/>
              <a:t>，                                                       </a:t>
            </a:r>
            <a:r>
              <a:rPr lang="en-US" altLang="zh-CN" sz="1800"/>
              <a:t>n=1;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zh-CN" sz="1800"/>
              <a:t>                  └  ((2n-1).x.p(n-1</a:t>
            </a:r>
            <a:r>
              <a:rPr lang="zh-CN" altLang="en-US" sz="1800"/>
              <a:t>，</a:t>
            </a:r>
            <a:r>
              <a:rPr lang="en-US" altLang="zh-CN" sz="1800"/>
              <a:t>x)-(n-1)p(n-2</a:t>
            </a:r>
            <a:r>
              <a:rPr lang="zh-CN" altLang="en-US" sz="1800"/>
              <a:t>，</a:t>
            </a:r>
            <a:r>
              <a:rPr lang="en-US" altLang="zh-CN" sz="1800"/>
              <a:t>x))/n</a:t>
            </a:r>
            <a:r>
              <a:rPr lang="zh-CN" altLang="en-US" sz="1800"/>
              <a:t>，   </a:t>
            </a:r>
            <a:r>
              <a:rPr lang="en-US" altLang="zh-CN" sz="1800"/>
              <a:t>n&gt;1</a:t>
            </a:r>
            <a:r>
              <a:rPr lang="zh-CN" altLang="en-US" sz="1800"/>
              <a:t>。</a:t>
            </a:r>
          </a:p>
          <a:p>
            <a:pPr marL="533400" indent="-533400">
              <a:lnSpc>
                <a:spcPct val="150000"/>
              </a:lnSpc>
            </a:pPr>
            <a:r>
              <a:rPr lang="zh-CN" altLang="en-US" sz="2000"/>
              <a:t>用</a:t>
            </a:r>
            <a:r>
              <a:rPr lang="zh-CN" altLang="en-US" sz="2000">
                <a:solidFill>
                  <a:srgbClr val="0070C0"/>
                </a:solidFill>
              </a:rPr>
              <a:t>递归函数</a:t>
            </a:r>
            <a:r>
              <a:rPr lang="zh-CN" altLang="en-US" sz="2000"/>
              <a:t>实现，能很容易地写出它的函数定义如下：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CN" sz="1800"/>
              <a:t>double p(int n, double x){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CN" sz="1800"/>
              <a:t>   if (n==0) return 1.0;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CN" sz="1800"/>
              <a:t>   if (n==1) return x;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CN" sz="1800"/>
              <a:t>   return ((2.0*n-1.0)*x*p(n-1,x)-(n-1.0)*p(n-2,x))/n;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CN" sz="1800"/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2402-B97D-2A35-321A-B011E999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>
            <a:extLst>
              <a:ext uri="{FF2B5EF4-FFF2-40B4-BE49-F238E27FC236}">
                <a16:creationId xmlns:a16="http://schemas.microsoft.com/office/drawing/2014/main" id="{2A1A083C-3B29-C0A0-0797-DAC2309C3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20  </a:t>
            </a:r>
            <a:r>
              <a:rPr lang="zh-CN" altLang="en-US"/>
              <a:t>用递推实现递归</a:t>
            </a:r>
            <a:endParaRPr lang="zh-CN" altLang="en-US" sz="2800" b="1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28739" name="Rectangle 3">
            <a:extLst>
              <a:ext uri="{FF2B5EF4-FFF2-40B4-BE49-F238E27FC236}">
                <a16:creationId xmlns:a16="http://schemas.microsoft.com/office/drawing/2014/main" id="{C6152652-1BCE-0DC0-2B44-73313844A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8" y="2017713"/>
            <a:ext cx="7560840" cy="4114800"/>
          </a:xfrm>
        </p:spPr>
        <p:txBody>
          <a:bodyPr/>
          <a:lstStyle/>
          <a:p>
            <a:pPr marL="533400" indent="-533400">
              <a:lnSpc>
                <a:spcPct val="150000"/>
              </a:lnSpc>
            </a:pPr>
            <a:r>
              <a:rPr lang="zh-CN" altLang="en-US" sz="2800"/>
              <a:t>用</a:t>
            </a:r>
            <a:r>
              <a:rPr lang="zh-CN" altLang="en-US" sz="2800">
                <a:solidFill>
                  <a:srgbClr val="0070C0"/>
                </a:solidFill>
              </a:rPr>
              <a:t>递推方法</a:t>
            </a:r>
            <a:r>
              <a:rPr lang="zh-CN" altLang="en-US" sz="2800"/>
              <a:t>实现有下面的思考过程。</a:t>
            </a:r>
            <a:endParaRPr lang="en-US" altLang="zh-CN" sz="2800"/>
          </a:p>
          <a:p>
            <a:pPr marL="933450" lvl="1" indent="-533400">
              <a:lnSpc>
                <a:spcPct val="150000"/>
              </a:lnSpc>
            </a:pPr>
            <a:r>
              <a:rPr lang="zh-CN" altLang="en-US" sz="2000"/>
              <a:t>计算</a:t>
            </a:r>
            <a:r>
              <a:rPr lang="en-US" altLang="zh-CN" sz="2000"/>
              <a:t>p(n,x)</a:t>
            </a:r>
            <a:r>
              <a:rPr lang="zh-CN" altLang="en-US" sz="2000"/>
              <a:t>的困难是</a:t>
            </a:r>
            <a:r>
              <a:rPr lang="en-US" altLang="zh-CN" sz="2000"/>
              <a:t>n&gt;1</a:t>
            </a:r>
            <a:r>
              <a:rPr lang="zh-CN" altLang="en-US" sz="2000"/>
              <a:t>情况。然而，若知道了 </a:t>
            </a:r>
            <a:r>
              <a:rPr lang="en-US" altLang="zh-CN" sz="2000"/>
              <a:t>p(n-2,x) </a:t>
            </a:r>
            <a:r>
              <a:rPr lang="zh-CN" altLang="en-US" sz="2000"/>
              <a:t>和 </a:t>
            </a:r>
            <a:r>
              <a:rPr lang="en-US" altLang="zh-CN" sz="2000"/>
              <a:t>p(n-1,x) </a:t>
            </a:r>
            <a:r>
              <a:rPr lang="zh-CN" altLang="en-US" sz="2000"/>
              <a:t>的话，就能立即按公式计算出 </a:t>
            </a:r>
            <a:r>
              <a:rPr lang="en-US" altLang="zh-CN" sz="2000"/>
              <a:t>p(n</a:t>
            </a:r>
            <a:r>
              <a:rPr lang="zh-CN" altLang="en-US" sz="2000"/>
              <a:t>，</a:t>
            </a:r>
            <a:r>
              <a:rPr lang="en-US" altLang="zh-CN" sz="2000"/>
              <a:t>x)</a:t>
            </a:r>
            <a:r>
              <a:rPr lang="zh-CN" altLang="en-US" sz="2000"/>
              <a:t>。</a:t>
            </a:r>
            <a:endParaRPr lang="en-US" altLang="zh-CN" sz="2000"/>
          </a:p>
          <a:p>
            <a:pPr marL="933450" lvl="1" indent="-533400">
              <a:lnSpc>
                <a:spcPct val="150000"/>
              </a:lnSpc>
            </a:pPr>
            <a:r>
              <a:rPr lang="zh-CN" altLang="en-US" sz="2000"/>
              <a:t>由于</a:t>
            </a:r>
            <a:r>
              <a:rPr lang="en-US" altLang="zh-CN" sz="2000"/>
              <a:t>p(0,x)</a:t>
            </a:r>
            <a:r>
              <a:rPr lang="zh-CN" altLang="en-US" sz="2000"/>
              <a:t>与</a:t>
            </a:r>
            <a:r>
              <a:rPr lang="en-US" altLang="zh-CN" sz="2000"/>
              <a:t>p(1,x)</a:t>
            </a:r>
            <a:r>
              <a:rPr lang="zh-CN" altLang="en-US" sz="2000"/>
              <a:t>是能立即得到的，这样就能用</a:t>
            </a:r>
            <a:r>
              <a:rPr lang="zh-CN" altLang="en-US" sz="2000">
                <a:solidFill>
                  <a:srgbClr val="0070C0"/>
                </a:solidFill>
              </a:rPr>
              <a:t>递推方法</a:t>
            </a:r>
            <a:r>
              <a:rPr lang="zh-CN" altLang="en-US" sz="2000"/>
              <a:t>，从</a:t>
            </a:r>
            <a:r>
              <a:rPr lang="en-US" altLang="zh-CN" sz="2000"/>
              <a:t>p(0,x)</a:t>
            </a:r>
            <a:r>
              <a:rPr lang="zh-CN" altLang="en-US" sz="2000"/>
              <a:t>与</a:t>
            </a:r>
            <a:r>
              <a:rPr lang="en-US" altLang="zh-CN" sz="2000"/>
              <a:t>p(1,x)</a:t>
            </a:r>
            <a:r>
              <a:rPr lang="zh-CN" altLang="en-US" sz="2000"/>
              <a:t>出发，依次计算出</a:t>
            </a:r>
            <a:r>
              <a:rPr lang="en-US" altLang="zh-CN" sz="2000"/>
              <a:t>p(2,x)</a:t>
            </a:r>
            <a:r>
              <a:rPr lang="zh-CN" altLang="en-US" sz="2000"/>
              <a:t>，</a:t>
            </a:r>
            <a:r>
              <a:rPr lang="en-US" altLang="zh-CN" sz="2000"/>
              <a:t>p(3,x)</a:t>
            </a:r>
            <a:r>
              <a:rPr lang="zh-CN" altLang="en-US" sz="2000"/>
              <a:t>，</a:t>
            </a:r>
            <a:r>
              <a:rPr lang="en-US" altLang="zh-CN" sz="2000"/>
              <a:t>…</a:t>
            </a:r>
            <a:r>
              <a:rPr lang="zh-CN" altLang="en-US" sz="2000"/>
              <a:t>。 即从</a:t>
            </a:r>
            <a:r>
              <a:rPr lang="zh-CN" altLang="en-US" sz="2000">
                <a:solidFill>
                  <a:srgbClr val="0070C0"/>
                </a:solidFill>
              </a:rPr>
              <a:t>幂次低</a:t>
            </a:r>
            <a:r>
              <a:rPr lang="zh-CN" altLang="en-US" sz="2000"/>
              <a:t>的勒让得多项式到</a:t>
            </a:r>
            <a:r>
              <a:rPr lang="zh-CN" altLang="en-US" sz="2000">
                <a:solidFill>
                  <a:srgbClr val="0070C0"/>
                </a:solidFill>
              </a:rPr>
              <a:t>幂次高</a:t>
            </a:r>
            <a:r>
              <a:rPr lang="zh-CN" altLang="en-US" sz="2000"/>
              <a:t>的勒让得多项式的递推解法。</a:t>
            </a:r>
          </a:p>
        </p:txBody>
      </p:sp>
    </p:spTree>
    <p:extLst>
      <p:ext uri="{BB962C8B-B14F-4D97-AF65-F5344CB8AC3E}">
        <p14:creationId xmlns:p14="http://schemas.microsoft.com/office/powerpoint/2010/main" val="32917632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>
            <a:extLst>
              <a:ext uri="{FF2B5EF4-FFF2-40B4-BE49-F238E27FC236}">
                <a16:creationId xmlns:a16="http://schemas.microsoft.com/office/drawing/2014/main" id="{BE01F501-C07D-E005-41F1-E8FAF98ED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20  </a:t>
            </a:r>
            <a:r>
              <a:rPr lang="zh-CN" altLang="en-US"/>
              <a:t>函数定义</a:t>
            </a:r>
          </a:p>
        </p:txBody>
      </p:sp>
      <p:sp>
        <p:nvSpPr>
          <p:cNvPr id="629763" name="Rectangle 3">
            <a:extLst>
              <a:ext uri="{FF2B5EF4-FFF2-40B4-BE49-F238E27FC236}">
                <a16:creationId xmlns:a16="http://schemas.microsoft.com/office/drawing/2014/main" id="{61412CD4-7233-E5A1-4785-8EA4C44F4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double p(int n, double x){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double first, second, third;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int count;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if (n == 0)  return 1.0;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if (n == 1)  return x;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</a:t>
            </a:r>
            <a:r>
              <a:rPr lang="en-US" altLang="zh-CN" sz="1800">
                <a:solidFill>
                  <a:srgbClr val="00B0F0"/>
                </a:solidFill>
              </a:rPr>
              <a:t>first  = 1.0;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>
                <a:solidFill>
                  <a:srgbClr val="00B0F0"/>
                </a:solidFill>
              </a:rPr>
              <a:t>  second = x;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for(count = 2; count &lt;= n; count++)   {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    third  = ((2.0*count-1.0)*x*second - (count-1.0)*first)/count;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>
                <a:solidFill>
                  <a:srgbClr val="00B0F0"/>
                </a:solidFill>
              </a:rPr>
              <a:t>      first  = second;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>
                <a:solidFill>
                  <a:srgbClr val="00B0F0"/>
                </a:solidFill>
              </a:rPr>
              <a:t>      second = third;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}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  return  third;</a:t>
            </a:r>
          </a:p>
          <a:p>
            <a:pPr marL="914400" lvl="1" indent="-457200" algn="just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CN" sz="1800"/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>
            <a:extLst>
              <a:ext uri="{FF2B5EF4-FFF2-40B4-BE49-F238E27FC236}">
                <a16:creationId xmlns:a16="http://schemas.microsoft.com/office/drawing/2014/main" id="{A0B27E02-4F53-4E64-1301-818A8644B1D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zh-CN" altLang="en-US" sz="4800">
                <a:solidFill>
                  <a:schemeClr val="folHlink"/>
                </a:solidFill>
              </a:rPr>
              <a:t>编译预处理命令简介</a:t>
            </a:r>
          </a:p>
        </p:txBody>
      </p:sp>
      <p:pic>
        <p:nvPicPr>
          <p:cNvPr id="637955" name="Picture 3">
            <a:hlinkClick r:id="rId3"/>
            <a:extLst>
              <a:ext uri="{FF2B5EF4-FFF2-40B4-BE49-F238E27FC236}">
                <a16:creationId xmlns:a16="http://schemas.microsoft.com/office/drawing/2014/main" id="{3CB5864E-51A2-F53A-2BF2-9E4F92910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413" y="4913313"/>
            <a:ext cx="1779587" cy="194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>
            <a:extLst>
              <a:ext uri="{FF2B5EF4-FFF2-40B4-BE49-F238E27FC236}">
                <a16:creationId xmlns:a16="http://schemas.microsoft.com/office/drawing/2014/main" id="{04B36647-D80B-40F7-1522-9EC29C511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常量定义</a:t>
            </a:r>
            <a:r>
              <a:rPr lang="en-US" altLang="zh-CN" b="1"/>
              <a:t>(</a:t>
            </a:r>
            <a:r>
              <a:rPr lang="zh-CN" altLang="en-US" b="1"/>
              <a:t>宏定义</a:t>
            </a:r>
            <a:r>
              <a:rPr lang="en-US" altLang="zh-CN" b="1"/>
              <a:t>-</a:t>
            </a:r>
            <a:r>
              <a:rPr lang="zh-CN" altLang="en-US" b="1"/>
              <a:t>不带参数</a:t>
            </a:r>
            <a:r>
              <a:rPr lang="en-US" altLang="zh-CN" b="1"/>
              <a:t>)</a:t>
            </a:r>
          </a:p>
        </p:txBody>
      </p:sp>
      <p:sp>
        <p:nvSpPr>
          <p:cNvPr id="638979" name="Rectangle 3">
            <a:extLst>
              <a:ext uri="{FF2B5EF4-FFF2-40B4-BE49-F238E27FC236}">
                <a16:creationId xmlns:a16="http://schemas.microsoft.com/office/drawing/2014/main" id="{54B7EBD9-A616-7059-AD71-00C81B093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0938" y="2017713"/>
            <a:ext cx="7453510" cy="4114800"/>
          </a:xfrm>
        </p:spPr>
        <p:txBody>
          <a:bodyPr/>
          <a:lstStyle/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定义：</a:t>
            </a:r>
            <a:r>
              <a:rPr lang="en-US" altLang="zh-CN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#define</a:t>
            </a:r>
            <a:r>
              <a:rPr lang="zh-CN" altLang="en-US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标识符 字符序列</a:t>
            </a:r>
            <a:endParaRPr lang="en-US" altLang="zh-CN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例子</a:t>
            </a:r>
            <a:endParaRPr lang="en-US" altLang="zh-CN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  PI    3.1415926</a:t>
            </a:r>
          </a:p>
          <a:p>
            <a:pPr lvl="1"/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  TRUE  1</a:t>
            </a:r>
          </a:p>
          <a:p>
            <a:pPr lvl="1"/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  EOF </a:t>
            </a:r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(-1)</a:t>
            </a:r>
          </a:p>
          <a:p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在编译预处理时，本质是字符序列替换，也称为“宏展开”</a:t>
            </a:r>
            <a:endParaRPr lang="en-US" altLang="zh-CN" sz="28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关于“宏定义”的更多说明 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**  </a:t>
            </a:r>
            <a:r>
              <a:rPr lang="en-US" altLang="zh-CN" sz="2800" b="1">
                <a:solidFill>
                  <a:srgbClr val="0432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P111~P113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0505-188C-2B5A-5084-2714AE97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>
            <a:extLst>
              <a:ext uri="{FF2B5EF4-FFF2-40B4-BE49-F238E27FC236}">
                <a16:creationId xmlns:a16="http://schemas.microsoft.com/office/drawing/2014/main" id="{EAB83D7D-60F2-3F4E-2849-232568926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宏定义</a:t>
            </a:r>
            <a:r>
              <a:rPr lang="en-US" altLang="zh-CN" b="1"/>
              <a:t>-</a:t>
            </a:r>
            <a:r>
              <a:rPr lang="zh-CN" altLang="en-US" b="1"/>
              <a:t>带参数</a:t>
            </a:r>
            <a:endParaRPr lang="en-US" altLang="zh-CN" b="1"/>
          </a:p>
        </p:txBody>
      </p:sp>
      <p:sp>
        <p:nvSpPr>
          <p:cNvPr id="638979" name="Rectangle 3">
            <a:extLst>
              <a:ext uri="{FF2B5EF4-FFF2-40B4-BE49-F238E27FC236}">
                <a16:creationId xmlns:a16="http://schemas.microsoft.com/office/drawing/2014/main" id="{489065CF-961F-47B5-0D99-5239262119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0938" y="2017713"/>
            <a:ext cx="7453510" cy="4114800"/>
          </a:xfrm>
        </p:spPr>
        <p:txBody>
          <a:bodyPr/>
          <a:lstStyle/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定义：</a:t>
            </a:r>
            <a:r>
              <a:rPr lang="en-US" altLang="zh-CN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#define</a:t>
            </a:r>
            <a:r>
              <a:rPr lang="zh-CN" altLang="en-US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标识符</a:t>
            </a:r>
            <a:r>
              <a:rPr lang="en-US" altLang="zh-CN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zh-CN" altLang="en-US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形参表</a:t>
            </a:r>
            <a:r>
              <a:rPr lang="en-US" altLang="zh-CN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0070C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字符序列</a:t>
            </a:r>
            <a:endParaRPr lang="en-US" altLang="zh-CN" b="1">
              <a:solidFill>
                <a:srgbClr val="0070C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例子</a:t>
            </a:r>
            <a:endParaRPr lang="en-US" altLang="zh-CN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1"/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 MAX(A,B) ((A)&gt;(B)?(A)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  <a:sym typeface="Wingdings" pitchFamily="2" charset="2"/>
              </a:rPr>
              <a:t>:(B)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)    </a:t>
            </a:r>
          </a:p>
          <a:p>
            <a:pPr lvl="1"/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 SQR(x) </a:t>
            </a:r>
            <a:r>
              <a:rPr lang="en-US" altLang="zh-CN" b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x*x</a:t>
            </a:r>
          </a:p>
          <a:p>
            <a:r>
              <a:rPr lang="zh-CN" altLang="en-US" sz="2800" b="1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理解宏定义的本质，理解与函数的区别，避免宏展开后出现的错误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（</a:t>
            </a:r>
            <a:r>
              <a:rPr lang="en-US" altLang="zh-CN" sz="2800" b="1">
                <a:solidFill>
                  <a:srgbClr val="0432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P112</a:t>
            </a:r>
            <a:r>
              <a:rPr lang="zh-CN" altLang="en-US" sz="2800" b="1">
                <a:latin typeface="SimSun" panose="02010600030101010101" pitchFamily="2" charset="-122"/>
                <a:ea typeface="SimSun" panose="02010600030101010101" pitchFamily="2" charset="-122"/>
              </a:rPr>
              <a:t>）</a:t>
            </a:r>
            <a:endParaRPr lang="en-US" altLang="zh-CN" sz="28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02623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>
            <a:extLst>
              <a:ext uri="{FF2B5EF4-FFF2-40B4-BE49-F238E27FC236}">
                <a16:creationId xmlns:a16="http://schemas.microsoft.com/office/drawing/2014/main" id="{6673CA8A-CD51-2C38-766D-ED875FBE3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头文件</a:t>
            </a:r>
          </a:p>
        </p:txBody>
      </p:sp>
      <p:sp>
        <p:nvSpPr>
          <p:cNvPr id="640003" name="Rectangle 3">
            <a:extLst>
              <a:ext uri="{FF2B5EF4-FFF2-40B4-BE49-F238E27FC236}">
                <a16:creationId xmlns:a16="http://schemas.microsoft.com/office/drawing/2014/main" id="{C6C0132D-F717-E667-3590-072221EEC7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#include &lt;stdio.h&gt;</a:t>
            </a:r>
          </a:p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#include &lt;string.h&gt;</a:t>
            </a:r>
          </a:p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#include “Myfile.h”</a:t>
            </a:r>
          </a:p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…</a:t>
            </a:r>
          </a:p>
          <a:p>
            <a:endParaRPr lang="en-US" altLang="zh-CN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头文件注意事项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P129</a:t>
            </a:r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底部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CDD4-8098-A973-2CCB-E2684349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>
            <a:extLst>
              <a:ext uri="{FF2B5EF4-FFF2-40B4-BE49-F238E27FC236}">
                <a16:creationId xmlns:a16="http://schemas.microsoft.com/office/drawing/2014/main" id="{1702EDA4-5B11-9366-32AE-1BCD90634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条件编译示例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5B111F-3CDA-0905-A474-DD8461AEA037}"/>
              </a:ext>
            </a:extLst>
          </p:cNvPr>
          <p:cNvSpPr txBox="1"/>
          <p:nvPr/>
        </p:nvSpPr>
        <p:spPr>
          <a:xfrm>
            <a:off x="1120070" y="2204864"/>
            <a:ext cx="7165478" cy="385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i="0"/>
              <a:t>在大型工程中，同一个头文件可能被多个 </a:t>
            </a:r>
            <a:r>
              <a:rPr lang="en-US" altLang="zh-CN" sz="2400" i="0">
                <a:latin typeface="Courier New" panose="02070309020205020404" pitchFamily="49" charset="0"/>
              </a:rPr>
              <a:t>.c</a:t>
            </a:r>
            <a:r>
              <a:rPr lang="en-US" altLang="zh-CN" sz="2400" i="0"/>
              <a:t> </a:t>
            </a:r>
            <a:r>
              <a:rPr lang="zh-CN" altLang="en-US" sz="2400" i="0"/>
              <a:t>文件间接包含多次，例如：</a:t>
            </a:r>
          </a:p>
          <a:p>
            <a:pPr rtl="0">
              <a:buNone/>
            </a:pPr>
            <a:r>
              <a:rPr lang="en-US" altLang="zh-CN" sz="2400" i="0">
                <a:solidFill>
                  <a:srgbClr val="00B050"/>
                </a:solidFill>
                <a:latin typeface="Courier New" panose="02070309020205020404" pitchFamily="49" charset="0"/>
              </a:rPr>
              <a:t>// file1.c</a:t>
            </a:r>
          </a:p>
          <a:p>
            <a:pPr rtl="0">
              <a:buNone/>
            </a:pPr>
            <a:r>
              <a:rPr lang="en-US" altLang="zh-CN" sz="2400" i="0">
                <a:latin typeface="Courier New" panose="02070309020205020404" pitchFamily="49" charset="0"/>
              </a:rPr>
              <a:t>#include "Myfile.h"</a:t>
            </a:r>
          </a:p>
          <a:p>
            <a:pPr rtl="0">
              <a:buNone/>
            </a:pPr>
            <a:endParaRPr lang="en-US" altLang="zh-CN" sz="2400" i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altLang="zh-CN" sz="2400" i="0">
                <a:solidFill>
                  <a:srgbClr val="00B050"/>
                </a:solidFill>
                <a:latin typeface="Courier New" panose="02070309020205020404" pitchFamily="49" charset="0"/>
              </a:rPr>
              <a:t>// file2.c</a:t>
            </a:r>
          </a:p>
          <a:p>
            <a:pPr>
              <a:buNone/>
            </a:pPr>
            <a:r>
              <a:rPr lang="en-US" altLang="zh-CN" sz="2400" i="0">
                <a:latin typeface="Courier New" panose="02070309020205020404" pitchFamily="49" charset="0"/>
              </a:rPr>
              <a:t>#include " Myfile.h "</a:t>
            </a:r>
          </a:p>
          <a:p>
            <a:pPr>
              <a:buNone/>
            </a:pPr>
            <a:r>
              <a:rPr lang="zh-CN" altLang="en-US" sz="2400" i="0"/>
              <a:t>如果 </a:t>
            </a:r>
            <a:r>
              <a:rPr lang="en-US" altLang="zh-CN" sz="2400" i="0">
                <a:latin typeface="Courier New" panose="02070309020205020404" pitchFamily="49" charset="0"/>
              </a:rPr>
              <a:t>Myfile.h</a:t>
            </a:r>
            <a:r>
              <a:rPr lang="en-US" altLang="zh-CN" sz="2400" i="0"/>
              <a:t> </a:t>
            </a:r>
            <a:r>
              <a:rPr lang="zh-CN" altLang="en-US" sz="2400" i="0"/>
              <a:t>中有结构体或函数声明，</a:t>
            </a:r>
            <a:r>
              <a:rPr lang="zh-CN" altLang="en-US" sz="2400" b="1" i="0">
                <a:solidFill>
                  <a:srgbClr val="C00000"/>
                </a:solidFill>
              </a:rPr>
              <a:t>重复包含会导致“重复定义错误”</a:t>
            </a:r>
            <a:r>
              <a:rPr lang="zh-CN" altLang="en-US" sz="2400" i="0">
                <a:solidFill>
                  <a:srgbClr val="C0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854770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>
            <a:extLst>
              <a:ext uri="{FF2B5EF4-FFF2-40B4-BE49-F238E27FC236}">
                <a16:creationId xmlns:a16="http://schemas.microsoft.com/office/drawing/2014/main" id="{E23B8F6A-1572-42C4-05EA-2238C98C7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条件编译示例</a:t>
            </a:r>
          </a:p>
        </p:txBody>
      </p:sp>
      <p:sp>
        <p:nvSpPr>
          <p:cNvPr id="641027" name="Rectangle 3">
            <a:extLst>
              <a:ext uri="{FF2B5EF4-FFF2-40B4-BE49-F238E27FC236}">
                <a16:creationId xmlns:a16="http://schemas.microsoft.com/office/drawing/2014/main" id="{4F1DDCFC-B3A4-4BE7-98A6-4085BBAEE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2688" y="3284983"/>
            <a:ext cx="7772400" cy="2847529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#ifndef  __MY_FILE_H__</a:t>
            </a:r>
          </a:p>
          <a:p>
            <a:pPr>
              <a:buFontTx/>
              <a:buNone/>
            </a:pP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#define __MY_FILE_H__</a:t>
            </a:r>
          </a:p>
          <a:p>
            <a:pPr>
              <a:buFontTx/>
              <a:buNone/>
            </a:pP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…</a:t>
            </a:r>
          </a:p>
          <a:p>
            <a:pPr>
              <a:buFontTx/>
              <a:buNone/>
            </a:pP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#endif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8C7169-BE7E-6FF4-1A8B-59BD35BC886D}"/>
              </a:ext>
            </a:extLst>
          </p:cNvPr>
          <p:cNvSpPr txBox="1"/>
          <p:nvPr/>
        </p:nvSpPr>
        <p:spPr>
          <a:xfrm>
            <a:off x="971600" y="2132856"/>
            <a:ext cx="7488832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sz="2400" i="0"/>
              <a:t>防止头文件被重复包含（</a:t>
            </a:r>
            <a:r>
              <a:rPr lang="en-US" altLang="zh-CN" sz="2400" i="0"/>
              <a:t>Include Guard</a:t>
            </a:r>
            <a:r>
              <a:rPr lang="zh-CN" altLang="en-US" sz="2400" i="0"/>
              <a:t>）。</a:t>
            </a:r>
            <a:endParaRPr lang="en-US" altLang="zh-CN" sz="2400" i="0"/>
          </a:p>
          <a:p>
            <a:pPr marL="457200" indent="-457200"/>
            <a:r>
              <a:rPr lang="zh-CN" altLang="en-US" sz="2400"/>
              <a:t>条件编译解决方案：头文件保护宏（</a:t>
            </a:r>
            <a:r>
              <a:rPr lang="en-US" altLang="zh-CN" sz="2400"/>
              <a:t>Include Guard</a:t>
            </a:r>
            <a:r>
              <a:rPr lang="zh-CN" altLang="en-US" sz="2400"/>
              <a:t>）</a:t>
            </a:r>
            <a:endParaRPr lang="zh-CN" altLang="en-US" sz="2400" i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>
            <a:extLst>
              <a:ext uri="{FF2B5EF4-FFF2-40B4-BE49-F238E27FC236}">
                <a16:creationId xmlns:a16="http://schemas.microsoft.com/office/drawing/2014/main" id="{82235F23-5942-F75F-DF07-4DA029833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</a:t>
            </a:r>
          </a:p>
        </p:txBody>
      </p:sp>
      <p:sp>
        <p:nvSpPr>
          <p:cNvPr id="642051" name="Rectangle 3">
            <a:extLst>
              <a:ext uri="{FF2B5EF4-FFF2-40B4-BE49-F238E27FC236}">
                <a16:creationId xmlns:a16="http://schemas.microsoft.com/office/drawing/2014/main" id="{C3B7919B-ABE8-B620-0487-206673EC0E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2017713"/>
            <a:ext cx="2376487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solidFill>
                  <a:srgbClr val="CC0000"/>
                </a:solidFill>
              </a:rPr>
              <a:t>   #ifdef </a:t>
            </a:r>
            <a:r>
              <a:rPr lang="zh-CN" altLang="en-US" sz="2400">
                <a:solidFill>
                  <a:srgbClr val="CC0000"/>
                </a:solidFill>
              </a:rPr>
              <a:t>标识符   </a:t>
            </a:r>
          </a:p>
          <a:p>
            <a:pPr>
              <a:buFontTx/>
              <a:buNone/>
            </a:pPr>
            <a:r>
              <a:rPr lang="zh-CN" altLang="en-US" sz="2400">
                <a:solidFill>
                  <a:srgbClr val="CC0000"/>
                </a:solidFill>
              </a:rPr>
              <a:t>     程序段</a:t>
            </a:r>
            <a:r>
              <a:rPr lang="en-US" altLang="zh-CN" sz="2400">
                <a:solidFill>
                  <a:srgbClr val="CC0000"/>
                </a:solidFill>
              </a:rPr>
              <a:t>1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CC0000"/>
                </a:solidFill>
              </a:rPr>
              <a:t>   #else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CC0000"/>
                </a:solidFill>
              </a:rPr>
              <a:t>     </a:t>
            </a:r>
            <a:r>
              <a:rPr lang="zh-CN" altLang="en-US" sz="2400">
                <a:solidFill>
                  <a:srgbClr val="CC0000"/>
                </a:solidFill>
              </a:rPr>
              <a:t>程序段</a:t>
            </a:r>
            <a:r>
              <a:rPr lang="en-US" altLang="zh-CN" sz="2400">
                <a:solidFill>
                  <a:srgbClr val="CC0000"/>
                </a:solidFill>
              </a:rPr>
              <a:t>2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CC0000"/>
                </a:solidFill>
              </a:rPr>
              <a:t>   #endif</a:t>
            </a:r>
          </a:p>
        </p:txBody>
      </p:sp>
      <p:sp>
        <p:nvSpPr>
          <p:cNvPr id="642052" name="Rectangle 4">
            <a:extLst>
              <a:ext uri="{FF2B5EF4-FFF2-40B4-BE49-F238E27FC236}">
                <a16:creationId xmlns:a16="http://schemas.microsoft.com/office/drawing/2014/main" id="{697AB3C5-A764-DB10-D9E2-020A13289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000250"/>
            <a:ext cx="2881313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folHlink"/>
                </a:solidFill>
              </a:rPr>
              <a:t>   #ifndef </a:t>
            </a:r>
            <a:r>
              <a:rPr lang="zh-CN" altLang="en-US" sz="2400" i="0">
                <a:solidFill>
                  <a:schemeClr val="folHlink"/>
                </a:solidFill>
              </a:rPr>
              <a:t>标识符   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400" i="0">
                <a:solidFill>
                  <a:schemeClr val="folHlink"/>
                </a:solidFill>
              </a:rPr>
              <a:t>     程序段</a:t>
            </a:r>
            <a:r>
              <a:rPr lang="en-US" altLang="zh-CN" sz="2400" i="0">
                <a:solidFill>
                  <a:schemeClr val="folHlink"/>
                </a:solidFill>
              </a:rPr>
              <a:t>1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folHlink"/>
                </a:solidFill>
              </a:rPr>
              <a:t>   #else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folHlink"/>
                </a:solidFill>
              </a:rPr>
              <a:t>     </a:t>
            </a:r>
            <a:r>
              <a:rPr lang="zh-CN" altLang="en-US" sz="2400" i="0">
                <a:solidFill>
                  <a:schemeClr val="folHlink"/>
                </a:solidFill>
              </a:rPr>
              <a:t>程序段</a:t>
            </a:r>
            <a:r>
              <a:rPr lang="en-US" altLang="zh-CN" sz="2400" i="0">
                <a:solidFill>
                  <a:schemeClr val="folHlink"/>
                </a:solidFill>
              </a:rPr>
              <a:t>2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folHlink"/>
                </a:solidFill>
              </a:rPr>
              <a:t>   #endif</a:t>
            </a:r>
            <a:r>
              <a:rPr lang="en-US" altLang="zh-CN" sz="2400" i="0"/>
              <a:t>    </a:t>
            </a:r>
          </a:p>
        </p:txBody>
      </p:sp>
      <p:sp>
        <p:nvSpPr>
          <p:cNvPr id="642053" name="Rectangle 5">
            <a:extLst>
              <a:ext uri="{FF2B5EF4-FFF2-40B4-BE49-F238E27FC236}">
                <a16:creationId xmlns:a16="http://schemas.microsoft.com/office/drawing/2014/main" id="{1031284D-8690-5E0C-63C8-ACC792097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9138"/>
            <a:ext cx="273685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hlink"/>
                </a:solidFill>
              </a:rPr>
              <a:t>#if </a:t>
            </a:r>
            <a:r>
              <a:rPr lang="zh-CN" altLang="en-US" sz="2400" i="0">
                <a:solidFill>
                  <a:schemeClr val="hlink"/>
                </a:solidFill>
              </a:rPr>
              <a:t>表达式</a:t>
            </a:r>
          </a:p>
          <a:p>
            <a:pPr>
              <a:buClrTx/>
              <a:buSzTx/>
              <a:buFontTx/>
              <a:buNone/>
            </a:pPr>
            <a:r>
              <a:rPr lang="zh-CN" altLang="en-US" sz="2400" i="0">
                <a:solidFill>
                  <a:schemeClr val="hlink"/>
                </a:solidFill>
              </a:rPr>
              <a:t>   程序段</a:t>
            </a:r>
            <a:r>
              <a:rPr lang="en-US" altLang="zh-CN" sz="2400" i="0">
                <a:solidFill>
                  <a:schemeClr val="hlink"/>
                </a:solidFill>
              </a:rPr>
              <a:t>1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hlink"/>
                </a:solidFill>
              </a:rPr>
              <a:t>#else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hlink"/>
                </a:solidFill>
              </a:rPr>
              <a:t>   </a:t>
            </a:r>
            <a:r>
              <a:rPr lang="zh-CN" altLang="en-US" sz="2400" i="0">
                <a:solidFill>
                  <a:schemeClr val="hlink"/>
                </a:solidFill>
              </a:rPr>
              <a:t>程序段</a:t>
            </a:r>
            <a:r>
              <a:rPr lang="en-US" altLang="zh-CN" sz="2400" i="0">
                <a:solidFill>
                  <a:schemeClr val="hlink"/>
                </a:solidFill>
              </a:rPr>
              <a:t>2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400" i="0">
                <a:solidFill>
                  <a:schemeClr val="hlink"/>
                </a:solidFill>
              </a:rPr>
              <a:t>#endif</a:t>
            </a:r>
            <a:r>
              <a:rPr lang="en-US" altLang="zh-CN" sz="2400" i="0"/>
              <a:t>    </a:t>
            </a:r>
            <a:endParaRPr lang="en-US" altLang="zh-CN" sz="2400" i="0">
              <a:solidFill>
                <a:schemeClr val="hlink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89470-6A86-E666-F95A-C7F6AD33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>
            <a:extLst>
              <a:ext uri="{FF2B5EF4-FFF2-40B4-BE49-F238E27FC236}">
                <a16:creationId xmlns:a16="http://schemas.microsoft.com/office/drawing/2014/main" id="{68E48B0D-2DC8-F09A-EBF8-5368AF2F9B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68302E-5C70-B9D3-8418-780D9B3A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88" y="2507179"/>
            <a:ext cx="5867024" cy="411520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8548CA-1038-E520-A4B8-E5E52C82978D}"/>
              </a:ext>
            </a:extLst>
          </p:cNvPr>
          <p:cNvSpPr txBox="1"/>
          <p:nvPr/>
        </p:nvSpPr>
        <p:spPr>
          <a:xfrm>
            <a:off x="1144890" y="1860848"/>
            <a:ext cx="7042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/>
              <a:t>这样可以在不修改逻辑代码的前提下，快速切换“调试模式”和“正式发布模式”。</a:t>
            </a:r>
          </a:p>
        </p:txBody>
      </p:sp>
    </p:spTree>
    <p:extLst>
      <p:ext uri="{BB962C8B-B14F-4D97-AF65-F5344CB8AC3E}">
        <p14:creationId xmlns:p14="http://schemas.microsoft.com/office/powerpoint/2010/main" val="9950155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>
            <a:extLst>
              <a:ext uri="{FF2B5EF4-FFF2-40B4-BE49-F238E27FC236}">
                <a16:creationId xmlns:a16="http://schemas.microsoft.com/office/drawing/2014/main" id="{7D7EF3D1-7BDE-5747-3D27-37EDA4E386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预编译命令</a:t>
            </a:r>
            <a:r>
              <a:rPr lang="en-US" altLang="zh-CN">
                <a:latin typeface="Comic Sans MS" panose="030F0902030302020204" pitchFamily="66" charset="0"/>
              </a:rPr>
              <a:t>FAQ</a:t>
            </a:r>
          </a:p>
        </p:txBody>
      </p:sp>
      <p:sp>
        <p:nvSpPr>
          <p:cNvPr id="643075" name="Rectangle 3">
            <a:extLst>
              <a:ext uri="{FF2B5EF4-FFF2-40B4-BE49-F238E27FC236}">
                <a16:creationId xmlns:a16="http://schemas.microsoft.com/office/drawing/2014/main" id="{A8384BB3-1805-BD00-99D3-E94E7A32B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Why? (</a:t>
            </a:r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方便使然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</a:p>
          <a:p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What? (</a:t>
            </a:r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宏定义、文件包含、条件编译、行控制</a:t>
            </a:r>
            <a:r>
              <a:rPr lang="en-US" altLang="zh-CN" b="1">
                <a:latin typeface="SimSun" panose="02010600030101010101" pitchFamily="2" charset="-122"/>
                <a:ea typeface="SimSun" panose="02010600030101010101" pitchFamily="2" charset="-122"/>
              </a:rPr>
              <a:t>…)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>
            <a:extLst>
              <a:ext uri="{FF2B5EF4-FFF2-40B4-BE49-F238E27FC236}">
                <a16:creationId xmlns:a16="http://schemas.microsoft.com/office/drawing/2014/main" id="{F6E88AA0-2FAE-646C-ED6E-DC59F2D34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本节课我们学了</a:t>
            </a:r>
          </a:p>
        </p:txBody>
      </p:sp>
      <p:sp>
        <p:nvSpPr>
          <p:cNvPr id="552963" name="Rectangle 3">
            <a:extLst>
              <a:ext uri="{FF2B5EF4-FFF2-40B4-BE49-F238E27FC236}">
                <a16:creationId xmlns:a16="http://schemas.microsoft.com/office/drawing/2014/main" id="{679E86BC-8A07-891D-C2D9-EAC489AC2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函数及其相关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函数的基本概念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库函数的使用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函数的定义、函数的调用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参数的传递</a:t>
            </a:r>
          </a:p>
          <a:p>
            <a:pPr lvl="1"/>
            <a:r>
              <a:rPr lang="zh-CN" altLang="en-US" b="1">
                <a:latin typeface="SimSun" panose="02010600030101010101" pitchFamily="2" charset="-122"/>
                <a:ea typeface="SimSun" panose="02010600030101010101" pitchFamily="2" charset="-122"/>
              </a:rPr>
              <a:t>递归函数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>
            <a:extLst>
              <a:ext uri="{FF2B5EF4-FFF2-40B4-BE49-F238E27FC236}">
                <a16:creationId xmlns:a16="http://schemas.microsoft.com/office/drawing/2014/main" id="{86C63BAD-0081-B9BE-6FAB-70E7D7C598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6000">
                <a:latin typeface="Comic Sans MS" panose="030F0902030302020204" pitchFamily="66" charset="0"/>
              </a:rPr>
              <a:t>That’s the end</a:t>
            </a:r>
          </a:p>
        </p:txBody>
      </p:sp>
      <p:sp>
        <p:nvSpPr>
          <p:cNvPr id="550915" name="Rectangle 3">
            <a:extLst>
              <a:ext uri="{FF2B5EF4-FFF2-40B4-BE49-F238E27FC236}">
                <a16:creationId xmlns:a16="http://schemas.microsoft.com/office/drawing/2014/main" id="{E6D51969-E3A6-96FA-9420-9AEC23A09D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4400">
                <a:latin typeface="Comic Sans MS" panose="030F0902030302020204" pitchFamily="66" charset="0"/>
              </a:rPr>
              <a:t>Thanks!</a:t>
            </a:r>
          </a:p>
        </p:txBody>
      </p:sp>
      <p:pic>
        <p:nvPicPr>
          <p:cNvPr id="2" name="Picture 2">
            <a:hlinkClick r:id="rId3" action="ppaction://hlinkpres?slideindex=1&amp;slidetitle=PowerPoint 演示文稿"/>
            <a:extLst>
              <a:ext uri="{FF2B5EF4-FFF2-40B4-BE49-F238E27FC236}">
                <a16:creationId xmlns:a16="http://schemas.microsoft.com/office/drawing/2014/main" id="{9F07E54B-6054-FA2A-218D-D783435B9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82613"/>
            <a:ext cx="2514600" cy="143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0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0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5" grpId="0" build="p" autoUpdateAnimBg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 Unicode MS"/>
        <a:ea typeface="华文隶书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u"/>
          <a:tabLst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anose="020B0604020202020204" pitchFamily="34" charset="-128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Char char="u"/>
          <a:tabLst/>
          <a:defRPr kumimoji="0" lang="zh-CN" alt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anose="020B0604020202020204" pitchFamily="34" charset="-128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4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5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6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7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8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9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0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1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2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3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4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5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6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7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8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19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0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1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2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3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4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5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6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7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8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29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0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1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2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3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4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5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6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7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8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39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ppt/theme/themeOverride40.xml><?xml version="1.0" encoding="utf-8"?>
<a:themeOverride xmlns:a="http://schemas.openxmlformats.org/drawingml/2006/main">
  <a:clrScheme name="Blends 3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5520</TotalTime>
  <Words>7253</Words>
  <Application>Microsoft Macintosh PowerPoint</Application>
  <PresentationFormat>全屏显示(4:3)</PresentationFormat>
  <Paragraphs>735</Paragraphs>
  <Slides>82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6" baseType="lpstr">
      <vt:lpstr>宋体</vt:lpstr>
      <vt:lpstr>宋体</vt:lpstr>
      <vt:lpstr>Arial Unicode MS</vt:lpstr>
      <vt:lpstr>Source Sans 3</vt:lpstr>
      <vt:lpstr>Arial</vt:lpstr>
      <vt:lpstr>Comic Sans MS</vt:lpstr>
      <vt:lpstr>Courier</vt:lpstr>
      <vt:lpstr>Courier New</vt:lpstr>
      <vt:lpstr>Helvetica Neue</vt:lpstr>
      <vt:lpstr>Tahoma</vt:lpstr>
      <vt:lpstr>Times New Roman</vt:lpstr>
      <vt:lpstr>verdana</vt:lpstr>
      <vt:lpstr>Wingdings</vt:lpstr>
      <vt:lpstr>Blends</vt:lpstr>
      <vt:lpstr>C语言程序设计</vt:lpstr>
      <vt:lpstr>第5章 函数</vt:lpstr>
      <vt:lpstr>本节课我们将…</vt:lpstr>
      <vt:lpstr>函数的基本概念</vt:lpstr>
      <vt:lpstr>假如不模块化</vt:lpstr>
      <vt:lpstr>模块化的优点</vt:lpstr>
      <vt:lpstr>函数（function）和模块（ module）</vt:lpstr>
      <vt:lpstr>函数的分类</vt:lpstr>
      <vt:lpstr>函数的分类</vt:lpstr>
      <vt:lpstr>函数的定义</vt:lpstr>
      <vt:lpstr>函数定义（definition）</vt:lpstr>
      <vt:lpstr>函数定义（definition）</vt:lpstr>
      <vt:lpstr>函数定义（definition）</vt:lpstr>
      <vt:lpstr>函数定义（definition）</vt:lpstr>
      <vt:lpstr>函数的声明与调用</vt:lpstr>
      <vt:lpstr>函数调用（call）</vt:lpstr>
      <vt:lpstr>函数调用的过程</vt:lpstr>
      <vt:lpstr>函数说明/声明的作用</vt:lpstr>
      <vt:lpstr>函数调用的几种情况</vt:lpstr>
      <vt:lpstr>函数说明/声明</vt:lpstr>
      <vt:lpstr>函数说明/声明</vt:lpstr>
      <vt:lpstr>需要使用函数说明的两种情况</vt:lpstr>
      <vt:lpstr>使用函数要注意</vt:lpstr>
      <vt:lpstr>函数的传参</vt:lpstr>
      <vt:lpstr>函数的传参</vt:lpstr>
      <vt:lpstr>传参方式1：值传递</vt:lpstr>
      <vt:lpstr>传参方式1：值传递</vt:lpstr>
      <vt:lpstr>传参方式2：引用传递（地址传递）</vt:lpstr>
      <vt:lpstr>传参方式2：引用传递（地址传递）</vt:lpstr>
      <vt:lpstr>传参方式2：引用传递（地址传递）</vt:lpstr>
      <vt:lpstr>变量作用域</vt:lpstr>
      <vt:lpstr>局部变量（Local Variable）</vt:lpstr>
      <vt:lpstr>局部变量（Local Variable）</vt:lpstr>
      <vt:lpstr>局部变量（Local Variable）</vt:lpstr>
      <vt:lpstr>局部变量（Local Variable）</vt:lpstr>
      <vt:lpstr>局部变量（Local Variable）</vt:lpstr>
      <vt:lpstr>局部变量（Local Variable）</vt:lpstr>
      <vt:lpstr>全局变量（Global Variable）</vt:lpstr>
      <vt:lpstr>全局变量（Global Variable）</vt:lpstr>
      <vt:lpstr>静态变量（static）</vt:lpstr>
      <vt:lpstr>静态变量（static）</vt:lpstr>
      <vt:lpstr>静态变量（static）</vt:lpstr>
      <vt:lpstr>静态变量（static）</vt:lpstr>
      <vt:lpstr>静态变量（static）</vt:lpstr>
      <vt:lpstr>寄存器变量（register）</vt:lpstr>
      <vt:lpstr>寄存器变量（register）</vt:lpstr>
      <vt:lpstr>外部变量（extern）</vt:lpstr>
      <vt:lpstr>外部变量（extern）</vt:lpstr>
      <vt:lpstr>模块</vt:lpstr>
      <vt:lpstr>函数的返回值（revisited）</vt:lpstr>
      <vt:lpstr>函数的返回值</vt:lpstr>
      <vt:lpstr>函数的返回值（返回数组）</vt:lpstr>
      <vt:lpstr>函数的返回值（返回数组）</vt:lpstr>
      <vt:lpstr>函数的返回值（返回数组）</vt:lpstr>
      <vt:lpstr>函数的返回值（返回数组）</vt:lpstr>
      <vt:lpstr>递归函数基础</vt:lpstr>
      <vt:lpstr>概念：函数调用链和递归调用</vt:lpstr>
      <vt:lpstr>递归函数</vt:lpstr>
      <vt:lpstr>分别用循环和递归实现阶乘计算函数</vt:lpstr>
      <vt:lpstr>递归过程例</vt:lpstr>
      <vt:lpstr>例18</vt:lpstr>
      <vt:lpstr>例19  求解Hanoi塔问题</vt:lpstr>
      <vt:lpstr>例19  解题思路图示</vt:lpstr>
      <vt:lpstr>例19  解题思路(使用递归)(*)</vt:lpstr>
      <vt:lpstr>例19  程序(*)</vt:lpstr>
      <vt:lpstr>递归的进一步讨论</vt:lpstr>
      <vt:lpstr>线性递归</vt:lpstr>
      <vt:lpstr>把线性递归改造成循环</vt:lpstr>
      <vt:lpstr>例20  用递推实现递归</vt:lpstr>
      <vt:lpstr>例20  用递推实现递归</vt:lpstr>
      <vt:lpstr>例20  函数定义</vt:lpstr>
      <vt:lpstr>编译预处理命令简介</vt:lpstr>
      <vt:lpstr>常量定义(宏定义-不带参数)</vt:lpstr>
      <vt:lpstr>宏定义-带参数</vt:lpstr>
      <vt:lpstr>头文件</vt:lpstr>
      <vt:lpstr>条件编译示例</vt:lpstr>
      <vt:lpstr>条件编译示例</vt:lpstr>
      <vt:lpstr>条件编译</vt:lpstr>
      <vt:lpstr>条件编译</vt:lpstr>
      <vt:lpstr>预编译命令FAQ</vt:lpstr>
      <vt:lpstr>本节课我们学了</vt:lpstr>
      <vt:lpstr>That’s the end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程序设计实习</dc:title>
  <dc:creator>zhenying</dc:creator>
  <cp:lastModifiedBy>Ben</cp:lastModifiedBy>
  <cp:revision>392</cp:revision>
  <dcterms:created xsi:type="dcterms:W3CDTF">2007-01-26T04:19:18Z</dcterms:created>
  <dcterms:modified xsi:type="dcterms:W3CDTF">2025-10-29T12:31:51Z</dcterms:modified>
</cp:coreProperties>
</file>