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114"/>
  </p:notesMasterIdLst>
  <p:handoutMasterIdLst>
    <p:handoutMasterId r:id="rId115"/>
  </p:handoutMasterIdLst>
  <p:sldIdLst>
    <p:sldId id="545" r:id="rId2"/>
    <p:sldId id="334" r:id="rId3"/>
    <p:sldId id="335" r:id="rId4"/>
    <p:sldId id="336" r:id="rId5"/>
    <p:sldId id="337" r:id="rId6"/>
    <p:sldId id="374" r:id="rId7"/>
    <p:sldId id="338" r:id="rId8"/>
    <p:sldId id="475" r:id="rId9"/>
    <p:sldId id="476" r:id="rId10"/>
    <p:sldId id="477" r:id="rId11"/>
    <p:sldId id="478" r:id="rId12"/>
    <p:sldId id="339" r:id="rId13"/>
    <p:sldId id="479" r:id="rId14"/>
    <p:sldId id="480" r:id="rId15"/>
    <p:sldId id="481" r:id="rId16"/>
    <p:sldId id="482" r:id="rId17"/>
    <p:sldId id="483" r:id="rId18"/>
    <p:sldId id="484" r:id="rId19"/>
    <p:sldId id="485" r:id="rId20"/>
    <p:sldId id="486" r:id="rId21"/>
    <p:sldId id="487" r:id="rId22"/>
    <p:sldId id="488" r:id="rId23"/>
    <p:sldId id="489" r:id="rId24"/>
    <p:sldId id="507" r:id="rId25"/>
    <p:sldId id="490" r:id="rId26"/>
    <p:sldId id="491" r:id="rId27"/>
    <p:sldId id="492" r:id="rId28"/>
    <p:sldId id="495" r:id="rId29"/>
    <p:sldId id="496" r:id="rId30"/>
    <p:sldId id="553" r:id="rId31"/>
    <p:sldId id="554" r:id="rId32"/>
    <p:sldId id="555" r:id="rId33"/>
    <p:sldId id="556" r:id="rId34"/>
    <p:sldId id="557" r:id="rId35"/>
    <p:sldId id="493" r:id="rId36"/>
    <p:sldId id="508" r:id="rId37"/>
    <p:sldId id="494" r:id="rId38"/>
    <p:sldId id="560" r:id="rId39"/>
    <p:sldId id="498" r:id="rId40"/>
    <p:sldId id="499" r:id="rId41"/>
    <p:sldId id="497" r:id="rId42"/>
    <p:sldId id="355" r:id="rId43"/>
    <p:sldId id="473" r:id="rId44"/>
    <p:sldId id="363" r:id="rId45"/>
    <p:sldId id="500" r:id="rId46"/>
    <p:sldId id="501" r:id="rId47"/>
    <p:sldId id="502" r:id="rId48"/>
    <p:sldId id="364" r:id="rId49"/>
    <p:sldId id="503" r:id="rId50"/>
    <p:sldId id="504" r:id="rId51"/>
    <p:sldId id="547" r:id="rId52"/>
    <p:sldId id="548" r:id="rId53"/>
    <p:sldId id="551" r:id="rId54"/>
    <p:sldId id="558" r:id="rId55"/>
    <p:sldId id="559" r:id="rId56"/>
    <p:sldId id="538" r:id="rId57"/>
    <p:sldId id="539" r:id="rId58"/>
    <p:sldId id="540" r:id="rId59"/>
    <p:sldId id="541" r:id="rId60"/>
    <p:sldId id="542" r:id="rId61"/>
    <p:sldId id="552" r:id="rId62"/>
    <p:sldId id="373" r:id="rId63"/>
    <p:sldId id="509" r:id="rId64"/>
    <p:sldId id="394" r:id="rId65"/>
    <p:sldId id="511" r:id="rId66"/>
    <p:sldId id="510" r:id="rId67"/>
    <p:sldId id="376" r:id="rId68"/>
    <p:sldId id="378" r:id="rId69"/>
    <p:sldId id="543" r:id="rId70"/>
    <p:sldId id="395" r:id="rId71"/>
    <p:sldId id="512" r:id="rId72"/>
    <p:sldId id="513" r:id="rId73"/>
    <p:sldId id="396" r:id="rId74"/>
    <p:sldId id="514" r:id="rId75"/>
    <p:sldId id="389" r:id="rId76"/>
    <p:sldId id="397" r:id="rId77"/>
    <p:sldId id="515" r:id="rId78"/>
    <p:sldId id="516" r:id="rId79"/>
    <p:sldId id="517" r:id="rId80"/>
    <p:sldId id="518" r:id="rId81"/>
    <p:sldId id="519" r:id="rId82"/>
    <p:sldId id="520" r:id="rId83"/>
    <p:sldId id="521" r:id="rId84"/>
    <p:sldId id="522" r:id="rId85"/>
    <p:sldId id="400" r:id="rId86"/>
    <p:sldId id="525" r:id="rId87"/>
    <p:sldId id="523" r:id="rId88"/>
    <p:sldId id="428" r:id="rId89"/>
    <p:sldId id="401" r:id="rId90"/>
    <p:sldId id="404" r:id="rId91"/>
    <p:sldId id="405" r:id="rId92"/>
    <p:sldId id="406" r:id="rId93"/>
    <p:sldId id="407" r:id="rId94"/>
    <p:sldId id="408" r:id="rId95"/>
    <p:sldId id="409" r:id="rId96"/>
    <p:sldId id="410" r:id="rId97"/>
    <p:sldId id="411" r:id="rId98"/>
    <p:sldId id="413" r:id="rId99"/>
    <p:sldId id="414" r:id="rId100"/>
    <p:sldId id="415" r:id="rId101"/>
    <p:sldId id="416" r:id="rId102"/>
    <p:sldId id="417" r:id="rId103"/>
    <p:sldId id="527" r:id="rId104"/>
    <p:sldId id="528" r:id="rId105"/>
    <p:sldId id="529" r:id="rId106"/>
    <p:sldId id="420" r:id="rId107"/>
    <p:sldId id="531" r:id="rId108"/>
    <p:sldId id="546" r:id="rId109"/>
    <p:sldId id="561" r:id="rId110"/>
    <p:sldId id="562" r:id="rId111"/>
    <p:sldId id="563" r:id="rId112"/>
    <p:sldId id="564" r:id="rId113"/>
  </p:sldIdLst>
  <p:sldSz cx="9144000" cy="6858000" type="screen4x3"/>
  <p:notesSz cx="6858000" cy="9144000"/>
  <p:defaultTextStyle>
    <a:defPPr>
      <a:defRPr lang="zh-CN"/>
    </a:defPPr>
    <a:lvl1pPr algn="ctr" rtl="0" eaLnBrk="0" fontAlgn="base" hangingPunct="0">
      <a:spcBef>
        <a:spcPct val="0"/>
      </a:spcBef>
      <a:spcAft>
        <a:spcPct val="0"/>
      </a:spcAft>
      <a:defRPr sz="2800" b="1" kern="1200">
        <a:solidFill>
          <a:schemeClr val="tx1"/>
        </a:solidFill>
        <a:latin typeface="Times New Roman" pitchFamily="18" charset="0"/>
        <a:ea typeface="宋体" charset="-122"/>
        <a:cs typeface="+mn-cs"/>
      </a:defRPr>
    </a:lvl1pPr>
    <a:lvl2pPr marL="457200" algn="ctr" rtl="0" eaLnBrk="0" fontAlgn="base" hangingPunct="0">
      <a:spcBef>
        <a:spcPct val="0"/>
      </a:spcBef>
      <a:spcAft>
        <a:spcPct val="0"/>
      </a:spcAft>
      <a:defRPr sz="2800" b="1" kern="1200">
        <a:solidFill>
          <a:schemeClr val="tx1"/>
        </a:solidFill>
        <a:latin typeface="Times New Roman" pitchFamily="18" charset="0"/>
        <a:ea typeface="宋体" charset="-122"/>
        <a:cs typeface="+mn-cs"/>
      </a:defRPr>
    </a:lvl2pPr>
    <a:lvl3pPr marL="914400" algn="ctr" rtl="0" eaLnBrk="0" fontAlgn="base" hangingPunct="0">
      <a:spcBef>
        <a:spcPct val="0"/>
      </a:spcBef>
      <a:spcAft>
        <a:spcPct val="0"/>
      </a:spcAft>
      <a:defRPr sz="2800" b="1" kern="1200">
        <a:solidFill>
          <a:schemeClr val="tx1"/>
        </a:solidFill>
        <a:latin typeface="Times New Roman" pitchFamily="18" charset="0"/>
        <a:ea typeface="宋体" charset="-122"/>
        <a:cs typeface="+mn-cs"/>
      </a:defRPr>
    </a:lvl3pPr>
    <a:lvl4pPr marL="1371600" algn="ctr" rtl="0" eaLnBrk="0" fontAlgn="base" hangingPunct="0">
      <a:spcBef>
        <a:spcPct val="0"/>
      </a:spcBef>
      <a:spcAft>
        <a:spcPct val="0"/>
      </a:spcAft>
      <a:defRPr sz="2800" b="1" kern="1200">
        <a:solidFill>
          <a:schemeClr val="tx1"/>
        </a:solidFill>
        <a:latin typeface="Times New Roman" pitchFamily="18" charset="0"/>
        <a:ea typeface="宋体" charset="-122"/>
        <a:cs typeface="+mn-cs"/>
      </a:defRPr>
    </a:lvl4pPr>
    <a:lvl5pPr marL="1828800" algn="ctr" rtl="0" eaLnBrk="0" fontAlgn="base" hangingPunct="0">
      <a:spcBef>
        <a:spcPct val="0"/>
      </a:spcBef>
      <a:spcAft>
        <a:spcPct val="0"/>
      </a:spcAft>
      <a:defRPr sz="2800" b="1" kern="1200">
        <a:solidFill>
          <a:schemeClr val="tx1"/>
        </a:solidFill>
        <a:latin typeface="Times New Roman" pitchFamily="18" charset="0"/>
        <a:ea typeface="宋体" charset="-122"/>
        <a:cs typeface="+mn-cs"/>
      </a:defRPr>
    </a:lvl5pPr>
    <a:lvl6pPr marL="2286000" algn="l" defTabSz="914400" rtl="0" eaLnBrk="1" latinLnBrk="0" hangingPunct="1">
      <a:defRPr sz="2800" b="1" kern="1200">
        <a:solidFill>
          <a:schemeClr val="tx1"/>
        </a:solidFill>
        <a:latin typeface="Times New Roman" pitchFamily="18" charset="0"/>
        <a:ea typeface="宋体" charset="-122"/>
        <a:cs typeface="+mn-cs"/>
      </a:defRPr>
    </a:lvl6pPr>
    <a:lvl7pPr marL="2743200" algn="l" defTabSz="914400" rtl="0" eaLnBrk="1" latinLnBrk="0" hangingPunct="1">
      <a:defRPr sz="2800" b="1" kern="1200">
        <a:solidFill>
          <a:schemeClr val="tx1"/>
        </a:solidFill>
        <a:latin typeface="Times New Roman" pitchFamily="18" charset="0"/>
        <a:ea typeface="宋体" charset="-122"/>
        <a:cs typeface="+mn-cs"/>
      </a:defRPr>
    </a:lvl7pPr>
    <a:lvl8pPr marL="3200400" algn="l" defTabSz="914400" rtl="0" eaLnBrk="1" latinLnBrk="0" hangingPunct="1">
      <a:defRPr sz="2800" b="1" kern="1200">
        <a:solidFill>
          <a:schemeClr val="tx1"/>
        </a:solidFill>
        <a:latin typeface="Times New Roman" pitchFamily="18" charset="0"/>
        <a:ea typeface="宋体" charset="-122"/>
        <a:cs typeface="+mn-cs"/>
      </a:defRPr>
    </a:lvl8pPr>
    <a:lvl9pPr marL="3657600" algn="l" defTabSz="914400" rtl="0" eaLnBrk="1" latinLnBrk="0" hangingPunct="1">
      <a:defRPr sz="2800" b="1" kern="1200">
        <a:solidFill>
          <a:schemeClr val="tx1"/>
        </a:solidFill>
        <a:latin typeface="Times New Roman" pitchFamily="18" charset="0"/>
        <a:ea typeface="宋体"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0000FF"/>
    <a:srgbClr val="FF3300"/>
    <a:srgbClr val="336600"/>
    <a:srgbClr val="FFFFFF"/>
    <a:srgbClr val="3333CC"/>
    <a:srgbClr val="A50021"/>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320" autoAdjust="0"/>
  </p:normalViewPr>
  <p:slideViewPr>
    <p:cSldViewPr>
      <p:cViewPr varScale="1">
        <p:scale>
          <a:sx n="87" d="100"/>
          <a:sy n="87" d="100"/>
        </p:scale>
        <p:origin x="1330" y="7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25032"/>
    </p:cViewPr>
  </p:sorterViewPr>
  <p:notesViewPr>
    <p:cSldViewPr>
      <p:cViewPr varScale="1">
        <p:scale>
          <a:sx n="59" d="100"/>
          <a:sy n="59" d="100"/>
        </p:scale>
        <p:origin x="-1170" y="-7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viewProps" Target="view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notesMaster" Target="notesMasters/notesMaster1.xml"/><Relationship Id="rId119"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handoutMaster" Target="handoutMasters/handout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616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kumimoji="1" sz="1200" b="0">
                <a:ea typeface="宋体" pitchFamily="2" charset="-122"/>
              </a:defRPr>
            </a:lvl1pPr>
          </a:lstStyle>
          <a:p>
            <a:pPr>
              <a:defRPr/>
            </a:pPr>
            <a:endParaRPr lang="en-US" altLang="zh-CN"/>
          </a:p>
        </p:txBody>
      </p:sp>
      <p:sp>
        <p:nvSpPr>
          <p:cNvPr id="476163"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kumimoji="1" sz="1200" b="0">
                <a:ea typeface="宋体" pitchFamily="2" charset="-122"/>
              </a:defRPr>
            </a:lvl1pPr>
          </a:lstStyle>
          <a:p>
            <a:pPr>
              <a:defRPr/>
            </a:pPr>
            <a:endParaRPr lang="en-US" altLang="zh-CN"/>
          </a:p>
        </p:txBody>
      </p:sp>
      <p:sp>
        <p:nvSpPr>
          <p:cNvPr id="476164"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kumimoji="1" sz="1200" b="0">
                <a:ea typeface="宋体" pitchFamily="2" charset="-122"/>
              </a:defRPr>
            </a:lvl1pPr>
          </a:lstStyle>
          <a:p>
            <a:pPr>
              <a:defRPr/>
            </a:pPr>
            <a:endParaRPr lang="en-US" altLang="zh-CN"/>
          </a:p>
        </p:txBody>
      </p:sp>
      <p:sp>
        <p:nvSpPr>
          <p:cNvPr id="476165"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kumimoji="1" sz="1200" b="0">
                <a:ea typeface="宋体" pitchFamily="2" charset="-122"/>
              </a:defRPr>
            </a:lvl1pPr>
          </a:lstStyle>
          <a:p>
            <a:pPr>
              <a:defRPr/>
            </a:pPr>
            <a:fld id="{6D0CCF98-14A0-4A2F-8D7C-8C639795E4CA}" type="slidenum">
              <a:rPr lang="en-US" altLang="zh-CN"/>
              <a:pPr>
                <a:defRPr/>
              </a:pPr>
              <a:t>‹#›</a:t>
            </a:fld>
            <a:endParaRPr lang="en-US" altLang="zh-CN"/>
          </a:p>
        </p:txBody>
      </p:sp>
    </p:spTree>
    <p:extLst>
      <p:ext uri="{BB962C8B-B14F-4D97-AF65-F5344CB8AC3E}">
        <p14:creationId xmlns:p14="http://schemas.microsoft.com/office/powerpoint/2010/main" val="388855973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7330" name="Rectangle 1026"/>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2075" tIns="46038" rIns="92075" bIns="46038" numCol="1" anchor="t" anchorCtr="0" compatLnSpc="1">
            <a:prstTxWarp prst="textNoShape">
              <a:avLst/>
            </a:prstTxWarp>
          </a:bodyPr>
          <a:lstStyle>
            <a:lvl1pPr algn="l" eaLnBrk="1" hangingPunct="1">
              <a:spcBef>
                <a:spcPct val="20000"/>
              </a:spcBef>
              <a:buClr>
                <a:schemeClr val="hlink"/>
              </a:buClr>
              <a:buSzPct val="50000"/>
              <a:buFont typeface="Monotype Sorts" pitchFamily="2" charset="2"/>
              <a:buChar char="n"/>
              <a:defRPr kumimoji="1" sz="1200">
                <a:solidFill>
                  <a:srgbClr val="0000FF"/>
                </a:solidFill>
                <a:effectLst>
                  <a:outerShdw blurRad="38100" dist="38100" dir="2700000" algn="tl">
                    <a:srgbClr val="C0C0C0"/>
                  </a:outerShdw>
                </a:effectLst>
                <a:latin typeface="Arial" charset="0"/>
                <a:ea typeface="楷体_GB2312" pitchFamily="49" charset="-122"/>
              </a:defRPr>
            </a:lvl1pPr>
          </a:lstStyle>
          <a:p>
            <a:pPr>
              <a:defRPr/>
            </a:pPr>
            <a:endParaRPr lang="en-US" altLang="zh-CN"/>
          </a:p>
        </p:txBody>
      </p:sp>
      <p:sp>
        <p:nvSpPr>
          <p:cNvPr id="227331" name="Rectangle 1027"/>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2075" tIns="46038" rIns="92075" bIns="46038" numCol="1" anchor="t" anchorCtr="0" compatLnSpc="1">
            <a:prstTxWarp prst="textNoShape">
              <a:avLst/>
            </a:prstTxWarp>
          </a:bodyPr>
          <a:lstStyle>
            <a:lvl1pPr algn="r" eaLnBrk="1" hangingPunct="1">
              <a:spcBef>
                <a:spcPct val="20000"/>
              </a:spcBef>
              <a:buClr>
                <a:schemeClr val="hlink"/>
              </a:buClr>
              <a:buSzPct val="50000"/>
              <a:buFont typeface="Monotype Sorts" pitchFamily="2" charset="2"/>
              <a:buChar char="n"/>
              <a:defRPr kumimoji="1" sz="1200">
                <a:solidFill>
                  <a:srgbClr val="0000FF"/>
                </a:solidFill>
                <a:effectLst>
                  <a:outerShdw blurRad="38100" dist="38100" dir="2700000" algn="tl">
                    <a:srgbClr val="C0C0C0"/>
                  </a:outerShdw>
                </a:effectLst>
                <a:latin typeface="Arial" charset="0"/>
                <a:ea typeface="楷体_GB2312" pitchFamily="49" charset="-122"/>
              </a:defRPr>
            </a:lvl1pPr>
          </a:lstStyle>
          <a:p>
            <a:pPr>
              <a:defRPr/>
            </a:pPr>
            <a:endParaRPr lang="en-US" altLang="zh-CN"/>
          </a:p>
        </p:txBody>
      </p:sp>
      <p:sp>
        <p:nvSpPr>
          <p:cNvPr id="105476" name="Rectangle 1028"/>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227333" name="Rectangle 1029"/>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2075" tIns="46038" rIns="92075" bIns="46038"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27334" name="Rectangle 1030"/>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2075" tIns="46038" rIns="92075" bIns="46038" numCol="1" anchor="b" anchorCtr="0" compatLnSpc="1">
            <a:prstTxWarp prst="textNoShape">
              <a:avLst/>
            </a:prstTxWarp>
          </a:bodyPr>
          <a:lstStyle>
            <a:lvl1pPr algn="l" eaLnBrk="1" hangingPunct="1">
              <a:spcBef>
                <a:spcPct val="20000"/>
              </a:spcBef>
              <a:buClr>
                <a:schemeClr val="hlink"/>
              </a:buClr>
              <a:buSzPct val="50000"/>
              <a:buFont typeface="Monotype Sorts" pitchFamily="2" charset="2"/>
              <a:buChar char="n"/>
              <a:defRPr kumimoji="1" sz="1200">
                <a:solidFill>
                  <a:srgbClr val="0000FF"/>
                </a:solidFill>
                <a:effectLst>
                  <a:outerShdw blurRad="38100" dist="38100" dir="2700000" algn="tl">
                    <a:srgbClr val="C0C0C0"/>
                  </a:outerShdw>
                </a:effectLst>
                <a:latin typeface="Arial" charset="0"/>
                <a:ea typeface="楷体_GB2312" pitchFamily="49" charset="-122"/>
              </a:defRPr>
            </a:lvl1pPr>
          </a:lstStyle>
          <a:p>
            <a:pPr>
              <a:defRPr/>
            </a:pPr>
            <a:endParaRPr lang="en-US" altLang="zh-CN"/>
          </a:p>
        </p:txBody>
      </p:sp>
      <p:sp>
        <p:nvSpPr>
          <p:cNvPr id="227335" name="Rectangle 1031"/>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2075" tIns="46038" rIns="92075" bIns="46038" numCol="1" anchor="b" anchorCtr="0" compatLnSpc="1">
            <a:prstTxWarp prst="textNoShape">
              <a:avLst/>
            </a:prstTxWarp>
          </a:bodyPr>
          <a:lstStyle>
            <a:lvl1pPr algn="r" eaLnBrk="1" hangingPunct="1">
              <a:spcBef>
                <a:spcPct val="20000"/>
              </a:spcBef>
              <a:buClr>
                <a:schemeClr val="hlink"/>
              </a:buClr>
              <a:buSzPct val="50000"/>
              <a:buFont typeface="Monotype Sorts" pitchFamily="2" charset="2"/>
              <a:buChar char="n"/>
              <a:defRPr kumimoji="1" sz="1200">
                <a:solidFill>
                  <a:srgbClr val="0000FF"/>
                </a:solidFill>
                <a:effectLst>
                  <a:outerShdw blurRad="38100" dist="38100" dir="2700000" algn="tl">
                    <a:srgbClr val="C0C0C0"/>
                  </a:outerShdw>
                </a:effectLst>
                <a:latin typeface="Arial" charset="0"/>
                <a:ea typeface="楷体_GB2312" pitchFamily="49" charset="-122"/>
              </a:defRPr>
            </a:lvl1pPr>
          </a:lstStyle>
          <a:p>
            <a:pPr>
              <a:defRPr/>
            </a:pPr>
            <a:fld id="{5C063403-CBDD-42F0-85BA-F7B26E41C5A9}" type="slidenum">
              <a:rPr lang="en-US" altLang="zh-CN"/>
              <a:pPr>
                <a:defRPr/>
              </a:pPr>
              <a:t>‹#›</a:t>
            </a:fld>
            <a:endParaRPr lang="en-US" altLang="zh-CN"/>
          </a:p>
        </p:txBody>
      </p:sp>
    </p:spTree>
    <p:extLst>
      <p:ext uri="{BB962C8B-B14F-4D97-AF65-F5344CB8AC3E}">
        <p14:creationId xmlns:p14="http://schemas.microsoft.com/office/powerpoint/2010/main" val="61739519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缺陷：一个合数可能被多次筛掉，比如</a:t>
            </a:r>
            <a:r>
              <a:rPr lang="en-US" altLang="zh-CN" dirty="0" smtClean="0"/>
              <a:t>30=2*3*5</a:t>
            </a:r>
            <a:r>
              <a:rPr lang="zh-CN" altLang="en-US" dirty="0" smtClean="0"/>
              <a:t>。</a:t>
            </a:r>
            <a:endParaRPr lang="en-US" altLang="zh-CN" dirty="0" smtClean="0"/>
          </a:p>
          <a:p>
            <a:r>
              <a:rPr lang="zh-CN" altLang="en-US" dirty="0" smtClean="0"/>
              <a:t>欧拉筛：每个合数只被最小质因子筛选一次。需要一个额外的数组记录已经发现的素数。</a:t>
            </a:r>
            <a:endParaRPr lang="zh-CN" altLang="en-US" dirty="0"/>
          </a:p>
        </p:txBody>
      </p:sp>
      <p:sp>
        <p:nvSpPr>
          <p:cNvPr id="4" name="灯片编号占位符 3"/>
          <p:cNvSpPr>
            <a:spLocks noGrp="1"/>
          </p:cNvSpPr>
          <p:nvPr>
            <p:ph type="sldNum" sz="quarter" idx="10"/>
          </p:nvPr>
        </p:nvSpPr>
        <p:spPr/>
        <p:txBody>
          <a:bodyPr/>
          <a:lstStyle/>
          <a:p>
            <a:pPr>
              <a:defRPr/>
            </a:pPr>
            <a:fld id="{5C063403-CBDD-42F0-85BA-F7B26E41C5A9}" type="slidenum">
              <a:rPr lang="en-US" altLang="zh-CN" smtClean="0"/>
              <a:pPr>
                <a:defRPr/>
              </a:pPr>
              <a:t>34</a:t>
            </a:fld>
            <a:endParaRPr lang="en-US" altLang="zh-CN"/>
          </a:p>
        </p:txBody>
      </p:sp>
    </p:spTree>
    <p:extLst>
      <p:ext uri="{BB962C8B-B14F-4D97-AF65-F5344CB8AC3E}">
        <p14:creationId xmlns:p14="http://schemas.microsoft.com/office/powerpoint/2010/main" val="10050255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#include &lt;</a:t>
            </a:r>
            <a:r>
              <a:rPr lang="en-US" altLang="zh-CN" dirty="0" err="1"/>
              <a:t>stdio.h</a:t>
            </a:r>
            <a:r>
              <a:rPr lang="en-US" altLang="zh-CN" dirty="0"/>
              <a:t>&gt;</a:t>
            </a:r>
          </a:p>
          <a:p>
            <a:r>
              <a:rPr lang="en-US" altLang="zh-CN" dirty="0"/>
              <a:t>#define MAX 100</a:t>
            </a:r>
          </a:p>
          <a:p>
            <a:endParaRPr lang="en-US" altLang="zh-CN" dirty="0"/>
          </a:p>
          <a:p>
            <a:r>
              <a:rPr lang="en-US" altLang="zh-CN" dirty="0"/>
              <a:t>int main() {</a:t>
            </a:r>
          </a:p>
          <a:p>
            <a:r>
              <a:rPr lang="en-US" altLang="zh-CN" dirty="0"/>
              <a:t>    int </a:t>
            </a:r>
            <a:r>
              <a:rPr lang="en-US" altLang="zh-CN" dirty="0" err="1"/>
              <a:t>arr</a:t>
            </a:r>
            <a:r>
              <a:rPr lang="en-US" altLang="zh-CN" dirty="0"/>
              <a:t>[] = {0, 1, 5, 4, 2, 2, 8, 3, 3, 1, 10, 100, 85, 32, 23, 77, 0};</a:t>
            </a:r>
          </a:p>
          <a:p>
            <a:r>
              <a:rPr lang="en-US" altLang="zh-CN" dirty="0"/>
              <a:t>    int n = </a:t>
            </a:r>
            <a:r>
              <a:rPr lang="en-US" altLang="zh-CN" dirty="0" err="1"/>
              <a:t>sizeof</a:t>
            </a:r>
            <a:r>
              <a:rPr lang="en-US" altLang="zh-CN" dirty="0"/>
              <a:t>(</a:t>
            </a:r>
            <a:r>
              <a:rPr lang="en-US" altLang="zh-CN" dirty="0" err="1"/>
              <a:t>arr</a:t>
            </a:r>
            <a:r>
              <a:rPr lang="en-US" altLang="zh-CN" dirty="0"/>
              <a:t>) / </a:t>
            </a:r>
            <a:r>
              <a:rPr lang="en-US" altLang="zh-CN" dirty="0" err="1"/>
              <a:t>sizeof</a:t>
            </a:r>
            <a:r>
              <a:rPr lang="en-US" altLang="zh-CN" dirty="0"/>
              <a:t>(</a:t>
            </a:r>
            <a:r>
              <a:rPr lang="en-US" altLang="zh-CN" dirty="0" err="1"/>
              <a:t>arr</a:t>
            </a:r>
            <a:r>
              <a:rPr lang="en-US" altLang="zh-CN" dirty="0"/>
              <a:t>[0]);</a:t>
            </a:r>
          </a:p>
          <a:p>
            <a:r>
              <a:rPr lang="en-US" altLang="zh-CN" dirty="0"/>
              <a:t>    for (int </a:t>
            </a:r>
            <a:r>
              <a:rPr lang="en-US" altLang="zh-CN" dirty="0" err="1"/>
              <a:t>i</a:t>
            </a:r>
            <a:r>
              <a:rPr lang="en-US" altLang="zh-CN" dirty="0"/>
              <a:t> = 0; </a:t>
            </a:r>
            <a:r>
              <a:rPr lang="en-US" altLang="zh-CN" dirty="0" err="1"/>
              <a:t>i</a:t>
            </a:r>
            <a:r>
              <a:rPr lang="en-US" altLang="zh-CN" dirty="0"/>
              <a:t> &lt; n; </a:t>
            </a:r>
            <a:r>
              <a:rPr lang="en-US" altLang="zh-CN" dirty="0" err="1"/>
              <a:t>i</a:t>
            </a:r>
            <a:r>
              <a:rPr lang="en-US" altLang="zh-CN" dirty="0"/>
              <a:t>++) {</a:t>
            </a:r>
          </a:p>
          <a:p>
            <a:r>
              <a:rPr lang="en-US" altLang="zh-CN" dirty="0"/>
              <a:t>        </a:t>
            </a:r>
            <a:r>
              <a:rPr lang="en-US" altLang="zh-CN" dirty="0" err="1"/>
              <a:t>printf</a:t>
            </a:r>
            <a:r>
              <a:rPr lang="en-US" altLang="zh-CN" dirty="0"/>
              <a:t>("%d ", </a:t>
            </a:r>
            <a:r>
              <a:rPr lang="en-US" altLang="zh-CN" dirty="0" err="1"/>
              <a:t>arr</a:t>
            </a:r>
            <a:r>
              <a:rPr lang="en-US" altLang="zh-CN" dirty="0"/>
              <a:t>[</a:t>
            </a:r>
            <a:r>
              <a:rPr lang="en-US" altLang="zh-CN" dirty="0" err="1"/>
              <a:t>i</a:t>
            </a:r>
            <a:r>
              <a:rPr lang="en-US" altLang="zh-CN" dirty="0"/>
              <a:t>]);</a:t>
            </a:r>
          </a:p>
          <a:p>
            <a:r>
              <a:rPr lang="en-US" altLang="zh-CN" dirty="0"/>
              <a:t>    }</a:t>
            </a:r>
          </a:p>
          <a:p>
            <a:r>
              <a:rPr lang="en-US" altLang="zh-CN" dirty="0"/>
              <a:t>    </a:t>
            </a:r>
            <a:r>
              <a:rPr lang="en-US" altLang="zh-CN" dirty="0" err="1"/>
              <a:t>printf</a:t>
            </a:r>
            <a:r>
              <a:rPr lang="en-US" altLang="zh-CN" dirty="0"/>
              <a:t>("\n");</a:t>
            </a:r>
          </a:p>
          <a:p>
            <a:endParaRPr lang="en-US" altLang="zh-CN" dirty="0"/>
          </a:p>
          <a:p>
            <a:r>
              <a:rPr lang="en-US" altLang="zh-CN" dirty="0"/>
              <a:t>    int count[MAX + 1] = {0};</a:t>
            </a:r>
          </a:p>
          <a:p>
            <a:r>
              <a:rPr lang="en-US" altLang="zh-CN" dirty="0"/>
              <a:t>      // Count the occurrences of each element  </a:t>
            </a:r>
          </a:p>
          <a:p>
            <a:r>
              <a:rPr lang="en-US" altLang="zh-CN" dirty="0"/>
              <a:t>    for (int </a:t>
            </a:r>
            <a:r>
              <a:rPr lang="en-US" altLang="zh-CN" dirty="0" err="1"/>
              <a:t>i</a:t>
            </a:r>
            <a:r>
              <a:rPr lang="en-US" altLang="zh-CN" dirty="0"/>
              <a:t> = 0; </a:t>
            </a:r>
            <a:r>
              <a:rPr lang="en-US" altLang="zh-CN" dirty="0" err="1"/>
              <a:t>i</a:t>
            </a:r>
            <a:r>
              <a:rPr lang="en-US" altLang="zh-CN" dirty="0"/>
              <a:t> &lt; n; </a:t>
            </a:r>
            <a:r>
              <a:rPr lang="en-US" altLang="zh-CN" dirty="0" err="1"/>
              <a:t>i</a:t>
            </a:r>
            <a:r>
              <a:rPr lang="en-US" altLang="zh-CN" dirty="0"/>
              <a:t>++) {  </a:t>
            </a:r>
          </a:p>
          <a:p>
            <a:r>
              <a:rPr lang="en-US" altLang="zh-CN" dirty="0"/>
              <a:t>        count[</a:t>
            </a:r>
            <a:r>
              <a:rPr lang="en-US" altLang="zh-CN" dirty="0" err="1"/>
              <a:t>arr</a:t>
            </a:r>
            <a:r>
              <a:rPr lang="en-US" altLang="zh-CN" dirty="0"/>
              <a:t>[</a:t>
            </a:r>
            <a:r>
              <a:rPr lang="en-US" altLang="zh-CN" dirty="0" err="1"/>
              <a:t>i</a:t>
            </a:r>
            <a:r>
              <a:rPr lang="en-US" altLang="zh-CN" dirty="0"/>
              <a:t>]]++;  </a:t>
            </a:r>
          </a:p>
          <a:p>
            <a:r>
              <a:rPr lang="en-US" altLang="zh-CN" dirty="0"/>
              <a:t>    }  </a:t>
            </a:r>
          </a:p>
          <a:p>
            <a:r>
              <a:rPr lang="en-US" altLang="zh-CN" dirty="0"/>
              <a:t>    // Sort the elements  </a:t>
            </a:r>
          </a:p>
          <a:p>
            <a:r>
              <a:rPr lang="en-US" altLang="zh-CN" dirty="0"/>
              <a:t>    for (int </a:t>
            </a:r>
            <a:r>
              <a:rPr lang="en-US" altLang="zh-CN" dirty="0" err="1"/>
              <a:t>i</a:t>
            </a:r>
            <a:r>
              <a:rPr lang="en-US" altLang="zh-CN" dirty="0"/>
              <a:t> = 0, j = 0; </a:t>
            </a:r>
            <a:r>
              <a:rPr lang="en-US" altLang="zh-CN" dirty="0" err="1"/>
              <a:t>i</a:t>
            </a:r>
            <a:r>
              <a:rPr lang="en-US" altLang="zh-CN" dirty="0"/>
              <a:t> &lt;= MAX; </a:t>
            </a:r>
            <a:r>
              <a:rPr lang="en-US" altLang="zh-CN" dirty="0" err="1"/>
              <a:t>i</a:t>
            </a:r>
            <a:r>
              <a:rPr lang="en-US" altLang="zh-CN" dirty="0"/>
              <a:t>++) {  </a:t>
            </a:r>
          </a:p>
          <a:p>
            <a:r>
              <a:rPr lang="en-US" altLang="zh-CN" dirty="0"/>
              <a:t>        while (count[</a:t>
            </a:r>
            <a:r>
              <a:rPr lang="en-US" altLang="zh-CN" dirty="0" err="1"/>
              <a:t>i</a:t>
            </a:r>
            <a:r>
              <a:rPr lang="en-US" altLang="zh-CN" dirty="0"/>
              <a:t>]) {</a:t>
            </a:r>
          </a:p>
          <a:p>
            <a:r>
              <a:rPr lang="en-US" altLang="zh-CN" dirty="0"/>
              <a:t>          </a:t>
            </a:r>
            <a:r>
              <a:rPr lang="en-US" altLang="zh-CN" dirty="0" err="1"/>
              <a:t>arr</a:t>
            </a:r>
            <a:r>
              <a:rPr lang="en-US" altLang="zh-CN" dirty="0"/>
              <a:t>[</a:t>
            </a:r>
            <a:r>
              <a:rPr lang="en-US" altLang="zh-CN" dirty="0" err="1"/>
              <a:t>j++</a:t>
            </a:r>
            <a:r>
              <a:rPr lang="en-US" altLang="zh-CN" dirty="0"/>
              <a:t>] = </a:t>
            </a:r>
            <a:r>
              <a:rPr lang="en-US" altLang="zh-CN" dirty="0" err="1"/>
              <a:t>i</a:t>
            </a:r>
            <a:r>
              <a:rPr lang="en-US" altLang="zh-CN" dirty="0"/>
              <a:t>; </a:t>
            </a:r>
          </a:p>
          <a:p>
            <a:r>
              <a:rPr lang="en-US" altLang="zh-CN" dirty="0"/>
              <a:t>          count[</a:t>
            </a:r>
            <a:r>
              <a:rPr lang="en-US" altLang="zh-CN" dirty="0" err="1"/>
              <a:t>i</a:t>
            </a:r>
            <a:r>
              <a:rPr lang="en-US" altLang="zh-CN" dirty="0"/>
              <a:t>]--;</a:t>
            </a:r>
          </a:p>
          <a:p>
            <a:r>
              <a:rPr lang="en-US" altLang="zh-CN" dirty="0"/>
              <a:t>       }</a:t>
            </a:r>
          </a:p>
          <a:p>
            <a:r>
              <a:rPr lang="en-US" altLang="zh-CN" dirty="0"/>
              <a:t>    }  </a:t>
            </a:r>
          </a:p>
          <a:p>
            <a:endParaRPr lang="en-US" altLang="zh-CN" dirty="0"/>
          </a:p>
          <a:p>
            <a:r>
              <a:rPr lang="en-US" altLang="zh-CN" dirty="0"/>
              <a:t>    for (int </a:t>
            </a:r>
            <a:r>
              <a:rPr lang="en-US" altLang="zh-CN" dirty="0" err="1"/>
              <a:t>i</a:t>
            </a:r>
            <a:r>
              <a:rPr lang="en-US" altLang="zh-CN" dirty="0"/>
              <a:t> = 0; </a:t>
            </a:r>
            <a:r>
              <a:rPr lang="en-US" altLang="zh-CN" dirty="0" err="1"/>
              <a:t>i</a:t>
            </a:r>
            <a:r>
              <a:rPr lang="en-US" altLang="zh-CN" dirty="0"/>
              <a:t> &lt; n; </a:t>
            </a:r>
            <a:r>
              <a:rPr lang="en-US" altLang="zh-CN" dirty="0" err="1"/>
              <a:t>i</a:t>
            </a:r>
            <a:r>
              <a:rPr lang="en-US" altLang="zh-CN" dirty="0"/>
              <a:t>++) {</a:t>
            </a:r>
          </a:p>
          <a:p>
            <a:r>
              <a:rPr lang="en-US" altLang="zh-CN" dirty="0"/>
              <a:t>        </a:t>
            </a:r>
            <a:r>
              <a:rPr lang="en-US" altLang="zh-CN" dirty="0" err="1"/>
              <a:t>printf</a:t>
            </a:r>
            <a:r>
              <a:rPr lang="en-US" altLang="zh-CN" dirty="0"/>
              <a:t>("%d ", </a:t>
            </a:r>
            <a:r>
              <a:rPr lang="en-US" altLang="zh-CN" dirty="0" err="1"/>
              <a:t>arr</a:t>
            </a:r>
            <a:r>
              <a:rPr lang="en-US" altLang="zh-CN" dirty="0"/>
              <a:t>[</a:t>
            </a:r>
            <a:r>
              <a:rPr lang="en-US" altLang="zh-CN" dirty="0" err="1"/>
              <a:t>i</a:t>
            </a:r>
            <a:r>
              <a:rPr lang="en-US" altLang="zh-CN" dirty="0"/>
              <a:t>]);</a:t>
            </a:r>
          </a:p>
          <a:p>
            <a:r>
              <a:rPr lang="en-US" altLang="zh-CN" dirty="0"/>
              <a:t>    }</a:t>
            </a:r>
          </a:p>
          <a:p>
            <a:r>
              <a:rPr lang="en-US" altLang="zh-CN" dirty="0"/>
              <a:t>    </a:t>
            </a:r>
            <a:r>
              <a:rPr lang="en-US" altLang="zh-CN" dirty="0" err="1"/>
              <a:t>printf</a:t>
            </a:r>
            <a:r>
              <a:rPr lang="en-US" altLang="zh-CN" dirty="0"/>
              <a:t>("\n");</a:t>
            </a:r>
          </a:p>
          <a:p>
            <a:endParaRPr lang="en-US" altLang="zh-CN" dirty="0"/>
          </a:p>
          <a:p>
            <a:r>
              <a:rPr lang="en-US" altLang="zh-CN" dirty="0"/>
              <a:t>    return 0;</a:t>
            </a:r>
          </a:p>
          <a:p>
            <a:r>
              <a:rPr lang="en-US" altLang="zh-CN" dirty="0"/>
              <a:t>}</a:t>
            </a:r>
            <a:endParaRPr lang="zh-CN" altLang="en-US" dirty="0"/>
          </a:p>
        </p:txBody>
      </p:sp>
      <p:sp>
        <p:nvSpPr>
          <p:cNvPr id="4" name="灯片编号占位符 3"/>
          <p:cNvSpPr>
            <a:spLocks noGrp="1"/>
          </p:cNvSpPr>
          <p:nvPr>
            <p:ph type="sldNum" sz="quarter" idx="5"/>
          </p:nvPr>
        </p:nvSpPr>
        <p:spPr/>
        <p:txBody>
          <a:bodyPr/>
          <a:lstStyle/>
          <a:p>
            <a:pPr>
              <a:defRPr/>
            </a:pPr>
            <a:fld id="{5C063403-CBDD-42F0-85BA-F7B26E41C5A9}" type="slidenum">
              <a:rPr lang="en-US" altLang="zh-CN" smtClean="0"/>
              <a:pPr>
                <a:defRPr/>
              </a:pPr>
              <a:t>55</a:t>
            </a:fld>
            <a:endParaRPr lang="en-US" altLang="zh-CN"/>
          </a:p>
        </p:txBody>
      </p:sp>
    </p:spTree>
    <p:extLst>
      <p:ext uri="{BB962C8B-B14F-4D97-AF65-F5344CB8AC3E}">
        <p14:creationId xmlns:p14="http://schemas.microsoft.com/office/powerpoint/2010/main" val="29008983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#include "</a:t>
            </a:r>
            <a:r>
              <a:rPr lang="en-US" altLang="zh-CN" dirty="0" err="1"/>
              <a:t>stdio.h</a:t>
            </a:r>
            <a:r>
              <a:rPr lang="en-US" altLang="zh-CN" dirty="0"/>
              <a:t>"</a:t>
            </a:r>
          </a:p>
          <a:p>
            <a:r>
              <a:rPr lang="en-US" altLang="zh-CN" dirty="0"/>
              <a:t>int main()</a:t>
            </a:r>
          </a:p>
          <a:p>
            <a:r>
              <a:rPr lang="en-US" altLang="zh-CN" dirty="0"/>
              <a:t>{</a:t>
            </a:r>
          </a:p>
          <a:p>
            <a:endParaRPr lang="en-US" altLang="zh-CN" dirty="0"/>
          </a:p>
          <a:p>
            <a:r>
              <a:rPr lang="en-US" altLang="zh-CN" dirty="0"/>
              <a:t>    char str[50] = "Pas\0cal Cobol Fortran C";</a:t>
            </a:r>
          </a:p>
          <a:p>
            <a:r>
              <a:rPr lang="en-US" altLang="zh-CN" dirty="0"/>
              <a:t>    </a:t>
            </a:r>
            <a:r>
              <a:rPr lang="en-US" altLang="zh-CN" dirty="0" err="1"/>
              <a:t>printf</a:t>
            </a:r>
            <a:r>
              <a:rPr lang="en-US" altLang="zh-CN" dirty="0"/>
              <a:t> ( "%s\n", str );</a:t>
            </a:r>
          </a:p>
          <a:p>
            <a:r>
              <a:rPr lang="en-US" altLang="zh-CN" dirty="0"/>
              <a:t>    </a:t>
            </a:r>
            <a:r>
              <a:rPr lang="en-US" altLang="zh-CN" dirty="0" err="1"/>
              <a:t>printf</a:t>
            </a:r>
            <a:r>
              <a:rPr lang="en-US" altLang="zh-CN" dirty="0"/>
              <a:t> ( "%s\n", &amp;str[4] );</a:t>
            </a:r>
          </a:p>
          <a:p>
            <a:r>
              <a:rPr lang="en-US" altLang="zh-CN" dirty="0"/>
              <a:t>    </a:t>
            </a:r>
          </a:p>
          <a:p>
            <a:r>
              <a:rPr lang="en-US" altLang="zh-CN" dirty="0"/>
              <a:t> return 0;</a:t>
            </a:r>
          </a:p>
          <a:p>
            <a:r>
              <a:rPr lang="en-US" altLang="zh-CN" dirty="0"/>
              <a:t>}</a:t>
            </a:r>
            <a:endParaRPr lang="zh-CN" altLang="en-US" dirty="0"/>
          </a:p>
        </p:txBody>
      </p:sp>
      <p:sp>
        <p:nvSpPr>
          <p:cNvPr id="4" name="灯片编号占位符 3"/>
          <p:cNvSpPr>
            <a:spLocks noGrp="1"/>
          </p:cNvSpPr>
          <p:nvPr>
            <p:ph type="sldNum" sz="quarter" idx="5"/>
          </p:nvPr>
        </p:nvSpPr>
        <p:spPr/>
        <p:txBody>
          <a:bodyPr/>
          <a:lstStyle/>
          <a:p>
            <a:pPr>
              <a:defRPr/>
            </a:pPr>
            <a:fld id="{5C063403-CBDD-42F0-85BA-F7B26E41C5A9}" type="slidenum">
              <a:rPr lang="en-US" altLang="zh-CN" smtClean="0"/>
              <a:pPr>
                <a:defRPr/>
              </a:pPr>
              <a:t>93</a:t>
            </a:fld>
            <a:endParaRPr lang="en-US" altLang="zh-CN"/>
          </a:p>
        </p:txBody>
      </p:sp>
    </p:spTree>
    <p:extLst>
      <p:ext uri="{BB962C8B-B14F-4D97-AF65-F5344CB8AC3E}">
        <p14:creationId xmlns:p14="http://schemas.microsoft.com/office/powerpoint/2010/main" val="30229664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幻灯片图像占位符 1"/>
          <p:cNvSpPr>
            <a:spLocks noGrp="1" noRot="1" noChangeAspect="1" noTextEdit="1"/>
          </p:cNvSpPr>
          <p:nvPr>
            <p:ph type="sldImg"/>
          </p:nvPr>
        </p:nvSpPr>
        <p:spPr>
          <a:ln/>
        </p:spPr>
      </p:sp>
      <p:sp>
        <p:nvSpPr>
          <p:cNvPr id="3" name="备注占位符 2"/>
          <p:cNvSpPr>
            <a:spLocks noGrp="1"/>
          </p:cNvSpPr>
          <p:nvPr>
            <p:ph type="body" idx="1"/>
          </p:nvPr>
        </p:nvSpPr>
        <p:spPr/>
        <p:txBody>
          <a:bodyPr/>
          <a:lstStyle/>
          <a:p>
            <a:pPr>
              <a:defRPr/>
            </a:pPr>
            <a:endParaRPr lang="zh-CN" altLang="en-US" dirty="0"/>
          </a:p>
        </p:txBody>
      </p:sp>
      <p:sp>
        <p:nvSpPr>
          <p:cNvPr id="4" name="灯片编号占位符 3"/>
          <p:cNvSpPr>
            <a:spLocks noGrp="1"/>
          </p:cNvSpPr>
          <p:nvPr>
            <p:ph type="sldNum" sz="quarter" idx="5"/>
          </p:nvPr>
        </p:nvSpPr>
        <p:spPr/>
        <p:txBody>
          <a:bodyPr/>
          <a:lstStyle/>
          <a:p>
            <a:pPr>
              <a:defRPr/>
            </a:pPr>
            <a:fld id="{B54A103A-8E64-4937-93D7-A20D934BDD52}" type="slidenum">
              <a:rPr lang="en-US" altLang="zh-CN" smtClean="0"/>
              <a:pPr>
                <a:defRPr/>
              </a:pPr>
              <a:t>94</a:t>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#include &lt;</a:t>
            </a:r>
            <a:r>
              <a:rPr lang="en-US" altLang="zh-CN" dirty="0" err="1"/>
              <a:t>stdio.h</a:t>
            </a:r>
            <a:r>
              <a:rPr lang="en-US" altLang="zh-CN" dirty="0"/>
              <a:t>&gt;</a:t>
            </a:r>
          </a:p>
          <a:p>
            <a:r>
              <a:rPr lang="en-US" altLang="zh-CN" dirty="0"/>
              <a:t>int main()</a:t>
            </a:r>
          </a:p>
          <a:p>
            <a:r>
              <a:rPr lang="en-US" altLang="zh-CN" dirty="0"/>
              <a:t>{</a:t>
            </a:r>
          </a:p>
          <a:p>
            <a:r>
              <a:rPr lang="en-US" altLang="zh-CN" dirty="0"/>
              <a:t>	char s[100];</a:t>
            </a:r>
          </a:p>
          <a:p>
            <a:r>
              <a:rPr lang="en-US" altLang="zh-CN" dirty="0"/>
              <a:t>	int </a:t>
            </a:r>
            <a:r>
              <a:rPr lang="en-US" altLang="zh-CN" dirty="0" err="1"/>
              <a:t>i</a:t>
            </a:r>
            <a:r>
              <a:rPr lang="en-US" altLang="zh-CN" dirty="0"/>
              <a:t>=0,j,n,flag=0;</a:t>
            </a:r>
          </a:p>
          <a:p>
            <a:r>
              <a:rPr lang="en-US" altLang="zh-CN" dirty="0"/>
              <a:t>	while ((s[</a:t>
            </a:r>
            <a:r>
              <a:rPr lang="en-US" altLang="zh-CN" dirty="0" err="1"/>
              <a:t>i</a:t>
            </a:r>
            <a:r>
              <a:rPr lang="en-US" altLang="zh-CN" dirty="0"/>
              <a:t>]=</a:t>
            </a:r>
            <a:r>
              <a:rPr lang="en-US" altLang="zh-CN" dirty="0" err="1"/>
              <a:t>getchar</a:t>
            </a:r>
            <a:r>
              <a:rPr lang="en-US" altLang="zh-CN" dirty="0"/>
              <a:t>())!='\n')</a:t>
            </a:r>
          </a:p>
          <a:p>
            <a:r>
              <a:rPr lang="en-US" altLang="zh-CN" dirty="0"/>
              <a:t>		</a:t>
            </a:r>
            <a:r>
              <a:rPr lang="en-US" altLang="zh-CN" dirty="0" err="1"/>
              <a:t>i</a:t>
            </a:r>
            <a:r>
              <a:rPr lang="en-US" altLang="zh-CN" dirty="0"/>
              <a:t>++;</a:t>
            </a:r>
          </a:p>
          <a:p>
            <a:r>
              <a:rPr lang="en-US" altLang="zh-CN" dirty="0"/>
              <a:t>	if(i%2==0)</a:t>
            </a:r>
          </a:p>
          <a:p>
            <a:r>
              <a:rPr lang="en-US" altLang="zh-CN" dirty="0"/>
              <a:t>		n=</a:t>
            </a:r>
            <a:r>
              <a:rPr lang="en-US" altLang="zh-CN" dirty="0" err="1"/>
              <a:t>i</a:t>
            </a:r>
            <a:r>
              <a:rPr lang="en-US" altLang="zh-CN" dirty="0"/>
              <a:t>/2;</a:t>
            </a:r>
          </a:p>
          <a:p>
            <a:r>
              <a:rPr lang="en-US" altLang="zh-CN" dirty="0"/>
              <a:t>		else n=</a:t>
            </a:r>
            <a:r>
              <a:rPr lang="en-US" altLang="zh-CN" dirty="0" err="1"/>
              <a:t>i</a:t>
            </a:r>
            <a:r>
              <a:rPr lang="en-US" altLang="zh-CN" dirty="0"/>
              <a:t>/2+1;</a:t>
            </a:r>
          </a:p>
          <a:p>
            <a:r>
              <a:rPr lang="en-US" altLang="zh-CN" dirty="0"/>
              <a:t>	for (j=0;j&lt;</a:t>
            </a:r>
            <a:r>
              <a:rPr lang="en-US" altLang="zh-CN" dirty="0" err="1"/>
              <a:t>n;j</a:t>
            </a:r>
            <a:r>
              <a:rPr lang="en-US" altLang="zh-CN" dirty="0"/>
              <a:t>++)</a:t>
            </a:r>
          </a:p>
          <a:p>
            <a:r>
              <a:rPr lang="en-US" altLang="zh-CN" dirty="0"/>
              <a:t>	{</a:t>
            </a:r>
          </a:p>
          <a:p>
            <a:r>
              <a:rPr lang="en-US" altLang="zh-CN" dirty="0"/>
              <a:t>		if (s[j]!=s[i-j-1])</a:t>
            </a:r>
          </a:p>
          <a:p>
            <a:r>
              <a:rPr lang="en-US" altLang="zh-CN" dirty="0"/>
              <a:t>		{</a:t>
            </a:r>
          </a:p>
          <a:p>
            <a:r>
              <a:rPr lang="en-US" altLang="zh-CN" dirty="0"/>
              <a:t>			flag=1;</a:t>
            </a:r>
          </a:p>
          <a:p>
            <a:r>
              <a:rPr lang="en-US" altLang="zh-CN" dirty="0"/>
              <a:t>			break;	}	</a:t>
            </a:r>
          </a:p>
          <a:p>
            <a:r>
              <a:rPr lang="en-US" altLang="zh-CN" dirty="0"/>
              <a:t>	}</a:t>
            </a:r>
          </a:p>
          <a:p>
            <a:r>
              <a:rPr lang="en-US" altLang="zh-CN" dirty="0"/>
              <a:t>	if (flag==0)</a:t>
            </a:r>
          </a:p>
          <a:p>
            <a:r>
              <a:rPr lang="en-US" altLang="zh-CN" dirty="0"/>
              <a:t>		</a:t>
            </a:r>
            <a:r>
              <a:rPr lang="en-US" altLang="zh-CN" dirty="0" err="1"/>
              <a:t>printf</a:t>
            </a:r>
            <a:r>
              <a:rPr lang="en-US" altLang="zh-CN" dirty="0"/>
              <a:t>("yes");</a:t>
            </a:r>
          </a:p>
          <a:p>
            <a:r>
              <a:rPr lang="en-US" altLang="zh-CN" dirty="0"/>
              <a:t>	else</a:t>
            </a:r>
          </a:p>
          <a:p>
            <a:r>
              <a:rPr lang="en-US" altLang="zh-CN" dirty="0"/>
              <a:t>		</a:t>
            </a:r>
            <a:r>
              <a:rPr lang="en-US" altLang="zh-CN" dirty="0" err="1"/>
              <a:t>printf</a:t>
            </a:r>
            <a:r>
              <a:rPr lang="en-US" altLang="zh-CN" dirty="0"/>
              <a:t>("no");</a:t>
            </a:r>
          </a:p>
          <a:p>
            <a:r>
              <a:rPr lang="en-US" altLang="zh-CN" dirty="0"/>
              <a:t>	return 0;</a:t>
            </a:r>
          </a:p>
          <a:p>
            <a:r>
              <a:rPr lang="en-US" altLang="zh-CN" dirty="0"/>
              <a:t>}</a:t>
            </a:r>
            <a:endParaRPr lang="zh-CN" altLang="en-US" dirty="0"/>
          </a:p>
        </p:txBody>
      </p:sp>
      <p:sp>
        <p:nvSpPr>
          <p:cNvPr id="4" name="灯片编号占位符 3"/>
          <p:cNvSpPr>
            <a:spLocks noGrp="1"/>
          </p:cNvSpPr>
          <p:nvPr>
            <p:ph type="sldNum" sz="quarter" idx="5"/>
          </p:nvPr>
        </p:nvSpPr>
        <p:spPr/>
        <p:txBody>
          <a:bodyPr/>
          <a:lstStyle/>
          <a:p>
            <a:pPr>
              <a:defRPr/>
            </a:pPr>
            <a:fld id="{5C063403-CBDD-42F0-85BA-F7B26E41C5A9}" type="slidenum">
              <a:rPr lang="en-US" altLang="zh-CN" smtClean="0"/>
              <a:pPr>
                <a:defRPr/>
              </a:pPr>
              <a:t>111</a:t>
            </a:fld>
            <a:endParaRPr lang="en-US" altLang="zh-CN"/>
          </a:p>
        </p:txBody>
      </p:sp>
    </p:spTree>
    <p:extLst>
      <p:ext uri="{BB962C8B-B14F-4D97-AF65-F5344CB8AC3E}">
        <p14:creationId xmlns:p14="http://schemas.microsoft.com/office/powerpoint/2010/main" val="144469297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en-US" altLang="zh-CN"/>
              <a:t>Click to edit Master title style</a:t>
            </a:r>
            <a:endParaRPr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ltLang="zh-CN"/>
              <a:t>Click to edit Master subtitle style</a:t>
            </a:r>
            <a:endParaRPr lang="en-US"/>
          </a:p>
        </p:txBody>
      </p:sp>
      <p:sp>
        <p:nvSpPr>
          <p:cNvPr id="4" name="Date Placeholder 29"/>
          <p:cNvSpPr>
            <a:spLocks noGrp="1"/>
          </p:cNvSpPr>
          <p:nvPr>
            <p:ph type="dt" sz="half" idx="10"/>
          </p:nvPr>
        </p:nvSpPr>
        <p:spPr/>
        <p:txBody>
          <a:bodyPr/>
          <a:lstStyle>
            <a:lvl1pPr>
              <a:defRPr/>
            </a:lvl1pPr>
          </a:lstStyle>
          <a:p>
            <a:pPr>
              <a:defRPr/>
            </a:pPr>
            <a:endParaRPr lang="en-US" altLang="zh-CN"/>
          </a:p>
        </p:txBody>
      </p:sp>
      <p:sp>
        <p:nvSpPr>
          <p:cNvPr id="5" name="Footer Placeholder 18"/>
          <p:cNvSpPr>
            <a:spLocks noGrp="1"/>
          </p:cNvSpPr>
          <p:nvPr>
            <p:ph type="ftr" sz="quarter" idx="11"/>
          </p:nvPr>
        </p:nvSpPr>
        <p:spPr/>
        <p:txBody>
          <a:bodyPr/>
          <a:lstStyle>
            <a:lvl1pPr>
              <a:defRPr/>
            </a:lvl1pPr>
          </a:lstStyle>
          <a:p>
            <a:pPr>
              <a:defRPr/>
            </a:pPr>
            <a:endParaRPr lang="en-US" altLang="zh-CN"/>
          </a:p>
        </p:txBody>
      </p:sp>
      <p:sp>
        <p:nvSpPr>
          <p:cNvPr id="6" name="Slide Number Placeholder 26"/>
          <p:cNvSpPr>
            <a:spLocks noGrp="1"/>
          </p:cNvSpPr>
          <p:nvPr>
            <p:ph type="sldNum" sz="quarter" idx="12"/>
          </p:nvPr>
        </p:nvSpPr>
        <p:spPr/>
        <p:txBody>
          <a:bodyPr/>
          <a:lstStyle>
            <a:lvl1pPr>
              <a:defRPr/>
            </a:lvl1pPr>
          </a:lstStyle>
          <a:p>
            <a:pPr>
              <a:defRPr/>
            </a:pPr>
            <a:fld id="{7A2BF727-7FE3-4570-A760-E7772EE9FF51}" type="slidenum">
              <a:rPr lang="en-US" altLang="zh-CN"/>
              <a:pPr>
                <a:defRPr/>
              </a:pPr>
              <a:t>‹#›</a:t>
            </a:fld>
            <a:endParaRPr lang="en-US" altLang="zh-CN"/>
          </a:p>
        </p:txBody>
      </p:sp>
    </p:spTree>
  </p:cSld>
  <p:clrMapOvr>
    <a:overrideClrMapping bg1="dk1" tx1="lt1" bg2="dk2" tx2="lt2" accent1="accent1" accent2="accent2" accent3="accent3" accent4="accent4" accent5="accent5" accent6="accent6" hlink="hlink" folHlink="folHlink"/>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Content Placeholder 2"/>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Date Placeholder 9"/>
          <p:cNvSpPr>
            <a:spLocks noGrp="1"/>
          </p:cNvSpPr>
          <p:nvPr>
            <p:ph type="dt" sz="half" idx="10"/>
          </p:nvPr>
        </p:nvSpPr>
        <p:spPr/>
        <p:txBody>
          <a:bodyPr/>
          <a:lstStyle>
            <a:lvl1pPr>
              <a:defRPr/>
            </a:lvl1pPr>
          </a:lstStyle>
          <a:p>
            <a:pPr>
              <a:defRPr/>
            </a:pPr>
            <a:endParaRPr lang="en-US" altLang="zh-CN"/>
          </a:p>
        </p:txBody>
      </p:sp>
      <p:sp>
        <p:nvSpPr>
          <p:cNvPr id="5" name="Footer Placeholder 21"/>
          <p:cNvSpPr>
            <a:spLocks noGrp="1"/>
          </p:cNvSpPr>
          <p:nvPr>
            <p:ph type="ftr" sz="quarter" idx="11"/>
          </p:nvPr>
        </p:nvSpPr>
        <p:spPr/>
        <p:txBody>
          <a:bodyPr/>
          <a:lstStyle>
            <a:lvl1pPr>
              <a:defRPr/>
            </a:lvl1pPr>
          </a:lstStyle>
          <a:p>
            <a:pPr>
              <a:defRPr/>
            </a:pPr>
            <a:endParaRPr lang="en-US" altLang="zh-CN"/>
          </a:p>
        </p:txBody>
      </p:sp>
      <p:sp>
        <p:nvSpPr>
          <p:cNvPr id="6" name="Slide Number Placeholder 17"/>
          <p:cNvSpPr>
            <a:spLocks noGrp="1"/>
          </p:cNvSpPr>
          <p:nvPr>
            <p:ph type="sldNum" sz="quarter" idx="12"/>
          </p:nvPr>
        </p:nvSpPr>
        <p:spPr/>
        <p:txBody>
          <a:bodyPr/>
          <a:lstStyle>
            <a:lvl1pPr>
              <a:defRPr/>
            </a:lvl1pPr>
          </a:lstStyle>
          <a:p>
            <a:pPr>
              <a:defRPr/>
            </a:pPr>
            <a:fld id="{5DCB0509-EBFA-4973-BBC1-64BDD304043B}" type="slidenum">
              <a:rPr lang="en-US" altLang="zh-CN"/>
              <a:pPr>
                <a:defRPr/>
              </a:pPr>
              <a:t>‹#›</a:t>
            </a:fld>
            <a:endParaRPr lang="en-US" altLang="zh-CN"/>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en-US" altLang="zh-CN"/>
              <a:t>Click to edit Master title style</a:t>
            </a:r>
            <a:endParaRPr lang="en-US"/>
          </a:p>
        </p:txBody>
      </p:sp>
      <p:sp>
        <p:nvSpPr>
          <p:cNvPr id="3" name="Text Placeholder 2"/>
          <p:cNvSpPr>
            <a:spLocks noGrp="1"/>
          </p:cNvSpPr>
          <p:nvPr>
            <p:ph type="body" idx="1"/>
          </p:nvPr>
        </p:nvSpPr>
        <p:spPr>
          <a:xfrm>
            <a:off x="530352" y="2704664"/>
            <a:ext cx="77724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ltLang="zh-CN"/>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en-US" altLang="zh-CN"/>
          </a:p>
        </p:txBody>
      </p:sp>
      <p:sp>
        <p:nvSpPr>
          <p:cNvPr id="6" name="Slide Number Placeholder 5"/>
          <p:cNvSpPr>
            <a:spLocks noGrp="1"/>
          </p:cNvSpPr>
          <p:nvPr>
            <p:ph type="sldNum" sz="quarter" idx="12"/>
          </p:nvPr>
        </p:nvSpPr>
        <p:spPr/>
        <p:txBody>
          <a:bodyPr/>
          <a:lstStyle>
            <a:lvl1pPr>
              <a:defRPr/>
            </a:lvl1pPr>
          </a:lstStyle>
          <a:p>
            <a:pPr>
              <a:defRPr/>
            </a:pPr>
            <a:fld id="{A3CB855D-4E7B-4846-8091-5FA7CB4920BB}" type="slidenum">
              <a:rPr lang="en-US" altLang="zh-CN"/>
              <a:pPr>
                <a:defRPr/>
              </a:pPr>
              <a:t>‹#›</a:t>
            </a:fld>
            <a:endParaRPr lang="en-US" altLang="zh-CN"/>
          </a:p>
        </p:txBody>
      </p:sp>
    </p:spTree>
  </p:cSld>
  <p:clrMapOvr>
    <a:overrideClrMapping bg1="dk1" tx1="lt1" bg2="dk2" tx2="lt2" accent1="accent1" accent2="accent2" accent3="accent3" accent4="accent4" accent5="accent5" accent6="accent6" hlink="hlink" folHlink="folHlink"/>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lang="en-US" altLang="zh-CN"/>
              <a:t>Click to edit Master title style</a:t>
            </a:r>
            <a:endParaRPr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5" name="Date Placeholder 9"/>
          <p:cNvSpPr>
            <a:spLocks noGrp="1"/>
          </p:cNvSpPr>
          <p:nvPr>
            <p:ph type="dt" sz="half" idx="10"/>
          </p:nvPr>
        </p:nvSpPr>
        <p:spPr/>
        <p:txBody>
          <a:bodyPr/>
          <a:lstStyle>
            <a:lvl1pPr>
              <a:defRPr/>
            </a:lvl1pPr>
          </a:lstStyle>
          <a:p>
            <a:pPr>
              <a:defRPr/>
            </a:pPr>
            <a:endParaRPr lang="en-US" altLang="zh-CN"/>
          </a:p>
        </p:txBody>
      </p:sp>
      <p:sp>
        <p:nvSpPr>
          <p:cNvPr id="6" name="Footer Placeholder 21"/>
          <p:cNvSpPr>
            <a:spLocks noGrp="1"/>
          </p:cNvSpPr>
          <p:nvPr>
            <p:ph type="ftr" sz="quarter" idx="11"/>
          </p:nvPr>
        </p:nvSpPr>
        <p:spPr/>
        <p:txBody>
          <a:bodyPr/>
          <a:lstStyle>
            <a:lvl1pPr>
              <a:defRPr/>
            </a:lvl1pPr>
          </a:lstStyle>
          <a:p>
            <a:pPr>
              <a:defRPr/>
            </a:pPr>
            <a:endParaRPr lang="en-US" altLang="zh-CN"/>
          </a:p>
        </p:txBody>
      </p:sp>
      <p:sp>
        <p:nvSpPr>
          <p:cNvPr id="7" name="Slide Number Placeholder 17"/>
          <p:cNvSpPr>
            <a:spLocks noGrp="1"/>
          </p:cNvSpPr>
          <p:nvPr>
            <p:ph type="sldNum" sz="quarter" idx="12"/>
          </p:nvPr>
        </p:nvSpPr>
        <p:spPr/>
        <p:txBody>
          <a:bodyPr/>
          <a:lstStyle>
            <a:lvl1pPr>
              <a:defRPr/>
            </a:lvl1pPr>
          </a:lstStyle>
          <a:p>
            <a:pPr>
              <a:defRPr/>
            </a:pPr>
            <a:fld id="{0FEE4E1D-4946-4E14-A286-FA90D399A4DF}" type="slidenum">
              <a:rPr lang="en-US" altLang="zh-CN"/>
              <a:pPr>
                <a:defRPr/>
              </a:pPr>
              <a:t>‹#›</a:t>
            </a:fld>
            <a:endParaRPr lang="en-US" altLang="zh-CN"/>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lvl1pPr>
              <a:defRPr/>
            </a:lvl1pPr>
          </a:lstStyle>
          <a:p>
            <a:r>
              <a:rPr lang="en-US" altLang="zh-CN"/>
              <a:t>Click to edit Master title style</a:t>
            </a:r>
            <a:endParaRPr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ltLang="zh-CN"/>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ltLang="zh-CN"/>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7" name="Date Placeholder 9"/>
          <p:cNvSpPr>
            <a:spLocks noGrp="1"/>
          </p:cNvSpPr>
          <p:nvPr>
            <p:ph type="dt" sz="half" idx="10"/>
          </p:nvPr>
        </p:nvSpPr>
        <p:spPr/>
        <p:txBody>
          <a:bodyPr/>
          <a:lstStyle>
            <a:lvl1pPr>
              <a:defRPr/>
            </a:lvl1pPr>
          </a:lstStyle>
          <a:p>
            <a:pPr>
              <a:defRPr/>
            </a:pPr>
            <a:endParaRPr lang="en-US" altLang="zh-CN"/>
          </a:p>
        </p:txBody>
      </p:sp>
      <p:sp>
        <p:nvSpPr>
          <p:cNvPr id="8" name="Footer Placeholder 21"/>
          <p:cNvSpPr>
            <a:spLocks noGrp="1"/>
          </p:cNvSpPr>
          <p:nvPr>
            <p:ph type="ftr" sz="quarter" idx="11"/>
          </p:nvPr>
        </p:nvSpPr>
        <p:spPr/>
        <p:txBody>
          <a:bodyPr/>
          <a:lstStyle>
            <a:lvl1pPr>
              <a:defRPr/>
            </a:lvl1pPr>
          </a:lstStyle>
          <a:p>
            <a:pPr>
              <a:defRPr/>
            </a:pPr>
            <a:endParaRPr lang="en-US" altLang="zh-CN"/>
          </a:p>
        </p:txBody>
      </p:sp>
      <p:sp>
        <p:nvSpPr>
          <p:cNvPr id="9" name="Slide Number Placeholder 17"/>
          <p:cNvSpPr>
            <a:spLocks noGrp="1"/>
          </p:cNvSpPr>
          <p:nvPr>
            <p:ph type="sldNum" sz="quarter" idx="12"/>
          </p:nvPr>
        </p:nvSpPr>
        <p:spPr/>
        <p:txBody>
          <a:bodyPr/>
          <a:lstStyle>
            <a:lvl1pPr>
              <a:defRPr/>
            </a:lvl1pPr>
          </a:lstStyle>
          <a:p>
            <a:pPr>
              <a:defRPr/>
            </a:pPr>
            <a:fld id="{2D7089EE-AE7B-49F0-A555-969BEEA25A28}" type="slidenum">
              <a:rPr lang="en-US" altLang="zh-CN"/>
              <a:pPr>
                <a:defRPr/>
              </a:pPr>
              <a:t>‹#›</a:t>
            </a:fld>
            <a:endParaRPr lang="en-US" altLang="zh-CN"/>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en-US" altLang="zh-CN"/>
              <a:t>Click to edit Master title style</a:t>
            </a:r>
            <a:endParaRPr lang="en-US"/>
          </a:p>
        </p:txBody>
      </p:sp>
      <p:sp>
        <p:nvSpPr>
          <p:cNvPr id="3" name="Date Placeholder 9"/>
          <p:cNvSpPr>
            <a:spLocks noGrp="1"/>
          </p:cNvSpPr>
          <p:nvPr>
            <p:ph type="dt" sz="half" idx="10"/>
          </p:nvPr>
        </p:nvSpPr>
        <p:spPr/>
        <p:txBody>
          <a:bodyPr/>
          <a:lstStyle>
            <a:lvl1pPr>
              <a:defRPr/>
            </a:lvl1pPr>
          </a:lstStyle>
          <a:p>
            <a:pPr>
              <a:defRPr/>
            </a:pPr>
            <a:endParaRPr lang="en-US" altLang="zh-CN"/>
          </a:p>
        </p:txBody>
      </p:sp>
      <p:sp>
        <p:nvSpPr>
          <p:cNvPr id="4" name="Footer Placeholder 21"/>
          <p:cNvSpPr>
            <a:spLocks noGrp="1"/>
          </p:cNvSpPr>
          <p:nvPr>
            <p:ph type="ftr" sz="quarter" idx="11"/>
          </p:nvPr>
        </p:nvSpPr>
        <p:spPr/>
        <p:txBody>
          <a:bodyPr/>
          <a:lstStyle>
            <a:lvl1pPr>
              <a:defRPr/>
            </a:lvl1pPr>
          </a:lstStyle>
          <a:p>
            <a:pPr>
              <a:defRPr/>
            </a:pPr>
            <a:endParaRPr lang="en-US" altLang="zh-CN"/>
          </a:p>
        </p:txBody>
      </p:sp>
      <p:sp>
        <p:nvSpPr>
          <p:cNvPr id="5" name="Slide Number Placeholder 17"/>
          <p:cNvSpPr>
            <a:spLocks noGrp="1"/>
          </p:cNvSpPr>
          <p:nvPr>
            <p:ph type="sldNum" sz="quarter" idx="12"/>
          </p:nvPr>
        </p:nvSpPr>
        <p:spPr/>
        <p:txBody>
          <a:bodyPr/>
          <a:lstStyle>
            <a:lvl1pPr>
              <a:defRPr/>
            </a:lvl1pPr>
          </a:lstStyle>
          <a:p>
            <a:pPr>
              <a:defRPr/>
            </a:pPr>
            <a:fld id="{FEA45DED-1BCD-4CB2-B76E-90CEA194F9F9}" type="slidenum">
              <a:rPr lang="en-US" altLang="zh-CN"/>
              <a:pPr>
                <a:defRPr/>
              </a:pPr>
              <a:t>‹#›</a:t>
            </a:fld>
            <a:endParaRPr lang="en-US" altLang="zh-CN"/>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endParaRPr lang="en-US" altLang="zh-CN"/>
          </a:p>
        </p:txBody>
      </p:sp>
      <p:sp>
        <p:nvSpPr>
          <p:cNvPr id="3" name="Footer Placeholder 21"/>
          <p:cNvSpPr>
            <a:spLocks noGrp="1"/>
          </p:cNvSpPr>
          <p:nvPr>
            <p:ph type="ftr" sz="quarter" idx="11"/>
          </p:nvPr>
        </p:nvSpPr>
        <p:spPr/>
        <p:txBody>
          <a:bodyPr/>
          <a:lstStyle>
            <a:lvl1pPr>
              <a:defRPr/>
            </a:lvl1pPr>
          </a:lstStyle>
          <a:p>
            <a:pPr>
              <a:defRPr/>
            </a:pPr>
            <a:endParaRPr lang="en-US" altLang="zh-CN"/>
          </a:p>
        </p:txBody>
      </p:sp>
      <p:sp>
        <p:nvSpPr>
          <p:cNvPr id="4" name="Slide Number Placeholder 17"/>
          <p:cNvSpPr>
            <a:spLocks noGrp="1"/>
          </p:cNvSpPr>
          <p:nvPr>
            <p:ph type="sldNum" sz="quarter" idx="12"/>
          </p:nvPr>
        </p:nvSpPr>
        <p:spPr/>
        <p:txBody>
          <a:bodyPr/>
          <a:lstStyle>
            <a:lvl1pPr>
              <a:defRPr/>
            </a:lvl1pPr>
          </a:lstStyle>
          <a:p>
            <a:pPr>
              <a:defRPr/>
            </a:pPr>
            <a:fld id="{6F589904-8B50-46EA-B1FA-503FF035CB9F}" type="slidenum">
              <a:rPr lang="en-US" altLang="zh-CN"/>
              <a:pPr>
                <a:defRPr/>
              </a:pPr>
              <a:t>‹#›</a:t>
            </a:fld>
            <a:endParaRPr lang="en-US" altLang="zh-CN"/>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en-US" altLang="zh-CN"/>
              <a:t>Click to edit Master title style</a:t>
            </a:r>
            <a:endParaRPr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en-US" altLang="zh-CN"/>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5" name="Date Placeholder 9"/>
          <p:cNvSpPr>
            <a:spLocks noGrp="1"/>
          </p:cNvSpPr>
          <p:nvPr>
            <p:ph type="dt" sz="half" idx="10"/>
          </p:nvPr>
        </p:nvSpPr>
        <p:spPr/>
        <p:txBody>
          <a:bodyPr/>
          <a:lstStyle>
            <a:lvl1pPr>
              <a:defRPr/>
            </a:lvl1pPr>
          </a:lstStyle>
          <a:p>
            <a:pPr>
              <a:defRPr/>
            </a:pPr>
            <a:endParaRPr lang="en-US" altLang="zh-CN"/>
          </a:p>
        </p:txBody>
      </p:sp>
      <p:sp>
        <p:nvSpPr>
          <p:cNvPr id="6" name="Footer Placeholder 21"/>
          <p:cNvSpPr>
            <a:spLocks noGrp="1"/>
          </p:cNvSpPr>
          <p:nvPr>
            <p:ph type="ftr" sz="quarter" idx="11"/>
          </p:nvPr>
        </p:nvSpPr>
        <p:spPr/>
        <p:txBody>
          <a:bodyPr/>
          <a:lstStyle>
            <a:lvl1pPr>
              <a:defRPr/>
            </a:lvl1pPr>
          </a:lstStyle>
          <a:p>
            <a:pPr>
              <a:defRPr/>
            </a:pPr>
            <a:endParaRPr lang="en-US" altLang="zh-CN"/>
          </a:p>
        </p:txBody>
      </p:sp>
      <p:sp>
        <p:nvSpPr>
          <p:cNvPr id="7" name="Slide Number Placeholder 17"/>
          <p:cNvSpPr>
            <a:spLocks noGrp="1"/>
          </p:cNvSpPr>
          <p:nvPr>
            <p:ph type="sldNum" sz="quarter" idx="12"/>
          </p:nvPr>
        </p:nvSpPr>
        <p:spPr/>
        <p:txBody>
          <a:bodyPr/>
          <a:lstStyle>
            <a:lvl1pPr>
              <a:defRPr/>
            </a:lvl1pPr>
          </a:lstStyle>
          <a:p>
            <a:pPr>
              <a:defRPr/>
            </a:pPr>
            <a:fld id="{77DC2439-309B-40AF-99AC-BF4FCE54F4F9}" type="slidenum">
              <a:rPr lang="en-US" altLang="zh-CN"/>
              <a:pPr>
                <a:defRPr/>
              </a:pPr>
              <a:t>‹#›</a:t>
            </a:fld>
            <a:endParaRPr lang="en-US" altLang="zh-CN"/>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nip and Round Single Corner Rectangle 13"/>
          <p:cNvSpPr/>
          <p:nvPr/>
        </p:nvSpPr>
        <p:spPr>
          <a:xfrm rot="420000" flipV="1">
            <a:off x="3165475" y="1108075"/>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eaLnBrk="1" hangingPunct="1">
              <a:defRPr/>
            </a:pPr>
            <a:endParaRPr lang="en-US"/>
          </a:p>
        </p:txBody>
      </p:sp>
      <p:sp>
        <p:nvSpPr>
          <p:cNvPr id="6" name="Right Triangle 14"/>
          <p:cNvSpPr/>
          <p:nvPr/>
        </p:nvSpPr>
        <p:spPr>
          <a:xfrm rot="420000" flipV="1">
            <a:off x="8004175" y="5359400"/>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eaLnBrk="1" hangingPunct="1">
              <a:defRPr/>
            </a:pPr>
            <a:endParaRPr lang="en-US"/>
          </a:p>
        </p:txBody>
      </p:sp>
      <p:sp>
        <p:nvSpPr>
          <p:cNvPr id="7" name="Freeform 15"/>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lgn="l" eaLnBrk="1" hangingPunct="1">
              <a:defRPr/>
            </a:pPr>
            <a:endParaRPr lang="en-US">
              <a:latin typeface="+mn-lt"/>
              <a:ea typeface="+mn-ea"/>
            </a:endParaRPr>
          </a:p>
        </p:txBody>
      </p:sp>
      <p:sp>
        <p:nvSpPr>
          <p:cNvPr id="8" name="Freeform 16"/>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lgn="l" eaLnBrk="1" hangingPunct="1">
              <a:defRPr/>
            </a:pPr>
            <a:endParaRPr lang="en-US">
              <a:latin typeface="+mn-lt"/>
              <a:ea typeface="+mn-ea"/>
            </a:endParaRPr>
          </a:p>
        </p:txBody>
      </p:sp>
      <p:sp>
        <p:nvSpPr>
          <p:cNvPr id="2" name="Title 1"/>
          <p:cNvSpPr>
            <a:spLocks noGrp="1"/>
          </p:cNvSpPr>
          <p:nvPr>
            <p:ph type="title"/>
          </p:nvPr>
        </p:nvSpPr>
        <p:spPr>
          <a:xfrm>
            <a:off x="609600" y="1176996"/>
            <a:ext cx="2212848" cy="1582621"/>
          </a:xfrm>
        </p:spPr>
        <p:txBody>
          <a:bodyPr lIns="45720" rIns="45720" bIns="45720"/>
          <a:lstStyle>
            <a:lvl1pPr algn="l">
              <a:buNone/>
              <a:defRPr sz="2000" b="1">
                <a:solidFill>
                  <a:schemeClr val="tx2"/>
                </a:solidFill>
              </a:defRPr>
            </a:lvl1pPr>
          </a:lstStyle>
          <a:p>
            <a:r>
              <a:rPr lang="en-US" altLang="zh-CN"/>
              <a:t>Click to edit Master title style</a:t>
            </a:r>
            <a:endParaRPr lang="en-US"/>
          </a:p>
        </p:txBody>
      </p:sp>
      <p:sp>
        <p:nvSpPr>
          <p:cNvPr id="4" name="Text Placeholder 3"/>
          <p:cNvSpPr>
            <a:spLocks noGrp="1"/>
          </p:cNvSpPr>
          <p:nvPr>
            <p:ph type="body" sz="half" idx="2"/>
          </p:nvPr>
        </p:nvSpPr>
        <p:spPr>
          <a:xfrm>
            <a:off x="609600" y="2828785"/>
            <a:ext cx="22098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en-US" altLang="zh-CN"/>
              <a:t>Click to edit Master text styles</a:t>
            </a:r>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en-US" altLang="zh-CN" noProof="0"/>
              <a:t>Click icon to add picture</a:t>
            </a:r>
            <a:endParaRPr lang="en-US" noProof="0" dirty="0"/>
          </a:p>
        </p:txBody>
      </p:sp>
      <p:sp>
        <p:nvSpPr>
          <p:cNvPr id="9" name="Date Placeholder 4"/>
          <p:cNvSpPr>
            <a:spLocks noGrp="1"/>
          </p:cNvSpPr>
          <p:nvPr>
            <p:ph type="dt" sz="half" idx="10"/>
          </p:nvPr>
        </p:nvSpPr>
        <p:spPr/>
        <p:txBody>
          <a:bodyPr/>
          <a:lstStyle>
            <a:lvl1pPr>
              <a:defRPr/>
            </a:lvl1pPr>
          </a:lstStyle>
          <a:p>
            <a:pPr>
              <a:defRPr/>
            </a:pPr>
            <a:endParaRPr lang="en-US" altLang="zh-CN"/>
          </a:p>
        </p:txBody>
      </p:sp>
      <p:sp>
        <p:nvSpPr>
          <p:cNvPr id="10" name="Footer Placeholder 5"/>
          <p:cNvSpPr>
            <a:spLocks noGrp="1"/>
          </p:cNvSpPr>
          <p:nvPr>
            <p:ph type="ftr" sz="quarter" idx="11"/>
          </p:nvPr>
        </p:nvSpPr>
        <p:spPr/>
        <p:txBody>
          <a:bodyPr/>
          <a:lstStyle>
            <a:lvl1pPr>
              <a:defRPr/>
            </a:lvl1pPr>
          </a:lstStyle>
          <a:p>
            <a:pPr>
              <a:defRPr/>
            </a:pPr>
            <a:endParaRPr lang="en-US" altLang="zh-CN"/>
          </a:p>
        </p:txBody>
      </p:sp>
      <p:sp>
        <p:nvSpPr>
          <p:cNvPr id="11" name="Slide Number Placeholder 6"/>
          <p:cNvSpPr>
            <a:spLocks noGrp="1"/>
          </p:cNvSpPr>
          <p:nvPr>
            <p:ph type="sldNum" sz="quarter" idx="12"/>
          </p:nvPr>
        </p:nvSpPr>
        <p:spPr>
          <a:xfrm>
            <a:off x="8077200" y="6356350"/>
            <a:ext cx="609600" cy="365125"/>
          </a:xfrm>
        </p:spPr>
        <p:txBody>
          <a:bodyPr/>
          <a:lstStyle>
            <a:lvl1pPr>
              <a:defRPr/>
            </a:lvl1pPr>
          </a:lstStyle>
          <a:p>
            <a:pPr>
              <a:defRPr/>
            </a:pPr>
            <a:fld id="{22CDCE58-BC2E-415D-9E0C-43AAF90DC18E}" type="slidenum">
              <a:rPr lang="en-US" altLang="zh-CN"/>
              <a:pPr>
                <a:defRPr/>
              </a:pPr>
              <a:t>‹#›</a:t>
            </a:fld>
            <a:endParaRPr lang="en-US" altLang="zh-CN"/>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Date Placeholder 9"/>
          <p:cNvSpPr>
            <a:spLocks noGrp="1"/>
          </p:cNvSpPr>
          <p:nvPr>
            <p:ph type="dt" sz="half" idx="10"/>
          </p:nvPr>
        </p:nvSpPr>
        <p:spPr/>
        <p:txBody>
          <a:bodyPr/>
          <a:lstStyle>
            <a:lvl1pPr>
              <a:defRPr/>
            </a:lvl1pPr>
          </a:lstStyle>
          <a:p>
            <a:pPr>
              <a:defRPr/>
            </a:pPr>
            <a:endParaRPr lang="en-US" altLang="zh-CN"/>
          </a:p>
        </p:txBody>
      </p:sp>
      <p:sp>
        <p:nvSpPr>
          <p:cNvPr id="5" name="Footer Placeholder 21"/>
          <p:cNvSpPr>
            <a:spLocks noGrp="1"/>
          </p:cNvSpPr>
          <p:nvPr>
            <p:ph type="ftr" sz="quarter" idx="11"/>
          </p:nvPr>
        </p:nvSpPr>
        <p:spPr/>
        <p:txBody>
          <a:bodyPr/>
          <a:lstStyle>
            <a:lvl1pPr>
              <a:defRPr/>
            </a:lvl1pPr>
          </a:lstStyle>
          <a:p>
            <a:pPr>
              <a:defRPr/>
            </a:pPr>
            <a:endParaRPr lang="en-US" altLang="zh-CN"/>
          </a:p>
        </p:txBody>
      </p:sp>
      <p:sp>
        <p:nvSpPr>
          <p:cNvPr id="6" name="Slide Number Placeholder 17"/>
          <p:cNvSpPr>
            <a:spLocks noGrp="1"/>
          </p:cNvSpPr>
          <p:nvPr>
            <p:ph type="sldNum" sz="quarter" idx="12"/>
          </p:nvPr>
        </p:nvSpPr>
        <p:spPr/>
        <p:txBody>
          <a:bodyPr/>
          <a:lstStyle>
            <a:lvl1pPr>
              <a:defRPr/>
            </a:lvl1pPr>
          </a:lstStyle>
          <a:p>
            <a:pPr>
              <a:defRPr/>
            </a:pPr>
            <a:fld id="{23C8CB1F-8E20-4AB4-9D89-89B9F0DB6569}" type="slidenum">
              <a:rPr lang="en-US" altLang="zh-CN"/>
              <a:pPr>
                <a:defRPr/>
              </a:pPr>
              <a:t>‹#›</a:t>
            </a:fld>
            <a:endParaRPr lang="en-US" altLang="zh-CN"/>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lang="en-US" altLang="zh-CN"/>
              <a:t>Click to edit Master title style</a:t>
            </a:r>
            <a:endParaRPr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Date Placeholder 9"/>
          <p:cNvSpPr>
            <a:spLocks noGrp="1"/>
          </p:cNvSpPr>
          <p:nvPr>
            <p:ph type="dt" sz="half" idx="10"/>
          </p:nvPr>
        </p:nvSpPr>
        <p:spPr/>
        <p:txBody>
          <a:bodyPr/>
          <a:lstStyle>
            <a:lvl1pPr>
              <a:defRPr/>
            </a:lvl1pPr>
          </a:lstStyle>
          <a:p>
            <a:pPr>
              <a:defRPr/>
            </a:pPr>
            <a:endParaRPr lang="en-US" altLang="zh-CN"/>
          </a:p>
        </p:txBody>
      </p:sp>
      <p:sp>
        <p:nvSpPr>
          <p:cNvPr id="5" name="Footer Placeholder 21"/>
          <p:cNvSpPr>
            <a:spLocks noGrp="1"/>
          </p:cNvSpPr>
          <p:nvPr>
            <p:ph type="ftr" sz="quarter" idx="11"/>
          </p:nvPr>
        </p:nvSpPr>
        <p:spPr/>
        <p:txBody>
          <a:bodyPr/>
          <a:lstStyle>
            <a:lvl1pPr>
              <a:defRPr/>
            </a:lvl1pPr>
          </a:lstStyle>
          <a:p>
            <a:pPr>
              <a:defRPr/>
            </a:pPr>
            <a:endParaRPr lang="en-US" altLang="zh-CN"/>
          </a:p>
        </p:txBody>
      </p:sp>
      <p:sp>
        <p:nvSpPr>
          <p:cNvPr id="6" name="Slide Number Placeholder 17"/>
          <p:cNvSpPr>
            <a:spLocks noGrp="1"/>
          </p:cNvSpPr>
          <p:nvPr>
            <p:ph type="sldNum" sz="quarter" idx="12"/>
          </p:nvPr>
        </p:nvSpPr>
        <p:spPr/>
        <p:txBody>
          <a:bodyPr/>
          <a:lstStyle>
            <a:lvl1pPr>
              <a:defRPr/>
            </a:lvl1pPr>
          </a:lstStyle>
          <a:p>
            <a:pPr>
              <a:defRPr/>
            </a:pPr>
            <a:fld id="{4CB1B5A3-883E-49E0-815C-45801104D79D}" type="slidenum">
              <a:rPr lang="en-US" altLang="zh-CN"/>
              <a:pPr>
                <a:defRPr/>
              </a:pPr>
              <a:t>‹#›</a:t>
            </a:fld>
            <a:endParaRPr lang="en-US" altLang="zh-CN"/>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042988" y="404813"/>
            <a:ext cx="7705725" cy="863600"/>
          </a:xfrm>
        </p:spPr>
        <p:txBody>
          <a:bodyPr/>
          <a:lstStyle/>
          <a:p>
            <a:r>
              <a:rPr lang="zh-CN" altLang="en-US"/>
              <a:t>单击此处编辑母版标题样式</a:t>
            </a:r>
          </a:p>
        </p:txBody>
      </p:sp>
      <p:sp>
        <p:nvSpPr>
          <p:cNvPr id="3" name="文本占位符 2"/>
          <p:cNvSpPr>
            <a:spLocks noGrp="1"/>
          </p:cNvSpPr>
          <p:nvPr>
            <p:ph type="body" sz="half" idx="1"/>
          </p:nvPr>
        </p:nvSpPr>
        <p:spPr>
          <a:xfrm>
            <a:off x="998538" y="1717675"/>
            <a:ext cx="3740150" cy="43449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891088" y="1717675"/>
            <a:ext cx="3740150" cy="43449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Date Placeholder 9"/>
          <p:cNvSpPr>
            <a:spLocks noGrp="1"/>
          </p:cNvSpPr>
          <p:nvPr>
            <p:ph type="dt" sz="half" idx="10"/>
          </p:nvPr>
        </p:nvSpPr>
        <p:spPr/>
        <p:txBody>
          <a:bodyPr/>
          <a:lstStyle>
            <a:lvl1pPr>
              <a:defRPr/>
            </a:lvl1pPr>
          </a:lstStyle>
          <a:p>
            <a:pPr>
              <a:defRPr/>
            </a:pPr>
            <a:endParaRPr lang="en-US" altLang="zh-CN"/>
          </a:p>
        </p:txBody>
      </p:sp>
      <p:sp>
        <p:nvSpPr>
          <p:cNvPr id="6" name="Footer Placeholder 21"/>
          <p:cNvSpPr>
            <a:spLocks noGrp="1"/>
          </p:cNvSpPr>
          <p:nvPr>
            <p:ph type="ftr" sz="quarter" idx="11"/>
          </p:nvPr>
        </p:nvSpPr>
        <p:spPr/>
        <p:txBody>
          <a:bodyPr/>
          <a:lstStyle>
            <a:lvl1pPr>
              <a:defRPr/>
            </a:lvl1pPr>
          </a:lstStyle>
          <a:p>
            <a:pPr>
              <a:defRPr/>
            </a:pPr>
            <a:endParaRPr lang="en-US" altLang="zh-CN"/>
          </a:p>
        </p:txBody>
      </p:sp>
      <p:sp>
        <p:nvSpPr>
          <p:cNvPr id="7" name="Slide Number Placeholder 17"/>
          <p:cNvSpPr>
            <a:spLocks noGrp="1"/>
          </p:cNvSpPr>
          <p:nvPr>
            <p:ph type="sldNum" sz="quarter" idx="12"/>
          </p:nvPr>
        </p:nvSpPr>
        <p:spPr/>
        <p:txBody>
          <a:bodyPr/>
          <a:lstStyle>
            <a:lvl1pPr>
              <a:defRPr/>
            </a:lvl1pPr>
          </a:lstStyle>
          <a:p>
            <a:pPr>
              <a:defRPr/>
            </a:pPr>
            <a:fld id="{1E4B26E8-B1F5-4C1C-98C2-39480F355358}" type="slidenum">
              <a:rPr lang="en-US" altLang="zh-CN"/>
              <a:pPr>
                <a:defRPr/>
              </a:pPr>
              <a:t>‹#›</a:t>
            </a:fld>
            <a:endParaRPr lang="en-US" altLang="zh-CN"/>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81038" y="620713"/>
            <a:ext cx="7797800" cy="839787"/>
          </a:xfrm>
        </p:spPr>
        <p:txBody>
          <a:bodyPr/>
          <a:lstStyle/>
          <a:p>
            <a:r>
              <a:rPr lang="zh-CN" altLang="en-US"/>
              <a:t>单击此处编辑母版标题样式</a:t>
            </a:r>
          </a:p>
        </p:txBody>
      </p:sp>
      <p:sp>
        <p:nvSpPr>
          <p:cNvPr id="3" name="内容占位符 2"/>
          <p:cNvSpPr>
            <a:spLocks noGrp="1"/>
          </p:cNvSpPr>
          <p:nvPr>
            <p:ph sz="quarter" idx="1"/>
          </p:nvPr>
        </p:nvSpPr>
        <p:spPr>
          <a:xfrm>
            <a:off x="685800" y="1625600"/>
            <a:ext cx="3810000" cy="22288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625600"/>
            <a:ext cx="3810000" cy="22288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85800" y="4006850"/>
            <a:ext cx="3810000" cy="22304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4648200" y="4006850"/>
            <a:ext cx="3810000" cy="22304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8263525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938"/>
            <a:ext cx="916305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lgn="l" eaLnBrk="1" hangingPunct="1">
              <a:defRPr/>
            </a:pPr>
            <a:endParaRPr lang="en-US">
              <a:latin typeface="+mn-lt"/>
              <a:ea typeface="+mn-ea"/>
            </a:endParaRPr>
          </a:p>
        </p:txBody>
      </p:sp>
      <p:sp>
        <p:nvSpPr>
          <p:cNvPr id="8" name="Freeform 7"/>
          <p:cNvSpPr>
            <a:spLocks/>
          </p:cNvSpPr>
          <p:nvPr/>
        </p:nvSpPr>
        <p:spPr bwMode="auto">
          <a:xfrm>
            <a:off x="4381500" y="-7938"/>
            <a:ext cx="47625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lgn="l" eaLnBrk="1" hangingPunct="1">
              <a:defRPr/>
            </a:pPr>
            <a:endParaRPr lang="en-US">
              <a:latin typeface="+mn-lt"/>
              <a:ea typeface="+mn-ea"/>
            </a:endParaRPr>
          </a:p>
        </p:txBody>
      </p:sp>
      <p:sp>
        <p:nvSpPr>
          <p:cNvPr id="5124" name="Title Placeholder 8"/>
          <p:cNvSpPr>
            <a:spLocks noGrp="1"/>
          </p:cNvSpPr>
          <p:nvPr>
            <p:ph type="title"/>
          </p:nvPr>
        </p:nvSpPr>
        <p:spPr bwMode="auto">
          <a:xfrm>
            <a:off x="457200" y="704850"/>
            <a:ext cx="8229600" cy="1143000"/>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lvl="0"/>
            <a:r>
              <a:rPr lang="en-US" altLang="zh-CN"/>
              <a:t>Click to edit Master title style</a:t>
            </a:r>
          </a:p>
        </p:txBody>
      </p:sp>
      <p:sp>
        <p:nvSpPr>
          <p:cNvPr id="5125" name="Text Placeholder 29"/>
          <p:cNvSpPr>
            <a:spLocks noGrp="1"/>
          </p:cNvSpPr>
          <p:nvPr>
            <p:ph type="body" idx="1"/>
          </p:nvPr>
        </p:nvSpPr>
        <p:spPr bwMode="auto">
          <a:xfrm>
            <a:off x="457200" y="1935163"/>
            <a:ext cx="8229600" cy="43894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defRPr/>
            </a:pPr>
            <a:endParaRPr lang="en-US" altLang="zh-CN"/>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defRPr/>
            </a:pPr>
            <a:endParaRPr lang="en-US" altLang="zh-CN"/>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pPr>
              <a:defRPr/>
            </a:pPr>
            <a:fld id="{4FA76B35-18D1-42EA-93F7-A05E4DE01672}" type="slidenum">
              <a:rPr lang="en-US" altLang="zh-CN"/>
              <a:pPr>
                <a:defRPr/>
              </a:pPr>
              <a:t>‹#›</a:t>
            </a:fld>
            <a:endParaRPr lang="en-US" altLang="zh-CN"/>
          </a:p>
        </p:txBody>
      </p:sp>
      <p:grpSp>
        <p:nvGrpSpPr>
          <p:cNvPr id="5129" name="Group 1"/>
          <p:cNvGrpSpPr>
            <a:grpSpLocks/>
          </p:cNvGrpSpPr>
          <p:nvPr/>
        </p:nvGrpSpPr>
        <p:grpSpPr bwMode="auto">
          <a:xfrm>
            <a:off x="-19050" y="203200"/>
            <a:ext cx="9180513" cy="647700"/>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a:defRPr/>
              </a:pPr>
              <a:endParaRPr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a:defRPr/>
              </a:pPr>
              <a:endParaRPr lang="en-US"/>
            </a:p>
          </p:txBody>
        </p:sp>
      </p:grpSp>
    </p:spTree>
  </p:cSld>
  <p:clrMap bg1="lt1" tx1="dk1" bg2="lt2" tx2="dk2" accent1="accent1" accent2="accent2" accent3="accent3" accent4="accent4" accent5="accent5" accent6="accent6" hlink="hlink" folHlink="folHlink"/>
  <p:sldLayoutIdLst>
    <p:sldLayoutId id="2147483943" r:id="rId1"/>
    <p:sldLayoutId id="2147483934" r:id="rId2"/>
    <p:sldLayoutId id="2147483944" r:id="rId3"/>
    <p:sldLayoutId id="2147483935" r:id="rId4"/>
    <p:sldLayoutId id="2147483936" r:id="rId5"/>
    <p:sldLayoutId id="2147483937" r:id="rId6"/>
    <p:sldLayoutId id="2147483938" r:id="rId7"/>
    <p:sldLayoutId id="2147483939" r:id="rId8"/>
    <p:sldLayoutId id="2147483945" r:id="rId9"/>
    <p:sldLayoutId id="2147483940" r:id="rId10"/>
    <p:sldLayoutId id="2147483941" r:id="rId11"/>
    <p:sldLayoutId id="2147483942" r:id="rId12"/>
    <p:sldLayoutId id="2147483946" r:id="rId13"/>
  </p:sldLayoutIdLst>
  <p:hf hdr="0" ftr="0" dt="0"/>
  <p:txStyles>
    <p:titleStyle>
      <a:lvl1pPr algn="l" rtl="0" eaLnBrk="0" fontAlgn="base" hangingPunct="0">
        <a:spcBef>
          <a:spcPct val="0"/>
        </a:spcBef>
        <a:spcAft>
          <a:spcPct val="0"/>
        </a:spcAft>
        <a:defRPr sz="5000" kern="1200">
          <a:solidFill>
            <a:schemeClr val="tx2"/>
          </a:solidFill>
          <a:latin typeface="+mj-lt"/>
          <a:ea typeface="+mj-ea"/>
          <a:cs typeface="+mj-cs"/>
        </a:defRPr>
      </a:lvl1pPr>
      <a:lvl2pPr algn="l" rtl="0" eaLnBrk="0" fontAlgn="base" hangingPunct="0">
        <a:spcBef>
          <a:spcPct val="0"/>
        </a:spcBef>
        <a:spcAft>
          <a:spcPct val="0"/>
        </a:spcAft>
        <a:defRPr sz="5000">
          <a:solidFill>
            <a:schemeClr val="tx2"/>
          </a:solidFill>
          <a:latin typeface="Calibri" pitchFamily="34" charset="0"/>
          <a:ea typeface="隶书" pitchFamily="49" charset="-122"/>
        </a:defRPr>
      </a:lvl2pPr>
      <a:lvl3pPr algn="l" rtl="0" eaLnBrk="0" fontAlgn="base" hangingPunct="0">
        <a:spcBef>
          <a:spcPct val="0"/>
        </a:spcBef>
        <a:spcAft>
          <a:spcPct val="0"/>
        </a:spcAft>
        <a:defRPr sz="5000">
          <a:solidFill>
            <a:schemeClr val="tx2"/>
          </a:solidFill>
          <a:latin typeface="Calibri" pitchFamily="34" charset="0"/>
          <a:ea typeface="隶书" pitchFamily="49" charset="-122"/>
        </a:defRPr>
      </a:lvl3pPr>
      <a:lvl4pPr algn="l" rtl="0" eaLnBrk="0" fontAlgn="base" hangingPunct="0">
        <a:spcBef>
          <a:spcPct val="0"/>
        </a:spcBef>
        <a:spcAft>
          <a:spcPct val="0"/>
        </a:spcAft>
        <a:defRPr sz="5000">
          <a:solidFill>
            <a:schemeClr val="tx2"/>
          </a:solidFill>
          <a:latin typeface="Calibri" pitchFamily="34" charset="0"/>
          <a:ea typeface="隶书" pitchFamily="49" charset="-122"/>
        </a:defRPr>
      </a:lvl4pPr>
      <a:lvl5pPr algn="l" rtl="0" eaLnBrk="0" fontAlgn="base" hangingPunct="0">
        <a:spcBef>
          <a:spcPct val="0"/>
        </a:spcBef>
        <a:spcAft>
          <a:spcPct val="0"/>
        </a:spcAft>
        <a:defRPr sz="5000">
          <a:solidFill>
            <a:schemeClr val="tx2"/>
          </a:solidFill>
          <a:latin typeface="Calibri" pitchFamily="34" charset="0"/>
          <a:ea typeface="隶书" pitchFamily="49" charset="-122"/>
        </a:defRPr>
      </a:lvl5pPr>
      <a:lvl6pPr marL="457200" algn="l" rtl="0" fontAlgn="base">
        <a:spcBef>
          <a:spcPct val="0"/>
        </a:spcBef>
        <a:spcAft>
          <a:spcPct val="0"/>
        </a:spcAft>
        <a:defRPr sz="5000">
          <a:solidFill>
            <a:schemeClr val="tx2"/>
          </a:solidFill>
          <a:latin typeface="Calibri" pitchFamily="34" charset="0"/>
          <a:ea typeface="隶书" pitchFamily="49" charset="-122"/>
        </a:defRPr>
      </a:lvl6pPr>
      <a:lvl7pPr marL="914400" algn="l" rtl="0" fontAlgn="base">
        <a:spcBef>
          <a:spcPct val="0"/>
        </a:spcBef>
        <a:spcAft>
          <a:spcPct val="0"/>
        </a:spcAft>
        <a:defRPr sz="5000">
          <a:solidFill>
            <a:schemeClr val="tx2"/>
          </a:solidFill>
          <a:latin typeface="Calibri" pitchFamily="34" charset="0"/>
          <a:ea typeface="隶书" pitchFamily="49" charset="-122"/>
        </a:defRPr>
      </a:lvl7pPr>
      <a:lvl8pPr marL="1371600" algn="l" rtl="0" fontAlgn="base">
        <a:spcBef>
          <a:spcPct val="0"/>
        </a:spcBef>
        <a:spcAft>
          <a:spcPct val="0"/>
        </a:spcAft>
        <a:defRPr sz="5000">
          <a:solidFill>
            <a:schemeClr val="tx2"/>
          </a:solidFill>
          <a:latin typeface="Calibri" pitchFamily="34" charset="0"/>
          <a:ea typeface="隶书" pitchFamily="49" charset="-122"/>
        </a:defRPr>
      </a:lvl8pPr>
      <a:lvl9pPr marL="1828800" algn="l" rtl="0" fontAlgn="base">
        <a:spcBef>
          <a:spcPct val="0"/>
        </a:spcBef>
        <a:spcAft>
          <a:spcPct val="0"/>
        </a:spcAft>
        <a:defRPr sz="5000">
          <a:solidFill>
            <a:schemeClr val="tx2"/>
          </a:solidFill>
          <a:latin typeface="Calibri" pitchFamily="34" charset="0"/>
          <a:ea typeface="隶书" pitchFamily="49" charset="-122"/>
        </a:defRPr>
      </a:lvl9pPr>
    </p:titleStyle>
    <p:body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39763" indent="-246063"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063"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088"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5.emf"/></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6.emf"/></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7.emf"/></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p:cNvSpPr>
            <a:spLocks noGrp="1"/>
          </p:cNvSpPr>
          <p:nvPr>
            <p:ph type="title"/>
          </p:nvPr>
        </p:nvSpPr>
        <p:spPr/>
        <p:txBody>
          <a:bodyPr/>
          <a:lstStyle/>
          <a:p>
            <a:r>
              <a:rPr lang="zh-CN" altLang="en-US" dirty="0">
                <a:solidFill>
                  <a:schemeClr val="tx1"/>
                </a:solidFill>
                <a:latin typeface="黑体" pitchFamily="2" charset="-122"/>
                <a:ea typeface="黑体" pitchFamily="2" charset="-122"/>
              </a:rPr>
              <a:t>第</a:t>
            </a:r>
            <a:r>
              <a:rPr lang="en-US" altLang="zh-CN" dirty="0">
                <a:solidFill>
                  <a:schemeClr val="tx1"/>
                </a:solidFill>
                <a:latin typeface="黑体" pitchFamily="2" charset="-122"/>
                <a:ea typeface="黑体" pitchFamily="2" charset="-122"/>
              </a:rPr>
              <a:t>4</a:t>
            </a:r>
            <a:r>
              <a:rPr lang="zh-CN" altLang="en-US" dirty="0">
                <a:solidFill>
                  <a:schemeClr val="tx1"/>
                </a:solidFill>
                <a:latin typeface="黑体" pitchFamily="2" charset="-122"/>
                <a:ea typeface="黑体" pitchFamily="2" charset="-122"/>
              </a:rPr>
              <a:t>章 数组</a:t>
            </a:r>
            <a:endParaRPr lang="zh-CN" altLang="en-US" dirty="0"/>
          </a:p>
        </p:txBody>
      </p:sp>
      <p:sp>
        <p:nvSpPr>
          <p:cNvPr id="3" name="内容占位符 2"/>
          <p:cNvSpPr>
            <a:spLocks noGrp="1"/>
          </p:cNvSpPr>
          <p:nvPr>
            <p:ph idx="1"/>
          </p:nvPr>
        </p:nvSpPr>
        <p:spPr/>
        <p:txBody>
          <a:bodyPr/>
          <a:lstStyle/>
          <a:p>
            <a:pPr>
              <a:defRPr/>
            </a:pPr>
            <a:r>
              <a:rPr lang="zh-CN" altLang="en-US" sz="2400" b="1" dirty="0">
                <a:effectLst>
                  <a:outerShdw blurRad="38100" dist="38100" dir="2700000" algn="tl">
                    <a:srgbClr val="C0C0C0"/>
                  </a:outerShdw>
                </a:effectLst>
                <a:latin typeface="楷体_GB2312" pitchFamily="49" charset="-122"/>
                <a:ea typeface="楷体_GB2312" pitchFamily="49" charset="-122"/>
              </a:rPr>
              <a:t>程序设计语言提供构造各种结构化数据类型的方法。结构化数据是由若干基本数据类型或其他结构化数据按一定的方法构建起来的，使用结构化数据类型来描述。</a:t>
            </a:r>
            <a:endParaRPr lang="en-US" altLang="zh-CN" sz="2400" b="1" dirty="0">
              <a:effectLst>
                <a:outerShdw blurRad="38100" dist="38100" dir="2700000" algn="tl">
                  <a:srgbClr val="C0C0C0"/>
                </a:outerShdw>
              </a:effectLst>
              <a:latin typeface="楷体_GB2312" pitchFamily="49" charset="-122"/>
              <a:ea typeface="楷体_GB2312" pitchFamily="49" charset="-122"/>
            </a:endParaRPr>
          </a:p>
          <a:p>
            <a:pPr>
              <a:defRPr/>
            </a:pPr>
            <a:endParaRPr lang="en-US" altLang="zh-CN" sz="2400" b="1" dirty="0">
              <a:effectLst>
                <a:outerShdw blurRad="38100" dist="38100" dir="2700000" algn="tl">
                  <a:srgbClr val="C0C0C0"/>
                </a:outerShdw>
              </a:effectLst>
              <a:latin typeface="楷体_GB2312" pitchFamily="49" charset="-122"/>
              <a:ea typeface="楷体_GB2312" pitchFamily="49" charset="-122"/>
            </a:endParaRPr>
          </a:p>
          <a:p>
            <a:pPr>
              <a:defRPr/>
            </a:pPr>
            <a:r>
              <a:rPr lang="zh-CN" altLang="en-US" sz="2400" b="1" dirty="0">
                <a:effectLst>
                  <a:outerShdw blurRad="38100" dist="38100" dir="2700000" algn="tl">
                    <a:srgbClr val="C0C0C0"/>
                  </a:outerShdw>
                </a:effectLst>
                <a:latin typeface="楷体_GB2312" pitchFamily="49" charset="-122"/>
                <a:ea typeface="楷体_GB2312" pitchFamily="49" charset="-122"/>
              </a:rPr>
              <a:t>结构化数据类型需要指定结构内的数据元素（成分）的数据类型和名称，数据元素的个数以及规定引用数据元素的方法。</a:t>
            </a:r>
            <a:endParaRPr lang="en-US" altLang="zh-CN" sz="2400" b="1" dirty="0">
              <a:effectLst>
                <a:outerShdw blurRad="38100" dist="38100" dir="2700000" algn="tl">
                  <a:srgbClr val="C0C0C0"/>
                </a:outerShdw>
              </a:effectLst>
              <a:latin typeface="楷体_GB2312" pitchFamily="49" charset="-122"/>
              <a:ea typeface="楷体_GB2312" pitchFamily="49" charset="-122"/>
            </a:endParaRPr>
          </a:p>
          <a:p>
            <a:pPr>
              <a:defRPr/>
            </a:pPr>
            <a:endParaRPr lang="en-US" altLang="zh-CN" sz="2400" b="1" dirty="0">
              <a:effectLst>
                <a:outerShdw blurRad="38100" dist="38100" dir="2700000" algn="tl">
                  <a:srgbClr val="C0C0C0"/>
                </a:outerShdw>
              </a:effectLst>
              <a:latin typeface="楷体_GB2312" pitchFamily="49" charset="-122"/>
              <a:ea typeface="楷体_GB2312" pitchFamily="49" charset="-122"/>
            </a:endParaRPr>
          </a:p>
          <a:p>
            <a:pPr>
              <a:defRPr/>
            </a:pPr>
            <a:r>
              <a:rPr lang="zh-CN" altLang="en-US" sz="2400" b="1" dirty="0">
                <a:effectLst>
                  <a:outerShdw blurRad="38100" dist="38100" dir="2700000" algn="tl">
                    <a:srgbClr val="C0C0C0"/>
                  </a:outerShdw>
                </a:effectLst>
                <a:latin typeface="楷体_GB2312" pitchFamily="49" charset="-122"/>
                <a:ea typeface="楷体_GB2312" pitchFamily="49" charset="-122"/>
              </a:rPr>
              <a:t>最简单的结构化数据类型是线性表：每个数据元素都有相同的类型，数据元素间存在一种线性关系。将线性表的元素顺序存储是最简单的存储方式，称为顺序存储线性表。</a:t>
            </a:r>
          </a:p>
        </p:txBody>
      </p:sp>
      <p:sp>
        <p:nvSpPr>
          <p:cNvPr id="4" name="灯片编号占位符 3"/>
          <p:cNvSpPr>
            <a:spLocks noGrp="1"/>
          </p:cNvSpPr>
          <p:nvPr>
            <p:ph type="sldNum" sz="quarter" idx="12"/>
          </p:nvPr>
        </p:nvSpPr>
        <p:spPr/>
        <p:txBody>
          <a:bodyPr/>
          <a:lstStyle/>
          <a:p>
            <a:pPr>
              <a:defRPr/>
            </a:pPr>
            <a:fld id="{471C77AC-3E7E-42DB-8334-278EB5A97415}" type="slidenum">
              <a:rPr lang="en-US" altLang="zh-CN" smtClean="0"/>
              <a:pPr>
                <a:defRPr/>
              </a:pPr>
              <a:t>1</a:t>
            </a:fld>
            <a:endParaRPr lang="en-US" altLang="zh-CN"/>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5"/>
          <p:cNvSpPr>
            <a:spLocks noGrp="1" noChangeArrowheads="1"/>
          </p:cNvSpPr>
          <p:nvPr>
            <p:ph type="title"/>
          </p:nvPr>
        </p:nvSpPr>
        <p:spPr>
          <a:xfrm>
            <a:off x="900113" y="476250"/>
            <a:ext cx="7416800" cy="665163"/>
          </a:xfrm>
        </p:spPr>
        <p:txBody>
          <a:bodyPr>
            <a:normAutofit fontScale="90000"/>
          </a:bodyPr>
          <a:lstStyle/>
          <a:p>
            <a:pPr eaLnBrk="1" fontAlgn="auto" hangingPunct="1">
              <a:spcAft>
                <a:spcPts val="0"/>
              </a:spcAft>
              <a:defRPr/>
            </a:pPr>
            <a:endParaRPr lang="zh-CN" altLang="en-US" dirty="0">
              <a:solidFill>
                <a:schemeClr val="tx1"/>
              </a:solidFill>
              <a:latin typeface="黑体" pitchFamily="2" charset="-122"/>
              <a:ea typeface="黑体" pitchFamily="2" charset="-122"/>
            </a:endParaRPr>
          </a:p>
        </p:txBody>
      </p:sp>
      <p:sp>
        <p:nvSpPr>
          <p:cNvPr id="114690" name="Rectangle 2"/>
          <p:cNvSpPr>
            <a:spLocks noGrp="1" noChangeArrowheads="1"/>
          </p:cNvSpPr>
          <p:nvPr>
            <p:ph idx="1"/>
          </p:nvPr>
        </p:nvSpPr>
        <p:spPr>
          <a:xfrm>
            <a:off x="500063" y="1700213"/>
            <a:ext cx="8143875" cy="4751387"/>
          </a:xfrm>
        </p:spPr>
        <p:txBody>
          <a:bodyPr>
            <a:normAutofit/>
          </a:bodyPr>
          <a:lstStyle/>
          <a:p>
            <a:pPr marL="0" indent="0" defTabSz="711200"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rPr>
              <a:t>本章学习的目标：</a:t>
            </a:r>
          </a:p>
          <a:p>
            <a:pPr marL="0" indent="0" defTabSz="711200" eaLnBrk="1" fontAlgn="auto" hangingPunct="1">
              <a:spcAft>
                <a:spcPts val="0"/>
              </a:spcAft>
              <a:buClr>
                <a:schemeClr val="accent3"/>
              </a:buClr>
              <a:buFont typeface="Wingdings" pitchFamily="2" charset="2"/>
              <a:buNone/>
              <a:defRPr/>
            </a:pPr>
            <a:r>
              <a:rPr lang="en-US" altLang="zh-CN" sz="2400" b="1" dirty="0">
                <a:effectLst>
                  <a:outerShdw blurRad="38100" dist="38100" dir="2700000" algn="tl">
                    <a:srgbClr val="C0C0C0"/>
                  </a:outerShdw>
                </a:effectLst>
                <a:latin typeface="楷体_GB2312" pitchFamily="49" charset="-122"/>
                <a:ea typeface="楷体_GB2312" pitchFamily="49" charset="-122"/>
              </a:rPr>
              <a:t>1</a:t>
            </a:r>
            <a:r>
              <a:rPr lang="zh-CN" altLang="en-US" sz="2400" b="1" dirty="0">
                <a:effectLst>
                  <a:outerShdw blurRad="38100" dist="38100" dir="2700000" algn="tl">
                    <a:srgbClr val="C0C0C0"/>
                  </a:outerShdw>
                </a:effectLst>
                <a:latin typeface="楷体_GB2312" pitchFamily="49" charset="-122"/>
                <a:ea typeface="楷体_GB2312" pitchFamily="49" charset="-122"/>
              </a:rPr>
              <a:t>、掌握数组的基本概念；</a:t>
            </a:r>
          </a:p>
          <a:p>
            <a:pPr marL="0" indent="0" defTabSz="711200" eaLnBrk="1" fontAlgn="auto" hangingPunct="1">
              <a:spcAft>
                <a:spcPts val="0"/>
              </a:spcAft>
              <a:buClr>
                <a:schemeClr val="accent3"/>
              </a:buClr>
              <a:buFont typeface="Wingdings" pitchFamily="2" charset="2"/>
              <a:buNone/>
              <a:defRPr/>
            </a:pPr>
            <a:r>
              <a:rPr lang="en-US" altLang="zh-CN" sz="2400" b="1" dirty="0">
                <a:effectLst>
                  <a:outerShdw blurRad="38100" dist="38100" dir="2700000" algn="tl">
                    <a:srgbClr val="C0C0C0"/>
                  </a:outerShdw>
                </a:effectLst>
                <a:latin typeface="楷体_GB2312" pitchFamily="49" charset="-122"/>
                <a:ea typeface="楷体_GB2312" pitchFamily="49" charset="-122"/>
              </a:rPr>
              <a:t>2</a:t>
            </a:r>
            <a:r>
              <a:rPr lang="zh-CN" altLang="en-US" sz="2400" b="1" dirty="0">
                <a:effectLst>
                  <a:outerShdw blurRad="38100" dist="38100" dir="2700000" algn="tl">
                    <a:srgbClr val="C0C0C0"/>
                  </a:outerShdw>
                </a:effectLst>
                <a:latin typeface="楷体_GB2312" pitchFamily="49" charset="-122"/>
                <a:ea typeface="楷体_GB2312" pitchFamily="49" charset="-122"/>
              </a:rPr>
              <a:t>、掌握数组定义、数组初始化、引用数组元素的方法；</a:t>
            </a:r>
          </a:p>
          <a:p>
            <a:pPr marL="0" indent="0" defTabSz="711200" eaLnBrk="1" fontAlgn="auto" hangingPunct="1">
              <a:spcAft>
                <a:spcPts val="0"/>
              </a:spcAft>
              <a:buClr>
                <a:schemeClr val="accent3"/>
              </a:buClr>
              <a:buFont typeface="Wingdings" pitchFamily="2" charset="2"/>
              <a:buNone/>
              <a:defRPr/>
            </a:pPr>
            <a:r>
              <a:rPr lang="en-US" altLang="zh-CN" sz="2400" b="1" dirty="0">
                <a:effectLst>
                  <a:outerShdw blurRad="38100" dist="38100" dir="2700000" algn="tl">
                    <a:srgbClr val="C0C0C0"/>
                  </a:outerShdw>
                </a:effectLst>
                <a:latin typeface="楷体_GB2312" pitchFamily="49" charset="-122"/>
                <a:ea typeface="楷体_GB2312" pitchFamily="49" charset="-122"/>
              </a:rPr>
              <a:t>3</a:t>
            </a:r>
            <a:r>
              <a:rPr lang="zh-CN" altLang="en-US" sz="2400" b="1" dirty="0">
                <a:effectLst>
                  <a:outerShdw blurRad="38100" dist="38100" dir="2700000" algn="tl">
                    <a:srgbClr val="C0C0C0"/>
                  </a:outerShdw>
                </a:effectLst>
                <a:latin typeface="楷体_GB2312" pitchFamily="49" charset="-122"/>
                <a:ea typeface="楷体_GB2312" pitchFamily="49" charset="-122"/>
              </a:rPr>
              <a:t>、掌握数组输入、输出、统计、遍历、整理、排序等实现技术；</a:t>
            </a:r>
          </a:p>
          <a:p>
            <a:pPr marL="0" indent="0" defTabSz="711200" eaLnBrk="1" fontAlgn="auto" hangingPunct="1">
              <a:spcAft>
                <a:spcPts val="0"/>
              </a:spcAft>
              <a:buClr>
                <a:schemeClr val="accent3"/>
              </a:buClr>
              <a:buFont typeface="Wingdings" pitchFamily="2" charset="2"/>
              <a:buNone/>
              <a:defRPr/>
            </a:pPr>
            <a:r>
              <a:rPr lang="en-US" altLang="zh-CN" sz="2400" b="1" dirty="0">
                <a:effectLst>
                  <a:outerShdw blurRad="38100" dist="38100" dir="2700000" algn="tl">
                    <a:srgbClr val="C0C0C0"/>
                  </a:outerShdw>
                </a:effectLst>
                <a:latin typeface="楷体_GB2312" pitchFamily="49" charset="-122"/>
                <a:ea typeface="楷体_GB2312" pitchFamily="49" charset="-122"/>
              </a:rPr>
              <a:t>4</a:t>
            </a:r>
            <a:r>
              <a:rPr lang="zh-CN" altLang="en-US" sz="2400" b="1" dirty="0">
                <a:effectLst>
                  <a:outerShdw blurRad="38100" dist="38100" dir="2700000" algn="tl">
                    <a:srgbClr val="C0C0C0"/>
                  </a:outerShdw>
                </a:effectLst>
                <a:latin typeface="楷体_GB2312" pitchFamily="49" charset="-122"/>
                <a:ea typeface="楷体_GB2312" pitchFamily="49" charset="-122"/>
              </a:rPr>
              <a:t>、掌握多维数组的定义、多维数组元素的引用方法，多维数组上的简单操作的实现技术；</a:t>
            </a:r>
          </a:p>
          <a:p>
            <a:pPr marL="0" indent="0" defTabSz="711200" eaLnBrk="1" fontAlgn="auto" hangingPunct="1">
              <a:spcAft>
                <a:spcPts val="0"/>
              </a:spcAft>
              <a:buClr>
                <a:schemeClr val="accent3"/>
              </a:buClr>
              <a:buFont typeface="Wingdings" pitchFamily="2" charset="2"/>
              <a:buNone/>
              <a:defRPr/>
            </a:pPr>
            <a:r>
              <a:rPr lang="en-US" altLang="zh-CN" sz="2400" b="1" dirty="0">
                <a:effectLst>
                  <a:outerShdw blurRad="38100" dist="38100" dir="2700000" algn="tl">
                    <a:srgbClr val="C0C0C0"/>
                  </a:outerShdw>
                </a:effectLst>
                <a:latin typeface="楷体_GB2312" pitchFamily="49" charset="-122"/>
                <a:ea typeface="楷体_GB2312" pitchFamily="49" charset="-122"/>
              </a:rPr>
              <a:t>5</a:t>
            </a:r>
            <a:r>
              <a:rPr lang="zh-CN" altLang="en-US" sz="2400" b="1" dirty="0">
                <a:effectLst>
                  <a:outerShdw blurRad="38100" dist="38100" dir="2700000" algn="tl">
                    <a:srgbClr val="C0C0C0"/>
                  </a:outerShdw>
                </a:effectLst>
                <a:latin typeface="楷体_GB2312" pitchFamily="49" charset="-122"/>
                <a:ea typeface="楷体_GB2312" pitchFamily="49" charset="-122"/>
              </a:rPr>
              <a:t>、掌握字符串的实现和字符串处理技术。</a:t>
            </a:r>
          </a:p>
        </p:txBody>
      </p:sp>
      <p:sp>
        <p:nvSpPr>
          <p:cNvPr id="6" name="灯片编号占位符 5"/>
          <p:cNvSpPr>
            <a:spLocks noGrp="1"/>
          </p:cNvSpPr>
          <p:nvPr>
            <p:ph type="sldNum" sz="quarter" idx="12"/>
          </p:nvPr>
        </p:nvSpPr>
        <p:spPr/>
        <p:txBody>
          <a:bodyPr/>
          <a:lstStyle/>
          <a:p>
            <a:pPr>
              <a:defRPr/>
            </a:pPr>
            <a:fld id="{DFAE4562-FCA1-4D71-91CA-4BE6DC590AB7}" type="slidenum">
              <a:rPr lang="en-US" altLang="zh-CN"/>
              <a:pPr>
                <a:defRPr/>
              </a:pPr>
              <a:t>2</a:t>
            </a:fld>
            <a:endParaRPr lang="en-US" altLang="zh-CN"/>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5"/>
          <p:cNvSpPr>
            <a:spLocks noGrp="1" noChangeArrowheads="1"/>
          </p:cNvSpPr>
          <p:nvPr>
            <p:ph type="title"/>
          </p:nvPr>
        </p:nvSpPr>
        <p:spPr>
          <a:xfrm>
            <a:off x="539750" y="260350"/>
            <a:ext cx="8088313" cy="793750"/>
          </a:xfrm>
        </p:spPr>
        <p:txBody>
          <a:bodyPr>
            <a:normAutofit fontScale="90000"/>
          </a:bodyPr>
          <a:lstStyle/>
          <a:p>
            <a:pPr eaLnBrk="1" fontAlgn="auto" hangingPunct="1">
              <a:spcAft>
                <a:spcPts val="0"/>
              </a:spcAft>
              <a:defRPr/>
            </a:pPr>
            <a:r>
              <a:rPr lang="en-US" altLang="zh-CN" b="1" dirty="0">
                <a:solidFill>
                  <a:schemeClr val="tx1"/>
                </a:solidFill>
                <a:latin typeface="黑体" pitchFamily="2" charset="-122"/>
                <a:ea typeface="黑体" pitchFamily="2" charset="-122"/>
              </a:rPr>
              <a:t>4.1  </a:t>
            </a:r>
            <a:r>
              <a:rPr lang="zh-CN" altLang="en-US" b="1" dirty="0">
                <a:solidFill>
                  <a:schemeClr val="tx1"/>
                </a:solidFill>
                <a:latin typeface="黑体" pitchFamily="2" charset="-122"/>
                <a:ea typeface="黑体" pitchFamily="2" charset="-122"/>
              </a:rPr>
              <a:t>数组的基本概念</a:t>
            </a:r>
          </a:p>
        </p:txBody>
      </p:sp>
      <p:sp>
        <p:nvSpPr>
          <p:cNvPr id="115714" name="Rectangle 2"/>
          <p:cNvSpPr>
            <a:spLocks noGrp="1" noChangeArrowheads="1"/>
          </p:cNvSpPr>
          <p:nvPr>
            <p:ph idx="1"/>
          </p:nvPr>
        </p:nvSpPr>
        <p:spPr>
          <a:xfrm>
            <a:off x="395288" y="2071688"/>
            <a:ext cx="8439150" cy="4476750"/>
          </a:xfrm>
        </p:spPr>
        <p:txBody>
          <a:bodyPr>
            <a:normAutofit/>
          </a:bodyPr>
          <a:lstStyle/>
          <a:p>
            <a:pPr marL="0" indent="0" algn="just" eaLnBrk="1" fontAlgn="auto" hangingPunct="1">
              <a:spcAft>
                <a:spcPts val="0"/>
              </a:spcAft>
              <a:buClr>
                <a:schemeClr val="accent3"/>
              </a:buClr>
              <a:buFont typeface="Wingdings" pitchFamily="2" charset="2"/>
              <a:buNone/>
              <a:defRPr/>
            </a:pPr>
            <a:r>
              <a:rPr lang="zh-CN" altLang="en-US" sz="3600" b="1" dirty="0">
                <a:effectLst>
                  <a:outerShdw blurRad="38100" dist="38100" dir="2700000" algn="tl">
                    <a:srgbClr val="C0C0C0"/>
                  </a:outerShdw>
                </a:effectLst>
                <a:latin typeface="Times New Roman" pitchFamily="18" charset="0"/>
              </a:rPr>
              <a:t>数组是由若干</a:t>
            </a:r>
            <a:r>
              <a:rPr lang="zh-CN" altLang="en-US" sz="3600" b="1" dirty="0">
                <a:solidFill>
                  <a:srgbClr val="C00000"/>
                </a:solidFill>
                <a:effectLst>
                  <a:outerShdw blurRad="38100" dist="38100" dir="2700000" algn="tl">
                    <a:srgbClr val="C0C0C0"/>
                  </a:outerShdw>
                </a:effectLst>
                <a:latin typeface="Times New Roman" pitchFamily="18" charset="0"/>
              </a:rPr>
              <a:t>同类元素</a:t>
            </a:r>
            <a:r>
              <a:rPr lang="zh-CN" altLang="en-US" sz="3600" b="1" dirty="0">
                <a:effectLst>
                  <a:outerShdw blurRad="38100" dist="38100" dir="2700000" algn="tl">
                    <a:srgbClr val="C0C0C0"/>
                  </a:outerShdw>
                </a:effectLst>
                <a:latin typeface="Times New Roman" pitchFamily="18" charset="0"/>
              </a:rPr>
              <a:t>组成的数据对象。</a:t>
            </a:r>
            <a:endParaRPr lang="zh-CN" altLang="en-US" sz="2800" b="1" dirty="0">
              <a:effectLst>
                <a:outerShdw blurRad="38100" dist="38100" dir="2700000" algn="tl">
                  <a:srgbClr val="C0C0C0"/>
                </a:outerShdw>
              </a:effectLst>
              <a:latin typeface="Times New Roman" pitchFamily="18" charset="0"/>
            </a:endParaRPr>
          </a:p>
          <a:p>
            <a:pPr marL="0" indent="0" algn="just" eaLnBrk="1" fontAlgn="auto" hangingPunct="1">
              <a:spcAft>
                <a:spcPts val="0"/>
              </a:spcAft>
              <a:buClr>
                <a:schemeClr val="accent3"/>
              </a:buClr>
              <a:buFont typeface="Wingdings" pitchFamily="2" charset="2"/>
              <a:buNone/>
              <a:defRPr/>
            </a:pPr>
            <a:r>
              <a:rPr lang="en-US" altLang="zh-CN" sz="2800" b="1" dirty="0" err="1">
                <a:latin typeface="黑体" pitchFamily="2" charset="-122"/>
              </a:rPr>
              <a:t>int</a:t>
            </a:r>
            <a:r>
              <a:rPr lang="en-US" altLang="zh-CN" sz="2800" b="1" dirty="0">
                <a:latin typeface="黑体" pitchFamily="2" charset="-122"/>
              </a:rPr>
              <a:t> </a:t>
            </a:r>
            <a:r>
              <a:rPr lang="en-US" altLang="zh-CN" sz="2800" b="1" dirty="0" err="1">
                <a:latin typeface="黑体" pitchFamily="2" charset="-122"/>
              </a:rPr>
              <a:t>scoreP</a:t>
            </a:r>
            <a:r>
              <a:rPr lang="en-US" altLang="zh-CN" sz="2800" b="1" dirty="0">
                <a:latin typeface="黑体" pitchFamily="2" charset="-122"/>
              </a:rPr>
              <a:t>[40];</a:t>
            </a:r>
            <a:r>
              <a:rPr lang="en-US" altLang="zh-CN" sz="2800" b="1" dirty="0">
                <a:latin typeface="宋体" pitchFamily="2" charset="-122"/>
              </a:rPr>
              <a:t> </a:t>
            </a:r>
            <a:r>
              <a:rPr lang="en-US" altLang="zh-CN" sz="2800" b="1" dirty="0">
                <a:latin typeface="黑体" pitchFamily="2" charset="-122"/>
              </a:rPr>
              <a:t>/* 40</a:t>
            </a:r>
            <a:r>
              <a:rPr lang="zh-CN" altLang="en-US" sz="2800" b="1" dirty="0">
                <a:latin typeface="黑体" pitchFamily="2" charset="-122"/>
              </a:rPr>
              <a:t>名学生的程序设计成绩 *</a:t>
            </a:r>
            <a:r>
              <a:rPr lang="en-US" altLang="zh-CN" sz="2800" b="1" dirty="0">
                <a:latin typeface="黑体" pitchFamily="2" charset="-122"/>
              </a:rPr>
              <a:t>/</a:t>
            </a:r>
          </a:p>
          <a:p>
            <a:pPr marL="0" indent="0" algn="just" eaLnBrk="1" fontAlgn="auto" hangingPunct="1">
              <a:spcAft>
                <a:spcPts val="0"/>
              </a:spcAft>
              <a:buClr>
                <a:schemeClr val="accent3"/>
              </a:buClr>
              <a:buFont typeface="Wingdings" pitchFamily="2" charset="2"/>
              <a:buNone/>
              <a:defRPr/>
            </a:pPr>
            <a:r>
              <a:rPr lang="en-US" altLang="zh-CN" sz="2800" b="1" dirty="0">
                <a:latin typeface="黑体" pitchFamily="2" charset="-122"/>
              </a:rPr>
              <a:t>char s[120];</a:t>
            </a:r>
            <a:r>
              <a:rPr lang="en-US" altLang="zh-CN" sz="2800" b="1" dirty="0">
                <a:latin typeface="宋体" pitchFamily="2" charset="-122"/>
              </a:rPr>
              <a:t> </a:t>
            </a:r>
            <a:r>
              <a:rPr lang="en-US" altLang="zh-CN" sz="2800" b="1" dirty="0">
                <a:latin typeface="黑体" pitchFamily="2" charset="-122"/>
              </a:rPr>
              <a:t>/* 多至120个</a:t>
            </a:r>
            <a:r>
              <a:rPr lang="zh-CN" altLang="en-US" sz="2800" b="1" dirty="0">
                <a:latin typeface="黑体" pitchFamily="2" charset="-122"/>
              </a:rPr>
              <a:t>字符的字符列 *</a:t>
            </a:r>
            <a:r>
              <a:rPr lang="en-US" altLang="zh-CN" sz="2800" b="1" dirty="0">
                <a:latin typeface="黑体" pitchFamily="2" charset="-122"/>
              </a:rPr>
              <a:t>/</a:t>
            </a:r>
          </a:p>
          <a:p>
            <a:pPr marL="0" indent="0" algn="just" eaLnBrk="1" fontAlgn="auto" hangingPunct="1">
              <a:spcAft>
                <a:spcPts val="0"/>
              </a:spcAft>
              <a:buClr>
                <a:schemeClr val="accent3"/>
              </a:buClr>
              <a:buFont typeface="Wingdings" pitchFamily="2" charset="2"/>
              <a:buNone/>
              <a:defRPr/>
            </a:pPr>
            <a:r>
              <a:rPr lang="en-US" altLang="zh-CN" sz="2800" b="1" dirty="0" err="1">
                <a:latin typeface="黑体" pitchFamily="2" charset="-122"/>
              </a:rPr>
              <a:t>int</a:t>
            </a:r>
            <a:r>
              <a:rPr lang="en-US" altLang="zh-CN" sz="2800" b="1" dirty="0">
                <a:latin typeface="黑体" pitchFamily="2" charset="-122"/>
              </a:rPr>
              <a:t> </a:t>
            </a:r>
            <a:r>
              <a:rPr lang="en-US" altLang="zh-CN" sz="2800" b="1" dirty="0" err="1">
                <a:latin typeface="黑体" pitchFamily="2" charset="-122"/>
              </a:rPr>
              <a:t>intVector</a:t>
            </a:r>
            <a:r>
              <a:rPr lang="en-US" altLang="zh-CN" sz="2800" b="1" dirty="0">
                <a:latin typeface="黑体" pitchFamily="2" charset="-122"/>
              </a:rPr>
              <a:t>[80];/* </a:t>
            </a:r>
            <a:r>
              <a:rPr lang="zh-CN" altLang="en-US" sz="2800" b="1" dirty="0">
                <a:latin typeface="黑体" pitchFamily="2" charset="-122"/>
              </a:rPr>
              <a:t>由</a:t>
            </a:r>
            <a:r>
              <a:rPr lang="en-US" altLang="zh-CN" sz="2800" b="1" dirty="0">
                <a:latin typeface="黑体" pitchFamily="2" charset="-122"/>
              </a:rPr>
              <a:t>80</a:t>
            </a:r>
            <a:r>
              <a:rPr lang="zh-CN" altLang="en-US" sz="2800" b="1" dirty="0">
                <a:latin typeface="黑体" pitchFamily="2" charset="-122"/>
              </a:rPr>
              <a:t>个整数组成的数表 *</a:t>
            </a:r>
            <a:r>
              <a:rPr lang="en-US" altLang="zh-CN" sz="2800" b="1" dirty="0">
                <a:latin typeface="黑体" pitchFamily="2" charset="-122"/>
              </a:rPr>
              <a:t>/</a:t>
            </a:r>
          </a:p>
          <a:p>
            <a:pPr marL="0" indent="0" algn="just" eaLnBrk="1" fontAlgn="auto" hangingPunct="1">
              <a:spcAft>
                <a:spcPts val="0"/>
              </a:spcAft>
              <a:buClr>
                <a:schemeClr val="accent3"/>
              </a:buClr>
              <a:buFont typeface="Monotype Sorts" pitchFamily="2" charset="2"/>
              <a:buNone/>
              <a:defRPr/>
            </a:pPr>
            <a:r>
              <a:rPr lang="zh-CN" altLang="en-US" sz="2800" b="1" dirty="0">
                <a:effectLst>
                  <a:outerShdw blurRad="38100" dist="38100" dir="2700000" algn="tl">
                    <a:srgbClr val="C0C0C0"/>
                  </a:outerShdw>
                </a:effectLst>
                <a:latin typeface="Times New Roman" pitchFamily="18" charset="0"/>
              </a:rPr>
              <a:t>一个矩阵可以用二维数组表示；</a:t>
            </a:r>
          </a:p>
          <a:p>
            <a:pPr marL="0" indent="0" algn="just" eaLnBrk="1" fontAlgn="auto" hangingPunct="1">
              <a:spcAft>
                <a:spcPts val="0"/>
              </a:spcAft>
              <a:buClr>
                <a:schemeClr val="accent3"/>
              </a:buClr>
              <a:buFont typeface="Wingdings" pitchFamily="2" charset="2"/>
              <a:buNone/>
              <a:defRPr/>
            </a:pPr>
            <a:r>
              <a:rPr lang="en-US" altLang="zh-CN" sz="2800" b="1" dirty="0">
                <a:latin typeface="黑体" pitchFamily="2" charset="-122"/>
              </a:rPr>
              <a:t>double matrix[40][50]; /*40</a:t>
            </a:r>
            <a:r>
              <a:rPr lang="zh-CN" altLang="en-US" sz="2800" b="1" dirty="0">
                <a:latin typeface="黑体" pitchFamily="2" charset="-122"/>
              </a:rPr>
              <a:t>行</a:t>
            </a:r>
            <a:r>
              <a:rPr lang="en-US" altLang="zh-CN" sz="2800" b="1" dirty="0">
                <a:latin typeface="黑体" pitchFamily="2" charset="-122"/>
              </a:rPr>
              <a:t>50</a:t>
            </a:r>
            <a:r>
              <a:rPr lang="zh-CN" altLang="en-US" sz="2800" b="1" dirty="0">
                <a:latin typeface="黑体" pitchFamily="2" charset="-122"/>
              </a:rPr>
              <a:t>列实数矩阵*</a:t>
            </a:r>
            <a:r>
              <a:rPr lang="en-US" altLang="zh-CN" sz="2800" b="1" dirty="0">
                <a:latin typeface="黑体" pitchFamily="2" charset="-122"/>
              </a:rPr>
              <a:t>/</a:t>
            </a:r>
          </a:p>
        </p:txBody>
      </p:sp>
      <p:sp>
        <p:nvSpPr>
          <p:cNvPr id="6" name="灯片编号占位符 5"/>
          <p:cNvSpPr>
            <a:spLocks noGrp="1"/>
          </p:cNvSpPr>
          <p:nvPr>
            <p:ph type="sldNum" sz="quarter" idx="12"/>
          </p:nvPr>
        </p:nvSpPr>
        <p:spPr/>
        <p:txBody>
          <a:bodyPr/>
          <a:lstStyle/>
          <a:p>
            <a:pPr>
              <a:defRPr/>
            </a:pPr>
            <a:fld id="{E3CA33C2-1363-424E-A61C-09CAC14DECD0}" type="slidenum">
              <a:rPr lang="en-US" altLang="zh-CN"/>
              <a:pPr>
                <a:defRPr/>
              </a:pPr>
              <a:t>3</a:t>
            </a:fld>
            <a:endParaRPr lang="en-US" altLang="zh-CN"/>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idx="1"/>
          </p:nvPr>
        </p:nvSpPr>
        <p:spPr>
          <a:xfrm>
            <a:off x="250825" y="620713"/>
            <a:ext cx="8534400" cy="5424487"/>
          </a:xfrm>
        </p:spPr>
        <p:txBody>
          <a:bodyPr>
            <a:normAutofit/>
          </a:bodyPr>
          <a:lstStyle/>
          <a:p>
            <a:pPr marL="533400" indent="-533400" algn="just" eaLnBrk="1" fontAlgn="auto" hangingPunct="1">
              <a:lnSpc>
                <a:spcPct val="90000"/>
              </a:lnSpc>
              <a:spcAft>
                <a:spcPts val="0"/>
              </a:spcAft>
              <a:buClr>
                <a:schemeClr val="accent3"/>
              </a:buClr>
              <a:buFont typeface="Wingdings" pitchFamily="2" charset="2"/>
              <a:buNone/>
              <a:defRPr/>
            </a:pPr>
            <a:r>
              <a:rPr lang="zh-CN" altLang="en-US" sz="2800" b="1" dirty="0">
                <a:effectLst>
                  <a:outerShdw blurRad="38100" dist="38100" dir="2700000" algn="tl">
                    <a:srgbClr val="C0C0C0"/>
                  </a:outerShdw>
                </a:effectLst>
                <a:latin typeface="宋体" pitchFamily="2" charset="-122"/>
              </a:rPr>
              <a:t>在Ｃ语言中， 数组类型是这样一种数据结构：</a:t>
            </a:r>
          </a:p>
          <a:p>
            <a:pPr marL="533400" indent="-533400" algn="just" eaLnBrk="1" fontAlgn="auto" hangingPunct="1">
              <a:lnSpc>
                <a:spcPct val="90000"/>
              </a:lnSpc>
              <a:spcAft>
                <a:spcPts val="0"/>
              </a:spcAft>
              <a:buClr>
                <a:schemeClr val="accent3"/>
              </a:buClr>
              <a:buSzPct val="90000"/>
              <a:buFont typeface="Monotype Sorts" pitchFamily="2" charset="2"/>
              <a:buAutoNum type="arabicPeriod"/>
              <a:defRPr/>
            </a:pPr>
            <a:r>
              <a:rPr lang="zh-CN" altLang="en-US" sz="2800" b="1" dirty="0">
                <a:effectLst>
                  <a:outerShdw blurRad="38100" dist="38100" dir="2700000" algn="tl">
                    <a:srgbClr val="C0C0C0"/>
                  </a:outerShdw>
                </a:effectLst>
                <a:latin typeface="宋体" pitchFamily="2" charset="-122"/>
              </a:rPr>
              <a:t>数组中每个元素的</a:t>
            </a:r>
            <a:r>
              <a:rPr lang="zh-CN" altLang="en-US" sz="2800" b="1" dirty="0">
                <a:solidFill>
                  <a:srgbClr val="C00000"/>
                </a:solidFill>
                <a:effectLst>
                  <a:outerShdw blurRad="38100" dist="38100" dir="2700000" algn="tl">
                    <a:srgbClr val="C0C0C0"/>
                  </a:outerShdw>
                </a:effectLst>
                <a:latin typeface="宋体" pitchFamily="2" charset="-122"/>
              </a:rPr>
              <a:t>数据类型相同</a:t>
            </a:r>
            <a:r>
              <a:rPr lang="zh-CN" altLang="en-US" sz="2800" b="1" dirty="0">
                <a:effectLst>
                  <a:outerShdw blurRad="38100" dist="38100" dir="2700000" algn="tl">
                    <a:srgbClr val="C0C0C0"/>
                  </a:outerShdw>
                </a:effectLst>
                <a:latin typeface="宋体" pitchFamily="2" charset="-122"/>
              </a:rPr>
              <a:t>，</a:t>
            </a:r>
            <a:r>
              <a:rPr lang="zh-CN" altLang="en-US" sz="2800" b="1" dirty="0">
                <a:solidFill>
                  <a:srgbClr val="C00000"/>
                </a:solidFill>
                <a:effectLst>
                  <a:outerShdw blurRad="38100" dist="38100" dir="2700000" algn="tl">
                    <a:srgbClr val="C0C0C0"/>
                  </a:outerShdw>
                </a:effectLst>
                <a:latin typeface="宋体" pitchFamily="2" charset="-122"/>
              </a:rPr>
              <a:t>元素个数固定</a:t>
            </a:r>
            <a:r>
              <a:rPr lang="zh-CN" altLang="en-US" sz="2800" b="1" dirty="0">
                <a:effectLst>
                  <a:outerShdw blurRad="38100" dist="38100" dir="2700000" algn="tl">
                    <a:srgbClr val="C0C0C0"/>
                  </a:outerShdw>
                </a:effectLst>
                <a:latin typeface="宋体" pitchFamily="2" charset="-122"/>
              </a:rPr>
              <a:t>，其元素按</a:t>
            </a:r>
            <a:r>
              <a:rPr lang="zh-CN" altLang="en-US" sz="2800" b="1" dirty="0">
                <a:solidFill>
                  <a:srgbClr val="C00000"/>
                </a:solidFill>
                <a:effectLst>
                  <a:outerShdw blurRad="38100" dist="38100" dir="2700000" algn="tl">
                    <a:srgbClr val="C0C0C0"/>
                  </a:outerShdw>
                </a:effectLst>
                <a:latin typeface="宋体" pitchFamily="2" charset="-122"/>
              </a:rPr>
              <a:t>顺序存放</a:t>
            </a:r>
            <a:r>
              <a:rPr lang="zh-CN" altLang="en-US" sz="2800" b="1" dirty="0">
                <a:effectLst>
                  <a:outerShdw blurRad="38100" dist="38100" dir="2700000" algn="tl">
                    <a:srgbClr val="C0C0C0"/>
                  </a:outerShdw>
                </a:effectLst>
                <a:latin typeface="宋体" pitchFamily="2" charset="-122"/>
              </a:rPr>
              <a:t>，每个元素对应一个序号（称为下标），各元素按下标存取（引用）。</a:t>
            </a:r>
          </a:p>
          <a:p>
            <a:pPr marL="533400" indent="-533400" algn="just" eaLnBrk="1" fontAlgn="auto" hangingPunct="1">
              <a:lnSpc>
                <a:spcPct val="90000"/>
              </a:lnSpc>
              <a:spcAft>
                <a:spcPts val="0"/>
              </a:spcAft>
              <a:buClr>
                <a:schemeClr val="accent3"/>
              </a:buClr>
              <a:buSzPct val="90000"/>
              <a:buFont typeface="Monotype Sorts" pitchFamily="2" charset="2"/>
              <a:buAutoNum type="arabicPeriod"/>
              <a:defRPr/>
            </a:pPr>
            <a:r>
              <a:rPr lang="zh-CN" altLang="en-US" sz="2800" b="1" dirty="0">
                <a:effectLst>
                  <a:outerShdw blurRad="38100" dist="38100" dir="2700000" algn="tl">
                    <a:srgbClr val="C0C0C0"/>
                  </a:outerShdw>
                </a:effectLst>
                <a:latin typeface="宋体" pitchFamily="2" charset="-122"/>
              </a:rPr>
              <a:t>数组元素的存储顺序与其下标对应，数组元素的</a:t>
            </a:r>
            <a:r>
              <a:rPr lang="zh-CN" altLang="en-US" sz="2800" b="1" dirty="0">
                <a:solidFill>
                  <a:srgbClr val="C00000"/>
                </a:solidFill>
                <a:effectLst>
                  <a:outerShdw blurRad="38100" dist="38100" dir="2700000" algn="tl">
                    <a:srgbClr val="C0C0C0"/>
                  </a:outerShdw>
                </a:effectLst>
                <a:latin typeface="宋体" pitchFamily="2" charset="-122"/>
              </a:rPr>
              <a:t>下标从</a:t>
            </a:r>
            <a:r>
              <a:rPr lang="en-US" altLang="zh-CN" sz="2800" b="1" dirty="0">
                <a:solidFill>
                  <a:srgbClr val="C00000"/>
                </a:solidFill>
                <a:effectLst>
                  <a:outerShdw blurRad="38100" dist="38100" dir="2700000" algn="tl">
                    <a:srgbClr val="C0C0C0"/>
                  </a:outerShdw>
                </a:effectLst>
                <a:latin typeface="宋体" pitchFamily="2" charset="-122"/>
              </a:rPr>
              <a:t>0</a:t>
            </a:r>
            <a:r>
              <a:rPr lang="zh-CN" altLang="en-US" sz="2800" b="1" dirty="0">
                <a:solidFill>
                  <a:srgbClr val="C00000"/>
                </a:solidFill>
                <a:effectLst>
                  <a:outerShdw blurRad="38100" dist="38100" dir="2700000" algn="tl">
                    <a:srgbClr val="C0C0C0"/>
                  </a:outerShdw>
                </a:effectLst>
                <a:latin typeface="宋体" pitchFamily="2" charset="-122"/>
              </a:rPr>
              <a:t>开始顺序编号</a:t>
            </a:r>
            <a:r>
              <a:rPr lang="zh-CN" altLang="en-US" sz="2800" b="1" dirty="0">
                <a:effectLst>
                  <a:outerShdw blurRad="38100" dist="38100" dir="2700000" algn="tl">
                    <a:srgbClr val="C0C0C0"/>
                  </a:outerShdw>
                </a:effectLst>
                <a:latin typeface="宋体" pitchFamily="2" charset="-122"/>
              </a:rPr>
              <a:t>。    </a:t>
            </a:r>
          </a:p>
          <a:p>
            <a:pPr marL="533400" indent="-533400" algn="just" eaLnBrk="1" fontAlgn="auto" hangingPunct="1">
              <a:lnSpc>
                <a:spcPct val="90000"/>
              </a:lnSpc>
              <a:spcAft>
                <a:spcPts val="0"/>
              </a:spcAft>
              <a:buClr>
                <a:schemeClr val="accent3"/>
              </a:buClr>
              <a:buSzPct val="90000"/>
              <a:buFont typeface="Monotype Sorts" pitchFamily="2" charset="2"/>
              <a:buAutoNum type="arabicPeriod"/>
              <a:defRPr/>
            </a:pPr>
            <a:r>
              <a:rPr lang="zh-CN" altLang="en-US" sz="2800" b="1" dirty="0">
                <a:effectLst>
                  <a:outerShdw blurRad="38100" dist="38100" dir="2700000" algn="tl">
                    <a:srgbClr val="C0C0C0"/>
                  </a:outerShdw>
                </a:effectLst>
              </a:rPr>
              <a:t>数组元素的下标是固定不变的，而</a:t>
            </a:r>
            <a:r>
              <a:rPr lang="zh-CN" altLang="en-US" sz="2800" b="1" dirty="0">
                <a:solidFill>
                  <a:srgbClr val="C00000"/>
                </a:solidFill>
                <a:effectLst>
                  <a:outerShdw blurRad="38100" dist="38100" dir="2700000" algn="tl">
                    <a:srgbClr val="C0C0C0"/>
                  </a:outerShdw>
                </a:effectLst>
              </a:rPr>
              <a:t>数组元素是变量</a:t>
            </a:r>
            <a:r>
              <a:rPr lang="zh-CN" altLang="en-US" sz="2800" b="1" dirty="0">
                <a:effectLst>
                  <a:outerShdw blurRad="38100" dist="38100" dir="2700000" algn="tl">
                    <a:srgbClr val="C0C0C0"/>
                  </a:outerShdw>
                </a:effectLst>
              </a:rPr>
              <a:t>，其值是可以变化的。</a:t>
            </a:r>
            <a:r>
              <a:rPr lang="zh-CN" altLang="en-US" sz="2800" b="1" dirty="0">
                <a:effectLst>
                  <a:outerShdw blurRad="38100" dist="38100" dir="2700000" algn="tl">
                    <a:srgbClr val="C0C0C0"/>
                  </a:outerShdw>
                </a:effectLst>
                <a:latin typeface="宋体" pitchFamily="2" charset="-122"/>
              </a:rPr>
              <a:t>数组元素变量与相同类型的独立的变量一样使用。</a:t>
            </a:r>
          </a:p>
          <a:p>
            <a:pPr marL="533400" indent="-533400" algn="just" eaLnBrk="1" fontAlgn="auto" hangingPunct="1">
              <a:lnSpc>
                <a:spcPct val="90000"/>
              </a:lnSpc>
              <a:spcAft>
                <a:spcPts val="0"/>
              </a:spcAft>
              <a:buClr>
                <a:schemeClr val="accent3"/>
              </a:buClr>
              <a:buSzPct val="90000"/>
              <a:buFont typeface="Monotype Sorts" pitchFamily="2" charset="2"/>
              <a:buAutoNum type="arabicPeriod"/>
              <a:defRPr/>
            </a:pPr>
            <a:r>
              <a:rPr lang="zh-CN" altLang="en-US" sz="2800" b="1" dirty="0">
                <a:effectLst>
                  <a:outerShdw blurRad="38100" dist="38100" dir="2700000" algn="tl">
                    <a:srgbClr val="C0C0C0"/>
                  </a:outerShdw>
                </a:effectLst>
                <a:latin typeface="宋体" pitchFamily="2" charset="-122"/>
              </a:rPr>
              <a:t>引用数组元素变量所需的下标个数由数组的维数决定，数组有一维数组、二维数组或多维数组之分。</a:t>
            </a:r>
          </a:p>
        </p:txBody>
      </p:sp>
      <p:sp>
        <p:nvSpPr>
          <p:cNvPr id="6" name="灯片编号占位符 5"/>
          <p:cNvSpPr>
            <a:spLocks noGrp="1"/>
          </p:cNvSpPr>
          <p:nvPr>
            <p:ph type="sldNum" sz="quarter" idx="12"/>
          </p:nvPr>
        </p:nvSpPr>
        <p:spPr/>
        <p:txBody>
          <a:bodyPr/>
          <a:lstStyle/>
          <a:p>
            <a:pPr>
              <a:defRPr/>
            </a:pPr>
            <a:fld id="{53930CC1-17F0-46CE-9EF7-C54EC3980B62}" type="slidenum">
              <a:rPr lang="en-US" altLang="zh-CN"/>
              <a:pPr>
                <a:defRPr/>
              </a:pPr>
              <a:t>4</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6738">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16738">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1673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4"/>
          <p:cNvSpPr>
            <a:spLocks noGrp="1" noChangeArrowheads="1"/>
          </p:cNvSpPr>
          <p:nvPr>
            <p:ph type="title"/>
          </p:nvPr>
        </p:nvSpPr>
        <p:spPr>
          <a:xfrm>
            <a:off x="539750" y="260350"/>
            <a:ext cx="8088313" cy="647700"/>
          </a:xfrm>
        </p:spPr>
        <p:txBody>
          <a:bodyPr lIns="92075" tIns="46038" rIns="92075" bIns="46038">
            <a:normAutofit fontScale="90000"/>
          </a:bodyPr>
          <a:lstStyle/>
          <a:p>
            <a:pPr eaLnBrk="1" fontAlgn="auto" hangingPunct="1">
              <a:spcAft>
                <a:spcPts val="0"/>
              </a:spcAft>
              <a:defRPr/>
            </a:pPr>
            <a:r>
              <a:rPr lang="en-US" altLang="zh-CN" b="1" dirty="0">
                <a:solidFill>
                  <a:schemeClr val="tx1"/>
                </a:solidFill>
                <a:latin typeface="黑体" pitchFamily="2" charset="-122"/>
                <a:ea typeface="黑体" pitchFamily="2" charset="-122"/>
              </a:rPr>
              <a:t>4.2  </a:t>
            </a:r>
            <a:r>
              <a:rPr lang="zh-CN" altLang="en-US" b="1" dirty="0">
                <a:solidFill>
                  <a:schemeClr val="tx1"/>
                </a:solidFill>
                <a:latin typeface="黑体" pitchFamily="2" charset="-122"/>
                <a:ea typeface="黑体" pitchFamily="2" charset="-122"/>
              </a:rPr>
              <a:t>一维数组</a:t>
            </a:r>
          </a:p>
        </p:txBody>
      </p:sp>
      <p:sp>
        <p:nvSpPr>
          <p:cNvPr id="117762" name="Rectangle 2"/>
          <p:cNvSpPr>
            <a:spLocks noGrp="1" noChangeArrowheads="1"/>
          </p:cNvSpPr>
          <p:nvPr>
            <p:ph idx="1"/>
          </p:nvPr>
        </p:nvSpPr>
        <p:spPr>
          <a:xfrm>
            <a:off x="323850" y="1052513"/>
            <a:ext cx="8439150" cy="5424487"/>
          </a:xfrm>
        </p:spPr>
        <p:txBody>
          <a:bodyPr>
            <a:normAutofit/>
          </a:bodyPr>
          <a:lstStyle/>
          <a:p>
            <a:pPr marL="533400" indent="-533400" algn="just" eaLnBrk="1" fontAlgn="auto" hangingPunct="1">
              <a:lnSpc>
                <a:spcPct val="85000"/>
              </a:lnSpc>
              <a:spcAft>
                <a:spcPts val="0"/>
              </a:spcAft>
              <a:buClr>
                <a:schemeClr val="accent3"/>
              </a:buClr>
              <a:buFont typeface="Wingdings" pitchFamily="2" charset="2"/>
              <a:buNone/>
              <a:defRPr/>
            </a:pPr>
            <a:r>
              <a:rPr lang="zh-CN" altLang="en-US" sz="3200" b="1" dirty="0">
                <a:effectLst>
                  <a:outerShdw blurRad="38100" dist="38100" dir="2700000" algn="tl">
                    <a:srgbClr val="C0C0C0"/>
                  </a:outerShdw>
                </a:effectLst>
                <a:latin typeface="宋体" pitchFamily="2" charset="-122"/>
              </a:rPr>
              <a:t>定义： 类型说明符  数组名</a:t>
            </a:r>
            <a:r>
              <a:rPr lang="en-US" altLang="zh-CN" sz="3200" b="1" dirty="0">
                <a:effectLst>
                  <a:outerShdw blurRad="38100" dist="38100" dir="2700000" algn="tl">
                    <a:srgbClr val="C0C0C0"/>
                  </a:outerShdw>
                </a:effectLst>
                <a:latin typeface="宋体" pitchFamily="2" charset="-122"/>
              </a:rPr>
              <a:t>[</a:t>
            </a:r>
            <a:r>
              <a:rPr lang="zh-CN" altLang="en-US" sz="3200" b="1" dirty="0">
                <a:effectLst>
                  <a:outerShdw blurRad="38100" dist="38100" dir="2700000" algn="tl">
                    <a:srgbClr val="C0C0C0"/>
                  </a:outerShdw>
                </a:effectLst>
                <a:latin typeface="宋体" pitchFamily="2" charset="-122"/>
              </a:rPr>
              <a:t>常量表达式</a:t>
            </a:r>
            <a:r>
              <a:rPr lang="en-US" altLang="zh-CN" sz="3200" b="1" dirty="0">
                <a:effectLst>
                  <a:outerShdw blurRad="38100" dist="38100" dir="2700000" algn="tl">
                    <a:srgbClr val="C0C0C0"/>
                  </a:outerShdw>
                </a:effectLst>
                <a:latin typeface="宋体" pitchFamily="2" charset="-122"/>
              </a:rPr>
              <a:t>];</a:t>
            </a:r>
            <a:endParaRPr lang="en-US" altLang="zh-CN" b="1" dirty="0">
              <a:effectLst>
                <a:outerShdw blurRad="38100" dist="38100" dir="2700000" algn="tl">
                  <a:srgbClr val="C0C0C0"/>
                </a:outerShdw>
              </a:effectLst>
              <a:latin typeface="宋体" pitchFamily="2" charset="-122"/>
            </a:endParaRPr>
          </a:p>
          <a:p>
            <a:pPr marL="533400" indent="-533400" algn="just" eaLnBrk="1" fontAlgn="auto" hangingPunct="1">
              <a:lnSpc>
                <a:spcPct val="85000"/>
              </a:lnSpc>
              <a:spcAft>
                <a:spcPts val="0"/>
              </a:spcAft>
              <a:buClr>
                <a:schemeClr val="accent3"/>
              </a:buClr>
              <a:buFont typeface="Wingdings" pitchFamily="2" charset="2"/>
              <a:buNone/>
              <a:defRPr/>
            </a:pPr>
            <a:r>
              <a:rPr lang="zh-CN" altLang="en-US" b="1" dirty="0">
                <a:effectLst>
                  <a:outerShdw blurRad="38100" dist="38100" dir="2700000" algn="tl">
                    <a:srgbClr val="C0C0C0"/>
                  </a:outerShdw>
                </a:effectLst>
                <a:latin typeface="宋体" pitchFamily="2" charset="-122"/>
              </a:rPr>
              <a:t>例如： </a:t>
            </a:r>
            <a:r>
              <a:rPr lang="en-US" altLang="zh-CN" b="1" dirty="0" err="1">
                <a:effectLst>
                  <a:outerShdw blurRad="38100" dist="38100" dir="2700000" algn="tl">
                    <a:srgbClr val="C0C0C0"/>
                  </a:outerShdw>
                </a:effectLst>
                <a:latin typeface="宋体" pitchFamily="2" charset="-122"/>
              </a:rPr>
              <a:t>int</a:t>
            </a:r>
            <a:r>
              <a:rPr lang="en-US" altLang="zh-CN" b="1" dirty="0">
                <a:effectLst>
                  <a:outerShdw blurRad="38100" dist="38100" dir="2700000" algn="tl">
                    <a:srgbClr val="C0C0C0"/>
                  </a:outerShdw>
                </a:effectLst>
                <a:latin typeface="宋体" pitchFamily="2" charset="-122"/>
              </a:rPr>
              <a:t> a[5];</a:t>
            </a:r>
          </a:p>
          <a:p>
            <a:pPr marL="533400" indent="-533400" algn="just" eaLnBrk="1" fontAlgn="auto" hangingPunct="1">
              <a:lnSpc>
                <a:spcPct val="85000"/>
              </a:lnSpc>
              <a:spcAft>
                <a:spcPts val="0"/>
              </a:spcAft>
              <a:buClr>
                <a:schemeClr val="accent3"/>
              </a:buClr>
              <a:buFont typeface="Wingdings" pitchFamily="2" charset="2"/>
              <a:buNone/>
              <a:defRPr/>
            </a:pPr>
            <a:r>
              <a:rPr lang="zh-CN" altLang="en-US" b="1" dirty="0">
                <a:effectLst>
                  <a:outerShdw blurRad="38100" dist="38100" dir="2700000" algn="tl">
                    <a:srgbClr val="C0C0C0"/>
                  </a:outerShdw>
                </a:effectLst>
                <a:latin typeface="宋体" pitchFamily="2" charset="-122"/>
              </a:rPr>
              <a:t>表示： 数组名为</a:t>
            </a:r>
            <a:r>
              <a:rPr lang="en-US" altLang="zh-CN" b="1" dirty="0">
                <a:effectLst>
                  <a:outerShdw blurRad="38100" dist="38100" dir="2700000" algn="tl">
                    <a:srgbClr val="C0C0C0"/>
                  </a:outerShdw>
                </a:effectLst>
                <a:latin typeface="宋体" pitchFamily="2" charset="-122"/>
              </a:rPr>
              <a:t>a</a:t>
            </a:r>
            <a:r>
              <a:rPr lang="zh-CN" altLang="en-US" b="1" dirty="0">
                <a:effectLst>
                  <a:outerShdw blurRad="38100" dist="38100" dir="2700000" algn="tl">
                    <a:srgbClr val="C0C0C0"/>
                  </a:outerShdw>
                </a:effectLst>
                <a:latin typeface="宋体" pitchFamily="2" charset="-122"/>
              </a:rPr>
              <a:t>，有</a:t>
            </a:r>
            <a:r>
              <a:rPr lang="en-US" altLang="zh-CN" b="1" dirty="0">
                <a:effectLst>
                  <a:outerShdw blurRad="38100" dist="38100" dir="2700000" algn="tl">
                    <a:srgbClr val="C0C0C0"/>
                  </a:outerShdw>
                </a:effectLst>
                <a:latin typeface="宋体" pitchFamily="2" charset="-122"/>
              </a:rPr>
              <a:t>5</a:t>
            </a:r>
            <a:r>
              <a:rPr lang="zh-CN" altLang="en-US" b="1" dirty="0">
                <a:effectLst>
                  <a:outerShdw blurRad="38100" dist="38100" dir="2700000" algn="tl">
                    <a:srgbClr val="C0C0C0"/>
                  </a:outerShdw>
                </a:effectLst>
                <a:latin typeface="宋体" pitchFamily="2" charset="-122"/>
              </a:rPr>
              <a:t>个元素，每个元素均为整数</a:t>
            </a:r>
          </a:p>
          <a:p>
            <a:pPr marL="533400" indent="-533400" algn="just" eaLnBrk="1" fontAlgn="auto" hangingPunct="1">
              <a:lnSpc>
                <a:spcPct val="85000"/>
              </a:lnSpc>
              <a:spcAft>
                <a:spcPts val="0"/>
              </a:spcAft>
              <a:buClr>
                <a:schemeClr val="accent3"/>
              </a:buClr>
              <a:buFont typeface="Monotype Sorts" pitchFamily="2" charset="2"/>
              <a:buNone/>
              <a:defRPr/>
            </a:pPr>
            <a:r>
              <a:rPr lang="zh-CN" altLang="en-US" b="1" dirty="0">
                <a:effectLst>
                  <a:outerShdw blurRad="38100" dist="38100" dir="2700000" algn="tl">
                    <a:srgbClr val="C0C0C0"/>
                  </a:outerShdw>
                </a:effectLst>
                <a:latin typeface="宋体" pitchFamily="2" charset="-122"/>
              </a:rPr>
              <a:t>说明：</a:t>
            </a:r>
          </a:p>
          <a:p>
            <a:pPr marL="533400" indent="-533400" algn="just" eaLnBrk="1" fontAlgn="auto" hangingPunct="1">
              <a:lnSpc>
                <a:spcPct val="85000"/>
              </a:lnSpc>
              <a:spcAft>
                <a:spcPts val="0"/>
              </a:spcAft>
              <a:buClr>
                <a:srgbClr val="2F7337"/>
              </a:buClr>
              <a:buSzPct val="90000"/>
              <a:buFont typeface="Monotype Sorts" pitchFamily="2" charset="2"/>
              <a:buAutoNum type="arabicPeriod"/>
              <a:defRPr/>
            </a:pPr>
            <a:r>
              <a:rPr lang="zh-CN" altLang="en-US" b="1" dirty="0">
                <a:effectLst>
                  <a:outerShdw blurRad="38100" dist="38100" dir="2700000" algn="tl">
                    <a:srgbClr val="C0C0C0"/>
                  </a:outerShdw>
                </a:effectLst>
                <a:latin typeface="宋体" pitchFamily="2" charset="-122"/>
              </a:rPr>
              <a:t>类型说明符用来指明数组元素的类型，同一数组的所有元素类型相同。</a:t>
            </a:r>
          </a:p>
          <a:p>
            <a:pPr marL="533400" indent="-533400" algn="just" eaLnBrk="1" fontAlgn="auto" hangingPunct="1">
              <a:lnSpc>
                <a:spcPct val="85000"/>
              </a:lnSpc>
              <a:spcAft>
                <a:spcPts val="0"/>
              </a:spcAft>
              <a:buClr>
                <a:srgbClr val="2F7337"/>
              </a:buClr>
              <a:buSzPct val="90000"/>
              <a:buFont typeface="Monotype Sorts" pitchFamily="2" charset="2"/>
              <a:buAutoNum type="arabicPeriod"/>
              <a:defRPr/>
            </a:pPr>
            <a:r>
              <a:rPr lang="zh-CN" altLang="en-US" b="1" dirty="0">
                <a:effectLst>
                  <a:outerShdw blurRad="38100" dist="38100" dir="2700000" algn="tl">
                    <a:srgbClr val="C0C0C0"/>
                  </a:outerShdw>
                </a:effectLst>
                <a:latin typeface="宋体" pitchFamily="2" charset="-122"/>
              </a:rPr>
              <a:t>数组名遵守标识符的命名规则。</a:t>
            </a:r>
          </a:p>
          <a:p>
            <a:pPr marL="533400" indent="-533400" algn="just" eaLnBrk="1" fontAlgn="auto" hangingPunct="1">
              <a:lnSpc>
                <a:spcPct val="85000"/>
              </a:lnSpc>
              <a:spcAft>
                <a:spcPts val="0"/>
              </a:spcAft>
              <a:buClr>
                <a:srgbClr val="2F7337"/>
              </a:buClr>
              <a:buSzPct val="90000"/>
              <a:buFont typeface="Monotype Sorts" pitchFamily="2" charset="2"/>
              <a:buAutoNum type="arabicPeriod"/>
              <a:defRPr/>
            </a:pPr>
            <a:r>
              <a:rPr lang="en-US" altLang="zh-CN" b="1" dirty="0">
                <a:effectLst>
                  <a:outerShdw blurRad="38100" dist="38100" dir="2700000" algn="tl">
                    <a:srgbClr val="C0C0C0"/>
                  </a:outerShdw>
                </a:effectLst>
                <a:latin typeface="宋体" pitchFamily="2" charset="-122"/>
              </a:rPr>
              <a:t>[]</a:t>
            </a:r>
            <a:r>
              <a:rPr lang="en-US" altLang="zh-CN" b="1" dirty="0" err="1">
                <a:effectLst>
                  <a:outerShdw blurRad="38100" dist="38100" dir="2700000" algn="tl">
                    <a:srgbClr val="C0C0C0"/>
                  </a:outerShdw>
                </a:effectLst>
                <a:latin typeface="宋体" pitchFamily="2" charset="-122"/>
              </a:rPr>
              <a:t>是数组的标志</a:t>
            </a:r>
            <a:r>
              <a:rPr lang="en-US" altLang="zh-CN" b="1" dirty="0">
                <a:effectLst>
                  <a:outerShdw blurRad="38100" dist="38100" dir="2700000" algn="tl">
                    <a:srgbClr val="C0C0C0"/>
                  </a:outerShdw>
                </a:effectLst>
                <a:latin typeface="宋体" pitchFamily="2" charset="-122"/>
              </a:rPr>
              <a:t>，</a:t>
            </a:r>
            <a:r>
              <a:rPr lang="zh-CN" altLang="en-US" b="1" dirty="0">
                <a:effectLst>
                  <a:outerShdw blurRad="38100" dist="38100" dir="2700000" algn="tl">
                    <a:srgbClr val="C0C0C0"/>
                  </a:outerShdw>
                </a:effectLst>
                <a:latin typeface="宋体" pitchFamily="2" charset="-122"/>
              </a:rPr>
              <a:t>常量表达式表示元素的个数。</a:t>
            </a:r>
            <a:endParaRPr lang="en-US" altLang="zh-CN" b="1" dirty="0">
              <a:effectLst>
                <a:outerShdw blurRad="38100" dist="38100" dir="2700000" algn="tl">
                  <a:srgbClr val="C0C0C0"/>
                </a:outerShdw>
              </a:effectLst>
              <a:latin typeface="宋体" pitchFamily="2" charset="-122"/>
            </a:endParaRPr>
          </a:p>
          <a:p>
            <a:pPr marL="533400" indent="-533400" algn="just" eaLnBrk="1" fontAlgn="auto" hangingPunct="1">
              <a:lnSpc>
                <a:spcPct val="85000"/>
              </a:lnSpc>
              <a:spcAft>
                <a:spcPts val="0"/>
              </a:spcAft>
              <a:buClr>
                <a:srgbClr val="2F7337"/>
              </a:buClr>
              <a:buSzPct val="90000"/>
              <a:buFont typeface="Monotype Sorts" pitchFamily="2" charset="2"/>
              <a:buAutoNum type="arabicPeriod"/>
              <a:defRPr/>
            </a:pPr>
            <a:r>
              <a:rPr lang="zh-CN" altLang="en-US" b="1" dirty="0">
                <a:effectLst>
                  <a:outerShdw blurRad="38100" dist="38100" dir="2700000" algn="tl">
                    <a:srgbClr val="C0C0C0"/>
                  </a:outerShdw>
                </a:effectLst>
                <a:latin typeface="宋体" pitchFamily="2" charset="-122"/>
              </a:rPr>
              <a:t>数组元素的下标从</a:t>
            </a:r>
            <a:r>
              <a:rPr lang="en-US" altLang="zh-CN" b="1" dirty="0">
                <a:effectLst>
                  <a:outerShdw blurRad="38100" dist="38100" dir="2700000" algn="tl">
                    <a:srgbClr val="C0C0C0"/>
                  </a:outerShdw>
                </a:effectLst>
                <a:latin typeface="宋体" pitchFamily="2" charset="-122"/>
              </a:rPr>
              <a:t>0</a:t>
            </a:r>
            <a:r>
              <a:rPr lang="zh-CN" altLang="en-US" b="1" dirty="0">
                <a:effectLst>
                  <a:outerShdw blurRad="38100" dist="38100" dir="2700000" algn="tl">
                    <a:srgbClr val="C0C0C0"/>
                  </a:outerShdw>
                </a:effectLst>
                <a:latin typeface="宋体" pitchFamily="2" charset="-122"/>
              </a:rPr>
              <a:t>开始，直至数组元素个数减</a:t>
            </a:r>
            <a:r>
              <a:rPr lang="en-US" altLang="zh-CN" b="1" dirty="0">
                <a:effectLst>
                  <a:outerShdw blurRad="38100" dist="38100" dir="2700000" algn="tl">
                    <a:srgbClr val="C0C0C0"/>
                  </a:outerShdw>
                </a:effectLst>
                <a:latin typeface="宋体" pitchFamily="2" charset="-122"/>
              </a:rPr>
              <a:t>1</a:t>
            </a:r>
            <a:r>
              <a:rPr lang="zh-CN" altLang="en-US" b="1" dirty="0">
                <a:effectLst>
                  <a:outerShdw blurRad="38100" dist="38100" dir="2700000" algn="tl">
                    <a:srgbClr val="C0C0C0"/>
                  </a:outerShdw>
                </a:effectLst>
                <a:latin typeface="宋体" pitchFamily="2" charset="-122"/>
              </a:rPr>
              <a:t>。</a:t>
            </a:r>
          </a:p>
          <a:p>
            <a:pPr marL="533400" indent="-533400" algn="just" eaLnBrk="1" fontAlgn="auto" hangingPunct="1">
              <a:lnSpc>
                <a:spcPct val="85000"/>
              </a:lnSpc>
              <a:spcAft>
                <a:spcPts val="0"/>
              </a:spcAft>
              <a:buClr>
                <a:srgbClr val="2F7337"/>
              </a:buClr>
              <a:buSzPct val="90000"/>
              <a:buFont typeface="Monotype Sorts" pitchFamily="2" charset="2"/>
              <a:buAutoNum type="arabicPeriod"/>
              <a:defRPr/>
            </a:pPr>
            <a:r>
              <a:rPr lang="zh-CN" altLang="en-US" b="1" dirty="0">
                <a:effectLst>
                  <a:outerShdw blurRad="38100" dist="38100" dir="2700000" algn="tl">
                    <a:srgbClr val="C0C0C0"/>
                  </a:outerShdw>
                </a:effectLst>
                <a:latin typeface="宋体" pitchFamily="2" charset="-122"/>
              </a:rPr>
              <a:t>常量表达式可以包括整型常量、符号常量或 </a:t>
            </a:r>
            <a:r>
              <a:rPr lang="en-US" altLang="zh-CN" b="1" dirty="0" err="1">
                <a:effectLst>
                  <a:outerShdw blurRad="38100" dist="38100" dir="2700000" algn="tl">
                    <a:srgbClr val="C0C0C0"/>
                  </a:outerShdw>
                </a:effectLst>
                <a:latin typeface="宋体" pitchFamily="2" charset="-122"/>
              </a:rPr>
              <a:t>sizeof</a:t>
            </a:r>
            <a:r>
              <a:rPr lang="en-US" altLang="zh-CN" b="1" dirty="0">
                <a:effectLst>
                  <a:outerShdw blurRad="38100" dist="38100" dir="2700000" algn="tl">
                    <a:srgbClr val="C0C0C0"/>
                  </a:outerShdw>
                </a:effectLst>
                <a:latin typeface="宋体" pitchFamily="2" charset="-122"/>
              </a:rPr>
              <a:t>(</a:t>
            </a:r>
            <a:r>
              <a:rPr lang="zh-CN" altLang="en-US" b="1" dirty="0">
                <a:effectLst>
                  <a:outerShdw blurRad="38100" dist="38100" dir="2700000" algn="tl">
                    <a:srgbClr val="C0C0C0"/>
                  </a:outerShdw>
                </a:effectLst>
                <a:latin typeface="宋体" pitchFamily="2" charset="-122"/>
              </a:rPr>
              <a:t>类型名</a:t>
            </a:r>
            <a:r>
              <a:rPr lang="en-US" altLang="zh-CN" b="1" dirty="0">
                <a:effectLst>
                  <a:outerShdw blurRad="38100" dist="38100" dir="2700000" algn="tl">
                    <a:srgbClr val="C0C0C0"/>
                  </a:outerShdw>
                </a:effectLst>
                <a:latin typeface="宋体" pitchFamily="2" charset="-122"/>
              </a:rPr>
              <a:t>)</a:t>
            </a:r>
            <a:r>
              <a:rPr lang="zh-CN" altLang="en-US" b="1" dirty="0">
                <a:effectLst>
                  <a:outerShdw blurRad="38100" dist="38100" dir="2700000" algn="tl">
                    <a:srgbClr val="C0C0C0"/>
                  </a:outerShdw>
                </a:effectLst>
                <a:latin typeface="宋体" pitchFamily="2" charset="-122"/>
              </a:rPr>
              <a:t>等组成的表达式。</a:t>
            </a:r>
          </a:p>
        </p:txBody>
      </p:sp>
      <p:sp>
        <p:nvSpPr>
          <p:cNvPr id="6" name="灯片编号占位符 5"/>
          <p:cNvSpPr>
            <a:spLocks noGrp="1"/>
          </p:cNvSpPr>
          <p:nvPr>
            <p:ph type="sldNum" sz="quarter" idx="12"/>
          </p:nvPr>
        </p:nvSpPr>
        <p:spPr/>
        <p:txBody>
          <a:bodyPr/>
          <a:lstStyle/>
          <a:p>
            <a:pPr>
              <a:defRPr/>
            </a:pPr>
            <a:fld id="{C6D5B859-33F4-4D8D-AC9A-6119E3D0C97F}" type="slidenum">
              <a:rPr lang="en-US" altLang="zh-CN"/>
              <a:pPr>
                <a:defRPr/>
              </a:pPr>
              <a:t>5</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7762">
                                            <p:txEl>
                                              <p:pRg st="1" end="1"/>
                                            </p:txEl>
                                          </p:spTgt>
                                        </p:tgtEl>
                                        <p:attrNameLst>
                                          <p:attrName>style.visibility</p:attrName>
                                        </p:attrNameLst>
                                      </p:cBhvr>
                                      <p:to>
                                        <p:strVal val="visible"/>
                                      </p:to>
                                    </p:set>
                                    <p:anim calcmode="lin" valueType="num">
                                      <p:cBhvr additive="base">
                                        <p:cTn id="7" dur="500" fill="hold"/>
                                        <p:tgtEl>
                                          <p:spTgt spid="11776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7762">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17762">
                                            <p:txEl>
                                              <p:pRg st="2" end="2"/>
                                            </p:txEl>
                                          </p:spTgt>
                                        </p:tgtEl>
                                        <p:attrNameLst>
                                          <p:attrName>style.visibility</p:attrName>
                                        </p:attrNameLst>
                                      </p:cBhvr>
                                      <p:to>
                                        <p:strVal val="visible"/>
                                      </p:to>
                                    </p:set>
                                    <p:anim calcmode="lin" valueType="num">
                                      <p:cBhvr additive="base">
                                        <p:cTn id="11" dur="500" fill="hold"/>
                                        <p:tgtEl>
                                          <p:spTgt spid="117762">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1776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17762">
                                            <p:txEl>
                                              <p:pRg st="3" end="3"/>
                                            </p:txEl>
                                          </p:spTgt>
                                        </p:tgtEl>
                                        <p:attrNameLst>
                                          <p:attrName>style.visibility</p:attrName>
                                        </p:attrNameLst>
                                      </p:cBhvr>
                                      <p:to>
                                        <p:strVal val="visible"/>
                                      </p:to>
                                    </p:set>
                                    <p:anim calcmode="lin" valueType="num">
                                      <p:cBhvr additive="base">
                                        <p:cTn id="17" dur="500" fill="hold"/>
                                        <p:tgtEl>
                                          <p:spTgt spid="117762">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17762">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17762">
                                            <p:txEl>
                                              <p:pRg st="4" end="4"/>
                                            </p:txEl>
                                          </p:spTgt>
                                        </p:tgtEl>
                                        <p:attrNameLst>
                                          <p:attrName>style.visibility</p:attrName>
                                        </p:attrNameLst>
                                      </p:cBhvr>
                                      <p:to>
                                        <p:strVal val="visible"/>
                                      </p:to>
                                    </p:set>
                                    <p:anim calcmode="lin" valueType="num">
                                      <p:cBhvr additive="base">
                                        <p:cTn id="21" dur="500" fill="hold"/>
                                        <p:tgtEl>
                                          <p:spTgt spid="117762">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1776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17762">
                                            <p:txEl>
                                              <p:pRg st="5" end="5"/>
                                            </p:txEl>
                                          </p:spTgt>
                                        </p:tgtEl>
                                        <p:attrNameLst>
                                          <p:attrName>style.visibility</p:attrName>
                                        </p:attrNameLst>
                                      </p:cBhvr>
                                      <p:to>
                                        <p:strVal val="visible"/>
                                      </p:to>
                                    </p:set>
                                    <p:anim calcmode="lin" valueType="num">
                                      <p:cBhvr additive="base">
                                        <p:cTn id="27" dur="500" fill="hold"/>
                                        <p:tgtEl>
                                          <p:spTgt spid="117762">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1776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117762">
                                            <p:txEl>
                                              <p:pRg st="6" end="6"/>
                                            </p:txEl>
                                          </p:spTgt>
                                        </p:tgtEl>
                                        <p:attrNameLst>
                                          <p:attrName>style.visibility</p:attrName>
                                        </p:attrNameLst>
                                      </p:cBhvr>
                                      <p:to>
                                        <p:strVal val="visible"/>
                                      </p:to>
                                    </p:set>
                                    <p:anim calcmode="lin" valueType="num">
                                      <p:cBhvr additive="base">
                                        <p:cTn id="33" dur="500" fill="hold"/>
                                        <p:tgtEl>
                                          <p:spTgt spid="117762">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1776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117762">
                                            <p:txEl>
                                              <p:pRg st="7" end="7"/>
                                            </p:txEl>
                                          </p:spTgt>
                                        </p:tgtEl>
                                        <p:attrNameLst>
                                          <p:attrName>style.visibility</p:attrName>
                                        </p:attrNameLst>
                                      </p:cBhvr>
                                      <p:to>
                                        <p:strVal val="visible"/>
                                      </p:to>
                                    </p:set>
                                    <p:anim calcmode="lin" valueType="num">
                                      <p:cBhvr additive="base">
                                        <p:cTn id="39" dur="500" fill="hold"/>
                                        <p:tgtEl>
                                          <p:spTgt spid="117762">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17762">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117762">
                                            <p:txEl>
                                              <p:pRg st="8" end="8"/>
                                            </p:txEl>
                                          </p:spTgt>
                                        </p:tgtEl>
                                        <p:attrNameLst>
                                          <p:attrName>style.visibility</p:attrName>
                                        </p:attrNameLst>
                                      </p:cBhvr>
                                      <p:to>
                                        <p:strVal val="visible"/>
                                      </p:to>
                                    </p:set>
                                    <p:anim calcmode="lin" valueType="num">
                                      <p:cBhvr additive="base">
                                        <p:cTn id="45" dur="500" fill="hold"/>
                                        <p:tgtEl>
                                          <p:spTgt spid="117762">
                                            <p:txEl>
                                              <p:pRg st="8" end="8"/>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117762">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idx="1"/>
          </p:nvPr>
        </p:nvSpPr>
        <p:spPr>
          <a:xfrm>
            <a:off x="228600" y="981075"/>
            <a:ext cx="8534400" cy="5495925"/>
          </a:xfrm>
        </p:spPr>
        <p:txBody>
          <a:bodyPr>
            <a:normAutofit/>
          </a:bodyPr>
          <a:lstStyle/>
          <a:p>
            <a:pPr marL="274320" indent="-274320" eaLnBrk="1" fontAlgn="auto" hangingPunct="1">
              <a:spcAft>
                <a:spcPts val="0"/>
              </a:spcAft>
              <a:buClr>
                <a:schemeClr val="accent3"/>
              </a:buClr>
              <a:buFont typeface="Wingdings" pitchFamily="2" charset="2"/>
              <a:buNone/>
              <a:defRPr/>
            </a:pPr>
            <a:r>
              <a:rPr lang="zh-CN" altLang="en-US" sz="3700" b="1" dirty="0">
                <a:effectLst>
                  <a:outerShdw blurRad="38100" dist="38100" dir="2700000" algn="tl">
                    <a:srgbClr val="C0C0C0"/>
                  </a:outerShdw>
                </a:effectLst>
              </a:rPr>
              <a:t>一维数组的示例</a:t>
            </a:r>
          </a:p>
          <a:p>
            <a:pPr marL="274320" indent="-274320" eaLnBrk="1" fontAlgn="auto" hangingPunct="1">
              <a:spcAft>
                <a:spcPts val="0"/>
              </a:spcAft>
              <a:buClr>
                <a:schemeClr val="accent3"/>
              </a:buClr>
              <a:buFont typeface="Wingdings" pitchFamily="2" charset="2"/>
              <a:buNone/>
              <a:defRPr/>
            </a:pPr>
            <a:endParaRPr lang="zh-CN" altLang="en-US" sz="1600" b="1" dirty="0">
              <a:effectLst>
                <a:outerShdw blurRad="38100" dist="38100" dir="2700000" algn="tl">
                  <a:srgbClr val="C0C0C0"/>
                </a:outerShdw>
              </a:effectLst>
            </a:endParaRPr>
          </a:p>
          <a:p>
            <a:pPr marL="274320" indent="-274320" eaLnBrk="1" fontAlgn="auto" hangingPunct="1">
              <a:spcAft>
                <a:spcPts val="0"/>
              </a:spcAft>
              <a:buClr>
                <a:schemeClr val="accent3"/>
              </a:buClr>
              <a:buFont typeface="Wingdings" pitchFamily="2" charset="2"/>
              <a:buNone/>
              <a:defRPr/>
            </a:pPr>
            <a:r>
              <a:rPr lang="zh-CN" altLang="en-US" sz="3700" b="1" dirty="0">
                <a:effectLst>
                  <a:outerShdw blurRad="38100" dist="38100" dir="2700000" algn="tl">
                    <a:srgbClr val="C0C0C0"/>
                  </a:outerShdw>
                </a:effectLst>
              </a:rPr>
              <a:t>    </a:t>
            </a:r>
            <a:r>
              <a:rPr lang="en-US" altLang="zh-CN" sz="3200" b="1" dirty="0" err="1">
                <a:effectLst>
                  <a:outerShdw blurRad="38100" dist="38100" dir="2700000" algn="tl">
                    <a:srgbClr val="C0C0C0"/>
                  </a:outerShdw>
                </a:effectLst>
              </a:rPr>
              <a:t>int</a:t>
            </a:r>
            <a:r>
              <a:rPr lang="en-US" altLang="zh-CN" sz="3200" b="1" dirty="0">
                <a:effectLst>
                  <a:outerShdw blurRad="38100" dist="38100" dir="2700000" algn="tl">
                    <a:srgbClr val="C0C0C0"/>
                  </a:outerShdw>
                </a:effectLst>
              </a:rPr>
              <a:t> a[5];</a:t>
            </a:r>
          </a:p>
          <a:p>
            <a:pPr marL="274320" indent="-274320" eaLnBrk="1" fontAlgn="auto" hangingPunct="1">
              <a:spcAft>
                <a:spcPts val="0"/>
              </a:spcAft>
              <a:buClr>
                <a:schemeClr val="accent3"/>
              </a:buClr>
              <a:buFont typeface="Wingdings" pitchFamily="2" charset="2"/>
              <a:buNone/>
              <a:defRPr/>
            </a:pPr>
            <a:endParaRPr lang="en-US" altLang="zh-CN" sz="3200" dirty="0">
              <a:solidFill>
                <a:schemeClr val="bg2"/>
              </a:solidFill>
            </a:endParaRPr>
          </a:p>
        </p:txBody>
      </p:sp>
      <p:sp>
        <p:nvSpPr>
          <p:cNvPr id="7" name="灯片编号占位符 5"/>
          <p:cNvSpPr>
            <a:spLocks noGrp="1"/>
          </p:cNvSpPr>
          <p:nvPr>
            <p:ph type="sldNum" sz="quarter" idx="12"/>
          </p:nvPr>
        </p:nvSpPr>
        <p:spPr/>
        <p:txBody>
          <a:bodyPr/>
          <a:lstStyle/>
          <a:p>
            <a:pPr>
              <a:defRPr/>
            </a:pPr>
            <a:fld id="{F55122DD-8CB2-43DC-953A-0F2F076514A3}" type="slidenum">
              <a:rPr lang="en-US" altLang="zh-CN"/>
              <a:pPr>
                <a:defRPr/>
              </a:pPr>
              <a:t>6</a:t>
            </a:fld>
            <a:endParaRPr lang="en-US" altLang="zh-CN"/>
          </a:p>
        </p:txBody>
      </p:sp>
      <p:sp>
        <p:nvSpPr>
          <p:cNvPr id="1029" name="Rectangle 9"/>
          <p:cNvSpPr>
            <a:spLocks noChangeArrowheads="1"/>
          </p:cNvSpPr>
          <p:nvPr/>
        </p:nvSpPr>
        <p:spPr bwMode="auto">
          <a:xfrm>
            <a:off x="0" y="3038475"/>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1026" name="Object 8"/>
          <p:cNvGraphicFramePr>
            <a:graphicFrameLocks noChangeAspect="1"/>
          </p:cNvGraphicFramePr>
          <p:nvPr/>
        </p:nvGraphicFramePr>
        <p:xfrm>
          <a:off x="428625" y="3038475"/>
          <a:ext cx="8286750" cy="2119313"/>
        </p:xfrm>
        <a:graphic>
          <a:graphicData uri="http://schemas.openxmlformats.org/presentationml/2006/ole">
            <mc:AlternateContent xmlns:mc="http://schemas.openxmlformats.org/markup-compatibility/2006">
              <mc:Choice xmlns:v="urn:schemas-microsoft-com:vml" Requires="v">
                <p:oleObj spid="_x0000_s1045" r:id="rId3" imgW="4038352" imgH="1176918" progId="Visio.Drawing.11">
                  <p:embed/>
                </p:oleObj>
              </mc:Choice>
              <mc:Fallback>
                <p:oleObj r:id="rId3" imgW="4038352" imgH="1176918" progId="Visio.Drawing.11">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8625" y="3038475"/>
                        <a:ext cx="8286750" cy="2119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4"/>
          <p:cNvSpPr>
            <a:spLocks noGrp="1" noChangeArrowheads="1"/>
          </p:cNvSpPr>
          <p:nvPr>
            <p:ph type="title"/>
          </p:nvPr>
        </p:nvSpPr>
        <p:spPr>
          <a:xfrm>
            <a:off x="539750" y="260350"/>
            <a:ext cx="8088313" cy="647700"/>
          </a:xfrm>
        </p:spPr>
        <p:txBody>
          <a:bodyPr lIns="92075" tIns="46038" rIns="92075" bIns="46038">
            <a:normAutofit fontScale="90000"/>
          </a:bodyPr>
          <a:lstStyle/>
          <a:p>
            <a:pPr eaLnBrk="1" fontAlgn="auto" hangingPunct="1">
              <a:spcAft>
                <a:spcPts val="0"/>
              </a:spcAft>
              <a:defRPr/>
            </a:pPr>
            <a:r>
              <a:rPr lang="zh-CN" altLang="en-US" dirty="0">
                <a:solidFill>
                  <a:schemeClr val="tx1"/>
                </a:solidFill>
                <a:latin typeface="黑体" pitchFamily="2" charset="-122"/>
                <a:ea typeface="黑体" pitchFamily="2" charset="-122"/>
              </a:rPr>
              <a:t>一维数组元素的</a:t>
            </a:r>
            <a:r>
              <a:rPr lang="zh-CN" altLang="en-US" dirty="0">
                <a:solidFill>
                  <a:srgbClr val="C00000"/>
                </a:solidFill>
                <a:latin typeface="黑体" pitchFamily="2" charset="-122"/>
                <a:ea typeface="黑体" pitchFamily="2" charset="-122"/>
              </a:rPr>
              <a:t>引用</a:t>
            </a:r>
          </a:p>
        </p:txBody>
      </p:sp>
      <p:sp>
        <p:nvSpPr>
          <p:cNvPr id="118786" name="Rectangle 2"/>
          <p:cNvSpPr>
            <a:spLocks noGrp="1" noChangeArrowheads="1"/>
          </p:cNvSpPr>
          <p:nvPr>
            <p:ph idx="1"/>
          </p:nvPr>
        </p:nvSpPr>
        <p:spPr>
          <a:xfrm>
            <a:off x="395288" y="1052513"/>
            <a:ext cx="8497887" cy="5184775"/>
          </a:xfrm>
        </p:spPr>
        <p:txBody>
          <a:bodyPr>
            <a:normAutofit/>
          </a:bodyPr>
          <a:lstStyle/>
          <a:p>
            <a:pPr marL="0" indent="0" algn="just" eaLnBrk="1" fontAlgn="auto" hangingPunct="1">
              <a:spcAft>
                <a:spcPts val="0"/>
              </a:spcAft>
              <a:buClr>
                <a:schemeClr val="accent3"/>
              </a:buClr>
              <a:buFont typeface="Monotype Sorts" pitchFamily="2" charset="2"/>
              <a:buNone/>
              <a:defRPr/>
            </a:pPr>
            <a:r>
              <a:rPr lang="zh-CN" altLang="en-US" b="1" dirty="0">
                <a:effectLst>
                  <a:outerShdw blurRad="38100" dist="38100" dir="2700000" algn="tl">
                    <a:srgbClr val="C0C0C0"/>
                  </a:outerShdw>
                </a:effectLst>
                <a:latin typeface="宋体" pitchFamily="2" charset="-122"/>
              </a:rPr>
              <a:t>形式：数组名</a:t>
            </a:r>
            <a:r>
              <a:rPr lang="en-US" altLang="zh-CN" b="1" dirty="0">
                <a:effectLst>
                  <a:outerShdw blurRad="38100" dist="38100" dir="2700000" algn="tl">
                    <a:srgbClr val="C0C0C0"/>
                  </a:outerShdw>
                </a:effectLst>
                <a:latin typeface="宋体" pitchFamily="2" charset="-122"/>
              </a:rPr>
              <a:t>[</a:t>
            </a:r>
            <a:r>
              <a:rPr lang="zh-CN" altLang="en-US" b="1" dirty="0">
                <a:effectLst>
                  <a:outerShdw blurRad="38100" dist="38100" dir="2700000" algn="tl">
                    <a:srgbClr val="C0C0C0"/>
                  </a:outerShdw>
                </a:effectLst>
                <a:latin typeface="宋体" pitchFamily="2" charset="-122"/>
              </a:rPr>
              <a:t>下标</a:t>
            </a:r>
            <a:r>
              <a:rPr lang="en-US" altLang="zh-CN" b="1" dirty="0">
                <a:effectLst>
                  <a:outerShdw blurRad="38100" dist="38100" dir="2700000" algn="tl">
                    <a:srgbClr val="C0C0C0"/>
                  </a:outerShdw>
                </a:effectLst>
                <a:latin typeface="宋体" pitchFamily="2" charset="-122"/>
              </a:rPr>
              <a:t>]</a:t>
            </a:r>
          </a:p>
          <a:p>
            <a:pPr marL="0" indent="0" algn="just" eaLnBrk="1" fontAlgn="auto" hangingPunct="1">
              <a:spcAft>
                <a:spcPts val="0"/>
              </a:spcAft>
              <a:buClr>
                <a:schemeClr val="accent3"/>
              </a:buClr>
              <a:buFont typeface="Monotype Sorts" pitchFamily="2" charset="2"/>
              <a:buNone/>
              <a:defRPr/>
            </a:pPr>
            <a:r>
              <a:rPr lang="zh-CN" altLang="en-US" b="1" dirty="0">
                <a:effectLst>
                  <a:outerShdw blurRad="38100" dist="38100" dir="2700000" algn="tl">
                    <a:srgbClr val="C0C0C0"/>
                  </a:outerShdw>
                </a:effectLst>
                <a:latin typeface="宋体" pitchFamily="2" charset="-122"/>
              </a:rPr>
              <a:t>说明：下标可以是</a:t>
            </a:r>
            <a:r>
              <a:rPr lang="zh-CN" altLang="en-US" b="1" dirty="0">
                <a:solidFill>
                  <a:srgbClr val="C00000"/>
                </a:solidFill>
                <a:effectLst>
                  <a:outerShdw blurRad="38100" dist="38100" dir="2700000" algn="tl">
                    <a:srgbClr val="C0C0C0"/>
                  </a:outerShdw>
                </a:effectLst>
                <a:latin typeface="宋体" pitchFamily="2" charset="-122"/>
              </a:rPr>
              <a:t>整型常量、整型变量或整型表达式</a:t>
            </a:r>
          </a:p>
          <a:p>
            <a:pPr marL="0" indent="0" eaLnBrk="1" fontAlgn="auto" hangingPunct="1">
              <a:spcAft>
                <a:spcPts val="0"/>
              </a:spcAft>
              <a:buClr>
                <a:schemeClr val="accent3"/>
              </a:buClr>
              <a:buFont typeface="Wingdings" pitchFamily="2" charset="2"/>
              <a:buNone/>
              <a:defRPr/>
            </a:pPr>
            <a:endParaRPr lang="en-US" altLang="zh-CN" b="1" dirty="0">
              <a:effectLst>
                <a:outerShdw blurRad="38100" dist="38100" dir="2700000" algn="tl">
                  <a:srgbClr val="C0C0C0"/>
                </a:outerShdw>
              </a:effectLst>
            </a:endParaRPr>
          </a:p>
          <a:p>
            <a:pPr marL="0" indent="0"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rPr>
              <a:t>数组</a:t>
            </a:r>
            <a:r>
              <a:rPr lang="en-US" altLang="zh-CN" b="1" dirty="0">
                <a:effectLst>
                  <a:outerShdw blurRad="38100" dist="38100" dir="2700000" algn="tl">
                    <a:srgbClr val="C0C0C0"/>
                  </a:outerShdw>
                </a:effectLst>
              </a:rPr>
              <a:t>a[ ]</a:t>
            </a:r>
            <a:r>
              <a:rPr lang="zh-CN" altLang="en-US" b="1" dirty="0">
                <a:effectLst>
                  <a:outerShdw blurRad="38100" dist="38100" dir="2700000" algn="tl">
                    <a:srgbClr val="C0C0C0"/>
                  </a:outerShdw>
                </a:effectLst>
              </a:rPr>
              <a:t>的</a:t>
            </a:r>
            <a:r>
              <a:rPr lang="en-US" altLang="zh-CN" b="1" dirty="0">
                <a:effectLst>
                  <a:outerShdw blurRad="38100" dist="38100" dir="2700000" algn="tl">
                    <a:srgbClr val="C0C0C0"/>
                  </a:outerShdw>
                </a:effectLst>
              </a:rPr>
              <a:t>5</a:t>
            </a:r>
            <a:r>
              <a:rPr lang="zh-CN" altLang="en-US" b="1" dirty="0">
                <a:effectLst>
                  <a:outerShdw blurRad="38100" dist="38100" dir="2700000" algn="tl">
                    <a:srgbClr val="C0C0C0"/>
                  </a:outerShdw>
                </a:effectLst>
              </a:rPr>
              <a:t>个元素可分别用</a:t>
            </a:r>
            <a:r>
              <a:rPr lang="en-US" altLang="zh-CN" b="1" dirty="0">
                <a:effectLst>
                  <a:outerShdw blurRad="38100" dist="38100" dir="2700000" algn="tl">
                    <a:srgbClr val="C0C0C0"/>
                  </a:outerShdw>
                </a:effectLst>
              </a:rPr>
              <a:t>a[0]</a:t>
            </a:r>
            <a:r>
              <a:rPr lang="zh-CN" altLang="en-US" b="1" dirty="0">
                <a:effectLst>
                  <a:outerShdw blurRad="38100" dist="38100" dir="2700000" algn="tl">
                    <a:srgbClr val="C0C0C0"/>
                  </a:outerShdw>
                </a:effectLst>
              </a:rPr>
              <a:t>、</a:t>
            </a:r>
            <a:r>
              <a:rPr lang="en-US" altLang="zh-CN" b="1" dirty="0">
                <a:effectLst>
                  <a:outerShdw blurRad="38100" dist="38100" dir="2700000" algn="tl">
                    <a:srgbClr val="C0C0C0"/>
                  </a:outerShdw>
                </a:effectLst>
              </a:rPr>
              <a:t>a[1]</a:t>
            </a:r>
            <a:r>
              <a:rPr lang="zh-CN" altLang="en-US" b="1" dirty="0">
                <a:effectLst>
                  <a:outerShdw blurRad="38100" dist="38100" dir="2700000" algn="tl">
                    <a:srgbClr val="C0C0C0"/>
                  </a:outerShdw>
                </a:effectLst>
              </a:rPr>
              <a:t>、</a:t>
            </a:r>
            <a:r>
              <a:rPr lang="en-US" altLang="zh-CN" b="1" dirty="0">
                <a:effectLst>
                  <a:outerShdw blurRad="38100" dist="38100" dir="2700000" algn="tl">
                    <a:srgbClr val="C0C0C0"/>
                  </a:outerShdw>
                </a:effectLst>
              </a:rPr>
              <a:t>a[2]</a:t>
            </a:r>
            <a:r>
              <a:rPr lang="zh-CN" altLang="en-US" b="1" dirty="0">
                <a:effectLst>
                  <a:outerShdw blurRad="38100" dist="38100" dir="2700000" algn="tl">
                    <a:srgbClr val="C0C0C0"/>
                  </a:outerShdw>
                </a:effectLst>
              </a:rPr>
              <a:t>、</a:t>
            </a:r>
            <a:r>
              <a:rPr lang="en-US" altLang="zh-CN" b="1" dirty="0">
                <a:effectLst>
                  <a:outerShdw blurRad="38100" dist="38100" dir="2700000" algn="tl">
                    <a:srgbClr val="C0C0C0"/>
                  </a:outerShdw>
                </a:effectLst>
              </a:rPr>
              <a:t>a[3]</a:t>
            </a:r>
            <a:r>
              <a:rPr lang="zh-CN" altLang="en-US" b="1" dirty="0">
                <a:effectLst>
                  <a:outerShdw blurRad="38100" dist="38100" dir="2700000" algn="tl">
                    <a:srgbClr val="C0C0C0"/>
                  </a:outerShdw>
                </a:effectLst>
              </a:rPr>
              <a:t>、</a:t>
            </a:r>
            <a:r>
              <a:rPr lang="en-US" altLang="zh-CN" b="1" dirty="0">
                <a:effectLst>
                  <a:outerShdw blurRad="38100" dist="38100" dir="2700000" algn="tl">
                    <a:srgbClr val="C0C0C0"/>
                  </a:outerShdw>
                </a:effectLst>
              </a:rPr>
              <a:t>a[4]</a:t>
            </a:r>
            <a:r>
              <a:rPr lang="zh-CN" altLang="en-US" b="1" dirty="0">
                <a:effectLst>
                  <a:outerShdw blurRad="38100" dist="38100" dir="2700000" algn="tl">
                    <a:srgbClr val="C0C0C0"/>
                  </a:outerShdw>
                </a:effectLst>
              </a:rPr>
              <a:t>来引用它们。以下是引用数组元素的值，和设定数组元素值的代码：</a:t>
            </a:r>
          </a:p>
          <a:p>
            <a:pPr marL="0" indent="0"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rPr>
              <a:t>     </a:t>
            </a:r>
            <a:r>
              <a:rPr lang="en-US" altLang="zh-CN" b="1" dirty="0">
                <a:effectLst>
                  <a:outerShdw blurRad="38100" dist="38100" dir="2700000" algn="tl">
                    <a:srgbClr val="C0C0C0"/>
                  </a:outerShdw>
                </a:effectLst>
              </a:rPr>
              <a:t>for(k = 0; k &lt; 4; k++) </a:t>
            </a:r>
          </a:p>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a[k] = k+1</a:t>
            </a:r>
            <a:r>
              <a:rPr lang="zh-CN" altLang="en-US" b="1" dirty="0">
                <a:effectLst>
                  <a:outerShdw blurRad="38100" dist="38100" dir="2700000" algn="tl">
                    <a:srgbClr val="C0C0C0"/>
                  </a:outerShdw>
                </a:effectLst>
              </a:rPr>
              <a:t>；</a:t>
            </a:r>
          </a:p>
          <a:p>
            <a:pPr marL="0" indent="0"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rPr>
              <a:t>     </a:t>
            </a:r>
            <a:r>
              <a:rPr lang="en-US" altLang="zh-CN" b="1" dirty="0">
                <a:effectLst>
                  <a:outerShdw blurRad="38100" dist="38100" dir="2700000" algn="tl">
                    <a:srgbClr val="C0C0C0"/>
                  </a:outerShdw>
                </a:effectLst>
              </a:rPr>
              <a:t>a[4] = a[0] + a[1] + a[2] + a[3]</a:t>
            </a:r>
            <a:r>
              <a:rPr lang="zh-CN" altLang="en-US" b="1" dirty="0">
                <a:effectLst>
                  <a:outerShdw blurRad="38100" dist="38100" dir="2700000" algn="tl">
                    <a:srgbClr val="C0C0C0"/>
                  </a:outerShdw>
                </a:effectLst>
              </a:rPr>
              <a:t>；</a:t>
            </a:r>
            <a:r>
              <a:rPr lang="zh-CN" altLang="en-US" dirty="0"/>
              <a:t> </a:t>
            </a:r>
          </a:p>
        </p:txBody>
      </p:sp>
      <p:sp>
        <p:nvSpPr>
          <p:cNvPr id="6" name="灯片编号占位符 5"/>
          <p:cNvSpPr>
            <a:spLocks noGrp="1"/>
          </p:cNvSpPr>
          <p:nvPr>
            <p:ph type="sldNum" sz="quarter" idx="12"/>
          </p:nvPr>
        </p:nvSpPr>
        <p:spPr/>
        <p:txBody>
          <a:bodyPr/>
          <a:lstStyle/>
          <a:p>
            <a:pPr>
              <a:defRPr/>
            </a:pPr>
            <a:fld id="{8BB91D5B-21E5-4DCD-9EA2-700250FE5278}" type="slidenum">
              <a:rPr lang="en-US" altLang="zh-CN"/>
              <a:pPr>
                <a:defRPr/>
              </a:pPr>
              <a:t>7</a:t>
            </a:fld>
            <a:endParaRPr lang="en-US" altLang="zh-CN"/>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5618" name="Rectangle 2"/>
          <p:cNvSpPr>
            <a:spLocks noGrp="1" noChangeArrowheads="1"/>
          </p:cNvSpPr>
          <p:nvPr>
            <p:ph idx="1"/>
          </p:nvPr>
        </p:nvSpPr>
        <p:spPr>
          <a:xfrm>
            <a:off x="395288" y="642938"/>
            <a:ext cx="8497887" cy="5184775"/>
          </a:xfrm>
        </p:spPr>
        <p:txBody>
          <a:bodyPr>
            <a:normAutofit/>
          </a:bodyPr>
          <a:lstStyle/>
          <a:p>
            <a:pPr marL="0" indent="0"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rPr>
              <a:t>定义数组大小用常量表达式，就是说数组的大小是在定义时指定的，</a:t>
            </a:r>
            <a:r>
              <a:rPr lang="zh-CN" altLang="en-US" sz="3200" b="1" dirty="0">
                <a:solidFill>
                  <a:srgbClr val="C00000"/>
                </a:solidFill>
                <a:effectLst>
                  <a:outerShdw blurRad="38100" dist="38100" dir="2700000" algn="tl">
                    <a:srgbClr val="C0C0C0"/>
                  </a:outerShdw>
                </a:effectLst>
              </a:rPr>
              <a:t>程序执行过程中数组的大小不可以改变</a:t>
            </a:r>
            <a:r>
              <a:rPr lang="zh-CN" altLang="en-US" b="1" dirty="0">
                <a:effectLst>
                  <a:outerShdw blurRad="38100" dist="38100" dir="2700000" algn="tl">
                    <a:srgbClr val="C0C0C0"/>
                  </a:outerShdw>
                </a:effectLst>
              </a:rPr>
              <a:t>。因此，数组定义中，指定数组元素个数的表达式不可以有引用变量值的代码。</a:t>
            </a:r>
          </a:p>
          <a:p>
            <a:pPr marL="0" indent="0" eaLnBrk="1" fontAlgn="auto" hangingPunct="1">
              <a:spcAft>
                <a:spcPts val="0"/>
              </a:spcAft>
              <a:buClr>
                <a:schemeClr val="accent3"/>
              </a:buClr>
              <a:buFont typeface="Wingdings" pitchFamily="2" charset="2"/>
              <a:buNone/>
              <a:defRPr/>
            </a:pPr>
            <a:endParaRPr lang="zh-CN" altLang="en-US" b="1" dirty="0">
              <a:effectLst>
                <a:outerShdw blurRad="38100" dist="38100" dir="2700000" algn="tl">
                  <a:srgbClr val="C0C0C0"/>
                </a:outerShdw>
              </a:effectLst>
            </a:endParaRPr>
          </a:p>
          <a:p>
            <a:pPr marL="0" indent="0"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rPr>
              <a:t>例如，下面的代码是错误的：</a:t>
            </a:r>
          </a:p>
          <a:p>
            <a:pPr marL="0" indent="0"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rPr>
              <a:t>  </a:t>
            </a:r>
            <a:r>
              <a:rPr lang="en-US" altLang="zh-CN" b="1" dirty="0" err="1">
                <a:effectLst>
                  <a:outerShdw blurRad="38100" dist="38100" dir="2700000" algn="tl">
                    <a:srgbClr val="C0C0C0"/>
                  </a:outerShdw>
                </a:effectLst>
              </a:rPr>
              <a:t>int</a:t>
            </a:r>
            <a:r>
              <a:rPr lang="en-US" altLang="zh-CN" b="1" dirty="0">
                <a:effectLst>
                  <a:outerShdw blurRad="38100" dist="38100" dir="2700000" algn="tl">
                    <a:srgbClr val="C0C0C0"/>
                  </a:outerShdw>
                </a:effectLst>
              </a:rPr>
              <a:t> m</a:t>
            </a:r>
            <a:r>
              <a:rPr lang="zh-CN" altLang="en-US" b="1" dirty="0">
                <a:effectLst>
                  <a:outerShdw blurRad="38100" dist="38100" dir="2700000" algn="tl">
                    <a:srgbClr val="C0C0C0"/>
                  </a:outerShdw>
                </a:effectLst>
              </a:rPr>
              <a:t>，</a:t>
            </a:r>
            <a:r>
              <a:rPr lang="en-US" altLang="zh-CN" b="1" dirty="0">
                <a:effectLst>
                  <a:outerShdw blurRad="38100" dist="38100" dir="2700000" algn="tl">
                    <a:srgbClr val="C0C0C0"/>
                  </a:outerShdw>
                </a:effectLst>
              </a:rPr>
              <a:t>x[m]; /* </a:t>
            </a:r>
            <a:r>
              <a:rPr lang="zh-CN" altLang="en-US" b="1" dirty="0">
                <a:effectLst>
                  <a:outerShdw blurRad="38100" dist="38100" dir="2700000" algn="tl">
                    <a:srgbClr val="C0C0C0"/>
                  </a:outerShdw>
                </a:effectLst>
              </a:rPr>
              <a:t>数组大小不能用变量的值来指定 *</a:t>
            </a:r>
            <a:r>
              <a:rPr lang="en-US" altLang="zh-CN" b="1" dirty="0">
                <a:effectLst>
                  <a:outerShdw blurRad="38100" dist="38100" dir="2700000" algn="tl">
                    <a:srgbClr val="C0C0C0"/>
                  </a:outerShdw>
                </a:effectLst>
              </a:rPr>
              <a:t>/</a:t>
            </a:r>
          </a:p>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a:t>
            </a:r>
            <a:r>
              <a:rPr lang="en-US" altLang="zh-CN" b="1" dirty="0" err="1">
                <a:effectLst>
                  <a:outerShdw blurRad="38100" dist="38100" dir="2700000" algn="tl">
                    <a:srgbClr val="C0C0C0"/>
                  </a:outerShdw>
                </a:effectLst>
              </a:rPr>
              <a:t>scanf</a:t>
            </a:r>
            <a:r>
              <a:rPr lang="en-US" altLang="zh-CN" b="1" dirty="0">
                <a:effectLst>
                  <a:outerShdw blurRad="38100" dist="38100" dir="2700000" algn="tl">
                    <a:srgbClr val="C0C0C0"/>
                  </a:outerShdw>
                </a:effectLst>
              </a:rPr>
              <a:t>(”%d”, &amp;m);</a:t>
            </a:r>
          </a:p>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a:t>
            </a:r>
          </a:p>
        </p:txBody>
      </p:sp>
      <p:sp>
        <p:nvSpPr>
          <p:cNvPr id="5" name="灯片编号占位符 5"/>
          <p:cNvSpPr>
            <a:spLocks noGrp="1"/>
          </p:cNvSpPr>
          <p:nvPr>
            <p:ph type="sldNum" sz="quarter" idx="12"/>
          </p:nvPr>
        </p:nvSpPr>
        <p:spPr/>
        <p:txBody>
          <a:bodyPr/>
          <a:lstStyle/>
          <a:p>
            <a:pPr>
              <a:defRPr/>
            </a:pPr>
            <a:fld id="{56037B85-F54A-4746-BE5F-CED5411E5859}" type="slidenum">
              <a:rPr lang="en-US" altLang="zh-CN"/>
              <a:pPr>
                <a:defRPr/>
              </a:pPr>
              <a:t>8</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95618">
                                            <p:txEl>
                                              <p:pRg st="2" end="2"/>
                                            </p:txEl>
                                          </p:spTgt>
                                        </p:tgtEl>
                                        <p:attrNameLst>
                                          <p:attrName>style.visibility</p:attrName>
                                        </p:attrNameLst>
                                      </p:cBhvr>
                                      <p:to>
                                        <p:strVal val="visible"/>
                                      </p:to>
                                    </p:set>
                                    <p:anim calcmode="lin" valueType="num">
                                      <p:cBhvr additive="base">
                                        <p:cTn id="7" dur="500" fill="hold"/>
                                        <p:tgtEl>
                                          <p:spTgt spid="495618">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95618">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95618">
                                            <p:txEl>
                                              <p:pRg st="3" end="3"/>
                                            </p:txEl>
                                          </p:spTgt>
                                        </p:tgtEl>
                                        <p:attrNameLst>
                                          <p:attrName>style.visibility</p:attrName>
                                        </p:attrNameLst>
                                      </p:cBhvr>
                                      <p:to>
                                        <p:strVal val="visible"/>
                                      </p:to>
                                    </p:set>
                                    <p:anim calcmode="lin" valueType="num">
                                      <p:cBhvr additive="base">
                                        <p:cTn id="11" dur="500" fill="hold"/>
                                        <p:tgtEl>
                                          <p:spTgt spid="495618">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95618">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95618">
                                            <p:txEl>
                                              <p:pRg st="4" end="4"/>
                                            </p:txEl>
                                          </p:spTgt>
                                        </p:tgtEl>
                                        <p:attrNameLst>
                                          <p:attrName>style.visibility</p:attrName>
                                        </p:attrNameLst>
                                      </p:cBhvr>
                                      <p:to>
                                        <p:strVal val="visible"/>
                                      </p:to>
                                    </p:set>
                                    <p:anim calcmode="lin" valueType="num">
                                      <p:cBhvr additive="base">
                                        <p:cTn id="15" dur="500" fill="hold"/>
                                        <p:tgtEl>
                                          <p:spTgt spid="495618">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95618">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95618">
                                            <p:txEl>
                                              <p:pRg st="5" end="5"/>
                                            </p:txEl>
                                          </p:spTgt>
                                        </p:tgtEl>
                                        <p:attrNameLst>
                                          <p:attrName>style.visibility</p:attrName>
                                        </p:attrNameLst>
                                      </p:cBhvr>
                                      <p:to>
                                        <p:strVal val="visible"/>
                                      </p:to>
                                    </p:set>
                                    <p:anim calcmode="lin" valueType="num">
                                      <p:cBhvr additive="base">
                                        <p:cTn id="19" dur="500" fill="hold"/>
                                        <p:tgtEl>
                                          <p:spTgt spid="495618">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95618">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Rectangle 3"/>
          <p:cNvSpPr>
            <a:spLocks noGrp="1" noChangeArrowheads="1"/>
          </p:cNvSpPr>
          <p:nvPr>
            <p:ph type="title"/>
          </p:nvPr>
        </p:nvSpPr>
        <p:spPr>
          <a:xfrm>
            <a:off x="539750" y="620713"/>
            <a:ext cx="8088313" cy="647700"/>
          </a:xfrm>
        </p:spPr>
        <p:txBody>
          <a:bodyPr lIns="92075" tIns="46038" rIns="92075" bIns="46038">
            <a:normAutofit fontScale="90000"/>
          </a:bodyPr>
          <a:lstStyle/>
          <a:p>
            <a:pPr eaLnBrk="1" fontAlgn="auto" hangingPunct="1">
              <a:spcAft>
                <a:spcPts val="0"/>
              </a:spcAft>
              <a:defRPr/>
            </a:pPr>
            <a:r>
              <a:rPr lang="zh-CN" altLang="en-US" dirty="0">
                <a:solidFill>
                  <a:schemeClr val="tx1"/>
                </a:solidFill>
                <a:latin typeface="黑体" pitchFamily="2" charset="-122"/>
                <a:ea typeface="黑体" pitchFamily="2" charset="-122"/>
              </a:rPr>
              <a:t>一维数组初始化</a:t>
            </a:r>
          </a:p>
        </p:txBody>
      </p:sp>
      <p:sp>
        <p:nvSpPr>
          <p:cNvPr id="496642" name="Rectangle 2"/>
          <p:cNvSpPr>
            <a:spLocks noGrp="1" noChangeArrowheads="1"/>
          </p:cNvSpPr>
          <p:nvPr>
            <p:ph idx="1"/>
          </p:nvPr>
        </p:nvSpPr>
        <p:spPr>
          <a:xfrm>
            <a:off x="395288" y="1571625"/>
            <a:ext cx="8497887" cy="4248150"/>
          </a:xfrm>
        </p:spPr>
        <p:txBody>
          <a:bodyPr>
            <a:normAutofit/>
          </a:bodyPr>
          <a:lstStyle/>
          <a:p>
            <a:pPr marL="0" indent="0" eaLnBrk="1" fontAlgn="auto" hangingPunct="1">
              <a:spcAft>
                <a:spcPts val="0"/>
              </a:spcAft>
              <a:buClr>
                <a:schemeClr val="accent3"/>
              </a:buClr>
              <a:buFont typeface="Wingdings" pitchFamily="2" charset="2"/>
              <a:buNone/>
              <a:defRPr/>
            </a:pPr>
            <a:r>
              <a:rPr lang="zh-CN" altLang="en-US" sz="3200" b="1" dirty="0">
                <a:effectLst>
                  <a:outerShdw blurRad="38100" dist="38100" dir="2700000" algn="tl">
                    <a:srgbClr val="C0C0C0"/>
                  </a:outerShdw>
                </a:effectLst>
              </a:rPr>
              <a:t>程序在引用数组元素的值之前，必须先为数组元素设定初始值。数组元素的初始值可以输入，也可以用赋值语句来设定。</a:t>
            </a:r>
          </a:p>
          <a:p>
            <a:pPr marL="0" indent="0" eaLnBrk="1" fontAlgn="auto" hangingPunct="1">
              <a:spcAft>
                <a:spcPts val="0"/>
              </a:spcAft>
              <a:buClr>
                <a:schemeClr val="accent3"/>
              </a:buClr>
              <a:buFont typeface="Wingdings" pitchFamily="2" charset="2"/>
              <a:buNone/>
              <a:defRPr/>
            </a:pPr>
            <a:endParaRPr lang="zh-CN" altLang="en-US" sz="3200" b="1" dirty="0">
              <a:effectLst>
                <a:outerShdw blurRad="38100" dist="38100" dir="2700000" algn="tl">
                  <a:srgbClr val="C0C0C0"/>
                </a:outerShdw>
              </a:effectLst>
            </a:endParaRPr>
          </a:p>
          <a:p>
            <a:pPr marL="0" indent="0" eaLnBrk="1" fontAlgn="auto" hangingPunct="1">
              <a:spcAft>
                <a:spcPts val="0"/>
              </a:spcAft>
              <a:buClr>
                <a:schemeClr val="accent3"/>
              </a:buClr>
              <a:buFont typeface="Wingdings" pitchFamily="2" charset="2"/>
              <a:buNone/>
              <a:defRPr/>
            </a:pPr>
            <a:r>
              <a:rPr lang="zh-CN" altLang="en-US" sz="3200" b="1" dirty="0">
                <a:effectLst>
                  <a:outerShdw blurRad="38100" dist="38100" dir="2700000" algn="tl">
                    <a:srgbClr val="C0C0C0"/>
                  </a:outerShdw>
                </a:effectLst>
              </a:rPr>
              <a:t>对于程序每次运行时，数组元素的初始值是固定的场合，</a:t>
            </a:r>
            <a:r>
              <a:rPr lang="zh-CN" altLang="en-US" sz="3200" b="1" dirty="0">
                <a:solidFill>
                  <a:srgbClr val="C00000"/>
                </a:solidFill>
                <a:effectLst>
                  <a:outerShdw blurRad="38100" dist="38100" dir="2700000" algn="tl">
                    <a:srgbClr val="C0C0C0"/>
                  </a:outerShdw>
                </a:effectLst>
              </a:rPr>
              <a:t>可在数组定义时就给出它的元素的初值</a:t>
            </a:r>
            <a:r>
              <a:rPr lang="zh-CN" altLang="en-US" sz="3200" b="1" dirty="0">
                <a:effectLst>
                  <a:outerShdw blurRad="38100" dist="38100" dir="2700000" algn="tl">
                    <a:srgbClr val="C0C0C0"/>
                  </a:outerShdw>
                </a:effectLst>
              </a:rPr>
              <a:t>。这种表达形式称为数组定义的初始化，简称</a:t>
            </a:r>
            <a:r>
              <a:rPr lang="zh-CN" altLang="en-US" sz="3200" b="1" dirty="0">
                <a:solidFill>
                  <a:srgbClr val="C00000"/>
                </a:solidFill>
                <a:effectLst>
                  <a:outerShdw blurRad="38100" dist="38100" dir="2700000" algn="tl">
                    <a:srgbClr val="C0C0C0"/>
                  </a:outerShdw>
                </a:effectLst>
              </a:rPr>
              <a:t>数组初始化</a:t>
            </a:r>
            <a:r>
              <a:rPr lang="zh-CN" altLang="en-US" sz="3200" b="1" dirty="0">
                <a:effectLst>
                  <a:outerShdw blurRad="38100" dist="38100" dir="2700000" algn="tl">
                    <a:srgbClr val="C0C0C0"/>
                  </a:outerShdw>
                </a:effectLst>
              </a:rPr>
              <a:t>。</a:t>
            </a:r>
            <a:r>
              <a:rPr lang="zh-CN" altLang="en-US" sz="3200" dirty="0"/>
              <a:t> </a:t>
            </a:r>
          </a:p>
        </p:txBody>
      </p:sp>
      <p:sp>
        <p:nvSpPr>
          <p:cNvPr id="6" name="灯片编号占位符 5"/>
          <p:cNvSpPr>
            <a:spLocks noGrp="1"/>
          </p:cNvSpPr>
          <p:nvPr>
            <p:ph type="sldNum" sz="quarter" idx="12"/>
          </p:nvPr>
        </p:nvSpPr>
        <p:spPr/>
        <p:txBody>
          <a:bodyPr/>
          <a:lstStyle/>
          <a:p>
            <a:pPr>
              <a:defRPr/>
            </a:pPr>
            <a:fld id="{63BA1266-16EC-4D16-AD76-699215D0436D}" type="slidenum">
              <a:rPr lang="en-US" altLang="zh-CN"/>
              <a:pPr>
                <a:defRPr/>
              </a:pPr>
              <a:t>9</a:t>
            </a:fld>
            <a:endParaRPr lang="en-US" altLang="zh-CN"/>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7666" name="Rectangle 2"/>
          <p:cNvSpPr>
            <a:spLocks noGrp="1" noChangeArrowheads="1"/>
          </p:cNvSpPr>
          <p:nvPr>
            <p:ph idx="1"/>
          </p:nvPr>
        </p:nvSpPr>
        <p:spPr>
          <a:xfrm>
            <a:off x="228600" y="476250"/>
            <a:ext cx="8534400" cy="6381750"/>
          </a:xfrm>
        </p:spPr>
        <p:txBody>
          <a:bodyPr>
            <a:normAutofit/>
          </a:bodyPr>
          <a:lstStyle/>
          <a:p>
            <a:pPr marL="0" indent="0" algn="just" eaLnBrk="1" fontAlgn="auto" hangingPunct="1">
              <a:lnSpc>
                <a:spcPct val="90000"/>
              </a:lnSpc>
              <a:spcAft>
                <a:spcPts val="0"/>
              </a:spcAft>
              <a:buClr>
                <a:schemeClr val="accent3"/>
              </a:buClr>
              <a:buFont typeface="Wingdings" pitchFamily="2" charset="2"/>
              <a:buNone/>
              <a:defRPr/>
            </a:pPr>
            <a:r>
              <a:rPr lang="en-US" altLang="zh-CN" sz="2800" b="1" dirty="0">
                <a:latin typeface="宋体" pitchFamily="2" charset="-122"/>
              </a:rPr>
              <a:t>①</a:t>
            </a:r>
            <a:r>
              <a:rPr lang="zh-CN" altLang="en-US" sz="2800" b="1" dirty="0">
                <a:latin typeface="宋体" pitchFamily="2" charset="-122"/>
              </a:rPr>
              <a:t>数组定义时，顺序给出数组全部元素的初值</a:t>
            </a:r>
          </a:p>
          <a:p>
            <a:pPr marL="0" indent="0" algn="just" eaLnBrk="1" fontAlgn="auto" hangingPunct="1">
              <a:lnSpc>
                <a:spcPct val="90000"/>
              </a:lnSpc>
              <a:spcAft>
                <a:spcPts val="0"/>
              </a:spcAft>
              <a:buClr>
                <a:schemeClr val="accent3"/>
              </a:buClr>
              <a:buFont typeface="Wingdings" pitchFamily="2" charset="2"/>
              <a:buNone/>
              <a:defRPr/>
            </a:pPr>
            <a:r>
              <a:rPr lang="zh-CN" altLang="en-US" sz="2800" b="1" dirty="0">
                <a:latin typeface="宋体" pitchFamily="2" charset="-122"/>
              </a:rPr>
              <a:t>     </a:t>
            </a:r>
            <a:r>
              <a:rPr lang="en-US" altLang="zh-CN" sz="2800" b="1" dirty="0" err="1">
                <a:latin typeface="黑体" pitchFamily="2" charset="-122"/>
              </a:rPr>
              <a:t>int</a:t>
            </a:r>
            <a:r>
              <a:rPr lang="en-US" altLang="zh-CN" sz="2800" b="1" dirty="0">
                <a:latin typeface="黑体" pitchFamily="2" charset="-122"/>
              </a:rPr>
              <a:t> d[5] = {0, 1, 2, 3, 4};</a:t>
            </a:r>
          </a:p>
          <a:p>
            <a:pPr marL="0" indent="0" algn="just" eaLnBrk="1" fontAlgn="auto" hangingPunct="1">
              <a:lnSpc>
                <a:spcPct val="90000"/>
              </a:lnSpc>
              <a:spcAft>
                <a:spcPts val="0"/>
              </a:spcAft>
              <a:buClr>
                <a:schemeClr val="accent3"/>
              </a:buClr>
              <a:buFont typeface="Wingdings" pitchFamily="2" charset="2"/>
              <a:buNone/>
              <a:defRPr/>
            </a:pPr>
            <a:r>
              <a:rPr lang="en-US" altLang="zh-CN" sz="2800" b="1" dirty="0">
                <a:effectLst>
                  <a:outerShdw blurRad="38100" dist="38100" dir="2700000" algn="tl">
                    <a:srgbClr val="C0C0C0"/>
                  </a:outerShdw>
                </a:effectLst>
                <a:latin typeface="宋体" pitchFamily="2" charset="-122"/>
              </a:rPr>
              <a:t> </a:t>
            </a:r>
            <a:r>
              <a:rPr lang="zh-CN" altLang="en-US" sz="2800" b="1" dirty="0">
                <a:effectLst>
                  <a:outerShdw blurRad="38100" dist="38100" dir="2700000" algn="tl">
                    <a:srgbClr val="C0C0C0"/>
                  </a:outerShdw>
                </a:effectLst>
                <a:latin typeface="宋体" pitchFamily="2" charset="-122"/>
              </a:rPr>
              <a:t>即：</a:t>
            </a:r>
            <a:r>
              <a:rPr lang="en-US" altLang="zh-CN" sz="2800" b="1" dirty="0">
                <a:latin typeface="黑体" pitchFamily="2" charset="-122"/>
              </a:rPr>
              <a:t>d[0]=0; d[1]=1; d[2]=2; d[3]=3; d[4]=4;</a:t>
            </a:r>
          </a:p>
          <a:p>
            <a:pPr marL="0" indent="0" algn="just" eaLnBrk="1" fontAlgn="auto" hangingPunct="1">
              <a:lnSpc>
                <a:spcPct val="90000"/>
              </a:lnSpc>
              <a:spcAft>
                <a:spcPts val="0"/>
              </a:spcAft>
              <a:buClr>
                <a:schemeClr val="accent3"/>
              </a:buClr>
              <a:buFont typeface="Wingdings" pitchFamily="2" charset="2"/>
              <a:buNone/>
              <a:defRPr/>
            </a:pPr>
            <a:r>
              <a:rPr lang="zh-CN" altLang="en-US" sz="2800" b="1" dirty="0">
                <a:effectLst>
                  <a:outerShdw blurRad="38100" dist="38100" dir="2700000" algn="tl">
                    <a:srgbClr val="C0C0C0"/>
                  </a:outerShdw>
                </a:effectLst>
                <a:latin typeface="宋体" pitchFamily="2" charset="-122"/>
              </a:rPr>
              <a:t>说明：</a:t>
            </a:r>
            <a:r>
              <a:rPr lang="zh-CN" altLang="en-US" sz="2800" b="1" dirty="0">
                <a:latin typeface="宋体" pitchFamily="2" charset="-122"/>
              </a:rPr>
              <a:t>将数组元素的初值依次写在一对花括弧内。</a:t>
            </a:r>
          </a:p>
          <a:p>
            <a:pPr marL="0" indent="0" eaLnBrk="1" fontAlgn="auto" hangingPunct="1">
              <a:lnSpc>
                <a:spcPct val="90000"/>
              </a:lnSpc>
              <a:spcAft>
                <a:spcPts val="0"/>
              </a:spcAft>
              <a:buClr>
                <a:schemeClr val="accent3"/>
              </a:buClr>
              <a:buFont typeface="Wingdings" pitchFamily="2" charset="2"/>
              <a:buNone/>
              <a:defRPr/>
            </a:pPr>
            <a:endParaRPr lang="zh-CN" altLang="en-US" b="1" dirty="0">
              <a:effectLst>
                <a:outerShdw blurRad="38100" dist="38100" dir="2700000" algn="tl">
                  <a:srgbClr val="C0C0C0"/>
                </a:outerShdw>
              </a:effectLst>
              <a:latin typeface="宋体" pitchFamily="2" charset="-122"/>
            </a:endParaRPr>
          </a:p>
          <a:p>
            <a:pPr marL="0" indent="0" eaLnBrk="1" fontAlgn="auto" hangingPunct="1">
              <a:lnSpc>
                <a:spcPct val="90000"/>
              </a:lnSpc>
              <a:spcAft>
                <a:spcPts val="0"/>
              </a:spcAft>
              <a:buClr>
                <a:schemeClr val="accent3"/>
              </a:buClr>
              <a:buFont typeface="Wingdings" pitchFamily="2" charset="2"/>
              <a:buNone/>
              <a:defRPr/>
            </a:pPr>
            <a:r>
              <a:rPr lang="en-US" altLang="zh-CN" b="1" dirty="0">
                <a:latin typeface="宋体" pitchFamily="2" charset="-122"/>
              </a:rPr>
              <a:t>②</a:t>
            </a:r>
            <a:r>
              <a:rPr lang="zh-CN" altLang="en-US" b="1" dirty="0">
                <a:effectLst>
                  <a:outerShdw blurRad="38100" dist="38100" dir="2700000" algn="tl">
                    <a:srgbClr val="C0C0C0"/>
                  </a:outerShdw>
                </a:effectLst>
                <a:latin typeface="宋体" pitchFamily="2" charset="-122"/>
              </a:rPr>
              <a:t>只给数组的前面一部分元素设定初值。</a:t>
            </a:r>
          </a:p>
          <a:p>
            <a:pPr marL="0" indent="0" eaLnBrk="1" fontAlgn="auto" hangingPunct="1">
              <a:lnSpc>
                <a:spcPct val="90000"/>
              </a:lnSpc>
              <a:spcAft>
                <a:spcPts val="0"/>
              </a:spcAft>
              <a:buClr>
                <a:schemeClr val="accent3"/>
              </a:buClr>
              <a:buFont typeface="Wingdings" pitchFamily="2" charset="2"/>
              <a:buNone/>
              <a:defRPr/>
            </a:pPr>
            <a:r>
              <a:rPr lang="zh-CN" altLang="en-US" b="1" dirty="0">
                <a:effectLst>
                  <a:outerShdw blurRad="38100" dist="38100" dir="2700000" algn="tl">
                    <a:srgbClr val="C0C0C0"/>
                  </a:outerShdw>
                </a:effectLst>
                <a:latin typeface="宋体" pitchFamily="2" charset="-122"/>
              </a:rPr>
              <a:t>	</a:t>
            </a:r>
            <a:r>
              <a:rPr lang="en-US" altLang="zh-CN" b="1" dirty="0" err="1">
                <a:effectLst>
                  <a:outerShdw blurRad="38100" dist="38100" dir="2700000" algn="tl">
                    <a:srgbClr val="C0C0C0"/>
                  </a:outerShdw>
                </a:effectLst>
                <a:latin typeface="黑体" pitchFamily="2" charset="-122"/>
              </a:rPr>
              <a:t>int</a:t>
            </a:r>
            <a:r>
              <a:rPr lang="en-US" altLang="zh-CN" b="1" dirty="0">
                <a:effectLst>
                  <a:outerShdw blurRad="38100" dist="38100" dir="2700000" algn="tl">
                    <a:srgbClr val="C0C0C0"/>
                  </a:outerShdw>
                </a:effectLst>
                <a:latin typeface="黑体" pitchFamily="2" charset="-122"/>
              </a:rPr>
              <a:t> d[5] = {0, 1, 2};</a:t>
            </a:r>
          </a:p>
          <a:p>
            <a:pPr marL="0" indent="0" algn="just" eaLnBrk="1" fontAlgn="auto" hangingPunct="1">
              <a:lnSpc>
                <a:spcPct val="90000"/>
              </a:lnSpc>
              <a:spcAft>
                <a:spcPts val="0"/>
              </a:spcAft>
              <a:buClr>
                <a:schemeClr val="accent3"/>
              </a:buClr>
              <a:buFont typeface="Wingdings" pitchFamily="2" charset="2"/>
              <a:buNone/>
              <a:defRPr/>
            </a:pPr>
            <a:r>
              <a:rPr lang="en-US" altLang="zh-CN" b="1" dirty="0">
                <a:effectLst>
                  <a:outerShdw blurRad="38100" dist="38100" dir="2700000" algn="tl">
                    <a:srgbClr val="C0C0C0"/>
                  </a:outerShdw>
                </a:effectLst>
                <a:latin typeface="黑体" pitchFamily="2" charset="-122"/>
              </a:rPr>
              <a:t> </a:t>
            </a:r>
            <a:r>
              <a:rPr lang="zh-CN" altLang="en-US" b="1" dirty="0">
                <a:effectLst>
                  <a:outerShdw blurRad="38100" dist="38100" dir="2700000" algn="tl">
                    <a:srgbClr val="C0C0C0"/>
                  </a:outerShdw>
                </a:effectLst>
                <a:latin typeface="黑体" pitchFamily="2" charset="-122"/>
              </a:rPr>
              <a:t>即：</a:t>
            </a:r>
            <a:r>
              <a:rPr lang="en-US" altLang="zh-CN" b="1" dirty="0">
                <a:latin typeface="黑体" pitchFamily="2" charset="-122"/>
              </a:rPr>
              <a:t>d[0]=0; d[1]=1; d[2]=2; d[3]=0; d[4]=0;</a:t>
            </a:r>
          </a:p>
          <a:p>
            <a:pPr marL="0" indent="0" algn="just" eaLnBrk="1" fontAlgn="auto" hangingPunct="1">
              <a:lnSpc>
                <a:spcPct val="90000"/>
              </a:lnSpc>
              <a:spcAft>
                <a:spcPts val="0"/>
              </a:spcAft>
              <a:buClr>
                <a:schemeClr val="accent3"/>
              </a:buClr>
              <a:buFont typeface="Wingdings" pitchFamily="2" charset="2"/>
              <a:buNone/>
              <a:defRPr/>
            </a:pPr>
            <a:r>
              <a:rPr lang="zh-CN" altLang="en-US" b="1" dirty="0">
                <a:effectLst>
                  <a:outerShdw blurRad="38100" dist="38100" dir="2700000" algn="tl">
                    <a:srgbClr val="C0C0C0"/>
                  </a:outerShdw>
                </a:effectLst>
                <a:latin typeface="宋体" pitchFamily="2" charset="-122"/>
              </a:rPr>
              <a:t>说明：</a:t>
            </a:r>
            <a:endParaRPr lang="en-US" altLang="zh-CN" b="1" dirty="0">
              <a:effectLst>
                <a:outerShdw blurRad="38100" dist="38100" dir="2700000" algn="tl">
                  <a:srgbClr val="C0C0C0"/>
                </a:outerShdw>
              </a:effectLst>
              <a:latin typeface="宋体" pitchFamily="2" charset="-122"/>
            </a:endParaRPr>
          </a:p>
          <a:p>
            <a:pPr marL="0" indent="0" algn="just" eaLnBrk="1" fontAlgn="auto" hangingPunct="1">
              <a:lnSpc>
                <a:spcPct val="90000"/>
              </a:lnSpc>
              <a:spcAft>
                <a:spcPts val="0"/>
              </a:spcAft>
              <a:buClr>
                <a:schemeClr val="accent3"/>
              </a:buClr>
              <a:buFont typeface="Wingdings" pitchFamily="2" charset="2"/>
              <a:buNone/>
              <a:defRPr/>
            </a:pPr>
            <a:r>
              <a:rPr lang="en-US" altLang="zh-CN" b="1" dirty="0">
                <a:effectLst>
                  <a:outerShdw blurRad="38100" dist="38100" dir="2700000" algn="tl">
                    <a:srgbClr val="C0C0C0"/>
                  </a:outerShdw>
                </a:effectLst>
                <a:latin typeface="宋体" pitchFamily="2" charset="-122"/>
              </a:rPr>
              <a:t>1. </a:t>
            </a:r>
            <a:r>
              <a:rPr lang="zh-CN" altLang="en-US" b="1" dirty="0">
                <a:effectLst>
                  <a:outerShdw blurRad="38100" dist="38100" dir="2700000" algn="tl">
                    <a:srgbClr val="C0C0C0"/>
                  </a:outerShdw>
                </a:effectLst>
                <a:latin typeface="宋体" pitchFamily="2" charset="-122"/>
              </a:rPr>
              <a:t>当数组前</a:t>
            </a:r>
            <a:r>
              <a:rPr lang="en-US" altLang="zh-CN" b="1" dirty="0">
                <a:effectLst>
                  <a:outerShdw blurRad="38100" dist="38100" dir="2700000" algn="tl">
                    <a:srgbClr val="C0C0C0"/>
                  </a:outerShdw>
                </a:effectLst>
                <a:latin typeface="宋体" pitchFamily="2" charset="-122"/>
              </a:rPr>
              <a:t>n</a:t>
            </a:r>
            <a:r>
              <a:rPr lang="zh-CN" altLang="en-US" b="1" dirty="0">
                <a:effectLst>
                  <a:outerShdw blurRad="38100" dist="38100" dir="2700000" algn="tl">
                    <a:srgbClr val="C0C0C0"/>
                  </a:outerShdw>
                </a:effectLst>
                <a:latin typeface="宋体" pitchFamily="2" charset="-122"/>
              </a:rPr>
              <a:t>个元素被设定了初值，未明确设定初值的元素自动被设定为</a:t>
            </a:r>
            <a:r>
              <a:rPr lang="en-US" altLang="zh-CN" b="1" dirty="0">
                <a:effectLst>
                  <a:outerShdw blurRad="38100" dist="38100" dir="2700000" algn="tl">
                    <a:srgbClr val="C0C0C0"/>
                  </a:outerShdw>
                </a:effectLst>
                <a:latin typeface="宋体" pitchFamily="2" charset="-122"/>
              </a:rPr>
              <a:t>0</a:t>
            </a:r>
            <a:r>
              <a:rPr lang="zh-CN" altLang="en-US" b="1" dirty="0">
                <a:effectLst>
                  <a:outerShdw blurRad="38100" dist="38100" dir="2700000" algn="tl">
                    <a:srgbClr val="C0C0C0"/>
                  </a:outerShdw>
                </a:effectLst>
                <a:latin typeface="宋体" pitchFamily="2" charset="-122"/>
              </a:rPr>
              <a:t>。</a:t>
            </a:r>
          </a:p>
          <a:p>
            <a:pPr marL="0" indent="0" algn="just" eaLnBrk="1" fontAlgn="auto" hangingPunct="1">
              <a:lnSpc>
                <a:spcPct val="110000"/>
              </a:lnSpc>
              <a:spcAft>
                <a:spcPts val="0"/>
              </a:spcAft>
              <a:buClr>
                <a:schemeClr val="accent3"/>
              </a:buClr>
              <a:buFont typeface="Wingdings" pitchFamily="2" charset="2"/>
              <a:buNone/>
              <a:defRPr/>
            </a:pPr>
            <a:r>
              <a:rPr lang="en-US" altLang="zh-CN" sz="3200" b="1" dirty="0">
                <a:latin typeface="Times New Roman" pitchFamily="18" charset="0"/>
              </a:rPr>
              <a:t>2.</a:t>
            </a:r>
            <a:r>
              <a:rPr lang="en-US" altLang="zh-CN" sz="3200" b="1" dirty="0">
                <a:latin typeface="宋体" pitchFamily="2" charset="-122"/>
              </a:rPr>
              <a:t> </a:t>
            </a:r>
            <a:r>
              <a:rPr lang="zh-CN" altLang="en-US" sz="3200" b="1" dirty="0">
                <a:effectLst>
                  <a:outerShdw blurRad="38100" dist="38100" dir="2700000" algn="tl">
                    <a:srgbClr val="C0C0C0"/>
                  </a:outerShdw>
                </a:effectLst>
                <a:latin typeface="宋体" pitchFamily="2" charset="-122"/>
              </a:rPr>
              <a:t>对于</a:t>
            </a:r>
            <a:r>
              <a:rPr lang="zh-CN" altLang="en-US" sz="3200" b="1" dirty="0">
                <a:solidFill>
                  <a:srgbClr val="C00000"/>
                </a:solidFill>
                <a:effectLst>
                  <a:outerShdw blurRad="38100" dist="38100" dir="2700000" algn="tl">
                    <a:srgbClr val="C0C0C0"/>
                  </a:outerShdw>
                </a:effectLst>
                <a:latin typeface="宋体" pitchFamily="2" charset="-122"/>
              </a:rPr>
              <a:t>局部数组</a:t>
            </a:r>
            <a:r>
              <a:rPr lang="zh-CN" altLang="en-US" sz="3200" b="1" dirty="0">
                <a:effectLst>
                  <a:outerShdw blurRad="38100" dist="38100" dir="2700000" algn="tl">
                    <a:srgbClr val="C0C0C0"/>
                  </a:outerShdw>
                </a:effectLst>
                <a:latin typeface="宋体" pitchFamily="2" charset="-122"/>
              </a:rPr>
              <a:t>，如未对它的元素指定过初值，则它的元素的值是不确定的。</a:t>
            </a:r>
            <a:endParaRPr lang="zh-CN" altLang="en-US" b="1" dirty="0">
              <a:latin typeface="宋体" pitchFamily="2" charset="-122"/>
            </a:endParaRPr>
          </a:p>
        </p:txBody>
      </p:sp>
      <p:sp>
        <p:nvSpPr>
          <p:cNvPr id="5" name="灯片编号占位符 5"/>
          <p:cNvSpPr>
            <a:spLocks noGrp="1"/>
          </p:cNvSpPr>
          <p:nvPr>
            <p:ph type="sldNum" sz="quarter" idx="12"/>
          </p:nvPr>
        </p:nvSpPr>
        <p:spPr/>
        <p:txBody>
          <a:bodyPr/>
          <a:lstStyle/>
          <a:p>
            <a:pPr>
              <a:defRPr/>
            </a:pPr>
            <a:fld id="{8F4956A2-9873-4665-A15E-89E754D37624}" type="slidenum">
              <a:rPr lang="en-US" altLang="zh-CN"/>
              <a:pPr>
                <a:defRPr/>
              </a:pPr>
              <a:t>10</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97666">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97666">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97666">
                                            <p:txEl>
                                              <p:pRg st="7" end="7"/>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97666">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97666">
                                            <p:txEl>
                                              <p:pRg st="9" end="9"/>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49766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690" name="Rectangle 2"/>
          <p:cNvSpPr>
            <a:spLocks noGrp="1" noChangeArrowheads="1"/>
          </p:cNvSpPr>
          <p:nvPr>
            <p:ph idx="1"/>
          </p:nvPr>
        </p:nvSpPr>
        <p:spPr>
          <a:xfrm>
            <a:off x="250825" y="908050"/>
            <a:ext cx="8569325" cy="5568950"/>
          </a:xfrm>
        </p:spPr>
        <p:txBody>
          <a:bodyPr>
            <a:normAutofit/>
          </a:bodyPr>
          <a:lstStyle/>
          <a:p>
            <a:pPr marL="449263" indent="-449263" eaLnBrk="1" fontAlgn="auto" hangingPunct="1">
              <a:lnSpc>
                <a:spcPct val="110000"/>
              </a:lnSpc>
              <a:spcAft>
                <a:spcPts val="0"/>
              </a:spcAft>
              <a:buClr>
                <a:schemeClr val="accent3"/>
              </a:buClr>
              <a:buFont typeface="Wingdings" pitchFamily="2" charset="2"/>
              <a:buNone/>
              <a:defRPr/>
            </a:pPr>
            <a:r>
              <a:rPr lang="en-US" altLang="zh-CN" b="1" dirty="0">
                <a:latin typeface="宋体" pitchFamily="2" charset="-122"/>
              </a:rPr>
              <a:t>③</a:t>
            </a:r>
            <a:r>
              <a:rPr lang="zh-CN" altLang="en-US" sz="3200" b="1" dirty="0">
                <a:effectLst>
                  <a:outerShdw blurRad="38100" dist="38100" dir="2700000" algn="tl">
                    <a:srgbClr val="C0C0C0"/>
                  </a:outerShdw>
                </a:effectLst>
                <a:latin typeface="黑体" pitchFamily="2" charset="-122"/>
                <a:ea typeface="黑体" pitchFamily="2" charset="-122"/>
              </a:rPr>
              <a:t>当对数组的全部元素都明确设定初值时，可以不指定数组元素的个数。</a:t>
            </a:r>
          </a:p>
          <a:p>
            <a:pPr marL="449263" indent="-449263" eaLnBrk="1" fontAlgn="auto" hangingPunct="1">
              <a:lnSpc>
                <a:spcPct val="110000"/>
              </a:lnSpc>
              <a:spcAft>
                <a:spcPts val="0"/>
              </a:spcAft>
              <a:buClr>
                <a:schemeClr val="accent3"/>
              </a:buClr>
              <a:buFont typeface="Monotype Sorts" pitchFamily="2" charset="2"/>
              <a:buNone/>
              <a:defRPr/>
            </a:pPr>
            <a:r>
              <a:rPr lang="zh-CN" altLang="en-US" sz="3200" b="1" dirty="0">
                <a:effectLst>
                  <a:outerShdw blurRad="38100" dist="38100" dir="2700000" algn="tl">
                    <a:srgbClr val="C0C0C0"/>
                  </a:outerShdw>
                </a:effectLst>
                <a:latin typeface="黑体" pitchFamily="2" charset="-122"/>
                <a:ea typeface="黑体" pitchFamily="2" charset="-122"/>
              </a:rPr>
              <a:t>例如： </a:t>
            </a:r>
            <a:r>
              <a:rPr lang="en-US" altLang="zh-CN" sz="3200" b="1" dirty="0" err="1">
                <a:effectLst>
                  <a:outerShdw blurRad="38100" dist="38100" dir="2700000" algn="tl">
                    <a:srgbClr val="C0C0C0"/>
                  </a:outerShdw>
                </a:effectLst>
                <a:latin typeface="黑体" pitchFamily="2" charset="-122"/>
                <a:ea typeface="黑体" pitchFamily="2" charset="-122"/>
              </a:rPr>
              <a:t>int</a:t>
            </a:r>
            <a:r>
              <a:rPr lang="en-US" altLang="zh-CN" sz="3200" b="1" dirty="0">
                <a:effectLst>
                  <a:outerShdw blurRad="38100" dist="38100" dir="2700000" algn="tl">
                    <a:srgbClr val="C0C0C0"/>
                  </a:outerShdw>
                </a:effectLst>
                <a:latin typeface="黑体" pitchFamily="2" charset="-122"/>
                <a:ea typeface="黑体" pitchFamily="2" charset="-122"/>
              </a:rPr>
              <a:t> g[] = {5, 6, 7, 8, 9};</a:t>
            </a:r>
          </a:p>
          <a:p>
            <a:pPr marL="449263" indent="-449263" eaLnBrk="1" fontAlgn="auto" hangingPunct="1">
              <a:lnSpc>
                <a:spcPct val="110000"/>
              </a:lnSpc>
              <a:spcAft>
                <a:spcPts val="0"/>
              </a:spcAft>
              <a:buClr>
                <a:schemeClr val="accent3"/>
              </a:buClr>
              <a:buFont typeface="Wingdings" pitchFamily="2" charset="2"/>
              <a:buNone/>
              <a:defRPr/>
            </a:pPr>
            <a:r>
              <a:rPr lang="zh-CN" altLang="en-US" sz="3200" b="1" dirty="0">
                <a:effectLst>
                  <a:outerShdw blurRad="38100" dist="38100" dir="2700000" algn="tl">
                    <a:srgbClr val="C0C0C0"/>
                  </a:outerShdw>
                </a:effectLst>
                <a:latin typeface="黑体" pitchFamily="2" charset="-122"/>
                <a:ea typeface="黑体" pitchFamily="2" charset="-122"/>
              </a:rPr>
              <a:t>说明：</a:t>
            </a:r>
            <a:r>
              <a:rPr lang="zh-CN" altLang="en-US" b="1" dirty="0">
                <a:effectLst>
                  <a:outerShdw blurRad="38100" dist="38100" dir="2700000" algn="tl">
                    <a:srgbClr val="C0C0C0"/>
                  </a:outerShdw>
                </a:effectLst>
                <a:latin typeface="黑体" pitchFamily="2" charset="-122"/>
                <a:ea typeface="黑体" pitchFamily="2" charset="-122"/>
              </a:rPr>
              <a:t>由花括号内的初值个数确定数组的元素个数。</a:t>
            </a:r>
            <a:r>
              <a:rPr lang="zh-CN" altLang="en-US" sz="3200" b="1" dirty="0">
                <a:effectLst>
                  <a:outerShdw blurRad="38100" dist="38100" dir="2700000" algn="tl">
                    <a:srgbClr val="C0C0C0"/>
                  </a:outerShdw>
                </a:effectLst>
                <a:latin typeface="黑体" pitchFamily="2" charset="-122"/>
                <a:ea typeface="黑体" pitchFamily="2" charset="-122"/>
              </a:rPr>
              <a:t> </a:t>
            </a:r>
          </a:p>
          <a:p>
            <a:pPr marL="449263" indent="-449263" eaLnBrk="1" fontAlgn="auto" hangingPunct="1">
              <a:lnSpc>
                <a:spcPct val="110000"/>
              </a:lnSpc>
              <a:spcAft>
                <a:spcPts val="0"/>
              </a:spcAft>
              <a:buClr>
                <a:schemeClr val="accent3"/>
              </a:buClr>
              <a:buFont typeface="Wingdings" pitchFamily="2" charset="2"/>
              <a:buNone/>
              <a:defRPr/>
            </a:pPr>
            <a:endParaRPr lang="zh-CN" altLang="en-US" sz="3200" b="1" dirty="0">
              <a:effectLst>
                <a:outerShdw blurRad="38100" dist="38100" dir="2700000" algn="tl">
                  <a:srgbClr val="C0C0C0"/>
                </a:outerShdw>
              </a:effectLst>
              <a:latin typeface="黑体" pitchFamily="2" charset="-122"/>
              <a:ea typeface="黑体" pitchFamily="2" charset="-122"/>
            </a:endParaRPr>
          </a:p>
          <a:p>
            <a:pPr marL="449263" indent="-449263" eaLnBrk="1" fontAlgn="auto" hangingPunct="1">
              <a:lnSpc>
                <a:spcPct val="110000"/>
              </a:lnSpc>
              <a:spcAft>
                <a:spcPts val="0"/>
              </a:spcAft>
              <a:buClr>
                <a:schemeClr val="accent3"/>
              </a:buClr>
              <a:buFont typeface="Wingdings" pitchFamily="2" charset="2"/>
              <a:buNone/>
              <a:defRPr/>
            </a:pPr>
            <a:r>
              <a:rPr lang="zh-CN" altLang="en-US" sz="3200" b="1" dirty="0">
                <a:effectLst>
                  <a:outerShdw blurRad="38100" dist="38100" dir="2700000" algn="tl">
                    <a:srgbClr val="C0C0C0"/>
                  </a:outerShdw>
                </a:effectLst>
                <a:latin typeface="黑体" pitchFamily="2" charset="-122"/>
                <a:ea typeface="黑体" pitchFamily="2" charset="-122"/>
              </a:rPr>
              <a:t>注意：初值个数不允诉超过数组元素个数。</a:t>
            </a:r>
          </a:p>
          <a:p>
            <a:pPr marL="449263" indent="-449263" eaLnBrk="1" fontAlgn="auto" hangingPunct="1">
              <a:lnSpc>
                <a:spcPct val="110000"/>
              </a:lnSpc>
              <a:spcAft>
                <a:spcPts val="0"/>
              </a:spcAft>
              <a:buClr>
                <a:schemeClr val="accent3"/>
              </a:buClr>
              <a:buFont typeface="Wingdings" pitchFamily="2" charset="2"/>
              <a:buNone/>
              <a:defRPr/>
            </a:pPr>
            <a:r>
              <a:rPr lang="zh-CN" altLang="en-US" sz="3200" b="1" dirty="0">
                <a:effectLst>
                  <a:outerShdw blurRad="38100" dist="38100" dir="2700000" algn="tl">
                    <a:srgbClr val="C0C0C0"/>
                  </a:outerShdw>
                </a:effectLst>
                <a:latin typeface="黑体" pitchFamily="2" charset="-122"/>
                <a:ea typeface="黑体" pitchFamily="2" charset="-122"/>
              </a:rPr>
              <a:t>例如： </a:t>
            </a:r>
            <a:r>
              <a:rPr lang="en-US" altLang="zh-CN" sz="3200" b="1" dirty="0" err="1">
                <a:effectLst>
                  <a:outerShdw blurRad="38100" dist="38100" dir="2700000" algn="tl">
                    <a:srgbClr val="C0C0C0"/>
                  </a:outerShdw>
                </a:effectLst>
                <a:latin typeface="黑体" pitchFamily="2" charset="-122"/>
                <a:ea typeface="黑体" pitchFamily="2" charset="-122"/>
              </a:rPr>
              <a:t>int</a:t>
            </a:r>
            <a:r>
              <a:rPr lang="en-US" altLang="zh-CN" sz="3200" b="1" dirty="0">
                <a:effectLst>
                  <a:outerShdw blurRad="38100" dist="38100" dir="2700000" algn="tl">
                    <a:srgbClr val="C0C0C0"/>
                  </a:outerShdw>
                </a:effectLst>
                <a:latin typeface="黑体" pitchFamily="2" charset="-122"/>
                <a:ea typeface="黑体" pitchFamily="2" charset="-122"/>
              </a:rPr>
              <a:t> c[5] = {0, 1, 2, 3, 4, 5}</a:t>
            </a:r>
            <a:r>
              <a:rPr lang="zh-CN" altLang="en-US" sz="3200" b="1" dirty="0">
                <a:effectLst>
                  <a:outerShdw blurRad="38100" dist="38100" dir="2700000" algn="tl">
                    <a:srgbClr val="C0C0C0"/>
                  </a:outerShdw>
                </a:effectLst>
                <a:latin typeface="黑体" pitchFamily="2" charset="-122"/>
                <a:ea typeface="黑体" pitchFamily="2" charset="-122"/>
              </a:rPr>
              <a:t>；</a:t>
            </a:r>
            <a:r>
              <a:rPr lang="en-US" altLang="zh-CN" b="1" dirty="0">
                <a:effectLst>
                  <a:outerShdw blurRad="38100" dist="38100" dir="2700000" algn="tl">
                    <a:srgbClr val="C0C0C0"/>
                  </a:outerShdw>
                </a:effectLst>
                <a:latin typeface="黑体" pitchFamily="2" charset="-122"/>
                <a:ea typeface="黑体" pitchFamily="2" charset="-122"/>
              </a:rPr>
              <a:t>/* </a:t>
            </a:r>
            <a:r>
              <a:rPr lang="zh-CN" altLang="en-US" b="1" dirty="0">
                <a:effectLst>
                  <a:outerShdw blurRad="38100" dist="38100" dir="2700000" algn="tl">
                    <a:srgbClr val="C0C0C0"/>
                  </a:outerShdw>
                </a:effectLst>
                <a:latin typeface="黑体" pitchFamily="2" charset="-122"/>
                <a:ea typeface="黑体" pitchFamily="2" charset="-122"/>
              </a:rPr>
              <a:t>错误 *</a:t>
            </a:r>
            <a:r>
              <a:rPr lang="en-US" altLang="zh-CN" b="1" dirty="0">
                <a:effectLst>
                  <a:outerShdw blurRad="38100" dist="38100" dir="2700000" algn="tl">
                    <a:srgbClr val="C0C0C0"/>
                  </a:outerShdw>
                </a:effectLst>
                <a:latin typeface="黑体" pitchFamily="2" charset="-122"/>
                <a:ea typeface="黑体" pitchFamily="2" charset="-122"/>
              </a:rPr>
              <a:t>/</a:t>
            </a:r>
          </a:p>
        </p:txBody>
      </p:sp>
      <p:sp>
        <p:nvSpPr>
          <p:cNvPr id="5" name="灯片编号占位符 5"/>
          <p:cNvSpPr>
            <a:spLocks noGrp="1"/>
          </p:cNvSpPr>
          <p:nvPr>
            <p:ph type="sldNum" sz="quarter" idx="12"/>
          </p:nvPr>
        </p:nvSpPr>
        <p:spPr/>
        <p:txBody>
          <a:bodyPr/>
          <a:lstStyle/>
          <a:p>
            <a:pPr>
              <a:defRPr/>
            </a:pPr>
            <a:fld id="{17E97C9D-199C-430E-8451-8401E3D21FCD}" type="slidenum">
              <a:rPr lang="en-US" altLang="zh-CN"/>
              <a:pPr>
                <a:defRPr/>
              </a:pPr>
              <a:t>11</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98690">
                                            <p:txEl>
                                              <p:pRg st="4" end="4"/>
                                            </p:txEl>
                                          </p:spTgt>
                                        </p:tgtEl>
                                        <p:attrNameLst>
                                          <p:attrName>style.visibility</p:attrName>
                                        </p:attrNameLst>
                                      </p:cBhvr>
                                      <p:to>
                                        <p:strVal val="visible"/>
                                      </p:to>
                                    </p:set>
                                    <p:anim calcmode="lin" valueType="num">
                                      <p:cBhvr additive="base">
                                        <p:cTn id="7" dur="500" fill="hold"/>
                                        <p:tgtEl>
                                          <p:spTgt spid="498690">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98690">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98690">
                                            <p:txEl>
                                              <p:pRg st="5" end="5"/>
                                            </p:txEl>
                                          </p:spTgt>
                                        </p:tgtEl>
                                        <p:attrNameLst>
                                          <p:attrName>style.visibility</p:attrName>
                                        </p:attrNameLst>
                                      </p:cBhvr>
                                      <p:to>
                                        <p:strVal val="visible"/>
                                      </p:to>
                                    </p:set>
                                    <p:anim calcmode="lin" valueType="num">
                                      <p:cBhvr additive="base">
                                        <p:cTn id="11" dur="500" fill="hold"/>
                                        <p:tgtEl>
                                          <p:spTgt spid="498690">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98690">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4"/>
          <p:cNvSpPr>
            <a:spLocks noGrp="1" noChangeArrowheads="1"/>
          </p:cNvSpPr>
          <p:nvPr>
            <p:ph type="title"/>
          </p:nvPr>
        </p:nvSpPr>
        <p:spPr>
          <a:xfrm>
            <a:off x="539750" y="260350"/>
            <a:ext cx="8088313" cy="647700"/>
          </a:xfrm>
        </p:spPr>
        <p:txBody>
          <a:bodyPr lIns="92075" tIns="46038" rIns="92075" bIns="46038">
            <a:normAutofit fontScale="90000"/>
          </a:bodyPr>
          <a:lstStyle/>
          <a:p>
            <a:pPr eaLnBrk="1" fontAlgn="auto" hangingPunct="1">
              <a:spcAft>
                <a:spcPts val="0"/>
              </a:spcAft>
              <a:defRPr/>
            </a:pPr>
            <a:r>
              <a:rPr lang="zh-CN" altLang="en-US" dirty="0">
                <a:solidFill>
                  <a:schemeClr val="tx1"/>
                </a:solidFill>
                <a:latin typeface="黑体" pitchFamily="2" charset="-122"/>
                <a:ea typeface="黑体" pitchFamily="2" charset="-122"/>
              </a:rPr>
              <a:t>一维数组应用</a:t>
            </a:r>
            <a:endParaRPr lang="zh-CN" altLang="en-US" sz="3200" dirty="0">
              <a:solidFill>
                <a:schemeClr val="tx1"/>
              </a:solidFill>
              <a:latin typeface="黑体" pitchFamily="2" charset="-122"/>
              <a:ea typeface="黑体" pitchFamily="2" charset="-122"/>
            </a:endParaRPr>
          </a:p>
        </p:txBody>
      </p:sp>
      <p:sp>
        <p:nvSpPr>
          <p:cNvPr id="119810" name="Rectangle 2"/>
          <p:cNvSpPr>
            <a:spLocks noGrp="1" noChangeArrowheads="1"/>
          </p:cNvSpPr>
          <p:nvPr>
            <p:ph idx="1"/>
          </p:nvPr>
        </p:nvSpPr>
        <p:spPr>
          <a:xfrm>
            <a:off x="395288" y="1125538"/>
            <a:ext cx="8534400" cy="5257800"/>
          </a:xfrm>
        </p:spPr>
        <p:txBody>
          <a:bodyPr>
            <a:normAutofit/>
          </a:bodyPr>
          <a:lstStyle/>
          <a:p>
            <a:pPr marL="0" indent="0" eaLnBrk="1" fontAlgn="auto" hangingPunct="1">
              <a:spcAft>
                <a:spcPts val="0"/>
              </a:spcAft>
              <a:buClr>
                <a:schemeClr val="accent3"/>
              </a:buClr>
              <a:buFont typeface="Monotype Sorts" pitchFamily="2" charset="2"/>
              <a:buNone/>
              <a:defRPr/>
            </a:pPr>
            <a:r>
              <a:rPr lang="en-US" altLang="zh-CN" b="1" dirty="0">
                <a:effectLst>
                  <a:outerShdw blurRad="38100" dist="38100" dir="2700000" algn="tl">
                    <a:srgbClr val="C0C0C0"/>
                  </a:outerShdw>
                </a:effectLst>
              </a:rPr>
              <a:t>【</a:t>
            </a:r>
            <a:r>
              <a:rPr lang="zh-CN" altLang="en-US" b="1" dirty="0">
                <a:effectLst>
                  <a:outerShdw blurRad="38100" dist="38100" dir="2700000" algn="tl">
                    <a:srgbClr val="C0C0C0"/>
                  </a:outerShdw>
                </a:effectLst>
              </a:rPr>
              <a:t>例</a:t>
            </a:r>
            <a:r>
              <a:rPr lang="en-US" altLang="zh-CN" b="1" dirty="0">
                <a:effectLst>
                  <a:outerShdw blurRad="38100" dist="38100" dir="2700000" algn="tl">
                    <a:srgbClr val="C0C0C0"/>
                  </a:outerShdw>
                </a:effectLst>
              </a:rPr>
              <a:t>4.1】</a:t>
            </a:r>
            <a:r>
              <a:rPr lang="zh-CN" altLang="en-US" b="1" dirty="0">
                <a:effectLst>
                  <a:outerShdw blurRad="38100" dist="38100" dir="2700000" algn="tl">
                    <a:srgbClr val="C0C0C0"/>
                  </a:outerShdw>
                </a:effectLst>
              </a:rPr>
              <a:t>顺序输入线性表的前</a:t>
            </a:r>
            <a:r>
              <a:rPr lang="en-US" altLang="zh-CN" b="1" dirty="0">
                <a:effectLst>
                  <a:outerShdw blurRad="38100" dist="38100" dir="2700000" algn="tl">
                    <a:srgbClr val="C0C0C0"/>
                  </a:outerShdw>
                </a:effectLst>
              </a:rPr>
              <a:t>10</a:t>
            </a:r>
            <a:r>
              <a:rPr lang="zh-CN" altLang="en-US" b="1" dirty="0">
                <a:effectLst>
                  <a:outerShdw blurRad="38100" dist="38100" dir="2700000" algn="tl">
                    <a:srgbClr val="C0C0C0"/>
                  </a:outerShdw>
                </a:effectLst>
              </a:rPr>
              <a:t>个元素，并输出。</a:t>
            </a:r>
          </a:p>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a:t>
            </a:r>
            <a:r>
              <a:rPr lang="zh-CN" altLang="en-US" b="1" dirty="0">
                <a:effectLst>
                  <a:outerShdw blurRad="38100" dist="38100" dir="2700000" algn="tl">
                    <a:srgbClr val="C0C0C0"/>
                  </a:outerShdw>
                </a:effectLst>
              </a:rPr>
              <a:t>解题思路</a:t>
            </a:r>
            <a:r>
              <a:rPr lang="en-US" altLang="zh-CN" b="1" dirty="0">
                <a:effectLst>
                  <a:outerShdw blurRad="38100" dist="38100" dir="2700000" algn="tl">
                    <a:srgbClr val="C0C0C0"/>
                  </a:outerShdw>
                </a:effectLst>
              </a:rPr>
              <a:t>】</a:t>
            </a:r>
          </a:p>
          <a:p>
            <a:pPr marL="0" indent="0"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rPr>
              <a:t>设线性表用数组</a:t>
            </a:r>
            <a:r>
              <a:rPr lang="en-US" altLang="zh-CN" b="1" dirty="0">
                <a:effectLst>
                  <a:outerShdw blurRad="38100" dist="38100" dir="2700000" algn="tl">
                    <a:srgbClr val="C0C0C0"/>
                  </a:outerShdw>
                </a:effectLst>
              </a:rPr>
              <a:t>x[ ]</a:t>
            </a:r>
            <a:r>
              <a:rPr lang="zh-CN" altLang="en-US" b="1" dirty="0">
                <a:effectLst>
                  <a:outerShdw blurRad="38100" dist="38100" dir="2700000" algn="tl">
                    <a:srgbClr val="C0C0C0"/>
                  </a:outerShdw>
                </a:effectLst>
              </a:rPr>
              <a:t>实现，用一个循环，顺序输入线性表的元素；然后用类似的循环输出线性表的元素。</a:t>
            </a:r>
          </a:p>
          <a:p>
            <a:pPr marL="0" indent="0"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rPr>
              <a:t>    </a:t>
            </a:r>
            <a:r>
              <a:rPr lang="en-US" altLang="zh-CN" b="1" dirty="0" err="1">
                <a:effectLst>
                  <a:outerShdw blurRad="38100" dist="38100" dir="2700000" algn="tl">
                    <a:srgbClr val="C0C0C0"/>
                  </a:outerShdw>
                </a:effectLst>
              </a:rPr>
              <a:t>printf</a:t>
            </a:r>
            <a:r>
              <a:rPr lang="en-US" altLang="zh-CN" b="1" dirty="0">
                <a:effectLst>
                  <a:outerShdw blurRad="38100" dist="38100" dir="2700000" algn="tl">
                    <a:srgbClr val="C0C0C0"/>
                  </a:outerShdw>
                </a:effectLst>
              </a:rPr>
              <a:t>("</a:t>
            </a:r>
            <a:r>
              <a:rPr lang="zh-CN" altLang="en-US" b="1" dirty="0">
                <a:effectLst>
                  <a:outerShdw blurRad="38100" dist="38100" dir="2700000" algn="tl">
                    <a:srgbClr val="C0C0C0"/>
                  </a:outerShdw>
                </a:effectLst>
              </a:rPr>
              <a:t>输入数组</a:t>
            </a:r>
            <a:r>
              <a:rPr lang="en-US" altLang="zh-CN" b="1" dirty="0">
                <a:effectLst>
                  <a:outerShdw blurRad="38100" dist="38100" dir="2700000" algn="tl">
                    <a:srgbClr val="C0C0C0"/>
                  </a:outerShdw>
                </a:effectLst>
              </a:rPr>
              <a:t>x[]</a:t>
            </a:r>
            <a:r>
              <a:rPr lang="zh-CN" altLang="en-US" b="1" dirty="0">
                <a:effectLst>
                  <a:outerShdw blurRad="38100" dist="38100" dir="2700000" algn="tl">
                    <a:srgbClr val="C0C0C0"/>
                  </a:outerShdw>
                </a:effectLst>
              </a:rPr>
              <a:t>的前</a:t>
            </a:r>
            <a:r>
              <a:rPr lang="en-US" altLang="zh-CN" b="1" dirty="0">
                <a:effectLst>
                  <a:outerShdw blurRad="38100" dist="38100" dir="2700000" algn="tl">
                    <a:srgbClr val="C0C0C0"/>
                  </a:outerShdw>
                </a:effectLst>
              </a:rPr>
              <a:t>10</a:t>
            </a:r>
            <a:r>
              <a:rPr lang="zh-CN" altLang="en-US" b="1" dirty="0">
                <a:effectLst>
                  <a:outerShdw blurRad="38100" dist="38100" dir="2700000" algn="tl">
                    <a:srgbClr val="C0C0C0"/>
                  </a:outerShdw>
                </a:effectLst>
              </a:rPr>
              <a:t>个元素</a:t>
            </a:r>
            <a:r>
              <a:rPr lang="en-US" altLang="zh-CN" b="1" dirty="0">
                <a:effectLst>
                  <a:outerShdw blurRad="38100" dist="38100" dir="2700000" algn="tl">
                    <a:srgbClr val="C0C0C0"/>
                  </a:outerShdw>
                </a:effectLst>
              </a:rPr>
              <a:t>.\n");</a:t>
            </a:r>
          </a:p>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for(</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 = 0; </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 &lt; 10; </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 //</a:t>
            </a:r>
            <a:r>
              <a:rPr lang="zh-CN" altLang="en-US" b="1" dirty="0">
                <a:effectLst>
                  <a:outerShdw blurRad="38100" dist="38100" dir="2700000" algn="tl">
                    <a:srgbClr val="C0C0C0"/>
                  </a:outerShdw>
                </a:effectLst>
              </a:rPr>
              <a:t>顺序输入数组</a:t>
            </a:r>
            <a:r>
              <a:rPr lang="en-US" altLang="zh-CN" b="1" dirty="0">
                <a:effectLst>
                  <a:outerShdw blurRad="38100" dist="38100" dir="2700000" algn="tl">
                    <a:srgbClr val="C0C0C0"/>
                  </a:outerShdw>
                </a:effectLst>
              </a:rPr>
              <a:t>x</a:t>
            </a:r>
            <a:r>
              <a:rPr lang="zh-CN" altLang="en-US" b="1" dirty="0">
                <a:effectLst>
                  <a:outerShdw blurRad="38100" dist="38100" dir="2700000" algn="tl">
                    <a:srgbClr val="C0C0C0"/>
                  </a:outerShdw>
                </a:effectLst>
              </a:rPr>
              <a:t>的</a:t>
            </a:r>
            <a:r>
              <a:rPr lang="en-US" altLang="zh-CN" b="1" dirty="0">
                <a:effectLst>
                  <a:outerShdw blurRad="38100" dist="38100" dir="2700000" algn="tl">
                    <a:srgbClr val="C0C0C0"/>
                  </a:outerShdw>
                </a:effectLst>
              </a:rPr>
              <a:t>10</a:t>
            </a:r>
            <a:r>
              <a:rPr lang="zh-CN" altLang="en-US" b="1" dirty="0">
                <a:effectLst>
                  <a:outerShdw blurRad="38100" dist="38100" dir="2700000" algn="tl">
                    <a:srgbClr val="C0C0C0"/>
                  </a:outerShdw>
                </a:effectLst>
              </a:rPr>
              <a:t>个元素</a:t>
            </a:r>
          </a:p>
          <a:p>
            <a:pPr marL="0" indent="0"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rPr>
              <a:t>       </a:t>
            </a:r>
            <a:r>
              <a:rPr lang="en-US" altLang="zh-CN" b="1" dirty="0" err="1">
                <a:effectLst>
                  <a:outerShdw blurRad="38100" dist="38100" dir="2700000" algn="tl">
                    <a:srgbClr val="C0C0C0"/>
                  </a:outerShdw>
                </a:effectLst>
              </a:rPr>
              <a:t>scanf</a:t>
            </a:r>
            <a:r>
              <a:rPr lang="en-US" altLang="zh-CN" b="1" dirty="0">
                <a:effectLst>
                  <a:outerShdw blurRad="38100" dist="38100" dir="2700000" algn="tl">
                    <a:srgbClr val="C0C0C0"/>
                  </a:outerShdw>
                </a:effectLst>
              </a:rPr>
              <a:t>("%d", &amp;x[</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a:t>
            </a:r>
          </a:p>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for(</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 = 0; </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 &lt; 10; </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a:t>
            </a:r>
            <a:r>
              <a:rPr lang="zh-CN" altLang="en-US" b="1" dirty="0">
                <a:effectLst>
                  <a:outerShdw blurRad="38100" dist="38100" dir="2700000" algn="tl">
                    <a:srgbClr val="C0C0C0"/>
                  </a:outerShdw>
                </a:effectLst>
              </a:rPr>
              <a:t>顺序输出</a:t>
            </a:r>
            <a:r>
              <a:rPr lang="en-US" altLang="zh-CN" b="1" dirty="0">
                <a:effectLst>
                  <a:outerShdw blurRad="38100" dist="38100" dir="2700000" algn="tl">
                    <a:srgbClr val="C0C0C0"/>
                  </a:outerShdw>
                </a:effectLst>
              </a:rPr>
              <a:t>x</a:t>
            </a:r>
            <a:r>
              <a:rPr lang="zh-CN" altLang="en-US" b="1" dirty="0">
                <a:effectLst>
                  <a:outerShdw blurRad="38100" dist="38100" dir="2700000" algn="tl">
                    <a:srgbClr val="C0C0C0"/>
                  </a:outerShdw>
                </a:effectLst>
              </a:rPr>
              <a:t>的</a:t>
            </a:r>
            <a:r>
              <a:rPr lang="en-US" altLang="zh-CN" b="1" dirty="0">
                <a:effectLst>
                  <a:outerShdw blurRad="38100" dist="38100" dir="2700000" algn="tl">
                    <a:srgbClr val="C0C0C0"/>
                  </a:outerShdw>
                </a:effectLst>
              </a:rPr>
              <a:t>10</a:t>
            </a:r>
            <a:r>
              <a:rPr lang="zh-CN" altLang="en-US" b="1" dirty="0">
                <a:effectLst>
                  <a:outerShdw blurRad="38100" dist="38100" dir="2700000" algn="tl">
                    <a:srgbClr val="C0C0C0"/>
                  </a:outerShdw>
                </a:effectLst>
              </a:rPr>
              <a:t>个元素*</a:t>
            </a:r>
            <a:r>
              <a:rPr lang="en-US" altLang="zh-CN" b="1" dirty="0">
                <a:effectLst>
                  <a:outerShdw blurRad="38100" dist="38100" dir="2700000" algn="tl">
                    <a:srgbClr val="C0C0C0"/>
                  </a:outerShdw>
                </a:effectLst>
              </a:rPr>
              <a:t>/</a:t>
            </a:r>
          </a:p>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a:t>
            </a:r>
            <a:r>
              <a:rPr lang="en-US" altLang="zh-CN" b="1" dirty="0" err="1">
                <a:effectLst>
                  <a:outerShdw blurRad="38100" dist="38100" dir="2700000" algn="tl">
                    <a:srgbClr val="C0C0C0"/>
                  </a:outerShdw>
                </a:effectLst>
              </a:rPr>
              <a:t>printf</a:t>
            </a:r>
            <a:r>
              <a:rPr lang="en-US" altLang="zh-CN" b="1" dirty="0">
                <a:effectLst>
                  <a:outerShdw blurRad="38100" dist="38100" dir="2700000" algn="tl">
                    <a:srgbClr val="C0C0C0"/>
                  </a:outerShdw>
                </a:effectLst>
              </a:rPr>
              <a:t>("%d\t", x[</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a:t>
            </a:r>
          </a:p>
        </p:txBody>
      </p:sp>
      <p:sp>
        <p:nvSpPr>
          <p:cNvPr id="6" name="灯片编号占位符 5"/>
          <p:cNvSpPr>
            <a:spLocks noGrp="1"/>
          </p:cNvSpPr>
          <p:nvPr>
            <p:ph type="sldNum" sz="quarter" idx="12"/>
          </p:nvPr>
        </p:nvSpPr>
        <p:spPr/>
        <p:txBody>
          <a:bodyPr/>
          <a:lstStyle/>
          <a:p>
            <a:pPr>
              <a:defRPr/>
            </a:pPr>
            <a:fld id="{5B8A1758-16FB-4C1C-B8FB-5917DE032BA6}" type="slidenum">
              <a:rPr lang="en-US" altLang="zh-CN"/>
              <a:pPr>
                <a:defRPr/>
              </a:pPr>
              <a:t>12</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9810">
                                            <p:txEl>
                                              <p:pRg st="3" end="3"/>
                                            </p:txEl>
                                          </p:spTgt>
                                        </p:tgtEl>
                                        <p:attrNameLst>
                                          <p:attrName>style.visibility</p:attrName>
                                        </p:attrNameLst>
                                      </p:cBhvr>
                                      <p:to>
                                        <p:strVal val="visible"/>
                                      </p:to>
                                    </p:set>
                                    <p:anim calcmode="lin" valueType="num">
                                      <p:cBhvr additive="base">
                                        <p:cTn id="7" dur="500" fill="hold"/>
                                        <p:tgtEl>
                                          <p:spTgt spid="119810">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9810">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19810">
                                            <p:txEl>
                                              <p:pRg st="4" end="4"/>
                                            </p:txEl>
                                          </p:spTgt>
                                        </p:tgtEl>
                                        <p:attrNameLst>
                                          <p:attrName>style.visibility</p:attrName>
                                        </p:attrNameLst>
                                      </p:cBhvr>
                                      <p:to>
                                        <p:strVal val="visible"/>
                                      </p:to>
                                    </p:set>
                                    <p:anim calcmode="lin" valueType="num">
                                      <p:cBhvr additive="base">
                                        <p:cTn id="11" dur="500" fill="hold"/>
                                        <p:tgtEl>
                                          <p:spTgt spid="119810">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19810">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19810">
                                            <p:txEl>
                                              <p:pRg st="5" end="5"/>
                                            </p:txEl>
                                          </p:spTgt>
                                        </p:tgtEl>
                                        <p:attrNameLst>
                                          <p:attrName>style.visibility</p:attrName>
                                        </p:attrNameLst>
                                      </p:cBhvr>
                                      <p:to>
                                        <p:strVal val="visible"/>
                                      </p:to>
                                    </p:set>
                                    <p:anim calcmode="lin" valueType="num">
                                      <p:cBhvr additive="base">
                                        <p:cTn id="15" dur="500" fill="hold"/>
                                        <p:tgtEl>
                                          <p:spTgt spid="119810">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19810">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119810">
                                            <p:txEl>
                                              <p:pRg st="6" end="6"/>
                                            </p:txEl>
                                          </p:spTgt>
                                        </p:tgtEl>
                                        <p:attrNameLst>
                                          <p:attrName>style.visibility</p:attrName>
                                        </p:attrNameLst>
                                      </p:cBhvr>
                                      <p:to>
                                        <p:strVal val="visible"/>
                                      </p:to>
                                    </p:set>
                                    <p:anim calcmode="lin" valueType="num">
                                      <p:cBhvr additive="base">
                                        <p:cTn id="21" dur="500" fill="hold"/>
                                        <p:tgtEl>
                                          <p:spTgt spid="119810">
                                            <p:txEl>
                                              <p:pRg st="6" end="6"/>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19810">
                                            <p:txEl>
                                              <p:pRg st="6" end="6"/>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19810">
                                            <p:txEl>
                                              <p:pRg st="7" end="7"/>
                                            </p:txEl>
                                          </p:spTgt>
                                        </p:tgtEl>
                                        <p:attrNameLst>
                                          <p:attrName>style.visibility</p:attrName>
                                        </p:attrNameLst>
                                      </p:cBhvr>
                                      <p:to>
                                        <p:strVal val="visible"/>
                                      </p:to>
                                    </p:set>
                                    <p:anim calcmode="lin" valueType="num">
                                      <p:cBhvr additive="base">
                                        <p:cTn id="25" dur="500" fill="hold"/>
                                        <p:tgtEl>
                                          <p:spTgt spid="119810">
                                            <p:txEl>
                                              <p:pRg st="7" end="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19810">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714" name="Rectangle 2"/>
          <p:cNvSpPr>
            <a:spLocks noGrp="1" noChangeArrowheads="1"/>
          </p:cNvSpPr>
          <p:nvPr>
            <p:ph idx="1"/>
          </p:nvPr>
        </p:nvSpPr>
        <p:spPr>
          <a:xfrm>
            <a:off x="395288" y="476250"/>
            <a:ext cx="8534400" cy="5907088"/>
          </a:xfrm>
        </p:spPr>
        <p:txBody>
          <a:bodyPr>
            <a:normAutofit/>
          </a:bodyPr>
          <a:lstStyle/>
          <a:p>
            <a:pPr marL="0" indent="0" eaLnBrk="1" fontAlgn="auto" hangingPunct="1">
              <a:spcAft>
                <a:spcPts val="0"/>
              </a:spcAft>
              <a:buClr>
                <a:schemeClr val="accent3"/>
              </a:buClr>
              <a:buFont typeface="Wingdings" pitchFamily="2" charset="2"/>
              <a:buNone/>
              <a:defRPr/>
            </a:pPr>
            <a:r>
              <a:rPr lang="en-US" altLang="zh-CN" sz="2400" b="1" dirty="0">
                <a:effectLst>
                  <a:outerShdw blurRad="38100" dist="38100" dir="2700000" algn="tl">
                    <a:srgbClr val="C0C0C0"/>
                  </a:outerShdw>
                </a:effectLst>
              </a:rPr>
              <a:t>【</a:t>
            </a:r>
            <a:r>
              <a:rPr lang="zh-CN" altLang="en-US" sz="2400" b="1" dirty="0">
                <a:effectLst>
                  <a:outerShdw blurRad="38100" dist="38100" dir="2700000" algn="tl">
                    <a:srgbClr val="C0C0C0"/>
                  </a:outerShdw>
                </a:effectLst>
              </a:rPr>
              <a:t>例</a:t>
            </a:r>
            <a:r>
              <a:rPr lang="en-US" altLang="zh-CN" sz="2400" b="1" dirty="0">
                <a:effectLst>
                  <a:outerShdw blurRad="38100" dist="38100" dir="2700000" algn="tl">
                    <a:srgbClr val="C0C0C0"/>
                  </a:outerShdw>
                </a:effectLst>
              </a:rPr>
              <a:t>4.2】</a:t>
            </a:r>
            <a:r>
              <a:rPr lang="zh-CN" altLang="en-US" sz="2400" b="1" dirty="0">
                <a:effectLst>
                  <a:outerShdw blurRad="38100" dist="38100" dir="2700000" algn="tl">
                    <a:srgbClr val="C0C0C0"/>
                  </a:outerShdw>
                </a:effectLst>
              </a:rPr>
              <a:t>统计数组中大于</a:t>
            </a:r>
            <a:r>
              <a:rPr lang="en-US" altLang="zh-CN" sz="2400" b="1" dirty="0">
                <a:effectLst>
                  <a:outerShdw blurRad="38100" dist="38100" dir="2700000" algn="tl">
                    <a:srgbClr val="C0C0C0"/>
                  </a:outerShdw>
                </a:effectLst>
              </a:rPr>
              <a:t>0</a:t>
            </a:r>
            <a:r>
              <a:rPr lang="zh-CN" altLang="en-US" sz="2400" b="1" dirty="0">
                <a:effectLst>
                  <a:outerShdw blurRad="38100" dist="38100" dir="2700000" algn="tl">
                    <a:srgbClr val="C0C0C0"/>
                  </a:outerShdw>
                </a:effectLst>
              </a:rPr>
              <a:t>、等于</a:t>
            </a:r>
            <a:r>
              <a:rPr lang="en-US" altLang="zh-CN" sz="2400" b="1" dirty="0">
                <a:effectLst>
                  <a:outerShdw blurRad="38100" dist="38100" dir="2700000" algn="tl">
                    <a:srgbClr val="C0C0C0"/>
                  </a:outerShdw>
                </a:effectLst>
              </a:rPr>
              <a:t>0</a:t>
            </a:r>
            <a:r>
              <a:rPr lang="zh-CN" altLang="en-US" sz="2400" b="1" dirty="0">
                <a:effectLst>
                  <a:outerShdw blurRad="38100" dist="38100" dir="2700000" algn="tl">
                    <a:srgbClr val="C0C0C0"/>
                  </a:outerShdw>
                </a:effectLst>
              </a:rPr>
              <a:t>和小于</a:t>
            </a:r>
            <a:r>
              <a:rPr lang="en-US" altLang="zh-CN" sz="2400" b="1" dirty="0">
                <a:effectLst>
                  <a:outerShdw blurRad="38100" dist="38100" dir="2700000" algn="tl">
                    <a:srgbClr val="C0C0C0"/>
                  </a:outerShdw>
                </a:effectLst>
              </a:rPr>
              <a:t>0</a:t>
            </a:r>
            <a:r>
              <a:rPr lang="zh-CN" altLang="en-US" sz="2400" b="1" dirty="0">
                <a:effectLst>
                  <a:outerShdw blurRad="38100" dist="38100" dir="2700000" algn="tl">
                    <a:srgbClr val="C0C0C0"/>
                  </a:outerShdw>
                </a:effectLst>
              </a:rPr>
              <a:t>的元素个数。</a:t>
            </a:r>
          </a:p>
          <a:p>
            <a:pPr marL="0" indent="0" eaLnBrk="1" fontAlgn="auto" hangingPunct="1">
              <a:spcAft>
                <a:spcPts val="0"/>
              </a:spcAft>
              <a:buClr>
                <a:schemeClr val="accent3"/>
              </a:buClr>
              <a:buFont typeface="Wingdings" pitchFamily="2" charset="2"/>
              <a:buNone/>
              <a:defRPr/>
            </a:pPr>
            <a:r>
              <a:rPr lang="en-US" altLang="zh-CN" sz="2400" b="1" dirty="0">
                <a:effectLst>
                  <a:outerShdw blurRad="38100" dist="38100" dir="2700000" algn="tl">
                    <a:srgbClr val="C0C0C0"/>
                  </a:outerShdw>
                </a:effectLst>
              </a:rPr>
              <a:t>【</a:t>
            </a:r>
            <a:r>
              <a:rPr lang="zh-CN" altLang="en-US" sz="2400" b="1" dirty="0">
                <a:effectLst>
                  <a:outerShdw blurRad="38100" dist="38100" dir="2700000" algn="tl">
                    <a:srgbClr val="C0C0C0"/>
                  </a:outerShdw>
                </a:effectLst>
              </a:rPr>
              <a:t>解题思路</a:t>
            </a:r>
            <a:r>
              <a:rPr lang="en-US" altLang="zh-CN" sz="2400" b="1" dirty="0">
                <a:effectLst>
                  <a:outerShdw blurRad="38100" dist="38100" dir="2700000" algn="tl">
                    <a:srgbClr val="C0C0C0"/>
                  </a:outerShdw>
                </a:effectLst>
              </a:rPr>
              <a:t>】</a:t>
            </a:r>
          </a:p>
          <a:p>
            <a:pPr marL="0" indent="0" eaLnBrk="1" fontAlgn="auto" hangingPunct="1">
              <a:spcAft>
                <a:spcPts val="0"/>
              </a:spcAft>
              <a:buClr>
                <a:schemeClr val="accent3"/>
              </a:buClr>
              <a:buFont typeface="Wingdings" pitchFamily="2" charset="2"/>
              <a:buNone/>
              <a:defRPr/>
            </a:pPr>
            <a:r>
              <a:rPr lang="zh-CN" altLang="en-US" sz="2400" b="1" dirty="0">
                <a:effectLst>
                  <a:outerShdw blurRad="38100" dist="38100" dir="2700000" algn="tl">
                    <a:srgbClr val="C0C0C0"/>
                  </a:outerShdw>
                </a:effectLst>
              </a:rPr>
              <a:t>设数组为</a:t>
            </a:r>
            <a:r>
              <a:rPr lang="en-US" altLang="zh-CN" sz="2400" b="1" dirty="0">
                <a:effectLst>
                  <a:outerShdw blurRad="38100" dist="38100" dir="2700000" algn="tl">
                    <a:srgbClr val="C0C0C0"/>
                  </a:outerShdw>
                </a:effectLst>
              </a:rPr>
              <a:t>x[ ]</a:t>
            </a:r>
            <a:r>
              <a:rPr lang="zh-CN" altLang="en-US" sz="2400" b="1" dirty="0">
                <a:effectLst>
                  <a:outerShdw blurRad="38100" dist="38100" dir="2700000" algn="tl">
                    <a:srgbClr val="C0C0C0"/>
                  </a:outerShdw>
                </a:effectLst>
              </a:rPr>
              <a:t>，元素个数为</a:t>
            </a:r>
            <a:r>
              <a:rPr lang="en-US" altLang="zh-CN" sz="2400" b="1" dirty="0">
                <a:effectLst>
                  <a:outerShdw blurRad="38100" dist="38100" dir="2700000" algn="tl">
                    <a:srgbClr val="C0C0C0"/>
                  </a:outerShdw>
                </a:effectLst>
              </a:rPr>
              <a:t>n</a:t>
            </a:r>
            <a:r>
              <a:rPr lang="zh-CN" altLang="en-US" sz="2400" b="1" dirty="0">
                <a:effectLst>
                  <a:outerShdw blurRad="38100" dist="38100" dir="2700000" algn="tl">
                    <a:srgbClr val="C0C0C0"/>
                  </a:outerShdw>
                </a:effectLst>
              </a:rPr>
              <a:t>个。引入大于</a:t>
            </a:r>
            <a:r>
              <a:rPr lang="en-US" altLang="zh-CN" sz="2400" b="1" dirty="0">
                <a:effectLst>
                  <a:outerShdw blurRad="38100" dist="38100" dir="2700000" algn="tl">
                    <a:srgbClr val="C0C0C0"/>
                  </a:outerShdw>
                </a:effectLst>
              </a:rPr>
              <a:t>0</a:t>
            </a:r>
            <a:r>
              <a:rPr lang="zh-CN" altLang="en-US" sz="2400" b="1" dirty="0">
                <a:effectLst>
                  <a:outerShdw blurRad="38100" dist="38100" dir="2700000" algn="tl">
                    <a:srgbClr val="C0C0C0"/>
                  </a:outerShdw>
                </a:effectLst>
              </a:rPr>
              <a:t>、等于</a:t>
            </a:r>
            <a:r>
              <a:rPr lang="en-US" altLang="zh-CN" sz="2400" b="1" dirty="0">
                <a:effectLst>
                  <a:outerShdw blurRad="38100" dist="38100" dir="2700000" algn="tl">
                    <a:srgbClr val="C0C0C0"/>
                  </a:outerShdw>
                </a:effectLst>
              </a:rPr>
              <a:t>0</a:t>
            </a:r>
            <a:r>
              <a:rPr lang="zh-CN" altLang="en-US" sz="2400" b="1" dirty="0">
                <a:effectLst>
                  <a:outerShdw blurRad="38100" dist="38100" dir="2700000" algn="tl">
                    <a:srgbClr val="C0C0C0"/>
                  </a:outerShdw>
                </a:effectLst>
              </a:rPr>
              <a:t>和小于</a:t>
            </a:r>
            <a:r>
              <a:rPr lang="en-US" altLang="zh-CN" sz="2400" b="1" dirty="0">
                <a:effectLst>
                  <a:outerShdw blurRad="38100" dist="38100" dir="2700000" algn="tl">
                    <a:srgbClr val="C0C0C0"/>
                  </a:outerShdw>
                </a:effectLst>
              </a:rPr>
              <a:t>0</a:t>
            </a:r>
            <a:r>
              <a:rPr lang="zh-CN" altLang="en-US" sz="2400" b="1" dirty="0">
                <a:effectLst>
                  <a:outerShdw blurRad="38100" dist="38100" dir="2700000" algn="tl">
                    <a:srgbClr val="C0C0C0"/>
                  </a:outerShdw>
                </a:effectLst>
              </a:rPr>
              <a:t>的计数器变量</a:t>
            </a:r>
            <a:r>
              <a:rPr lang="en-US" altLang="zh-CN" sz="2400" b="1" dirty="0">
                <a:effectLst>
                  <a:outerShdw blurRad="38100" dist="38100" dir="2700000" algn="tl">
                    <a:srgbClr val="C0C0C0"/>
                  </a:outerShdw>
                </a:effectLst>
              </a:rPr>
              <a:t>great</a:t>
            </a:r>
            <a:r>
              <a:rPr lang="zh-CN" altLang="en-US" sz="2400" b="1" dirty="0">
                <a:effectLst>
                  <a:outerShdw blurRad="38100" dist="38100" dir="2700000" algn="tl">
                    <a:srgbClr val="C0C0C0"/>
                  </a:outerShdw>
                </a:effectLst>
              </a:rPr>
              <a:t>、</a:t>
            </a:r>
            <a:r>
              <a:rPr lang="en-US" altLang="zh-CN" sz="2400" b="1" dirty="0">
                <a:effectLst>
                  <a:outerShdw blurRad="38100" dist="38100" dir="2700000" algn="tl">
                    <a:srgbClr val="C0C0C0"/>
                  </a:outerShdw>
                </a:effectLst>
              </a:rPr>
              <a:t>equal</a:t>
            </a:r>
            <a:r>
              <a:rPr lang="zh-CN" altLang="en-US" sz="2400" b="1" dirty="0">
                <a:effectLst>
                  <a:outerShdw blurRad="38100" dist="38100" dir="2700000" algn="tl">
                    <a:srgbClr val="C0C0C0"/>
                  </a:outerShdw>
                </a:effectLst>
              </a:rPr>
              <a:t>和</a:t>
            </a:r>
            <a:r>
              <a:rPr lang="en-US" altLang="zh-CN" sz="2400" b="1" dirty="0">
                <a:effectLst>
                  <a:outerShdw blurRad="38100" dist="38100" dir="2700000" algn="tl">
                    <a:srgbClr val="C0C0C0"/>
                  </a:outerShdw>
                </a:effectLst>
              </a:rPr>
              <a:t>less</a:t>
            </a:r>
            <a:r>
              <a:rPr lang="zh-CN" altLang="en-US" sz="2400" b="1" dirty="0">
                <a:effectLst>
                  <a:outerShdw blurRad="38100" dist="38100" dir="2700000" algn="tl">
                    <a:srgbClr val="C0C0C0"/>
                  </a:outerShdw>
                </a:effectLst>
              </a:rPr>
              <a:t>。在统计之前，计数器变量必须预置初值为</a:t>
            </a:r>
            <a:r>
              <a:rPr lang="en-US" altLang="zh-CN" sz="2400" b="1" dirty="0">
                <a:effectLst>
                  <a:outerShdw blurRad="38100" dist="38100" dir="2700000" algn="tl">
                    <a:srgbClr val="C0C0C0"/>
                  </a:outerShdw>
                </a:effectLst>
              </a:rPr>
              <a:t>0</a:t>
            </a:r>
            <a:r>
              <a:rPr lang="zh-CN" altLang="en-US" sz="2400" b="1" dirty="0">
                <a:effectLst>
                  <a:outerShdw blurRad="38100" dist="38100" dir="2700000" algn="tl">
                    <a:srgbClr val="C0C0C0"/>
                  </a:outerShdw>
                </a:effectLst>
              </a:rPr>
              <a:t>。用循环遍历数组，顺序考察数组的每个元素，当发现正在考察的元素满足某个条件时，相应计数器变量增</a:t>
            </a:r>
            <a:r>
              <a:rPr lang="en-US" altLang="zh-CN" sz="2400" b="1" dirty="0">
                <a:effectLst>
                  <a:outerShdw blurRad="38100" dist="38100" dir="2700000" algn="tl">
                    <a:srgbClr val="C0C0C0"/>
                  </a:outerShdw>
                </a:effectLst>
              </a:rPr>
              <a:t>1</a:t>
            </a:r>
            <a:r>
              <a:rPr lang="zh-CN" altLang="en-US" sz="2400" b="1" dirty="0">
                <a:effectLst>
                  <a:outerShdw blurRad="38100" dist="38100" dir="2700000" algn="tl">
                    <a:srgbClr val="C0C0C0"/>
                  </a:outerShdw>
                </a:effectLst>
              </a:rPr>
              <a:t>。细节见下面的代码。</a:t>
            </a:r>
          </a:p>
          <a:p>
            <a:pPr marL="0" indent="0" eaLnBrk="1" fontAlgn="auto" hangingPunct="1">
              <a:spcAft>
                <a:spcPts val="0"/>
              </a:spcAft>
              <a:buClr>
                <a:schemeClr val="accent3"/>
              </a:buClr>
              <a:buFont typeface="Wingdings" pitchFamily="2" charset="2"/>
              <a:buNone/>
              <a:defRPr/>
            </a:pPr>
            <a:r>
              <a:rPr lang="zh-CN" altLang="en-US" sz="2400" b="1" dirty="0">
                <a:effectLst>
                  <a:outerShdw blurRad="38100" dist="38100" dir="2700000" algn="tl">
                    <a:srgbClr val="C0C0C0"/>
                  </a:outerShdw>
                </a:effectLst>
              </a:rPr>
              <a:t>    </a:t>
            </a:r>
            <a:r>
              <a:rPr lang="en-US" altLang="zh-CN" sz="2400" b="1" dirty="0">
                <a:effectLst>
                  <a:outerShdw blurRad="38100" dist="38100" dir="2700000" algn="tl">
                    <a:srgbClr val="C0C0C0"/>
                  </a:outerShdw>
                </a:effectLst>
              </a:rPr>
              <a:t>great = equal = less = 0;</a:t>
            </a:r>
          </a:p>
          <a:p>
            <a:pPr marL="0" indent="0" eaLnBrk="1" fontAlgn="auto" hangingPunct="1">
              <a:spcAft>
                <a:spcPts val="0"/>
              </a:spcAft>
              <a:buClr>
                <a:schemeClr val="accent3"/>
              </a:buClr>
              <a:buFont typeface="Wingdings" pitchFamily="2" charset="2"/>
              <a:buNone/>
              <a:defRPr/>
            </a:pPr>
            <a:r>
              <a:rPr lang="en-US" altLang="zh-CN" sz="2400" b="1" dirty="0">
                <a:effectLst>
                  <a:outerShdw blurRad="38100" dist="38100" dir="2700000" algn="tl">
                    <a:srgbClr val="C0C0C0"/>
                  </a:outerShdw>
                </a:effectLst>
              </a:rPr>
              <a:t>    for(</a:t>
            </a:r>
            <a:r>
              <a:rPr lang="en-US" altLang="zh-CN" sz="2400" b="1" dirty="0" err="1">
                <a:effectLst>
                  <a:outerShdw blurRad="38100" dist="38100" dir="2700000" algn="tl">
                    <a:srgbClr val="C0C0C0"/>
                  </a:outerShdw>
                </a:effectLst>
              </a:rPr>
              <a:t>i</a:t>
            </a:r>
            <a:r>
              <a:rPr lang="en-US" altLang="zh-CN" sz="2400" b="1" dirty="0">
                <a:effectLst>
                  <a:outerShdw blurRad="38100" dist="38100" dir="2700000" algn="tl">
                    <a:srgbClr val="C0C0C0"/>
                  </a:outerShdw>
                </a:effectLst>
              </a:rPr>
              <a:t> = 0; </a:t>
            </a:r>
            <a:r>
              <a:rPr lang="en-US" altLang="zh-CN" sz="2400" b="1" dirty="0" err="1">
                <a:effectLst>
                  <a:outerShdw blurRad="38100" dist="38100" dir="2700000" algn="tl">
                    <a:srgbClr val="C0C0C0"/>
                  </a:outerShdw>
                </a:effectLst>
              </a:rPr>
              <a:t>i</a:t>
            </a:r>
            <a:r>
              <a:rPr lang="en-US" altLang="zh-CN" sz="2400" b="1" dirty="0">
                <a:effectLst>
                  <a:outerShdw blurRad="38100" dist="38100" dir="2700000" algn="tl">
                    <a:srgbClr val="C0C0C0"/>
                  </a:outerShdw>
                </a:effectLst>
              </a:rPr>
              <a:t> &lt; n; </a:t>
            </a:r>
            <a:r>
              <a:rPr lang="en-US" altLang="zh-CN" sz="2400" b="1" dirty="0" err="1">
                <a:effectLst>
                  <a:outerShdw blurRad="38100" dist="38100" dir="2700000" algn="tl">
                    <a:srgbClr val="C0C0C0"/>
                  </a:outerShdw>
                </a:effectLst>
              </a:rPr>
              <a:t>i</a:t>
            </a:r>
            <a:r>
              <a:rPr lang="en-US" altLang="zh-CN" sz="2400" b="1" dirty="0">
                <a:effectLst>
                  <a:outerShdw blurRad="38100" dist="38100" dir="2700000" algn="tl">
                    <a:srgbClr val="C0C0C0"/>
                  </a:outerShdw>
                </a:effectLst>
              </a:rPr>
              <a:t>++)</a:t>
            </a:r>
          </a:p>
          <a:p>
            <a:pPr marL="0" indent="0" eaLnBrk="1" fontAlgn="auto" hangingPunct="1">
              <a:spcAft>
                <a:spcPts val="0"/>
              </a:spcAft>
              <a:buClr>
                <a:schemeClr val="accent3"/>
              </a:buClr>
              <a:buFont typeface="Wingdings" pitchFamily="2" charset="2"/>
              <a:buNone/>
              <a:defRPr/>
            </a:pPr>
            <a:r>
              <a:rPr lang="en-US" altLang="zh-CN" sz="2400" b="1" dirty="0">
                <a:effectLst>
                  <a:outerShdw blurRad="38100" dist="38100" dir="2700000" algn="tl">
                    <a:srgbClr val="C0C0C0"/>
                  </a:outerShdw>
                </a:effectLst>
              </a:rPr>
              <a:t>       if (x[</a:t>
            </a:r>
            <a:r>
              <a:rPr lang="en-US" altLang="zh-CN" sz="2400" b="1" dirty="0" err="1">
                <a:effectLst>
                  <a:outerShdw blurRad="38100" dist="38100" dir="2700000" algn="tl">
                    <a:srgbClr val="C0C0C0"/>
                  </a:outerShdw>
                </a:effectLst>
              </a:rPr>
              <a:t>i</a:t>
            </a:r>
            <a:r>
              <a:rPr lang="en-US" altLang="zh-CN" sz="2400" b="1" dirty="0">
                <a:effectLst>
                  <a:outerShdw blurRad="38100" dist="38100" dir="2700000" algn="tl">
                    <a:srgbClr val="C0C0C0"/>
                  </a:outerShdw>
                </a:effectLst>
              </a:rPr>
              <a:t>] &gt; 0) great++;</a:t>
            </a:r>
          </a:p>
          <a:p>
            <a:pPr marL="0" indent="0" eaLnBrk="1" fontAlgn="auto" hangingPunct="1">
              <a:spcAft>
                <a:spcPts val="0"/>
              </a:spcAft>
              <a:buClr>
                <a:schemeClr val="accent3"/>
              </a:buClr>
              <a:buFont typeface="Wingdings" pitchFamily="2" charset="2"/>
              <a:buNone/>
              <a:defRPr/>
            </a:pPr>
            <a:r>
              <a:rPr lang="en-US" altLang="zh-CN" sz="2400" b="1" dirty="0">
                <a:effectLst>
                  <a:outerShdw blurRad="38100" dist="38100" dir="2700000" algn="tl">
                    <a:srgbClr val="C0C0C0"/>
                  </a:outerShdw>
                </a:effectLst>
              </a:rPr>
              <a:t>       else if (x[</a:t>
            </a:r>
            <a:r>
              <a:rPr lang="en-US" altLang="zh-CN" sz="2400" b="1" dirty="0" err="1">
                <a:effectLst>
                  <a:outerShdw blurRad="38100" dist="38100" dir="2700000" algn="tl">
                    <a:srgbClr val="C0C0C0"/>
                  </a:outerShdw>
                </a:effectLst>
              </a:rPr>
              <a:t>i</a:t>
            </a:r>
            <a:r>
              <a:rPr lang="en-US" altLang="zh-CN" sz="2400" b="1" dirty="0">
                <a:effectLst>
                  <a:outerShdw blurRad="38100" dist="38100" dir="2700000" algn="tl">
                    <a:srgbClr val="C0C0C0"/>
                  </a:outerShdw>
                </a:effectLst>
              </a:rPr>
              <a:t>] == 0) equal++;</a:t>
            </a:r>
          </a:p>
          <a:p>
            <a:pPr marL="0" indent="0" eaLnBrk="1" fontAlgn="auto" hangingPunct="1">
              <a:spcAft>
                <a:spcPts val="0"/>
              </a:spcAft>
              <a:buClr>
                <a:schemeClr val="accent3"/>
              </a:buClr>
              <a:buFont typeface="Wingdings" pitchFamily="2" charset="2"/>
              <a:buNone/>
              <a:defRPr/>
            </a:pPr>
            <a:r>
              <a:rPr lang="en-US" altLang="zh-CN" sz="2400" b="1" dirty="0">
                <a:effectLst>
                  <a:outerShdw blurRad="38100" dist="38100" dir="2700000" algn="tl">
                    <a:srgbClr val="C0C0C0"/>
                  </a:outerShdw>
                </a:effectLst>
              </a:rPr>
              <a:t>                else less++;</a:t>
            </a:r>
          </a:p>
        </p:txBody>
      </p:sp>
      <p:sp>
        <p:nvSpPr>
          <p:cNvPr id="5" name="灯片编号占位符 5"/>
          <p:cNvSpPr>
            <a:spLocks noGrp="1"/>
          </p:cNvSpPr>
          <p:nvPr>
            <p:ph type="sldNum" sz="quarter" idx="12"/>
          </p:nvPr>
        </p:nvSpPr>
        <p:spPr/>
        <p:txBody>
          <a:bodyPr/>
          <a:lstStyle/>
          <a:p>
            <a:pPr>
              <a:defRPr/>
            </a:pPr>
            <a:fld id="{DAB607D3-AACC-4516-9207-F8F8CB72E5A3}" type="slidenum">
              <a:rPr lang="en-US" altLang="zh-CN"/>
              <a:pPr>
                <a:defRPr/>
              </a:pPr>
              <a:t>13</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99714">
                                            <p:txEl>
                                              <p:pRg st="1" end="1"/>
                                            </p:txEl>
                                          </p:spTgt>
                                        </p:tgtEl>
                                        <p:attrNameLst>
                                          <p:attrName>style.visibility</p:attrName>
                                        </p:attrNameLst>
                                      </p:cBhvr>
                                      <p:to>
                                        <p:strVal val="visible"/>
                                      </p:to>
                                    </p:set>
                                    <p:anim calcmode="lin" valueType="num">
                                      <p:cBhvr additive="base">
                                        <p:cTn id="7" dur="500" fill="hold"/>
                                        <p:tgtEl>
                                          <p:spTgt spid="49971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99714">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99714">
                                            <p:txEl>
                                              <p:pRg st="2" end="2"/>
                                            </p:txEl>
                                          </p:spTgt>
                                        </p:tgtEl>
                                        <p:attrNameLst>
                                          <p:attrName>style.visibility</p:attrName>
                                        </p:attrNameLst>
                                      </p:cBhvr>
                                      <p:to>
                                        <p:strVal val="visible"/>
                                      </p:to>
                                    </p:set>
                                    <p:anim calcmode="lin" valueType="num">
                                      <p:cBhvr additive="base">
                                        <p:cTn id="11" dur="500" fill="hold"/>
                                        <p:tgtEl>
                                          <p:spTgt spid="499714">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9971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499714">
                                            <p:txEl>
                                              <p:pRg st="3" end="3"/>
                                            </p:txEl>
                                          </p:spTgt>
                                        </p:tgtEl>
                                        <p:attrNameLst>
                                          <p:attrName>style.visibility</p:attrName>
                                        </p:attrNameLst>
                                      </p:cBhvr>
                                      <p:to>
                                        <p:strVal val="visible"/>
                                      </p:to>
                                    </p:set>
                                    <p:animEffect transition="in" filter="box(in)">
                                      <p:cBhvr>
                                        <p:cTn id="17" dur="500"/>
                                        <p:tgtEl>
                                          <p:spTgt spid="499714">
                                            <p:txEl>
                                              <p:pRg st="3" end="3"/>
                                            </p:txEl>
                                          </p:spTgt>
                                        </p:tgtEl>
                                      </p:cBhvr>
                                    </p:animEffect>
                                  </p:childTnLst>
                                </p:cTn>
                              </p:par>
                              <p:par>
                                <p:cTn id="18" presetID="4" presetClass="entr" presetSubtype="16" fill="hold" nodeType="withEffect">
                                  <p:stCondLst>
                                    <p:cond delay="0"/>
                                  </p:stCondLst>
                                  <p:childTnLst>
                                    <p:set>
                                      <p:cBhvr>
                                        <p:cTn id="19" dur="1" fill="hold">
                                          <p:stCondLst>
                                            <p:cond delay="0"/>
                                          </p:stCondLst>
                                        </p:cTn>
                                        <p:tgtEl>
                                          <p:spTgt spid="499714">
                                            <p:txEl>
                                              <p:pRg st="4" end="4"/>
                                            </p:txEl>
                                          </p:spTgt>
                                        </p:tgtEl>
                                        <p:attrNameLst>
                                          <p:attrName>style.visibility</p:attrName>
                                        </p:attrNameLst>
                                      </p:cBhvr>
                                      <p:to>
                                        <p:strVal val="visible"/>
                                      </p:to>
                                    </p:set>
                                    <p:animEffect transition="in" filter="box(in)">
                                      <p:cBhvr>
                                        <p:cTn id="20" dur="500"/>
                                        <p:tgtEl>
                                          <p:spTgt spid="499714">
                                            <p:txEl>
                                              <p:pRg st="4" end="4"/>
                                            </p:txEl>
                                          </p:spTgt>
                                        </p:tgtEl>
                                      </p:cBhvr>
                                    </p:animEffect>
                                  </p:childTnLst>
                                </p:cTn>
                              </p:par>
                              <p:par>
                                <p:cTn id="21" presetID="4" presetClass="entr" presetSubtype="16" fill="hold" nodeType="withEffect">
                                  <p:stCondLst>
                                    <p:cond delay="0"/>
                                  </p:stCondLst>
                                  <p:childTnLst>
                                    <p:set>
                                      <p:cBhvr>
                                        <p:cTn id="22" dur="1" fill="hold">
                                          <p:stCondLst>
                                            <p:cond delay="0"/>
                                          </p:stCondLst>
                                        </p:cTn>
                                        <p:tgtEl>
                                          <p:spTgt spid="499714">
                                            <p:txEl>
                                              <p:pRg st="5" end="5"/>
                                            </p:txEl>
                                          </p:spTgt>
                                        </p:tgtEl>
                                        <p:attrNameLst>
                                          <p:attrName>style.visibility</p:attrName>
                                        </p:attrNameLst>
                                      </p:cBhvr>
                                      <p:to>
                                        <p:strVal val="visible"/>
                                      </p:to>
                                    </p:set>
                                    <p:animEffect transition="in" filter="box(in)">
                                      <p:cBhvr>
                                        <p:cTn id="23" dur="500"/>
                                        <p:tgtEl>
                                          <p:spTgt spid="499714">
                                            <p:txEl>
                                              <p:pRg st="5" end="5"/>
                                            </p:txEl>
                                          </p:spTgt>
                                        </p:tgtEl>
                                      </p:cBhvr>
                                    </p:animEffect>
                                  </p:childTnLst>
                                </p:cTn>
                              </p:par>
                              <p:par>
                                <p:cTn id="24" presetID="4" presetClass="entr" presetSubtype="16" fill="hold" nodeType="withEffect">
                                  <p:stCondLst>
                                    <p:cond delay="0"/>
                                  </p:stCondLst>
                                  <p:childTnLst>
                                    <p:set>
                                      <p:cBhvr>
                                        <p:cTn id="25" dur="1" fill="hold">
                                          <p:stCondLst>
                                            <p:cond delay="0"/>
                                          </p:stCondLst>
                                        </p:cTn>
                                        <p:tgtEl>
                                          <p:spTgt spid="499714">
                                            <p:txEl>
                                              <p:pRg st="6" end="6"/>
                                            </p:txEl>
                                          </p:spTgt>
                                        </p:tgtEl>
                                        <p:attrNameLst>
                                          <p:attrName>style.visibility</p:attrName>
                                        </p:attrNameLst>
                                      </p:cBhvr>
                                      <p:to>
                                        <p:strVal val="visible"/>
                                      </p:to>
                                    </p:set>
                                    <p:animEffect transition="in" filter="box(in)">
                                      <p:cBhvr>
                                        <p:cTn id="26" dur="500"/>
                                        <p:tgtEl>
                                          <p:spTgt spid="499714">
                                            <p:txEl>
                                              <p:pRg st="6" end="6"/>
                                            </p:txEl>
                                          </p:spTgt>
                                        </p:tgtEl>
                                      </p:cBhvr>
                                    </p:animEffect>
                                  </p:childTnLst>
                                </p:cTn>
                              </p:par>
                              <p:par>
                                <p:cTn id="27" presetID="4" presetClass="entr" presetSubtype="16" fill="hold" nodeType="withEffect">
                                  <p:stCondLst>
                                    <p:cond delay="0"/>
                                  </p:stCondLst>
                                  <p:childTnLst>
                                    <p:set>
                                      <p:cBhvr>
                                        <p:cTn id="28" dur="1" fill="hold">
                                          <p:stCondLst>
                                            <p:cond delay="0"/>
                                          </p:stCondLst>
                                        </p:cTn>
                                        <p:tgtEl>
                                          <p:spTgt spid="499714">
                                            <p:txEl>
                                              <p:pRg st="7" end="7"/>
                                            </p:txEl>
                                          </p:spTgt>
                                        </p:tgtEl>
                                        <p:attrNameLst>
                                          <p:attrName>style.visibility</p:attrName>
                                        </p:attrNameLst>
                                      </p:cBhvr>
                                      <p:to>
                                        <p:strVal val="visible"/>
                                      </p:to>
                                    </p:set>
                                    <p:animEffect transition="in" filter="box(in)">
                                      <p:cBhvr>
                                        <p:cTn id="29" dur="500"/>
                                        <p:tgtEl>
                                          <p:spTgt spid="49971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Rectangle 2"/>
          <p:cNvSpPr>
            <a:spLocks noGrp="1" noChangeArrowheads="1"/>
          </p:cNvSpPr>
          <p:nvPr>
            <p:ph idx="1"/>
          </p:nvPr>
        </p:nvSpPr>
        <p:spPr>
          <a:xfrm>
            <a:off x="395288" y="476250"/>
            <a:ext cx="8534400" cy="5907088"/>
          </a:xfrm>
        </p:spPr>
        <p:txBody>
          <a:bodyPr>
            <a:normAutofit/>
          </a:bodyPr>
          <a:lstStyle/>
          <a:p>
            <a:pPr marL="0" indent="0" eaLnBrk="1" fontAlgn="auto" hangingPunct="1">
              <a:spcAft>
                <a:spcPts val="0"/>
              </a:spcAft>
              <a:buClr>
                <a:schemeClr val="accent3"/>
              </a:buClr>
              <a:buFont typeface="Wingdings" pitchFamily="2" charset="2"/>
              <a:buNone/>
              <a:defRPr/>
            </a:pPr>
            <a:r>
              <a:rPr lang="en-US" altLang="zh-CN" sz="2400" b="1" dirty="0">
                <a:effectLst>
                  <a:outerShdw blurRad="38100" dist="38100" dir="2700000" algn="tl">
                    <a:srgbClr val="C0C0C0"/>
                  </a:outerShdw>
                </a:effectLst>
              </a:rPr>
              <a:t>【</a:t>
            </a:r>
            <a:r>
              <a:rPr lang="zh-CN" altLang="en-US" sz="2400" b="1" dirty="0">
                <a:effectLst>
                  <a:outerShdw blurRad="38100" dist="38100" dir="2700000" algn="tl">
                    <a:srgbClr val="C0C0C0"/>
                  </a:outerShdw>
                </a:effectLst>
              </a:rPr>
              <a:t>例</a:t>
            </a:r>
            <a:r>
              <a:rPr lang="en-US" altLang="zh-CN" sz="2400" b="1" dirty="0">
                <a:effectLst>
                  <a:outerShdw blurRad="38100" dist="38100" dir="2700000" algn="tl">
                    <a:srgbClr val="C0C0C0"/>
                  </a:outerShdw>
                </a:effectLst>
              </a:rPr>
              <a:t>4.3】</a:t>
            </a:r>
            <a:r>
              <a:rPr lang="zh-CN" altLang="en-US" sz="2400" b="1" dirty="0">
                <a:effectLst>
                  <a:outerShdw blurRad="38100" dist="38100" dir="2700000" algn="tl">
                    <a:srgbClr val="C0C0C0"/>
                  </a:outerShdw>
                </a:effectLst>
              </a:rPr>
              <a:t>在数组的某个下标位置插入一个元素。</a:t>
            </a:r>
          </a:p>
          <a:p>
            <a:pPr marL="0" indent="0" eaLnBrk="1" fontAlgn="auto" hangingPunct="1">
              <a:spcAft>
                <a:spcPts val="0"/>
              </a:spcAft>
              <a:buClr>
                <a:schemeClr val="accent3"/>
              </a:buClr>
              <a:buFont typeface="Wingdings" pitchFamily="2" charset="2"/>
              <a:buNone/>
              <a:defRPr/>
            </a:pPr>
            <a:r>
              <a:rPr lang="en-US" altLang="zh-CN" sz="2400" b="1" dirty="0">
                <a:effectLst>
                  <a:outerShdw blurRad="38100" dist="38100" dir="2700000" algn="tl">
                    <a:srgbClr val="C0C0C0"/>
                  </a:outerShdw>
                </a:effectLst>
              </a:rPr>
              <a:t>【</a:t>
            </a:r>
            <a:r>
              <a:rPr lang="zh-CN" altLang="en-US" sz="2400" b="1" dirty="0">
                <a:effectLst>
                  <a:outerShdw blurRad="38100" dist="38100" dir="2700000" algn="tl">
                    <a:srgbClr val="C0C0C0"/>
                  </a:outerShdw>
                </a:effectLst>
              </a:rPr>
              <a:t>解题思路</a:t>
            </a:r>
            <a:r>
              <a:rPr lang="en-US" altLang="zh-CN" sz="2400" b="1" dirty="0">
                <a:effectLst>
                  <a:outerShdw blurRad="38100" dist="38100" dir="2700000" algn="tl">
                    <a:srgbClr val="C0C0C0"/>
                  </a:outerShdw>
                </a:effectLst>
              </a:rPr>
              <a:t>】</a:t>
            </a:r>
          </a:p>
          <a:p>
            <a:pPr marL="0" indent="0" eaLnBrk="1" fontAlgn="auto" hangingPunct="1">
              <a:spcAft>
                <a:spcPts val="0"/>
              </a:spcAft>
              <a:buClr>
                <a:schemeClr val="accent3"/>
              </a:buClr>
              <a:buFont typeface="Wingdings" pitchFamily="2" charset="2"/>
              <a:buNone/>
              <a:defRPr/>
            </a:pPr>
            <a:r>
              <a:rPr lang="zh-CN" altLang="en-US" sz="2400" b="1" dirty="0">
                <a:effectLst>
                  <a:outerShdw blurRad="38100" dist="38100" dir="2700000" algn="tl">
                    <a:srgbClr val="C0C0C0"/>
                  </a:outerShdw>
                </a:effectLst>
              </a:rPr>
              <a:t>设数组</a:t>
            </a:r>
            <a:r>
              <a:rPr lang="en-US" altLang="zh-CN" sz="2400" b="1" dirty="0">
                <a:effectLst>
                  <a:outerShdw blurRad="38100" dist="38100" dir="2700000" algn="tl">
                    <a:srgbClr val="C0C0C0"/>
                  </a:outerShdw>
                </a:effectLst>
              </a:rPr>
              <a:t>a[ ]</a:t>
            </a:r>
            <a:r>
              <a:rPr lang="zh-CN" altLang="en-US" sz="2400" b="1" dirty="0">
                <a:effectLst>
                  <a:outerShdw blurRad="38100" dist="38100" dir="2700000" algn="tl">
                    <a:srgbClr val="C0C0C0"/>
                  </a:outerShdw>
                </a:effectLst>
              </a:rPr>
              <a:t>原有</a:t>
            </a:r>
            <a:r>
              <a:rPr lang="en-US" altLang="zh-CN" sz="2400" b="1" dirty="0">
                <a:effectLst>
                  <a:outerShdw blurRad="38100" dist="38100" dir="2700000" algn="tl">
                    <a:srgbClr val="C0C0C0"/>
                  </a:outerShdw>
                </a:effectLst>
              </a:rPr>
              <a:t>n</a:t>
            </a:r>
            <a:r>
              <a:rPr lang="zh-CN" altLang="en-US" sz="2400" b="1" dirty="0">
                <a:effectLst>
                  <a:outerShdw blurRad="38100" dist="38100" dir="2700000" algn="tl">
                    <a:srgbClr val="C0C0C0"/>
                  </a:outerShdw>
                </a:effectLst>
              </a:rPr>
              <a:t>个元素，要在</a:t>
            </a:r>
            <a:r>
              <a:rPr lang="en-US" altLang="zh-CN" sz="2400" b="1" dirty="0">
                <a:effectLst>
                  <a:outerShdw blurRad="38100" dist="38100" dir="2700000" algn="tl">
                    <a:srgbClr val="C0C0C0"/>
                  </a:outerShdw>
                </a:effectLst>
              </a:rPr>
              <a:t>k</a:t>
            </a:r>
            <a:r>
              <a:rPr lang="zh-CN" altLang="en-US" sz="2400" b="1" dirty="0">
                <a:effectLst>
                  <a:outerShdw blurRad="38100" dist="38100" dir="2700000" algn="tl">
                    <a:srgbClr val="C0C0C0"/>
                  </a:outerShdw>
                </a:effectLst>
              </a:rPr>
              <a:t>下标位置插入一个值为</a:t>
            </a:r>
            <a:r>
              <a:rPr lang="en-US" altLang="zh-CN" sz="2400" b="1" dirty="0">
                <a:effectLst>
                  <a:outerShdw blurRad="38100" dist="38100" dir="2700000" algn="tl">
                    <a:srgbClr val="C0C0C0"/>
                  </a:outerShdw>
                </a:effectLst>
              </a:rPr>
              <a:t>x</a:t>
            </a:r>
            <a:r>
              <a:rPr lang="zh-CN" altLang="en-US" sz="2400" b="1" dirty="0">
                <a:effectLst>
                  <a:outerShdw blurRad="38100" dist="38100" dir="2700000" algn="tl">
                    <a:srgbClr val="C0C0C0"/>
                  </a:outerShdw>
                </a:effectLst>
              </a:rPr>
              <a:t>的元素。为了在</a:t>
            </a:r>
            <a:r>
              <a:rPr lang="en-US" altLang="zh-CN" sz="2400" b="1" dirty="0">
                <a:effectLst>
                  <a:outerShdw blurRad="38100" dist="38100" dir="2700000" algn="tl">
                    <a:srgbClr val="C0C0C0"/>
                  </a:outerShdw>
                </a:effectLst>
              </a:rPr>
              <a:t>k</a:t>
            </a:r>
            <a:r>
              <a:rPr lang="zh-CN" altLang="en-US" sz="2400" b="1" dirty="0">
                <a:effectLst>
                  <a:outerShdw blurRad="38100" dist="38100" dir="2700000" algn="tl">
                    <a:srgbClr val="C0C0C0"/>
                  </a:outerShdw>
                </a:effectLst>
              </a:rPr>
              <a:t>位置插入</a:t>
            </a:r>
            <a:r>
              <a:rPr lang="en-US" altLang="zh-CN" sz="2400" b="1" dirty="0">
                <a:effectLst>
                  <a:outerShdw blurRad="38100" dist="38100" dir="2700000" algn="tl">
                    <a:srgbClr val="C0C0C0"/>
                  </a:outerShdw>
                </a:effectLst>
              </a:rPr>
              <a:t>x</a:t>
            </a:r>
            <a:r>
              <a:rPr lang="zh-CN" altLang="en-US" sz="2400" b="1" dirty="0">
                <a:effectLst>
                  <a:outerShdw blurRad="38100" dist="38100" dir="2700000" algn="tl">
                    <a:srgbClr val="C0C0C0"/>
                  </a:outerShdw>
                </a:effectLst>
              </a:rPr>
              <a:t>，必须将元素</a:t>
            </a:r>
            <a:r>
              <a:rPr lang="en-US" altLang="zh-CN" sz="2400" b="1" dirty="0">
                <a:effectLst>
                  <a:outerShdw blurRad="38100" dist="38100" dir="2700000" algn="tl">
                    <a:srgbClr val="C0C0C0"/>
                  </a:outerShdw>
                </a:effectLst>
              </a:rPr>
              <a:t>a[k]</a:t>
            </a:r>
            <a:r>
              <a:rPr lang="zh-CN" altLang="en-US" sz="2400" b="1" dirty="0">
                <a:effectLst>
                  <a:outerShdw blurRad="38100" dist="38100" dir="2700000" algn="tl">
                    <a:srgbClr val="C0C0C0"/>
                  </a:outerShdw>
                </a:effectLst>
              </a:rPr>
              <a:t>至</a:t>
            </a:r>
            <a:r>
              <a:rPr lang="en-US" altLang="zh-CN" sz="2400" b="1" dirty="0">
                <a:effectLst>
                  <a:outerShdw blurRad="38100" dist="38100" dir="2700000" algn="tl">
                    <a:srgbClr val="C0C0C0"/>
                  </a:outerShdw>
                </a:effectLst>
              </a:rPr>
              <a:t>a[n-1]</a:t>
            </a:r>
            <a:r>
              <a:rPr lang="zh-CN" altLang="en-US" sz="2400" b="1" dirty="0">
                <a:effectLst>
                  <a:outerShdw blurRad="38100" dist="38100" dir="2700000" algn="tl">
                    <a:srgbClr val="C0C0C0"/>
                  </a:outerShdw>
                </a:effectLst>
              </a:rPr>
              <a:t>分别顺序后移一个位置。并要求元素后移顺序从</a:t>
            </a:r>
            <a:r>
              <a:rPr lang="en-US" altLang="zh-CN" sz="2400" b="1" dirty="0">
                <a:effectLst>
                  <a:outerShdw blurRad="38100" dist="38100" dir="2700000" algn="tl">
                    <a:srgbClr val="C0C0C0"/>
                  </a:outerShdw>
                </a:effectLst>
              </a:rPr>
              <a:t>a[n-1]</a:t>
            </a:r>
            <a:r>
              <a:rPr lang="zh-CN" altLang="en-US" sz="2400" b="1" dirty="0">
                <a:effectLst>
                  <a:outerShdw blurRad="38100" dist="38100" dir="2700000" algn="tl">
                    <a:srgbClr val="C0C0C0"/>
                  </a:outerShdw>
                </a:effectLst>
              </a:rPr>
              <a:t>开始逆序至</a:t>
            </a:r>
            <a:r>
              <a:rPr lang="en-US" altLang="zh-CN" sz="2400" b="1" dirty="0">
                <a:effectLst>
                  <a:outerShdw blurRad="38100" dist="38100" dir="2700000" algn="tl">
                    <a:srgbClr val="C0C0C0"/>
                  </a:outerShdw>
                </a:effectLst>
              </a:rPr>
              <a:t>a[k]</a:t>
            </a:r>
            <a:r>
              <a:rPr lang="zh-CN" altLang="en-US" sz="2400" b="1" dirty="0">
                <a:effectLst>
                  <a:outerShdw blurRad="38100" dist="38100" dir="2700000" algn="tl">
                    <a:srgbClr val="C0C0C0"/>
                  </a:outerShdw>
                </a:effectLst>
              </a:rPr>
              <a:t>。后移结束后，就可将</a:t>
            </a:r>
            <a:r>
              <a:rPr lang="en-US" altLang="zh-CN" sz="2400" b="1" dirty="0">
                <a:effectLst>
                  <a:outerShdw blurRad="38100" dist="38100" dir="2700000" algn="tl">
                    <a:srgbClr val="C0C0C0"/>
                  </a:outerShdw>
                </a:effectLst>
              </a:rPr>
              <a:t>a[k]</a:t>
            </a:r>
            <a:r>
              <a:rPr lang="zh-CN" altLang="en-US" sz="2400" b="1" dirty="0">
                <a:effectLst>
                  <a:outerShdw blurRad="38100" dist="38100" dir="2700000" algn="tl">
                    <a:srgbClr val="C0C0C0"/>
                  </a:outerShdw>
                </a:effectLst>
              </a:rPr>
              <a:t>设置成</a:t>
            </a:r>
            <a:r>
              <a:rPr lang="en-US" altLang="zh-CN" sz="2400" b="1" dirty="0">
                <a:effectLst>
                  <a:outerShdw blurRad="38100" dist="38100" dir="2700000" algn="tl">
                    <a:srgbClr val="C0C0C0"/>
                  </a:outerShdw>
                </a:effectLst>
              </a:rPr>
              <a:t>x</a:t>
            </a:r>
            <a:r>
              <a:rPr lang="zh-CN" altLang="en-US" sz="2400" b="1" dirty="0">
                <a:effectLst>
                  <a:outerShdw blurRad="38100" dist="38100" dir="2700000" algn="tl">
                    <a:srgbClr val="C0C0C0"/>
                  </a:outerShdw>
                </a:effectLst>
              </a:rPr>
              <a:t>。最后，增加数组的元素个数。细节见下面的程序代码： </a:t>
            </a:r>
          </a:p>
          <a:p>
            <a:pPr marL="0" indent="0" eaLnBrk="1" fontAlgn="auto" hangingPunct="1">
              <a:spcAft>
                <a:spcPts val="0"/>
              </a:spcAft>
              <a:buClr>
                <a:schemeClr val="accent3"/>
              </a:buClr>
              <a:buFont typeface="Wingdings" pitchFamily="2" charset="2"/>
              <a:buNone/>
              <a:defRPr/>
            </a:pPr>
            <a:r>
              <a:rPr lang="zh-CN" altLang="en-US" sz="2400" b="1" dirty="0">
                <a:effectLst>
                  <a:outerShdw blurRad="38100" dist="38100" dir="2700000" algn="tl">
                    <a:srgbClr val="C0C0C0"/>
                  </a:outerShdw>
                </a:effectLst>
                <a:latin typeface="+mj-ea"/>
                <a:ea typeface="+mj-ea"/>
              </a:rPr>
              <a:t>    </a:t>
            </a:r>
            <a:r>
              <a:rPr lang="en-US" altLang="zh-CN" sz="2400" b="1" dirty="0">
                <a:effectLst>
                  <a:outerShdw blurRad="38100" dist="38100" dir="2700000" algn="tl">
                    <a:srgbClr val="C0C0C0"/>
                  </a:outerShdw>
                </a:effectLst>
                <a:latin typeface="+mj-ea"/>
                <a:ea typeface="+mj-ea"/>
              </a:rPr>
              <a:t>for(</a:t>
            </a:r>
            <a:r>
              <a:rPr lang="en-US" altLang="zh-CN" sz="2400" b="1" dirty="0" err="1">
                <a:effectLst>
                  <a:outerShdw blurRad="38100" dist="38100" dir="2700000" algn="tl">
                    <a:srgbClr val="C0C0C0"/>
                  </a:outerShdw>
                </a:effectLst>
                <a:latin typeface="+mj-ea"/>
                <a:ea typeface="+mj-ea"/>
              </a:rPr>
              <a:t>i</a:t>
            </a:r>
            <a:r>
              <a:rPr lang="en-US" altLang="zh-CN" sz="2400" b="1" dirty="0">
                <a:effectLst>
                  <a:outerShdw blurRad="38100" dist="38100" dir="2700000" algn="tl">
                    <a:srgbClr val="C0C0C0"/>
                  </a:outerShdw>
                </a:effectLst>
                <a:latin typeface="+mj-ea"/>
                <a:ea typeface="+mj-ea"/>
              </a:rPr>
              <a:t> = n-1; </a:t>
            </a:r>
            <a:r>
              <a:rPr lang="en-US" altLang="zh-CN" sz="2400" b="1" dirty="0" err="1">
                <a:effectLst>
                  <a:outerShdw blurRad="38100" dist="38100" dir="2700000" algn="tl">
                    <a:srgbClr val="C0C0C0"/>
                  </a:outerShdw>
                </a:effectLst>
                <a:latin typeface="+mj-ea"/>
                <a:ea typeface="+mj-ea"/>
              </a:rPr>
              <a:t>i</a:t>
            </a:r>
            <a:r>
              <a:rPr lang="en-US" altLang="zh-CN" sz="2400" b="1" dirty="0">
                <a:effectLst>
                  <a:outerShdw blurRad="38100" dist="38100" dir="2700000" algn="tl">
                    <a:srgbClr val="C0C0C0"/>
                  </a:outerShdw>
                </a:effectLst>
                <a:latin typeface="+mj-ea"/>
                <a:ea typeface="+mj-ea"/>
              </a:rPr>
              <a:t> &gt;= k; </a:t>
            </a:r>
            <a:r>
              <a:rPr lang="en-US" altLang="zh-CN" sz="2400" b="1" dirty="0" err="1">
                <a:effectLst>
                  <a:outerShdw blurRad="38100" dist="38100" dir="2700000" algn="tl">
                    <a:srgbClr val="C0C0C0"/>
                  </a:outerShdw>
                </a:effectLst>
                <a:latin typeface="+mj-ea"/>
                <a:ea typeface="+mj-ea"/>
              </a:rPr>
              <a:t>i</a:t>
            </a:r>
            <a:r>
              <a:rPr lang="en-US" altLang="zh-CN" sz="2400" b="1" dirty="0">
                <a:effectLst>
                  <a:outerShdw blurRad="38100" dist="38100" dir="2700000" algn="tl">
                    <a:srgbClr val="C0C0C0"/>
                  </a:outerShdw>
                </a:effectLst>
                <a:latin typeface="+mj-ea"/>
                <a:ea typeface="+mj-ea"/>
              </a:rPr>
              <a:t>--) </a:t>
            </a:r>
          </a:p>
          <a:p>
            <a:pPr marL="0" indent="0" eaLnBrk="1" fontAlgn="auto" hangingPunct="1">
              <a:spcAft>
                <a:spcPts val="0"/>
              </a:spcAft>
              <a:buClr>
                <a:schemeClr val="accent3"/>
              </a:buClr>
              <a:buFont typeface="Wingdings" pitchFamily="2" charset="2"/>
              <a:buNone/>
              <a:defRPr/>
            </a:pPr>
            <a:r>
              <a:rPr lang="en-US" altLang="zh-CN" sz="2400" b="1" dirty="0">
                <a:effectLst>
                  <a:outerShdw blurRad="38100" dist="38100" dir="2700000" algn="tl">
                    <a:srgbClr val="C0C0C0"/>
                  </a:outerShdw>
                </a:effectLst>
                <a:latin typeface="+mj-ea"/>
                <a:ea typeface="+mj-ea"/>
              </a:rPr>
              <a:t>           /* </a:t>
            </a:r>
            <a:r>
              <a:rPr lang="zh-CN" altLang="en-US" sz="2400" b="1" dirty="0">
                <a:effectLst>
                  <a:outerShdw blurRad="38100" dist="38100" dir="2700000" algn="tl">
                    <a:srgbClr val="C0C0C0"/>
                  </a:outerShdw>
                </a:effectLst>
                <a:latin typeface="+mj-ea"/>
                <a:ea typeface="+mj-ea"/>
              </a:rPr>
              <a:t>自</a:t>
            </a:r>
            <a:r>
              <a:rPr lang="en-US" altLang="zh-CN" sz="2400" b="1" dirty="0">
                <a:effectLst>
                  <a:outerShdw blurRad="38100" dist="38100" dir="2700000" algn="tl">
                    <a:srgbClr val="C0C0C0"/>
                  </a:outerShdw>
                </a:effectLst>
                <a:latin typeface="+mj-ea"/>
                <a:ea typeface="+mj-ea"/>
              </a:rPr>
              <a:t>a[n-1]</a:t>
            </a:r>
            <a:r>
              <a:rPr lang="zh-CN" altLang="en-US" sz="2400" b="1" dirty="0">
                <a:effectLst>
                  <a:outerShdw blurRad="38100" dist="38100" dir="2700000" algn="tl">
                    <a:srgbClr val="C0C0C0"/>
                  </a:outerShdw>
                </a:effectLst>
                <a:latin typeface="+mj-ea"/>
                <a:ea typeface="+mj-ea"/>
              </a:rPr>
              <a:t>开始逆序至</a:t>
            </a:r>
            <a:r>
              <a:rPr lang="en-US" altLang="zh-CN" sz="2400" b="1" dirty="0">
                <a:effectLst>
                  <a:outerShdw blurRad="38100" dist="38100" dir="2700000" algn="tl">
                    <a:srgbClr val="C0C0C0"/>
                  </a:outerShdw>
                </a:effectLst>
                <a:latin typeface="+mj-ea"/>
                <a:ea typeface="+mj-ea"/>
              </a:rPr>
              <a:t>a[k]</a:t>
            </a:r>
            <a:r>
              <a:rPr lang="zh-CN" altLang="en-US" sz="2400" b="1" dirty="0">
                <a:effectLst>
                  <a:outerShdw blurRad="38100" dist="38100" dir="2700000" algn="tl">
                    <a:srgbClr val="C0C0C0"/>
                  </a:outerShdw>
                </a:effectLst>
                <a:latin typeface="+mj-ea"/>
                <a:ea typeface="+mj-ea"/>
              </a:rPr>
              <a:t>逐一后移*</a:t>
            </a:r>
            <a:r>
              <a:rPr lang="en-US" altLang="zh-CN" sz="2400" b="1" dirty="0">
                <a:effectLst>
                  <a:outerShdw blurRad="38100" dist="38100" dir="2700000" algn="tl">
                    <a:srgbClr val="C0C0C0"/>
                  </a:outerShdw>
                </a:effectLst>
                <a:latin typeface="+mj-ea"/>
                <a:ea typeface="+mj-ea"/>
              </a:rPr>
              <a:t>/</a:t>
            </a:r>
          </a:p>
          <a:p>
            <a:pPr marL="0" indent="0" eaLnBrk="1" fontAlgn="auto" hangingPunct="1">
              <a:spcAft>
                <a:spcPts val="0"/>
              </a:spcAft>
              <a:buClr>
                <a:schemeClr val="accent3"/>
              </a:buClr>
              <a:buFont typeface="Wingdings" pitchFamily="2" charset="2"/>
              <a:buNone/>
              <a:defRPr/>
            </a:pPr>
            <a:r>
              <a:rPr lang="en-US" altLang="zh-CN" sz="2400" b="1" dirty="0">
                <a:effectLst>
                  <a:outerShdw blurRad="38100" dist="38100" dir="2700000" algn="tl">
                    <a:srgbClr val="C0C0C0"/>
                  </a:outerShdw>
                </a:effectLst>
                <a:latin typeface="+mj-ea"/>
                <a:ea typeface="+mj-ea"/>
              </a:rPr>
              <a:t>        a[i+1] = a[</a:t>
            </a:r>
            <a:r>
              <a:rPr lang="en-US" altLang="zh-CN" sz="2400" b="1" dirty="0" err="1">
                <a:effectLst>
                  <a:outerShdw blurRad="38100" dist="38100" dir="2700000" algn="tl">
                    <a:srgbClr val="C0C0C0"/>
                  </a:outerShdw>
                </a:effectLst>
                <a:latin typeface="+mj-ea"/>
                <a:ea typeface="+mj-ea"/>
              </a:rPr>
              <a:t>i</a:t>
            </a:r>
            <a:r>
              <a:rPr lang="en-US" altLang="zh-CN" sz="2400" b="1" dirty="0">
                <a:effectLst>
                  <a:outerShdw blurRad="38100" dist="38100" dir="2700000" algn="tl">
                    <a:srgbClr val="C0C0C0"/>
                  </a:outerShdw>
                </a:effectLst>
                <a:latin typeface="+mj-ea"/>
                <a:ea typeface="+mj-ea"/>
              </a:rPr>
              <a:t>];</a:t>
            </a:r>
          </a:p>
          <a:p>
            <a:pPr marL="0" indent="0" eaLnBrk="1" fontAlgn="auto" hangingPunct="1">
              <a:spcAft>
                <a:spcPts val="0"/>
              </a:spcAft>
              <a:buClr>
                <a:schemeClr val="accent3"/>
              </a:buClr>
              <a:buFont typeface="Wingdings" pitchFamily="2" charset="2"/>
              <a:buNone/>
              <a:defRPr/>
            </a:pPr>
            <a:r>
              <a:rPr lang="en-US" altLang="zh-CN" sz="2400" b="1" dirty="0">
                <a:effectLst>
                  <a:outerShdw blurRad="38100" dist="38100" dir="2700000" algn="tl">
                    <a:srgbClr val="C0C0C0"/>
                  </a:outerShdw>
                </a:effectLst>
                <a:latin typeface="+mj-ea"/>
                <a:ea typeface="+mj-ea"/>
              </a:rPr>
              <a:t>    a[k] = x;</a:t>
            </a:r>
          </a:p>
          <a:p>
            <a:pPr marL="0" indent="0" eaLnBrk="1" fontAlgn="auto" hangingPunct="1">
              <a:spcAft>
                <a:spcPts val="0"/>
              </a:spcAft>
              <a:buClr>
                <a:schemeClr val="accent3"/>
              </a:buClr>
              <a:buFont typeface="Wingdings" pitchFamily="2" charset="2"/>
              <a:buNone/>
              <a:defRPr/>
            </a:pPr>
            <a:r>
              <a:rPr lang="en-US" altLang="zh-CN" sz="2400" b="1" dirty="0">
                <a:effectLst>
                  <a:outerShdw blurRad="38100" dist="38100" dir="2700000" algn="tl">
                    <a:srgbClr val="C0C0C0"/>
                  </a:outerShdw>
                </a:effectLst>
                <a:latin typeface="+mj-ea"/>
                <a:ea typeface="+mj-ea"/>
              </a:rPr>
              <a:t>    n++; /*</a:t>
            </a:r>
            <a:r>
              <a:rPr lang="zh-CN" altLang="en-US" sz="2400" b="1" dirty="0">
                <a:effectLst>
                  <a:outerShdw blurRad="38100" dist="38100" dir="2700000" algn="tl">
                    <a:srgbClr val="C0C0C0"/>
                  </a:outerShdw>
                </a:effectLst>
                <a:latin typeface="+mj-ea"/>
                <a:ea typeface="+mj-ea"/>
              </a:rPr>
              <a:t>数组的元素增加了一个*</a:t>
            </a:r>
            <a:r>
              <a:rPr lang="en-US" altLang="zh-CN" sz="2400" b="1" dirty="0">
                <a:effectLst>
                  <a:outerShdw blurRad="38100" dist="38100" dir="2700000" algn="tl">
                    <a:srgbClr val="C0C0C0"/>
                  </a:outerShdw>
                </a:effectLst>
                <a:latin typeface="+mj-ea"/>
                <a:ea typeface="+mj-ea"/>
              </a:rPr>
              <a:t>/</a:t>
            </a:r>
          </a:p>
          <a:p>
            <a:pPr marL="0" indent="0" eaLnBrk="1" fontAlgn="auto" hangingPunct="1">
              <a:spcAft>
                <a:spcPts val="0"/>
              </a:spcAft>
              <a:buClr>
                <a:schemeClr val="accent3"/>
              </a:buClr>
              <a:buFont typeface="Wingdings" pitchFamily="2" charset="2"/>
              <a:buNone/>
              <a:defRPr/>
            </a:pPr>
            <a:r>
              <a:rPr lang="zh-CN" altLang="en-US" sz="2400" b="1" dirty="0">
                <a:effectLst>
                  <a:outerShdw blurRad="38100" dist="38100" dir="2700000" algn="tl">
                    <a:srgbClr val="C0C0C0"/>
                  </a:outerShdw>
                </a:effectLst>
              </a:rPr>
              <a:t>注意，后移不能从</a:t>
            </a:r>
            <a:r>
              <a:rPr lang="en-US" altLang="zh-CN" sz="2400" b="1" dirty="0">
                <a:effectLst>
                  <a:outerShdw blurRad="38100" dist="38100" dir="2700000" algn="tl">
                    <a:srgbClr val="C0C0C0"/>
                  </a:outerShdw>
                </a:effectLst>
              </a:rPr>
              <a:t>a[k]</a:t>
            </a:r>
            <a:r>
              <a:rPr lang="zh-CN" altLang="en-US" sz="2400" b="1" dirty="0">
                <a:effectLst>
                  <a:outerShdw blurRad="38100" dist="38100" dir="2700000" algn="tl">
                    <a:srgbClr val="C0C0C0"/>
                  </a:outerShdw>
                </a:effectLst>
              </a:rPr>
              <a:t>开始依次至</a:t>
            </a:r>
            <a:r>
              <a:rPr lang="en-US" altLang="zh-CN" sz="2400" b="1" dirty="0">
                <a:effectLst>
                  <a:outerShdw blurRad="38100" dist="38100" dir="2700000" algn="tl">
                    <a:srgbClr val="C0C0C0"/>
                  </a:outerShdw>
                </a:effectLst>
              </a:rPr>
              <a:t>a[n-1]</a:t>
            </a:r>
            <a:r>
              <a:rPr lang="zh-CN" altLang="en-US" sz="2400" b="1" dirty="0">
                <a:effectLst>
                  <a:outerShdw blurRad="38100" dist="38100" dir="2700000" algn="tl">
                    <a:srgbClr val="C0C0C0"/>
                  </a:outerShdw>
                </a:effectLst>
              </a:rPr>
              <a:t>逐一后移，这将使数组从</a:t>
            </a:r>
            <a:r>
              <a:rPr lang="en-US" altLang="zh-CN" sz="2400" b="1" dirty="0">
                <a:effectLst>
                  <a:outerShdw blurRad="38100" dist="38100" dir="2700000" algn="tl">
                    <a:srgbClr val="C0C0C0"/>
                  </a:outerShdw>
                </a:effectLst>
              </a:rPr>
              <a:t>a[k+1]</a:t>
            </a:r>
            <a:r>
              <a:rPr lang="zh-CN" altLang="en-US" sz="2400" b="1" dirty="0">
                <a:effectLst>
                  <a:outerShdw blurRad="38100" dist="38100" dir="2700000" algn="tl">
                    <a:srgbClr val="C0C0C0"/>
                  </a:outerShdw>
                </a:effectLst>
              </a:rPr>
              <a:t>至</a:t>
            </a:r>
            <a:r>
              <a:rPr lang="en-US" altLang="zh-CN" sz="2400" b="1" dirty="0">
                <a:effectLst>
                  <a:outerShdw blurRad="38100" dist="38100" dir="2700000" algn="tl">
                    <a:srgbClr val="C0C0C0"/>
                  </a:outerShdw>
                </a:effectLst>
              </a:rPr>
              <a:t>a[n]</a:t>
            </a:r>
            <a:r>
              <a:rPr lang="zh-CN" altLang="en-US" sz="2400" b="1" dirty="0">
                <a:effectLst>
                  <a:outerShdw blurRad="38100" dist="38100" dir="2700000" algn="tl">
                    <a:srgbClr val="C0C0C0"/>
                  </a:outerShdw>
                </a:effectLst>
              </a:rPr>
              <a:t>的值都被设置成</a:t>
            </a:r>
            <a:r>
              <a:rPr lang="en-US" altLang="zh-CN" sz="2400" b="1" dirty="0">
                <a:effectLst>
                  <a:outerShdw blurRad="38100" dist="38100" dir="2700000" algn="tl">
                    <a:srgbClr val="C0C0C0"/>
                  </a:outerShdw>
                </a:effectLst>
              </a:rPr>
              <a:t>a[k]</a:t>
            </a:r>
            <a:r>
              <a:rPr lang="zh-CN" altLang="en-US" sz="2400" b="1" dirty="0">
                <a:effectLst>
                  <a:outerShdw blurRad="38100" dist="38100" dir="2700000" algn="tl">
                    <a:srgbClr val="C0C0C0"/>
                  </a:outerShdw>
                </a:effectLst>
              </a:rPr>
              <a:t>。</a:t>
            </a:r>
          </a:p>
        </p:txBody>
      </p:sp>
      <p:sp>
        <p:nvSpPr>
          <p:cNvPr id="5" name="灯片编号占位符 5"/>
          <p:cNvSpPr>
            <a:spLocks noGrp="1"/>
          </p:cNvSpPr>
          <p:nvPr>
            <p:ph type="sldNum" sz="quarter" idx="12"/>
          </p:nvPr>
        </p:nvSpPr>
        <p:spPr/>
        <p:txBody>
          <a:bodyPr/>
          <a:lstStyle/>
          <a:p>
            <a:pPr>
              <a:defRPr/>
            </a:pPr>
            <a:fld id="{DF9282A1-DACF-41A9-95BD-ED4F3B5DEB5B}" type="slidenum">
              <a:rPr lang="en-US" altLang="zh-CN"/>
              <a:pPr>
                <a:defRPr/>
              </a:pPr>
              <a:t>14</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00738">
                                            <p:txEl>
                                              <p:pRg st="2" end="2"/>
                                            </p:txEl>
                                          </p:spTgt>
                                        </p:tgtEl>
                                        <p:attrNameLst>
                                          <p:attrName>style.visibility</p:attrName>
                                        </p:attrNameLst>
                                      </p:cBhvr>
                                      <p:to>
                                        <p:strVal val="visible"/>
                                      </p:to>
                                    </p:set>
                                    <p:anim calcmode="lin" valueType="num">
                                      <p:cBhvr additive="base">
                                        <p:cTn id="7" dur="500" fill="hold"/>
                                        <p:tgtEl>
                                          <p:spTgt spid="500738">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0073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00738">
                                            <p:txEl>
                                              <p:pRg st="3" end="3"/>
                                            </p:txEl>
                                          </p:spTgt>
                                        </p:tgtEl>
                                        <p:attrNameLst>
                                          <p:attrName>style.visibility</p:attrName>
                                        </p:attrNameLst>
                                      </p:cBhvr>
                                      <p:to>
                                        <p:strVal val="visible"/>
                                      </p:to>
                                    </p:set>
                                    <p:anim calcmode="lin" valueType="num">
                                      <p:cBhvr additive="base">
                                        <p:cTn id="13" dur="500" fill="hold"/>
                                        <p:tgtEl>
                                          <p:spTgt spid="500738">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00738">
                                            <p:txEl>
                                              <p:pRg st="3" end="3"/>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500738">
                                            <p:txEl>
                                              <p:pRg st="4" end="4"/>
                                            </p:txEl>
                                          </p:spTgt>
                                        </p:tgtEl>
                                        <p:attrNameLst>
                                          <p:attrName>style.visibility</p:attrName>
                                        </p:attrNameLst>
                                      </p:cBhvr>
                                      <p:to>
                                        <p:strVal val="visible"/>
                                      </p:to>
                                    </p:set>
                                    <p:anim calcmode="lin" valueType="num">
                                      <p:cBhvr additive="base">
                                        <p:cTn id="17" dur="500" fill="hold"/>
                                        <p:tgtEl>
                                          <p:spTgt spid="500738">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00738">
                                            <p:txEl>
                                              <p:pRg st="4" end="4"/>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500738">
                                            <p:txEl>
                                              <p:pRg st="5" end="5"/>
                                            </p:txEl>
                                          </p:spTgt>
                                        </p:tgtEl>
                                        <p:attrNameLst>
                                          <p:attrName>style.visibility</p:attrName>
                                        </p:attrNameLst>
                                      </p:cBhvr>
                                      <p:to>
                                        <p:strVal val="visible"/>
                                      </p:to>
                                    </p:set>
                                    <p:anim calcmode="lin" valueType="num">
                                      <p:cBhvr additive="base">
                                        <p:cTn id="21" dur="500" fill="hold"/>
                                        <p:tgtEl>
                                          <p:spTgt spid="500738">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00738">
                                            <p:txEl>
                                              <p:pRg st="5" end="5"/>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500738">
                                            <p:txEl>
                                              <p:pRg st="6" end="6"/>
                                            </p:txEl>
                                          </p:spTgt>
                                        </p:tgtEl>
                                        <p:attrNameLst>
                                          <p:attrName>style.visibility</p:attrName>
                                        </p:attrNameLst>
                                      </p:cBhvr>
                                      <p:to>
                                        <p:strVal val="visible"/>
                                      </p:to>
                                    </p:set>
                                    <p:anim calcmode="lin" valueType="num">
                                      <p:cBhvr additive="base">
                                        <p:cTn id="25" dur="500" fill="hold"/>
                                        <p:tgtEl>
                                          <p:spTgt spid="500738">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00738">
                                            <p:txEl>
                                              <p:pRg st="6" end="6"/>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500738">
                                            <p:txEl>
                                              <p:pRg st="7" end="7"/>
                                            </p:txEl>
                                          </p:spTgt>
                                        </p:tgtEl>
                                        <p:attrNameLst>
                                          <p:attrName>style.visibility</p:attrName>
                                        </p:attrNameLst>
                                      </p:cBhvr>
                                      <p:to>
                                        <p:strVal val="visible"/>
                                      </p:to>
                                    </p:set>
                                    <p:anim calcmode="lin" valueType="num">
                                      <p:cBhvr additive="base">
                                        <p:cTn id="29" dur="500" fill="hold"/>
                                        <p:tgtEl>
                                          <p:spTgt spid="500738">
                                            <p:txEl>
                                              <p:pRg st="7" end="7"/>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500738">
                                            <p:txEl>
                                              <p:pRg st="7" end="7"/>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500738">
                                            <p:txEl>
                                              <p:pRg st="8" end="8"/>
                                            </p:txEl>
                                          </p:spTgt>
                                        </p:tgtEl>
                                        <p:attrNameLst>
                                          <p:attrName>style.visibility</p:attrName>
                                        </p:attrNameLst>
                                      </p:cBhvr>
                                      <p:to>
                                        <p:strVal val="visible"/>
                                      </p:to>
                                    </p:set>
                                    <p:anim calcmode="lin" valueType="num">
                                      <p:cBhvr additive="base">
                                        <p:cTn id="33" dur="500" fill="hold"/>
                                        <p:tgtEl>
                                          <p:spTgt spid="500738">
                                            <p:txEl>
                                              <p:pRg st="8" end="8"/>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500738">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62" name="Rectangle 2"/>
          <p:cNvSpPr>
            <a:spLocks noGrp="1" noChangeArrowheads="1"/>
          </p:cNvSpPr>
          <p:nvPr>
            <p:ph idx="1"/>
          </p:nvPr>
        </p:nvSpPr>
        <p:spPr>
          <a:xfrm>
            <a:off x="395288" y="476250"/>
            <a:ext cx="8534400" cy="5907088"/>
          </a:xfrm>
        </p:spPr>
        <p:txBody>
          <a:bodyPr>
            <a:normAutofit/>
          </a:bodyPr>
          <a:lstStyle/>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a:t>
            </a:r>
            <a:r>
              <a:rPr lang="zh-CN" altLang="en-US" b="1" dirty="0">
                <a:effectLst>
                  <a:outerShdw blurRad="38100" dist="38100" dir="2700000" algn="tl">
                    <a:srgbClr val="C0C0C0"/>
                  </a:outerShdw>
                </a:effectLst>
              </a:rPr>
              <a:t>例</a:t>
            </a:r>
            <a:r>
              <a:rPr lang="en-US" altLang="zh-CN" b="1" dirty="0">
                <a:effectLst>
                  <a:outerShdw blurRad="38100" dist="38100" dir="2700000" algn="tl">
                    <a:srgbClr val="C0C0C0"/>
                  </a:outerShdw>
                </a:effectLst>
              </a:rPr>
              <a:t>4.4】</a:t>
            </a:r>
            <a:r>
              <a:rPr lang="zh-CN" altLang="en-US" b="1" dirty="0">
                <a:effectLst>
                  <a:outerShdw blurRad="38100" dist="38100" dir="2700000" algn="tl">
                    <a:srgbClr val="C0C0C0"/>
                  </a:outerShdw>
                </a:effectLst>
              </a:rPr>
              <a:t>将数组某个下标位置的元素删去。</a:t>
            </a:r>
          </a:p>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a:t>
            </a:r>
            <a:r>
              <a:rPr lang="zh-CN" altLang="en-US" b="1" dirty="0">
                <a:effectLst>
                  <a:outerShdw blurRad="38100" dist="38100" dir="2700000" algn="tl">
                    <a:srgbClr val="C0C0C0"/>
                  </a:outerShdw>
                </a:effectLst>
              </a:rPr>
              <a:t>解题思路</a:t>
            </a:r>
            <a:r>
              <a:rPr lang="en-US" altLang="zh-CN" b="1" dirty="0">
                <a:effectLst>
                  <a:outerShdw blurRad="38100" dist="38100" dir="2700000" algn="tl">
                    <a:srgbClr val="C0C0C0"/>
                  </a:outerShdw>
                </a:effectLst>
              </a:rPr>
              <a:t>】</a:t>
            </a:r>
          </a:p>
          <a:p>
            <a:pPr marL="0" indent="0"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rPr>
              <a:t>设数组</a:t>
            </a:r>
            <a:r>
              <a:rPr lang="en-US" altLang="zh-CN" b="1" dirty="0">
                <a:effectLst>
                  <a:outerShdw blurRad="38100" dist="38100" dir="2700000" algn="tl">
                    <a:srgbClr val="C0C0C0"/>
                  </a:outerShdw>
                </a:effectLst>
              </a:rPr>
              <a:t>a[ ]</a:t>
            </a:r>
            <a:r>
              <a:rPr lang="zh-CN" altLang="en-US" b="1" dirty="0">
                <a:effectLst>
                  <a:outerShdw blurRad="38100" dist="38100" dir="2700000" algn="tl">
                    <a:srgbClr val="C0C0C0"/>
                  </a:outerShdw>
                </a:effectLst>
              </a:rPr>
              <a:t>已有</a:t>
            </a:r>
            <a:r>
              <a:rPr lang="en-US" altLang="zh-CN" b="1" dirty="0">
                <a:effectLst>
                  <a:outerShdw blurRad="38100" dist="38100" dir="2700000" algn="tl">
                    <a:srgbClr val="C0C0C0"/>
                  </a:outerShdw>
                </a:effectLst>
              </a:rPr>
              <a:t>n</a:t>
            </a:r>
            <a:r>
              <a:rPr lang="zh-CN" altLang="en-US" b="1" dirty="0">
                <a:effectLst>
                  <a:outerShdw blurRad="38100" dist="38100" dir="2700000" algn="tl">
                    <a:srgbClr val="C0C0C0"/>
                  </a:outerShdw>
                </a:effectLst>
              </a:rPr>
              <a:t>个元素，要求在</a:t>
            </a:r>
            <a:r>
              <a:rPr lang="en-US" altLang="zh-CN" b="1" dirty="0">
                <a:effectLst>
                  <a:outerShdw blurRad="38100" dist="38100" dir="2700000" algn="tl">
                    <a:srgbClr val="C0C0C0"/>
                  </a:outerShdw>
                </a:effectLst>
              </a:rPr>
              <a:t>k</a:t>
            </a:r>
            <a:r>
              <a:rPr lang="zh-CN" altLang="en-US" b="1" dirty="0">
                <a:effectLst>
                  <a:outerShdw blurRad="38100" dist="38100" dir="2700000" algn="tl">
                    <a:srgbClr val="C0C0C0"/>
                  </a:outerShdw>
                </a:effectLst>
              </a:rPr>
              <a:t>下标位置的元素从数组中删去。</a:t>
            </a:r>
          </a:p>
          <a:p>
            <a:pPr marL="0" indent="0"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rPr>
              <a:t>为了在</a:t>
            </a:r>
            <a:r>
              <a:rPr lang="en-US" altLang="zh-CN" b="1" dirty="0">
                <a:effectLst>
                  <a:outerShdw blurRad="38100" dist="38100" dir="2700000" algn="tl">
                    <a:srgbClr val="C0C0C0"/>
                  </a:outerShdw>
                </a:effectLst>
              </a:rPr>
              <a:t>k</a:t>
            </a:r>
            <a:r>
              <a:rPr lang="zh-CN" altLang="en-US" b="1" dirty="0">
                <a:effectLst>
                  <a:outerShdw blurRad="38100" dist="38100" dir="2700000" algn="tl">
                    <a:srgbClr val="C0C0C0"/>
                  </a:outerShdw>
                </a:effectLst>
              </a:rPr>
              <a:t>下标位置删除元素，须将元素</a:t>
            </a:r>
            <a:r>
              <a:rPr lang="en-US" altLang="zh-CN" b="1" dirty="0">
                <a:effectLst>
                  <a:outerShdw blurRad="38100" dist="38100" dir="2700000" algn="tl">
                    <a:srgbClr val="C0C0C0"/>
                  </a:outerShdw>
                </a:effectLst>
              </a:rPr>
              <a:t>a[k+1]</a:t>
            </a:r>
            <a:r>
              <a:rPr lang="zh-CN" altLang="en-US" b="1" dirty="0">
                <a:effectLst>
                  <a:outerShdw blurRad="38100" dist="38100" dir="2700000" algn="tl">
                    <a:srgbClr val="C0C0C0"/>
                  </a:outerShdw>
                </a:effectLst>
              </a:rPr>
              <a:t>至</a:t>
            </a:r>
            <a:r>
              <a:rPr lang="en-US" altLang="zh-CN" b="1" dirty="0">
                <a:effectLst>
                  <a:outerShdw blurRad="38100" dist="38100" dir="2700000" algn="tl">
                    <a:srgbClr val="C0C0C0"/>
                  </a:outerShdw>
                </a:effectLst>
              </a:rPr>
              <a:t>a[n-1]</a:t>
            </a:r>
            <a:r>
              <a:rPr lang="zh-CN" altLang="en-US" b="1" dirty="0">
                <a:effectLst>
                  <a:outerShdw blurRad="38100" dist="38100" dir="2700000" algn="tl">
                    <a:srgbClr val="C0C0C0"/>
                  </a:outerShdw>
                </a:effectLst>
              </a:rPr>
              <a:t>分别顺序前移一个位置。最后，减少数组的元素个数。</a:t>
            </a:r>
            <a:endParaRPr lang="en-US" altLang="zh-CN" b="1" dirty="0">
              <a:effectLst>
                <a:outerShdw blurRad="38100" dist="38100" dir="2700000" algn="tl">
                  <a:srgbClr val="C0C0C0"/>
                </a:outerShdw>
              </a:effectLst>
            </a:endParaRPr>
          </a:p>
          <a:p>
            <a:pPr marL="0" indent="0"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rPr>
              <a:t>细节见下面的程序代码： </a:t>
            </a:r>
          </a:p>
          <a:p>
            <a:pPr marL="0" indent="0"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rPr>
              <a:t>    </a:t>
            </a:r>
            <a:r>
              <a:rPr lang="en-US" altLang="zh-CN" b="1" dirty="0">
                <a:effectLst>
                  <a:outerShdw blurRad="38100" dist="38100" dir="2700000" algn="tl">
                    <a:srgbClr val="C0C0C0"/>
                  </a:outerShdw>
                </a:effectLst>
              </a:rPr>
              <a:t>for(</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 = k+1; </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 &lt; n; </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 /* a[k]</a:t>
            </a:r>
            <a:r>
              <a:rPr lang="zh-CN" altLang="en-US" b="1" dirty="0">
                <a:effectLst>
                  <a:outerShdw blurRad="38100" dist="38100" dir="2700000" algn="tl">
                    <a:srgbClr val="C0C0C0"/>
                  </a:outerShdw>
                </a:effectLst>
              </a:rPr>
              <a:t>开始至</a:t>
            </a:r>
            <a:r>
              <a:rPr lang="en-US" altLang="zh-CN" b="1" dirty="0">
                <a:effectLst>
                  <a:outerShdw blurRad="38100" dist="38100" dir="2700000" algn="tl">
                    <a:srgbClr val="C0C0C0"/>
                  </a:outerShdw>
                </a:effectLst>
              </a:rPr>
              <a:t>a[n-1]</a:t>
            </a:r>
            <a:r>
              <a:rPr lang="zh-CN" altLang="en-US" b="1" dirty="0">
                <a:effectLst>
                  <a:outerShdw blurRad="38100" dist="38100" dir="2700000" algn="tl">
                    <a:srgbClr val="C0C0C0"/>
                  </a:outerShdw>
                </a:effectLst>
              </a:rPr>
              <a:t>前移*</a:t>
            </a:r>
            <a:r>
              <a:rPr lang="en-US" altLang="zh-CN" b="1" dirty="0">
                <a:effectLst>
                  <a:outerShdw blurRad="38100" dist="38100" dir="2700000" algn="tl">
                    <a:srgbClr val="C0C0C0"/>
                  </a:outerShdw>
                </a:effectLst>
              </a:rPr>
              <a:t>/</a:t>
            </a:r>
          </a:p>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a[i-1] = a[</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a:t>
            </a:r>
          </a:p>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n--; /*</a:t>
            </a:r>
            <a:r>
              <a:rPr lang="zh-CN" altLang="en-US" b="1" dirty="0">
                <a:effectLst>
                  <a:outerShdw blurRad="38100" dist="38100" dir="2700000" algn="tl">
                    <a:srgbClr val="C0C0C0"/>
                  </a:outerShdw>
                </a:effectLst>
              </a:rPr>
              <a:t>数组的元素减小了一个*</a:t>
            </a:r>
            <a:r>
              <a:rPr lang="en-US" altLang="zh-CN" b="1" dirty="0">
                <a:effectLst>
                  <a:outerShdw blurRad="38100" dist="38100" dir="2700000" algn="tl">
                    <a:srgbClr val="C0C0C0"/>
                  </a:outerShdw>
                </a:effectLst>
              </a:rPr>
              <a:t>/</a:t>
            </a:r>
          </a:p>
        </p:txBody>
      </p:sp>
      <p:sp>
        <p:nvSpPr>
          <p:cNvPr id="5" name="灯片编号占位符 5"/>
          <p:cNvSpPr>
            <a:spLocks noGrp="1"/>
          </p:cNvSpPr>
          <p:nvPr>
            <p:ph type="sldNum" sz="quarter" idx="12"/>
          </p:nvPr>
        </p:nvSpPr>
        <p:spPr/>
        <p:txBody>
          <a:bodyPr/>
          <a:lstStyle/>
          <a:p>
            <a:pPr>
              <a:defRPr/>
            </a:pPr>
            <a:fld id="{87555986-9184-40D0-9CB4-5C420E7A72B2}" type="slidenum">
              <a:rPr lang="en-US" altLang="zh-CN"/>
              <a:pPr>
                <a:defRPr/>
              </a:pPr>
              <a:t>15</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01762">
                                            <p:txEl>
                                              <p:pRg st="1" end="1"/>
                                            </p:txEl>
                                          </p:spTgt>
                                        </p:tgtEl>
                                        <p:attrNameLst>
                                          <p:attrName>style.visibility</p:attrName>
                                        </p:attrNameLst>
                                      </p:cBhvr>
                                      <p:to>
                                        <p:strVal val="visible"/>
                                      </p:to>
                                    </p:set>
                                    <p:anim calcmode="lin" valueType="num">
                                      <p:cBhvr additive="base">
                                        <p:cTn id="7" dur="500" fill="hold"/>
                                        <p:tgtEl>
                                          <p:spTgt spid="50176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01762">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01762">
                                            <p:txEl>
                                              <p:pRg st="2" end="2"/>
                                            </p:txEl>
                                          </p:spTgt>
                                        </p:tgtEl>
                                        <p:attrNameLst>
                                          <p:attrName>style.visibility</p:attrName>
                                        </p:attrNameLst>
                                      </p:cBhvr>
                                      <p:to>
                                        <p:strVal val="visible"/>
                                      </p:to>
                                    </p:set>
                                    <p:anim calcmode="lin" valueType="num">
                                      <p:cBhvr additive="base">
                                        <p:cTn id="11" dur="500" fill="hold"/>
                                        <p:tgtEl>
                                          <p:spTgt spid="501762">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01762">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01762">
                                            <p:txEl>
                                              <p:pRg st="3" end="3"/>
                                            </p:txEl>
                                          </p:spTgt>
                                        </p:tgtEl>
                                        <p:attrNameLst>
                                          <p:attrName>style.visibility</p:attrName>
                                        </p:attrNameLst>
                                      </p:cBhvr>
                                      <p:to>
                                        <p:strVal val="visible"/>
                                      </p:to>
                                    </p:set>
                                    <p:anim calcmode="lin" valueType="num">
                                      <p:cBhvr additive="base">
                                        <p:cTn id="15" dur="500" fill="hold"/>
                                        <p:tgtEl>
                                          <p:spTgt spid="501762">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0176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501762">
                                            <p:txEl>
                                              <p:pRg st="4" end="4"/>
                                            </p:txEl>
                                          </p:spTgt>
                                        </p:tgtEl>
                                        <p:attrNameLst>
                                          <p:attrName>style.visibility</p:attrName>
                                        </p:attrNameLst>
                                      </p:cBhvr>
                                      <p:to>
                                        <p:strVal val="visible"/>
                                      </p:to>
                                    </p:set>
                                    <p:anim calcmode="lin" valueType="num">
                                      <p:cBhvr additive="base">
                                        <p:cTn id="21" dur="500" fill="hold"/>
                                        <p:tgtEl>
                                          <p:spTgt spid="501762">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01762">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501762">
                                            <p:txEl>
                                              <p:pRg st="5" end="5"/>
                                            </p:txEl>
                                          </p:spTgt>
                                        </p:tgtEl>
                                        <p:attrNameLst>
                                          <p:attrName>style.visibility</p:attrName>
                                        </p:attrNameLst>
                                      </p:cBhvr>
                                      <p:to>
                                        <p:strVal val="visible"/>
                                      </p:to>
                                    </p:set>
                                    <p:anim calcmode="lin" valueType="num">
                                      <p:cBhvr additive="base">
                                        <p:cTn id="25" dur="500" fill="hold"/>
                                        <p:tgtEl>
                                          <p:spTgt spid="501762">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01762">
                                            <p:txEl>
                                              <p:pRg st="5" end="5"/>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501762">
                                            <p:txEl>
                                              <p:pRg st="6" end="6"/>
                                            </p:txEl>
                                          </p:spTgt>
                                        </p:tgtEl>
                                        <p:attrNameLst>
                                          <p:attrName>style.visibility</p:attrName>
                                        </p:attrNameLst>
                                      </p:cBhvr>
                                      <p:to>
                                        <p:strVal val="visible"/>
                                      </p:to>
                                    </p:set>
                                    <p:anim calcmode="lin" valueType="num">
                                      <p:cBhvr additive="base">
                                        <p:cTn id="29" dur="500" fill="hold"/>
                                        <p:tgtEl>
                                          <p:spTgt spid="501762">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501762">
                                            <p:txEl>
                                              <p:pRg st="6" end="6"/>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501762">
                                            <p:txEl>
                                              <p:pRg st="7" end="7"/>
                                            </p:txEl>
                                          </p:spTgt>
                                        </p:tgtEl>
                                        <p:attrNameLst>
                                          <p:attrName>style.visibility</p:attrName>
                                        </p:attrNameLst>
                                      </p:cBhvr>
                                      <p:to>
                                        <p:strVal val="visible"/>
                                      </p:to>
                                    </p:set>
                                    <p:anim calcmode="lin" valueType="num">
                                      <p:cBhvr additive="base">
                                        <p:cTn id="33" dur="500" fill="hold"/>
                                        <p:tgtEl>
                                          <p:spTgt spid="501762">
                                            <p:txEl>
                                              <p:pRg st="7" end="7"/>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501762">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786" name="Rectangle 2"/>
          <p:cNvSpPr>
            <a:spLocks noGrp="1" noChangeArrowheads="1"/>
          </p:cNvSpPr>
          <p:nvPr>
            <p:ph idx="1"/>
          </p:nvPr>
        </p:nvSpPr>
        <p:spPr>
          <a:xfrm>
            <a:off x="395288" y="476250"/>
            <a:ext cx="8534400" cy="5907088"/>
          </a:xfrm>
        </p:spPr>
        <p:txBody>
          <a:bodyPr>
            <a:normAutofit/>
          </a:bodyPr>
          <a:lstStyle/>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a:t>
            </a:r>
            <a:r>
              <a:rPr lang="zh-CN" altLang="en-US" b="1" dirty="0">
                <a:effectLst>
                  <a:outerShdw blurRad="38100" dist="38100" dir="2700000" algn="tl">
                    <a:srgbClr val="C0C0C0"/>
                  </a:outerShdw>
                </a:effectLst>
              </a:rPr>
              <a:t>例</a:t>
            </a:r>
            <a:r>
              <a:rPr lang="en-US" altLang="zh-CN" b="1" dirty="0">
                <a:effectLst>
                  <a:outerShdw blurRad="38100" dist="38100" dir="2700000" algn="tl">
                    <a:srgbClr val="C0C0C0"/>
                  </a:outerShdw>
                </a:effectLst>
              </a:rPr>
              <a:t>4.5】</a:t>
            </a:r>
            <a:r>
              <a:rPr lang="zh-CN" altLang="en-US" b="1" dirty="0">
                <a:effectLst>
                  <a:outerShdw blurRad="38100" dist="38100" dir="2700000" algn="tl">
                    <a:srgbClr val="C0C0C0"/>
                  </a:outerShdw>
                </a:effectLst>
              </a:rPr>
              <a:t>在数组</a:t>
            </a:r>
            <a:r>
              <a:rPr lang="en-US" altLang="zh-CN" b="1" dirty="0">
                <a:effectLst>
                  <a:outerShdw blurRad="38100" dist="38100" dir="2700000" algn="tl">
                    <a:srgbClr val="C0C0C0"/>
                  </a:outerShdw>
                </a:effectLst>
              </a:rPr>
              <a:t>a[]</a:t>
            </a:r>
            <a:r>
              <a:rPr lang="zh-CN" altLang="en-US" b="1" dirty="0">
                <a:effectLst>
                  <a:outerShdw blurRad="38100" dist="38100" dir="2700000" algn="tl">
                    <a:srgbClr val="C0C0C0"/>
                  </a:outerShdw>
                </a:effectLst>
              </a:rPr>
              <a:t>的前</a:t>
            </a:r>
            <a:r>
              <a:rPr lang="en-US" altLang="zh-CN" b="1" dirty="0">
                <a:effectLst>
                  <a:outerShdw blurRad="38100" dist="38100" dir="2700000" algn="tl">
                    <a:srgbClr val="C0C0C0"/>
                  </a:outerShdw>
                </a:effectLst>
              </a:rPr>
              <a:t>n</a:t>
            </a:r>
            <a:r>
              <a:rPr lang="zh-CN" altLang="en-US" b="1" dirty="0">
                <a:effectLst>
                  <a:outerShdw blurRad="38100" dist="38100" dir="2700000" algn="tl">
                    <a:srgbClr val="C0C0C0"/>
                  </a:outerShdw>
                </a:effectLst>
              </a:rPr>
              <a:t>个元素中寻找值等于变量</a:t>
            </a:r>
            <a:r>
              <a:rPr lang="en-US" altLang="zh-CN" b="1" dirty="0">
                <a:effectLst>
                  <a:outerShdw blurRad="38100" dist="38100" dir="2700000" algn="tl">
                    <a:srgbClr val="C0C0C0"/>
                  </a:outerShdw>
                </a:effectLst>
              </a:rPr>
              <a:t>key</a:t>
            </a:r>
            <a:r>
              <a:rPr lang="zh-CN" altLang="en-US" b="1" dirty="0">
                <a:effectLst>
                  <a:outerShdw blurRad="38100" dist="38100" dir="2700000" algn="tl">
                    <a:srgbClr val="C0C0C0"/>
                  </a:outerShdw>
                </a:effectLst>
              </a:rPr>
              <a:t>值的元素的下标。</a:t>
            </a:r>
          </a:p>
          <a:p>
            <a:pPr marL="0" indent="0" eaLnBrk="1" fontAlgn="auto" hangingPunct="1">
              <a:spcAft>
                <a:spcPts val="0"/>
              </a:spcAft>
              <a:buClr>
                <a:schemeClr val="accent3"/>
              </a:buClr>
              <a:buFont typeface="Wingdings" pitchFamily="2" charset="2"/>
              <a:buNone/>
              <a:defRPr/>
            </a:pPr>
            <a:endParaRPr lang="zh-CN" altLang="en-US" b="1" dirty="0">
              <a:effectLst>
                <a:outerShdw blurRad="38100" dist="38100" dir="2700000" algn="tl">
                  <a:srgbClr val="C0C0C0"/>
                </a:outerShdw>
              </a:effectLst>
            </a:endParaRPr>
          </a:p>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a:t>
            </a:r>
            <a:r>
              <a:rPr lang="zh-CN" altLang="en-US" b="1" dirty="0">
                <a:effectLst>
                  <a:outerShdw blurRad="38100" dist="38100" dir="2700000" algn="tl">
                    <a:srgbClr val="C0C0C0"/>
                  </a:outerShdw>
                </a:effectLst>
              </a:rPr>
              <a:t>解题思路</a:t>
            </a:r>
            <a:r>
              <a:rPr lang="en-US" altLang="zh-CN" b="1" dirty="0">
                <a:effectLst>
                  <a:outerShdw blurRad="38100" dist="38100" dir="2700000" algn="tl">
                    <a:srgbClr val="C0C0C0"/>
                  </a:outerShdw>
                </a:effectLst>
              </a:rPr>
              <a:t>】</a:t>
            </a:r>
          </a:p>
          <a:p>
            <a:pPr marL="0" indent="0"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rPr>
              <a:t>在数组</a:t>
            </a:r>
            <a:r>
              <a:rPr lang="en-US" altLang="zh-CN" b="1" dirty="0">
                <a:effectLst>
                  <a:outerShdw blurRad="38100" dist="38100" dir="2700000" algn="tl">
                    <a:srgbClr val="C0C0C0"/>
                  </a:outerShdw>
                </a:effectLst>
              </a:rPr>
              <a:t>a[ ]</a:t>
            </a:r>
            <a:r>
              <a:rPr lang="zh-CN" altLang="en-US" b="1" dirty="0">
                <a:effectLst>
                  <a:outerShdw blurRad="38100" dist="38100" dir="2700000" algn="tl">
                    <a:srgbClr val="C0C0C0"/>
                  </a:outerShdw>
                </a:effectLst>
              </a:rPr>
              <a:t>的前</a:t>
            </a:r>
            <a:r>
              <a:rPr lang="en-US" altLang="zh-CN" b="1" dirty="0">
                <a:effectLst>
                  <a:outerShdw blurRad="38100" dist="38100" dir="2700000" algn="tl">
                    <a:srgbClr val="C0C0C0"/>
                  </a:outerShdw>
                </a:effectLst>
              </a:rPr>
              <a:t>n</a:t>
            </a:r>
            <a:r>
              <a:rPr lang="zh-CN" altLang="en-US" b="1" dirty="0">
                <a:effectLst>
                  <a:outerShdw blurRad="38100" dist="38100" dir="2700000" algn="tl">
                    <a:srgbClr val="C0C0C0"/>
                  </a:outerShdw>
                </a:effectLst>
              </a:rPr>
              <a:t>个元素中寻找值为</a:t>
            </a:r>
            <a:r>
              <a:rPr lang="en-US" altLang="zh-CN" b="1" dirty="0">
                <a:effectLst>
                  <a:outerShdw blurRad="38100" dist="38100" dir="2700000" algn="tl">
                    <a:srgbClr val="C0C0C0"/>
                  </a:outerShdw>
                </a:effectLst>
              </a:rPr>
              <a:t>key</a:t>
            </a:r>
            <a:r>
              <a:rPr lang="zh-CN" altLang="en-US" b="1" dirty="0">
                <a:effectLst>
                  <a:outerShdw blurRad="38100" dist="38100" dir="2700000" algn="tl">
                    <a:srgbClr val="C0C0C0"/>
                  </a:outerShdw>
                </a:effectLst>
              </a:rPr>
              <a:t>的元素，可以有多种不同的解法。</a:t>
            </a:r>
          </a:p>
        </p:txBody>
      </p:sp>
      <p:sp>
        <p:nvSpPr>
          <p:cNvPr id="5" name="灯片编号占位符 5"/>
          <p:cNvSpPr>
            <a:spLocks noGrp="1"/>
          </p:cNvSpPr>
          <p:nvPr>
            <p:ph type="sldNum" sz="quarter" idx="12"/>
          </p:nvPr>
        </p:nvSpPr>
        <p:spPr/>
        <p:txBody>
          <a:bodyPr/>
          <a:lstStyle/>
          <a:p>
            <a:pPr>
              <a:defRPr/>
            </a:pPr>
            <a:fld id="{1B58074A-A260-4C47-B941-B9647D1C8213}" type="slidenum">
              <a:rPr lang="en-US" altLang="zh-CN"/>
              <a:pPr>
                <a:defRPr/>
              </a:pPr>
              <a:t>16</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02786">
                                            <p:txEl>
                                              <p:pRg st="2" end="2"/>
                                            </p:txEl>
                                          </p:spTgt>
                                        </p:tgtEl>
                                        <p:attrNameLst>
                                          <p:attrName>style.visibility</p:attrName>
                                        </p:attrNameLst>
                                      </p:cBhvr>
                                      <p:to>
                                        <p:strVal val="visible"/>
                                      </p:to>
                                    </p:set>
                                    <p:anim calcmode="lin" valueType="num">
                                      <p:cBhvr additive="base">
                                        <p:cTn id="7" dur="500" fill="hold"/>
                                        <p:tgtEl>
                                          <p:spTgt spid="502786">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02786">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02786">
                                            <p:txEl>
                                              <p:pRg st="3" end="3"/>
                                            </p:txEl>
                                          </p:spTgt>
                                        </p:tgtEl>
                                        <p:attrNameLst>
                                          <p:attrName>style.visibility</p:attrName>
                                        </p:attrNameLst>
                                      </p:cBhvr>
                                      <p:to>
                                        <p:strVal val="visible"/>
                                      </p:to>
                                    </p:set>
                                    <p:anim calcmode="lin" valueType="num">
                                      <p:cBhvr additive="base">
                                        <p:cTn id="11" dur="500" fill="hold"/>
                                        <p:tgtEl>
                                          <p:spTgt spid="502786">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02786">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0" name="Rectangle 2"/>
          <p:cNvSpPr>
            <a:spLocks noGrp="1" noChangeArrowheads="1"/>
          </p:cNvSpPr>
          <p:nvPr>
            <p:ph idx="1"/>
          </p:nvPr>
        </p:nvSpPr>
        <p:spPr>
          <a:xfrm>
            <a:off x="395288" y="476250"/>
            <a:ext cx="8534400" cy="5907088"/>
          </a:xfrm>
        </p:spPr>
        <p:txBody>
          <a:bodyPr>
            <a:normAutofit/>
          </a:bodyPr>
          <a:lstStyle/>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(1) </a:t>
            </a:r>
            <a:r>
              <a:rPr lang="zh-CN" altLang="en-US" b="1" dirty="0">
                <a:effectLst>
                  <a:outerShdw blurRad="38100" dist="38100" dir="2700000" algn="tl">
                    <a:srgbClr val="C0C0C0"/>
                  </a:outerShdw>
                </a:effectLst>
                <a:latin typeface="宋体" pitchFamily="2" charset="-122"/>
              </a:rPr>
              <a:t>顺序查找</a:t>
            </a:r>
          </a:p>
          <a:p>
            <a:pPr marL="0" indent="0"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rPr>
              <a:t>从数组的第一个元素开始，顺序查找至数组的末尾。如果存在值为</a:t>
            </a:r>
            <a:r>
              <a:rPr lang="en-US" altLang="zh-CN" b="1" dirty="0">
                <a:effectLst>
                  <a:outerShdw blurRad="38100" dist="38100" dir="2700000" algn="tl">
                    <a:srgbClr val="C0C0C0"/>
                  </a:outerShdw>
                </a:effectLst>
              </a:rPr>
              <a:t>key</a:t>
            </a:r>
            <a:r>
              <a:rPr lang="zh-CN" altLang="en-US" b="1" dirty="0">
                <a:effectLst>
                  <a:outerShdw blurRad="38100" dist="38100" dir="2700000" algn="tl">
                    <a:srgbClr val="C0C0C0"/>
                  </a:outerShdw>
                </a:effectLst>
              </a:rPr>
              <a:t>的元素，程序在找到该元素后结束；如果不存在值为</a:t>
            </a:r>
            <a:r>
              <a:rPr lang="en-US" altLang="zh-CN" b="1" dirty="0">
                <a:effectLst>
                  <a:outerShdw blurRad="38100" dist="38100" dir="2700000" algn="tl">
                    <a:srgbClr val="C0C0C0"/>
                  </a:outerShdw>
                </a:effectLst>
              </a:rPr>
              <a:t>key</a:t>
            </a:r>
            <a:r>
              <a:rPr lang="zh-CN" altLang="en-US" b="1" dirty="0">
                <a:effectLst>
                  <a:outerShdw blurRad="38100" dist="38100" dir="2700000" algn="tl">
                    <a:srgbClr val="C0C0C0"/>
                  </a:outerShdw>
                </a:effectLst>
              </a:rPr>
              <a:t>的元素，程序在找遍整个数组后结束。</a:t>
            </a:r>
            <a:endParaRPr lang="en-US" altLang="zh-CN" b="1" dirty="0">
              <a:effectLst>
                <a:outerShdw blurRad="38100" dist="38100" dir="2700000" algn="tl">
                  <a:srgbClr val="C0C0C0"/>
                </a:outerShdw>
              </a:effectLst>
            </a:endParaRPr>
          </a:p>
          <a:p>
            <a:pPr marL="0" indent="0"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rPr>
              <a:t>按此想法得到代码如下：</a:t>
            </a:r>
          </a:p>
          <a:p>
            <a:pPr marL="0" indent="0"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rPr>
              <a:t>      </a:t>
            </a:r>
            <a:r>
              <a:rPr lang="en-US" altLang="zh-CN" b="1" dirty="0">
                <a:effectLst>
                  <a:outerShdw blurRad="38100" dist="38100" dir="2700000" algn="tl">
                    <a:srgbClr val="C0C0C0"/>
                  </a:outerShdw>
                </a:effectLst>
              </a:rPr>
              <a:t>for(</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 = 0; </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 &lt; n; </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  /* </a:t>
            </a:r>
            <a:r>
              <a:rPr lang="zh-CN" altLang="en-US" b="1" dirty="0">
                <a:effectLst>
                  <a:outerShdw blurRad="38100" dist="38100" dir="2700000" algn="tl">
                    <a:srgbClr val="C0C0C0"/>
                  </a:outerShdw>
                </a:effectLst>
              </a:rPr>
              <a:t>从第一个元素开始，顺序考察至数组的未元素 *</a:t>
            </a:r>
            <a:r>
              <a:rPr lang="en-US" altLang="zh-CN" b="1" dirty="0">
                <a:effectLst>
                  <a:outerShdw blurRad="38100" dist="38100" dir="2700000" algn="tl">
                    <a:srgbClr val="C0C0C0"/>
                  </a:outerShdw>
                </a:effectLst>
              </a:rPr>
              <a:t>/</a:t>
            </a:r>
          </a:p>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if(key == a[</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a:t>
            </a:r>
          </a:p>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break;  /* </a:t>
            </a:r>
            <a:r>
              <a:rPr lang="zh-CN" altLang="en-US" b="1" dirty="0">
                <a:effectLst>
                  <a:outerShdw blurRad="38100" dist="38100" dir="2700000" algn="tl">
                    <a:srgbClr val="C0C0C0"/>
                  </a:outerShdw>
                </a:effectLst>
              </a:rPr>
              <a:t>找到终止循环*</a:t>
            </a:r>
            <a:r>
              <a:rPr lang="en-US" altLang="zh-CN" b="1" dirty="0">
                <a:effectLst>
                  <a:outerShdw blurRad="38100" dist="38100" dir="2700000" algn="tl">
                    <a:srgbClr val="C0C0C0"/>
                  </a:outerShdw>
                </a:effectLst>
              </a:rPr>
              <a:t>/</a:t>
            </a:r>
          </a:p>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 </a:t>
            </a:r>
            <a:r>
              <a:rPr lang="zh-CN" altLang="en-US" b="1" dirty="0">
                <a:effectLst>
                  <a:outerShdw blurRad="38100" dist="38100" dir="2700000" algn="tl">
                    <a:srgbClr val="C0C0C0"/>
                  </a:outerShdw>
                </a:effectLst>
              </a:rPr>
              <a:t>循环结束时，如果找到，有</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&lt;n</a:t>
            </a:r>
            <a:r>
              <a:rPr lang="zh-CN" altLang="en-US" b="1" dirty="0">
                <a:effectLst>
                  <a:outerShdw blurRad="38100" dist="38100" dir="2700000" algn="tl">
                    <a:srgbClr val="C0C0C0"/>
                  </a:outerShdw>
                </a:effectLst>
              </a:rPr>
              <a:t>；如果数组中没有</a:t>
            </a:r>
            <a:r>
              <a:rPr lang="en-US" altLang="zh-CN" b="1" dirty="0">
                <a:effectLst>
                  <a:outerShdw blurRad="38100" dist="38100" dir="2700000" algn="tl">
                    <a:srgbClr val="C0C0C0"/>
                  </a:outerShdw>
                </a:effectLst>
              </a:rPr>
              <a:t>key</a:t>
            </a:r>
            <a:r>
              <a:rPr lang="zh-CN" altLang="en-US" b="1" dirty="0">
                <a:effectLst>
                  <a:outerShdw blurRad="38100" dist="38100" dir="2700000" algn="tl">
                    <a:srgbClr val="C0C0C0"/>
                  </a:outerShdw>
                </a:effectLst>
              </a:rPr>
              <a:t>，有</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 == n */</a:t>
            </a:r>
          </a:p>
          <a:p>
            <a:pPr marL="0" indent="0" eaLnBrk="1" fontAlgn="auto" hangingPunct="1">
              <a:spcAft>
                <a:spcPts val="0"/>
              </a:spcAft>
              <a:buClr>
                <a:schemeClr val="accent3"/>
              </a:buClr>
              <a:buFont typeface="Wingdings" pitchFamily="2" charset="2"/>
              <a:buNone/>
              <a:defRPr/>
            </a:pPr>
            <a:endParaRPr lang="en-US" altLang="zh-CN" b="1" dirty="0">
              <a:effectLst>
                <a:outerShdw blurRad="38100" dist="38100" dir="2700000" algn="tl">
                  <a:srgbClr val="C0C0C0"/>
                </a:outerShdw>
              </a:effectLst>
            </a:endParaRPr>
          </a:p>
        </p:txBody>
      </p:sp>
      <p:sp>
        <p:nvSpPr>
          <p:cNvPr id="5" name="灯片编号占位符 5"/>
          <p:cNvSpPr>
            <a:spLocks noGrp="1"/>
          </p:cNvSpPr>
          <p:nvPr>
            <p:ph type="sldNum" sz="quarter" idx="12"/>
          </p:nvPr>
        </p:nvSpPr>
        <p:spPr/>
        <p:txBody>
          <a:bodyPr/>
          <a:lstStyle/>
          <a:p>
            <a:pPr>
              <a:defRPr/>
            </a:pPr>
            <a:fld id="{9FB71224-D110-4638-ADCB-FE1F8FC6669C}" type="slidenum">
              <a:rPr lang="en-US" altLang="zh-CN"/>
              <a:pPr>
                <a:defRPr/>
              </a:pPr>
              <a:t>17</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03810">
                                            <p:txEl>
                                              <p:pRg st="2" end="2"/>
                                            </p:txEl>
                                          </p:spTgt>
                                        </p:tgtEl>
                                        <p:attrNameLst>
                                          <p:attrName>style.visibility</p:attrName>
                                        </p:attrNameLst>
                                      </p:cBhvr>
                                      <p:to>
                                        <p:strVal val="visible"/>
                                      </p:to>
                                    </p:set>
                                    <p:anim calcmode="lin" valueType="num">
                                      <p:cBhvr additive="base">
                                        <p:cTn id="7" dur="500" fill="hold"/>
                                        <p:tgtEl>
                                          <p:spTgt spid="503810">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03810">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03810">
                                            <p:txEl>
                                              <p:pRg st="3" end="3"/>
                                            </p:txEl>
                                          </p:spTgt>
                                        </p:tgtEl>
                                        <p:attrNameLst>
                                          <p:attrName>style.visibility</p:attrName>
                                        </p:attrNameLst>
                                      </p:cBhvr>
                                      <p:to>
                                        <p:strVal val="visible"/>
                                      </p:to>
                                    </p:set>
                                    <p:anim calcmode="lin" valueType="num">
                                      <p:cBhvr additive="base">
                                        <p:cTn id="11" dur="500" fill="hold"/>
                                        <p:tgtEl>
                                          <p:spTgt spid="503810">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03810">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03810">
                                            <p:txEl>
                                              <p:pRg st="4" end="4"/>
                                            </p:txEl>
                                          </p:spTgt>
                                        </p:tgtEl>
                                        <p:attrNameLst>
                                          <p:attrName>style.visibility</p:attrName>
                                        </p:attrNameLst>
                                      </p:cBhvr>
                                      <p:to>
                                        <p:strVal val="visible"/>
                                      </p:to>
                                    </p:set>
                                    <p:anim calcmode="lin" valueType="num">
                                      <p:cBhvr additive="base">
                                        <p:cTn id="15" dur="500" fill="hold"/>
                                        <p:tgtEl>
                                          <p:spTgt spid="503810">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03810">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503810">
                                            <p:txEl>
                                              <p:pRg st="5" end="5"/>
                                            </p:txEl>
                                          </p:spTgt>
                                        </p:tgtEl>
                                        <p:attrNameLst>
                                          <p:attrName>style.visibility</p:attrName>
                                        </p:attrNameLst>
                                      </p:cBhvr>
                                      <p:to>
                                        <p:strVal val="visible"/>
                                      </p:to>
                                    </p:set>
                                    <p:anim calcmode="lin" valueType="num">
                                      <p:cBhvr additive="base">
                                        <p:cTn id="19" dur="500" fill="hold"/>
                                        <p:tgtEl>
                                          <p:spTgt spid="503810">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03810">
                                            <p:txEl>
                                              <p:pRg st="5" end="5"/>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503810">
                                            <p:txEl>
                                              <p:pRg st="6" end="6"/>
                                            </p:txEl>
                                          </p:spTgt>
                                        </p:tgtEl>
                                        <p:attrNameLst>
                                          <p:attrName>style.visibility</p:attrName>
                                        </p:attrNameLst>
                                      </p:cBhvr>
                                      <p:to>
                                        <p:strVal val="visible"/>
                                      </p:to>
                                    </p:set>
                                    <p:anim calcmode="lin" valueType="num">
                                      <p:cBhvr additive="base">
                                        <p:cTn id="23" dur="500" fill="hold"/>
                                        <p:tgtEl>
                                          <p:spTgt spid="503810">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03810">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834" name="Rectangle 2"/>
          <p:cNvSpPr>
            <a:spLocks noGrp="1" noChangeArrowheads="1"/>
          </p:cNvSpPr>
          <p:nvPr>
            <p:ph idx="1"/>
          </p:nvPr>
        </p:nvSpPr>
        <p:spPr>
          <a:xfrm>
            <a:off x="395288" y="476250"/>
            <a:ext cx="8534400" cy="5907088"/>
          </a:xfrm>
        </p:spPr>
        <p:txBody>
          <a:bodyPr>
            <a:normAutofit/>
          </a:bodyPr>
          <a:lstStyle/>
          <a:p>
            <a:pPr marL="0" indent="0" eaLnBrk="1" fontAlgn="auto" hangingPunct="1">
              <a:spcAft>
                <a:spcPts val="0"/>
              </a:spcAft>
              <a:buClr>
                <a:schemeClr val="accent3"/>
              </a:buClr>
              <a:buFont typeface="Wingdings" pitchFamily="2" charset="2"/>
              <a:buNone/>
              <a:defRPr/>
            </a:pPr>
            <a:endParaRPr lang="en-US" altLang="zh-CN" b="1" dirty="0">
              <a:effectLst>
                <a:outerShdw blurRad="38100" dist="38100" dir="2700000" algn="tl">
                  <a:srgbClr val="C0C0C0"/>
                </a:outerShdw>
              </a:effectLst>
            </a:endParaRPr>
          </a:p>
          <a:p>
            <a:pPr marL="0" indent="0"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rPr>
              <a:t>上述查找过程也可用以下代码来描述：</a:t>
            </a:r>
          </a:p>
          <a:p>
            <a:pPr marL="0" indent="0"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rPr>
              <a:t>      </a:t>
            </a:r>
            <a:r>
              <a:rPr lang="en-US" altLang="zh-CN" b="1" dirty="0">
                <a:effectLst>
                  <a:outerShdw blurRad="38100" dist="38100" dir="2700000" algn="tl">
                    <a:srgbClr val="C0C0C0"/>
                  </a:outerShdw>
                </a:effectLst>
              </a:rPr>
              <a:t>for(</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 = 0; </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 &lt; n &amp;&amp; key != a[</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 </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 ; /* </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==n</a:t>
            </a:r>
            <a:r>
              <a:rPr lang="zh-CN" altLang="en-US" b="1" dirty="0">
                <a:effectLst>
                  <a:outerShdw blurRad="38100" dist="38100" dir="2700000" algn="tl">
                    <a:srgbClr val="C0C0C0"/>
                  </a:outerShdw>
                </a:effectLst>
              </a:rPr>
              <a:t>，或找到，结束循环 *</a:t>
            </a:r>
            <a:r>
              <a:rPr lang="en-US" altLang="zh-CN" b="1" dirty="0">
                <a:effectLst>
                  <a:outerShdw blurRad="38100" dist="38100" dir="2700000" algn="tl">
                    <a:srgbClr val="C0C0C0"/>
                  </a:outerShdw>
                </a:effectLst>
              </a:rPr>
              <a:t>/</a:t>
            </a:r>
          </a:p>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 </a:t>
            </a:r>
            <a:r>
              <a:rPr lang="zh-CN" altLang="en-US" b="1" dirty="0">
                <a:effectLst>
                  <a:outerShdw blurRad="38100" dist="38100" dir="2700000" algn="tl">
                    <a:srgbClr val="C0C0C0"/>
                  </a:outerShdw>
                </a:effectLst>
              </a:rPr>
              <a:t>循环结束时，满足以下条件：如果找到，有</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&lt;n</a:t>
            </a:r>
            <a:r>
              <a:rPr lang="zh-CN" altLang="en-US" b="1" dirty="0">
                <a:effectLst>
                  <a:outerShdw blurRad="38100" dist="38100" dir="2700000" algn="tl">
                    <a:srgbClr val="C0C0C0"/>
                  </a:outerShdw>
                </a:effectLst>
              </a:rPr>
              <a:t>；数组中没有</a:t>
            </a:r>
            <a:r>
              <a:rPr lang="en-US" altLang="zh-CN" b="1" dirty="0">
                <a:effectLst>
                  <a:outerShdw blurRad="38100" dist="38100" dir="2700000" algn="tl">
                    <a:srgbClr val="C0C0C0"/>
                  </a:outerShdw>
                </a:effectLst>
              </a:rPr>
              <a:t>key</a:t>
            </a:r>
            <a:r>
              <a:rPr lang="zh-CN" altLang="en-US" b="1" dirty="0">
                <a:effectLst>
                  <a:outerShdw blurRad="38100" dist="38100" dir="2700000" algn="tl">
                    <a:srgbClr val="C0C0C0"/>
                  </a:outerShdw>
                </a:effectLst>
              </a:rPr>
              <a:t>，有</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 == n */</a:t>
            </a:r>
          </a:p>
          <a:p>
            <a:pPr marL="0" indent="0" eaLnBrk="1" fontAlgn="auto" hangingPunct="1">
              <a:spcAft>
                <a:spcPts val="0"/>
              </a:spcAft>
              <a:buClr>
                <a:schemeClr val="accent3"/>
              </a:buClr>
              <a:buFont typeface="Wingdings" pitchFamily="2" charset="2"/>
              <a:buNone/>
              <a:defRPr/>
            </a:pPr>
            <a:endParaRPr lang="en-US" altLang="zh-CN" b="1" dirty="0">
              <a:effectLst>
                <a:outerShdw blurRad="38100" dist="38100" dir="2700000" algn="tl">
                  <a:srgbClr val="C0C0C0"/>
                </a:outerShdw>
              </a:effectLst>
            </a:endParaRPr>
          </a:p>
          <a:p>
            <a:pPr marL="0" indent="0"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rPr>
              <a:t>假定每个元素的查找机会均等，则采用上述查找方法，查找的平均次数</a:t>
            </a:r>
            <a:r>
              <a:rPr lang="en-US" altLang="zh-CN" b="1" dirty="0">
                <a:effectLst>
                  <a:outerShdw blurRad="38100" dist="38100" dir="2700000" algn="tl">
                    <a:srgbClr val="C0C0C0"/>
                  </a:outerShdw>
                </a:effectLst>
              </a:rPr>
              <a:t>v</a:t>
            </a:r>
            <a:r>
              <a:rPr lang="zh-CN" altLang="en-US" b="1" dirty="0">
                <a:effectLst>
                  <a:outerShdw blurRad="38100" dist="38100" dir="2700000" algn="tl">
                    <a:srgbClr val="C0C0C0"/>
                  </a:outerShdw>
                </a:effectLst>
              </a:rPr>
              <a:t>为：</a:t>
            </a:r>
          </a:p>
          <a:p>
            <a:pPr marL="0" indent="0"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rPr>
              <a:t>          </a:t>
            </a:r>
            <a:r>
              <a:rPr lang="en-US" altLang="zh-CN" b="1" dirty="0">
                <a:effectLst>
                  <a:outerShdw blurRad="38100" dist="38100" dir="2700000" algn="tl">
                    <a:srgbClr val="C0C0C0"/>
                  </a:outerShdw>
                </a:effectLst>
              </a:rPr>
              <a:t>v = (1 + 2 + 3 + … + n)/n = (n+1)/2</a:t>
            </a:r>
          </a:p>
          <a:p>
            <a:pPr marL="0" indent="0"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rPr>
              <a:t>若在数组中没有指定值的元素，则需查找</a:t>
            </a:r>
            <a:r>
              <a:rPr lang="en-US" altLang="zh-CN" b="1" dirty="0">
                <a:effectLst>
                  <a:outerShdw blurRad="38100" dist="38100" dir="2700000" algn="tl">
                    <a:srgbClr val="C0C0C0"/>
                  </a:outerShdw>
                </a:effectLst>
              </a:rPr>
              <a:t>n</a:t>
            </a:r>
            <a:r>
              <a:rPr lang="zh-CN" altLang="en-US" b="1" dirty="0">
                <a:effectLst>
                  <a:outerShdw blurRad="38100" dist="38100" dir="2700000" algn="tl">
                    <a:srgbClr val="C0C0C0"/>
                  </a:outerShdw>
                </a:effectLst>
              </a:rPr>
              <a:t>次。</a:t>
            </a:r>
          </a:p>
        </p:txBody>
      </p:sp>
      <p:sp>
        <p:nvSpPr>
          <p:cNvPr id="5" name="灯片编号占位符 5"/>
          <p:cNvSpPr>
            <a:spLocks noGrp="1"/>
          </p:cNvSpPr>
          <p:nvPr>
            <p:ph type="sldNum" sz="quarter" idx="12"/>
          </p:nvPr>
        </p:nvSpPr>
        <p:spPr/>
        <p:txBody>
          <a:bodyPr/>
          <a:lstStyle/>
          <a:p>
            <a:pPr>
              <a:defRPr/>
            </a:pPr>
            <a:fld id="{62F63473-D63D-420E-88B2-D54E976AB4D1}" type="slidenum">
              <a:rPr lang="en-US" altLang="zh-CN"/>
              <a:pPr>
                <a:defRPr/>
              </a:pPr>
              <a:t>18</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04834">
                                            <p:txEl>
                                              <p:pRg st="5" end="5"/>
                                            </p:txEl>
                                          </p:spTgt>
                                        </p:tgtEl>
                                        <p:attrNameLst>
                                          <p:attrName>style.visibility</p:attrName>
                                        </p:attrNameLst>
                                      </p:cBhvr>
                                      <p:to>
                                        <p:strVal val="visible"/>
                                      </p:to>
                                    </p:set>
                                    <p:anim calcmode="lin" valueType="num">
                                      <p:cBhvr additive="base">
                                        <p:cTn id="7" dur="500" fill="hold"/>
                                        <p:tgtEl>
                                          <p:spTgt spid="504834">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04834">
                                            <p:txEl>
                                              <p:pRg st="5" end="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04834">
                                            <p:txEl>
                                              <p:pRg st="6" end="6"/>
                                            </p:txEl>
                                          </p:spTgt>
                                        </p:tgtEl>
                                        <p:attrNameLst>
                                          <p:attrName>style.visibility</p:attrName>
                                        </p:attrNameLst>
                                      </p:cBhvr>
                                      <p:to>
                                        <p:strVal val="visible"/>
                                      </p:to>
                                    </p:set>
                                    <p:anim calcmode="lin" valueType="num">
                                      <p:cBhvr additive="base">
                                        <p:cTn id="11" dur="500" fill="hold"/>
                                        <p:tgtEl>
                                          <p:spTgt spid="504834">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04834">
                                            <p:txEl>
                                              <p:pRg st="6" end="6"/>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04834">
                                            <p:txEl>
                                              <p:pRg st="7" end="7"/>
                                            </p:txEl>
                                          </p:spTgt>
                                        </p:tgtEl>
                                        <p:attrNameLst>
                                          <p:attrName>style.visibility</p:attrName>
                                        </p:attrNameLst>
                                      </p:cBhvr>
                                      <p:to>
                                        <p:strVal val="visible"/>
                                      </p:to>
                                    </p:set>
                                    <p:anim calcmode="lin" valueType="num">
                                      <p:cBhvr additive="base">
                                        <p:cTn id="15" dur="500" fill="hold"/>
                                        <p:tgtEl>
                                          <p:spTgt spid="504834">
                                            <p:txEl>
                                              <p:pRg st="7" end="7"/>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04834">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5858" name="Rectangle 2"/>
          <p:cNvSpPr>
            <a:spLocks noGrp="1" noChangeArrowheads="1"/>
          </p:cNvSpPr>
          <p:nvPr>
            <p:ph idx="1"/>
          </p:nvPr>
        </p:nvSpPr>
        <p:spPr>
          <a:xfrm>
            <a:off x="395288" y="476250"/>
            <a:ext cx="8534400" cy="5907088"/>
          </a:xfrm>
        </p:spPr>
        <p:txBody>
          <a:bodyPr>
            <a:normAutofit/>
          </a:bodyPr>
          <a:lstStyle/>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(2) </a:t>
            </a:r>
            <a:r>
              <a:rPr lang="zh-CN" altLang="en-US" b="1" dirty="0">
                <a:effectLst>
                  <a:outerShdw blurRad="38100" dist="38100" dir="2700000" algn="tl">
                    <a:srgbClr val="C0C0C0"/>
                  </a:outerShdw>
                </a:effectLst>
                <a:latin typeface="宋体" pitchFamily="2" charset="-122"/>
              </a:rPr>
              <a:t>顺序查找（设置哨兵方法）</a:t>
            </a:r>
          </a:p>
          <a:p>
            <a:pPr marL="0" indent="0"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rPr>
              <a:t>先在数组第</a:t>
            </a:r>
            <a:r>
              <a:rPr lang="en-US" altLang="zh-CN" b="1" dirty="0">
                <a:effectLst>
                  <a:outerShdw blurRad="38100" dist="38100" dir="2700000" algn="tl">
                    <a:srgbClr val="C0C0C0"/>
                  </a:outerShdw>
                </a:effectLst>
              </a:rPr>
              <a:t>n</a:t>
            </a:r>
            <a:r>
              <a:rPr lang="zh-CN" altLang="en-US" b="1" dirty="0">
                <a:effectLst>
                  <a:outerShdw blurRad="38100" dist="38100" dir="2700000" algn="tl">
                    <a:srgbClr val="C0C0C0"/>
                  </a:outerShdw>
                </a:effectLst>
              </a:rPr>
              <a:t>个元素的后面（如数组定义时已预留了空闲的元素），在下标为</a:t>
            </a:r>
            <a:r>
              <a:rPr lang="en-US" altLang="zh-CN" b="1" dirty="0">
                <a:effectLst>
                  <a:outerShdw blurRad="38100" dist="38100" dir="2700000" algn="tl">
                    <a:srgbClr val="C0C0C0"/>
                  </a:outerShdw>
                </a:effectLst>
              </a:rPr>
              <a:t>n</a:t>
            </a:r>
            <a:r>
              <a:rPr lang="zh-CN" altLang="en-US" b="1" dirty="0">
                <a:effectLst>
                  <a:outerShdw blurRad="38100" dist="38100" dir="2700000" algn="tl">
                    <a:srgbClr val="C0C0C0"/>
                  </a:outerShdw>
                </a:effectLst>
              </a:rPr>
              <a:t>的元素位置预放要寻找的值，然后再从第一个元素开始顺序寻找，这能简化寻找循环的控制条件。</a:t>
            </a:r>
          </a:p>
          <a:p>
            <a:pPr marL="0" indent="0"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rPr>
              <a:t>      </a:t>
            </a:r>
            <a:r>
              <a:rPr lang="en-US" altLang="zh-CN" b="1" dirty="0">
                <a:effectLst>
                  <a:outerShdw blurRad="38100" dist="38100" dir="2700000" algn="tl">
                    <a:srgbClr val="C0C0C0"/>
                  </a:outerShdw>
                </a:effectLst>
              </a:rPr>
              <a:t>a[n] = key;</a:t>
            </a:r>
          </a:p>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for(</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 = 0; key != a[</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 </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a:t>
            </a:r>
          </a:p>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 </a:t>
            </a:r>
            <a:r>
              <a:rPr lang="zh-CN" altLang="en-US" b="1" dirty="0">
                <a:effectLst>
                  <a:outerShdw blurRad="38100" dist="38100" dir="2700000" algn="tl">
                    <a:srgbClr val="C0C0C0"/>
                  </a:outerShdw>
                </a:effectLst>
              </a:rPr>
              <a:t>如果找到 </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 &lt; n</a:t>
            </a:r>
            <a:r>
              <a:rPr lang="zh-CN" altLang="en-US" b="1" dirty="0">
                <a:effectLst>
                  <a:outerShdw blurRad="38100" dist="38100" dir="2700000" algn="tl">
                    <a:srgbClr val="C0C0C0"/>
                  </a:outerShdw>
                </a:effectLst>
              </a:rPr>
              <a:t>；否则没有找到 </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 == n */</a:t>
            </a:r>
          </a:p>
          <a:p>
            <a:pPr marL="0" indent="0" eaLnBrk="1" fontAlgn="auto" hangingPunct="1">
              <a:spcAft>
                <a:spcPts val="0"/>
              </a:spcAft>
              <a:buClr>
                <a:schemeClr val="accent3"/>
              </a:buClr>
              <a:buFont typeface="Wingdings" pitchFamily="2" charset="2"/>
              <a:buNone/>
              <a:defRPr/>
            </a:pPr>
            <a:endParaRPr lang="en-US" altLang="zh-CN" b="1" dirty="0">
              <a:effectLst>
                <a:outerShdw blurRad="38100" dist="38100" dir="2700000" algn="tl">
                  <a:srgbClr val="C0C0C0"/>
                </a:outerShdw>
              </a:effectLst>
            </a:endParaRPr>
          </a:p>
          <a:p>
            <a:pPr marL="0" indent="0" eaLnBrk="1" fontAlgn="auto" hangingPunct="1">
              <a:lnSpc>
                <a:spcPct val="110000"/>
              </a:lnSpc>
              <a:spcAft>
                <a:spcPts val="0"/>
              </a:spcAft>
              <a:buClr>
                <a:schemeClr val="accent3"/>
              </a:buClr>
              <a:buFont typeface="Wingdings" pitchFamily="2" charset="2"/>
              <a:buNone/>
              <a:defRPr/>
            </a:pPr>
            <a:r>
              <a:rPr lang="zh-CN" altLang="en-US" b="1" dirty="0">
                <a:solidFill>
                  <a:srgbClr val="0000FF"/>
                </a:solidFill>
                <a:effectLst>
                  <a:outerShdw blurRad="38100" dist="38100" dir="2700000" algn="tl">
                    <a:srgbClr val="C0C0C0"/>
                  </a:outerShdw>
                </a:effectLst>
                <a:latin typeface="宋体" pitchFamily="2" charset="-122"/>
              </a:rPr>
              <a:t>说明：</a:t>
            </a:r>
            <a:r>
              <a:rPr lang="zh-CN" altLang="en-US" b="1" dirty="0">
                <a:solidFill>
                  <a:srgbClr val="2F7337"/>
                </a:solidFill>
                <a:effectLst>
                  <a:outerShdw blurRad="38100" dist="38100" dir="2700000" algn="tl">
                    <a:srgbClr val="C0C0C0"/>
                  </a:outerShdw>
                </a:effectLst>
                <a:latin typeface="宋体" pitchFamily="2" charset="-122"/>
              </a:rPr>
              <a:t>使用哨兵方法，数组需多用一个元素，但程序比普通的顺序查找方法显然更简单。</a:t>
            </a:r>
          </a:p>
          <a:p>
            <a:pPr marL="0" indent="0" eaLnBrk="1" fontAlgn="auto" hangingPunct="1">
              <a:lnSpc>
                <a:spcPct val="110000"/>
              </a:lnSpc>
              <a:spcAft>
                <a:spcPts val="0"/>
              </a:spcAft>
              <a:buClr>
                <a:schemeClr val="accent3"/>
              </a:buClr>
              <a:buFont typeface="Wingdings" pitchFamily="2" charset="2"/>
              <a:buNone/>
              <a:defRPr/>
            </a:pPr>
            <a:endParaRPr lang="en-US" altLang="zh-CN" b="1" dirty="0">
              <a:effectLst>
                <a:outerShdw blurRad="38100" dist="38100" dir="2700000" algn="tl">
                  <a:srgbClr val="C0C0C0"/>
                </a:outerShdw>
              </a:effectLst>
            </a:endParaRPr>
          </a:p>
        </p:txBody>
      </p:sp>
      <p:sp>
        <p:nvSpPr>
          <p:cNvPr id="5" name="灯片编号占位符 5"/>
          <p:cNvSpPr>
            <a:spLocks noGrp="1"/>
          </p:cNvSpPr>
          <p:nvPr>
            <p:ph type="sldNum" sz="quarter" idx="12"/>
          </p:nvPr>
        </p:nvSpPr>
        <p:spPr/>
        <p:txBody>
          <a:bodyPr/>
          <a:lstStyle/>
          <a:p>
            <a:pPr>
              <a:defRPr/>
            </a:pPr>
            <a:fld id="{DAE9C951-9CCB-4E34-839D-E7E4145FC13D}" type="slidenum">
              <a:rPr lang="en-US" altLang="zh-CN"/>
              <a:pPr>
                <a:defRPr/>
              </a:pPr>
              <a:t>19</a:t>
            </a:fld>
            <a:endParaRPr lang="en-US" altLang="zh-CN"/>
          </a:p>
        </p:txBody>
      </p:sp>
      <p:sp>
        <p:nvSpPr>
          <p:cNvPr id="4" name="TextBox 3"/>
          <p:cNvSpPr txBox="1"/>
          <p:nvPr/>
        </p:nvSpPr>
        <p:spPr>
          <a:xfrm>
            <a:off x="3059832" y="2348880"/>
            <a:ext cx="5832648" cy="523220"/>
          </a:xfrm>
          <a:prstGeom prst="rect">
            <a:avLst/>
          </a:prstGeom>
          <a:solidFill>
            <a:schemeClr val="accent1"/>
          </a:solidFill>
        </p:spPr>
        <p:txBody>
          <a:bodyPr wrap="square" rtlCol="0">
            <a:spAutoFit/>
          </a:bodyPr>
          <a:lstStyle/>
          <a:p>
            <a:r>
              <a:rPr lang="zh-CN" altLang="en-US" dirty="0">
                <a:effectLst>
                  <a:outerShdw blurRad="38100" dist="38100" dir="2700000" algn="tl">
                    <a:srgbClr val="C0C0C0"/>
                  </a:outerShdw>
                </a:effectLst>
              </a:rPr>
              <a:t> </a:t>
            </a:r>
            <a:r>
              <a:rPr lang="en-US" altLang="zh-CN" dirty="0">
                <a:effectLst>
                  <a:outerShdw blurRad="38100" dist="38100" dir="2700000" algn="tl">
                    <a:srgbClr val="C0C0C0"/>
                  </a:outerShdw>
                </a:effectLst>
              </a:rPr>
              <a:t>for(</a:t>
            </a:r>
            <a:r>
              <a:rPr lang="en-US" altLang="zh-CN" dirty="0" err="1">
                <a:effectLst>
                  <a:outerShdw blurRad="38100" dist="38100" dir="2700000" algn="tl">
                    <a:srgbClr val="C0C0C0"/>
                  </a:outerShdw>
                </a:effectLst>
              </a:rPr>
              <a:t>i</a:t>
            </a:r>
            <a:r>
              <a:rPr lang="en-US" altLang="zh-CN" dirty="0">
                <a:effectLst>
                  <a:outerShdw blurRad="38100" dist="38100" dir="2700000" algn="tl">
                    <a:srgbClr val="C0C0C0"/>
                  </a:outerShdw>
                </a:effectLst>
              </a:rPr>
              <a:t> = 0; </a:t>
            </a:r>
            <a:r>
              <a:rPr lang="en-US" altLang="zh-CN" dirty="0" err="1">
                <a:effectLst>
                  <a:outerShdw blurRad="38100" dist="38100" dir="2700000" algn="tl">
                    <a:srgbClr val="C0C0C0"/>
                  </a:outerShdw>
                </a:effectLst>
              </a:rPr>
              <a:t>i</a:t>
            </a:r>
            <a:r>
              <a:rPr lang="en-US" altLang="zh-CN" dirty="0">
                <a:effectLst>
                  <a:outerShdw blurRad="38100" dist="38100" dir="2700000" algn="tl">
                    <a:srgbClr val="C0C0C0"/>
                  </a:outerShdw>
                </a:effectLst>
              </a:rPr>
              <a:t> &lt; n &amp;&amp; key != a[</a:t>
            </a:r>
            <a:r>
              <a:rPr lang="en-US" altLang="zh-CN" dirty="0" err="1">
                <a:effectLst>
                  <a:outerShdw blurRad="38100" dist="38100" dir="2700000" algn="tl">
                    <a:srgbClr val="C0C0C0"/>
                  </a:outerShdw>
                </a:effectLst>
              </a:rPr>
              <a:t>i</a:t>
            </a:r>
            <a:r>
              <a:rPr lang="en-US" altLang="zh-CN" dirty="0">
                <a:effectLst>
                  <a:outerShdw blurRad="38100" dist="38100" dir="2700000" algn="tl">
                    <a:srgbClr val="C0C0C0"/>
                  </a:outerShdw>
                </a:effectLst>
              </a:rPr>
              <a:t>]; </a:t>
            </a:r>
            <a:r>
              <a:rPr lang="en-US" altLang="zh-CN" dirty="0" err="1">
                <a:effectLst>
                  <a:outerShdw blurRad="38100" dist="38100" dir="2700000" algn="tl">
                    <a:srgbClr val="C0C0C0"/>
                  </a:outerShdw>
                </a:effectLst>
              </a:rPr>
              <a:t>i</a:t>
            </a:r>
            <a:r>
              <a:rPr lang="en-US" altLang="zh-CN" dirty="0">
                <a:effectLst>
                  <a:outerShdw blurRad="38100" dist="38100" dir="2700000" algn="tl">
                    <a:srgbClr val="C0C0C0"/>
                  </a:outerShdw>
                </a:effectLst>
              </a:rPr>
              <a:t>++) ; </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05858">
                                            <p:txEl>
                                              <p:pRg st="2" end="2"/>
                                            </p:txEl>
                                          </p:spTgt>
                                        </p:tgtEl>
                                        <p:attrNameLst>
                                          <p:attrName>style.visibility</p:attrName>
                                        </p:attrNameLst>
                                      </p:cBhvr>
                                      <p:to>
                                        <p:strVal val="visible"/>
                                      </p:to>
                                    </p:set>
                                    <p:anim calcmode="lin" valueType="num">
                                      <p:cBhvr additive="base">
                                        <p:cTn id="7" dur="500" fill="hold"/>
                                        <p:tgtEl>
                                          <p:spTgt spid="505858">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05858">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05858">
                                            <p:txEl>
                                              <p:pRg st="3" end="3"/>
                                            </p:txEl>
                                          </p:spTgt>
                                        </p:tgtEl>
                                        <p:attrNameLst>
                                          <p:attrName>style.visibility</p:attrName>
                                        </p:attrNameLst>
                                      </p:cBhvr>
                                      <p:to>
                                        <p:strVal val="visible"/>
                                      </p:to>
                                    </p:set>
                                    <p:anim calcmode="lin" valueType="num">
                                      <p:cBhvr additive="base">
                                        <p:cTn id="11" dur="500" fill="hold"/>
                                        <p:tgtEl>
                                          <p:spTgt spid="505858">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05858">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05858">
                                            <p:txEl>
                                              <p:pRg st="4" end="4"/>
                                            </p:txEl>
                                          </p:spTgt>
                                        </p:tgtEl>
                                        <p:attrNameLst>
                                          <p:attrName>style.visibility</p:attrName>
                                        </p:attrNameLst>
                                      </p:cBhvr>
                                      <p:to>
                                        <p:strVal val="visible"/>
                                      </p:to>
                                    </p:set>
                                    <p:anim calcmode="lin" valueType="num">
                                      <p:cBhvr additive="base">
                                        <p:cTn id="15" dur="500" fill="hold"/>
                                        <p:tgtEl>
                                          <p:spTgt spid="505858">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05858">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505858">
                                            <p:txEl>
                                              <p:pRg st="6" end="6"/>
                                            </p:txEl>
                                          </p:spTgt>
                                        </p:tgtEl>
                                        <p:attrNameLst>
                                          <p:attrName>style.visibility</p:attrName>
                                        </p:attrNameLst>
                                      </p:cBhvr>
                                      <p:to>
                                        <p:strVal val="visible"/>
                                      </p:to>
                                    </p:set>
                                    <p:anim calcmode="lin" valueType="num">
                                      <p:cBhvr additive="base">
                                        <p:cTn id="19" dur="500" fill="hold"/>
                                        <p:tgtEl>
                                          <p:spTgt spid="505858">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05858">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6882" name="Rectangle 2"/>
          <p:cNvSpPr>
            <a:spLocks noGrp="1" noChangeArrowheads="1"/>
          </p:cNvSpPr>
          <p:nvPr>
            <p:ph idx="1"/>
          </p:nvPr>
        </p:nvSpPr>
        <p:spPr>
          <a:xfrm>
            <a:off x="395288" y="476250"/>
            <a:ext cx="8534400" cy="5907088"/>
          </a:xfrm>
        </p:spPr>
        <p:txBody>
          <a:bodyPr>
            <a:normAutofit/>
          </a:bodyPr>
          <a:lstStyle/>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(3) </a:t>
            </a:r>
            <a:r>
              <a:rPr lang="en-US" altLang="zh-CN" b="1" dirty="0">
                <a:solidFill>
                  <a:srgbClr val="0000FF"/>
                </a:solidFill>
                <a:effectLst>
                  <a:outerShdw blurRad="38100" dist="38100" dir="2700000" algn="tl">
                    <a:srgbClr val="C0C0C0"/>
                  </a:outerShdw>
                </a:effectLst>
                <a:latin typeface="宋体" pitchFamily="2" charset="-122"/>
                <a:sym typeface="Wingdings" pitchFamily="2" charset="2"/>
              </a:rPr>
              <a:t> </a:t>
            </a:r>
            <a:r>
              <a:rPr lang="zh-CN" altLang="en-US" b="1" dirty="0">
                <a:effectLst>
                  <a:outerShdw blurRad="38100" dist="38100" dir="2700000" algn="tl">
                    <a:srgbClr val="C0C0C0"/>
                  </a:outerShdw>
                </a:effectLst>
                <a:latin typeface="宋体" pitchFamily="2" charset="-122"/>
              </a:rPr>
              <a:t>二分法查找</a:t>
            </a:r>
          </a:p>
          <a:p>
            <a:pPr marL="0" indent="0"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rPr>
              <a:t>假定数组</a:t>
            </a:r>
            <a:r>
              <a:rPr lang="en-US" altLang="zh-CN" b="1" dirty="0">
                <a:effectLst>
                  <a:outerShdw blurRad="38100" dist="38100" dir="2700000" algn="tl">
                    <a:srgbClr val="C0C0C0"/>
                  </a:outerShdw>
                </a:effectLst>
              </a:rPr>
              <a:t>a[ ]</a:t>
            </a:r>
            <a:r>
              <a:rPr lang="zh-CN" altLang="en-US" b="1" dirty="0">
                <a:effectLst>
                  <a:outerShdw blurRad="38100" dist="38100" dir="2700000" algn="tl">
                    <a:srgbClr val="C0C0C0"/>
                  </a:outerShdw>
                </a:effectLst>
              </a:rPr>
              <a:t>的元素已按它们的值从小到大的顺序存放。基本思想是对任意</a:t>
            </a:r>
            <a:r>
              <a:rPr lang="en-US" altLang="zh-CN" b="1" dirty="0">
                <a:effectLst>
                  <a:outerShdw blurRad="38100" dist="38100" dir="2700000" algn="tl">
                    <a:srgbClr val="C0C0C0"/>
                  </a:outerShdw>
                </a:effectLst>
              </a:rPr>
              <a:t>a[</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a:t>
            </a:r>
            <a:r>
              <a:rPr lang="zh-CN" altLang="en-US" b="1" dirty="0">
                <a:effectLst>
                  <a:outerShdw blurRad="38100" dist="38100" dir="2700000" algn="tl">
                    <a:srgbClr val="C0C0C0"/>
                  </a:outerShdw>
                </a:effectLst>
              </a:rPr>
              <a:t>到</a:t>
            </a:r>
            <a:r>
              <a:rPr lang="en-US" altLang="zh-CN" b="1" dirty="0">
                <a:effectLst>
                  <a:outerShdw blurRad="38100" dist="38100" dir="2700000" algn="tl">
                    <a:srgbClr val="C0C0C0"/>
                  </a:outerShdw>
                </a:effectLst>
              </a:rPr>
              <a:t>a[j](</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&lt;=j)</a:t>
            </a:r>
            <a:r>
              <a:rPr lang="zh-CN" altLang="en-US" b="1" dirty="0">
                <a:effectLst>
                  <a:outerShdw blurRad="38100" dist="38100" dir="2700000" algn="tl">
                    <a:srgbClr val="C0C0C0"/>
                  </a:outerShdw>
                </a:effectLst>
              </a:rPr>
              <a:t>的连续元素段，根据它们值的有序性，试探下标为</a:t>
            </a:r>
            <a:r>
              <a:rPr lang="en-US" altLang="zh-CN" b="1" dirty="0">
                <a:effectLst>
                  <a:outerShdw blurRad="38100" dist="38100" dir="2700000" algn="tl">
                    <a:srgbClr val="C0C0C0"/>
                  </a:outerShdw>
                </a:effectLst>
              </a:rPr>
              <a:t>m=(</a:t>
            </a:r>
            <a:r>
              <a:rPr lang="en-US" altLang="zh-CN" b="1" dirty="0" err="1">
                <a:effectLst>
                  <a:outerShdw blurRad="38100" dist="38100" dir="2700000" algn="tl">
                    <a:srgbClr val="C0C0C0"/>
                  </a:outerShdw>
                </a:effectLst>
              </a:rPr>
              <a:t>i+j</a:t>
            </a:r>
            <a:r>
              <a:rPr lang="en-US" altLang="zh-CN" b="1" dirty="0">
                <a:effectLst>
                  <a:outerShdw blurRad="38100" dist="38100" dir="2700000" algn="tl">
                    <a:srgbClr val="C0C0C0"/>
                  </a:outerShdw>
                </a:effectLst>
              </a:rPr>
              <a:t>)/2</a:t>
            </a:r>
            <a:r>
              <a:rPr lang="zh-CN" altLang="en-US" b="1" dirty="0">
                <a:effectLst>
                  <a:outerShdw blurRad="38100" dist="38100" dir="2700000" algn="tl">
                    <a:srgbClr val="C0C0C0"/>
                  </a:outerShdw>
                </a:effectLst>
              </a:rPr>
              <a:t>的元素。</a:t>
            </a:r>
            <a:r>
              <a:rPr lang="en-US" altLang="zh-CN" b="1" dirty="0">
                <a:effectLst>
                  <a:outerShdw blurRad="38100" dist="38100" dir="2700000" algn="tl">
                    <a:srgbClr val="C0C0C0"/>
                  </a:outerShdw>
                </a:effectLst>
              </a:rPr>
              <a:t>a[m]</a:t>
            </a:r>
            <a:r>
              <a:rPr lang="zh-CN" altLang="en-US" b="1" dirty="0">
                <a:effectLst>
                  <a:outerShdw blurRad="38100" dist="38100" dir="2700000" algn="tl">
                    <a:srgbClr val="C0C0C0"/>
                  </a:outerShdw>
                </a:effectLst>
              </a:rPr>
              <a:t>与</a:t>
            </a:r>
            <a:r>
              <a:rPr lang="en-US" altLang="zh-CN" b="1" dirty="0">
                <a:effectLst>
                  <a:outerShdw blurRad="38100" dist="38100" dir="2700000" algn="tl">
                    <a:srgbClr val="C0C0C0"/>
                  </a:outerShdw>
                </a:effectLst>
              </a:rPr>
              <a:t>key</a:t>
            </a:r>
            <a:r>
              <a:rPr lang="zh-CN" altLang="en-US" b="1" dirty="0">
                <a:effectLst>
                  <a:outerShdw blurRad="38100" dist="38100" dir="2700000" algn="tl">
                    <a:srgbClr val="C0C0C0"/>
                  </a:outerShdw>
                </a:effectLst>
              </a:rPr>
              <a:t>比较有三种可能结果，分别采取三种不同的对策：</a:t>
            </a:r>
          </a:p>
          <a:p>
            <a:pPr marL="0" indent="0"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latin typeface="宋体" pitchFamily="2" charset="-122"/>
              </a:rPr>
              <a:t> </a:t>
            </a:r>
            <a:r>
              <a:rPr lang="en-US" altLang="zh-CN" b="1" dirty="0">
                <a:effectLst>
                  <a:outerShdw blurRad="38100" dist="38100" dir="2700000" algn="tl">
                    <a:srgbClr val="C0C0C0"/>
                  </a:outerShdw>
                </a:effectLst>
                <a:latin typeface="黑体" pitchFamily="2" charset="-122"/>
              </a:rPr>
              <a:t>key == a[m] </a:t>
            </a:r>
            <a:r>
              <a:rPr lang="zh-CN" altLang="en-US" b="1" dirty="0">
                <a:effectLst>
                  <a:outerShdw blurRad="38100" dist="38100" dir="2700000" algn="tl">
                    <a:srgbClr val="C0C0C0"/>
                  </a:outerShdw>
                </a:effectLst>
                <a:latin typeface="黑体" pitchFamily="2" charset="-122"/>
              </a:rPr>
              <a:t>找到，结束查找。</a:t>
            </a:r>
          </a:p>
          <a:p>
            <a:pPr marL="0" indent="0"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latin typeface="黑体" pitchFamily="2" charset="-122"/>
              </a:rPr>
              <a:t> </a:t>
            </a:r>
            <a:r>
              <a:rPr lang="en-US" altLang="zh-CN" b="1" dirty="0">
                <a:effectLst>
                  <a:outerShdw blurRad="38100" dist="38100" dir="2700000" algn="tl">
                    <a:srgbClr val="C0C0C0"/>
                  </a:outerShdw>
                </a:effectLst>
                <a:latin typeface="黑体" pitchFamily="2" charset="-122"/>
              </a:rPr>
              <a:t>key &gt; a[m] </a:t>
            </a:r>
            <a:r>
              <a:rPr lang="zh-CN" altLang="en-US" b="1" dirty="0">
                <a:effectLst>
                  <a:outerShdw blurRad="38100" dist="38100" dir="2700000" algn="tl">
                    <a:srgbClr val="C0C0C0"/>
                  </a:outerShdw>
                </a:effectLst>
                <a:latin typeface="黑体" pitchFamily="2" charset="-122"/>
              </a:rPr>
              <a:t>下一轮的查找区间为 </a:t>
            </a:r>
            <a:r>
              <a:rPr lang="en-US" altLang="zh-CN" b="1" dirty="0">
                <a:effectLst>
                  <a:outerShdw blurRad="38100" dist="38100" dir="2700000" algn="tl">
                    <a:srgbClr val="C0C0C0"/>
                  </a:outerShdw>
                </a:effectLst>
                <a:latin typeface="黑体" pitchFamily="2" charset="-122"/>
              </a:rPr>
              <a:t>[m+1</a:t>
            </a:r>
            <a:r>
              <a:rPr lang="zh-CN" altLang="en-US" b="1" dirty="0">
                <a:effectLst>
                  <a:outerShdw blurRad="38100" dist="38100" dir="2700000" algn="tl">
                    <a:srgbClr val="C0C0C0"/>
                  </a:outerShdw>
                </a:effectLst>
                <a:latin typeface="黑体" pitchFamily="2" charset="-122"/>
              </a:rPr>
              <a:t>，</a:t>
            </a:r>
            <a:r>
              <a:rPr lang="en-US" altLang="zh-CN" b="1" dirty="0">
                <a:effectLst>
                  <a:outerShdw blurRad="38100" dist="38100" dir="2700000" algn="tl">
                    <a:srgbClr val="C0C0C0"/>
                  </a:outerShdw>
                </a:effectLst>
                <a:latin typeface="黑体" pitchFamily="2" charset="-122"/>
              </a:rPr>
              <a:t>j]</a:t>
            </a:r>
            <a:r>
              <a:rPr lang="zh-CN" altLang="en-US" b="1" dirty="0">
                <a:effectLst>
                  <a:outerShdw blurRad="38100" dist="38100" dir="2700000" algn="tl">
                    <a:srgbClr val="C0C0C0"/>
                  </a:outerShdw>
                </a:effectLst>
                <a:latin typeface="黑体" pitchFamily="2" charset="-122"/>
              </a:rPr>
              <a:t>。</a:t>
            </a:r>
          </a:p>
          <a:p>
            <a:pPr marL="0" indent="0"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latin typeface="黑体" pitchFamily="2" charset="-122"/>
              </a:rPr>
              <a:t> </a:t>
            </a:r>
            <a:r>
              <a:rPr lang="en-US" altLang="zh-CN" b="1" dirty="0">
                <a:effectLst>
                  <a:outerShdw blurRad="38100" dist="38100" dir="2700000" algn="tl">
                    <a:srgbClr val="C0C0C0"/>
                  </a:outerShdw>
                </a:effectLst>
                <a:latin typeface="黑体" pitchFamily="2" charset="-122"/>
              </a:rPr>
              <a:t>key &lt; a[m] </a:t>
            </a:r>
            <a:r>
              <a:rPr lang="zh-CN" altLang="en-US" b="1" dirty="0">
                <a:effectLst>
                  <a:outerShdw blurRad="38100" dist="38100" dir="2700000" algn="tl">
                    <a:srgbClr val="C0C0C0"/>
                  </a:outerShdw>
                </a:effectLst>
                <a:latin typeface="黑体" pitchFamily="2" charset="-122"/>
              </a:rPr>
              <a:t>下一轮的查找区间为 </a:t>
            </a:r>
            <a:r>
              <a:rPr lang="en-US" altLang="zh-CN" b="1" dirty="0">
                <a:effectLst>
                  <a:outerShdw blurRad="38100" dist="38100" dir="2700000" algn="tl">
                    <a:srgbClr val="C0C0C0"/>
                  </a:outerShdw>
                </a:effectLst>
                <a:latin typeface="黑体" pitchFamily="2" charset="-122"/>
              </a:rPr>
              <a:t>[</a:t>
            </a:r>
            <a:r>
              <a:rPr lang="en-US" altLang="zh-CN" b="1" dirty="0" err="1">
                <a:effectLst>
                  <a:outerShdw blurRad="38100" dist="38100" dir="2700000" algn="tl">
                    <a:srgbClr val="C0C0C0"/>
                  </a:outerShdw>
                </a:effectLst>
                <a:latin typeface="黑体" pitchFamily="2" charset="-122"/>
              </a:rPr>
              <a:t>i</a:t>
            </a:r>
            <a:r>
              <a:rPr lang="zh-CN" altLang="en-US" b="1" dirty="0">
                <a:effectLst>
                  <a:outerShdw blurRad="38100" dist="38100" dir="2700000" algn="tl">
                    <a:srgbClr val="C0C0C0"/>
                  </a:outerShdw>
                </a:effectLst>
                <a:latin typeface="黑体" pitchFamily="2" charset="-122"/>
              </a:rPr>
              <a:t>，</a:t>
            </a:r>
            <a:r>
              <a:rPr lang="en-US" altLang="zh-CN" b="1" dirty="0">
                <a:effectLst>
                  <a:outerShdw blurRad="38100" dist="38100" dir="2700000" algn="tl">
                    <a:srgbClr val="C0C0C0"/>
                  </a:outerShdw>
                </a:effectLst>
                <a:latin typeface="黑体" pitchFamily="2" charset="-122"/>
              </a:rPr>
              <a:t>m-1]</a:t>
            </a:r>
            <a:r>
              <a:rPr lang="zh-CN" altLang="en-US" b="1" dirty="0">
                <a:effectLst>
                  <a:outerShdw blurRad="38100" dist="38100" dir="2700000" algn="tl">
                    <a:srgbClr val="C0C0C0"/>
                  </a:outerShdw>
                </a:effectLst>
                <a:latin typeface="黑体" pitchFamily="2" charset="-122"/>
              </a:rPr>
              <a:t>。</a:t>
            </a:r>
          </a:p>
          <a:p>
            <a:pPr marL="0" indent="0"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latin typeface="宋体" pitchFamily="2" charset="-122"/>
              </a:rPr>
              <a:t>说明：</a:t>
            </a:r>
            <a:r>
              <a:rPr lang="en-US" altLang="zh-CN" b="1" dirty="0">
                <a:effectLst>
                  <a:outerShdw blurRad="38100" dist="38100" dir="2700000" algn="tl">
                    <a:srgbClr val="C0C0C0"/>
                  </a:outerShdw>
                </a:effectLst>
                <a:latin typeface="宋体" pitchFamily="2" charset="-122"/>
              </a:rPr>
              <a:t>1. </a:t>
            </a:r>
            <a:r>
              <a:rPr lang="zh-CN" altLang="en-US" b="1" dirty="0">
                <a:effectLst>
                  <a:outerShdw blurRad="38100" dist="38100" dir="2700000" algn="tl">
                    <a:srgbClr val="C0C0C0"/>
                  </a:outerShdw>
                </a:effectLst>
                <a:latin typeface="宋体" pitchFamily="2" charset="-122"/>
              </a:rPr>
              <a:t>初始查找的区间为</a:t>
            </a:r>
            <a:r>
              <a:rPr lang="en-US" altLang="zh-CN" b="1" dirty="0" err="1">
                <a:effectLst>
                  <a:outerShdw blurRad="38100" dist="38100" dir="2700000" algn="tl">
                    <a:srgbClr val="C0C0C0"/>
                  </a:outerShdw>
                </a:effectLst>
                <a:latin typeface="宋体" pitchFamily="2" charset="-122"/>
              </a:rPr>
              <a:t>i</a:t>
            </a:r>
            <a:r>
              <a:rPr lang="en-US" altLang="zh-CN" b="1" dirty="0">
                <a:effectLst>
                  <a:outerShdw blurRad="38100" dist="38100" dir="2700000" algn="tl">
                    <a:srgbClr val="C0C0C0"/>
                  </a:outerShdw>
                </a:effectLst>
                <a:latin typeface="宋体" pitchFamily="2" charset="-122"/>
              </a:rPr>
              <a:t>=0</a:t>
            </a:r>
            <a:r>
              <a:rPr lang="zh-CN" altLang="en-US" b="1" dirty="0">
                <a:effectLst>
                  <a:outerShdw blurRad="38100" dist="38100" dir="2700000" algn="tl">
                    <a:srgbClr val="C0C0C0"/>
                  </a:outerShdw>
                </a:effectLst>
                <a:latin typeface="宋体" pitchFamily="2" charset="-122"/>
              </a:rPr>
              <a:t>，</a:t>
            </a:r>
            <a:r>
              <a:rPr lang="en-US" altLang="zh-CN" b="1" dirty="0">
                <a:effectLst>
                  <a:outerShdw blurRad="38100" dist="38100" dir="2700000" algn="tl">
                    <a:srgbClr val="C0C0C0"/>
                  </a:outerShdw>
                </a:effectLst>
                <a:latin typeface="宋体" pitchFamily="2" charset="-122"/>
              </a:rPr>
              <a:t>j=n-1</a:t>
            </a:r>
            <a:r>
              <a:rPr lang="zh-CN" altLang="en-US" b="1" dirty="0">
                <a:effectLst>
                  <a:outerShdw blurRad="38100" dist="38100" dir="2700000" algn="tl">
                    <a:srgbClr val="C0C0C0"/>
                  </a:outerShdw>
                </a:effectLst>
                <a:latin typeface="宋体" pitchFamily="2" charset="-122"/>
              </a:rPr>
              <a:t>。</a:t>
            </a:r>
          </a:p>
          <a:p>
            <a:pPr marL="0" indent="0"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latin typeface="宋体" pitchFamily="2" charset="-122"/>
              </a:rPr>
              <a:t>      </a:t>
            </a:r>
            <a:r>
              <a:rPr lang="en-US" altLang="zh-CN" b="1" dirty="0">
                <a:effectLst>
                  <a:outerShdw blurRad="38100" dist="38100" dir="2700000" algn="tl">
                    <a:srgbClr val="C0C0C0"/>
                  </a:outerShdw>
                </a:effectLst>
                <a:latin typeface="宋体" pitchFamily="2" charset="-122"/>
              </a:rPr>
              <a:t>2. </a:t>
            </a:r>
            <a:r>
              <a:rPr lang="zh-CN" altLang="en-US" b="1" dirty="0">
                <a:effectLst>
                  <a:outerShdw blurRad="38100" dist="38100" dir="2700000" algn="tl">
                    <a:srgbClr val="C0C0C0"/>
                  </a:outerShdw>
                </a:effectLst>
                <a:latin typeface="宋体" pitchFamily="2" charset="-122"/>
              </a:rPr>
              <a:t>每轮查找后，使查找区间减半。</a:t>
            </a:r>
          </a:p>
          <a:p>
            <a:pPr marL="0" indent="0" eaLnBrk="1" fontAlgn="auto" hangingPunct="1">
              <a:spcAft>
                <a:spcPts val="0"/>
              </a:spcAft>
              <a:buClr>
                <a:schemeClr val="accent3"/>
              </a:buClr>
              <a:buFont typeface="Wingdings" pitchFamily="2" charset="2"/>
              <a:buNone/>
              <a:defRPr/>
            </a:pPr>
            <a:endParaRPr lang="en-US" altLang="zh-CN" dirty="0"/>
          </a:p>
        </p:txBody>
      </p:sp>
      <p:sp>
        <p:nvSpPr>
          <p:cNvPr id="7" name="灯片编号占位符 5"/>
          <p:cNvSpPr>
            <a:spLocks noGrp="1"/>
          </p:cNvSpPr>
          <p:nvPr>
            <p:ph type="sldNum" sz="quarter" idx="12"/>
          </p:nvPr>
        </p:nvSpPr>
        <p:spPr/>
        <p:txBody>
          <a:bodyPr/>
          <a:lstStyle/>
          <a:p>
            <a:pPr>
              <a:defRPr/>
            </a:pPr>
            <a:fld id="{EED78C60-A088-4160-A339-4A7EAD557AC3}" type="slidenum">
              <a:rPr lang="en-US" altLang="zh-CN"/>
              <a:pPr>
                <a:defRPr/>
              </a:pPr>
              <a:t>20</a:t>
            </a:fld>
            <a:endParaRPr lang="en-US" altLang="zh-CN"/>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7906" name="Rectangle 2"/>
          <p:cNvSpPr>
            <a:spLocks noGrp="1" noChangeArrowheads="1"/>
          </p:cNvSpPr>
          <p:nvPr>
            <p:ph idx="1"/>
          </p:nvPr>
        </p:nvSpPr>
        <p:spPr>
          <a:xfrm>
            <a:off x="395288" y="476250"/>
            <a:ext cx="8534400" cy="5907088"/>
          </a:xfrm>
        </p:spPr>
        <p:txBody>
          <a:bodyPr>
            <a:normAutofit/>
          </a:bodyPr>
          <a:lstStyle/>
          <a:p>
            <a:pPr marL="0" indent="0" eaLnBrk="1" fontAlgn="auto" hangingPunct="1">
              <a:spcAft>
                <a:spcPts val="0"/>
              </a:spcAft>
              <a:buClr>
                <a:schemeClr val="accent3"/>
              </a:buClr>
              <a:buFont typeface="Wingdings" pitchFamily="2" charset="2"/>
              <a:buNone/>
              <a:defRPr/>
            </a:pPr>
            <a:r>
              <a:rPr lang="en-US" altLang="zh-CN" dirty="0"/>
              <a:t>       </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 = 0 ;   j = n-1 ; /* </a:t>
            </a:r>
            <a:r>
              <a:rPr lang="zh-CN" altLang="en-US" b="1" dirty="0">
                <a:effectLst>
                  <a:outerShdw blurRad="38100" dist="38100" dir="2700000" algn="tl">
                    <a:srgbClr val="C0C0C0"/>
                  </a:outerShdw>
                </a:effectLst>
              </a:rPr>
              <a:t>设定初始查找区间 *</a:t>
            </a:r>
            <a:r>
              <a:rPr lang="en-US" altLang="zh-CN" b="1" dirty="0">
                <a:effectLst>
                  <a:outerShdw blurRad="38100" dist="38100" dir="2700000" algn="tl">
                    <a:srgbClr val="C0C0C0"/>
                  </a:outerShdw>
                </a:effectLst>
              </a:rPr>
              <a:t>/</a:t>
            </a:r>
          </a:p>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while(</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 &lt;= j) {</a:t>
            </a:r>
          </a:p>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m = (</a:t>
            </a:r>
            <a:r>
              <a:rPr lang="en-US" altLang="zh-CN" b="1" dirty="0" err="1">
                <a:effectLst>
                  <a:outerShdw blurRad="38100" dist="38100" dir="2700000" algn="tl">
                    <a:srgbClr val="C0C0C0"/>
                  </a:outerShdw>
                </a:effectLst>
              </a:rPr>
              <a:t>i+j</a:t>
            </a:r>
            <a:r>
              <a:rPr lang="en-US" altLang="zh-CN" b="1" dirty="0">
                <a:effectLst>
                  <a:outerShdw blurRad="38100" dist="38100" dir="2700000" algn="tl">
                    <a:srgbClr val="C0C0C0"/>
                  </a:outerShdw>
                </a:effectLst>
              </a:rPr>
              <a:t>)/2 ;</a:t>
            </a:r>
          </a:p>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if (key == a[m])  break;</a:t>
            </a:r>
          </a:p>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else if (key &gt; a[m])</a:t>
            </a:r>
          </a:p>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 = m+1;</a:t>
            </a:r>
          </a:p>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else</a:t>
            </a:r>
          </a:p>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j = m-1;</a:t>
            </a:r>
          </a:p>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a:t>
            </a:r>
          </a:p>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 </a:t>
            </a:r>
            <a:r>
              <a:rPr lang="zh-CN" altLang="en-US" b="1" dirty="0">
                <a:effectLst>
                  <a:outerShdw blurRad="38100" dist="38100" dir="2700000" algn="tl">
                    <a:srgbClr val="C0C0C0"/>
                  </a:outerShdw>
                </a:effectLst>
              </a:rPr>
              <a:t>找到时，</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 &lt;= j</a:t>
            </a:r>
            <a:r>
              <a:rPr lang="zh-CN" altLang="en-US" b="1" dirty="0">
                <a:effectLst>
                  <a:outerShdw blurRad="38100" dist="38100" dir="2700000" algn="tl">
                    <a:srgbClr val="C0C0C0"/>
                  </a:outerShdw>
                </a:effectLst>
              </a:rPr>
              <a:t>，</a:t>
            </a:r>
            <a:r>
              <a:rPr lang="en-US" altLang="zh-CN" b="1" dirty="0">
                <a:effectLst>
                  <a:outerShdw blurRad="38100" dist="38100" dir="2700000" algn="tl">
                    <a:srgbClr val="C0C0C0"/>
                  </a:outerShdw>
                </a:effectLst>
              </a:rPr>
              <a:t>a[m] == key</a:t>
            </a:r>
            <a:r>
              <a:rPr lang="zh-CN" altLang="en-US" b="1" dirty="0">
                <a:effectLst>
                  <a:outerShdw blurRad="38100" dist="38100" dir="2700000" algn="tl">
                    <a:srgbClr val="C0C0C0"/>
                  </a:outerShdw>
                </a:effectLst>
              </a:rPr>
              <a:t>；否则 </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 &gt; j */</a:t>
            </a:r>
          </a:p>
        </p:txBody>
      </p:sp>
      <p:sp>
        <p:nvSpPr>
          <p:cNvPr id="5" name="灯片编号占位符 5"/>
          <p:cNvSpPr>
            <a:spLocks noGrp="1"/>
          </p:cNvSpPr>
          <p:nvPr>
            <p:ph type="sldNum" sz="quarter" idx="12"/>
          </p:nvPr>
        </p:nvSpPr>
        <p:spPr/>
        <p:txBody>
          <a:bodyPr/>
          <a:lstStyle/>
          <a:p>
            <a:pPr>
              <a:defRPr/>
            </a:pPr>
            <a:fld id="{CE2683A7-7D1C-49F7-94F1-AAA9307137D1}" type="slidenum">
              <a:rPr lang="en-US" altLang="zh-CN"/>
              <a:pPr>
                <a:defRPr/>
              </a:pPr>
              <a:t>21</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07906">
                                            <p:txEl>
                                              <p:pRg st="1" end="1"/>
                                            </p:txEl>
                                          </p:spTgt>
                                        </p:tgtEl>
                                        <p:attrNameLst>
                                          <p:attrName>style.visibility</p:attrName>
                                        </p:attrNameLst>
                                      </p:cBhvr>
                                      <p:to>
                                        <p:strVal val="visible"/>
                                      </p:to>
                                    </p:set>
                                    <p:anim calcmode="lin" valueType="num">
                                      <p:cBhvr additive="base">
                                        <p:cTn id="7" dur="500" fill="hold"/>
                                        <p:tgtEl>
                                          <p:spTgt spid="50790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07906">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07906">
                                            <p:txEl>
                                              <p:pRg st="8" end="8"/>
                                            </p:txEl>
                                          </p:spTgt>
                                        </p:tgtEl>
                                        <p:attrNameLst>
                                          <p:attrName>style.visibility</p:attrName>
                                        </p:attrNameLst>
                                      </p:cBhvr>
                                      <p:to>
                                        <p:strVal val="visible"/>
                                      </p:to>
                                    </p:set>
                                    <p:anim calcmode="lin" valueType="num">
                                      <p:cBhvr additive="base">
                                        <p:cTn id="11" dur="500" fill="hold"/>
                                        <p:tgtEl>
                                          <p:spTgt spid="507906">
                                            <p:txEl>
                                              <p:pRg st="8" end="8"/>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07906">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07906">
                                            <p:txEl>
                                              <p:pRg st="2" end="2"/>
                                            </p:txEl>
                                          </p:spTgt>
                                        </p:tgtEl>
                                        <p:attrNameLst>
                                          <p:attrName>style.visibility</p:attrName>
                                        </p:attrNameLst>
                                      </p:cBhvr>
                                      <p:to>
                                        <p:strVal val="visible"/>
                                      </p:to>
                                    </p:set>
                                    <p:anim calcmode="lin" valueType="num">
                                      <p:cBhvr additive="base">
                                        <p:cTn id="17" dur="500" fill="hold"/>
                                        <p:tgtEl>
                                          <p:spTgt spid="507906">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0790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507906">
                                            <p:txEl>
                                              <p:pRg st="3" end="3"/>
                                            </p:txEl>
                                          </p:spTgt>
                                        </p:tgtEl>
                                        <p:attrNameLst>
                                          <p:attrName>style.visibility</p:attrName>
                                        </p:attrNameLst>
                                      </p:cBhvr>
                                      <p:to>
                                        <p:strVal val="visible"/>
                                      </p:to>
                                    </p:set>
                                    <p:anim calcmode="lin" valueType="num">
                                      <p:cBhvr additive="base">
                                        <p:cTn id="23" dur="500" fill="hold"/>
                                        <p:tgtEl>
                                          <p:spTgt spid="507906">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0790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507906">
                                            <p:txEl>
                                              <p:pRg st="4" end="4"/>
                                            </p:txEl>
                                          </p:spTgt>
                                        </p:tgtEl>
                                        <p:attrNameLst>
                                          <p:attrName>style.visibility</p:attrName>
                                        </p:attrNameLst>
                                      </p:cBhvr>
                                      <p:to>
                                        <p:strVal val="visible"/>
                                      </p:to>
                                    </p:set>
                                    <p:anim calcmode="lin" valueType="num">
                                      <p:cBhvr additive="base">
                                        <p:cTn id="29" dur="500" fill="hold"/>
                                        <p:tgtEl>
                                          <p:spTgt spid="507906">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507906">
                                            <p:txEl>
                                              <p:pRg st="4" end="4"/>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507906">
                                            <p:txEl>
                                              <p:pRg st="5" end="5"/>
                                            </p:txEl>
                                          </p:spTgt>
                                        </p:tgtEl>
                                        <p:attrNameLst>
                                          <p:attrName>style.visibility</p:attrName>
                                        </p:attrNameLst>
                                      </p:cBhvr>
                                      <p:to>
                                        <p:strVal val="visible"/>
                                      </p:to>
                                    </p:set>
                                    <p:anim calcmode="lin" valueType="num">
                                      <p:cBhvr additive="base">
                                        <p:cTn id="33" dur="500" fill="hold"/>
                                        <p:tgtEl>
                                          <p:spTgt spid="507906">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507906">
                                            <p:txEl>
                                              <p:pRg st="5" end="5"/>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507906">
                                            <p:txEl>
                                              <p:pRg st="6" end="6"/>
                                            </p:txEl>
                                          </p:spTgt>
                                        </p:tgtEl>
                                        <p:attrNameLst>
                                          <p:attrName>style.visibility</p:attrName>
                                        </p:attrNameLst>
                                      </p:cBhvr>
                                      <p:to>
                                        <p:strVal val="visible"/>
                                      </p:to>
                                    </p:set>
                                    <p:anim calcmode="lin" valueType="num">
                                      <p:cBhvr additive="base">
                                        <p:cTn id="37" dur="500" fill="hold"/>
                                        <p:tgtEl>
                                          <p:spTgt spid="507906">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07906">
                                            <p:txEl>
                                              <p:pRg st="6" end="6"/>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507906">
                                            <p:txEl>
                                              <p:pRg st="7" end="7"/>
                                            </p:txEl>
                                          </p:spTgt>
                                        </p:tgtEl>
                                        <p:attrNameLst>
                                          <p:attrName>style.visibility</p:attrName>
                                        </p:attrNameLst>
                                      </p:cBhvr>
                                      <p:to>
                                        <p:strVal val="visible"/>
                                      </p:to>
                                    </p:set>
                                    <p:anim calcmode="lin" valueType="num">
                                      <p:cBhvr additive="base">
                                        <p:cTn id="41" dur="500" fill="hold"/>
                                        <p:tgtEl>
                                          <p:spTgt spid="507906">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507906">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507906">
                                            <p:txEl>
                                              <p:pRg st="9" end="9"/>
                                            </p:txEl>
                                          </p:spTgt>
                                        </p:tgtEl>
                                        <p:attrNameLst>
                                          <p:attrName>style.visibility</p:attrName>
                                        </p:attrNameLst>
                                      </p:cBhvr>
                                      <p:to>
                                        <p:strVal val="visible"/>
                                      </p:to>
                                    </p:set>
                                    <p:anim calcmode="lin" valueType="num">
                                      <p:cBhvr additive="base">
                                        <p:cTn id="47" dur="500" fill="hold"/>
                                        <p:tgtEl>
                                          <p:spTgt spid="507906">
                                            <p:txEl>
                                              <p:pRg st="9" end="9"/>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507906">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930" name="Rectangle 2"/>
          <p:cNvSpPr>
            <a:spLocks noGrp="1" noChangeArrowheads="1"/>
          </p:cNvSpPr>
          <p:nvPr>
            <p:ph idx="1"/>
          </p:nvPr>
        </p:nvSpPr>
        <p:spPr>
          <a:xfrm>
            <a:off x="395288" y="476250"/>
            <a:ext cx="8534400" cy="5907088"/>
          </a:xfrm>
        </p:spPr>
        <p:txBody>
          <a:bodyPr>
            <a:normAutofit/>
          </a:bodyPr>
          <a:lstStyle/>
          <a:p>
            <a:pPr marL="0" indent="0" eaLnBrk="1" fontAlgn="auto" hangingPunct="1">
              <a:spcAft>
                <a:spcPts val="0"/>
              </a:spcAft>
              <a:buClr>
                <a:schemeClr val="accent3"/>
              </a:buClr>
              <a:buFont typeface="Wingdings" pitchFamily="2" charset="2"/>
              <a:buNone/>
              <a:defRPr/>
            </a:pPr>
            <a:r>
              <a:rPr lang="en-US" altLang="zh-CN" b="1">
                <a:effectLst>
                  <a:outerShdw blurRad="38100" dist="38100" dir="2700000" algn="tl">
                    <a:srgbClr val="C0C0C0"/>
                  </a:outerShdw>
                </a:effectLst>
              </a:rPr>
              <a:t>【</a:t>
            </a:r>
            <a:r>
              <a:rPr lang="zh-CN" altLang="en-US" b="1">
                <a:effectLst>
                  <a:outerShdw blurRad="38100" dist="38100" dir="2700000" algn="tl">
                    <a:srgbClr val="C0C0C0"/>
                  </a:outerShdw>
                </a:effectLst>
              </a:rPr>
              <a:t>例</a:t>
            </a:r>
            <a:r>
              <a:rPr lang="en-US" altLang="zh-CN" b="1">
                <a:effectLst>
                  <a:outerShdw blurRad="38100" dist="38100" dir="2700000" algn="tl">
                    <a:srgbClr val="C0C0C0"/>
                  </a:outerShdw>
                </a:effectLst>
              </a:rPr>
              <a:t>4.6】</a:t>
            </a:r>
            <a:r>
              <a:rPr lang="zh-CN" altLang="en-US" b="1">
                <a:effectLst>
                  <a:outerShdw blurRad="38100" dist="38100" dir="2700000" algn="tl">
                    <a:srgbClr val="C0C0C0"/>
                  </a:outerShdw>
                </a:effectLst>
              </a:rPr>
              <a:t>按递增顺序生成集合</a:t>
            </a:r>
            <a:r>
              <a:rPr lang="en-US" altLang="zh-CN" b="1">
                <a:effectLst>
                  <a:outerShdw blurRad="38100" dist="38100" dir="2700000" algn="tl">
                    <a:srgbClr val="C0C0C0"/>
                  </a:outerShdw>
                </a:effectLst>
              </a:rPr>
              <a:t>M</a:t>
            </a:r>
            <a:r>
              <a:rPr lang="zh-CN" altLang="en-US" b="1">
                <a:effectLst>
                  <a:outerShdw blurRad="38100" dist="38100" dir="2700000" algn="tl">
                    <a:srgbClr val="C0C0C0"/>
                  </a:outerShdw>
                </a:effectLst>
              </a:rPr>
              <a:t>的前</a:t>
            </a:r>
            <a:r>
              <a:rPr lang="en-US" altLang="zh-CN" b="1">
                <a:effectLst>
                  <a:outerShdw blurRad="38100" dist="38100" dir="2700000" algn="tl">
                    <a:srgbClr val="C0C0C0"/>
                  </a:outerShdw>
                </a:effectLst>
              </a:rPr>
              <a:t>n</a:t>
            </a:r>
            <a:r>
              <a:rPr lang="zh-CN" altLang="en-US" b="1">
                <a:effectLst>
                  <a:outerShdw blurRad="38100" dist="38100" dir="2700000" algn="tl">
                    <a:srgbClr val="C0C0C0"/>
                  </a:outerShdw>
                </a:effectLst>
              </a:rPr>
              <a:t>个元素。</a:t>
            </a:r>
          </a:p>
          <a:p>
            <a:pPr marL="0" indent="0" eaLnBrk="1" fontAlgn="auto" hangingPunct="1">
              <a:spcAft>
                <a:spcPts val="0"/>
              </a:spcAft>
              <a:buClr>
                <a:schemeClr val="accent3"/>
              </a:buClr>
              <a:buFont typeface="Wingdings" pitchFamily="2" charset="2"/>
              <a:buNone/>
              <a:defRPr/>
            </a:pPr>
            <a:endParaRPr lang="zh-CN" altLang="en-US" b="1">
              <a:effectLst>
                <a:outerShdw blurRad="38100" dist="38100" dir="2700000" algn="tl">
                  <a:srgbClr val="C0C0C0"/>
                </a:outerShdw>
              </a:effectLst>
            </a:endParaRPr>
          </a:p>
          <a:p>
            <a:pPr marL="0" indent="0" eaLnBrk="1" fontAlgn="auto" hangingPunct="1">
              <a:spcAft>
                <a:spcPts val="0"/>
              </a:spcAft>
              <a:buClr>
                <a:schemeClr val="accent3"/>
              </a:buClr>
              <a:buFont typeface="Wingdings" pitchFamily="2" charset="2"/>
              <a:buNone/>
              <a:defRPr/>
            </a:pPr>
            <a:r>
              <a:rPr lang="zh-CN" altLang="en-US" b="1">
                <a:effectLst>
                  <a:outerShdw blurRad="38100" dist="38100" dir="2700000" algn="tl">
                    <a:srgbClr val="C0C0C0"/>
                  </a:outerShdw>
                </a:effectLst>
              </a:rPr>
              <a:t>集合</a:t>
            </a:r>
            <a:r>
              <a:rPr lang="en-US" altLang="zh-CN" b="1">
                <a:effectLst>
                  <a:outerShdw blurRad="38100" dist="38100" dir="2700000" algn="tl">
                    <a:srgbClr val="C0C0C0"/>
                  </a:outerShdw>
                </a:effectLst>
              </a:rPr>
              <a:t>M</a:t>
            </a:r>
            <a:r>
              <a:rPr lang="zh-CN" altLang="en-US" b="1">
                <a:effectLst>
                  <a:outerShdw blurRad="38100" dist="38100" dir="2700000" algn="tl">
                    <a:srgbClr val="C0C0C0"/>
                  </a:outerShdw>
                </a:effectLst>
              </a:rPr>
              <a:t>定义如下：</a:t>
            </a:r>
          </a:p>
          <a:p>
            <a:pPr marL="0" indent="0" eaLnBrk="1" fontAlgn="auto" hangingPunct="1">
              <a:spcAft>
                <a:spcPts val="0"/>
              </a:spcAft>
              <a:buClr>
                <a:schemeClr val="accent3"/>
              </a:buClr>
              <a:buFont typeface="Wingdings" pitchFamily="2" charset="2"/>
              <a:buNone/>
              <a:defRPr/>
            </a:pPr>
            <a:r>
              <a:rPr lang="en-US" altLang="zh-CN" b="1">
                <a:effectLst>
                  <a:outerShdw blurRad="38100" dist="38100" dir="2700000" algn="tl">
                    <a:srgbClr val="C0C0C0"/>
                  </a:outerShdw>
                </a:effectLst>
              </a:rPr>
              <a:t>(1)</a:t>
            </a:r>
            <a:r>
              <a:rPr lang="zh-CN" altLang="en-US" b="1">
                <a:effectLst>
                  <a:outerShdw blurRad="38100" dist="38100" dir="2700000" algn="tl">
                    <a:srgbClr val="C0C0C0"/>
                  </a:outerShdw>
                </a:effectLst>
              </a:rPr>
              <a:t>整数</a:t>
            </a:r>
            <a:r>
              <a:rPr lang="en-US" altLang="zh-CN" b="1">
                <a:effectLst>
                  <a:outerShdw blurRad="38100" dist="38100" dir="2700000" algn="tl">
                    <a:srgbClr val="C0C0C0"/>
                  </a:outerShdw>
                </a:effectLst>
              </a:rPr>
              <a:t>1</a:t>
            </a:r>
            <a:r>
              <a:rPr lang="zh-CN" altLang="en-US" b="1">
                <a:effectLst>
                  <a:outerShdw blurRad="38100" dist="38100" dir="2700000" algn="tl">
                    <a:srgbClr val="C0C0C0"/>
                  </a:outerShdw>
                </a:effectLst>
              </a:rPr>
              <a:t>属于</a:t>
            </a:r>
            <a:r>
              <a:rPr lang="en-US" altLang="zh-CN" b="1">
                <a:effectLst>
                  <a:outerShdw blurRad="38100" dist="38100" dir="2700000" algn="tl">
                    <a:srgbClr val="C0C0C0"/>
                  </a:outerShdw>
                </a:effectLst>
              </a:rPr>
              <a:t>M</a:t>
            </a:r>
            <a:r>
              <a:rPr lang="zh-CN" altLang="en-US" b="1">
                <a:effectLst>
                  <a:outerShdw blurRad="38100" dist="38100" dir="2700000" algn="tl">
                    <a:srgbClr val="C0C0C0"/>
                  </a:outerShdw>
                </a:effectLst>
              </a:rPr>
              <a:t>；</a:t>
            </a:r>
          </a:p>
          <a:p>
            <a:pPr marL="0" indent="0" eaLnBrk="1" fontAlgn="auto" hangingPunct="1">
              <a:spcAft>
                <a:spcPts val="0"/>
              </a:spcAft>
              <a:buClr>
                <a:schemeClr val="accent3"/>
              </a:buClr>
              <a:buFont typeface="Wingdings" pitchFamily="2" charset="2"/>
              <a:buNone/>
              <a:defRPr/>
            </a:pPr>
            <a:r>
              <a:rPr lang="en-US" altLang="zh-CN" b="1">
                <a:effectLst>
                  <a:outerShdw blurRad="38100" dist="38100" dir="2700000" algn="tl">
                    <a:srgbClr val="C0C0C0"/>
                  </a:outerShdw>
                </a:effectLst>
              </a:rPr>
              <a:t>(2)</a:t>
            </a:r>
            <a:r>
              <a:rPr lang="zh-CN" altLang="en-US" b="1">
                <a:effectLst>
                  <a:outerShdw blurRad="38100" dist="38100" dir="2700000" algn="tl">
                    <a:srgbClr val="C0C0C0"/>
                  </a:outerShdw>
                </a:effectLst>
              </a:rPr>
              <a:t>如果整数</a:t>
            </a:r>
            <a:r>
              <a:rPr lang="en-US" altLang="zh-CN" b="1">
                <a:effectLst>
                  <a:outerShdw blurRad="38100" dist="38100" dir="2700000" algn="tl">
                    <a:srgbClr val="C0C0C0"/>
                  </a:outerShdw>
                </a:effectLst>
              </a:rPr>
              <a:t>X</a:t>
            </a:r>
            <a:r>
              <a:rPr lang="zh-CN" altLang="en-US" b="1">
                <a:effectLst>
                  <a:outerShdw blurRad="38100" dist="38100" dir="2700000" algn="tl">
                    <a:srgbClr val="C0C0C0"/>
                  </a:outerShdw>
                </a:effectLst>
              </a:rPr>
              <a:t>属于</a:t>
            </a:r>
            <a:r>
              <a:rPr lang="en-US" altLang="zh-CN" b="1">
                <a:effectLst>
                  <a:outerShdw blurRad="38100" dist="38100" dir="2700000" algn="tl">
                    <a:srgbClr val="C0C0C0"/>
                  </a:outerShdw>
                </a:effectLst>
              </a:rPr>
              <a:t>M</a:t>
            </a:r>
            <a:r>
              <a:rPr lang="zh-CN" altLang="en-US" b="1">
                <a:effectLst>
                  <a:outerShdw blurRad="38100" dist="38100" dir="2700000" algn="tl">
                    <a:srgbClr val="C0C0C0"/>
                  </a:outerShdw>
                </a:effectLst>
              </a:rPr>
              <a:t>，则整数</a:t>
            </a:r>
            <a:r>
              <a:rPr lang="en-US" altLang="zh-CN" b="1">
                <a:effectLst>
                  <a:outerShdw blurRad="38100" dist="38100" dir="2700000" algn="tl">
                    <a:srgbClr val="C0C0C0"/>
                  </a:outerShdw>
                </a:effectLst>
              </a:rPr>
              <a:t>2x+1</a:t>
            </a:r>
            <a:r>
              <a:rPr lang="zh-CN" altLang="en-US" b="1">
                <a:effectLst>
                  <a:outerShdw blurRad="38100" dist="38100" dir="2700000" algn="tl">
                    <a:srgbClr val="C0C0C0"/>
                  </a:outerShdw>
                </a:effectLst>
              </a:rPr>
              <a:t>和</a:t>
            </a:r>
            <a:r>
              <a:rPr lang="en-US" altLang="zh-CN" b="1">
                <a:effectLst>
                  <a:outerShdw blurRad="38100" dist="38100" dir="2700000" algn="tl">
                    <a:srgbClr val="C0C0C0"/>
                  </a:outerShdw>
                </a:effectLst>
              </a:rPr>
              <a:t>3x+1</a:t>
            </a:r>
            <a:r>
              <a:rPr lang="zh-CN" altLang="en-US" b="1">
                <a:effectLst>
                  <a:outerShdw blurRad="38100" dist="38100" dir="2700000" algn="tl">
                    <a:srgbClr val="C0C0C0"/>
                  </a:outerShdw>
                </a:effectLst>
              </a:rPr>
              <a:t>也属于</a:t>
            </a:r>
            <a:r>
              <a:rPr lang="en-US" altLang="zh-CN" b="1">
                <a:effectLst>
                  <a:outerShdw blurRad="38100" dist="38100" dir="2700000" algn="tl">
                    <a:srgbClr val="C0C0C0"/>
                  </a:outerShdw>
                </a:effectLst>
              </a:rPr>
              <a:t>M</a:t>
            </a:r>
            <a:r>
              <a:rPr lang="zh-CN" altLang="en-US" b="1">
                <a:effectLst>
                  <a:outerShdw blurRad="38100" dist="38100" dir="2700000" algn="tl">
                    <a:srgbClr val="C0C0C0"/>
                  </a:outerShdw>
                </a:effectLst>
              </a:rPr>
              <a:t>；</a:t>
            </a:r>
          </a:p>
          <a:p>
            <a:pPr marL="0" indent="0" eaLnBrk="1" fontAlgn="auto" hangingPunct="1">
              <a:spcAft>
                <a:spcPts val="0"/>
              </a:spcAft>
              <a:buClr>
                <a:schemeClr val="accent3"/>
              </a:buClr>
              <a:buFont typeface="Wingdings" pitchFamily="2" charset="2"/>
              <a:buNone/>
              <a:defRPr/>
            </a:pPr>
            <a:r>
              <a:rPr lang="en-US" altLang="zh-CN" b="1">
                <a:effectLst>
                  <a:outerShdw blurRad="38100" dist="38100" dir="2700000" algn="tl">
                    <a:srgbClr val="C0C0C0"/>
                  </a:outerShdw>
                </a:effectLst>
              </a:rPr>
              <a:t>(3)</a:t>
            </a:r>
            <a:r>
              <a:rPr lang="zh-CN" altLang="en-US" b="1">
                <a:effectLst>
                  <a:outerShdw blurRad="38100" dist="38100" dir="2700000" algn="tl">
                    <a:srgbClr val="C0C0C0"/>
                  </a:outerShdw>
                </a:effectLst>
              </a:rPr>
              <a:t>再没有别的整数属于</a:t>
            </a:r>
            <a:r>
              <a:rPr lang="en-US" altLang="zh-CN" b="1">
                <a:effectLst>
                  <a:outerShdw blurRad="38100" dist="38100" dir="2700000" algn="tl">
                    <a:srgbClr val="C0C0C0"/>
                  </a:outerShdw>
                </a:effectLst>
              </a:rPr>
              <a:t>M</a:t>
            </a:r>
            <a:r>
              <a:rPr lang="zh-CN" altLang="en-US" b="1">
                <a:effectLst>
                  <a:outerShdw blurRad="38100" dist="38100" dir="2700000" algn="tl">
                    <a:srgbClr val="C0C0C0"/>
                  </a:outerShdw>
                </a:effectLst>
              </a:rPr>
              <a:t>。</a:t>
            </a:r>
          </a:p>
          <a:p>
            <a:pPr marL="0" indent="0" eaLnBrk="1" fontAlgn="auto" hangingPunct="1">
              <a:spcAft>
                <a:spcPts val="0"/>
              </a:spcAft>
              <a:buClr>
                <a:schemeClr val="accent3"/>
              </a:buClr>
              <a:buFont typeface="Wingdings" pitchFamily="2" charset="2"/>
              <a:buNone/>
              <a:defRPr/>
            </a:pPr>
            <a:r>
              <a:rPr lang="zh-CN" altLang="en-US" b="1">
                <a:effectLst>
                  <a:outerShdw blurRad="38100" dist="38100" dir="2700000" algn="tl">
                    <a:srgbClr val="C0C0C0"/>
                  </a:outerShdw>
                </a:effectLst>
              </a:rPr>
              <a:t>    根据集合</a:t>
            </a:r>
            <a:r>
              <a:rPr lang="en-US" altLang="zh-CN" b="1">
                <a:effectLst>
                  <a:outerShdw blurRad="38100" dist="38100" dir="2700000" algn="tl">
                    <a:srgbClr val="C0C0C0"/>
                  </a:outerShdw>
                </a:effectLst>
              </a:rPr>
              <a:t>M</a:t>
            </a:r>
            <a:r>
              <a:rPr lang="zh-CN" altLang="en-US" b="1">
                <a:effectLst>
                  <a:outerShdw blurRad="38100" dist="38100" dir="2700000" algn="tl">
                    <a:srgbClr val="C0C0C0"/>
                  </a:outerShdw>
                </a:effectLst>
              </a:rPr>
              <a:t>的定义，它的前几个元素为</a:t>
            </a:r>
          </a:p>
          <a:p>
            <a:pPr marL="0" indent="0" eaLnBrk="1" fontAlgn="auto" hangingPunct="1">
              <a:spcAft>
                <a:spcPts val="0"/>
              </a:spcAft>
              <a:buClr>
                <a:schemeClr val="accent3"/>
              </a:buClr>
              <a:buFont typeface="Wingdings" pitchFamily="2" charset="2"/>
              <a:buNone/>
              <a:defRPr/>
            </a:pPr>
            <a:r>
              <a:rPr lang="zh-CN" altLang="en-US" b="1">
                <a:effectLst>
                  <a:outerShdw blurRad="38100" dist="38100" dir="2700000" algn="tl">
                    <a:srgbClr val="C0C0C0"/>
                  </a:outerShdw>
                </a:effectLst>
              </a:rPr>
              <a:t>     </a:t>
            </a:r>
            <a:r>
              <a:rPr lang="en-US" altLang="zh-CN" b="1">
                <a:effectLst>
                  <a:outerShdw blurRad="38100" dist="38100" dir="2700000" algn="tl">
                    <a:srgbClr val="C0C0C0"/>
                  </a:outerShdw>
                </a:effectLst>
              </a:rPr>
              <a:t>M =  { 1</a:t>
            </a:r>
            <a:r>
              <a:rPr lang="zh-CN" altLang="en-US" b="1">
                <a:effectLst>
                  <a:outerShdw blurRad="38100" dist="38100" dir="2700000" algn="tl">
                    <a:srgbClr val="C0C0C0"/>
                  </a:outerShdw>
                </a:effectLst>
              </a:rPr>
              <a:t>，</a:t>
            </a:r>
            <a:r>
              <a:rPr lang="en-US" altLang="zh-CN" b="1">
                <a:effectLst>
                  <a:outerShdw blurRad="38100" dist="38100" dir="2700000" algn="tl">
                    <a:srgbClr val="C0C0C0"/>
                  </a:outerShdw>
                </a:effectLst>
              </a:rPr>
              <a:t>3</a:t>
            </a:r>
            <a:r>
              <a:rPr lang="zh-CN" altLang="en-US" b="1">
                <a:effectLst>
                  <a:outerShdw blurRad="38100" dist="38100" dir="2700000" algn="tl">
                    <a:srgbClr val="C0C0C0"/>
                  </a:outerShdw>
                </a:effectLst>
              </a:rPr>
              <a:t>，</a:t>
            </a:r>
            <a:r>
              <a:rPr lang="en-US" altLang="zh-CN" b="1">
                <a:effectLst>
                  <a:outerShdw blurRad="38100" dist="38100" dir="2700000" algn="tl">
                    <a:srgbClr val="C0C0C0"/>
                  </a:outerShdw>
                </a:effectLst>
              </a:rPr>
              <a:t>4</a:t>
            </a:r>
            <a:r>
              <a:rPr lang="zh-CN" altLang="en-US" b="1">
                <a:effectLst>
                  <a:outerShdw blurRad="38100" dist="38100" dir="2700000" algn="tl">
                    <a:srgbClr val="C0C0C0"/>
                  </a:outerShdw>
                </a:effectLst>
              </a:rPr>
              <a:t>，</a:t>
            </a:r>
            <a:r>
              <a:rPr lang="en-US" altLang="zh-CN" b="1">
                <a:effectLst>
                  <a:outerShdw blurRad="38100" dist="38100" dir="2700000" algn="tl">
                    <a:srgbClr val="C0C0C0"/>
                  </a:outerShdw>
                </a:effectLst>
              </a:rPr>
              <a:t>7</a:t>
            </a:r>
            <a:r>
              <a:rPr lang="zh-CN" altLang="en-US" b="1">
                <a:effectLst>
                  <a:outerShdw blurRad="38100" dist="38100" dir="2700000" algn="tl">
                    <a:srgbClr val="C0C0C0"/>
                  </a:outerShdw>
                </a:effectLst>
              </a:rPr>
              <a:t>，</a:t>
            </a:r>
            <a:r>
              <a:rPr lang="en-US" altLang="zh-CN" b="1">
                <a:effectLst>
                  <a:outerShdw blurRad="38100" dist="38100" dir="2700000" algn="tl">
                    <a:srgbClr val="C0C0C0"/>
                  </a:outerShdw>
                </a:effectLst>
              </a:rPr>
              <a:t>9</a:t>
            </a:r>
            <a:r>
              <a:rPr lang="zh-CN" altLang="en-US" b="1">
                <a:effectLst>
                  <a:outerShdw blurRad="38100" dist="38100" dir="2700000" algn="tl">
                    <a:srgbClr val="C0C0C0"/>
                  </a:outerShdw>
                </a:effectLst>
              </a:rPr>
              <a:t>，</a:t>
            </a:r>
            <a:r>
              <a:rPr lang="en-US" altLang="zh-CN" b="1">
                <a:effectLst>
                  <a:outerShdw blurRad="38100" dist="38100" dir="2700000" algn="tl">
                    <a:srgbClr val="C0C0C0"/>
                  </a:outerShdw>
                </a:effectLst>
              </a:rPr>
              <a:t>… }</a:t>
            </a:r>
          </a:p>
        </p:txBody>
      </p:sp>
      <p:sp>
        <p:nvSpPr>
          <p:cNvPr id="5" name="灯片编号占位符 5"/>
          <p:cNvSpPr>
            <a:spLocks noGrp="1"/>
          </p:cNvSpPr>
          <p:nvPr>
            <p:ph type="sldNum" sz="quarter" idx="12"/>
          </p:nvPr>
        </p:nvSpPr>
        <p:spPr/>
        <p:txBody>
          <a:bodyPr/>
          <a:lstStyle/>
          <a:p>
            <a:pPr>
              <a:defRPr/>
            </a:pPr>
            <a:fld id="{8DBA3C25-7CDB-4E98-BC60-A1105F17965A}" type="slidenum">
              <a:rPr lang="en-US" altLang="zh-CN"/>
              <a:pPr>
                <a:defRPr/>
              </a:pPr>
              <a:t>22</a:t>
            </a:fld>
            <a:endParaRPr lang="en-US" altLang="zh-CN"/>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9954" name="Rectangle 2"/>
          <p:cNvSpPr>
            <a:spLocks noGrp="1" noChangeArrowheads="1"/>
          </p:cNvSpPr>
          <p:nvPr>
            <p:ph idx="1"/>
          </p:nvPr>
        </p:nvSpPr>
        <p:spPr>
          <a:xfrm>
            <a:off x="395288" y="476250"/>
            <a:ext cx="8534400" cy="5907088"/>
          </a:xfrm>
        </p:spPr>
        <p:txBody>
          <a:bodyPr>
            <a:normAutofit/>
          </a:bodyPr>
          <a:lstStyle/>
          <a:p>
            <a:pPr marL="0" indent="0" eaLnBrk="1" fontAlgn="auto" hangingPunct="1">
              <a:spcAft>
                <a:spcPts val="0"/>
              </a:spcAft>
              <a:buClr>
                <a:schemeClr val="accent3"/>
              </a:buClr>
              <a:buFont typeface="Wingdings" pitchFamily="2" charset="2"/>
              <a:buNone/>
              <a:defRPr/>
            </a:pPr>
            <a:r>
              <a:rPr lang="en-US" altLang="zh-CN" sz="3200" b="1" dirty="0">
                <a:effectLst>
                  <a:outerShdw blurRad="38100" dist="38100" dir="2700000" algn="tl">
                    <a:srgbClr val="C0C0C0"/>
                  </a:outerShdw>
                </a:effectLst>
              </a:rPr>
              <a:t>【</a:t>
            </a:r>
            <a:r>
              <a:rPr lang="zh-CN" altLang="en-US" sz="3200" b="1" dirty="0">
                <a:effectLst>
                  <a:outerShdw blurRad="38100" dist="38100" dir="2700000" algn="tl">
                    <a:srgbClr val="C0C0C0"/>
                  </a:outerShdw>
                </a:effectLst>
              </a:rPr>
              <a:t>解题思路</a:t>
            </a:r>
            <a:r>
              <a:rPr lang="en-US" altLang="zh-CN" sz="3200" b="1" dirty="0">
                <a:effectLst>
                  <a:outerShdw blurRad="38100" dist="38100" dir="2700000" algn="tl">
                    <a:srgbClr val="C0C0C0"/>
                  </a:outerShdw>
                </a:effectLst>
              </a:rPr>
              <a:t>】</a:t>
            </a:r>
          </a:p>
          <a:p>
            <a:pPr marL="0" indent="0" eaLnBrk="1" fontAlgn="auto" hangingPunct="1">
              <a:spcAft>
                <a:spcPts val="0"/>
              </a:spcAft>
              <a:buClr>
                <a:schemeClr val="accent3"/>
              </a:buClr>
              <a:buFont typeface="Wingdings" pitchFamily="2" charset="2"/>
              <a:buNone/>
              <a:defRPr/>
            </a:pPr>
            <a:r>
              <a:rPr lang="zh-CN" altLang="en-US" sz="3200" b="1" dirty="0">
                <a:effectLst>
                  <a:outerShdw blurRad="38100" dist="38100" dir="2700000" algn="tl">
                    <a:srgbClr val="C0C0C0"/>
                  </a:outerShdw>
                </a:effectLst>
              </a:rPr>
              <a:t>存储集合</a:t>
            </a:r>
            <a:r>
              <a:rPr lang="en-US" altLang="zh-CN" sz="3200" b="1" dirty="0">
                <a:effectLst>
                  <a:outerShdw blurRad="38100" dist="38100" dir="2700000" algn="tl">
                    <a:srgbClr val="C0C0C0"/>
                  </a:outerShdw>
                </a:effectLst>
              </a:rPr>
              <a:t>M</a:t>
            </a:r>
            <a:r>
              <a:rPr lang="zh-CN" altLang="en-US" sz="3200" b="1" dirty="0">
                <a:effectLst>
                  <a:outerShdw blurRad="38100" dist="38100" dir="2700000" algn="tl">
                    <a:srgbClr val="C0C0C0"/>
                  </a:outerShdw>
                </a:effectLst>
              </a:rPr>
              <a:t>的元素，引入数组</a:t>
            </a:r>
            <a:r>
              <a:rPr lang="en-US" altLang="zh-CN" sz="3200" b="1" dirty="0">
                <a:effectLst>
                  <a:outerShdw blurRad="38100" dist="38100" dir="2700000" algn="tl">
                    <a:srgbClr val="C0C0C0"/>
                  </a:outerShdw>
                </a:effectLst>
              </a:rPr>
              <a:t>m</a:t>
            </a:r>
            <a:r>
              <a:rPr lang="zh-CN" altLang="en-US" sz="3200" b="1" dirty="0">
                <a:effectLst>
                  <a:outerShdw blurRad="38100" dist="38100" dir="2700000" algn="tl">
                    <a:srgbClr val="C0C0C0"/>
                  </a:outerShdw>
                </a:effectLst>
              </a:rPr>
              <a:t>，</a:t>
            </a:r>
            <a:r>
              <a:rPr lang="en-US" altLang="zh-CN" sz="3200" b="1" dirty="0">
                <a:effectLst>
                  <a:outerShdw blurRad="38100" dist="38100" dir="2700000" algn="tl">
                    <a:srgbClr val="C0C0C0"/>
                  </a:outerShdw>
                </a:effectLst>
              </a:rPr>
              <a:t>m[j]</a:t>
            </a:r>
            <a:r>
              <a:rPr lang="zh-CN" altLang="en-US" sz="3200" b="1" dirty="0">
                <a:effectLst>
                  <a:outerShdw blurRad="38100" dist="38100" dir="2700000" algn="tl">
                    <a:srgbClr val="C0C0C0"/>
                  </a:outerShdw>
                </a:effectLst>
              </a:rPr>
              <a:t>存储集合</a:t>
            </a:r>
            <a:r>
              <a:rPr lang="en-US" altLang="zh-CN" sz="3200" b="1" dirty="0">
                <a:effectLst>
                  <a:outerShdw blurRad="38100" dist="38100" dir="2700000" algn="tl">
                    <a:srgbClr val="C0C0C0"/>
                  </a:outerShdw>
                </a:effectLst>
              </a:rPr>
              <a:t>M</a:t>
            </a:r>
            <a:r>
              <a:rPr lang="zh-CN" altLang="en-US" sz="3200" b="1" dirty="0">
                <a:effectLst>
                  <a:outerShdw blurRad="38100" dist="38100" dir="2700000" algn="tl">
                    <a:srgbClr val="C0C0C0"/>
                  </a:outerShdw>
                </a:effectLst>
              </a:rPr>
              <a:t>的第</a:t>
            </a:r>
            <a:r>
              <a:rPr lang="en-US" altLang="zh-CN" sz="3200" b="1" dirty="0">
                <a:effectLst>
                  <a:outerShdw blurRad="38100" dist="38100" dir="2700000" algn="tl">
                    <a:srgbClr val="C0C0C0"/>
                  </a:outerShdw>
                </a:effectLst>
              </a:rPr>
              <a:t>j+1</a:t>
            </a:r>
            <a:r>
              <a:rPr lang="zh-CN" altLang="en-US" sz="3200" b="1" dirty="0">
                <a:effectLst>
                  <a:outerShdw blurRad="38100" dist="38100" dir="2700000" algn="tl">
                    <a:srgbClr val="C0C0C0"/>
                  </a:outerShdw>
                </a:effectLst>
              </a:rPr>
              <a:t>个元素。先将</a:t>
            </a:r>
            <a:r>
              <a:rPr lang="en-US" altLang="zh-CN" sz="3200" b="1" dirty="0">
                <a:effectLst>
                  <a:outerShdw blurRad="38100" dist="38100" dir="2700000" algn="tl">
                    <a:srgbClr val="C0C0C0"/>
                  </a:outerShdw>
                </a:effectLst>
              </a:rPr>
              <a:t>1</a:t>
            </a:r>
            <a:r>
              <a:rPr lang="zh-CN" altLang="en-US" sz="3200" b="1" dirty="0">
                <a:effectLst>
                  <a:outerShdw blurRad="38100" dist="38100" dir="2700000" algn="tl">
                    <a:srgbClr val="C0C0C0"/>
                  </a:outerShdw>
                </a:effectLst>
              </a:rPr>
              <a:t>放入数组</a:t>
            </a:r>
            <a:r>
              <a:rPr lang="en-US" altLang="zh-CN" sz="3200" b="1" dirty="0">
                <a:effectLst>
                  <a:outerShdw blurRad="38100" dist="38100" dir="2700000" algn="tl">
                    <a:srgbClr val="C0C0C0"/>
                  </a:outerShdw>
                </a:effectLst>
              </a:rPr>
              <a:t>m[0]</a:t>
            </a:r>
            <a:r>
              <a:rPr lang="zh-CN" altLang="en-US" sz="3200" b="1" dirty="0">
                <a:effectLst>
                  <a:outerShdw blurRad="38100" dist="38100" dir="2700000" algn="tl">
                    <a:srgbClr val="C0C0C0"/>
                  </a:outerShdw>
                </a:effectLst>
              </a:rPr>
              <a:t>中，然后按递增顺序用</a:t>
            </a:r>
            <a:r>
              <a:rPr lang="en-US" altLang="zh-CN" sz="3200" b="1" dirty="0">
                <a:effectLst>
                  <a:outerShdw blurRad="38100" dist="38100" dir="2700000" algn="tl">
                    <a:srgbClr val="C0C0C0"/>
                  </a:outerShdw>
                </a:effectLst>
              </a:rPr>
              <a:t>m[]</a:t>
            </a:r>
            <a:r>
              <a:rPr lang="zh-CN" altLang="en-US" sz="3200" b="1" dirty="0">
                <a:effectLst>
                  <a:outerShdw blurRad="38100" dist="38100" dir="2700000" algn="tl">
                    <a:srgbClr val="C0C0C0"/>
                  </a:outerShdw>
                </a:effectLst>
              </a:rPr>
              <a:t>中的现有元素枚举出</a:t>
            </a:r>
            <a:r>
              <a:rPr lang="en-US" altLang="zh-CN" sz="3200" b="1" dirty="0">
                <a:effectLst>
                  <a:outerShdw blurRad="38100" dist="38100" dir="2700000" algn="tl">
                    <a:srgbClr val="C0C0C0"/>
                  </a:outerShdw>
                </a:effectLst>
              </a:rPr>
              <a:t>m</a:t>
            </a:r>
            <a:r>
              <a:rPr lang="zh-CN" altLang="en-US" sz="3200" b="1" dirty="0">
                <a:effectLst>
                  <a:outerShdw blurRad="38100" dist="38100" dir="2700000" algn="tl">
                    <a:srgbClr val="C0C0C0"/>
                  </a:outerShdw>
                </a:effectLst>
              </a:rPr>
              <a:t>的新元素。每个元素可以施行两种枚举方法。</a:t>
            </a:r>
          </a:p>
          <a:p>
            <a:pPr marL="0" indent="0" eaLnBrk="1" fontAlgn="auto" hangingPunct="1">
              <a:spcAft>
                <a:spcPts val="0"/>
              </a:spcAft>
              <a:buClr>
                <a:schemeClr val="accent3"/>
              </a:buClr>
              <a:buFont typeface="Wingdings" pitchFamily="2" charset="2"/>
              <a:buNone/>
              <a:defRPr/>
            </a:pPr>
            <a:endParaRPr lang="en-US" altLang="zh-CN" sz="3200" b="1" dirty="0">
              <a:effectLst>
                <a:outerShdw blurRad="38100" dist="38100" dir="2700000" algn="tl">
                  <a:srgbClr val="C0C0C0"/>
                </a:outerShdw>
              </a:effectLst>
            </a:endParaRPr>
          </a:p>
          <a:p>
            <a:pPr marL="0" indent="0" eaLnBrk="1" fontAlgn="auto" hangingPunct="1">
              <a:spcAft>
                <a:spcPts val="0"/>
              </a:spcAft>
              <a:buClr>
                <a:schemeClr val="accent3"/>
              </a:buClr>
              <a:buFont typeface="Wingdings" pitchFamily="2" charset="2"/>
              <a:buNone/>
              <a:defRPr/>
            </a:pPr>
            <a:r>
              <a:rPr lang="zh-CN" altLang="en-US" sz="3200" b="1" dirty="0">
                <a:effectLst>
                  <a:outerShdw blurRad="38100" dist="38100" dir="2700000" algn="tl">
                    <a:srgbClr val="C0C0C0"/>
                  </a:outerShdw>
                </a:effectLst>
              </a:rPr>
              <a:t>引入变量</a:t>
            </a:r>
            <a:r>
              <a:rPr lang="en-US" altLang="zh-CN" sz="3200" b="1" dirty="0">
                <a:effectLst>
                  <a:outerShdw blurRad="38100" dist="38100" dir="2700000" algn="tl">
                    <a:srgbClr val="C0C0C0"/>
                  </a:outerShdw>
                </a:effectLst>
              </a:rPr>
              <a:t>e2</a:t>
            </a:r>
            <a:r>
              <a:rPr lang="zh-CN" altLang="en-US" sz="3200" b="1" dirty="0">
                <a:effectLst>
                  <a:outerShdw blurRad="38100" dist="38100" dir="2700000" algn="tl">
                    <a:srgbClr val="C0C0C0"/>
                  </a:outerShdw>
                </a:effectLst>
              </a:rPr>
              <a:t>和</a:t>
            </a:r>
            <a:r>
              <a:rPr lang="en-US" altLang="zh-CN" sz="3200" b="1" dirty="0">
                <a:effectLst>
                  <a:outerShdw blurRad="38100" dist="38100" dir="2700000" algn="tl">
                    <a:srgbClr val="C0C0C0"/>
                  </a:outerShdw>
                </a:effectLst>
              </a:rPr>
              <a:t>e3</a:t>
            </a:r>
            <a:r>
              <a:rPr lang="zh-CN" altLang="en-US" sz="3200" b="1" dirty="0">
                <a:effectLst>
                  <a:outerShdw blurRad="38100" dist="38100" dir="2700000" algn="tl">
                    <a:srgbClr val="C0C0C0"/>
                  </a:outerShdw>
                </a:effectLst>
              </a:rPr>
              <a:t>，分别用于指出</a:t>
            </a:r>
            <a:r>
              <a:rPr lang="en-US" altLang="zh-CN" sz="3200" b="1" dirty="0">
                <a:effectLst>
                  <a:outerShdw blurRad="38100" dist="38100" dir="2700000" algn="tl">
                    <a:srgbClr val="C0C0C0"/>
                  </a:outerShdw>
                </a:effectLst>
              </a:rPr>
              <a:t>m</a:t>
            </a:r>
            <a:r>
              <a:rPr lang="zh-CN" altLang="en-US" sz="3200" b="1" dirty="0">
                <a:effectLst>
                  <a:outerShdw blurRad="38100" dist="38100" dir="2700000" algn="tl">
                    <a:srgbClr val="C0C0C0"/>
                  </a:outerShdw>
                </a:effectLst>
              </a:rPr>
              <a:t>中的下一个要执行</a:t>
            </a:r>
            <a:r>
              <a:rPr lang="en-US" altLang="zh-CN" sz="3200" b="1" dirty="0">
                <a:effectLst>
                  <a:outerShdw blurRad="38100" dist="38100" dir="2700000" algn="tl">
                    <a:srgbClr val="C0C0C0"/>
                  </a:outerShdw>
                </a:effectLst>
              </a:rPr>
              <a:t>2x+1</a:t>
            </a:r>
            <a:r>
              <a:rPr lang="zh-CN" altLang="en-US" sz="3200" b="1" dirty="0">
                <a:effectLst>
                  <a:outerShdw blurRad="38100" dist="38100" dir="2700000" algn="tl">
                    <a:srgbClr val="C0C0C0"/>
                  </a:outerShdw>
                </a:effectLst>
              </a:rPr>
              <a:t>枚举的元素的下标和要执行</a:t>
            </a:r>
            <a:r>
              <a:rPr lang="en-US" altLang="zh-CN" sz="3200" b="1" dirty="0">
                <a:effectLst>
                  <a:outerShdw blurRad="38100" dist="38100" dir="2700000" algn="tl">
                    <a:srgbClr val="C0C0C0"/>
                  </a:outerShdw>
                </a:effectLst>
              </a:rPr>
              <a:t>3x+1</a:t>
            </a:r>
            <a:r>
              <a:rPr lang="zh-CN" altLang="en-US" sz="3200" b="1" dirty="0">
                <a:effectLst>
                  <a:outerShdw blurRad="38100" dist="38100" dir="2700000" algn="tl">
                    <a:srgbClr val="C0C0C0"/>
                  </a:outerShdw>
                </a:effectLst>
              </a:rPr>
              <a:t>枚举的元素的下标。另外，令</a:t>
            </a:r>
            <a:r>
              <a:rPr lang="en-US" altLang="zh-CN" sz="3200" b="1" dirty="0">
                <a:effectLst>
                  <a:outerShdw blurRad="38100" dist="38100" dir="2700000" algn="tl">
                    <a:srgbClr val="C0C0C0"/>
                  </a:outerShdw>
                </a:effectLst>
              </a:rPr>
              <a:t>j</a:t>
            </a:r>
            <a:r>
              <a:rPr lang="zh-CN" altLang="en-US" sz="3200" b="1" dirty="0">
                <a:effectLst>
                  <a:outerShdw blurRad="38100" dist="38100" dir="2700000" algn="tl">
                    <a:srgbClr val="C0C0C0"/>
                  </a:outerShdw>
                </a:effectLst>
              </a:rPr>
              <a:t>表示集合</a:t>
            </a:r>
            <a:r>
              <a:rPr lang="en-US" altLang="zh-CN" sz="3200" b="1" dirty="0">
                <a:effectLst>
                  <a:outerShdw blurRad="38100" dist="38100" dir="2700000" algn="tl">
                    <a:srgbClr val="C0C0C0"/>
                  </a:outerShdw>
                </a:effectLst>
              </a:rPr>
              <a:t>M</a:t>
            </a:r>
            <a:r>
              <a:rPr lang="zh-CN" altLang="en-US" sz="3200" b="1" dirty="0">
                <a:effectLst>
                  <a:outerShdw blurRad="38100" dist="38100" dir="2700000" algn="tl">
                    <a:srgbClr val="C0C0C0"/>
                  </a:outerShdw>
                </a:effectLst>
              </a:rPr>
              <a:t>中已生成的元素个数。</a:t>
            </a:r>
          </a:p>
        </p:txBody>
      </p:sp>
      <p:sp>
        <p:nvSpPr>
          <p:cNvPr id="5" name="灯片编号占位符 5"/>
          <p:cNvSpPr>
            <a:spLocks noGrp="1"/>
          </p:cNvSpPr>
          <p:nvPr>
            <p:ph type="sldNum" sz="quarter" idx="12"/>
          </p:nvPr>
        </p:nvSpPr>
        <p:spPr/>
        <p:txBody>
          <a:bodyPr/>
          <a:lstStyle/>
          <a:p>
            <a:pPr>
              <a:defRPr/>
            </a:pPr>
            <a:fld id="{93531A97-873D-4EF6-90CD-720A6C8984D2}" type="slidenum">
              <a:rPr lang="en-US" altLang="zh-CN"/>
              <a:pPr>
                <a:defRPr/>
              </a:pPr>
              <a:t>23</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09954">
                                            <p:txEl>
                                              <p:pRg st="3" end="3"/>
                                            </p:txEl>
                                          </p:spTgt>
                                        </p:tgtEl>
                                        <p:attrNameLst>
                                          <p:attrName>style.visibility</p:attrName>
                                        </p:attrNameLst>
                                      </p:cBhvr>
                                      <p:to>
                                        <p:strVal val="visible"/>
                                      </p:to>
                                    </p:set>
                                    <p:anim calcmode="lin" valueType="num">
                                      <p:cBhvr additive="base">
                                        <p:cTn id="7" dur="500" fill="hold"/>
                                        <p:tgtEl>
                                          <p:spTgt spid="509954">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09954">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9410" name="Rectangle 2"/>
          <p:cNvSpPr>
            <a:spLocks noGrp="1" noChangeArrowheads="1"/>
          </p:cNvSpPr>
          <p:nvPr>
            <p:ph idx="1"/>
          </p:nvPr>
        </p:nvSpPr>
        <p:spPr>
          <a:xfrm>
            <a:off x="395288" y="928688"/>
            <a:ext cx="8534400" cy="5454650"/>
          </a:xfrm>
        </p:spPr>
        <p:txBody>
          <a:bodyPr>
            <a:normAutofit/>
          </a:bodyPr>
          <a:lstStyle/>
          <a:p>
            <a:pPr marL="0" indent="0" eaLnBrk="1" fontAlgn="auto" hangingPunct="1">
              <a:spcAft>
                <a:spcPts val="600"/>
              </a:spcAft>
              <a:buClr>
                <a:schemeClr val="accent3"/>
              </a:buClr>
              <a:buFont typeface="Wingdings" pitchFamily="2" charset="2"/>
              <a:buNone/>
              <a:defRPr/>
            </a:pPr>
            <a:r>
              <a:rPr lang="zh-CN" altLang="en-US" sz="2400" b="1" dirty="0">
                <a:effectLst>
                  <a:outerShdw blurRad="38100" dist="38100" dir="2700000" algn="tl">
                    <a:srgbClr val="C0C0C0"/>
                  </a:outerShdw>
                </a:effectLst>
              </a:rPr>
              <a:t>在按递增顺序枚举出</a:t>
            </a:r>
            <a:r>
              <a:rPr lang="en-US" altLang="zh-CN" sz="2400" b="1" dirty="0">
                <a:effectLst>
                  <a:outerShdw blurRad="38100" dist="38100" dir="2700000" algn="tl">
                    <a:srgbClr val="C0C0C0"/>
                  </a:outerShdw>
                </a:effectLst>
              </a:rPr>
              <a:t>m</a:t>
            </a:r>
            <a:r>
              <a:rPr lang="zh-CN" altLang="en-US" sz="2400" b="1" dirty="0">
                <a:effectLst>
                  <a:outerShdw blurRad="38100" dist="38100" dir="2700000" algn="tl">
                    <a:srgbClr val="C0C0C0"/>
                  </a:outerShdw>
                </a:effectLst>
              </a:rPr>
              <a:t>的新元素过程中，</a:t>
            </a:r>
            <a:r>
              <a:rPr lang="en-US" altLang="zh-CN" sz="2400" b="1" dirty="0">
                <a:effectLst>
                  <a:outerShdw blurRad="38100" dist="38100" dir="2700000" algn="tl">
                    <a:srgbClr val="C0C0C0"/>
                  </a:outerShdw>
                </a:effectLst>
              </a:rPr>
              <a:t>m</a:t>
            </a:r>
            <a:r>
              <a:rPr lang="zh-CN" altLang="en-US" sz="2400" b="1" dirty="0">
                <a:effectLst>
                  <a:outerShdw blurRad="38100" dist="38100" dir="2700000" algn="tl">
                    <a:srgbClr val="C0C0C0"/>
                  </a:outerShdw>
                </a:effectLst>
              </a:rPr>
              <a:t>的状态如下：</a:t>
            </a:r>
          </a:p>
          <a:p>
            <a:pPr marL="0" indent="0" eaLnBrk="1" fontAlgn="auto" hangingPunct="1">
              <a:spcAft>
                <a:spcPts val="600"/>
              </a:spcAft>
              <a:buClr>
                <a:schemeClr val="accent3"/>
              </a:buClr>
              <a:buFont typeface="Wingdings" pitchFamily="2" charset="2"/>
              <a:buNone/>
              <a:defRPr/>
            </a:pPr>
            <a:r>
              <a:rPr lang="zh-CN" altLang="en-US" sz="2400" b="1" dirty="0">
                <a:latin typeface="楷体_GB2312" pitchFamily="49" charset="-122"/>
                <a:ea typeface="楷体_GB2312" pitchFamily="49" charset="-122"/>
              </a:rPr>
              <a:t>（</a:t>
            </a:r>
            <a:r>
              <a:rPr lang="en-US" sz="2400" b="1" dirty="0">
                <a:latin typeface="楷体_GB2312" pitchFamily="49" charset="-122"/>
                <a:ea typeface="楷体_GB2312" pitchFamily="49" charset="-122"/>
              </a:rPr>
              <a:t>1</a:t>
            </a:r>
            <a:r>
              <a:rPr lang="zh-CN" altLang="en-US" sz="2400" b="1" dirty="0">
                <a:latin typeface="楷体_GB2312" pitchFamily="49" charset="-122"/>
                <a:ea typeface="楷体_GB2312" pitchFamily="49" charset="-122"/>
              </a:rPr>
              <a:t>）元素</a:t>
            </a:r>
            <a:r>
              <a:rPr lang="en-US" sz="2400" b="1" dirty="0">
                <a:latin typeface="楷体_GB2312" pitchFamily="49" charset="-122"/>
                <a:ea typeface="楷体_GB2312" pitchFamily="49" charset="-122"/>
              </a:rPr>
              <a:t>m[0]</a:t>
            </a:r>
            <a:r>
              <a:rPr lang="zh-CN" altLang="en-US" sz="2400" b="1" dirty="0">
                <a:latin typeface="楷体_GB2312" pitchFamily="49" charset="-122"/>
                <a:ea typeface="楷体_GB2312" pitchFamily="49" charset="-122"/>
              </a:rPr>
              <a:t>至</a:t>
            </a:r>
            <a:r>
              <a:rPr lang="en-US" sz="2400" b="1" dirty="0">
                <a:latin typeface="楷体_GB2312" pitchFamily="49" charset="-122"/>
                <a:ea typeface="楷体_GB2312" pitchFamily="49" charset="-122"/>
              </a:rPr>
              <a:t>m[j-1]</a:t>
            </a:r>
            <a:r>
              <a:rPr lang="zh-CN" altLang="en-US" sz="2400" b="1" dirty="0">
                <a:latin typeface="楷体_GB2312" pitchFamily="49" charset="-122"/>
                <a:ea typeface="楷体_GB2312" pitchFamily="49" charset="-122"/>
              </a:rPr>
              <a:t>已经枚举生成，</a:t>
            </a:r>
            <a:r>
              <a:rPr lang="en-US" sz="2400" b="1" dirty="0">
                <a:latin typeface="楷体_GB2312" pitchFamily="49" charset="-122"/>
                <a:ea typeface="楷体_GB2312" pitchFamily="49" charset="-122"/>
              </a:rPr>
              <a:t>m[j]</a:t>
            </a:r>
            <a:r>
              <a:rPr lang="zh-CN" altLang="en-US" sz="2400" b="1" dirty="0">
                <a:latin typeface="楷体_GB2312" pitchFamily="49" charset="-122"/>
                <a:ea typeface="楷体_GB2312" pitchFamily="49" charset="-122"/>
              </a:rPr>
              <a:t>开始的元素还未被枚举出来，下一个要枚举生成的是</a:t>
            </a:r>
            <a:r>
              <a:rPr lang="en-US" sz="2400" b="1" dirty="0">
                <a:latin typeface="楷体_GB2312" pitchFamily="49" charset="-122"/>
                <a:ea typeface="楷体_GB2312" pitchFamily="49" charset="-122"/>
              </a:rPr>
              <a:t>m[j]</a:t>
            </a:r>
            <a:r>
              <a:rPr lang="zh-CN" altLang="en-US" sz="2400" b="1" dirty="0">
                <a:latin typeface="楷体_GB2312" pitchFamily="49" charset="-122"/>
                <a:ea typeface="楷体_GB2312" pitchFamily="49" charset="-122"/>
              </a:rPr>
              <a:t>。</a:t>
            </a:r>
          </a:p>
          <a:p>
            <a:pPr marL="0" indent="0" eaLnBrk="1" fontAlgn="auto" hangingPunct="1">
              <a:spcAft>
                <a:spcPts val="600"/>
              </a:spcAft>
              <a:buClr>
                <a:schemeClr val="accent3"/>
              </a:buClr>
              <a:buFont typeface="Wingdings" pitchFamily="2" charset="2"/>
              <a:buNone/>
              <a:defRPr/>
            </a:pPr>
            <a:r>
              <a:rPr lang="zh-CN" altLang="en-US" sz="2400" b="1" dirty="0">
                <a:latin typeface="楷体_GB2312" pitchFamily="49" charset="-122"/>
                <a:ea typeface="楷体_GB2312" pitchFamily="49" charset="-122"/>
              </a:rPr>
              <a:t>（</a:t>
            </a:r>
            <a:r>
              <a:rPr lang="en-US" sz="2400" b="1" dirty="0">
                <a:latin typeface="楷体_GB2312" pitchFamily="49" charset="-122"/>
                <a:ea typeface="楷体_GB2312" pitchFamily="49" charset="-122"/>
              </a:rPr>
              <a:t>2</a:t>
            </a:r>
            <a:r>
              <a:rPr lang="zh-CN" altLang="en-US" sz="2400" b="1" dirty="0">
                <a:latin typeface="楷体_GB2312" pitchFamily="49" charset="-122"/>
                <a:ea typeface="楷体_GB2312" pitchFamily="49" charset="-122"/>
              </a:rPr>
              <a:t>）</a:t>
            </a:r>
            <a:r>
              <a:rPr lang="en-US" sz="2400" b="1" dirty="0">
                <a:latin typeface="楷体_GB2312" pitchFamily="49" charset="-122"/>
                <a:ea typeface="楷体_GB2312" pitchFamily="49" charset="-122"/>
              </a:rPr>
              <a:t>m[0]</a:t>
            </a:r>
            <a:r>
              <a:rPr lang="zh-CN" altLang="en-US" sz="2400" b="1" dirty="0">
                <a:latin typeface="楷体_GB2312" pitchFamily="49" charset="-122"/>
                <a:ea typeface="楷体_GB2312" pitchFamily="49" charset="-122"/>
              </a:rPr>
              <a:t>至</a:t>
            </a:r>
            <a:r>
              <a:rPr lang="en-US" sz="2400" b="1" dirty="0">
                <a:latin typeface="楷体_GB2312" pitchFamily="49" charset="-122"/>
                <a:ea typeface="楷体_GB2312" pitchFamily="49" charset="-122"/>
              </a:rPr>
              <a:t>m[e2-1]</a:t>
            </a:r>
            <a:r>
              <a:rPr lang="zh-CN" altLang="en-US" sz="2400" b="1" dirty="0">
                <a:latin typeface="楷体_GB2312" pitchFamily="49" charset="-122"/>
                <a:ea typeface="楷体_GB2312" pitchFamily="49" charset="-122"/>
              </a:rPr>
              <a:t>是已执行过</a:t>
            </a:r>
            <a:r>
              <a:rPr lang="en-US" sz="2400" b="1" dirty="0">
                <a:latin typeface="楷体_GB2312" pitchFamily="49" charset="-122"/>
                <a:ea typeface="楷体_GB2312" pitchFamily="49" charset="-122"/>
              </a:rPr>
              <a:t>2x+1</a:t>
            </a:r>
            <a:r>
              <a:rPr lang="zh-CN" altLang="en-US" sz="2400" b="1" dirty="0">
                <a:latin typeface="楷体_GB2312" pitchFamily="49" charset="-122"/>
                <a:ea typeface="楷体_GB2312" pitchFamily="49" charset="-122"/>
              </a:rPr>
              <a:t>枚举操作的元素，下一个要执行</a:t>
            </a:r>
            <a:r>
              <a:rPr lang="en-US" sz="2400" b="1" dirty="0">
                <a:latin typeface="楷体_GB2312" pitchFamily="49" charset="-122"/>
                <a:ea typeface="楷体_GB2312" pitchFamily="49" charset="-122"/>
              </a:rPr>
              <a:t>2x+1</a:t>
            </a:r>
            <a:r>
              <a:rPr lang="zh-CN" altLang="en-US" sz="2400" b="1" dirty="0">
                <a:latin typeface="楷体_GB2312" pitchFamily="49" charset="-122"/>
                <a:ea typeface="楷体_GB2312" pitchFamily="49" charset="-122"/>
              </a:rPr>
              <a:t>枚举操作的元素是</a:t>
            </a:r>
            <a:r>
              <a:rPr lang="en-US" sz="2400" b="1" dirty="0">
                <a:latin typeface="楷体_GB2312" pitchFamily="49" charset="-122"/>
                <a:ea typeface="楷体_GB2312" pitchFamily="49" charset="-122"/>
              </a:rPr>
              <a:t>m[e2]</a:t>
            </a:r>
            <a:r>
              <a:rPr lang="zh-CN" altLang="en-US" sz="2400" b="1" dirty="0">
                <a:latin typeface="楷体_GB2312" pitchFamily="49" charset="-122"/>
                <a:ea typeface="楷体_GB2312" pitchFamily="49" charset="-122"/>
              </a:rPr>
              <a:t>。</a:t>
            </a:r>
          </a:p>
          <a:p>
            <a:pPr marL="0" indent="0" eaLnBrk="1" fontAlgn="auto" hangingPunct="1">
              <a:spcAft>
                <a:spcPts val="600"/>
              </a:spcAft>
              <a:buClr>
                <a:schemeClr val="accent3"/>
              </a:buClr>
              <a:buFont typeface="Wingdings" pitchFamily="2" charset="2"/>
              <a:buNone/>
              <a:defRPr/>
            </a:pPr>
            <a:r>
              <a:rPr lang="zh-CN" altLang="en-US" sz="2400" b="1" dirty="0">
                <a:latin typeface="楷体_GB2312" pitchFamily="49" charset="-122"/>
                <a:ea typeface="楷体_GB2312" pitchFamily="49" charset="-122"/>
              </a:rPr>
              <a:t>（</a:t>
            </a:r>
            <a:r>
              <a:rPr lang="en-US" sz="2400" b="1" dirty="0">
                <a:latin typeface="楷体_GB2312" pitchFamily="49" charset="-122"/>
                <a:ea typeface="楷体_GB2312" pitchFamily="49" charset="-122"/>
              </a:rPr>
              <a:t>3</a:t>
            </a:r>
            <a:r>
              <a:rPr lang="zh-CN" altLang="en-US" sz="2400" b="1" dirty="0">
                <a:latin typeface="楷体_GB2312" pitchFamily="49" charset="-122"/>
                <a:ea typeface="楷体_GB2312" pitchFamily="49" charset="-122"/>
              </a:rPr>
              <a:t>）</a:t>
            </a:r>
            <a:r>
              <a:rPr lang="en-US" sz="2400" b="1" dirty="0">
                <a:latin typeface="楷体_GB2312" pitchFamily="49" charset="-122"/>
                <a:ea typeface="楷体_GB2312" pitchFamily="49" charset="-122"/>
              </a:rPr>
              <a:t>m[0]</a:t>
            </a:r>
            <a:r>
              <a:rPr lang="zh-CN" altLang="en-US" sz="2400" b="1" dirty="0">
                <a:latin typeface="楷体_GB2312" pitchFamily="49" charset="-122"/>
                <a:ea typeface="楷体_GB2312" pitchFamily="49" charset="-122"/>
              </a:rPr>
              <a:t>至</a:t>
            </a:r>
            <a:r>
              <a:rPr lang="en-US" sz="2400" b="1" dirty="0">
                <a:latin typeface="楷体_GB2312" pitchFamily="49" charset="-122"/>
                <a:ea typeface="楷体_GB2312" pitchFamily="49" charset="-122"/>
              </a:rPr>
              <a:t>m[e3-1]</a:t>
            </a:r>
            <a:r>
              <a:rPr lang="zh-CN" altLang="en-US" sz="2400" b="1" dirty="0">
                <a:latin typeface="楷体_GB2312" pitchFamily="49" charset="-122"/>
                <a:ea typeface="楷体_GB2312" pitchFamily="49" charset="-122"/>
              </a:rPr>
              <a:t>是已执行过</a:t>
            </a:r>
            <a:r>
              <a:rPr lang="en-US" sz="2400" b="1" dirty="0">
                <a:latin typeface="楷体_GB2312" pitchFamily="49" charset="-122"/>
                <a:ea typeface="楷体_GB2312" pitchFamily="49" charset="-122"/>
              </a:rPr>
              <a:t>3x+1</a:t>
            </a:r>
            <a:r>
              <a:rPr lang="zh-CN" altLang="en-US" sz="2400" b="1" dirty="0">
                <a:latin typeface="楷体_GB2312" pitchFamily="49" charset="-122"/>
                <a:ea typeface="楷体_GB2312" pitchFamily="49" charset="-122"/>
              </a:rPr>
              <a:t>枚举操作的元素，下一个要执行</a:t>
            </a:r>
            <a:r>
              <a:rPr lang="en-US" sz="2400" b="1" dirty="0">
                <a:latin typeface="楷体_GB2312" pitchFamily="49" charset="-122"/>
                <a:ea typeface="楷体_GB2312" pitchFamily="49" charset="-122"/>
              </a:rPr>
              <a:t>3x+1</a:t>
            </a:r>
            <a:r>
              <a:rPr lang="zh-CN" altLang="en-US" sz="2400" b="1" dirty="0">
                <a:latin typeface="楷体_GB2312" pitchFamily="49" charset="-122"/>
                <a:ea typeface="楷体_GB2312" pitchFamily="49" charset="-122"/>
              </a:rPr>
              <a:t>枚举操作的元素是</a:t>
            </a:r>
            <a:r>
              <a:rPr lang="en-US" sz="2400" b="1" dirty="0">
                <a:latin typeface="楷体_GB2312" pitchFamily="49" charset="-122"/>
                <a:ea typeface="楷体_GB2312" pitchFamily="49" charset="-122"/>
              </a:rPr>
              <a:t>m[e3]</a:t>
            </a:r>
            <a:r>
              <a:rPr lang="zh-CN" altLang="en-US" sz="2400" b="1" dirty="0">
                <a:latin typeface="楷体_GB2312" pitchFamily="49" charset="-122"/>
                <a:ea typeface="楷体_GB2312" pitchFamily="49" charset="-122"/>
              </a:rPr>
              <a:t>。</a:t>
            </a:r>
          </a:p>
          <a:p>
            <a:pPr marL="0" indent="0" eaLnBrk="1" fontAlgn="auto" hangingPunct="1">
              <a:spcAft>
                <a:spcPts val="600"/>
              </a:spcAft>
              <a:buClr>
                <a:schemeClr val="accent3"/>
              </a:buClr>
              <a:buFont typeface="Wingdings" pitchFamily="2" charset="2"/>
              <a:buNone/>
              <a:defRPr/>
            </a:pPr>
            <a:r>
              <a:rPr lang="zh-CN" altLang="en-US" sz="2400" dirty="0"/>
              <a:t>为了按递增顺序生成</a:t>
            </a:r>
            <a:r>
              <a:rPr lang="en-US" sz="2400" dirty="0"/>
              <a:t>m[]</a:t>
            </a:r>
            <a:r>
              <a:rPr lang="zh-CN" altLang="en-US" sz="2400" dirty="0"/>
              <a:t>的元素，下一个可能执行枚举操作的元素是</a:t>
            </a:r>
            <a:r>
              <a:rPr lang="en-US" sz="2400" dirty="0"/>
              <a:t>m[e2]</a:t>
            </a:r>
            <a:r>
              <a:rPr lang="zh-CN" altLang="en-US" sz="2400" dirty="0"/>
              <a:t>或</a:t>
            </a:r>
            <a:r>
              <a:rPr lang="en-US" sz="2400" dirty="0"/>
              <a:t>m[e3]</a:t>
            </a:r>
            <a:r>
              <a:rPr lang="zh-CN" altLang="en-US" sz="2400" dirty="0"/>
              <a:t>。实际选择哪一个由它们枚举出来的值更小来确定。</a:t>
            </a:r>
            <a:endParaRPr lang="en-US" altLang="zh-CN" sz="2400" dirty="0"/>
          </a:p>
          <a:p>
            <a:pPr marL="0" indent="0" eaLnBrk="1" fontAlgn="auto" hangingPunct="1">
              <a:spcAft>
                <a:spcPts val="0"/>
              </a:spcAft>
              <a:buClr>
                <a:schemeClr val="accent3"/>
              </a:buClr>
              <a:buFont typeface="Wingdings" pitchFamily="2" charset="2"/>
              <a:buNone/>
              <a:defRPr/>
            </a:pPr>
            <a:endParaRPr lang="en-US" altLang="zh-CN" sz="2400" dirty="0"/>
          </a:p>
          <a:p>
            <a:pPr marL="0" indent="0" eaLnBrk="1" fontAlgn="auto" hangingPunct="1">
              <a:spcAft>
                <a:spcPts val="0"/>
              </a:spcAft>
              <a:buClr>
                <a:schemeClr val="accent3"/>
              </a:buClr>
              <a:buFont typeface="Wingdings" pitchFamily="2" charset="2"/>
              <a:buNone/>
              <a:defRPr/>
            </a:pPr>
            <a:endParaRPr lang="en-US" altLang="zh-CN" sz="2400" b="1" dirty="0">
              <a:effectLst>
                <a:outerShdw blurRad="38100" dist="38100" dir="2700000" algn="tl">
                  <a:srgbClr val="C0C0C0"/>
                </a:outerShdw>
              </a:effectLst>
            </a:endParaRPr>
          </a:p>
        </p:txBody>
      </p:sp>
      <p:sp>
        <p:nvSpPr>
          <p:cNvPr id="5" name="灯片编号占位符 5"/>
          <p:cNvSpPr>
            <a:spLocks noGrp="1"/>
          </p:cNvSpPr>
          <p:nvPr>
            <p:ph type="sldNum" sz="quarter" idx="12"/>
          </p:nvPr>
        </p:nvSpPr>
        <p:spPr/>
        <p:txBody>
          <a:bodyPr/>
          <a:lstStyle/>
          <a:p>
            <a:pPr>
              <a:defRPr/>
            </a:pPr>
            <a:fld id="{0A541FEB-651C-4564-AC3D-36E1EEE83786}" type="slidenum">
              <a:rPr lang="en-US" altLang="zh-CN"/>
              <a:pPr>
                <a:defRPr/>
              </a:pPr>
              <a:t>24</a:t>
            </a:fld>
            <a:endParaRPr lang="en-US" altLang="zh-CN"/>
          </a:p>
        </p:txBody>
      </p:sp>
      <p:pic>
        <p:nvPicPr>
          <p:cNvPr id="2" name="图片 1">
            <a:extLst>
              <a:ext uri="{FF2B5EF4-FFF2-40B4-BE49-F238E27FC236}">
                <a16:creationId xmlns:a16="http://schemas.microsoft.com/office/drawing/2014/main" id="{06F3AB57-CCD7-9DAD-6547-3F2E9C58C1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63888" y="4949993"/>
            <a:ext cx="5274310" cy="190373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529410">
                                            <p:txEl>
                                              <p:pRg st="2" end="2"/>
                                            </p:txEl>
                                          </p:spTgt>
                                        </p:tgtEl>
                                        <p:attrNameLst>
                                          <p:attrName>style.visibility</p:attrName>
                                        </p:attrNameLst>
                                      </p:cBhvr>
                                      <p:to>
                                        <p:strVal val="visible"/>
                                      </p:to>
                                    </p:set>
                                    <p:animEffect transition="in" filter="fade">
                                      <p:cBhvr>
                                        <p:cTn id="7" dur="1000"/>
                                        <p:tgtEl>
                                          <p:spTgt spid="529410">
                                            <p:txEl>
                                              <p:pRg st="2" end="2"/>
                                            </p:txEl>
                                          </p:spTgt>
                                        </p:tgtEl>
                                      </p:cBhvr>
                                    </p:animEffect>
                                    <p:anim calcmode="lin" valueType="num">
                                      <p:cBhvr>
                                        <p:cTn id="8" dur="1000" fill="hold"/>
                                        <p:tgtEl>
                                          <p:spTgt spid="529410">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294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nodeType="clickEffect">
                                  <p:stCondLst>
                                    <p:cond delay="0"/>
                                  </p:stCondLst>
                                  <p:childTnLst>
                                    <p:set>
                                      <p:cBhvr>
                                        <p:cTn id="13" dur="1" fill="hold">
                                          <p:stCondLst>
                                            <p:cond delay="0"/>
                                          </p:stCondLst>
                                        </p:cTn>
                                        <p:tgtEl>
                                          <p:spTgt spid="529410">
                                            <p:txEl>
                                              <p:pRg st="3" end="3"/>
                                            </p:txEl>
                                          </p:spTgt>
                                        </p:tgtEl>
                                        <p:attrNameLst>
                                          <p:attrName>style.visibility</p:attrName>
                                        </p:attrNameLst>
                                      </p:cBhvr>
                                      <p:to>
                                        <p:strVal val="visible"/>
                                      </p:to>
                                    </p:set>
                                    <p:animEffect transition="in" filter="fade">
                                      <p:cBhvr>
                                        <p:cTn id="14" dur="1000"/>
                                        <p:tgtEl>
                                          <p:spTgt spid="529410">
                                            <p:txEl>
                                              <p:pRg st="3" end="3"/>
                                            </p:txEl>
                                          </p:spTgt>
                                        </p:tgtEl>
                                      </p:cBhvr>
                                    </p:animEffect>
                                    <p:anim calcmode="lin" valueType="num">
                                      <p:cBhvr>
                                        <p:cTn id="15" dur="1000" fill="hold"/>
                                        <p:tgtEl>
                                          <p:spTgt spid="529410">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5294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10" presetClass="entr" presetSubtype="0" fill="hold" nodeType="clickEffect">
                                  <p:stCondLst>
                                    <p:cond delay="0"/>
                                  </p:stCondLst>
                                  <p:childTnLst>
                                    <p:set>
                                      <p:cBhvr>
                                        <p:cTn id="20" dur="1" fill="hold">
                                          <p:stCondLst>
                                            <p:cond delay="0"/>
                                          </p:stCondLst>
                                        </p:cTn>
                                        <p:tgtEl>
                                          <p:spTgt spid="529410">
                                            <p:txEl>
                                              <p:pRg st="4" end="4"/>
                                            </p:txEl>
                                          </p:spTgt>
                                        </p:tgtEl>
                                        <p:attrNameLst>
                                          <p:attrName>style.visibility</p:attrName>
                                        </p:attrNameLst>
                                      </p:cBhvr>
                                      <p:to>
                                        <p:strVal val="visible"/>
                                      </p:to>
                                    </p:set>
                                    <p:animEffect transition="in" filter="fade">
                                      <p:cBhvr>
                                        <p:cTn id="21" dur="500"/>
                                        <p:tgtEl>
                                          <p:spTgt spid="529410">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 calcmode="lin" valueType="num">
                                      <p:cBhvr additive="base">
                                        <p:cTn id="26" dur="500" fill="hold"/>
                                        <p:tgtEl>
                                          <p:spTgt spid="2"/>
                                        </p:tgtEl>
                                        <p:attrNameLst>
                                          <p:attrName>ppt_x</p:attrName>
                                        </p:attrNameLst>
                                      </p:cBhvr>
                                      <p:tavLst>
                                        <p:tav tm="0">
                                          <p:val>
                                            <p:strVal val="#ppt_x"/>
                                          </p:val>
                                        </p:tav>
                                        <p:tav tm="100000">
                                          <p:val>
                                            <p:strVal val="#ppt_x"/>
                                          </p:val>
                                        </p:tav>
                                      </p:tavLst>
                                    </p:anim>
                                    <p:anim calcmode="lin" valueType="num">
                                      <p:cBhvr additive="base">
                                        <p:cTn id="27"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978" name="Rectangle 2"/>
          <p:cNvSpPr>
            <a:spLocks noGrp="1" noChangeArrowheads="1"/>
          </p:cNvSpPr>
          <p:nvPr>
            <p:ph idx="1"/>
          </p:nvPr>
        </p:nvSpPr>
        <p:spPr>
          <a:xfrm>
            <a:off x="395288" y="476250"/>
            <a:ext cx="8534400" cy="5907088"/>
          </a:xfrm>
        </p:spPr>
        <p:txBody>
          <a:bodyPr>
            <a:normAutofit/>
          </a:bodyPr>
          <a:lstStyle/>
          <a:p>
            <a:pPr marL="0" indent="0" eaLnBrk="1" fontAlgn="auto" hangingPunct="1">
              <a:lnSpc>
                <a:spcPct val="95000"/>
              </a:lnSpc>
              <a:spcAft>
                <a:spcPts val="0"/>
              </a:spcAft>
              <a:buClr>
                <a:schemeClr val="accent3"/>
              </a:buClr>
              <a:buFont typeface="Wingdings" pitchFamily="2" charset="2"/>
              <a:buNone/>
              <a:defRPr/>
            </a:pPr>
            <a:r>
              <a:rPr lang="zh-CN" altLang="en-US" sz="2400" b="1" dirty="0">
                <a:effectLst>
                  <a:outerShdw blurRad="38100" dist="38100" dir="2700000" algn="tl">
                    <a:srgbClr val="C0C0C0"/>
                  </a:outerShdw>
                </a:effectLst>
              </a:rPr>
              <a:t>以下代码描述了</a:t>
            </a:r>
            <a:r>
              <a:rPr lang="en-US" altLang="zh-CN" sz="2400" b="1" dirty="0">
                <a:effectLst>
                  <a:outerShdw blurRad="38100" dist="38100" dir="2700000" algn="tl">
                    <a:srgbClr val="C0C0C0"/>
                  </a:outerShdw>
                </a:effectLst>
              </a:rPr>
              <a:t>m</a:t>
            </a:r>
            <a:r>
              <a:rPr lang="zh-CN" altLang="en-US" sz="2400" b="1" dirty="0">
                <a:effectLst>
                  <a:outerShdw blurRad="38100" dist="38100" dir="2700000" algn="tl">
                    <a:srgbClr val="C0C0C0"/>
                  </a:outerShdw>
                </a:effectLst>
              </a:rPr>
              <a:t>在第一次枚举之前的状态：</a:t>
            </a:r>
          </a:p>
          <a:p>
            <a:pPr marL="0" indent="0" eaLnBrk="1" fontAlgn="auto" hangingPunct="1">
              <a:lnSpc>
                <a:spcPct val="95000"/>
              </a:lnSpc>
              <a:spcAft>
                <a:spcPts val="0"/>
              </a:spcAft>
              <a:buClr>
                <a:schemeClr val="accent3"/>
              </a:buClr>
              <a:buFont typeface="Wingdings" pitchFamily="2" charset="2"/>
              <a:buNone/>
              <a:defRPr/>
            </a:pPr>
            <a:r>
              <a:rPr lang="zh-CN" altLang="en-US" sz="2400" b="1" dirty="0">
                <a:effectLst>
                  <a:outerShdw blurRad="38100" dist="38100" dir="2700000" algn="tl">
                    <a:srgbClr val="C0C0C0"/>
                  </a:outerShdw>
                </a:effectLst>
              </a:rPr>
              <a:t>      </a:t>
            </a:r>
            <a:r>
              <a:rPr lang="en-US" altLang="zh-CN" sz="2400" b="1" dirty="0">
                <a:effectLst>
                  <a:outerShdw blurRad="38100" dist="38100" dir="2700000" algn="tl">
                    <a:srgbClr val="C0C0C0"/>
                  </a:outerShdw>
                </a:effectLst>
              </a:rPr>
              <a:t>m[0] = j = 1;   e2  = e3 = 0;</a:t>
            </a:r>
          </a:p>
          <a:p>
            <a:pPr marL="0" indent="0" eaLnBrk="1" fontAlgn="auto" hangingPunct="1">
              <a:lnSpc>
                <a:spcPct val="95000"/>
              </a:lnSpc>
              <a:spcAft>
                <a:spcPts val="0"/>
              </a:spcAft>
              <a:buClr>
                <a:schemeClr val="accent3"/>
              </a:buClr>
              <a:buFont typeface="Wingdings" pitchFamily="2" charset="2"/>
              <a:buNone/>
              <a:defRPr/>
            </a:pPr>
            <a:r>
              <a:rPr lang="zh-CN" altLang="en-US" sz="2400" b="1" dirty="0">
                <a:effectLst>
                  <a:outerShdw blurRad="38100" dist="38100" dir="2700000" algn="tl">
                    <a:srgbClr val="C0C0C0"/>
                  </a:outerShdw>
                </a:effectLst>
              </a:rPr>
              <a:t>枚举生成</a:t>
            </a:r>
            <a:r>
              <a:rPr lang="en-US" altLang="zh-CN" sz="2400" b="1" dirty="0">
                <a:effectLst>
                  <a:outerShdw blurRad="38100" dist="38100" dir="2700000" algn="tl">
                    <a:srgbClr val="C0C0C0"/>
                  </a:outerShdw>
                </a:effectLst>
              </a:rPr>
              <a:t>m</a:t>
            </a:r>
            <a:r>
              <a:rPr lang="zh-CN" altLang="en-US" sz="2400" b="1" dirty="0">
                <a:effectLst>
                  <a:outerShdw blurRad="38100" dist="38100" dir="2700000" algn="tl">
                    <a:srgbClr val="C0C0C0"/>
                  </a:outerShdw>
                </a:effectLst>
              </a:rPr>
              <a:t>的其余元素的过程可描述如下：</a:t>
            </a:r>
          </a:p>
          <a:p>
            <a:pPr marL="0" indent="0" eaLnBrk="1" fontAlgn="auto" hangingPunct="1">
              <a:lnSpc>
                <a:spcPct val="95000"/>
              </a:lnSpc>
              <a:spcAft>
                <a:spcPts val="0"/>
              </a:spcAft>
              <a:buClr>
                <a:schemeClr val="accent3"/>
              </a:buClr>
              <a:buFont typeface="Wingdings" pitchFamily="2" charset="2"/>
              <a:buNone/>
              <a:defRPr/>
            </a:pPr>
            <a:r>
              <a:rPr lang="zh-CN" altLang="en-US" sz="2400" b="1" dirty="0">
                <a:effectLst>
                  <a:outerShdw blurRad="38100" dist="38100" dir="2700000" algn="tl">
                    <a:srgbClr val="C0C0C0"/>
                  </a:outerShdw>
                </a:effectLst>
              </a:rPr>
              <a:t>      </a:t>
            </a:r>
            <a:r>
              <a:rPr lang="en-US" altLang="zh-CN" sz="2400" b="1" dirty="0">
                <a:effectLst>
                  <a:outerShdw blurRad="38100" dist="38100" dir="2700000" algn="tl">
                    <a:srgbClr val="C0C0C0"/>
                  </a:outerShdw>
                </a:effectLst>
              </a:rPr>
              <a:t>while (j &lt; n) {</a:t>
            </a:r>
          </a:p>
          <a:p>
            <a:pPr marL="0" indent="0" eaLnBrk="1" fontAlgn="auto" hangingPunct="1">
              <a:lnSpc>
                <a:spcPct val="95000"/>
              </a:lnSpc>
              <a:spcAft>
                <a:spcPts val="0"/>
              </a:spcAft>
              <a:buClr>
                <a:schemeClr val="accent3"/>
              </a:buClr>
              <a:buFont typeface="Wingdings" pitchFamily="2" charset="2"/>
              <a:buNone/>
              <a:defRPr/>
            </a:pPr>
            <a:r>
              <a:rPr lang="en-US" altLang="zh-CN" sz="2400" b="1" dirty="0">
                <a:effectLst>
                  <a:outerShdw blurRad="38100" dist="38100" dir="2700000" algn="tl">
                    <a:srgbClr val="C0C0C0"/>
                  </a:outerShdw>
                </a:effectLst>
              </a:rPr>
              <a:t>          if (m[e3]*3+1 &gt;= m[e2]*2+1) {  </a:t>
            </a:r>
            <a:r>
              <a:rPr lang="en-US" altLang="zh-CN" sz="2000" b="1" dirty="0">
                <a:effectLst>
                  <a:outerShdw blurRad="38100" dist="38100" dir="2700000" algn="tl">
                    <a:srgbClr val="C0C0C0"/>
                  </a:outerShdw>
                </a:effectLst>
              </a:rPr>
              <a:t>/* </a:t>
            </a:r>
            <a:r>
              <a:rPr lang="zh-CN" altLang="en-US" sz="2000" b="1" dirty="0">
                <a:effectLst>
                  <a:outerShdw blurRad="38100" dist="38100" dir="2700000" algn="tl">
                    <a:srgbClr val="C0C0C0"/>
                  </a:outerShdw>
                </a:effectLst>
              </a:rPr>
              <a:t>对</a:t>
            </a:r>
            <a:r>
              <a:rPr lang="en-US" altLang="zh-CN" sz="2000" b="1" dirty="0">
                <a:effectLst>
                  <a:outerShdw blurRad="38100" dist="38100" dir="2700000" algn="tl">
                    <a:srgbClr val="C0C0C0"/>
                  </a:outerShdw>
                </a:effectLst>
              </a:rPr>
              <a:t>m[e2]</a:t>
            </a:r>
            <a:r>
              <a:rPr lang="zh-CN" altLang="en-US" sz="2000" b="1" dirty="0">
                <a:effectLst>
                  <a:outerShdw blurRad="38100" dist="38100" dir="2700000" algn="tl">
                    <a:srgbClr val="C0C0C0"/>
                  </a:outerShdw>
                </a:effectLst>
              </a:rPr>
              <a:t>执行</a:t>
            </a:r>
            <a:r>
              <a:rPr lang="en-US" altLang="zh-CN" sz="2000" b="1" dirty="0">
                <a:effectLst>
                  <a:outerShdw blurRad="38100" dist="38100" dir="2700000" algn="tl">
                    <a:srgbClr val="C0C0C0"/>
                  </a:outerShdw>
                </a:effectLst>
              </a:rPr>
              <a:t>2x+1</a:t>
            </a:r>
            <a:r>
              <a:rPr lang="zh-CN" altLang="en-US" sz="2000" b="1" dirty="0">
                <a:effectLst>
                  <a:outerShdw blurRad="38100" dist="38100" dir="2700000" algn="tl">
                    <a:srgbClr val="C0C0C0"/>
                  </a:outerShdw>
                </a:effectLst>
              </a:rPr>
              <a:t>枚举 *</a:t>
            </a:r>
            <a:r>
              <a:rPr lang="en-US" altLang="zh-CN" sz="2000" b="1" dirty="0">
                <a:effectLst>
                  <a:outerShdw blurRad="38100" dist="38100" dir="2700000" algn="tl">
                    <a:srgbClr val="C0C0C0"/>
                  </a:outerShdw>
                </a:effectLst>
              </a:rPr>
              <a:t>/</a:t>
            </a:r>
          </a:p>
          <a:p>
            <a:pPr marL="0" indent="0" eaLnBrk="1" fontAlgn="auto" hangingPunct="1">
              <a:lnSpc>
                <a:spcPct val="95000"/>
              </a:lnSpc>
              <a:spcAft>
                <a:spcPts val="0"/>
              </a:spcAft>
              <a:buClr>
                <a:schemeClr val="accent3"/>
              </a:buClr>
              <a:buFont typeface="Wingdings" pitchFamily="2" charset="2"/>
              <a:buNone/>
              <a:defRPr/>
            </a:pPr>
            <a:r>
              <a:rPr lang="en-US" altLang="zh-CN" sz="2400" b="1" dirty="0">
                <a:effectLst>
                  <a:outerShdw blurRad="38100" dist="38100" dir="2700000" algn="tl">
                    <a:srgbClr val="C0C0C0"/>
                  </a:outerShdw>
                </a:effectLst>
              </a:rPr>
              <a:t>            m[j] = m[e2++]*2+1;</a:t>
            </a:r>
          </a:p>
          <a:p>
            <a:pPr marL="0" indent="0" eaLnBrk="1" fontAlgn="auto" hangingPunct="1">
              <a:lnSpc>
                <a:spcPct val="95000"/>
              </a:lnSpc>
              <a:spcAft>
                <a:spcPts val="0"/>
              </a:spcAft>
              <a:buClr>
                <a:schemeClr val="accent3"/>
              </a:buClr>
              <a:buFont typeface="Wingdings" pitchFamily="2" charset="2"/>
              <a:buNone/>
              <a:defRPr/>
            </a:pPr>
            <a:r>
              <a:rPr lang="en-US" altLang="zh-CN" sz="2400" b="1" dirty="0">
                <a:effectLst>
                  <a:outerShdw blurRad="38100" dist="38100" dir="2700000" algn="tl">
                    <a:srgbClr val="C0C0C0"/>
                  </a:outerShdw>
                </a:effectLst>
              </a:rPr>
              <a:t>            if (m[e3]*3+1 == m[j])</a:t>
            </a:r>
          </a:p>
          <a:p>
            <a:pPr marL="0" indent="0" eaLnBrk="1" fontAlgn="auto" hangingPunct="1">
              <a:lnSpc>
                <a:spcPct val="95000"/>
              </a:lnSpc>
              <a:spcAft>
                <a:spcPts val="0"/>
              </a:spcAft>
              <a:buClr>
                <a:schemeClr val="accent3"/>
              </a:buClr>
              <a:buFont typeface="Wingdings" pitchFamily="2" charset="2"/>
              <a:buNone/>
              <a:defRPr/>
            </a:pPr>
            <a:r>
              <a:rPr lang="en-US" altLang="zh-CN" sz="2400" b="1" dirty="0">
                <a:effectLst>
                  <a:outerShdw blurRad="38100" dist="38100" dir="2700000" algn="tl">
                    <a:srgbClr val="C0C0C0"/>
                  </a:outerShdw>
                </a:effectLst>
              </a:rPr>
              <a:t>               e3++ ;  /* </a:t>
            </a:r>
            <a:r>
              <a:rPr lang="zh-CN" altLang="en-US" sz="2400" b="1" dirty="0">
                <a:effectLst>
                  <a:outerShdw blurRad="38100" dist="38100" dir="2700000" algn="tl">
                    <a:srgbClr val="C0C0C0"/>
                  </a:outerShdw>
                </a:effectLst>
              </a:rPr>
              <a:t>当两个元素枚举值相同时，同时枚举 *</a:t>
            </a:r>
            <a:r>
              <a:rPr lang="en-US" altLang="zh-CN" sz="2400" b="1" dirty="0">
                <a:effectLst>
                  <a:outerShdw blurRad="38100" dist="38100" dir="2700000" algn="tl">
                    <a:srgbClr val="C0C0C0"/>
                  </a:outerShdw>
                </a:effectLst>
              </a:rPr>
              <a:t>/</a:t>
            </a:r>
          </a:p>
          <a:p>
            <a:pPr marL="0" indent="0" eaLnBrk="1" fontAlgn="auto" hangingPunct="1">
              <a:lnSpc>
                <a:spcPct val="95000"/>
              </a:lnSpc>
              <a:spcAft>
                <a:spcPts val="0"/>
              </a:spcAft>
              <a:buClr>
                <a:schemeClr val="accent3"/>
              </a:buClr>
              <a:buFont typeface="Wingdings" pitchFamily="2" charset="2"/>
              <a:buNone/>
              <a:defRPr/>
            </a:pPr>
            <a:r>
              <a:rPr lang="en-US" altLang="zh-CN" sz="2400" b="1" dirty="0">
                <a:effectLst>
                  <a:outerShdw blurRad="38100" dist="38100" dir="2700000" algn="tl">
                    <a:srgbClr val="C0C0C0"/>
                  </a:outerShdw>
                </a:effectLst>
              </a:rPr>
              <a:t>          }</a:t>
            </a:r>
          </a:p>
          <a:p>
            <a:pPr marL="0" indent="0" eaLnBrk="1" fontAlgn="auto" hangingPunct="1">
              <a:lnSpc>
                <a:spcPct val="95000"/>
              </a:lnSpc>
              <a:spcAft>
                <a:spcPts val="0"/>
              </a:spcAft>
              <a:buClr>
                <a:schemeClr val="accent3"/>
              </a:buClr>
              <a:buFont typeface="Wingdings" pitchFamily="2" charset="2"/>
              <a:buNone/>
              <a:defRPr/>
            </a:pPr>
            <a:r>
              <a:rPr lang="en-US" altLang="zh-CN" sz="2400" b="1" dirty="0">
                <a:effectLst>
                  <a:outerShdw blurRad="38100" dist="38100" dir="2700000" algn="tl">
                    <a:srgbClr val="C0C0C0"/>
                  </a:outerShdw>
                </a:effectLst>
              </a:rPr>
              <a:t>          else</a:t>
            </a:r>
          </a:p>
          <a:p>
            <a:pPr marL="0" indent="0" eaLnBrk="1" fontAlgn="auto" hangingPunct="1">
              <a:lnSpc>
                <a:spcPct val="95000"/>
              </a:lnSpc>
              <a:spcAft>
                <a:spcPts val="0"/>
              </a:spcAft>
              <a:buClr>
                <a:schemeClr val="accent3"/>
              </a:buClr>
              <a:buFont typeface="Wingdings" pitchFamily="2" charset="2"/>
              <a:buNone/>
              <a:defRPr/>
            </a:pPr>
            <a:r>
              <a:rPr lang="en-US" altLang="zh-CN" sz="2400" b="1" dirty="0">
                <a:effectLst>
                  <a:outerShdw blurRad="38100" dist="38100" dir="2700000" algn="tl">
                    <a:srgbClr val="C0C0C0"/>
                  </a:outerShdw>
                </a:effectLst>
              </a:rPr>
              <a:t>             m[j] = m[e3++]*3+1 ;</a:t>
            </a:r>
          </a:p>
          <a:p>
            <a:pPr marL="0" indent="0" eaLnBrk="1" fontAlgn="auto" hangingPunct="1">
              <a:lnSpc>
                <a:spcPct val="95000"/>
              </a:lnSpc>
              <a:spcAft>
                <a:spcPts val="0"/>
              </a:spcAft>
              <a:buClr>
                <a:schemeClr val="accent3"/>
              </a:buClr>
              <a:buFont typeface="Wingdings" pitchFamily="2" charset="2"/>
              <a:buNone/>
              <a:defRPr/>
            </a:pPr>
            <a:r>
              <a:rPr lang="en-US" altLang="zh-CN" sz="2400" b="1" dirty="0">
                <a:effectLst>
                  <a:outerShdw blurRad="38100" dist="38100" dir="2700000" algn="tl">
                    <a:srgbClr val="C0C0C0"/>
                  </a:outerShdw>
                </a:effectLst>
              </a:rPr>
              <a:t>          j++;</a:t>
            </a:r>
          </a:p>
          <a:p>
            <a:pPr marL="0" indent="0" eaLnBrk="1" fontAlgn="auto" hangingPunct="1">
              <a:lnSpc>
                <a:spcPct val="95000"/>
              </a:lnSpc>
              <a:spcAft>
                <a:spcPts val="0"/>
              </a:spcAft>
              <a:buClr>
                <a:schemeClr val="accent3"/>
              </a:buClr>
              <a:buFont typeface="Wingdings" pitchFamily="2" charset="2"/>
              <a:buNone/>
              <a:defRPr/>
            </a:pPr>
            <a:r>
              <a:rPr lang="en-US" altLang="zh-CN" sz="2400" b="1" dirty="0">
                <a:effectLst>
                  <a:outerShdw blurRad="38100" dist="38100" dir="2700000" algn="tl">
                    <a:srgbClr val="C0C0C0"/>
                  </a:outerShdw>
                </a:effectLst>
              </a:rPr>
              <a:t>       }</a:t>
            </a:r>
          </a:p>
        </p:txBody>
      </p:sp>
      <p:sp>
        <p:nvSpPr>
          <p:cNvPr id="5" name="灯片编号占位符 5"/>
          <p:cNvSpPr>
            <a:spLocks noGrp="1"/>
          </p:cNvSpPr>
          <p:nvPr>
            <p:ph type="sldNum" sz="quarter" idx="12"/>
          </p:nvPr>
        </p:nvSpPr>
        <p:spPr/>
        <p:txBody>
          <a:bodyPr/>
          <a:lstStyle/>
          <a:p>
            <a:pPr>
              <a:defRPr/>
            </a:pPr>
            <a:fld id="{64417335-A3F6-4D30-918F-0EDA9FCB31E1}" type="slidenum">
              <a:rPr lang="en-US" altLang="zh-CN"/>
              <a:pPr>
                <a:defRPr/>
              </a:pPr>
              <a:t>25</a:t>
            </a:fld>
            <a:endParaRPr lang="en-US" altLang="zh-CN"/>
          </a:p>
        </p:txBody>
      </p:sp>
      <p:sp>
        <p:nvSpPr>
          <p:cNvPr id="7" name="矩形 6">
            <a:extLst>
              <a:ext uri="{FF2B5EF4-FFF2-40B4-BE49-F238E27FC236}">
                <a16:creationId xmlns:a16="http://schemas.microsoft.com/office/drawing/2014/main" id="{AB523852-E268-1DDB-F80B-E516E9D1718A}"/>
              </a:ext>
            </a:extLst>
          </p:cNvPr>
          <p:cNvSpPr/>
          <p:nvPr/>
        </p:nvSpPr>
        <p:spPr>
          <a:xfrm>
            <a:off x="1259632" y="2636912"/>
            <a:ext cx="2952328" cy="3600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EE676374-BC0E-550E-2574-DC12F3FA5018}"/>
              </a:ext>
            </a:extLst>
          </p:cNvPr>
          <p:cNvSpPr/>
          <p:nvPr/>
        </p:nvSpPr>
        <p:spPr>
          <a:xfrm>
            <a:off x="1259632" y="3502016"/>
            <a:ext cx="1224136" cy="3590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10978">
                                            <p:txEl>
                                              <p:pRg st="2" end="2"/>
                                            </p:txEl>
                                          </p:spTgt>
                                        </p:tgtEl>
                                        <p:attrNameLst>
                                          <p:attrName>style.visibility</p:attrName>
                                        </p:attrNameLst>
                                      </p:cBhvr>
                                      <p:to>
                                        <p:strVal val="visible"/>
                                      </p:to>
                                    </p:set>
                                    <p:anim calcmode="lin" valueType="num">
                                      <p:cBhvr additive="base">
                                        <p:cTn id="7" dur="500" fill="hold"/>
                                        <p:tgtEl>
                                          <p:spTgt spid="510978">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1097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10978">
                                            <p:txEl>
                                              <p:pRg st="3" end="3"/>
                                            </p:txEl>
                                          </p:spTgt>
                                        </p:tgtEl>
                                        <p:attrNameLst>
                                          <p:attrName>style.visibility</p:attrName>
                                        </p:attrNameLst>
                                      </p:cBhvr>
                                      <p:to>
                                        <p:strVal val="visible"/>
                                      </p:to>
                                    </p:set>
                                    <p:anim calcmode="lin" valueType="num">
                                      <p:cBhvr additive="base">
                                        <p:cTn id="13" dur="500" fill="hold"/>
                                        <p:tgtEl>
                                          <p:spTgt spid="510978">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10978">
                                            <p:txEl>
                                              <p:pRg st="3" end="3"/>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510978">
                                            <p:txEl>
                                              <p:pRg st="11" end="11"/>
                                            </p:txEl>
                                          </p:spTgt>
                                        </p:tgtEl>
                                        <p:attrNameLst>
                                          <p:attrName>style.visibility</p:attrName>
                                        </p:attrNameLst>
                                      </p:cBhvr>
                                      <p:to>
                                        <p:strVal val="visible"/>
                                      </p:to>
                                    </p:set>
                                    <p:anim calcmode="lin" valueType="num">
                                      <p:cBhvr additive="base">
                                        <p:cTn id="17" dur="500" fill="hold"/>
                                        <p:tgtEl>
                                          <p:spTgt spid="510978">
                                            <p:txEl>
                                              <p:pRg st="11" end="1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10978">
                                            <p:txEl>
                                              <p:pRg st="11" end="11"/>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510978">
                                            <p:txEl>
                                              <p:pRg st="12" end="12"/>
                                            </p:txEl>
                                          </p:spTgt>
                                        </p:tgtEl>
                                        <p:attrNameLst>
                                          <p:attrName>style.visibility</p:attrName>
                                        </p:attrNameLst>
                                      </p:cBhvr>
                                      <p:to>
                                        <p:strVal val="visible"/>
                                      </p:to>
                                    </p:set>
                                    <p:anim calcmode="lin" valueType="num">
                                      <p:cBhvr additive="base">
                                        <p:cTn id="21" dur="500" fill="hold"/>
                                        <p:tgtEl>
                                          <p:spTgt spid="510978">
                                            <p:txEl>
                                              <p:pRg st="12" end="1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10978">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510978">
                                            <p:txEl>
                                              <p:pRg st="4" end="4"/>
                                            </p:txEl>
                                          </p:spTgt>
                                        </p:tgtEl>
                                        <p:attrNameLst>
                                          <p:attrName>style.visibility</p:attrName>
                                        </p:attrNameLst>
                                      </p:cBhvr>
                                      <p:to>
                                        <p:strVal val="visible"/>
                                      </p:to>
                                    </p:set>
                                    <p:anim calcmode="lin" valueType="num">
                                      <p:cBhvr additive="base">
                                        <p:cTn id="27" dur="500" fill="hold"/>
                                        <p:tgtEl>
                                          <p:spTgt spid="510978">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10978">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510978">
                                            <p:txEl>
                                              <p:pRg st="8" end="8"/>
                                            </p:txEl>
                                          </p:spTgt>
                                        </p:tgtEl>
                                        <p:attrNameLst>
                                          <p:attrName>style.visibility</p:attrName>
                                        </p:attrNameLst>
                                      </p:cBhvr>
                                      <p:to>
                                        <p:strVal val="visible"/>
                                      </p:to>
                                    </p:set>
                                    <p:anim calcmode="lin" valueType="num">
                                      <p:cBhvr additive="base">
                                        <p:cTn id="31" dur="500" fill="hold"/>
                                        <p:tgtEl>
                                          <p:spTgt spid="510978">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10978">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10978">
                                            <p:txEl>
                                              <p:pRg st="9" end="9"/>
                                            </p:txEl>
                                          </p:spTgt>
                                        </p:tgtEl>
                                        <p:attrNameLst>
                                          <p:attrName>style.visibility</p:attrName>
                                        </p:attrNameLst>
                                      </p:cBhvr>
                                      <p:to>
                                        <p:strVal val="visible"/>
                                      </p:to>
                                    </p:set>
                                    <p:anim calcmode="lin" valueType="num">
                                      <p:cBhvr additive="base">
                                        <p:cTn id="37" dur="500" fill="hold"/>
                                        <p:tgtEl>
                                          <p:spTgt spid="510978">
                                            <p:txEl>
                                              <p:pRg st="9" end="9"/>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10978">
                                            <p:txEl>
                                              <p:pRg st="9" end="9"/>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510978">
                                            <p:txEl>
                                              <p:pRg st="10" end="10"/>
                                            </p:txEl>
                                          </p:spTgt>
                                        </p:tgtEl>
                                        <p:attrNameLst>
                                          <p:attrName>style.visibility</p:attrName>
                                        </p:attrNameLst>
                                      </p:cBhvr>
                                      <p:to>
                                        <p:strVal val="visible"/>
                                      </p:to>
                                    </p:set>
                                    <p:anim calcmode="lin" valueType="num">
                                      <p:cBhvr additive="base">
                                        <p:cTn id="41" dur="500" fill="hold"/>
                                        <p:tgtEl>
                                          <p:spTgt spid="510978">
                                            <p:txEl>
                                              <p:pRg st="10" end="10"/>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510978">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7"/>
                                        </p:tgtEl>
                                        <p:attrNameLst>
                                          <p:attrName>style.visibility</p:attrName>
                                        </p:attrNameLst>
                                      </p:cBhvr>
                                      <p:to>
                                        <p:strVal val="visible"/>
                                      </p:to>
                                    </p:set>
                                    <p:anim calcmode="lin" valueType="num">
                                      <p:cBhvr additive="base">
                                        <p:cTn id="47" dur="500" fill="hold"/>
                                        <p:tgtEl>
                                          <p:spTgt spid="7"/>
                                        </p:tgtEl>
                                        <p:attrNameLst>
                                          <p:attrName>ppt_x</p:attrName>
                                        </p:attrNameLst>
                                      </p:cBhvr>
                                      <p:tavLst>
                                        <p:tav tm="0">
                                          <p:val>
                                            <p:strVal val="#ppt_x"/>
                                          </p:val>
                                        </p:tav>
                                        <p:tav tm="100000">
                                          <p:val>
                                            <p:strVal val="#ppt_x"/>
                                          </p:val>
                                        </p:tav>
                                      </p:tavLst>
                                    </p:anim>
                                    <p:anim calcmode="lin" valueType="num">
                                      <p:cBhvr additive="base">
                                        <p:cTn id="4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510978">
                                            <p:txEl>
                                              <p:pRg st="5" end="5"/>
                                            </p:txEl>
                                          </p:spTgt>
                                        </p:tgtEl>
                                        <p:attrNameLst>
                                          <p:attrName>style.visibility</p:attrName>
                                        </p:attrNameLst>
                                      </p:cBhvr>
                                      <p:to>
                                        <p:strVal val="visible"/>
                                      </p:to>
                                    </p:set>
                                    <p:anim calcmode="lin" valueType="num">
                                      <p:cBhvr additive="base">
                                        <p:cTn id="53" dur="500" fill="hold"/>
                                        <p:tgtEl>
                                          <p:spTgt spid="510978">
                                            <p:txEl>
                                              <p:pRg st="5" end="5"/>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51097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1" presetClass="exit" presetSubtype="0" fill="hold" grpId="1" nodeType="clickEffect">
                                  <p:stCondLst>
                                    <p:cond delay="0"/>
                                  </p:stCondLst>
                                  <p:childTnLst>
                                    <p:set>
                                      <p:cBhvr>
                                        <p:cTn id="58" dur="1" fill="hold">
                                          <p:stCondLst>
                                            <p:cond delay="0"/>
                                          </p:stCondLst>
                                        </p:cTn>
                                        <p:tgtEl>
                                          <p:spTgt spid="7"/>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nodeType="clickEffect">
                                  <p:stCondLst>
                                    <p:cond delay="0"/>
                                  </p:stCondLst>
                                  <p:childTnLst>
                                    <p:set>
                                      <p:cBhvr>
                                        <p:cTn id="62" dur="1" fill="hold">
                                          <p:stCondLst>
                                            <p:cond delay="0"/>
                                          </p:stCondLst>
                                        </p:cTn>
                                        <p:tgtEl>
                                          <p:spTgt spid="510978">
                                            <p:txEl>
                                              <p:pRg st="6" end="6"/>
                                            </p:txEl>
                                          </p:spTgt>
                                        </p:tgtEl>
                                        <p:attrNameLst>
                                          <p:attrName>style.visibility</p:attrName>
                                        </p:attrNameLst>
                                      </p:cBhvr>
                                      <p:to>
                                        <p:strVal val="visible"/>
                                      </p:to>
                                    </p:set>
                                    <p:anim calcmode="lin" valueType="num">
                                      <p:cBhvr additive="base">
                                        <p:cTn id="63" dur="500" fill="hold"/>
                                        <p:tgtEl>
                                          <p:spTgt spid="510978">
                                            <p:txEl>
                                              <p:pRg st="6" end="6"/>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510978">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grpId="0" nodeType="clickEffect">
                                  <p:stCondLst>
                                    <p:cond delay="0"/>
                                  </p:stCondLst>
                                  <p:childTnLst>
                                    <p:set>
                                      <p:cBhvr>
                                        <p:cTn id="68" dur="1" fill="hold">
                                          <p:stCondLst>
                                            <p:cond delay="0"/>
                                          </p:stCondLst>
                                        </p:cTn>
                                        <p:tgtEl>
                                          <p:spTgt spid="8"/>
                                        </p:tgtEl>
                                        <p:attrNameLst>
                                          <p:attrName>style.visibility</p:attrName>
                                        </p:attrNameLst>
                                      </p:cBhvr>
                                      <p:to>
                                        <p:strVal val="visible"/>
                                      </p:to>
                                    </p:set>
                                    <p:anim calcmode="lin" valueType="num">
                                      <p:cBhvr additive="base">
                                        <p:cTn id="69" dur="500" fill="hold"/>
                                        <p:tgtEl>
                                          <p:spTgt spid="8"/>
                                        </p:tgtEl>
                                        <p:attrNameLst>
                                          <p:attrName>ppt_x</p:attrName>
                                        </p:attrNameLst>
                                      </p:cBhvr>
                                      <p:tavLst>
                                        <p:tav tm="0">
                                          <p:val>
                                            <p:strVal val="#ppt_x"/>
                                          </p:val>
                                        </p:tav>
                                        <p:tav tm="100000">
                                          <p:val>
                                            <p:strVal val="#ppt_x"/>
                                          </p:val>
                                        </p:tav>
                                      </p:tavLst>
                                    </p:anim>
                                    <p:anim calcmode="lin" valueType="num">
                                      <p:cBhvr additive="base">
                                        <p:cTn id="7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 presetClass="entr" presetSubtype="4" fill="hold" nodeType="clickEffect">
                                  <p:stCondLst>
                                    <p:cond delay="0"/>
                                  </p:stCondLst>
                                  <p:childTnLst>
                                    <p:set>
                                      <p:cBhvr>
                                        <p:cTn id="74" dur="1" fill="hold">
                                          <p:stCondLst>
                                            <p:cond delay="0"/>
                                          </p:stCondLst>
                                        </p:cTn>
                                        <p:tgtEl>
                                          <p:spTgt spid="510978">
                                            <p:txEl>
                                              <p:pRg st="7" end="7"/>
                                            </p:txEl>
                                          </p:spTgt>
                                        </p:tgtEl>
                                        <p:attrNameLst>
                                          <p:attrName>style.visibility</p:attrName>
                                        </p:attrNameLst>
                                      </p:cBhvr>
                                      <p:to>
                                        <p:strVal val="visible"/>
                                      </p:to>
                                    </p:set>
                                    <p:anim calcmode="lin" valueType="num">
                                      <p:cBhvr additive="base">
                                        <p:cTn id="75" dur="500" fill="hold"/>
                                        <p:tgtEl>
                                          <p:spTgt spid="510978">
                                            <p:txEl>
                                              <p:pRg st="7" end="7"/>
                                            </p:txEl>
                                          </p:spTgt>
                                        </p:tgtEl>
                                        <p:attrNameLst>
                                          <p:attrName>ppt_x</p:attrName>
                                        </p:attrNameLst>
                                      </p:cBhvr>
                                      <p:tavLst>
                                        <p:tav tm="0">
                                          <p:val>
                                            <p:strVal val="#ppt_x"/>
                                          </p:val>
                                        </p:tav>
                                        <p:tav tm="100000">
                                          <p:val>
                                            <p:strVal val="#ppt_x"/>
                                          </p:val>
                                        </p:tav>
                                      </p:tavLst>
                                    </p:anim>
                                    <p:anim calcmode="lin" valueType="num">
                                      <p:cBhvr additive="base">
                                        <p:cTn id="76" dur="500" fill="hold"/>
                                        <p:tgtEl>
                                          <p:spTgt spid="510978">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1" presetClass="exit" presetSubtype="0" fill="hold" grpId="1" nodeType="clickEffect">
                                  <p:stCondLst>
                                    <p:cond delay="0"/>
                                  </p:stCondLst>
                                  <p:childTnLst>
                                    <p:set>
                                      <p:cBhvr>
                                        <p:cTn id="80"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8" grpId="0" animBg="1"/>
      <p:bldP spid="8" grpId="1"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02" name="Rectangle 2"/>
          <p:cNvSpPr>
            <a:spLocks noGrp="1" noChangeArrowheads="1"/>
          </p:cNvSpPr>
          <p:nvPr>
            <p:ph idx="1"/>
          </p:nvPr>
        </p:nvSpPr>
        <p:spPr>
          <a:xfrm>
            <a:off x="395288" y="476250"/>
            <a:ext cx="8534400" cy="5907088"/>
          </a:xfrm>
        </p:spPr>
        <p:txBody>
          <a:bodyPr>
            <a:normAutofit/>
          </a:bodyPr>
          <a:lstStyle/>
          <a:p>
            <a:pPr marL="0" indent="0" eaLnBrk="1" fontAlgn="auto" hangingPunct="1">
              <a:spcAft>
                <a:spcPts val="600"/>
              </a:spcAft>
              <a:buClr>
                <a:schemeClr val="accent3"/>
              </a:buClr>
              <a:buFont typeface="Wingdings" pitchFamily="2" charset="2"/>
              <a:buNone/>
              <a:defRPr/>
            </a:pPr>
            <a:r>
              <a:rPr lang="en-US" altLang="zh-CN" b="1" dirty="0">
                <a:effectLst>
                  <a:outerShdw blurRad="38100" dist="38100" dir="2700000" algn="tl">
                    <a:srgbClr val="C0C0C0"/>
                  </a:outerShdw>
                </a:effectLst>
              </a:rPr>
              <a:t>【</a:t>
            </a:r>
            <a:r>
              <a:rPr lang="zh-CN" altLang="en-US" b="1" dirty="0">
                <a:effectLst>
                  <a:outerShdw blurRad="38100" dist="38100" dir="2700000" algn="tl">
                    <a:srgbClr val="C0C0C0"/>
                  </a:outerShdw>
                </a:effectLst>
              </a:rPr>
              <a:t>例</a:t>
            </a:r>
            <a:r>
              <a:rPr lang="en-US" altLang="zh-CN" b="1" dirty="0">
                <a:effectLst>
                  <a:outerShdw blurRad="38100" dist="38100" dir="2700000" algn="tl">
                    <a:srgbClr val="C0C0C0"/>
                  </a:outerShdw>
                </a:effectLst>
              </a:rPr>
              <a:t>4.7】</a:t>
            </a:r>
            <a:r>
              <a:rPr lang="zh-CN" altLang="en-US" b="1" dirty="0">
                <a:effectLst>
                  <a:outerShdw blurRad="38100" dist="38100" dir="2700000" algn="tl">
                    <a:srgbClr val="C0C0C0"/>
                  </a:outerShdw>
                </a:effectLst>
              </a:rPr>
              <a:t>从含</a:t>
            </a:r>
            <a:r>
              <a:rPr lang="en-US" altLang="zh-CN" b="1" dirty="0">
                <a:effectLst>
                  <a:outerShdw blurRad="38100" dist="38100" dir="2700000" algn="tl">
                    <a:srgbClr val="C0C0C0"/>
                  </a:outerShdw>
                </a:effectLst>
              </a:rPr>
              <a:t>n</a:t>
            </a:r>
            <a:r>
              <a:rPr lang="zh-CN" altLang="en-US" b="1" dirty="0">
                <a:effectLst>
                  <a:outerShdw blurRad="38100" dist="38100" dir="2700000" algn="tl">
                    <a:srgbClr val="C0C0C0"/>
                  </a:outerShdw>
                </a:effectLst>
              </a:rPr>
              <a:t>个整数的数组中，找出其中出现次数最多且是最先出现的整数。</a:t>
            </a:r>
          </a:p>
          <a:p>
            <a:pPr marL="0" indent="0" eaLnBrk="1" fontAlgn="auto" hangingPunct="1">
              <a:spcAft>
                <a:spcPts val="600"/>
              </a:spcAft>
              <a:buClr>
                <a:schemeClr val="accent3"/>
              </a:buClr>
              <a:buFont typeface="Wingdings" pitchFamily="2" charset="2"/>
              <a:buNone/>
              <a:defRPr/>
            </a:pPr>
            <a:r>
              <a:rPr lang="en-US" altLang="zh-CN" b="1" dirty="0">
                <a:effectLst>
                  <a:outerShdw blurRad="38100" dist="38100" dir="2700000" algn="tl">
                    <a:srgbClr val="C0C0C0"/>
                  </a:outerShdw>
                </a:effectLst>
              </a:rPr>
              <a:t>【</a:t>
            </a:r>
            <a:r>
              <a:rPr lang="zh-CN" altLang="en-US" b="1" dirty="0">
                <a:effectLst>
                  <a:outerShdw blurRad="38100" dist="38100" dir="2700000" algn="tl">
                    <a:srgbClr val="C0C0C0"/>
                  </a:outerShdw>
                </a:effectLst>
              </a:rPr>
              <a:t>解题思路</a:t>
            </a:r>
            <a:r>
              <a:rPr lang="en-US" altLang="zh-CN" b="1" dirty="0">
                <a:effectLst>
                  <a:outerShdw blurRad="38100" dist="38100" dir="2700000" algn="tl">
                    <a:srgbClr val="C0C0C0"/>
                  </a:outerShdw>
                </a:effectLst>
              </a:rPr>
              <a:t>】</a:t>
            </a:r>
          </a:p>
          <a:p>
            <a:pPr marL="0" indent="0" eaLnBrk="1" fontAlgn="auto" hangingPunct="1">
              <a:spcAft>
                <a:spcPts val="600"/>
              </a:spcAft>
              <a:buClr>
                <a:schemeClr val="accent3"/>
              </a:buClr>
              <a:buFont typeface="Wingdings" pitchFamily="2" charset="2"/>
              <a:buNone/>
              <a:defRPr/>
            </a:pPr>
            <a:r>
              <a:rPr lang="zh-CN" altLang="en-US" b="1" dirty="0">
                <a:effectLst>
                  <a:outerShdw blurRad="38100" dist="38100" dir="2700000" algn="tl">
                    <a:srgbClr val="C0C0C0"/>
                  </a:outerShdw>
                </a:effectLst>
              </a:rPr>
              <a:t>设数组为</a:t>
            </a:r>
            <a:r>
              <a:rPr lang="en-US" altLang="zh-CN" b="1" dirty="0">
                <a:effectLst>
                  <a:outerShdw blurRad="38100" dist="38100" dir="2700000" algn="tl">
                    <a:srgbClr val="C0C0C0"/>
                  </a:outerShdw>
                </a:effectLst>
              </a:rPr>
              <a:t>a[]</a:t>
            </a:r>
            <a:r>
              <a:rPr lang="zh-CN" altLang="en-US" b="1" dirty="0">
                <a:effectLst>
                  <a:outerShdw blurRad="38100" dist="38100" dir="2700000" algn="tl">
                    <a:srgbClr val="C0C0C0"/>
                  </a:outerShdw>
                </a:effectLst>
              </a:rPr>
              <a:t>，为了找出</a:t>
            </a:r>
            <a:r>
              <a:rPr lang="en-US" altLang="zh-CN" b="1" dirty="0">
                <a:effectLst>
                  <a:outerShdw blurRad="38100" dist="38100" dir="2700000" algn="tl">
                    <a:srgbClr val="C0C0C0"/>
                  </a:outerShdw>
                </a:effectLst>
              </a:rPr>
              <a:t>a[]</a:t>
            </a:r>
            <a:r>
              <a:rPr lang="zh-CN" altLang="en-US" b="1" dirty="0">
                <a:effectLst>
                  <a:outerShdw blurRad="38100" dist="38100" dir="2700000" algn="tl">
                    <a:srgbClr val="C0C0C0"/>
                  </a:outerShdw>
                </a:effectLst>
              </a:rPr>
              <a:t>中出现次数最多且最早出现的元素，令变量</a:t>
            </a:r>
            <a:r>
              <a:rPr lang="en-US" altLang="zh-CN" b="1" dirty="0">
                <a:effectLst>
                  <a:outerShdw blurRad="38100" dist="38100" dir="2700000" algn="tl">
                    <a:srgbClr val="C0C0C0"/>
                  </a:outerShdw>
                </a:effectLst>
              </a:rPr>
              <a:t>pos</a:t>
            </a:r>
            <a:r>
              <a:rPr lang="zh-CN" altLang="en-US" b="1" dirty="0">
                <a:effectLst>
                  <a:outerShdw blurRad="38100" dist="38100" dir="2700000" algn="tl">
                    <a:srgbClr val="C0C0C0"/>
                  </a:outerShdw>
                </a:effectLst>
              </a:rPr>
              <a:t>存储数组中出现次数最多的元素的下标，</a:t>
            </a:r>
            <a:r>
              <a:rPr lang="en-US" altLang="zh-CN" b="1" dirty="0">
                <a:effectLst>
                  <a:outerShdw blurRad="38100" dist="38100" dir="2700000" algn="tl">
                    <a:srgbClr val="C0C0C0"/>
                  </a:outerShdw>
                </a:effectLst>
              </a:rPr>
              <a:t>c</a:t>
            </a:r>
            <a:r>
              <a:rPr lang="zh-CN" altLang="en-US" b="1" dirty="0">
                <a:effectLst>
                  <a:outerShdw blurRad="38100" dist="38100" dir="2700000" algn="tl">
                    <a:srgbClr val="C0C0C0"/>
                  </a:outerShdw>
                </a:effectLst>
              </a:rPr>
              <a:t>是该元素在数组中出现的次数</a:t>
            </a:r>
            <a:r>
              <a:rPr lang="en-US" altLang="zh-CN" b="1" dirty="0">
                <a:effectLst>
                  <a:outerShdw blurRad="38100" dist="38100" dir="2700000" algn="tl">
                    <a:srgbClr val="C0C0C0"/>
                  </a:outerShdw>
                </a:effectLst>
              </a:rPr>
              <a:t>(</a:t>
            </a:r>
            <a:r>
              <a:rPr lang="zh-CN" altLang="en-US" b="1" dirty="0">
                <a:effectLst>
                  <a:outerShdw blurRad="38100" dist="38100" dir="2700000" algn="tl">
                    <a:srgbClr val="C0C0C0"/>
                  </a:outerShdw>
                </a:effectLst>
              </a:rPr>
              <a:t>初值为</a:t>
            </a:r>
            <a:r>
              <a:rPr lang="en-US" altLang="zh-CN" b="1" dirty="0">
                <a:effectLst>
                  <a:outerShdw blurRad="38100" dist="38100" dir="2700000" algn="tl">
                    <a:srgbClr val="C0C0C0"/>
                  </a:outerShdw>
                </a:effectLst>
              </a:rPr>
              <a:t>0)</a:t>
            </a:r>
            <a:r>
              <a:rPr lang="zh-CN" altLang="en-US" b="1" dirty="0">
                <a:effectLst>
                  <a:outerShdw blurRad="38100" dist="38100" dir="2700000" algn="tl">
                    <a:srgbClr val="C0C0C0"/>
                  </a:outerShdw>
                </a:effectLst>
              </a:rPr>
              <a:t>。程序用循环顺序考察数组的每个元素，对当前正在考察的元素</a:t>
            </a:r>
            <a:r>
              <a:rPr lang="en-US" altLang="zh-CN" b="1" dirty="0">
                <a:effectLst>
                  <a:outerShdw blurRad="38100" dist="38100" dir="2700000" algn="tl">
                    <a:srgbClr val="C0C0C0"/>
                  </a:outerShdw>
                </a:effectLst>
              </a:rPr>
              <a:t>a[</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a:t>
            </a:r>
            <a:r>
              <a:rPr lang="zh-CN" altLang="en-US" b="1" dirty="0">
                <a:effectLst>
                  <a:outerShdw blurRad="38100" dist="38100" dir="2700000" algn="tl">
                    <a:srgbClr val="C0C0C0"/>
                  </a:outerShdw>
                </a:effectLst>
              </a:rPr>
              <a:t>，用循环统计出数组中与</a:t>
            </a:r>
            <a:r>
              <a:rPr lang="en-US" altLang="zh-CN" b="1" dirty="0">
                <a:effectLst>
                  <a:outerShdw blurRad="38100" dist="38100" dir="2700000" algn="tl">
                    <a:srgbClr val="C0C0C0"/>
                  </a:outerShdw>
                </a:effectLst>
              </a:rPr>
              <a:t>a[</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a:t>
            </a:r>
            <a:r>
              <a:rPr lang="zh-CN" altLang="en-US" b="1" dirty="0">
                <a:effectLst>
                  <a:outerShdw blurRad="38100" dist="38100" dir="2700000" algn="tl">
                    <a:srgbClr val="C0C0C0"/>
                  </a:outerShdw>
                </a:effectLst>
              </a:rPr>
              <a:t>等值的元素个数</a:t>
            </a:r>
            <a:r>
              <a:rPr lang="en-US" altLang="zh-CN" b="1" dirty="0" err="1">
                <a:effectLst>
                  <a:outerShdw blurRad="38100" dist="38100" dir="2700000" algn="tl">
                    <a:srgbClr val="C0C0C0"/>
                  </a:outerShdw>
                </a:effectLst>
              </a:rPr>
              <a:t>tc</a:t>
            </a:r>
            <a:r>
              <a:rPr lang="zh-CN" altLang="en-US" b="1" dirty="0">
                <a:effectLst>
                  <a:outerShdw blurRad="38100" dist="38100" dir="2700000" algn="tl">
                    <a:srgbClr val="C0C0C0"/>
                  </a:outerShdw>
                </a:effectLst>
              </a:rPr>
              <a:t>。统计结束后，让</a:t>
            </a:r>
            <a:r>
              <a:rPr lang="en-US" altLang="zh-CN" b="1" dirty="0" err="1">
                <a:effectLst>
                  <a:outerShdw blurRad="38100" dist="38100" dir="2700000" algn="tl">
                    <a:srgbClr val="C0C0C0"/>
                  </a:outerShdw>
                </a:effectLst>
              </a:rPr>
              <a:t>tc</a:t>
            </a:r>
            <a:r>
              <a:rPr lang="zh-CN" altLang="en-US" b="1" dirty="0">
                <a:effectLst>
                  <a:outerShdw blurRad="38100" dist="38100" dir="2700000" algn="tl">
                    <a:srgbClr val="C0C0C0"/>
                  </a:outerShdw>
                </a:effectLst>
              </a:rPr>
              <a:t>与</a:t>
            </a:r>
            <a:r>
              <a:rPr lang="en-US" altLang="zh-CN" b="1" dirty="0">
                <a:effectLst>
                  <a:outerShdw blurRad="38100" dist="38100" dir="2700000" algn="tl">
                    <a:srgbClr val="C0C0C0"/>
                  </a:outerShdw>
                </a:effectLst>
              </a:rPr>
              <a:t>c</a:t>
            </a:r>
            <a:r>
              <a:rPr lang="zh-CN" altLang="en-US" b="1" dirty="0">
                <a:effectLst>
                  <a:outerShdw blurRad="38100" dist="38100" dir="2700000" algn="tl">
                    <a:srgbClr val="C0C0C0"/>
                  </a:outerShdw>
                </a:effectLst>
              </a:rPr>
              <a:t>比较，如果</a:t>
            </a:r>
            <a:r>
              <a:rPr lang="en-US" altLang="zh-CN" b="1" dirty="0" err="1">
                <a:effectLst>
                  <a:outerShdw blurRad="38100" dist="38100" dir="2700000" algn="tl">
                    <a:srgbClr val="C0C0C0"/>
                  </a:outerShdw>
                </a:effectLst>
              </a:rPr>
              <a:t>tc</a:t>
            </a:r>
            <a:r>
              <a:rPr lang="zh-CN" altLang="en-US" b="1" dirty="0">
                <a:effectLst>
                  <a:outerShdw blurRad="38100" dist="38100" dir="2700000" algn="tl">
                    <a:srgbClr val="C0C0C0"/>
                  </a:outerShdw>
                </a:effectLst>
              </a:rPr>
              <a:t>的值大于</a:t>
            </a:r>
            <a:r>
              <a:rPr lang="en-US" altLang="zh-CN" b="1" dirty="0">
                <a:effectLst>
                  <a:outerShdw blurRad="38100" dist="38100" dir="2700000" algn="tl">
                    <a:srgbClr val="C0C0C0"/>
                  </a:outerShdw>
                </a:effectLst>
              </a:rPr>
              <a:t>c</a:t>
            </a:r>
            <a:r>
              <a:rPr lang="zh-CN" altLang="en-US" b="1" dirty="0">
                <a:effectLst>
                  <a:outerShdw blurRad="38100" dist="38100" dir="2700000" algn="tl">
                    <a:srgbClr val="C0C0C0"/>
                  </a:outerShdw>
                </a:effectLst>
              </a:rPr>
              <a:t>，就用</a:t>
            </a:r>
            <a:r>
              <a:rPr lang="en-US" altLang="zh-CN" b="1" dirty="0" err="1">
                <a:effectLst>
                  <a:outerShdw blurRad="38100" dist="38100" dir="2700000" algn="tl">
                    <a:srgbClr val="C0C0C0"/>
                  </a:outerShdw>
                </a:effectLst>
              </a:rPr>
              <a:t>tc</a:t>
            </a:r>
            <a:r>
              <a:rPr lang="zh-CN" altLang="en-US" b="1" dirty="0">
                <a:effectLst>
                  <a:outerShdw blurRad="38100" dist="38100" dir="2700000" algn="tl">
                    <a:srgbClr val="C0C0C0"/>
                  </a:outerShdw>
                </a:effectLst>
              </a:rPr>
              <a:t>更新</a:t>
            </a:r>
            <a:r>
              <a:rPr lang="en-US" altLang="zh-CN" b="1" dirty="0">
                <a:effectLst>
                  <a:outerShdw blurRad="38100" dist="38100" dir="2700000" algn="tl">
                    <a:srgbClr val="C0C0C0"/>
                  </a:outerShdw>
                </a:effectLst>
              </a:rPr>
              <a:t>c</a:t>
            </a:r>
            <a:r>
              <a:rPr lang="zh-CN" altLang="en-US" b="1" dirty="0">
                <a:effectLst>
                  <a:outerShdw blurRad="38100" dist="38100" dir="2700000" algn="tl">
                    <a:srgbClr val="C0C0C0"/>
                  </a:outerShdw>
                </a:effectLst>
              </a:rPr>
              <a:t>，并用</a:t>
            </a:r>
            <a:r>
              <a:rPr lang="en-US" altLang="zh-CN" b="1" dirty="0" err="1">
                <a:effectLst>
                  <a:outerShdw blurRad="38100" dist="38100" dir="2700000" algn="tl">
                    <a:srgbClr val="C0C0C0"/>
                  </a:outerShdw>
                </a:effectLst>
              </a:rPr>
              <a:t>i</a:t>
            </a:r>
            <a:r>
              <a:rPr lang="zh-CN" altLang="en-US" b="1" dirty="0">
                <a:effectLst>
                  <a:outerShdw blurRad="38100" dist="38100" dir="2700000" algn="tl">
                    <a:srgbClr val="C0C0C0"/>
                  </a:outerShdw>
                </a:effectLst>
              </a:rPr>
              <a:t>更新</a:t>
            </a:r>
            <a:r>
              <a:rPr lang="en-US" altLang="zh-CN" b="1" dirty="0">
                <a:effectLst>
                  <a:outerShdw blurRad="38100" dist="38100" dir="2700000" algn="tl">
                    <a:srgbClr val="C0C0C0"/>
                  </a:outerShdw>
                </a:effectLst>
              </a:rPr>
              <a:t>pos</a:t>
            </a:r>
            <a:r>
              <a:rPr lang="zh-CN" altLang="en-US" b="1" dirty="0">
                <a:effectLst>
                  <a:outerShdw blurRad="38100" dist="38100" dir="2700000" algn="tl">
                    <a:srgbClr val="C0C0C0"/>
                  </a:outerShdw>
                </a:effectLst>
              </a:rPr>
              <a:t>；否则，不更新。</a:t>
            </a:r>
          </a:p>
        </p:txBody>
      </p:sp>
      <p:sp>
        <p:nvSpPr>
          <p:cNvPr id="5" name="灯片编号占位符 5"/>
          <p:cNvSpPr>
            <a:spLocks noGrp="1"/>
          </p:cNvSpPr>
          <p:nvPr>
            <p:ph type="sldNum" sz="quarter" idx="12"/>
          </p:nvPr>
        </p:nvSpPr>
        <p:spPr/>
        <p:txBody>
          <a:bodyPr/>
          <a:lstStyle/>
          <a:p>
            <a:pPr>
              <a:defRPr/>
            </a:pPr>
            <a:fld id="{0BDA4E77-4899-4F04-9CC1-711191475785}" type="slidenum">
              <a:rPr lang="en-US" altLang="zh-CN"/>
              <a:pPr>
                <a:defRPr/>
              </a:pPr>
              <a:t>26</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12002">
                                            <p:txEl>
                                              <p:pRg st="1" end="1"/>
                                            </p:txEl>
                                          </p:spTgt>
                                        </p:tgtEl>
                                        <p:attrNameLst>
                                          <p:attrName>style.visibility</p:attrName>
                                        </p:attrNameLst>
                                      </p:cBhvr>
                                      <p:to>
                                        <p:strVal val="visible"/>
                                      </p:to>
                                    </p:set>
                                    <p:anim calcmode="lin" valueType="num">
                                      <p:cBhvr additive="base">
                                        <p:cTn id="7" dur="500" fill="hold"/>
                                        <p:tgtEl>
                                          <p:spTgt spid="51200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12002">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12002">
                                            <p:txEl>
                                              <p:pRg st="2" end="2"/>
                                            </p:txEl>
                                          </p:spTgt>
                                        </p:tgtEl>
                                        <p:attrNameLst>
                                          <p:attrName>style.visibility</p:attrName>
                                        </p:attrNameLst>
                                      </p:cBhvr>
                                      <p:to>
                                        <p:strVal val="visible"/>
                                      </p:to>
                                    </p:set>
                                    <p:anim calcmode="lin" valueType="num">
                                      <p:cBhvr additive="base">
                                        <p:cTn id="11" dur="500" fill="hold"/>
                                        <p:tgtEl>
                                          <p:spTgt spid="512002">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1200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026" name="Rectangle 2"/>
          <p:cNvSpPr>
            <a:spLocks noGrp="1" noChangeArrowheads="1"/>
          </p:cNvSpPr>
          <p:nvPr>
            <p:ph idx="1"/>
          </p:nvPr>
        </p:nvSpPr>
        <p:spPr>
          <a:xfrm>
            <a:off x="395288" y="476250"/>
            <a:ext cx="8534400" cy="5907088"/>
          </a:xfrm>
        </p:spPr>
        <p:txBody>
          <a:bodyPr>
            <a:normAutofit/>
          </a:bodyPr>
          <a:lstStyle/>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for(c = </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 = 0; </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 &lt; n-1; </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 { // </a:t>
            </a:r>
            <a:r>
              <a:rPr lang="zh-CN" altLang="en-US" b="1" dirty="0">
                <a:effectLst>
                  <a:outerShdw blurRad="38100" dist="38100" dir="2700000" algn="tl">
                    <a:srgbClr val="C0C0C0"/>
                  </a:outerShdw>
                </a:effectLst>
              </a:rPr>
              <a:t>遍历所有元素</a:t>
            </a:r>
            <a:r>
              <a:rPr lang="en-US" altLang="zh-CN" b="1" dirty="0">
                <a:effectLst>
                  <a:outerShdw blurRad="38100" dist="38100" dir="2700000" algn="tl">
                    <a:srgbClr val="C0C0C0"/>
                  </a:outerShdw>
                </a:effectLst>
              </a:rPr>
              <a:t>a[</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a:t>
            </a:r>
          </a:p>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for(</a:t>
            </a:r>
            <a:r>
              <a:rPr lang="en-US" altLang="zh-CN" b="1" dirty="0" err="1">
                <a:effectLst>
                  <a:outerShdw blurRad="38100" dist="38100" dir="2700000" algn="tl">
                    <a:srgbClr val="C0C0C0"/>
                  </a:outerShdw>
                </a:effectLst>
              </a:rPr>
              <a:t>tc</a:t>
            </a:r>
            <a:r>
              <a:rPr lang="en-US" altLang="zh-CN" b="1" dirty="0">
                <a:effectLst>
                  <a:outerShdw blurRad="38100" dist="38100" dir="2700000" algn="tl">
                    <a:srgbClr val="C0C0C0"/>
                  </a:outerShdw>
                </a:effectLst>
              </a:rPr>
              <a:t> = 1, j = i+1; j &lt; n; j++)  // </a:t>
            </a:r>
            <a:r>
              <a:rPr lang="zh-CN" altLang="en-US" b="1" dirty="0">
                <a:effectLst>
                  <a:outerShdw blurRad="38100" dist="38100" dir="2700000" algn="tl">
                    <a:srgbClr val="C0C0C0"/>
                  </a:outerShdw>
                </a:effectLst>
              </a:rPr>
              <a:t>统计</a:t>
            </a:r>
            <a:r>
              <a:rPr lang="en-US" altLang="zh-CN" b="1" dirty="0">
                <a:effectLst>
                  <a:outerShdw blurRad="38100" dist="38100" dir="2700000" algn="tl">
                    <a:srgbClr val="C0C0C0"/>
                  </a:outerShdw>
                </a:effectLst>
              </a:rPr>
              <a:t>a[</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a:t>
            </a:r>
            <a:r>
              <a:rPr lang="zh-CN" altLang="en-US" b="1" dirty="0">
                <a:effectLst>
                  <a:outerShdw blurRad="38100" dist="38100" dir="2700000" algn="tl">
                    <a:srgbClr val="C0C0C0"/>
                  </a:outerShdw>
                </a:effectLst>
              </a:rPr>
              <a:t>出现次数</a:t>
            </a:r>
          </a:p>
          <a:p>
            <a:pPr marL="0" indent="0"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rPr>
              <a:t>           </a:t>
            </a:r>
            <a:r>
              <a:rPr lang="en-US" altLang="zh-CN" b="1" dirty="0">
                <a:effectLst>
                  <a:outerShdw blurRad="38100" dist="38100" dir="2700000" algn="tl">
                    <a:srgbClr val="C0C0C0"/>
                  </a:outerShdw>
                </a:effectLst>
              </a:rPr>
              <a:t>if (a[j] == a[</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 </a:t>
            </a:r>
            <a:r>
              <a:rPr lang="en-US" altLang="zh-CN" b="1" dirty="0" err="1">
                <a:effectLst>
                  <a:outerShdw blurRad="38100" dist="38100" dir="2700000" algn="tl">
                    <a:srgbClr val="C0C0C0"/>
                  </a:outerShdw>
                </a:effectLst>
              </a:rPr>
              <a:t>tc</a:t>
            </a:r>
            <a:r>
              <a:rPr lang="en-US" altLang="zh-CN" b="1" dirty="0">
                <a:effectLst>
                  <a:outerShdw blurRad="38100" dist="38100" dir="2700000" algn="tl">
                    <a:srgbClr val="C0C0C0"/>
                  </a:outerShdw>
                </a:effectLst>
              </a:rPr>
              <a:t>++;</a:t>
            </a:r>
          </a:p>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if (</a:t>
            </a:r>
            <a:r>
              <a:rPr lang="en-US" altLang="zh-CN" b="1" dirty="0" err="1">
                <a:effectLst>
                  <a:outerShdw blurRad="38100" dist="38100" dir="2700000" algn="tl">
                    <a:srgbClr val="C0C0C0"/>
                  </a:outerShdw>
                </a:effectLst>
              </a:rPr>
              <a:t>tc</a:t>
            </a:r>
            <a:r>
              <a:rPr lang="en-US" altLang="zh-CN" b="1" dirty="0">
                <a:effectLst>
                  <a:outerShdw blurRad="38100" dist="38100" dir="2700000" algn="tl">
                    <a:srgbClr val="C0C0C0"/>
                  </a:outerShdw>
                </a:effectLst>
              </a:rPr>
              <a:t> &gt; c) {  /* </a:t>
            </a:r>
            <a:r>
              <a:rPr lang="zh-CN" altLang="en-US" b="1" dirty="0">
                <a:effectLst>
                  <a:outerShdw blurRad="38100" dist="38100" dir="2700000" algn="tl">
                    <a:srgbClr val="C0C0C0"/>
                  </a:outerShdw>
                </a:effectLst>
              </a:rPr>
              <a:t>找到出现次数更多的整数 *</a:t>
            </a:r>
            <a:r>
              <a:rPr lang="en-US" altLang="zh-CN" b="1" dirty="0">
                <a:effectLst>
                  <a:outerShdw blurRad="38100" dist="38100" dir="2700000" algn="tl">
                    <a:srgbClr val="C0C0C0"/>
                  </a:outerShdw>
                </a:effectLst>
              </a:rPr>
              <a:t>/</a:t>
            </a:r>
          </a:p>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c = </a:t>
            </a:r>
            <a:r>
              <a:rPr lang="en-US" altLang="zh-CN" b="1" dirty="0" err="1">
                <a:effectLst>
                  <a:outerShdw blurRad="38100" dist="38100" dir="2700000" algn="tl">
                    <a:srgbClr val="C0C0C0"/>
                  </a:outerShdw>
                </a:effectLst>
              </a:rPr>
              <a:t>tc</a:t>
            </a:r>
            <a:r>
              <a:rPr lang="en-US" altLang="zh-CN" b="1" dirty="0">
                <a:effectLst>
                  <a:outerShdw blurRad="38100" dist="38100" dir="2700000" algn="tl">
                    <a:srgbClr val="C0C0C0"/>
                  </a:outerShdw>
                </a:effectLst>
              </a:rPr>
              <a:t>;	             pos = </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a:t>
            </a:r>
          </a:p>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a:t>
            </a:r>
          </a:p>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a:t>
            </a:r>
          </a:p>
          <a:p>
            <a:pPr marL="0" indent="0" eaLnBrk="1" fontAlgn="auto" hangingPunct="1">
              <a:spcAft>
                <a:spcPts val="0"/>
              </a:spcAft>
              <a:buClr>
                <a:schemeClr val="accent3"/>
              </a:buClr>
              <a:buFont typeface="Wingdings" pitchFamily="2" charset="2"/>
              <a:buNone/>
              <a:defRPr/>
            </a:pPr>
            <a:r>
              <a:rPr lang="en-US" altLang="zh-CN" b="1" dirty="0" err="1">
                <a:effectLst>
                  <a:outerShdw blurRad="38100" dist="38100" dir="2700000" algn="tl">
                    <a:srgbClr val="C0C0C0"/>
                  </a:outerShdw>
                </a:effectLst>
              </a:rPr>
              <a:t>printf</a:t>
            </a:r>
            <a:r>
              <a:rPr lang="en-US" altLang="zh-CN" b="1" dirty="0">
                <a:effectLst>
                  <a:outerShdw blurRad="38100" dist="38100" dir="2700000" algn="tl">
                    <a:srgbClr val="C0C0C0"/>
                  </a:outerShdw>
                </a:effectLst>
              </a:rPr>
              <a:t>("</a:t>
            </a:r>
            <a:r>
              <a:rPr lang="zh-CN" altLang="en-US" b="1" dirty="0">
                <a:effectLst>
                  <a:outerShdw blurRad="38100" dist="38100" dir="2700000" algn="tl">
                    <a:srgbClr val="C0C0C0"/>
                  </a:outerShdw>
                </a:effectLst>
              </a:rPr>
              <a:t>出现最多的值是</a:t>
            </a:r>
            <a:r>
              <a:rPr lang="en-US" altLang="zh-CN" b="1" dirty="0">
                <a:effectLst>
                  <a:outerShdw blurRad="38100" dist="38100" dir="2700000" algn="tl">
                    <a:srgbClr val="C0C0C0"/>
                  </a:outerShdw>
                </a:effectLst>
              </a:rPr>
              <a:t>%d </a:t>
            </a:r>
            <a:r>
              <a:rPr lang="zh-CN" altLang="en-US" b="1" dirty="0">
                <a:effectLst>
                  <a:outerShdw blurRad="38100" dist="38100" dir="2700000" algn="tl">
                    <a:srgbClr val="C0C0C0"/>
                  </a:outerShdw>
                </a:effectLst>
              </a:rPr>
              <a:t>出现的次数是 </a:t>
            </a:r>
            <a:r>
              <a:rPr lang="en-US" altLang="zh-CN" b="1" dirty="0">
                <a:effectLst>
                  <a:outerShdw blurRad="38100" dist="38100" dir="2700000" algn="tl">
                    <a:srgbClr val="C0C0C0"/>
                  </a:outerShdw>
                </a:effectLst>
              </a:rPr>
              <a:t>%d\n",</a:t>
            </a:r>
          </a:p>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a[pos],c);</a:t>
            </a:r>
          </a:p>
        </p:txBody>
      </p:sp>
      <p:sp>
        <p:nvSpPr>
          <p:cNvPr id="5" name="灯片编号占位符 5"/>
          <p:cNvSpPr>
            <a:spLocks noGrp="1"/>
          </p:cNvSpPr>
          <p:nvPr>
            <p:ph type="sldNum" sz="quarter" idx="12"/>
          </p:nvPr>
        </p:nvSpPr>
        <p:spPr/>
        <p:txBody>
          <a:bodyPr/>
          <a:lstStyle/>
          <a:p>
            <a:pPr>
              <a:defRPr/>
            </a:pPr>
            <a:fld id="{673F7707-F62F-4C09-B24B-4E31DA50A653}" type="slidenum">
              <a:rPr lang="en-US" altLang="zh-CN"/>
              <a:pPr>
                <a:defRPr/>
              </a:pPr>
              <a:t>27</a:t>
            </a:fld>
            <a:endParaRPr lang="en-US" altLang="zh-CN"/>
          </a:p>
        </p:txBody>
      </p:sp>
      <p:sp>
        <p:nvSpPr>
          <p:cNvPr id="4" name="矩形 3"/>
          <p:cNvSpPr/>
          <p:nvPr/>
        </p:nvSpPr>
        <p:spPr>
          <a:xfrm>
            <a:off x="4427538" y="4724400"/>
            <a:ext cx="4465637" cy="18002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l">
              <a:defRPr/>
            </a:pPr>
            <a:r>
              <a:rPr lang="en-US" altLang="zh-CN" dirty="0">
                <a:solidFill>
                  <a:schemeClr val="tx1"/>
                </a:solidFill>
                <a:effectLst>
                  <a:outerShdw blurRad="38100" dist="38100" dir="2700000" algn="tl">
                    <a:srgbClr val="C0C0C0"/>
                  </a:outerShdw>
                </a:effectLst>
              </a:rPr>
              <a:t>pos</a:t>
            </a:r>
            <a:r>
              <a:rPr lang="zh-CN" altLang="en-US" dirty="0">
                <a:solidFill>
                  <a:schemeClr val="tx1"/>
                </a:solidFill>
                <a:effectLst>
                  <a:outerShdw blurRad="38100" dist="38100" dir="2700000" algn="tl">
                    <a:srgbClr val="C0C0C0"/>
                  </a:outerShdw>
                </a:effectLst>
              </a:rPr>
              <a:t>是出现次数最多的元素的下标，</a:t>
            </a:r>
            <a:r>
              <a:rPr lang="en-US" altLang="zh-CN" dirty="0">
                <a:solidFill>
                  <a:schemeClr val="tx1"/>
                </a:solidFill>
                <a:effectLst>
                  <a:outerShdw blurRad="38100" dist="38100" dir="2700000" algn="tl">
                    <a:srgbClr val="C0C0C0"/>
                  </a:outerShdw>
                </a:effectLst>
              </a:rPr>
              <a:t>c</a:t>
            </a:r>
            <a:r>
              <a:rPr lang="zh-CN" altLang="en-US" dirty="0">
                <a:solidFill>
                  <a:schemeClr val="tx1"/>
                </a:solidFill>
                <a:effectLst>
                  <a:outerShdw blurRad="38100" dist="38100" dir="2700000" algn="tl">
                    <a:srgbClr val="C0C0C0"/>
                  </a:outerShdw>
                </a:effectLst>
              </a:rPr>
              <a:t>是该元素出现的次数</a:t>
            </a:r>
            <a:endParaRPr lang="zh-CN" altLang="en-US" dirty="0">
              <a:solidFill>
                <a:schemeClr val="tx1"/>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13026">
                                            <p:txEl>
                                              <p:pRg st="0" end="0"/>
                                            </p:txEl>
                                          </p:spTgt>
                                        </p:tgtEl>
                                        <p:attrNameLst>
                                          <p:attrName>style.visibility</p:attrName>
                                        </p:attrNameLst>
                                      </p:cBhvr>
                                      <p:to>
                                        <p:strVal val="visible"/>
                                      </p:to>
                                    </p:set>
                                    <p:anim calcmode="lin" valueType="num">
                                      <p:cBhvr additive="base">
                                        <p:cTn id="7" dur="500" fill="hold"/>
                                        <p:tgtEl>
                                          <p:spTgt spid="51302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1302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13026">
                                            <p:txEl>
                                              <p:pRg st="6" end="6"/>
                                            </p:txEl>
                                          </p:spTgt>
                                        </p:tgtEl>
                                        <p:attrNameLst>
                                          <p:attrName>style.visibility</p:attrName>
                                        </p:attrNameLst>
                                      </p:cBhvr>
                                      <p:to>
                                        <p:strVal val="visible"/>
                                      </p:to>
                                    </p:set>
                                    <p:anim calcmode="lin" valueType="num">
                                      <p:cBhvr additive="base">
                                        <p:cTn id="11" dur="500" fill="hold"/>
                                        <p:tgtEl>
                                          <p:spTgt spid="513026">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13026">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13026">
                                            <p:txEl>
                                              <p:pRg st="1" end="1"/>
                                            </p:txEl>
                                          </p:spTgt>
                                        </p:tgtEl>
                                        <p:attrNameLst>
                                          <p:attrName>style.visibility</p:attrName>
                                        </p:attrNameLst>
                                      </p:cBhvr>
                                      <p:to>
                                        <p:strVal val="visible"/>
                                      </p:to>
                                    </p:set>
                                    <p:anim calcmode="lin" valueType="num">
                                      <p:cBhvr additive="base">
                                        <p:cTn id="17" dur="500" fill="hold"/>
                                        <p:tgtEl>
                                          <p:spTgt spid="513026">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13026">
                                            <p:txEl>
                                              <p:pRg st="1" end="1"/>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513026">
                                            <p:txEl>
                                              <p:pRg st="2" end="2"/>
                                            </p:txEl>
                                          </p:spTgt>
                                        </p:tgtEl>
                                        <p:attrNameLst>
                                          <p:attrName>style.visibility</p:attrName>
                                        </p:attrNameLst>
                                      </p:cBhvr>
                                      <p:to>
                                        <p:strVal val="visible"/>
                                      </p:to>
                                    </p:set>
                                    <p:anim calcmode="lin" valueType="num">
                                      <p:cBhvr additive="base">
                                        <p:cTn id="21" dur="500" fill="hold"/>
                                        <p:tgtEl>
                                          <p:spTgt spid="513026">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1302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513026">
                                            <p:txEl>
                                              <p:pRg st="3" end="3"/>
                                            </p:txEl>
                                          </p:spTgt>
                                        </p:tgtEl>
                                        <p:attrNameLst>
                                          <p:attrName>style.visibility</p:attrName>
                                        </p:attrNameLst>
                                      </p:cBhvr>
                                      <p:to>
                                        <p:strVal val="visible"/>
                                      </p:to>
                                    </p:set>
                                    <p:anim calcmode="lin" valueType="num">
                                      <p:cBhvr additive="base">
                                        <p:cTn id="27" dur="500" fill="hold"/>
                                        <p:tgtEl>
                                          <p:spTgt spid="513026">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13026">
                                            <p:txEl>
                                              <p:pRg st="3" end="3"/>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513026">
                                            <p:txEl>
                                              <p:pRg st="4" end="4"/>
                                            </p:txEl>
                                          </p:spTgt>
                                        </p:tgtEl>
                                        <p:attrNameLst>
                                          <p:attrName>style.visibility</p:attrName>
                                        </p:attrNameLst>
                                      </p:cBhvr>
                                      <p:to>
                                        <p:strVal val="visible"/>
                                      </p:to>
                                    </p:set>
                                    <p:anim calcmode="lin" valueType="num">
                                      <p:cBhvr additive="base">
                                        <p:cTn id="31" dur="500" fill="hold"/>
                                        <p:tgtEl>
                                          <p:spTgt spid="513026">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13026">
                                            <p:txEl>
                                              <p:pRg st="4" end="4"/>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513026">
                                            <p:txEl>
                                              <p:pRg st="5" end="5"/>
                                            </p:txEl>
                                          </p:spTgt>
                                        </p:tgtEl>
                                        <p:attrNameLst>
                                          <p:attrName>style.visibility</p:attrName>
                                        </p:attrNameLst>
                                      </p:cBhvr>
                                      <p:to>
                                        <p:strVal val="visible"/>
                                      </p:to>
                                    </p:set>
                                    <p:anim calcmode="lin" valueType="num">
                                      <p:cBhvr additive="base">
                                        <p:cTn id="35" dur="500" fill="hold"/>
                                        <p:tgtEl>
                                          <p:spTgt spid="513026">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513026">
                                            <p:txEl>
                                              <p:pRg st="5" end="5"/>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4"/>
                                        </p:tgtEl>
                                        <p:attrNameLst>
                                          <p:attrName>style.visibility</p:attrName>
                                        </p:attrNameLst>
                                      </p:cBhvr>
                                      <p:to>
                                        <p:strVal val="visible"/>
                                      </p:to>
                                    </p:set>
                                    <p:anim calcmode="lin" valueType="num">
                                      <p:cBhvr additive="base">
                                        <p:cTn id="39" dur="500" fill="hold"/>
                                        <p:tgtEl>
                                          <p:spTgt spid="4"/>
                                        </p:tgtEl>
                                        <p:attrNameLst>
                                          <p:attrName>ppt_x</p:attrName>
                                        </p:attrNameLst>
                                      </p:cBhvr>
                                      <p:tavLst>
                                        <p:tav tm="0">
                                          <p:val>
                                            <p:strVal val="#ppt_x"/>
                                          </p:val>
                                        </p:tav>
                                        <p:tav tm="100000">
                                          <p:val>
                                            <p:strVal val="#ppt_x"/>
                                          </p:val>
                                        </p:tav>
                                      </p:tavLst>
                                    </p:anim>
                                    <p:anim calcmode="lin" valueType="num">
                                      <p:cBhvr additive="base">
                                        <p:cTn id="4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513026">
                                            <p:txEl>
                                              <p:pRg st="7" end="7"/>
                                            </p:txEl>
                                          </p:spTgt>
                                        </p:tgtEl>
                                        <p:attrNameLst>
                                          <p:attrName>style.visibility</p:attrName>
                                        </p:attrNameLst>
                                      </p:cBhvr>
                                      <p:to>
                                        <p:strVal val="visible"/>
                                      </p:to>
                                    </p:set>
                                    <p:anim calcmode="lin" valueType="num">
                                      <p:cBhvr additive="base">
                                        <p:cTn id="45" dur="500" fill="hold"/>
                                        <p:tgtEl>
                                          <p:spTgt spid="513026">
                                            <p:txEl>
                                              <p:pRg st="7" end="7"/>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513026">
                                            <p:txEl>
                                              <p:pRg st="7" end="7"/>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513026">
                                            <p:txEl>
                                              <p:pRg st="8" end="8"/>
                                            </p:txEl>
                                          </p:spTgt>
                                        </p:tgtEl>
                                        <p:attrNameLst>
                                          <p:attrName>style.visibility</p:attrName>
                                        </p:attrNameLst>
                                      </p:cBhvr>
                                      <p:to>
                                        <p:strVal val="visible"/>
                                      </p:to>
                                    </p:set>
                                    <p:anim calcmode="lin" valueType="num">
                                      <p:cBhvr additive="base">
                                        <p:cTn id="49" dur="500" fill="hold"/>
                                        <p:tgtEl>
                                          <p:spTgt spid="513026">
                                            <p:txEl>
                                              <p:pRg st="8" end="8"/>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513026">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6098" name="Rectangle 2"/>
          <p:cNvSpPr>
            <a:spLocks noGrp="1" noChangeArrowheads="1"/>
          </p:cNvSpPr>
          <p:nvPr>
            <p:ph idx="1"/>
          </p:nvPr>
        </p:nvSpPr>
        <p:spPr>
          <a:xfrm>
            <a:off x="395288" y="476250"/>
            <a:ext cx="8534400" cy="5907088"/>
          </a:xfrm>
        </p:spPr>
        <p:txBody>
          <a:bodyPr>
            <a:normAutofit/>
          </a:bodyPr>
          <a:lstStyle/>
          <a:p>
            <a:pPr marL="0" indent="0" eaLnBrk="1" fontAlgn="auto" hangingPunct="1">
              <a:lnSpc>
                <a:spcPct val="95000"/>
              </a:lnSpc>
              <a:spcAft>
                <a:spcPts val="0"/>
              </a:spcAft>
              <a:buClr>
                <a:schemeClr val="accent3"/>
              </a:buClr>
              <a:buFont typeface="Wingdings" pitchFamily="2" charset="2"/>
              <a:buNone/>
              <a:defRPr/>
            </a:pPr>
            <a:r>
              <a:rPr lang="en-US" altLang="zh-CN" sz="2800" b="1" dirty="0">
                <a:effectLst>
                  <a:outerShdw blurRad="38100" dist="38100" dir="2700000" algn="tl">
                    <a:srgbClr val="C0C0C0"/>
                  </a:outerShdw>
                </a:effectLst>
              </a:rPr>
              <a:t>【</a:t>
            </a:r>
            <a:r>
              <a:rPr lang="zh-CN" altLang="en-US" sz="2800" b="1" dirty="0">
                <a:effectLst>
                  <a:outerShdw blurRad="38100" dist="38100" dir="2700000" algn="tl">
                    <a:srgbClr val="C0C0C0"/>
                  </a:outerShdw>
                </a:effectLst>
              </a:rPr>
              <a:t>例</a:t>
            </a:r>
            <a:r>
              <a:rPr lang="en-US" altLang="zh-CN" sz="2800" b="1" dirty="0">
                <a:effectLst>
                  <a:outerShdw blurRad="38100" dist="38100" dir="2700000" algn="tl">
                    <a:srgbClr val="C0C0C0"/>
                  </a:outerShdw>
                </a:effectLst>
              </a:rPr>
              <a:t>】</a:t>
            </a:r>
            <a:r>
              <a:rPr lang="zh-CN" altLang="en-US" sz="2800" b="1" dirty="0">
                <a:effectLst>
                  <a:outerShdw blurRad="38100" dist="38100" dir="2700000" algn="tl">
                    <a:srgbClr val="C0C0C0"/>
                  </a:outerShdw>
                </a:effectLst>
              </a:rPr>
              <a:t>输入一个含</a:t>
            </a:r>
            <a:r>
              <a:rPr lang="en-US" altLang="zh-CN" sz="2800" b="1" dirty="0">
                <a:effectLst>
                  <a:outerShdw blurRad="38100" dist="38100" dir="2700000" algn="tl">
                    <a:srgbClr val="C0C0C0"/>
                  </a:outerShdw>
                </a:effectLst>
              </a:rPr>
              <a:t>n</a:t>
            </a:r>
            <a:r>
              <a:rPr lang="zh-CN" altLang="en-US" sz="2800" b="1" dirty="0">
                <a:effectLst>
                  <a:outerShdw blurRad="38100" dist="38100" dir="2700000" algn="tl">
                    <a:srgbClr val="C0C0C0"/>
                  </a:outerShdw>
                </a:effectLst>
              </a:rPr>
              <a:t>个元素的数组，要求数组中的</a:t>
            </a:r>
            <a:r>
              <a:rPr lang="zh-CN" altLang="en-US" sz="2800" b="1" dirty="0">
                <a:solidFill>
                  <a:srgbClr val="C00000"/>
                </a:solidFill>
                <a:effectLst>
                  <a:outerShdw blurRad="38100" dist="38100" dir="2700000" algn="tl">
                    <a:srgbClr val="C0C0C0"/>
                  </a:outerShdw>
                </a:effectLst>
              </a:rPr>
              <a:t>元素互不相等</a:t>
            </a:r>
            <a:r>
              <a:rPr lang="zh-CN" altLang="en-US" sz="2800" b="1" dirty="0">
                <a:effectLst>
                  <a:outerShdw blurRad="38100" dist="38100" dir="2700000" algn="tl">
                    <a:srgbClr val="C0C0C0"/>
                  </a:outerShdw>
                </a:effectLst>
              </a:rPr>
              <a:t>。数组生成后，按每行</a:t>
            </a:r>
            <a:r>
              <a:rPr lang="en-US" altLang="zh-CN" sz="2800" b="1" dirty="0">
                <a:effectLst>
                  <a:outerShdw blurRad="38100" dist="38100" dir="2700000" algn="tl">
                    <a:srgbClr val="C0C0C0"/>
                  </a:outerShdw>
                </a:effectLst>
              </a:rPr>
              <a:t>10</a:t>
            </a:r>
            <a:r>
              <a:rPr lang="zh-CN" altLang="en-US" sz="2800" b="1" dirty="0">
                <a:effectLst>
                  <a:outerShdw blurRad="38100" dist="38100" dir="2700000" algn="tl">
                    <a:srgbClr val="C0C0C0"/>
                  </a:outerShdw>
                </a:effectLst>
              </a:rPr>
              <a:t>个整数的格式输出。</a:t>
            </a:r>
          </a:p>
          <a:p>
            <a:pPr marL="0" indent="0" eaLnBrk="1" fontAlgn="auto" hangingPunct="1">
              <a:lnSpc>
                <a:spcPct val="95000"/>
              </a:lnSpc>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a:t>
            </a:r>
            <a:r>
              <a:rPr lang="zh-CN" altLang="en-US" b="1" dirty="0">
                <a:effectLst>
                  <a:outerShdw blurRad="38100" dist="38100" dir="2700000" algn="tl">
                    <a:srgbClr val="C0C0C0"/>
                  </a:outerShdw>
                </a:effectLst>
              </a:rPr>
              <a:t>解题思路</a:t>
            </a:r>
            <a:r>
              <a:rPr lang="en-US" altLang="zh-CN" b="1" dirty="0">
                <a:effectLst>
                  <a:outerShdw blurRad="38100" dist="38100" dir="2700000" algn="tl">
                    <a:srgbClr val="C0C0C0"/>
                  </a:outerShdw>
                </a:effectLst>
              </a:rPr>
              <a:t>】</a:t>
            </a:r>
          </a:p>
          <a:p>
            <a:pPr marL="0" indent="0" eaLnBrk="1" fontAlgn="auto" hangingPunct="1">
              <a:lnSpc>
                <a:spcPct val="95000"/>
              </a:lnSpc>
              <a:spcAft>
                <a:spcPts val="0"/>
              </a:spcAft>
              <a:buClr>
                <a:schemeClr val="accent3"/>
              </a:buClr>
              <a:buFont typeface="Wingdings" pitchFamily="2" charset="2"/>
              <a:buNone/>
              <a:defRPr/>
            </a:pPr>
            <a:r>
              <a:rPr lang="zh-CN" altLang="en-US" b="1" dirty="0">
                <a:effectLst>
                  <a:outerShdw blurRad="38100" dist="38100" dir="2700000" algn="tl">
                    <a:srgbClr val="C0C0C0"/>
                  </a:outerShdw>
                </a:effectLst>
              </a:rPr>
              <a:t>设数组为</a:t>
            </a:r>
            <a:r>
              <a:rPr lang="en-US" altLang="zh-CN" b="1" dirty="0">
                <a:effectLst>
                  <a:outerShdw blurRad="38100" dist="38100" dir="2700000" algn="tl">
                    <a:srgbClr val="C0C0C0"/>
                  </a:outerShdw>
                </a:effectLst>
              </a:rPr>
              <a:t>a[]</a:t>
            </a:r>
            <a:r>
              <a:rPr lang="zh-CN" altLang="en-US" b="1" dirty="0">
                <a:effectLst>
                  <a:outerShdw blurRad="38100" dist="38100" dir="2700000" algn="tl">
                    <a:srgbClr val="C0C0C0"/>
                  </a:outerShdw>
                </a:effectLst>
              </a:rPr>
              <a:t>，并引入已输入的不同整数的计数器</a:t>
            </a:r>
            <a:r>
              <a:rPr lang="en-US" altLang="zh-CN" b="1" dirty="0" err="1">
                <a:effectLst>
                  <a:outerShdw blurRad="38100" dist="38100" dir="2700000" algn="tl">
                    <a:srgbClr val="C0C0C0"/>
                  </a:outerShdw>
                </a:effectLst>
              </a:rPr>
              <a:t>i</a:t>
            </a:r>
            <a:r>
              <a:rPr lang="zh-CN" altLang="en-US" b="1" dirty="0">
                <a:effectLst>
                  <a:outerShdw blurRad="38100" dist="38100" dir="2700000" algn="tl">
                    <a:srgbClr val="C0C0C0"/>
                  </a:outerShdw>
                </a:effectLst>
              </a:rPr>
              <a:t>，</a:t>
            </a:r>
            <a:r>
              <a:rPr lang="en-US" altLang="zh-CN" b="1" dirty="0" err="1">
                <a:effectLst>
                  <a:outerShdw blurRad="38100" dist="38100" dir="2700000" algn="tl">
                    <a:srgbClr val="C0C0C0"/>
                  </a:outerShdw>
                </a:effectLst>
              </a:rPr>
              <a:t>i</a:t>
            </a:r>
            <a:r>
              <a:rPr lang="zh-CN" altLang="en-US" b="1" dirty="0">
                <a:effectLst>
                  <a:outerShdw blurRad="38100" dist="38100" dir="2700000" algn="tl">
                    <a:srgbClr val="C0C0C0"/>
                  </a:outerShdw>
                </a:effectLst>
              </a:rPr>
              <a:t>的初值为</a:t>
            </a:r>
            <a:r>
              <a:rPr lang="en-US" altLang="zh-CN" b="1" dirty="0">
                <a:effectLst>
                  <a:outerShdw blurRad="38100" dist="38100" dir="2700000" algn="tl">
                    <a:srgbClr val="C0C0C0"/>
                  </a:outerShdw>
                </a:effectLst>
              </a:rPr>
              <a:t>0</a:t>
            </a:r>
            <a:r>
              <a:rPr lang="zh-CN" altLang="en-US" b="1" dirty="0">
                <a:effectLst>
                  <a:outerShdw blurRad="38100" dist="38100" dir="2700000" algn="tl">
                    <a:srgbClr val="C0C0C0"/>
                  </a:outerShdw>
                </a:effectLst>
              </a:rPr>
              <a:t>。用循环逐一输入整数，将当前输入的整数存于</a:t>
            </a:r>
            <a:r>
              <a:rPr lang="en-US" altLang="zh-CN" b="1" dirty="0">
                <a:effectLst>
                  <a:outerShdw blurRad="38100" dist="38100" dir="2700000" algn="tl">
                    <a:srgbClr val="C0C0C0"/>
                  </a:outerShdw>
                </a:effectLst>
              </a:rPr>
              <a:t>a[</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a:t>
            </a:r>
            <a:r>
              <a:rPr lang="zh-CN" altLang="en-US" b="1" dirty="0">
                <a:effectLst>
                  <a:outerShdw blurRad="38100" dist="38100" dir="2700000" algn="tl">
                    <a:srgbClr val="C0C0C0"/>
                  </a:outerShdw>
                </a:effectLst>
              </a:rPr>
              <a:t>中，</a:t>
            </a:r>
            <a:r>
              <a:rPr lang="zh-CN" altLang="en-US" sz="2800" b="1" dirty="0">
                <a:solidFill>
                  <a:srgbClr val="C00000"/>
                </a:solidFill>
                <a:effectLst>
                  <a:outerShdw blurRad="38100" dist="38100" dir="2700000" algn="tl">
                    <a:srgbClr val="C0C0C0"/>
                  </a:outerShdw>
                </a:effectLst>
              </a:rPr>
              <a:t>并检查该整数是否与早先已输入并存储于</a:t>
            </a:r>
            <a:r>
              <a:rPr lang="en-US" altLang="zh-CN" sz="2800" b="1" dirty="0">
                <a:solidFill>
                  <a:srgbClr val="C00000"/>
                </a:solidFill>
                <a:effectLst>
                  <a:outerShdw blurRad="38100" dist="38100" dir="2700000" algn="tl">
                    <a:srgbClr val="C0C0C0"/>
                  </a:outerShdw>
                </a:effectLst>
              </a:rPr>
              <a:t>a[0]</a:t>
            </a:r>
            <a:r>
              <a:rPr lang="zh-CN" altLang="en-US" sz="2800" b="1" dirty="0">
                <a:solidFill>
                  <a:srgbClr val="C00000"/>
                </a:solidFill>
                <a:effectLst>
                  <a:outerShdw blurRad="38100" dist="38100" dir="2700000" algn="tl">
                    <a:srgbClr val="C0C0C0"/>
                  </a:outerShdw>
                </a:effectLst>
              </a:rPr>
              <a:t>至</a:t>
            </a:r>
            <a:r>
              <a:rPr lang="en-US" altLang="zh-CN" sz="2800" b="1" dirty="0">
                <a:solidFill>
                  <a:srgbClr val="C00000"/>
                </a:solidFill>
                <a:effectLst>
                  <a:outerShdw blurRad="38100" dist="38100" dir="2700000" algn="tl">
                    <a:srgbClr val="C0C0C0"/>
                  </a:outerShdw>
                </a:effectLst>
              </a:rPr>
              <a:t>a[i-1]</a:t>
            </a:r>
            <a:r>
              <a:rPr lang="zh-CN" altLang="en-US" sz="2800" b="1" dirty="0">
                <a:solidFill>
                  <a:srgbClr val="C00000"/>
                </a:solidFill>
                <a:effectLst>
                  <a:outerShdw blurRad="38100" dist="38100" dir="2700000" algn="tl">
                    <a:srgbClr val="C0C0C0"/>
                  </a:outerShdw>
                </a:effectLst>
              </a:rPr>
              <a:t>的某个整数相等。</a:t>
            </a:r>
            <a:r>
              <a:rPr lang="zh-CN" altLang="en-US" b="1" dirty="0">
                <a:effectLst>
                  <a:outerShdw blurRad="38100" dist="38100" dir="2700000" algn="tl">
                    <a:srgbClr val="C0C0C0"/>
                  </a:outerShdw>
                </a:effectLst>
              </a:rPr>
              <a:t>如果发现当前输入的整数与早先输入并存储的某个整数相等，则忽略该元素，继续输入下一个整数。如果当前输入的整数与早先输入的整数都不相等，说明</a:t>
            </a:r>
            <a:r>
              <a:rPr lang="en-US" altLang="zh-CN" b="1" dirty="0">
                <a:effectLst>
                  <a:outerShdw blurRad="38100" dist="38100" dir="2700000" algn="tl">
                    <a:srgbClr val="C0C0C0"/>
                  </a:outerShdw>
                </a:effectLst>
              </a:rPr>
              <a:t>a[</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a:t>
            </a:r>
            <a:r>
              <a:rPr lang="zh-CN" altLang="en-US" b="1" dirty="0">
                <a:effectLst>
                  <a:outerShdw blurRad="38100" dist="38100" dir="2700000" algn="tl">
                    <a:srgbClr val="C0C0C0"/>
                  </a:outerShdw>
                </a:effectLst>
              </a:rPr>
              <a:t>是未曾输入过的，则让</a:t>
            </a:r>
            <a:r>
              <a:rPr lang="en-US" altLang="zh-CN" b="1" dirty="0" err="1">
                <a:effectLst>
                  <a:outerShdw blurRad="38100" dist="38100" dir="2700000" algn="tl">
                    <a:srgbClr val="C0C0C0"/>
                  </a:outerShdw>
                </a:effectLst>
              </a:rPr>
              <a:t>i</a:t>
            </a:r>
            <a:r>
              <a:rPr lang="zh-CN" altLang="en-US" b="1" dirty="0">
                <a:effectLst>
                  <a:outerShdw blurRad="38100" dist="38100" dir="2700000" algn="tl">
                    <a:srgbClr val="C0C0C0"/>
                  </a:outerShdw>
                </a:effectLst>
              </a:rPr>
              <a:t>增</a:t>
            </a:r>
            <a:r>
              <a:rPr lang="en-US" altLang="zh-CN" b="1" dirty="0">
                <a:effectLst>
                  <a:outerShdw blurRad="38100" dist="38100" dir="2700000" algn="tl">
                    <a:srgbClr val="C0C0C0"/>
                  </a:outerShdw>
                </a:effectLst>
              </a:rPr>
              <a:t>1</a:t>
            </a:r>
            <a:r>
              <a:rPr lang="zh-CN" altLang="en-US" b="1" dirty="0">
                <a:effectLst>
                  <a:outerShdw blurRad="38100" dist="38100" dir="2700000" algn="tl">
                    <a:srgbClr val="C0C0C0"/>
                  </a:outerShdw>
                </a:effectLst>
              </a:rPr>
              <a:t>。在输入不同整数个数</a:t>
            </a:r>
            <a:r>
              <a:rPr lang="en-US" altLang="zh-CN" b="1" dirty="0" err="1">
                <a:effectLst>
                  <a:outerShdw blurRad="38100" dist="38100" dir="2700000" algn="tl">
                    <a:srgbClr val="C0C0C0"/>
                  </a:outerShdw>
                </a:effectLst>
              </a:rPr>
              <a:t>i</a:t>
            </a:r>
            <a:r>
              <a:rPr lang="zh-CN" altLang="en-US" b="1" dirty="0">
                <a:effectLst>
                  <a:outerShdw blurRad="38100" dist="38100" dir="2700000" algn="tl">
                    <a:srgbClr val="C0C0C0"/>
                  </a:outerShdw>
                </a:effectLst>
              </a:rPr>
              <a:t>等于</a:t>
            </a:r>
            <a:r>
              <a:rPr lang="en-US" altLang="zh-CN" b="1" dirty="0">
                <a:effectLst>
                  <a:outerShdw blurRad="38100" dist="38100" dir="2700000" algn="tl">
                    <a:srgbClr val="C0C0C0"/>
                  </a:outerShdw>
                </a:effectLst>
              </a:rPr>
              <a:t>n</a:t>
            </a:r>
            <a:r>
              <a:rPr lang="zh-CN" altLang="en-US" b="1" dirty="0">
                <a:effectLst>
                  <a:outerShdw blurRad="38100" dist="38100" dir="2700000" algn="tl">
                    <a:srgbClr val="C0C0C0"/>
                  </a:outerShdw>
                </a:effectLst>
              </a:rPr>
              <a:t>时，结束循环。</a:t>
            </a:r>
          </a:p>
        </p:txBody>
      </p:sp>
      <p:sp>
        <p:nvSpPr>
          <p:cNvPr id="5" name="灯片编号占位符 5"/>
          <p:cNvSpPr>
            <a:spLocks noGrp="1"/>
          </p:cNvSpPr>
          <p:nvPr>
            <p:ph type="sldNum" sz="quarter" idx="12"/>
          </p:nvPr>
        </p:nvSpPr>
        <p:spPr/>
        <p:txBody>
          <a:bodyPr/>
          <a:lstStyle/>
          <a:p>
            <a:pPr>
              <a:defRPr/>
            </a:pPr>
            <a:fld id="{15457F3B-E851-44AE-A1BA-E9E98316EB4A}" type="slidenum">
              <a:rPr lang="en-US" altLang="zh-CN"/>
              <a:pPr>
                <a:defRPr/>
              </a:pPr>
              <a:t>28</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16098">
                                            <p:txEl>
                                              <p:pRg st="1" end="1"/>
                                            </p:txEl>
                                          </p:spTgt>
                                        </p:tgtEl>
                                        <p:attrNameLst>
                                          <p:attrName>style.visibility</p:attrName>
                                        </p:attrNameLst>
                                      </p:cBhvr>
                                      <p:to>
                                        <p:strVal val="visible"/>
                                      </p:to>
                                    </p:set>
                                    <p:anim calcmode="lin" valueType="num">
                                      <p:cBhvr additive="base">
                                        <p:cTn id="7" dur="500" fill="hold"/>
                                        <p:tgtEl>
                                          <p:spTgt spid="516098">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16098">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16098">
                                            <p:txEl>
                                              <p:pRg st="2" end="2"/>
                                            </p:txEl>
                                          </p:spTgt>
                                        </p:tgtEl>
                                        <p:attrNameLst>
                                          <p:attrName>style.visibility</p:attrName>
                                        </p:attrNameLst>
                                      </p:cBhvr>
                                      <p:to>
                                        <p:strVal val="visible"/>
                                      </p:to>
                                    </p:set>
                                    <p:anim calcmode="lin" valueType="num">
                                      <p:cBhvr additive="base">
                                        <p:cTn id="11" dur="500" fill="hold"/>
                                        <p:tgtEl>
                                          <p:spTgt spid="516098">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16098">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122" name="Rectangle 2"/>
          <p:cNvSpPr>
            <a:spLocks noGrp="1" noChangeArrowheads="1"/>
          </p:cNvSpPr>
          <p:nvPr>
            <p:ph idx="1"/>
          </p:nvPr>
        </p:nvSpPr>
        <p:spPr>
          <a:xfrm>
            <a:off x="395288" y="476250"/>
            <a:ext cx="8534400" cy="5907088"/>
          </a:xfrm>
        </p:spPr>
        <p:txBody>
          <a:bodyPr>
            <a:normAutofit/>
          </a:bodyPr>
          <a:lstStyle/>
          <a:p>
            <a:pPr marL="0" indent="0" eaLnBrk="1" fontAlgn="auto" hangingPunct="1">
              <a:lnSpc>
                <a:spcPct val="95000"/>
              </a:lnSpc>
              <a:spcAft>
                <a:spcPts val="0"/>
              </a:spcAft>
              <a:buClr>
                <a:schemeClr val="accent3"/>
              </a:buClr>
              <a:buFont typeface="Wingdings" pitchFamily="2" charset="2"/>
              <a:buNone/>
              <a:defRPr/>
            </a:pPr>
            <a:r>
              <a:rPr lang="en-US" altLang="zh-CN" sz="2400" b="1" dirty="0">
                <a:effectLst>
                  <a:outerShdw blurRad="38100" dist="38100" dir="2700000" algn="tl">
                    <a:srgbClr val="C0C0C0"/>
                  </a:outerShdw>
                </a:effectLst>
              </a:rPr>
              <a:t>       </a:t>
            </a:r>
            <a:r>
              <a:rPr lang="en-US" altLang="zh-CN" sz="2400" b="1" dirty="0" err="1">
                <a:effectLst>
                  <a:outerShdw blurRad="38100" dist="38100" dir="2700000" algn="tl">
                    <a:srgbClr val="C0C0C0"/>
                  </a:outerShdw>
                </a:effectLst>
              </a:rPr>
              <a:t>i</a:t>
            </a:r>
            <a:r>
              <a:rPr lang="en-US" altLang="zh-CN" sz="2400" b="1" dirty="0">
                <a:effectLst>
                  <a:outerShdw blurRad="38100" dist="38100" dir="2700000" algn="tl">
                    <a:srgbClr val="C0C0C0"/>
                  </a:outerShdw>
                </a:effectLst>
              </a:rPr>
              <a:t> = 0;</a:t>
            </a:r>
          </a:p>
          <a:p>
            <a:pPr marL="0" indent="0" eaLnBrk="1" fontAlgn="auto" hangingPunct="1">
              <a:lnSpc>
                <a:spcPct val="95000"/>
              </a:lnSpc>
              <a:spcAft>
                <a:spcPts val="0"/>
              </a:spcAft>
              <a:buClr>
                <a:schemeClr val="accent3"/>
              </a:buClr>
              <a:buFont typeface="Wingdings" pitchFamily="2" charset="2"/>
              <a:buNone/>
              <a:defRPr/>
            </a:pPr>
            <a:r>
              <a:rPr lang="en-US" altLang="zh-CN" sz="2400" b="1" dirty="0">
                <a:effectLst>
                  <a:outerShdw blurRad="38100" dist="38100" dir="2700000" algn="tl">
                    <a:srgbClr val="C0C0C0"/>
                  </a:outerShdw>
                </a:effectLst>
              </a:rPr>
              <a:t>        while (</a:t>
            </a:r>
            <a:r>
              <a:rPr lang="en-US" altLang="zh-CN" sz="2400" b="1" dirty="0" err="1">
                <a:effectLst>
                  <a:outerShdw blurRad="38100" dist="38100" dir="2700000" algn="tl">
                    <a:srgbClr val="C0C0C0"/>
                  </a:outerShdw>
                </a:effectLst>
              </a:rPr>
              <a:t>i</a:t>
            </a:r>
            <a:r>
              <a:rPr lang="en-US" altLang="zh-CN" sz="2400" b="1" dirty="0">
                <a:effectLst>
                  <a:outerShdw blurRad="38100" dist="38100" dir="2700000" algn="tl">
                    <a:srgbClr val="C0C0C0"/>
                  </a:outerShdw>
                </a:effectLst>
              </a:rPr>
              <a:t> &lt; n) {  </a:t>
            </a:r>
          </a:p>
          <a:p>
            <a:pPr marL="0" indent="0" eaLnBrk="1" fontAlgn="auto" hangingPunct="1">
              <a:lnSpc>
                <a:spcPct val="95000"/>
              </a:lnSpc>
              <a:spcAft>
                <a:spcPts val="0"/>
              </a:spcAft>
              <a:buClr>
                <a:schemeClr val="accent3"/>
              </a:buClr>
              <a:buFont typeface="Wingdings" pitchFamily="2" charset="2"/>
              <a:buNone/>
              <a:defRPr/>
            </a:pPr>
            <a:r>
              <a:rPr lang="en-US" altLang="zh-CN" sz="2400" b="1" dirty="0">
                <a:effectLst>
                  <a:outerShdw blurRad="38100" dist="38100" dir="2700000" algn="tl">
                    <a:srgbClr val="C0C0C0"/>
                  </a:outerShdw>
                </a:effectLst>
              </a:rPr>
              <a:t>           </a:t>
            </a:r>
            <a:r>
              <a:rPr lang="en-US" altLang="zh-CN" sz="2400" b="1" dirty="0" err="1">
                <a:effectLst>
                  <a:outerShdw blurRad="38100" dist="38100" dir="2700000" algn="tl">
                    <a:srgbClr val="C0C0C0"/>
                  </a:outerShdw>
                </a:effectLst>
              </a:rPr>
              <a:t>printf</a:t>
            </a:r>
            <a:r>
              <a:rPr lang="en-US" altLang="zh-CN" sz="2400" b="1" dirty="0">
                <a:effectLst>
                  <a:outerShdw blurRad="38100" dist="38100" dir="2700000" algn="tl">
                    <a:srgbClr val="C0C0C0"/>
                  </a:outerShdw>
                </a:effectLst>
              </a:rPr>
              <a:t>("Enter  a[%d]  ", </a:t>
            </a:r>
            <a:r>
              <a:rPr lang="en-US" altLang="zh-CN" sz="2400" b="1" dirty="0" err="1">
                <a:effectLst>
                  <a:outerShdw blurRad="38100" dist="38100" dir="2700000" algn="tl">
                    <a:srgbClr val="C0C0C0"/>
                  </a:outerShdw>
                </a:effectLst>
              </a:rPr>
              <a:t>i</a:t>
            </a:r>
            <a:r>
              <a:rPr lang="en-US" altLang="zh-CN" sz="2400" b="1" dirty="0">
                <a:effectLst>
                  <a:outerShdw blurRad="38100" dist="38100" dir="2700000" algn="tl">
                    <a:srgbClr val="C0C0C0"/>
                  </a:outerShdw>
                </a:effectLst>
              </a:rPr>
              <a:t>);</a:t>
            </a:r>
          </a:p>
          <a:p>
            <a:pPr marL="0" indent="0" eaLnBrk="1" fontAlgn="auto" hangingPunct="1">
              <a:lnSpc>
                <a:spcPct val="95000"/>
              </a:lnSpc>
              <a:spcAft>
                <a:spcPts val="0"/>
              </a:spcAft>
              <a:buClr>
                <a:schemeClr val="accent3"/>
              </a:buClr>
              <a:buFont typeface="Wingdings" pitchFamily="2" charset="2"/>
              <a:buNone/>
              <a:defRPr/>
            </a:pPr>
            <a:r>
              <a:rPr lang="en-US" altLang="zh-CN" sz="2400" b="1" dirty="0">
                <a:effectLst>
                  <a:outerShdw blurRad="38100" dist="38100" dir="2700000" algn="tl">
                    <a:srgbClr val="C0C0C0"/>
                  </a:outerShdw>
                </a:effectLst>
              </a:rPr>
              <a:t>           </a:t>
            </a:r>
            <a:r>
              <a:rPr lang="en-US" altLang="zh-CN" sz="2400" b="1" dirty="0" err="1">
                <a:effectLst>
                  <a:outerShdw blurRad="38100" dist="38100" dir="2700000" algn="tl">
                    <a:srgbClr val="C0C0C0"/>
                  </a:outerShdw>
                </a:effectLst>
              </a:rPr>
              <a:t>scanf</a:t>
            </a:r>
            <a:r>
              <a:rPr lang="en-US" altLang="zh-CN" sz="2400" b="1" dirty="0">
                <a:effectLst>
                  <a:outerShdw blurRad="38100" dist="38100" dir="2700000" algn="tl">
                    <a:srgbClr val="C0C0C0"/>
                  </a:outerShdw>
                </a:effectLst>
              </a:rPr>
              <a:t>("%d", &amp;a[</a:t>
            </a:r>
            <a:r>
              <a:rPr lang="en-US" altLang="zh-CN" sz="2400" b="1" dirty="0" err="1">
                <a:effectLst>
                  <a:outerShdw blurRad="38100" dist="38100" dir="2700000" algn="tl">
                    <a:srgbClr val="C0C0C0"/>
                  </a:outerShdw>
                </a:effectLst>
              </a:rPr>
              <a:t>i</a:t>
            </a:r>
            <a:r>
              <a:rPr lang="en-US" altLang="zh-CN" sz="2400" b="1" dirty="0">
                <a:effectLst>
                  <a:outerShdw blurRad="38100" dist="38100" dir="2700000" algn="tl">
                    <a:srgbClr val="C0C0C0"/>
                  </a:outerShdw>
                </a:effectLst>
              </a:rPr>
              <a:t>]);</a:t>
            </a:r>
          </a:p>
          <a:p>
            <a:pPr marL="0" indent="0" eaLnBrk="1" fontAlgn="auto" hangingPunct="1">
              <a:lnSpc>
                <a:spcPct val="95000"/>
              </a:lnSpc>
              <a:spcAft>
                <a:spcPts val="0"/>
              </a:spcAft>
              <a:buClr>
                <a:schemeClr val="accent3"/>
              </a:buClr>
              <a:buFont typeface="Wingdings" pitchFamily="2" charset="2"/>
              <a:buNone/>
              <a:defRPr/>
            </a:pPr>
            <a:r>
              <a:rPr lang="en-US" altLang="zh-CN" sz="2400" b="1" dirty="0">
                <a:solidFill>
                  <a:srgbClr val="C00000"/>
                </a:solidFill>
                <a:effectLst>
                  <a:outerShdw blurRad="38100" dist="38100" dir="2700000" algn="tl">
                    <a:srgbClr val="C0C0C0"/>
                  </a:outerShdw>
                </a:effectLst>
              </a:rPr>
              <a:t>           for(k = 0; a[k] != a[</a:t>
            </a:r>
            <a:r>
              <a:rPr lang="en-US" altLang="zh-CN" sz="2400" b="1" dirty="0" err="1">
                <a:solidFill>
                  <a:srgbClr val="C00000"/>
                </a:solidFill>
                <a:effectLst>
                  <a:outerShdw blurRad="38100" dist="38100" dir="2700000" algn="tl">
                    <a:srgbClr val="C0C0C0"/>
                  </a:outerShdw>
                </a:effectLst>
              </a:rPr>
              <a:t>i</a:t>
            </a:r>
            <a:r>
              <a:rPr lang="en-US" altLang="zh-CN" sz="2400" b="1" dirty="0">
                <a:solidFill>
                  <a:srgbClr val="C00000"/>
                </a:solidFill>
                <a:effectLst>
                  <a:outerShdw blurRad="38100" dist="38100" dir="2700000" algn="tl">
                    <a:srgbClr val="C0C0C0"/>
                  </a:outerShdw>
                </a:effectLst>
              </a:rPr>
              <a:t>]; k++) ;  /* </a:t>
            </a:r>
            <a:r>
              <a:rPr lang="zh-CN" altLang="en-US" sz="2400" b="1" dirty="0">
                <a:solidFill>
                  <a:srgbClr val="C00000"/>
                </a:solidFill>
                <a:effectLst>
                  <a:outerShdw blurRad="38100" dist="38100" dir="2700000" algn="tl">
                    <a:srgbClr val="C0C0C0"/>
                  </a:outerShdw>
                </a:effectLst>
              </a:rPr>
              <a:t>检查是否有重复 *</a:t>
            </a:r>
            <a:r>
              <a:rPr lang="en-US" altLang="zh-CN" sz="2400" b="1" dirty="0">
                <a:solidFill>
                  <a:srgbClr val="C00000"/>
                </a:solidFill>
                <a:effectLst>
                  <a:outerShdw blurRad="38100" dist="38100" dir="2700000" algn="tl">
                    <a:srgbClr val="C0C0C0"/>
                  </a:outerShdw>
                </a:effectLst>
              </a:rPr>
              <a:t>/</a:t>
            </a:r>
          </a:p>
          <a:p>
            <a:pPr marL="0" indent="0" eaLnBrk="1" fontAlgn="auto" hangingPunct="1">
              <a:lnSpc>
                <a:spcPct val="95000"/>
              </a:lnSpc>
              <a:spcAft>
                <a:spcPts val="0"/>
              </a:spcAft>
              <a:buClr>
                <a:schemeClr val="accent3"/>
              </a:buClr>
              <a:buFont typeface="Wingdings" pitchFamily="2" charset="2"/>
              <a:buNone/>
              <a:defRPr/>
            </a:pPr>
            <a:r>
              <a:rPr lang="en-US" altLang="zh-CN" sz="2400" b="1" dirty="0">
                <a:solidFill>
                  <a:srgbClr val="C00000"/>
                </a:solidFill>
                <a:effectLst>
                  <a:outerShdw blurRad="38100" dist="38100" dir="2700000" algn="tl">
                    <a:srgbClr val="C0C0C0"/>
                  </a:outerShdw>
                </a:effectLst>
              </a:rPr>
              <a:t>           if (k &lt; </a:t>
            </a:r>
            <a:r>
              <a:rPr lang="en-US" altLang="zh-CN" sz="2400" b="1" dirty="0" err="1">
                <a:solidFill>
                  <a:srgbClr val="C00000"/>
                </a:solidFill>
                <a:effectLst>
                  <a:outerShdw blurRad="38100" dist="38100" dir="2700000" algn="tl">
                    <a:srgbClr val="C0C0C0"/>
                  </a:outerShdw>
                </a:effectLst>
              </a:rPr>
              <a:t>i</a:t>
            </a:r>
            <a:r>
              <a:rPr lang="en-US" altLang="zh-CN" sz="2400" b="1" dirty="0">
                <a:solidFill>
                  <a:srgbClr val="C00000"/>
                </a:solidFill>
                <a:effectLst>
                  <a:outerShdw blurRad="38100" dist="38100" dir="2700000" algn="tl">
                    <a:srgbClr val="C0C0C0"/>
                  </a:outerShdw>
                </a:effectLst>
              </a:rPr>
              <a:t>)  /* a[</a:t>
            </a:r>
            <a:r>
              <a:rPr lang="en-US" altLang="zh-CN" sz="2400" b="1" dirty="0" err="1">
                <a:solidFill>
                  <a:srgbClr val="C00000"/>
                </a:solidFill>
                <a:effectLst>
                  <a:outerShdw blurRad="38100" dist="38100" dir="2700000" algn="tl">
                    <a:srgbClr val="C0C0C0"/>
                  </a:outerShdw>
                </a:effectLst>
              </a:rPr>
              <a:t>i</a:t>
            </a:r>
            <a:r>
              <a:rPr lang="en-US" altLang="zh-CN" sz="2400" b="1" dirty="0">
                <a:solidFill>
                  <a:srgbClr val="C00000"/>
                </a:solidFill>
                <a:effectLst>
                  <a:outerShdw blurRad="38100" dist="38100" dir="2700000" algn="tl">
                    <a:srgbClr val="C0C0C0"/>
                  </a:outerShdw>
                </a:effectLst>
              </a:rPr>
              <a:t>]</a:t>
            </a:r>
            <a:r>
              <a:rPr lang="zh-CN" altLang="en-US" sz="2400" b="1" dirty="0">
                <a:solidFill>
                  <a:srgbClr val="C00000"/>
                </a:solidFill>
                <a:effectLst>
                  <a:outerShdw blurRad="38100" dist="38100" dir="2700000" algn="tl">
                    <a:srgbClr val="C0C0C0"/>
                  </a:outerShdw>
                </a:effectLst>
              </a:rPr>
              <a:t>与</a:t>
            </a:r>
            <a:r>
              <a:rPr lang="en-US" altLang="zh-CN" sz="2400" b="1" dirty="0">
                <a:solidFill>
                  <a:srgbClr val="C00000"/>
                </a:solidFill>
                <a:effectLst>
                  <a:outerShdw blurRad="38100" dist="38100" dir="2700000" algn="tl">
                    <a:srgbClr val="C0C0C0"/>
                  </a:outerShdw>
                </a:effectLst>
              </a:rPr>
              <a:t>a[0]</a:t>
            </a:r>
            <a:r>
              <a:rPr lang="zh-CN" altLang="en-US" sz="2400" b="1" dirty="0">
                <a:solidFill>
                  <a:srgbClr val="C00000"/>
                </a:solidFill>
                <a:effectLst>
                  <a:outerShdw blurRad="38100" dist="38100" dir="2700000" algn="tl">
                    <a:srgbClr val="C0C0C0"/>
                  </a:outerShdw>
                </a:effectLst>
              </a:rPr>
              <a:t>至</a:t>
            </a:r>
            <a:r>
              <a:rPr lang="en-US" altLang="zh-CN" sz="2400" b="1" dirty="0">
                <a:solidFill>
                  <a:srgbClr val="C00000"/>
                </a:solidFill>
                <a:effectLst>
                  <a:outerShdw blurRad="38100" dist="38100" dir="2700000" algn="tl">
                    <a:srgbClr val="C0C0C0"/>
                  </a:outerShdw>
                </a:effectLst>
              </a:rPr>
              <a:t>a[i-1]</a:t>
            </a:r>
            <a:r>
              <a:rPr lang="zh-CN" altLang="en-US" sz="2400" b="1" dirty="0">
                <a:solidFill>
                  <a:srgbClr val="C00000"/>
                </a:solidFill>
                <a:effectLst>
                  <a:outerShdw blurRad="38100" dist="38100" dir="2700000" algn="tl">
                    <a:srgbClr val="C0C0C0"/>
                  </a:outerShdw>
                </a:effectLst>
              </a:rPr>
              <a:t>的某个</a:t>
            </a:r>
            <a:r>
              <a:rPr lang="en-US" altLang="zh-CN" sz="2400" b="1" dirty="0">
                <a:solidFill>
                  <a:srgbClr val="C00000"/>
                </a:solidFill>
                <a:effectLst>
                  <a:outerShdw blurRad="38100" dist="38100" dir="2700000" algn="tl">
                    <a:srgbClr val="C0C0C0"/>
                  </a:outerShdw>
                </a:effectLst>
              </a:rPr>
              <a:t>a[k]</a:t>
            </a:r>
            <a:r>
              <a:rPr lang="zh-CN" altLang="en-US" sz="2400" b="1" dirty="0">
                <a:solidFill>
                  <a:srgbClr val="C00000"/>
                </a:solidFill>
                <a:effectLst>
                  <a:outerShdw blurRad="38100" dist="38100" dir="2700000" algn="tl">
                    <a:srgbClr val="C0C0C0"/>
                  </a:outerShdw>
                </a:effectLst>
              </a:rPr>
              <a:t>相等 *</a:t>
            </a:r>
            <a:r>
              <a:rPr lang="en-US" altLang="zh-CN" sz="2400" b="1" dirty="0">
                <a:solidFill>
                  <a:srgbClr val="C00000"/>
                </a:solidFill>
                <a:effectLst>
                  <a:outerShdw blurRad="38100" dist="38100" dir="2700000" algn="tl">
                    <a:srgbClr val="C0C0C0"/>
                  </a:outerShdw>
                </a:effectLst>
              </a:rPr>
              <a:t>/</a:t>
            </a:r>
          </a:p>
          <a:p>
            <a:pPr marL="0" indent="0" eaLnBrk="1" fontAlgn="auto" hangingPunct="1">
              <a:lnSpc>
                <a:spcPct val="95000"/>
              </a:lnSpc>
              <a:spcAft>
                <a:spcPts val="0"/>
              </a:spcAft>
              <a:buClr>
                <a:schemeClr val="accent3"/>
              </a:buClr>
              <a:buFont typeface="Wingdings" pitchFamily="2" charset="2"/>
              <a:buNone/>
              <a:defRPr/>
            </a:pPr>
            <a:r>
              <a:rPr lang="en-US" altLang="zh-CN" sz="2400" b="1" dirty="0">
                <a:solidFill>
                  <a:srgbClr val="C00000"/>
                </a:solidFill>
                <a:effectLst>
                  <a:outerShdw blurRad="38100" dist="38100" dir="2700000" algn="tl">
                    <a:srgbClr val="C0C0C0"/>
                  </a:outerShdw>
                </a:effectLst>
              </a:rPr>
              <a:t>             </a:t>
            </a:r>
            <a:r>
              <a:rPr lang="en-US" altLang="zh-CN" sz="2400" b="1" dirty="0" err="1">
                <a:solidFill>
                  <a:srgbClr val="C00000"/>
                </a:solidFill>
                <a:effectLst>
                  <a:outerShdw blurRad="38100" dist="38100" dir="2700000" algn="tl">
                    <a:srgbClr val="C0C0C0"/>
                  </a:outerShdw>
                </a:effectLst>
              </a:rPr>
              <a:t>printf</a:t>
            </a:r>
            <a:r>
              <a:rPr lang="en-US" altLang="zh-CN" sz="2400" b="1" dirty="0">
                <a:solidFill>
                  <a:srgbClr val="C00000"/>
                </a:solidFill>
                <a:effectLst>
                  <a:outerShdw blurRad="38100" dist="38100" dir="2700000" algn="tl">
                    <a:srgbClr val="C0C0C0"/>
                  </a:outerShdw>
                </a:effectLst>
              </a:rPr>
              <a:t>("</a:t>
            </a:r>
            <a:r>
              <a:rPr lang="zh-CN" altLang="en-US" sz="2400" b="1" dirty="0">
                <a:solidFill>
                  <a:srgbClr val="C00000"/>
                </a:solidFill>
                <a:effectLst>
                  <a:outerShdw blurRad="38100" dist="38100" dir="2700000" algn="tl">
                    <a:srgbClr val="C0C0C0"/>
                  </a:outerShdw>
                </a:effectLst>
              </a:rPr>
              <a:t>这是一个早先曾输入过的整数</a:t>
            </a:r>
            <a:r>
              <a:rPr lang="en-US" altLang="zh-CN" sz="2400" b="1" dirty="0">
                <a:solidFill>
                  <a:srgbClr val="C00000"/>
                </a:solidFill>
                <a:effectLst>
                  <a:outerShdw blurRad="38100" dist="38100" dir="2700000" algn="tl">
                    <a:srgbClr val="C0C0C0"/>
                  </a:outerShdw>
                </a:effectLst>
              </a:rPr>
              <a:t>!\n");</a:t>
            </a:r>
          </a:p>
          <a:p>
            <a:pPr marL="0" indent="0" eaLnBrk="1" fontAlgn="auto" hangingPunct="1">
              <a:lnSpc>
                <a:spcPct val="95000"/>
              </a:lnSpc>
              <a:spcAft>
                <a:spcPts val="0"/>
              </a:spcAft>
              <a:buClr>
                <a:schemeClr val="accent3"/>
              </a:buClr>
              <a:buFont typeface="Wingdings" pitchFamily="2" charset="2"/>
              <a:buNone/>
              <a:defRPr/>
            </a:pPr>
            <a:r>
              <a:rPr lang="en-US" altLang="zh-CN" sz="2400" b="1" dirty="0">
                <a:solidFill>
                  <a:srgbClr val="C00000"/>
                </a:solidFill>
                <a:effectLst>
                  <a:outerShdw blurRad="38100" dist="38100" dir="2700000" algn="tl">
                    <a:srgbClr val="C0C0C0"/>
                  </a:outerShdw>
                </a:effectLst>
              </a:rPr>
              <a:t>           else </a:t>
            </a:r>
            <a:r>
              <a:rPr lang="en-US" altLang="zh-CN" sz="2400" b="1" dirty="0" err="1">
                <a:solidFill>
                  <a:srgbClr val="C00000"/>
                </a:solidFill>
                <a:effectLst>
                  <a:outerShdw blurRad="38100" dist="38100" dir="2700000" algn="tl">
                    <a:srgbClr val="C0C0C0"/>
                  </a:outerShdw>
                </a:effectLst>
              </a:rPr>
              <a:t>i</a:t>
            </a:r>
            <a:r>
              <a:rPr lang="en-US" altLang="zh-CN" sz="2400" b="1" dirty="0">
                <a:solidFill>
                  <a:srgbClr val="C00000"/>
                </a:solidFill>
                <a:effectLst>
                  <a:outerShdw blurRad="38100" dist="38100" dir="2700000" algn="tl">
                    <a:srgbClr val="C0C0C0"/>
                  </a:outerShdw>
                </a:effectLst>
              </a:rPr>
              <a:t>++ ;  /* </a:t>
            </a:r>
            <a:r>
              <a:rPr lang="zh-CN" altLang="en-US" sz="2400" b="1" dirty="0">
                <a:solidFill>
                  <a:srgbClr val="C00000"/>
                </a:solidFill>
                <a:effectLst>
                  <a:outerShdw blurRad="38100" dist="38100" dir="2700000" algn="tl">
                    <a:srgbClr val="C0C0C0"/>
                  </a:outerShdw>
                </a:effectLst>
              </a:rPr>
              <a:t>当前输入的</a:t>
            </a:r>
            <a:r>
              <a:rPr lang="en-US" altLang="zh-CN" sz="2400" b="1" dirty="0">
                <a:solidFill>
                  <a:srgbClr val="C00000"/>
                </a:solidFill>
                <a:effectLst>
                  <a:outerShdw blurRad="38100" dist="38100" dir="2700000" algn="tl">
                    <a:srgbClr val="C0C0C0"/>
                  </a:outerShdw>
                </a:effectLst>
              </a:rPr>
              <a:t>a[</a:t>
            </a:r>
            <a:r>
              <a:rPr lang="en-US" altLang="zh-CN" sz="2400" b="1" dirty="0" err="1">
                <a:solidFill>
                  <a:srgbClr val="C00000"/>
                </a:solidFill>
                <a:effectLst>
                  <a:outerShdw blurRad="38100" dist="38100" dir="2700000" algn="tl">
                    <a:srgbClr val="C0C0C0"/>
                  </a:outerShdw>
                </a:effectLst>
              </a:rPr>
              <a:t>i</a:t>
            </a:r>
            <a:r>
              <a:rPr lang="en-US" altLang="zh-CN" sz="2400" b="1" dirty="0">
                <a:solidFill>
                  <a:srgbClr val="C00000"/>
                </a:solidFill>
                <a:effectLst>
                  <a:outerShdw blurRad="38100" dist="38100" dir="2700000" algn="tl">
                    <a:srgbClr val="C0C0C0"/>
                  </a:outerShdw>
                </a:effectLst>
              </a:rPr>
              <a:t>]</a:t>
            </a:r>
            <a:r>
              <a:rPr lang="zh-CN" altLang="en-US" sz="2400" b="1" dirty="0">
                <a:solidFill>
                  <a:srgbClr val="C00000"/>
                </a:solidFill>
                <a:effectLst>
                  <a:outerShdw blurRad="38100" dist="38100" dir="2700000" algn="tl">
                    <a:srgbClr val="C0C0C0"/>
                  </a:outerShdw>
                </a:effectLst>
              </a:rPr>
              <a:t>是一个不重复的整数 *</a:t>
            </a:r>
            <a:r>
              <a:rPr lang="en-US" altLang="zh-CN" sz="2400" b="1" dirty="0">
                <a:solidFill>
                  <a:srgbClr val="C00000"/>
                </a:solidFill>
                <a:effectLst>
                  <a:outerShdw blurRad="38100" dist="38100" dir="2700000" algn="tl">
                    <a:srgbClr val="C0C0C0"/>
                  </a:outerShdw>
                </a:effectLst>
              </a:rPr>
              <a:t>/</a:t>
            </a:r>
          </a:p>
          <a:p>
            <a:pPr marL="0" indent="0" eaLnBrk="1" fontAlgn="auto" hangingPunct="1">
              <a:lnSpc>
                <a:spcPct val="95000"/>
              </a:lnSpc>
              <a:spcAft>
                <a:spcPts val="0"/>
              </a:spcAft>
              <a:buClr>
                <a:schemeClr val="accent3"/>
              </a:buClr>
              <a:buFont typeface="Wingdings" pitchFamily="2" charset="2"/>
              <a:buNone/>
              <a:defRPr/>
            </a:pPr>
            <a:r>
              <a:rPr lang="en-US" altLang="zh-CN" sz="2400" b="1" dirty="0">
                <a:solidFill>
                  <a:srgbClr val="C00000"/>
                </a:solidFill>
                <a:effectLst>
                  <a:outerShdw blurRad="38100" dist="38100" dir="2700000" algn="tl">
                    <a:srgbClr val="C0C0C0"/>
                  </a:outerShdw>
                </a:effectLst>
              </a:rPr>
              <a:t>        </a:t>
            </a:r>
            <a:r>
              <a:rPr lang="en-US" altLang="zh-CN" sz="2400" b="1" dirty="0">
                <a:effectLst>
                  <a:outerShdw blurRad="38100" dist="38100" dir="2700000" algn="tl">
                    <a:srgbClr val="C0C0C0"/>
                  </a:outerShdw>
                </a:effectLst>
              </a:rPr>
              <a:t>}</a:t>
            </a:r>
          </a:p>
          <a:p>
            <a:pPr marL="0" indent="0" eaLnBrk="1" fontAlgn="auto" hangingPunct="1">
              <a:lnSpc>
                <a:spcPct val="95000"/>
              </a:lnSpc>
              <a:spcAft>
                <a:spcPts val="0"/>
              </a:spcAft>
              <a:buClr>
                <a:schemeClr val="accent3"/>
              </a:buClr>
              <a:buFont typeface="Wingdings" pitchFamily="2" charset="2"/>
              <a:buNone/>
              <a:defRPr/>
            </a:pPr>
            <a:r>
              <a:rPr lang="en-US" altLang="zh-CN" sz="2400" b="1" dirty="0">
                <a:effectLst>
                  <a:outerShdw blurRad="38100" dist="38100" dir="2700000" algn="tl">
                    <a:srgbClr val="C0C0C0"/>
                  </a:outerShdw>
                </a:effectLst>
              </a:rPr>
              <a:t>        for(</a:t>
            </a:r>
            <a:r>
              <a:rPr lang="en-US" altLang="zh-CN" sz="2400" b="1" dirty="0" err="1">
                <a:effectLst>
                  <a:outerShdw blurRad="38100" dist="38100" dir="2700000" algn="tl">
                    <a:srgbClr val="C0C0C0"/>
                  </a:outerShdw>
                </a:effectLst>
              </a:rPr>
              <a:t>i</a:t>
            </a:r>
            <a:r>
              <a:rPr lang="en-US" altLang="zh-CN" sz="2400" b="1" dirty="0">
                <a:effectLst>
                  <a:outerShdw blurRad="38100" dist="38100" dir="2700000" algn="tl">
                    <a:srgbClr val="C0C0C0"/>
                  </a:outerShdw>
                </a:effectLst>
              </a:rPr>
              <a:t> = 0; </a:t>
            </a:r>
            <a:r>
              <a:rPr lang="en-US" altLang="zh-CN" sz="2400" b="1" dirty="0" err="1">
                <a:effectLst>
                  <a:outerShdw blurRad="38100" dist="38100" dir="2700000" algn="tl">
                    <a:srgbClr val="C0C0C0"/>
                  </a:outerShdw>
                </a:effectLst>
              </a:rPr>
              <a:t>i</a:t>
            </a:r>
            <a:r>
              <a:rPr lang="en-US" altLang="zh-CN" sz="2400" b="1" dirty="0">
                <a:effectLst>
                  <a:outerShdw blurRad="38100" dist="38100" dir="2700000" algn="tl">
                    <a:srgbClr val="C0C0C0"/>
                  </a:outerShdw>
                </a:effectLst>
              </a:rPr>
              <a:t> &lt; n; </a:t>
            </a:r>
            <a:r>
              <a:rPr lang="en-US" altLang="zh-CN" sz="2400" b="1" dirty="0" err="1">
                <a:effectLst>
                  <a:outerShdw blurRad="38100" dist="38100" dir="2700000" algn="tl">
                    <a:srgbClr val="C0C0C0"/>
                  </a:outerShdw>
                </a:effectLst>
              </a:rPr>
              <a:t>i</a:t>
            </a:r>
            <a:r>
              <a:rPr lang="en-US" altLang="zh-CN" sz="2400" b="1" dirty="0">
                <a:effectLst>
                  <a:outerShdw blurRad="38100" dist="38100" dir="2700000" algn="tl">
                    <a:srgbClr val="C0C0C0"/>
                  </a:outerShdw>
                </a:effectLst>
              </a:rPr>
              <a:t>++){ </a:t>
            </a:r>
          </a:p>
          <a:p>
            <a:pPr marL="0" indent="0" eaLnBrk="1" fontAlgn="auto" hangingPunct="1">
              <a:lnSpc>
                <a:spcPct val="95000"/>
              </a:lnSpc>
              <a:spcAft>
                <a:spcPts val="0"/>
              </a:spcAft>
              <a:buClr>
                <a:schemeClr val="accent3"/>
              </a:buClr>
              <a:buFont typeface="Wingdings" pitchFamily="2" charset="2"/>
              <a:buNone/>
              <a:defRPr/>
            </a:pPr>
            <a:r>
              <a:rPr lang="en-US" altLang="zh-CN" sz="2400" b="1" dirty="0">
                <a:effectLst>
                  <a:outerShdw blurRad="38100" dist="38100" dir="2700000" algn="tl">
                    <a:srgbClr val="C0C0C0"/>
                  </a:outerShdw>
                </a:effectLst>
              </a:rPr>
              <a:t>           if(</a:t>
            </a:r>
            <a:r>
              <a:rPr lang="en-US" altLang="zh-CN" sz="2400" b="1" dirty="0" err="1">
                <a:effectLst>
                  <a:outerShdw blurRad="38100" dist="38100" dir="2700000" algn="tl">
                    <a:srgbClr val="C0C0C0"/>
                  </a:outerShdw>
                </a:effectLst>
              </a:rPr>
              <a:t>i</a:t>
            </a:r>
            <a:r>
              <a:rPr lang="en-US" altLang="zh-CN" sz="2400" b="1" dirty="0">
                <a:effectLst>
                  <a:outerShdw blurRad="38100" dist="38100" dir="2700000" algn="tl">
                    <a:srgbClr val="C0C0C0"/>
                  </a:outerShdw>
                </a:effectLst>
              </a:rPr>
              <a:t> % 10 == 0) //</a:t>
            </a:r>
            <a:r>
              <a:rPr lang="zh-CN" altLang="en-US" sz="2400" b="1" dirty="0">
                <a:effectLst>
                  <a:outerShdw blurRad="38100" dist="38100" dir="2700000" algn="tl">
                    <a:srgbClr val="C0C0C0"/>
                  </a:outerShdw>
                </a:effectLst>
              </a:rPr>
              <a:t>每输出</a:t>
            </a:r>
            <a:r>
              <a:rPr lang="en-US" altLang="zh-CN" sz="2400" b="1" dirty="0">
                <a:effectLst>
                  <a:outerShdw blurRad="38100" dist="38100" dir="2700000" algn="tl">
                    <a:srgbClr val="C0C0C0"/>
                  </a:outerShdw>
                </a:effectLst>
              </a:rPr>
              <a:t>10</a:t>
            </a:r>
            <a:r>
              <a:rPr lang="zh-CN" altLang="en-US" sz="2400" b="1" dirty="0">
                <a:effectLst>
                  <a:outerShdw blurRad="38100" dist="38100" dir="2700000" algn="tl">
                    <a:srgbClr val="C0C0C0"/>
                  </a:outerShdw>
                </a:effectLst>
              </a:rPr>
              <a:t>个整数后，输出一个换行</a:t>
            </a:r>
          </a:p>
          <a:p>
            <a:pPr marL="0" indent="0" eaLnBrk="1" fontAlgn="auto" hangingPunct="1">
              <a:lnSpc>
                <a:spcPct val="95000"/>
              </a:lnSpc>
              <a:spcAft>
                <a:spcPts val="0"/>
              </a:spcAft>
              <a:buClr>
                <a:schemeClr val="accent3"/>
              </a:buClr>
              <a:buFont typeface="Wingdings" pitchFamily="2" charset="2"/>
              <a:buNone/>
              <a:defRPr/>
            </a:pPr>
            <a:r>
              <a:rPr lang="zh-CN" altLang="en-US" sz="2400" b="1" dirty="0">
                <a:effectLst>
                  <a:outerShdw blurRad="38100" dist="38100" dir="2700000" algn="tl">
                    <a:srgbClr val="C0C0C0"/>
                  </a:outerShdw>
                </a:effectLst>
              </a:rPr>
              <a:t>              </a:t>
            </a:r>
            <a:r>
              <a:rPr lang="en-US" altLang="zh-CN" sz="2400" b="1" dirty="0" err="1">
                <a:effectLst>
                  <a:outerShdw blurRad="38100" dist="38100" dir="2700000" algn="tl">
                    <a:srgbClr val="C0C0C0"/>
                  </a:outerShdw>
                </a:effectLst>
              </a:rPr>
              <a:t>printf</a:t>
            </a:r>
            <a:r>
              <a:rPr lang="en-US" altLang="zh-CN" sz="2400" b="1" dirty="0">
                <a:effectLst>
                  <a:outerShdw blurRad="38100" dist="38100" dir="2700000" algn="tl">
                    <a:srgbClr val="C0C0C0"/>
                  </a:outerShdw>
                </a:effectLst>
              </a:rPr>
              <a:t>(“\n”);</a:t>
            </a:r>
          </a:p>
          <a:p>
            <a:pPr marL="0" indent="0" eaLnBrk="1" fontAlgn="auto" hangingPunct="1">
              <a:lnSpc>
                <a:spcPct val="95000"/>
              </a:lnSpc>
              <a:spcAft>
                <a:spcPts val="0"/>
              </a:spcAft>
              <a:buClr>
                <a:schemeClr val="accent3"/>
              </a:buClr>
              <a:buFont typeface="Wingdings" pitchFamily="2" charset="2"/>
              <a:buNone/>
              <a:defRPr/>
            </a:pPr>
            <a:r>
              <a:rPr lang="en-US" altLang="zh-CN" sz="2400" b="1" dirty="0">
                <a:effectLst>
                  <a:outerShdw blurRad="38100" dist="38100" dir="2700000" algn="tl">
                    <a:srgbClr val="C0C0C0"/>
                  </a:outerShdw>
                </a:effectLst>
              </a:rPr>
              <a:t>           </a:t>
            </a:r>
            <a:r>
              <a:rPr lang="en-US" altLang="zh-CN" sz="2400" b="1" dirty="0" err="1">
                <a:effectLst>
                  <a:outerShdw blurRad="38100" dist="38100" dir="2700000" algn="tl">
                    <a:srgbClr val="C0C0C0"/>
                  </a:outerShdw>
                </a:effectLst>
              </a:rPr>
              <a:t>printf</a:t>
            </a:r>
            <a:r>
              <a:rPr lang="en-US" altLang="zh-CN" sz="2400" b="1" dirty="0">
                <a:effectLst>
                  <a:outerShdw blurRad="38100" dist="38100" dir="2700000" algn="tl">
                    <a:srgbClr val="C0C0C0"/>
                  </a:outerShdw>
                </a:effectLst>
              </a:rPr>
              <a:t>("%4d", a[</a:t>
            </a:r>
            <a:r>
              <a:rPr lang="en-US" altLang="zh-CN" sz="2400" b="1" dirty="0" err="1">
                <a:effectLst>
                  <a:outerShdw blurRad="38100" dist="38100" dir="2700000" algn="tl">
                    <a:srgbClr val="C0C0C0"/>
                  </a:outerShdw>
                </a:effectLst>
              </a:rPr>
              <a:t>i</a:t>
            </a:r>
            <a:r>
              <a:rPr lang="en-US" altLang="zh-CN" sz="2400" b="1" dirty="0">
                <a:effectLst>
                  <a:outerShdw blurRad="38100" dist="38100" dir="2700000" algn="tl">
                    <a:srgbClr val="C0C0C0"/>
                  </a:outerShdw>
                </a:effectLst>
              </a:rPr>
              <a:t>]);</a:t>
            </a:r>
          </a:p>
          <a:p>
            <a:pPr marL="0" indent="0" eaLnBrk="1" fontAlgn="auto" hangingPunct="1">
              <a:lnSpc>
                <a:spcPct val="95000"/>
              </a:lnSpc>
              <a:spcAft>
                <a:spcPts val="0"/>
              </a:spcAft>
              <a:buClr>
                <a:schemeClr val="accent3"/>
              </a:buClr>
              <a:buFont typeface="Wingdings" pitchFamily="2" charset="2"/>
              <a:buNone/>
              <a:defRPr/>
            </a:pPr>
            <a:r>
              <a:rPr lang="en-US" altLang="zh-CN" sz="2400" b="1" dirty="0">
                <a:effectLst>
                  <a:outerShdw blurRad="38100" dist="38100" dir="2700000" algn="tl">
                    <a:srgbClr val="C0C0C0"/>
                  </a:outerShdw>
                </a:effectLst>
              </a:rPr>
              <a:t>        }</a:t>
            </a:r>
          </a:p>
        </p:txBody>
      </p:sp>
      <p:sp>
        <p:nvSpPr>
          <p:cNvPr id="5" name="灯片编号占位符 5"/>
          <p:cNvSpPr>
            <a:spLocks noGrp="1"/>
          </p:cNvSpPr>
          <p:nvPr>
            <p:ph type="sldNum" sz="quarter" idx="12"/>
          </p:nvPr>
        </p:nvSpPr>
        <p:spPr/>
        <p:txBody>
          <a:bodyPr/>
          <a:lstStyle/>
          <a:p>
            <a:pPr>
              <a:defRPr/>
            </a:pPr>
            <a:fld id="{E36B255F-2E92-4F50-A21F-99901FC59754}" type="slidenum">
              <a:rPr lang="en-US" altLang="zh-CN"/>
              <a:pPr>
                <a:defRPr/>
              </a:pPr>
              <a:t>29</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17122">
                                            <p:txEl>
                                              <p:pRg st="0" end="0"/>
                                            </p:txEl>
                                          </p:spTgt>
                                        </p:tgtEl>
                                        <p:attrNameLst>
                                          <p:attrName>style.visibility</p:attrName>
                                        </p:attrNameLst>
                                      </p:cBhvr>
                                      <p:to>
                                        <p:strVal val="visible"/>
                                      </p:to>
                                    </p:set>
                                    <p:anim calcmode="lin" valueType="num">
                                      <p:cBhvr additive="base">
                                        <p:cTn id="7" dur="500" fill="hold"/>
                                        <p:tgtEl>
                                          <p:spTgt spid="51712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1712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17122">
                                            <p:txEl>
                                              <p:pRg st="1" end="1"/>
                                            </p:txEl>
                                          </p:spTgt>
                                        </p:tgtEl>
                                        <p:attrNameLst>
                                          <p:attrName>style.visibility</p:attrName>
                                        </p:attrNameLst>
                                      </p:cBhvr>
                                      <p:to>
                                        <p:strVal val="visible"/>
                                      </p:to>
                                    </p:set>
                                    <p:anim calcmode="lin" valueType="num">
                                      <p:cBhvr additive="base">
                                        <p:cTn id="13" dur="500" fill="hold"/>
                                        <p:tgtEl>
                                          <p:spTgt spid="51712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17122">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517122">
                                            <p:txEl>
                                              <p:pRg st="8" end="8"/>
                                            </p:txEl>
                                          </p:spTgt>
                                        </p:tgtEl>
                                        <p:attrNameLst>
                                          <p:attrName>style.visibility</p:attrName>
                                        </p:attrNameLst>
                                      </p:cBhvr>
                                      <p:to>
                                        <p:strVal val="visible"/>
                                      </p:to>
                                    </p:set>
                                    <p:anim calcmode="lin" valueType="num">
                                      <p:cBhvr additive="base">
                                        <p:cTn id="17" dur="500" fill="hold"/>
                                        <p:tgtEl>
                                          <p:spTgt spid="517122">
                                            <p:txEl>
                                              <p:pRg st="8" end="8"/>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17122">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517122">
                                            <p:txEl>
                                              <p:pRg st="2" end="2"/>
                                            </p:txEl>
                                          </p:spTgt>
                                        </p:tgtEl>
                                        <p:attrNameLst>
                                          <p:attrName>style.visibility</p:attrName>
                                        </p:attrNameLst>
                                      </p:cBhvr>
                                      <p:to>
                                        <p:strVal val="visible"/>
                                      </p:to>
                                    </p:set>
                                    <p:anim calcmode="lin" valueType="num">
                                      <p:cBhvr additive="base">
                                        <p:cTn id="23" dur="500" fill="hold"/>
                                        <p:tgtEl>
                                          <p:spTgt spid="517122">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17122">
                                            <p:txEl>
                                              <p:pRg st="2" end="2"/>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517122">
                                            <p:txEl>
                                              <p:pRg st="3" end="3"/>
                                            </p:txEl>
                                          </p:spTgt>
                                        </p:tgtEl>
                                        <p:attrNameLst>
                                          <p:attrName>style.visibility</p:attrName>
                                        </p:attrNameLst>
                                      </p:cBhvr>
                                      <p:to>
                                        <p:strVal val="visible"/>
                                      </p:to>
                                    </p:set>
                                    <p:anim calcmode="lin" valueType="num">
                                      <p:cBhvr additive="base">
                                        <p:cTn id="27" dur="500" fill="hold"/>
                                        <p:tgtEl>
                                          <p:spTgt spid="517122">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1712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517122">
                                            <p:txEl>
                                              <p:pRg st="4" end="4"/>
                                            </p:txEl>
                                          </p:spTgt>
                                        </p:tgtEl>
                                        <p:attrNameLst>
                                          <p:attrName>style.visibility</p:attrName>
                                        </p:attrNameLst>
                                      </p:cBhvr>
                                      <p:to>
                                        <p:strVal val="visible"/>
                                      </p:to>
                                    </p:set>
                                    <p:anim calcmode="lin" valueType="num">
                                      <p:cBhvr additive="base">
                                        <p:cTn id="33" dur="500" fill="hold"/>
                                        <p:tgtEl>
                                          <p:spTgt spid="517122">
                                            <p:txEl>
                                              <p:pRg st="4" end="4"/>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51712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517122">
                                            <p:txEl>
                                              <p:pRg st="5" end="5"/>
                                            </p:txEl>
                                          </p:spTgt>
                                        </p:tgtEl>
                                        <p:attrNameLst>
                                          <p:attrName>style.visibility</p:attrName>
                                        </p:attrNameLst>
                                      </p:cBhvr>
                                      <p:to>
                                        <p:strVal val="visible"/>
                                      </p:to>
                                    </p:set>
                                    <p:anim calcmode="lin" valueType="num">
                                      <p:cBhvr additive="base">
                                        <p:cTn id="39" dur="500" fill="hold"/>
                                        <p:tgtEl>
                                          <p:spTgt spid="517122">
                                            <p:txEl>
                                              <p:pRg st="5" end="5"/>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517122">
                                            <p:txEl>
                                              <p:pRg st="5" end="5"/>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517122">
                                            <p:txEl>
                                              <p:pRg st="6" end="6"/>
                                            </p:txEl>
                                          </p:spTgt>
                                        </p:tgtEl>
                                        <p:attrNameLst>
                                          <p:attrName>style.visibility</p:attrName>
                                        </p:attrNameLst>
                                      </p:cBhvr>
                                      <p:to>
                                        <p:strVal val="visible"/>
                                      </p:to>
                                    </p:set>
                                    <p:anim calcmode="lin" valueType="num">
                                      <p:cBhvr additive="base">
                                        <p:cTn id="43" dur="500" fill="hold"/>
                                        <p:tgtEl>
                                          <p:spTgt spid="517122">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17122">
                                            <p:txEl>
                                              <p:pRg st="6" end="6"/>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517122">
                                            <p:txEl>
                                              <p:pRg st="7" end="7"/>
                                            </p:txEl>
                                          </p:spTgt>
                                        </p:tgtEl>
                                        <p:attrNameLst>
                                          <p:attrName>style.visibility</p:attrName>
                                        </p:attrNameLst>
                                      </p:cBhvr>
                                      <p:to>
                                        <p:strVal val="visible"/>
                                      </p:to>
                                    </p:set>
                                    <p:anim calcmode="lin" valueType="num">
                                      <p:cBhvr additive="base">
                                        <p:cTn id="47" dur="500" fill="hold"/>
                                        <p:tgtEl>
                                          <p:spTgt spid="517122">
                                            <p:txEl>
                                              <p:pRg st="7" end="7"/>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517122">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517122">
                                            <p:txEl>
                                              <p:pRg st="9" end="9"/>
                                            </p:txEl>
                                          </p:spTgt>
                                        </p:tgtEl>
                                        <p:attrNameLst>
                                          <p:attrName>style.visibility</p:attrName>
                                        </p:attrNameLst>
                                      </p:cBhvr>
                                      <p:to>
                                        <p:strVal val="visible"/>
                                      </p:to>
                                    </p:set>
                                    <p:anim calcmode="lin" valueType="num">
                                      <p:cBhvr additive="base">
                                        <p:cTn id="53" dur="500" fill="hold"/>
                                        <p:tgtEl>
                                          <p:spTgt spid="517122">
                                            <p:txEl>
                                              <p:pRg st="9" end="9"/>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517122">
                                            <p:txEl>
                                              <p:pRg st="9" end="9"/>
                                            </p:txEl>
                                          </p:spTgt>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517122">
                                            <p:txEl>
                                              <p:pRg st="10" end="10"/>
                                            </p:txEl>
                                          </p:spTgt>
                                        </p:tgtEl>
                                        <p:attrNameLst>
                                          <p:attrName>style.visibility</p:attrName>
                                        </p:attrNameLst>
                                      </p:cBhvr>
                                      <p:to>
                                        <p:strVal val="visible"/>
                                      </p:to>
                                    </p:set>
                                    <p:anim calcmode="lin" valueType="num">
                                      <p:cBhvr additive="base">
                                        <p:cTn id="57" dur="500" fill="hold"/>
                                        <p:tgtEl>
                                          <p:spTgt spid="517122">
                                            <p:txEl>
                                              <p:pRg st="10" end="10"/>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517122">
                                            <p:txEl>
                                              <p:pRg st="10" end="10"/>
                                            </p:txEl>
                                          </p:spTgt>
                                        </p:tgtEl>
                                        <p:attrNameLst>
                                          <p:attrName>ppt_y</p:attrName>
                                        </p:attrNameLst>
                                      </p:cBhvr>
                                      <p:tavLst>
                                        <p:tav tm="0">
                                          <p:val>
                                            <p:strVal val="1+#ppt_h/2"/>
                                          </p:val>
                                        </p:tav>
                                        <p:tav tm="100000">
                                          <p:val>
                                            <p:strVal val="#ppt_y"/>
                                          </p:val>
                                        </p:tav>
                                      </p:tavLst>
                                    </p:anim>
                                  </p:childTnLst>
                                </p:cTn>
                              </p:par>
                              <p:par>
                                <p:cTn id="59" presetID="2" presetClass="entr" presetSubtype="4" fill="hold" nodeType="withEffect">
                                  <p:stCondLst>
                                    <p:cond delay="0"/>
                                  </p:stCondLst>
                                  <p:childTnLst>
                                    <p:set>
                                      <p:cBhvr>
                                        <p:cTn id="60" dur="1" fill="hold">
                                          <p:stCondLst>
                                            <p:cond delay="0"/>
                                          </p:stCondLst>
                                        </p:cTn>
                                        <p:tgtEl>
                                          <p:spTgt spid="517122">
                                            <p:txEl>
                                              <p:pRg st="11" end="11"/>
                                            </p:txEl>
                                          </p:spTgt>
                                        </p:tgtEl>
                                        <p:attrNameLst>
                                          <p:attrName>style.visibility</p:attrName>
                                        </p:attrNameLst>
                                      </p:cBhvr>
                                      <p:to>
                                        <p:strVal val="visible"/>
                                      </p:to>
                                    </p:set>
                                    <p:anim calcmode="lin" valueType="num">
                                      <p:cBhvr additive="base">
                                        <p:cTn id="61" dur="500" fill="hold"/>
                                        <p:tgtEl>
                                          <p:spTgt spid="517122">
                                            <p:txEl>
                                              <p:pRg st="11" end="11"/>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517122">
                                            <p:txEl>
                                              <p:pRg st="11" end="11"/>
                                            </p:txEl>
                                          </p:spTgt>
                                        </p:tgtEl>
                                        <p:attrNameLst>
                                          <p:attrName>ppt_y</p:attrName>
                                        </p:attrNameLst>
                                      </p:cBhvr>
                                      <p:tavLst>
                                        <p:tav tm="0">
                                          <p:val>
                                            <p:strVal val="1+#ppt_h/2"/>
                                          </p:val>
                                        </p:tav>
                                        <p:tav tm="100000">
                                          <p:val>
                                            <p:strVal val="#ppt_y"/>
                                          </p:val>
                                        </p:tav>
                                      </p:tavLst>
                                    </p:anim>
                                  </p:childTnLst>
                                </p:cTn>
                              </p:par>
                              <p:par>
                                <p:cTn id="63" presetID="2" presetClass="entr" presetSubtype="4" fill="hold" nodeType="withEffect">
                                  <p:stCondLst>
                                    <p:cond delay="0"/>
                                  </p:stCondLst>
                                  <p:childTnLst>
                                    <p:set>
                                      <p:cBhvr>
                                        <p:cTn id="64" dur="1" fill="hold">
                                          <p:stCondLst>
                                            <p:cond delay="0"/>
                                          </p:stCondLst>
                                        </p:cTn>
                                        <p:tgtEl>
                                          <p:spTgt spid="517122">
                                            <p:txEl>
                                              <p:pRg st="12" end="12"/>
                                            </p:txEl>
                                          </p:spTgt>
                                        </p:tgtEl>
                                        <p:attrNameLst>
                                          <p:attrName>style.visibility</p:attrName>
                                        </p:attrNameLst>
                                      </p:cBhvr>
                                      <p:to>
                                        <p:strVal val="visible"/>
                                      </p:to>
                                    </p:set>
                                    <p:anim calcmode="lin" valueType="num">
                                      <p:cBhvr additive="base">
                                        <p:cTn id="65" dur="500" fill="hold"/>
                                        <p:tgtEl>
                                          <p:spTgt spid="517122">
                                            <p:txEl>
                                              <p:pRg st="12" end="12"/>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517122">
                                            <p:txEl>
                                              <p:pRg st="12" end="12"/>
                                            </p:txEl>
                                          </p:spTgt>
                                        </p:tgtEl>
                                        <p:attrNameLst>
                                          <p:attrName>ppt_y</p:attrName>
                                        </p:attrNameLst>
                                      </p:cBhvr>
                                      <p:tavLst>
                                        <p:tav tm="0">
                                          <p:val>
                                            <p:strVal val="1+#ppt_h/2"/>
                                          </p:val>
                                        </p:tav>
                                        <p:tav tm="100000">
                                          <p:val>
                                            <p:strVal val="#ppt_y"/>
                                          </p:val>
                                        </p:tav>
                                      </p:tavLst>
                                    </p:anim>
                                  </p:childTnLst>
                                </p:cTn>
                              </p:par>
                              <p:par>
                                <p:cTn id="67" presetID="2" presetClass="entr" presetSubtype="4" fill="hold" nodeType="withEffect">
                                  <p:stCondLst>
                                    <p:cond delay="0"/>
                                  </p:stCondLst>
                                  <p:childTnLst>
                                    <p:set>
                                      <p:cBhvr>
                                        <p:cTn id="68" dur="1" fill="hold">
                                          <p:stCondLst>
                                            <p:cond delay="0"/>
                                          </p:stCondLst>
                                        </p:cTn>
                                        <p:tgtEl>
                                          <p:spTgt spid="517122">
                                            <p:txEl>
                                              <p:pRg st="13" end="13"/>
                                            </p:txEl>
                                          </p:spTgt>
                                        </p:tgtEl>
                                        <p:attrNameLst>
                                          <p:attrName>style.visibility</p:attrName>
                                        </p:attrNameLst>
                                      </p:cBhvr>
                                      <p:to>
                                        <p:strVal val="visible"/>
                                      </p:to>
                                    </p:set>
                                    <p:anim calcmode="lin" valueType="num">
                                      <p:cBhvr additive="base">
                                        <p:cTn id="69" dur="500" fill="hold"/>
                                        <p:tgtEl>
                                          <p:spTgt spid="517122">
                                            <p:txEl>
                                              <p:pRg st="13" end="13"/>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517122">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3B85FE-C580-299B-ADE1-DF9BC70677BE}"/>
              </a:ext>
            </a:extLst>
          </p:cNvPr>
          <p:cNvSpPr>
            <a:spLocks noGrp="1"/>
          </p:cNvSpPr>
          <p:nvPr>
            <p:ph type="title"/>
          </p:nvPr>
        </p:nvSpPr>
        <p:spPr/>
        <p:txBody>
          <a:bodyPr/>
          <a:lstStyle/>
          <a:p>
            <a:r>
              <a:rPr lang="zh-CN" altLang="en-US" dirty="0"/>
              <a:t>使用数组支持预计算</a:t>
            </a:r>
          </a:p>
        </p:txBody>
      </p:sp>
      <p:sp>
        <p:nvSpPr>
          <p:cNvPr id="3" name="内容占位符 2">
            <a:extLst>
              <a:ext uri="{FF2B5EF4-FFF2-40B4-BE49-F238E27FC236}">
                <a16:creationId xmlns:a16="http://schemas.microsoft.com/office/drawing/2014/main" id="{F3ABAFE6-7850-790B-52A0-76D0447972BC}"/>
              </a:ext>
            </a:extLst>
          </p:cNvPr>
          <p:cNvSpPr>
            <a:spLocks noGrp="1"/>
          </p:cNvSpPr>
          <p:nvPr>
            <p:ph idx="1"/>
          </p:nvPr>
        </p:nvSpPr>
        <p:spPr/>
        <p:txBody>
          <a:bodyPr/>
          <a:lstStyle/>
          <a:p>
            <a:r>
              <a:rPr lang="zh-CN" altLang="zh-CN" dirty="0"/>
              <a:t>平方数</a:t>
            </a:r>
            <a:r>
              <a:rPr lang="zh-CN" altLang="en-US" dirty="0"/>
              <a:t>的</a:t>
            </a:r>
            <a:r>
              <a:rPr lang="zh-CN" altLang="zh-CN" dirty="0"/>
              <a:t>平方根</a:t>
            </a:r>
            <a:r>
              <a:rPr lang="zh-CN" altLang="en-US" dirty="0"/>
              <a:t>是</a:t>
            </a:r>
            <a:r>
              <a:rPr lang="zh-CN" altLang="zh-CN" dirty="0"/>
              <a:t>整数。例如</a:t>
            </a:r>
            <a:r>
              <a:rPr lang="en-US" altLang="zh-CN" dirty="0"/>
              <a:t>1</a:t>
            </a:r>
            <a:r>
              <a:rPr lang="zh-CN" altLang="zh-CN" dirty="0"/>
              <a:t>，</a:t>
            </a:r>
            <a:r>
              <a:rPr lang="en-US" altLang="zh-CN" dirty="0"/>
              <a:t>4</a:t>
            </a:r>
            <a:r>
              <a:rPr lang="zh-CN" altLang="zh-CN" dirty="0"/>
              <a:t>，</a:t>
            </a:r>
            <a:r>
              <a:rPr lang="en-US" altLang="zh-CN" dirty="0"/>
              <a:t>81</a:t>
            </a:r>
            <a:r>
              <a:rPr lang="zh-CN" altLang="zh-CN" dirty="0"/>
              <a:t>是平方数。给出两个整数</a:t>
            </a:r>
            <a:r>
              <a:rPr lang="en-US" altLang="zh-CN" i="1" dirty="0"/>
              <a:t>a</a:t>
            </a:r>
            <a:r>
              <a:rPr lang="zh-CN" altLang="zh-CN" dirty="0"/>
              <a:t>和</a:t>
            </a:r>
            <a:r>
              <a:rPr lang="en-US" altLang="zh-CN" i="1" dirty="0"/>
              <a:t>b</a:t>
            </a:r>
            <a:r>
              <a:rPr lang="zh-CN" altLang="zh-CN" dirty="0"/>
              <a:t>，请找出</a:t>
            </a:r>
            <a:r>
              <a:rPr lang="en-US" altLang="zh-CN" i="1" dirty="0"/>
              <a:t>a</a:t>
            </a:r>
            <a:r>
              <a:rPr lang="zh-CN" altLang="zh-CN" dirty="0"/>
              <a:t>和</a:t>
            </a:r>
            <a:r>
              <a:rPr lang="en-US" altLang="zh-CN" i="1" dirty="0"/>
              <a:t>b</a:t>
            </a:r>
            <a:r>
              <a:rPr lang="zh-CN" altLang="zh-CN" dirty="0"/>
              <a:t>之间（包括</a:t>
            </a:r>
            <a:r>
              <a:rPr lang="en-US" altLang="zh-CN" i="1" dirty="0"/>
              <a:t>a</a:t>
            </a:r>
            <a:r>
              <a:rPr lang="zh-CN" altLang="zh-CN" dirty="0"/>
              <a:t>和</a:t>
            </a:r>
            <a:r>
              <a:rPr lang="en-US" altLang="zh-CN" i="1" dirty="0"/>
              <a:t>b</a:t>
            </a:r>
            <a:r>
              <a:rPr lang="zh-CN" altLang="zh-CN" dirty="0"/>
              <a:t>）有多少个平方数</a:t>
            </a:r>
            <a:r>
              <a:rPr lang="zh-CN" altLang="en-US" dirty="0"/>
              <a:t>（假定</a:t>
            </a:r>
            <a:r>
              <a:rPr lang="en-US" altLang="zh-CN" dirty="0"/>
              <a:t>b</a:t>
            </a:r>
            <a:r>
              <a:rPr lang="zh-CN" altLang="en-US" dirty="0"/>
              <a:t>不超过</a:t>
            </a:r>
            <a:r>
              <a:rPr lang="en-US" altLang="zh-CN" dirty="0"/>
              <a:t>10000</a:t>
            </a:r>
            <a:r>
              <a:rPr lang="zh-CN" altLang="en-US" dirty="0"/>
              <a:t>）</a:t>
            </a:r>
            <a:r>
              <a:rPr lang="zh-CN" altLang="zh-CN" dirty="0"/>
              <a:t>。</a:t>
            </a:r>
            <a:endParaRPr lang="zh-CN" altLang="en-US" dirty="0"/>
          </a:p>
          <a:p>
            <a:endParaRPr lang="en-US" altLang="zh-CN" dirty="0"/>
          </a:p>
          <a:p>
            <a:r>
              <a:rPr lang="zh-CN" altLang="zh-CN" dirty="0"/>
              <a:t>在处理多个测试用例的过程中，可能会遇到这样一种情况：所有测试用例都采用同一运算，并且数据范围已知。在这种情况下，为了提高计算时效，可以预先计算出指定范围内的所有解，存入某个常量数组；以后每测试一个测试用例，直接从常量数组中引用相关数据就可以了。</a:t>
            </a:r>
            <a:endParaRPr lang="zh-CN" altLang="en-US" dirty="0"/>
          </a:p>
          <a:p>
            <a:endParaRPr lang="zh-CN" altLang="en-US" dirty="0"/>
          </a:p>
        </p:txBody>
      </p:sp>
      <p:sp>
        <p:nvSpPr>
          <p:cNvPr id="4" name="灯片编号占位符 3">
            <a:extLst>
              <a:ext uri="{FF2B5EF4-FFF2-40B4-BE49-F238E27FC236}">
                <a16:creationId xmlns:a16="http://schemas.microsoft.com/office/drawing/2014/main" id="{30A7E992-D391-6B49-9ED6-BFBBE79D6A3B}"/>
              </a:ext>
            </a:extLst>
          </p:cNvPr>
          <p:cNvSpPr>
            <a:spLocks noGrp="1"/>
          </p:cNvSpPr>
          <p:nvPr>
            <p:ph type="sldNum" sz="quarter" idx="12"/>
          </p:nvPr>
        </p:nvSpPr>
        <p:spPr/>
        <p:txBody>
          <a:bodyPr/>
          <a:lstStyle/>
          <a:p>
            <a:pPr>
              <a:defRPr/>
            </a:pPr>
            <a:fld id="{5DCB0509-EBFA-4973-BBC1-64BDD304043B}" type="slidenum">
              <a:rPr lang="en-US" altLang="zh-CN" smtClean="0"/>
              <a:pPr>
                <a:defRPr/>
              </a:pPr>
              <a:t>30</a:t>
            </a:fld>
            <a:endParaRPr lang="en-US" altLang="zh-CN"/>
          </a:p>
        </p:txBody>
      </p:sp>
    </p:spTree>
    <p:extLst>
      <p:ext uri="{BB962C8B-B14F-4D97-AF65-F5344CB8AC3E}">
        <p14:creationId xmlns:p14="http://schemas.microsoft.com/office/powerpoint/2010/main" val="392962020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76CDBA0-C5A0-5278-D9D0-31B0800BB0AF}"/>
              </a:ext>
            </a:extLst>
          </p:cNvPr>
          <p:cNvSpPr>
            <a:spLocks noGrp="1"/>
          </p:cNvSpPr>
          <p:nvPr>
            <p:ph idx="1"/>
          </p:nvPr>
        </p:nvSpPr>
        <p:spPr/>
        <p:txBody>
          <a:bodyPr/>
          <a:lstStyle/>
          <a:p>
            <a:r>
              <a:rPr lang="zh-CN" altLang="zh-CN" dirty="0"/>
              <a:t>首先，根据题目给出的数据范围（</a:t>
            </a:r>
            <a:r>
              <a:rPr lang="en-US" altLang="zh-CN" dirty="0"/>
              <a:t>0&lt;</a:t>
            </a:r>
            <a:r>
              <a:rPr lang="en-US" altLang="zh-CN" i="1" dirty="0"/>
              <a:t>a</a:t>
            </a:r>
            <a:r>
              <a:rPr lang="zh-CN" altLang="zh-CN" dirty="0"/>
              <a:t>≤</a:t>
            </a:r>
            <a:r>
              <a:rPr lang="en-US" altLang="zh-CN" i="1" dirty="0"/>
              <a:t>b</a:t>
            </a:r>
            <a:r>
              <a:rPr lang="zh-CN" altLang="zh-CN" dirty="0"/>
              <a:t>≤</a:t>
            </a:r>
            <a:r>
              <a:rPr lang="en-US" altLang="zh-CN" dirty="0"/>
              <a:t>10000</a:t>
            </a:r>
            <a:r>
              <a:rPr lang="zh-CN" altLang="zh-CN" dirty="0"/>
              <a:t>），定义</a:t>
            </a:r>
            <a:r>
              <a:rPr lang="zh-CN" altLang="en-US" dirty="0"/>
              <a:t>符号</a:t>
            </a:r>
            <a:r>
              <a:rPr lang="zh-CN" altLang="zh-CN" dirty="0"/>
              <a:t>常量</a:t>
            </a:r>
            <a:r>
              <a:rPr lang="en-US" altLang="zh-CN" i="1" dirty="0"/>
              <a:t>N</a:t>
            </a:r>
            <a:r>
              <a:rPr lang="en-US" altLang="zh-CN" dirty="0"/>
              <a:t>=10</a:t>
            </a:r>
            <a:r>
              <a:rPr lang="en-US" altLang="zh-CN" baseline="30000" dirty="0"/>
              <a:t>4</a:t>
            </a:r>
            <a:r>
              <a:rPr lang="zh-CN" altLang="zh-CN" dirty="0"/>
              <a:t>，</a:t>
            </a:r>
            <a:r>
              <a:rPr lang="zh-CN" altLang="en-US" dirty="0"/>
              <a:t>和</a:t>
            </a:r>
            <a:r>
              <a:rPr lang="zh-CN" altLang="zh-CN" dirty="0"/>
              <a:t>前缀和数组</a:t>
            </a:r>
            <a:r>
              <a:rPr lang="en-US" altLang="zh-CN" i="1" dirty="0" err="1"/>
              <a:t>prefixsum</a:t>
            </a:r>
            <a:r>
              <a:rPr lang="zh-CN" altLang="zh-CN" dirty="0"/>
              <a:t>，</a:t>
            </a:r>
            <a:r>
              <a:rPr lang="en-US" altLang="zh-CN" i="1" dirty="0" err="1"/>
              <a:t>prefixsum</a:t>
            </a:r>
            <a:r>
              <a:rPr lang="en-US" altLang="zh-CN" dirty="0"/>
              <a:t>[</a:t>
            </a:r>
            <a:r>
              <a:rPr lang="en-US" altLang="zh-CN" i="1" dirty="0" err="1"/>
              <a:t>i</a:t>
            </a:r>
            <a:r>
              <a:rPr lang="en-US" altLang="zh-CN" dirty="0"/>
              <a:t>]</a:t>
            </a:r>
            <a:r>
              <a:rPr lang="zh-CN" altLang="zh-CN" dirty="0"/>
              <a:t>定义为</a:t>
            </a:r>
            <a:r>
              <a:rPr lang="en-US" altLang="zh-CN" dirty="0"/>
              <a:t>0-</a:t>
            </a:r>
            <a:r>
              <a:rPr lang="en-US" altLang="zh-CN" i="1" dirty="0"/>
              <a:t>i</a:t>
            </a:r>
            <a:r>
              <a:rPr lang="zh-CN" altLang="zh-CN" dirty="0"/>
              <a:t>区间平方数的个数，</a:t>
            </a:r>
            <a:r>
              <a:rPr lang="en-US" altLang="zh-CN" dirty="0"/>
              <a:t>0</a:t>
            </a:r>
            <a:r>
              <a:rPr lang="en-US" altLang="zh-CN" dirty="0">
                <a:sym typeface="Symbol" panose="05050102010706020507" pitchFamily="18" charset="2"/>
              </a:rPr>
              <a:t></a:t>
            </a:r>
            <a:r>
              <a:rPr lang="en-US" altLang="zh-CN" i="1" dirty="0"/>
              <a:t>i</a:t>
            </a:r>
            <a:r>
              <a:rPr lang="en-US" altLang="zh-CN" dirty="0">
                <a:sym typeface="Symbol" panose="05050102010706020507" pitchFamily="18" charset="2"/>
              </a:rPr>
              <a:t></a:t>
            </a:r>
            <a:r>
              <a:rPr lang="en-US" altLang="zh-CN" i="1" dirty="0"/>
              <a:t>N</a:t>
            </a:r>
            <a:r>
              <a:rPr lang="zh-CN" altLang="zh-CN" dirty="0"/>
              <a:t>。</a:t>
            </a:r>
          </a:p>
          <a:p>
            <a:r>
              <a:rPr lang="zh-CN" altLang="zh-CN" dirty="0"/>
              <a:t>然后，计算出在</a:t>
            </a:r>
            <a:r>
              <a:rPr lang="en-US" altLang="zh-CN" dirty="0"/>
              <a:t>[1, </a:t>
            </a:r>
            <a:r>
              <a:rPr lang="en-US" altLang="zh-CN" i="1" dirty="0"/>
              <a:t>N</a:t>
            </a:r>
            <a:r>
              <a:rPr lang="en-US" altLang="zh-CN" dirty="0"/>
              <a:t>]</a:t>
            </a:r>
            <a:r>
              <a:rPr lang="zh-CN" altLang="zh-CN" dirty="0"/>
              <a:t>范围内的</a:t>
            </a:r>
            <a:r>
              <a:rPr lang="en-US" altLang="zh-CN" i="1" dirty="0" err="1"/>
              <a:t>prefixsum</a:t>
            </a:r>
            <a:r>
              <a:rPr lang="zh-CN" altLang="zh-CN" dirty="0"/>
              <a:t>。</a:t>
            </a:r>
          </a:p>
          <a:p>
            <a:r>
              <a:rPr lang="zh-CN" altLang="zh-CN" dirty="0"/>
              <a:t>最后，每输入一个测试用例</a:t>
            </a:r>
            <a:r>
              <a:rPr lang="en-US" altLang="zh-CN" i="1" dirty="0"/>
              <a:t>a</a:t>
            </a:r>
            <a:r>
              <a:rPr lang="zh-CN" altLang="zh-CN" dirty="0"/>
              <a:t>和</a:t>
            </a:r>
            <a:r>
              <a:rPr lang="en-US" altLang="zh-CN" i="1" dirty="0"/>
              <a:t>b</a:t>
            </a:r>
            <a:r>
              <a:rPr lang="zh-CN" altLang="zh-CN" dirty="0"/>
              <a:t>，直接计算</a:t>
            </a:r>
            <a:r>
              <a:rPr lang="en-US" altLang="zh-CN" i="1" dirty="0"/>
              <a:t>a</a:t>
            </a:r>
            <a:r>
              <a:rPr lang="zh-CN" altLang="zh-CN" dirty="0"/>
              <a:t>和</a:t>
            </a:r>
            <a:r>
              <a:rPr lang="en-US" altLang="zh-CN" i="1" dirty="0"/>
              <a:t>b</a:t>
            </a:r>
            <a:r>
              <a:rPr lang="zh-CN" altLang="zh-CN" dirty="0"/>
              <a:t>之间有多少个平方数</a:t>
            </a:r>
            <a:r>
              <a:rPr lang="en-US" altLang="zh-CN" i="1" dirty="0" err="1"/>
              <a:t>prefixsum</a:t>
            </a:r>
            <a:r>
              <a:rPr lang="en-US" altLang="zh-CN" dirty="0"/>
              <a:t>[</a:t>
            </a:r>
            <a:r>
              <a:rPr lang="en-US" altLang="zh-CN" i="1" dirty="0"/>
              <a:t>b</a:t>
            </a:r>
            <a:r>
              <a:rPr lang="en-US" altLang="zh-CN" dirty="0"/>
              <a:t>] - </a:t>
            </a:r>
            <a:r>
              <a:rPr lang="en-US" altLang="zh-CN" i="1" dirty="0" err="1"/>
              <a:t>prefixsum</a:t>
            </a:r>
            <a:r>
              <a:rPr lang="en-US" altLang="zh-CN" dirty="0"/>
              <a:t>[</a:t>
            </a:r>
            <a:r>
              <a:rPr lang="en-US" altLang="zh-CN" i="1" dirty="0"/>
              <a:t>a </a:t>
            </a:r>
            <a:r>
              <a:rPr lang="en-US" altLang="zh-CN" dirty="0"/>
              <a:t>- 1]</a:t>
            </a:r>
            <a:r>
              <a:rPr lang="zh-CN" altLang="zh-CN" dirty="0"/>
              <a:t>。</a:t>
            </a:r>
            <a:endParaRPr lang="zh-CN" altLang="en-US" dirty="0"/>
          </a:p>
          <a:p>
            <a:endParaRPr lang="zh-CN" altLang="en-US" dirty="0"/>
          </a:p>
        </p:txBody>
      </p:sp>
      <p:sp>
        <p:nvSpPr>
          <p:cNvPr id="4" name="灯片编号占位符 3">
            <a:extLst>
              <a:ext uri="{FF2B5EF4-FFF2-40B4-BE49-F238E27FC236}">
                <a16:creationId xmlns:a16="http://schemas.microsoft.com/office/drawing/2014/main" id="{1DF6AB75-C86C-E18C-2CE1-5CF87CE2715F}"/>
              </a:ext>
            </a:extLst>
          </p:cNvPr>
          <p:cNvSpPr>
            <a:spLocks noGrp="1"/>
          </p:cNvSpPr>
          <p:nvPr>
            <p:ph type="sldNum" sz="quarter" idx="12"/>
          </p:nvPr>
        </p:nvSpPr>
        <p:spPr/>
        <p:txBody>
          <a:bodyPr/>
          <a:lstStyle/>
          <a:p>
            <a:pPr>
              <a:defRPr/>
            </a:pPr>
            <a:fld id="{5DCB0509-EBFA-4973-BBC1-64BDD304043B}" type="slidenum">
              <a:rPr lang="en-US" altLang="zh-CN" smtClean="0"/>
              <a:pPr>
                <a:defRPr/>
              </a:pPr>
              <a:t>31</a:t>
            </a:fld>
            <a:endParaRPr lang="en-US" altLang="zh-CN"/>
          </a:p>
        </p:txBody>
      </p:sp>
    </p:spTree>
    <p:extLst>
      <p:ext uri="{BB962C8B-B14F-4D97-AF65-F5344CB8AC3E}">
        <p14:creationId xmlns:p14="http://schemas.microsoft.com/office/powerpoint/2010/main" val="27731044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3B3A2FD-FFC4-4C20-8CE4-6E616D7CE073}"/>
              </a:ext>
            </a:extLst>
          </p:cNvPr>
          <p:cNvSpPr>
            <a:spLocks noGrp="1"/>
          </p:cNvSpPr>
          <p:nvPr>
            <p:ph idx="1"/>
          </p:nvPr>
        </p:nvSpPr>
        <p:spPr>
          <a:xfrm>
            <a:off x="457200" y="332656"/>
            <a:ext cx="8229600" cy="5991945"/>
          </a:xfrm>
        </p:spPr>
        <p:txBody>
          <a:bodyPr/>
          <a:lstStyle/>
          <a:p>
            <a:pPr marL="0" indent="0">
              <a:buNone/>
            </a:pPr>
            <a:r>
              <a:rPr lang="en-US" altLang="zh-CN" sz="1600" b="1" dirty="0"/>
              <a:t>#include &lt;</a:t>
            </a:r>
            <a:r>
              <a:rPr lang="en-US" altLang="zh-CN" sz="1600" b="1" dirty="0" err="1"/>
              <a:t>stdio.h</a:t>
            </a:r>
            <a:r>
              <a:rPr lang="en-US" altLang="zh-CN" sz="1600" b="1" dirty="0"/>
              <a:t>&gt;</a:t>
            </a:r>
          </a:p>
          <a:p>
            <a:pPr marL="0" indent="0">
              <a:buNone/>
            </a:pPr>
            <a:r>
              <a:rPr lang="en-US" altLang="zh-CN" sz="1600" b="1" dirty="0"/>
              <a:t>#define N 10000</a:t>
            </a:r>
          </a:p>
          <a:p>
            <a:pPr marL="0" indent="0">
              <a:buNone/>
            </a:pPr>
            <a:r>
              <a:rPr lang="en-US" altLang="zh-CN" sz="1600" b="1" dirty="0"/>
              <a:t>int main()</a:t>
            </a:r>
          </a:p>
          <a:p>
            <a:pPr marL="0" indent="0">
              <a:buNone/>
            </a:pPr>
            <a:r>
              <a:rPr lang="en-US" altLang="zh-CN" sz="1600" b="1" dirty="0"/>
              <a:t>{</a:t>
            </a:r>
          </a:p>
          <a:p>
            <a:pPr marL="0" indent="0">
              <a:buNone/>
            </a:pPr>
            <a:r>
              <a:rPr lang="en-US" altLang="zh-CN" sz="1600" b="1" dirty="0"/>
              <a:t>   int </a:t>
            </a:r>
            <a:r>
              <a:rPr lang="en-US" altLang="zh-CN" sz="1600" b="1" dirty="0" err="1"/>
              <a:t>prefixsum</a:t>
            </a:r>
            <a:r>
              <a:rPr lang="en-US" altLang="zh-CN" sz="1600" b="1" dirty="0"/>
              <a:t>[N+1] = {0}; //</a:t>
            </a:r>
            <a:r>
              <a:rPr lang="zh-CN" altLang="en-US" sz="1600" b="1" dirty="0"/>
              <a:t>前缀和数组元素</a:t>
            </a:r>
            <a:r>
              <a:rPr lang="en-US" altLang="zh-CN" sz="1600" b="1" dirty="0" err="1"/>
              <a:t>prefixsum</a:t>
            </a:r>
            <a:r>
              <a:rPr lang="en-US" altLang="zh-CN" sz="1600" b="1" dirty="0"/>
              <a:t>[</a:t>
            </a:r>
            <a:r>
              <a:rPr lang="en-US" altLang="zh-CN" sz="1600" b="1" dirty="0" err="1"/>
              <a:t>i</a:t>
            </a:r>
            <a:r>
              <a:rPr lang="en-US" altLang="zh-CN" sz="1600" b="1" dirty="0"/>
              <a:t>]</a:t>
            </a:r>
            <a:r>
              <a:rPr lang="zh-CN" altLang="en-US" sz="1600" b="1" dirty="0"/>
              <a:t>定义为 </a:t>
            </a:r>
            <a:r>
              <a:rPr lang="en-US" altLang="zh-CN" sz="1600" b="1" dirty="0"/>
              <a:t>0</a:t>
            </a:r>
            <a:r>
              <a:rPr lang="zh-CN" altLang="en-US" sz="1600" b="1" dirty="0"/>
              <a:t>到 </a:t>
            </a:r>
            <a:r>
              <a:rPr lang="en-US" altLang="zh-CN" sz="1600" b="1" dirty="0" err="1"/>
              <a:t>i</a:t>
            </a:r>
            <a:r>
              <a:rPr lang="zh-CN" altLang="en-US" sz="1600" b="1" dirty="0"/>
              <a:t>区间平方数的个数</a:t>
            </a:r>
            <a:endParaRPr lang="en-US" altLang="zh-CN" sz="1600" b="1" dirty="0"/>
          </a:p>
          <a:p>
            <a:pPr marL="0" indent="0">
              <a:buNone/>
            </a:pPr>
            <a:r>
              <a:rPr lang="en-US" altLang="zh-CN" sz="1600" b="1" dirty="0"/>
              <a:t>   for(int </a:t>
            </a:r>
            <a:r>
              <a:rPr lang="en-US" altLang="zh-CN" sz="1600" b="1" dirty="0" err="1"/>
              <a:t>i</a:t>
            </a:r>
            <a:r>
              <a:rPr lang="en-US" altLang="zh-CN" sz="1600" b="1" dirty="0"/>
              <a:t> = 0, j = 0; </a:t>
            </a:r>
            <a:r>
              <a:rPr lang="en-US" altLang="zh-CN" sz="1600" b="1" dirty="0" err="1"/>
              <a:t>i</a:t>
            </a:r>
            <a:r>
              <a:rPr lang="en-US" altLang="zh-CN" sz="1600" b="1" dirty="0"/>
              <a:t> &lt;= N; </a:t>
            </a:r>
            <a:r>
              <a:rPr lang="en-US" altLang="zh-CN" sz="1600" b="1" dirty="0" err="1"/>
              <a:t>i</a:t>
            </a:r>
            <a:r>
              <a:rPr lang="en-US" altLang="zh-CN" sz="1600" b="1" dirty="0"/>
              <a:t>++) //</a:t>
            </a:r>
            <a:r>
              <a:rPr lang="zh-CN" altLang="en-US" sz="1600" b="1" dirty="0"/>
              <a:t>预先计算前缀和数组元素</a:t>
            </a:r>
            <a:r>
              <a:rPr lang="en-US" altLang="zh-CN" sz="1600" b="1" dirty="0" err="1"/>
              <a:t>prefixsum</a:t>
            </a:r>
            <a:r>
              <a:rPr lang="en-US" altLang="zh-CN" sz="1600" b="1" dirty="0"/>
              <a:t>[</a:t>
            </a:r>
            <a:r>
              <a:rPr lang="en-US" altLang="zh-CN" sz="1600" b="1" dirty="0" err="1"/>
              <a:t>i</a:t>
            </a:r>
            <a:r>
              <a:rPr lang="en-US" altLang="zh-CN" sz="1600" b="1" dirty="0"/>
              <a:t>]</a:t>
            </a:r>
          </a:p>
          <a:p>
            <a:pPr marL="0" indent="0">
              <a:buNone/>
            </a:pPr>
            <a:r>
              <a:rPr lang="en-US" altLang="zh-CN" sz="1600" b="1" dirty="0"/>
              <a:t>        if(</a:t>
            </a:r>
            <a:r>
              <a:rPr lang="en-US" altLang="zh-CN" sz="1600" b="1" dirty="0" err="1"/>
              <a:t>i</a:t>
            </a:r>
            <a:r>
              <a:rPr lang="en-US" altLang="zh-CN" sz="1600" b="1" dirty="0"/>
              <a:t> == j * j) {</a:t>
            </a:r>
          </a:p>
          <a:p>
            <a:pPr marL="0" indent="0">
              <a:buNone/>
            </a:pPr>
            <a:r>
              <a:rPr lang="en-US" altLang="zh-CN" sz="1600" b="1" dirty="0"/>
              <a:t>              </a:t>
            </a:r>
            <a:r>
              <a:rPr lang="en-US" altLang="zh-CN" sz="1600" b="1" dirty="0" err="1"/>
              <a:t>prefixsum</a:t>
            </a:r>
            <a:r>
              <a:rPr lang="en-US" altLang="zh-CN" sz="1600" b="1" dirty="0"/>
              <a:t>[</a:t>
            </a:r>
            <a:r>
              <a:rPr lang="en-US" altLang="zh-CN" sz="1600" b="1" dirty="0" err="1"/>
              <a:t>i</a:t>
            </a:r>
            <a:r>
              <a:rPr lang="en-US" altLang="zh-CN" sz="1600" b="1" dirty="0"/>
              <a:t>] = </a:t>
            </a:r>
            <a:r>
              <a:rPr lang="en-US" altLang="zh-CN" sz="1600" b="1" dirty="0" err="1"/>
              <a:t>prefixsum</a:t>
            </a:r>
            <a:r>
              <a:rPr lang="en-US" altLang="zh-CN" sz="1600" b="1" dirty="0"/>
              <a:t>[</a:t>
            </a:r>
            <a:r>
              <a:rPr lang="en-US" altLang="zh-CN" sz="1600" b="1" dirty="0" err="1"/>
              <a:t>i</a:t>
            </a:r>
            <a:r>
              <a:rPr lang="en-US" altLang="zh-CN" sz="1600" b="1" dirty="0"/>
              <a:t> - 1] + 1;</a:t>
            </a:r>
          </a:p>
          <a:p>
            <a:pPr marL="0" indent="0">
              <a:buNone/>
            </a:pPr>
            <a:r>
              <a:rPr lang="en-US" altLang="zh-CN" sz="1600" b="1" dirty="0"/>
              <a:t>              </a:t>
            </a:r>
            <a:r>
              <a:rPr lang="en-US" altLang="zh-CN" sz="1600" b="1" dirty="0" err="1"/>
              <a:t>j++</a:t>
            </a:r>
            <a:r>
              <a:rPr lang="en-US" altLang="zh-CN" sz="1600" b="1" dirty="0"/>
              <a:t>;</a:t>
            </a:r>
          </a:p>
          <a:p>
            <a:pPr marL="0" indent="0">
              <a:buNone/>
            </a:pPr>
            <a:r>
              <a:rPr lang="en-US" altLang="zh-CN" sz="1600" b="1" dirty="0"/>
              <a:t>       } 	</a:t>
            </a:r>
          </a:p>
          <a:p>
            <a:pPr marL="0" indent="0">
              <a:buNone/>
            </a:pPr>
            <a:r>
              <a:rPr lang="en-US" altLang="zh-CN" sz="1600" b="1" dirty="0"/>
              <a:t>       else</a:t>
            </a:r>
          </a:p>
          <a:p>
            <a:pPr marL="0" indent="0">
              <a:buNone/>
            </a:pPr>
            <a:r>
              <a:rPr lang="en-US" altLang="zh-CN" sz="1600" b="1" dirty="0"/>
              <a:t>              </a:t>
            </a:r>
            <a:r>
              <a:rPr lang="en-US" altLang="zh-CN" sz="1600" b="1" dirty="0" err="1"/>
              <a:t>prefixsum</a:t>
            </a:r>
            <a:r>
              <a:rPr lang="en-US" altLang="zh-CN" sz="1600" b="1" dirty="0"/>
              <a:t>[</a:t>
            </a:r>
            <a:r>
              <a:rPr lang="en-US" altLang="zh-CN" sz="1600" b="1" dirty="0" err="1"/>
              <a:t>i</a:t>
            </a:r>
            <a:r>
              <a:rPr lang="en-US" altLang="zh-CN" sz="1600" b="1" dirty="0"/>
              <a:t>] = </a:t>
            </a:r>
            <a:r>
              <a:rPr lang="en-US" altLang="zh-CN" sz="1600" b="1" dirty="0" err="1"/>
              <a:t>prefixsum</a:t>
            </a:r>
            <a:r>
              <a:rPr lang="en-US" altLang="zh-CN" sz="1600" b="1" dirty="0"/>
              <a:t>[</a:t>
            </a:r>
            <a:r>
              <a:rPr lang="en-US" altLang="zh-CN" sz="1600" b="1" dirty="0" err="1"/>
              <a:t>i</a:t>
            </a:r>
            <a:r>
              <a:rPr lang="en-US" altLang="zh-CN" sz="1600" b="1" dirty="0"/>
              <a:t> - 1];</a:t>
            </a:r>
          </a:p>
          <a:p>
            <a:pPr marL="0" indent="0">
              <a:buNone/>
            </a:pPr>
            <a:endParaRPr lang="en-US" altLang="zh-CN" sz="1600" b="1" dirty="0"/>
          </a:p>
          <a:p>
            <a:pPr marL="0" indent="0">
              <a:buNone/>
            </a:pPr>
            <a:r>
              <a:rPr lang="en-US" altLang="zh-CN" sz="1600" b="1" dirty="0"/>
              <a:t>    int a, b;</a:t>
            </a:r>
          </a:p>
          <a:p>
            <a:pPr marL="0" indent="0">
              <a:buNone/>
            </a:pPr>
            <a:r>
              <a:rPr lang="en-US" altLang="zh-CN" sz="1600" b="1" dirty="0"/>
              <a:t>    while(1){</a:t>
            </a:r>
          </a:p>
          <a:p>
            <a:pPr marL="0" indent="0">
              <a:buNone/>
            </a:pPr>
            <a:r>
              <a:rPr lang="en-US" altLang="zh-CN" sz="1600" b="1" dirty="0"/>
              <a:t>       </a:t>
            </a:r>
            <a:r>
              <a:rPr lang="en-US" altLang="zh-CN" sz="1600" b="1" dirty="0" err="1"/>
              <a:t>printf</a:t>
            </a:r>
            <a:r>
              <a:rPr lang="en-US" altLang="zh-CN" sz="1600" b="1" dirty="0"/>
              <a:t>("input a and b; 0, 0 to terminate\n");</a:t>
            </a:r>
          </a:p>
          <a:p>
            <a:pPr marL="0" indent="0">
              <a:buNone/>
            </a:pPr>
            <a:r>
              <a:rPr lang="en-US" altLang="zh-CN" sz="1600" b="1" dirty="0"/>
              <a:t>       </a:t>
            </a:r>
            <a:r>
              <a:rPr lang="en-US" altLang="zh-CN" sz="1600" b="1" dirty="0" err="1"/>
              <a:t>scanf</a:t>
            </a:r>
            <a:r>
              <a:rPr lang="en-US" altLang="zh-CN" sz="1600" b="1" dirty="0"/>
              <a:t>("%d %d", &amp;a, &amp;b);</a:t>
            </a:r>
          </a:p>
          <a:p>
            <a:pPr marL="0" indent="0">
              <a:buNone/>
            </a:pPr>
            <a:r>
              <a:rPr lang="en-US" altLang="zh-CN" sz="1600" b="1" dirty="0"/>
              <a:t>       if(!a &amp;&amp; !b) break;</a:t>
            </a:r>
          </a:p>
          <a:p>
            <a:pPr marL="0" indent="0">
              <a:buNone/>
            </a:pPr>
            <a:r>
              <a:rPr lang="en-US" altLang="zh-CN" sz="1600" b="1" dirty="0"/>
              <a:t>       </a:t>
            </a:r>
            <a:r>
              <a:rPr lang="en-US" altLang="zh-CN" sz="1600" b="1" dirty="0" err="1"/>
              <a:t>printf</a:t>
            </a:r>
            <a:r>
              <a:rPr lang="en-US" altLang="zh-CN" sz="1600" b="1" dirty="0"/>
              <a:t>("%d\n", </a:t>
            </a:r>
            <a:r>
              <a:rPr lang="en-US" altLang="zh-CN" sz="1600" b="1" dirty="0" err="1"/>
              <a:t>prefixsum</a:t>
            </a:r>
            <a:r>
              <a:rPr lang="en-US" altLang="zh-CN" sz="1600" b="1" dirty="0"/>
              <a:t>[b] - </a:t>
            </a:r>
            <a:r>
              <a:rPr lang="en-US" altLang="zh-CN" sz="1600" b="1" dirty="0" err="1"/>
              <a:t>prefixsum</a:t>
            </a:r>
            <a:r>
              <a:rPr lang="en-US" altLang="zh-CN" sz="1600" b="1" dirty="0"/>
              <a:t>[a - 1]); //a </a:t>
            </a:r>
            <a:r>
              <a:rPr lang="zh-CN" altLang="en-US" sz="1600" b="1" dirty="0"/>
              <a:t>和</a:t>
            </a:r>
            <a:r>
              <a:rPr lang="en-US" altLang="zh-CN" sz="1600" b="1" dirty="0"/>
              <a:t>b </a:t>
            </a:r>
            <a:r>
              <a:rPr lang="zh-CN" altLang="en-US" sz="1600" b="1" dirty="0"/>
              <a:t>之间有多少个平方数</a:t>
            </a:r>
          </a:p>
          <a:p>
            <a:pPr marL="0" indent="0">
              <a:buNone/>
            </a:pPr>
            <a:r>
              <a:rPr lang="zh-CN" altLang="en-US" sz="1600" b="1" dirty="0"/>
              <a:t>    </a:t>
            </a:r>
            <a:r>
              <a:rPr lang="en-US" altLang="zh-CN" sz="1600" b="1" dirty="0"/>
              <a:t>}</a:t>
            </a:r>
          </a:p>
          <a:p>
            <a:pPr marL="0" indent="0">
              <a:buNone/>
            </a:pPr>
            <a:r>
              <a:rPr lang="en-US" altLang="zh-CN" sz="1600" b="1" dirty="0"/>
              <a:t>   return 0;</a:t>
            </a:r>
          </a:p>
          <a:p>
            <a:pPr marL="0" indent="0">
              <a:buNone/>
            </a:pPr>
            <a:r>
              <a:rPr lang="en-US" altLang="zh-CN" sz="1600" b="1" dirty="0"/>
              <a:t>}</a:t>
            </a:r>
            <a:endParaRPr lang="zh-CN" altLang="en-US" sz="1600" b="1" dirty="0"/>
          </a:p>
        </p:txBody>
      </p:sp>
      <p:sp>
        <p:nvSpPr>
          <p:cNvPr id="4" name="灯片编号占位符 3">
            <a:extLst>
              <a:ext uri="{FF2B5EF4-FFF2-40B4-BE49-F238E27FC236}">
                <a16:creationId xmlns:a16="http://schemas.microsoft.com/office/drawing/2014/main" id="{50BC3CAE-3954-E3B2-565A-6EA40F8BABCD}"/>
              </a:ext>
            </a:extLst>
          </p:cNvPr>
          <p:cNvSpPr>
            <a:spLocks noGrp="1"/>
          </p:cNvSpPr>
          <p:nvPr>
            <p:ph type="sldNum" sz="quarter" idx="12"/>
          </p:nvPr>
        </p:nvSpPr>
        <p:spPr/>
        <p:txBody>
          <a:bodyPr/>
          <a:lstStyle/>
          <a:p>
            <a:pPr>
              <a:defRPr/>
            </a:pPr>
            <a:fld id="{5DCB0509-EBFA-4973-BBC1-64BDD304043B}" type="slidenum">
              <a:rPr lang="en-US" altLang="zh-CN" smtClean="0"/>
              <a:pPr>
                <a:defRPr/>
              </a:pPr>
              <a:t>32</a:t>
            </a:fld>
            <a:endParaRPr lang="en-US" altLang="zh-CN"/>
          </a:p>
        </p:txBody>
      </p:sp>
    </p:spTree>
    <p:extLst>
      <p:ext uri="{BB962C8B-B14F-4D97-AF65-F5344CB8AC3E}">
        <p14:creationId xmlns:p14="http://schemas.microsoft.com/office/powerpoint/2010/main" val="34737077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3" end="13"/>
                                            </p:txEl>
                                          </p:spTgt>
                                        </p:tgtEl>
                                        <p:attrNameLst>
                                          <p:attrName>style.visibility</p:attrName>
                                        </p:attrNameLst>
                                      </p:cBhvr>
                                      <p:to>
                                        <p:strVal val="visible"/>
                                      </p:to>
                                    </p:set>
                                    <p:anim calcmode="lin" valueType="num">
                                      <p:cBhvr additive="base">
                                        <p:cTn id="7"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4" end="14"/>
                                            </p:txEl>
                                          </p:spTgt>
                                        </p:tgtEl>
                                        <p:attrNameLst>
                                          <p:attrName>style.visibility</p:attrName>
                                        </p:attrNameLst>
                                      </p:cBhvr>
                                      <p:to>
                                        <p:strVal val="visible"/>
                                      </p:to>
                                    </p:set>
                                    <p:anim calcmode="lin" valueType="num">
                                      <p:cBhvr additive="base">
                                        <p:cTn id="11"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15" end="15"/>
                                            </p:txEl>
                                          </p:spTgt>
                                        </p:tgtEl>
                                        <p:attrNameLst>
                                          <p:attrName>style.visibility</p:attrName>
                                        </p:attrNameLst>
                                      </p:cBhvr>
                                      <p:to>
                                        <p:strVal val="visible"/>
                                      </p:to>
                                    </p:set>
                                    <p:anim calcmode="lin" valueType="num">
                                      <p:cBhvr additive="base">
                                        <p:cTn id="15"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16" end="16"/>
                                            </p:txEl>
                                          </p:spTgt>
                                        </p:tgtEl>
                                        <p:attrNameLst>
                                          <p:attrName>style.visibility</p:attrName>
                                        </p:attrNameLst>
                                      </p:cBhvr>
                                      <p:to>
                                        <p:strVal val="visible"/>
                                      </p:to>
                                    </p:set>
                                    <p:anim calcmode="lin" valueType="num">
                                      <p:cBhvr additive="base">
                                        <p:cTn id="19"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6" end="16"/>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7" end="17"/>
                                            </p:txEl>
                                          </p:spTgt>
                                        </p:tgtEl>
                                        <p:attrNameLst>
                                          <p:attrName>style.visibility</p:attrName>
                                        </p:attrNameLst>
                                      </p:cBhvr>
                                      <p:to>
                                        <p:strVal val="visible"/>
                                      </p:to>
                                    </p:set>
                                    <p:anim calcmode="lin" valueType="num">
                                      <p:cBhvr additive="base">
                                        <p:cTn id="23"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7" end="17"/>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8" end="18"/>
                                            </p:txEl>
                                          </p:spTgt>
                                        </p:tgtEl>
                                        <p:attrNameLst>
                                          <p:attrName>style.visibility</p:attrName>
                                        </p:attrNameLst>
                                      </p:cBhvr>
                                      <p:to>
                                        <p:strVal val="visible"/>
                                      </p:to>
                                    </p:set>
                                    <p:anim calcmode="lin" valueType="num">
                                      <p:cBhvr additive="base">
                                        <p:cTn id="27" dur="500" fill="hold"/>
                                        <p:tgtEl>
                                          <p:spTgt spid="3">
                                            <p:txEl>
                                              <p:pRg st="18" end="18"/>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8" end="18"/>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9" end="19"/>
                                            </p:txEl>
                                          </p:spTgt>
                                        </p:tgtEl>
                                        <p:attrNameLst>
                                          <p:attrName>style.visibility</p:attrName>
                                        </p:attrNameLst>
                                      </p:cBhvr>
                                      <p:to>
                                        <p:strVal val="visible"/>
                                      </p:to>
                                    </p:set>
                                    <p:anim calcmode="lin" valueType="num">
                                      <p:cBhvr additive="base">
                                        <p:cTn id="31" dur="500" fill="hold"/>
                                        <p:tgtEl>
                                          <p:spTgt spid="3">
                                            <p:txEl>
                                              <p:pRg st="19" end="19"/>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9" end="1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快速“筛”出</a:t>
            </a:r>
            <a:r>
              <a:rPr lang="en-US" altLang="zh-CN" dirty="0"/>
              <a:t>2~n</a:t>
            </a:r>
            <a:r>
              <a:rPr lang="zh-CN" altLang="en-US" dirty="0"/>
              <a:t>之间所有素数的方法</a:t>
            </a:r>
            <a:r>
              <a:rPr lang="en-US" altLang="zh-CN" dirty="0"/>
              <a:t>:</a:t>
            </a:r>
            <a:r>
              <a:rPr lang="zh-CN" altLang="en-US" b="1" dirty="0"/>
              <a:t>埃拉托色尼筛</a:t>
            </a:r>
            <a:endParaRPr lang="zh-CN" altLang="en-US" dirty="0"/>
          </a:p>
        </p:txBody>
      </p:sp>
      <p:sp>
        <p:nvSpPr>
          <p:cNvPr id="3" name="内容占位符 2"/>
          <p:cNvSpPr>
            <a:spLocks noGrp="1"/>
          </p:cNvSpPr>
          <p:nvPr>
            <p:ph idx="1"/>
          </p:nvPr>
        </p:nvSpPr>
        <p:spPr/>
        <p:txBody>
          <a:bodyPr/>
          <a:lstStyle/>
          <a:p>
            <a:r>
              <a:rPr lang="en-US" altLang="zh-CN" dirty="0"/>
              <a:t>n</a:t>
            </a:r>
            <a:r>
              <a:rPr lang="zh-CN" altLang="en-US" dirty="0"/>
              <a:t>是素数，当且仅当不存在比</a:t>
            </a:r>
            <a:r>
              <a:rPr lang="en-US" altLang="zh-CN" dirty="0"/>
              <a:t>n</a:t>
            </a:r>
            <a:r>
              <a:rPr lang="zh-CN" altLang="en-US" dirty="0"/>
              <a:t>小的素数整除</a:t>
            </a:r>
            <a:r>
              <a:rPr lang="en-US" altLang="zh-CN" dirty="0"/>
              <a:t>n</a:t>
            </a:r>
          </a:p>
          <a:p>
            <a:endParaRPr lang="en-US" altLang="zh-CN" dirty="0"/>
          </a:p>
          <a:p>
            <a:r>
              <a:rPr lang="zh-CN" altLang="en-US" dirty="0"/>
              <a:t>程序实现：</a:t>
            </a:r>
            <a:endParaRPr lang="en-US" altLang="zh-CN" dirty="0"/>
          </a:p>
          <a:p>
            <a:pPr lvl="1"/>
            <a:r>
              <a:rPr lang="zh-CN" altLang="en-US" dirty="0"/>
              <a:t>初始标记所有数字为素数</a:t>
            </a:r>
            <a:endParaRPr lang="en-US" altLang="zh-CN" dirty="0"/>
          </a:p>
          <a:p>
            <a:pPr lvl="1"/>
            <a:r>
              <a:rPr lang="zh-CN" altLang="en-US" dirty="0"/>
              <a:t>从小到大遍历每个数字。如果当前数字为素数，则标记所有它的倍数为非素数；如果当前数字不是素数，则无需操作。</a:t>
            </a:r>
            <a:endParaRPr lang="en-US" altLang="zh-CN" dirty="0"/>
          </a:p>
          <a:p>
            <a:pPr lvl="1"/>
            <a:r>
              <a:rPr lang="zh-CN" altLang="en-US" dirty="0"/>
              <a:t>优化：缩减搜索</a:t>
            </a:r>
            <a:r>
              <a:rPr lang="en-US" altLang="zh-CN" dirty="0"/>
              <a:t>/</a:t>
            </a:r>
            <a:r>
              <a:rPr lang="zh-CN" altLang="en-US" dirty="0"/>
              <a:t>处理范围</a:t>
            </a:r>
            <a:endParaRPr lang="en-US" altLang="zh-CN" dirty="0"/>
          </a:p>
          <a:p>
            <a:pPr marL="668337" lvl="2" indent="0">
              <a:buNone/>
            </a:pPr>
            <a:endParaRPr lang="zh-CN" altLang="en-US" dirty="0"/>
          </a:p>
        </p:txBody>
      </p:sp>
      <p:sp>
        <p:nvSpPr>
          <p:cNvPr id="4" name="灯片编号占位符 3"/>
          <p:cNvSpPr>
            <a:spLocks noGrp="1"/>
          </p:cNvSpPr>
          <p:nvPr>
            <p:ph type="sldNum" sz="quarter" idx="12"/>
          </p:nvPr>
        </p:nvSpPr>
        <p:spPr/>
        <p:txBody>
          <a:bodyPr/>
          <a:lstStyle/>
          <a:p>
            <a:pPr>
              <a:defRPr/>
            </a:pPr>
            <a:fld id="{5DCB0509-EBFA-4973-BBC1-64BDD304043B}" type="slidenum">
              <a:rPr lang="en-US" altLang="zh-CN" smtClean="0"/>
              <a:pPr>
                <a:defRPr/>
              </a:pPr>
              <a:t>33</a:t>
            </a:fld>
            <a:endParaRPr lang="en-US" altLang="zh-CN"/>
          </a:p>
        </p:txBody>
      </p:sp>
    </p:spTree>
    <p:extLst>
      <p:ext uri="{BB962C8B-B14F-4D97-AF65-F5344CB8AC3E}">
        <p14:creationId xmlns:p14="http://schemas.microsoft.com/office/powerpoint/2010/main" val="2638015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7504" y="548681"/>
            <a:ext cx="8928992" cy="6172794"/>
          </a:xfrm>
        </p:spPr>
        <p:txBody>
          <a:bodyPr/>
          <a:lstStyle/>
          <a:p>
            <a:pPr marL="0" indent="0">
              <a:buNone/>
            </a:pPr>
            <a:r>
              <a:rPr lang="en-US" altLang="zh-CN" sz="1600" b="1" dirty="0"/>
              <a:t>#include &lt;</a:t>
            </a:r>
            <a:r>
              <a:rPr lang="en-US" altLang="zh-CN" sz="1600" b="1" dirty="0" err="1"/>
              <a:t>stdio.h</a:t>
            </a:r>
            <a:r>
              <a:rPr lang="en-US" altLang="zh-CN" sz="1600" b="1" dirty="0"/>
              <a:t>&gt;</a:t>
            </a:r>
          </a:p>
          <a:p>
            <a:pPr marL="0" indent="0">
              <a:buNone/>
            </a:pPr>
            <a:r>
              <a:rPr lang="en-US" altLang="zh-CN" sz="1600" b="1" dirty="0"/>
              <a:t>#define MAX_SIZE 10000</a:t>
            </a:r>
          </a:p>
          <a:p>
            <a:pPr marL="0" indent="0">
              <a:buNone/>
            </a:pPr>
            <a:r>
              <a:rPr lang="en-US" altLang="zh-CN" sz="1600" b="1" dirty="0" err="1"/>
              <a:t>int</a:t>
            </a:r>
            <a:r>
              <a:rPr lang="en-US" altLang="zh-CN" sz="1600" b="1" dirty="0"/>
              <a:t> main() {</a:t>
            </a:r>
          </a:p>
          <a:p>
            <a:pPr marL="0" indent="0">
              <a:buNone/>
            </a:pPr>
            <a:r>
              <a:rPr lang="en-US" altLang="zh-CN" sz="1600" b="1" dirty="0"/>
              <a:t>    </a:t>
            </a:r>
            <a:r>
              <a:rPr lang="en-US" altLang="zh-CN" sz="1600" b="1" dirty="0" err="1"/>
              <a:t>int</a:t>
            </a:r>
            <a:r>
              <a:rPr lang="en-US" altLang="zh-CN" sz="1600" b="1" dirty="0"/>
              <a:t> prime[MAX_SIZE+1], </a:t>
            </a:r>
            <a:r>
              <a:rPr lang="en-US" altLang="zh-CN" sz="1600" b="1" dirty="0" err="1"/>
              <a:t>i</a:t>
            </a:r>
            <a:r>
              <a:rPr lang="en-US" altLang="zh-CN" sz="1600" b="1" dirty="0"/>
              <a:t>, p, k;</a:t>
            </a:r>
          </a:p>
          <a:p>
            <a:pPr marL="0" indent="0">
              <a:buNone/>
            </a:pPr>
            <a:r>
              <a:rPr lang="en-US" altLang="zh-CN" sz="1600" b="1" dirty="0"/>
              <a:t>    for (</a:t>
            </a:r>
            <a:r>
              <a:rPr lang="en-US" altLang="zh-CN" sz="1600" b="1" dirty="0" err="1"/>
              <a:t>i</a:t>
            </a:r>
            <a:r>
              <a:rPr lang="en-US" altLang="zh-CN" sz="1600" b="1" dirty="0"/>
              <a:t> = 2;  </a:t>
            </a:r>
            <a:r>
              <a:rPr lang="en-US" altLang="zh-CN" sz="1600" b="1" dirty="0" err="1"/>
              <a:t>i</a:t>
            </a:r>
            <a:r>
              <a:rPr lang="en-US" altLang="zh-CN" sz="1600" b="1" dirty="0"/>
              <a:t> &lt;= MAX_SIZE;   </a:t>
            </a:r>
            <a:r>
              <a:rPr lang="en-US" altLang="zh-CN" sz="1600" b="1" dirty="0" err="1"/>
              <a:t>i</a:t>
            </a:r>
            <a:r>
              <a:rPr lang="en-US" altLang="zh-CN" sz="1600" b="1" dirty="0"/>
              <a:t>++)</a:t>
            </a:r>
          </a:p>
          <a:p>
            <a:pPr marL="0" indent="0">
              <a:buNone/>
            </a:pPr>
            <a:r>
              <a:rPr lang="en-US" altLang="zh-CN" sz="1600" b="1" dirty="0"/>
              <a:t>            prime[</a:t>
            </a:r>
            <a:r>
              <a:rPr lang="en-US" altLang="zh-CN" sz="1600" b="1" dirty="0" err="1"/>
              <a:t>i</a:t>
            </a:r>
            <a:r>
              <a:rPr lang="en-US" altLang="zh-CN" sz="1600" b="1" dirty="0"/>
              <a:t>] = 1;</a:t>
            </a:r>
          </a:p>
          <a:p>
            <a:pPr marL="0" indent="0">
              <a:buNone/>
            </a:pPr>
            <a:r>
              <a:rPr lang="en-US" altLang="zh-CN" sz="1600" b="1" dirty="0"/>
              <a:t>    for (p = 2;   </a:t>
            </a:r>
            <a:r>
              <a:rPr lang="en-US" altLang="zh-CN" sz="1600" b="1" dirty="0">
                <a:solidFill>
                  <a:srgbClr val="FF0000"/>
                </a:solidFill>
              </a:rPr>
              <a:t>p * p </a:t>
            </a:r>
            <a:r>
              <a:rPr lang="en-US" altLang="zh-CN" sz="1600" b="1" dirty="0"/>
              <a:t>&lt;= MAX_SIZE;   p++) {</a:t>
            </a:r>
          </a:p>
          <a:p>
            <a:pPr marL="0" indent="0">
              <a:buNone/>
            </a:pPr>
            <a:r>
              <a:rPr lang="en-US" altLang="zh-CN" sz="1600" b="1" dirty="0"/>
              <a:t>        if (prime[p] == 1) { // p is a prime</a:t>
            </a:r>
          </a:p>
          <a:p>
            <a:pPr marL="0" indent="0">
              <a:buNone/>
            </a:pPr>
            <a:r>
              <a:rPr lang="en-US" altLang="zh-CN" sz="1600" b="1" dirty="0"/>
              <a:t>            for (</a:t>
            </a:r>
            <a:r>
              <a:rPr lang="en-US" altLang="zh-CN" sz="1600" b="1" dirty="0" err="1"/>
              <a:t>i</a:t>
            </a:r>
            <a:r>
              <a:rPr lang="en-US" altLang="zh-CN" sz="1600" b="1" dirty="0"/>
              <a:t> = </a:t>
            </a:r>
            <a:r>
              <a:rPr lang="en-US" altLang="zh-CN" sz="1600" b="1" dirty="0">
                <a:solidFill>
                  <a:srgbClr val="FF0000"/>
                </a:solidFill>
              </a:rPr>
              <a:t>p * p</a:t>
            </a:r>
            <a:r>
              <a:rPr lang="en-US" altLang="zh-CN" sz="1600" b="1" dirty="0"/>
              <a:t>;    </a:t>
            </a:r>
            <a:r>
              <a:rPr lang="en-US" altLang="zh-CN" sz="1600" b="1" dirty="0" err="1"/>
              <a:t>i</a:t>
            </a:r>
            <a:r>
              <a:rPr lang="en-US" altLang="zh-CN" sz="1600" b="1" dirty="0"/>
              <a:t> &lt;= MAX_SIZE;</a:t>
            </a:r>
            <a:r>
              <a:rPr lang="en-US" altLang="zh-CN" sz="1600" b="1" dirty="0">
                <a:solidFill>
                  <a:srgbClr val="FF0000"/>
                </a:solidFill>
              </a:rPr>
              <a:t>    </a:t>
            </a:r>
            <a:r>
              <a:rPr lang="en-US" altLang="zh-CN" sz="1600" b="1" dirty="0" err="1">
                <a:solidFill>
                  <a:srgbClr val="FF0000"/>
                </a:solidFill>
              </a:rPr>
              <a:t>i</a:t>
            </a:r>
            <a:r>
              <a:rPr lang="en-US" altLang="zh-CN" sz="1600" b="1" dirty="0">
                <a:solidFill>
                  <a:srgbClr val="FF0000"/>
                </a:solidFill>
              </a:rPr>
              <a:t> += p</a:t>
            </a:r>
            <a:r>
              <a:rPr lang="en-US" altLang="zh-CN" sz="1600" b="1" dirty="0"/>
              <a:t>) </a:t>
            </a:r>
          </a:p>
          <a:p>
            <a:pPr marL="0" indent="0">
              <a:buNone/>
            </a:pPr>
            <a:r>
              <a:rPr lang="en-US" altLang="zh-CN" sz="1600" b="1" dirty="0"/>
              <a:t>                prime[</a:t>
            </a:r>
            <a:r>
              <a:rPr lang="en-US" altLang="zh-CN" sz="1600" b="1" dirty="0" err="1"/>
              <a:t>i</a:t>
            </a:r>
            <a:r>
              <a:rPr lang="en-US" altLang="zh-CN" sz="1600" b="1" dirty="0"/>
              <a:t>] = 0;</a:t>
            </a:r>
          </a:p>
          <a:p>
            <a:pPr marL="0" indent="0">
              <a:buNone/>
            </a:pPr>
            <a:r>
              <a:rPr lang="en-US" altLang="zh-CN" sz="1600" b="1" dirty="0"/>
              <a:t>        }</a:t>
            </a:r>
          </a:p>
          <a:p>
            <a:pPr marL="0" indent="0">
              <a:buNone/>
            </a:pPr>
            <a:r>
              <a:rPr lang="en-US" altLang="zh-CN" sz="1600" b="1" dirty="0"/>
              <a:t>    }</a:t>
            </a:r>
          </a:p>
          <a:p>
            <a:pPr marL="0" indent="0">
              <a:buNone/>
            </a:pPr>
            <a:r>
              <a:rPr lang="en-US" altLang="zh-CN" sz="1600" b="1" dirty="0"/>
              <a:t>    for (</a:t>
            </a:r>
            <a:r>
              <a:rPr lang="en-US" altLang="zh-CN" sz="1600" b="1" dirty="0" err="1"/>
              <a:t>i</a:t>
            </a:r>
            <a:r>
              <a:rPr lang="en-US" altLang="zh-CN" sz="1600" b="1" dirty="0"/>
              <a:t>=2, k=0; </a:t>
            </a:r>
            <a:r>
              <a:rPr lang="en-US" altLang="zh-CN" sz="1600" b="1" dirty="0" err="1"/>
              <a:t>i</a:t>
            </a:r>
            <a:r>
              <a:rPr lang="en-US" altLang="zh-CN" sz="1600" b="1" dirty="0"/>
              <a:t> &lt;= MAX_SIZE; </a:t>
            </a:r>
            <a:r>
              <a:rPr lang="en-US" altLang="zh-CN" sz="1600" b="1" dirty="0" err="1"/>
              <a:t>i</a:t>
            </a:r>
            <a:r>
              <a:rPr lang="en-US" altLang="zh-CN" sz="1600" b="1" dirty="0"/>
              <a:t>++) {</a:t>
            </a:r>
          </a:p>
          <a:p>
            <a:pPr marL="0" indent="0">
              <a:buNone/>
            </a:pPr>
            <a:r>
              <a:rPr lang="en-US" altLang="zh-CN" sz="1600" b="1" dirty="0"/>
              <a:t>        if (prime[</a:t>
            </a:r>
            <a:r>
              <a:rPr lang="en-US" altLang="zh-CN" sz="1600" b="1" dirty="0" err="1"/>
              <a:t>i</a:t>
            </a:r>
            <a:r>
              <a:rPr lang="en-US" altLang="zh-CN" sz="1600" b="1" dirty="0"/>
              <a:t>]) {</a:t>
            </a:r>
          </a:p>
          <a:p>
            <a:pPr marL="0" indent="0">
              <a:buNone/>
            </a:pPr>
            <a:r>
              <a:rPr lang="en-US" altLang="zh-CN" sz="1600" b="1" dirty="0"/>
              <a:t>	</a:t>
            </a:r>
            <a:r>
              <a:rPr lang="en-US" altLang="zh-CN" sz="1600" b="1" dirty="0" err="1"/>
              <a:t>printf</a:t>
            </a:r>
            <a:r>
              <a:rPr lang="en-US" altLang="zh-CN" sz="1600" b="1" dirty="0"/>
              <a:t>("%5d", </a:t>
            </a:r>
            <a:r>
              <a:rPr lang="en-US" altLang="zh-CN" sz="1600" b="1" dirty="0" err="1"/>
              <a:t>i</a:t>
            </a:r>
            <a:r>
              <a:rPr lang="en-US" altLang="zh-CN" sz="1600" b="1" dirty="0"/>
              <a:t>);</a:t>
            </a:r>
          </a:p>
          <a:p>
            <a:pPr marL="0" indent="0">
              <a:buNone/>
            </a:pPr>
            <a:r>
              <a:rPr lang="en-US" altLang="zh-CN" sz="1600" b="1" dirty="0"/>
              <a:t>	if (++k % 6 == 0) </a:t>
            </a:r>
            <a:r>
              <a:rPr lang="en-US" altLang="zh-CN" sz="1600" b="1" dirty="0" err="1"/>
              <a:t>printf</a:t>
            </a:r>
            <a:r>
              <a:rPr lang="en-US" altLang="zh-CN" sz="1600" b="1" dirty="0"/>
              <a:t>("\n");</a:t>
            </a:r>
          </a:p>
          <a:p>
            <a:pPr marL="0" indent="0">
              <a:buNone/>
            </a:pPr>
            <a:r>
              <a:rPr lang="en-US" altLang="zh-CN" sz="1600" b="1" dirty="0"/>
              <a:t>        }</a:t>
            </a:r>
          </a:p>
          <a:p>
            <a:pPr marL="0" indent="0">
              <a:buNone/>
            </a:pPr>
            <a:r>
              <a:rPr lang="en-US" altLang="zh-CN" sz="1600" b="1" dirty="0"/>
              <a:t>    }</a:t>
            </a:r>
          </a:p>
          <a:p>
            <a:pPr marL="0" indent="0">
              <a:buNone/>
            </a:pPr>
            <a:r>
              <a:rPr lang="en-US" altLang="zh-CN" sz="1600" b="1" dirty="0"/>
              <a:t>    return 0;</a:t>
            </a:r>
          </a:p>
          <a:p>
            <a:pPr marL="0" indent="0">
              <a:buNone/>
            </a:pPr>
            <a:r>
              <a:rPr lang="en-US" altLang="zh-CN" sz="1600" b="1" dirty="0"/>
              <a:t>}</a:t>
            </a:r>
          </a:p>
          <a:p>
            <a:pPr marL="0" indent="0">
              <a:buNone/>
            </a:pPr>
            <a:endParaRPr lang="zh-CN" altLang="en-US" sz="1600" b="1" dirty="0"/>
          </a:p>
        </p:txBody>
      </p:sp>
      <p:sp>
        <p:nvSpPr>
          <p:cNvPr id="4" name="灯片编号占位符 3"/>
          <p:cNvSpPr>
            <a:spLocks noGrp="1"/>
          </p:cNvSpPr>
          <p:nvPr>
            <p:ph type="sldNum" sz="quarter" idx="12"/>
          </p:nvPr>
        </p:nvSpPr>
        <p:spPr/>
        <p:txBody>
          <a:bodyPr/>
          <a:lstStyle/>
          <a:p>
            <a:pPr>
              <a:defRPr/>
            </a:pPr>
            <a:fld id="{5DCB0509-EBFA-4973-BBC1-64BDD304043B}" type="slidenum">
              <a:rPr lang="en-US" altLang="zh-CN" smtClean="0"/>
              <a:pPr>
                <a:defRPr/>
              </a:pPr>
              <a:t>34</a:t>
            </a:fld>
            <a:endParaRPr lang="en-US" altLang="zh-CN"/>
          </a:p>
        </p:txBody>
      </p:sp>
    </p:spTree>
    <p:extLst>
      <p:ext uri="{BB962C8B-B14F-4D97-AF65-F5344CB8AC3E}">
        <p14:creationId xmlns:p14="http://schemas.microsoft.com/office/powerpoint/2010/main" val="795973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 calcmode="lin" valueType="num">
                                      <p:cBhvr additive="base">
                                        <p:cTn id="1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anim calcmode="lin" valueType="num">
                                      <p:cBhvr additive="base">
                                        <p:cTn id="1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anim calcmode="lin" valueType="num">
                                      <p:cBhvr additive="base">
                                        <p:cTn id="2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anim calcmode="lin" valueType="num">
                                      <p:cBhvr additive="base">
                                        <p:cTn id="2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8" end="8"/>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anim calcmode="lin" valueType="num">
                                      <p:cBhvr additive="base">
                                        <p:cTn id="3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9" end="9"/>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anim calcmode="lin" valueType="num">
                                      <p:cBhvr additive="base">
                                        <p:cTn id="3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3">
                                            <p:txEl>
                                              <p:pRg st="11" end="11"/>
                                            </p:txEl>
                                          </p:spTgt>
                                        </p:tgtEl>
                                        <p:attrNameLst>
                                          <p:attrName>style.visibility</p:attrName>
                                        </p:attrNameLst>
                                      </p:cBhvr>
                                      <p:to>
                                        <p:strVal val="visible"/>
                                      </p:to>
                                    </p:set>
                                    <p:anim calcmode="lin" valueType="num">
                                      <p:cBhvr additive="base">
                                        <p:cTn id="41"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3">
                                            <p:txEl>
                                              <p:pRg st="12" end="12"/>
                                            </p:txEl>
                                          </p:spTgt>
                                        </p:tgtEl>
                                        <p:attrNameLst>
                                          <p:attrName>style.visibility</p:attrName>
                                        </p:attrNameLst>
                                      </p:cBhvr>
                                      <p:to>
                                        <p:strVal val="visible"/>
                                      </p:to>
                                    </p:set>
                                    <p:anim calcmode="lin" valueType="num">
                                      <p:cBhvr additive="base">
                                        <p:cTn id="47"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
                                            <p:txEl>
                                              <p:pRg st="13" end="13"/>
                                            </p:txEl>
                                          </p:spTgt>
                                        </p:tgtEl>
                                        <p:attrNameLst>
                                          <p:attrName>style.visibility</p:attrName>
                                        </p:attrNameLst>
                                      </p:cBhvr>
                                      <p:to>
                                        <p:strVal val="visible"/>
                                      </p:to>
                                    </p:set>
                                    <p:anim calcmode="lin" valueType="num">
                                      <p:cBhvr additive="base">
                                        <p:cTn id="51"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3">
                                            <p:txEl>
                                              <p:pRg st="14" end="14"/>
                                            </p:txEl>
                                          </p:spTgt>
                                        </p:tgtEl>
                                        <p:attrNameLst>
                                          <p:attrName>style.visibility</p:attrName>
                                        </p:attrNameLst>
                                      </p:cBhvr>
                                      <p:to>
                                        <p:strVal val="visible"/>
                                      </p:to>
                                    </p:set>
                                    <p:anim calcmode="lin" valueType="num">
                                      <p:cBhvr additive="base">
                                        <p:cTn id="55"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3">
                                            <p:txEl>
                                              <p:pRg st="15" end="15"/>
                                            </p:txEl>
                                          </p:spTgt>
                                        </p:tgtEl>
                                        <p:attrNameLst>
                                          <p:attrName>style.visibility</p:attrName>
                                        </p:attrNameLst>
                                      </p:cBhvr>
                                      <p:to>
                                        <p:strVal val="visible"/>
                                      </p:to>
                                    </p:set>
                                    <p:anim calcmode="lin" valueType="num">
                                      <p:cBhvr additive="base">
                                        <p:cTn id="59"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3">
                                            <p:txEl>
                                              <p:pRg st="16" end="16"/>
                                            </p:txEl>
                                          </p:spTgt>
                                        </p:tgtEl>
                                        <p:attrNameLst>
                                          <p:attrName>style.visibility</p:attrName>
                                        </p:attrNameLst>
                                      </p:cBhvr>
                                      <p:to>
                                        <p:strVal val="visible"/>
                                      </p:to>
                                    </p:set>
                                    <p:anim calcmode="lin" valueType="num">
                                      <p:cBhvr additive="base">
                                        <p:cTn id="63"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3">
                                            <p:txEl>
                                              <p:pRg st="16" end="16"/>
                                            </p:txEl>
                                          </p:spTgt>
                                        </p:tgtEl>
                                        <p:attrNameLst>
                                          <p:attrName>ppt_y</p:attrName>
                                        </p:attrNameLst>
                                      </p:cBhvr>
                                      <p:tavLst>
                                        <p:tav tm="0">
                                          <p:val>
                                            <p:strVal val="1+#ppt_h/2"/>
                                          </p:val>
                                        </p:tav>
                                        <p:tav tm="100000">
                                          <p:val>
                                            <p:strVal val="#ppt_y"/>
                                          </p:val>
                                        </p:tav>
                                      </p:tavLst>
                                    </p:anim>
                                  </p:childTnLst>
                                </p:cTn>
                              </p:par>
                              <p:par>
                                <p:cTn id="65" presetID="2" presetClass="entr" presetSubtype="4" fill="hold" nodeType="withEffect">
                                  <p:stCondLst>
                                    <p:cond delay="0"/>
                                  </p:stCondLst>
                                  <p:childTnLst>
                                    <p:set>
                                      <p:cBhvr>
                                        <p:cTn id="66" dur="1" fill="hold">
                                          <p:stCondLst>
                                            <p:cond delay="0"/>
                                          </p:stCondLst>
                                        </p:cTn>
                                        <p:tgtEl>
                                          <p:spTgt spid="3">
                                            <p:txEl>
                                              <p:pRg st="17" end="17"/>
                                            </p:txEl>
                                          </p:spTgt>
                                        </p:tgtEl>
                                        <p:attrNameLst>
                                          <p:attrName>style.visibility</p:attrName>
                                        </p:attrNameLst>
                                      </p:cBhvr>
                                      <p:to>
                                        <p:strVal val="visible"/>
                                      </p:to>
                                    </p:set>
                                    <p:anim calcmode="lin" valueType="num">
                                      <p:cBhvr additive="base">
                                        <p:cTn id="67"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7" end="1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050" name="Rectangle 2"/>
          <p:cNvSpPr>
            <a:spLocks noGrp="1" noChangeArrowheads="1"/>
          </p:cNvSpPr>
          <p:nvPr>
            <p:ph idx="1"/>
          </p:nvPr>
        </p:nvSpPr>
        <p:spPr>
          <a:xfrm>
            <a:off x="428625" y="1143000"/>
            <a:ext cx="8501063" cy="5240338"/>
          </a:xfrm>
        </p:spPr>
        <p:txBody>
          <a:bodyPr>
            <a:normAutofit/>
          </a:bodyPr>
          <a:lstStyle/>
          <a:p>
            <a:pPr marL="0" indent="0" eaLnBrk="1" fontAlgn="auto" hangingPunct="1">
              <a:spcAft>
                <a:spcPts val="0"/>
              </a:spcAft>
              <a:buClr>
                <a:schemeClr val="accent3"/>
              </a:buClr>
              <a:buFont typeface="Wingdings" pitchFamily="2" charset="2"/>
              <a:buNone/>
              <a:defRPr/>
            </a:pPr>
            <a:r>
              <a:rPr lang="en-US" altLang="zh-CN" sz="3200" b="1" dirty="0">
                <a:effectLst>
                  <a:outerShdw blurRad="38100" dist="38100" dir="2700000" algn="tl">
                    <a:srgbClr val="C0C0C0"/>
                  </a:outerShdw>
                </a:effectLst>
              </a:rPr>
              <a:t>【</a:t>
            </a:r>
            <a:r>
              <a:rPr lang="zh-CN" altLang="en-US" sz="3200" b="1" dirty="0">
                <a:effectLst>
                  <a:outerShdw blurRad="38100" dist="38100" dir="2700000" algn="tl">
                    <a:srgbClr val="C0C0C0"/>
                  </a:outerShdw>
                </a:effectLst>
              </a:rPr>
              <a:t>例</a:t>
            </a:r>
            <a:r>
              <a:rPr lang="en-US" altLang="zh-CN" sz="3200" b="1" dirty="0">
                <a:effectLst>
                  <a:outerShdw blurRad="38100" dist="38100" dir="2700000" algn="tl">
                    <a:srgbClr val="C0C0C0"/>
                  </a:outerShdw>
                </a:effectLst>
              </a:rPr>
              <a:t>4.8】</a:t>
            </a:r>
            <a:r>
              <a:rPr lang="zh-CN" altLang="en-US" sz="3200" b="1" dirty="0">
                <a:effectLst>
                  <a:outerShdw blurRad="38100" dist="38100" dir="2700000" algn="tl">
                    <a:srgbClr val="C0C0C0"/>
                  </a:outerShdw>
                </a:effectLst>
              </a:rPr>
              <a:t>对数组作整理</a:t>
            </a:r>
            <a:r>
              <a:rPr lang="en-US" altLang="zh-CN" sz="3200" b="1" dirty="0">
                <a:effectLst>
                  <a:outerShdw blurRad="38100" dist="38100" dir="2700000" algn="tl">
                    <a:srgbClr val="C0C0C0"/>
                  </a:outerShdw>
                </a:effectLst>
              </a:rPr>
              <a:t>,</a:t>
            </a:r>
            <a:r>
              <a:rPr lang="zh-CN" altLang="en-US" sz="3200" b="1" dirty="0">
                <a:effectLst>
                  <a:outerShdw blurRad="38100" dist="38100" dir="2700000" algn="tl">
                    <a:srgbClr val="C0C0C0"/>
                  </a:outerShdw>
                </a:effectLst>
              </a:rPr>
              <a:t>使其中小于</a:t>
            </a:r>
            <a:r>
              <a:rPr lang="en-US" altLang="zh-CN" sz="3200" b="1" dirty="0">
                <a:effectLst>
                  <a:outerShdw blurRad="38100" dist="38100" dir="2700000" algn="tl">
                    <a:srgbClr val="C0C0C0"/>
                  </a:outerShdw>
                </a:effectLst>
              </a:rPr>
              <a:t>0</a:t>
            </a:r>
            <a:r>
              <a:rPr lang="zh-CN" altLang="en-US" sz="3200" b="1" dirty="0">
                <a:effectLst>
                  <a:outerShdw blurRad="38100" dist="38100" dir="2700000" algn="tl">
                    <a:srgbClr val="C0C0C0"/>
                  </a:outerShdw>
                </a:effectLst>
              </a:rPr>
              <a:t>的元素移到前面</a:t>
            </a:r>
            <a:r>
              <a:rPr lang="en-US" altLang="zh-CN" sz="3200" b="1" dirty="0">
                <a:effectLst>
                  <a:outerShdw blurRad="38100" dist="38100" dir="2700000" algn="tl">
                    <a:srgbClr val="C0C0C0"/>
                  </a:outerShdw>
                </a:effectLst>
              </a:rPr>
              <a:t>,</a:t>
            </a:r>
            <a:r>
              <a:rPr lang="zh-CN" altLang="en-US" sz="3200" b="1" dirty="0">
                <a:effectLst>
                  <a:outerShdw blurRad="38100" dist="38100" dir="2700000" algn="tl">
                    <a:srgbClr val="C0C0C0"/>
                  </a:outerShdw>
                </a:effectLst>
              </a:rPr>
              <a:t>等于</a:t>
            </a:r>
            <a:r>
              <a:rPr lang="en-US" altLang="zh-CN" sz="3200" b="1" dirty="0">
                <a:effectLst>
                  <a:outerShdw blurRad="38100" dist="38100" dir="2700000" algn="tl">
                    <a:srgbClr val="C0C0C0"/>
                  </a:outerShdw>
                </a:effectLst>
              </a:rPr>
              <a:t>0</a:t>
            </a:r>
            <a:r>
              <a:rPr lang="zh-CN" altLang="en-US" sz="3200" b="1" dirty="0">
                <a:effectLst>
                  <a:outerShdw blurRad="38100" dist="38100" dir="2700000" algn="tl">
                    <a:srgbClr val="C0C0C0"/>
                  </a:outerShdw>
                </a:effectLst>
              </a:rPr>
              <a:t>的元素留在中间</a:t>
            </a:r>
            <a:r>
              <a:rPr lang="en-US" altLang="zh-CN" sz="3200" b="1" dirty="0">
                <a:effectLst>
                  <a:outerShdw blurRad="38100" dist="38100" dir="2700000" algn="tl">
                    <a:srgbClr val="C0C0C0"/>
                  </a:outerShdw>
                </a:effectLst>
              </a:rPr>
              <a:t>,</a:t>
            </a:r>
            <a:r>
              <a:rPr lang="zh-CN" altLang="en-US" sz="3200" b="1" dirty="0">
                <a:effectLst>
                  <a:outerShdw blurRad="38100" dist="38100" dir="2700000" algn="tl">
                    <a:srgbClr val="C0C0C0"/>
                  </a:outerShdw>
                </a:effectLst>
              </a:rPr>
              <a:t>而大于</a:t>
            </a:r>
            <a:r>
              <a:rPr lang="en-US" altLang="zh-CN" sz="3200" b="1" dirty="0">
                <a:effectLst>
                  <a:outerShdw blurRad="38100" dist="38100" dir="2700000" algn="tl">
                    <a:srgbClr val="C0C0C0"/>
                  </a:outerShdw>
                </a:effectLst>
              </a:rPr>
              <a:t>0</a:t>
            </a:r>
            <a:r>
              <a:rPr lang="zh-CN" altLang="en-US" sz="3200" b="1" dirty="0">
                <a:effectLst>
                  <a:outerShdw blurRad="38100" dist="38100" dir="2700000" algn="tl">
                    <a:srgbClr val="C0C0C0"/>
                  </a:outerShdw>
                </a:effectLst>
              </a:rPr>
              <a:t>的元素移到后面。 </a:t>
            </a:r>
          </a:p>
          <a:p>
            <a:pPr marL="0" indent="0" eaLnBrk="1" fontAlgn="auto" hangingPunct="1">
              <a:spcAft>
                <a:spcPts val="0"/>
              </a:spcAft>
              <a:buClr>
                <a:schemeClr val="accent3"/>
              </a:buClr>
              <a:buFont typeface="Wingdings" pitchFamily="2" charset="2"/>
              <a:buNone/>
              <a:defRPr/>
            </a:pPr>
            <a:r>
              <a:rPr lang="en-US" altLang="zh-CN" sz="3200" b="1" dirty="0">
                <a:effectLst>
                  <a:outerShdw blurRad="38100" dist="38100" dir="2700000" algn="tl">
                    <a:srgbClr val="C0C0C0"/>
                  </a:outerShdw>
                </a:effectLst>
              </a:rPr>
              <a:t>【</a:t>
            </a:r>
            <a:r>
              <a:rPr lang="zh-CN" altLang="en-US" sz="3200" b="1" dirty="0">
                <a:effectLst>
                  <a:outerShdw blurRad="38100" dist="38100" dir="2700000" algn="tl">
                    <a:srgbClr val="C0C0C0"/>
                  </a:outerShdw>
                </a:effectLst>
              </a:rPr>
              <a:t>解题思路</a:t>
            </a:r>
            <a:r>
              <a:rPr lang="en-US" altLang="zh-CN" sz="3200" b="1" dirty="0">
                <a:effectLst>
                  <a:outerShdw blurRad="38100" dist="38100" dir="2700000" algn="tl">
                    <a:srgbClr val="C0C0C0"/>
                  </a:outerShdw>
                </a:effectLst>
              </a:rPr>
              <a:t>】</a:t>
            </a:r>
          </a:p>
          <a:p>
            <a:pPr marL="0" indent="0" eaLnBrk="1" fontAlgn="auto" hangingPunct="1">
              <a:spcAft>
                <a:spcPts val="0"/>
              </a:spcAft>
              <a:buClr>
                <a:schemeClr val="accent3"/>
              </a:buClr>
              <a:buFont typeface="Wingdings" pitchFamily="2" charset="2"/>
              <a:buNone/>
              <a:defRPr/>
            </a:pPr>
            <a:r>
              <a:rPr lang="zh-CN" altLang="en-US" sz="3200" b="1" dirty="0">
                <a:effectLst>
                  <a:outerShdw blurRad="38100" dist="38100" dir="2700000" algn="tl">
                    <a:srgbClr val="C0C0C0"/>
                  </a:outerShdw>
                </a:effectLst>
              </a:rPr>
              <a:t>设数组为</a:t>
            </a:r>
            <a:r>
              <a:rPr lang="en-US" altLang="zh-CN" sz="3200" b="1" dirty="0">
                <a:effectLst>
                  <a:outerShdw blurRad="38100" dist="38100" dir="2700000" algn="tl">
                    <a:srgbClr val="C0C0C0"/>
                  </a:outerShdw>
                </a:effectLst>
              </a:rPr>
              <a:t>a[]</a:t>
            </a:r>
            <a:r>
              <a:rPr lang="zh-CN" altLang="en-US" sz="3200" b="1" dirty="0">
                <a:effectLst>
                  <a:outerShdw blurRad="38100" dist="38100" dir="2700000" algn="tl">
                    <a:srgbClr val="C0C0C0"/>
                  </a:outerShdw>
                </a:effectLst>
              </a:rPr>
              <a:t>，有</a:t>
            </a:r>
            <a:r>
              <a:rPr lang="en-US" altLang="zh-CN" sz="3200" b="1" dirty="0">
                <a:effectLst>
                  <a:outerShdw blurRad="38100" dist="38100" dir="2700000" algn="tl">
                    <a:srgbClr val="C0C0C0"/>
                  </a:outerShdw>
                </a:effectLst>
              </a:rPr>
              <a:t>n</a:t>
            </a:r>
            <a:r>
              <a:rPr lang="zh-CN" altLang="en-US" sz="3200" b="1" dirty="0">
                <a:effectLst>
                  <a:outerShdw blurRad="38100" dist="38100" dir="2700000" algn="tl">
                    <a:srgbClr val="C0C0C0"/>
                  </a:outerShdw>
                </a:effectLst>
              </a:rPr>
              <a:t>个元素。从</a:t>
            </a:r>
            <a:r>
              <a:rPr lang="en-US" altLang="zh-CN" sz="3200" b="1" dirty="0">
                <a:effectLst>
                  <a:outerShdw blurRad="38100" dist="38100" dir="2700000" algn="tl">
                    <a:srgbClr val="C0C0C0"/>
                  </a:outerShdw>
                </a:effectLst>
              </a:rPr>
              <a:t>a[0]</a:t>
            </a:r>
            <a:r>
              <a:rPr lang="zh-CN" altLang="en-US" sz="3200" b="1" dirty="0">
                <a:effectLst>
                  <a:outerShdw blurRad="38100" dist="38100" dir="2700000" algn="tl">
                    <a:srgbClr val="C0C0C0"/>
                  </a:outerShdw>
                </a:effectLst>
              </a:rPr>
              <a:t>开始整理，对数组的元素顺序逐一考察。假设当前正要考察元素</a:t>
            </a:r>
            <a:r>
              <a:rPr lang="en-US" altLang="zh-CN" sz="3200" b="1" dirty="0">
                <a:effectLst>
                  <a:outerShdw blurRad="38100" dist="38100" dir="2700000" algn="tl">
                    <a:srgbClr val="C0C0C0"/>
                  </a:outerShdw>
                </a:effectLst>
              </a:rPr>
              <a:t>a[j]</a:t>
            </a:r>
            <a:r>
              <a:rPr lang="zh-CN" altLang="en-US" sz="3200" b="1" dirty="0">
                <a:effectLst>
                  <a:outerShdw blurRad="38100" dist="38100" dir="2700000" algn="tl">
                    <a:srgbClr val="C0C0C0"/>
                  </a:outerShdw>
                </a:effectLst>
              </a:rPr>
              <a:t>。引入变量</a:t>
            </a:r>
            <a:r>
              <a:rPr lang="en-US" altLang="zh-CN" sz="3200" b="1" dirty="0">
                <a:effectLst>
                  <a:outerShdw blurRad="38100" dist="38100" dir="2700000" algn="tl">
                    <a:srgbClr val="C0C0C0"/>
                  </a:outerShdw>
                </a:effectLst>
              </a:rPr>
              <a:t>k</a:t>
            </a:r>
            <a:r>
              <a:rPr lang="zh-CN" altLang="en-US" sz="3200" b="1" dirty="0">
                <a:effectLst>
                  <a:outerShdw blurRad="38100" dist="38100" dir="2700000" algn="tl">
                    <a:srgbClr val="C0C0C0"/>
                  </a:outerShdw>
                </a:effectLst>
              </a:rPr>
              <a:t>、</a:t>
            </a:r>
            <a:r>
              <a:rPr lang="en-US" altLang="zh-CN" sz="3200" b="1" dirty="0">
                <a:effectLst>
                  <a:outerShdw blurRad="38100" dist="38100" dir="2700000" algn="tl">
                    <a:srgbClr val="C0C0C0"/>
                  </a:outerShdw>
                </a:effectLst>
              </a:rPr>
              <a:t>h</a:t>
            </a:r>
            <a:r>
              <a:rPr lang="zh-CN" altLang="en-US" sz="3200" b="1" dirty="0">
                <a:effectLst>
                  <a:outerShdw blurRad="38100" dist="38100" dir="2700000" algn="tl">
                    <a:srgbClr val="C0C0C0"/>
                  </a:outerShdw>
                </a:effectLst>
              </a:rPr>
              <a:t>记录已完成部分整理工作的状态：</a:t>
            </a:r>
            <a:r>
              <a:rPr lang="en-US" altLang="zh-CN" sz="3200" b="1" dirty="0">
                <a:effectLst>
                  <a:outerShdw blurRad="38100" dist="38100" dir="2700000" algn="tl">
                    <a:srgbClr val="C0C0C0"/>
                  </a:outerShdw>
                </a:effectLst>
              </a:rPr>
              <a:t>a[0]</a:t>
            </a:r>
            <a:r>
              <a:rPr lang="zh-CN" altLang="en-US" sz="3200" b="1" dirty="0">
                <a:effectLst>
                  <a:outerShdw blurRad="38100" dist="38100" dir="2700000" algn="tl">
                    <a:srgbClr val="C0C0C0"/>
                  </a:outerShdw>
                </a:effectLst>
              </a:rPr>
              <a:t>至</a:t>
            </a:r>
            <a:r>
              <a:rPr lang="en-US" altLang="zh-CN" sz="3200" b="1" dirty="0">
                <a:effectLst>
                  <a:outerShdw blurRad="38100" dist="38100" dir="2700000" algn="tl">
                    <a:srgbClr val="C0C0C0"/>
                  </a:outerShdw>
                </a:effectLst>
              </a:rPr>
              <a:t>a[k-1]</a:t>
            </a:r>
            <a:r>
              <a:rPr lang="zh-CN" altLang="en-US" sz="3200" b="1" dirty="0">
                <a:effectLst>
                  <a:outerShdw blurRad="38100" dist="38100" dir="2700000" algn="tl">
                    <a:srgbClr val="C0C0C0"/>
                  </a:outerShdw>
                </a:effectLst>
              </a:rPr>
              <a:t>小于</a:t>
            </a:r>
            <a:r>
              <a:rPr lang="en-US" altLang="zh-CN" sz="3200" b="1" dirty="0">
                <a:effectLst>
                  <a:outerShdw blurRad="38100" dist="38100" dir="2700000" algn="tl">
                    <a:srgbClr val="C0C0C0"/>
                  </a:outerShdw>
                </a:effectLst>
              </a:rPr>
              <a:t>0</a:t>
            </a:r>
            <a:r>
              <a:rPr lang="zh-CN" altLang="en-US" sz="3200" b="1" dirty="0">
                <a:effectLst>
                  <a:outerShdw blurRad="38100" dist="38100" dir="2700000" algn="tl">
                    <a:srgbClr val="C0C0C0"/>
                  </a:outerShdw>
                </a:effectLst>
              </a:rPr>
              <a:t>，</a:t>
            </a:r>
            <a:r>
              <a:rPr lang="en-US" altLang="zh-CN" sz="3200" b="1" dirty="0">
                <a:effectLst>
                  <a:outerShdw blurRad="38100" dist="38100" dir="2700000" algn="tl">
                    <a:srgbClr val="C0C0C0"/>
                  </a:outerShdw>
                </a:effectLst>
              </a:rPr>
              <a:t>a[k]</a:t>
            </a:r>
            <a:r>
              <a:rPr lang="zh-CN" altLang="en-US" sz="3200" b="1" dirty="0">
                <a:effectLst>
                  <a:outerShdw blurRad="38100" dist="38100" dir="2700000" algn="tl">
                    <a:srgbClr val="C0C0C0"/>
                  </a:outerShdw>
                </a:effectLst>
              </a:rPr>
              <a:t>至</a:t>
            </a:r>
            <a:r>
              <a:rPr lang="en-US" altLang="zh-CN" sz="3200" b="1" dirty="0">
                <a:effectLst>
                  <a:outerShdw blurRad="38100" dist="38100" dir="2700000" algn="tl">
                    <a:srgbClr val="C0C0C0"/>
                  </a:outerShdw>
                </a:effectLst>
              </a:rPr>
              <a:t>a[j-1]</a:t>
            </a:r>
            <a:r>
              <a:rPr lang="zh-CN" altLang="en-US" sz="3200" b="1" dirty="0">
                <a:effectLst>
                  <a:outerShdw blurRad="38100" dist="38100" dir="2700000" algn="tl">
                    <a:srgbClr val="C0C0C0"/>
                  </a:outerShdw>
                </a:effectLst>
              </a:rPr>
              <a:t>等于</a:t>
            </a:r>
            <a:r>
              <a:rPr lang="en-US" altLang="zh-CN" sz="3200" b="1" dirty="0">
                <a:effectLst>
                  <a:outerShdw blurRad="38100" dist="38100" dir="2700000" algn="tl">
                    <a:srgbClr val="C0C0C0"/>
                  </a:outerShdw>
                </a:effectLst>
              </a:rPr>
              <a:t>0,a[j]</a:t>
            </a:r>
            <a:r>
              <a:rPr lang="zh-CN" altLang="en-US" sz="3200" b="1" dirty="0">
                <a:effectLst>
                  <a:outerShdw blurRad="38100" dist="38100" dir="2700000" algn="tl">
                    <a:srgbClr val="C0C0C0"/>
                  </a:outerShdw>
                </a:effectLst>
              </a:rPr>
              <a:t>至</a:t>
            </a:r>
            <a:r>
              <a:rPr lang="en-US" altLang="zh-CN" sz="3200" b="1" dirty="0">
                <a:effectLst>
                  <a:outerShdw blurRad="38100" dist="38100" dir="2700000" algn="tl">
                    <a:srgbClr val="C0C0C0"/>
                  </a:outerShdw>
                </a:effectLst>
              </a:rPr>
              <a:t>a[h]</a:t>
            </a:r>
            <a:r>
              <a:rPr lang="zh-CN" altLang="en-US" sz="3200" b="1" dirty="0">
                <a:effectLst>
                  <a:outerShdw blurRad="38100" dist="38100" dir="2700000" algn="tl">
                    <a:srgbClr val="C0C0C0"/>
                  </a:outerShdw>
                </a:effectLst>
              </a:rPr>
              <a:t>是还未考察过的元素</a:t>
            </a:r>
            <a:r>
              <a:rPr lang="en-US" altLang="zh-CN" sz="3200" b="1" dirty="0">
                <a:effectLst>
                  <a:outerShdw blurRad="38100" dist="38100" dir="2700000" algn="tl">
                    <a:srgbClr val="C0C0C0"/>
                  </a:outerShdw>
                </a:effectLst>
              </a:rPr>
              <a:t>,a[h+1]</a:t>
            </a:r>
            <a:r>
              <a:rPr lang="zh-CN" altLang="en-US" sz="3200" b="1" dirty="0">
                <a:effectLst>
                  <a:outerShdw blurRad="38100" dist="38100" dir="2700000" algn="tl">
                    <a:srgbClr val="C0C0C0"/>
                  </a:outerShdw>
                </a:effectLst>
              </a:rPr>
              <a:t>至</a:t>
            </a:r>
            <a:r>
              <a:rPr lang="en-US" altLang="zh-CN" sz="3200" b="1" dirty="0">
                <a:effectLst>
                  <a:outerShdw blurRad="38100" dist="38100" dir="2700000" algn="tl">
                    <a:srgbClr val="C0C0C0"/>
                  </a:outerShdw>
                </a:effectLst>
              </a:rPr>
              <a:t>a[n-1]</a:t>
            </a:r>
            <a:r>
              <a:rPr lang="zh-CN" altLang="en-US" sz="3200" b="1" dirty="0">
                <a:effectLst>
                  <a:outerShdw blurRad="38100" dist="38100" dir="2700000" algn="tl">
                    <a:srgbClr val="C0C0C0"/>
                  </a:outerShdw>
                </a:effectLst>
              </a:rPr>
              <a:t>大于</a:t>
            </a:r>
            <a:r>
              <a:rPr lang="en-US" altLang="zh-CN" sz="3200" b="1" dirty="0">
                <a:effectLst>
                  <a:outerShdw blurRad="38100" dist="38100" dir="2700000" algn="tl">
                    <a:srgbClr val="C0C0C0"/>
                  </a:outerShdw>
                </a:effectLst>
              </a:rPr>
              <a:t>0</a:t>
            </a:r>
            <a:r>
              <a:rPr lang="zh-CN" altLang="en-US" sz="3200" b="1" dirty="0">
                <a:effectLst>
                  <a:outerShdw blurRad="38100" dist="38100" dir="2700000" algn="tl">
                    <a:srgbClr val="C0C0C0"/>
                  </a:outerShdw>
                </a:effectLst>
              </a:rPr>
              <a:t>。</a:t>
            </a:r>
          </a:p>
        </p:txBody>
      </p:sp>
      <p:sp>
        <p:nvSpPr>
          <p:cNvPr id="5" name="灯片编号占位符 5"/>
          <p:cNvSpPr>
            <a:spLocks noGrp="1"/>
          </p:cNvSpPr>
          <p:nvPr>
            <p:ph type="sldNum" sz="quarter" idx="12"/>
          </p:nvPr>
        </p:nvSpPr>
        <p:spPr/>
        <p:txBody>
          <a:bodyPr/>
          <a:lstStyle/>
          <a:p>
            <a:pPr>
              <a:defRPr/>
            </a:pPr>
            <a:fld id="{72C9D8E9-7C3C-40E2-B253-D7A380A39347}" type="slidenum">
              <a:rPr lang="en-US" altLang="zh-CN"/>
              <a:pPr>
                <a:defRPr/>
              </a:pPr>
              <a:t>35</a:t>
            </a:fld>
            <a:endParaRPr lang="en-US" altLang="zh-CN"/>
          </a:p>
        </p:txBody>
      </p:sp>
      <p:pic>
        <p:nvPicPr>
          <p:cNvPr id="2" name="图片 1">
            <a:extLst>
              <a:ext uri="{FF2B5EF4-FFF2-40B4-BE49-F238E27FC236}">
                <a16:creationId xmlns:a16="http://schemas.microsoft.com/office/drawing/2014/main" id="{92A7B001-F0DC-5E99-F374-D125A5E4B4A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64088" y="2348880"/>
            <a:ext cx="3242310" cy="99314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14050">
                                            <p:txEl>
                                              <p:pRg st="1" end="1"/>
                                            </p:txEl>
                                          </p:spTgt>
                                        </p:tgtEl>
                                        <p:attrNameLst>
                                          <p:attrName>style.visibility</p:attrName>
                                        </p:attrNameLst>
                                      </p:cBhvr>
                                      <p:to>
                                        <p:strVal val="visible"/>
                                      </p:to>
                                    </p:set>
                                    <p:anim calcmode="lin" valueType="num">
                                      <p:cBhvr additive="base">
                                        <p:cTn id="7" dur="500" fill="hold"/>
                                        <p:tgtEl>
                                          <p:spTgt spid="514050">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14050">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14050">
                                            <p:txEl>
                                              <p:pRg st="2" end="2"/>
                                            </p:txEl>
                                          </p:spTgt>
                                        </p:tgtEl>
                                        <p:attrNameLst>
                                          <p:attrName>style.visibility</p:attrName>
                                        </p:attrNameLst>
                                      </p:cBhvr>
                                      <p:to>
                                        <p:strVal val="visible"/>
                                      </p:to>
                                    </p:set>
                                    <p:anim calcmode="lin" valueType="num">
                                      <p:cBhvr additive="base">
                                        <p:cTn id="11" dur="500" fill="hold"/>
                                        <p:tgtEl>
                                          <p:spTgt spid="514050">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1405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0434" name="Rectangle 2"/>
          <p:cNvSpPr>
            <a:spLocks noGrp="1" noChangeArrowheads="1"/>
          </p:cNvSpPr>
          <p:nvPr>
            <p:ph idx="1"/>
          </p:nvPr>
        </p:nvSpPr>
        <p:spPr>
          <a:xfrm>
            <a:off x="395288" y="476250"/>
            <a:ext cx="8534400" cy="5907088"/>
          </a:xfrm>
        </p:spPr>
        <p:txBody>
          <a:bodyPr>
            <a:normAutofit/>
          </a:bodyPr>
          <a:lstStyle/>
          <a:p>
            <a:pPr marL="0" indent="0" eaLnBrk="1" fontAlgn="auto" hangingPunct="1">
              <a:spcAft>
                <a:spcPts val="0"/>
              </a:spcAft>
              <a:buClr>
                <a:schemeClr val="accent3"/>
              </a:buClr>
              <a:buFont typeface="Wingdings" pitchFamily="2" charset="2"/>
              <a:buNone/>
              <a:defRPr/>
            </a:pPr>
            <a:r>
              <a:rPr lang="zh-CN" altLang="en-US" sz="3200" b="1" dirty="0">
                <a:effectLst>
                  <a:outerShdw blurRad="38100" dist="38100" dir="2700000" algn="tl">
                    <a:srgbClr val="C0C0C0"/>
                  </a:outerShdw>
                </a:effectLst>
              </a:rPr>
              <a:t>根据元素</a:t>
            </a:r>
            <a:r>
              <a:rPr lang="en-US" altLang="zh-CN" sz="3200" b="1" dirty="0">
                <a:effectLst>
                  <a:outerShdw blurRad="38100" dist="38100" dir="2700000" algn="tl">
                    <a:srgbClr val="C0C0C0"/>
                  </a:outerShdw>
                </a:effectLst>
              </a:rPr>
              <a:t>a[j]</a:t>
            </a:r>
            <a:r>
              <a:rPr lang="zh-CN" altLang="en-US" sz="3200" b="1" dirty="0">
                <a:effectLst>
                  <a:outerShdw blurRad="38100" dist="38100" dir="2700000" algn="tl">
                    <a:srgbClr val="C0C0C0"/>
                  </a:outerShdw>
                </a:effectLst>
              </a:rPr>
              <a:t>小于</a:t>
            </a:r>
            <a:r>
              <a:rPr lang="en-US" altLang="zh-CN" sz="3200" b="1" dirty="0">
                <a:effectLst>
                  <a:outerShdw blurRad="38100" dist="38100" dir="2700000" algn="tl">
                    <a:srgbClr val="C0C0C0"/>
                  </a:outerShdw>
                </a:effectLst>
              </a:rPr>
              <a:t>0</a:t>
            </a:r>
            <a:r>
              <a:rPr lang="zh-CN" altLang="en-US" sz="3200" b="1" dirty="0">
                <a:effectLst>
                  <a:outerShdw blurRad="38100" dist="38100" dir="2700000" algn="tl">
                    <a:srgbClr val="C0C0C0"/>
                  </a:outerShdw>
                </a:effectLst>
              </a:rPr>
              <a:t>、等于</a:t>
            </a:r>
            <a:r>
              <a:rPr lang="en-US" altLang="zh-CN" sz="3200" b="1" dirty="0">
                <a:effectLst>
                  <a:outerShdw blurRad="38100" dist="38100" dir="2700000" algn="tl">
                    <a:srgbClr val="C0C0C0"/>
                  </a:outerShdw>
                </a:effectLst>
              </a:rPr>
              <a:t>0</a:t>
            </a:r>
            <a:r>
              <a:rPr lang="zh-CN" altLang="en-US" sz="3200" b="1" dirty="0">
                <a:effectLst>
                  <a:outerShdw blurRad="38100" dist="38100" dir="2700000" algn="tl">
                    <a:srgbClr val="C0C0C0"/>
                  </a:outerShdw>
                </a:effectLst>
              </a:rPr>
              <a:t>和大于</a:t>
            </a:r>
            <a:r>
              <a:rPr lang="en-US" altLang="zh-CN" sz="3200" b="1" dirty="0">
                <a:effectLst>
                  <a:outerShdw blurRad="38100" dist="38100" dir="2700000" algn="tl">
                    <a:srgbClr val="C0C0C0"/>
                  </a:outerShdw>
                </a:effectLst>
              </a:rPr>
              <a:t>0</a:t>
            </a:r>
            <a:r>
              <a:rPr lang="zh-CN" altLang="en-US" sz="3200" b="1" dirty="0">
                <a:effectLst>
                  <a:outerShdw blurRad="38100" dist="38100" dir="2700000" algn="tl">
                    <a:srgbClr val="C0C0C0"/>
                  </a:outerShdw>
                </a:effectLst>
              </a:rPr>
              <a:t>这</a:t>
            </a:r>
            <a:r>
              <a:rPr lang="en-US" altLang="zh-CN" sz="3200" b="1" dirty="0">
                <a:effectLst>
                  <a:outerShdw blurRad="38100" dist="38100" dir="2700000" algn="tl">
                    <a:srgbClr val="C0C0C0"/>
                  </a:outerShdw>
                </a:effectLst>
              </a:rPr>
              <a:t>3</a:t>
            </a:r>
            <a:r>
              <a:rPr lang="zh-CN" altLang="en-US" sz="3200" b="1" dirty="0">
                <a:effectLst>
                  <a:outerShdw blurRad="38100" dist="38100" dir="2700000" algn="tl">
                    <a:srgbClr val="C0C0C0"/>
                  </a:outerShdw>
                </a:effectLst>
              </a:rPr>
              <a:t>种情况，分别有</a:t>
            </a:r>
            <a:r>
              <a:rPr lang="en-US" altLang="zh-CN" sz="3200" b="1" dirty="0">
                <a:effectLst>
                  <a:outerShdw blurRad="38100" dist="38100" dir="2700000" algn="tl">
                    <a:srgbClr val="C0C0C0"/>
                  </a:outerShdw>
                </a:effectLst>
              </a:rPr>
              <a:t>3</a:t>
            </a:r>
            <a:r>
              <a:rPr lang="zh-CN" altLang="en-US" sz="3200" b="1" dirty="0">
                <a:effectLst>
                  <a:outerShdw blurRad="38100" dist="38100" dir="2700000" algn="tl">
                    <a:srgbClr val="C0C0C0"/>
                  </a:outerShdw>
                </a:effectLst>
              </a:rPr>
              <a:t>种处理办法</a:t>
            </a:r>
            <a:r>
              <a:rPr lang="en-US" altLang="zh-CN" sz="3200" b="1" dirty="0">
                <a:effectLst>
                  <a:outerShdw blurRad="38100" dist="38100" dir="2700000" algn="tl">
                    <a:srgbClr val="C0C0C0"/>
                  </a:outerShdw>
                </a:effectLst>
              </a:rPr>
              <a:t>:</a:t>
            </a:r>
          </a:p>
          <a:p>
            <a:pPr marL="0" indent="0" eaLnBrk="1" fontAlgn="auto" hangingPunct="1">
              <a:spcAft>
                <a:spcPts val="0"/>
              </a:spcAft>
              <a:buClr>
                <a:schemeClr val="accent3"/>
              </a:buClr>
              <a:buFont typeface="Wingdings" pitchFamily="2" charset="2"/>
              <a:buNone/>
              <a:defRPr/>
            </a:pPr>
            <a:endParaRPr lang="en-US" altLang="zh-CN" sz="3200" b="1" dirty="0">
              <a:effectLst>
                <a:outerShdw blurRad="38100" dist="38100" dir="2700000" algn="tl">
                  <a:srgbClr val="C0C0C0"/>
                </a:outerShdw>
              </a:effectLst>
            </a:endParaRPr>
          </a:p>
          <a:p>
            <a:pPr marL="0" indent="0" eaLnBrk="1" fontAlgn="auto" hangingPunct="1">
              <a:spcAft>
                <a:spcPts val="0"/>
              </a:spcAft>
              <a:buClr>
                <a:schemeClr val="accent3"/>
              </a:buClr>
              <a:buFont typeface="Wingdings" pitchFamily="2" charset="2"/>
              <a:buNone/>
              <a:defRPr/>
            </a:pPr>
            <a:r>
              <a:rPr lang="en-US" altLang="zh-CN" sz="3200" b="1" dirty="0">
                <a:effectLst>
                  <a:outerShdw blurRad="38100" dist="38100" dir="2700000" algn="tl">
                    <a:srgbClr val="C0C0C0"/>
                  </a:outerShdw>
                </a:effectLst>
              </a:rPr>
              <a:t>(1)a[j]&lt;0:a[j]</a:t>
            </a:r>
            <a:r>
              <a:rPr lang="zh-CN" altLang="en-US" sz="3200" b="1" dirty="0">
                <a:effectLst>
                  <a:outerShdw blurRad="38100" dist="38100" dir="2700000" algn="tl">
                    <a:srgbClr val="C0C0C0"/>
                  </a:outerShdw>
                </a:effectLst>
              </a:rPr>
              <a:t>与</a:t>
            </a:r>
            <a:r>
              <a:rPr lang="en-US" altLang="zh-CN" sz="3200" b="1" dirty="0">
                <a:effectLst>
                  <a:outerShdw blurRad="38100" dist="38100" dir="2700000" algn="tl">
                    <a:srgbClr val="C0C0C0"/>
                  </a:outerShdw>
                </a:effectLst>
              </a:rPr>
              <a:t>a[k]</a:t>
            </a:r>
            <a:r>
              <a:rPr lang="zh-CN" altLang="en-US" sz="3200" b="1" dirty="0">
                <a:effectLst>
                  <a:outerShdw blurRad="38100" dist="38100" dir="2700000" algn="tl">
                    <a:srgbClr val="C0C0C0"/>
                  </a:outerShdw>
                </a:effectLst>
              </a:rPr>
              <a:t>交换，并且</a:t>
            </a:r>
            <a:r>
              <a:rPr lang="en-US" altLang="zh-CN" sz="3200" b="1" dirty="0">
                <a:effectLst>
                  <a:outerShdw blurRad="38100" dist="38100" dir="2700000" algn="tl">
                    <a:srgbClr val="C0C0C0"/>
                  </a:outerShdw>
                </a:effectLst>
              </a:rPr>
              <a:t>k</a:t>
            </a:r>
            <a:r>
              <a:rPr lang="zh-CN" altLang="en-US" sz="3200" b="1" dirty="0">
                <a:effectLst>
                  <a:outerShdw blurRad="38100" dist="38100" dir="2700000" algn="tl">
                    <a:srgbClr val="C0C0C0"/>
                  </a:outerShdw>
                </a:effectLst>
              </a:rPr>
              <a:t>增</a:t>
            </a:r>
            <a:r>
              <a:rPr lang="en-US" altLang="zh-CN" sz="3200" b="1" dirty="0">
                <a:effectLst>
                  <a:outerShdw blurRad="38100" dist="38100" dir="2700000" algn="tl">
                    <a:srgbClr val="C0C0C0"/>
                  </a:outerShdw>
                </a:effectLst>
              </a:rPr>
              <a:t>1</a:t>
            </a:r>
            <a:r>
              <a:rPr lang="zh-CN" altLang="en-US" sz="3200" b="1" dirty="0">
                <a:effectLst>
                  <a:outerShdw blurRad="38100" dist="38100" dir="2700000" algn="tl">
                    <a:srgbClr val="C0C0C0"/>
                  </a:outerShdw>
                </a:effectLst>
              </a:rPr>
              <a:t>，小于</a:t>
            </a:r>
            <a:r>
              <a:rPr lang="en-US" altLang="zh-CN" sz="3200" b="1" dirty="0">
                <a:effectLst>
                  <a:outerShdw blurRad="38100" dist="38100" dir="2700000" algn="tl">
                    <a:srgbClr val="C0C0C0"/>
                  </a:outerShdw>
                </a:effectLst>
              </a:rPr>
              <a:t>0</a:t>
            </a:r>
            <a:r>
              <a:rPr lang="zh-CN" altLang="en-US" sz="3200" b="1" dirty="0">
                <a:effectLst>
                  <a:outerShdw blurRad="38100" dist="38100" dir="2700000" algn="tl">
                    <a:srgbClr val="C0C0C0"/>
                  </a:outerShdw>
                </a:effectLst>
              </a:rPr>
              <a:t>的元素多了一个；</a:t>
            </a:r>
            <a:r>
              <a:rPr lang="en-US" altLang="zh-CN" sz="3200" b="1" dirty="0">
                <a:effectLst>
                  <a:outerShdw blurRad="38100" dist="38100" dir="2700000" algn="tl">
                    <a:srgbClr val="C0C0C0"/>
                  </a:outerShdw>
                </a:effectLst>
              </a:rPr>
              <a:t>j</a:t>
            </a:r>
            <a:r>
              <a:rPr lang="zh-CN" altLang="en-US" sz="3200" b="1" dirty="0">
                <a:effectLst>
                  <a:outerShdw blurRad="38100" dist="38100" dir="2700000" algn="tl">
                    <a:srgbClr val="C0C0C0"/>
                  </a:outerShdw>
                </a:effectLst>
              </a:rPr>
              <a:t>增</a:t>
            </a:r>
            <a:r>
              <a:rPr lang="en-US" altLang="zh-CN" sz="3200" b="1" dirty="0">
                <a:effectLst>
                  <a:outerShdw blurRad="38100" dist="38100" dir="2700000" algn="tl">
                    <a:srgbClr val="C0C0C0"/>
                  </a:outerShdw>
                </a:effectLst>
              </a:rPr>
              <a:t>1</a:t>
            </a:r>
            <a:r>
              <a:rPr lang="zh-CN" altLang="en-US" sz="3200" b="1" dirty="0">
                <a:effectLst>
                  <a:outerShdw blurRad="38100" dist="38100" dir="2700000" algn="tl">
                    <a:srgbClr val="C0C0C0"/>
                  </a:outerShdw>
                </a:effectLst>
              </a:rPr>
              <a:t>，准备考察下一个元素。</a:t>
            </a:r>
          </a:p>
          <a:p>
            <a:pPr marL="0" indent="0" eaLnBrk="1" fontAlgn="auto" hangingPunct="1">
              <a:spcAft>
                <a:spcPts val="0"/>
              </a:spcAft>
              <a:buClr>
                <a:schemeClr val="accent3"/>
              </a:buClr>
              <a:buFont typeface="Wingdings" pitchFamily="2" charset="2"/>
              <a:buNone/>
              <a:defRPr/>
            </a:pPr>
            <a:r>
              <a:rPr lang="en-US" altLang="zh-CN" sz="3200" b="1" dirty="0">
                <a:effectLst>
                  <a:outerShdw blurRad="38100" dist="38100" dir="2700000" algn="tl">
                    <a:srgbClr val="C0C0C0"/>
                  </a:outerShdw>
                </a:effectLst>
              </a:rPr>
              <a:t>(2)a[j]=0: </a:t>
            </a:r>
            <a:r>
              <a:rPr lang="zh-CN" altLang="en-US" sz="3200" b="1" dirty="0">
                <a:effectLst>
                  <a:outerShdw blurRad="38100" dist="38100" dir="2700000" algn="tl">
                    <a:srgbClr val="C0C0C0"/>
                  </a:outerShdw>
                </a:effectLst>
              </a:rPr>
              <a:t>等于</a:t>
            </a:r>
            <a:r>
              <a:rPr lang="en-US" altLang="zh-CN" sz="3200" b="1" dirty="0">
                <a:effectLst>
                  <a:outerShdw blurRad="38100" dist="38100" dir="2700000" algn="tl">
                    <a:srgbClr val="C0C0C0"/>
                  </a:outerShdw>
                </a:effectLst>
              </a:rPr>
              <a:t>0</a:t>
            </a:r>
            <a:r>
              <a:rPr lang="zh-CN" altLang="en-US" sz="3200" b="1" dirty="0">
                <a:effectLst>
                  <a:outerShdw blurRad="38100" dist="38100" dir="2700000" algn="tl">
                    <a:srgbClr val="C0C0C0"/>
                  </a:outerShdw>
                </a:effectLst>
              </a:rPr>
              <a:t>的元素多了一个，让等于</a:t>
            </a:r>
            <a:r>
              <a:rPr lang="en-US" altLang="zh-CN" sz="3200" b="1" dirty="0">
                <a:effectLst>
                  <a:outerShdw blurRad="38100" dist="38100" dir="2700000" algn="tl">
                    <a:srgbClr val="C0C0C0"/>
                  </a:outerShdw>
                </a:effectLst>
              </a:rPr>
              <a:t>0</a:t>
            </a:r>
            <a:r>
              <a:rPr lang="zh-CN" altLang="en-US" sz="3200" b="1" dirty="0">
                <a:effectLst>
                  <a:outerShdw blurRad="38100" dist="38100" dir="2700000" algn="tl">
                    <a:srgbClr val="C0C0C0"/>
                  </a:outerShdw>
                </a:effectLst>
              </a:rPr>
              <a:t>的</a:t>
            </a:r>
            <a:r>
              <a:rPr lang="en-US" altLang="zh-CN" sz="3200" b="1" dirty="0">
                <a:effectLst>
                  <a:outerShdw blurRad="38100" dist="38100" dir="2700000" algn="tl">
                    <a:srgbClr val="C0C0C0"/>
                  </a:outerShdw>
                </a:effectLst>
              </a:rPr>
              <a:t>a[j]</a:t>
            </a:r>
            <a:r>
              <a:rPr lang="zh-CN" altLang="en-US" sz="3200" b="1" dirty="0">
                <a:effectLst>
                  <a:outerShdw blurRad="38100" dist="38100" dir="2700000" algn="tl">
                    <a:srgbClr val="C0C0C0"/>
                  </a:outerShdw>
                </a:effectLst>
              </a:rPr>
              <a:t>留在原位置。</a:t>
            </a:r>
            <a:r>
              <a:rPr lang="en-US" altLang="zh-CN" sz="3200" b="1" dirty="0">
                <a:effectLst>
                  <a:outerShdw blurRad="38100" dist="38100" dir="2700000" algn="tl">
                    <a:srgbClr val="C0C0C0"/>
                  </a:outerShdw>
                </a:effectLst>
              </a:rPr>
              <a:t>j</a:t>
            </a:r>
            <a:r>
              <a:rPr lang="zh-CN" altLang="en-US" sz="3200" b="1" dirty="0">
                <a:effectLst>
                  <a:outerShdw blurRad="38100" dist="38100" dir="2700000" algn="tl">
                    <a:srgbClr val="C0C0C0"/>
                  </a:outerShdw>
                </a:effectLst>
              </a:rPr>
              <a:t>增</a:t>
            </a:r>
            <a:r>
              <a:rPr lang="en-US" altLang="zh-CN" sz="3200" b="1" dirty="0">
                <a:effectLst>
                  <a:outerShdw blurRad="38100" dist="38100" dir="2700000" algn="tl">
                    <a:srgbClr val="C0C0C0"/>
                  </a:outerShdw>
                </a:effectLst>
              </a:rPr>
              <a:t>1</a:t>
            </a:r>
            <a:r>
              <a:rPr lang="zh-CN" altLang="en-US" sz="3200" b="1" dirty="0">
                <a:effectLst>
                  <a:outerShdw blurRad="38100" dist="38100" dir="2700000" algn="tl">
                    <a:srgbClr val="C0C0C0"/>
                  </a:outerShdw>
                </a:effectLst>
              </a:rPr>
              <a:t>，准备考察下一个元素。</a:t>
            </a:r>
          </a:p>
          <a:p>
            <a:pPr marL="0" indent="0" eaLnBrk="1" fontAlgn="auto" hangingPunct="1">
              <a:spcAft>
                <a:spcPts val="0"/>
              </a:spcAft>
              <a:buClr>
                <a:schemeClr val="accent3"/>
              </a:buClr>
              <a:buFont typeface="Wingdings" pitchFamily="2" charset="2"/>
              <a:buNone/>
              <a:defRPr/>
            </a:pPr>
            <a:r>
              <a:rPr lang="en-US" altLang="zh-CN" sz="3200" b="1" dirty="0">
                <a:effectLst>
                  <a:outerShdw blurRad="38100" dist="38100" dir="2700000" algn="tl">
                    <a:srgbClr val="C0C0C0"/>
                  </a:outerShdw>
                </a:effectLst>
              </a:rPr>
              <a:t>(3)a[j]&gt;0:a[j]</a:t>
            </a:r>
            <a:r>
              <a:rPr lang="zh-CN" altLang="en-US" sz="3200" b="1" dirty="0">
                <a:effectLst>
                  <a:outerShdw blurRad="38100" dist="38100" dir="2700000" algn="tl">
                    <a:srgbClr val="C0C0C0"/>
                  </a:outerShdw>
                </a:effectLst>
              </a:rPr>
              <a:t>与</a:t>
            </a:r>
            <a:r>
              <a:rPr lang="en-US" altLang="zh-CN" sz="3200" b="1" dirty="0">
                <a:effectLst>
                  <a:outerShdw blurRad="38100" dist="38100" dir="2700000" algn="tl">
                    <a:srgbClr val="C0C0C0"/>
                  </a:outerShdw>
                </a:effectLst>
              </a:rPr>
              <a:t>a[h]</a:t>
            </a:r>
            <a:r>
              <a:rPr lang="zh-CN" altLang="en-US" sz="3200" b="1" dirty="0">
                <a:effectLst>
                  <a:outerShdw blurRad="38100" dist="38100" dir="2700000" algn="tl">
                    <a:srgbClr val="C0C0C0"/>
                  </a:outerShdw>
                </a:effectLst>
              </a:rPr>
              <a:t>交换，并且</a:t>
            </a:r>
            <a:r>
              <a:rPr lang="en-US" altLang="zh-CN" sz="3200" b="1" dirty="0">
                <a:effectLst>
                  <a:outerShdw blurRad="38100" dist="38100" dir="2700000" algn="tl">
                    <a:srgbClr val="C0C0C0"/>
                  </a:outerShdw>
                </a:effectLst>
              </a:rPr>
              <a:t>h</a:t>
            </a:r>
            <a:r>
              <a:rPr lang="zh-CN" altLang="en-US" sz="3200" b="1" dirty="0">
                <a:effectLst>
                  <a:outerShdw blurRad="38100" dist="38100" dir="2700000" algn="tl">
                    <a:srgbClr val="C0C0C0"/>
                  </a:outerShdw>
                </a:effectLst>
              </a:rPr>
              <a:t>减</a:t>
            </a:r>
            <a:r>
              <a:rPr lang="en-US" altLang="zh-CN" sz="3200" b="1" dirty="0">
                <a:effectLst>
                  <a:outerShdw blurRad="38100" dist="38100" dir="2700000" algn="tl">
                    <a:srgbClr val="C0C0C0"/>
                  </a:outerShdw>
                </a:effectLst>
              </a:rPr>
              <a:t>1</a:t>
            </a:r>
            <a:r>
              <a:rPr lang="zh-CN" altLang="en-US" sz="3200" b="1" dirty="0">
                <a:effectLst>
                  <a:outerShdw blurRad="38100" dist="38100" dir="2700000" algn="tl">
                    <a:srgbClr val="C0C0C0"/>
                  </a:outerShdw>
                </a:effectLst>
              </a:rPr>
              <a:t>，大于</a:t>
            </a:r>
            <a:r>
              <a:rPr lang="en-US" altLang="zh-CN" sz="3200" b="1" dirty="0">
                <a:effectLst>
                  <a:outerShdw blurRad="38100" dist="38100" dir="2700000" algn="tl">
                    <a:srgbClr val="C0C0C0"/>
                  </a:outerShdw>
                </a:effectLst>
              </a:rPr>
              <a:t>0</a:t>
            </a:r>
            <a:r>
              <a:rPr lang="zh-CN" altLang="en-US" sz="3200" b="1" dirty="0">
                <a:effectLst>
                  <a:outerShdw blurRad="38100" dist="38100" dir="2700000" algn="tl">
                    <a:srgbClr val="C0C0C0"/>
                  </a:outerShdw>
                </a:effectLst>
              </a:rPr>
              <a:t>的元素多了一个。由于交换前的</a:t>
            </a:r>
            <a:r>
              <a:rPr lang="en-US" altLang="zh-CN" sz="3200" b="1" dirty="0">
                <a:effectLst>
                  <a:outerShdw blurRad="38100" dist="38100" dir="2700000" algn="tl">
                    <a:srgbClr val="C0C0C0"/>
                  </a:outerShdw>
                </a:effectLst>
              </a:rPr>
              <a:t>a[h]</a:t>
            </a:r>
            <a:r>
              <a:rPr lang="zh-CN" altLang="en-US" sz="3200" b="1" dirty="0">
                <a:effectLst>
                  <a:outerShdw blurRad="38100" dist="38100" dir="2700000" algn="tl">
                    <a:srgbClr val="C0C0C0"/>
                  </a:outerShdw>
                </a:effectLst>
              </a:rPr>
              <a:t>是还未考察过的元素，所以</a:t>
            </a:r>
            <a:r>
              <a:rPr lang="en-US" altLang="zh-CN" sz="3200" b="1" dirty="0">
                <a:effectLst>
                  <a:outerShdw blurRad="38100" dist="38100" dir="2700000" algn="tl">
                    <a:srgbClr val="C0C0C0"/>
                  </a:outerShdw>
                </a:effectLst>
              </a:rPr>
              <a:t>j</a:t>
            </a:r>
            <a:r>
              <a:rPr lang="zh-CN" altLang="en-US" sz="3200" b="1" dirty="0">
                <a:effectLst>
                  <a:outerShdw blurRad="38100" dist="38100" dir="2700000" algn="tl">
                    <a:srgbClr val="C0C0C0"/>
                  </a:outerShdw>
                </a:effectLst>
              </a:rPr>
              <a:t>不能增</a:t>
            </a:r>
            <a:r>
              <a:rPr lang="en-US" altLang="zh-CN" sz="3200" b="1" dirty="0">
                <a:effectLst>
                  <a:outerShdw blurRad="38100" dist="38100" dir="2700000" algn="tl">
                    <a:srgbClr val="C0C0C0"/>
                  </a:outerShdw>
                </a:effectLst>
              </a:rPr>
              <a:t>1</a:t>
            </a:r>
            <a:r>
              <a:rPr lang="zh-CN" altLang="en-US" sz="3200" b="1" dirty="0">
                <a:effectLst>
                  <a:outerShdw blurRad="38100" dist="38100" dir="2700000" algn="tl">
                    <a:srgbClr val="C0C0C0"/>
                  </a:outerShdw>
                </a:effectLst>
              </a:rPr>
              <a:t>。</a:t>
            </a:r>
          </a:p>
        </p:txBody>
      </p:sp>
      <p:sp>
        <p:nvSpPr>
          <p:cNvPr id="5" name="灯片编号占位符 5"/>
          <p:cNvSpPr>
            <a:spLocks noGrp="1"/>
          </p:cNvSpPr>
          <p:nvPr>
            <p:ph type="sldNum" sz="quarter" idx="12"/>
          </p:nvPr>
        </p:nvSpPr>
        <p:spPr/>
        <p:txBody>
          <a:bodyPr/>
          <a:lstStyle/>
          <a:p>
            <a:pPr>
              <a:defRPr/>
            </a:pPr>
            <a:fld id="{E54B0E9E-2426-4999-8B4C-332E5E81C4A2}" type="slidenum">
              <a:rPr lang="en-US" altLang="zh-CN"/>
              <a:pPr>
                <a:defRPr/>
              </a:pPr>
              <a:t>36</a:t>
            </a:fld>
            <a:endParaRPr lang="en-US" altLang="zh-CN"/>
          </a:p>
        </p:txBody>
      </p:sp>
      <p:pic>
        <p:nvPicPr>
          <p:cNvPr id="2" name="图片 1">
            <a:extLst>
              <a:ext uri="{FF2B5EF4-FFF2-40B4-BE49-F238E27FC236}">
                <a16:creationId xmlns:a16="http://schemas.microsoft.com/office/drawing/2014/main" id="{C8D96C76-6642-75F3-79C2-F865D75FE79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20072" y="1124744"/>
            <a:ext cx="3242310" cy="99314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30434">
                                            <p:txEl>
                                              <p:pRg st="2" end="2"/>
                                            </p:txEl>
                                          </p:spTgt>
                                        </p:tgtEl>
                                        <p:attrNameLst>
                                          <p:attrName>style.visibility</p:attrName>
                                        </p:attrNameLst>
                                      </p:cBhvr>
                                      <p:to>
                                        <p:strVal val="visible"/>
                                      </p:to>
                                    </p:set>
                                    <p:anim calcmode="lin" valueType="num">
                                      <p:cBhvr additive="base">
                                        <p:cTn id="7" dur="500" fill="hold"/>
                                        <p:tgtEl>
                                          <p:spTgt spid="530434">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3043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30434">
                                            <p:txEl>
                                              <p:pRg st="3" end="3"/>
                                            </p:txEl>
                                          </p:spTgt>
                                        </p:tgtEl>
                                        <p:attrNameLst>
                                          <p:attrName>style.visibility</p:attrName>
                                        </p:attrNameLst>
                                      </p:cBhvr>
                                      <p:to>
                                        <p:strVal val="visible"/>
                                      </p:to>
                                    </p:set>
                                    <p:anim calcmode="lin" valueType="num">
                                      <p:cBhvr additive="base">
                                        <p:cTn id="13" dur="500" fill="hold"/>
                                        <p:tgtEl>
                                          <p:spTgt spid="530434">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3043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30434">
                                            <p:txEl>
                                              <p:pRg st="4" end="4"/>
                                            </p:txEl>
                                          </p:spTgt>
                                        </p:tgtEl>
                                        <p:attrNameLst>
                                          <p:attrName>style.visibility</p:attrName>
                                        </p:attrNameLst>
                                      </p:cBhvr>
                                      <p:to>
                                        <p:strVal val="visible"/>
                                      </p:to>
                                    </p:set>
                                    <p:anim calcmode="lin" valueType="num">
                                      <p:cBhvr additive="base">
                                        <p:cTn id="19" dur="500" fill="hold"/>
                                        <p:tgtEl>
                                          <p:spTgt spid="530434">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3043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5074" name="Rectangle 2"/>
          <p:cNvSpPr>
            <a:spLocks noGrp="1" noChangeArrowheads="1"/>
          </p:cNvSpPr>
          <p:nvPr>
            <p:ph idx="1"/>
          </p:nvPr>
        </p:nvSpPr>
        <p:spPr>
          <a:xfrm>
            <a:off x="395288" y="476250"/>
            <a:ext cx="8534400" cy="5907088"/>
          </a:xfrm>
        </p:spPr>
        <p:txBody>
          <a:bodyPr>
            <a:normAutofit/>
          </a:bodyPr>
          <a:lstStyle/>
          <a:p>
            <a:pPr marL="0" indent="0" eaLnBrk="1" fontAlgn="auto" hangingPunct="1">
              <a:lnSpc>
                <a:spcPct val="95000"/>
              </a:lnSpc>
              <a:spcAft>
                <a:spcPts val="0"/>
              </a:spcAft>
              <a:buClr>
                <a:schemeClr val="accent3"/>
              </a:buClr>
              <a:buFont typeface="Wingdings" pitchFamily="2" charset="2"/>
              <a:buNone/>
              <a:defRPr/>
            </a:pPr>
            <a:r>
              <a:rPr lang="zh-CN" altLang="en-US" b="1" dirty="0">
                <a:effectLst>
                  <a:outerShdw blurRad="38100" dist="38100" dir="2700000" algn="tl">
                    <a:srgbClr val="C0C0C0"/>
                  </a:outerShdw>
                </a:effectLst>
              </a:rPr>
              <a:t>实现整理的代码如下：</a:t>
            </a:r>
          </a:p>
          <a:p>
            <a:pPr marL="0" indent="0" eaLnBrk="1" fontAlgn="auto" hangingPunct="1">
              <a:lnSpc>
                <a:spcPct val="95000"/>
              </a:lnSpc>
              <a:spcAft>
                <a:spcPts val="0"/>
              </a:spcAft>
              <a:buClr>
                <a:schemeClr val="accent3"/>
              </a:buClr>
              <a:buFont typeface="Wingdings" pitchFamily="2" charset="2"/>
              <a:buNone/>
              <a:defRPr/>
            </a:pPr>
            <a:r>
              <a:rPr lang="zh-CN" altLang="en-US" b="1" dirty="0">
                <a:effectLst>
                  <a:outerShdw blurRad="38100" dist="38100" dir="2700000" algn="tl">
                    <a:srgbClr val="C0C0C0"/>
                  </a:outerShdw>
                </a:effectLst>
              </a:rPr>
              <a:t>        </a:t>
            </a:r>
            <a:r>
              <a:rPr lang="en-US" altLang="zh-CN" b="1" dirty="0">
                <a:effectLst>
                  <a:outerShdw blurRad="38100" dist="38100" dir="2700000" algn="tl">
                    <a:srgbClr val="C0C0C0"/>
                  </a:outerShdw>
                </a:effectLst>
              </a:rPr>
              <a:t>j = k = 0; h = n-1;</a:t>
            </a:r>
          </a:p>
          <a:p>
            <a:pPr marL="0" indent="0" eaLnBrk="1" fontAlgn="auto" hangingPunct="1">
              <a:lnSpc>
                <a:spcPct val="95000"/>
              </a:lnSpc>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while (j &lt;= h)  </a:t>
            </a:r>
          </a:p>
          <a:p>
            <a:pPr marL="0" indent="0" eaLnBrk="1" fontAlgn="auto" hangingPunct="1">
              <a:lnSpc>
                <a:spcPct val="95000"/>
              </a:lnSpc>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if (a[j] &lt; 0) { </a:t>
            </a:r>
          </a:p>
          <a:p>
            <a:pPr marL="0" indent="0" eaLnBrk="1" fontAlgn="auto" hangingPunct="1">
              <a:lnSpc>
                <a:spcPct val="95000"/>
              </a:lnSpc>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temp = a[j];  a[j] = a[k];  a[k] = temp;</a:t>
            </a:r>
          </a:p>
          <a:p>
            <a:pPr marL="0" indent="0" eaLnBrk="1" fontAlgn="auto" hangingPunct="1">
              <a:lnSpc>
                <a:spcPct val="95000"/>
              </a:lnSpc>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j++; k++;</a:t>
            </a:r>
          </a:p>
          <a:p>
            <a:pPr marL="0" indent="0" eaLnBrk="1" fontAlgn="auto" hangingPunct="1">
              <a:lnSpc>
                <a:spcPct val="95000"/>
              </a:lnSpc>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a:t>
            </a:r>
          </a:p>
          <a:p>
            <a:pPr marL="0" indent="0" eaLnBrk="1" fontAlgn="auto" hangingPunct="1">
              <a:lnSpc>
                <a:spcPct val="95000"/>
              </a:lnSpc>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else if (a[j] == 0)  j++;</a:t>
            </a:r>
          </a:p>
          <a:p>
            <a:pPr marL="0" indent="0" eaLnBrk="1" fontAlgn="auto" hangingPunct="1">
              <a:lnSpc>
                <a:spcPct val="95000"/>
              </a:lnSpc>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else  {  temp = a[j];  </a:t>
            </a:r>
          </a:p>
          <a:p>
            <a:pPr marL="0" indent="0" eaLnBrk="1" fontAlgn="auto" hangingPunct="1">
              <a:lnSpc>
                <a:spcPct val="95000"/>
              </a:lnSpc>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a[j] = a[h];  a[h] = temp;</a:t>
            </a:r>
          </a:p>
          <a:p>
            <a:pPr marL="0" indent="0" eaLnBrk="1" fontAlgn="auto" hangingPunct="1">
              <a:lnSpc>
                <a:spcPct val="95000"/>
              </a:lnSpc>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h--;</a:t>
            </a:r>
          </a:p>
          <a:p>
            <a:pPr marL="0" indent="0" eaLnBrk="1" fontAlgn="auto" hangingPunct="1">
              <a:lnSpc>
                <a:spcPct val="95000"/>
              </a:lnSpc>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a:t>
            </a:r>
          </a:p>
        </p:txBody>
      </p:sp>
      <p:sp>
        <p:nvSpPr>
          <p:cNvPr id="5" name="灯片编号占位符 5"/>
          <p:cNvSpPr>
            <a:spLocks noGrp="1"/>
          </p:cNvSpPr>
          <p:nvPr>
            <p:ph type="sldNum" sz="quarter" idx="12"/>
          </p:nvPr>
        </p:nvSpPr>
        <p:spPr/>
        <p:txBody>
          <a:bodyPr/>
          <a:lstStyle/>
          <a:p>
            <a:pPr>
              <a:defRPr/>
            </a:pPr>
            <a:fld id="{4972408C-1922-4E24-9EBB-D13CECC2AFCB}" type="slidenum">
              <a:rPr lang="en-US" altLang="zh-CN"/>
              <a:pPr>
                <a:defRPr/>
              </a:pPr>
              <a:t>37</a:t>
            </a:fld>
            <a:endParaRPr lang="en-US" altLang="zh-CN"/>
          </a:p>
        </p:txBody>
      </p:sp>
      <p:pic>
        <p:nvPicPr>
          <p:cNvPr id="2" name="图片 1">
            <a:extLst>
              <a:ext uri="{FF2B5EF4-FFF2-40B4-BE49-F238E27FC236}">
                <a16:creationId xmlns:a16="http://schemas.microsoft.com/office/drawing/2014/main" id="{407CBEA8-88E5-6A5A-C95F-3FCD2F8DFC4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71803" y="908720"/>
            <a:ext cx="3242310" cy="99314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15074">
                                            <p:txEl>
                                              <p:pRg st="2" end="2"/>
                                            </p:txEl>
                                          </p:spTgt>
                                        </p:tgtEl>
                                        <p:attrNameLst>
                                          <p:attrName>style.visibility</p:attrName>
                                        </p:attrNameLst>
                                      </p:cBhvr>
                                      <p:to>
                                        <p:strVal val="visible"/>
                                      </p:to>
                                    </p:set>
                                    <p:anim calcmode="lin" valueType="num">
                                      <p:cBhvr additive="base">
                                        <p:cTn id="7" dur="500" fill="hold"/>
                                        <p:tgtEl>
                                          <p:spTgt spid="515074">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1507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15074">
                                            <p:txEl>
                                              <p:pRg st="3" end="3"/>
                                            </p:txEl>
                                          </p:spTgt>
                                        </p:tgtEl>
                                        <p:attrNameLst>
                                          <p:attrName>style.visibility</p:attrName>
                                        </p:attrNameLst>
                                      </p:cBhvr>
                                      <p:to>
                                        <p:strVal val="visible"/>
                                      </p:to>
                                    </p:set>
                                    <p:anim calcmode="lin" valueType="num">
                                      <p:cBhvr additive="base">
                                        <p:cTn id="13" dur="500" fill="hold"/>
                                        <p:tgtEl>
                                          <p:spTgt spid="515074">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15074">
                                            <p:txEl>
                                              <p:pRg st="3" end="3"/>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515074">
                                            <p:txEl>
                                              <p:pRg st="4" end="4"/>
                                            </p:txEl>
                                          </p:spTgt>
                                        </p:tgtEl>
                                        <p:attrNameLst>
                                          <p:attrName>style.visibility</p:attrName>
                                        </p:attrNameLst>
                                      </p:cBhvr>
                                      <p:to>
                                        <p:strVal val="visible"/>
                                      </p:to>
                                    </p:set>
                                    <p:anim calcmode="lin" valueType="num">
                                      <p:cBhvr additive="base">
                                        <p:cTn id="17" dur="500" fill="hold"/>
                                        <p:tgtEl>
                                          <p:spTgt spid="515074">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15074">
                                            <p:txEl>
                                              <p:pRg st="4" end="4"/>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515074">
                                            <p:txEl>
                                              <p:pRg st="5" end="5"/>
                                            </p:txEl>
                                          </p:spTgt>
                                        </p:tgtEl>
                                        <p:attrNameLst>
                                          <p:attrName>style.visibility</p:attrName>
                                        </p:attrNameLst>
                                      </p:cBhvr>
                                      <p:to>
                                        <p:strVal val="visible"/>
                                      </p:to>
                                    </p:set>
                                    <p:anim calcmode="lin" valueType="num">
                                      <p:cBhvr additive="base">
                                        <p:cTn id="21" dur="500" fill="hold"/>
                                        <p:tgtEl>
                                          <p:spTgt spid="515074">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15074">
                                            <p:txEl>
                                              <p:pRg st="5" end="5"/>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515074">
                                            <p:txEl>
                                              <p:pRg st="6" end="6"/>
                                            </p:txEl>
                                          </p:spTgt>
                                        </p:tgtEl>
                                        <p:attrNameLst>
                                          <p:attrName>style.visibility</p:attrName>
                                        </p:attrNameLst>
                                      </p:cBhvr>
                                      <p:to>
                                        <p:strVal val="visible"/>
                                      </p:to>
                                    </p:set>
                                    <p:anim calcmode="lin" valueType="num">
                                      <p:cBhvr additive="base">
                                        <p:cTn id="25" dur="500" fill="hold"/>
                                        <p:tgtEl>
                                          <p:spTgt spid="515074">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1507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15074">
                                            <p:txEl>
                                              <p:pRg st="7" end="7"/>
                                            </p:txEl>
                                          </p:spTgt>
                                        </p:tgtEl>
                                        <p:attrNameLst>
                                          <p:attrName>style.visibility</p:attrName>
                                        </p:attrNameLst>
                                      </p:cBhvr>
                                      <p:to>
                                        <p:strVal val="visible"/>
                                      </p:to>
                                    </p:set>
                                    <p:anim calcmode="lin" valueType="num">
                                      <p:cBhvr additive="base">
                                        <p:cTn id="31" dur="500" fill="hold"/>
                                        <p:tgtEl>
                                          <p:spTgt spid="515074">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1507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15074">
                                            <p:txEl>
                                              <p:pRg st="8" end="8"/>
                                            </p:txEl>
                                          </p:spTgt>
                                        </p:tgtEl>
                                        <p:attrNameLst>
                                          <p:attrName>style.visibility</p:attrName>
                                        </p:attrNameLst>
                                      </p:cBhvr>
                                      <p:to>
                                        <p:strVal val="visible"/>
                                      </p:to>
                                    </p:set>
                                    <p:anim calcmode="lin" valueType="num">
                                      <p:cBhvr additive="base">
                                        <p:cTn id="37" dur="500" fill="hold"/>
                                        <p:tgtEl>
                                          <p:spTgt spid="515074">
                                            <p:txEl>
                                              <p:pRg st="8" end="8"/>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15074">
                                            <p:txEl>
                                              <p:pRg st="8" end="8"/>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515074">
                                            <p:txEl>
                                              <p:pRg st="9" end="9"/>
                                            </p:txEl>
                                          </p:spTgt>
                                        </p:tgtEl>
                                        <p:attrNameLst>
                                          <p:attrName>style.visibility</p:attrName>
                                        </p:attrNameLst>
                                      </p:cBhvr>
                                      <p:to>
                                        <p:strVal val="visible"/>
                                      </p:to>
                                    </p:set>
                                    <p:anim calcmode="lin" valueType="num">
                                      <p:cBhvr additive="base">
                                        <p:cTn id="41" dur="500" fill="hold"/>
                                        <p:tgtEl>
                                          <p:spTgt spid="515074">
                                            <p:txEl>
                                              <p:pRg st="9" end="9"/>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515074">
                                            <p:txEl>
                                              <p:pRg st="9" end="9"/>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515074">
                                            <p:txEl>
                                              <p:pRg st="10" end="10"/>
                                            </p:txEl>
                                          </p:spTgt>
                                        </p:tgtEl>
                                        <p:attrNameLst>
                                          <p:attrName>style.visibility</p:attrName>
                                        </p:attrNameLst>
                                      </p:cBhvr>
                                      <p:to>
                                        <p:strVal val="visible"/>
                                      </p:to>
                                    </p:set>
                                    <p:anim calcmode="lin" valueType="num">
                                      <p:cBhvr additive="base">
                                        <p:cTn id="45" dur="500" fill="hold"/>
                                        <p:tgtEl>
                                          <p:spTgt spid="515074">
                                            <p:txEl>
                                              <p:pRg st="10" end="10"/>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515074">
                                            <p:txEl>
                                              <p:pRg st="10" end="10"/>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515074">
                                            <p:txEl>
                                              <p:pRg st="11" end="11"/>
                                            </p:txEl>
                                          </p:spTgt>
                                        </p:tgtEl>
                                        <p:attrNameLst>
                                          <p:attrName>style.visibility</p:attrName>
                                        </p:attrNameLst>
                                      </p:cBhvr>
                                      <p:to>
                                        <p:strVal val="visible"/>
                                      </p:to>
                                    </p:set>
                                    <p:anim calcmode="lin" valueType="num">
                                      <p:cBhvr additive="base">
                                        <p:cTn id="49" dur="500" fill="hold"/>
                                        <p:tgtEl>
                                          <p:spTgt spid="515074">
                                            <p:txEl>
                                              <p:pRg st="11" end="11"/>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515074">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64D45EC-BF83-4A2B-2819-778B13F26EBF}"/>
              </a:ext>
            </a:extLst>
          </p:cNvPr>
          <p:cNvSpPr>
            <a:spLocks noGrp="1"/>
          </p:cNvSpPr>
          <p:nvPr>
            <p:ph type="title"/>
          </p:nvPr>
        </p:nvSpPr>
        <p:spPr/>
        <p:txBody>
          <a:bodyPr/>
          <a:lstStyle/>
          <a:p>
            <a:r>
              <a:rPr lang="zh-CN" altLang="en-US" dirty="0"/>
              <a:t>类似思路的题目</a:t>
            </a:r>
          </a:p>
        </p:txBody>
      </p:sp>
      <p:sp>
        <p:nvSpPr>
          <p:cNvPr id="3" name="内容占位符 2">
            <a:extLst>
              <a:ext uri="{FF2B5EF4-FFF2-40B4-BE49-F238E27FC236}">
                <a16:creationId xmlns:a16="http://schemas.microsoft.com/office/drawing/2014/main" id="{68913528-565A-837F-4B70-A7627BF94BFB}"/>
              </a:ext>
            </a:extLst>
          </p:cNvPr>
          <p:cNvSpPr>
            <a:spLocks noGrp="1"/>
          </p:cNvSpPr>
          <p:nvPr>
            <p:ph idx="1"/>
          </p:nvPr>
        </p:nvSpPr>
        <p:spPr/>
        <p:txBody>
          <a:bodyPr/>
          <a:lstStyle/>
          <a:p>
            <a:r>
              <a:rPr lang="en-US" altLang="zh-CN" b="0" i="0" dirty="0">
                <a:effectLst/>
                <a:latin typeface="Noto Sans" panose="020B0502040204020203" pitchFamily="34" charset="0"/>
              </a:rPr>
              <a:t>Array Partitioning: takes an array of integers and a pivot value as input</a:t>
            </a:r>
            <a:r>
              <a:rPr lang="en-US" altLang="zh-CN" dirty="0">
                <a:latin typeface="Noto Sans" panose="020B0502040204020203" pitchFamily="34" charset="0"/>
              </a:rPr>
              <a:t>,</a:t>
            </a:r>
            <a:r>
              <a:rPr lang="en-US" altLang="zh-CN" b="0" i="0" dirty="0">
                <a:effectLst/>
                <a:latin typeface="Noto Sans" panose="020B0502040204020203" pitchFamily="34" charset="0"/>
              </a:rPr>
              <a:t> and partitions the array such that all values less than the pivot appear before it, and all values greater than the pivot appear after it.</a:t>
            </a:r>
          </a:p>
          <a:p>
            <a:endParaRPr lang="en-US" altLang="zh-CN" b="0" i="0" dirty="0">
              <a:effectLst/>
              <a:latin typeface="Noto Sans" panose="020B0502040204020203" pitchFamily="34" charset="0"/>
            </a:endParaRPr>
          </a:p>
          <a:p>
            <a:r>
              <a:rPr lang="en-US" altLang="zh-CN" b="0" i="0" dirty="0">
                <a:solidFill>
                  <a:schemeClr val="accent1"/>
                </a:solidFill>
                <a:effectLst/>
                <a:latin typeface="Noto Sans" panose="020B0502040504020204" pitchFamily="34" charset="0"/>
              </a:rPr>
              <a:t>Array Reordering: takes an array of integers as input and rearranges its elements such that all the even numbers appear before the odd numbers.</a:t>
            </a:r>
          </a:p>
          <a:p>
            <a:endParaRPr lang="en-US" altLang="zh-CN" b="0" i="0" dirty="0">
              <a:effectLst/>
              <a:latin typeface="Noto Sans" panose="020B0502040204020203" pitchFamily="34" charset="0"/>
            </a:endParaRPr>
          </a:p>
          <a:p>
            <a:endParaRPr lang="zh-CN" altLang="en-US" dirty="0"/>
          </a:p>
        </p:txBody>
      </p:sp>
      <p:sp>
        <p:nvSpPr>
          <p:cNvPr id="4" name="灯片编号占位符 3">
            <a:extLst>
              <a:ext uri="{FF2B5EF4-FFF2-40B4-BE49-F238E27FC236}">
                <a16:creationId xmlns:a16="http://schemas.microsoft.com/office/drawing/2014/main" id="{374DD890-8243-7F68-358E-7485EAF582FE}"/>
              </a:ext>
            </a:extLst>
          </p:cNvPr>
          <p:cNvSpPr>
            <a:spLocks noGrp="1"/>
          </p:cNvSpPr>
          <p:nvPr>
            <p:ph type="sldNum" sz="quarter" idx="12"/>
          </p:nvPr>
        </p:nvSpPr>
        <p:spPr/>
        <p:txBody>
          <a:bodyPr/>
          <a:lstStyle/>
          <a:p>
            <a:pPr>
              <a:defRPr/>
            </a:pPr>
            <a:fld id="{5DCB0509-EBFA-4973-BBC1-64BDD304043B}" type="slidenum">
              <a:rPr lang="en-US" altLang="zh-CN" smtClean="0"/>
              <a:pPr>
                <a:defRPr/>
              </a:pPr>
              <a:t>38</a:t>
            </a:fld>
            <a:endParaRPr lang="en-US" altLang="zh-CN"/>
          </a:p>
        </p:txBody>
      </p:sp>
    </p:spTree>
    <p:extLst>
      <p:ext uri="{BB962C8B-B14F-4D97-AF65-F5344CB8AC3E}">
        <p14:creationId xmlns:p14="http://schemas.microsoft.com/office/powerpoint/2010/main" val="38532715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9170" name="Rectangle 2"/>
          <p:cNvSpPr>
            <a:spLocks noGrp="1" noChangeArrowheads="1"/>
          </p:cNvSpPr>
          <p:nvPr>
            <p:ph idx="1"/>
          </p:nvPr>
        </p:nvSpPr>
        <p:spPr>
          <a:xfrm>
            <a:off x="395288" y="476250"/>
            <a:ext cx="8534400" cy="5907088"/>
          </a:xfrm>
        </p:spPr>
        <p:txBody>
          <a:bodyPr>
            <a:normAutofit/>
          </a:bodyPr>
          <a:lstStyle/>
          <a:p>
            <a:pPr marL="0" indent="0" eaLnBrk="1" fontAlgn="auto" hangingPunct="1">
              <a:spcAft>
                <a:spcPts val="0"/>
              </a:spcAft>
              <a:buClr>
                <a:schemeClr val="accent3"/>
              </a:buClr>
              <a:buFont typeface="Wingdings" pitchFamily="2" charset="2"/>
              <a:buNone/>
              <a:defRPr/>
            </a:pPr>
            <a:r>
              <a:rPr lang="en-US" altLang="zh-CN" sz="3200" b="1" dirty="0">
                <a:effectLst>
                  <a:outerShdw blurRad="38100" dist="38100" dir="2700000" algn="tl">
                    <a:srgbClr val="C0C0C0"/>
                  </a:outerShdw>
                </a:effectLst>
              </a:rPr>
              <a:t>【</a:t>
            </a:r>
            <a:r>
              <a:rPr lang="zh-CN" altLang="en-US" sz="3200" b="1" dirty="0">
                <a:effectLst>
                  <a:outerShdw blurRad="38100" dist="38100" dir="2700000" algn="tl">
                    <a:srgbClr val="C0C0C0"/>
                  </a:outerShdw>
                </a:effectLst>
              </a:rPr>
              <a:t>例</a:t>
            </a:r>
            <a:r>
              <a:rPr lang="en-US" altLang="zh-CN" sz="3200" b="1" dirty="0">
                <a:effectLst>
                  <a:outerShdw blurRad="38100" dist="38100" dir="2700000" algn="tl">
                    <a:srgbClr val="C0C0C0"/>
                  </a:outerShdw>
                </a:effectLst>
              </a:rPr>
              <a:t>4.9】</a:t>
            </a:r>
            <a:r>
              <a:rPr lang="zh-CN" altLang="en-US" sz="3200" b="1" dirty="0">
                <a:effectLst>
                  <a:outerShdw blurRad="38100" dist="38100" dir="2700000" algn="tl">
                    <a:srgbClr val="C0C0C0"/>
                  </a:outerShdw>
                </a:effectLst>
              </a:rPr>
              <a:t>输入</a:t>
            </a:r>
            <a:r>
              <a:rPr lang="en-US" altLang="zh-CN" sz="3200" b="1" dirty="0">
                <a:effectLst>
                  <a:outerShdw blurRad="38100" dist="38100" dir="2700000" algn="tl">
                    <a:srgbClr val="C0C0C0"/>
                  </a:outerShdw>
                </a:effectLst>
              </a:rPr>
              <a:t>n</a:t>
            </a:r>
            <a:r>
              <a:rPr lang="zh-CN" altLang="en-US" sz="3200" b="1" dirty="0">
                <a:effectLst>
                  <a:outerShdw blurRad="38100" dist="38100" dir="2700000" algn="tl">
                    <a:srgbClr val="C0C0C0"/>
                  </a:outerShdw>
                </a:effectLst>
              </a:rPr>
              <a:t>个整数，对它们用冒泡法从小到大排序，然后输出。</a:t>
            </a:r>
          </a:p>
          <a:p>
            <a:pPr marL="0" indent="0" eaLnBrk="1" fontAlgn="auto" hangingPunct="1">
              <a:spcAft>
                <a:spcPts val="0"/>
              </a:spcAft>
              <a:buClr>
                <a:schemeClr val="accent3"/>
              </a:buClr>
              <a:buFont typeface="Wingdings" pitchFamily="2" charset="2"/>
              <a:buNone/>
              <a:defRPr/>
            </a:pPr>
            <a:r>
              <a:rPr lang="en-US" altLang="zh-CN" sz="3200" b="1" dirty="0">
                <a:effectLst>
                  <a:outerShdw blurRad="38100" dist="38100" dir="2700000" algn="tl">
                    <a:srgbClr val="C0C0C0"/>
                  </a:outerShdw>
                </a:effectLst>
              </a:rPr>
              <a:t>【</a:t>
            </a:r>
            <a:r>
              <a:rPr lang="zh-CN" altLang="en-US" sz="3200" b="1" dirty="0">
                <a:effectLst>
                  <a:outerShdw blurRad="38100" dist="38100" dir="2700000" algn="tl">
                    <a:srgbClr val="C0C0C0"/>
                  </a:outerShdw>
                </a:effectLst>
              </a:rPr>
              <a:t>解题思路</a:t>
            </a:r>
            <a:r>
              <a:rPr lang="en-US" altLang="zh-CN" sz="3200" b="1" dirty="0">
                <a:effectLst>
                  <a:outerShdw blurRad="38100" dist="38100" dir="2700000" algn="tl">
                    <a:srgbClr val="C0C0C0"/>
                  </a:outerShdw>
                </a:effectLst>
              </a:rPr>
              <a:t>】</a:t>
            </a:r>
          </a:p>
          <a:p>
            <a:pPr marL="0" indent="0" eaLnBrk="1" fontAlgn="auto" hangingPunct="1">
              <a:spcAft>
                <a:spcPts val="0"/>
              </a:spcAft>
              <a:buClr>
                <a:schemeClr val="accent3"/>
              </a:buClr>
              <a:buFont typeface="Wingdings" pitchFamily="2" charset="2"/>
              <a:buNone/>
              <a:defRPr/>
            </a:pPr>
            <a:r>
              <a:rPr lang="zh-CN" altLang="en-US" sz="3200" b="1" dirty="0">
                <a:effectLst>
                  <a:outerShdw blurRad="38100" dist="38100" dir="2700000" algn="tl">
                    <a:srgbClr val="C0C0C0"/>
                  </a:outerShdw>
                </a:effectLst>
              </a:rPr>
              <a:t>冒泡法排序的思想是对数组作若干次的比较调整遍历，每次遍历是对遍历范围内的所有相邻两个数作比较和调整，将小的调到前面，大的调到后面</a:t>
            </a:r>
            <a:r>
              <a:rPr lang="en-US" altLang="zh-CN" sz="3200" b="1" dirty="0">
                <a:effectLst>
                  <a:outerShdw blurRad="38100" dist="38100" dir="2700000" algn="tl">
                    <a:srgbClr val="C0C0C0"/>
                  </a:outerShdw>
                </a:effectLst>
              </a:rPr>
              <a:t>(</a:t>
            </a:r>
            <a:r>
              <a:rPr lang="zh-CN" altLang="en-US" sz="3200" b="1" dirty="0">
                <a:effectLst>
                  <a:outerShdw blurRad="38100" dist="38100" dir="2700000" algn="tl">
                    <a:srgbClr val="C0C0C0"/>
                  </a:outerShdw>
                </a:effectLst>
              </a:rPr>
              <a:t>设从小到大排序</a:t>
            </a:r>
            <a:r>
              <a:rPr lang="en-US" altLang="zh-CN" sz="3200" b="1" dirty="0">
                <a:effectLst>
                  <a:outerShdw blurRad="38100" dist="38100" dir="2700000" algn="tl">
                    <a:srgbClr val="C0C0C0"/>
                  </a:outerShdw>
                </a:effectLst>
              </a:rPr>
              <a:t>)</a:t>
            </a:r>
            <a:r>
              <a:rPr lang="zh-CN" altLang="en-US" sz="3200" b="1" dirty="0">
                <a:effectLst>
                  <a:outerShdw blurRad="38100" dist="38100" dir="2700000" algn="tl">
                    <a:srgbClr val="C0C0C0"/>
                  </a:outerShdw>
                </a:effectLst>
              </a:rPr>
              <a:t>。</a:t>
            </a:r>
          </a:p>
        </p:txBody>
      </p:sp>
      <p:sp>
        <p:nvSpPr>
          <p:cNvPr id="5" name="灯片编号占位符 5"/>
          <p:cNvSpPr>
            <a:spLocks noGrp="1"/>
          </p:cNvSpPr>
          <p:nvPr>
            <p:ph type="sldNum" sz="quarter" idx="12"/>
          </p:nvPr>
        </p:nvSpPr>
        <p:spPr/>
        <p:txBody>
          <a:bodyPr/>
          <a:lstStyle/>
          <a:p>
            <a:pPr>
              <a:defRPr/>
            </a:pPr>
            <a:fld id="{2C893955-03EC-4FCE-9CBF-FD602D5D940A}" type="slidenum">
              <a:rPr lang="en-US" altLang="zh-CN"/>
              <a:pPr>
                <a:defRPr/>
              </a:pPr>
              <a:t>39</a:t>
            </a:fld>
            <a:endParaRPr lang="en-US" altLang="zh-CN"/>
          </a:p>
        </p:txBody>
      </p:sp>
    </p:spTree>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0194" name="Rectangle 2"/>
          <p:cNvSpPr>
            <a:spLocks noGrp="1" noChangeArrowheads="1"/>
          </p:cNvSpPr>
          <p:nvPr>
            <p:ph idx="1"/>
          </p:nvPr>
        </p:nvSpPr>
        <p:spPr>
          <a:xfrm>
            <a:off x="395288" y="476250"/>
            <a:ext cx="8534400" cy="5907088"/>
          </a:xfrm>
        </p:spPr>
        <p:txBody>
          <a:bodyPr>
            <a:normAutofit/>
          </a:bodyPr>
          <a:lstStyle/>
          <a:p>
            <a:pPr marL="0" indent="0" eaLnBrk="1" fontAlgn="auto" hangingPunct="1">
              <a:lnSpc>
                <a:spcPct val="95000"/>
              </a:lnSpc>
              <a:spcAft>
                <a:spcPts val="0"/>
              </a:spcAft>
              <a:buClr>
                <a:schemeClr val="accent3"/>
              </a:buClr>
              <a:buFont typeface="Wingdings" pitchFamily="2" charset="2"/>
              <a:buNone/>
              <a:defRPr/>
            </a:pPr>
            <a:r>
              <a:rPr lang="zh-CN" altLang="en-US" sz="2800" b="1" dirty="0">
                <a:effectLst>
                  <a:outerShdw blurRad="38100" dist="38100" dir="2700000" algn="tl">
                    <a:srgbClr val="C0C0C0"/>
                  </a:outerShdw>
                </a:effectLst>
              </a:rPr>
              <a:t>含</a:t>
            </a:r>
            <a:r>
              <a:rPr lang="en-US" altLang="zh-CN" sz="2800" b="1" dirty="0">
                <a:effectLst>
                  <a:outerShdw blurRad="38100" dist="38100" dir="2700000" algn="tl">
                    <a:srgbClr val="C0C0C0"/>
                  </a:outerShdw>
                </a:effectLst>
              </a:rPr>
              <a:t>n</a:t>
            </a:r>
            <a:r>
              <a:rPr lang="zh-CN" altLang="en-US" sz="2800" b="1" dirty="0">
                <a:effectLst>
                  <a:outerShdw blurRad="38100" dist="38100" dir="2700000" algn="tl">
                    <a:srgbClr val="C0C0C0"/>
                  </a:outerShdw>
                </a:effectLst>
              </a:rPr>
              <a:t>个元素的数组用冒泡法排序，要作</a:t>
            </a:r>
            <a:r>
              <a:rPr lang="en-US" altLang="zh-CN" sz="2800" b="1" dirty="0">
                <a:effectLst>
                  <a:outerShdw blurRad="38100" dist="38100" dir="2700000" algn="tl">
                    <a:srgbClr val="C0C0C0"/>
                  </a:outerShdw>
                </a:effectLst>
              </a:rPr>
              <a:t>n-1</a:t>
            </a:r>
            <a:r>
              <a:rPr lang="zh-CN" altLang="en-US" sz="2800" b="1" dirty="0">
                <a:effectLst>
                  <a:outerShdw blurRad="38100" dist="38100" dir="2700000" algn="tl">
                    <a:srgbClr val="C0C0C0"/>
                  </a:outerShdw>
                </a:effectLst>
              </a:rPr>
              <a:t>次遍历。</a:t>
            </a:r>
          </a:p>
          <a:p>
            <a:pPr marL="0" indent="0" eaLnBrk="1" fontAlgn="auto" hangingPunct="1">
              <a:lnSpc>
                <a:spcPct val="95000"/>
              </a:lnSpc>
              <a:spcAft>
                <a:spcPts val="0"/>
              </a:spcAft>
              <a:buClr>
                <a:schemeClr val="accent3"/>
              </a:buClr>
              <a:buFont typeface="Wingdings" pitchFamily="2" charset="2"/>
              <a:buNone/>
              <a:defRPr/>
            </a:pPr>
            <a:r>
              <a:rPr lang="zh-CN" altLang="en-US" sz="2800" b="1" dirty="0">
                <a:effectLst>
                  <a:outerShdw blurRad="38100" dist="38100" dir="2700000" algn="tl">
                    <a:srgbClr val="C0C0C0"/>
                  </a:outerShdw>
                </a:effectLst>
              </a:rPr>
              <a:t>第一次遍历：从</a:t>
            </a:r>
            <a:r>
              <a:rPr lang="en-US" altLang="zh-CN" sz="2800" b="1" dirty="0">
                <a:effectLst>
                  <a:outerShdw blurRad="38100" dist="38100" dir="2700000" algn="tl">
                    <a:srgbClr val="C0C0C0"/>
                  </a:outerShdw>
                </a:effectLst>
              </a:rPr>
              <a:t>a[n-1]</a:t>
            </a:r>
            <a:r>
              <a:rPr lang="zh-CN" altLang="en-US" sz="2800" b="1" dirty="0">
                <a:effectLst>
                  <a:outerShdw blurRad="38100" dist="38100" dir="2700000" algn="tl">
                    <a:srgbClr val="C0C0C0"/>
                  </a:outerShdw>
                </a:effectLst>
              </a:rPr>
              <a:t>开始至</a:t>
            </a:r>
            <a:r>
              <a:rPr lang="en-US" altLang="zh-CN" sz="2800" b="1" dirty="0">
                <a:effectLst>
                  <a:outerShdw blurRad="38100" dist="38100" dir="2700000" algn="tl">
                    <a:srgbClr val="C0C0C0"/>
                  </a:outerShdw>
                </a:effectLst>
              </a:rPr>
              <a:t>a[0]</a:t>
            </a:r>
            <a:r>
              <a:rPr lang="zh-CN" altLang="en-US" sz="2800" b="1" dirty="0">
                <a:effectLst>
                  <a:outerShdw blurRad="38100" dist="38100" dir="2700000" algn="tl">
                    <a:srgbClr val="C0C0C0"/>
                  </a:outerShdw>
                </a:effectLst>
              </a:rPr>
              <a:t>，依次对相邻两个元素进行比较调整。即</a:t>
            </a:r>
            <a:r>
              <a:rPr lang="en-US" altLang="zh-CN" sz="2800" b="1" dirty="0">
                <a:effectLst>
                  <a:outerShdw blurRad="38100" dist="38100" dir="2700000" algn="tl">
                    <a:srgbClr val="C0C0C0"/>
                  </a:outerShdw>
                </a:effectLst>
              </a:rPr>
              <a:t>a[n-1]</a:t>
            </a:r>
            <a:r>
              <a:rPr lang="zh-CN" altLang="en-US" sz="2800" b="1" dirty="0">
                <a:effectLst>
                  <a:outerShdw blurRad="38100" dist="38100" dir="2700000" algn="tl">
                    <a:srgbClr val="C0C0C0"/>
                  </a:outerShdw>
                </a:effectLst>
              </a:rPr>
              <a:t>与</a:t>
            </a:r>
            <a:r>
              <a:rPr lang="en-US" altLang="zh-CN" sz="2800" b="1" dirty="0">
                <a:effectLst>
                  <a:outerShdw blurRad="38100" dist="38100" dir="2700000" algn="tl">
                    <a:srgbClr val="C0C0C0"/>
                  </a:outerShdw>
                </a:effectLst>
              </a:rPr>
              <a:t>a[n-2]</a:t>
            </a:r>
            <a:r>
              <a:rPr lang="zh-CN" altLang="en-US" sz="2800" b="1" dirty="0">
                <a:effectLst>
                  <a:outerShdw blurRad="38100" dist="38100" dir="2700000" algn="tl">
                    <a:srgbClr val="C0C0C0"/>
                  </a:outerShdw>
                </a:effectLst>
              </a:rPr>
              <a:t>比较调整；</a:t>
            </a:r>
            <a:r>
              <a:rPr lang="en-US" altLang="zh-CN" sz="2800" b="1" dirty="0">
                <a:effectLst>
                  <a:outerShdw blurRad="38100" dist="38100" dir="2700000" algn="tl">
                    <a:srgbClr val="C0C0C0"/>
                  </a:outerShdw>
                </a:effectLst>
              </a:rPr>
              <a:t>a[n-2]</a:t>
            </a:r>
            <a:r>
              <a:rPr lang="zh-CN" altLang="en-US" sz="2800" b="1" dirty="0">
                <a:effectLst>
                  <a:outerShdw blurRad="38100" dist="38100" dir="2700000" algn="tl">
                    <a:srgbClr val="C0C0C0"/>
                  </a:outerShdw>
                </a:effectLst>
              </a:rPr>
              <a:t>与</a:t>
            </a:r>
            <a:r>
              <a:rPr lang="en-US" altLang="zh-CN" sz="2800" b="1" dirty="0">
                <a:effectLst>
                  <a:outerShdw blurRad="38100" dist="38100" dir="2700000" algn="tl">
                    <a:srgbClr val="C0C0C0"/>
                  </a:outerShdw>
                </a:effectLst>
              </a:rPr>
              <a:t>a[n-3]</a:t>
            </a:r>
            <a:r>
              <a:rPr lang="zh-CN" altLang="en-US" sz="2800" b="1" dirty="0">
                <a:effectLst>
                  <a:outerShdw blurRad="38100" dist="38100" dir="2700000" algn="tl">
                    <a:srgbClr val="C0C0C0"/>
                  </a:outerShdw>
                </a:effectLst>
              </a:rPr>
              <a:t>比较调整；</a:t>
            </a:r>
            <a:r>
              <a:rPr lang="en-US" altLang="zh-CN" sz="2800" b="1" dirty="0">
                <a:effectLst>
                  <a:outerShdw blurRad="38100" dist="38100" dir="2700000" algn="tl">
                    <a:srgbClr val="C0C0C0"/>
                  </a:outerShdw>
                </a:effectLst>
              </a:rPr>
              <a:t>……</a:t>
            </a:r>
            <a:r>
              <a:rPr lang="zh-CN" altLang="en-US" sz="2800" b="1" dirty="0">
                <a:effectLst>
                  <a:outerShdw blurRad="38100" dist="38100" dir="2700000" algn="tl">
                    <a:srgbClr val="C0C0C0"/>
                  </a:outerShdw>
                </a:effectLst>
              </a:rPr>
              <a:t>；直至</a:t>
            </a:r>
            <a:r>
              <a:rPr lang="en-US" altLang="zh-CN" sz="2800" b="1" dirty="0">
                <a:effectLst>
                  <a:outerShdw blurRad="38100" dist="38100" dir="2700000" algn="tl">
                    <a:srgbClr val="C0C0C0"/>
                  </a:outerShdw>
                </a:effectLst>
              </a:rPr>
              <a:t>a[1]</a:t>
            </a:r>
            <a:r>
              <a:rPr lang="zh-CN" altLang="en-US" sz="2800" b="1" dirty="0">
                <a:effectLst>
                  <a:outerShdw blurRad="38100" dist="38100" dir="2700000" algn="tl">
                    <a:srgbClr val="C0C0C0"/>
                  </a:outerShdw>
                </a:effectLst>
              </a:rPr>
              <a:t>与</a:t>
            </a:r>
            <a:r>
              <a:rPr lang="en-US" altLang="zh-CN" sz="2800" b="1" dirty="0">
                <a:effectLst>
                  <a:outerShdw blurRad="38100" dist="38100" dir="2700000" algn="tl">
                    <a:srgbClr val="C0C0C0"/>
                  </a:outerShdw>
                </a:effectLst>
              </a:rPr>
              <a:t>a[0]</a:t>
            </a:r>
            <a:r>
              <a:rPr lang="zh-CN" altLang="en-US" sz="2800" b="1" dirty="0">
                <a:effectLst>
                  <a:outerShdw blurRad="38100" dist="38100" dir="2700000" algn="tl">
                    <a:srgbClr val="C0C0C0"/>
                  </a:outerShdw>
                </a:effectLst>
              </a:rPr>
              <a:t>比较调整，每次比较调整使小的调到前面，大的调到后面。这样一次比较调整遍历</a:t>
            </a:r>
            <a:r>
              <a:rPr lang="en-US" altLang="zh-CN" sz="2800" b="1" dirty="0">
                <a:effectLst>
                  <a:outerShdw blurRad="38100" dist="38100" dir="2700000" algn="tl">
                    <a:srgbClr val="C0C0C0"/>
                  </a:outerShdw>
                </a:effectLst>
              </a:rPr>
              <a:t>(</a:t>
            </a:r>
            <a:r>
              <a:rPr lang="zh-CN" altLang="en-US" sz="2800" b="1" dirty="0">
                <a:effectLst>
                  <a:outerShdw blurRad="38100" dist="38100" dir="2700000" algn="tl">
                    <a:srgbClr val="C0C0C0"/>
                  </a:outerShdw>
                </a:effectLst>
              </a:rPr>
              <a:t>共做了</a:t>
            </a:r>
            <a:r>
              <a:rPr lang="en-US" altLang="zh-CN" sz="2800" b="1" dirty="0">
                <a:solidFill>
                  <a:srgbClr val="C00000"/>
                </a:solidFill>
                <a:effectLst>
                  <a:outerShdw blurRad="38100" dist="38100" dir="2700000" algn="tl">
                    <a:srgbClr val="C0C0C0"/>
                  </a:outerShdw>
                </a:effectLst>
              </a:rPr>
              <a:t>n-1</a:t>
            </a:r>
            <a:r>
              <a:rPr lang="zh-CN" altLang="en-US" sz="2800" b="1" dirty="0">
                <a:solidFill>
                  <a:srgbClr val="C00000"/>
                </a:solidFill>
                <a:effectLst>
                  <a:outerShdw blurRad="38100" dist="38100" dir="2700000" algn="tl">
                    <a:srgbClr val="C0C0C0"/>
                  </a:outerShdw>
                </a:effectLst>
              </a:rPr>
              <a:t>次</a:t>
            </a:r>
            <a:r>
              <a:rPr lang="zh-CN" altLang="en-US" sz="2800" b="1" dirty="0">
                <a:effectLst>
                  <a:outerShdw blurRad="38100" dist="38100" dir="2700000" algn="tl">
                    <a:srgbClr val="C0C0C0"/>
                  </a:outerShdw>
                </a:effectLst>
              </a:rPr>
              <a:t>比较</a:t>
            </a:r>
            <a:r>
              <a:rPr lang="en-US" altLang="zh-CN" sz="2800" b="1" dirty="0">
                <a:effectLst>
                  <a:outerShdw blurRad="38100" dist="38100" dir="2700000" algn="tl">
                    <a:srgbClr val="C0C0C0"/>
                  </a:outerShdw>
                </a:effectLst>
              </a:rPr>
              <a:t>)</a:t>
            </a:r>
            <a:r>
              <a:rPr lang="zh-CN" altLang="en-US" sz="2800" b="1" dirty="0">
                <a:effectLst>
                  <a:outerShdw blurRad="38100" dist="38100" dir="2700000" algn="tl">
                    <a:srgbClr val="C0C0C0"/>
                  </a:outerShdw>
                </a:effectLst>
              </a:rPr>
              <a:t>后，使最小的元素调到</a:t>
            </a:r>
            <a:r>
              <a:rPr lang="en-US" altLang="zh-CN" sz="2800" b="1" dirty="0">
                <a:effectLst>
                  <a:outerShdw blurRad="38100" dist="38100" dir="2700000" algn="tl">
                    <a:srgbClr val="C0C0C0"/>
                  </a:outerShdw>
                </a:effectLst>
              </a:rPr>
              <a:t>a[0]</a:t>
            </a:r>
            <a:r>
              <a:rPr lang="zh-CN" altLang="en-US" sz="2800" b="1" dirty="0">
                <a:effectLst>
                  <a:outerShdw blurRad="38100" dist="38100" dir="2700000" algn="tl">
                    <a:srgbClr val="C0C0C0"/>
                  </a:outerShdw>
                </a:effectLst>
              </a:rPr>
              <a:t>中。</a:t>
            </a:r>
          </a:p>
          <a:p>
            <a:pPr marL="0" indent="0" eaLnBrk="1" fontAlgn="auto" hangingPunct="1">
              <a:lnSpc>
                <a:spcPct val="95000"/>
              </a:lnSpc>
              <a:spcAft>
                <a:spcPts val="0"/>
              </a:spcAft>
              <a:buClr>
                <a:schemeClr val="accent3"/>
              </a:buClr>
              <a:buFont typeface="Wingdings" pitchFamily="2" charset="2"/>
              <a:buNone/>
              <a:defRPr/>
            </a:pPr>
            <a:r>
              <a:rPr lang="zh-CN" altLang="en-US" sz="2800" b="1" dirty="0">
                <a:effectLst>
                  <a:outerShdw blurRad="38100" dist="38100" dir="2700000" algn="tl">
                    <a:srgbClr val="C0C0C0"/>
                  </a:outerShdw>
                </a:effectLst>
              </a:rPr>
              <a:t>第二次遍历：再次从</a:t>
            </a:r>
            <a:r>
              <a:rPr lang="en-US" altLang="zh-CN" sz="2800" b="1" dirty="0">
                <a:effectLst>
                  <a:outerShdw blurRad="38100" dist="38100" dir="2700000" algn="tl">
                    <a:srgbClr val="C0C0C0"/>
                  </a:outerShdw>
                </a:effectLst>
              </a:rPr>
              <a:t>a[n-1]</a:t>
            </a:r>
            <a:r>
              <a:rPr lang="zh-CN" altLang="en-US" sz="2800" b="1" dirty="0">
                <a:effectLst>
                  <a:outerShdw blurRad="38100" dist="38100" dir="2700000" algn="tl">
                    <a:srgbClr val="C0C0C0"/>
                  </a:outerShdw>
                </a:effectLst>
              </a:rPr>
              <a:t>开始，依次对两个相邻元素作比较调整，直至</a:t>
            </a:r>
            <a:r>
              <a:rPr lang="en-US" altLang="zh-CN" sz="2800" b="1" dirty="0">
                <a:effectLst>
                  <a:outerShdw blurRad="38100" dist="38100" dir="2700000" algn="tl">
                    <a:srgbClr val="C0C0C0"/>
                  </a:outerShdw>
                </a:effectLst>
              </a:rPr>
              <a:t>a[2]</a:t>
            </a:r>
            <a:r>
              <a:rPr lang="zh-CN" altLang="en-US" sz="2800" b="1" dirty="0">
                <a:effectLst>
                  <a:outerShdw blurRad="38100" dist="38100" dir="2700000" algn="tl">
                    <a:srgbClr val="C0C0C0"/>
                  </a:outerShdw>
                </a:effectLst>
              </a:rPr>
              <a:t>与</a:t>
            </a:r>
            <a:r>
              <a:rPr lang="en-US" altLang="zh-CN" sz="2800" b="1" dirty="0">
                <a:effectLst>
                  <a:outerShdw blurRad="38100" dist="38100" dir="2700000" algn="tl">
                    <a:srgbClr val="C0C0C0"/>
                  </a:outerShdw>
                </a:effectLst>
              </a:rPr>
              <a:t>a[1]</a:t>
            </a:r>
            <a:r>
              <a:rPr lang="zh-CN" altLang="en-US" sz="2800" b="1" dirty="0">
                <a:effectLst>
                  <a:outerShdw blurRad="38100" dist="38100" dir="2700000" algn="tl">
                    <a:srgbClr val="C0C0C0"/>
                  </a:outerShdw>
                </a:effectLst>
              </a:rPr>
              <a:t>的比较调整。这次遍历共做了</a:t>
            </a:r>
            <a:r>
              <a:rPr lang="en-US" altLang="zh-CN" sz="2800" b="1" dirty="0">
                <a:solidFill>
                  <a:srgbClr val="C00000"/>
                </a:solidFill>
                <a:effectLst>
                  <a:outerShdw blurRad="38100" dist="38100" dir="2700000" algn="tl">
                    <a:srgbClr val="C0C0C0"/>
                  </a:outerShdw>
                </a:effectLst>
              </a:rPr>
              <a:t>n-2</a:t>
            </a:r>
            <a:r>
              <a:rPr lang="zh-CN" altLang="en-US" sz="2800" b="1" dirty="0">
                <a:solidFill>
                  <a:srgbClr val="C00000"/>
                </a:solidFill>
                <a:effectLst>
                  <a:outerShdw blurRad="38100" dist="38100" dir="2700000" algn="tl">
                    <a:srgbClr val="C0C0C0"/>
                  </a:outerShdw>
                </a:effectLst>
              </a:rPr>
              <a:t>次</a:t>
            </a:r>
            <a:r>
              <a:rPr lang="zh-CN" altLang="en-US" sz="2800" b="1" dirty="0">
                <a:effectLst>
                  <a:outerShdw blurRad="38100" dist="38100" dir="2700000" algn="tl">
                    <a:srgbClr val="C0C0C0"/>
                  </a:outerShdw>
                </a:effectLst>
              </a:rPr>
              <a:t>比较调整，使次最小的元素调到</a:t>
            </a:r>
            <a:r>
              <a:rPr lang="en-US" altLang="zh-CN" sz="2800" b="1" dirty="0">
                <a:effectLst>
                  <a:outerShdw blurRad="38100" dist="38100" dir="2700000" algn="tl">
                    <a:srgbClr val="C0C0C0"/>
                  </a:outerShdw>
                </a:effectLst>
              </a:rPr>
              <a:t>a[1]</a:t>
            </a:r>
            <a:r>
              <a:rPr lang="zh-CN" altLang="en-US" sz="2800" b="1" dirty="0">
                <a:effectLst>
                  <a:outerShdw blurRad="38100" dist="38100" dir="2700000" algn="tl">
                    <a:srgbClr val="C0C0C0"/>
                  </a:outerShdw>
                </a:effectLst>
              </a:rPr>
              <a:t>中。</a:t>
            </a:r>
          </a:p>
          <a:p>
            <a:pPr marL="0" indent="0" eaLnBrk="1" fontAlgn="auto" hangingPunct="1">
              <a:lnSpc>
                <a:spcPct val="95000"/>
              </a:lnSpc>
              <a:spcAft>
                <a:spcPts val="0"/>
              </a:spcAft>
              <a:buClr>
                <a:schemeClr val="accent3"/>
              </a:buClr>
              <a:buFont typeface="Wingdings" pitchFamily="2" charset="2"/>
              <a:buNone/>
              <a:defRPr/>
            </a:pPr>
            <a:r>
              <a:rPr lang="zh-CN" altLang="en-US" sz="2800" b="1" dirty="0">
                <a:effectLst>
                  <a:outerShdw blurRad="38100" dist="38100" dir="2700000" algn="tl">
                    <a:srgbClr val="C0C0C0"/>
                  </a:outerShdw>
                </a:effectLst>
              </a:rPr>
              <a:t>依次类推，直至第</a:t>
            </a:r>
            <a:r>
              <a:rPr lang="en-US" altLang="zh-CN" sz="2800" b="1" dirty="0">
                <a:effectLst>
                  <a:outerShdw blurRad="38100" dist="38100" dir="2700000" algn="tl">
                    <a:srgbClr val="C0C0C0"/>
                  </a:outerShdw>
                </a:effectLst>
              </a:rPr>
              <a:t>n-1</a:t>
            </a:r>
            <a:r>
              <a:rPr lang="zh-CN" altLang="en-US" sz="2800" b="1" dirty="0">
                <a:effectLst>
                  <a:outerShdw blurRad="38100" dist="38100" dir="2700000" algn="tl">
                    <a:srgbClr val="C0C0C0"/>
                  </a:outerShdw>
                </a:effectLst>
              </a:rPr>
              <a:t>次遍历，仅对</a:t>
            </a:r>
            <a:r>
              <a:rPr lang="en-US" altLang="zh-CN" sz="2800" b="1" dirty="0">
                <a:effectLst>
                  <a:outerShdw blurRad="38100" dist="38100" dir="2700000" algn="tl">
                    <a:srgbClr val="C0C0C0"/>
                  </a:outerShdw>
                </a:effectLst>
              </a:rPr>
              <a:t>a[n-1]</a:t>
            </a:r>
            <a:r>
              <a:rPr lang="zh-CN" altLang="en-US" sz="2800" b="1" dirty="0">
                <a:effectLst>
                  <a:outerShdw blurRad="38100" dist="38100" dir="2700000" algn="tl">
                    <a:srgbClr val="C0C0C0"/>
                  </a:outerShdw>
                </a:effectLst>
              </a:rPr>
              <a:t>和</a:t>
            </a:r>
            <a:r>
              <a:rPr lang="en-US" altLang="zh-CN" sz="2800" b="1" dirty="0">
                <a:effectLst>
                  <a:outerShdw blurRad="38100" dist="38100" dir="2700000" algn="tl">
                    <a:srgbClr val="C0C0C0"/>
                  </a:outerShdw>
                </a:effectLst>
              </a:rPr>
              <a:t>a[n-2]</a:t>
            </a:r>
            <a:r>
              <a:rPr lang="zh-CN" altLang="en-US" sz="2800" b="1" dirty="0">
                <a:effectLst>
                  <a:outerShdw blurRad="38100" dist="38100" dir="2700000" algn="tl">
                    <a:srgbClr val="C0C0C0"/>
                  </a:outerShdw>
                </a:effectLst>
              </a:rPr>
              <a:t>作比较调整。至此，完成对数组从小到大排序的要求。</a:t>
            </a:r>
            <a:r>
              <a:rPr lang="zh-CN" altLang="en-US" sz="2800" dirty="0"/>
              <a:t> </a:t>
            </a:r>
          </a:p>
        </p:txBody>
      </p:sp>
      <p:sp>
        <p:nvSpPr>
          <p:cNvPr id="5" name="灯片编号占位符 5"/>
          <p:cNvSpPr>
            <a:spLocks noGrp="1"/>
          </p:cNvSpPr>
          <p:nvPr>
            <p:ph type="sldNum" sz="quarter" idx="12"/>
          </p:nvPr>
        </p:nvSpPr>
        <p:spPr/>
        <p:txBody>
          <a:bodyPr/>
          <a:lstStyle/>
          <a:p>
            <a:pPr>
              <a:defRPr/>
            </a:pPr>
            <a:fld id="{86B82002-4D07-4BA0-8760-60042991CF20}" type="slidenum">
              <a:rPr lang="en-US" altLang="zh-CN"/>
              <a:pPr>
                <a:defRPr/>
              </a:pPr>
              <a:t>40</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20194">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2019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2019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8146" name="Rectangle 2"/>
          <p:cNvSpPr>
            <a:spLocks noGrp="1" noChangeArrowheads="1"/>
          </p:cNvSpPr>
          <p:nvPr>
            <p:ph idx="1"/>
          </p:nvPr>
        </p:nvSpPr>
        <p:spPr>
          <a:xfrm>
            <a:off x="250825" y="908050"/>
            <a:ext cx="8534400" cy="1081088"/>
          </a:xfrm>
        </p:spPr>
        <p:txBody>
          <a:bodyPr>
            <a:normAutofit/>
          </a:bodyPr>
          <a:lstStyle/>
          <a:p>
            <a:pPr marL="0" indent="0" algn="just" eaLnBrk="1" fontAlgn="auto" hangingPunct="1">
              <a:spcAft>
                <a:spcPts val="0"/>
              </a:spcAft>
              <a:buClr>
                <a:schemeClr val="accent3"/>
              </a:buClr>
              <a:buFont typeface="Wingdings" pitchFamily="2" charset="2"/>
              <a:buNone/>
              <a:defRPr/>
            </a:pPr>
            <a:r>
              <a:rPr lang="zh-CN" altLang="en-US" b="1">
                <a:solidFill>
                  <a:srgbClr val="CC3300"/>
                </a:solidFill>
                <a:effectLst>
                  <a:outerShdw blurRad="38100" dist="38100" dir="2700000" algn="tl">
                    <a:srgbClr val="C0C0C0"/>
                  </a:outerShdw>
                </a:effectLst>
                <a:latin typeface="宋体" pitchFamily="2" charset="-122"/>
              </a:rPr>
              <a:t>如：</a:t>
            </a:r>
            <a:r>
              <a:rPr lang="en-US" altLang="zh-CN" b="1">
                <a:solidFill>
                  <a:srgbClr val="CC3300"/>
                </a:solidFill>
                <a:effectLst>
                  <a:outerShdw blurRad="38100" dist="38100" dir="2700000" algn="tl">
                    <a:srgbClr val="C0C0C0"/>
                  </a:outerShdw>
                </a:effectLst>
                <a:latin typeface="宋体" pitchFamily="2" charset="-122"/>
              </a:rPr>
              <a:t>int a[]={ 7,8,4,5,1 };</a:t>
            </a:r>
            <a:r>
              <a:rPr lang="en-US" altLang="zh-CN" b="1">
                <a:effectLst>
                  <a:outerShdw blurRad="38100" dist="38100" dir="2700000" algn="tl">
                    <a:srgbClr val="C0C0C0"/>
                  </a:outerShdw>
                </a:effectLst>
                <a:latin typeface="宋体" pitchFamily="2" charset="-122"/>
              </a:rPr>
              <a:t>		</a:t>
            </a:r>
          </a:p>
        </p:txBody>
      </p:sp>
      <p:sp>
        <p:nvSpPr>
          <p:cNvPr id="23" name="灯片编号占位符 5"/>
          <p:cNvSpPr>
            <a:spLocks noGrp="1"/>
          </p:cNvSpPr>
          <p:nvPr>
            <p:ph type="sldNum" sz="quarter" idx="12"/>
          </p:nvPr>
        </p:nvSpPr>
        <p:spPr/>
        <p:txBody>
          <a:bodyPr/>
          <a:lstStyle/>
          <a:p>
            <a:pPr>
              <a:defRPr/>
            </a:pPr>
            <a:fld id="{FFD5F605-7292-48B9-91CC-95267A9F446C}" type="slidenum">
              <a:rPr lang="en-US" altLang="zh-CN"/>
              <a:pPr>
                <a:defRPr/>
              </a:pPr>
              <a:t>41</a:t>
            </a:fld>
            <a:endParaRPr lang="en-US" altLang="zh-CN"/>
          </a:p>
        </p:txBody>
      </p:sp>
      <p:sp>
        <p:nvSpPr>
          <p:cNvPr id="518170" name="Rectangle 26"/>
          <p:cNvSpPr>
            <a:spLocks noChangeArrowheads="1"/>
          </p:cNvSpPr>
          <p:nvPr/>
        </p:nvSpPr>
        <p:spPr bwMode="auto">
          <a:xfrm>
            <a:off x="2916238" y="2349500"/>
            <a:ext cx="2266950" cy="519113"/>
          </a:xfrm>
          <a:prstGeom prst="rect">
            <a:avLst/>
          </a:prstGeom>
          <a:noFill/>
          <a:ln w="9525">
            <a:noFill/>
            <a:miter lim="800000"/>
            <a:headEnd/>
            <a:tailEnd/>
          </a:ln>
          <a:effectLst/>
        </p:spPr>
        <p:txBody>
          <a:bodyPr wrap="none" lIns="92075" tIns="46038" rIns="92075" bIns="46038">
            <a:spAutoFit/>
          </a:bodyPr>
          <a:lstStyle/>
          <a:p>
            <a:pPr algn="l" eaLnBrk="1" hangingPunct="1">
              <a:spcBef>
                <a:spcPct val="20000"/>
              </a:spcBef>
              <a:buClr>
                <a:schemeClr val="hlink"/>
              </a:buClr>
              <a:buSzPct val="50000"/>
              <a:buFont typeface="Monotype Sorts" pitchFamily="2" charset="2"/>
              <a:buNone/>
              <a:defRPr/>
            </a:pPr>
            <a:r>
              <a:rPr kumimoji="1" lang="zh-CN" altLang="en-US">
                <a:effectLst>
                  <a:outerShdw blurRad="38100" dist="38100" dir="2700000" algn="tl">
                    <a:srgbClr val="C0C0C0"/>
                  </a:outerShdw>
                </a:effectLst>
                <a:latin typeface="Arial" charset="0"/>
                <a:ea typeface="楷体_GB2312" pitchFamily="49" charset="-122"/>
              </a:rPr>
              <a:t>第</a:t>
            </a:r>
            <a:r>
              <a:rPr kumimoji="1" lang="en-US" altLang="zh-CN">
                <a:effectLst>
                  <a:outerShdw blurRad="38100" dist="38100" dir="2700000" algn="tl">
                    <a:srgbClr val="C0C0C0"/>
                  </a:outerShdw>
                </a:effectLst>
                <a:latin typeface="Arial" charset="0"/>
                <a:ea typeface="楷体_GB2312" pitchFamily="49" charset="-122"/>
              </a:rPr>
              <a:t>2 </a:t>
            </a:r>
            <a:r>
              <a:rPr kumimoji="1" lang="zh-CN" altLang="en-US">
                <a:effectLst>
                  <a:outerShdw blurRad="38100" dist="38100" dir="2700000" algn="tl">
                    <a:srgbClr val="C0C0C0"/>
                  </a:outerShdw>
                </a:effectLst>
                <a:latin typeface="Arial" charset="0"/>
                <a:ea typeface="楷体_GB2312" pitchFamily="49" charset="-122"/>
              </a:rPr>
              <a:t>次遍历：</a:t>
            </a:r>
          </a:p>
        </p:txBody>
      </p:sp>
      <p:sp>
        <p:nvSpPr>
          <p:cNvPr id="518177" name="Rectangle 33"/>
          <p:cNvSpPr>
            <a:spLocks noChangeArrowheads="1"/>
          </p:cNvSpPr>
          <p:nvPr/>
        </p:nvSpPr>
        <p:spPr bwMode="auto">
          <a:xfrm>
            <a:off x="5689600" y="2349500"/>
            <a:ext cx="2266950" cy="519113"/>
          </a:xfrm>
          <a:prstGeom prst="rect">
            <a:avLst/>
          </a:prstGeom>
          <a:noFill/>
          <a:ln w="9525">
            <a:noFill/>
            <a:miter lim="800000"/>
            <a:headEnd/>
            <a:tailEnd/>
          </a:ln>
          <a:effectLst/>
        </p:spPr>
        <p:txBody>
          <a:bodyPr wrap="none" lIns="92075" tIns="46038" rIns="92075" bIns="46038">
            <a:spAutoFit/>
          </a:bodyPr>
          <a:lstStyle/>
          <a:p>
            <a:pPr algn="l" eaLnBrk="1" hangingPunct="1">
              <a:spcBef>
                <a:spcPct val="20000"/>
              </a:spcBef>
              <a:buClr>
                <a:schemeClr val="hlink"/>
              </a:buClr>
              <a:buSzPct val="50000"/>
              <a:buFont typeface="Monotype Sorts" pitchFamily="2" charset="2"/>
              <a:buNone/>
              <a:defRPr/>
            </a:pPr>
            <a:r>
              <a:rPr kumimoji="1" lang="zh-CN" altLang="en-US">
                <a:effectLst>
                  <a:outerShdw blurRad="38100" dist="38100" dir="2700000" algn="tl">
                    <a:srgbClr val="C0C0C0"/>
                  </a:outerShdw>
                </a:effectLst>
                <a:latin typeface="Arial" charset="0"/>
                <a:ea typeface="楷体_GB2312" pitchFamily="49" charset="-122"/>
              </a:rPr>
              <a:t>第</a:t>
            </a:r>
            <a:r>
              <a:rPr kumimoji="1" lang="en-US" altLang="zh-CN">
                <a:effectLst>
                  <a:outerShdw blurRad="38100" dist="38100" dir="2700000" algn="tl">
                    <a:srgbClr val="C0C0C0"/>
                  </a:outerShdw>
                </a:effectLst>
                <a:latin typeface="Arial" charset="0"/>
                <a:ea typeface="楷体_GB2312" pitchFamily="49" charset="-122"/>
              </a:rPr>
              <a:t>3 </a:t>
            </a:r>
            <a:r>
              <a:rPr kumimoji="1" lang="zh-CN" altLang="en-US">
                <a:effectLst>
                  <a:outerShdw blurRad="38100" dist="38100" dir="2700000" algn="tl">
                    <a:srgbClr val="C0C0C0"/>
                  </a:outerShdw>
                </a:effectLst>
                <a:latin typeface="Arial" charset="0"/>
                <a:ea typeface="楷体_GB2312" pitchFamily="49" charset="-122"/>
              </a:rPr>
              <a:t>次遍历：</a:t>
            </a:r>
          </a:p>
        </p:txBody>
      </p:sp>
      <p:sp>
        <p:nvSpPr>
          <p:cNvPr id="518183" name="Rectangle 39"/>
          <p:cNvSpPr>
            <a:spLocks noChangeArrowheads="1"/>
          </p:cNvSpPr>
          <p:nvPr/>
        </p:nvSpPr>
        <p:spPr bwMode="auto">
          <a:xfrm>
            <a:off x="5724525" y="4868863"/>
            <a:ext cx="2266950" cy="519112"/>
          </a:xfrm>
          <a:prstGeom prst="rect">
            <a:avLst/>
          </a:prstGeom>
          <a:noFill/>
          <a:ln w="9525">
            <a:noFill/>
            <a:miter lim="800000"/>
            <a:headEnd/>
            <a:tailEnd/>
          </a:ln>
          <a:effectLst/>
        </p:spPr>
        <p:txBody>
          <a:bodyPr wrap="none" lIns="92075" tIns="46038" rIns="92075" bIns="46038">
            <a:spAutoFit/>
          </a:bodyPr>
          <a:lstStyle/>
          <a:p>
            <a:pPr algn="l" eaLnBrk="1" hangingPunct="1">
              <a:spcBef>
                <a:spcPct val="20000"/>
              </a:spcBef>
              <a:buClr>
                <a:schemeClr val="hlink"/>
              </a:buClr>
              <a:buSzPct val="50000"/>
              <a:buFont typeface="Monotype Sorts" pitchFamily="2" charset="2"/>
              <a:buNone/>
              <a:defRPr/>
            </a:pPr>
            <a:r>
              <a:rPr kumimoji="1" lang="zh-CN" altLang="en-US">
                <a:effectLst>
                  <a:outerShdw blurRad="38100" dist="38100" dir="2700000" algn="tl">
                    <a:srgbClr val="C0C0C0"/>
                  </a:outerShdw>
                </a:effectLst>
                <a:latin typeface="Arial" charset="0"/>
                <a:ea typeface="楷体_GB2312" pitchFamily="49" charset="-122"/>
              </a:rPr>
              <a:t>第</a:t>
            </a:r>
            <a:r>
              <a:rPr kumimoji="1" lang="en-US" altLang="zh-CN">
                <a:effectLst>
                  <a:outerShdw blurRad="38100" dist="38100" dir="2700000" algn="tl">
                    <a:srgbClr val="C0C0C0"/>
                  </a:outerShdw>
                </a:effectLst>
                <a:latin typeface="Arial" charset="0"/>
                <a:ea typeface="楷体_GB2312" pitchFamily="49" charset="-122"/>
              </a:rPr>
              <a:t>4 </a:t>
            </a:r>
            <a:r>
              <a:rPr kumimoji="1" lang="zh-CN" altLang="en-US">
                <a:effectLst>
                  <a:outerShdw blurRad="38100" dist="38100" dir="2700000" algn="tl">
                    <a:srgbClr val="C0C0C0"/>
                  </a:outerShdw>
                </a:effectLst>
                <a:latin typeface="Arial" charset="0"/>
                <a:ea typeface="楷体_GB2312" pitchFamily="49" charset="-122"/>
              </a:rPr>
              <a:t>次遍历：</a:t>
            </a:r>
          </a:p>
        </p:txBody>
      </p:sp>
      <p:sp>
        <p:nvSpPr>
          <p:cNvPr id="518184" name="Rectangle 40"/>
          <p:cNvSpPr>
            <a:spLocks noChangeArrowheads="1"/>
          </p:cNvSpPr>
          <p:nvPr/>
        </p:nvSpPr>
        <p:spPr bwMode="auto">
          <a:xfrm>
            <a:off x="250825" y="2333625"/>
            <a:ext cx="2266950" cy="519113"/>
          </a:xfrm>
          <a:prstGeom prst="rect">
            <a:avLst/>
          </a:prstGeom>
          <a:noFill/>
          <a:ln w="9525">
            <a:noFill/>
            <a:miter lim="800000"/>
            <a:headEnd/>
            <a:tailEnd/>
          </a:ln>
          <a:effectLst/>
        </p:spPr>
        <p:txBody>
          <a:bodyPr wrap="none" lIns="92075" tIns="46038" rIns="92075" bIns="46038">
            <a:spAutoFit/>
          </a:bodyPr>
          <a:lstStyle/>
          <a:p>
            <a:pPr algn="l" eaLnBrk="1" hangingPunct="1">
              <a:spcBef>
                <a:spcPct val="20000"/>
              </a:spcBef>
              <a:buClr>
                <a:schemeClr val="hlink"/>
              </a:buClr>
              <a:buSzPct val="50000"/>
              <a:buFont typeface="Monotype Sorts" pitchFamily="2" charset="2"/>
              <a:buNone/>
              <a:defRPr/>
            </a:pPr>
            <a:r>
              <a:rPr kumimoji="1" lang="zh-CN" altLang="en-US">
                <a:effectLst>
                  <a:outerShdw blurRad="38100" dist="38100" dir="2700000" algn="tl">
                    <a:srgbClr val="C0C0C0"/>
                  </a:outerShdw>
                </a:effectLst>
                <a:latin typeface="Arial" charset="0"/>
                <a:ea typeface="楷体_GB2312" pitchFamily="49" charset="-122"/>
              </a:rPr>
              <a:t>第</a:t>
            </a:r>
            <a:r>
              <a:rPr kumimoji="1" lang="en-US" altLang="zh-CN">
                <a:effectLst>
                  <a:outerShdw blurRad="38100" dist="38100" dir="2700000" algn="tl">
                    <a:srgbClr val="C0C0C0"/>
                  </a:outerShdw>
                </a:effectLst>
                <a:latin typeface="Arial" charset="0"/>
                <a:ea typeface="楷体_GB2312" pitchFamily="49" charset="-122"/>
              </a:rPr>
              <a:t>1 </a:t>
            </a:r>
            <a:r>
              <a:rPr kumimoji="1" lang="zh-CN" altLang="en-US">
                <a:effectLst>
                  <a:outerShdw blurRad="38100" dist="38100" dir="2700000" algn="tl">
                    <a:srgbClr val="C0C0C0"/>
                  </a:outerShdw>
                </a:effectLst>
                <a:latin typeface="Arial" charset="0"/>
                <a:ea typeface="楷体_GB2312" pitchFamily="49" charset="-122"/>
              </a:rPr>
              <a:t>次遍历：</a:t>
            </a:r>
          </a:p>
        </p:txBody>
      </p:sp>
      <p:sp>
        <p:nvSpPr>
          <p:cNvPr id="518188" name="Text Box 44"/>
          <p:cNvSpPr txBox="1">
            <a:spLocks noChangeArrowheads="1"/>
          </p:cNvSpPr>
          <p:nvPr/>
        </p:nvSpPr>
        <p:spPr bwMode="auto">
          <a:xfrm>
            <a:off x="323850" y="2997200"/>
            <a:ext cx="2139950" cy="519113"/>
          </a:xfrm>
          <a:prstGeom prst="rect">
            <a:avLst/>
          </a:prstGeom>
          <a:noFill/>
          <a:ln w="9525">
            <a:noFill/>
            <a:miter lim="800000"/>
            <a:headEnd/>
            <a:tailEnd/>
          </a:ln>
        </p:spPr>
        <p:txBody>
          <a:bodyPr>
            <a:spAutoFit/>
          </a:bodyPr>
          <a:lstStyle/>
          <a:p>
            <a:r>
              <a:rPr lang="en-US" altLang="zh-CN"/>
              <a:t>7   8   4   </a:t>
            </a:r>
            <a:r>
              <a:rPr lang="en-US" altLang="zh-CN" u="sng"/>
              <a:t>5   1</a:t>
            </a:r>
          </a:p>
        </p:txBody>
      </p:sp>
      <p:sp>
        <p:nvSpPr>
          <p:cNvPr id="518189" name="Text Box 45"/>
          <p:cNvSpPr txBox="1">
            <a:spLocks noChangeArrowheads="1"/>
          </p:cNvSpPr>
          <p:nvPr/>
        </p:nvSpPr>
        <p:spPr bwMode="auto">
          <a:xfrm>
            <a:off x="323850" y="3644900"/>
            <a:ext cx="2139950" cy="519113"/>
          </a:xfrm>
          <a:prstGeom prst="rect">
            <a:avLst/>
          </a:prstGeom>
          <a:noFill/>
          <a:ln w="9525">
            <a:noFill/>
            <a:miter lim="800000"/>
            <a:headEnd/>
            <a:tailEnd/>
          </a:ln>
        </p:spPr>
        <p:txBody>
          <a:bodyPr wrap="none">
            <a:spAutoFit/>
          </a:bodyPr>
          <a:lstStyle/>
          <a:p>
            <a:r>
              <a:rPr lang="en-US" altLang="zh-CN"/>
              <a:t>7   8   </a:t>
            </a:r>
            <a:r>
              <a:rPr lang="en-US" altLang="zh-CN" u="sng"/>
              <a:t>4   1</a:t>
            </a:r>
            <a:r>
              <a:rPr lang="en-US" altLang="zh-CN"/>
              <a:t>   5</a:t>
            </a:r>
          </a:p>
        </p:txBody>
      </p:sp>
      <p:sp>
        <p:nvSpPr>
          <p:cNvPr id="518190" name="Text Box 46"/>
          <p:cNvSpPr txBox="1">
            <a:spLocks noChangeArrowheads="1"/>
          </p:cNvSpPr>
          <p:nvPr/>
        </p:nvSpPr>
        <p:spPr bwMode="auto">
          <a:xfrm>
            <a:off x="323850" y="4365625"/>
            <a:ext cx="2139950" cy="519113"/>
          </a:xfrm>
          <a:prstGeom prst="rect">
            <a:avLst/>
          </a:prstGeom>
          <a:noFill/>
          <a:ln w="9525">
            <a:noFill/>
            <a:miter lim="800000"/>
            <a:headEnd/>
            <a:tailEnd/>
          </a:ln>
        </p:spPr>
        <p:txBody>
          <a:bodyPr wrap="none">
            <a:spAutoFit/>
          </a:bodyPr>
          <a:lstStyle/>
          <a:p>
            <a:r>
              <a:rPr lang="en-US" altLang="zh-CN"/>
              <a:t>7   </a:t>
            </a:r>
            <a:r>
              <a:rPr lang="en-US" altLang="zh-CN" u="sng"/>
              <a:t>8   1</a:t>
            </a:r>
            <a:r>
              <a:rPr lang="en-US" altLang="zh-CN"/>
              <a:t>   4   5</a:t>
            </a:r>
          </a:p>
        </p:txBody>
      </p:sp>
      <p:sp>
        <p:nvSpPr>
          <p:cNvPr id="518191" name="Text Box 47"/>
          <p:cNvSpPr txBox="1">
            <a:spLocks noChangeArrowheads="1"/>
          </p:cNvSpPr>
          <p:nvPr/>
        </p:nvSpPr>
        <p:spPr bwMode="auto">
          <a:xfrm>
            <a:off x="323850" y="5013325"/>
            <a:ext cx="2139950" cy="519113"/>
          </a:xfrm>
          <a:prstGeom prst="rect">
            <a:avLst/>
          </a:prstGeom>
          <a:noFill/>
          <a:ln w="9525">
            <a:noFill/>
            <a:miter lim="800000"/>
            <a:headEnd/>
            <a:tailEnd/>
          </a:ln>
        </p:spPr>
        <p:txBody>
          <a:bodyPr wrap="none">
            <a:spAutoFit/>
          </a:bodyPr>
          <a:lstStyle/>
          <a:p>
            <a:r>
              <a:rPr lang="en-US" altLang="zh-CN" u="sng"/>
              <a:t>7   1</a:t>
            </a:r>
            <a:r>
              <a:rPr lang="en-US" altLang="zh-CN"/>
              <a:t>   8   4   5</a:t>
            </a:r>
          </a:p>
        </p:txBody>
      </p:sp>
      <p:sp>
        <p:nvSpPr>
          <p:cNvPr id="518192" name="Text Box 48"/>
          <p:cNvSpPr txBox="1">
            <a:spLocks noChangeArrowheads="1"/>
          </p:cNvSpPr>
          <p:nvPr/>
        </p:nvSpPr>
        <p:spPr bwMode="auto">
          <a:xfrm>
            <a:off x="323850" y="5661025"/>
            <a:ext cx="2139950" cy="519113"/>
          </a:xfrm>
          <a:prstGeom prst="rect">
            <a:avLst/>
          </a:prstGeom>
          <a:noFill/>
          <a:ln w="9525">
            <a:noFill/>
            <a:miter lim="800000"/>
            <a:headEnd/>
            <a:tailEnd/>
          </a:ln>
        </p:spPr>
        <p:txBody>
          <a:bodyPr>
            <a:spAutoFit/>
          </a:bodyPr>
          <a:lstStyle/>
          <a:p>
            <a:r>
              <a:rPr lang="en-US" altLang="zh-CN">
                <a:solidFill>
                  <a:srgbClr val="FF3300"/>
                </a:solidFill>
              </a:rPr>
              <a:t>1   </a:t>
            </a:r>
            <a:r>
              <a:rPr lang="en-US" altLang="zh-CN"/>
              <a:t>7   8   4   5</a:t>
            </a:r>
          </a:p>
        </p:txBody>
      </p:sp>
      <p:sp>
        <p:nvSpPr>
          <p:cNvPr id="518193" name="Text Box 49"/>
          <p:cNvSpPr txBox="1">
            <a:spLocks noChangeArrowheads="1"/>
          </p:cNvSpPr>
          <p:nvPr/>
        </p:nvSpPr>
        <p:spPr bwMode="auto">
          <a:xfrm>
            <a:off x="2843213" y="2997200"/>
            <a:ext cx="2139950" cy="519113"/>
          </a:xfrm>
          <a:prstGeom prst="rect">
            <a:avLst/>
          </a:prstGeom>
          <a:noFill/>
          <a:ln w="9525">
            <a:noFill/>
            <a:miter lim="800000"/>
            <a:headEnd/>
            <a:tailEnd/>
          </a:ln>
        </p:spPr>
        <p:txBody>
          <a:bodyPr>
            <a:spAutoFit/>
          </a:bodyPr>
          <a:lstStyle/>
          <a:p>
            <a:r>
              <a:rPr lang="en-US" altLang="zh-CN">
                <a:solidFill>
                  <a:srgbClr val="FF3300"/>
                </a:solidFill>
              </a:rPr>
              <a:t>1</a:t>
            </a:r>
            <a:r>
              <a:rPr lang="en-US" altLang="zh-CN"/>
              <a:t>   7   8   </a:t>
            </a:r>
            <a:r>
              <a:rPr lang="en-US" altLang="zh-CN" u="sng"/>
              <a:t>4   5</a:t>
            </a:r>
          </a:p>
        </p:txBody>
      </p:sp>
      <p:sp>
        <p:nvSpPr>
          <p:cNvPr id="518194" name="Text Box 50"/>
          <p:cNvSpPr txBox="1">
            <a:spLocks noChangeArrowheads="1"/>
          </p:cNvSpPr>
          <p:nvPr/>
        </p:nvSpPr>
        <p:spPr bwMode="auto">
          <a:xfrm>
            <a:off x="2843213" y="3644900"/>
            <a:ext cx="2139950" cy="519113"/>
          </a:xfrm>
          <a:prstGeom prst="rect">
            <a:avLst/>
          </a:prstGeom>
          <a:noFill/>
          <a:ln w="9525">
            <a:noFill/>
            <a:miter lim="800000"/>
            <a:headEnd/>
            <a:tailEnd/>
          </a:ln>
        </p:spPr>
        <p:txBody>
          <a:bodyPr>
            <a:spAutoFit/>
          </a:bodyPr>
          <a:lstStyle/>
          <a:p>
            <a:r>
              <a:rPr lang="en-US" altLang="zh-CN">
                <a:solidFill>
                  <a:srgbClr val="FF3300"/>
                </a:solidFill>
              </a:rPr>
              <a:t>1</a:t>
            </a:r>
            <a:r>
              <a:rPr lang="en-US" altLang="zh-CN"/>
              <a:t>   7   </a:t>
            </a:r>
            <a:r>
              <a:rPr lang="en-US" altLang="zh-CN" u="sng"/>
              <a:t>8   4</a:t>
            </a:r>
            <a:r>
              <a:rPr lang="en-US" altLang="zh-CN"/>
              <a:t>   5</a:t>
            </a:r>
          </a:p>
        </p:txBody>
      </p:sp>
      <p:sp>
        <p:nvSpPr>
          <p:cNvPr id="518195" name="Text Box 51"/>
          <p:cNvSpPr txBox="1">
            <a:spLocks noChangeArrowheads="1"/>
          </p:cNvSpPr>
          <p:nvPr/>
        </p:nvSpPr>
        <p:spPr bwMode="auto">
          <a:xfrm>
            <a:off x="2843213" y="4365625"/>
            <a:ext cx="2139950" cy="519113"/>
          </a:xfrm>
          <a:prstGeom prst="rect">
            <a:avLst/>
          </a:prstGeom>
          <a:noFill/>
          <a:ln w="9525">
            <a:noFill/>
            <a:miter lim="800000"/>
            <a:headEnd/>
            <a:tailEnd/>
          </a:ln>
        </p:spPr>
        <p:txBody>
          <a:bodyPr>
            <a:spAutoFit/>
          </a:bodyPr>
          <a:lstStyle/>
          <a:p>
            <a:r>
              <a:rPr lang="en-US" altLang="zh-CN">
                <a:solidFill>
                  <a:srgbClr val="FF3300"/>
                </a:solidFill>
              </a:rPr>
              <a:t>1</a:t>
            </a:r>
            <a:r>
              <a:rPr lang="en-US" altLang="zh-CN"/>
              <a:t>   </a:t>
            </a:r>
            <a:r>
              <a:rPr lang="en-US" altLang="zh-CN" u="sng"/>
              <a:t>7   4</a:t>
            </a:r>
            <a:r>
              <a:rPr lang="en-US" altLang="zh-CN"/>
              <a:t>   8   5</a:t>
            </a:r>
          </a:p>
        </p:txBody>
      </p:sp>
      <p:sp>
        <p:nvSpPr>
          <p:cNvPr id="518196" name="Text Box 52"/>
          <p:cNvSpPr txBox="1">
            <a:spLocks noChangeArrowheads="1"/>
          </p:cNvSpPr>
          <p:nvPr/>
        </p:nvSpPr>
        <p:spPr bwMode="auto">
          <a:xfrm>
            <a:off x="2843213" y="5013325"/>
            <a:ext cx="2139950" cy="519113"/>
          </a:xfrm>
          <a:prstGeom prst="rect">
            <a:avLst/>
          </a:prstGeom>
          <a:noFill/>
          <a:ln w="9525">
            <a:noFill/>
            <a:miter lim="800000"/>
            <a:headEnd/>
            <a:tailEnd/>
          </a:ln>
        </p:spPr>
        <p:txBody>
          <a:bodyPr>
            <a:spAutoFit/>
          </a:bodyPr>
          <a:lstStyle/>
          <a:p>
            <a:r>
              <a:rPr lang="en-US" altLang="zh-CN">
                <a:solidFill>
                  <a:srgbClr val="FF3300"/>
                </a:solidFill>
              </a:rPr>
              <a:t>1   4   </a:t>
            </a:r>
            <a:r>
              <a:rPr lang="en-US" altLang="zh-CN"/>
              <a:t>7   8   5</a:t>
            </a:r>
          </a:p>
        </p:txBody>
      </p:sp>
      <p:sp>
        <p:nvSpPr>
          <p:cNvPr id="518197" name="Text Box 53"/>
          <p:cNvSpPr txBox="1">
            <a:spLocks noChangeArrowheads="1"/>
          </p:cNvSpPr>
          <p:nvPr/>
        </p:nvSpPr>
        <p:spPr bwMode="auto">
          <a:xfrm>
            <a:off x="5672138" y="2997200"/>
            <a:ext cx="2139950" cy="519113"/>
          </a:xfrm>
          <a:prstGeom prst="rect">
            <a:avLst/>
          </a:prstGeom>
          <a:noFill/>
          <a:ln w="9525">
            <a:noFill/>
            <a:miter lim="800000"/>
            <a:headEnd/>
            <a:tailEnd/>
          </a:ln>
        </p:spPr>
        <p:txBody>
          <a:bodyPr>
            <a:spAutoFit/>
          </a:bodyPr>
          <a:lstStyle/>
          <a:p>
            <a:r>
              <a:rPr lang="en-US" altLang="zh-CN">
                <a:solidFill>
                  <a:srgbClr val="FF3300"/>
                </a:solidFill>
              </a:rPr>
              <a:t>1   4</a:t>
            </a:r>
            <a:r>
              <a:rPr lang="en-US" altLang="zh-CN"/>
              <a:t>   7   </a:t>
            </a:r>
            <a:r>
              <a:rPr lang="en-US" altLang="zh-CN" u="sng"/>
              <a:t>8   5</a:t>
            </a:r>
          </a:p>
        </p:txBody>
      </p:sp>
      <p:sp>
        <p:nvSpPr>
          <p:cNvPr id="518198" name="Text Box 54"/>
          <p:cNvSpPr txBox="1">
            <a:spLocks noChangeArrowheads="1"/>
          </p:cNvSpPr>
          <p:nvPr/>
        </p:nvSpPr>
        <p:spPr bwMode="auto">
          <a:xfrm>
            <a:off x="5672138" y="3644900"/>
            <a:ext cx="2139950" cy="519113"/>
          </a:xfrm>
          <a:prstGeom prst="rect">
            <a:avLst/>
          </a:prstGeom>
          <a:noFill/>
          <a:ln w="9525">
            <a:noFill/>
            <a:miter lim="800000"/>
            <a:headEnd/>
            <a:tailEnd/>
          </a:ln>
        </p:spPr>
        <p:txBody>
          <a:bodyPr>
            <a:spAutoFit/>
          </a:bodyPr>
          <a:lstStyle/>
          <a:p>
            <a:r>
              <a:rPr lang="en-US" altLang="zh-CN">
                <a:solidFill>
                  <a:srgbClr val="FF3300"/>
                </a:solidFill>
              </a:rPr>
              <a:t>1   4</a:t>
            </a:r>
            <a:r>
              <a:rPr lang="en-US" altLang="zh-CN"/>
              <a:t>   </a:t>
            </a:r>
            <a:r>
              <a:rPr lang="en-US" altLang="zh-CN" u="sng"/>
              <a:t>7   5</a:t>
            </a:r>
            <a:r>
              <a:rPr lang="en-US" altLang="zh-CN"/>
              <a:t>   8</a:t>
            </a:r>
          </a:p>
        </p:txBody>
      </p:sp>
      <p:sp>
        <p:nvSpPr>
          <p:cNvPr id="518199" name="Text Box 55"/>
          <p:cNvSpPr txBox="1">
            <a:spLocks noChangeArrowheads="1"/>
          </p:cNvSpPr>
          <p:nvPr/>
        </p:nvSpPr>
        <p:spPr bwMode="auto">
          <a:xfrm>
            <a:off x="5651500" y="4349750"/>
            <a:ext cx="2139950" cy="519113"/>
          </a:xfrm>
          <a:prstGeom prst="rect">
            <a:avLst/>
          </a:prstGeom>
          <a:noFill/>
          <a:ln w="9525">
            <a:noFill/>
            <a:miter lim="800000"/>
            <a:headEnd/>
            <a:tailEnd/>
          </a:ln>
        </p:spPr>
        <p:txBody>
          <a:bodyPr>
            <a:spAutoFit/>
          </a:bodyPr>
          <a:lstStyle/>
          <a:p>
            <a:r>
              <a:rPr lang="en-US" altLang="zh-CN">
                <a:solidFill>
                  <a:srgbClr val="FF3300"/>
                </a:solidFill>
              </a:rPr>
              <a:t>1   4   5   </a:t>
            </a:r>
            <a:r>
              <a:rPr lang="en-US" altLang="zh-CN"/>
              <a:t>7   8</a:t>
            </a:r>
          </a:p>
        </p:txBody>
      </p:sp>
      <p:sp>
        <p:nvSpPr>
          <p:cNvPr id="518200" name="Text Box 56"/>
          <p:cNvSpPr txBox="1">
            <a:spLocks noChangeArrowheads="1"/>
          </p:cNvSpPr>
          <p:nvPr/>
        </p:nvSpPr>
        <p:spPr bwMode="auto">
          <a:xfrm>
            <a:off x="5651500" y="5373688"/>
            <a:ext cx="2139950" cy="519112"/>
          </a:xfrm>
          <a:prstGeom prst="rect">
            <a:avLst/>
          </a:prstGeom>
          <a:noFill/>
          <a:ln w="9525">
            <a:noFill/>
            <a:miter lim="800000"/>
            <a:headEnd/>
            <a:tailEnd/>
          </a:ln>
        </p:spPr>
        <p:txBody>
          <a:bodyPr>
            <a:spAutoFit/>
          </a:bodyPr>
          <a:lstStyle/>
          <a:p>
            <a:r>
              <a:rPr lang="en-US" altLang="zh-CN">
                <a:solidFill>
                  <a:srgbClr val="FF3300"/>
                </a:solidFill>
              </a:rPr>
              <a:t>1   4   5</a:t>
            </a:r>
            <a:r>
              <a:rPr lang="en-US" altLang="zh-CN"/>
              <a:t>   </a:t>
            </a:r>
            <a:r>
              <a:rPr lang="en-US" altLang="zh-CN" u="sng"/>
              <a:t>7   8</a:t>
            </a:r>
          </a:p>
        </p:txBody>
      </p:sp>
      <p:sp>
        <p:nvSpPr>
          <p:cNvPr id="518201" name="Text Box 57"/>
          <p:cNvSpPr txBox="1">
            <a:spLocks noChangeArrowheads="1"/>
          </p:cNvSpPr>
          <p:nvPr/>
        </p:nvSpPr>
        <p:spPr bwMode="auto">
          <a:xfrm>
            <a:off x="5651500" y="5949950"/>
            <a:ext cx="2139950" cy="519113"/>
          </a:xfrm>
          <a:prstGeom prst="rect">
            <a:avLst/>
          </a:prstGeom>
          <a:noFill/>
          <a:ln w="9525">
            <a:noFill/>
            <a:miter lim="800000"/>
            <a:headEnd/>
            <a:tailEnd/>
          </a:ln>
        </p:spPr>
        <p:txBody>
          <a:bodyPr>
            <a:spAutoFit/>
          </a:bodyPr>
          <a:lstStyle/>
          <a:p>
            <a:r>
              <a:rPr lang="en-US" altLang="zh-CN">
                <a:solidFill>
                  <a:srgbClr val="FF3300"/>
                </a:solidFill>
              </a:rPr>
              <a:t>1   4   5   7   8</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18184"/>
                                        </p:tgtEl>
                                        <p:attrNameLst>
                                          <p:attrName>style.visibility</p:attrName>
                                        </p:attrNameLst>
                                      </p:cBhvr>
                                      <p:to>
                                        <p:strVal val="visible"/>
                                      </p:to>
                                    </p:set>
                                    <p:animEffect transition="in" filter="wipe(up)">
                                      <p:cBhvr>
                                        <p:cTn id="7" dur="500"/>
                                        <p:tgtEl>
                                          <p:spTgt spid="51818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18188"/>
                                        </p:tgtEl>
                                        <p:attrNameLst>
                                          <p:attrName>style.visibility</p:attrName>
                                        </p:attrNameLst>
                                      </p:cBhvr>
                                      <p:to>
                                        <p:strVal val="visible"/>
                                      </p:to>
                                    </p:set>
                                    <p:animEffect transition="in" filter="blinds(horizontal)">
                                      <p:cBhvr>
                                        <p:cTn id="12" dur="500"/>
                                        <p:tgtEl>
                                          <p:spTgt spid="51818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518189"/>
                                        </p:tgtEl>
                                        <p:attrNameLst>
                                          <p:attrName>style.visibility</p:attrName>
                                        </p:attrNameLst>
                                      </p:cBhvr>
                                      <p:to>
                                        <p:strVal val="visible"/>
                                      </p:to>
                                    </p:set>
                                    <p:animEffect transition="in" filter="box(in)">
                                      <p:cBhvr>
                                        <p:cTn id="17" dur="500"/>
                                        <p:tgtEl>
                                          <p:spTgt spid="51818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518190"/>
                                        </p:tgtEl>
                                        <p:attrNameLst>
                                          <p:attrName>style.visibility</p:attrName>
                                        </p:attrNameLst>
                                      </p:cBhvr>
                                      <p:to>
                                        <p:strVal val="visible"/>
                                      </p:to>
                                    </p:set>
                                    <p:animEffect transition="in" filter="checkerboard(across)">
                                      <p:cBhvr>
                                        <p:cTn id="22" dur="500"/>
                                        <p:tgtEl>
                                          <p:spTgt spid="51819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518191"/>
                                        </p:tgtEl>
                                        <p:attrNameLst>
                                          <p:attrName>style.visibility</p:attrName>
                                        </p:attrNameLst>
                                      </p:cBhvr>
                                      <p:to>
                                        <p:strVal val="visible"/>
                                      </p:to>
                                    </p:set>
                                    <p:anim calcmode="lin" valueType="num">
                                      <p:cBhvr additive="base">
                                        <p:cTn id="27" dur="500" fill="hold"/>
                                        <p:tgtEl>
                                          <p:spTgt spid="518191"/>
                                        </p:tgtEl>
                                        <p:attrNameLst>
                                          <p:attrName>ppt_x</p:attrName>
                                        </p:attrNameLst>
                                      </p:cBhvr>
                                      <p:tavLst>
                                        <p:tav tm="0">
                                          <p:val>
                                            <p:strVal val="#ppt_x"/>
                                          </p:val>
                                        </p:tav>
                                        <p:tav tm="100000">
                                          <p:val>
                                            <p:strVal val="#ppt_x"/>
                                          </p:val>
                                        </p:tav>
                                      </p:tavLst>
                                    </p:anim>
                                    <p:anim calcmode="lin" valueType="num">
                                      <p:cBhvr additive="base">
                                        <p:cTn id="28" dur="500" fill="hold"/>
                                        <p:tgtEl>
                                          <p:spTgt spid="518191"/>
                                        </p:tgtEl>
                                        <p:attrNameLst>
                                          <p:attrName>ppt_y</p:attrName>
                                        </p:attrNameLst>
                                      </p:cBhvr>
                                      <p:tavLst>
                                        <p:tav tm="0">
                                          <p:val>
                                            <p:strVal val="1+#ppt_h/2"/>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518192"/>
                                        </p:tgtEl>
                                        <p:attrNameLst>
                                          <p:attrName>style.visibility</p:attrName>
                                        </p:attrNameLst>
                                      </p:cBhvr>
                                      <p:to>
                                        <p:strVal val="visible"/>
                                      </p:to>
                                    </p:set>
                                    <p:animEffect transition="in" filter="blinds(horizontal)">
                                      <p:cBhvr>
                                        <p:cTn id="33" dur="500"/>
                                        <p:tgtEl>
                                          <p:spTgt spid="518192"/>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518170"/>
                                        </p:tgtEl>
                                        <p:attrNameLst>
                                          <p:attrName>style.visibility</p:attrName>
                                        </p:attrNameLst>
                                      </p:cBhvr>
                                      <p:to>
                                        <p:strVal val="visible"/>
                                      </p:to>
                                    </p:set>
                                    <p:animEffect transition="in" filter="wipe(up)">
                                      <p:cBhvr>
                                        <p:cTn id="38" dur="500"/>
                                        <p:tgtEl>
                                          <p:spTgt spid="518170"/>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4" presetClass="entr" presetSubtype="16" fill="hold" grpId="0" nodeType="clickEffect">
                                  <p:stCondLst>
                                    <p:cond delay="0"/>
                                  </p:stCondLst>
                                  <p:childTnLst>
                                    <p:set>
                                      <p:cBhvr>
                                        <p:cTn id="42" dur="1" fill="hold">
                                          <p:stCondLst>
                                            <p:cond delay="0"/>
                                          </p:stCondLst>
                                        </p:cTn>
                                        <p:tgtEl>
                                          <p:spTgt spid="518193"/>
                                        </p:tgtEl>
                                        <p:attrNameLst>
                                          <p:attrName>style.visibility</p:attrName>
                                        </p:attrNameLst>
                                      </p:cBhvr>
                                      <p:to>
                                        <p:strVal val="visible"/>
                                      </p:to>
                                    </p:set>
                                    <p:animEffect transition="in" filter="box(in)">
                                      <p:cBhvr>
                                        <p:cTn id="43" dur="500"/>
                                        <p:tgtEl>
                                          <p:spTgt spid="518193"/>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55" presetClass="entr" presetSubtype="0" fill="hold" grpId="0" nodeType="clickEffect">
                                  <p:stCondLst>
                                    <p:cond delay="0"/>
                                  </p:stCondLst>
                                  <p:childTnLst>
                                    <p:set>
                                      <p:cBhvr>
                                        <p:cTn id="47" dur="1" fill="hold">
                                          <p:stCondLst>
                                            <p:cond delay="0"/>
                                          </p:stCondLst>
                                        </p:cTn>
                                        <p:tgtEl>
                                          <p:spTgt spid="518194"/>
                                        </p:tgtEl>
                                        <p:attrNameLst>
                                          <p:attrName>style.visibility</p:attrName>
                                        </p:attrNameLst>
                                      </p:cBhvr>
                                      <p:to>
                                        <p:strVal val="visible"/>
                                      </p:to>
                                    </p:set>
                                    <p:anim calcmode="lin" valueType="num">
                                      <p:cBhvr>
                                        <p:cTn id="48" dur="1000" fill="hold"/>
                                        <p:tgtEl>
                                          <p:spTgt spid="518194"/>
                                        </p:tgtEl>
                                        <p:attrNameLst>
                                          <p:attrName>ppt_w</p:attrName>
                                        </p:attrNameLst>
                                      </p:cBhvr>
                                      <p:tavLst>
                                        <p:tav tm="0">
                                          <p:val>
                                            <p:strVal val="#ppt_w*0.70"/>
                                          </p:val>
                                        </p:tav>
                                        <p:tav tm="100000">
                                          <p:val>
                                            <p:strVal val="#ppt_w"/>
                                          </p:val>
                                        </p:tav>
                                      </p:tavLst>
                                    </p:anim>
                                    <p:anim calcmode="lin" valueType="num">
                                      <p:cBhvr>
                                        <p:cTn id="49" dur="1000" fill="hold"/>
                                        <p:tgtEl>
                                          <p:spTgt spid="518194"/>
                                        </p:tgtEl>
                                        <p:attrNameLst>
                                          <p:attrName>ppt_h</p:attrName>
                                        </p:attrNameLst>
                                      </p:cBhvr>
                                      <p:tavLst>
                                        <p:tav tm="0">
                                          <p:val>
                                            <p:strVal val="#ppt_h"/>
                                          </p:val>
                                        </p:tav>
                                        <p:tav tm="100000">
                                          <p:val>
                                            <p:strVal val="#ppt_h"/>
                                          </p:val>
                                        </p:tav>
                                      </p:tavLst>
                                    </p:anim>
                                    <p:animEffect transition="in" filter="fade">
                                      <p:cBhvr>
                                        <p:cTn id="50" dur="1000"/>
                                        <p:tgtEl>
                                          <p:spTgt spid="518194"/>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518195"/>
                                        </p:tgtEl>
                                        <p:attrNameLst>
                                          <p:attrName>style.visibility</p:attrName>
                                        </p:attrNameLst>
                                      </p:cBhvr>
                                      <p:to>
                                        <p:strVal val="visible"/>
                                      </p:to>
                                    </p:set>
                                    <p:anim calcmode="lin" valueType="num">
                                      <p:cBhvr additive="base">
                                        <p:cTn id="55" dur="500" fill="hold"/>
                                        <p:tgtEl>
                                          <p:spTgt spid="518195"/>
                                        </p:tgtEl>
                                        <p:attrNameLst>
                                          <p:attrName>ppt_x</p:attrName>
                                        </p:attrNameLst>
                                      </p:cBhvr>
                                      <p:tavLst>
                                        <p:tav tm="0">
                                          <p:val>
                                            <p:strVal val="#ppt_x"/>
                                          </p:val>
                                        </p:tav>
                                        <p:tav tm="100000">
                                          <p:val>
                                            <p:strVal val="#ppt_x"/>
                                          </p:val>
                                        </p:tav>
                                      </p:tavLst>
                                    </p:anim>
                                    <p:anim calcmode="lin" valueType="num">
                                      <p:cBhvr additive="base">
                                        <p:cTn id="56" dur="500" fill="hold"/>
                                        <p:tgtEl>
                                          <p:spTgt spid="518195"/>
                                        </p:tgtEl>
                                        <p:attrNameLst>
                                          <p:attrName>ppt_y</p:attrName>
                                        </p:attrNameLst>
                                      </p:cBhvr>
                                      <p:tavLst>
                                        <p:tav tm="0">
                                          <p:val>
                                            <p:strVal val="1+#ppt_h/2"/>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4" presetClass="entr" presetSubtype="16" fill="hold" grpId="0" nodeType="clickEffect">
                                  <p:stCondLst>
                                    <p:cond delay="0"/>
                                  </p:stCondLst>
                                  <p:childTnLst>
                                    <p:set>
                                      <p:cBhvr>
                                        <p:cTn id="60" dur="1" fill="hold">
                                          <p:stCondLst>
                                            <p:cond delay="0"/>
                                          </p:stCondLst>
                                        </p:cTn>
                                        <p:tgtEl>
                                          <p:spTgt spid="518196"/>
                                        </p:tgtEl>
                                        <p:attrNameLst>
                                          <p:attrName>style.visibility</p:attrName>
                                        </p:attrNameLst>
                                      </p:cBhvr>
                                      <p:to>
                                        <p:strVal val="visible"/>
                                      </p:to>
                                    </p:set>
                                    <p:animEffect transition="in" filter="box(in)">
                                      <p:cBhvr>
                                        <p:cTn id="61" dur="500"/>
                                        <p:tgtEl>
                                          <p:spTgt spid="518196"/>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1" fill="hold" grpId="0" nodeType="clickEffect">
                                  <p:stCondLst>
                                    <p:cond delay="0"/>
                                  </p:stCondLst>
                                  <p:childTnLst>
                                    <p:set>
                                      <p:cBhvr>
                                        <p:cTn id="65" dur="1" fill="hold">
                                          <p:stCondLst>
                                            <p:cond delay="0"/>
                                          </p:stCondLst>
                                        </p:cTn>
                                        <p:tgtEl>
                                          <p:spTgt spid="518177"/>
                                        </p:tgtEl>
                                        <p:attrNameLst>
                                          <p:attrName>style.visibility</p:attrName>
                                        </p:attrNameLst>
                                      </p:cBhvr>
                                      <p:to>
                                        <p:strVal val="visible"/>
                                      </p:to>
                                    </p:set>
                                    <p:animEffect transition="in" filter="wipe(up)">
                                      <p:cBhvr>
                                        <p:cTn id="66" dur="500"/>
                                        <p:tgtEl>
                                          <p:spTgt spid="518177"/>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55" presetClass="entr" presetSubtype="0" fill="hold" grpId="0" nodeType="clickEffect">
                                  <p:stCondLst>
                                    <p:cond delay="0"/>
                                  </p:stCondLst>
                                  <p:childTnLst>
                                    <p:set>
                                      <p:cBhvr>
                                        <p:cTn id="70" dur="1" fill="hold">
                                          <p:stCondLst>
                                            <p:cond delay="0"/>
                                          </p:stCondLst>
                                        </p:cTn>
                                        <p:tgtEl>
                                          <p:spTgt spid="518197"/>
                                        </p:tgtEl>
                                        <p:attrNameLst>
                                          <p:attrName>style.visibility</p:attrName>
                                        </p:attrNameLst>
                                      </p:cBhvr>
                                      <p:to>
                                        <p:strVal val="visible"/>
                                      </p:to>
                                    </p:set>
                                    <p:anim calcmode="lin" valueType="num">
                                      <p:cBhvr>
                                        <p:cTn id="71" dur="1000" fill="hold"/>
                                        <p:tgtEl>
                                          <p:spTgt spid="518197"/>
                                        </p:tgtEl>
                                        <p:attrNameLst>
                                          <p:attrName>ppt_w</p:attrName>
                                        </p:attrNameLst>
                                      </p:cBhvr>
                                      <p:tavLst>
                                        <p:tav tm="0">
                                          <p:val>
                                            <p:strVal val="#ppt_w*0.70"/>
                                          </p:val>
                                        </p:tav>
                                        <p:tav tm="100000">
                                          <p:val>
                                            <p:strVal val="#ppt_w"/>
                                          </p:val>
                                        </p:tav>
                                      </p:tavLst>
                                    </p:anim>
                                    <p:anim calcmode="lin" valueType="num">
                                      <p:cBhvr>
                                        <p:cTn id="72" dur="1000" fill="hold"/>
                                        <p:tgtEl>
                                          <p:spTgt spid="518197"/>
                                        </p:tgtEl>
                                        <p:attrNameLst>
                                          <p:attrName>ppt_h</p:attrName>
                                        </p:attrNameLst>
                                      </p:cBhvr>
                                      <p:tavLst>
                                        <p:tav tm="0">
                                          <p:val>
                                            <p:strVal val="#ppt_h"/>
                                          </p:val>
                                        </p:tav>
                                        <p:tav tm="100000">
                                          <p:val>
                                            <p:strVal val="#ppt_h"/>
                                          </p:val>
                                        </p:tav>
                                      </p:tavLst>
                                    </p:anim>
                                    <p:animEffect transition="in" filter="fade">
                                      <p:cBhvr>
                                        <p:cTn id="73" dur="1000"/>
                                        <p:tgtEl>
                                          <p:spTgt spid="518197"/>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3" presetClass="entr" presetSubtype="10" fill="hold" grpId="0" nodeType="clickEffect">
                                  <p:stCondLst>
                                    <p:cond delay="0"/>
                                  </p:stCondLst>
                                  <p:childTnLst>
                                    <p:set>
                                      <p:cBhvr>
                                        <p:cTn id="77" dur="1" fill="hold">
                                          <p:stCondLst>
                                            <p:cond delay="0"/>
                                          </p:stCondLst>
                                        </p:cTn>
                                        <p:tgtEl>
                                          <p:spTgt spid="518198"/>
                                        </p:tgtEl>
                                        <p:attrNameLst>
                                          <p:attrName>style.visibility</p:attrName>
                                        </p:attrNameLst>
                                      </p:cBhvr>
                                      <p:to>
                                        <p:strVal val="visible"/>
                                      </p:to>
                                    </p:set>
                                    <p:animEffect transition="in" filter="blinds(horizontal)">
                                      <p:cBhvr>
                                        <p:cTn id="78" dur="500"/>
                                        <p:tgtEl>
                                          <p:spTgt spid="518198"/>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12" presetClass="entr" presetSubtype="4" fill="hold" grpId="0" nodeType="clickEffect">
                                  <p:stCondLst>
                                    <p:cond delay="0"/>
                                  </p:stCondLst>
                                  <p:childTnLst>
                                    <p:set>
                                      <p:cBhvr>
                                        <p:cTn id="82" dur="1" fill="hold">
                                          <p:stCondLst>
                                            <p:cond delay="0"/>
                                          </p:stCondLst>
                                        </p:cTn>
                                        <p:tgtEl>
                                          <p:spTgt spid="518199"/>
                                        </p:tgtEl>
                                        <p:attrNameLst>
                                          <p:attrName>style.visibility</p:attrName>
                                        </p:attrNameLst>
                                      </p:cBhvr>
                                      <p:to>
                                        <p:strVal val="visible"/>
                                      </p:to>
                                    </p:set>
                                    <p:animEffect transition="in" filter="slide(fromBottom)">
                                      <p:cBhvr>
                                        <p:cTn id="83" dur="500"/>
                                        <p:tgtEl>
                                          <p:spTgt spid="518199"/>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1" fill="hold" grpId="0" nodeType="clickEffect">
                                  <p:stCondLst>
                                    <p:cond delay="0"/>
                                  </p:stCondLst>
                                  <p:childTnLst>
                                    <p:set>
                                      <p:cBhvr>
                                        <p:cTn id="87" dur="1" fill="hold">
                                          <p:stCondLst>
                                            <p:cond delay="0"/>
                                          </p:stCondLst>
                                        </p:cTn>
                                        <p:tgtEl>
                                          <p:spTgt spid="518183"/>
                                        </p:tgtEl>
                                        <p:attrNameLst>
                                          <p:attrName>style.visibility</p:attrName>
                                        </p:attrNameLst>
                                      </p:cBhvr>
                                      <p:to>
                                        <p:strVal val="visible"/>
                                      </p:to>
                                    </p:set>
                                    <p:animEffect transition="in" filter="wipe(up)">
                                      <p:cBhvr>
                                        <p:cTn id="88" dur="500"/>
                                        <p:tgtEl>
                                          <p:spTgt spid="518183"/>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45" presetClass="entr" presetSubtype="0" fill="hold" grpId="0" nodeType="clickEffect">
                                  <p:stCondLst>
                                    <p:cond delay="0"/>
                                  </p:stCondLst>
                                  <p:iterate type="lt">
                                    <p:tmPct val="10000"/>
                                  </p:iterate>
                                  <p:childTnLst>
                                    <p:set>
                                      <p:cBhvr>
                                        <p:cTn id="92" dur="1" fill="hold">
                                          <p:stCondLst>
                                            <p:cond delay="0"/>
                                          </p:stCondLst>
                                        </p:cTn>
                                        <p:tgtEl>
                                          <p:spTgt spid="518200"/>
                                        </p:tgtEl>
                                        <p:attrNameLst>
                                          <p:attrName>style.visibility</p:attrName>
                                        </p:attrNameLst>
                                      </p:cBhvr>
                                      <p:to>
                                        <p:strVal val="visible"/>
                                      </p:to>
                                    </p:set>
                                    <p:animEffect transition="in" filter="fade">
                                      <p:cBhvr>
                                        <p:cTn id="93" dur="2000"/>
                                        <p:tgtEl>
                                          <p:spTgt spid="518200"/>
                                        </p:tgtEl>
                                      </p:cBhvr>
                                    </p:animEffect>
                                    <p:anim calcmode="lin" valueType="num">
                                      <p:cBhvr>
                                        <p:cTn id="94" dur="2000" fill="hold"/>
                                        <p:tgtEl>
                                          <p:spTgt spid="518200"/>
                                        </p:tgtEl>
                                        <p:attrNameLst>
                                          <p:attrName>ppt_w</p:attrName>
                                        </p:attrNameLst>
                                      </p:cBhvr>
                                      <p:tavLst>
                                        <p:tav tm="0" fmla="#ppt_w*sin(2.5*pi*$)">
                                          <p:val>
                                            <p:fltVal val="0"/>
                                          </p:val>
                                        </p:tav>
                                        <p:tav tm="100000">
                                          <p:val>
                                            <p:fltVal val="1"/>
                                          </p:val>
                                        </p:tav>
                                      </p:tavLst>
                                    </p:anim>
                                    <p:anim calcmode="lin" valueType="num">
                                      <p:cBhvr>
                                        <p:cTn id="95" dur="2000" fill="hold"/>
                                        <p:tgtEl>
                                          <p:spTgt spid="518200"/>
                                        </p:tgtEl>
                                        <p:attrNameLst>
                                          <p:attrName>ppt_h</p:attrName>
                                        </p:attrNameLst>
                                      </p:cBhvr>
                                      <p:tavLst>
                                        <p:tav tm="0">
                                          <p:val>
                                            <p:strVal val="#ppt_h"/>
                                          </p:val>
                                        </p:tav>
                                        <p:tav tm="100000">
                                          <p:val>
                                            <p:strVal val="#ppt_h"/>
                                          </p:val>
                                        </p:tav>
                                      </p:tavLst>
                                    </p:anim>
                                  </p:childTnLst>
                                </p:cTn>
                              </p:par>
                            </p:childTnLst>
                          </p:cTn>
                        </p:par>
                      </p:childTnLst>
                    </p:cTn>
                  </p:par>
                  <p:par>
                    <p:cTn id="96" fill="hold" nodeType="clickPar">
                      <p:stCondLst>
                        <p:cond delay="indefinite"/>
                      </p:stCondLst>
                      <p:childTnLst>
                        <p:par>
                          <p:cTn id="97" fill="hold" nodeType="withGroup">
                            <p:stCondLst>
                              <p:cond delay="0"/>
                            </p:stCondLst>
                            <p:childTnLst>
                              <p:par>
                                <p:cTn id="98" presetID="12" presetClass="entr" presetSubtype="4" fill="hold" grpId="0" nodeType="clickEffect">
                                  <p:stCondLst>
                                    <p:cond delay="0"/>
                                  </p:stCondLst>
                                  <p:childTnLst>
                                    <p:set>
                                      <p:cBhvr>
                                        <p:cTn id="99" dur="1" fill="hold">
                                          <p:stCondLst>
                                            <p:cond delay="0"/>
                                          </p:stCondLst>
                                        </p:cTn>
                                        <p:tgtEl>
                                          <p:spTgt spid="518201"/>
                                        </p:tgtEl>
                                        <p:attrNameLst>
                                          <p:attrName>style.visibility</p:attrName>
                                        </p:attrNameLst>
                                      </p:cBhvr>
                                      <p:to>
                                        <p:strVal val="visible"/>
                                      </p:to>
                                    </p:set>
                                    <p:animEffect transition="in" filter="slide(fromBottom)">
                                      <p:cBhvr>
                                        <p:cTn id="100" dur="500"/>
                                        <p:tgtEl>
                                          <p:spTgt spid="5182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8170" grpId="0"/>
      <p:bldP spid="518177" grpId="0"/>
      <p:bldP spid="518183" grpId="0"/>
      <p:bldP spid="518184" grpId="0"/>
      <p:bldP spid="518188" grpId="0"/>
      <p:bldP spid="518189" grpId="0"/>
      <p:bldP spid="518190" grpId="0"/>
      <p:bldP spid="518191" grpId="0"/>
      <p:bldP spid="518192" grpId="0"/>
      <p:bldP spid="518193" grpId="0"/>
      <p:bldP spid="518194" grpId="0"/>
      <p:bldP spid="518195" grpId="0"/>
      <p:bldP spid="518196" grpId="0"/>
      <p:bldP spid="518197" grpId="0"/>
      <p:bldP spid="518198" grpId="0"/>
      <p:bldP spid="518199" grpId="0"/>
      <p:bldP spid="518200" grpId="0"/>
      <p:bldP spid="518201"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ChangeArrowheads="1"/>
          </p:cNvSpPr>
          <p:nvPr>
            <p:ph idx="1"/>
          </p:nvPr>
        </p:nvSpPr>
        <p:spPr>
          <a:xfrm>
            <a:off x="395288" y="981075"/>
            <a:ext cx="8534400" cy="5638800"/>
          </a:xfrm>
        </p:spPr>
        <p:txBody>
          <a:bodyPr>
            <a:normAutofit/>
          </a:bodyPr>
          <a:lstStyle/>
          <a:p>
            <a:pPr marL="0" indent="0" eaLnBrk="1" fontAlgn="auto" hangingPunct="1">
              <a:spcAft>
                <a:spcPts val="0"/>
              </a:spcAft>
              <a:buClr>
                <a:schemeClr val="accent3"/>
              </a:buClr>
              <a:buFont typeface="Wingdings" pitchFamily="2" charset="2"/>
              <a:buNone/>
              <a:defRPr/>
            </a:pPr>
            <a:r>
              <a:rPr lang="en-US" altLang="zh-CN" dirty="0"/>
              <a:t> </a:t>
            </a:r>
            <a:r>
              <a:rPr lang="en-US" altLang="zh-CN" b="1" dirty="0">
                <a:effectLst>
                  <a:outerShdw blurRad="38100" dist="38100" dir="2700000" algn="tl">
                    <a:srgbClr val="C0C0C0"/>
                  </a:outerShdw>
                </a:effectLst>
              </a:rPr>
              <a:t>/* </a:t>
            </a:r>
            <a:r>
              <a:rPr lang="zh-CN" altLang="en-US" b="1" dirty="0">
                <a:effectLst>
                  <a:outerShdw blurRad="38100" dist="38100" dir="2700000" algn="tl">
                    <a:srgbClr val="C0C0C0"/>
                  </a:outerShdw>
                </a:effectLst>
              </a:rPr>
              <a:t>冒泡排序算法描述 *</a:t>
            </a:r>
            <a:r>
              <a:rPr lang="en-US" altLang="zh-CN" b="1" dirty="0">
                <a:effectLst>
                  <a:outerShdw blurRad="38100" dist="38100" dir="2700000" algn="tl">
                    <a:srgbClr val="C0C0C0"/>
                  </a:outerShdw>
                </a:effectLst>
              </a:rPr>
              <a:t>/</a:t>
            </a:r>
          </a:p>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for(</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 = 0; </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 &lt; n-1; </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  /* </a:t>
            </a:r>
            <a:r>
              <a:rPr lang="zh-CN" altLang="en-US" b="1" dirty="0">
                <a:effectLst>
                  <a:outerShdw blurRad="38100" dist="38100" dir="2700000" algn="tl">
                    <a:srgbClr val="C0C0C0"/>
                  </a:outerShdw>
                </a:effectLst>
              </a:rPr>
              <a:t>控制</a:t>
            </a:r>
            <a:r>
              <a:rPr lang="en-US" altLang="zh-CN" b="1" dirty="0">
                <a:effectLst>
                  <a:outerShdw blurRad="38100" dist="38100" dir="2700000" algn="tl">
                    <a:srgbClr val="C0C0C0"/>
                  </a:outerShdw>
                </a:effectLst>
              </a:rPr>
              <a:t>n-1</a:t>
            </a:r>
            <a:r>
              <a:rPr lang="zh-CN" altLang="en-US" b="1" dirty="0">
                <a:effectLst>
                  <a:outerShdw blurRad="38100" dist="38100" dir="2700000" algn="tl">
                    <a:srgbClr val="C0C0C0"/>
                  </a:outerShdw>
                </a:effectLst>
              </a:rPr>
              <a:t>次比较调整遍历 *</a:t>
            </a:r>
            <a:r>
              <a:rPr lang="en-US" altLang="zh-CN" b="1" dirty="0">
                <a:effectLst>
                  <a:outerShdw blurRad="38100" dist="38100" dir="2700000" algn="tl">
                    <a:srgbClr val="C0C0C0"/>
                  </a:outerShdw>
                </a:effectLst>
              </a:rPr>
              <a:t>/             </a:t>
            </a:r>
          </a:p>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for(j = n-1; j &gt; </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 j--) /* </a:t>
            </a:r>
            <a:r>
              <a:rPr lang="zh-CN" altLang="en-US" b="1" dirty="0">
                <a:effectLst>
                  <a:outerShdw blurRad="38100" dist="38100" dir="2700000" algn="tl">
                    <a:srgbClr val="C0C0C0"/>
                  </a:outerShdw>
                </a:effectLst>
              </a:rPr>
              <a:t>需要比较 </a:t>
            </a:r>
            <a:r>
              <a:rPr lang="en-US" altLang="zh-CN" b="1" dirty="0">
                <a:effectLst>
                  <a:outerShdw blurRad="38100" dist="38100" dir="2700000" algn="tl">
                    <a:srgbClr val="C0C0C0"/>
                  </a:outerShdw>
                </a:effectLst>
              </a:rPr>
              <a:t>n-1-i </a:t>
            </a:r>
            <a:r>
              <a:rPr lang="zh-CN" altLang="en-US" b="1" dirty="0">
                <a:effectLst>
                  <a:outerShdw blurRad="38100" dist="38100" dir="2700000" algn="tl">
                    <a:srgbClr val="C0C0C0"/>
                  </a:outerShdw>
                </a:effectLst>
              </a:rPr>
              <a:t>次 *</a:t>
            </a:r>
            <a:r>
              <a:rPr lang="en-US" altLang="zh-CN" b="1" dirty="0">
                <a:effectLst>
                  <a:outerShdw blurRad="38100" dist="38100" dir="2700000" algn="tl">
                    <a:srgbClr val="C0C0C0"/>
                  </a:outerShdw>
                </a:effectLst>
              </a:rPr>
              <a:t>/</a:t>
            </a:r>
          </a:p>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if(a[j] &lt; a[j-1]) {  /* a[j] </a:t>
            </a:r>
            <a:r>
              <a:rPr lang="zh-CN" altLang="en-US" b="1" dirty="0">
                <a:effectLst>
                  <a:outerShdw blurRad="38100" dist="38100" dir="2700000" algn="tl">
                    <a:srgbClr val="C0C0C0"/>
                  </a:outerShdw>
                </a:effectLst>
              </a:rPr>
              <a:t>与 </a:t>
            </a:r>
            <a:r>
              <a:rPr lang="en-US" altLang="zh-CN" b="1" dirty="0">
                <a:effectLst>
                  <a:outerShdw blurRad="38100" dist="38100" dir="2700000" algn="tl">
                    <a:srgbClr val="C0C0C0"/>
                  </a:outerShdw>
                </a:effectLst>
              </a:rPr>
              <a:t>a[j-1] </a:t>
            </a:r>
            <a:r>
              <a:rPr lang="zh-CN" altLang="en-US" b="1" dirty="0">
                <a:effectLst>
                  <a:outerShdw blurRad="38100" dist="38100" dir="2700000" algn="tl">
                    <a:srgbClr val="C0C0C0"/>
                  </a:outerShdw>
                </a:effectLst>
              </a:rPr>
              <a:t>交换 *</a:t>
            </a:r>
            <a:r>
              <a:rPr lang="en-US" altLang="zh-CN" b="1" dirty="0">
                <a:effectLst>
                  <a:outerShdw blurRad="38100" dist="38100" dir="2700000" algn="tl">
                    <a:srgbClr val="C0C0C0"/>
                  </a:outerShdw>
                </a:effectLst>
              </a:rPr>
              <a:t>/</a:t>
            </a:r>
          </a:p>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temp   = a[j];</a:t>
            </a:r>
          </a:p>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a[j]   = a[j-1];</a:t>
            </a:r>
          </a:p>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a[j-1] = temp;</a:t>
            </a:r>
          </a:p>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a:t>
            </a:r>
          </a:p>
        </p:txBody>
      </p:sp>
      <p:sp>
        <p:nvSpPr>
          <p:cNvPr id="5" name="灯片编号占位符 5"/>
          <p:cNvSpPr>
            <a:spLocks noGrp="1"/>
          </p:cNvSpPr>
          <p:nvPr>
            <p:ph type="sldNum" sz="quarter" idx="12"/>
          </p:nvPr>
        </p:nvSpPr>
        <p:spPr/>
        <p:txBody>
          <a:bodyPr/>
          <a:lstStyle/>
          <a:p>
            <a:pPr>
              <a:defRPr/>
            </a:pPr>
            <a:fld id="{9E5A62E9-325F-49B5-8153-2A063E3D2EF0}" type="slidenum">
              <a:rPr lang="en-US" altLang="zh-CN"/>
              <a:pPr>
                <a:defRPr/>
              </a:pPr>
              <a:t>42</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6194">
                                            <p:txEl>
                                              <p:pRg st="1" end="1"/>
                                            </p:txEl>
                                          </p:spTgt>
                                        </p:tgtEl>
                                        <p:attrNameLst>
                                          <p:attrName>style.visibility</p:attrName>
                                        </p:attrNameLst>
                                      </p:cBhvr>
                                      <p:to>
                                        <p:strVal val="visible"/>
                                      </p:to>
                                    </p:set>
                                    <p:anim calcmode="lin" valueType="num">
                                      <p:cBhvr additive="base">
                                        <p:cTn id="7" dur="500" fill="hold"/>
                                        <p:tgtEl>
                                          <p:spTgt spid="13619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619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6194">
                                            <p:txEl>
                                              <p:pRg st="2" end="2"/>
                                            </p:txEl>
                                          </p:spTgt>
                                        </p:tgtEl>
                                        <p:attrNameLst>
                                          <p:attrName>style.visibility</p:attrName>
                                        </p:attrNameLst>
                                      </p:cBhvr>
                                      <p:to>
                                        <p:strVal val="visible"/>
                                      </p:to>
                                    </p:set>
                                    <p:anim calcmode="lin" valueType="num">
                                      <p:cBhvr additive="base">
                                        <p:cTn id="13" dur="500" fill="hold"/>
                                        <p:tgtEl>
                                          <p:spTgt spid="136194">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619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36194">
                                            <p:txEl>
                                              <p:pRg st="3" end="3"/>
                                            </p:txEl>
                                          </p:spTgt>
                                        </p:tgtEl>
                                        <p:attrNameLst>
                                          <p:attrName>style.visibility</p:attrName>
                                        </p:attrNameLst>
                                      </p:cBhvr>
                                      <p:to>
                                        <p:strVal val="visible"/>
                                      </p:to>
                                    </p:set>
                                    <p:anim calcmode="lin" valueType="num">
                                      <p:cBhvr additive="base">
                                        <p:cTn id="19" dur="500" fill="hold"/>
                                        <p:tgtEl>
                                          <p:spTgt spid="136194">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6194">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36194">
                                            <p:txEl>
                                              <p:pRg st="4" end="4"/>
                                            </p:txEl>
                                          </p:spTgt>
                                        </p:tgtEl>
                                        <p:attrNameLst>
                                          <p:attrName>style.visibility</p:attrName>
                                        </p:attrNameLst>
                                      </p:cBhvr>
                                      <p:to>
                                        <p:strVal val="visible"/>
                                      </p:to>
                                    </p:set>
                                    <p:anim calcmode="lin" valueType="num">
                                      <p:cBhvr additive="base">
                                        <p:cTn id="23" dur="500" fill="hold"/>
                                        <p:tgtEl>
                                          <p:spTgt spid="136194">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36194">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36194">
                                            <p:txEl>
                                              <p:pRg st="5" end="5"/>
                                            </p:txEl>
                                          </p:spTgt>
                                        </p:tgtEl>
                                        <p:attrNameLst>
                                          <p:attrName>style.visibility</p:attrName>
                                        </p:attrNameLst>
                                      </p:cBhvr>
                                      <p:to>
                                        <p:strVal val="visible"/>
                                      </p:to>
                                    </p:set>
                                    <p:anim calcmode="lin" valueType="num">
                                      <p:cBhvr additive="base">
                                        <p:cTn id="27" dur="500" fill="hold"/>
                                        <p:tgtEl>
                                          <p:spTgt spid="136194">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36194">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36194">
                                            <p:txEl>
                                              <p:pRg st="6" end="6"/>
                                            </p:txEl>
                                          </p:spTgt>
                                        </p:tgtEl>
                                        <p:attrNameLst>
                                          <p:attrName>style.visibility</p:attrName>
                                        </p:attrNameLst>
                                      </p:cBhvr>
                                      <p:to>
                                        <p:strVal val="visible"/>
                                      </p:to>
                                    </p:set>
                                    <p:anim calcmode="lin" valueType="num">
                                      <p:cBhvr additive="base">
                                        <p:cTn id="31" dur="500" fill="hold"/>
                                        <p:tgtEl>
                                          <p:spTgt spid="136194">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36194">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36194">
                                            <p:txEl>
                                              <p:pRg st="7" end="7"/>
                                            </p:txEl>
                                          </p:spTgt>
                                        </p:tgtEl>
                                        <p:attrNameLst>
                                          <p:attrName>style.visibility</p:attrName>
                                        </p:attrNameLst>
                                      </p:cBhvr>
                                      <p:to>
                                        <p:strVal val="visible"/>
                                      </p:to>
                                    </p:set>
                                    <p:anim calcmode="lin" valueType="num">
                                      <p:cBhvr additive="base">
                                        <p:cTn id="35" dur="500" fill="hold"/>
                                        <p:tgtEl>
                                          <p:spTgt spid="136194">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36194">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3"/>
          <p:cNvSpPr>
            <a:spLocks noGrp="1" noChangeArrowheads="1"/>
          </p:cNvSpPr>
          <p:nvPr>
            <p:ph type="title"/>
          </p:nvPr>
        </p:nvSpPr>
        <p:spPr>
          <a:xfrm>
            <a:off x="250825" y="26988"/>
            <a:ext cx="8713788" cy="1385887"/>
          </a:xfrm>
          <a:noFill/>
        </p:spPr>
        <p:txBody>
          <a:bodyPr lIns="92075" tIns="46038" rIns="92075" bIns="46038"/>
          <a:lstStyle/>
          <a:p>
            <a:pPr eaLnBrk="1" hangingPunct="1"/>
            <a:r>
              <a:rPr lang="zh-CN" altLang="en-US" sz="4000">
                <a:solidFill>
                  <a:schemeClr val="tx1"/>
                </a:solidFill>
                <a:latin typeface="黑体" pitchFamily="2" charset="-122"/>
                <a:ea typeface="黑体" pitchFamily="2" charset="-122"/>
              </a:rPr>
              <a:t>冒泡法排序优化</a:t>
            </a:r>
          </a:p>
        </p:txBody>
      </p:sp>
      <p:sp>
        <p:nvSpPr>
          <p:cNvPr id="493570" name="Rectangle 2"/>
          <p:cNvSpPr>
            <a:spLocks noGrp="1" noChangeArrowheads="1"/>
          </p:cNvSpPr>
          <p:nvPr>
            <p:ph idx="1"/>
          </p:nvPr>
        </p:nvSpPr>
        <p:spPr>
          <a:xfrm>
            <a:off x="365125" y="1484313"/>
            <a:ext cx="8534400" cy="4897437"/>
          </a:xfrm>
        </p:spPr>
        <p:txBody>
          <a:bodyPr>
            <a:normAutofit/>
          </a:bodyPr>
          <a:lstStyle/>
          <a:p>
            <a:pPr marL="0" indent="0" eaLnBrk="1" fontAlgn="auto" hangingPunct="1">
              <a:lnSpc>
                <a:spcPct val="95000"/>
              </a:lnSpc>
              <a:spcBef>
                <a:spcPct val="5000"/>
              </a:spcBef>
              <a:spcAft>
                <a:spcPts val="0"/>
              </a:spcAft>
              <a:buClr>
                <a:schemeClr val="accent3"/>
              </a:buClr>
              <a:buFont typeface="Wingdings" pitchFamily="2" charset="2"/>
              <a:buNone/>
              <a:defRPr/>
            </a:pPr>
            <a:r>
              <a:rPr lang="zh-CN" altLang="en-US" sz="3200" b="1">
                <a:effectLst>
                  <a:outerShdw blurRad="38100" dist="38100" dir="2700000" algn="tl">
                    <a:srgbClr val="C0C0C0"/>
                  </a:outerShdw>
                </a:effectLst>
              </a:rPr>
              <a:t>在冒泡排序过程中，如果某次遍历未发生交换调整情况，这时数组实际上已排好了序，程序若发现这种情况后，应提早结束排序过程。为此，程序引入一个起着标志作用的变量，每次遍历前，预置该变量的值为</a:t>
            </a:r>
            <a:r>
              <a:rPr lang="en-US" altLang="zh-CN" sz="3200" b="1">
                <a:effectLst>
                  <a:outerShdw blurRad="38100" dist="38100" dir="2700000" algn="tl">
                    <a:srgbClr val="C0C0C0"/>
                  </a:outerShdw>
                </a:effectLst>
              </a:rPr>
              <a:t>0</a:t>
            </a:r>
            <a:r>
              <a:rPr lang="zh-CN" altLang="en-US" sz="3200" b="1">
                <a:effectLst>
                  <a:outerShdw blurRad="38100" dist="38100" dir="2700000" algn="tl">
                    <a:srgbClr val="C0C0C0"/>
                  </a:outerShdw>
                </a:effectLst>
              </a:rPr>
              <a:t>。当发生交换时，将该变量设置成</a:t>
            </a:r>
            <a:r>
              <a:rPr lang="en-US" altLang="zh-CN" sz="3200" b="1">
                <a:effectLst>
                  <a:outerShdw blurRad="38100" dist="38100" dir="2700000" algn="tl">
                    <a:srgbClr val="C0C0C0"/>
                  </a:outerShdw>
                </a:effectLst>
              </a:rPr>
              <a:t>1</a:t>
            </a:r>
            <a:r>
              <a:rPr lang="zh-CN" altLang="en-US" sz="3200" b="1">
                <a:effectLst>
                  <a:outerShdw blurRad="38100" dist="38100" dir="2700000" algn="tl">
                    <a:srgbClr val="C0C0C0"/>
                  </a:outerShdw>
                </a:effectLst>
              </a:rPr>
              <a:t>。一次遍历结束时，就检查该变量的值，如果其值是</a:t>
            </a:r>
            <a:r>
              <a:rPr lang="en-US" altLang="zh-CN" sz="3200" b="1">
                <a:effectLst>
                  <a:outerShdw blurRad="38100" dist="38100" dir="2700000" algn="tl">
                    <a:srgbClr val="C0C0C0"/>
                  </a:outerShdw>
                </a:effectLst>
              </a:rPr>
              <a:t>1</a:t>
            </a:r>
            <a:r>
              <a:rPr lang="zh-CN" altLang="en-US" sz="3200" b="1">
                <a:effectLst>
                  <a:outerShdw blurRad="38100" dist="38100" dir="2700000" algn="tl">
                    <a:srgbClr val="C0C0C0"/>
                  </a:outerShdw>
                </a:effectLst>
              </a:rPr>
              <a:t>，说明曾发生过元素交换，继续下一次遍历；如该变量的值是</a:t>
            </a:r>
            <a:r>
              <a:rPr lang="en-US" altLang="zh-CN" sz="3200" b="1">
                <a:effectLst>
                  <a:outerShdw blurRad="38100" dist="38100" dir="2700000" algn="tl">
                    <a:srgbClr val="C0C0C0"/>
                  </a:outerShdw>
                </a:effectLst>
              </a:rPr>
              <a:t>0</a:t>
            </a:r>
            <a:r>
              <a:rPr lang="zh-CN" altLang="en-US" sz="3200" b="1">
                <a:effectLst>
                  <a:outerShdw blurRad="38100" dist="38100" dir="2700000" algn="tl">
                    <a:srgbClr val="C0C0C0"/>
                  </a:outerShdw>
                </a:effectLst>
              </a:rPr>
              <a:t>，说明未曾发生过元素交换，则立即结束排序循环。</a:t>
            </a:r>
            <a:r>
              <a:rPr lang="zh-CN" altLang="en-US" sz="3200"/>
              <a:t> </a:t>
            </a:r>
          </a:p>
        </p:txBody>
      </p:sp>
      <p:sp>
        <p:nvSpPr>
          <p:cNvPr id="6" name="灯片编号占位符 5"/>
          <p:cNvSpPr>
            <a:spLocks noGrp="1"/>
          </p:cNvSpPr>
          <p:nvPr>
            <p:ph type="sldNum" sz="quarter" idx="12"/>
          </p:nvPr>
        </p:nvSpPr>
        <p:spPr/>
        <p:txBody>
          <a:bodyPr/>
          <a:lstStyle/>
          <a:p>
            <a:pPr>
              <a:defRPr/>
            </a:pPr>
            <a:fld id="{FE41204B-585C-40E0-9816-CA255106F7C9}" type="slidenum">
              <a:rPr lang="en-US" altLang="zh-CN"/>
              <a:pPr>
                <a:defRPr/>
              </a:pPr>
              <a:t>43</a:t>
            </a:fld>
            <a:endParaRPr lang="en-US" altLang="zh-CN"/>
          </a:p>
        </p:txBody>
      </p:sp>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idx="1"/>
          </p:nvPr>
        </p:nvSpPr>
        <p:spPr>
          <a:xfrm>
            <a:off x="468313" y="476250"/>
            <a:ext cx="8294687" cy="6000750"/>
          </a:xfrm>
        </p:spPr>
        <p:txBody>
          <a:bodyPr>
            <a:normAutofit/>
          </a:bodyPr>
          <a:lstStyle/>
          <a:p>
            <a:pPr marL="0" indent="0" eaLnBrk="1" fontAlgn="auto" hangingPunct="1">
              <a:spcAft>
                <a:spcPts val="0"/>
              </a:spcAft>
              <a:buClr>
                <a:schemeClr val="accent3"/>
              </a:buClr>
              <a:buFont typeface="Wingdings" pitchFamily="2" charset="2"/>
              <a:buNone/>
              <a:defRPr/>
            </a:pPr>
            <a:r>
              <a:rPr lang="en-US" altLang="zh-CN" sz="2400" dirty="0"/>
              <a:t> </a:t>
            </a:r>
            <a:r>
              <a:rPr lang="en-US" altLang="zh-CN" b="1" dirty="0">
                <a:effectLst>
                  <a:outerShdw blurRad="38100" dist="38100" dir="2700000" algn="tl">
                    <a:srgbClr val="C0C0C0"/>
                  </a:outerShdw>
                </a:effectLst>
              </a:rPr>
              <a:t>for(</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 = 0; </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 &lt; n-1; </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 {  /* </a:t>
            </a:r>
            <a:r>
              <a:rPr lang="zh-CN" altLang="en-US" b="1" dirty="0">
                <a:effectLst>
                  <a:outerShdw blurRad="38100" dist="38100" dir="2700000" algn="tl">
                    <a:srgbClr val="C0C0C0"/>
                  </a:outerShdw>
                </a:effectLst>
              </a:rPr>
              <a:t>控制 </a:t>
            </a:r>
            <a:r>
              <a:rPr lang="en-US" altLang="zh-CN" b="1" dirty="0">
                <a:effectLst>
                  <a:outerShdw blurRad="38100" dist="38100" dir="2700000" algn="tl">
                    <a:srgbClr val="C0C0C0"/>
                  </a:outerShdw>
                </a:effectLst>
              </a:rPr>
              <a:t>n-1 </a:t>
            </a:r>
            <a:r>
              <a:rPr lang="zh-CN" altLang="en-US" b="1" dirty="0">
                <a:effectLst>
                  <a:outerShdw blurRad="38100" dist="38100" dir="2700000" algn="tl">
                    <a:srgbClr val="C0C0C0"/>
                  </a:outerShdw>
                </a:effectLst>
              </a:rPr>
              <a:t>次遍历 *</a:t>
            </a:r>
            <a:r>
              <a:rPr lang="en-US" altLang="zh-CN" b="1" dirty="0">
                <a:effectLst>
                  <a:outerShdw blurRad="38100" dist="38100" dir="2700000" algn="tl">
                    <a:srgbClr val="C0C0C0"/>
                  </a:outerShdw>
                </a:effectLst>
              </a:rPr>
              <a:t>/</a:t>
            </a:r>
          </a:p>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for(</a:t>
            </a:r>
            <a:r>
              <a:rPr lang="en-US" altLang="zh-CN" b="1" dirty="0" err="1">
                <a:solidFill>
                  <a:srgbClr val="FF0000"/>
                </a:solidFill>
                <a:effectLst>
                  <a:outerShdw blurRad="38100" dist="38100" dir="2700000" algn="tl">
                    <a:srgbClr val="C0C0C0"/>
                  </a:outerShdw>
                </a:effectLst>
              </a:rPr>
              <a:t>flg</a:t>
            </a:r>
            <a:r>
              <a:rPr lang="en-US" altLang="zh-CN" b="1" dirty="0">
                <a:solidFill>
                  <a:srgbClr val="FF0000"/>
                </a:solidFill>
                <a:effectLst>
                  <a:outerShdw blurRad="38100" dist="38100" dir="2700000" algn="tl">
                    <a:srgbClr val="C0C0C0"/>
                  </a:outerShdw>
                </a:effectLst>
              </a:rPr>
              <a:t> = 0</a:t>
            </a:r>
            <a:r>
              <a:rPr lang="en-US" altLang="zh-CN" b="1" dirty="0">
                <a:effectLst>
                  <a:outerShdw blurRad="38100" dist="38100" dir="2700000" algn="tl">
                    <a:srgbClr val="C0C0C0"/>
                  </a:outerShdw>
                </a:effectLst>
              </a:rPr>
              <a:t>, j = n-1; j &gt; </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 j--) </a:t>
            </a:r>
            <a:r>
              <a:rPr lang="en-US" altLang="zh-CN" sz="2400" b="1" dirty="0">
                <a:effectLst>
                  <a:outerShdw blurRad="38100" dist="38100" dir="2700000" algn="tl">
                    <a:srgbClr val="C0C0C0"/>
                  </a:outerShdw>
                </a:effectLst>
              </a:rPr>
              <a:t>/* </a:t>
            </a:r>
            <a:r>
              <a:rPr lang="zh-CN" altLang="en-US" sz="2400" b="1" dirty="0">
                <a:effectLst>
                  <a:outerShdw blurRad="38100" dist="38100" dir="2700000" algn="tl">
                    <a:srgbClr val="C0C0C0"/>
                  </a:outerShdw>
                </a:effectLst>
              </a:rPr>
              <a:t>最多比较 </a:t>
            </a:r>
            <a:r>
              <a:rPr lang="en-US" altLang="zh-CN" sz="2400" b="1" dirty="0">
                <a:effectLst>
                  <a:outerShdw blurRad="38100" dist="38100" dir="2700000" algn="tl">
                    <a:srgbClr val="C0C0C0"/>
                  </a:outerShdw>
                </a:effectLst>
              </a:rPr>
              <a:t>n-1-i </a:t>
            </a:r>
            <a:r>
              <a:rPr lang="zh-CN" altLang="en-US" sz="2400" b="1" dirty="0">
                <a:effectLst>
                  <a:outerShdw blurRad="38100" dist="38100" dir="2700000" algn="tl">
                    <a:srgbClr val="C0C0C0"/>
                  </a:outerShdw>
                </a:effectLst>
              </a:rPr>
              <a:t>次 *</a:t>
            </a:r>
            <a:r>
              <a:rPr lang="en-US" altLang="zh-CN" sz="2400" b="1" dirty="0">
                <a:effectLst>
                  <a:outerShdw blurRad="38100" dist="38100" dir="2700000" algn="tl">
                    <a:srgbClr val="C0C0C0"/>
                  </a:outerShdw>
                </a:effectLst>
              </a:rPr>
              <a:t>/</a:t>
            </a:r>
          </a:p>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if(a[j] &lt; a[j-1]) {  /* a[j] </a:t>
            </a:r>
            <a:r>
              <a:rPr lang="zh-CN" altLang="en-US" b="1" dirty="0">
                <a:effectLst>
                  <a:outerShdw blurRad="38100" dist="38100" dir="2700000" algn="tl">
                    <a:srgbClr val="C0C0C0"/>
                  </a:outerShdw>
                </a:effectLst>
              </a:rPr>
              <a:t>与 </a:t>
            </a:r>
            <a:r>
              <a:rPr lang="en-US" altLang="zh-CN" b="1" dirty="0">
                <a:effectLst>
                  <a:outerShdw blurRad="38100" dist="38100" dir="2700000" algn="tl">
                    <a:srgbClr val="C0C0C0"/>
                  </a:outerShdw>
                </a:effectLst>
              </a:rPr>
              <a:t>a[j-1] </a:t>
            </a:r>
            <a:r>
              <a:rPr lang="zh-CN" altLang="en-US" b="1" dirty="0">
                <a:effectLst>
                  <a:outerShdw blurRad="38100" dist="38100" dir="2700000" algn="tl">
                    <a:srgbClr val="C0C0C0"/>
                  </a:outerShdw>
                </a:effectLst>
              </a:rPr>
              <a:t>交换 *</a:t>
            </a:r>
            <a:r>
              <a:rPr lang="en-US" altLang="zh-CN" b="1" dirty="0">
                <a:effectLst>
                  <a:outerShdw blurRad="38100" dist="38100" dir="2700000" algn="tl">
                    <a:srgbClr val="C0C0C0"/>
                  </a:outerShdw>
                </a:effectLst>
              </a:rPr>
              <a:t>/</a:t>
            </a:r>
          </a:p>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temp   = a[j];</a:t>
            </a:r>
          </a:p>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a[j]   = a[j-1];</a:t>
            </a:r>
          </a:p>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a[j-1] = temp;</a:t>
            </a:r>
          </a:p>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a:t>
            </a:r>
            <a:r>
              <a:rPr lang="en-US" altLang="zh-CN" b="1" dirty="0" err="1">
                <a:solidFill>
                  <a:srgbClr val="FF0000"/>
                </a:solidFill>
                <a:effectLst>
                  <a:outerShdw blurRad="38100" dist="38100" dir="2700000" algn="tl">
                    <a:srgbClr val="C0C0C0"/>
                  </a:outerShdw>
                </a:effectLst>
              </a:rPr>
              <a:t>flg</a:t>
            </a:r>
            <a:r>
              <a:rPr lang="en-US" altLang="zh-CN" b="1" dirty="0">
                <a:solidFill>
                  <a:srgbClr val="FF0000"/>
                </a:solidFill>
                <a:effectLst>
                  <a:outerShdw blurRad="38100" dist="38100" dir="2700000" algn="tl">
                    <a:srgbClr val="C0C0C0"/>
                  </a:outerShdw>
                </a:effectLst>
              </a:rPr>
              <a:t>    = 1;  </a:t>
            </a:r>
            <a:r>
              <a:rPr lang="en-US" altLang="zh-CN" b="1" dirty="0">
                <a:effectLst>
                  <a:outerShdw blurRad="38100" dist="38100" dir="2700000" algn="tl">
                    <a:srgbClr val="C0C0C0"/>
                  </a:outerShdw>
                </a:effectLst>
              </a:rPr>
              <a:t>/*</a:t>
            </a:r>
            <a:r>
              <a:rPr lang="zh-CN" altLang="en-US" b="1" dirty="0">
                <a:effectLst>
                  <a:outerShdw blurRad="38100" dist="38100" dir="2700000" algn="tl">
                    <a:srgbClr val="C0C0C0"/>
                  </a:outerShdw>
                </a:effectLst>
              </a:rPr>
              <a:t>发生有元素交换的情况*</a:t>
            </a:r>
            <a:r>
              <a:rPr lang="en-US" altLang="zh-CN" b="1" dirty="0">
                <a:effectLst>
                  <a:outerShdw blurRad="38100" dist="38100" dir="2700000" algn="tl">
                    <a:srgbClr val="C0C0C0"/>
                  </a:outerShdw>
                </a:effectLst>
              </a:rPr>
              <a:t>/</a:t>
            </a:r>
          </a:p>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a:t>
            </a:r>
          </a:p>
          <a:p>
            <a:pPr marL="0" indent="0" eaLnBrk="1" fontAlgn="auto" hangingPunct="1">
              <a:spcAft>
                <a:spcPts val="0"/>
              </a:spcAft>
              <a:buClr>
                <a:schemeClr val="accent3"/>
              </a:buClr>
              <a:buFont typeface="Wingdings" pitchFamily="2" charset="2"/>
              <a:buNone/>
              <a:defRPr/>
            </a:pPr>
            <a:r>
              <a:rPr lang="en-US" altLang="zh-CN" b="1" dirty="0">
                <a:solidFill>
                  <a:srgbClr val="FF0000"/>
                </a:solidFill>
                <a:effectLst>
                  <a:outerShdw blurRad="38100" dist="38100" dir="2700000" algn="tl">
                    <a:srgbClr val="C0C0C0"/>
                  </a:outerShdw>
                </a:effectLst>
              </a:rPr>
              <a:t>      if (</a:t>
            </a:r>
            <a:r>
              <a:rPr lang="en-US" altLang="zh-CN" b="1" dirty="0" err="1">
                <a:solidFill>
                  <a:srgbClr val="FF0000"/>
                </a:solidFill>
                <a:effectLst>
                  <a:outerShdw blurRad="38100" dist="38100" dir="2700000" algn="tl">
                    <a:srgbClr val="C0C0C0"/>
                  </a:outerShdw>
                </a:effectLst>
              </a:rPr>
              <a:t>flg</a:t>
            </a:r>
            <a:r>
              <a:rPr lang="en-US" altLang="zh-CN" b="1" dirty="0">
                <a:solidFill>
                  <a:srgbClr val="FF0000"/>
                </a:solidFill>
                <a:effectLst>
                  <a:outerShdw blurRad="38100" dist="38100" dir="2700000" algn="tl">
                    <a:srgbClr val="C0C0C0"/>
                  </a:outerShdw>
                </a:effectLst>
              </a:rPr>
              <a:t> == 0) </a:t>
            </a:r>
          </a:p>
          <a:p>
            <a:pPr marL="0" indent="0" eaLnBrk="1" fontAlgn="auto" hangingPunct="1">
              <a:spcAft>
                <a:spcPts val="0"/>
              </a:spcAft>
              <a:buClr>
                <a:schemeClr val="accent3"/>
              </a:buClr>
              <a:buFont typeface="Wingdings" pitchFamily="2" charset="2"/>
              <a:buNone/>
              <a:defRPr/>
            </a:pPr>
            <a:r>
              <a:rPr lang="en-US" altLang="zh-CN" b="1" dirty="0">
                <a:solidFill>
                  <a:srgbClr val="FF0000"/>
                </a:solidFill>
                <a:effectLst>
                  <a:outerShdw blurRad="38100" dist="38100" dir="2700000" algn="tl">
                    <a:srgbClr val="C0C0C0"/>
                  </a:outerShdw>
                </a:effectLst>
              </a:rPr>
              <a:t>           break;  </a:t>
            </a:r>
            <a:r>
              <a:rPr lang="en-US" altLang="zh-CN" sz="2400" b="1" dirty="0">
                <a:solidFill>
                  <a:srgbClr val="FF0000"/>
                </a:solidFill>
                <a:effectLst>
                  <a:outerShdw blurRad="38100" dist="38100" dir="2700000" algn="tl">
                    <a:srgbClr val="C0C0C0"/>
                  </a:outerShdw>
                </a:effectLst>
              </a:rPr>
              <a:t>/*</a:t>
            </a:r>
            <a:r>
              <a:rPr lang="zh-CN" altLang="en-US" sz="2400" b="1" dirty="0">
                <a:solidFill>
                  <a:srgbClr val="FF0000"/>
                </a:solidFill>
                <a:effectLst>
                  <a:outerShdw blurRad="38100" dist="38100" dir="2700000" algn="tl">
                    <a:srgbClr val="C0C0C0"/>
                  </a:outerShdw>
                </a:effectLst>
              </a:rPr>
              <a:t>如果未曾发生过元素交换，结束排序*</a:t>
            </a:r>
            <a:r>
              <a:rPr lang="en-US" altLang="zh-CN" sz="2400" b="1" dirty="0">
                <a:solidFill>
                  <a:srgbClr val="FF0000"/>
                </a:solidFill>
                <a:effectLst>
                  <a:outerShdw blurRad="38100" dist="38100" dir="2700000" algn="tl">
                    <a:srgbClr val="C0C0C0"/>
                  </a:outerShdw>
                </a:effectLst>
              </a:rPr>
              <a:t>/</a:t>
            </a:r>
          </a:p>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a:t>
            </a:r>
          </a:p>
        </p:txBody>
      </p:sp>
      <p:sp>
        <p:nvSpPr>
          <p:cNvPr id="5" name="灯片编号占位符 5"/>
          <p:cNvSpPr>
            <a:spLocks noGrp="1"/>
          </p:cNvSpPr>
          <p:nvPr>
            <p:ph type="sldNum" sz="quarter" idx="12"/>
          </p:nvPr>
        </p:nvSpPr>
        <p:spPr/>
        <p:txBody>
          <a:bodyPr/>
          <a:lstStyle/>
          <a:p>
            <a:pPr>
              <a:defRPr/>
            </a:pPr>
            <a:fld id="{0C46739A-331D-4A54-AA36-AC7D04544174}" type="slidenum">
              <a:rPr lang="en-US" altLang="zh-CN"/>
              <a:pPr>
                <a:defRPr/>
              </a:pPr>
              <a:t>44</a:t>
            </a:fld>
            <a:endParaRPr lang="en-US" altLang="zh-CN"/>
          </a:p>
        </p:txBody>
      </p:sp>
    </p:spTree>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1218" name="Rectangle 2"/>
          <p:cNvSpPr>
            <a:spLocks noGrp="1" noChangeArrowheads="1"/>
          </p:cNvSpPr>
          <p:nvPr>
            <p:ph idx="1"/>
          </p:nvPr>
        </p:nvSpPr>
        <p:spPr>
          <a:xfrm>
            <a:off x="468313" y="476250"/>
            <a:ext cx="8294687" cy="6000750"/>
          </a:xfrm>
        </p:spPr>
        <p:txBody>
          <a:bodyPr>
            <a:normAutofit/>
          </a:bodyPr>
          <a:lstStyle/>
          <a:p>
            <a:pPr marL="0" indent="0" eaLnBrk="1" fontAlgn="auto" hangingPunct="1">
              <a:spcAft>
                <a:spcPts val="0"/>
              </a:spcAft>
              <a:buClr>
                <a:schemeClr val="accent3"/>
              </a:buClr>
              <a:buFont typeface="Wingdings" pitchFamily="2" charset="2"/>
              <a:buNone/>
              <a:defRPr/>
            </a:pPr>
            <a:r>
              <a:rPr lang="zh-CN" altLang="en-US" b="1" dirty="0">
                <a:solidFill>
                  <a:srgbClr val="FF0000"/>
                </a:solidFill>
                <a:effectLst>
                  <a:outerShdw blurRad="38100" dist="38100" dir="2700000" algn="tl">
                    <a:srgbClr val="C0C0C0"/>
                  </a:outerShdw>
                </a:effectLst>
              </a:rPr>
              <a:t>更好的改进</a:t>
            </a:r>
            <a:r>
              <a:rPr lang="en-US" altLang="zh-CN" b="1" dirty="0">
                <a:solidFill>
                  <a:srgbClr val="FF0000"/>
                </a:solidFill>
                <a:effectLst>
                  <a:outerShdw blurRad="38100" dist="38100" dir="2700000" algn="tl">
                    <a:srgbClr val="C0C0C0"/>
                  </a:outerShdw>
                </a:effectLst>
              </a:rPr>
              <a:t>:</a:t>
            </a:r>
          </a:p>
          <a:p>
            <a:pPr marL="0" indent="0"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rPr>
              <a:t>在冒泡排序过程中，如果某次遍历在某个位置</a:t>
            </a:r>
            <a:r>
              <a:rPr lang="en-US" altLang="zh-CN" b="1" dirty="0">
                <a:effectLst>
                  <a:outerShdw blurRad="38100" dist="38100" dir="2700000" algn="tl">
                    <a:srgbClr val="C0C0C0"/>
                  </a:outerShdw>
                </a:effectLst>
              </a:rPr>
              <a:t>j</a:t>
            </a:r>
            <a:r>
              <a:rPr lang="zh-CN" altLang="en-US" b="1" dirty="0">
                <a:effectLst>
                  <a:outerShdw blurRad="38100" dist="38100" dir="2700000" algn="tl">
                    <a:srgbClr val="C0C0C0"/>
                  </a:outerShdw>
                </a:effectLst>
              </a:rPr>
              <a:t>发生最后一次交换，以后的位置都未发生交换，这说明以后位置的全部元素都是已排好序的。则后一次遍历的上界可立即缩至上一次遍历的最后交换处之前。</a:t>
            </a:r>
            <a:endParaRPr lang="en-US" altLang="zh-CN" b="1" dirty="0">
              <a:effectLst>
                <a:outerShdw blurRad="38100" dist="38100" dir="2700000" algn="tl">
                  <a:srgbClr val="C0C0C0"/>
                </a:outerShdw>
              </a:effectLst>
            </a:endParaRPr>
          </a:p>
          <a:p>
            <a:pPr marL="0" indent="0" eaLnBrk="1" fontAlgn="auto" hangingPunct="1">
              <a:spcAft>
                <a:spcPts val="0"/>
              </a:spcAft>
              <a:buClr>
                <a:schemeClr val="accent3"/>
              </a:buClr>
              <a:buFont typeface="Wingdings" pitchFamily="2" charset="2"/>
              <a:buNone/>
              <a:defRPr/>
            </a:pPr>
            <a:endParaRPr lang="en-US" altLang="zh-CN" b="1" dirty="0">
              <a:effectLst>
                <a:outerShdw blurRad="38100" dist="38100" dir="2700000" algn="tl">
                  <a:srgbClr val="C0C0C0"/>
                </a:outerShdw>
              </a:effectLst>
            </a:endParaRPr>
          </a:p>
          <a:p>
            <a:pPr marL="0" indent="0"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rPr>
              <a:t>例如，数列</a:t>
            </a:r>
            <a:r>
              <a:rPr lang="en-US" altLang="zh-CN" b="1" dirty="0">
                <a:effectLst>
                  <a:outerShdw blurRad="38100" dist="38100" dir="2700000" algn="tl">
                    <a:srgbClr val="C0C0C0"/>
                  </a:outerShdw>
                </a:effectLst>
              </a:rPr>
              <a:t>a[] = {1</a:t>
            </a:r>
            <a:r>
              <a:rPr lang="zh-CN" altLang="en-US" b="1" dirty="0">
                <a:effectLst>
                  <a:outerShdw blurRad="38100" dist="38100" dir="2700000" algn="tl">
                    <a:srgbClr val="C0C0C0"/>
                  </a:outerShdw>
                </a:effectLst>
              </a:rPr>
              <a:t>，</a:t>
            </a:r>
            <a:r>
              <a:rPr lang="en-US" altLang="zh-CN" b="1" dirty="0">
                <a:effectLst>
                  <a:outerShdw blurRad="38100" dist="38100" dir="2700000" algn="tl">
                    <a:srgbClr val="C0C0C0"/>
                  </a:outerShdw>
                </a:effectLst>
              </a:rPr>
              <a:t>2</a:t>
            </a:r>
            <a:r>
              <a:rPr lang="zh-CN" altLang="en-US" b="1" dirty="0">
                <a:effectLst>
                  <a:outerShdw blurRad="38100" dist="38100" dir="2700000" algn="tl">
                    <a:srgbClr val="C0C0C0"/>
                  </a:outerShdw>
                </a:effectLst>
              </a:rPr>
              <a:t>，</a:t>
            </a:r>
            <a:r>
              <a:rPr lang="en-US" altLang="zh-CN" b="1" dirty="0">
                <a:effectLst>
                  <a:outerShdw blurRad="38100" dist="38100" dir="2700000" algn="tl">
                    <a:srgbClr val="C0C0C0"/>
                  </a:outerShdw>
                </a:effectLst>
              </a:rPr>
              <a:t>3</a:t>
            </a:r>
            <a:r>
              <a:rPr lang="zh-CN" altLang="en-US" b="1" dirty="0">
                <a:effectLst>
                  <a:outerShdw blurRad="38100" dist="38100" dir="2700000" algn="tl">
                    <a:srgbClr val="C0C0C0"/>
                  </a:outerShdw>
                </a:effectLst>
              </a:rPr>
              <a:t>，</a:t>
            </a:r>
            <a:r>
              <a:rPr lang="en-US" altLang="zh-CN" b="1" dirty="0">
                <a:effectLst>
                  <a:outerShdw blurRad="38100" dist="38100" dir="2700000" algn="tl">
                    <a:srgbClr val="C0C0C0"/>
                  </a:outerShdw>
                </a:effectLst>
              </a:rPr>
              <a:t>6</a:t>
            </a:r>
            <a:r>
              <a:rPr lang="zh-CN" altLang="en-US" b="1" dirty="0">
                <a:effectLst>
                  <a:outerShdw blurRad="38100" dist="38100" dir="2700000" algn="tl">
                    <a:srgbClr val="C0C0C0"/>
                  </a:outerShdw>
                </a:effectLst>
              </a:rPr>
              <a:t>，</a:t>
            </a:r>
            <a:r>
              <a:rPr lang="en-US" altLang="zh-CN" b="1" dirty="0">
                <a:effectLst>
                  <a:outerShdw blurRad="38100" dist="38100" dir="2700000" algn="tl">
                    <a:srgbClr val="C0C0C0"/>
                  </a:outerShdw>
                </a:effectLst>
              </a:rPr>
              <a:t>4</a:t>
            </a:r>
            <a:r>
              <a:rPr lang="zh-CN" altLang="en-US" b="1" dirty="0">
                <a:effectLst>
                  <a:outerShdw blurRad="38100" dist="38100" dir="2700000" algn="tl">
                    <a:srgbClr val="C0C0C0"/>
                  </a:outerShdw>
                </a:effectLst>
              </a:rPr>
              <a:t>，</a:t>
            </a:r>
            <a:r>
              <a:rPr lang="en-US" altLang="zh-CN" b="1" dirty="0">
                <a:effectLst>
                  <a:outerShdw blurRad="38100" dist="38100" dir="2700000" algn="tl">
                    <a:srgbClr val="C0C0C0"/>
                  </a:outerShdw>
                </a:effectLst>
              </a:rPr>
              <a:t>7</a:t>
            </a:r>
            <a:r>
              <a:rPr lang="zh-CN" altLang="en-US" b="1" dirty="0">
                <a:effectLst>
                  <a:outerShdw blurRad="38100" dist="38100" dir="2700000" algn="tl">
                    <a:srgbClr val="C0C0C0"/>
                  </a:outerShdw>
                </a:effectLst>
              </a:rPr>
              <a:t>，</a:t>
            </a:r>
            <a:r>
              <a:rPr lang="en-US" altLang="zh-CN" b="1" dirty="0">
                <a:effectLst>
                  <a:outerShdw blurRad="38100" dist="38100" dir="2700000" algn="tl">
                    <a:srgbClr val="C0C0C0"/>
                  </a:outerShdw>
                </a:effectLst>
              </a:rPr>
              <a:t>5}</a:t>
            </a:r>
            <a:r>
              <a:rPr lang="zh-CN" altLang="en-US" b="1" dirty="0">
                <a:effectLst>
                  <a:outerShdw blurRad="38100" dist="38100" dir="2700000" algn="tl">
                    <a:srgbClr val="C0C0C0"/>
                  </a:outerShdw>
                </a:effectLst>
              </a:rPr>
              <a:t>，第一次遍历，</a:t>
            </a:r>
            <a:r>
              <a:rPr lang="en-US" altLang="zh-CN" b="1" dirty="0">
                <a:effectLst>
                  <a:outerShdw blurRad="38100" dist="38100" dir="2700000" algn="tl">
                    <a:srgbClr val="C0C0C0"/>
                  </a:outerShdw>
                </a:effectLst>
              </a:rPr>
              <a:t>j</a:t>
            </a:r>
            <a:r>
              <a:rPr lang="zh-CN" altLang="en-US" b="1" dirty="0">
                <a:effectLst>
                  <a:outerShdw blurRad="38100" dist="38100" dir="2700000" algn="tl">
                    <a:srgbClr val="C0C0C0"/>
                  </a:outerShdw>
                </a:effectLst>
              </a:rPr>
              <a:t>在</a:t>
            </a:r>
            <a:r>
              <a:rPr lang="en-US" altLang="zh-CN" b="1" dirty="0">
                <a:effectLst>
                  <a:outerShdw blurRad="38100" dist="38100" dir="2700000" algn="tl">
                    <a:srgbClr val="C0C0C0"/>
                  </a:outerShdw>
                </a:effectLst>
              </a:rPr>
              <a:t>6</a:t>
            </a:r>
            <a:r>
              <a:rPr lang="zh-CN" altLang="en-US" b="1" dirty="0">
                <a:effectLst>
                  <a:outerShdw blurRad="38100" dist="38100" dir="2700000" algn="tl">
                    <a:srgbClr val="C0C0C0"/>
                  </a:outerShdw>
                </a:effectLst>
              </a:rPr>
              <a:t>的位置发生元素交换，</a:t>
            </a:r>
            <a:r>
              <a:rPr lang="en-US" altLang="zh-CN" b="1" dirty="0">
                <a:effectLst>
                  <a:outerShdw blurRad="38100" dist="38100" dir="2700000" algn="tl">
                    <a:srgbClr val="C0C0C0"/>
                  </a:outerShdw>
                </a:effectLst>
              </a:rPr>
              <a:t>j</a:t>
            </a:r>
            <a:r>
              <a:rPr lang="zh-CN" altLang="en-US" b="1" dirty="0">
                <a:effectLst>
                  <a:outerShdw blurRad="38100" dist="38100" dir="2700000" algn="tl">
                    <a:srgbClr val="C0C0C0"/>
                  </a:outerShdw>
                </a:effectLst>
              </a:rPr>
              <a:t>在</a:t>
            </a:r>
            <a:r>
              <a:rPr lang="en-US" altLang="zh-CN" b="1" dirty="0">
                <a:effectLst>
                  <a:outerShdw blurRad="38100" dist="38100" dir="2700000" algn="tl">
                    <a:srgbClr val="C0C0C0"/>
                  </a:outerShdw>
                </a:effectLst>
              </a:rPr>
              <a:t>4</a:t>
            </a:r>
            <a:r>
              <a:rPr lang="zh-CN" altLang="en-US" b="1">
                <a:effectLst>
                  <a:outerShdw blurRad="38100" dist="38100" dir="2700000" algn="tl">
                    <a:srgbClr val="C0C0C0"/>
                  </a:outerShdw>
                </a:effectLst>
              </a:rPr>
              <a:t>的位置发生</a:t>
            </a:r>
            <a:r>
              <a:rPr lang="zh-CN" altLang="en-US" b="1" dirty="0">
                <a:effectLst>
                  <a:outerShdw blurRad="38100" dist="38100" dir="2700000" algn="tl">
                    <a:srgbClr val="C0C0C0"/>
                  </a:outerShdw>
                </a:effectLst>
              </a:rPr>
              <a:t>交换，</a:t>
            </a:r>
            <a:r>
              <a:rPr lang="en-US" altLang="zh-CN" b="1" dirty="0">
                <a:effectLst>
                  <a:outerShdw blurRad="38100" dist="38100" dir="2700000" algn="tl">
                    <a:srgbClr val="C0C0C0"/>
                  </a:outerShdw>
                </a:effectLst>
              </a:rPr>
              <a:t>j</a:t>
            </a:r>
            <a:r>
              <a:rPr lang="zh-CN" altLang="en-US" b="1" dirty="0">
                <a:effectLst>
                  <a:outerShdw blurRad="38100" dist="38100" dir="2700000" algn="tl">
                    <a:srgbClr val="C0C0C0"/>
                  </a:outerShdw>
                </a:effectLst>
              </a:rPr>
              <a:t>在</a:t>
            </a:r>
            <a:r>
              <a:rPr lang="en-US" altLang="zh-CN" b="1" dirty="0">
                <a:effectLst>
                  <a:outerShdw blurRad="38100" dist="38100" dir="2700000" algn="tl">
                    <a:srgbClr val="C0C0C0"/>
                  </a:outerShdw>
                </a:effectLst>
              </a:rPr>
              <a:t>3</a:t>
            </a:r>
            <a:r>
              <a:rPr lang="zh-CN" altLang="en-US" b="1" dirty="0">
                <a:effectLst>
                  <a:outerShdw blurRad="38100" dist="38100" dir="2700000" algn="tl">
                    <a:srgbClr val="C0C0C0"/>
                  </a:outerShdw>
                </a:effectLst>
              </a:rPr>
              <a:t>、</a:t>
            </a:r>
            <a:r>
              <a:rPr lang="en-US" altLang="zh-CN" b="1" dirty="0">
                <a:effectLst>
                  <a:outerShdw blurRad="38100" dist="38100" dir="2700000" algn="tl">
                    <a:srgbClr val="C0C0C0"/>
                  </a:outerShdw>
                </a:effectLst>
              </a:rPr>
              <a:t>2</a:t>
            </a:r>
            <a:r>
              <a:rPr lang="zh-CN" altLang="en-US" b="1" dirty="0">
                <a:effectLst>
                  <a:outerShdw blurRad="38100" dist="38100" dir="2700000" algn="tl">
                    <a:srgbClr val="C0C0C0"/>
                  </a:outerShdw>
                </a:effectLst>
              </a:rPr>
              <a:t>、</a:t>
            </a:r>
            <a:r>
              <a:rPr lang="en-US" altLang="zh-CN" b="1" dirty="0">
                <a:effectLst>
                  <a:outerShdw blurRad="38100" dist="38100" dir="2700000" algn="tl">
                    <a:srgbClr val="C0C0C0"/>
                  </a:outerShdw>
                </a:effectLst>
              </a:rPr>
              <a:t>1</a:t>
            </a:r>
            <a:r>
              <a:rPr lang="zh-CN" altLang="en-US" b="1" dirty="0">
                <a:effectLst>
                  <a:outerShdw blurRad="38100" dist="38100" dir="2700000" algn="tl">
                    <a:srgbClr val="C0C0C0"/>
                  </a:outerShdw>
                </a:effectLst>
              </a:rPr>
              <a:t>处都未发生元素交换。最后交换处是</a:t>
            </a:r>
            <a:r>
              <a:rPr lang="en-US" altLang="zh-CN" b="1" dirty="0">
                <a:effectLst>
                  <a:outerShdw blurRad="38100" dist="38100" dir="2700000" algn="tl">
                    <a:srgbClr val="C0C0C0"/>
                  </a:outerShdw>
                </a:effectLst>
              </a:rPr>
              <a:t>j</a:t>
            </a:r>
            <a:r>
              <a:rPr lang="zh-CN" altLang="en-US" b="1" dirty="0">
                <a:effectLst>
                  <a:outerShdw blurRad="38100" dist="38100" dir="2700000" algn="tl">
                    <a:srgbClr val="C0C0C0"/>
                  </a:outerShdw>
                </a:effectLst>
              </a:rPr>
              <a:t>为</a:t>
            </a:r>
            <a:r>
              <a:rPr lang="en-US" altLang="zh-CN" b="1" dirty="0">
                <a:effectLst>
                  <a:outerShdw blurRad="38100" dist="38100" dir="2700000" algn="tl">
                    <a:srgbClr val="C0C0C0"/>
                  </a:outerShdw>
                </a:effectLst>
              </a:rPr>
              <a:t>4</a:t>
            </a:r>
            <a:r>
              <a:rPr lang="zh-CN" altLang="en-US" b="1" dirty="0">
                <a:effectLst>
                  <a:outerShdw blurRad="38100" dist="38100" dir="2700000" algn="tl">
                    <a:srgbClr val="C0C0C0"/>
                  </a:outerShdw>
                </a:effectLst>
              </a:rPr>
              <a:t>。</a:t>
            </a:r>
          </a:p>
          <a:p>
            <a:pPr marL="0" indent="0"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rPr>
              <a:t>这次遍历使序列变成：</a:t>
            </a:r>
          </a:p>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a[] = {1</a:t>
            </a:r>
            <a:r>
              <a:rPr lang="zh-CN" altLang="en-US" b="1" dirty="0">
                <a:effectLst>
                  <a:outerShdw blurRad="38100" dist="38100" dir="2700000" algn="tl">
                    <a:srgbClr val="C0C0C0"/>
                  </a:outerShdw>
                </a:effectLst>
              </a:rPr>
              <a:t>，</a:t>
            </a:r>
            <a:r>
              <a:rPr lang="en-US" altLang="zh-CN" b="1" dirty="0">
                <a:effectLst>
                  <a:outerShdw blurRad="38100" dist="38100" dir="2700000" algn="tl">
                    <a:srgbClr val="C0C0C0"/>
                  </a:outerShdw>
                </a:effectLst>
              </a:rPr>
              <a:t>2</a:t>
            </a:r>
            <a:r>
              <a:rPr lang="zh-CN" altLang="en-US" b="1" dirty="0">
                <a:effectLst>
                  <a:outerShdw blurRad="38100" dist="38100" dir="2700000" algn="tl">
                    <a:srgbClr val="C0C0C0"/>
                  </a:outerShdw>
                </a:effectLst>
              </a:rPr>
              <a:t>，</a:t>
            </a:r>
            <a:r>
              <a:rPr lang="en-US" altLang="zh-CN" b="1" dirty="0">
                <a:effectLst>
                  <a:outerShdw blurRad="38100" dist="38100" dir="2700000" algn="tl">
                    <a:srgbClr val="C0C0C0"/>
                  </a:outerShdw>
                </a:effectLst>
              </a:rPr>
              <a:t>3</a:t>
            </a:r>
            <a:r>
              <a:rPr lang="zh-CN" altLang="en-US" b="1" dirty="0">
                <a:effectLst>
                  <a:outerShdw blurRad="38100" dist="38100" dir="2700000" algn="tl">
                    <a:srgbClr val="C0C0C0"/>
                  </a:outerShdw>
                </a:effectLst>
              </a:rPr>
              <a:t>，</a:t>
            </a:r>
            <a:r>
              <a:rPr lang="en-US" altLang="zh-CN" b="1" dirty="0">
                <a:effectLst>
                  <a:outerShdw blurRad="38100" dist="38100" dir="2700000" algn="tl">
                    <a:srgbClr val="C0C0C0"/>
                  </a:outerShdw>
                </a:effectLst>
              </a:rPr>
              <a:t>4</a:t>
            </a:r>
            <a:r>
              <a:rPr lang="zh-CN" altLang="en-US" b="1" dirty="0">
                <a:effectLst>
                  <a:outerShdw blurRad="38100" dist="38100" dir="2700000" algn="tl">
                    <a:srgbClr val="C0C0C0"/>
                  </a:outerShdw>
                </a:effectLst>
              </a:rPr>
              <a:t>，</a:t>
            </a:r>
            <a:r>
              <a:rPr lang="en-US" altLang="zh-CN" b="1" dirty="0">
                <a:effectLst>
                  <a:outerShdw blurRad="38100" dist="38100" dir="2700000" algn="tl">
                    <a:srgbClr val="C0C0C0"/>
                  </a:outerShdw>
                </a:effectLst>
              </a:rPr>
              <a:t>6</a:t>
            </a:r>
            <a:r>
              <a:rPr lang="zh-CN" altLang="en-US" b="1" dirty="0">
                <a:effectLst>
                  <a:outerShdw blurRad="38100" dist="38100" dir="2700000" algn="tl">
                    <a:srgbClr val="C0C0C0"/>
                  </a:outerShdw>
                </a:effectLst>
              </a:rPr>
              <a:t>，</a:t>
            </a:r>
            <a:r>
              <a:rPr lang="en-US" altLang="zh-CN" b="1" dirty="0">
                <a:effectLst>
                  <a:outerShdw blurRad="38100" dist="38100" dir="2700000" algn="tl">
                    <a:srgbClr val="C0C0C0"/>
                  </a:outerShdw>
                </a:effectLst>
              </a:rPr>
              <a:t>5</a:t>
            </a:r>
            <a:r>
              <a:rPr lang="zh-CN" altLang="en-US" b="1" dirty="0">
                <a:effectLst>
                  <a:outerShdw blurRad="38100" dist="38100" dir="2700000" algn="tl">
                    <a:srgbClr val="C0C0C0"/>
                  </a:outerShdw>
                </a:effectLst>
              </a:rPr>
              <a:t>，</a:t>
            </a:r>
            <a:r>
              <a:rPr lang="en-US" altLang="zh-CN" b="1" dirty="0">
                <a:effectLst>
                  <a:outerShdw blurRad="38100" dist="38100" dir="2700000" algn="tl">
                    <a:srgbClr val="C0C0C0"/>
                  </a:outerShdw>
                </a:effectLst>
              </a:rPr>
              <a:t>7}</a:t>
            </a:r>
          </a:p>
        </p:txBody>
      </p:sp>
      <p:sp>
        <p:nvSpPr>
          <p:cNvPr id="5" name="灯片编号占位符 5"/>
          <p:cNvSpPr>
            <a:spLocks noGrp="1"/>
          </p:cNvSpPr>
          <p:nvPr>
            <p:ph type="sldNum" sz="quarter" idx="12"/>
          </p:nvPr>
        </p:nvSpPr>
        <p:spPr/>
        <p:txBody>
          <a:bodyPr/>
          <a:lstStyle/>
          <a:p>
            <a:pPr>
              <a:defRPr/>
            </a:pPr>
            <a:fld id="{C6FB12CF-5B51-4BE7-BCF2-FCEE49C6E174}" type="slidenum">
              <a:rPr lang="en-US" altLang="zh-CN"/>
              <a:pPr>
                <a:defRPr/>
              </a:pPr>
              <a:t>45</a:t>
            </a:fld>
            <a:endParaRPr lang="en-US" altLang="zh-CN"/>
          </a:p>
        </p:txBody>
      </p:sp>
      <p:sp>
        <p:nvSpPr>
          <p:cNvPr id="4" name="矩形 3"/>
          <p:cNvSpPr/>
          <p:nvPr/>
        </p:nvSpPr>
        <p:spPr>
          <a:xfrm>
            <a:off x="2051050" y="2781300"/>
            <a:ext cx="5473700" cy="431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l">
              <a:defRPr/>
            </a:pPr>
            <a:r>
              <a:rPr lang="en-US" altLang="zh-CN" dirty="0"/>
              <a:t>       j=0,  1,   2,   3,   </a:t>
            </a:r>
            <a:r>
              <a:rPr lang="en-US" altLang="zh-CN" dirty="0">
                <a:solidFill>
                  <a:srgbClr val="FF0000"/>
                </a:solidFill>
              </a:rPr>
              <a:t>4</a:t>
            </a:r>
            <a:r>
              <a:rPr lang="en-US" altLang="zh-CN" dirty="0"/>
              <a:t> ,  5 , </a:t>
            </a:r>
            <a:r>
              <a:rPr lang="en-US" altLang="zh-CN" dirty="0">
                <a:solidFill>
                  <a:srgbClr val="FF0000"/>
                </a:solidFill>
              </a:rPr>
              <a:t>6</a:t>
            </a:r>
            <a:endParaRPr lang="zh-CN" altLang="en-US" dirty="0">
              <a:solidFill>
                <a:srgbClr val="FF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21218">
                                            <p:txEl>
                                              <p:pRg st="3" end="3"/>
                                            </p:txEl>
                                          </p:spTgt>
                                        </p:tgtEl>
                                        <p:attrNameLst>
                                          <p:attrName>style.visibility</p:attrName>
                                        </p:attrNameLst>
                                      </p:cBhvr>
                                      <p:to>
                                        <p:strVal val="visible"/>
                                      </p:to>
                                    </p:set>
                                    <p:anim calcmode="lin" valueType="num">
                                      <p:cBhvr additive="base">
                                        <p:cTn id="7" dur="500" fill="hold"/>
                                        <p:tgtEl>
                                          <p:spTgt spid="521218">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21218">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21218">
                                            <p:txEl>
                                              <p:pRg st="4" end="4"/>
                                            </p:txEl>
                                          </p:spTgt>
                                        </p:tgtEl>
                                        <p:attrNameLst>
                                          <p:attrName>style.visibility</p:attrName>
                                        </p:attrNameLst>
                                      </p:cBhvr>
                                      <p:to>
                                        <p:strVal val="visible"/>
                                      </p:to>
                                    </p:set>
                                    <p:anim calcmode="lin" valueType="num">
                                      <p:cBhvr additive="base">
                                        <p:cTn id="17" dur="500" fill="hold"/>
                                        <p:tgtEl>
                                          <p:spTgt spid="521218">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21218">
                                            <p:txEl>
                                              <p:pRg st="4" end="4"/>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521218">
                                            <p:txEl>
                                              <p:pRg st="5" end="5"/>
                                            </p:txEl>
                                          </p:spTgt>
                                        </p:tgtEl>
                                        <p:attrNameLst>
                                          <p:attrName>style.visibility</p:attrName>
                                        </p:attrNameLst>
                                      </p:cBhvr>
                                      <p:to>
                                        <p:strVal val="visible"/>
                                      </p:to>
                                    </p:set>
                                    <p:anim calcmode="lin" valueType="num">
                                      <p:cBhvr additive="base">
                                        <p:cTn id="21" dur="500" fill="hold"/>
                                        <p:tgtEl>
                                          <p:spTgt spid="521218">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21218">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42" name="Rectangle 2"/>
          <p:cNvSpPr>
            <a:spLocks noGrp="1" noChangeArrowheads="1"/>
          </p:cNvSpPr>
          <p:nvPr>
            <p:ph idx="1"/>
          </p:nvPr>
        </p:nvSpPr>
        <p:spPr>
          <a:xfrm>
            <a:off x="468313" y="476250"/>
            <a:ext cx="8294687" cy="6000750"/>
          </a:xfrm>
        </p:spPr>
        <p:txBody>
          <a:bodyPr>
            <a:normAutofit/>
          </a:bodyPr>
          <a:lstStyle/>
          <a:p>
            <a:pPr marL="0" indent="0" eaLnBrk="1" fontAlgn="auto" hangingPunct="1">
              <a:spcAft>
                <a:spcPts val="0"/>
              </a:spcAft>
              <a:buClr>
                <a:schemeClr val="accent3"/>
              </a:buClr>
              <a:buFont typeface="Wingdings" pitchFamily="2" charset="2"/>
              <a:buNone/>
              <a:defRPr/>
            </a:pPr>
            <a:endParaRPr lang="en-US" altLang="zh-CN" b="1" dirty="0">
              <a:effectLst>
                <a:outerShdw blurRad="38100" dist="38100" dir="2700000" algn="tl">
                  <a:srgbClr val="C0C0C0"/>
                </a:outerShdw>
              </a:effectLst>
            </a:endParaRPr>
          </a:p>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a[] = {1</a:t>
            </a:r>
            <a:r>
              <a:rPr lang="zh-CN" altLang="en-US" b="1" dirty="0">
                <a:effectLst>
                  <a:outerShdw blurRad="38100" dist="38100" dir="2700000" algn="tl">
                    <a:srgbClr val="C0C0C0"/>
                  </a:outerShdw>
                </a:effectLst>
              </a:rPr>
              <a:t>，</a:t>
            </a:r>
            <a:r>
              <a:rPr lang="en-US" altLang="zh-CN" b="1" dirty="0">
                <a:effectLst>
                  <a:outerShdw blurRad="38100" dist="38100" dir="2700000" algn="tl">
                    <a:srgbClr val="C0C0C0"/>
                  </a:outerShdw>
                </a:effectLst>
              </a:rPr>
              <a:t>2</a:t>
            </a:r>
            <a:r>
              <a:rPr lang="zh-CN" altLang="en-US" b="1" dirty="0">
                <a:effectLst>
                  <a:outerShdw blurRad="38100" dist="38100" dir="2700000" algn="tl">
                    <a:srgbClr val="C0C0C0"/>
                  </a:outerShdw>
                </a:effectLst>
              </a:rPr>
              <a:t>，</a:t>
            </a:r>
            <a:r>
              <a:rPr lang="en-US" altLang="zh-CN" b="1" dirty="0">
                <a:effectLst>
                  <a:outerShdw blurRad="38100" dist="38100" dir="2700000" algn="tl">
                    <a:srgbClr val="C0C0C0"/>
                  </a:outerShdw>
                </a:effectLst>
              </a:rPr>
              <a:t>3</a:t>
            </a:r>
            <a:r>
              <a:rPr lang="zh-CN" altLang="en-US" b="1" dirty="0">
                <a:effectLst>
                  <a:outerShdw blurRad="38100" dist="38100" dir="2700000" algn="tl">
                    <a:srgbClr val="C0C0C0"/>
                  </a:outerShdw>
                </a:effectLst>
              </a:rPr>
              <a:t>，</a:t>
            </a:r>
            <a:r>
              <a:rPr lang="en-US" altLang="zh-CN" b="1" dirty="0">
                <a:effectLst>
                  <a:outerShdw blurRad="38100" dist="38100" dir="2700000" algn="tl">
                    <a:srgbClr val="C0C0C0"/>
                  </a:outerShdw>
                </a:effectLst>
              </a:rPr>
              <a:t>4</a:t>
            </a:r>
            <a:r>
              <a:rPr lang="zh-CN" altLang="en-US" b="1" dirty="0">
                <a:effectLst>
                  <a:outerShdw blurRad="38100" dist="38100" dir="2700000" algn="tl">
                    <a:srgbClr val="C0C0C0"/>
                  </a:outerShdw>
                </a:effectLst>
              </a:rPr>
              <a:t>，</a:t>
            </a:r>
            <a:r>
              <a:rPr lang="en-US" altLang="zh-CN" b="1" dirty="0">
                <a:effectLst>
                  <a:outerShdw blurRad="38100" dist="38100" dir="2700000" algn="tl">
                    <a:srgbClr val="C0C0C0"/>
                  </a:outerShdw>
                </a:effectLst>
              </a:rPr>
              <a:t>6</a:t>
            </a:r>
            <a:r>
              <a:rPr lang="zh-CN" altLang="en-US" b="1" dirty="0">
                <a:effectLst>
                  <a:outerShdw blurRad="38100" dist="38100" dir="2700000" algn="tl">
                    <a:srgbClr val="C0C0C0"/>
                  </a:outerShdw>
                </a:effectLst>
              </a:rPr>
              <a:t>，</a:t>
            </a:r>
            <a:r>
              <a:rPr lang="en-US" altLang="zh-CN" b="1" dirty="0">
                <a:effectLst>
                  <a:outerShdw blurRad="38100" dist="38100" dir="2700000" algn="tl">
                    <a:srgbClr val="C0C0C0"/>
                  </a:outerShdw>
                </a:effectLst>
              </a:rPr>
              <a:t>5</a:t>
            </a:r>
            <a:r>
              <a:rPr lang="zh-CN" altLang="en-US" b="1" dirty="0">
                <a:effectLst>
                  <a:outerShdw blurRad="38100" dist="38100" dir="2700000" algn="tl">
                    <a:srgbClr val="C0C0C0"/>
                  </a:outerShdw>
                </a:effectLst>
              </a:rPr>
              <a:t>，</a:t>
            </a:r>
            <a:r>
              <a:rPr lang="en-US" altLang="zh-CN" b="1" dirty="0">
                <a:effectLst>
                  <a:outerShdw blurRad="38100" dist="38100" dir="2700000" algn="tl">
                    <a:srgbClr val="C0C0C0"/>
                  </a:outerShdw>
                </a:effectLst>
              </a:rPr>
              <a:t>7}</a:t>
            </a:r>
          </a:p>
          <a:p>
            <a:pPr marL="0" indent="0" eaLnBrk="1" fontAlgn="auto" hangingPunct="1">
              <a:spcAft>
                <a:spcPts val="0"/>
              </a:spcAft>
              <a:buClr>
                <a:schemeClr val="accent3"/>
              </a:buClr>
              <a:buFont typeface="Wingdings" pitchFamily="2" charset="2"/>
              <a:buNone/>
              <a:defRPr/>
            </a:pPr>
            <a:endParaRPr lang="en-US" altLang="zh-CN" b="1" dirty="0">
              <a:effectLst>
                <a:outerShdw blurRad="38100" dist="38100" dir="2700000" algn="tl">
                  <a:srgbClr val="C0C0C0"/>
                </a:outerShdw>
              </a:effectLst>
            </a:endParaRPr>
          </a:p>
          <a:p>
            <a:pPr marL="0" indent="0"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rPr>
              <a:t>下一次遍历的范围的上界可立即缩短至上一次遍历的最后交换处之前，即位置</a:t>
            </a:r>
            <a:r>
              <a:rPr lang="en-US" altLang="zh-CN" b="1" dirty="0">
                <a:effectLst>
                  <a:outerShdw blurRad="38100" dist="38100" dir="2700000" algn="tl">
                    <a:srgbClr val="C0C0C0"/>
                  </a:outerShdw>
                </a:effectLst>
              </a:rPr>
              <a:t>5</a:t>
            </a:r>
            <a:r>
              <a:rPr lang="zh-CN" altLang="en-US" b="1" dirty="0">
                <a:effectLst>
                  <a:outerShdw blurRad="38100" dist="38100" dir="2700000" algn="tl">
                    <a:srgbClr val="C0C0C0"/>
                  </a:outerShdw>
                </a:effectLst>
              </a:rPr>
              <a:t>。</a:t>
            </a:r>
            <a:endParaRPr lang="en-US" altLang="zh-CN" b="1" dirty="0">
              <a:effectLst>
                <a:outerShdw blurRad="38100" dist="38100" dir="2700000" algn="tl">
                  <a:srgbClr val="C0C0C0"/>
                </a:outerShdw>
              </a:effectLst>
            </a:endParaRPr>
          </a:p>
          <a:p>
            <a:pPr marL="0" indent="0" eaLnBrk="1" fontAlgn="auto" hangingPunct="1">
              <a:spcAft>
                <a:spcPts val="0"/>
              </a:spcAft>
              <a:buClr>
                <a:schemeClr val="accent3"/>
              </a:buClr>
              <a:buFont typeface="Wingdings" pitchFamily="2" charset="2"/>
              <a:buNone/>
              <a:defRPr/>
            </a:pPr>
            <a:endParaRPr lang="zh-CN" altLang="en-US" b="1" dirty="0">
              <a:effectLst>
                <a:outerShdw blurRad="38100" dist="38100" dir="2700000" algn="tl">
                  <a:srgbClr val="C0C0C0"/>
                </a:outerShdw>
              </a:effectLst>
            </a:endParaRPr>
          </a:p>
          <a:p>
            <a:pPr marL="0" indent="0"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rPr>
              <a:t>程序为利用这个性质，引入变量</a:t>
            </a:r>
            <a:r>
              <a:rPr lang="en-US" altLang="zh-CN" b="1" dirty="0">
                <a:effectLst>
                  <a:outerShdw blurRad="38100" dist="38100" dir="2700000" algn="tl">
                    <a:srgbClr val="C0C0C0"/>
                  </a:outerShdw>
                </a:effectLst>
              </a:rPr>
              <a:t>up</a:t>
            </a:r>
            <a:r>
              <a:rPr lang="zh-CN" altLang="en-US" b="1" dirty="0">
                <a:effectLst>
                  <a:outerShdw blurRad="38100" dist="38100" dir="2700000" algn="tl">
                    <a:srgbClr val="C0C0C0"/>
                  </a:outerShdw>
                </a:effectLst>
              </a:rPr>
              <a:t>，每次遍历至</a:t>
            </a:r>
            <a:r>
              <a:rPr lang="en-US" altLang="zh-CN" b="1" dirty="0">
                <a:effectLst>
                  <a:outerShdw blurRad="38100" dist="38100" dir="2700000" algn="tl">
                    <a:srgbClr val="C0C0C0"/>
                  </a:outerShdw>
                </a:effectLst>
              </a:rPr>
              <a:t>up</a:t>
            </a:r>
            <a:r>
              <a:rPr lang="zh-CN" altLang="en-US" b="1" dirty="0">
                <a:effectLst>
                  <a:outerShdw blurRad="38100" dist="38100" dir="2700000" algn="tl">
                    <a:srgbClr val="C0C0C0"/>
                  </a:outerShdw>
                </a:effectLst>
              </a:rPr>
              <a:t>之前，另引入变量</a:t>
            </a:r>
            <a:r>
              <a:rPr lang="en-US" altLang="zh-CN" b="1" dirty="0">
                <a:effectLst>
                  <a:outerShdw blurRad="38100" dist="38100" dir="2700000" algn="tl">
                    <a:srgbClr val="C0C0C0"/>
                  </a:outerShdw>
                </a:effectLst>
              </a:rPr>
              <a:t>k</a:t>
            </a:r>
            <a:r>
              <a:rPr lang="zh-CN" altLang="en-US" b="1" dirty="0">
                <a:effectLst>
                  <a:outerShdw blurRad="38100" dist="38100" dir="2700000" algn="tl">
                    <a:srgbClr val="C0C0C0"/>
                  </a:outerShdw>
                </a:effectLst>
              </a:rPr>
              <a:t>记录每次遍历的最后元素交换位置。为了考虑到可能某次遍历时一次也不发生元素交换的情况，在每次遍历前，预置变量</a:t>
            </a:r>
            <a:r>
              <a:rPr lang="en-US" altLang="zh-CN" b="1" dirty="0">
                <a:effectLst>
                  <a:outerShdw blurRad="38100" dist="38100" dir="2700000" algn="tl">
                    <a:srgbClr val="C0C0C0"/>
                  </a:outerShdw>
                </a:effectLst>
              </a:rPr>
              <a:t>k</a:t>
            </a:r>
            <a:r>
              <a:rPr lang="zh-CN" altLang="en-US" b="1" dirty="0">
                <a:effectLst>
                  <a:outerShdw blurRad="38100" dist="38100" dir="2700000" algn="tl">
                    <a:srgbClr val="C0C0C0"/>
                  </a:outerShdw>
                </a:effectLst>
              </a:rPr>
              <a:t>为</a:t>
            </a:r>
            <a:r>
              <a:rPr lang="en-US" altLang="zh-CN" b="1" dirty="0">
                <a:effectLst>
                  <a:outerShdw blurRad="38100" dist="38100" dir="2700000" algn="tl">
                    <a:srgbClr val="C0C0C0"/>
                  </a:outerShdw>
                </a:effectLst>
              </a:rPr>
              <a:t>n</a:t>
            </a:r>
            <a:r>
              <a:rPr lang="zh-CN" altLang="en-US" b="1" dirty="0">
                <a:effectLst>
                  <a:outerShdw blurRad="38100" dist="38100" dir="2700000" algn="tl">
                    <a:srgbClr val="C0C0C0"/>
                  </a:outerShdw>
                </a:effectLst>
              </a:rPr>
              <a:t>。一次遍历结束后，赋</a:t>
            </a:r>
            <a:r>
              <a:rPr lang="en-US" altLang="zh-CN" b="1" dirty="0">
                <a:effectLst>
                  <a:outerShdw blurRad="38100" dist="38100" dir="2700000" algn="tl">
                    <a:srgbClr val="C0C0C0"/>
                  </a:outerShdw>
                </a:effectLst>
              </a:rPr>
              <a:t>k</a:t>
            </a:r>
            <a:r>
              <a:rPr lang="zh-CN" altLang="en-US" b="1" dirty="0">
                <a:effectLst>
                  <a:outerShdw blurRad="38100" dist="38100" dir="2700000" algn="tl">
                    <a:srgbClr val="C0C0C0"/>
                  </a:outerShdw>
                </a:effectLst>
              </a:rPr>
              <a:t>给</a:t>
            </a:r>
            <a:r>
              <a:rPr lang="en-US" altLang="zh-CN" b="1" dirty="0">
                <a:effectLst>
                  <a:outerShdw blurRad="38100" dist="38100" dir="2700000" algn="tl">
                    <a:srgbClr val="C0C0C0"/>
                  </a:outerShdw>
                </a:effectLst>
              </a:rPr>
              <a:t>up</a:t>
            </a:r>
            <a:r>
              <a:rPr lang="zh-CN" altLang="en-US" b="1" dirty="0">
                <a:effectLst>
                  <a:outerShdw blurRad="38100" dist="38100" dir="2700000" algn="tl">
                    <a:srgbClr val="C0C0C0"/>
                  </a:outerShdw>
                </a:effectLst>
              </a:rPr>
              <a:t>，作为下一次遍历的上界。冒泡排序过程至</a:t>
            </a:r>
            <a:r>
              <a:rPr lang="en-US" altLang="zh-CN" b="1" dirty="0">
                <a:effectLst>
                  <a:outerShdw blurRad="38100" dist="38100" dir="2700000" algn="tl">
                    <a:srgbClr val="C0C0C0"/>
                  </a:outerShdw>
                </a:effectLst>
              </a:rPr>
              <a:t>up</a:t>
            </a:r>
            <a:r>
              <a:rPr lang="zh-CN" altLang="en-US" b="1" dirty="0">
                <a:effectLst>
                  <a:outerShdw blurRad="38100" dist="38100" dir="2700000" algn="tl">
                    <a:srgbClr val="C0C0C0"/>
                  </a:outerShdw>
                </a:effectLst>
              </a:rPr>
              <a:t>为</a:t>
            </a:r>
            <a:r>
              <a:rPr lang="en-US" altLang="zh-CN" b="1" dirty="0">
                <a:effectLst>
                  <a:outerShdw blurRad="38100" dist="38100" dir="2700000" algn="tl">
                    <a:srgbClr val="C0C0C0"/>
                  </a:outerShdw>
                </a:effectLst>
              </a:rPr>
              <a:t>n</a:t>
            </a:r>
            <a:r>
              <a:rPr lang="zh-CN" altLang="en-US" b="1" dirty="0">
                <a:effectLst>
                  <a:outerShdw blurRad="38100" dist="38100" dir="2700000" algn="tl">
                    <a:srgbClr val="C0C0C0"/>
                  </a:outerShdw>
                </a:effectLst>
              </a:rPr>
              <a:t>结束，</a:t>
            </a:r>
            <a:r>
              <a:rPr lang="en-US" altLang="zh-CN" b="1" dirty="0">
                <a:effectLst>
                  <a:outerShdw blurRad="38100" dist="38100" dir="2700000" algn="tl">
                    <a:srgbClr val="C0C0C0"/>
                  </a:outerShdw>
                </a:effectLst>
              </a:rPr>
              <a:t>up</a:t>
            </a:r>
            <a:r>
              <a:rPr lang="zh-CN" altLang="en-US" b="1" dirty="0">
                <a:effectLst>
                  <a:outerShdw blurRad="38100" dist="38100" dir="2700000" algn="tl">
                    <a:srgbClr val="C0C0C0"/>
                  </a:outerShdw>
                </a:effectLst>
              </a:rPr>
              <a:t>的初值为</a:t>
            </a:r>
            <a:r>
              <a:rPr lang="en-US" altLang="zh-CN" b="1" dirty="0">
                <a:effectLst>
                  <a:outerShdw blurRad="38100" dist="38100" dir="2700000" algn="tl">
                    <a:srgbClr val="C0C0C0"/>
                  </a:outerShdw>
                </a:effectLst>
              </a:rPr>
              <a:t>0</a:t>
            </a:r>
            <a:r>
              <a:rPr lang="zh-CN" altLang="en-US" b="1" dirty="0">
                <a:effectLst>
                  <a:outerShdw blurRad="38100" dist="38100" dir="2700000" algn="tl">
                    <a:srgbClr val="C0C0C0"/>
                  </a:outerShdw>
                </a:effectLst>
              </a:rPr>
              <a:t>，表示第一次遍历至首元素。</a:t>
            </a:r>
            <a:r>
              <a:rPr lang="zh-CN" altLang="en-US" dirty="0"/>
              <a:t> </a:t>
            </a:r>
          </a:p>
        </p:txBody>
      </p:sp>
      <p:sp>
        <p:nvSpPr>
          <p:cNvPr id="5" name="灯片编号占位符 5"/>
          <p:cNvSpPr>
            <a:spLocks noGrp="1"/>
          </p:cNvSpPr>
          <p:nvPr>
            <p:ph type="sldNum" sz="quarter" idx="12"/>
          </p:nvPr>
        </p:nvSpPr>
        <p:spPr/>
        <p:txBody>
          <a:bodyPr/>
          <a:lstStyle/>
          <a:p>
            <a:pPr>
              <a:defRPr/>
            </a:pPr>
            <a:fld id="{1E619CDB-AEBA-4033-A30B-237AA049F421}" type="slidenum">
              <a:rPr lang="en-US" altLang="zh-CN"/>
              <a:pPr>
                <a:defRPr/>
              </a:pPr>
              <a:t>46</a:t>
            </a:fld>
            <a:endParaRPr lang="en-US" altLang="zh-CN"/>
          </a:p>
        </p:txBody>
      </p:sp>
      <p:sp>
        <p:nvSpPr>
          <p:cNvPr id="4" name="矩形 3"/>
          <p:cNvSpPr/>
          <p:nvPr/>
        </p:nvSpPr>
        <p:spPr>
          <a:xfrm>
            <a:off x="395288" y="549275"/>
            <a:ext cx="5472112" cy="431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l">
              <a:defRPr/>
            </a:pPr>
            <a:r>
              <a:rPr lang="en-US" altLang="zh-CN" dirty="0"/>
              <a:t>       j=0,  1,   2,   3,   4 ,  </a:t>
            </a:r>
            <a:r>
              <a:rPr lang="en-US" altLang="zh-CN" dirty="0">
                <a:solidFill>
                  <a:srgbClr val="FF0000"/>
                </a:solidFill>
              </a:rPr>
              <a:t>5</a:t>
            </a:r>
            <a:r>
              <a:rPr lang="en-US" altLang="zh-CN" dirty="0"/>
              <a:t> , 6</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22242">
                                            <p:txEl>
                                              <p:pRg st="5" end="5"/>
                                            </p:txEl>
                                          </p:spTgt>
                                        </p:tgtEl>
                                        <p:attrNameLst>
                                          <p:attrName>style.visibility</p:attrName>
                                        </p:attrNameLst>
                                      </p:cBhvr>
                                      <p:to>
                                        <p:strVal val="visible"/>
                                      </p:to>
                                    </p:set>
                                    <p:anim calcmode="lin" valueType="num">
                                      <p:cBhvr additive="base">
                                        <p:cTn id="7" dur="500" fill="hold"/>
                                        <p:tgtEl>
                                          <p:spTgt spid="522242">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22242">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3266" name="Rectangle 2"/>
          <p:cNvSpPr>
            <a:spLocks noGrp="1" noChangeArrowheads="1"/>
          </p:cNvSpPr>
          <p:nvPr>
            <p:ph idx="1"/>
          </p:nvPr>
        </p:nvSpPr>
        <p:spPr>
          <a:xfrm>
            <a:off x="468313" y="476250"/>
            <a:ext cx="8294687" cy="6000750"/>
          </a:xfrm>
        </p:spPr>
        <p:txBody>
          <a:bodyPr>
            <a:normAutofit/>
          </a:bodyPr>
          <a:lstStyle/>
          <a:p>
            <a:pPr marL="0" indent="0" eaLnBrk="1" fontAlgn="auto" hangingPunct="1">
              <a:spcAft>
                <a:spcPts val="0"/>
              </a:spcAft>
              <a:buClr>
                <a:schemeClr val="accent3"/>
              </a:buClr>
              <a:buFont typeface="Wingdings" pitchFamily="2" charset="2"/>
              <a:buNone/>
              <a:defRPr/>
            </a:pPr>
            <a:r>
              <a:rPr lang="en-US" altLang="zh-CN" dirty="0"/>
              <a:t> </a:t>
            </a:r>
            <a:r>
              <a:rPr lang="en-US" altLang="zh-CN" b="1" dirty="0">
                <a:solidFill>
                  <a:srgbClr val="FF0000"/>
                </a:solidFill>
                <a:effectLst>
                  <a:outerShdw blurRad="38100" dist="38100" dir="2700000" algn="tl">
                    <a:srgbClr val="C0C0C0"/>
                  </a:outerShdw>
                </a:effectLst>
              </a:rPr>
              <a:t>up = 0</a:t>
            </a:r>
            <a:r>
              <a:rPr lang="en-US" altLang="zh-CN" b="1" dirty="0">
                <a:effectLst>
                  <a:outerShdw blurRad="38100" dist="38100" dir="2700000" algn="tl">
                    <a:srgbClr val="C0C0C0"/>
                  </a:outerShdw>
                </a:effectLst>
              </a:rPr>
              <a:t>;   /* </a:t>
            </a:r>
            <a:r>
              <a:rPr lang="zh-CN" altLang="en-US" b="1" dirty="0">
                <a:effectLst>
                  <a:outerShdw blurRad="38100" dist="38100" dir="2700000" algn="tl">
                    <a:srgbClr val="C0C0C0"/>
                  </a:outerShdw>
                </a:effectLst>
              </a:rPr>
              <a:t>一次遍历至</a:t>
            </a:r>
            <a:r>
              <a:rPr lang="en-US" altLang="zh-CN" b="1" dirty="0">
                <a:effectLst>
                  <a:outerShdw blurRad="38100" dist="38100" dir="2700000" algn="tl">
                    <a:srgbClr val="C0C0C0"/>
                  </a:outerShdw>
                </a:effectLst>
              </a:rPr>
              <a:t>up+1</a:t>
            </a:r>
            <a:r>
              <a:rPr lang="zh-CN" altLang="en-US" b="1" dirty="0">
                <a:effectLst>
                  <a:outerShdw blurRad="38100" dist="38100" dir="2700000" algn="tl">
                    <a:srgbClr val="C0C0C0"/>
                  </a:outerShdw>
                </a:effectLst>
              </a:rPr>
              <a:t>，初始时，遍历至首元素之前 *</a:t>
            </a:r>
            <a:r>
              <a:rPr lang="en-US" altLang="zh-CN" b="1" dirty="0">
                <a:effectLst>
                  <a:outerShdw blurRad="38100" dist="38100" dir="2700000" algn="tl">
                    <a:srgbClr val="C0C0C0"/>
                  </a:outerShdw>
                </a:effectLst>
              </a:rPr>
              <a:t>/</a:t>
            </a:r>
          </a:p>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while (</a:t>
            </a:r>
            <a:r>
              <a:rPr lang="en-US" altLang="zh-CN" b="1" dirty="0">
                <a:solidFill>
                  <a:srgbClr val="FF0000"/>
                </a:solidFill>
                <a:effectLst>
                  <a:outerShdw blurRad="38100" dist="38100" dir="2700000" algn="tl">
                    <a:srgbClr val="C0C0C0"/>
                  </a:outerShdw>
                </a:effectLst>
              </a:rPr>
              <a:t>up &lt; n</a:t>
            </a:r>
            <a:r>
              <a:rPr lang="en-US" altLang="zh-CN" b="1" dirty="0">
                <a:effectLst>
                  <a:outerShdw blurRad="38100" dist="38100" dir="2700000" algn="tl">
                    <a:srgbClr val="C0C0C0"/>
                  </a:outerShdw>
                </a:effectLst>
              </a:rPr>
              <a:t>) {     /* </a:t>
            </a:r>
            <a:r>
              <a:rPr lang="zh-CN" altLang="en-US" b="1" dirty="0">
                <a:effectLst>
                  <a:outerShdw blurRad="38100" dist="38100" dir="2700000" algn="tl">
                    <a:srgbClr val="C0C0C0"/>
                  </a:outerShdw>
                </a:effectLst>
              </a:rPr>
              <a:t>还有遍历范围时循环 *</a:t>
            </a:r>
            <a:r>
              <a:rPr lang="en-US" altLang="zh-CN" b="1" dirty="0">
                <a:effectLst>
                  <a:outerShdw blurRad="38100" dist="38100" dir="2700000" algn="tl">
                    <a:srgbClr val="C0C0C0"/>
                  </a:outerShdw>
                </a:effectLst>
              </a:rPr>
              <a:t>/</a:t>
            </a:r>
          </a:p>
          <a:p>
            <a:pPr marL="0" indent="0" eaLnBrk="1" fontAlgn="auto" hangingPunct="1">
              <a:spcAft>
                <a:spcPts val="0"/>
              </a:spcAft>
              <a:buClr>
                <a:schemeClr val="accent3"/>
              </a:buClr>
              <a:buFont typeface="Wingdings" pitchFamily="2" charset="2"/>
              <a:buNone/>
              <a:defRPr/>
            </a:pPr>
            <a:r>
              <a:rPr lang="en-US" altLang="zh-CN" b="1" dirty="0" smtClean="0">
                <a:effectLst>
                  <a:outerShdw blurRad="38100" dist="38100" dir="2700000" algn="tl">
                    <a:srgbClr val="C0C0C0"/>
                  </a:outerShdw>
                </a:effectLst>
              </a:rPr>
              <a:t>      for(</a:t>
            </a:r>
            <a:r>
              <a:rPr lang="en-US" altLang="zh-CN" b="1" dirty="0" smtClean="0">
                <a:solidFill>
                  <a:srgbClr val="FF0000"/>
                </a:solidFill>
                <a:effectLst>
                  <a:outerShdw blurRad="38100" dist="38100" dir="2700000" algn="tl">
                    <a:srgbClr val="C0C0C0"/>
                  </a:outerShdw>
                </a:effectLst>
              </a:rPr>
              <a:t>k = n</a:t>
            </a:r>
            <a:r>
              <a:rPr lang="en-US" altLang="zh-CN" b="1" dirty="0" smtClean="0">
                <a:effectLst>
                  <a:outerShdw blurRad="38100" dist="38100" dir="2700000" algn="tl">
                    <a:srgbClr val="C0C0C0"/>
                  </a:outerShdw>
                </a:effectLst>
              </a:rPr>
              <a:t>, </a:t>
            </a:r>
            <a:r>
              <a:rPr lang="en-US" altLang="zh-CN" b="1" dirty="0">
                <a:effectLst>
                  <a:outerShdw blurRad="38100" dist="38100" dir="2700000" algn="tl">
                    <a:srgbClr val="C0C0C0"/>
                  </a:outerShdw>
                </a:effectLst>
              </a:rPr>
              <a:t>j = n-1; j &gt; up; j--) /* </a:t>
            </a:r>
            <a:r>
              <a:rPr lang="zh-CN" altLang="en-US" b="1" dirty="0">
                <a:effectLst>
                  <a:outerShdw blurRad="38100" dist="38100" dir="2700000" algn="tl">
                    <a:srgbClr val="C0C0C0"/>
                  </a:outerShdw>
                </a:effectLst>
              </a:rPr>
              <a:t>比较至</a:t>
            </a:r>
            <a:r>
              <a:rPr lang="en-US" altLang="zh-CN" b="1" dirty="0">
                <a:effectLst>
                  <a:outerShdw blurRad="38100" dist="38100" dir="2700000" algn="tl">
                    <a:srgbClr val="C0C0C0"/>
                  </a:outerShdw>
                </a:effectLst>
              </a:rPr>
              <a:t>up */</a:t>
            </a:r>
          </a:p>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a:t>
            </a:r>
            <a:r>
              <a:rPr lang="en-US" altLang="zh-CN" b="1" dirty="0" smtClean="0">
                <a:effectLst>
                  <a:outerShdw blurRad="38100" dist="38100" dir="2700000" algn="tl">
                    <a:srgbClr val="C0C0C0"/>
                  </a:outerShdw>
                </a:effectLst>
              </a:rPr>
              <a:t>if(a[j</a:t>
            </a:r>
            <a:r>
              <a:rPr lang="en-US" altLang="zh-CN" b="1" dirty="0">
                <a:effectLst>
                  <a:outerShdw blurRad="38100" dist="38100" dir="2700000" algn="tl">
                    <a:srgbClr val="C0C0C0"/>
                  </a:outerShdw>
                </a:effectLst>
              </a:rPr>
              <a:t>] &lt; a[j-1]) {  /* a[j] </a:t>
            </a:r>
            <a:r>
              <a:rPr lang="zh-CN" altLang="en-US" b="1" dirty="0">
                <a:effectLst>
                  <a:outerShdw blurRad="38100" dist="38100" dir="2700000" algn="tl">
                    <a:srgbClr val="C0C0C0"/>
                  </a:outerShdw>
                </a:effectLst>
              </a:rPr>
              <a:t>与 </a:t>
            </a:r>
            <a:r>
              <a:rPr lang="en-US" altLang="zh-CN" b="1" dirty="0">
                <a:effectLst>
                  <a:outerShdw blurRad="38100" dist="38100" dir="2700000" algn="tl">
                    <a:srgbClr val="C0C0C0"/>
                  </a:outerShdw>
                </a:effectLst>
              </a:rPr>
              <a:t>a[j-1] </a:t>
            </a:r>
            <a:r>
              <a:rPr lang="zh-CN" altLang="en-US" b="1" dirty="0">
                <a:effectLst>
                  <a:outerShdw blurRad="38100" dist="38100" dir="2700000" algn="tl">
                    <a:srgbClr val="C0C0C0"/>
                  </a:outerShdw>
                </a:effectLst>
              </a:rPr>
              <a:t>交换 *</a:t>
            </a:r>
            <a:r>
              <a:rPr lang="en-US" altLang="zh-CN" b="1" dirty="0">
                <a:effectLst>
                  <a:outerShdw blurRad="38100" dist="38100" dir="2700000" algn="tl">
                    <a:srgbClr val="C0C0C0"/>
                  </a:outerShdw>
                </a:effectLst>
              </a:rPr>
              <a:t>/</a:t>
            </a:r>
          </a:p>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temp   = a[j];  a[j]   = a[j-1];  </a:t>
            </a:r>
          </a:p>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a[j-1] = temp;</a:t>
            </a:r>
          </a:p>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a:t>
            </a:r>
            <a:r>
              <a:rPr lang="en-US" altLang="zh-CN" b="1" dirty="0">
                <a:solidFill>
                  <a:srgbClr val="FF0000"/>
                </a:solidFill>
                <a:effectLst>
                  <a:outerShdw blurRad="38100" dist="38100" dir="2700000" algn="tl">
                    <a:srgbClr val="C0C0C0"/>
                  </a:outerShdw>
                </a:effectLst>
              </a:rPr>
              <a:t>k      = j;  </a:t>
            </a:r>
            <a:r>
              <a:rPr lang="en-US" altLang="zh-CN" b="1" dirty="0">
                <a:effectLst>
                  <a:outerShdw blurRad="38100" dist="38100" dir="2700000" algn="tl">
                    <a:srgbClr val="C0C0C0"/>
                  </a:outerShdw>
                </a:effectLst>
              </a:rPr>
              <a:t>/* </a:t>
            </a:r>
            <a:r>
              <a:rPr lang="zh-CN" altLang="en-US" b="1" dirty="0">
                <a:effectLst>
                  <a:outerShdw blurRad="38100" dist="38100" dir="2700000" algn="tl">
                    <a:srgbClr val="C0C0C0"/>
                  </a:outerShdw>
                </a:effectLst>
              </a:rPr>
              <a:t>记录发生交换的位置 *</a:t>
            </a:r>
            <a:r>
              <a:rPr lang="en-US" altLang="zh-CN" b="1" dirty="0">
                <a:effectLst>
                  <a:outerShdw blurRad="38100" dist="38100" dir="2700000" algn="tl">
                    <a:srgbClr val="C0C0C0"/>
                  </a:outerShdw>
                </a:effectLst>
              </a:rPr>
              <a:t>/</a:t>
            </a:r>
          </a:p>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a:t>
            </a:r>
          </a:p>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a:t>
            </a:r>
            <a:r>
              <a:rPr lang="en-US" altLang="zh-CN" b="1" dirty="0">
                <a:solidFill>
                  <a:srgbClr val="FF0000"/>
                </a:solidFill>
                <a:effectLst>
                  <a:outerShdw blurRad="38100" dist="38100" dir="2700000" algn="tl">
                    <a:srgbClr val="C0C0C0"/>
                  </a:outerShdw>
                </a:effectLst>
              </a:rPr>
              <a:t>up = k;</a:t>
            </a:r>
          </a:p>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a:t>
            </a:r>
          </a:p>
        </p:txBody>
      </p:sp>
      <p:sp>
        <p:nvSpPr>
          <p:cNvPr id="5" name="灯片编号占位符 5"/>
          <p:cNvSpPr>
            <a:spLocks noGrp="1"/>
          </p:cNvSpPr>
          <p:nvPr>
            <p:ph type="sldNum" sz="quarter" idx="12"/>
          </p:nvPr>
        </p:nvSpPr>
        <p:spPr/>
        <p:txBody>
          <a:bodyPr/>
          <a:lstStyle/>
          <a:p>
            <a:pPr>
              <a:defRPr/>
            </a:pPr>
            <a:fld id="{03DC87FD-E26C-4DA8-A834-DE050DC1C173}" type="slidenum">
              <a:rPr lang="en-US" altLang="zh-CN"/>
              <a:pPr>
                <a:defRPr/>
              </a:pPr>
              <a:t>47</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23266">
                                            <p:txEl>
                                              <p:pRg st="0" end="0"/>
                                            </p:txEl>
                                          </p:spTgt>
                                        </p:tgtEl>
                                        <p:attrNameLst>
                                          <p:attrName>style.visibility</p:attrName>
                                        </p:attrNameLst>
                                      </p:cBhvr>
                                      <p:to>
                                        <p:strVal val="visible"/>
                                      </p:to>
                                    </p:set>
                                    <p:anim calcmode="lin" valueType="num">
                                      <p:cBhvr additive="base">
                                        <p:cTn id="7" dur="500" fill="hold"/>
                                        <p:tgtEl>
                                          <p:spTgt spid="52326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2326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23266">
                                            <p:txEl>
                                              <p:pRg st="1" end="1"/>
                                            </p:txEl>
                                          </p:spTgt>
                                        </p:tgtEl>
                                        <p:attrNameLst>
                                          <p:attrName>style.visibility</p:attrName>
                                        </p:attrNameLst>
                                      </p:cBhvr>
                                      <p:to>
                                        <p:strVal val="visible"/>
                                      </p:to>
                                    </p:set>
                                    <p:anim calcmode="lin" valueType="num">
                                      <p:cBhvr additive="base">
                                        <p:cTn id="13" dur="500" fill="hold"/>
                                        <p:tgtEl>
                                          <p:spTgt spid="52326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23266">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523266">
                                            <p:txEl>
                                              <p:pRg st="9" end="9"/>
                                            </p:txEl>
                                          </p:spTgt>
                                        </p:tgtEl>
                                        <p:attrNameLst>
                                          <p:attrName>style.visibility</p:attrName>
                                        </p:attrNameLst>
                                      </p:cBhvr>
                                      <p:to>
                                        <p:strVal val="visible"/>
                                      </p:to>
                                    </p:set>
                                    <p:anim calcmode="lin" valueType="num">
                                      <p:cBhvr additive="base">
                                        <p:cTn id="17" dur="500" fill="hold"/>
                                        <p:tgtEl>
                                          <p:spTgt spid="523266">
                                            <p:txEl>
                                              <p:pRg st="9" end="9"/>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23266">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523266">
                                            <p:txEl>
                                              <p:pRg st="2" end="2"/>
                                            </p:txEl>
                                          </p:spTgt>
                                        </p:tgtEl>
                                        <p:attrNameLst>
                                          <p:attrName>style.visibility</p:attrName>
                                        </p:attrNameLst>
                                      </p:cBhvr>
                                      <p:to>
                                        <p:strVal val="visible"/>
                                      </p:to>
                                    </p:set>
                                    <p:anim calcmode="lin" valueType="num">
                                      <p:cBhvr additive="base">
                                        <p:cTn id="23" dur="500" fill="hold"/>
                                        <p:tgtEl>
                                          <p:spTgt spid="523266">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23266">
                                            <p:txEl>
                                              <p:pRg st="2" end="2"/>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523266">
                                            <p:txEl>
                                              <p:pRg st="3" end="3"/>
                                            </p:txEl>
                                          </p:spTgt>
                                        </p:tgtEl>
                                        <p:attrNameLst>
                                          <p:attrName>style.visibility</p:attrName>
                                        </p:attrNameLst>
                                      </p:cBhvr>
                                      <p:to>
                                        <p:strVal val="visible"/>
                                      </p:to>
                                    </p:set>
                                    <p:anim calcmode="lin" valueType="num">
                                      <p:cBhvr additive="base">
                                        <p:cTn id="27" dur="500" fill="hold"/>
                                        <p:tgtEl>
                                          <p:spTgt spid="523266">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23266">
                                            <p:txEl>
                                              <p:pRg st="3" end="3"/>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523266">
                                            <p:txEl>
                                              <p:pRg st="4" end="4"/>
                                            </p:txEl>
                                          </p:spTgt>
                                        </p:tgtEl>
                                        <p:attrNameLst>
                                          <p:attrName>style.visibility</p:attrName>
                                        </p:attrNameLst>
                                      </p:cBhvr>
                                      <p:to>
                                        <p:strVal val="visible"/>
                                      </p:to>
                                    </p:set>
                                    <p:anim calcmode="lin" valueType="num">
                                      <p:cBhvr additive="base">
                                        <p:cTn id="31" dur="500" fill="hold"/>
                                        <p:tgtEl>
                                          <p:spTgt spid="523266">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23266">
                                            <p:txEl>
                                              <p:pRg st="4" end="4"/>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523266">
                                            <p:txEl>
                                              <p:pRg st="5" end="5"/>
                                            </p:txEl>
                                          </p:spTgt>
                                        </p:tgtEl>
                                        <p:attrNameLst>
                                          <p:attrName>style.visibility</p:attrName>
                                        </p:attrNameLst>
                                      </p:cBhvr>
                                      <p:to>
                                        <p:strVal val="visible"/>
                                      </p:to>
                                    </p:set>
                                    <p:anim calcmode="lin" valueType="num">
                                      <p:cBhvr additive="base">
                                        <p:cTn id="35" dur="500" fill="hold"/>
                                        <p:tgtEl>
                                          <p:spTgt spid="523266">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523266">
                                            <p:txEl>
                                              <p:pRg st="5" end="5"/>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523266">
                                            <p:txEl>
                                              <p:pRg st="6" end="6"/>
                                            </p:txEl>
                                          </p:spTgt>
                                        </p:tgtEl>
                                        <p:attrNameLst>
                                          <p:attrName>style.visibility</p:attrName>
                                        </p:attrNameLst>
                                      </p:cBhvr>
                                      <p:to>
                                        <p:strVal val="visible"/>
                                      </p:to>
                                    </p:set>
                                    <p:anim calcmode="lin" valueType="num">
                                      <p:cBhvr additive="base">
                                        <p:cTn id="39" dur="500" fill="hold"/>
                                        <p:tgtEl>
                                          <p:spTgt spid="523266">
                                            <p:txEl>
                                              <p:pRg st="6" end="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523266">
                                            <p:txEl>
                                              <p:pRg st="6" end="6"/>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523266">
                                            <p:txEl>
                                              <p:pRg st="7" end="7"/>
                                            </p:txEl>
                                          </p:spTgt>
                                        </p:tgtEl>
                                        <p:attrNameLst>
                                          <p:attrName>style.visibility</p:attrName>
                                        </p:attrNameLst>
                                      </p:cBhvr>
                                      <p:to>
                                        <p:strVal val="visible"/>
                                      </p:to>
                                    </p:set>
                                    <p:anim calcmode="lin" valueType="num">
                                      <p:cBhvr additive="base">
                                        <p:cTn id="43" dur="500" fill="hold"/>
                                        <p:tgtEl>
                                          <p:spTgt spid="523266">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23266">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523266">
                                            <p:txEl>
                                              <p:pRg st="8" end="8"/>
                                            </p:txEl>
                                          </p:spTgt>
                                        </p:tgtEl>
                                        <p:attrNameLst>
                                          <p:attrName>style.visibility</p:attrName>
                                        </p:attrNameLst>
                                      </p:cBhvr>
                                      <p:to>
                                        <p:strVal val="visible"/>
                                      </p:to>
                                    </p:set>
                                    <p:anim calcmode="lin" valueType="num">
                                      <p:cBhvr additive="base">
                                        <p:cTn id="49" dur="500" fill="hold"/>
                                        <p:tgtEl>
                                          <p:spTgt spid="523266">
                                            <p:txEl>
                                              <p:pRg st="8" end="8"/>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523266">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idx="1"/>
          </p:nvPr>
        </p:nvSpPr>
        <p:spPr>
          <a:xfrm>
            <a:off x="468313" y="404813"/>
            <a:ext cx="8294687" cy="5976937"/>
          </a:xfrm>
        </p:spPr>
        <p:txBody>
          <a:bodyPr>
            <a:normAutofit/>
          </a:bodyPr>
          <a:lstStyle/>
          <a:p>
            <a:pPr marL="0" indent="0" eaLnBrk="1" fontAlgn="auto" hangingPunct="1">
              <a:lnSpc>
                <a:spcPct val="85000"/>
              </a:lnSpc>
              <a:spcAft>
                <a:spcPts val="0"/>
              </a:spcAft>
              <a:buClr>
                <a:schemeClr val="accent3"/>
              </a:buClr>
              <a:buFont typeface="Wingdings" pitchFamily="2" charset="2"/>
              <a:buNone/>
              <a:defRPr/>
            </a:pPr>
            <a:r>
              <a:rPr lang="en-US" altLang="zh-CN" sz="2400" b="1">
                <a:effectLst>
                  <a:outerShdw blurRad="38100" dist="38100" dir="2700000" algn="tl">
                    <a:srgbClr val="C0C0C0"/>
                  </a:outerShdw>
                </a:effectLst>
              </a:rPr>
              <a:t>#include  &lt;stdio.h&gt; </a:t>
            </a:r>
          </a:p>
          <a:p>
            <a:pPr marL="0" indent="0" eaLnBrk="1" fontAlgn="auto" hangingPunct="1">
              <a:lnSpc>
                <a:spcPct val="85000"/>
              </a:lnSpc>
              <a:spcAft>
                <a:spcPts val="0"/>
              </a:spcAft>
              <a:buClr>
                <a:schemeClr val="accent3"/>
              </a:buClr>
              <a:buFont typeface="Wingdings" pitchFamily="2" charset="2"/>
              <a:buNone/>
              <a:defRPr/>
            </a:pPr>
            <a:r>
              <a:rPr lang="en-US" altLang="zh-CN" sz="2400" b="1">
                <a:effectLst>
                  <a:outerShdw blurRad="38100" dist="38100" dir="2700000" algn="tl">
                    <a:srgbClr val="C0C0C0"/>
                  </a:outerShdw>
                </a:effectLst>
              </a:rPr>
              <a:t>#define MAXN 1000</a:t>
            </a:r>
          </a:p>
          <a:p>
            <a:pPr marL="0" indent="0" eaLnBrk="1" fontAlgn="auto" hangingPunct="1">
              <a:lnSpc>
                <a:spcPct val="85000"/>
              </a:lnSpc>
              <a:spcAft>
                <a:spcPts val="0"/>
              </a:spcAft>
              <a:buClr>
                <a:schemeClr val="accent3"/>
              </a:buClr>
              <a:buFont typeface="Wingdings" pitchFamily="2" charset="2"/>
              <a:buNone/>
              <a:defRPr/>
            </a:pPr>
            <a:r>
              <a:rPr lang="en-US" altLang="zh-CN" sz="2400" b="1">
                <a:effectLst>
                  <a:outerShdw blurRad="38100" dist="38100" dir="2700000" algn="tl">
                    <a:srgbClr val="C0C0C0"/>
                  </a:outerShdw>
                </a:effectLst>
              </a:rPr>
              <a:t> int main()</a:t>
            </a:r>
          </a:p>
          <a:p>
            <a:pPr marL="0" indent="0" eaLnBrk="1" fontAlgn="auto" hangingPunct="1">
              <a:lnSpc>
                <a:spcPct val="85000"/>
              </a:lnSpc>
              <a:spcAft>
                <a:spcPts val="0"/>
              </a:spcAft>
              <a:buClr>
                <a:schemeClr val="accent3"/>
              </a:buClr>
              <a:buFont typeface="Wingdings" pitchFamily="2" charset="2"/>
              <a:buNone/>
              <a:defRPr/>
            </a:pPr>
            <a:r>
              <a:rPr lang="en-US" altLang="zh-CN" sz="2400" b="1">
                <a:effectLst>
                  <a:outerShdw blurRad="38100" dist="38100" dir="2700000" algn="tl">
                    <a:srgbClr val="C0C0C0"/>
                  </a:outerShdw>
                </a:effectLst>
              </a:rPr>
              <a:t>{      int i, n, j, temp, k, up;</a:t>
            </a:r>
          </a:p>
          <a:p>
            <a:pPr marL="0" indent="0" eaLnBrk="1" fontAlgn="auto" hangingPunct="1">
              <a:lnSpc>
                <a:spcPct val="85000"/>
              </a:lnSpc>
              <a:spcAft>
                <a:spcPts val="0"/>
              </a:spcAft>
              <a:buClr>
                <a:schemeClr val="accent3"/>
              </a:buClr>
              <a:buFont typeface="Wingdings" pitchFamily="2" charset="2"/>
              <a:buNone/>
              <a:defRPr/>
            </a:pPr>
            <a:r>
              <a:rPr lang="en-US" altLang="zh-CN" sz="2400" b="1">
                <a:effectLst>
                  <a:outerShdw blurRad="38100" dist="38100" dir="2700000" algn="tl">
                    <a:srgbClr val="C0C0C0"/>
                  </a:outerShdw>
                </a:effectLst>
              </a:rPr>
              <a:t>        int a[MAXN];</a:t>
            </a:r>
          </a:p>
          <a:p>
            <a:pPr marL="0" indent="0" eaLnBrk="1" fontAlgn="auto" hangingPunct="1">
              <a:lnSpc>
                <a:spcPct val="85000"/>
              </a:lnSpc>
              <a:spcAft>
                <a:spcPts val="0"/>
              </a:spcAft>
              <a:buClr>
                <a:schemeClr val="accent3"/>
              </a:buClr>
              <a:buFont typeface="Wingdings" pitchFamily="2" charset="2"/>
              <a:buNone/>
              <a:defRPr/>
            </a:pPr>
            <a:r>
              <a:rPr lang="en-US" altLang="zh-CN" sz="2400" b="1">
                <a:effectLst>
                  <a:outerShdw blurRad="38100" dist="38100" dir="2700000" algn="tl">
                    <a:srgbClr val="C0C0C0"/>
                  </a:outerShdw>
                </a:effectLst>
              </a:rPr>
              <a:t>        printf(“</a:t>
            </a:r>
            <a:r>
              <a:rPr lang="zh-CN" altLang="en-US" sz="2400" b="1">
                <a:effectLst>
                  <a:outerShdw blurRad="38100" dist="38100" dir="2700000" algn="tl">
                    <a:srgbClr val="C0C0C0"/>
                  </a:outerShdw>
                </a:effectLst>
              </a:rPr>
              <a:t>输入整数序列的整数个数</a:t>
            </a:r>
            <a:r>
              <a:rPr lang="en-US" altLang="zh-CN" sz="2400" b="1">
                <a:effectLst>
                  <a:outerShdw blurRad="38100" dist="38100" dir="2700000" algn="tl">
                    <a:srgbClr val="C0C0C0"/>
                  </a:outerShdw>
                </a:effectLst>
              </a:rPr>
              <a:t>n(0&lt;n&lt;=%d)    ”, MAXN);</a:t>
            </a:r>
          </a:p>
          <a:p>
            <a:pPr marL="0" indent="0" eaLnBrk="1" fontAlgn="auto" hangingPunct="1">
              <a:lnSpc>
                <a:spcPct val="85000"/>
              </a:lnSpc>
              <a:spcAft>
                <a:spcPts val="0"/>
              </a:spcAft>
              <a:buClr>
                <a:schemeClr val="accent3"/>
              </a:buClr>
              <a:buFont typeface="Wingdings" pitchFamily="2" charset="2"/>
              <a:buNone/>
              <a:defRPr/>
            </a:pPr>
            <a:r>
              <a:rPr lang="en-US" altLang="zh-CN" sz="2400" b="1">
                <a:effectLst>
                  <a:outerShdw blurRad="38100" dist="38100" dir="2700000" algn="tl">
                    <a:srgbClr val="C0C0C0"/>
                  </a:outerShdw>
                </a:effectLst>
              </a:rPr>
              <a:t>        scanf(“%d”, &amp;n);</a:t>
            </a:r>
          </a:p>
          <a:p>
            <a:pPr marL="0" indent="0" eaLnBrk="1" fontAlgn="auto" hangingPunct="1">
              <a:lnSpc>
                <a:spcPct val="85000"/>
              </a:lnSpc>
              <a:spcAft>
                <a:spcPts val="0"/>
              </a:spcAft>
              <a:buClr>
                <a:schemeClr val="accent3"/>
              </a:buClr>
              <a:buFont typeface="Wingdings" pitchFamily="2" charset="2"/>
              <a:buNone/>
              <a:defRPr/>
            </a:pPr>
            <a:r>
              <a:rPr lang="en-US" altLang="zh-CN" sz="2400" b="1">
                <a:effectLst>
                  <a:outerShdw blurRad="38100" dist="38100" dir="2700000" algn="tl">
                    <a:srgbClr val="C0C0C0"/>
                  </a:outerShdw>
                </a:effectLst>
              </a:rPr>
              <a:t>        if(n &lt;= 0 || n &gt; MAXN) { </a:t>
            </a:r>
          </a:p>
          <a:p>
            <a:pPr marL="0" indent="0" eaLnBrk="1" fontAlgn="auto" hangingPunct="1">
              <a:lnSpc>
                <a:spcPct val="85000"/>
              </a:lnSpc>
              <a:spcAft>
                <a:spcPts val="0"/>
              </a:spcAft>
              <a:buClr>
                <a:schemeClr val="accent3"/>
              </a:buClr>
              <a:buFont typeface="Wingdings" pitchFamily="2" charset="2"/>
              <a:buNone/>
              <a:defRPr/>
            </a:pPr>
            <a:r>
              <a:rPr lang="en-US" altLang="zh-CN" sz="2400" b="1">
                <a:effectLst>
                  <a:outerShdw blurRad="38100" dist="38100" dir="2700000" algn="tl">
                    <a:srgbClr val="C0C0C0"/>
                  </a:outerShdw>
                </a:effectLst>
              </a:rPr>
              <a:t>            printf(“</a:t>
            </a:r>
            <a:r>
              <a:rPr lang="zh-CN" altLang="en-US" sz="2400" b="1">
                <a:effectLst>
                  <a:outerShdw blurRad="38100" dist="38100" dir="2700000" algn="tl">
                    <a:srgbClr val="C0C0C0"/>
                  </a:outerShdw>
                </a:effectLst>
              </a:rPr>
              <a:t>输入</a:t>
            </a:r>
            <a:r>
              <a:rPr lang="en-US" altLang="zh-CN" sz="2400" b="1">
                <a:effectLst>
                  <a:outerShdw blurRad="38100" dist="38100" dir="2700000" algn="tl">
                    <a:srgbClr val="C0C0C0"/>
                  </a:outerShdw>
                </a:effectLst>
              </a:rPr>
              <a:t>n</a:t>
            </a:r>
            <a:r>
              <a:rPr lang="zh-CN" altLang="en-US" sz="2400" b="1">
                <a:effectLst>
                  <a:outerShdw blurRad="38100" dist="38100" dir="2700000" algn="tl">
                    <a:srgbClr val="C0C0C0"/>
                  </a:outerShdw>
                </a:effectLst>
              </a:rPr>
              <a:t>不合理</a:t>
            </a:r>
            <a:r>
              <a:rPr lang="en-US" altLang="zh-CN" sz="2400" b="1">
                <a:effectLst>
                  <a:outerShdw blurRad="38100" dist="38100" dir="2700000" algn="tl">
                    <a:srgbClr val="C0C0C0"/>
                  </a:outerShdw>
                </a:effectLst>
              </a:rPr>
              <a:t>!\n”); return 1;  </a:t>
            </a:r>
          </a:p>
          <a:p>
            <a:pPr marL="0" indent="0" eaLnBrk="1" fontAlgn="auto" hangingPunct="1">
              <a:lnSpc>
                <a:spcPct val="85000"/>
              </a:lnSpc>
              <a:spcAft>
                <a:spcPts val="0"/>
              </a:spcAft>
              <a:buClr>
                <a:schemeClr val="accent3"/>
              </a:buClr>
              <a:buFont typeface="Wingdings" pitchFamily="2" charset="2"/>
              <a:buNone/>
              <a:defRPr/>
            </a:pPr>
            <a:r>
              <a:rPr lang="en-US" altLang="zh-CN" sz="2400" b="1">
                <a:effectLst>
                  <a:outerShdw blurRad="38100" dist="38100" dir="2700000" algn="tl">
                    <a:srgbClr val="C0C0C0"/>
                  </a:outerShdw>
                </a:effectLst>
              </a:rPr>
              <a:t>       }</a:t>
            </a:r>
          </a:p>
          <a:p>
            <a:pPr marL="0" indent="0" eaLnBrk="1" fontAlgn="auto" hangingPunct="1">
              <a:lnSpc>
                <a:spcPct val="85000"/>
              </a:lnSpc>
              <a:spcAft>
                <a:spcPts val="0"/>
              </a:spcAft>
              <a:buClr>
                <a:schemeClr val="accent3"/>
              </a:buClr>
              <a:buFont typeface="Wingdings" pitchFamily="2" charset="2"/>
              <a:buNone/>
              <a:defRPr/>
            </a:pPr>
            <a:r>
              <a:rPr lang="en-US" altLang="zh-CN" sz="2400" b="1">
                <a:effectLst>
                  <a:outerShdw blurRad="38100" dist="38100" dir="2700000" algn="tl">
                    <a:srgbClr val="C0C0C0"/>
                  </a:outerShdw>
                </a:effectLst>
              </a:rPr>
              <a:t>        printf(“</a:t>
            </a:r>
            <a:r>
              <a:rPr lang="zh-CN" altLang="en-US" sz="2400" b="1">
                <a:effectLst>
                  <a:outerShdw blurRad="38100" dist="38100" dir="2700000" algn="tl">
                    <a:srgbClr val="C0C0C0"/>
                  </a:outerShdw>
                </a:effectLst>
              </a:rPr>
              <a:t>输入整数序列</a:t>
            </a:r>
            <a:r>
              <a:rPr lang="en-US" altLang="zh-CN" sz="2400" b="1">
                <a:effectLst>
                  <a:outerShdw blurRad="38100" dist="38100" dir="2700000" algn="tl">
                    <a:srgbClr val="C0C0C0"/>
                  </a:outerShdw>
                </a:effectLst>
              </a:rPr>
              <a:t>!\n”);</a:t>
            </a:r>
          </a:p>
          <a:p>
            <a:pPr marL="0" indent="0" eaLnBrk="1" fontAlgn="auto" hangingPunct="1">
              <a:lnSpc>
                <a:spcPct val="85000"/>
              </a:lnSpc>
              <a:spcAft>
                <a:spcPts val="0"/>
              </a:spcAft>
              <a:buClr>
                <a:schemeClr val="accent3"/>
              </a:buClr>
              <a:buFont typeface="Wingdings" pitchFamily="2" charset="2"/>
              <a:buNone/>
              <a:defRPr/>
            </a:pPr>
            <a:r>
              <a:rPr lang="en-US" altLang="zh-CN" sz="2400" b="1">
                <a:effectLst>
                  <a:outerShdw blurRad="38100" dist="38100" dir="2700000" algn="tl">
                    <a:srgbClr val="C0C0C0"/>
                  </a:outerShdw>
                </a:effectLst>
              </a:rPr>
              <a:t>        for(j = 0; j &lt; n; j++)   scanf("%d", &amp;a[j]);</a:t>
            </a:r>
          </a:p>
          <a:p>
            <a:pPr marL="0" indent="0" eaLnBrk="1" fontAlgn="auto" hangingPunct="1">
              <a:lnSpc>
                <a:spcPct val="85000"/>
              </a:lnSpc>
              <a:spcAft>
                <a:spcPts val="0"/>
              </a:spcAft>
              <a:buClr>
                <a:schemeClr val="accent3"/>
              </a:buClr>
              <a:buFont typeface="Wingdings" pitchFamily="2" charset="2"/>
              <a:buNone/>
              <a:defRPr/>
            </a:pPr>
            <a:r>
              <a:rPr lang="en-US" altLang="zh-CN" sz="2400" b="1">
                <a:effectLst>
                  <a:outerShdw blurRad="38100" dist="38100" dir="2700000" algn="tl">
                    <a:srgbClr val="C0C0C0"/>
                  </a:outerShdw>
                </a:effectLst>
              </a:rPr>
              <a:t>        /* </a:t>
            </a:r>
            <a:r>
              <a:rPr lang="zh-CN" altLang="en-US" sz="2400" b="1">
                <a:effectLst>
                  <a:outerShdw blurRad="38100" dist="38100" dir="2700000" algn="tl">
                    <a:srgbClr val="C0C0C0"/>
                  </a:outerShdw>
                </a:effectLst>
              </a:rPr>
              <a:t>对数组</a:t>
            </a:r>
            <a:r>
              <a:rPr lang="en-US" altLang="zh-CN" sz="2400" b="1">
                <a:effectLst>
                  <a:outerShdw blurRad="38100" dist="38100" dir="2700000" algn="tl">
                    <a:srgbClr val="C0C0C0"/>
                  </a:outerShdw>
                </a:effectLst>
              </a:rPr>
              <a:t>a</a:t>
            </a:r>
            <a:r>
              <a:rPr lang="zh-CN" altLang="en-US" sz="2400" b="1">
                <a:effectLst>
                  <a:outerShdw blurRad="38100" dist="38100" dir="2700000" algn="tl">
                    <a:srgbClr val="C0C0C0"/>
                  </a:outerShdw>
                </a:effectLst>
              </a:rPr>
              <a:t>的前</a:t>
            </a:r>
            <a:r>
              <a:rPr lang="en-US" altLang="zh-CN" sz="2400" b="1">
                <a:effectLst>
                  <a:outerShdw blurRad="38100" dist="38100" dir="2700000" algn="tl">
                    <a:srgbClr val="C0C0C0"/>
                  </a:outerShdw>
                </a:effectLst>
              </a:rPr>
              <a:t>n</a:t>
            </a:r>
            <a:r>
              <a:rPr lang="zh-CN" altLang="en-US" sz="2400" b="1">
                <a:effectLst>
                  <a:outerShdw blurRad="38100" dist="38100" dir="2700000" algn="tl">
                    <a:srgbClr val="C0C0C0"/>
                  </a:outerShdw>
                </a:effectLst>
              </a:rPr>
              <a:t>个元素采用冒泡排序算法排序 *</a:t>
            </a:r>
            <a:r>
              <a:rPr lang="en-US" altLang="zh-CN" sz="2400" b="1">
                <a:effectLst>
                  <a:outerShdw blurRad="38100" dist="38100" dir="2700000" algn="tl">
                    <a:srgbClr val="C0C0C0"/>
                  </a:outerShdw>
                </a:effectLst>
              </a:rPr>
              <a:t>/</a:t>
            </a:r>
          </a:p>
          <a:p>
            <a:pPr marL="0" indent="0" eaLnBrk="1" fontAlgn="auto" hangingPunct="1">
              <a:lnSpc>
                <a:spcPct val="85000"/>
              </a:lnSpc>
              <a:spcAft>
                <a:spcPts val="0"/>
              </a:spcAft>
              <a:buClr>
                <a:schemeClr val="accent3"/>
              </a:buClr>
              <a:buFont typeface="Wingdings" pitchFamily="2" charset="2"/>
              <a:buNone/>
              <a:defRPr/>
            </a:pPr>
            <a:r>
              <a:rPr lang="en-US" altLang="zh-CN" sz="2400" b="1">
                <a:effectLst>
                  <a:outerShdw blurRad="38100" dist="38100" dir="2700000" algn="tl">
                    <a:srgbClr val="C0C0C0"/>
                  </a:outerShdw>
                </a:effectLst>
              </a:rPr>
              <a:t>    </a:t>
            </a:r>
          </a:p>
        </p:txBody>
      </p:sp>
      <p:sp>
        <p:nvSpPr>
          <p:cNvPr id="6" name="灯片编号占位符 5"/>
          <p:cNvSpPr>
            <a:spLocks noGrp="1"/>
          </p:cNvSpPr>
          <p:nvPr>
            <p:ph type="sldNum" sz="quarter" idx="12"/>
          </p:nvPr>
        </p:nvSpPr>
        <p:spPr/>
        <p:txBody>
          <a:bodyPr/>
          <a:lstStyle/>
          <a:p>
            <a:pPr>
              <a:defRPr/>
            </a:pPr>
            <a:fld id="{130CE2BA-98F5-4266-953E-0AD3404624F3}" type="slidenum">
              <a:rPr lang="en-US" altLang="zh-CN"/>
              <a:pPr>
                <a:defRPr/>
              </a:pPr>
              <a:t>48</a:t>
            </a:fld>
            <a:endParaRPr lang="en-US" altLang="zh-CN"/>
          </a:p>
        </p:txBody>
      </p:sp>
      <p:sp>
        <p:nvSpPr>
          <p:cNvPr id="51204" name="Text Box 6"/>
          <p:cNvSpPr txBox="1">
            <a:spLocks noChangeArrowheads="1"/>
          </p:cNvSpPr>
          <p:nvPr/>
        </p:nvSpPr>
        <p:spPr bwMode="auto">
          <a:xfrm>
            <a:off x="4643438" y="517525"/>
            <a:ext cx="4249737" cy="1373188"/>
          </a:xfrm>
          <a:prstGeom prst="rect">
            <a:avLst/>
          </a:prstGeom>
          <a:noFill/>
          <a:ln w="9525">
            <a:noFill/>
            <a:miter lim="800000"/>
            <a:headEnd/>
            <a:tailEnd/>
          </a:ln>
        </p:spPr>
        <p:txBody>
          <a:bodyPr>
            <a:spAutoFit/>
          </a:bodyPr>
          <a:lstStyle/>
          <a:p>
            <a:pPr algn="l"/>
            <a:r>
              <a:rPr lang="zh-CN" altLang="en-US"/>
              <a:t>输入</a:t>
            </a:r>
            <a:r>
              <a:rPr lang="en-US" altLang="zh-CN"/>
              <a:t>n</a:t>
            </a:r>
            <a:r>
              <a:rPr lang="zh-CN" altLang="en-US"/>
              <a:t>整数，然后采用改进的冒泡排序算法对数组作排序，并输出。 </a:t>
            </a:r>
          </a:p>
        </p:txBody>
      </p:sp>
    </p:spTree>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4290" name="Rectangle 2"/>
          <p:cNvSpPr>
            <a:spLocks noGrp="1" noChangeArrowheads="1"/>
          </p:cNvSpPr>
          <p:nvPr>
            <p:ph idx="1"/>
          </p:nvPr>
        </p:nvSpPr>
        <p:spPr>
          <a:xfrm>
            <a:off x="468313" y="404813"/>
            <a:ext cx="8294687" cy="5976937"/>
          </a:xfrm>
        </p:spPr>
        <p:txBody>
          <a:bodyPr>
            <a:noAutofit/>
          </a:bodyPr>
          <a:lstStyle/>
          <a:p>
            <a:pPr marL="0" indent="0" eaLnBrk="1" fontAlgn="auto" hangingPunct="1">
              <a:spcAft>
                <a:spcPts val="0"/>
              </a:spcAft>
              <a:buClr>
                <a:schemeClr val="accent3"/>
              </a:buClr>
              <a:buFont typeface="Wingdings" pitchFamily="2" charset="2"/>
              <a:buNone/>
              <a:defRPr/>
            </a:pPr>
            <a:r>
              <a:rPr lang="en-US" altLang="zh-CN" sz="2800" b="1" dirty="0">
                <a:effectLst>
                  <a:outerShdw blurRad="38100" dist="38100" dir="2700000" algn="tl">
                    <a:srgbClr val="C0C0C0"/>
                  </a:outerShdw>
                </a:effectLst>
              </a:rPr>
              <a:t>/* </a:t>
            </a:r>
            <a:r>
              <a:rPr lang="zh-CN" altLang="en-US" sz="2800" b="1" dirty="0">
                <a:effectLst>
                  <a:outerShdw blurRad="38100" dist="38100" dir="2700000" algn="tl">
                    <a:srgbClr val="C0C0C0"/>
                  </a:outerShdw>
                </a:effectLst>
              </a:rPr>
              <a:t>对数组</a:t>
            </a:r>
            <a:r>
              <a:rPr lang="en-US" altLang="zh-CN" sz="2800" b="1" dirty="0">
                <a:effectLst>
                  <a:outerShdw blurRad="38100" dist="38100" dir="2700000" algn="tl">
                    <a:srgbClr val="C0C0C0"/>
                  </a:outerShdw>
                </a:effectLst>
              </a:rPr>
              <a:t>a</a:t>
            </a:r>
            <a:r>
              <a:rPr lang="zh-CN" altLang="en-US" sz="2800" b="1" dirty="0">
                <a:effectLst>
                  <a:outerShdw blurRad="38100" dist="38100" dir="2700000" algn="tl">
                    <a:srgbClr val="C0C0C0"/>
                  </a:outerShdw>
                </a:effectLst>
              </a:rPr>
              <a:t>的前</a:t>
            </a:r>
            <a:r>
              <a:rPr lang="en-US" altLang="zh-CN" sz="2800" b="1" dirty="0">
                <a:effectLst>
                  <a:outerShdw blurRad="38100" dist="38100" dir="2700000" algn="tl">
                    <a:srgbClr val="C0C0C0"/>
                  </a:outerShdw>
                </a:effectLst>
              </a:rPr>
              <a:t>n</a:t>
            </a:r>
            <a:r>
              <a:rPr lang="zh-CN" altLang="en-US" sz="2800" b="1" dirty="0">
                <a:effectLst>
                  <a:outerShdw blurRad="38100" dist="38100" dir="2700000" algn="tl">
                    <a:srgbClr val="C0C0C0"/>
                  </a:outerShdw>
                </a:effectLst>
              </a:rPr>
              <a:t>个元素采用冒泡排序算法排序 *</a:t>
            </a:r>
            <a:r>
              <a:rPr lang="en-US" altLang="zh-CN" sz="2800" b="1" dirty="0">
                <a:effectLst>
                  <a:outerShdw blurRad="38100" dist="38100" dir="2700000" algn="tl">
                    <a:srgbClr val="C0C0C0"/>
                  </a:outerShdw>
                </a:effectLst>
              </a:rPr>
              <a:t>/</a:t>
            </a:r>
          </a:p>
          <a:p>
            <a:pPr marL="0" indent="0" eaLnBrk="1" fontAlgn="auto" hangingPunct="1">
              <a:spcAft>
                <a:spcPts val="0"/>
              </a:spcAft>
              <a:buClr>
                <a:schemeClr val="accent3"/>
              </a:buClr>
              <a:buFont typeface="Wingdings" pitchFamily="2" charset="2"/>
              <a:buNone/>
              <a:defRPr/>
            </a:pPr>
            <a:r>
              <a:rPr lang="en-US" altLang="zh-CN" sz="2800" b="1" dirty="0">
                <a:effectLst>
                  <a:outerShdw blurRad="38100" dist="38100" dir="2700000" algn="tl">
                    <a:srgbClr val="C0C0C0"/>
                  </a:outerShdw>
                </a:effectLst>
              </a:rPr>
              <a:t>       up = 0;   /* </a:t>
            </a:r>
            <a:r>
              <a:rPr lang="zh-CN" altLang="en-US" sz="2800" b="1" dirty="0">
                <a:effectLst>
                  <a:outerShdw blurRad="38100" dist="38100" dir="2700000" algn="tl">
                    <a:srgbClr val="C0C0C0"/>
                  </a:outerShdw>
                </a:effectLst>
              </a:rPr>
              <a:t>一次遍历至</a:t>
            </a:r>
            <a:r>
              <a:rPr lang="en-US" altLang="zh-CN" sz="2800" b="1" dirty="0">
                <a:effectLst>
                  <a:outerShdw blurRad="38100" dist="38100" dir="2700000" algn="tl">
                    <a:srgbClr val="C0C0C0"/>
                  </a:outerShdw>
                </a:effectLst>
              </a:rPr>
              <a:t>up</a:t>
            </a:r>
            <a:r>
              <a:rPr lang="zh-CN" altLang="en-US" sz="2800" b="1" dirty="0">
                <a:effectLst>
                  <a:outerShdw blurRad="38100" dist="38100" dir="2700000" algn="tl">
                    <a:srgbClr val="C0C0C0"/>
                  </a:outerShdw>
                </a:effectLst>
              </a:rPr>
              <a:t>之前，初始时，遍历至首元素之前 *</a:t>
            </a:r>
            <a:r>
              <a:rPr lang="en-US" altLang="zh-CN" sz="2800" b="1" dirty="0">
                <a:effectLst>
                  <a:outerShdw blurRad="38100" dist="38100" dir="2700000" algn="tl">
                    <a:srgbClr val="C0C0C0"/>
                  </a:outerShdw>
                </a:effectLst>
              </a:rPr>
              <a:t>/</a:t>
            </a:r>
          </a:p>
          <a:p>
            <a:pPr marL="0" indent="0" eaLnBrk="1" fontAlgn="auto" hangingPunct="1">
              <a:spcAft>
                <a:spcPts val="0"/>
              </a:spcAft>
              <a:buClr>
                <a:schemeClr val="accent3"/>
              </a:buClr>
              <a:buFont typeface="Wingdings" pitchFamily="2" charset="2"/>
              <a:buNone/>
              <a:defRPr/>
            </a:pPr>
            <a:r>
              <a:rPr lang="en-US" altLang="zh-CN" sz="2800" b="1" dirty="0">
                <a:effectLst>
                  <a:outerShdw blurRad="38100" dist="38100" dir="2700000" algn="tl">
                    <a:srgbClr val="C0C0C0"/>
                  </a:outerShdw>
                </a:effectLst>
              </a:rPr>
              <a:t>       while (up &lt; n) {     /* </a:t>
            </a:r>
            <a:r>
              <a:rPr lang="zh-CN" altLang="en-US" sz="2800" b="1" dirty="0">
                <a:effectLst>
                  <a:outerShdw blurRad="38100" dist="38100" dir="2700000" algn="tl">
                    <a:srgbClr val="C0C0C0"/>
                  </a:outerShdw>
                </a:effectLst>
              </a:rPr>
              <a:t>还有遍历范围时循环 *</a:t>
            </a:r>
            <a:r>
              <a:rPr lang="en-US" altLang="zh-CN" sz="2800" b="1" dirty="0">
                <a:effectLst>
                  <a:outerShdw blurRad="38100" dist="38100" dir="2700000" algn="tl">
                    <a:srgbClr val="C0C0C0"/>
                  </a:outerShdw>
                </a:effectLst>
              </a:rPr>
              <a:t>/</a:t>
            </a:r>
          </a:p>
          <a:p>
            <a:pPr marL="0" indent="0" eaLnBrk="1" fontAlgn="auto" hangingPunct="1">
              <a:spcAft>
                <a:spcPts val="0"/>
              </a:spcAft>
              <a:buClr>
                <a:schemeClr val="accent3"/>
              </a:buClr>
              <a:buFont typeface="Wingdings" pitchFamily="2" charset="2"/>
              <a:buNone/>
              <a:defRPr/>
            </a:pPr>
            <a:r>
              <a:rPr lang="en-US" altLang="zh-CN" sz="2800" b="1" dirty="0">
                <a:effectLst>
                  <a:outerShdw blurRad="38100" dist="38100" dir="2700000" algn="tl">
                    <a:srgbClr val="C0C0C0"/>
                  </a:outerShdw>
                </a:effectLst>
              </a:rPr>
              <a:t>         for(k = n, j = n-1; j &gt; up; j--) /* </a:t>
            </a:r>
            <a:r>
              <a:rPr lang="zh-CN" altLang="en-US" sz="2800" b="1" dirty="0">
                <a:effectLst>
                  <a:outerShdw blurRad="38100" dist="38100" dir="2700000" algn="tl">
                    <a:srgbClr val="C0C0C0"/>
                  </a:outerShdw>
                </a:effectLst>
              </a:rPr>
              <a:t>比较至</a:t>
            </a:r>
            <a:r>
              <a:rPr lang="en-US" altLang="zh-CN" sz="2800" b="1" dirty="0">
                <a:effectLst>
                  <a:outerShdw blurRad="38100" dist="38100" dir="2700000" algn="tl">
                    <a:srgbClr val="C0C0C0"/>
                  </a:outerShdw>
                </a:effectLst>
              </a:rPr>
              <a:t>up */</a:t>
            </a:r>
          </a:p>
          <a:p>
            <a:pPr marL="0" indent="0" eaLnBrk="1" fontAlgn="auto" hangingPunct="1">
              <a:spcAft>
                <a:spcPts val="0"/>
              </a:spcAft>
              <a:buClr>
                <a:schemeClr val="accent3"/>
              </a:buClr>
              <a:buFont typeface="Wingdings" pitchFamily="2" charset="2"/>
              <a:buNone/>
              <a:defRPr/>
            </a:pPr>
            <a:r>
              <a:rPr lang="en-US" altLang="zh-CN" sz="2800" b="1" dirty="0">
                <a:effectLst>
                  <a:outerShdw blurRad="38100" dist="38100" dir="2700000" algn="tl">
                    <a:srgbClr val="C0C0C0"/>
                  </a:outerShdw>
                </a:effectLst>
              </a:rPr>
              <a:t>           if(a[j] &lt; a[j-1]) {  /* a[j] </a:t>
            </a:r>
            <a:r>
              <a:rPr lang="zh-CN" altLang="en-US" sz="2800" b="1" dirty="0">
                <a:effectLst>
                  <a:outerShdw blurRad="38100" dist="38100" dir="2700000" algn="tl">
                    <a:srgbClr val="C0C0C0"/>
                  </a:outerShdw>
                </a:effectLst>
              </a:rPr>
              <a:t>与 </a:t>
            </a:r>
            <a:r>
              <a:rPr lang="en-US" altLang="zh-CN" sz="2800" b="1" dirty="0">
                <a:effectLst>
                  <a:outerShdw blurRad="38100" dist="38100" dir="2700000" algn="tl">
                    <a:srgbClr val="C0C0C0"/>
                  </a:outerShdw>
                </a:effectLst>
              </a:rPr>
              <a:t>a[j-1] </a:t>
            </a:r>
            <a:r>
              <a:rPr lang="zh-CN" altLang="en-US" sz="2800" b="1" dirty="0">
                <a:effectLst>
                  <a:outerShdw blurRad="38100" dist="38100" dir="2700000" algn="tl">
                    <a:srgbClr val="C0C0C0"/>
                  </a:outerShdw>
                </a:effectLst>
              </a:rPr>
              <a:t>交换 *</a:t>
            </a:r>
            <a:r>
              <a:rPr lang="en-US" altLang="zh-CN" sz="2800" b="1" dirty="0">
                <a:effectLst>
                  <a:outerShdw blurRad="38100" dist="38100" dir="2700000" algn="tl">
                    <a:srgbClr val="C0C0C0"/>
                  </a:outerShdw>
                </a:effectLst>
              </a:rPr>
              <a:t>/</a:t>
            </a:r>
          </a:p>
          <a:p>
            <a:pPr marL="0" indent="0" eaLnBrk="1" fontAlgn="auto" hangingPunct="1">
              <a:spcAft>
                <a:spcPts val="0"/>
              </a:spcAft>
              <a:buClr>
                <a:schemeClr val="accent3"/>
              </a:buClr>
              <a:buFont typeface="Wingdings" pitchFamily="2" charset="2"/>
              <a:buNone/>
              <a:defRPr/>
            </a:pPr>
            <a:r>
              <a:rPr lang="en-US" altLang="zh-CN" sz="2800" b="1" dirty="0">
                <a:effectLst>
                  <a:outerShdw blurRad="38100" dist="38100" dir="2700000" algn="tl">
                    <a:srgbClr val="C0C0C0"/>
                  </a:outerShdw>
                </a:effectLst>
              </a:rPr>
              <a:t>                temp   = a[j];  a[j]   = a[j-1];   a[j-1] = temp;</a:t>
            </a:r>
          </a:p>
          <a:p>
            <a:pPr marL="0" indent="0" eaLnBrk="1" fontAlgn="auto" hangingPunct="1">
              <a:spcAft>
                <a:spcPts val="0"/>
              </a:spcAft>
              <a:buClr>
                <a:schemeClr val="accent3"/>
              </a:buClr>
              <a:buFont typeface="Wingdings" pitchFamily="2" charset="2"/>
              <a:buNone/>
              <a:defRPr/>
            </a:pPr>
            <a:r>
              <a:rPr lang="en-US" altLang="zh-CN" sz="2800" b="1" dirty="0">
                <a:effectLst>
                  <a:outerShdw blurRad="38100" dist="38100" dir="2700000" algn="tl">
                    <a:srgbClr val="C0C0C0"/>
                  </a:outerShdw>
                </a:effectLst>
              </a:rPr>
              <a:t>                k      = j;  /* </a:t>
            </a:r>
            <a:r>
              <a:rPr lang="zh-CN" altLang="en-US" sz="2800" b="1" dirty="0">
                <a:effectLst>
                  <a:outerShdw blurRad="38100" dist="38100" dir="2700000" algn="tl">
                    <a:srgbClr val="C0C0C0"/>
                  </a:outerShdw>
                </a:effectLst>
              </a:rPr>
              <a:t>记录发生交换的位置 *</a:t>
            </a:r>
            <a:r>
              <a:rPr lang="en-US" altLang="zh-CN" sz="2800" b="1" dirty="0">
                <a:effectLst>
                  <a:outerShdw blurRad="38100" dist="38100" dir="2700000" algn="tl">
                    <a:srgbClr val="C0C0C0"/>
                  </a:outerShdw>
                </a:effectLst>
              </a:rPr>
              <a:t>/</a:t>
            </a:r>
          </a:p>
          <a:p>
            <a:pPr marL="0" indent="0" eaLnBrk="1" fontAlgn="auto" hangingPunct="1">
              <a:spcAft>
                <a:spcPts val="0"/>
              </a:spcAft>
              <a:buClr>
                <a:schemeClr val="accent3"/>
              </a:buClr>
              <a:buFont typeface="Wingdings" pitchFamily="2" charset="2"/>
              <a:buNone/>
              <a:defRPr/>
            </a:pPr>
            <a:r>
              <a:rPr lang="en-US" altLang="zh-CN" sz="2800" b="1" dirty="0">
                <a:effectLst>
                  <a:outerShdw blurRad="38100" dist="38100" dir="2700000" algn="tl">
                    <a:srgbClr val="C0C0C0"/>
                  </a:outerShdw>
                </a:effectLst>
              </a:rPr>
              <a:t>           }</a:t>
            </a:r>
          </a:p>
          <a:p>
            <a:pPr marL="0" indent="0" eaLnBrk="1" fontAlgn="auto" hangingPunct="1">
              <a:spcAft>
                <a:spcPts val="0"/>
              </a:spcAft>
              <a:buClr>
                <a:schemeClr val="accent3"/>
              </a:buClr>
              <a:buFont typeface="Wingdings" pitchFamily="2" charset="2"/>
              <a:buNone/>
              <a:defRPr/>
            </a:pPr>
            <a:r>
              <a:rPr lang="en-US" altLang="zh-CN" sz="2800" b="1" dirty="0">
                <a:effectLst>
                  <a:outerShdw blurRad="38100" dist="38100" dir="2700000" algn="tl">
                    <a:srgbClr val="C0C0C0"/>
                  </a:outerShdw>
                </a:effectLst>
              </a:rPr>
              <a:t>           up = k;</a:t>
            </a:r>
          </a:p>
          <a:p>
            <a:pPr marL="0" indent="0" eaLnBrk="1" fontAlgn="auto" hangingPunct="1">
              <a:spcAft>
                <a:spcPts val="0"/>
              </a:spcAft>
              <a:buClr>
                <a:schemeClr val="accent3"/>
              </a:buClr>
              <a:buFont typeface="Wingdings" pitchFamily="2" charset="2"/>
              <a:buNone/>
              <a:defRPr/>
            </a:pPr>
            <a:r>
              <a:rPr lang="en-US" altLang="zh-CN" sz="2800" b="1" dirty="0">
                <a:effectLst>
                  <a:outerShdw blurRad="38100" dist="38100" dir="2700000" algn="tl">
                    <a:srgbClr val="C0C0C0"/>
                  </a:outerShdw>
                </a:effectLst>
              </a:rPr>
              <a:t>        }</a:t>
            </a:r>
          </a:p>
          <a:p>
            <a:pPr marL="0" indent="0" eaLnBrk="1" fontAlgn="auto" hangingPunct="1">
              <a:spcAft>
                <a:spcPts val="0"/>
              </a:spcAft>
              <a:buClr>
                <a:schemeClr val="accent3"/>
              </a:buClr>
              <a:buFont typeface="Wingdings" pitchFamily="2" charset="2"/>
              <a:buNone/>
              <a:defRPr/>
            </a:pPr>
            <a:r>
              <a:rPr lang="en-US" altLang="zh-CN" sz="2800" b="1" dirty="0">
                <a:effectLst>
                  <a:outerShdw blurRad="38100" dist="38100" dir="2700000" algn="tl">
                    <a:srgbClr val="C0C0C0"/>
                  </a:outerShdw>
                </a:effectLst>
              </a:rPr>
              <a:t>        </a:t>
            </a:r>
          </a:p>
        </p:txBody>
      </p:sp>
      <p:sp>
        <p:nvSpPr>
          <p:cNvPr id="5" name="灯片编号占位符 5"/>
          <p:cNvSpPr>
            <a:spLocks noGrp="1"/>
          </p:cNvSpPr>
          <p:nvPr>
            <p:ph type="sldNum" sz="quarter" idx="12"/>
          </p:nvPr>
        </p:nvSpPr>
        <p:spPr/>
        <p:txBody>
          <a:bodyPr/>
          <a:lstStyle/>
          <a:p>
            <a:pPr>
              <a:defRPr/>
            </a:pPr>
            <a:fld id="{B9BAEDB1-6B91-4572-9B11-C35FFFF7818C}" type="slidenum">
              <a:rPr lang="en-US" altLang="zh-CN"/>
              <a:pPr>
                <a:defRPr/>
              </a:pPr>
              <a:t>49</a:t>
            </a:fld>
            <a:endParaRPr lang="en-US" altLang="zh-CN"/>
          </a:p>
        </p:txBody>
      </p:sp>
    </p:spTree>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6338" name="Rectangle 2"/>
          <p:cNvSpPr>
            <a:spLocks noGrp="1" noChangeArrowheads="1"/>
          </p:cNvSpPr>
          <p:nvPr>
            <p:ph idx="1"/>
          </p:nvPr>
        </p:nvSpPr>
        <p:spPr>
          <a:xfrm>
            <a:off x="468313" y="404813"/>
            <a:ext cx="8294687" cy="5976937"/>
          </a:xfrm>
        </p:spPr>
        <p:txBody>
          <a:bodyPr>
            <a:normAutofit/>
          </a:bodyPr>
          <a:lstStyle/>
          <a:p>
            <a:pPr marL="0" indent="0" eaLnBrk="1" fontAlgn="auto" hangingPunct="1">
              <a:spcAft>
                <a:spcPts val="0"/>
              </a:spcAft>
              <a:buClr>
                <a:schemeClr val="accent3"/>
              </a:buClr>
              <a:buFont typeface="Wingdings" pitchFamily="2" charset="2"/>
              <a:buNone/>
              <a:defRPr/>
            </a:pPr>
            <a:r>
              <a:rPr lang="en-US" altLang="zh-CN" b="1">
                <a:effectLst>
                  <a:outerShdw blurRad="38100" dist="38100" dir="2700000" algn="tl">
                    <a:srgbClr val="C0C0C0"/>
                  </a:outerShdw>
                </a:effectLst>
              </a:rPr>
              <a:t>    for(i = 0; i &lt; n; i++) {</a:t>
            </a:r>
          </a:p>
          <a:p>
            <a:pPr marL="0" indent="0" eaLnBrk="1" fontAlgn="auto" hangingPunct="1">
              <a:spcAft>
                <a:spcPts val="0"/>
              </a:spcAft>
              <a:buClr>
                <a:schemeClr val="accent3"/>
              </a:buClr>
              <a:buFont typeface="Wingdings" pitchFamily="2" charset="2"/>
              <a:buNone/>
              <a:defRPr/>
            </a:pPr>
            <a:r>
              <a:rPr lang="en-US" altLang="zh-CN" b="1">
                <a:effectLst>
                  <a:outerShdw blurRad="38100" dist="38100" dir="2700000" algn="tl">
                    <a:srgbClr val="C0C0C0"/>
                  </a:outerShdw>
                </a:effectLst>
              </a:rPr>
              <a:t>        if (i % 5 == 0) printf("\n");  /* </a:t>
            </a:r>
            <a:r>
              <a:rPr lang="zh-CN" altLang="en-US" b="1">
                <a:effectLst>
                  <a:outerShdw blurRad="38100" dist="38100" dir="2700000" algn="tl">
                    <a:srgbClr val="C0C0C0"/>
                  </a:outerShdw>
                </a:effectLst>
              </a:rPr>
              <a:t>每</a:t>
            </a:r>
            <a:r>
              <a:rPr lang="en-US" altLang="zh-CN" b="1">
                <a:effectLst>
                  <a:outerShdw blurRad="38100" dist="38100" dir="2700000" algn="tl">
                    <a:srgbClr val="C0C0C0"/>
                  </a:outerShdw>
                </a:effectLst>
              </a:rPr>
              <a:t>5</a:t>
            </a:r>
            <a:r>
              <a:rPr lang="zh-CN" altLang="en-US" b="1">
                <a:effectLst>
                  <a:outerShdw blurRad="38100" dist="38100" dir="2700000" algn="tl">
                    <a:srgbClr val="C0C0C0"/>
                  </a:outerShdw>
                </a:effectLst>
              </a:rPr>
              <a:t>个数一行 *</a:t>
            </a:r>
            <a:r>
              <a:rPr lang="en-US" altLang="zh-CN" b="1">
                <a:effectLst>
                  <a:outerShdw blurRad="38100" dist="38100" dir="2700000" algn="tl">
                    <a:srgbClr val="C0C0C0"/>
                  </a:outerShdw>
                </a:effectLst>
              </a:rPr>
              <a:t>/</a:t>
            </a:r>
          </a:p>
          <a:p>
            <a:pPr marL="0" indent="0" eaLnBrk="1" fontAlgn="auto" hangingPunct="1">
              <a:spcAft>
                <a:spcPts val="0"/>
              </a:spcAft>
              <a:buClr>
                <a:schemeClr val="accent3"/>
              </a:buClr>
              <a:buFont typeface="Wingdings" pitchFamily="2" charset="2"/>
              <a:buNone/>
              <a:defRPr/>
            </a:pPr>
            <a:r>
              <a:rPr lang="en-US" altLang="zh-CN" b="1">
                <a:effectLst>
                  <a:outerShdw blurRad="38100" dist="38100" dir="2700000" algn="tl">
                    <a:srgbClr val="C0C0C0"/>
                  </a:outerShdw>
                </a:effectLst>
              </a:rPr>
              <a:t>        printf("%d\t", a[i]);</a:t>
            </a:r>
          </a:p>
          <a:p>
            <a:pPr marL="0" indent="0" eaLnBrk="1" fontAlgn="auto" hangingPunct="1">
              <a:spcAft>
                <a:spcPts val="0"/>
              </a:spcAft>
              <a:buClr>
                <a:schemeClr val="accent3"/>
              </a:buClr>
              <a:buFont typeface="Wingdings" pitchFamily="2" charset="2"/>
              <a:buNone/>
              <a:defRPr/>
            </a:pPr>
            <a:r>
              <a:rPr lang="en-US" altLang="zh-CN" b="1">
                <a:effectLst>
                  <a:outerShdw blurRad="38100" dist="38100" dir="2700000" algn="tl">
                    <a:srgbClr val="C0C0C0"/>
                  </a:outerShdw>
                </a:effectLst>
              </a:rPr>
              <a:t>     }</a:t>
            </a:r>
          </a:p>
          <a:p>
            <a:pPr marL="0" indent="0" eaLnBrk="1" fontAlgn="auto" hangingPunct="1">
              <a:spcAft>
                <a:spcPts val="0"/>
              </a:spcAft>
              <a:buClr>
                <a:schemeClr val="accent3"/>
              </a:buClr>
              <a:buFont typeface="Wingdings" pitchFamily="2" charset="2"/>
              <a:buNone/>
              <a:defRPr/>
            </a:pPr>
            <a:r>
              <a:rPr lang="en-US" altLang="zh-CN" b="1">
                <a:effectLst>
                  <a:outerShdw blurRad="38100" dist="38100" dir="2700000" algn="tl">
                    <a:srgbClr val="C0C0C0"/>
                  </a:outerShdw>
                </a:effectLst>
              </a:rPr>
              <a:t>     printf("\n"); </a:t>
            </a:r>
          </a:p>
          <a:p>
            <a:pPr marL="0" indent="0" eaLnBrk="1" fontAlgn="auto" hangingPunct="1">
              <a:spcAft>
                <a:spcPts val="0"/>
              </a:spcAft>
              <a:buClr>
                <a:schemeClr val="accent3"/>
              </a:buClr>
              <a:buFont typeface="Wingdings" pitchFamily="2" charset="2"/>
              <a:buNone/>
              <a:defRPr/>
            </a:pPr>
            <a:r>
              <a:rPr lang="en-US" altLang="zh-CN" b="1">
                <a:effectLst>
                  <a:outerShdw blurRad="38100" dist="38100" dir="2700000" algn="tl">
                    <a:srgbClr val="C0C0C0"/>
                  </a:outerShdw>
                </a:effectLst>
              </a:rPr>
              <a:t>     return 0;</a:t>
            </a:r>
          </a:p>
          <a:p>
            <a:pPr marL="0" indent="0" eaLnBrk="1" fontAlgn="auto" hangingPunct="1">
              <a:spcAft>
                <a:spcPts val="0"/>
              </a:spcAft>
              <a:buClr>
                <a:schemeClr val="accent3"/>
              </a:buClr>
              <a:buFont typeface="Wingdings" pitchFamily="2" charset="2"/>
              <a:buNone/>
              <a:defRPr/>
            </a:pPr>
            <a:r>
              <a:rPr lang="en-US" altLang="zh-CN" b="1">
                <a:effectLst>
                  <a:outerShdw blurRad="38100" dist="38100" dir="2700000" algn="tl">
                    <a:srgbClr val="C0C0C0"/>
                  </a:outerShdw>
                </a:effectLst>
              </a:rPr>
              <a:t>}</a:t>
            </a:r>
          </a:p>
        </p:txBody>
      </p:sp>
      <p:sp>
        <p:nvSpPr>
          <p:cNvPr id="5" name="灯片编号占位符 5"/>
          <p:cNvSpPr>
            <a:spLocks noGrp="1"/>
          </p:cNvSpPr>
          <p:nvPr>
            <p:ph type="sldNum" sz="quarter" idx="12"/>
          </p:nvPr>
        </p:nvSpPr>
        <p:spPr/>
        <p:txBody>
          <a:bodyPr/>
          <a:lstStyle/>
          <a:p>
            <a:pPr>
              <a:defRPr/>
            </a:pPr>
            <a:fld id="{87A1D9F1-58C6-41DE-9753-51AFC83D9C64}" type="slidenum">
              <a:rPr lang="en-US" altLang="zh-CN"/>
              <a:pPr>
                <a:defRPr/>
              </a:pPr>
              <a:t>50</a:t>
            </a:fld>
            <a:endParaRPr lang="en-US" altLang="zh-CN"/>
          </a:p>
        </p:txBody>
      </p:sp>
    </p:spTree>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264380" name="Picture 188" descr="j0240719"/>
          <p:cNvPicPr>
            <a:picLocks noGrp="1" noChangeAspect="1" noChangeArrowheads="1"/>
          </p:cNvPicPr>
          <p:nvPr>
            <p:ph sz="quarter" idx="1"/>
          </p:nvPr>
        </p:nvPicPr>
        <p:blipFill>
          <a:blip r:embed="rId2" cstate="print">
            <a:extLst>
              <a:ext uri="{28A0092B-C50C-407E-A947-70E740481C1C}">
                <a14:useLocalDpi xmlns:a14="http://schemas.microsoft.com/office/drawing/2010/main" val="0"/>
              </a:ext>
            </a:extLst>
          </a:blip>
          <a:srcRect/>
          <a:stretch>
            <a:fillRect/>
          </a:stretch>
        </p:blipFill>
        <p:spPr>
          <a:xfrm>
            <a:off x="395288" y="1431925"/>
            <a:ext cx="1163637" cy="1827213"/>
          </a:xfrm>
          <a:noFill/>
          <a:extLst>
            <a:ext uri="{909E8E84-426E-40DD-AFC4-6F175D3DCCD1}">
              <a14:hiddenFill xmlns:a14="http://schemas.microsoft.com/office/drawing/2010/main">
                <a:solidFill>
                  <a:srgbClr val="FFFFFF"/>
                </a:solidFill>
              </a14:hiddenFill>
            </a:ext>
          </a:extLst>
        </p:spPr>
      </p:pic>
      <p:pic>
        <p:nvPicPr>
          <p:cNvPr id="30723" name="Picture 197" descr="j0240719"/>
          <p:cNvPicPr>
            <a:picLocks noGrp="1" noChangeAspect="1" noChangeArrowheads="1"/>
          </p:cNvPicPr>
          <p:nvPr>
            <p:ph sz="quarter" idx="2"/>
          </p:nvPr>
        </p:nvPicPr>
        <p:blipFill>
          <a:blip r:embed="rId2" cstate="print">
            <a:extLst>
              <a:ext uri="{28A0092B-C50C-407E-A947-70E740481C1C}">
                <a14:useLocalDpi xmlns:a14="http://schemas.microsoft.com/office/drawing/2010/main" val="0"/>
              </a:ext>
            </a:extLst>
          </a:blip>
          <a:srcRect/>
          <a:stretch>
            <a:fillRect/>
          </a:stretch>
        </p:blipFill>
        <p:spPr>
          <a:xfrm>
            <a:off x="3995738" y="928688"/>
            <a:ext cx="1484312" cy="2330450"/>
          </a:xfrm>
          <a:noFill/>
          <a:extLst>
            <a:ext uri="{909E8E84-426E-40DD-AFC4-6F175D3DCCD1}">
              <a14:hiddenFill xmlns:a14="http://schemas.microsoft.com/office/drawing/2010/main">
                <a:solidFill>
                  <a:srgbClr val="FFFFFF"/>
                </a:solidFill>
              </a14:hiddenFill>
            </a:ext>
          </a:extLst>
        </p:spPr>
      </p:pic>
      <p:pic>
        <p:nvPicPr>
          <p:cNvPr id="30724" name="Picture 200" descr="j0240719"/>
          <p:cNvPicPr>
            <a:picLocks noGrp="1" noChangeAspect="1" noChangeArrowheads="1"/>
          </p:cNvPicPr>
          <p:nvPr>
            <p:ph sz="quarter" idx="3"/>
          </p:nvPr>
        </p:nvPicPr>
        <p:blipFill>
          <a:blip r:embed="rId2" cstate="print">
            <a:extLst>
              <a:ext uri="{28A0092B-C50C-407E-A947-70E740481C1C}">
                <a14:useLocalDpi xmlns:a14="http://schemas.microsoft.com/office/drawing/2010/main" val="0"/>
              </a:ext>
            </a:extLst>
          </a:blip>
          <a:srcRect/>
          <a:stretch>
            <a:fillRect/>
          </a:stretch>
        </p:blipFill>
        <p:spPr>
          <a:xfrm>
            <a:off x="5795963" y="1908175"/>
            <a:ext cx="933450" cy="1466850"/>
          </a:xfrm>
          <a:noFill/>
          <a:extLst>
            <a:ext uri="{909E8E84-426E-40DD-AFC4-6F175D3DCCD1}">
              <a14:hiddenFill xmlns:a14="http://schemas.microsoft.com/office/drawing/2010/main">
                <a:solidFill>
                  <a:srgbClr val="FFFFFF"/>
                </a:solidFill>
              </a14:hiddenFill>
            </a:ext>
          </a:extLst>
        </p:spPr>
      </p:pic>
      <p:pic>
        <p:nvPicPr>
          <p:cNvPr id="30725" name="Picture 203" descr="j0240719"/>
          <p:cNvPicPr>
            <a:picLocks noGrp="1" noChangeAspect="1" noChangeArrowheads="1"/>
          </p:cNvPicPr>
          <p:nvPr>
            <p:ph sz="quarter" idx="4"/>
          </p:nvPr>
        </p:nvPicPr>
        <p:blipFill>
          <a:blip r:embed="rId2" cstate="print">
            <a:extLst>
              <a:ext uri="{28A0092B-C50C-407E-A947-70E740481C1C}">
                <a14:useLocalDpi xmlns:a14="http://schemas.microsoft.com/office/drawing/2010/main" val="0"/>
              </a:ext>
            </a:extLst>
          </a:blip>
          <a:srcRect/>
          <a:stretch>
            <a:fillRect/>
          </a:stretch>
        </p:blipFill>
        <p:spPr>
          <a:xfrm>
            <a:off x="7032625" y="1216025"/>
            <a:ext cx="1284288" cy="2016125"/>
          </a:xfrm>
          <a:noFill/>
          <a:extLst>
            <a:ext uri="{909E8E84-426E-40DD-AFC4-6F175D3DCCD1}">
              <a14:hiddenFill xmlns:a14="http://schemas.microsoft.com/office/drawing/2010/main">
                <a:solidFill>
                  <a:srgbClr val="FFFFFF"/>
                </a:solidFill>
              </a14:hiddenFill>
            </a:ext>
          </a:extLst>
        </p:spPr>
      </p:pic>
      <p:pic>
        <p:nvPicPr>
          <p:cNvPr id="264398" name="Picture 206" descr="j024071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79613" y="712788"/>
            <a:ext cx="1622425" cy="254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4400" name="Arc 208"/>
          <p:cNvSpPr>
            <a:spLocks/>
          </p:cNvSpPr>
          <p:nvPr/>
        </p:nvSpPr>
        <p:spPr bwMode="auto">
          <a:xfrm rot="2418144" flipV="1">
            <a:off x="1258888" y="2946400"/>
            <a:ext cx="936625" cy="8636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
            <a:solidFill>
              <a:schemeClr val="tx1"/>
            </a:solidFill>
            <a:round/>
            <a:headEnd type="triangle" w="sm" len="lg"/>
            <a:tailEnd type="triangle" w="sm" len="lg"/>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264406" name="Arc 214"/>
          <p:cNvSpPr>
            <a:spLocks/>
          </p:cNvSpPr>
          <p:nvPr/>
        </p:nvSpPr>
        <p:spPr bwMode="auto">
          <a:xfrm rot="2418144" flipV="1">
            <a:off x="1103313" y="2159000"/>
            <a:ext cx="3046412" cy="2254250"/>
          </a:xfrm>
          <a:custGeom>
            <a:avLst/>
            <a:gdLst>
              <a:gd name="G0" fmla="+- 0 0 0"/>
              <a:gd name="G1" fmla="+- 21433 0 0"/>
              <a:gd name="G2" fmla="+- 21600 0 0"/>
              <a:gd name="T0" fmla="*/ 2684 w 21600"/>
              <a:gd name="T1" fmla="*/ 0 h 21433"/>
              <a:gd name="T2" fmla="*/ 21600 w 21600"/>
              <a:gd name="T3" fmla="*/ 21433 h 21433"/>
              <a:gd name="T4" fmla="*/ 0 w 21600"/>
              <a:gd name="T5" fmla="*/ 21433 h 21433"/>
            </a:gdLst>
            <a:ahLst/>
            <a:cxnLst>
              <a:cxn ang="0">
                <a:pos x="T0" y="T1"/>
              </a:cxn>
              <a:cxn ang="0">
                <a:pos x="T2" y="T3"/>
              </a:cxn>
              <a:cxn ang="0">
                <a:pos x="T4" y="T5"/>
              </a:cxn>
            </a:cxnLst>
            <a:rect l="0" t="0" r="r" b="b"/>
            <a:pathLst>
              <a:path w="21600" h="21433" fill="none" extrusionOk="0">
                <a:moveTo>
                  <a:pt x="2683" y="0"/>
                </a:moveTo>
                <a:cubicBezTo>
                  <a:pt x="13491" y="1353"/>
                  <a:pt x="21600" y="10541"/>
                  <a:pt x="21600" y="21433"/>
                </a:cubicBezTo>
              </a:path>
              <a:path w="21600" h="21433" stroke="0" extrusionOk="0">
                <a:moveTo>
                  <a:pt x="2683" y="0"/>
                </a:moveTo>
                <a:cubicBezTo>
                  <a:pt x="13491" y="1353"/>
                  <a:pt x="21600" y="10541"/>
                  <a:pt x="21600" y="21433"/>
                </a:cubicBezTo>
                <a:lnTo>
                  <a:pt x="0" y="21433"/>
                </a:lnTo>
                <a:close/>
              </a:path>
            </a:pathLst>
          </a:custGeom>
          <a:noFill/>
          <a:ln w="12700">
            <a:solidFill>
              <a:schemeClr val="tx1"/>
            </a:solidFill>
            <a:round/>
            <a:headEnd type="triangle" w="sm" len="lg"/>
            <a:tailEnd type="triangle" w="sm" len="lg"/>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264407" name="Arc 215"/>
          <p:cNvSpPr>
            <a:spLocks/>
          </p:cNvSpPr>
          <p:nvPr/>
        </p:nvSpPr>
        <p:spPr bwMode="auto">
          <a:xfrm rot="2418144" flipV="1">
            <a:off x="1257300" y="1509713"/>
            <a:ext cx="4229100" cy="3349625"/>
          </a:xfrm>
          <a:custGeom>
            <a:avLst/>
            <a:gdLst>
              <a:gd name="G0" fmla="+- 0 0 0"/>
              <a:gd name="G1" fmla="+- 21433 0 0"/>
              <a:gd name="G2" fmla="+- 21600 0 0"/>
              <a:gd name="T0" fmla="*/ 2684 w 21590"/>
              <a:gd name="T1" fmla="*/ 0 h 21433"/>
              <a:gd name="T2" fmla="*/ 21590 w 21590"/>
              <a:gd name="T3" fmla="*/ 20766 h 21433"/>
              <a:gd name="T4" fmla="*/ 0 w 21590"/>
              <a:gd name="T5" fmla="*/ 21433 h 21433"/>
            </a:gdLst>
            <a:ahLst/>
            <a:cxnLst>
              <a:cxn ang="0">
                <a:pos x="T0" y="T1"/>
              </a:cxn>
              <a:cxn ang="0">
                <a:pos x="T2" y="T3"/>
              </a:cxn>
              <a:cxn ang="0">
                <a:pos x="T4" y="T5"/>
              </a:cxn>
            </a:cxnLst>
            <a:rect l="0" t="0" r="r" b="b"/>
            <a:pathLst>
              <a:path w="21590" h="21433" fill="none" extrusionOk="0">
                <a:moveTo>
                  <a:pt x="2683" y="0"/>
                </a:moveTo>
                <a:cubicBezTo>
                  <a:pt x="13239" y="1322"/>
                  <a:pt x="21261" y="10132"/>
                  <a:pt x="21589" y="20766"/>
                </a:cubicBezTo>
              </a:path>
              <a:path w="21590" h="21433" stroke="0" extrusionOk="0">
                <a:moveTo>
                  <a:pt x="2683" y="0"/>
                </a:moveTo>
                <a:cubicBezTo>
                  <a:pt x="13239" y="1322"/>
                  <a:pt x="21261" y="10132"/>
                  <a:pt x="21589" y="20766"/>
                </a:cubicBezTo>
                <a:lnTo>
                  <a:pt x="0" y="21433"/>
                </a:lnTo>
                <a:close/>
              </a:path>
            </a:pathLst>
          </a:custGeom>
          <a:noFill/>
          <a:ln w="12700">
            <a:solidFill>
              <a:schemeClr val="tx1"/>
            </a:solidFill>
            <a:round/>
            <a:headEnd type="triangle" w="sm" len="lg"/>
            <a:tailEnd type="triangle" w="sm" len="lg"/>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264408" name="Arc 216"/>
          <p:cNvSpPr>
            <a:spLocks/>
          </p:cNvSpPr>
          <p:nvPr/>
        </p:nvSpPr>
        <p:spPr bwMode="auto">
          <a:xfrm rot="2418144" flipV="1">
            <a:off x="1298575" y="828675"/>
            <a:ext cx="5837238" cy="4575175"/>
          </a:xfrm>
          <a:custGeom>
            <a:avLst/>
            <a:gdLst>
              <a:gd name="G0" fmla="+- 0 0 0"/>
              <a:gd name="G1" fmla="+- 21433 0 0"/>
              <a:gd name="G2" fmla="+- 21600 0 0"/>
              <a:gd name="T0" fmla="*/ 2684 w 21590"/>
              <a:gd name="T1" fmla="*/ 0 h 21433"/>
              <a:gd name="T2" fmla="*/ 21590 w 21590"/>
              <a:gd name="T3" fmla="*/ 20766 h 21433"/>
              <a:gd name="T4" fmla="*/ 0 w 21590"/>
              <a:gd name="T5" fmla="*/ 21433 h 21433"/>
            </a:gdLst>
            <a:ahLst/>
            <a:cxnLst>
              <a:cxn ang="0">
                <a:pos x="T0" y="T1"/>
              </a:cxn>
              <a:cxn ang="0">
                <a:pos x="T2" y="T3"/>
              </a:cxn>
              <a:cxn ang="0">
                <a:pos x="T4" y="T5"/>
              </a:cxn>
            </a:cxnLst>
            <a:rect l="0" t="0" r="r" b="b"/>
            <a:pathLst>
              <a:path w="21590" h="21433" fill="none" extrusionOk="0">
                <a:moveTo>
                  <a:pt x="2683" y="0"/>
                </a:moveTo>
                <a:cubicBezTo>
                  <a:pt x="13239" y="1322"/>
                  <a:pt x="21261" y="10132"/>
                  <a:pt x="21589" y="20766"/>
                </a:cubicBezTo>
              </a:path>
              <a:path w="21590" h="21433" stroke="0" extrusionOk="0">
                <a:moveTo>
                  <a:pt x="2683" y="0"/>
                </a:moveTo>
                <a:cubicBezTo>
                  <a:pt x="13239" y="1322"/>
                  <a:pt x="21261" y="10132"/>
                  <a:pt x="21589" y="20766"/>
                </a:cubicBezTo>
                <a:lnTo>
                  <a:pt x="0" y="21433"/>
                </a:lnTo>
                <a:close/>
              </a:path>
            </a:pathLst>
          </a:custGeom>
          <a:noFill/>
          <a:ln w="12700">
            <a:solidFill>
              <a:schemeClr val="tx1"/>
            </a:solidFill>
            <a:round/>
            <a:headEnd type="triangle" w="sm" len="lg"/>
            <a:tailEnd type="triangle" w="sm" len="lg"/>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pic>
        <p:nvPicPr>
          <p:cNvPr id="264410" name="Picture 218" descr="j024071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55838" y="4024313"/>
            <a:ext cx="1163637" cy="182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4411" name="Picture 219" descr="j024071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95738" y="3521075"/>
            <a:ext cx="1484312" cy="233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4412" name="Picture 220" descr="j024071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95963" y="4359275"/>
            <a:ext cx="933450" cy="146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4413" name="Picture 221" descr="j024071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32625" y="3808413"/>
            <a:ext cx="1284288"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4414" name="Picture 222" descr="j024071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5750" y="3305175"/>
            <a:ext cx="1622425" cy="254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4415" name="Arc 223"/>
          <p:cNvSpPr>
            <a:spLocks/>
          </p:cNvSpPr>
          <p:nvPr/>
        </p:nvSpPr>
        <p:spPr bwMode="auto">
          <a:xfrm rot="2418144" flipV="1">
            <a:off x="3203575" y="5538788"/>
            <a:ext cx="936625" cy="8636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
            <a:solidFill>
              <a:schemeClr val="tx1"/>
            </a:solidFill>
            <a:round/>
            <a:headEnd type="triangle" w="sm" len="lg"/>
            <a:tailEnd type="triangle" w="sm" len="lg"/>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264416" name="Arc 224"/>
          <p:cNvSpPr>
            <a:spLocks/>
          </p:cNvSpPr>
          <p:nvPr/>
        </p:nvSpPr>
        <p:spPr bwMode="auto">
          <a:xfrm rot="2418144" flipV="1">
            <a:off x="3016250" y="4719638"/>
            <a:ext cx="3038475" cy="2252662"/>
          </a:xfrm>
          <a:custGeom>
            <a:avLst/>
            <a:gdLst>
              <a:gd name="G0" fmla="+- 0 0 0"/>
              <a:gd name="G1" fmla="+- 21433 0 0"/>
              <a:gd name="G2" fmla="+- 21600 0 0"/>
              <a:gd name="T0" fmla="*/ 2684 w 21590"/>
              <a:gd name="T1" fmla="*/ 0 h 21433"/>
              <a:gd name="T2" fmla="*/ 21590 w 21590"/>
              <a:gd name="T3" fmla="*/ 20766 h 21433"/>
              <a:gd name="T4" fmla="*/ 0 w 21590"/>
              <a:gd name="T5" fmla="*/ 21433 h 21433"/>
            </a:gdLst>
            <a:ahLst/>
            <a:cxnLst>
              <a:cxn ang="0">
                <a:pos x="T0" y="T1"/>
              </a:cxn>
              <a:cxn ang="0">
                <a:pos x="T2" y="T3"/>
              </a:cxn>
              <a:cxn ang="0">
                <a:pos x="T4" y="T5"/>
              </a:cxn>
            </a:cxnLst>
            <a:rect l="0" t="0" r="r" b="b"/>
            <a:pathLst>
              <a:path w="21590" h="21433" fill="none" extrusionOk="0">
                <a:moveTo>
                  <a:pt x="2683" y="0"/>
                </a:moveTo>
                <a:cubicBezTo>
                  <a:pt x="13239" y="1322"/>
                  <a:pt x="21261" y="10132"/>
                  <a:pt x="21589" y="20766"/>
                </a:cubicBezTo>
              </a:path>
              <a:path w="21590" h="21433" stroke="0" extrusionOk="0">
                <a:moveTo>
                  <a:pt x="2683" y="0"/>
                </a:moveTo>
                <a:cubicBezTo>
                  <a:pt x="13239" y="1322"/>
                  <a:pt x="21261" y="10132"/>
                  <a:pt x="21589" y="20766"/>
                </a:cubicBezTo>
                <a:lnTo>
                  <a:pt x="0" y="21433"/>
                </a:lnTo>
                <a:close/>
              </a:path>
            </a:pathLst>
          </a:custGeom>
          <a:noFill/>
          <a:ln w="12700">
            <a:solidFill>
              <a:schemeClr val="tx1"/>
            </a:solidFill>
            <a:round/>
            <a:headEnd type="triangle" w="sm" len="lg"/>
            <a:tailEnd type="triangle" w="sm" len="lg"/>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264417" name="Arc 225"/>
          <p:cNvSpPr>
            <a:spLocks/>
          </p:cNvSpPr>
          <p:nvPr/>
        </p:nvSpPr>
        <p:spPr bwMode="auto">
          <a:xfrm rot="2418144" flipV="1">
            <a:off x="2979738" y="4252913"/>
            <a:ext cx="4179887" cy="3063875"/>
          </a:xfrm>
          <a:custGeom>
            <a:avLst/>
            <a:gdLst>
              <a:gd name="G0" fmla="+- 0 0 0"/>
              <a:gd name="G1" fmla="+- 21433 0 0"/>
              <a:gd name="G2" fmla="+- 21600 0 0"/>
              <a:gd name="T0" fmla="*/ 2684 w 21590"/>
              <a:gd name="T1" fmla="*/ 0 h 21433"/>
              <a:gd name="T2" fmla="*/ 21590 w 21590"/>
              <a:gd name="T3" fmla="*/ 20766 h 21433"/>
              <a:gd name="T4" fmla="*/ 0 w 21590"/>
              <a:gd name="T5" fmla="*/ 21433 h 21433"/>
            </a:gdLst>
            <a:ahLst/>
            <a:cxnLst>
              <a:cxn ang="0">
                <a:pos x="T0" y="T1"/>
              </a:cxn>
              <a:cxn ang="0">
                <a:pos x="T2" y="T3"/>
              </a:cxn>
              <a:cxn ang="0">
                <a:pos x="T4" y="T5"/>
              </a:cxn>
            </a:cxnLst>
            <a:rect l="0" t="0" r="r" b="b"/>
            <a:pathLst>
              <a:path w="21590" h="21433" fill="none" extrusionOk="0">
                <a:moveTo>
                  <a:pt x="2683" y="0"/>
                </a:moveTo>
                <a:cubicBezTo>
                  <a:pt x="13239" y="1322"/>
                  <a:pt x="21261" y="10132"/>
                  <a:pt x="21589" y="20766"/>
                </a:cubicBezTo>
              </a:path>
              <a:path w="21590" h="21433" stroke="0" extrusionOk="0">
                <a:moveTo>
                  <a:pt x="2683" y="0"/>
                </a:moveTo>
                <a:cubicBezTo>
                  <a:pt x="13239" y="1322"/>
                  <a:pt x="21261" y="10132"/>
                  <a:pt x="21589" y="20766"/>
                </a:cubicBezTo>
                <a:lnTo>
                  <a:pt x="0" y="21433"/>
                </a:lnTo>
                <a:close/>
              </a:path>
            </a:pathLst>
          </a:custGeom>
          <a:noFill/>
          <a:ln w="12700">
            <a:solidFill>
              <a:schemeClr val="tx1"/>
            </a:solidFill>
            <a:round/>
            <a:headEnd type="triangle" w="sm" len="lg"/>
            <a:tailEnd type="triangle" w="sm" len="lg"/>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264421" name="Rectangle 229"/>
          <p:cNvSpPr>
            <a:spLocks noGrp="1" noChangeArrowheads="1"/>
          </p:cNvSpPr>
          <p:nvPr>
            <p:ph type="title"/>
          </p:nvPr>
        </p:nvSpPr>
        <p:spPr>
          <a:xfrm>
            <a:off x="4535488" y="188913"/>
            <a:ext cx="4213226" cy="839787"/>
          </a:xfrm>
        </p:spPr>
        <p:txBody>
          <a:bodyPr/>
          <a:lstStyle/>
          <a:p>
            <a:pPr>
              <a:defRPr/>
            </a:pPr>
            <a:r>
              <a:rPr lang="zh-CN" altLang="en-US" dirty="0"/>
              <a:t>交换法排序</a:t>
            </a:r>
          </a:p>
        </p:txBody>
      </p:sp>
    </p:spTree>
    <p:extLst>
      <p:ext uri="{BB962C8B-B14F-4D97-AF65-F5344CB8AC3E}">
        <p14:creationId xmlns:p14="http://schemas.microsoft.com/office/powerpoint/2010/main" val="36777485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440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35" presetClass="path" presetSubtype="0" accel="50000" decel="50000" fill="hold" nodeType="clickEffect">
                                  <p:stCondLst>
                                    <p:cond delay="0"/>
                                  </p:stCondLst>
                                  <p:childTnLst>
                                    <p:animMotion origin="layout" path="M 1.66667E-6 3.7037E-6 L -0.19896 0.00347 " pathEditMode="relative" rAng="0" ptsTypes="AA">
                                      <p:cBhvr>
                                        <p:cTn id="10" dur="2000" fill="hold"/>
                                        <p:tgtEl>
                                          <p:spTgt spid="264398"/>
                                        </p:tgtEl>
                                        <p:attrNameLst>
                                          <p:attrName>ppt_x</p:attrName>
                                          <p:attrName>ppt_y</p:attrName>
                                        </p:attrNameLst>
                                      </p:cBhvr>
                                      <p:rCtr x="-9948" y="162"/>
                                    </p:animMotion>
                                  </p:childTnLst>
                                </p:cTn>
                              </p:par>
                            </p:childTnLst>
                          </p:cTn>
                        </p:par>
                        <p:par>
                          <p:cTn id="11" fill="hold" nodeType="afterGroup">
                            <p:stCondLst>
                              <p:cond delay="2000"/>
                            </p:stCondLst>
                            <p:childTnLst>
                              <p:par>
                                <p:cTn id="12" presetID="63" presetClass="path" presetSubtype="0" accel="50000" decel="50000" fill="hold" nodeType="afterEffect">
                                  <p:stCondLst>
                                    <p:cond delay="0"/>
                                  </p:stCondLst>
                                  <p:childTnLst>
                                    <p:animMotion origin="layout" path="M -8.33333E-7 -1.11111E-6 L 0.19636 0.0037 " pathEditMode="relative" rAng="0" ptsTypes="AA">
                                      <p:cBhvr>
                                        <p:cTn id="13" dur="2000" fill="hold"/>
                                        <p:tgtEl>
                                          <p:spTgt spid="264380"/>
                                        </p:tgtEl>
                                        <p:attrNameLst>
                                          <p:attrName>ppt_x</p:attrName>
                                          <p:attrName>ppt_y</p:attrName>
                                        </p:attrNameLst>
                                      </p:cBhvr>
                                      <p:rCtr x="9809" y="185"/>
                                    </p:animMotion>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xit" presetSubtype="0" fill="hold" grpId="1" nodeType="clickEffect">
                                  <p:stCondLst>
                                    <p:cond delay="0"/>
                                  </p:stCondLst>
                                  <p:childTnLst>
                                    <p:set>
                                      <p:cBhvr>
                                        <p:cTn id="17" dur="1" fill="hold">
                                          <p:stCondLst>
                                            <p:cond delay="0"/>
                                          </p:stCondLst>
                                        </p:cTn>
                                        <p:tgtEl>
                                          <p:spTgt spid="264400"/>
                                        </p:tgtEl>
                                        <p:attrNameLst>
                                          <p:attrName>style.visibility</p:attrName>
                                        </p:attrNameLst>
                                      </p:cBhvr>
                                      <p:to>
                                        <p:strVal val="hidden"/>
                                      </p:to>
                                    </p:set>
                                  </p:childTnLst>
                                </p:cTn>
                              </p:par>
                            </p:childTnLst>
                          </p:cTn>
                        </p:par>
                        <p:par>
                          <p:cTn id="18" fill="hold" nodeType="afterGroup">
                            <p:stCondLst>
                              <p:cond delay="0"/>
                            </p:stCondLst>
                            <p:childTnLst>
                              <p:par>
                                <p:cTn id="19" presetID="1" presetClass="entr" presetSubtype="0" fill="hold" grpId="0" nodeType="afterEffect">
                                  <p:stCondLst>
                                    <p:cond delay="0"/>
                                  </p:stCondLst>
                                  <p:childTnLst>
                                    <p:set>
                                      <p:cBhvr>
                                        <p:cTn id="20" dur="1" fill="hold">
                                          <p:stCondLst>
                                            <p:cond delay="0"/>
                                          </p:stCondLst>
                                        </p:cTn>
                                        <p:tgtEl>
                                          <p:spTgt spid="264406"/>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xit" presetSubtype="0" fill="hold" grpId="1" nodeType="clickEffect">
                                  <p:stCondLst>
                                    <p:cond delay="0"/>
                                  </p:stCondLst>
                                  <p:childTnLst>
                                    <p:set>
                                      <p:cBhvr>
                                        <p:cTn id="24" dur="1" fill="hold">
                                          <p:stCondLst>
                                            <p:cond delay="0"/>
                                          </p:stCondLst>
                                        </p:cTn>
                                        <p:tgtEl>
                                          <p:spTgt spid="264406"/>
                                        </p:tgtEl>
                                        <p:attrNameLst>
                                          <p:attrName>style.visibility</p:attrName>
                                        </p:attrNameLst>
                                      </p:cBhvr>
                                      <p:to>
                                        <p:strVal val="hidden"/>
                                      </p:to>
                                    </p:set>
                                  </p:childTnLst>
                                </p:cTn>
                              </p:par>
                            </p:childTnLst>
                          </p:cTn>
                        </p:par>
                        <p:par>
                          <p:cTn id="25" fill="hold" nodeType="afterGroup">
                            <p:stCondLst>
                              <p:cond delay="0"/>
                            </p:stCondLst>
                            <p:childTnLst>
                              <p:par>
                                <p:cTn id="26" presetID="1" presetClass="entr" presetSubtype="0" fill="hold" grpId="0" nodeType="afterEffect">
                                  <p:stCondLst>
                                    <p:cond delay="0"/>
                                  </p:stCondLst>
                                  <p:childTnLst>
                                    <p:set>
                                      <p:cBhvr>
                                        <p:cTn id="27" dur="1" fill="hold">
                                          <p:stCondLst>
                                            <p:cond delay="0"/>
                                          </p:stCondLst>
                                        </p:cTn>
                                        <p:tgtEl>
                                          <p:spTgt spid="264407"/>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xit" presetSubtype="0" fill="hold" grpId="1" nodeType="clickEffect">
                                  <p:stCondLst>
                                    <p:cond delay="0"/>
                                  </p:stCondLst>
                                  <p:childTnLst>
                                    <p:set>
                                      <p:cBhvr>
                                        <p:cTn id="31" dur="1" fill="hold">
                                          <p:stCondLst>
                                            <p:cond delay="0"/>
                                          </p:stCondLst>
                                        </p:cTn>
                                        <p:tgtEl>
                                          <p:spTgt spid="264407"/>
                                        </p:tgtEl>
                                        <p:attrNameLst>
                                          <p:attrName>style.visibility</p:attrName>
                                        </p:attrNameLst>
                                      </p:cBhvr>
                                      <p:to>
                                        <p:strVal val="hidden"/>
                                      </p:to>
                                    </p:set>
                                  </p:childTnLst>
                                </p:cTn>
                              </p:par>
                            </p:childTnLst>
                          </p:cTn>
                        </p:par>
                        <p:par>
                          <p:cTn id="32" fill="hold" nodeType="afterGroup">
                            <p:stCondLst>
                              <p:cond delay="0"/>
                            </p:stCondLst>
                            <p:childTnLst>
                              <p:par>
                                <p:cTn id="33" presetID="1" presetClass="entr" presetSubtype="0" fill="hold" grpId="0" nodeType="afterEffect">
                                  <p:stCondLst>
                                    <p:cond delay="0"/>
                                  </p:stCondLst>
                                  <p:childTnLst>
                                    <p:set>
                                      <p:cBhvr>
                                        <p:cTn id="34" dur="1" fill="hold">
                                          <p:stCondLst>
                                            <p:cond delay="0"/>
                                          </p:stCondLst>
                                        </p:cTn>
                                        <p:tgtEl>
                                          <p:spTgt spid="264408"/>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xit" presetSubtype="0" fill="hold" grpId="1" nodeType="clickEffect">
                                  <p:stCondLst>
                                    <p:cond delay="0"/>
                                  </p:stCondLst>
                                  <p:childTnLst>
                                    <p:set>
                                      <p:cBhvr>
                                        <p:cTn id="38" dur="1" fill="hold">
                                          <p:stCondLst>
                                            <p:cond delay="0"/>
                                          </p:stCondLst>
                                        </p:cTn>
                                        <p:tgtEl>
                                          <p:spTgt spid="264408"/>
                                        </p:tgtEl>
                                        <p:attrNameLst>
                                          <p:attrName>style.visibility</p:attrName>
                                        </p:attrNameLst>
                                      </p:cBhvr>
                                      <p:to>
                                        <p:strVal val="hidden"/>
                                      </p:to>
                                    </p:set>
                                  </p:childTnLst>
                                </p:cTn>
                              </p:par>
                            </p:childTnLst>
                          </p:cTn>
                        </p:par>
                        <p:par>
                          <p:cTn id="39" fill="hold" nodeType="afterGroup">
                            <p:stCondLst>
                              <p:cond delay="0"/>
                            </p:stCondLst>
                            <p:childTnLst>
                              <p:par>
                                <p:cTn id="40" presetID="1" presetClass="entr" presetSubtype="0" fill="hold" nodeType="afterEffect">
                                  <p:stCondLst>
                                    <p:cond delay="0"/>
                                  </p:stCondLst>
                                  <p:childTnLst>
                                    <p:set>
                                      <p:cBhvr>
                                        <p:cTn id="41" dur="1" fill="hold">
                                          <p:stCondLst>
                                            <p:cond delay="0"/>
                                          </p:stCondLst>
                                        </p:cTn>
                                        <p:tgtEl>
                                          <p:spTgt spid="264414"/>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264410"/>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264411"/>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264412"/>
                                        </p:tgtEl>
                                        <p:attrNameLst>
                                          <p:attrName>style.visibility</p:attrName>
                                        </p:attrNameLst>
                                      </p:cBhvr>
                                      <p:to>
                                        <p:strVal val="visible"/>
                                      </p:to>
                                    </p:set>
                                  </p:childTnLst>
                                </p:cTn>
                              </p:par>
                              <p:par>
                                <p:cTn id="48" presetID="1" presetClass="entr" presetSubtype="0" fill="hold" nodeType="withEffect">
                                  <p:stCondLst>
                                    <p:cond delay="0"/>
                                  </p:stCondLst>
                                  <p:childTnLst>
                                    <p:set>
                                      <p:cBhvr>
                                        <p:cTn id="49" dur="1" fill="hold">
                                          <p:stCondLst>
                                            <p:cond delay="0"/>
                                          </p:stCondLst>
                                        </p:cTn>
                                        <p:tgtEl>
                                          <p:spTgt spid="264413"/>
                                        </p:tgtEl>
                                        <p:attrNameLst>
                                          <p:attrName>style.visibility</p:attrName>
                                        </p:attrNameLst>
                                      </p:cBhvr>
                                      <p:to>
                                        <p:strVal val="visible"/>
                                      </p:to>
                                    </p:set>
                                  </p:childTnLst>
                                </p:cTn>
                              </p:par>
                            </p:childTnLst>
                          </p:cTn>
                        </p:par>
                      </p:childTnLst>
                    </p:cTn>
                  </p:par>
                  <p:par>
                    <p:cTn id="50" fill="hold" nodeType="clickPar">
                      <p:stCondLst>
                        <p:cond delay="indefinite"/>
                      </p:stCondLst>
                      <p:childTnLst>
                        <p:par>
                          <p:cTn id="51" fill="hold" nodeType="withGroup">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264415"/>
                                        </p:tgtEl>
                                        <p:attrNameLst>
                                          <p:attrName>style.visibility</p:attrName>
                                        </p:attrNameLst>
                                      </p:cBhvr>
                                      <p:to>
                                        <p:strVal val="visible"/>
                                      </p:to>
                                    </p:set>
                                  </p:childTnLst>
                                </p:cTn>
                              </p:par>
                            </p:childTnLst>
                          </p:cTn>
                        </p:par>
                      </p:childTnLst>
                    </p:cTn>
                  </p:par>
                  <p:par>
                    <p:cTn id="54" fill="hold" nodeType="clickPar">
                      <p:stCondLst>
                        <p:cond delay="indefinite"/>
                      </p:stCondLst>
                      <p:childTnLst>
                        <p:par>
                          <p:cTn id="55" fill="hold" nodeType="withGroup">
                            <p:stCondLst>
                              <p:cond delay="0"/>
                            </p:stCondLst>
                            <p:childTnLst>
                              <p:par>
                                <p:cTn id="56" presetID="1" presetClass="exit" presetSubtype="0" fill="hold" grpId="1" nodeType="clickEffect">
                                  <p:stCondLst>
                                    <p:cond delay="0"/>
                                  </p:stCondLst>
                                  <p:childTnLst>
                                    <p:set>
                                      <p:cBhvr>
                                        <p:cTn id="57" dur="1" fill="hold">
                                          <p:stCondLst>
                                            <p:cond delay="0"/>
                                          </p:stCondLst>
                                        </p:cTn>
                                        <p:tgtEl>
                                          <p:spTgt spid="264415"/>
                                        </p:tgtEl>
                                        <p:attrNameLst>
                                          <p:attrName>style.visibility</p:attrName>
                                        </p:attrNameLst>
                                      </p:cBhvr>
                                      <p:to>
                                        <p:strVal val="hidden"/>
                                      </p:to>
                                    </p:set>
                                  </p:childTnLst>
                                </p:cTn>
                              </p:par>
                            </p:childTnLst>
                          </p:cTn>
                        </p:par>
                        <p:par>
                          <p:cTn id="58" fill="hold" nodeType="afterGroup">
                            <p:stCondLst>
                              <p:cond delay="0"/>
                            </p:stCondLst>
                            <p:childTnLst>
                              <p:par>
                                <p:cTn id="59" presetID="35" presetClass="path" presetSubtype="0" accel="50000" decel="50000" fill="hold" nodeType="afterEffect">
                                  <p:stCondLst>
                                    <p:cond delay="0"/>
                                  </p:stCondLst>
                                  <p:childTnLst>
                                    <p:animMotion origin="layout" path="M 4.44444E-6 3.7037E-6 L -0.20712 -0.00186 " pathEditMode="relative" rAng="0" ptsTypes="AA">
                                      <p:cBhvr>
                                        <p:cTn id="60" dur="2000" fill="hold"/>
                                        <p:tgtEl>
                                          <p:spTgt spid="264411"/>
                                        </p:tgtEl>
                                        <p:attrNameLst>
                                          <p:attrName>ppt_x</p:attrName>
                                          <p:attrName>ppt_y</p:attrName>
                                        </p:attrNameLst>
                                      </p:cBhvr>
                                      <p:rCtr x="-10365" y="-93"/>
                                    </p:animMotion>
                                  </p:childTnLst>
                                </p:cTn>
                              </p:par>
                            </p:childTnLst>
                          </p:cTn>
                        </p:par>
                        <p:par>
                          <p:cTn id="61" fill="hold" nodeType="afterGroup">
                            <p:stCondLst>
                              <p:cond delay="2000"/>
                            </p:stCondLst>
                            <p:childTnLst>
                              <p:par>
                                <p:cTn id="62" presetID="63" presetClass="path" presetSubtype="0" accel="50000" decel="50000" fill="hold" nodeType="afterEffect">
                                  <p:stCondLst>
                                    <p:cond delay="0"/>
                                  </p:stCondLst>
                                  <p:childTnLst>
                                    <p:animMotion origin="layout" path="M 0.0007 -0.01181 L 0.20625 -0.0081 " pathEditMode="relative" rAng="0" ptsTypes="AA">
                                      <p:cBhvr>
                                        <p:cTn id="63" dur="2000" fill="hold"/>
                                        <p:tgtEl>
                                          <p:spTgt spid="264410"/>
                                        </p:tgtEl>
                                        <p:attrNameLst>
                                          <p:attrName>ppt_x</p:attrName>
                                          <p:attrName>ppt_y</p:attrName>
                                        </p:attrNameLst>
                                      </p:cBhvr>
                                      <p:rCtr x="10278" y="185"/>
                                    </p:animMotion>
                                  </p:childTnLst>
                                </p:cTn>
                              </p:par>
                            </p:childTnLst>
                          </p:cTn>
                        </p:par>
                      </p:childTnLst>
                    </p:cTn>
                  </p:par>
                  <p:par>
                    <p:cTn id="64" fill="hold" nodeType="clickPar">
                      <p:stCondLst>
                        <p:cond delay="indefinite"/>
                      </p:stCondLst>
                      <p:childTnLst>
                        <p:par>
                          <p:cTn id="65" fill="hold" nodeType="withGroup">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264416"/>
                                        </p:tgtEl>
                                        <p:attrNameLst>
                                          <p:attrName>style.visibility</p:attrName>
                                        </p:attrNameLst>
                                      </p:cBhvr>
                                      <p:to>
                                        <p:strVal val="visible"/>
                                      </p:to>
                                    </p:set>
                                  </p:childTnLst>
                                </p:cTn>
                              </p:par>
                            </p:childTnLst>
                          </p:cTn>
                        </p:par>
                      </p:childTnLst>
                    </p:cTn>
                  </p:par>
                  <p:par>
                    <p:cTn id="68" fill="hold" nodeType="clickPar">
                      <p:stCondLst>
                        <p:cond delay="indefinite"/>
                      </p:stCondLst>
                      <p:childTnLst>
                        <p:par>
                          <p:cTn id="69" fill="hold" nodeType="withGroup">
                            <p:stCondLst>
                              <p:cond delay="0"/>
                            </p:stCondLst>
                            <p:childTnLst>
                              <p:par>
                                <p:cTn id="70" presetID="1" presetClass="exit" presetSubtype="0" fill="hold" grpId="1" nodeType="clickEffect">
                                  <p:stCondLst>
                                    <p:cond delay="0"/>
                                  </p:stCondLst>
                                  <p:childTnLst>
                                    <p:set>
                                      <p:cBhvr>
                                        <p:cTn id="71" dur="1" fill="hold">
                                          <p:stCondLst>
                                            <p:cond delay="0"/>
                                          </p:stCondLst>
                                        </p:cTn>
                                        <p:tgtEl>
                                          <p:spTgt spid="264416"/>
                                        </p:tgtEl>
                                        <p:attrNameLst>
                                          <p:attrName>style.visibility</p:attrName>
                                        </p:attrNameLst>
                                      </p:cBhvr>
                                      <p:to>
                                        <p:strVal val="hidden"/>
                                      </p:to>
                                    </p:set>
                                  </p:childTnLst>
                                </p:cTn>
                              </p:par>
                            </p:childTnLst>
                          </p:cTn>
                        </p:par>
                        <p:par>
                          <p:cTn id="72" fill="hold" nodeType="afterGroup">
                            <p:stCondLst>
                              <p:cond delay="0"/>
                            </p:stCondLst>
                            <p:childTnLst>
                              <p:par>
                                <p:cTn id="73" presetID="1" presetClass="entr" presetSubtype="0" fill="hold" grpId="0" nodeType="afterEffect">
                                  <p:stCondLst>
                                    <p:cond delay="0"/>
                                  </p:stCondLst>
                                  <p:childTnLst>
                                    <p:set>
                                      <p:cBhvr>
                                        <p:cTn id="74" dur="1" fill="hold">
                                          <p:stCondLst>
                                            <p:cond delay="0"/>
                                          </p:stCondLst>
                                        </p:cTn>
                                        <p:tgtEl>
                                          <p:spTgt spid="264417"/>
                                        </p:tgtEl>
                                        <p:attrNameLst>
                                          <p:attrName>style.visibility</p:attrName>
                                        </p:attrNameLst>
                                      </p:cBhvr>
                                      <p:to>
                                        <p:strVal val="visible"/>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1" presetClass="exit" presetSubtype="0" fill="hold" grpId="1" nodeType="clickEffect">
                                  <p:stCondLst>
                                    <p:cond delay="0"/>
                                  </p:stCondLst>
                                  <p:childTnLst>
                                    <p:set>
                                      <p:cBhvr>
                                        <p:cTn id="78" dur="1" fill="hold">
                                          <p:stCondLst>
                                            <p:cond delay="0"/>
                                          </p:stCondLst>
                                        </p:cTn>
                                        <p:tgtEl>
                                          <p:spTgt spid="2644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4400" grpId="0" animBg="1"/>
      <p:bldP spid="264400" grpId="1" animBg="1"/>
      <p:bldP spid="264406" grpId="0" animBg="1"/>
      <p:bldP spid="264406" grpId="1" animBg="1"/>
      <p:bldP spid="264407" grpId="0" animBg="1"/>
      <p:bldP spid="264407" grpId="1" animBg="1"/>
      <p:bldP spid="264408" grpId="0" animBg="1"/>
      <p:bldP spid="264408" grpId="1" animBg="1"/>
      <p:bldP spid="264415" grpId="0" animBg="1"/>
      <p:bldP spid="264415" grpId="1" animBg="1"/>
      <p:bldP spid="264416" grpId="0" animBg="1"/>
      <p:bldP spid="264416" grpId="1" animBg="1"/>
      <p:bldP spid="264417" grpId="0" animBg="1"/>
      <p:bldP spid="264417" grpId="1" animBg="1"/>
    </p:bldLst>
  </p:timing>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272406" name="Picture 22" descr="j024071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22750" y="4189413"/>
            <a:ext cx="1284288"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2386" name="Picture 2" descr="j0240719"/>
          <p:cNvPicPr>
            <a:picLocks noGrp="1" noChangeAspect="1" noChangeArrowheads="1"/>
          </p:cNvPicPr>
          <p:nvPr>
            <p:ph sz="quarter" idx="1"/>
          </p:nvPr>
        </p:nvPicPr>
        <p:blipFill>
          <a:blip r:embed="rId2" cstate="print">
            <a:extLst>
              <a:ext uri="{28A0092B-C50C-407E-A947-70E740481C1C}">
                <a14:useLocalDpi xmlns:a14="http://schemas.microsoft.com/office/drawing/2010/main" val="0"/>
              </a:ext>
            </a:extLst>
          </a:blip>
          <a:srcRect/>
          <a:stretch>
            <a:fillRect/>
          </a:stretch>
        </p:blipFill>
        <p:spPr>
          <a:xfrm>
            <a:off x="4271963" y="1697038"/>
            <a:ext cx="1163637" cy="1827212"/>
          </a:xfrm>
          <a:noFill/>
          <a:extLst>
            <a:ext uri="{909E8E84-426E-40DD-AFC4-6F175D3DCCD1}">
              <a14:hiddenFill xmlns:a14="http://schemas.microsoft.com/office/drawing/2010/main">
                <a:solidFill>
                  <a:srgbClr val="FFFFFF"/>
                </a:solidFill>
              </a14:hiddenFill>
            </a:ext>
          </a:extLst>
        </p:spPr>
      </p:pic>
      <p:pic>
        <p:nvPicPr>
          <p:cNvPr id="31748" name="Picture 3" descr="j0240719"/>
          <p:cNvPicPr>
            <a:picLocks noGrp="1" noChangeAspect="1" noChangeArrowheads="1"/>
          </p:cNvPicPr>
          <p:nvPr>
            <p:ph sz="quarter" idx="2"/>
          </p:nvPr>
        </p:nvPicPr>
        <p:blipFill>
          <a:blip r:embed="rId2" cstate="print">
            <a:extLst>
              <a:ext uri="{28A0092B-C50C-407E-A947-70E740481C1C}">
                <a14:useLocalDpi xmlns:a14="http://schemas.microsoft.com/office/drawing/2010/main" val="0"/>
              </a:ext>
            </a:extLst>
          </a:blip>
          <a:srcRect/>
          <a:stretch>
            <a:fillRect/>
          </a:stretch>
        </p:blipFill>
        <p:spPr>
          <a:xfrm>
            <a:off x="2411413" y="1052513"/>
            <a:ext cx="1484312" cy="2330450"/>
          </a:xfrm>
          <a:noFill/>
          <a:extLst>
            <a:ext uri="{909E8E84-426E-40DD-AFC4-6F175D3DCCD1}">
              <a14:hiddenFill xmlns:a14="http://schemas.microsoft.com/office/drawing/2010/main">
                <a:solidFill>
                  <a:srgbClr val="FFFFFF"/>
                </a:solidFill>
              </a14:hiddenFill>
            </a:ext>
          </a:extLst>
        </p:spPr>
      </p:pic>
      <p:pic>
        <p:nvPicPr>
          <p:cNvPr id="31749" name="Picture 4" descr="j0240719"/>
          <p:cNvPicPr>
            <a:picLocks noGrp="1" noChangeAspect="1" noChangeArrowheads="1"/>
          </p:cNvPicPr>
          <p:nvPr>
            <p:ph sz="quarter" idx="3"/>
          </p:nvPr>
        </p:nvPicPr>
        <p:blipFill>
          <a:blip r:embed="rId2" cstate="print">
            <a:extLst>
              <a:ext uri="{28A0092B-C50C-407E-A947-70E740481C1C}">
                <a14:useLocalDpi xmlns:a14="http://schemas.microsoft.com/office/drawing/2010/main" val="0"/>
              </a:ext>
            </a:extLst>
          </a:blip>
          <a:srcRect/>
          <a:stretch>
            <a:fillRect/>
          </a:stretch>
        </p:blipFill>
        <p:spPr>
          <a:xfrm>
            <a:off x="6083300" y="2032000"/>
            <a:ext cx="933450" cy="1466850"/>
          </a:xfrm>
          <a:noFill/>
          <a:extLst>
            <a:ext uri="{909E8E84-426E-40DD-AFC4-6F175D3DCCD1}">
              <a14:hiddenFill xmlns:a14="http://schemas.microsoft.com/office/drawing/2010/main">
                <a:solidFill>
                  <a:srgbClr val="FFFFFF"/>
                </a:solidFill>
              </a14:hiddenFill>
            </a:ext>
          </a:extLst>
        </p:spPr>
      </p:pic>
      <p:pic>
        <p:nvPicPr>
          <p:cNvPr id="272389" name="Picture 5" descr="j0240719"/>
          <p:cNvPicPr>
            <a:picLocks noGrp="1" noChangeAspect="1" noChangeArrowheads="1"/>
          </p:cNvPicPr>
          <p:nvPr>
            <p:ph sz="quarter" idx="4"/>
          </p:nvPr>
        </p:nvPicPr>
        <p:blipFill>
          <a:blip r:embed="rId2" cstate="print">
            <a:extLst>
              <a:ext uri="{28A0092B-C50C-407E-A947-70E740481C1C}">
                <a14:useLocalDpi xmlns:a14="http://schemas.microsoft.com/office/drawing/2010/main" val="0"/>
              </a:ext>
            </a:extLst>
          </a:blip>
          <a:srcRect/>
          <a:stretch>
            <a:fillRect/>
          </a:stretch>
        </p:blipFill>
        <p:spPr>
          <a:xfrm>
            <a:off x="7319963" y="1339850"/>
            <a:ext cx="1284287" cy="2016125"/>
          </a:xfrm>
          <a:noFill/>
          <a:extLst>
            <a:ext uri="{909E8E84-426E-40DD-AFC4-6F175D3DCCD1}">
              <a14:hiddenFill xmlns:a14="http://schemas.microsoft.com/office/drawing/2010/main">
                <a:solidFill>
                  <a:srgbClr val="FFFFFF"/>
                </a:solidFill>
              </a14:hiddenFill>
            </a:ext>
          </a:extLst>
        </p:spPr>
      </p:pic>
      <p:pic>
        <p:nvPicPr>
          <p:cNvPr id="31751" name="Picture 6" descr="j024071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5288" y="836613"/>
            <a:ext cx="1622425" cy="254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2391" name="Arc 7"/>
          <p:cNvSpPr>
            <a:spLocks/>
          </p:cNvSpPr>
          <p:nvPr/>
        </p:nvSpPr>
        <p:spPr bwMode="auto">
          <a:xfrm rot="2418144" flipV="1">
            <a:off x="5218113" y="2997200"/>
            <a:ext cx="936625" cy="8636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
            <a:solidFill>
              <a:schemeClr val="tx1"/>
            </a:solidFill>
            <a:round/>
            <a:headEnd type="triangle" w="sm" len="lg"/>
            <a:tailEnd type="triangle" w="sm" len="lg"/>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272392" name="Arc 8"/>
          <p:cNvSpPr>
            <a:spLocks/>
          </p:cNvSpPr>
          <p:nvPr/>
        </p:nvSpPr>
        <p:spPr bwMode="auto">
          <a:xfrm rot="2418144" flipV="1">
            <a:off x="5075238" y="2486025"/>
            <a:ext cx="2398712" cy="1766888"/>
          </a:xfrm>
          <a:custGeom>
            <a:avLst/>
            <a:gdLst>
              <a:gd name="G0" fmla="+- 0 0 0"/>
              <a:gd name="G1" fmla="+- 21433 0 0"/>
              <a:gd name="G2" fmla="+- 21600 0 0"/>
              <a:gd name="T0" fmla="*/ 2684 w 21600"/>
              <a:gd name="T1" fmla="*/ 0 h 21433"/>
              <a:gd name="T2" fmla="*/ 21600 w 21600"/>
              <a:gd name="T3" fmla="*/ 21433 h 21433"/>
              <a:gd name="T4" fmla="*/ 0 w 21600"/>
              <a:gd name="T5" fmla="*/ 21433 h 21433"/>
            </a:gdLst>
            <a:ahLst/>
            <a:cxnLst>
              <a:cxn ang="0">
                <a:pos x="T0" y="T1"/>
              </a:cxn>
              <a:cxn ang="0">
                <a:pos x="T2" y="T3"/>
              </a:cxn>
              <a:cxn ang="0">
                <a:pos x="T4" y="T5"/>
              </a:cxn>
            </a:cxnLst>
            <a:rect l="0" t="0" r="r" b="b"/>
            <a:pathLst>
              <a:path w="21600" h="21433" fill="none" extrusionOk="0">
                <a:moveTo>
                  <a:pt x="2683" y="0"/>
                </a:moveTo>
                <a:cubicBezTo>
                  <a:pt x="13491" y="1353"/>
                  <a:pt x="21600" y="10541"/>
                  <a:pt x="21600" y="21433"/>
                </a:cubicBezTo>
              </a:path>
              <a:path w="21600" h="21433" stroke="0" extrusionOk="0">
                <a:moveTo>
                  <a:pt x="2683" y="0"/>
                </a:moveTo>
                <a:cubicBezTo>
                  <a:pt x="13491" y="1353"/>
                  <a:pt x="21600" y="10541"/>
                  <a:pt x="21600" y="21433"/>
                </a:cubicBezTo>
                <a:lnTo>
                  <a:pt x="0" y="21433"/>
                </a:lnTo>
                <a:close/>
              </a:path>
            </a:pathLst>
          </a:custGeom>
          <a:noFill/>
          <a:ln w="12700">
            <a:solidFill>
              <a:schemeClr val="tx1"/>
            </a:solidFill>
            <a:round/>
            <a:headEnd type="triangle" w="sm" len="lg"/>
            <a:tailEnd type="triangle" w="sm" len="lg"/>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pic>
        <p:nvPicPr>
          <p:cNvPr id="272403" name="Picture 19" descr="j024071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40613" y="4405313"/>
            <a:ext cx="1163637" cy="182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2404" name="Picture 20" descr="j024071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11413" y="3902075"/>
            <a:ext cx="1484312" cy="233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2405" name="Picture 21" descr="j024071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83300" y="4740275"/>
            <a:ext cx="933450" cy="146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2407" name="Picture 23" descr="j024071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5288" y="3686175"/>
            <a:ext cx="1622425" cy="254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2408" name="Arc 24"/>
          <p:cNvSpPr>
            <a:spLocks/>
          </p:cNvSpPr>
          <p:nvPr/>
        </p:nvSpPr>
        <p:spPr bwMode="auto">
          <a:xfrm rot="2418144" flipV="1">
            <a:off x="6802438" y="5846763"/>
            <a:ext cx="936625" cy="8636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
            <a:solidFill>
              <a:schemeClr val="tx1"/>
            </a:solidFill>
            <a:round/>
            <a:headEnd type="triangle" w="sm" len="lg"/>
            <a:tailEnd type="triangle" w="sm" len="lg"/>
          </a:ln>
          <a:effectLst/>
        </p:spPr>
        <p:txBody>
          <a:bodyPr wrap="none" anchor="ctr"/>
          <a:lstStyle/>
          <a:p>
            <a:pPr>
              <a:defRPr/>
            </a:pPr>
            <a:endParaRPr lang="zh-CN" altLang="en-US">
              <a:effectLst>
                <a:outerShdw blurRad="38100" dist="38100" dir="2700000" algn="tl">
                  <a:srgbClr val="C0C0C0"/>
                </a:outerShdw>
              </a:effectLst>
              <a:ea typeface="宋体" pitchFamily="2" charset="-122"/>
            </a:endParaRPr>
          </a:p>
        </p:txBody>
      </p:sp>
      <p:sp>
        <p:nvSpPr>
          <p:cNvPr id="272410" name="Rectangle 26"/>
          <p:cNvSpPr>
            <a:spLocks noGrp="1" noChangeArrowheads="1"/>
          </p:cNvSpPr>
          <p:nvPr>
            <p:ph type="title"/>
          </p:nvPr>
        </p:nvSpPr>
        <p:spPr>
          <a:xfrm>
            <a:off x="3563888" y="188913"/>
            <a:ext cx="5184825" cy="839787"/>
          </a:xfrm>
        </p:spPr>
        <p:txBody>
          <a:bodyPr/>
          <a:lstStyle/>
          <a:p>
            <a:pPr>
              <a:defRPr/>
            </a:pPr>
            <a:r>
              <a:rPr lang="zh-CN" altLang="en-US" dirty="0"/>
              <a:t>交换法排序</a:t>
            </a:r>
          </a:p>
        </p:txBody>
      </p:sp>
    </p:spTree>
    <p:extLst>
      <p:ext uri="{BB962C8B-B14F-4D97-AF65-F5344CB8AC3E}">
        <p14:creationId xmlns:p14="http://schemas.microsoft.com/office/powerpoint/2010/main" val="74311372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239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272391"/>
                                        </p:tgtEl>
                                        <p:attrNameLst>
                                          <p:attrName>style.visibility</p:attrName>
                                        </p:attrNameLst>
                                      </p:cBhvr>
                                      <p:to>
                                        <p:strVal val="hidden"/>
                                      </p:to>
                                    </p:set>
                                  </p:childTnLst>
                                </p:cTn>
                              </p:par>
                            </p:childTnLst>
                          </p:cTn>
                        </p:par>
                        <p:par>
                          <p:cTn id="11" fill="hold" nodeType="afterGroup">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272392"/>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xit" presetSubtype="0" fill="hold" grpId="1" nodeType="clickEffect">
                                  <p:stCondLst>
                                    <p:cond delay="0"/>
                                  </p:stCondLst>
                                  <p:childTnLst>
                                    <p:set>
                                      <p:cBhvr>
                                        <p:cTn id="17" dur="1" fill="hold">
                                          <p:stCondLst>
                                            <p:cond delay="0"/>
                                          </p:stCondLst>
                                        </p:cTn>
                                        <p:tgtEl>
                                          <p:spTgt spid="272392"/>
                                        </p:tgtEl>
                                        <p:attrNameLst>
                                          <p:attrName>style.visibility</p:attrName>
                                        </p:attrNameLst>
                                      </p:cBhvr>
                                      <p:to>
                                        <p:strVal val="hidden"/>
                                      </p:to>
                                    </p:set>
                                  </p:childTnLst>
                                </p:cTn>
                              </p:par>
                            </p:childTnLst>
                          </p:cTn>
                        </p:par>
                        <p:par>
                          <p:cTn id="18" fill="hold" nodeType="afterGroup">
                            <p:stCondLst>
                              <p:cond delay="0"/>
                            </p:stCondLst>
                            <p:childTnLst>
                              <p:par>
                                <p:cTn id="19" presetID="35" presetClass="path" presetSubtype="0" accel="50000" decel="50000" fill="hold" nodeType="afterEffect">
                                  <p:stCondLst>
                                    <p:cond delay="0"/>
                                  </p:stCondLst>
                                  <p:childTnLst>
                                    <p:animMotion origin="layout" path="M 3.88889E-6 1.48148E-6 L -0.33924 0.00023 " pathEditMode="relative" rAng="0" ptsTypes="AA">
                                      <p:cBhvr>
                                        <p:cTn id="20" dur="2000" fill="hold"/>
                                        <p:tgtEl>
                                          <p:spTgt spid="272389"/>
                                        </p:tgtEl>
                                        <p:attrNameLst>
                                          <p:attrName>ppt_x</p:attrName>
                                          <p:attrName>ppt_y</p:attrName>
                                        </p:attrNameLst>
                                      </p:cBhvr>
                                      <p:rCtr x="-16962" y="0"/>
                                    </p:animMotion>
                                  </p:childTnLst>
                                </p:cTn>
                              </p:par>
                            </p:childTnLst>
                          </p:cTn>
                        </p:par>
                        <p:par>
                          <p:cTn id="21" fill="hold" nodeType="afterGroup">
                            <p:stCondLst>
                              <p:cond delay="2000"/>
                            </p:stCondLst>
                            <p:childTnLst>
                              <p:par>
                                <p:cTn id="22" presetID="63" presetClass="path" presetSubtype="0" accel="50000" decel="50000" fill="hold" nodeType="afterEffect">
                                  <p:stCondLst>
                                    <p:cond delay="0"/>
                                  </p:stCondLst>
                                  <p:childTnLst>
                                    <p:animMotion origin="layout" path="M 0.00069 -0.00347 L 0.33211 0.00023 " pathEditMode="relative" rAng="0" ptsTypes="AA">
                                      <p:cBhvr>
                                        <p:cTn id="23" dur="2000" fill="hold"/>
                                        <p:tgtEl>
                                          <p:spTgt spid="272386"/>
                                        </p:tgtEl>
                                        <p:attrNameLst>
                                          <p:attrName>ppt_x</p:attrName>
                                          <p:attrName>ppt_y</p:attrName>
                                        </p:attrNameLst>
                                      </p:cBhvr>
                                      <p:rCtr x="16563" y="185"/>
                                    </p:animMotion>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nodeType="clickEffect">
                                  <p:stCondLst>
                                    <p:cond delay="0"/>
                                  </p:stCondLst>
                                  <p:childTnLst>
                                    <p:set>
                                      <p:cBhvr>
                                        <p:cTn id="27" dur="1" fill="hold">
                                          <p:stCondLst>
                                            <p:cond delay="0"/>
                                          </p:stCondLst>
                                        </p:cTn>
                                        <p:tgtEl>
                                          <p:spTgt spid="272407"/>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272404"/>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272406"/>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272405"/>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272403"/>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272408"/>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nodeType="withGroup">
                            <p:stCondLst>
                              <p:cond delay="0"/>
                            </p:stCondLst>
                            <p:childTnLst>
                              <p:par>
                                <p:cTn id="42" presetID="1" presetClass="exit" presetSubtype="0" fill="hold" grpId="1" nodeType="clickEffect">
                                  <p:stCondLst>
                                    <p:cond delay="0"/>
                                  </p:stCondLst>
                                  <p:childTnLst>
                                    <p:set>
                                      <p:cBhvr>
                                        <p:cTn id="43" dur="1" fill="hold">
                                          <p:stCondLst>
                                            <p:cond delay="0"/>
                                          </p:stCondLst>
                                        </p:cTn>
                                        <p:tgtEl>
                                          <p:spTgt spid="272408"/>
                                        </p:tgtEl>
                                        <p:attrNameLst>
                                          <p:attrName>style.visibility</p:attrName>
                                        </p:attrNameLst>
                                      </p:cBhvr>
                                      <p:to>
                                        <p:strVal val="hidden"/>
                                      </p:to>
                                    </p:set>
                                  </p:childTnLst>
                                </p:cTn>
                              </p:par>
                            </p:childTnLst>
                          </p:cTn>
                        </p:par>
                        <p:par>
                          <p:cTn id="44" fill="hold" nodeType="afterGroup">
                            <p:stCondLst>
                              <p:cond delay="0"/>
                            </p:stCondLst>
                            <p:childTnLst>
                              <p:par>
                                <p:cTn id="45" presetID="35" presetClass="path" presetSubtype="0" accel="50000" decel="50000" fill="hold" nodeType="afterEffect">
                                  <p:stCondLst>
                                    <p:cond delay="0"/>
                                  </p:stCondLst>
                                  <p:childTnLst>
                                    <p:animMotion origin="layout" path="M -3.33333E-6 -3.7037E-7 L -0.16475 -0.00231 " pathEditMode="relative" rAng="0" ptsTypes="AA">
                                      <p:cBhvr>
                                        <p:cTn id="46" dur="2000" fill="hold"/>
                                        <p:tgtEl>
                                          <p:spTgt spid="272403"/>
                                        </p:tgtEl>
                                        <p:attrNameLst>
                                          <p:attrName>ppt_x</p:attrName>
                                          <p:attrName>ppt_y</p:attrName>
                                        </p:attrNameLst>
                                      </p:cBhvr>
                                      <p:rCtr x="-8247" y="-116"/>
                                    </p:animMotion>
                                  </p:childTnLst>
                                </p:cTn>
                              </p:par>
                            </p:childTnLst>
                          </p:cTn>
                        </p:par>
                        <p:par>
                          <p:cTn id="47" fill="hold" nodeType="afterGroup">
                            <p:stCondLst>
                              <p:cond delay="2000"/>
                            </p:stCondLst>
                            <p:childTnLst>
                              <p:par>
                                <p:cTn id="48" presetID="63" presetClass="path" presetSubtype="0" accel="50000" decel="50000" fill="hold" nodeType="afterEffect">
                                  <p:stCondLst>
                                    <p:cond delay="0"/>
                                  </p:stCondLst>
                                  <p:childTnLst>
                                    <p:animMotion origin="layout" path="M -0.00382 -0.00417 L 0.16562 0.00231 " pathEditMode="relative" rAng="0" ptsTypes="AA">
                                      <p:cBhvr>
                                        <p:cTn id="49" dur="2000" fill="hold"/>
                                        <p:tgtEl>
                                          <p:spTgt spid="272405"/>
                                        </p:tgtEl>
                                        <p:attrNameLst>
                                          <p:attrName>ppt_x</p:attrName>
                                          <p:attrName>ppt_y</p:attrName>
                                        </p:attrNameLst>
                                      </p:cBhvr>
                                      <p:rCtr x="8472" y="32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2391" grpId="0" animBg="1"/>
      <p:bldP spid="272391" grpId="1" animBg="1"/>
      <p:bldP spid="272392" grpId="0" animBg="1"/>
      <p:bldP spid="272392" grpId="1" animBg="1"/>
      <p:bldP spid="272408" grpId="0" animBg="1"/>
      <p:bldP spid="272408" grpId="1"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t>交换法从高到低排序</a:t>
            </a:r>
          </a:p>
        </p:txBody>
      </p:sp>
      <p:sp>
        <p:nvSpPr>
          <p:cNvPr id="34819" name="Rectangle 13"/>
          <p:cNvSpPr txBox="1">
            <a:spLocks noChangeArrowheads="1"/>
          </p:cNvSpPr>
          <p:nvPr/>
        </p:nvSpPr>
        <p:spPr bwMode="auto">
          <a:xfrm>
            <a:off x="1038385" y="2132856"/>
            <a:ext cx="7699375" cy="4510832"/>
          </a:xfrm>
          <a:prstGeom prst="rect">
            <a:avLst/>
          </a:prstGeom>
          <a:solidFill>
            <a:srgbClr val="FFFFCC"/>
          </a:solidFill>
          <a:ln w="38100">
            <a:solidFill>
              <a:srgbClr val="000080"/>
            </a:solidFill>
            <a:miter lim="800000"/>
            <a:headEnd/>
            <a:tailEnd/>
          </a:ln>
        </p:spPr>
        <p:txBody>
          <a:bodyPr lIns="92075" tIns="46037" rIns="92075" bIns="46037"/>
          <a:lstStyle>
            <a:lvl1pPr marL="374650" indent="-374650">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l" eaLnBrk="1">
              <a:lnSpc>
                <a:spcPct val="85000"/>
              </a:lnSpc>
              <a:spcBef>
                <a:spcPct val="20000"/>
              </a:spcBef>
              <a:buClr>
                <a:srgbClr val="FFCC66"/>
              </a:buClr>
              <a:buSzPct val="80000"/>
            </a:pPr>
            <a:r>
              <a:rPr lang="fr-FR" altLang="zh-CN" sz="2000" b="1" dirty="0">
                <a:solidFill>
                  <a:srgbClr val="000066"/>
                </a:solidFill>
                <a:effectLst/>
                <a:latin typeface="Courier New" pitchFamily="49" charset="0"/>
                <a:ea typeface="宋体" pitchFamily="2" charset="-122"/>
              </a:rPr>
              <a:t>	for (i=0; i&lt;n-1; i++)</a:t>
            </a:r>
          </a:p>
          <a:p>
            <a:pPr algn="l" eaLnBrk="1">
              <a:lnSpc>
                <a:spcPct val="85000"/>
              </a:lnSpc>
              <a:spcBef>
                <a:spcPct val="20000"/>
              </a:spcBef>
              <a:buClr>
                <a:srgbClr val="FFCC66"/>
              </a:buClr>
              <a:buSzPct val="80000"/>
            </a:pPr>
            <a:r>
              <a:rPr lang="fr-FR" altLang="zh-CN" sz="2000" b="1" dirty="0">
                <a:solidFill>
                  <a:srgbClr val="000066"/>
                </a:solidFill>
                <a:effectLst/>
                <a:latin typeface="Courier New" pitchFamily="49" charset="0"/>
                <a:ea typeface="宋体" pitchFamily="2" charset="-122"/>
              </a:rPr>
              <a:t>	{</a:t>
            </a:r>
          </a:p>
          <a:p>
            <a:pPr algn="l" eaLnBrk="1">
              <a:lnSpc>
                <a:spcPct val="85000"/>
              </a:lnSpc>
              <a:spcBef>
                <a:spcPct val="20000"/>
              </a:spcBef>
              <a:buClr>
                <a:srgbClr val="FFCC66"/>
              </a:buClr>
              <a:buSzPct val="80000"/>
            </a:pPr>
            <a:r>
              <a:rPr lang="fr-FR" altLang="zh-CN" sz="2000" b="1" dirty="0">
                <a:solidFill>
                  <a:srgbClr val="000066"/>
                </a:solidFill>
                <a:effectLst/>
                <a:latin typeface="Courier New" pitchFamily="49" charset="0"/>
                <a:ea typeface="宋体" pitchFamily="2" charset="-122"/>
              </a:rPr>
              <a:t>		for (j=i+1; j&lt;n; j++)                </a:t>
            </a:r>
          </a:p>
          <a:p>
            <a:pPr algn="l" eaLnBrk="1">
              <a:lnSpc>
                <a:spcPct val="85000"/>
              </a:lnSpc>
              <a:spcBef>
                <a:spcPct val="20000"/>
              </a:spcBef>
              <a:buClr>
                <a:srgbClr val="FFCC66"/>
              </a:buClr>
              <a:buSzPct val="80000"/>
            </a:pPr>
            <a:r>
              <a:rPr lang="fr-FR" altLang="zh-CN" sz="2000" b="1" dirty="0">
                <a:solidFill>
                  <a:srgbClr val="000066"/>
                </a:solidFill>
                <a:effectLst/>
                <a:latin typeface="Courier New" pitchFamily="49" charset="0"/>
                <a:ea typeface="宋体" pitchFamily="2" charset="-122"/>
              </a:rPr>
              <a:t>		{</a:t>
            </a:r>
          </a:p>
          <a:p>
            <a:pPr algn="l" eaLnBrk="1">
              <a:lnSpc>
                <a:spcPct val="85000"/>
              </a:lnSpc>
              <a:spcBef>
                <a:spcPct val="20000"/>
              </a:spcBef>
              <a:buClr>
                <a:srgbClr val="FFCC66"/>
              </a:buClr>
              <a:buSzPct val="80000"/>
            </a:pPr>
            <a:r>
              <a:rPr lang="fr-FR" altLang="zh-CN" sz="2000" b="1" dirty="0">
                <a:solidFill>
                  <a:srgbClr val="000066"/>
                </a:solidFill>
                <a:effectLst/>
                <a:latin typeface="Courier New" pitchFamily="49" charset="0"/>
                <a:ea typeface="宋体" pitchFamily="2" charset="-122"/>
              </a:rPr>
              <a:t>		    if (score[j] &gt; score[i]) /*</a:t>
            </a:r>
            <a:r>
              <a:rPr lang="zh-CN" altLang="en-US" sz="2000" b="1" dirty="0">
                <a:solidFill>
                  <a:srgbClr val="000066"/>
                </a:solidFill>
                <a:effectLst/>
                <a:latin typeface="Courier New" pitchFamily="49" charset="0"/>
                <a:ea typeface="宋体" pitchFamily="2" charset="-122"/>
              </a:rPr>
              <a:t>从高到低*</a:t>
            </a:r>
            <a:r>
              <a:rPr lang="en-US" altLang="zh-CN" sz="2000" b="1" dirty="0">
                <a:solidFill>
                  <a:srgbClr val="000066"/>
                </a:solidFill>
                <a:effectLst/>
                <a:latin typeface="Courier New" pitchFamily="49" charset="0"/>
                <a:ea typeface="宋体" pitchFamily="2" charset="-122"/>
              </a:rPr>
              <a:t>/</a:t>
            </a:r>
          </a:p>
          <a:p>
            <a:pPr algn="l" eaLnBrk="1">
              <a:lnSpc>
                <a:spcPct val="85000"/>
              </a:lnSpc>
              <a:spcBef>
                <a:spcPct val="20000"/>
              </a:spcBef>
              <a:buClr>
                <a:srgbClr val="FFCC66"/>
              </a:buClr>
              <a:buSzPct val="80000"/>
            </a:pPr>
            <a:r>
              <a:rPr lang="en-US" altLang="zh-CN" sz="2000" b="1" dirty="0">
                <a:solidFill>
                  <a:srgbClr val="000066"/>
                </a:solidFill>
                <a:effectLst/>
                <a:latin typeface="Courier New" pitchFamily="49" charset="0"/>
                <a:ea typeface="宋体" pitchFamily="2" charset="-122"/>
              </a:rPr>
              <a:t>		    {    </a:t>
            </a:r>
          </a:p>
          <a:p>
            <a:pPr algn="l" eaLnBrk="1">
              <a:lnSpc>
                <a:spcPct val="85000"/>
              </a:lnSpc>
              <a:spcBef>
                <a:spcPct val="20000"/>
              </a:spcBef>
              <a:buClr>
                <a:srgbClr val="FFCC66"/>
              </a:buClr>
              <a:buSzPct val="80000"/>
            </a:pPr>
            <a:r>
              <a:rPr lang="en-US" altLang="zh-CN" sz="2000" b="1" dirty="0">
                <a:solidFill>
                  <a:srgbClr val="000066"/>
                </a:solidFill>
                <a:effectLst/>
                <a:latin typeface="Courier New" pitchFamily="49" charset="0"/>
                <a:ea typeface="宋体" pitchFamily="2" charset="-122"/>
              </a:rPr>
              <a:t>			 </a:t>
            </a:r>
            <a:r>
              <a:rPr lang="fr-FR" altLang="zh-CN" sz="2000" b="1" dirty="0">
                <a:solidFill>
                  <a:srgbClr val="000066"/>
                </a:solidFill>
                <a:effectLst/>
                <a:latin typeface="Courier New" pitchFamily="49" charset="0"/>
                <a:ea typeface="宋体" pitchFamily="2" charset="-122"/>
              </a:rPr>
              <a:t>temp = score[j];</a:t>
            </a:r>
          </a:p>
          <a:p>
            <a:pPr algn="l" eaLnBrk="1">
              <a:lnSpc>
                <a:spcPct val="85000"/>
              </a:lnSpc>
              <a:spcBef>
                <a:spcPct val="20000"/>
              </a:spcBef>
              <a:buClr>
                <a:srgbClr val="FFCC66"/>
              </a:buClr>
              <a:buSzPct val="80000"/>
            </a:pPr>
            <a:r>
              <a:rPr lang="fr-FR" altLang="zh-CN" sz="2000" b="1" dirty="0">
                <a:solidFill>
                  <a:srgbClr val="000066"/>
                </a:solidFill>
                <a:effectLst/>
                <a:latin typeface="Courier New" pitchFamily="49" charset="0"/>
                <a:ea typeface="宋体" pitchFamily="2" charset="-122"/>
              </a:rPr>
              <a:t>			 score[j] = score[i];  </a:t>
            </a:r>
          </a:p>
          <a:p>
            <a:pPr algn="l" eaLnBrk="1">
              <a:lnSpc>
                <a:spcPct val="85000"/>
              </a:lnSpc>
              <a:spcBef>
                <a:spcPct val="20000"/>
              </a:spcBef>
              <a:buClr>
                <a:srgbClr val="FFCC66"/>
              </a:buClr>
              <a:buSzPct val="80000"/>
            </a:pPr>
            <a:r>
              <a:rPr lang="fr-FR" altLang="zh-CN" sz="2000" b="1" dirty="0">
                <a:solidFill>
                  <a:srgbClr val="000066"/>
                </a:solidFill>
                <a:effectLst/>
                <a:latin typeface="Courier New" pitchFamily="49" charset="0"/>
                <a:ea typeface="宋体" pitchFamily="2" charset="-122"/>
              </a:rPr>
              <a:t>			 score[i] = temp;</a:t>
            </a:r>
          </a:p>
          <a:p>
            <a:pPr algn="l" eaLnBrk="1">
              <a:lnSpc>
                <a:spcPct val="85000"/>
              </a:lnSpc>
              <a:spcBef>
                <a:spcPct val="20000"/>
              </a:spcBef>
              <a:buClr>
                <a:srgbClr val="FFCC66"/>
              </a:buClr>
              <a:buSzPct val="80000"/>
            </a:pPr>
            <a:r>
              <a:rPr lang="fr-FR" altLang="zh-CN" sz="2000" b="1" dirty="0">
                <a:solidFill>
                  <a:srgbClr val="000066"/>
                </a:solidFill>
                <a:effectLst/>
                <a:latin typeface="Courier New" pitchFamily="49" charset="0"/>
                <a:ea typeface="宋体" pitchFamily="2" charset="-122"/>
              </a:rPr>
              <a:t>		    }  </a:t>
            </a:r>
          </a:p>
          <a:p>
            <a:pPr algn="l" eaLnBrk="1">
              <a:lnSpc>
                <a:spcPct val="85000"/>
              </a:lnSpc>
              <a:spcBef>
                <a:spcPct val="20000"/>
              </a:spcBef>
              <a:buClr>
                <a:srgbClr val="FFCC66"/>
              </a:buClr>
              <a:buSzPct val="80000"/>
            </a:pPr>
            <a:r>
              <a:rPr lang="fr-FR" altLang="zh-CN" sz="2000" b="1" dirty="0">
                <a:solidFill>
                  <a:srgbClr val="000066"/>
                </a:solidFill>
                <a:effectLst/>
                <a:latin typeface="Courier New" pitchFamily="49" charset="0"/>
                <a:ea typeface="宋体" pitchFamily="2" charset="-122"/>
              </a:rPr>
              <a:t>		}  </a:t>
            </a:r>
          </a:p>
          <a:p>
            <a:pPr algn="l" eaLnBrk="1">
              <a:lnSpc>
                <a:spcPct val="85000"/>
              </a:lnSpc>
              <a:spcBef>
                <a:spcPct val="20000"/>
              </a:spcBef>
              <a:buClr>
                <a:srgbClr val="FFCC66"/>
              </a:buClr>
              <a:buSzPct val="80000"/>
            </a:pPr>
            <a:r>
              <a:rPr lang="fr-FR" altLang="zh-CN" sz="2000" b="1" dirty="0">
                <a:solidFill>
                  <a:srgbClr val="000066"/>
                </a:solidFill>
                <a:effectLst/>
                <a:latin typeface="Courier New" pitchFamily="49" charset="0"/>
                <a:ea typeface="宋体" pitchFamily="2" charset="-122"/>
              </a:rPr>
              <a:t>	}  </a:t>
            </a:r>
          </a:p>
          <a:p>
            <a:pPr algn="l" eaLnBrk="1">
              <a:lnSpc>
                <a:spcPct val="85000"/>
              </a:lnSpc>
              <a:spcBef>
                <a:spcPct val="20000"/>
              </a:spcBef>
              <a:buClr>
                <a:srgbClr val="FFCC66"/>
              </a:buClr>
              <a:buSzPct val="80000"/>
            </a:pPr>
            <a:endParaRPr lang="zh-CN" altLang="en-US" sz="2000" b="1" dirty="0">
              <a:solidFill>
                <a:srgbClr val="000066"/>
              </a:solidFill>
              <a:effectLst/>
              <a:latin typeface="Courier New" pitchFamily="49" charset="0"/>
              <a:ea typeface="宋体" pitchFamily="2" charset="-122"/>
            </a:endParaRPr>
          </a:p>
        </p:txBody>
      </p:sp>
    </p:spTree>
    <p:extLst>
      <p:ext uri="{BB962C8B-B14F-4D97-AF65-F5344CB8AC3E}">
        <p14:creationId xmlns:p14="http://schemas.microsoft.com/office/powerpoint/2010/main" val="627100883"/>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8778A2-4BAC-50E4-64E4-1459606AB8D4}"/>
              </a:ext>
            </a:extLst>
          </p:cNvPr>
          <p:cNvSpPr>
            <a:spLocks noGrp="1"/>
          </p:cNvSpPr>
          <p:nvPr>
            <p:ph type="title"/>
          </p:nvPr>
        </p:nvSpPr>
        <p:spPr/>
        <p:txBody>
          <a:bodyPr/>
          <a:lstStyle/>
          <a:p>
            <a:r>
              <a:rPr lang="en-US" altLang="zh-CN" dirty="0"/>
              <a:t> </a:t>
            </a:r>
            <a:r>
              <a:rPr lang="zh-CN" altLang="en-US" dirty="0"/>
              <a:t>非比较排序：</a:t>
            </a:r>
            <a:r>
              <a:rPr lang="en-US" altLang="zh-CN"/>
              <a:t/>
            </a:r>
            <a:br>
              <a:rPr lang="en-US" altLang="zh-CN"/>
            </a:br>
            <a:r>
              <a:rPr lang="en-US" altLang="zh-CN"/>
              <a:t>       </a:t>
            </a:r>
            <a:r>
              <a:rPr lang="zh-CN" altLang="en-US"/>
              <a:t>计数</a:t>
            </a:r>
            <a:r>
              <a:rPr lang="zh-CN" altLang="en-US" dirty="0"/>
              <a:t>排序（</a:t>
            </a:r>
            <a:r>
              <a:rPr lang="en-US" altLang="zh-CN" dirty="0"/>
              <a:t>counting sort</a:t>
            </a:r>
            <a:r>
              <a:rPr lang="zh-CN" altLang="en-US" dirty="0"/>
              <a:t>）</a:t>
            </a:r>
          </a:p>
        </p:txBody>
      </p:sp>
      <p:sp>
        <p:nvSpPr>
          <p:cNvPr id="3" name="内容占位符 2">
            <a:extLst>
              <a:ext uri="{FF2B5EF4-FFF2-40B4-BE49-F238E27FC236}">
                <a16:creationId xmlns:a16="http://schemas.microsoft.com/office/drawing/2014/main" id="{6013821B-0693-B4BB-CA90-A2C8FE99FDF5}"/>
              </a:ext>
            </a:extLst>
          </p:cNvPr>
          <p:cNvSpPr>
            <a:spLocks noGrp="1"/>
          </p:cNvSpPr>
          <p:nvPr>
            <p:ph idx="1"/>
          </p:nvPr>
        </p:nvSpPr>
        <p:spPr/>
        <p:txBody>
          <a:bodyPr/>
          <a:lstStyle/>
          <a:p>
            <a:r>
              <a:rPr lang="zh-CN" altLang="en-US" dirty="0"/>
              <a:t>适用于已知待排序数组中元素取值范围的情况</a:t>
            </a:r>
            <a:endParaRPr lang="en-US" altLang="zh-CN" dirty="0"/>
          </a:p>
          <a:p>
            <a:r>
              <a:rPr lang="zh-CN" altLang="en-US" dirty="0"/>
              <a:t>且假定取值范围比实际的值个数少很多</a:t>
            </a:r>
            <a:endParaRPr lang="en-US" altLang="zh-CN" dirty="0"/>
          </a:p>
          <a:p>
            <a:r>
              <a:rPr lang="zh-CN" altLang="en-US" dirty="0"/>
              <a:t>比如</a:t>
            </a:r>
            <a:r>
              <a:rPr lang="en-US" altLang="zh-CN" dirty="0" smtClean="0"/>
              <a:t>10,000</a:t>
            </a:r>
            <a:r>
              <a:rPr lang="zh-CN" altLang="en-US" dirty="0"/>
              <a:t>个学生，按照年龄排序</a:t>
            </a:r>
            <a:endParaRPr lang="en-US" altLang="zh-CN" dirty="0"/>
          </a:p>
        </p:txBody>
      </p:sp>
      <p:sp>
        <p:nvSpPr>
          <p:cNvPr id="4" name="灯片编号占位符 3">
            <a:extLst>
              <a:ext uri="{FF2B5EF4-FFF2-40B4-BE49-F238E27FC236}">
                <a16:creationId xmlns:a16="http://schemas.microsoft.com/office/drawing/2014/main" id="{6AE122FA-3936-B872-EA37-FDD16497C1BC}"/>
              </a:ext>
            </a:extLst>
          </p:cNvPr>
          <p:cNvSpPr>
            <a:spLocks noGrp="1"/>
          </p:cNvSpPr>
          <p:nvPr>
            <p:ph type="sldNum" sz="quarter" idx="12"/>
          </p:nvPr>
        </p:nvSpPr>
        <p:spPr/>
        <p:txBody>
          <a:bodyPr/>
          <a:lstStyle/>
          <a:p>
            <a:pPr>
              <a:defRPr/>
            </a:pPr>
            <a:fld id="{5DCB0509-EBFA-4973-BBC1-64BDD304043B}" type="slidenum">
              <a:rPr lang="en-US" altLang="zh-CN" smtClean="0"/>
              <a:pPr>
                <a:defRPr/>
              </a:pPr>
              <a:t>54</a:t>
            </a:fld>
            <a:endParaRPr lang="en-US" altLang="zh-CN"/>
          </a:p>
        </p:txBody>
      </p:sp>
    </p:spTree>
    <p:extLst>
      <p:ext uri="{BB962C8B-B14F-4D97-AF65-F5344CB8AC3E}">
        <p14:creationId xmlns:p14="http://schemas.microsoft.com/office/powerpoint/2010/main" val="2953272309"/>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252CFED-5EA6-0449-45F5-D13415FF6458}"/>
              </a:ext>
            </a:extLst>
          </p:cNvPr>
          <p:cNvSpPr>
            <a:spLocks noGrp="1"/>
          </p:cNvSpPr>
          <p:nvPr>
            <p:ph idx="1"/>
          </p:nvPr>
        </p:nvSpPr>
        <p:spPr>
          <a:xfrm>
            <a:off x="457200" y="332656"/>
            <a:ext cx="8229600" cy="5991945"/>
          </a:xfrm>
        </p:spPr>
        <p:txBody>
          <a:bodyPr/>
          <a:lstStyle/>
          <a:p>
            <a:pPr marL="0" indent="0">
              <a:buNone/>
            </a:pPr>
            <a:r>
              <a:rPr lang="en-US" altLang="zh-CN" sz="1600" dirty="0"/>
              <a:t>#include &lt;</a:t>
            </a:r>
            <a:r>
              <a:rPr lang="en-US" altLang="zh-CN" sz="1600" dirty="0" err="1"/>
              <a:t>stdio.h</a:t>
            </a:r>
            <a:r>
              <a:rPr lang="en-US" altLang="zh-CN" sz="1600" dirty="0"/>
              <a:t>&gt;</a:t>
            </a:r>
          </a:p>
          <a:p>
            <a:pPr marL="0" indent="0">
              <a:buNone/>
            </a:pPr>
            <a:r>
              <a:rPr lang="en-US" altLang="zh-CN" sz="1600" dirty="0"/>
              <a:t>#define MAX 100</a:t>
            </a:r>
          </a:p>
          <a:p>
            <a:pPr marL="0" indent="0">
              <a:buNone/>
            </a:pPr>
            <a:endParaRPr lang="en-US" altLang="zh-CN" sz="1600" dirty="0"/>
          </a:p>
          <a:p>
            <a:pPr marL="0" indent="0">
              <a:buNone/>
            </a:pPr>
            <a:r>
              <a:rPr lang="en-US" altLang="zh-CN" sz="1600" dirty="0"/>
              <a:t>int main() {</a:t>
            </a:r>
          </a:p>
          <a:p>
            <a:pPr marL="0" indent="0">
              <a:buNone/>
            </a:pPr>
            <a:r>
              <a:rPr lang="en-US" altLang="zh-CN" sz="1600" dirty="0"/>
              <a:t>    int </a:t>
            </a:r>
            <a:r>
              <a:rPr lang="en-US" altLang="zh-CN" sz="1600" dirty="0" err="1"/>
              <a:t>arr</a:t>
            </a:r>
            <a:r>
              <a:rPr lang="en-US" altLang="zh-CN" sz="1600" dirty="0"/>
              <a:t>[] = {0, 1, 5, 4, 2, 2, 8, 3, 3, 1, 10, 100, 85, 32, 23, 77, 0};</a:t>
            </a:r>
          </a:p>
          <a:p>
            <a:pPr marL="0" indent="0">
              <a:buNone/>
            </a:pPr>
            <a:r>
              <a:rPr lang="en-US" altLang="zh-CN" sz="1600" dirty="0"/>
              <a:t>    int n = </a:t>
            </a:r>
            <a:r>
              <a:rPr lang="en-US" altLang="zh-CN" sz="1600" dirty="0" err="1"/>
              <a:t>sizeof</a:t>
            </a:r>
            <a:r>
              <a:rPr lang="en-US" altLang="zh-CN" sz="1600" dirty="0"/>
              <a:t>(</a:t>
            </a:r>
            <a:r>
              <a:rPr lang="en-US" altLang="zh-CN" sz="1600" dirty="0" err="1"/>
              <a:t>arr</a:t>
            </a:r>
            <a:r>
              <a:rPr lang="en-US" altLang="zh-CN" sz="1600" dirty="0"/>
              <a:t>) / </a:t>
            </a:r>
            <a:r>
              <a:rPr lang="en-US" altLang="zh-CN" sz="1600" dirty="0" err="1"/>
              <a:t>sizeof</a:t>
            </a:r>
            <a:r>
              <a:rPr lang="en-US" altLang="zh-CN" sz="1600" dirty="0"/>
              <a:t>(</a:t>
            </a:r>
            <a:r>
              <a:rPr lang="en-US" altLang="zh-CN" sz="1600" dirty="0" err="1"/>
              <a:t>arr</a:t>
            </a:r>
            <a:r>
              <a:rPr lang="en-US" altLang="zh-CN" sz="1600" dirty="0"/>
              <a:t>[0]);</a:t>
            </a:r>
          </a:p>
          <a:p>
            <a:pPr marL="0" indent="0">
              <a:buNone/>
            </a:pPr>
            <a:endParaRPr lang="en-US" altLang="zh-CN" sz="1600" dirty="0"/>
          </a:p>
          <a:p>
            <a:pPr marL="0" indent="0">
              <a:buNone/>
            </a:pPr>
            <a:r>
              <a:rPr lang="en-US" altLang="zh-CN" sz="1600" dirty="0"/>
              <a:t>    int count[MAX + 1] = {0};</a:t>
            </a:r>
          </a:p>
          <a:p>
            <a:pPr marL="0" indent="0">
              <a:buNone/>
            </a:pPr>
            <a:r>
              <a:rPr lang="en-US" altLang="zh-CN" sz="1600" dirty="0"/>
              <a:t>      // Count the occurrences of each element  </a:t>
            </a:r>
          </a:p>
          <a:p>
            <a:pPr marL="0" indent="0">
              <a:buNone/>
            </a:pPr>
            <a:r>
              <a:rPr lang="en-US" altLang="zh-CN" sz="1600" dirty="0"/>
              <a:t>    for (int </a:t>
            </a:r>
            <a:r>
              <a:rPr lang="en-US" altLang="zh-CN" sz="1600" dirty="0" err="1"/>
              <a:t>i</a:t>
            </a:r>
            <a:r>
              <a:rPr lang="en-US" altLang="zh-CN" sz="1600" dirty="0"/>
              <a:t> = 0; </a:t>
            </a:r>
            <a:r>
              <a:rPr lang="en-US" altLang="zh-CN" sz="1600" dirty="0" err="1"/>
              <a:t>i</a:t>
            </a:r>
            <a:r>
              <a:rPr lang="en-US" altLang="zh-CN" sz="1600" dirty="0"/>
              <a:t> &lt; n; </a:t>
            </a:r>
            <a:r>
              <a:rPr lang="en-US" altLang="zh-CN" sz="1600" dirty="0" err="1"/>
              <a:t>i</a:t>
            </a:r>
            <a:r>
              <a:rPr lang="en-US" altLang="zh-CN" sz="1600" dirty="0"/>
              <a:t>++) {  </a:t>
            </a:r>
          </a:p>
          <a:p>
            <a:pPr marL="0" indent="0">
              <a:buNone/>
            </a:pPr>
            <a:r>
              <a:rPr lang="en-US" altLang="zh-CN" sz="2000" b="1" dirty="0">
                <a:solidFill>
                  <a:srgbClr val="FF0000"/>
                </a:solidFill>
              </a:rPr>
              <a:t>        count[</a:t>
            </a:r>
            <a:r>
              <a:rPr lang="en-US" altLang="zh-CN" sz="2000" b="1" dirty="0" err="1">
                <a:solidFill>
                  <a:srgbClr val="FF0000"/>
                </a:solidFill>
              </a:rPr>
              <a:t>arr</a:t>
            </a:r>
            <a:r>
              <a:rPr lang="en-US" altLang="zh-CN" sz="2000" b="1" dirty="0">
                <a:solidFill>
                  <a:srgbClr val="FF0000"/>
                </a:solidFill>
              </a:rPr>
              <a:t>[</a:t>
            </a:r>
            <a:r>
              <a:rPr lang="en-US" altLang="zh-CN" sz="2000" b="1" dirty="0" err="1">
                <a:solidFill>
                  <a:srgbClr val="FF0000"/>
                </a:solidFill>
              </a:rPr>
              <a:t>i</a:t>
            </a:r>
            <a:r>
              <a:rPr lang="en-US" altLang="zh-CN" sz="2000" b="1" dirty="0">
                <a:solidFill>
                  <a:srgbClr val="FF0000"/>
                </a:solidFill>
              </a:rPr>
              <a:t>]]++;  </a:t>
            </a:r>
          </a:p>
          <a:p>
            <a:pPr marL="0" indent="0">
              <a:buNone/>
            </a:pPr>
            <a:r>
              <a:rPr lang="en-US" altLang="zh-CN" sz="1600" dirty="0"/>
              <a:t>    }  </a:t>
            </a:r>
          </a:p>
          <a:p>
            <a:pPr marL="0" indent="0">
              <a:buNone/>
            </a:pPr>
            <a:r>
              <a:rPr lang="en-US" altLang="zh-CN" sz="1600" dirty="0"/>
              <a:t>    // Sort the elements  </a:t>
            </a:r>
          </a:p>
          <a:p>
            <a:pPr marL="0" indent="0">
              <a:buNone/>
            </a:pPr>
            <a:r>
              <a:rPr lang="en-US" altLang="zh-CN" sz="1600" dirty="0"/>
              <a:t>    for (int </a:t>
            </a:r>
            <a:r>
              <a:rPr lang="en-US" altLang="zh-CN" sz="1600" dirty="0" err="1"/>
              <a:t>i</a:t>
            </a:r>
            <a:r>
              <a:rPr lang="en-US" altLang="zh-CN" sz="1600" dirty="0"/>
              <a:t> = 0, j = 0; </a:t>
            </a:r>
            <a:r>
              <a:rPr lang="en-US" altLang="zh-CN" sz="1600" dirty="0" err="1"/>
              <a:t>i</a:t>
            </a:r>
            <a:r>
              <a:rPr lang="en-US" altLang="zh-CN" sz="1600" dirty="0"/>
              <a:t> &lt;= MAX; </a:t>
            </a:r>
            <a:r>
              <a:rPr lang="en-US" altLang="zh-CN" sz="1600" dirty="0" err="1"/>
              <a:t>i</a:t>
            </a:r>
            <a:r>
              <a:rPr lang="en-US" altLang="zh-CN" sz="1600" dirty="0"/>
              <a:t>++) {  </a:t>
            </a:r>
          </a:p>
          <a:p>
            <a:pPr marL="0" indent="0">
              <a:buNone/>
            </a:pPr>
            <a:r>
              <a:rPr lang="en-US" altLang="zh-CN" sz="2000" dirty="0">
                <a:solidFill>
                  <a:srgbClr val="FF0000"/>
                </a:solidFill>
              </a:rPr>
              <a:t>        while (count[</a:t>
            </a:r>
            <a:r>
              <a:rPr lang="en-US" altLang="zh-CN" sz="2000" dirty="0" err="1">
                <a:solidFill>
                  <a:srgbClr val="FF0000"/>
                </a:solidFill>
              </a:rPr>
              <a:t>i</a:t>
            </a:r>
            <a:r>
              <a:rPr lang="en-US" altLang="zh-CN" sz="2000" dirty="0">
                <a:solidFill>
                  <a:srgbClr val="FF0000"/>
                </a:solidFill>
              </a:rPr>
              <a:t>]) {</a:t>
            </a:r>
          </a:p>
          <a:p>
            <a:pPr marL="0" indent="0">
              <a:buNone/>
            </a:pPr>
            <a:r>
              <a:rPr lang="en-US" altLang="zh-CN" sz="2000" dirty="0">
                <a:solidFill>
                  <a:srgbClr val="FF0000"/>
                </a:solidFill>
              </a:rPr>
              <a:t>          </a:t>
            </a:r>
            <a:r>
              <a:rPr lang="en-US" altLang="zh-CN" sz="2000" dirty="0" err="1">
                <a:solidFill>
                  <a:srgbClr val="FF0000"/>
                </a:solidFill>
              </a:rPr>
              <a:t>arr</a:t>
            </a:r>
            <a:r>
              <a:rPr lang="en-US" altLang="zh-CN" sz="2000" dirty="0">
                <a:solidFill>
                  <a:srgbClr val="FF0000"/>
                </a:solidFill>
              </a:rPr>
              <a:t>[</a:t>
            </a:r>
            <a:r>
              <a:rPr lang="en-US" altLang="zh-CN" sz="2000" dirty="0" err="1">
                <a:solidFill>
                  <a:srgbClr val="FF0000"/>
                </a:solidFill>
              </a:rPr>
              <a:t>j++</a:t>
            </a:r>
            <a:r>
              <a:rPr lang="en-US" altLang="zh-CN" sz="2000" dirty="0">
                <a:solidFill>
                  <a:srgbClr val="FF0000"/>
                </a:solidFill>
              </a:rPr>
              <a:t>] = </a:t>
            </a:r>
            <a:r>
              <a:rPr lang="en-US" altLang="zh-CN" sz="2000" dirty="0" err="1">
                <a:solidFill>
                  <a:srgbClr val="FF0000"/>
                </a:solidFill>
              </a:rPr>
              <a:t>i</a:t>
            </a:r>
            <a:r>
              <a:rPr lang="en-US" altLang="zh-CN" sz="2000" dirty="0">
                <a:solidFill>
                  <a:srgbClr val="FF0000"/>
                </a:solidFill>
              </a:rPr>
              <a:t>; </a:t>
            </a:r>
          </a:p>
          <a:p>
            <a:pPr marL="0" indent="0">
              <a:buNone/>
            </a:pPr>
            <a:r>
              <a:rPr lang="en-US" altLang="zh-CN" sz="2000" dirty="0">
                <a:solidFill>
                  <a:srgbClr val="FF0000"/>
                </a:solidFill>
              </a:rPr>
              <a:t>         count[</a:t>
            </a:r>
            <a:r>
              <a:rPr lang="en-US" altLang="zh-CN" sz="2000" dirty="0" err="1">
                <a:solidFill>
                  <a:srgbClr val="FF0000"/>
                </a:solidFill>
              </a:rPr>
              <a:t>i</a:t>
            </a:r>
            <a:r>
              <a:rPr lang="en-US" altLang="zh-CN" sz="2000" dirty="0">
                <a:solidFill>
                  <a:srgbClr val="FF0000"/>
                </a:solidFill>
              </a:rPr>
              <a:t>]--;</a:t>
            </a:r>
          </a:p>
          <a:p>
            <a:pPr marL="0" indent="0">
              <a:buNone/>
            </a:pPr>
            <a:r>
              <a:rPr lang="en-US" altLang="zh-CN" sz="2000" dirty="0">
                <a:solidFill>
                  <a:srgbClr val="FF0000"/>
                </a:solidFill>
              </a:rPr>
              <a:t>        }</a:t>
            </a:r>
          </a:p>
          <a:p>
            <a:pPr marL="0" indent="0">
              <a:buNone/>
            </a:pPr>
            <a:r>
              <a:rPr lang="en-US" altLang="zh-CN" sz="1600" dirty="0"/>
              <a:t>    }  </a:t>
            </a:r>
          </a:p>
          <a:p>
            <a:pPr marL="0" indent="0">
              <a:buNone/>
            </a:pPr>
            <a:r>
              <a:rPr lang="en-US" altLang="zh-CN" sz="1600" dirty="0"/>
              <a:t>    return 0;</a:t>
            </a:r>
          </a:p>
          <a:p>
            <a:pPr marL="0" indent="0">
              <a:buNone/>
            </a:pPr>
            <a:r>
              <a:rPr lang="en-US" altLang="zh-CN" sz="1600" dirty="0"/>
              <a:t>}</a:t>
            </a:r>
            <a:endParaRPr lang="zh-CN" altLang="en-US" sz="1600" dirty="0"/>
          </a:p>
        </p:txBody>
      </p:sp>
      <p:sp>
        <p:nvSpPr>
          <p:cNvPr id="4" name="灯片编号占位符 3">
            <a:extLst>
              <a:ext uri="{FF2B5EF4-FFF2-40B4-BE49-F238E27FC236}">
                <a16:creationId xmlns:a16="http://schemas.microsoft.com/office/drawing/2014/main" id="{615F751B-1239-5582-3A0E-5179CB8298F2}"/>
              </a:ext>
            </a:extLst>
          </p:cNvPr>
          <p:cNvSpPr>
            <a:spLocks noGrp="1"/>
          </p:cNvSpPr>
          <p:nvPr>
            <p:ph type="sldNum" sz="quarter" idx="12"/>
          </p:nvPr>
        </p:nvSpPr>
        <p:spPr/>
        <p:txBody>
          <a:bodyPr/>
          <a:lstStyle/>
          <a:p>
            <a:pPr>
              <a:defRPr/>
            </a:pPr>
            <a:fld id="{5DCB0509-EBFA-4973-BBC1-64BDD304043B}" type="slidenum">
              <a:rPr lang="en-US" altLang="zh-CN" smtClean="0"/>
              <a:pPr>
                <a:defRPr/>
              </a:pPr>
              <a:t>55</a:t>
            </a:fld>
            <a:endParaRPr lang="en-US" altLang="zh-CN"/>
          </a:p>
        </p:txBody>
      </p:sp>
      <p:sp>
        <p:nvSpPr>
          <p:cNvPr id="2" name="文本框 1"/>
          <p:cNvSpPr txBox="1"/>
          <p:nvPr/>
        </p:nvSpPr>
        <p:spPr>
          <a:xfrm>
            <a:off x="5076056" y="3361751"/>
            <a:ext cx="3888432" cy="3046988"/>
          </a:xfrm>
          <a:prstGeom prst="rect">
            <a:avLst/>
          </a:prstGeom>
          <a:noFill/>
        </p:spPr>
        <p:txBody>
          <a:bodyPr wrap="square" rtlCol="0">
            <a:spAutoFit/>
          </a:bodyPr>
          <a:lstStyle/>
          <a:p>
            <a:pPr algn="l"/>
            <a:r>
              <a:rPr lang="zh-CN" altLang="en-US" sz="2400" dirty="0" smtClean="0">
                <a:latin typeface="+mn-ea"/>
                <a:ea typeface="+mn-ea"/>
              </a:rPr>
              <a:t>时间</a:t>
            </a:r>
            <a:r>
              <a:rPr lang="zh-CN" altLang="en-US" sz="2400" dirty="0">
                <a:latin typeface="+mn-ea"/>
                <a:ea typeface="+mn-ea"/>
              </a:rPr>
              <a:t>复杂度</a:t>
            </a:r>
            <a:r>
              <a:rPr lang="zh-CN" altLang="en-US" sz="2400" dirty="0" smtClean="0">
                <a:latin typeface="+mn-ea"/>
                <a:ea typeface="+mn-ea"/>
              </a:rPr>
              <a:t>：</a:t>
            </a:r>
            <a:r>
              <a:rPr lang="en-US" altLang="zh-CN" sz="2400" dirty="0">
                <a:latin typeface="+mn-ea"/>
                <a:ea typeface="+mn-ea"/>
              </a:rPr>
              <a:t>O(n + k</a:t>
            </a:r>
            <a:r>
              <a:rPr lang="en-US" altLang="zh-CN" sz="2400" dirty="0" smtClean="0">
                <a:latin typeface="+mn-ea"/>
                <a:ea typeface="+mn-ea"/>
              </a:rPr>
              <a:t>)</a:t>
            </a:r>
          </a:p>
          <a:p>
            <a:pPr algn="l"/>
            <a:endParaRPr lang="en-US" altLang="zh-CN" sz="2400" dirty="0">
              <a:latin typeface="+mn-ea"/>
              <a:ea typeface="+mn-ea"/>
            </a:endParaRPr>
          </a:p>
          <a:p>
            <a:pPr algn="l"/>
            <a:r>
              <a:rPr lang="zh-CN" altLang="en-US" sz="2400" dirty="0">
                <a:latin typeface="+mn-ea"/>
                <a:ea typeface="+mn-ea"/>
              </a:rPr>
              <a:t>空间复杂度</a:t>
            </a:r>
            <a:r>
              <a:rPr lang="zh-CN" altLang="en-US" sz="2400" dirty="0" smtClean="0">
                <a:latin typeface="+mn-ea"/>
                <a:ea typeface="+mn-ea"/>
              </a:rPr>
              <a:t>：</a:t>
            </a:r>
            <a:r>
              <a:rPr lang="en-US" altLang="zh-CN" sz="2400" dirty="0" smtClean="0">
                <a:latin typeface="+mn-ea"/>
                <a:ea typeface="+mn-ea"/>
              </a:rPr>
              <a:t>O(k)</a:t>
            </a:r>
          </a:p>
          <a:p>
            <a:pPr algn="l"/>
            <a:endParaRPr lang="en-US" altLang="zh-CN" sz="2400" dirty="0">
              <a:latin typeface="+mn-ea"/>
              <a:ea typeface="+mn-ea"/>
            </a:endParaRPr>
          </a:p>
          <a:p>
            <a:pPr algn="l"/>
            <a:r>
              <a:rPr lang="en-US" altLang="zh-CN" sz="2400" dirty="0" smtClean="0">
                <a:latin typeface="+mn-ea"/>
                <a:ea typeface="+mn-ea"/>
              </a:rPr>
              <a:t>n </a:t>
            </a:r>
            <a:r>
              <a:rPr lang="zh-CN" altLang="en-US" sz="2400" dirty="0">
                <a:latin typeface="+mn-ea"/>
                <a:ea typeface="+mn-ea"/>
              </a:rPr>
              <a:t>是待排序数组的大小，</a:t>
            </a:r>
            <a:r>
              <a:rPr lang="en-US" altLang="zh-CN" sz="2400" dirty="0">
                <a:latin typeface="+mn-ea"/>
                <a:ea typeface="+mn-ea"/>
              </a:rPr>
              <a:t>k </a:t>
            </a:r>
            <a:r>
              <a:rPr lang="zh-CN" altLang="en-US" sz="2400" dirty="0">
                <a:latin typeface="+mn-ea"/>
                <a:ea typeface="+mn-ea"/>
              </a:rPr>
              <a:t>是数组中元素的</a:t>
            </a:r>
            <a:r>
              <a:rPr lang="zh-CN" altLang="en-US" sz="2400" dirty="0" smtClean="0">
                <a:latin typeface="+mn-ea"/>
                <a:ea typeface="+mn-ea"/>
              </a:rPr>
              <a:t>范围</a:t>
            </a:r>
            <a:endParaRPr lang="en-US" altLang="zh-CN" sz="2400" dirty="0" smtClean="0">
              <a:latin typeface="+mn-ea"/>
              <a:ea typeface="+mn-ea"/>
            </a:endParaRPr>
          </a:p>
          <a:p>
            <a:pPr lvl="1" algn="l"/>
            <a:endParaRPr lang="en-US" altLang="zh-CN" sz="2400" dirty="0">
              <a:latin typeface="+mn-ea"/>
              <a:ea typeface="+mn-ea"/>
            </a:endParaRPr>
          </a:p>
          <a:p>
            <a:endParaRPr lang="zh-CN" altLang="en-US" sz="2400" dirty="0">
              <a:latin typeface="+mn-ea"/>
              <a:ea typeface="+mn-ea"/>
            </a:endParaRPr>
          </a:p>
        </p:txBody>
      </p:sp>
    </p:spTree>
    <p:extLst>
      <p:ext uri="{BB962C8B-B14F-4D97-AF65-F5344CB8AC3E}">
        <p14:creationId xmlns:p14="http://schemas.microsoft.com/office/powerpoint/2010/main" val="1702974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 calcmode="lin" valueType="num">
                                      <p:cBhvr additive="base">
                                        <p:cTn id="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7" end="7"/>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anim calcmode="lin" valueType="num">
                                      <p:cBhvr additive="base">
                                        <p:cTn id="1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8" end="8"/>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anim calcmode="lin" valueType="num">
                                      <p:cBhvr additive="base">
                                        <p:cTn id="1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9" end="9"/>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anim calcmode="lin" valueType="num">
                                      <p:cBhvr additive="base">
                                        <p:cTn id="19"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anim calcmode="lin" valueType="num">
                                      <p:cBhvr additive="base">
                                        <p:cTn id="2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12" end="12"/>
                                            </p:txEl>
                                          </p:spTgt>
                                        </p:tgtEl>
                                        <p:attrNameLst>
                                          <p:attrName>style.visibility</p:attrName>
                                        </p:attrNameLst>
                                      </p:cBhvr>
                                      <p:to>
                                        <p:strVal val="visible"/>
                                      </p:to>
                                    </p:set>
                                    <p:anim calcmode="lin" valueType="num">
                                      <p:cBhvr additive="base">
                                        <p:cTn id="2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
                                            <p:txEl>
                                              <p:pRg st="13" end="13"/>
                                            </p:txEl>
                                          </p:spTgt>
                                        </p:tgtEl>
                                        <p:attrNameLst>
                                          <p:attrName>style.visibility</p:attrName>
                                        </p:attrNameLst>
                                      </p:cBhvr>
                                      <p:to>
                                        <p:strVal val="visible"/>
                                      </p:to>
                                    </p:set>
                                    <p:anim calcmode="lin" valueType="num">
                                      <p:cBhvr additive="base">
                                        <p:cTn id="33"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3">
                                            <p:txEl>
                                              <p:pRg st="14" end="14"/>
                                            </p:txEl>
                                          </p:spTgt>
                                        </p:tgtEl>
                                        <p:attrNameLst>
                                          <p:attrName>style.visibility</p:attrName>
                                        </p:attrNameLst>
                                      </p:cBhvr>
                                      <p:to>
                                        <p:strVal val="visible"/>
                                      </p:to>
                                    </p:set>
                                    <p:anim calcmode="lin" valueType="num">
                                      <p:cBhvr additive="base">
                                        <p:cTn id="37"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3">
                                            <p:txEl>
                                              <p:pRg st="15" end="15"/>
                                            </p:txEl>
                                          </p:spTgt>
                                        </p:tgtEl>
                                        <p:attrNameLst>
                                          <p:attrName>style.visibility</p:attrName>
                                        </p:attrNameLst>
                                      </p:cBhvr>
                                      <p:to>
                                        <p:strVal val="visible"/>
                                      </p:to>
                                    </p:set>
                                    <p:anim calcmode="lin" valueType="num">
                                      <p:cBhvr additive="base">
                                        <p:cTn id="41"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3">
                                            <p:txEl>
                                              <p:pRg st="16" end="16"/>
                                            </p:txEl>
                                          </p:spTgt>
                                        </p:tgtEl>
                                        <p:attrNameLst>
                                          <p:attrName>style.visibility</p:attrName>
                                        </p:attrNameLst>
                                      </p:cBhvr>
                                      <p:to>
                                        <p:strVal val="visible"/>
                                      </p:to>
                                    </p:set>
                                    <p:anim calcmode="lin" valueType="num">
                                      <p:cBhvr additive="base">
                                        <p:cTn id="45"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16" end="16"/>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3">
                                            <p:txEl>
                                              <p:pRg st="17" end="17"/>
                                            </p:txEl>
                                          </p:spTgt>
                                        </p:tgtEl>
                                        <p:attrNameLst>
                                          <p:attrName>style.visibility</p:attrName>
                                        </p:attrNameLst>
                                      </p:cBhvr>
                                      <p:to>
                                        <p:strVal val="visible"/>
                                      </p:to>
                                    </p:set>
                                    <p:anim calcmode="lin" valueType="num">
                                      <p:cBhvr additive="base">
                                        <p:cTn id="49"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17" end="17"/>
                                            </p:txEl>
                                          </p:spTgt>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3">
                                            <p:txEl>
                                              <p:pRg st="18" end="18"/>
                                            </p:txEl>
                                          </p:spTgt>
                                        </p:tgtEl>
                                        <p:attrNameLst>
                                          <p:attrName>style.visibility</p:attrName>
                                        </p:attrNameLst>
                                      </p:cBhvr>
                                      <p:to>
                                        <p:strVal val="visible"/>
                                      </p:to>
                                    </p:set>
                                    <p:anim calcmode="lin" valueType="num">
                                      <p:cBhvr additive="base">
                                        <p:cTn id="53" dur="500" fill="hold"/>
                                        <p:tgtEl>
                                          <p:spTgt spid="3">
                                            <p:txEl>
                                              <p:pRg st="18" end="18"/>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3">
                                            <p:txEl>
                                              <p:pRg st="18" end="18"/>
                                            </p:txEl>
                                          </p:spTgt>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2"/>
                                        </p:tgtEl>
                                        <p:attrNameLst>
                                          <p:attrName>style.visibility</p:attrName>
                                        </p:attrNameLst>
                                      </p:cBhvr>
                                      <p:to>
                                        <p:strVal val="visible"/>
                                      </p:to>
                                    </p:set>
                                    <p:anim calcmode="lin" valueType="num">
                                      <p:cBhvr additive="base">
                                        <p:cTn id="59" dur="500" fill="hold"/>
                                        <p:tgtEl>
                                          <p:spTgt spid="2"/>
                                        </p:tgtEl>
                                        <p:attrNameLst>
                                          <p:attrName>ppt_x</p:attrName>
                                        </p:attrNameLst>
                                      </p:cBhvr>
                                      <p:tavLst>
                                        <p:tav tm="0">
                                          <p:val>
                                            <p:strVal val="#ppt_x"/>
                                          </p:val>
                                        </p:tav>
                                        <p:tav tm="100000">
                                          <p:val>
                                            <p:strVal val="#ppt_x"/>
                                          </p:val>
                                        </p:tav>
                                      </p:tavLst>
                                    </p:anim>
                                    <p:anim calcmode="lin" valueType="num">
                                      <p:cBhvr additive="base">
                                        <p:cTn id="6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6274" name="Rectangle 2"/>
          <p:cNvSpPr>
            <a:spLocks noGrp="1" noChangeArrowheads="1"/>
          </p:cNvSpPr>
          <p:nvPr>
            <p:ph idx="1"/>
          </p:nvPr>
        </p:nvSpPr>
        <p:spPr>
          <a:xfrm>
            <a:off x="468313" y="404813"/>
            <a:ext cx="8294687" cy="5976937"/>
          </a:xfrm>
        </p:spPr>
        <p:txBody>
          <a:bodyPr>
            <a:normAutofit/>
          </a:bodyPr>
          <a:lstStyle/>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a:t>
            </a:r>
            <a:r>
              <a:rPr lang="en-US" altLang="zh-CN" sz="3200" b="1" dirty="0">
                <a:effectLst>
                  <a:outerShdw blurRad="38100" dist="38100" dir="2700000" algn="tl">
                    <a:srgbClr val="C0C0C0"/>
                  </a:outerShdw>
                </a:effectLst>
              </a:rPr>
              <a:t>【</a:t>
            </a:r>
            <a:r>
              <a:rPr lang="zh-CN" altLang="en-US" sz="3200" b="1" dirty="0">
                <a:effectLst>
                  <a:outerShdw blurRad="38100" dist="38100" dir="2700000" algn="tl">
                    <a:srgbClr val="C0C0C0"/>
                  </a:outerShdw>
                </a:effectLst>
              </a:rPr>
              <a:t>例</a:t>
            </a:r>
            <a:r>
              <a:rPr lang="en-US" altLang="zh-CN" sz="3200" b="1" dirty="0">
                <a:effectLst>
                  <a:outerShdw blurRad="38100" dist="38100" dir="2700000" algn="tl">
                    <a:srgbClr val="C0C0C0"/>
                  </a:outerShdw>
                </a:effectLst>
              </a:rPr>
              <a:t>4.10】(</a:t>
            </a:r>
            <a:r>
              <a:rPr lang="zh-CN" altLang="en-US" sz="3200" b="1" dirty="0">
                <a:effectLst>
                  <a:outerShdw blurRad="38100" dist="38100" dir="2700000" algn="tl">
                    <a:srgbClr val="C0C0C0"/>
                  </a:outerShdw>
                </a:effectLst>
              </a:rPr>
              <a:t>约瑟夫圈</a:t>
            </a:r>
            <a:r>
              <a:rPr lang="en-US" altLang="zh-CN" sz="3200" b="1" dirty="0">
                <a:effectLst>
                  <a:outerShdw blurRad="38100" dist="38100" dir="2700000" algn="tl">
                    <a:srgbClr val="C0C0C0"/>
                  </a:outerShdw>
                </a:effectLst>
              </a:rPr>
              <a:t>)</a:t>
            </a:r>
            <a:r>
              <a:rPr lang="zh-CN" altLang="en-US" sz="3200" b="1" dirty="0">
                <a:effectLst>
                  <a:outerShdw blurRad="38100" dist="38100" dir="2700000" algn="tl">
                    <a:srgbClr val="C0C0C0"/>
                  </a:outerShdw>
                </a:effectLst>
              </a:rPr>
              <a:t>设有顺序编号为</a:t>
            </a:r>
            <a:r>
              <a:rPr lang="en-US" altLang="zh-CN" sz="3200" b="1" dirty="0">
                <a:effectLst>
                  <a:outerShdw blurRad="38100" dist="38100" dir="2700000" algn="tl">
                    <a:srgbClr val="C0C0C0"/>
                  </a:outerShdw>
                </a:effectLst>
              </a:rPr>
              <a:t>1</a:t>
            </a:r>
            <a:r>
              <a:rPr lang="zh-CN" altLang="en-US" sz="3200" b="1" dirty="0">
                <a:effectLst>
                  <a:outerShdw blurRad="38100" dist="38100" dir="2700000" algn="tl">
                    <a:srgbClr val="C0C0C0"/>
                  </a:outerShdw>
                </a:effectLst>
              </a:rPr>
              <a:t>至</a:t>
            </a:r>
            <a:r>
              <a:rPr lang="en-US" altLang="zh-CN" sz="3200" b="1" dirty="0">
                <a:effectLst>
                  <a:outerShdw blurRad="38100" dist="38100" dir="2700000" algn="tl">
                    <a:srgbClr val="C0C0C0"/>
                  </a:outerShdw>
                </a:effectLst>
              </a:rPr>
              <a:t>n</a:t>
            </a:r>
            <a:r>
              <a:rPr lang="zh-CN" altLang="en-US" sz="3200" b="1" dirty="0">
                <a:effectLst>
                  <a:outerShdw blurRad="38100" dist="38100" dir="2700000" algn="tl">
                    <a:srgbClr val="C0C0C0"/>
                  </a:outerShdw>
                </a:effectLst>
              </a:rPr>
              <a:t>的</a:t>
            </a:r>
            <a:r>
              <a:rPr lang="en-US" altLang="zh-CN" sz="3200" b="1" dirty="0">
                <a:effectLst>
                  <a:outerShdw blurRad="38100" dist="38100" dir="2700000" algn="tl">
                    <a:srgbClr val="C0C0C0"/>
                  </a:outerShdw>
                </a:effectLst>
              </a:rPr>
              <a:t>n</a:t>
            </a:r>
            <a:r>
              <a:rPr lang="zh-CN" altLang="en-US" sz="3200" b="1" dirty="0">
                <a:effectLst>
                  <a:outerShdw blurRad="38100" dist="38100" dir="2700000" algn="tl">
                    <a:srgbClr val="C0C0C0"/>
                  </a:outerShdw>
                </a:effectLst>
              </a:rPr>
              <a:t>（＜</a:t>
            </a:r>
            <a:r>
              <a:rPr lang="en-US" altLang="zh-CN" sz="3200" b="1" dirty="0">
                <a:effectLst>
                  <a:outerShdw blurRad="38100" dist="38100" dir="2700000" algn="tl">
                    <a:srgbClr val="C0C0C0"/>
                  </a:outerShdw>
                </a:effectLst>
              </a:rPr>
              <a:t>100</a:t>
            </a:r>
            <a:r>
              <a:rPr lang="zh-CN" altLang="en-US" sz="3200" b="1" dirty="0">
                <a:effectLst>
                  <a:outerShdw blurRad="38100" dist="38100" dir="2700000" algn="tl">
                    <a:srgbClr val="C0C0C0"/>
                  </a:outerShdw>
                </a:effectLst>
              </a:rPr>
              <a:t>）个人按顺时针顺序站成一个圆圈。首先从第</a:t>
            </a:r>
            <a:r>
              <a:rPr lang="en-US" altLang="zh-CN" sz="3200" b="1" dirty="0">
                <a:effectLst>
                  <a:outerShdw blurRad="38100" dist="38100" dir="2700000" algn="tl">
                    <a:srgbClr val="C0C0C0"/>
                  </a:outerShdw>
                </a:effectLst>
              </a:rPr>
              <a:t>1</a:t>
            </a:r>
            <a:r>
              <a:rPr lang="zh-CN" altLang="en-US" sz="3200" b="1" dirty="0">
                <a:effectLst>
                  <a:outerShdw blurRad="38100" dist="38100" dir="2700000" algn="tl">
                    <a:srgbClr val="C0C0C0"/>
                  </a:outerShdw>
                </a:effectLst>
              </a:rPr>
              <a:t>个人开始，按顺时针顺序从</a:t>
            </a:r>
            <a:r>
              <a:rPr lang="en-US" altLang="zh-CN" sz="3200" b="1" dirty="0">
                <a:effectLst>
                  <a:outerShdw blurRad="38100" dist="38100" dir="2700000" algn="tl">
                    <a:srgbClr val="C0C0C0"/>
                  </a:outerShdw>
                </a:effectLst>
              </a:rPr>
              <a:t>1</a:t>
            </a:r>
            <a:r>
              <a:rPr lang="zh-CN" altLang="en-US" sz="3200" b="1" dirty="0">
                <a:effectLst>
                  <a:outerShdw blurRad="38100" dist="38100" dir="2700000" algn="tl">
                    <a:srgbClr val="C0C0C0"/>
                  </a:outerShdw>
                </a:effectLst>
              </a:rPr>
              <a:t>开始报数</a:t>
            </a:r>
            <a:r>
              <a:rPr lang="en-US" altLang="zh-CN" sz="3200" b="1" dirty="0">
                <a:effectLst>
                  <a:outerShdw blurRad="38100" dist="38100" dir="2700000" algn="tl">
                    <a:srgbClr val="C0C0C0"/>
                  </a:outerShdw>
                </a:effectLst>
              </a:rPr>
              <a:t>,</a:t>
            </a:r>
            <a:r>
              <a:rPr lang="zh-CN" altLang="en-US" sz="3200" b="1" dirty="0">
                <a:effectLst>
                  <a:outerShdw blurRad="38100" dist="38100" dir="2700000" algn="tl">
                    <a:srgbClr val="C0C0C0"/>
                  </a:outerShdw>
                </a:effectLst>
              </a:rPr>
              <a:t>报到第</a:t>
            </a:r>
            <a:r>
              <a:rPr lang="en-US" altLang="zh-CN" sz="3200" b="1" dirty="0">
                <a:effectLst>
                  <a:outerShdw blurRad="38100" dist="38100" dir="2700000" algn="tl">
                    <a:srgbClr val="C0C0C0"/>
                  </a:outerShdw>
                </a:effectLst>
              </a:rPr>
              <a:t>m</a:t>
            </a:r>
            <a:r>
              <a:rPr lang="zh-CN" altLang="en-US" sz="3200" b="1" dirty="0">
                <a:effectLst>
                  <a:outerShdw blurRad="38100" dist="38100" dir="2700000" algn="tl">
                    <a:srgbClr val="C0C0C0"/>
                  </a:outerShdw>
                </a:effectLst>
              </a:rPr>
              <a:t>（＜</a:t>
            </a:r>
            <a:r>
              <a:rPr lang="en-US" altLang="zh-CN" sz="3200" b="1" dirty="0">
                <a:effectLst>
                  <a:outerShdw blurRad="38100" dist="38100" dir="2700000" algn="tl">
                    <a:srgbClr val="C0C0C0"/>
                  </a:outerShdw>
                </a:effectLst>
              </a:rPr>
              <a:t>n</a:t>
            </a:r>
            <a:r>
              <a:rPr lang="zh-CN" altLang="en-US" sz="3200" b="1" dirty="0">
                <a:effectLst>
                  <a:outerShdw blurRad="38100" dist="38100" dir="2700000" algn="tl">
                    <a:srgbClr val="C0C0C0"/>
                  </a:outerShdw>
                </a:effectLst>
              </a:rPr>
              <a:t>）个人，令其出列。然后再从出列的下一个人开始，按顺时针顺序从</a:t>
            </a:r>
            <a:r>
              <a:rPr lang="en-US" altLang="zh-CN" sz="3200" b="1" dirty="0">
                <a:effectLst>
                  <a:outerShdw blurRad="38100" dist="38100" dir="2700000" algn="tl">
                    <a:srgbClr val="C0C0C0"/>
                  </a:outerShdw>
                </a:effectLst>
              </a:rPr>
              <a:t>1</a:t>
            </a:r>
            <a:r>
              <a:rPr lang="zh-CN" altLang="en-US" sz="3200" b="1" dirty="0">
                <a:effectLst>
                  <a:outerShdw blurRad="38100" dist="38100" dir="2700000" algn="tl">
                    <a:srgbClr val="C0C0C0"/>
                  </a:outerShdw>
                </a:effectLst>
              </a:rPr>
              <a:t>开始报数，报到第</a:t>
            </a:r>
            <a:r>
              <a:rPr lang="en-US" altLang="zh-CN" sz="3200" b="1" dirty="0">
                <a:effectLst>
                  <a:outerShdw blurRad="38100" dist="38100" dir="2700000" algn="tl">
                    <a:srgbClr val="C0C0C0"/>
                  </a:outerShdw>
                </a:effectLst>
              </a:rPr>
              <a:t>m</a:t>
            </a:r>
            <a:r>
              <a:rPr lang="zh-CN" altLang="en-US" sz="3200" b="1" dirty="0">
                <a:effectLst>
                  <a:outerShdw blurRad="38100" dist="38100" dir="2700000" algn="tl">
                    <a:srgbClr val="C0C0C0"/>
                  </a:outerShdw>
                </a:effectLst>
              </a:rPr>
              <a:t>个人，再令其出列，┅┅  。</a:t>
            </a:r>
          </a:p>
          <a:p>
            <a:pPr marL="0" indent="0" eaLnBrk="1" fontAlgn="auto" hangingPunct="1">
              <a:lnSpc>
                <a:spcPct val="110000"/>
              </a:lnSpc>
              <a:spcAft>
                <a:spcPts val="0"/>
              </a:spcAft>
              <a:buClr>
                <a:schemeClr val="accent3"/>
              </a:buClr>
              <a:buFont typeface="Wingdings" pitchFamily="2" charset="2"/>
              <a:buNone/>
              <a:defRPr/>
            </a:pPr>
            <a:r>
              <a:rPr lang="zh-CN" altLang="en-US" sz="3200" b="1" dirty="0">
                <a:effectLst>
                  <a:outerShdw blurRad="38100" dist="38100" dir="2700000" algn="tl">
                    <a:srgbClr val="C0C0C0"/>
                  </a:outerShdw>
                </a:effectLst>
              </a:rPr>
              <a:t>如此下去</a:t>
            </a:r>
            <a:r>
              <a:rPr lang="en-US" altLang="zh-CN" sz="3200" b="1" dirty="0">
                <a:effectLst>
                  <a:outerShdw blurRad="38100" dist="38100" dir="2700000" algn="tl">
                    <a:srgbClr val="C0C0C0"/>
                  </a:outerShdw>
                </a:effectLst>
              </a:rPr>
              <a:t>,</a:t>
            </a:r>
            <a:r>
              <a:rPr lang="zh-CN" altLang="en-US" sz="3200" b="1" dirty="0">
                <a:effectLst>
                  <a:outerShdw blurRad="38100" dist="38100" dir="2700000" algn="tl">
                    <a:srgbClr val="C0C0C0"/>
                  </a:outerShdw>
                </a:effectLst>
              </a:rPr>
              <a:t>直到圆圈不再有人为止。求这</a:t>
            </a:r>
            <a:r>
              <a:rPr lang="en-US" altLang="zh-CN" sz="3200" b="1" dirty="0">
                <a:effectLst>
                  <a:outerShdw blurRad="38100" dist="38100" dir="2700000" algn="tl">
                    <a:srgbClr val="C0C0C0"/>
                  </a:outerShdw>
                </a:effectLst>
              </a:rPr>
              <a:t>n</a:t>
            </a:r>
            <a:r>
              <a:rPr lang="zh-CN" altLang="en-US" sz="3200" b="1" dirty="0">
                <a:effectLst>
                  <a:outerShdw blurRad="38100" dist="38100" dir="2700000" algn="tl">
                    <a:srgbClr val="C0C0C0"/>
                  </a:outerShdw>
                </a:effectLst>
              </a:rPr>
              <a:t>个人出列的顺序。</a:t>
            </a:r>
          </a:p>
        </p:txBody>
      </p:sp>
      <p:sp>
        <p:nvSpPr>
          <p:cNvPr id="5" name="灯片编号占位符 5"/>
          <p:cNvSpPr>
            <a:spLocks noGrp="1"/>
          </p:cNvSpPr>
          <p:nvPr>
            <p:ph type="sldNum" sz="quarter" idx="12"/>
          </p:nvPr>
        </p:nvSpPr>
        <p:spPr/>
        <p:txBody>
          <a:bodyPr/>
          <a:lstStyle/>
          <a:p>
            <a:pPr>
              <a:defRPr/>
            </a:pPr>
            <a:fld id="{4DE76F71-6548-440B-91CA-DF82FB415873}" type="slidenum">
              <a:rPr lang="en-US" altLang="zh-CN"/>
              <a:pPr>
                <a:defRPr/>
              </a:pPr>
              <a:t>56</a:t>
            </a:fld>
            <a:endParaRPr lang="en-US" altLang="zh-CN"/>
          </a:p>
        </p:txBody>
      </p:sp>
      <p:sp>
        <p:nvSpPr>
          <p:cNvPr id="4" name="矩形 3"/>
          <p:cNvSpPr/>
          <p:nvPr/>
        </p:nvSpPr>
        <p:spPr>
          <a:xfrm>
            <a:off x="539750" y="1125538"/>
            <a:ext cx="7993063" cy="43910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l">
              <a:defRPr/>
            </a:pPr>
            <a:r>
              <a:rPr lang="zh-CN" altLang="en-US" b="0" dirty="0"/>
              <a:t>据说著名犹太历史学家 </a:t>
            </a:r>
            <a:r>
              <a:rPr lang="en-US" altLang="zh-CN" b="0" dirty="0"/>
              <a:t>Josephus</a:t>
            </a:r>
            <a:r>
              <a:rPr lang="zh-CN" altLang="en-US" b="0" dirty="0"/>
              <a:t>有过以下的故事：在罗马人占领乔塔帕特后，</a:t>
            </a:r>
            <a:r>
              <a:rPr lang="en-US" altLang="zh-CN" b="0" dirty="0"/>
              <a:t>39 </a:t>
            </a:r>
            <a:r>
              <a:rPr lang="zh-CN" altLang="en-US" b="0" dirty="0"/>
              <a:t>个犹太人与</a:t>
            </a:r>
            <a:r>
              <a:rPr lang="en-US" altLang="zh-CN" b="0" dirty="0"/>
              <a:t>Josephus</a:t>
            </a:r>
            <a:r>
              <a:rPr lang="zh-CN" altLang="en-US" b="0" dirty="0"/>
              <a:t>及他的朋友躲到一个洞中，</a:t>
            </a:r>
            <a:r>
              <a:rPr lang="en-US" altLang="zh-CN" b="0" dirty="0"/>
              <a:t>39</a:t>
            </a:r>
            <a:r>
              <a:rPr lang="zh-CN" altLang="en-US" b="0" dirty="0"/>
              <a:t>个犹太人决定宁愿死也不要被敌人抓到，于是决定了一个自杀方式，</a:t>
            </a:r>
            <a:r>
              <a:rPr lang="en-US" altLang="zh-CN" b="0" dirty="0"/>
              <a:t>41</a:t>
            </a:r>
            <a:r>
              <a:rPr lang="zh-CN" altLang="en-US" b="0" dirty="0"/>
              <a:t>个人排成一个圆圈，由第</a:t>
            </a:r>
            <a:r>
              <a:rPr lang="en-US" altLang="zh-CN" b="0" dirty="0"/>
              <a:t>1</a:t>
            </a:r>
            <a:r>
              <a:rPr lang="zh-CN" altLang="en-US" b="0" dirty="0"/>
              <a:t>个人开始报数，每报数到第</a:t>
            </a:r>
            <a:r>
              <a:rPr lang="en-US" altLang="zh-CN" b="0" dirty="0"/>
              <a:t>3</a:t>
            </a:r>
            <a:r>
              <a:rPr lang="zh-CN" altLang="en-US" b="0" dirty="0"/>
              <a:t>人该人就必须自杀，然后再由下一个重新报数，直到所有人都自杀身亡为止。然而</a:t>
            </a:r>
            <a:r>
              <a:rPr lang="en-US" altLang="zh-CN" b="0" dirty="0"/>
              <a:t>Josephus </a:t>
            </a:r>
            <a:r>
              <a:rPr lang="zh-CN" altLang="en-US" b="0" dirty="0"/>
              <a:t>和他的朋友并不想遵从，</a:t>
            </a:r>
            <a:r>
              <a:rPr lang="en-US" altLang="zh-CN" b="0" dirty="0"/>
              <a:t>Josephus</a:t>
            </a:r>
            <a:r>
              <a:rPr lang="zh-CN" altLang="en-US" b="0" dirty="0"/>
              <a:t>要他的朋友先假装遵从，他将朋友与自己安排在第</a:t>
            </a:r>
            <a:r>
              <a:rPr lang="en-US" altLang="zh-CN" b="0" dirty="0"/>
              <a:t>16</a:t>
            </a:r>
            <a:r>
              <a:rPr lang="zh-CN" altLang="en-US" b="0" dirty="0"/>
              <a:t>个与第</a:t>
            </a:r>
            <a:r>
              <a:rPr lang="en-US" altLang="zh-CN" b="0" dirty="0"/>
              <a:t>31</a:t>
            </a:r>
            <a:r>
              <a:rPr lang="zh-CN" altLang="en-US" b="0" dirty="0"/>
              <a:t>个位置，于是逃过了这场死亡游戏。</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8" presetClass="exit" presetSubtype="16" fill="hold" grpId="1" nodeType="clickEffect">
                                  <p:stCondLst>
                                    <p:cond delay="0"/>
                                  </p:stCondLst>
                                  <p:childTnLst>
                                    <p:animEffect transition="out" filter="diamond(in)">
                                      <p:cBhvr>
                                        <p:cTn id="12" dur="2000"/>
                                        <p:tgtEl>
                                          <p:spTgt spid="4"/>
                                        </p:tgtEl>
                                      </p:cBhvr>
                                    </p:animEffect>
                                    <p:set>
                                      <p:cBhvr>
                                        <p:cTn id="13" dur="1" fill="hold">
                                          <p:stCondLst>
                                            <p:cond delay="19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7298" name="Rectangle 2"/>
          <p:cNvSpPr>
            <a:spLocks noGrp="1" noChangeArrowheads="1"/>
          </p:cNvSpPr>
          <p:nvPr>
            <p:ph idx="1"/>
          </p:nvPr>
        </p:nvSpPr>
        <p:spPr>
          <a:xfrm>
            <a:off x="468313" y="404813"/>
            <a:ext cx="8294687" cy="5976937"/>
          </a:xfrm>
        </p:spPr>
        <p:txBody>
          <a:bodyPr>
            <a:normAutofit/>
          </a:bodyPr>
          <a:lstStyle/>
          <a:p>
            <a:pPr marL="0" indent="0" eaLnBrk="1" fontAlgn="auto" hangingPunct="1">
              <a:spcAft>
                <a:spcPts val="0"/>
              </a:spcAft>
              <a:buClr>
                <a:schemeClr val="accent3"/>
              </a:buClr>
              <a:buFont typeface="Wingdings" pitchFamily="2" charset="2"/>
              <a:buNone/>
              <a:defRPr/>
            </a:pPr>
            <a:r>
              <a:rPr lang="en-US" altLang="zh-CN" sz="2800" b="1" dirty="0">
                <a:effectLst>
                  <a:outerShdw blurRad="38100" dist="38100" dir="2700000" algn="tl">
                    <a:srgbClr val="C0C0C0"/>
                  </a:outerShdw>
                </a:effectLst>
              </a:rPr>
              <a:t>【</a:t>
            </a:r>
            <a:r>
              <a:rPr lang="zh-CN" altLang="en-US" sz="2800" b="1" dirty="0">
                <a:effectLst>
                  <a:outerShdw blurRad="38100" dist="38100" dir="2700000" algn="tl">
                    <a:srgbClr val="C0C0C0"/>
                  </a:outerShdw>
                </a:effectLst>
              </a:rPr>
              <a:t>解题思路</a:t>
            </a:r>
            <a:r>
              <a:rPr lang="en-US" altLang="zh-CN" sz="2800" b="1" dirty="0">
                <a:effectLst>
                  <a:outerShdw blurRad="38100" dist="38100" dir="2700000" algn="tl">
                    <a:srgbClr val="C0C0C0"/>
                  </a:outerShdw>
                </a:effectLst>
              </a:rPr>
              <a:t>】</a:t>
            </a:r>
          </a:p>
          <a:p>
            <a:pPr marL="0" indent="0" eaLnBrk="1" fontAlgn="auto" hangingPunct="1">
              <a:spcAft>
                <a:spcPts val="0"/>
              </a:spcAft>
              <a:buClr>
                <a:schemeClr val="accent3"/>
              </a:buClr>
              <a:buFont typeface="Wingdings" pitchFamily="2" charset="2"/>
              <a:buNone/>
              <a:defRPr/>
            </a:pPr>
            <a:r>
              <a:rPr lang="zh-CN" altLang="en-US" sz="2800" b="1" dirty="0">
                <a:effectLst>
                  <a:outerShdw blurRad="38100" dist="38100" dir="2700000" algn="tl">
                    <a:srgbClr val="C0C0C0"/>
                  </a:outerShdw>
                </a:effectLst>
              </a:rPr>
              <a:t>程序首先输入</a:t>
            </a:r>
            <a:r>
              <a:rPr lang="en-US" altLang="zh-CN" sz="2800" b="1" dirty="0">
                <a:effectLst>
                  <a:outerShdw blurRad="38100" dist="38100" dir="2700000" algn="tl">
                    <a:srgbClr val="C0C0C0"/>
                  </a:outerShdw>
                </a:effectLst>
              </a:rPr>
              <a:t>n</a:t>
            </a:r>
            <a:r>
              <a:rPr lang="zh-CN" altLang="en-US" sz="2800" b="1" dirty="0">
                <a:effectLst>
                  <a:outerShdw blurRad="38100" dist="38100" dir="2700000" algn="tl">
                    <a:srgbClr val="C0C0C0"/>
                  </a:outerShdw>
                </a:effectLst>
              </a:rPr>
              <a:t>和</a:t>
            </a:r>
            <a:r>
              <a:rPr lang="en-US" altLang="zh-CN" sz="2800" b="1" dirty="0">
                <a:effectLst>
                  <a:outerShdw blurRad="38100" dist="38100" dir="2700000" algn="tl">
                    <a:srgbClr val="C0C0C0"/>
                  </a:outerShdw>
                </a:effectLst>
              </a:rPr>
              <a:t>m</a:t>
            </a:r>
            <a:r>
              <a:rPr lang="zh-CN" altLang="en-US" sz="2800" b="1" dirty="0">
                <a:effectLst>
                  <a:outerShdw blurRad="38100" dist="38100" dir="2700000" algn="tl">
                    <a:srgbClr val="C0C0C0"/>
                  </a:outerShdw>
                </a:effectLst>
              </a:rPr>
              <a:t>，接着将数组的前</a:t>
            </a:r>
            <a:r>
              <a:rPr lang="en-US" altLang="zh-CN" sz="2800" b="1" dirty="0">
                <a:effectLst>
                  <a:outerShdw blurRad="38100" dist="38100" dir="2700000" algn="tl">
                    <a:srgbClr val="C0C0C0"/>
                  </a:outerShdw>
                </a:effectLst>
              </a:rPr>
              <a:t>n</a:t>
            </a:r>
            <a:r>
              <a:rPr lang="zh-CN" altLang="en-US" sz="2800" b="1" dirty="0">
                <a:effectLst>
                  <a:outerShdw blurRad="38100" dist="38100" dir="2700000" algn="tl">
                    <a:srgbClr val="C0C0C0"/>
                  </a:outerShdw>
                </a:effectLst>
              </a:rPr>
              <a:t>个元素顺序设置成</a:t>
            </a:r>
            <a:r>
              <a:rPr lang="en-US" altLang="zh-CN" sz="2800" b="1" dirty="0">
                <a:effectLst>
                  <a:outerShdw blurRad="38100" dist="38100" dir="2700000" algn="tl">
                    <a:srgbClr val="C0C0C0"/>
                  </a:outerShdw>
                </a:effectLst>
              </a:rPr>
              <a:t>1</a:t>
            </a:r>
            <a:r>
              <a:rPr lang="zh-CN" altLang="en-US" sz="2800" b="1" dirty="0">
                <a:effectLst>
                  <a:outerShdw blurRad="38100" dist="38100" dir="2700000" algn="tl">
                    <a:srgbClr val="C0C0C0"/>
                  </a:outerShdw>
                </a:effectLst>
              </a:rPr>
              <a:t>至</a:t>
            </a:r>
            <a:r>
              <a:rPr lang="en-US" altLang="zh-CN" sz="2800" b="1" dirty="0">
                <a:effectLst>
                  <a:outerShdw blurRad="38100" dist="38100" dir="2700000" algn="tl">
                    <a:srgbClr val="C0C0C0"/>
                  </a:outerShdw>
                </a:effectLst>
              </a:rPr>
              <a:t>n</a:t>
            </a:r>
            <a:r>
              <a:rPr lang="zh-CN" altLang="en-US" sz="2800" b="1" dirty="0">
                <a:effectLst>
                  <a:outerShdw blurRad="38100" dist="38100" dir="2700000" algn="tl">
                    <a:srgbClr val="C0C0C0"/>
                  </a:outerShdw>
                </a:effectLst>
              </a:rPr>
              <a:t>，表示</a:t>
            </a:r>
            <a:r>
              <a:rPr lang="en-US" altLang="zh-CN" sz="2800" b="1" dirty="0">
                <a:effectLst>
                  <a:outerShdw blurRad="38100" dist="38100" dir="2700000" algn="tl">
                    <a:srgbClr val="C0C0C0"/>
                  </a:outerShdw>
                </a:effectLst>
              </a:rPr>
              <a:t>n</a:t>
            </a:r>
            <a:r>
              <a:rPr lang="zh-CN" altLang="en-US" sz="2800" b="1" dirty="0">
                <a:effectLst>
                  <a:outerShdw blurRad="38100" dist="38100" dir="2700000" algn="tl">
                    <a:srgbClr val="C0C0C0"/>
                  </a:outerShdw>
                </a:effectLst>
              </a:rPr>
              <a:t>个人按编号顺序站成一个圆圈。然后，求</a:t>
            </a:r>
            <a:r>
              <a:rPr lang="en-US" altLang="zh-CN" sz="2800" b="1" dirty="0">
                <a:effectLst>
                  <a:outerShdw blurRad="38100" dist="38100" dir="2700000" algn="tl">
                    <a:srgbClr val="C0C0C0"/>
                  </a:outerShdw>
                </a:effectLst>
              </a:rPr>
              <a:t>n</a:t>
            </a:r>
            <a:r>
              <a:rPr lang="zh-CN" altLang="en-US" sz="2800" b="1" dirty="0">
                <a:effectLst>
                  <a:outerShdw blurRad="38100" dist="38100" dir="2700000" algn="tl">
                    <a:srgbClr val="C0C0C0"/>
                  </a:outerShdw>
                </a:effectLst>
              </a:rPr>
              <a:t>人的出列顺序。</a:t>
            </a:r>
          </a:p>
          <a:p>
            <a:pPr marL="0" indent="0" eaLnBrk="1" fontAlgn="auto" hangingPunct="1">
              <a:spcAft>
                <a:spcPts val="0"/>
              </a:spcAft>
              <a:buClr>
                <a:schemeClr val="accent3"/>
              </a:buClr>
              <a:buFont typeface="Wingdings" pitchFamily="2" charset="2"/>
              <a:buNone/>
              <a:defRPr/>
            </a:pPr>
            <a:endParaRPr lang="zh-CN" altLang="en-US" sz="2800" b="1" dirty="0">
              <a:effectLst>
                <a:outerShdw blurRad="38100" dist="38100" dir="2700000" algn="tl">
                  <a:srgbClr val="C0C0C0"/>
                </a:outerShdw>
              </a:effectLst>
            </a:endParaRPr>
          </a:p>
          <a:p>
            <a:pPr marL="0" indent="0" eaLnBrk="1" fontAlgn="auto" hangingPunct="1">
              <a:spcAft>
                <a:spcPts val="0"/>
              </a:spcAft>
              <a:buClr>
                <a:schemeClr val="accent3"/>
              </a:buClr>
              <a:buFont typeface="Wingdings" pitchFamily="2" charset="2"/>
              <a:buNone/>
              <a:defRPr/>
            </a:pPr>
            <a:r>
              <a:rPr lang="zh-CN" altLang="en-US" sz="2800" b="1" dirty="0">
                <a:effectLst>
                  <a:outerShdw blurRad="38100" dist="38100" dir="2700000" algn="tl">
                    <a:srgbClr val="C0C0C0"/>
                  </a:outerShdw>
                </a:effectLst>
              </a:rPr>
              <a:t>令</a:t>
            </a:r>
            <a:r>
              <a:rPr lang="en-US" altLang="zh-CN" sz="2800" b="1" dirty="0">
                <a:effectLst>
                  <a:outerShdw blurRad="38100" dist="38100" dir="2700000" algn="tl">
                    <a:srgbClr val="C0C0C0"/>
                  </a:outerShdw>
                </a:effectLst>
              </a:rPr>
              <a:t>a[j]</a:t>
            </a:r>
            <a:r>
              <a:rPr lang="zh-CN" altLang="en-US" sz="2800" b="1" dirty="0">
                <a:effectLst>
                  <a:outerShdw blurRad="38100" dist="38100" dir="2700000" algn="tl">
                    <a:srgbClr val="C0C0C0"/>
                  </a:outerShdw>
                </a:effectLst>
              </a:rPr>
              <a:t>是当前报数者，从第一个人开始报数，</a:t>
            </a:r>
            <a:r>
              <a:rPr lang="en-US" altLang="zh-CN" sz="2800" b="1" dirty="0">
                <a:effectLst>
                  <a:outerShdw blurRad="38100" dist="38100" dir="2700000" algn="tl">
                    <a:srgbClr val="C0C0C0"/>
                  </a:outerShdw>
                </a:effectLst>
              </a:rPr>
              <a:t>j</a:t>
            </a:r>
            <a:r>
              <a:rPr lang="zh-CN" altLang="en-US" sz="2800" b="1" dirty="0">
                <a:effectLst>
                  <a:outerShdw blurRad="38100" dist="38100" dir="2700000" algn="tl">
                    <a:srgbClr val="C0C0C0"/>
                  </a:outerShdw>
                </a:effectLst>
              </a:rPr>
              <a:t>的初值为</a:t>
            </a:r>
            <a:r>
              <a:rPr lang="en-US" altLang="zh-CN" sz="2800" b="1" dirty="0">
                <a:effectLst>
                  <a:outerShdw blurRad="38100" dist="38100" dir="2700000" algn="tl">
                    <a:srgbClr val="C0C0C0"/>
                  </a:outerShdw>
                </a:effectLst>
              </a:rPr>
              <a:t>0</a:t>
            </a:r>
            <a:r>
              <a:rPr lang="zh-CN" altLang="en-US" sz="2800" b="1" dirty="0">
                <a:effectLst>
                  <a:outerShdw blurRad="38100" dist="38100" dir="2700000" algn="tl">
                    <a:srgbClr val="C0C0C0"/>
                  </a:outerShdw>
                </a:effectLst>
              </a:rPr>
              <a:t>。如果</a:t>
            </a:r>
            <a:r>
              <a:rPr lang="en-US" altLang="zh-CN" sz="2800" b="1" dirty="0">
                <a:effectLst>
                  <a:outerShdw blurRad="38100" dist="38100" dir="2700000" algn="tl">
                    <a:srgbClr val="C0C0C0"/>
                  </a:outerShdw>
                </a:effectLst>
              </a:rPr>
              <a:t>a[j]</a:t>
            </a:r>
            <a:r>
              <a:rPr lang="zh-CN" altLang="en-US" sz="2800" b="1" dirty="0">
                <a:effectLst>
                  <a:outerShdw blurRad="38100" dist="38100" dir="2700000" algn="tl">
                    <a:srgbClr val="C0C0C0"/>
                  </a:outerShdw>
                </a:effectLst>
              </a:rPr>
              <a:t>的报数为</a:t>
            </a:r>
            <a:r>
              <a:rPr lang="en-US" altLang="zh-CN" sz="2800" b="1" dirty="0">
                <a:effectLst>
                  <a:outerShdw blurRad="38100" dist="38100" dir="2700000" algn="tl">
                    <a:srgbClr val="C0C0C0"/>
                  </a:outerShdw>
                </a:effectLst>
              </a:rPr>
              <a:t>m</a:t>
            </a:r>
            <a:r>
              <a:rPr lang="zh-CN" altLang="en-US" sz="2800" b="1" dirty="0">
                <a:effectLst>
                  <a:outerShdw blurRad="38100" dist="38100" dir="2700000" algn="tl">
                    <a:srgbClr val="C0C0C0"/>
                  </a:outerShdw>
                </a:effectLst>
              </a:rPr>
              <a:t>，则他的编号</a:t>
            </a:r>
            <a:r>
              <a:rPr lang="en-US" altLang="zh-CN" sz="2800" b="1" dirty="0">
                <a:effectLst>
                  <a:outerShdw blurRad="38100" dist="38100" dir="2700000" algn="tl">
                    <a:srgbClr val="C0C0C0"/>
                  </a:outerShdw>
                </a:effectLst>
              </a:rPr>
              <a:t>a[j]</a:t>
            </a:r>
            <a:r>
              <a:rPr lang="zh-CN" altLang="en-US" sz="2800" b="1" dirty="0">
                <a:effectLst>
                  <a:outerShdw blurRad="38100" dist="38100" dir="2700000" algn="tl">
                    <a:srgbClr val="C0C0C0"/>
                  </a:outerShdw>
                </a:effectLst>
              </a:rPr>
              <a:t>输出，并将</a:t>
            </a:r>
            <a:r>
              <a:rPr lang="en-US" altLang="zh-CN" sz="2800" b="1" dirty="0">
                <a:effectLst>
                  <a:outerShdw blurRad="38100" dist="38100" dir="2700000" algn="tl">
                    <a:srgbClr val="C0C0C0"/>
                  </a:outerShdw>
                </a:effectLst>
              </a:rPr>
              <a:t>a[j]</a:t>
            </a:r>
            <a:r>
              <a:rPr lang="zh-CN" altLang="en-US" sz="2800" b="1" dirty="0">
                <a:effectLst>
                  <a:outerShdw blurRad="38100" dist="38100" dir="2700000" algn="tl">
                    <a:srgbClr val="C0C0C0"/>
                  </a:outerShdw>
                </a:effectLst>
              </a:rPr>
              <a:t>改为</a:t>
            </a:r>
            <a:r>
              <a:rPr lang="en-US" altLang="zh-CN" sz="2800" b="1" dirty="0">
                <a:effectLst>
                  <a:outerShdw blurRad="38100" dist="38100" dir="2700000" algn="tl">
                    <a:srgbClr val="C0C0C0"/>
                  </a:outerShdw>
                </a:effectLst>
              </a:rPr>
              <a:t>0</a:t>
            </a:r>
            <a:r>
              <a:rPr lang="zh-CN" altLang="en-US" sz="2800" b="1" dirty="0">
                <a:effectLst>
                  <a:outerShdw blurRad="38100" dist="38100" dir="2700000" algn="tl">
                    <a:srgbClr val="C0C0C0"/>
                  </a:outerShdw>
                </a:effectLst>
              </a:rPr>
              <a:t>，表示对应的人已出列。让</a:t>
            </a:r>
            <a:r>
              <a:rPr lang="en-US" altLang="zh-CN" sz="2800" b="1" dirty="0" err="1">
                <a:effectLst>
                  <a:outerShdw blurRad="38100" dist="38100" dir="2700000" algn="tl">
                    <a:srgbClr val="C0C0C0"/>
                  </a:outerShdw>
                </a:effectLst>
              </a:rPr>
              <a:t>i</a:t>
            </a:r>
            <a:r>
              <a:rPr lang="zh-CN" altLang="en-US" sz="2800" b="1" dirty="0">
                <a:effectLst>
                  <a:outerShdw blurRad="38100" dist="38100" dir="2700000" algn="tl">
                    <a:srgbClr val="C0C0C0"/>
                  </a:outerShdw>
                </a:effectLst>
              </a:rPr>
              <a:t>从</a:t>
            </a:r>
            <a:r>
              <a:rPr lang="en-US" altLang="zh-CN" sz="2800" b="1" dirty="0">
                <a:effectLst>
                  <a:outerShdw blurRad="38100" dist="38100" dir="2700000" algn="tl">
                    <a:srgbClr val="C0C0C0"/>
                  </a:outerShdw>
                </a:effectLst>
              </a:rPr>
              <a:t>0</a:t>
            </a:r>
            <a:r>
              <a:rPr lang="zh-CN" altLang="en-US" sz="2800" b="1" dirty="0">
                <a:effectLst>
                  <a:outerShdw blurRad="38100" dist="38100" dir="2700000" algn="tl">
                    <a:srgbClr val="C0C0C0"/>
                  </a:outerShdw>
                </a:effectLst>
              </a:rPr>
              <a:t>至</a:t>
            </a:r>
            <a:r>
              <a:rPr lang="en-US" altLang="zh-CN" sz="2800" b="1" dirty="0">
                <a:effectLst>
                  <a:outerShdw blurRad="38100" dist="38100" dir="2700000" algn="tl">
                    <a:srgbClr val="C0C0C0"/>
                  </a:outerShdw>
                </a:effectLst>
              </a:rPr>
              <a:t>n-1</a:t>
            </a:r>
            <a:r>
              <a:rPr lang="zh-CN" altLang="en-US" sz="2800" b="1" dirty="0">
                <a:effectLst>
                  <a:outerShdw blurRad="38100" dist="38100" dir="2700000" algn="tl">
                    <a:srgbClr val="C0C0C0"/>
                  </a:outerShdw>
                </a:effectLst>
              </a:rPr>
              <a:t>变化，表示共出列</a:t>
            </a:r>
            <a:r>
              <a:rPr lang="en-US" altLang="zh-CN" sz="2800" b="1" dirty="0">
                <a:effectLst>
                  <a:outerShdw blurRad="38100" dist="38100" dir="2700000" algn="tl">
                    <a:srgbClr val="C0C0C0"/>
                  </a:outerShdw>
                </a:effectLst>
              </a:rPr>
              <a:t>n</a:t>
            </a:r>
            <a:r>
              <a:rPr lang="zh-CN" altLang="en-US" sz="2800" b="1" dirty="0">
                <a:effectLst>
                  <a:outerShdw blurRad="38100" dist="38100" dir="2700000" algn="tl">
                    <a:srgbClr val="C0C0C0"/>
                  </a:outerShdw>
                </a:effectLst>
              </a:rPr>
              <a:t>次。每次出列之前要报数</a:t>
            </a:r>
            <a:r>
              <a:rPr lang="en-US" altLang="zh-CN" sz="2800" b="1" dirty="0">
                <a:effectLst>
                  <a:outerShdw blurRad="38100" dist="38100" dir="2700000" algn="tl">
                    <a:srgbClr val="C0C0C0"/>
                  </a:outerShdw>
                </a:effectLst>
              </a:rPr>
              <a:t>m</a:t>
            </a:r>
            <a:r>
              <a:rPr lang="zh-CN" altLang="en-US" sz="2800" b="1" dirty="0">
                <a:effectLst>
                  <a:outerShdw blurRad="38100" dist="38100" dir="2700000" algn="tl">
                    <a:srgbClr val="C0C0C0"/>
                  </a:outerShdw>
                </a:effectLst>
              </a:rPr>
              <a:t>次，引入</a:t>
            </a:r>
            <a:r>
              <a:rPr lang="en-US" altLang="zh-CN" sz="2800" b="1" dirty="0">
                <a:effectLst>
                  <a:outerShdw blurRad="38100" dist="38100" dir="2700000" algn="tl">
                    <a:srgbClr val="C0C0C0"/>
                  </a:outerShdw>
                </a:effectLst>
              </a:rPr>
              <a:t>k</a:t>
            </a:r>
            <a:r>
              <a:rPr lang="zh-CN" altLang="en-US" sz="2800" b="1" dirty="0">
                <a:effectLst>
                  <a:outerShdw blurRad="38100" dist="38100" dir="2700000" algn="tl">
                    <a:srgbClr val="C0C0C0"/>
                  </a:outerShdw>
                </a:effectLst>
              </a:rPr>
              <a:t>计数报数次数。出列的人不再报数</a:t>
            </a:r>
            <a:r>
              <a:rPr lang="en-US" altLang="zh-CN" sz="2800" b="1" dirty="0">
                <a:effectLst>
                  <a:outerShdw blurRad="38100" dist="38100" dir="2700000" algn="tl">
                    <a:srgbClr val="C0C0C0"/>
                  </a:outerShdw>
                </a:effectLst>
              </a:rPr>
              <a:t>.</a:t>
            </a:r>
            <a:endParaRPr lang="zh-CN" altLang="en-US" sz="2800" b="1" dirty="0">
              <a:effectLst>
                <a:outerShdw blurRad="38100" dist="38100" dir="2700000" algn="tl">
                  <a:srgbClr val="C0C0C0"/>
                </a:outerShdw>
              </a:effectLst>
            </a:endParaRPr>
          </a:p>
        </p:txBody>
      </p:sp>
      <p:sp>
        <p:nvSpPr>
          <p:cNvPr id="5" name="灯片编号占位符 5"/>
          <p:cNvSpPr>
            <a:spLocks noGrp="1"/>
          </p:cNvSpPr>
          <p:nvPr>
            <p:ph type="sldNum" sz="quarter" idx="12"/>
          </p:nvPr>
        </p:nvSpPr>
        <p:spPr/>
        <p:txBody>
          <a:bodyPr/>
          <a:lstStyle/>
          <a:p>
            <a:pPr>
              <a:defRPr/>
            </a:pPr>
            <a:fld id="{84529D1B-B5F0-487E-A6B5-756BF950B432}" type="slidenum">
              <a:rPr lang="en-US" altLang="zh-CN"/>
              <a:pPr>
                <a:defRPr/>
              </a:pPr>
              <a:t>57</a:t>
            </a:fld>
            <a:endParaRPr lang="en-US" altLang="zh-CN"/>
          </a:p>
        </p:txBody>
      </p:sp>
    </p:spTree>
  </p:cSld>
  <p:clrMapOvr>
    <a:masterClrMapping/>
  </p:clrMapOv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8322" name="Rectangle 2"/>
          <p:cNvSpPr>
            <a:spLocks noGrp="1" noChangeArrowheads="1"/>
          </p:cNvSpPr>
          <p:nvPr>
            <p:ph idx="1"/>
          </p:nvPr>
        </p:nvSpPr>
        <p:spPr>
          <a:xfrm>
            <a:off x="500063" y="881063"/>
            <a:ext cx="8294687" cy="5262562"/>
          </a:xfrm>
        </p:spPr>
        <p:txBody>
          <a:bodyPr>
            <a:normAutofit/>
          </a:bodyPr>
          <a:lstStyle/>
          <a:p>
            <a:pPr marL="0" indent="0" eaLnBrk="1" fontAlgn="auto" hangingPunct="1">
              <a:spcAft>
                <a:spcPts val="600"/>
              </a:spcAft>
              <a:buClr>
                <a:schemeClr val="accent3"/>
              </a:buClr>
              <a:buFont typeface="Wingdings" pitchFamily="2" charset="2"/>
              <a:buNone/>
              <a:defRPr/>
            </a:pPr>
            <a:r>
              <a:rPr lang="zh-CN" altLang="en-US" sz="3200" b="1" dirty="0">
                <a:effectLst>
                  <a:outerShdw blurRad="38100" dist="38100" dir="2700000" algn="tl">
                    <a:srgbClr val="C0C0C0"/>
                  </a:outerShdw>
                </a:effectLst>
              </a:rPr>
              <a:t>报数过程用循环实现，如果</a:t>
            </a:r>
            <a:r>
              <a:rPr lang="en-US" altLang="zh-CN" sz="3200" b="1" dirty="0">
                <a:effectLst>
                  <a:outerShdw blurRad="38100" dist="38100" dir="2700000" algn="tl">
                    <a:srgbClr val="C0C0C0"/>
                  </a:outerShdw>
                </a:effectLst>
              </a:rPr>
              <a:t>a[j]</a:t>
            </a:r>
            <a:r>
              <a:rPr lang="zh-CN" altLang="en-US" sz="3200" b="1" dirty="0">
                <a:effectLst>
                  <a:outerShdw blurRad="38100" dist="38100" dir="2700000" algn="tl">
                    <a:srgbClr val="C0C0C0"/>
                  </a:outerShdw>
                </a:effectLst>
              </a:rPr>
              <a:t>的值为</a:t>
            </a:r>
            <a:r>
              <a:rPr lang="en-US" altLang="zh-CN" sz="3200" b="1" dirty="0">
                <a:effectLst>
                  <a:outerShdw blurRad="38100" dist="38100" dir="2700000" algn="tl">
                    <a:srgbClr val="C0C0C0"/>
                  </a:outerShdw>
                </a:effectLst>
              </a:rPr>
              <a:t>0</a:t>
            </a:r>
            <a:r>
              <a:rPr lang="zh-CN" altLang="en-US" sz="3200" b="1" dirty="0">
                <a:effectLst>
                  <a:outerShdw blurRad="38100" dist="38100" dir="2700000" algn="tl">
                    <a:srgbClr val="C0C0C0"/>
                  </a:outerShdw>
                </a:effectLst>
              </a:rPr>
              <a:t>，表示该人已出列；如果</a:t>
            </a:r>
            <a:r>
              <a:rPr lang="en-US" altLang="zh-CN" sz="3200" b="1" dirty="0">
                <a:effectLst>
                  <a:outerShdw blurRad="38100" dist="38100" dir="2700000" algn="tl">
                    <a:srgbClr val="C0C0C0"/>
                  </a:outerShdw>
                </a:effectLst>
              </a:rPr>
              <a:t>a[j]</a:t>
            </a:r>
            <a:r>
              <a:rPr lang="zh-CN" altLang="en-US" sz="3200" b="1" dirty="0">
                <a:effectLst>
                  <a:outerShdw blurRad="38100" dist="38100" dir="2700000" algn="tl">
                    <a:srgbClr val="C0C0C0"/>
                  </a:outerShdw>
                </a:effectLst>
              </a:rPr>
              <a:t>的值不为</a:t>
            </a:r>
            <a:r>
              <a:rPr lang="en-US" altLang="zh-CN" sz="3200" b="1" dirty="0">
                <a:effectLst>
                  <a:outerShdw blurRad="38100" dist="38100" dir="2700000" algn="tl">
                    <a:srgbClr val="C0C0C0"/>
                  </a:outerShdw>
                </a:effectLst>
              </a:rPr>
              <a:t>0</a:t>
            </a:r>
            <a:r>
              <a:rPr lang="zh-CN" altLang="en-US" sz="3200" b="1" dirty="0">
                <a:effectLst>
                  <a:outerShdw blurRad="38100" dist="38100" dir="2700000" algn="tl">
                    <a:srgbClr val="C0C0C0"/>
                  </a:outerShdw>
                </a:effectLst>
              </a:rPr>
              <a:t>，表示该人还未出列，该人报数，让</a:t>
            </a:r>
            <a:r>
              <a:rPr lang="en-US" altLang="zh-CN" sz="3200" b="1" dirty="0">
                <a:effectLst>
                  <a:outerShdw blurRad="38100" dist="38100" dir="2700000" algn="tl">
                    <a:srgbClr val="C0C0C0"/>
                  </a:outerShdw>
                </a:effectLst>
              </a:rPr>
              <a:t>k</a:t>
            </a:r>
            <a:r>
              <a:rPr lang="zh-CN" altLang="en-US" sz="3200" b="1" dirty="0">
                <a:effectLst>
                  <a:outerShdw blurRad="38100" dist="38100" dir="2700000" algn="tl">
                    <a:srgbClr val="C0C0C0"/>
                  </a:outerShdw>
                </a:effectLst>
              </a:rPr>
              <a:t>增</a:t>
            </a:r>
            <a:r>
              <a:rPr lang="en-US" altLang="zh-CN" sz="3200" b="1" dirty="0">
                <a:effectLst>
                  <a:outerShdw blurRad="38100" dist="38100" dir="2700000" algn="tl">
                    <a:srgbClr val="C0C0C0"/>
                  </a:outerShdw>
                </a:effectLst>
              </a:rPr>
              <a:t>1</a:t>
            </a:r>
            <a:r>
              <a:rPr lang="zh-CN" altLang="en-US" sz="3200" b="1" dirty="0">
                <a:effectLst>
                  <a:outerShdw blurRad="38100" dist="38100" dir="2700000" algn="tl">
                    <a:srgbClr val="C0C0C0"/>
                  </a:outerShdw>
                </a:effectLst>
              </a:rPr>
              <a:t>。如果增</a:t>
            </a:r>
            <a:r>
              <a:rPr lang="en-US" altLang="zh-CN" sz="3200" b="1" dirty="0">
                <a:effectLst>
                  <a:outerShdw blurRad="38100" dist="38100" dir="2700000" algn="tl">
                    <a:srgbClr val="C0C0C0"/>
                  </a:outerShdw>
                </a:effectLst>
              </a:rPr>
              <a:t>1</a:t>
            </a:r>
            <a:r>
              <a:rPr lang="zh-CN" altLang="en-US" sz="3200" b="1" dirty="0">
                <a:effectLst>
                  <a:outerShdw blurRad="38100" dist="38100" dir="2700000" algn="tl">
                    <a:srgbClr val="C0C0C0"/>
                  </a:outerShdw>
                </a:effectLst>
              </a:rPr>
              <a:t>后的</a:t>
            </a:r>
            <a:r>
              <a:rPr lang="en-US" altLang="zh-CN" sz="3200" b="1" dirty="0">
                <a:effectLst>
                  <a:outerShdw blurRad="38100" dist="38100" dir="2700000" algn="tl">
                    <a:srgbClr val="C0C0C0"/>
                  </a:outerShdw>
                </a:effectLst>
              </a:rPr>
              <a:t>k</a:t>
            </a:r>
            <a:r>
              <a:rPr lang="zh-CN" altLang="en-US" sz="3200" b="1" dirty="0">
                <a:effectLst>
                  <a:outerShdw blurRad="38100" dist="38100" dir="2700000" algn="tl">
                    <a:srgbClr val="C0C0C0"/>
                  </a:outerShdw>
                </a:effectLst>
              </a:rPr>
              <a:t>值为</a:t>
            </a:r>
            <a:r>
              <a:rPr lang="en-US" altLang="zh-CN" sz="3200" b="1" dirty="0">
                <a:effectLst>
                  <a:outerShdw blurRad="38100" dist="38100" dir="2700000" algn="tl">
                    <a:srgbClr val="C0C0C0"/>
                  </a:outerShdw>
                </a:effectLst>
              </a:rPr>
              <a:t>m</a:t>
            </a:r>
            <a:r>
              <a:rPr lang="zh-CN" altLang="en-US" sz="3200" b="1" dirty="0">
                <a:effectLst>
                  <a:outerShdw blurRad="38100" dist="38100" dir="2700000" algn="tl">
                    <a:srgbClr val="C0C0C0"/>
                  </a:outerShdw>
                </a:effectLst>
              </a:rPr>
              <a:t>，表示</a:t>
            </a:r>
            <a:r>
              <a:rPr lang="en-US" altLang="zh-CN" sz="3200" b="1" dirty="0">
                <a:effectLst>
                  <a:outerShdw blurRad="38100" dist="38100" dir="2700000" algn="tl">
                    <a:srgbClr val="C0C0C0"/>
                  </a:outerShdw>
                </a:effectLst>
              </a:rPr>
              <a:t>a[j]</a:t>
            </a:r>
            <a:r>
              <a:rPr lang="zh-CN" altLang="en-US" sz="3200" b="1" dirty="0">
                <a:effectLst>
                  <a:outerShdw blurRad="38100" dist="38100" dir="2700000" algn="tl">
                    <a:srgbClr val="C0C0C0"/>
                  </a:outerShdw>
                </a:effectLst>
              </a:rPr>
              <a:t>是这轮报数</a:t>
            </a:r>
            <a:r>
              <a:rPr lang="en-US" altLang="zh-CN" sz="3200" b="1" dirty="0">
                <a:effectLst>
                  <a:outerShdw blurRad="38100" dist="38100" dir="2700000" algn="tl">
                    <a:srgbClr val="C0C0C0"/>
                  </a:outerShdw>
                </a:effectLst>
              </a:rPr>
              <a:t>m</a:t>
            </a:r>
            <a:r>
              <a:rPr lang="zh-CN" altLang="en-US" sz="3200" b="1" dirty="0">
                <a:effectLst>
                  <a:outerShdw blurRad="38100" dist="38100" dir="2700000" algn="tl">
                    <a:srgbClr val="C0C0C0"/>
                  </a:outerShdw>
                </a:effectLst>
              </a:rPr>
              <a:t>的人，这一次的报数循环结束，让</a:t>
            </a:r>
            <a:r>
              <a:rPr lang="en-US" altLang="zh-CN" sz="3200" b="1" dirty="0">
                <a:effectLst>
                  <a:outerShdw blurRad="38100" dist="38100" dir="2700000" algn="tl">
                    <a:srgbClr val="C0C0C0"/>
                  </a:outerShdw>
                </a:effectLst>
              </a:rPr>
              <a:t>a[j]</a:t>
            </a:r>
            <a:r>
              <a:rPr lang="zh-CN" altLang="en-US" sz="3200" b="1" dirty="0">
                <a:effectLst>
                  <a:outerShdw blurRad="38100" dist="38100" dir="2700000" algn="tl">
                    <a:srgbClr val="C0C0C0"/>
                  </a:outerShdw>
                </a:effectLst>
              </a:rPr>
              <a:t>出列。为了表示这</a:t>
            </a:r>
            <a:r>
              <a:rPr lang="en-US" altLang="zh-CN" sz="3200" b="1" dirty="0">
                <a:effectLst>
                  <a:outerShdw blurRad="38100" dist="38100" dir="2700000" algn="tl">
                    <a:srgbClr val="C0C0C0"/>
                  </a:outerShdw>
                </a:effectLst>
              </a:rPr>
              <a:t>n</a:t>
            </a:r>
            <a:r>
              <a:rPr lang="zh-CN" altLang="en-US" sz="3200" b="1" dirty="0">
                <a:effectLst>
                  <a:outerShdw blurRad="38100" dist="38100" dir="2700000" algn="tl">
                    <a:srgbClr val="C0C0C0"/>
                  </a:outerShdw>
                </a:effectLst>
              </a:rPr>
              <a:t>人站成一个圆圈，实现考察下一个人的</a:t>
            </a:r>
            <a:r>
              <a:rPr lang="en-US" altLang="zh-CN" sz="3200" b="1" dirty="0">
                <a:effectLst>
                  <a:outerShdw blurRad="38100" dist="38100" dir="2700000" algn="tl">
                    <a:srgbClr val="C0C0C0"/>
                  </a:outerShdw>
                </a:effectLst>
              </a:rPr>
              <a:t>j</a:t>
            </a:r>
            <a:r>
              <a:rPr lang="zh-CN" altLang="en-US" sz="3200" b="1" dirty="0">
                <a:solidFill>
                  <a:srgbClr val="FF0000"/>
                </a:solidFill>
                <a:effectLst>
                  <a:outerShdw blurRad="38100" dist="38100" dir="2700000" algn="tl">
                    <a:srgbClr val="C0C0C0"/>
                  </a:outerShdw>
                </a:effectLst>
              </a:rPr>
              <a:t>增</a:t>
            </a:r>
            <a:r>
              <a:rPr lang="en-US" altLang="zh-CN" sz="3200" b="1" dirty="0">
                <a:solidFill>
                  <a:srgbClr val="FF0000"/>
                </a:solidFill>
                <a:effectLst>
                  <a:outerShdw blurRad="38100" dist="38100" dir="2700000" algn="tl">
                    <a:srgbClr val="C0C0C0"/>
                  </a:outerShdw>
                </a:effectLst>
              </a:rPr>
              <a:t>1</a:t>
            </a:r>
            <a:r>
              <a:rPr lang="zh-CN" altLang="en-US" sz="3200" b="1" dirty="0">
                <a:solidFill>
                  <a:srgbClr val="FF0000"/>
                </a:solidFill>
                <a:effectLst>
                  <a:outerShdw blurRad="38100" dist="38100" dir="2700000" algn="tl">
                    <a:srgbClr val="C0C0C0"/>
                  </a:outerShdw>
                </a:effectLst>
              </a:rPr>
              <a:t>代码需写成</a:t>
            </a:r>
            <a:r>
              <a:rPr lang="en-US" altLang="zh-CN" sz="3200" b="1" dirty="0">
                <a:solidFill>
                  <a:srgbClr val="FF0000"/>
                </a:solidFill>
                <a:effectLst>
                  <a:outerShdw blurRad="38100" dist="38100" dir="2700000" algn="tl">
                    <a:srgbClr val="C0C0C0"/>
                  </a:outerShdw>
                </a:effectLst>
              </a:rPr>
              <a:t>j=(j+1)%n</a:t>
            </a:r>
            <a:r>
              <a:rPr lang="zh-CN" altLang="en-US" sz="3200" b="1" dirty="0">
                <a:effectLst>
                  <a:outerShdw blurRad="38100" dist="38100" dir="2700000" algn="tl">
                    <a:srgbClr val="C0C0C0"/>
                  </a:outerShdw>
                </a:effectLst>
              </a:rPr>
              <a:t>。表示</a:t>
            </a:r>
            <a:r>
              <a:rPr lang="en-US" altLang="zh-CN" sz="3200" b="1" dirty="0">
                <a:effectLst>
                  <a:outerShdw blurRad="38100" dist="38100" dir="2700000" algn="tl">
                    <a:srgbClr val="C0C0C0"/>
                  </a:outerShdw>
                </a:effectLst>
              </a:rPr>
              <a:t>j</a:t>
            </a:r>
            <a:r>
              <a:rPr lang="zh-CN" altLang="en-US" sz="3200" b="1" dirty="0">
                <a:effectLst>
                  <a:outerShdw blurRad="38100" dist="38100" dir="2700000" algn="tl">
                    <a:srgbClr val="C0C0C0"/>
                  </a:outerShdw>
                </a:effectLst>
              </a:rPr>
              <a:t>不等于</a:t>
            </a:r>
            <a:r>
              <a:rPr lang="en-US" altLang="zh-CN" sz="3200" b="1" dirty="0">
                <a:effectLst>
                  <a:outerShdw blurRad="38100" dist="38100" dir="2700000" algn="tl">
                    <a:srgbClr val="C0C0C0"/>
                  </a:outerShdw>
                </a:effectLst>
              </a:rPr>
              <a:t>n-1</a:t>
            </a:r>
            <a:r>
              <a:rPr lang="zh-CN" altLang="en-US" sz="3200" b="1" dirty="0">
                <a:effectLst>
                  <a:outerShdw blurRad="38100" dist="38100" dir="2700000" algn="tl">
                    <a:srgbClr val="C0C0C0"/>
                  </a:outerShdw>
                </a:effectLst>
              </a:rPr>
              <a:t>时，</a:t>
            </a:r>
            <a:r>
              <a:rPr lang="en-US" altLang="zh-CN" sz="3200" b="1" dirty="0">
                <a:effectLst>
                  <a:outerShdw blurRad="38100" dist="38100" dir="2700000" algn="tl">
                    <a:srgbClr val="C0C0C0"/>
                  </a:outerShdw>
                </a:effectLst>
              </a:rPr>
              <a:t>j</a:t>
            </a:r>
            <a:r>
              <a:rPr lang="zh-CN" altLang="en-US" sz="3200" b="1" dirty="0">
                <a:effectLst>
                  <a:outerShdw blurRad="38100" dist="38100" dir="2700000" algn="tl">
                    <a:srgbClr val="C0C0C0"/>
                  </a:outerShdw>
                </a:effectLst>
              </a:rPr>
              <a:t>简单地增</a:t>
            </a:r>
            <a:r>
              <a:rPr lang="en-US" altLang="zh-CN" sz="3200" b="1" dirty="0">
                <a:effectLst>
                  <a:outerShdw blurRad="38100" dist="38100" dir="2700000" algn="tl">
                    <a:srgbClr val="C0C0C0"/>
                  </a:outerShdw>
                </a:effectLst>
              </a:rPr>
              <a:t>1</a:t>
            </a:r>
            <a:r>
              <a:rPr lang="zh-CN" altLang="en-US" sz="3200" b="1" dirty="0">
                <a:effectLst>
                  <a:outerShdw blurRad="38100" dist="38100" dir="2700000" algn="tl">
                    <a:srgbClr val="C0C0C0"/>
                  </a:outerShdw>
                </a:effectLst>
              </a:rPr>
              <a:t>；如果</a:t>
            </a:r>
            <a:r>
              <a:rPr lang="en-US" altLang="zh-CN" sz="3200" b="1" dirty="0">
                <a:effectLst>
                  <a:outerShdw blurRad="38100" dist="38100" dir="2700000" algn="tl">
                    <a:srgbClr val="C0C0C0"/>
                  </a:outerShdw>
                </a:effectLst>
              </a:rPr>
              <a:t>j</a:t>
            </a:r>
            <a:r>
              <a:rPr lang="zh-CN" altLang="en-US" sz="3200" b="1" dirty="0">
                <a:effectLst>
                  <a:outerShdw blurRad="38100" dist="38100" dir="2700000" algn="tl">
                    <a:srgbClr val="C0C0C0"/>
                  </a:outerShdw>
                </a:effectLst>
              </a:rPr>
              <a:t>为</a:t>
            </a:r>
            <a:r>
              <a:rPr lang="en-US" altLang="zh-CN" sz="3200" b="1" dirty="0">
                <a:effectLst>
                  <a:outerShdw blurRad="38100" dist="38100" dir="2700000" algn="tl">
                    <a:srgbClr val="C0C0C0"/>
                  </a:outerShdw>
                </a:effectLst>
              </a:rPr>
              <a:t>n-1</a:t>
            </a:r>
            <a:r>
              <a:rPr lang="zh-CN" altLang="en-US" sz="3200" b="1" dirty="0">
                <a:effectLst>
                  <a:outerShdw blurRad="38100" dist="38100" dir="2700000" algn="tl">
                    <a:srgbClr val="C0C0C0"/>
                  </a:outerShdw>
                </a:effectLst>
              </a:rPr>
              <a:t>，表示最后一个人，这一次增</a:t>
            </a:r>
            <a:r>
              <a:rPr lang="en-US" altLang="zh-CN" sz="3200" b="1" dirty="0">
                <a:effectLst>
                  <a:outerShdw blurRad="38100" dist="38100" dir="2700000" algn="tl">
                    <a:srgbClr val="C0C0C0"/>
                  </a:outerShdw>
                </a:effectLst>
              </a:rPr>
              <a:t>1</a:t>
            </a:r>
            <a:r>
              <a:rPr lang="zh-CN" altLang="en-US" sz="3200" b="1" dirty="0">
                <a:effectLst>
                  <a:outerShdw blurRad="38100" dist="38100" dir="2700000" algn="tl">
                    <a:srgbClr val="C0C0C0"/>
                  </a:outerShdw>
                </a:effectLst>
              </a:rPr>
              <a:t>将对应到第一个人，</a:t>
            </a:r>
            <a:r>
              <a:rPr lang="en-US" altLang="zh-CN" sz="3200" b="1" dirty="0">
                <a:effectLst>
                  <a:outerShdw blurRad="38100" dist="38100" dir="2700000" algn="tl">
                    <a:srgbClr val="C0C0C0"/>
                  </a:outerShdw>
                </a:effectLst>
              </a:rPr>
              <a:t>j</a:t>
            </a:r>
            <a:r>
              <a:rPr lang="zh-CN" altLang="en-US" sz="3200" b="1" dirty="0">
                <a:effectLst>
                  <a:outerShdw blurRad="38100" dist="38100" dir="2700000" algn="tl">
                    <a:srgbClr val="C0C0C0"/>
                  </a:outerShdw>
                </a:effectLst>
              </a:rPr>
              <a:t>变为</a:t>
            </a:r>
            <a:r>
              <a:rPr lang="en-US" altLang="zh-CN" sz="3200" b="1" dirty="0">
                <a:effectLst>
                  <a:outerShdw blurRad="38100" dist="38100" dir="2700000" algn="tl">
                    <a:srgbClr val="C0C0C0"/>
                  </a:outerShdw>
                </a:effectLst>
              </a:rPr>
              <a:t>0</a:t>
            </a:r>
            <a:r>
              <a:rPr lang="zh-CN" altLang="en-US" sz="3200" b="1" dirty="0">
                <a:effectLst>
                  <a:outerShdw blurRad="38100" dist="38100" dir="2700000" algn="tl">
                    <a:srgbClr val="C0C0C0"/>
                  </a:outerShdw>
                </a:effectLst>
              </a:rPr>
              <a:t>。</a:t>
            </a:r>
          </a:p>
        </p:txBody>
      </p:sp>
      <p:sp>
        <p:nvSpPr>
          <p:cNvPr id="5" name="灯片编号占位符 5"/>
          <p:cNvSpPr>
            <a:spLocks noGrp="1"/>
          </p:cNvSpPr>
          <p:nvPr>
            <p:ph type="sldNum" sz="quarter" idx="12"/>
          </p:nvPr>
        </p:nvSpPr>
        <p:spPr/>
        <p:txBody>
          <a:bodyPr/>
          <a:lstStyle/>
          <a:p>
            <a:pPr>
              <a:defRPr/>
            </a:pPr>
            <a:fld id="{749A6834-E467-4864-B0FE-019CD71B4D7A}" type="slidenum">
              <a:rPr lang="en-US" altLang="zh-CN"/>
              <a:pPr>
                <a:defRPr/>
              </a:pPr>
              <a:t>58</a:t>
            </a:fld>
            <a:endParaRPr lang="en-US" altLang="zh-CN"/>
          </a:p>
        </p:txBody>
      </p:sp>
    </p:spTree>
  </p:cSld>
  <p:clrMapOvr>
    <a:masterClrMapping/>
  </p:clrMapOv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9346" name="Rectangle 2"/>
          <p:cNvSpPr>
            <a:spLocks noGrp="1" noChangeArrowheads="1"/>
          </p:cNvSpPr>
          <p:nvPr>
            <p:ph idx="1"/>
          </p:nvPr>
        </p:nvSpPr>
        <p:spPr>
          <a:xfrm>
            <a:off x="468313" y="404813"/>
            <a:ext cx="8294687" cy="5976937"/>
          </a:xfrm>
        </p:spPr>
        <p:txBody>
          <a:bodyPr>
            <a:normAutofit/>
          </a:bodyPr>
          <a:lstStyle/>
          <a:p>
            <a:pPr marL="0" indent="0" eaLnBrk="1" fontAlgn="auto" hangingPunct="1">
              <a:spcAft>
                <a:spcPts val="0"/>
              </a:spcAft>
              <a:buClr>
                <a:schemeClr val="accent3"/>
              </a:buClr>
              <a:buFont typeface="Wingdings" pitchFamily="2" charset="2"/>
              <a:buNone/>
              <a:defRPr/>
            </a:pPr>
            <a:r>
              <a:rPr lang="zh-CN" altLang="en-US" b="1">
                <a:effectLst>
                  <a:outerShdw blurRad="38100" dist="38100" dir="2700000" algn="tl">
                    <a:srgbClr val="C0C0C0"/>
                  </a:outerShdw>
                </a:effectLst>
              </a:rPr>
              <a:t>报数循环的工作：</a:t>
            </a:r>
          </a:p>
          <a:p>
            <a:pPr marL="0" indent="0" eaLnBrk="1" fontAlgn="auto" hangingPunct="1">
              <a:spcAft>
                <a:spcPts val="0"/>
              </a:spcAft>
              <a:buClr>
                <a:schemeClr val="accent3"/>
              </a:buClr>
              <a:buFont typeface="Wingdings" pitchFamily="2" charset="2"/>
              <a:buNone/>
              <a:defRPr/>
            </a:pPr>
            <a:r>
              <a:rPr lang="zh-CN" altLang="en-US" b="1">
                <a:effectLst>
                  <a:outerShdw blurRad="38100" dist="38100" dir="2700000" algn="tl">
                    <a:srgbClr val="C0C0C0"/>
                  </a:outerShdw>
                </a:effectLst>
              </a:rPr>
              <a:t>测试是否要报数，报数后是否要结束报数。</a:t>
            </a:r>
          </a:p>
          <a:p>
            <a:pPr marL="0" indent="0" eaLnBrk="1" fontAlgn="auto" hangingPunct="1">
              <a:spcAft>
                <a:spcPts val="0"/>
              </a:spcAft>
              <a:buClr>
                <a:schemeClr val="accent3"/>
              </a:buClr>
              <a:buFont typeface="Wingdings" pitchFamily="2" charset="2"/>
              <a:buNone/>
              <a:defRPr/>
            </a:pPr>
            <a:r>
              <a:rPr lang="zh-CN" altLang="en-US" b="1">
                <a:effectLst>
                  <a:outerShdw blurRad="38100" dist="38100" dir="2700000" algn="tl">
                    <a:srgbClr val="C0C0C0"/>
                  </a:outerShdw>
                </a:effectLst>
              </a:rPr>
              <a:t>      </a:t>
            </a:r>
            <a:r>
              <a:rPr lang="en-US" altLang="zh-CN" b="1">
                <a:effectLst>
                  <a:outerShdw blurRad="38100" dist="38100" dir="2700000" algn="tl">
                    <a:srgbClr val="C0C0C0"/>
                  </a:outerShdw>
                </a:effectLst>
              </a:rPr>
              <a:t>for(k = 0; ;j = (j+1)%n)</a:t>
            </a:r>
          </a:p>
          <a:p>
            <a:pPr marL="0" indent="0" eaLnBrk="1" fontAlgn="auto" hangingPunct="1">
              <a:spcAft>
                <a:spcPts val="0"/>
              </a:spcAft>
              <a:buClr>
                <a:schemeClr val="accent3"/>
              </a:buClr>
              <a:buFont typeface="Wingdings" pitchFamily="2" charset="2"/>
              <a:buNone/>
              <a:defRPr/>
            </a:pPr>
            <a:r>
              <a:rPr lang="en-US" altLang="zh-CN" b="1">
                <a:effectLst>
                  <a:outerShdw blurRad="38100" dist="38100" dir="2700000" algn="tl">
                    <a:srgbClr val="C0C0C0"/>
                  </a:outerShdw>
                </a:effectLst>
              </a:rPr>
              <a:t>           if(a[j])//</a:t>
            </a:r>
            <a:r>
              <a:rPr lang="zh-CN" altLang="en-US" b="1">
                <a:effectLst>
                  <a:outerShdw blurRad="38100" dist="38100" dir="2700000" algn="tl">
                    <a:srgbClr val="C0C0C0"/>
                  </a:outerShdw>
                </a:effectLst>
              </a:rPr>
              <a:t>如果</a:t>
            </a:r>
            <a:r>
              <a:rPr lang="en-US" altLang="zh-CN" b="1">
                <a:effectLst>
                  <a:outerShdw blurRad="38100" dist="38100" dir="2700000" algn="tl">
                    <a:srgbClr val="C0C0C0"/>
                  </a:outerShdw>
                </a:effectLst>
              </a:rPr>
              <a:t>a[j]</a:t>
            </a:r>
            <a:r>
              <a:rPr lang="zh-CN" altLang="en-US" b="1">
                <a:effectLst>
                  <a:outerShdw blurRad="38100" dist="38100" dir="2700000" algn="tl">
                    <a:srgbClr val="C0C0C0"/>
                  </a:outerShdw>
                </a:effectLst>
              </a:rPr>
              <a:t>不等于</a:t>
            </a:r>
            <a:r>
              <a:rPr lang="en-US" altLang="zh-CN" b="1">
                <a:effectLst>
                  <a:outerShdw blurRad="38100" dist="38100" dir="2700000" algn="tl">
                    <a:srgbClr val="C0C0C0"/>
                  </a:outerShdw>
                </a:effectLst>
              </a:rPr>
              <a:t>0</a:t>
            </a:r>
            <a:r>
              <a:rPr lang="zh-CN" altLang="en-US" b="1">
                <a:effectLst>
                  <a:outerShdw blurRad="38100" dist="38100" dir="2700000" algn="tl">
                    <a:srgbClr val="C0C0C0"/>
                  </a:outerShdw>
                </a:effectLst>
              </a:rPr>
              <a:t>，就要报数</a:t>
            </a:r>
          </a:p>
          <a:p>
            <a:pPr marL="0" indent="0" eaLnBrk="1" fontAlgn="auto" hangingPunct="1">
              <a:spcAft>
                <a:spcPts val="0"/>
              </a:spcAft>
              <a:buClr>
                <a:schemeClr val="accent3"/>
              </a:buClr>
              <a:buFont typeface="Wingdings" pitchFamily="2" charset="2"/>
              <a:buNone/>
              <a:defRPr/>
            </a:pPr>
            <a:r>
              <a:rPr lang="zh-CN" altLang="en-US" b="1">
                <a:effectLst>
                  <a:outerShdw blurRad="38100" dist="38100" dir="2700000" algn="tl">
                    <a:srgbClr val="C0C0C0"/>
                  </a:outerShdw>
                </a:effectLst>
              </a:rPr>
              <a:t>               </a:t>
            </a:r>
            <a:r>
              <a:rPr lang="en-US" altLang="zh-CN" b="1">
                <a:effectLst>
                  <a:outerShdw blurRad="38100" dist="38100" dir="2700000" algn="tl">
                    <a:srgbClr val="C0C0C0"/>
                  </a:outerShdw>
                </a:effectLst>
              </a:rPr>
              <a:t>if(++k == m)//</a:t>
            </a:r>
            <a:r>
              <a:rPr lang="zh-CN" altLang="en-US" b="1">
                <a:effectLst>
                  <a:outerShdw blurRad="38100" dist="38100" dir="2700000" algn="tl">
                    <a:srgbClr val="C0C0C0"/>
                  </a:outerShdw>
                </a:effectLst>
              </a:rPr>
              <a:t>报数后测试</a:t>
            </a:r>
          </a:p>
          <a:p>
            <a:pPr marL="0" indent="0" eaLnBrk="1" fontAlgn="auto" hangingPunct="1">
              <a:spcAft>
                <a:spcPts val="0"/>
              </a:spcAft>
              <a:buClr>
                <a:schemeClr val="accent3"/>
              </a:buClr>
              <a:buFont typeface="Wingdings" pitchFamily="2" charset="2"/>
              <a:buNone/>
              <a:defRPr/>
            </a:pPr>
            <a:r>
              <a:rPr lang="zh-CN" altLang="en-US" b="1">
                <a:effectLst>
                  <a:outerShdw blurRad="38100" dist="38100" dir="2700000" algn="tl">
                    <a:srgbClr val="C0C0C0"/>
                  </a:outerShdw>
                </a:effectLst>
              </a:rPr>
              <a:t>                   </a:t>
            </a:r>
            <a:r>
              <a:rPr lang="en-US" altLang="zh-CN" b="1">
                <a:effectLst>
                  <a:outerShdw blurRad="38100" dist="38100" dir="2700000" algn="tl">
                    <a:srgbClr val="C0C0C0"/>
                  </a:outerShdw>
                </a:effectLst>
              </a:rPr>
              <a:t>break; //</a:t>
            </a:r>
            <a:r>
              <a:rPr lang="zh-CN" altLang="en-US" b="1">
                <a:effectLst>
                  <a:outerShdw blurRad="38100" dist="38100" dir="2700000" algn="tl">
                    <a:srgbClr val="C0C0C0"/>
                  </a:outerShdw>
                </a:effectLst>
              </a:rPr>
              <a:t>结束报数循环</a:t>
            </a:r>
          </a:p>
        </p:txBody>
      </p:sp>
      <p:sp>
        <p:nvSpPr>
          <p:cNvPr id="5" name="灯片编号占位符 5"/>
          <p:cNvSpPr>
            <a:spLocks noGrp="1"/>
          </p:cNvSpPr>
          <p:nvPr>
            <p:ph type="sldNum" sz="quarter" idx="12"/>
          </p:nvPr>
        </p:nvSpPr>
        <p:spPr/>
        <p:txBody>
          <a:bodyPr/>
          <a:lstStyle/>
          <a:p>
            <a:pPr>
              <a:defRPr/>
            </a:pPr>
            <a:fld id="{FCC30CEC-3B0C-4FE6-9CD6-3B1428675D31}" type="slidenum">
              <a:rPr lang="en-US" altLang="zh-CN"/>
              <a:pPr>
                <a:defRPr/>
              </a:pPr>
              <a:t>59</a:t>
            </a:fld>
            <a:endParaRPr lang="en-US" altLang="zh-CN"/>
          </a:p>
        </p:txBody>
      </p:sp>
    </p:spTree>
  </p:cSld>
  <p:clrMapOvr>
    <a:masterClrMapping/>
  </p:clrMapOv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0370" name="Rectangle 2"/>
          <p:cNvSpPr>
            <a:spLocks noGrp="1" noChangeArrowheads="1"/>
          </p:cNvSpPr>
          <p:nvPr>
            <p:ph idx="1"/>
          </p:nvPr>
        </p:nvSpPr>
        <p:spPr>
          <a:xfrm>
            <a:off x="468313" y="404813"/>
            <a:ext cx="8294687" cy="5976937"/>
          </a:xfrm>
        </p:spPr>
        <p:txBody>
          <a:bodyPr>
            <a:normAutofit/>
          </a:bodyPr>
          <a:lstStyle/>
          <a:p>
            <a:pPr marL="0" indent="0" eaLnBrk="1" fontAlgn="auto" hangingPunct="1">
              <a:lnSpc>
                <a:spcPct val="95000"/>
              </a:lnSpc>
              <a:spcAft>
                <a:spcPts val="0"/>
              </a:spcAft>
              <a:buClr>
                <a:schemeClr val="accent3"/>
              </a:buClr>
              <a:buFont typeface="Wingdings" pitchFamily="2" charset="2"/>
              <a:buNone/>
              <a:defRPr/>
            </a:pPr>
            <a:r>
              <a:rPr lang="en-US" altLang="zh-CN" sz="2000" b="1" dirty="0">
                <a:effectLst>
                  <a:outerShdw blurRad="38100" dist="38100" dir="2700000" algn="tl">
                    <a:srgbClr val="C0C0C0"/>
                  </a:outerShdw>
                </a:effectLst>
              </a:rPr>
              <a:t>#include &lt;</a:t>
            </a:r>
            <a:r>
              <a:rPr lang="en-US" altLang="zh-CN" sz="2000" b="1" dirty="0" err="1">
                <a:effectLst>
                  <a:outerShdw blurRad="38100" dist="38100" dir="2700000" algn="tl">
                    <a:srgbClr val="C0C0C0"/>
                  </a:outerShdw>
                </a:effectLst>
              </a:rPr>
              <a:t>stdio.h</a:t>
            </a:r>
            <a:r>
              <a:rPr lang="en-US" altLang="zh-CN" sz="2000" b="1" dirty="0">
                <a:effectLst>
                  <a:outerShdw blurRad="38100" dist="38100" dir="2700000" algn="tl">
                    <a:srgbClr val="C0C0C0"/>
                  </a:outerShdw>
                </a:effectLst>
              </a:rPr>
              <a:t>&gt;</a:t>
            </a:r>
          </a:p>
          <a:p>
            <a:pPr marL="0" indent="0" eaLnBrk="1" fontAlgn="auto" hangingPunct="1">
              <a:lnSpc>
                <a:spcPct val="95000"/>
              </a:lnSpc>
              <a:spcAft>
                <a:spcPts val="0"/>
              </a:spcAft>
              <a:buClr>
                <a:schemeClr val="accent3"/>
              </a:buClr>
              <a:buFont typeface="Wingdings" pitchFamily="2" charset="2"/>
              <a:buNone/>
              <a:defRPr/>
            </a:pPr>
            <a:r>
              <a:rPr lang="en-US" altLang="zh-CN" sz="2000" b="1" dirty="0">
                <a:effectLst>
                  <a:outerShdw blurRad="38100" dist="38100" dir="2700000" algn="tl">
                    <a:srgbClr val="C0C0C0"/>
                  </a:outerShdw>
                </a:effectLst>
              </a:rPr>
              <a:t>#define N 100</a:t>
            </a:r>
          </a:p>
          <a:p>
            <a:pPr marL="0" indent="0" eaLnBrk="1" fontAlgn="auto" hangingPunct="1">
              <a:lnSpc>
                <a:spcPct val="95000"/>
              </a:lnSpc>
              <a:spcAft>
                <a:spcPts val="0"/>
              </a:spcAft>
              <a:buClr>
                <a:schemeClr val="accent3"/>
              </a:buClr>
              <a:buFont typeface="Wingdings" pitchFamily="2" charset="2"/>
              <a:buNone/>
              <a:defRPr/>
            </a:pPr>
            <a:r>
              <a:rPr lang="en-US" altLang="zh-CN" sz="2000" b="1" dirty="0">
                <a:effectLst>
                  <a:outerShdw blurRad="38100" dist="38100" dir="2700000" algn="tl">
                    <a:srgbClr val="C0C0C0"/>
                  </a:outerShdw>
                </a:effectLst>
              </a:rPr>
              <a:t>void main()</a:t>
            </a:r>
          </a:p>
          <a:p>
            <a:pPr marL="0" indent="0" eaLnBrk="1" fontAlgn="auto" hangingPunct="1">
              <a:lnSpc>
                <a:spcPct val="95000"/>
              </a:lnSpc>
              <a:spcAft>
                <a:spcPts val="0"/>
              </a:spcAft>
              <a:buClr>
                <a:schemeClr val="accent3"/>
              </a:buClr>
              <a:buFont typeface="Wingdings" pitchFamily="2" charset="2"/>
              <a:buNone/>
              <a:defRPr/>
            </a:pPr>
            <a:r>
              <a:rPr lang="en-US" altLang="zh-CN" sz="2000" b="1" dirty="0">
                <a:effectLst>
                  <a:outerShdw blurRad="38100" dist="38100" dir="2700000" algn="tl">
                    <a:srgbClr val="C0C0C0"/>
                  </a:outerShdw>
                </a:effectLst>
              </a:rPr>
              <a:t>{   </a:t>
            </a:r>
            <a:r>
              <a:rPr lang="en-US" altLang="zh-CN" sz="2000" b="1" dirty="0" err="1">
                <a:effectLst>
                  <a:outerShdw blurRad="38100" dist="38100" dir="2700000" algn="tl">
                    <a:srgbClr val="C0C0C0"/>
                  </a:outerShdw>
                </a:effectLst>
              </a:rPr>
              <a:t>int</a:t>
            </a:r>
            <a:r>
              <a:rPr lang="en-US" altLang="zh-CN" sz="2000" b="1" dirty="0">
                <a:effectLst>
                  <a:outerShdw blurRad="38100" dist="38100" dir="2700000" algn="tl">
                    <a:srgbClr val="C0C0C0"/>
                  </a:outerShdw>
                </a:effectLst>
              </a:rPr>
              <a:t> </a:t>
            </a:r>
            <a:r>
              <a:rPr lang="en-US" altLang="zh-CN" sz="2000" b="1" dirty="0" err="1">
                <a:effectLst>
                  <a:outerShdw blurRad="38100" dist="38100" dir="2700000" algn="tl">
                    <a:srgbClr val="C0C0C0"/>
                  </a:outerShdw>
                </a:effectLst>
              </a:rPr>
              <a:t>i</a:t>
            </a:r>
            <a:r>
              <a:rPr lang="en-US" altLang="zh-CN" sz="2000" b="1" dirty="0">
                <a:effectLst>
                  <a:outerShdw blurRad="38100" dist="38100" dir="2700000" algn="tl">
                    <a:srgbClr val="C0C0C0"/>
                  </a:outerShdw>
                </a:effectLst>
              </a:rPr>
              <a:t>, j, k, a[N], n, m;</a:t>
            </a:r>
          </a:p>
          <a:p>
            <a:pPr marL="0" indent="0" eaLnBrk="1" fontAlgn="auto" hangingPunct="1">
              <a:lnSpc>
                <a:spcPct val="95000"/>
              </a:lnSpc>
              <a:spcAft>
                <a:spcPts val="0"/>
              </a:spcAft>
              <a:buClr>
                <a:schemeClr val="accent3"/>
              </a:buClr>
              <a:buFont typeface="Wingdings" pitchFamily="2" charset="2"/>
              <a:buNone/>
              <a:defRPr/>
            </a:pPr>
            <a:r>
              <a:rPr lang="en-US" altLang="zh-CN" sz="2000" b="1" dirty="0">
                <a:effectLst>
                  <a:outerShdw blurRad="38100" dist="38100" dir="2700000" algn="tl">
                    <a:srgbClr val="C0C0C0"/>
                  </a:outerShdw>
                </a:effectLst>
              </a:rPr>
              <a:t>    </a:t>
            </a:r>
            <a:r>
              <a:rPr lang="en-US" altLang="zh-CN" sz="2000" b="1" dirty="0" err="1">
                <a:effectLst>
                  <a:outerShdw blurRad="38100" dist="38100" dir="2700000" algn="tl">
                    <a:srgbClr val="C0C0C0"/>
                  </a:outerShdw>
                </a:effectLst>
              </a:rPr>
              <a:t>printf</a:t>
            </a:r>
            <a:r>
              <a:rPr lang="en-US" altLang="zh-CN" sz="2000" b="1" dirty="0">
                <a:effectLst>
                  <a:outerShdw blurRad="38100" dist="38100" dir="2700000" algn="tl">
                    <a:srgbClr val="C0C0C0"/>
                  </a:outerShdw>
                </a:effectLst>
              </a:rPr>
              <a:t>("</a:t>
            </a:r>
            <a:r>
              <a:rPr lang="zh-CN" altLang="en-US" sz="2000" b="1" dirty="0">
                <a:effectLst>
                  <a:outerShdw blurRad="38100" dist="38100" dir="2700000" algn="tl">
                    <a:srgbClr val="C0C0C0"/>
                  </a:outerShdw>
                </a:effectLst>
              </a:rPr>
              <a:t>输入</a:t>
            </a:r>
            <a:r>
              <a:rPr lang="en-US" altLang="zh-CN" sz="2000" b="1" dirty="0">
                <a:effectLst>
                  <a:outerShdw blurRad="38100" dist="38100" dir="2700000" algn="tl">
                    <a:srgbClr val="C0C0C0"/>
                  </a:outerShdw>
                </a:effectLst>
              </a:rPr>
              <a:t>n &amp; m\n");</a:t>
            </a:r>
            <a:r>
              <a:rPr lang="en-US" altLang="zh-CN" sz="2000" b="1" dirty="0" err="1">
                <a:effectLst>
                  <a:outerShdw blurRad="38100" dist="38100" dir="2700000" algn="tl">
                    <a:srgbClr val="C0C0C0"/>
                  </a:outerShdw>
                </a:effectLst>
              </a:rPr>
              <a:t>scanf</a:t>
            </a:r>
            <a:r>
              <a:rPr lang="en-US" altLang="zh-CN" sz="2000" b="1" dirty="0">
                <a:effectLst>
                  <a:outerShdw blurRad="38100" dist="38100" dir="2700000" algn="tl">
                    <a:srgbClr val="C0C0C0"/>
                  </a:outerShdw>
                </a:effectLst>
              </a:rPr>
              <a:t>("%</a:t>
            </a:r>
            <a:r>
              <a:rPr lang="en-US" altLang="zh-CN" sz="2000" b="1" dirty="0" err="1">
                <a:effectLst>
                  <a:outerShdw blurRad="38100" dist="38100" dir="2700000" algn="tl">
                    <a:srgbClr val="C0C0C0"/>
                  </a:outerShdw>
                </a:effectLst>
              </a:rPr>
              <a:t>d%d</a:t>
            </a:r>
            <a:r>
              <a:rPr lang="en-US" altLang="zh-CN" sz="2000" b="1" dirty="0">
                <a:effectLst>
                  <a:outerShdw blurRad="38100" dist="38100" dir="2700000" algn="tl">
                    <a:srgbClr val="C0C0C0"/>
                  </a:outerShdw>
                </a:effectLst>
              </a:rPr>
              <a:t>", &amp;n, &amp;m);</a:t>
            </a:r>
          </a:p>
          <a:p>
            <a:pPr marL="0" indent="0" eaLnBrk="1" fontAlgn="auto" hangingPunct="1">
              <a:lnSpc>
                <a:spcPct val="95000"/>
              </a:lnSpc>
              <a:spcAft>
                <a:spcPts val="0"/>
              </a:spcAft>
              <a:buClr>
                <a:schemeClr val="accent3"/>
              </a:buClr>
              <a:buFont typeface="Wingdings" pitchFamily="2" charset="2"/>
              <a:buNone/>
              <a:defRPr/>
            </a:pPr>
            <a:r>
              <a:rPr lang="en-US" altLang="zh-CN" sz="2000" b="1" dirty="0">
                <a:effectLst>
                  <a:outerShdw blurRad="38100" dist="38100" dir="2700000" algn="tl">
                    <a:srgbClr val="C0C0C0"/>
                  </a:outerShdw>
                </a:effectLst>
              </a:rPr>
              <a:t>    for(</a:t>
            </a:r>
            <a:r>
              <a:rPr lang="en-US" altLang="zh-CN" sz="2000" b="1" dirty="0" err="1">
                <a:effectLst>
                  <a:outerShdw blurRad="38100" dist="38100" dir="2700000" algn="tl">
                    <a:srgbClr val="C0C0C0"/>
                  </a:outerShdw>
                </a:effectLst>
              </a:rPr>
              <a:t>i</a:t>
            </a:r>
            <a:r>
              <a:rPr lang="en-US" altLang="zh-CN" sz="2000" b="1" dirty="0">
                <a:effectLst>
                  <a:outerShdw blurRad="38100" dist="38100" dir="2700000" algn="tl">
                    <a:srgbClr val="C0C0C0"/>
                  </a:outerShdw>
                </a:effectLst>
              </a:rPr>
              <a:t> = 0; </a:t>
            </a:r>
            <a:r>
              <a:rPr lang="en-US" altLang="zh-CN" sz="2000" b="1" dirty="0" err="1">
                <a:effectLst>
                  <a:outerShdw blurRad="38100" dist="38100" dir="2700000" algn="tl">
                    <a:srgbClr val="C0C0C0"/>
                  </a:outerShdw>
                </a:effectLst>
              </a:rPr>
              <a:t>i</a:t>
            </a:r>
            <a:r>
              <a:rPr lang="en-US" altLang="zh-CN" sz="2000" b="1" dirty="0">
                <a:effectLst>
                  <a:outerShdw blurRad="38100" dist="38100" dir="2700000" algn="tl">
                    <a:srgbClr val="C0C0C0"/>
                  </a:outerShdw>
                </a:effectLst>
              </a:rPr>
              <a:t> &lt; n; </a:t>
            </a:r>
            <a:r>
              <a:rPr lang="en-US" altLang="zh-CN" sz="2000" b="1" dirty="0" err="1">
                <a:effectLst>
                  <a:outerShdw blurRad="38100" dist="38100" dir="2700000" algn="tl">
                    <a:srgbClr val="C0C0C0"/>
                  </a:outerShdw>
                </a:effectLst>
              </a:rPr>
              <a:t>i</a:t>
            </a:r>
            <a:r>
              <a:rPr lang="en-US" altLang="zh-CN" sz="2000" b="1" dirty="0">
                <a:effectLst>
                  <a:outerShdw blurRad="38100" dist="38100" dir="2700000" algn="tl">
                    <a:srgbClr val="C0C0C0"/>
                  </a:outerShdw>
                </a:effectLst>
              </a:rPr>
              <a:t>++)</a:t>
            </a:r>
          </a:p>
          <a:p>
            <a:pPr marL="0" indent="0" eaLnBrk="1" fontAlgn="auto" hangingPunct="1">
              <a:lnSpc>
                <a:spcPct val="95000"/>
              </a:lnSpc>
              <a:spcAft>
                <a:spcPts val="0"/>
              </a:spcAft>
              <a:buClr>
                <a:schemeClr val="accent3"/>
              </a:buClr>
              <a:buFont typeface="Wingdings" pitchFamily="2" charset="2"/>
              <a:buNone/>
              <a:defRPr/>
            </a:pPr>
            <a:r>
              <a:rPr lang="en-US" altLang="zh-CN" sz="2000" b="1" dirty="0">
                <a:effectLst>
                  <a:outerShdw blurRad="38100" dist="38100" dir="2700000" algn="tl">
                    <a:srgbClr val="C0C0C0"/>
                  </a:outerShdw>
                </a:effectLst>
              </a:rPr>
              <a:t>       a[</a:t>
            </a:r>
            <a:r>
              <a:rPr lang="en-US" altLang="zh-CN" sz="2000" b="1" dirty="0" err="1">
                <a:effectLst>
                  <a:outerShdw blurRad="38100" dist="38100" dir="2700000" algn="tl">
                    <a:srgbClr val="C0C0C0"/>
                  </a:outerShdw>
                </a:effectLst>
              </a:rPr>
              <a:t>i</a:t>
            </a:r>
            <a:r>
              <a:rPr lang="en-US" altLang="zh-CN" sz="2000" b="1" dirty="0">
                <a:effectLst>
                  <a:outerShdw blurRad="38100" dist="38100" dir="2700000" algn="tl">
                    <a:srgbClr val="C0C0C0"/>
                  </a:outerShdw>
                </a:effectLst>
              </a:rPr>
              <a:t>] = i+1;</a:t>
            </a:r>
          </a:p>
          <a:p>
            <a:pPr marL="0" indent="0" eaLnBrk="1" fontAlgn="auto" hangingPunct="1">
              <a:lnSpc>
                <a:spcPct val="95000"/>
              </a:lnSpc>
              <a:spcAft>
                <a:spcPts val="0"/>
              </a:spcAft>
              <a:buClr>
                <a:schemeClr val="accent3"/>
              </a:buClr>
              <a:buFont typeface="Wingdings" pitchFamily="2" charset="2"/>
              <a:buNone/>
              <a:defRPr/>
            </a:pPr>
            <a:r>
              <a:rPr lang="en-US" altLang="zh-CN" sz="2000" b="1" dirty="0">
                <a:effectLst>
                  <a:outerShdw blurRad="38100" dist="38100" dir="2700000" algn="tl">
                    <a:srgbClr val="C0C0C0"/>
                  </a:outerShdw>
                </a:effectLst>
              </a:rPr>
              <a:t>    for(j = 0, </a:t>
            </a:r>
            <a:r>
              <a:rPr lang="en-US" altLang="zh-CN" sz="2000" b="1" dirty="0" err="1">
                <a:effectLst>
                  <a:outerShdw blurRad="38100" dist="38100" dir="2700000" algn="tl">
                    <a:srgbClr val="C0C0C0"/>
                  </a:outerShdw>
                </a:effectLst>
              </a:rPr>
              <a:t>i</a:t>
            </a:r>
            <a:r>
              <a:rPr lang="en-US" altLang="zh-CN" sz="2000" b="1" dirty="0">
                <a:effectLst>
                  <a:outerShdw blurRad="38100" dist="38100" dir="2700000" algn="tl">
                    <a:srgbClr val="C0C0C0"/>
                  </a:outerShdw>
                </a:effectLst>
              </a:rPr>
              <a:t> = 0; </a:t>
            </a:r>
            <a:r>
              <a:rPr lang="en-US" altLang="zh-CN" sz="2000" b="1" dirty="0" err="1">
                <a:effectLst>
                  <a:outerShdw blurRad="38100" dist="38100" dir="2700000" algn="tl">
                    <a:srgbClr val="C0C0C0"/>
                  </a:outerShdw>
                </a:effectLst>
              </a:rPr>
              <a:t>i</a:t>
            </a:r>
            <a:r>
              <a:rPr lang="en-US" altLang="zh-CN" sz="2000" b="1" dirty="0">
                <a:effectLst>
                  <a:outerShdw blurRad="38100" dist="38100" dir="2700000" algn="tl">
                    <a:srgbClr val="C0C0C0"/>
                  </a:outerShdw>
                </a:effectLst>
              </a:rPr>
              <a:t> &lt; n; </a:t>
            </a:r>
            <a:r>
              <a:rPr lang="en-US" altLang="zh-CN" sz="2000" b="1" dirty="0" err="1">
                <a:effectLst>
                  <a:outerShdw blurRad="38100" dist="38100" dir="2700000" algn="tl">
                    <a:srgbClr val="C0C0C0"/>
                  </a:outerShdw>
                </a:effectLst>
              </a:rPr>
              <a:t>i</a:t>
            </a:r>
            <a:r>
              <a:rPr lang="en-US" altLang="zh-CN" sz="2000" b="1" dirty="0">
                <a:effectLst>
                  <a:outerShdw blurRad="38100" dist="38100" dir="2700000" algn="tl">
                    <a:srgbClr val="C0C0C0"/>
                  </a:outerShdw>
                </a:effectLst>
              </a:rPr>
              <a:t>++) {//</a:t>
            </a:r>
            <a:r>
              <a:rPr lang="zh-CN" altLang="en-US" sz="2000" b="1" dirty="0">
                <a:effectLst>
                  <a:outerShdw blurRad="38100" dist="38100" dir="2700000" algn="tl">
                    <a:srgbClr val="C0C0C0"/>
                  </a:outerShdw>
                </a:effectLst>
              </a:rPr>
              <a:t>从第</a:t>
            </a:r>
            <a:r>
              <a:rPr lang="en-US" altLang="zh-CN" sz="2000" b="1" dirty="0">
                <a:effectLst>
                  <a:outerShdw blurRad="38100" dist="38100" dir="2700000" algn="tl">
                    <a:srgbClr val="C0C0C0"/>
                  </a:outerShdw>
                </a:effectLst>
              </a:rPr>
              <a:t>1</a:t>
            </a:r>
            <a:r>
              <a:rPr lang="zh-CN" altLang="en-US" sz="2000" b="1" dirty="0">
                <a:effectLst>
                  <a:outerShdw blurRad="38100" dist="38100" dir="2700000" algn="tl">
                    <a:srgbClr val="C0C0C0"/>
                  </a:outerShdw>
                </a:effectLst>
              </a:rPr>
              <a:t>人开始报数</a:t>
            </a:r>
            <a:r>
              <a:rPr lang="en-US" altLang="zh-CN" sz="2000" b="1" dirty="0">
                <a:effectLst>
                  <a:outerShdw blurRad="38100" dist="38100" dir="2700000" algn="tl">
                    <a:srgbClr val="C0C0C0"/>
                  </a:outerShdw>
                </a:effectLst>
              </a:rPr>
              <a:t>(j = 0)</a:t>
            </a:r>
            <a:r>
              <a:rPr lang="zh-CN" altLang="en-US" sz="2000" b="1" dirty="0">
                <a:effectLst>
                  <a:outerShdw blurRad="38100" dist="38100" dir="2700000" algn="tl">
                    <a:srgbClr val="C0C0C0"/>
                  </a:outerShdw>
                </a:effectLst>
              </a:rPr>
              <a:t>，共有</a:t>
            </a:r>
            <a:r>
              <a:rPr lang="en-US" altLang="zh-CN" sz="2000" b="1" dirty="0">
                <a:effectLst>
                  <a:outerShdw blurRad="38100" dist="38100" dir="2700000" algn="tl">
                    <a:srgbClr val="C0C0C0"/>
                  </a:outerShdw>
                </a:effectLst>
              </a:rPr>
              <a:t>n</a:t>
            </a:r>
            <a:r>
              <a:rPr lang="zh-CN" altLang="en-US" sz="2000" b="1" dirty="0">
                <a:effectLst>
                  <a:outerShdw blurRad="38100" dist="38100" dir="2700000" algn="tl">
                    <a:srgbClr val="C0C0C0"/>
                  </a:outerShdw>
                </a:effectLst>
              </a:rPr>
              <a:t>论报数</a:t>
            </a:r>
          </a:p>
          <a:p>
            <a:pPr marL="0" indent="0" eaLnBrk="1" fontAlgn="auto" hangingPunct="1">
              <a:lnSpc>
                <a:spcPct val="95000"/>
              </a:lnSpc>
              <a:spcAft>
                <a:spcPts val="0"/>
              </a:spcAft>
              <a:buClr>
                <a:schemeClr val="accent3"/>
              </a:buClr>
              <a:buFont typeface="Wingdings" pitchFamily="2" charset="2"/>
              <a:buNone/>
              <a:defRPr/>
            </a:pPr>
            <a:r>
              <a:rPr lang="zh-CN" altLang="en-US" sz="2000" b="1" dirty="0">
                <a:effectLst>
                  <a:outerShdw blurRad="38100" dist="38100" dir="2700000" algn="tl">
                    <a:srgbClr val="C0C0C0"/>
                  </a:outerShdw>
                </a:effectLst>
              </a:rPr>
              <a:t>        </a:t>
            </a:r>
            <a:r>
              <a:rPr lang="en-US" altLang="zh-CN" sz="2000" b="1" dirty="0">
                <a:effectLst>
                  <a:outerShdw blurRad="38100" dist="38100" dir="2700000" algn="tl">
                    <a:srgbClr val="C0C0C0"/>
                  </a:outerShdw>
                </a:effectLst>
              </a:rPr>
              <a:t>for(k = 0; ;j = (j+1)%n)</a:t>
            </a:r>
          </a:p>
          <a:p>
            <a:pPr marL="0" indent="0" eaLnBrk="1" fontAlgn="auto" hangingPunct="1">
              <a:lnSpc>
                <a:spcPct val="95000"/>
              </a:lnSpc>
              <a:spcAft>
                <a:spcPts val="0"/>
              </a:spcAft>
              <a:buClr>
                <a:schemeClr val="accent3"/>
              </a:buClr>
              <a:buFont typeface="Wingdings" pitchFamily="2" charset="2"/>
              <a:buNone/>
              <a:defRPr/>
            </a:pPr>
            <a:r>
              <a:rPr lang="en-US" altLang="zh-CN" sz="2000" b="1" dirty="0">
                <a:effectLst>
                  <a:outerShdw blurRad="38100" dist="38100" dir="2700000" algn="tl">
                    <a:srgbClr val="C0C0C0"/>
                  </a:outerShdw>
                </a:effectLst>
              </a:rPr>
              <a:t>           if(a[j]) if(++k == m) break;</a:t>
            </a:r>
          </a:p>
          <a:p>
            <a:pPr marL="0" indent="0" eaLnBrk="1" fontAlgn="auto" hangingPunct="1">
              <a:lnSpc>
                <a:spcPct val="95000"/>
              </a:lnSpc>
              <a:spcAft>
                <a:spcPts val="0"/>
              </a:spcAft>
              <a:buClr>
                <a:schemeClr val="accent3"/>
              </a:buClr>
              <a:buFont typeface="Wingdings" pitchFamily="2" charset="2"/>
              <a:buNone/>
              <a:defRPr/>
            </a:pPr>
            <a:r>
              <a:rPr lang="en-US" altLang="zh-CN" sz="2000" b="1" dirty="0">
                <a:effectLst>
                  <a:outerShdw blurRad="38100" dist="38100" dir="2700000" algn="tl">
                    <a:srgbClr val="C0C0C0"/>
                  </a:outerShdw>
                </a:effectLst>
              </a:rPr>
              <a:t>        </a:t>
            </a:r>
            <a:r>
              <a:rPr lang="en-US" altLang="zh-CN" sz="2000" b="1" dirty="0" err="1">
                <a:effectLst>
                  <a:outerShdw blurRad="38100" dist="38100" dir="2700000" algn="tl">
                    <a:srgbClr val="C0C0C0"/>
                  </a:outerShdw>
                </a:effectLst>
              </a:rPr>
              <a:t>printf</a:t>
            </a:r>
            <a:r>
              <a:rPr lang="en-US" altLang="zh-CN" sz="2000" b="1" dirty="0">
                <a:effectLst>
                  <a:outerShdw blurRad="38100" dist="38100" dir="2700000" algn="tl">
                    <a:srgbClr val="C0C0C0"/>
                  </a:outerShdw>
                </a:effectLst>
              </a:rPr>
              <a:t>("%4d", a[j]);</a:t>
            </a:r>
          </a:p>
          <a:p>
            <a:pPr marL="0" indent="0" eaLnBrk="1" fontAlgn="auto" hangingPunct="1">
              <a:lnSpc>
                <a:spcPct val="95000"/>
              </a:lnSpc>
              <a:spcAft>
                <a:spcPts val="0"/>
              </a:spcAft>
              <a:buClr>
                <a:schemeClr val="accent3"/>
              </a:buClr>
              <a:buFont typeface="Wingdings" pitchFamily="2" charset="2"/>
              <a:buNone/>
              <a:defRPr/>
            </a:pPr>
            <a:r>
              <a:rPr lang="en-US" altLang="zh-CN" sz="2000" b="1" dirty="0">
                <a:effectLst>
                  <a:outerShdw blurRad="38100" dist="38100" dir="2700000" algn="tl">
                    <a:srgbClr val="C0C0C0"/>
                  </a:outerShdw>
                </a:effectLst>
              </a:rPr>
              <a:t>        a[j] = 0;</a:t>
            </a:r>
          </a:p>
          <a:p>
            <a:pPr marL="0" indent="0" eaLnBrk="1" fontAlgn="auto" hangingPunct="1">
              <a:lnSpc>
                <a:spcPct val="95000"/>
              </a:lnSpc>
              <a:spcAft>
                <a:spcPts val="0"/>
              </a:spcAft>
              <a:buClr>
                <a:schemeClr val="accent3"/>
              </a:buClr>
              <a:buFont typeface="Wingdings" pitchFamily="2" charset="2"/>
              <a:buNone/>
              <a:defRPr/>
            </a:pPr>
            <a:r>
              <a:rPr lang="en-US" altLang="zh-CN" sz="2000" b="1" dirty="0">
                <a:effectLst>
                  <a:outerShdw blurRad="38100" dist="38100" dir="2700000" algn="tl">
                    <a:srgbClr val="C0C0C0"/>
                  </a:outerShdw>
                </a:effectLst>
              </a:rPr>
              <a:t>    }</a:t>
            </a:r>
          </a:p>
          <a:p>
            <a:pPr marL="0" indent="0" eaLnBrk="1" fontAlgn="auto" hangingPunct="1">
              <a:lnSpc>
                <a:spcPct val="95000"/>
              </a:lnSpc>
              <a:spcAft>
                <a:spcPts val="0"/>
              </a:spcAft>
              <a:buClr>
                <a:schemeClr val="accent3"/>
              </a:buClr>
              <a:buFont typeface="Wingdings" pitchFamily="2" charset="2"/>
              <a:buNone/>
              <a:defRPr/>
            </a:pPr>
            <a:r>
              <a:rPr lang="en-US" altLang="zh-CN" sz="2000" b="1" dirty="0">
                <a:effectLst>
                  <a:outerShdw blurRad="38100" dist="38100" dir="2700000" algn="tl">
                    <a:srgbClr val="C0C0C0"/>
                  </a:outerShdw>
                </a:effectLst>
              </a:rPr>
              <a:t>}</a:t>
            </a:r>
          </a:p>
        </p:txBody>
      </p:sp>
      <p:sp>
        <p:nvSpPr>
          <p:cNvPr id="6" name="灯片编号占位符 5"/>
          <p:cNvSpPr>
            <a:spLocks noGrp="1"/>
          </p:cNvSpPr>
          <p:nvPr>
            <p:ph type="sldNum" sz="quarter" idx="12"/>
          </p:nvPr>
        </p:nvSpPr>
        <p:spPr/>
        <p:txBody>
          <a:bodyPr/>
          <a:lstStyle/>
          <a:p>
            <a:pPr>
              <a:defRPr/>
            </a:pPr>
            <a:fld id="{C37BF92D-5F73-4819-B035-30FF92AEE7A1}" type="slidenum">
              <a:rPr lang="en-US" altLang="zh-CN"/>
              <a:pPr>
                <a:defRPr/>
              </a:pPr>
              <a:t>60</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70370">
                                            <p:txEl>
                                              <p:pRg st="7" end="7"/>
                                            </p:txEl>
                                          </p:spTgt>
                                        </p:tgtEl>
                                        <p:attrNameLst>
                                          <p:attrName>style.visibility</p:attrName>
                                        </p:attrNameLst>
                                      </p:cBhvr>
                                      <p:to>
                                        <p:strVal val="visible"/>
                                      </p:to>
                                    </p:set>
                                    <p:anim calcmode="lin" valueType="num">
                                      <p:cBhvr additive="base">
                                        <p:cTn id="7" dur="500" fill="hold"/>
                                        <p:tgtEl>
                                          <p:spTgt spid="570370">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70370">
                                            <p:txEl>
                                              <p:pRg st="7" end="7"/>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70370">
                                            <p:txEl>
                                              <p:pRg st="12" end="12"/>
                                            </p:txEl>
                                          </p:spTgt>
                                        </p:tgtEl>
                                        <p:attrNameLst>
                                          <p:attrName>style.visibility</p:attrName>
                                        </p:attrNameLst>
                                      </p:cBhvr>
                                      <p:to>
                                        <p:strVal val="visible"/>
                                      </p:to>
                                    </p:set>
                                    <p:anim calcmode="lin" valueType="num">
                                      <p:cBhvr additive="base">
                                        <p:cTn id="11" dur="500" fill="hold"/>
                                        <p:tgtEl>
                                          <p:spTgt spid="570370">
                                            <p:txEl>
                                              <p:pRg st="12" end="1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70370">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70370">
                                            <p:txEl>
                                              <p:pRg st="8" end="8"/>
                                            </p:txEl>
                                          </p:spTgt>
                                        </p:tgtEl>
                                        <p:attrNameLst>
                                          <p:attrName>style.visibility</p:attrName>
                                        </p:attrNameLst>
                                      </p:cBhvr>
                                      <p:to>
                                        <p:strVal val="visible"/>
                                      </p:to>
                                    </p:set>
                                    <p:anim calcmode="lin" valueType="num">
                                      <p:cBhvr additive="base">
                                        <p:cTn id="17" dur="500" fill="hold"/>
                                        <p:tgtEl>
                                          <p:spTgt spid="570370">
                                            <p:txEl>
                                              <p:pRg st="8" end="8"/>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70370">
                                            <p:txEl>
                                              <p:pRg st="8" end="8"/>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570370">
                                            <p:txEl>
                                              <p:pRg st="9" end="9"/>
                                            </p:txEl>
                                          </p:spTgt>
                                        </p:tgtEl>
                                        <p:attrNameLst>
                                          <p:attrName>style.visibility</p:attrName>
                                        </p:attrNameLst>
                                      </p:cBhvr>
                                      <p:to>
                                        <p:strVal val="visible"/>
                                      </p:to>
                                    </p:set>
                                    <p:anim calcmode="lin" valueType="num">
                                      <p:cBhvr additive="base">
                                        <p:cTn id="21" dur="500" fill="hold"/>
                                        <p:tgtEl>
                                          <p:spTgt spid="570370">
                                            <p:txEl>
                                              <p:pRg st="9" end="9"/>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70370">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570370">
                                            <p:txEl>
                                              <p:pRg st="10" end="10"/>
                                            </p:txEl>
                                          </p:spTgt>
                                        </p:tgtEl>
                                        <p:attrNameLst>
                                          <p:attrName>style.visibility</p:attrName>
                                        </p:attrNameLst>
                                      </p:cBhvr>
                                      <p:to>
                                        <p:strVal val="visible"/>
                                      </p:to>
                                    </p:set>
                                    <p:anim calcmode="lin" valueType="num">
                                      <p:cBhvr additive="base">
                                        <p:cTn id="27" dur="500" fill="hold"/>
                                        <p:tgtEl>
                                          <p:spTgt spid="570370">
                                            <p:txEl>
                                              <p:pRg st="10" end="1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70370">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570370">
                                            <p:txEl>
                                              <p:pRg st="11" end="11"/>
                                            </p:txEl>
                                          </p:spTgt>
                                        </p:tgtEl>
                                        <p:attrNameLst>
                                          <p:attrName>style.visibility</p:attrName>
                                        </p:attrNameLst>
                                      </p:cBhvr>
                                      <p:to>
                                        <p:strVal val="visible"/>
                                      </p:to>
                                    </p:set>
                                    <p:anim calcmode="lin" valueType="num">
                                      <p:cBhvr additive="base">
                                        <p:cTn id="33" dur="500" fill="hold"/>
                                        <p:tgtEl>
                                          <p:spTgt spid="570370">
                                            <p:txEl>
                                              <p:pRg st="11" end="11"/>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570370">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6B20E1-4071-7A95-3738-6B221C666250}"/>
              </a:ext>
            </a:extLst>
          </p:cNvPr>
          <p:cNvSpPr>
            <a:spLocks noGrp="1"/>
          </p:cNvSpPr>
          <p:nvPr>
            <p:ph type="title"/>
          </p:nvPr>
        </p:nvSpPr>
        <p:spPr/>
        <p:txBody>
          <a:bodyPr/>
          <a:lstStyle/>
          <a:p>
            <a:r>
              <a:rPr lang="zh-CN" altLang="en-US" dirty="0"/>
              <a:t>回顾例题</a:t>
            </a:r>
          </a:p>
        </p:txBody>
      </p:sp>
      <p:sp>
        <p:nvSpPr>
          <p:cNvPr id="3" name="内容占位符 2">
            <a:extLst>
              <a:ext uri="{FF2B5EF4-FFF2-40B4-BE49-F238E27FC236}">
                <a16:creationId xmlns:a16="http://schemas.microsoft.com/office/drawing/2014/main" id="{54A8C825-6387-E96C-598A-6536B1032F29}"/>
              </a:ext>
            </a:extLst>
          </p:cNvPr>
          <p:cNvSpPr>
            <a:spLocks noGrp="1"/>
          </p:cNvSpPr>
          <p:nvPr>
            <p:ph idx="1"/>
          </p:nvPr>
        </p:nvSpPr>
        <p:spPr/>
        <p:txBody>
          <a:bodyPr/>
          <a:lstStyle/>
          <a:p>
            <a:r>
              <a:rPr lang="en-US" altLang="zh-CN" sz="2800" dirty="0">
                <a:solidFill>
                  <a:schemeClr val="tx1"/>
                </a:solidFill>
                <a:latin typeface="黑体" pitchFamily="2" charset="-122"/>
                <a:ea typeface="黑体" pitchFamily="2" charset="-122"/>
              </a:rPr>
              <a:t>【</a:t>
            </a:r>
            <a:r>
              <a:rPr lang="zh-CN" altLang="en-US" sz="2800" dirty="0">
                <a:solidFill>
                  <a:schemeClr val="tx1"/>
                </a:solidFill>
                <a:latin typeface="黑体" pitchFamily="2" charset="-122"/>
                <a:ea typeface="黑体" pitchFamily="2" charset="-122"/>
              </a:rPr>
              <a:t>例</a:t>
            </a:r>
            <a:r>
              <a:rPr lang="en-US" altLang="zh-CN" sz="2800" dirty="0">
                <a:solidFill>
                  <a:schemeClr val="tx1"/>
                </a:solidFill>
                <a:latin typeface="黑体" pitchFamily="2" charset="-122"/>
                <a:ea typeface="黑体" pitchFamily="2" charset="-122"/>
              </a:rPr>
              <a:t>3.27】</a:t>
            </a:r>
            <a:r>
              <a:rPr lang="zh-CN" altLang="en-US" sz="2800" dirty="0">
                <a:solidFill>
                  <a:schemeClr val="tx1"/>
                </a:solidFill>
                <a:latin typeface="黑体" pitchFamily="2" charset="-122"/>
                <a:ea typeface="黑体" pitchFamily="2" charset="-122"/>
              </a:rPr>
              <a:t>输入一整数，输出小于等于该整数的全部质数</a:t>
            </a:r>
            <a:endParaRPr lang="en-US" altLang="zh-CN" sz="2800" dirty="0">
              <a:solidFill>
                <a:schemeClr val="tx1"/>
              </a:solidFill>
              <a:latin typeface="黑体" pitchFamily="2" charset="-122"/>
              <a:ea typeface="黑体" pitchFamily="2" charset="-122"/>
            </a:endParaRPr>
          </a:p>
          <a:p>
            <a:r>
              <a:rPr lang="zh-CN" altLang="en-US" sz="2800" b="1" dirty="0"/>
              <a:t>判断奇数</a:t>
            </a:r>
            <a:r>
              <a:rPr lang="en-US" altLang="zh-CN" sz="2800" b="1" dirty="0"/>
              <a:t>n</a:t>
            </a:r>
            <a:r>
              <a:rPr lang="zh-CN" altLang="en-US" sz="2800" b="1" dirty="0"/>
              <a:t>是否是一个质数。让整数变量</a:t>
            </a:r>
            <a:r>
              <a:rPr lang="en-US" altLang="zh-CN" sz="2800" b="1" dirty="0"/>
              <a:t>k</a:t>
            </a:r>
            <a:r>
              <a:rPr lang="zh-CN" altLang="en-US" sz="2800" b="1" dirty="0"/>
              <a:t>自</a:t>
            </a:r>
            <a:r>
              <a:rPr lang="en-US" altLang="zh-CN" sz="2800" b="1" dirty="0"/>
              <a:t>3</a:t>
            </a:r>
            <a:r>
              <a:rPr lang="zh-CN" altLang="en-US" sz="2800" b="1" dirty="0"/>
              <a:t>开始，每次增</a:t>
            </a:r>
            <a:r>
              <a:rPr lang="en-US" altLang="zh-CN" sz="2800" b="1" dirty="0"/>
              <a:t>2</a:t>
            </a:r>
            <a:r>
              <a:rPr lang="zh-CN" altLang="en-US" sz="2800" b="1" dirty="0"/>
              <a:t>，直至</a:t>
            </a:r>
            <a:r>
              <a:rPr lang="en-US" altLang="zh-CN" sz="2800" b="1" dirty="0"/>
              <a:t>k</a:t>
            </a:r>
            <a:r>
              <a:rPr lang="zh-CN" altLang="en-US" sz="2800" b="1" dirty="0"/>
              <a:t>的平方超过</a:t>
            </a:r>
            <a:r>
              <a:rPr lang="en-US" altLang="zh-CN" sz="2800" b="1" dirty="0"/>
              <a:t>n</a:t>
            </a:r>
            <a:r>
              <a:rPr lang="zh-CN" altLang="en-US" sz="2800" b="1" dirty="0"/>
              <a:t>为止。如果其中某个</a:t>
            </a:r>
            <a:r>
              <a:rPr lang="en-US" altLang="zh-CN" sz="2800" b="1" dirty="0"/>
              <a:t>k</a:t>
            </a:r>
            <a:r>
              <a:rPr lang="zh-CN" altLang="en-US" sz="2800" b="1" dirty="0"/>
              <a:t>能整除</a:t>
            </a:r>
            <a:r>
              <a:rPr lang="en-US" altLang="zh-CN" sz="2800" b="1" dirty="0"/>
              <a:t>n</a:t>
            </a:r>
            <a:r>
              <a:rPr lang="zh-CN" altLang="en-US" sz="2800" b="1" dirty="0"/>
              <a:t>，则</a:t>
            </a:r>
            <a:r>
              <a:rPr lang="en-US" altLang="zh-CN" sz="2800" b="1" dirty="0"/>
              <a:t>n</a:t>
            </a:r>
            <a:r>
              <a:rPr lang="zh-CN" altLang="en-US" sz="2800" b="1" dirty="0"/>
              <a:t>不是质数，结束测试循环。如果所有这样的</a:t>
            </a:r>
            <a:r>
              <a:rPr lang="en-US" altLang="zh-CN" sz="2800" b="1" dirty="0"/>
              <a:t>k</a:t>
            </a:r>
            <a:r>
              <a:rPr lang="zh-CN" altLang="en-US" sz="2800" b="1" dirty="0"/>
              <a:t>都不能整除</a:t>
            </a:r>
            <a:r>
              <a:rPr lang="en-US" altLang="zh-CN" sz="2800" b="1" dirty="0"/>
              <a:t>n</a:t>
            </a:r>
            <a:r>
              <a:rPr lang="zh-CN" altLang="en-US" sz="2800" b="1" dirty="0"/>
              <a:t>，则</a:t>
            </a:r>
            <a:r>
              <a:rPr lang="en-US" altLang="zh-CN" sz="2800" b="1" dirty="0"/>
              <a:t>n</a:t>
            </a:r>
            <a:r>
              <a:rPr lang="zh-CN" altLang="en-US" sz="2800" b="1" dirty="0"/>
              <a:t>是质数。</a:t>
            </a:r>
            <a:r>
              <a:rPr lang="zh-CN" altLang="en-US" sz="2800" dirty="0"/>
              <a:t> </a:t>
            </a:r>
          </a:p>
          <a:p>
            <a:endParaRPr lang="en-US" altLang="zh-CN" sz="2800" dirty="0">
              <a:latin typeface="黑体" pitchFamily="2" charset="-122"/>
              <a:ea typeface="黑体" pitchFamily="2" charset="-122"/>
            </a:endParaRPr>
          </a:p>
          <a:p>
            <a:r>
              <a:rPr lang="zh-CN" altLang="en-US" sz="2800" dirty="0">
                <a:solidFill>
                  <a:srgbClr val="FF0000"/>
                </a:solidFill>
                <a:latin typeface="黑体" pitchFamily="2" charset="-122"/>
                <a:ea typeface="黑体" pitchFamily="2" charset="-122"/>
              </a:rPr>
              <a:t>使用数组来优化该算法：判断一个数为质数，只需要考虑它针对小于它的质数的整除情况？</a:t>
            </a:r>
            <a:endParaRPr lang="zh-CN" altLang="en-US" dirty="0">
              <a:solidFill>
                <a:srgbClr val="FF0000"/>
              </a:solidFill>
            </a:endParaRPr>
          </a:p>
        </p:txBody>
      </p:sp>
      <p:sp>
        <p:nvSpPr>
          <p:cNvPr id="4" name="灯片编号占位符 3">
            <a:extLst>
              <a:ext uri="{FF2B5EF4-FFF2-40B4-BE49-F238E27FC236}">
                <a16:creationId xmlns:a16="http://schemas.microsoft.com/office/drawing/2014/main" id="{6B07562D-2143-C7C5-4A92-9EAE6CA31DD7}"/>
              </a:ext>
            </a:extLst>
          </p:cNvPr>
          <p:cNvSpPr>
            <a:spLocks noGrp="1"/>
          </p:cNvSpPr>
          <p:nvPr>
            <p:ph type="sldNum" sz="quarter" idx="12"/>
          </p:nvPr>
        </p:nvSpPr>
        <p:spPr/>
        <p:txBody>
          <a:bodyPr/>
          <a:lstStyle/>
          <a:p>
            <a:pPr>
              <a:defRPr/>
            </a:pPr>
            <a:fld id="{5DCB0509-EBFA-4973-BBC1-64BDD304043B}" type="slidenum">
              <a:rPr lang="en-US" altLang="zh-CN" smtClean="0"/>
              <a:pPr>
                <a:defRPr/>
              </a:pPr>
              <a:t>61</a:t>
            </a:fld>
            <a:endParaRPr lang="en-US" altLang="zh-CN"/>
          </a:p>
        </p:txBody>
      </p:sp>
    </p:spTree>
    <p:extLst>
      <p:ext uri="{BB962C8B-B14F-4D97-AF65-F5344CB8AC3E}">
        <p14:creationId xmlns:p14="http://schemas.microsoft.com/office/powerpoint/2010/main" val="34597181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10"/>
          <p:cNvSpPr>
            <a:spLocks noGrp="1" noChangeArrowheads="1"/>
          </p:cNvSpPr>
          <p:nvPr>
            <p:ph type="title"/>
          </p:nvPr>
        </p:nvSpPr>
        <p:spPr>
          <a:xfrm>
            <a:off x="539750" y="260350"/>
            <a:ext cx="8088313" cy="647700"/>
          </a:xfrm>
          <a:noFill/>
        </p:spPr>
        <p:txBody>
          <a:bodyPr lIns="92075" tIns="46038" rIns="92075" bIns="46038"/>
          <a:lstStyle/>
          <a:p>
            <a:pPr eaLnBrk="1" hangingPunct="1"/>
            <a:r>
              <a:rPr lang="en-US" altLang="zh-CN"/>
              <a:t>4.3   </a:t>
            </a:r>
            <a:r>
              <a:rPr lang="zh-CN" altLang="en-US"/>
              <a:t>多维数组</a:t>
            </a:r>
          </a:p>
        </p:txBody>
      </p:sp>
      <p:sp>
        <p:nvSpPr>
          <p:cNvPr id="8" name="灯片编号占位符 5"/>
          <p:cNvSpPr>
            <a:spLocks noGrp="1"/>
          </p:cNvSpPr>
          <p:nvPr>
            <p:ph type="sldNum" sz="quarter" idx="12"/>
          </p:nvPr>
        </p:nvSpPr>
        <p:spPr/>
        <p:txBody>
          <a:bodyPr/>
          <a:lstStyle/>
          <a:p>
            <a:pPr>
              <a:defRPr/>
            </a:pPr>
            <a:fld id="{45C046B5-040D-4F7D-AC7D-35F4CC97FDA4}" type="slidenum">
              <a:rPr lang="en-US" altLang="zh-CN"/>
              <a:pPr>
                <a:defRPr/>
              </a:pPr>
              <a:t>62</a:t>
            </a:fld>
            <a:endParaRPr lang="en-US" altLang="zh-CN"/>
          </a:p>
        </p:txBody>
      </p:sp>
      <p:sp>
        <p:nvSpPr>
          <p:cNvPr id="2053" name="Rectangle 13"/>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2050" name="Object 12"/>
          <p:cNvGraphicFramePr>
            <a:graphicFrameLocks noChangeAspect="1"/>
          </p:cNvGraphicFramePr>
          <p:nvPr/>
        </p:nvGraphicFramePr>
        <p:xfrm>
          <a:off x="285750" y="1143000"/>
          <a:ext cx="8572500" cy="3500438"/>
        </p:xfrm>
        <a:graphic>
          <a:graphicData uri="http://schemas.openxmlformats.org/presentationml/2006/ole">
            <mc:AlternateContent xmlns:mc="http://schemas.openxmlformats.org/markup-compatibility/2006">
              <mc:Choice xmlns:v="urn:schemas-microsoft-com:vml" Requires="v">
                <p:oleObj spid="_x0000_s2069" r:id="rId3" imgW="5348224" imgH="1623758" progId="Visio.Drawing.11">
                  <p:embed/>
                </p:oleObj>
              </mc:Choice>
              <mc:Fallback>
                <p:oleObj r:id="rId3" imgW="5348224" imgH="1623758" progId="Visio.Drawing.11">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5750" y="1143000"/>
                        <a:ext cx="8572500" cy="3500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54" name="Text Box 14"/>
          <p:cNvSpPr txBox="1">
            <a:spLocks noChangeArrowheads="1"/>
          </p:cNvSpPr>
          <p:nvPr/>
        </p:nvSpPr>
        <p:spPr bwMode="auto">
          <a:xfrm>
            <a:off x="755650" y="4700588"/>
            <a:ext cx="7920038" cy="1800225"/>
          </a:xfrm>
          <a:prstGeom prst="rect">
            <a:avLst/>
          </a:prstGeom>
          <a:noFill/>
          <a:ln w="9525">
            <a:noFill/>
            <a:miter lim="800000"/>
            <a:headEnd/>
            <a:tailEnd/>
          </a:ln>
        </p:spPr>
        <p:txBody>
          <a:bodyPr>
            <a:spAutoFit/>
          </a:bodyPr>
          <a:lstStyle/>
          <a:p>
            <a:r>
              <a:rPr lang="en-US" altLang="zh-CN"/>
              <a:t> </a:t>
            </a:r>
            <a:r>
              <a:rPr lang="zh-CN" altLang="en-US"/>
              <a:t>行下标 </a:t>
            </a:r>
            <a:r>
              <a:rPr lang="en-US" altLang="zh-CN"/>
              <a:t>i                             </a:t>
            </a:r>
            <a:r>
              <a:rPr lang="zh-CN" altLang="en-US"/>
              <a:t>页下标 </a:t>
            </a:r>
            <a:r>
              <a:rPr lang="en-US" altLang="zh-CN"/>
              <a:t>i</a:t>
            </a:r>
          </a:p>
          <a:p>
            <a:r>
              <a:rPr lang="en-US" altLang="zh-CN"/>
              <a:t> </a:t>
            </a:r>
            <a:r>
              <a:rPr lang="zh-CN" altLang="en-US"/>
              <a:t>列下标 </a:t>
            </a:r>
            <a:r>
              <a:rPr lang="en-US" altLang="zh-CN"/>
              <a:t>j                             </a:t>
            </a:r>
            <a:r>
              <a:rPr lang="zh-CN" altLang="en-US"/>
              <a:t>行下标 </a:t>
            </a:r>
            <a:r>
              <a:rPr lang="en-US" altLang="zh-CN"/>
              <a:t>j</a:t>
            </a:r>
          </a:p>
          <a:p>
            <a:r>
              <a:rPr lang="en-US" altLang="zh-CN"/>
              <a:t>                                             </a:t>
            </a:r>
            <a:r>
              <a:rPr lang="zh-CN" altLang="en-US"/>
              <a:t>列下标 </a:t>
            </a:r>
            <a:r>
              <a:rPr lang="en-US" altLang="zh-CN"/>
              <a:t>k</a:t>
            </a:r>
          </a:p>
          <a:p>
            <a:r>
              <a:rPr lang="en-US" altLang="zh-CN"/>
              <a:t>     </a:t>
            </a:r>
            <a:r>
              <a:rPr lang="zh-CN" altLang="en-US"/>
              <a:t>图</a:t>
            </a:r>
            <a:r>
              <a:rPr lang="en-US" altLang="zh-CN"/>
              <a:t>4.3 </a:t>
            </a:r>
            <a:r>
              <a:rPr lang="zh-CN" altLang="en-US"/>
              <a:t>二维数组和三维数组逻辑结构示意图</a:t>
            </a:r>
          </a:p>
        </p:txBody>
      </p:sp>
    </p:spTree>
  </p:cSld>
  <p:clrMapOvr>
    <a:masterClrMapping/>
  </p:clrMapOvr>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1459" name="Rectangle 3"/>
          <p:cNvSpPr>
            <a:spLocks noGrp="1" noChangeArrowheads="1"/>
          </p:cNvSpPr>
          <p:nvPr>
            <p:ph idx="1"/>
          </p:nvPr>
        </p:nvSpPr>
        <p:spPr>
          <a:xfrm>
            <a:off x="395288" y="1052513"/>
            <a:ext cx="8280400" cy="5184775"/>
          </a:xfrm>
        </p:spPr>
        <p:txBody>
          <a:bodyPr>
            <a:normAutofit/>
          </a:bodyPr>
          <a:lstStyle/>
          <a:p>
            <a:pPr marL="536575" indent="-536575" algn="just" eaLnBrk="1" fontAlgn="auto" hangingPunct="1">
              <a:spcAft>
                <a:spcPts val="0"/>
              </a:spcAft>
              <a:buClr>
                <a:schemeClr val="accent3"/>
              </a:buClr>
              <a:buFont typeface="Wingdings" pitchFamily="2" charset="2"/>
              <a:buNone/>
              <a:defRPr/>
            </a:pPr>
            <a:r>
              <a:rPr lang="zh-CN" altLang="en-US" sz="2800" b="1" dirty="0">
                <a:effectLst>
                  <a:outerShdw blurRad="38100" dist="38100" dir="2700000" algn="tl">
                    <a:srgbClr val="C0C0C0"/>
                  </a:outerShdw>
                </a:effectLst>
                <a:latin typeface="宋体" pitchFamily="2" charset="-122"/>
              </a:rPr>
              <a:t>定义：</a:t>
            </a:r>
          </a:p>
          <a:p>
            <a:pPr marL="536575" indent="-536575" algn="just" eaLnBrk="1" fontAlgn="auto" hangingPunct="1">
              <a:spcAft>
                <a:spcPts val="0"/>
              </a:spcAft>
              <a:buClr>
                <a:schemeClr val="accent3"/>
              </a:buClr>
              <a:buFont typeface="Wingdings" pitchFamily="2" charset="2"/>
              <a:buNone/>
              <a:defRPr/>
            </a:pPr>
            <a:r>
              <a:rPr lang="zh-CN" altLang="en-US" sz="2800" b="1" dirty="0">
                <a:effectLst>
                  <a:outerShdw blurRad="38100" dist="38100" dir="2700000" algn="tl">
                    <a:srgbClr val="C0C0C0"/>
                  </a:outerShdw>
                </a:effectLst>
                <a:latin typeface="宋体" pitchFamily="2" charset="-122"/>
              </a:rPr>
              <a:t>  类型说明符 数组名</a:t>
            </a:r>
            <a:r>
              <a:rPr lang="en-US" altLang="zh-CN" sz="2800" b="1" dirty="0">
                <a:effectLst>
                  <a:outerShdw blurRad="38100" dist="38100" dir="2700000" algn="tl">
                    <a:srgbClr val="C0C0C0"/>
                  </a:outerShdw>
                </a:effectLst>
                <a:latin typeface="宋体" pitchFamily="2" charset="-122"/>
              </a:rPr>
              <a:t>[</a:t>
            </a:r>
            <a:r>
              <a:rPr lang="zh-CN" altLang="en-US" sz="2800" b="1" dirty="0">
                <a:effectLst>
                  <a:outerShdw blurRad="38100" dist="38100" dir="2700000" algn="tl">
                    <a:srgbClr val="C0C0C0"/>
                  </a:outerShdw>
                </a:effectLst>
                <a:latin typeface="宋体" pitchFamily="2" charset="-122"/>
              </a:rPr>
              <a:t>常量表达式</a:t>
            </a:r>
            <a:r>
              <a:rPr lang="en-US" altLang="zh-CN" sz="2800" b="1" dirty="0">
                <a:effectLst>
                  <a:outerShdw blurRad="38100" dist="38100" dir="2700000" algn="tl">
                    <a:srgbClr val="C0C0C0"/>
                  </a:outerShdw>
                </a:effectLst>
                <a:latin typeface="宋体" pitchFamily="2" charset="-122"/>
              </a:rPr>
              <a:t>][</a:t>
            </a:r>
            <a:r>
              <a:rPr lang="zh-CN" altLang="en-US" sz="2800" b="1" dirty="0">
                <a:effectLst>
                  <a:outerShdw blurRad="38100" dist="38100" dir="2700000" algn="tl">
                    <a:srgbClr val="C0C0C0"/>
                  </a:outerShdw>
                </a:effectLst>
                <a:latin typeface="宋体" pitchFamily="2" charset="-122"/>
              </a:rPr>
              <a:t>常量表达式</a:t>
            </a:r>
            <a:r>
              <a:rPr lang="en-US" altLang="zh-CN" sz="2800" b="1" dirty="0">
                <a:effectLst>
                  <a:outerShdw blurRad="38100" dist="38100" dir="2700000" algn="tl">
                    <a:srgbClr val="C0C0C0"/>
                  </a:outerShdw>
                </a:effectLst>
                <a:latin typeface="宋体" pitchFamily="2" charset="-122"/>
              </a:rPr>
              <a:t>]…</a:t>
            </a:r>
          </a:p>
          <a:p>
            <a:pPr marL="536575" indent="-536575" algn="just" eaLnBrk="1" fontAlgn="auto" hangingPunct="1">
              <a:spcAft>
                <a:spcPts val="0"/>
              </a:spcAft>
              <a:buClr>
                <a:schemeClr val="accent3"/>
              </a:buClr>
              <a:buFont typeface="Wingdings" pitchFamily="2" charset="2"/>
              <a:buNone/>
              <a:defRPr/>
            </a:pPr>
            <a:r>
              <a:rPr lang="zh-CN" altLang="en-US" sz="2800" b="1" dirty="0">
                <a:effectLst>
                  <a:outerShdw blurRad="38100" dist="38100" dir="2700000" algn="tl">
                    <a:srgbClr val="C0C0C0"/>
                  </a:outerShdw>
                </a:effectLst>
                <a:latin typeface="宋体" pitchFamily="2" charset="-122"/>
              </a:rPr>
              <a:t>例如：</a:t>
            </a:r>
          </a:p>
          <a:p>
            <a:pPr marL="536575" indent="-536575" algn="just" eaLnBrk="1" fontAlgn="auto" hangingPunct="1">
              <a:spcAft>
                <a:spcPts val="0"/>
              </a:spcAft>
              <a:buClr>
                <a:schemeClr val="accent3"/>
              </a:buClr>
              <a:buFont typeface="Wingdings" pitchFamily="2" charset="2"/>
              <a:buNone/>
              <a:defRPr/>
            </a:pPr>
            <a:r>
              <a:rPr lang="zh-CN" altLang="en-US" sz="2800" b="1" dirty="0">
                <a:effectLst>
                  <a:outerShdw blurRad="38100" dist="38100" dir="2700000" algn="tl">
                    <a:srgbClr val="C0C0C0"/>
                  </a:outerShdw>
                </a:effectLst>
                <a:latin typeface="宋体" pitchFamily="2" charset="-122"/>
              </a:rPr>
              <a:t>  </a:t>
            </a:r>
            <a:r>
              <a:rPr lang="en-US" altLang="zh-CN" sz="2800" b="1" dirty="0" err="1">
                <a:effectLst>
                  <a:outerShdw blurRad="38100" dist="38100" dir="2700000" algn="tl">
                    <a:srgbClr val="C0C0C0"/>
                  </a:outerShdw>
                </a:effectLst>
                <a:latin typeface="宋体" pitchFamily="2" charset="-122"/>
              </a:rPr>
              <a:t>int</a:t>
            </a:r>
            <a:r>
              <a:rPr lang="en-US" altLang="zh-CN" sz="2800" b="1" dirty="0">
                <a:effectLst>
                  <a:outerShdw blurRad="38100" dist="38100" dir="2700000" algn="tl">
                    <a:srgbClr val="C0C0C0"/>
                  </a:outerShdw>
                </a:effectLst>
                <a:latin typeface="宋体" pitchFamily="2" charset="-122"/>
              </a:rPr>
              <a:t> a[2][4], b[3][4];</a:t>
            </a:r>
          </a:p>
          <a:p>
            <a:pPr marL="536575" indent="-536575" algn="just" eaLnBrk="1" fontAlgn="auto" hangingPunct="1">
              <a:spcAft>
                <a:spcPts val="0"/>
              </a:spcAft>
              <a:buClr>
                <a:schemeClr val="accent3"/>
              </a:buClr>
              <a:buFont typeface="Wingdings" pitchFamily="2" charset="2"/>
              <a:buNone/>
              <a:defRPr/>
            </a:pPr>
            <a:r>
              <a:rPr lang="en-US" altLang="zh-CN" sz="2800" b="1" dirty="0">
                <a:effectLst>
                  <a:outerShdw blurRad="38100" dist="38100" dir="2700000" algn="tl">
                    <a:srgbClr val="C0C0C0"/>
                  </a:outerShdw>
                </a:effectLst>
                <a:latin typeface="宋体" pitchFamily="2" charset="-122"/>
              </a:rPr>
              <a:t>     /* </a:t>
            </a:r>
            <a:r>
              <a:rPr lang="zh-CN" altLang="en-US" sz="2800" b="1" dirty="0">
                <a:effectLst>
                  <a:outerShdw blurRad="38100" dist="38100" dir="2700000" algn="tl">
                    <a:srgbClr val="C0C0C0"/>
                  </a:outerShdw>
                </a:effectLst>
                <a:latin typeface="宋体" pitchFamily="2" charset="-122"/>
              </a:rPr>
              <a:t>定义</a:t>
            </a:r>
            <a:r>
              <a:rPr lang="en-US" altLang="zh-CN" sz="2800" b="1" dirty="0">
                <a:effectLst>
                  <a:outerShdw blurRad="38100" dist="38100" dir="2700000" algn="tl">
                    <a:srgbClr val="C0C0C0"/>
                  </a:outerShdw>
                </a:effectLst>
                <a:latin typeface="宋体" pitchFamily="2" charset="-122"/>
              </a:rPr>
              <a:t>a</a:t>
            </a:r>
            <a:r>
              <a:rPr lang="zh-CN" altLang="en-US" sz="2800" b="1" dirty="0">
                <a:effectLst>
                  <a:outerShdw blurRad="38100" dist="38100" dir="2700000" algn="tl">
                    <a:srgbClr val="C0C0C0"/>
                  </a:outerShdw>
                </a:effectLst>
                <a:latin typeface="宋体" pitchFamily="2" charset="-122"/>
              </a:rPr>
              <a:t>为</a:t>
            </a:r>
            <a:r>
              <a:rPr lang="en-US" altLang="zh-CN" sz="2800" b="1" dirty="0">
                <a:effectLst>
                  <a:outerShdw blurRad="38100" dist="38100" dir="2700000" algn="tl">
                    <a:srgbClr val="C0C0C0"/>
                  </a:outerShdw>
                </a:effectLst>
                <a:latin typeface="宋体" pitchFamily="2" charset="-122"/>
              </a:rPr>
              <a:t>2</a:t>
            </a:r>
            <a:r>
              <a:rPr lang="zh-CN" altLang="en-US" sz="2800" b="1" dirty="0">
                <a:effectLst>
                  <a:outerShdw blurRad="38100" dist="38100" dir="2700000" algn="tl">
                    <a:srgbClr val="C0C0C0"/>
                  </a:outerShdw>
                </a:effectLst>
                <a:latin typeface="宋体" pitchFamily="2" charset="-122"/>
              </a:rPr>
              <a:t>行</a:t>
            </a:r>
            <a:r>
              <a:rPr lang="en-US" altLang="zh-CN" sz="2800" b="1" dirty="0">
                <a:effectLst>
                  <a:outerShdw blurRad="38100" dist="38100" dir="2700000" algn="tl">
                    <a:srgbClr val="C0C0C0"/>
                  </a:outerShdw>
                </a:effectLst>
                <a:latin typeface="宋体" pitchFamily="2" charset="-122"/>
              </a:rPr>
              <a:t>4</a:t>
            </a:r>
            <a:r>
              <a:rPr lang="zh-CN" altLang="en-US" sz="2800" b="1" dirty="0">
                <a:effectLst>
                  <a:outerShdw blurRad="38100" dist="38100" dir="2700000" algn="tl">
                    <a:srgbClr val="C0C0C0"/>
                  </a:outerShdw>
                </a:effectLst>
                <a:latin typeface="宋体" pitchFamily="2" charset="-122"/>
              </a:rPr>
              <a:t>列、</a:t>
            </a:r>
            <a:r>
              <a:rPr lang="en-US" altLang="zh-CN" sz="2800" b="1" dirty="0">
                <a:effectLst>
                  <a:outerShdw blurRad="38100" dist="38100" dir="2700000" algn="tl">
                    <a:srgbClr val="C0C0C0"/>
                  </a:outerShdw>
                </a:effectLst>
                <a:latin typeface="宋体" pitchFamily="2" charset="-122"/>
              </a:rPr>
              <a:t>b</a:t>
            </a:r>
            <a:r>
              <a:rPr lang="zh-CN" altLang="en-US" sz="2800" b="1" dirty="0">
                <a:effectLst>
                  <a:outerShdw blurRad="38100" dist="38100" dir="2700000" algn="tl">
                    <a:srgbClr val="C0C0C0"/>
                  </a:outerShdw>
                </a:effectLst>
                <a:latin typeface="宋体" pitchFamily="2" charset="-122"/>
              </a:rPr>
              <a:t>为</a:t>
            </a:r>
            <a:r>
              <a:rPr lang="en-US" altLang="zh-CN" sz="2800" b="1" dirty="0">
                <a:effectLst>
                  <a:outerShdw blurRad="38100" dist="38100" dir="2700000" algn="tl">
                    <a:srgbClr val="C0C0C0"/>
                  </a:outerShdw>
                </a:effectLst>
                <a:latin typeface="宋体" pitchFamily="2" charset="-122"/>
              </a:rPr>
              <a:t>3</a:t>
            </a:r>
            <a:r>
              <a:rPr lang="zh-CN" altLang="en-US" sz="2800" b="1" dirty="0">
                <a:effectLst>
                  <a:outerShdw blurRad="38100" dist="38100" dir="2700000" algn="tl">
                    <a:srgbClr val="C0C0C0"/>
                  </a:outerShdw>
                </a:effectLst>
                <a:latin typeface="宋体" pitchFamily="2" charset="-122"/>
              </a:rPr>
              <a:t>行</a:t>
            </a:r>
            <a:r>
              <a:rPr lang="en-US" altLang="zh-CN" sz="2800" b="1" dirty="0">
                <a:effectLst>
                  <a:outerShdw blurRad="38100" dist="38100" dir="2700000" algn="tl">
                    <a:srgbClr val="C0C0C0"/>
                  </a:outerShdw>
                </a:effectLst>
                <a:latin typeface="宋体" pitchFamily="2" charset="-122"/>
              </a:rPr>
              <a:t>4</a:t>
            </a:r>
            <a:r>
              <a:rPr lang="zh-CN" altLang="en-US" sz="2800" b="1" dirty="0">
                <a:effectLst>
                  <a:outerShdw blurRad="38100" dist="38100" dir="2700000" algn="tl">
                    <a:srgbClr val="C0C0C0"/>
                  </a:outerShdw>
                </a:effectLst>
                <a:latin typeface="宋体" pitchFamily="2" charset="-122"/>
              </a:rPr>
              <a:t>列的数组 *</a:t>
            </a:r>
            <a:r>
              <a:rPr lang="en-US" altLang="zh-CN" sz="2800" b="1" dirty="0">
                <a:effectLst>
                  <a:outerShdw blurRad="38100" dist="38100" dir="2700000" algn="tl">
                    <a:srgbClr val="C0C0C0"/>
                  </a:outerShdw>
                </a:effectLst>
                <a:latin typeface="宋体" pitchFamily="2" charset="-122"/>
              </a:rPr>
              <a:t>/</a:t>
            </a:r>
          </a:p>
          <a:p>
            <a:pPr marL="536575" indent="-536575" algn="just" eaLnBrk="1" fontAlgn="auto" hangingPunct="1">
              <a:spcAft>
                <a:spcPts val="0"/>
              </a:spcAft>
              <a:buClr>
                <a:schemeClr val="accent3"/>
              </a:buClr>
              <a:buFont typeface="Wingdings" pitchFamily="2" charset="2"/>
              <a:buNone/>
              <a:defRPr/>
            </a:pPr>
            <a:r>
              <a:rPr lang="en-US" altLang="zh-CN" sz="2800" b="1" dirty="0">
                <a:effectLst>
                  <a:outerShdw blurRad="38100" dist="38100" dir="2700000" algn="tl">
                    <a:srgbClr val="C0C0C0"/>
                  </a:outerShdw>
                </a:effectLst>
                <a:latin typeface="宋体" pitchFamily="2" charset="-122"/>
              </a:rPr>
              <a:t>  float c[2][2][3];  </a:t>
            </a:r>
          </a:p>
          <a:p>
            <a:pPr marL="536575" indent="-536575" algn="just" eaLnBrk="1" fontAlgn="auto" hangingPunct="1">
              <a:spcAft>
                <a:spcPts val="0"/>
              </a:spcAft>
              <a:buClr>
                <a:schemeClr val="accent3"/>
              </a:buClr>
              <a:buFont typeface="Wingdings" pitchFamily="2" charset="2"/>
              <a:buNone/>
              <a:defRPr/>
            </a:pPr>
            <a:r>
              <a:rPr lang="en-US" altLang="zh-CN" sz="2800" b="1" dirty="0">
                <a:effectLst>
                  <a:outerShdw blurRad="38100" dist="38100" dir="2700000" algn="tl">
                    <a:srgbClr val="C0C0C0"/>
                  </a:outerShdw>
                </a:effectLst>
                <a:latin typeface="宋体" pitchFamily="2" charset="-122"/>
              </a:rPr>
              <a:t>     /* </a:t>
            </a:r>
            <a:r>
              <a:rPr lang="zh-CN" altLang="en-US" sz="2800" b="1" dirty="0">
                <a:effectLst>
                  <a:outerShdw blurRad="38100" dist="38100" dir="2700000" algn="tl">
                    <a:srgbClr val="C0C0C0"/>
                  </a:outerShdw>
                </a:effectLst>
                <a:latin typeface="宋体" pitchFamily="2" charset="-122"/>
              </a:rPr>
              <a:t>定义一个</a:t>
            </a:r>
            <a:r>
              <a:rPr lang="en-US" altLang="zh-CN" sz="2800" b="1" dirty="0">
                <a:effectLst>
                  <a:outerShdw blurRad="38100" dist="38100" dir="2700000" algn="tl">
                    <a:srgbClr val="C0C0C0"/>
                  </a:outerShdw>
                </a:effectLst>
                <a:latin typeface="宋体" pitchFamily="2" charset="-122"/>
              </a:rPr>
              <a:t>2×2×3</a:t>
            </a:r>
            <a:r>
              <a:rPr lang="zh-CN" altLang="en-US" sz="2800" b="1" dirty="0">
                <a:effectLst>
                  <a:outerShdw blurRad="38100" dist="38100" dir="2700000" algn="tl">
                    <a:srgbClr val="C0C0C0"/>
                  </a:outerShdw>
                </a:effectLst>
                <a:latin typeface="宋体" pitchFamily="2" charset="-122"/>
              </a:rPr>
              <a:t>的三维数组 *</a:t>
            </a:r>
            <a:r>
              <a:rPr lang="en-US" altLang="zh-CN" sz="2800" b="1" dirty="0">
                <a:effectLst>
                  <a:outerShdw blurRad="38100" dist="38100" dir="2700000" algn="tl">
                    <a:srgbClr val="C0C0C0"/>
                  </a:outerShdw>
                </a:effectLst>
                <a:latin typeface="宋体" pitchFamily="2" charset="-122"/>
              </a:rPr>
              <a:t>/</a:t>
            </a:r>
          </a:p>
          <a:p>
            <a:pPr marL="536575" indent="-536575" algn="just" eaLnBrk="1" fontAlgn="auto" hangingPunct="1">
              <a:spcAft>
                <a:spcPts val="0"/>
              </a:spcAft>
              <a:buClr>
                <a:schemeClr val="accent3"/>
              </a:buClr>
              <a:buFont typeface="Wingdings" pitchFamily="2" charset="2"/>
              <a:buNone/>
              <a:defRPr/>
            </a:pPr>
            <a:r>
              <a:rPr lang="zh-CN" altLang="en-US" sz="2800" b="1" dirty="0">
                <a:effectLst>
                  <a:outerShdw blurRad="38100" dist="38100" dir="2700000" algn="tl">
                    <a:srgbClr val="C0C0C0"/>
                  </a:outerShdw>
                </a:effectLst>
                <a:latin typeface="宋体" pitchFamily="2" charset="-122"/>
              </a:rPr>
              <a:t>说明：</a:t>
            </a:r>
          </a:p>
          <a:p>
            <a:pPr marL="536575" indent="-536575" algn="just" eaLnBrk="1" fontAlgn="auto" hangingPunct="1">
              <a:spcAft>
                <a:spcPts val="0"/>
              </a:spcAft>
              <a:buClr>
                <a:schemeClr val="accent3"/>
              </a:buClr>
              <a:buFont typeface="Wingdings" pitchFamily="2" charset="2"/>
              <a:buNone/>
              <a:defRPr/>
            </a:pPr>
            <a:r>
              <a:rPr lang="en-US" altLang="zh-CN" sz="2800" b="1" dirty="0">
                <a:effectLst>
                  <a:outerShdw blurRad="38100" dist="38100" dir="2700000" algn="tl">
                    <a:srgbClr val="C0C0C0"/>
                  </a:outerShdw>
                </a:effectLst>
                <a:latin typeface="宋体" pitchFamily="2" charset="-122"/>
              </a:rPr>
              <a:t>1. </a:t>
            </a:r>
            <a:r>
              <a:rPr lang="zh-CN" altLang="en-US" sz="2800" b="1" dirty="0">
                <a:effectLst>
                  <a:outerShdw blurRad="38100" dist="38100" dir="2700000" algn="tl">
                    <a:srgbClr val="C0C0C0"/>
                  </a:outerShdw>
                </a:effectLst>
                <a:latin typeface="宋体" pitchFamily="2" charset="-122"/>
              </a:rPr>
              <a:t>二维数组的元素是按行顺序存放的，即在内存中先存放第一行的元素，再存放第二行的元素。</a:t>
            </a:r>
          </a:p>
        </p:txBody>
      </p:sp>
      <p:sp>
        <p:nvSpPr>
          <p:cNvPr id="5" name="灯片编号占位符 5"/>
          <p:cNvSpPr>
            <a:spLocks noGrp="1"/>
          </p:cNvSpPr>
          <p:nvPr>
            <p:ph type="sldNum" sz="quarter" idx="12"/>
          </p:nvPr>
        </p:nvSpPr>
        <p:spPr/>
        <p:txBody>
          <a:bodyPr/>
          <a:lstStyle/>
          <a:p>
            <a:pPr>
              <a:defRPr/>
            </a:pPr>
            <a:fld id="{1895CBE4-35E9-4967-B457-6B3CA2B9001D}" type="slidenum">
              <a:rPr lang="en-US" altLang="zh-CN"/>
              <a:pPr>
                <a:defRPr/>
              </a:pPr>
              <a:t>63</a:t>
            </a:fld>
            <a:endParaRPr lang="en-US" altLang="zh-CN"/>
          </a:p>
        </p:txBody>
      </p:sp>
    </p:spTree>
  </p:cSld>
  <p:clrMapOvr>
    <a:masterClrMapping/>
  </p:clrMapOvr>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595" name="Rectangle 3"/>
          <p:cNvSpPr>
            <a:spLocks noGrp="1" noChangeArrowheads="1"/>
          </p:cNvSpPr>
          <p:nvPr>
            <p:ph idx="1"/>
          </p:nvPr>
        </p:nvSpPr>
        <p:spPr>
          <a:xfrm>
            <a:off x="395288" y="620713"/>
            <a:ext cx="8280400" cy="5184775"/>
          </a:xfrm>
        </p:spPr>
        <p:txBody>
          <a:bodyPr>
            <a:normAutofit/>
          </a:bodyPr>
          <a:lstStyle/>
          <a:p>
            <a:pPr marL="0" indent="0" algn="just" eaLnBrk="1" fontAlgn="auto" hangingPunct="1">
              <a:spcAft>
                <a:spcPts val="0"/>
              </a:spcAft>
              <a:buClr>
                <a:schemeClr val="accent3"/>
              </a:buClr>
              <a:buFont typeface="Wingdings" pitchFamily="2" charset="2"/>
              <a:buNone/>
              <a:defRPr/>
            </a:pPr>
            <a:r>
              <a:rPr lang="zh-CN" altLang="en-US" sz="2800" b="1" dirty="0">
                <a:effectLst>
                  <a:outerShdw blurRad="38100" dist="38100" dir="2700000" algn="tl">
                    <a:srgbClr val="C0C0C0"/>
                  </a:outerShdw>
                </a:effectLst>
                <a:latin typeface="宋体" pitchFamily="2" charset="-122"/>
              </a:rPr>
              <a:t>例如：对</a:t>
            </a:r>
            <a:r>
              <a:rPr lang="en-US" altLang="zh-CN" sz="2800" b="1" dirty="0">
                <a:effectLst>
                  <a:outerShdw blurRad="38100" dist="38100" dir="2700000" algn="tl">
                    <a:srgbClr val="C0C0C0"/>
                  </a:outerShdw>
                </a:effectLst>
                <a:latin typeface="宋体" pitchFamily="2" charset="-122"/>
              </a:rPr>
              <a:t>a[2][4]</a:t>
            </a:r>
            <a:r>
              <a:rPr lang="zh-CN" altLang="en-US" sz="2800" b="1" dirty="0">
                <a:effectLst>
                  <a:outerShdw blurRad="38100" dist="38100" dir="2700000" algn="tl">
                    <a:srgbClr val="C0C0C0"/>
                  </a:outerShdw>
                </a:effectLst>
                <a:latin typeface="宋体" pitchFamily="2" charset="-122"/>
              </a:rPr>
              <a:t>，其元素的存放顺序为：</a:t>
            </a:r>
          </a:p>
          <a:p>
            <a:pPr marL="0" indent="0" algn="just" eaLnBrk="1" fontAlgn="auto" hangingPunct="1">
              <a:spcAft>
                <a:spcPts val="0"/>
              </a:spcAft>
              <a:buClr>
                <a:schemeClr val="accent3"/>
              </a:buClr>
              <a:buFont typeface="Wingdings" pitchFamily="2" charset="2"/>
              <a:buNone/>
              <a:defRPr/>
            </a:pPr>
            <a:r>
              <a:rPr lang="zh-CN" altLang="en-US" sz="2800" b="1" dirty="0">
                <a:effectLst>
                  <a:outerShdw blurRad="38100" dist="38100" dir="2700000" algn="tl">
                    <a:srgbClr val="C0C0C0"/>
                  </a:outerShdw>
                </a:effectLst>
                <a:latin typeface="Times New Roman" pitchFamily="18" charset="0"/>
              </a:rPr>
              <a:t>            </a:t>
            </a:r>
            <a:r>
              <a:rPr lang="en-US" altLang="zh-CN" sz="2800" b="1" dirty="0">
                <a:effectLst>
                  <a:outerShdw blurRad="38100" dist="38100" dir="2700000" algn="tl">
                    <a:srgbClr val="C0C0C0"/>
                  </a:outerShdw>
                </a:effectLst>
                <a:latin typeface="Times New Roman" pitchFamily="18" charset="0"/>
              </a:rPr>
              <a:t>a[0][0]</a:t>
            </a:r>
            <a:r>
              <a:rPr lang="zh-CN" altLang="en-US" sz="2800" b="1" dirty="0">
                <a:effectLst>
                  <a:outerShdw blurRad="38100" dist="38100" dir="2700000" algn="tl">
                    <a:srgbClr val="C0C0C0"/>
                  </a:outerShdw>
                </a:effectLst>
                <a:latin typeface="Times New Roman" pitchFamily="18" charset="0"/>
              </a:rPr>
              <a:t>、</a:t>
            </a:r>
            <a:r>
              <a:rPr lang="en-US" altLang="zh-CN" sz="2800" b="1" dirty="0">
                <a:effectLst>
                  <a:outerShdw blurRad="38100" dist="38100" dir="2700000" algn="tl">
                    <a:srgbClr val="C0C0C0"/>
                  </a:outerShdw>
                </a:effectLst>
                <a:latin typeface="Times New Roman" pitchFamily="18" charset="0"/>
              </a:rPr>
              <a:t>a[0][1]</a:t>
            </a:r>
            <a:r>
              <a:rPr lang="zh-CN" altLang="en-US" sz="2800" b="1" dirty="0">
                <a:effectLst>
                  <a:outerShdw blurRad="38100" dist="38100" dir="2700000" algn="tl">
                    <a:srgbClr val="C0C0C0"/>
                  </a:outerShdw>
                </a:effectLst>
                <a:latin typeface="Times New Roman" pitchFamily="18" charset="0"/>
              </a:rPr>
              <a:t>、</a:t>
            </a:r>
            <a:r>
              <a:rPr lang="en-US" altLang="zh-CN" sz="2800" b="1" dirty="0">
                <a:effectLst>
                  <a:outerShdw blurRad="38100" dist="38100" dir="2700000" algn="tl">
                    <a:srgbClr val="C0C0C0"/>
                  </a:outerShdw>
                </a:effectLst>
                <a:latin typeface="Times New Roman" pitchFamily="18" charset="0"/>
              </a:rPr>
              <a:t>a[0][2]</a:t>
            </a:r>
            <a:r>
              <a:rPr lang="zh-CN" altLang="en-US" sz="2800" b="1" dirty="0">
                <a:effectLst>
                  <a:outerShdw blurRad="38100" dist="38100" dir="2700000" algn="tl">
                    <a:srgbClr val="C0C0C0"/>
                  </a:outerShdw>
                </a:effectLst>
                <a:latin typeface="Times New Roman" pitchFamily="18" charset="0"/>
              </a:rPr>
              <a:t>、 </a:t>
            </a:r>
            <a:r>
              <a:rPr lang="en-US" altLang="zh-CN" sz="2800" b="1" dirty="0">
                <a:effectLst>
                  <a:outerShdw blurRad="38100" dist="38100" dir="2700000" algn="tl">
                    <a:srgbClr val="C0C0C0"/>
                  </a:outerShdw>
                </a:effectLst>
                <a:latin typeface="Times New Roman" pitchFamily="18" charset="0"/>
              </a:rPr>
              <a:t>a[0][3]</a:t>
            </a:r>
            <a:r>
              <a:rPr lang="zh-CN" altLang="en-US" sz="2800" b="1" dirty="0">
                <a:effectLst>
                  <a:outerShdw blurRad="38100" dist="38100" dir="2700000" algn="tl">
                    <a:srgbClr val="C0C0C0"/>
                  </a:outerShdw>
                </a:effectLst>
                <a:latin typeface="Times New Roman" pitchFamily="18" charset="0"/>
              </a:rPr>
              <a:t>、</a:t>
            </a:r>
          </a:p>
          <a:p>
            <a:pPr marL="0" indent="0" algn="just" eaLnBrk="1" fontAlgn="auto" hangingPunct="1">
              <a:spcAft>
                <a:spcPts val="0"/>
              </a:spcAft>
              <a:buClr>
                <a:schemeClr val="accent3"/>
              </a:buClr>
              <a:buFont typeface="Wingdings" pitchFamily="2" charset="2"/>
              <a:buNone/>
              <a:defRPr/>
            </a:pPr>
            <a:r>
              <a:rPr lang="zh-CN" altLang="en-US" sz="2800" b="1" dirty="0">
                <a:effectLst>
                  <a:outerShdw blurRad="38100" dist="38100" dir="2700000" algn="tl">
                    <a:srgbClr val="C0C0C0"/>
                  </a:outerShdw>
                </a:effectLst>
                <a:latin typeface="Times New Roman" pitchFamily="18" charset="0"/>
              </a:rPr>
              <a:t>            </a:t>
            </a:r>
            <a:r>
              <a:rPr lang="en-US" altLang="zh-CN" sz="2800" b="1" dirty="0">
                <a:effectLst>
                  <a:outerShdw blurRad="38100" dist="38100" dir="2700000" algn="tl">
                    <a:srgbClr val="C0C0C0"/>
                  </a:outerShdw>
                </a:effectLst>
                <a:latin typeface="Times New Roman" pitchFamily="18" charset="0"/>
              </a:rPr>
              <a:t>a[1][0]</a:t>
            </a:r>
            <a:r>
              <a:rPr lang="zh-CN" altLang="en-US" sz="2800" b="1" dirty="0">
                <a:effectLst>
                  <a:outerShdw blurRad="38100" dist="38100" dir="2700000" algn="tl">
                    <a:srgbClr val="C0C0C0"/>
                  </a:outerShdw>
                </a:effectLst>
                <a:latin typeface="Times New Roman" pitchFamily="18" charset="0"/>
              </a:rPr>
              <a:t>、</a:t>
            </a:r>
            <a:r>
              <a:rPr lang="en-US" altLang="zh-CN" sz="2800" b="1" dirty="0">
                <a:effectLst>
                  <a:outerShdw blurRad="38100" dist="38100" dir="2700000" algn="tl">
                    <a:srgbClr val="C0C0C0"/>
                  </a:outerShdw>
                </a:effectLst>
                <a:latin typeface="Times New Roman" pitchFamily="18" charset="0"/>
              </a:rPr>
              <a:t>a[1][1]</a:t>
            </a:r>
            <a:r>
              <a:rPr lang="zh-CN" altLang="en-US" sz="2800" b="1" dirty="0">
                <a:effectLst>
                  <a:outerShdw blurRad="38100" dist="38100" dir="2700000" algn="tl">
                    <a:srgbClr val="C0C0C0"/>
                  </a:outerShdw>
                </a:effectLst>
                <a:latin typeface="Times New Roman" pitchFamily="18" charset="0"/>
              </a:rPr>
              <a:t>、</a:t>
            </a:r>
            <a:r>
              <a:rPr lang="en-US" altLang="zh-CN" sz="2800" b="1" dirty="0">
                <a:effectLst>
                  <a:outerShdw blurRad="38100" dist="38100" dir="2700000" algn="tl">
                    <a:srgbClr val="C0C0C0"/>
                  </a:outerShdw>
                </a:effectLst>
                <a:latin typeface="Times New Roman" pitchFamily="18" charset="0"/>
              </a:rPr>
              <a:t>a[1][2] </a:t>
            </a:r>
            <a:r>
              <a:rPr lang="zh-CN" altLang="en-US" sz="2800" b="1" dirty="0">
                <a:effectLst>
                  <a:outerShdw blurRad="38100" dist="38100" dir="2700000" algn="tl">
                    <a:srgbClr val="C0C0C0"/>
                  </a:outerShdw>
                </a:effectLst>
                <a:latin typeface="Times New Roman" pitchFamily="18" charset="0"/>
              </a:rPr>
              <a:t>、</a:t>
            </a:r>
            <a:r>
              <a:rPr lang="en-US" altLang="zh-CN" sz="2800" b="1" dirty="0">
                <a:effectLst>
                  <a:outerShdw blurRad="38100" dist="38100" dir="2700000" algn="tl">
                    <a:srgbClr val="C0C0C0"/>
                  </a:outerShdw>
                </a:effectLst>
                <a:latin typeface="Times New Roman" pitchFamily="18" charset="0"/>
              </a:rPr>
              <a:t>a[1][3]</a:t>
            </a:r>
            <a:r>
              <a:rPr lang="zh-CN" altLang="en-US" sz="2800" b="1" dirty="0">
                <a:effectLst>
                  <a:outerShdw blurRad="38100" dist="38100" dir="2700000" algn="tl">
                    <a:srgbClr val="C0C0C0"/>
                  </a:outerShdw>
                </a:effectLst>
                <a:latin typeface="Times New Roman" pitchFamily="18" charset="0"/>
              </a:rPr>
              <a:t>。</a:t>
            </a:r>
          </a:p>
          <a:p>
            <a:pPr marL="0" indent="0" eaLnBrk="1" fontAlgn="auto" hangingPunct="1">
              <a:spcAft>
                <a:spcPts val="0"/>
              </a:spcAft>
              <a:buClr>
                <a:schemeClr val="accent3"/>
              </a:buClr>
              <a:buFont typeface="Wingdings" pitchFamily="2" charset="2"/>
              <a:buNone/>
              <a:defRPr/>
            </a:pPr>
            <a:r>
              <a:rPr lang="zh-CN" altLang="en-US" sz="2800" b="1" dirty="0">
                <a:effectLst>
                  <a:outerShdw blurRad="38100" dist="38100" dir="2700000" algn="tl">
                    <a:srgbClr val="C0C0C0"/>
                  </a:outerShdw>
                </a:effectLst>
              </a:rPr>
              <a:t>可把二维数组看作是一种特殊的一维数组，即它的元素又是一个数组。例如，对于上述定义的数组</a:t>
            </a:r>
            <a:r>
              <a:rPr lang="en-US" altLang="zh-CN" sz="2800" b="1" dirty="0">
                <a:effectLst>
                  <a:outerShdw blurRad="38100" dist="38100" dir="2700000" algn="tl">
                    <a:srgbClr val="C0C0C0"/>
                  </a:outerShdw>
                </a:effectLst>
              </a:rPr>
              <a:t>a</a:t>
            </a:r>
            <a:r>
              <a:rPr lang="zh-CN" altLang="en-US" sz="2800" b="1" dirty="0">
                <a:effectLst>
                  <a:outerShdw blurRad="38100" dist="38100" dir="2700000" algn="tl">
                    <a:srgbClr val="C0C0C0"/>
                  </a:outerShdw>
                </a:effectLst>
              </a:rPr>
              <a:t>，把它看作有</a:t>
            </a:r>
            <a:r>
              <a:rPr lang="en-US" altLang="zh-CN" sz="2800" b="1" dirty="0">
                <a:effectLst>
                  <a:outerShdw blurRad="38100" dist="38100" dir="2700000" algn="tl">
                    <a:srgbClr val="C0C0C0"/>
                  </a:outerShdw>
                </a:effectLst>
              </a:rPr>
              <a:t>2</a:t>
            </a:r>
            <a:r>
              <a:rPr lang="zh-CN" altLang="en-US" sz="2800" b="1" dirty="0">
                <a:effectLst>
                  <a:outerShdw blurRad="38100" dist="38100" dir="2700000" algn="tl">
                    <a:srgbClr val="C0C0C0"/>
                  </a:outerShdw>
                </a:effectLst>
              </a:rPr>
              <a:t>个元素的一维数组：</a:t>
            </a:r>
          </a:p>
          <a:p>
            <a:pPr marL="0" indent="0" eaLnBrk="1" fontAlgn="auto" hangingPunct="1">
              <a:spcAft>
                <a:spcPts val="0"/>
              </a:spcAft>
              <a:buClr>
                <a:schemeClr val="accent3"/>
              </a:buClr>
              <a:buFont typeface="Wingdings" pitchFamily="2" charset="2"/>
              <a:buNone/>
              <a:defRPr/>
            </a:pPr>
            <a:r>
              <a:rPr lang="zh-CN" altLang="en-US" sz="2800" b="1" dirty="0">
                <a:effectLst>
                  <a:outerShdw blurRad="38100" dist="38100" dir="2700000" algn="tl">
                    <a:srgbClr val="C0C0C0"/>
                  </a:outerShdw>
                </a:effectLst>
              </a:rPr>
              <a:t>      </a:t>
            </a:r>
            <a:r>
              <a:rPr lang="en-US" altLang="zh-CN" sz="2800" b="1" dirty="0">
                <a:effectLst>
                  <a:outerShdw blurRad="38100" dist="38100" dir="2700000" algn="tl">
                    <a:srgbClr val="C0C0C0"/>
                  </a:outerShdw>
                </a:effectLst>
              </a:rPr>
              <a:t>a[0] </a:t>
            </a:r>
            <a:r>
              <a:rPr lang="zh-CN" altLang="en-US" sz="2800" b="1" dirty="0">
                <a:effectLst>
                  <a:outerShdw blurRad="38100" dist="38100" dir="2700000" algn="tl">
                    <a:srgbClr val="C0C0C0"/>
                  </a:outerShdw>
                </a:effectLst>
              </a:rPr>
              <a:t>和 </a:t>
            </a:r>
            <a:r>
              <a:rPr lang="en-US" altLang="zh-CN" sz="2800" b="1" dirty="0">
                <a:effectLst>
                  <a:outerShdw blurRad="38100" dist="38100" dir="2700000" algn="tl">
                    <a:srgbClr val="C0C0C0"/>
                  </a:outerShdw>
                </a:effectLst>
              </a:rPr>
              <a:t>a[1]</a:t>
            </a:r>
          </a:p>
          <a:p>
            <a:pPr marL="0" indent="0" eaLnBrk="1" fontAlgn="auto" hangingPunct="1">
              <a:spcAft>
                <a:spcPts val="0"/>
              </a:spcAft>
              <a:buClr>
                <a:schemeClr val="accent3"/>
              </a:buClr>
              <a:buFont typeface="Wingdings" pitchFamily="2" charset="2"/>
              <a:buNone/>
              <a:defRPr/>
            </a:pPr>
            <a:r>
              <a:rPr lang="zh-CN" altLang="en-US" sz="2800" b="1" dirty="0">
                <a:effectLst>
                  <a:outerShdw blurRad="38100" dist="38100" dir="2700000" algn="tl">
                    <a:srgbClr val="C0C0C0"/>
                  </a:outerShdw>
                </a:effectLst>
              </a:rPr>
              <a:t>每个元素又是一个包含</a:t>
            </a:r>
            <a:r>
              <a:rPr lang="en-US" altLang="zh-CN" sz="2800" b="1" dirty="0">
                <a:effectLst>
                  <a:outerShdw blurRad="38100" dist="38100" dir="2700000" algn="tl">
                    <a:srgbClr val="C0C0C0"/>
                  </a:outerShdw>
                </a:effectLst>
              </a:rPr>
              <a:t>4</a:t>
            </a:r>
            <a:r>
              <a:rPr lang="zh-CN" altLang="en-US" sz="2800" b="1" dirty="0">
                <a:effectLst>
                  <a:outerShdw blurRad="38100" dist="38100" dir="2700000" algn="tl">
                    <a:srgbClr val="C0C0C0"/>
                  </a:outerShdw>
                </a:effectLst>
              </a:rPr>
              <a:t>个元素的一维数组。实际上，可以把</a:t>
            </a:r>
            <a:r>
              <a:rPr lang="en-US" altLang="zh-CN" sz="2800" b="1" dirty="0">
                <a:effectLst>
                  <a:outerShdw blurRad="38100" dist="38100" dir="2700000" algn="tl">
                    <a:srgbClr val="C0C0C0"/>
                  </a:outerShdw>
                </a:effectLst>
              </a:rPr>
              <a:t>n</a:t>
            </a:r>
            <a:r>
              <a:rPr lang="zh-CN" altLang="en-US" sz="2800" b="1" dirty="0">
                <a:effectLst>
                  <a:outerShdw blurRad="38100" dist="38100" dir="2700000" algn="tl">
                    <a:srgbClr val="C0C0C0"/>
                  </a:outerShdw>
                </a:effectLst>
              </a:rPr>
              <a:t>维数组看作是由</a:t>
            </a:r>
            <a:r>
              <a:rPr lang="en-US" altLang="zh-CN" sz="2800" b="1" dirty="0">
                <a:effectLst>
                  <a:outerShdw blurRad="38100" dist="38100" dir="2700000" algn="tl">
                    <a:srgbClr val="C0C0C0"/>
                  </a:outerShdw>
                </a:effectLst>
              </a:rPr>
              <a:t>(n-1)</a:t>
            </a:r>
            <a:r>
              <a:rPr lang="zh-CN" altLang="en-US" sz="2800" b="1" dirty="0">
                <a:effectLst>
                  <a:outerShdw blurRad="38100" dist="38100" dir="2700000" algn="tl">
                    <a:srgbClr val="C0C0C0"/>
                  </a:outerShdw>
                </a:effectLst>
              </a:rPr>
              <a:t>维数组组成的一维数组。</a:t>
            </a:r>
            <a:r>
              <a:rPr lang="zh-CN" altLang="en-US" sz="2800" dirty="0"/>
              <a:t> </a:t>
            </a:r>
          </a:p>
        </p:txBody>
      </p:sp>
      <p:sp>
        <p:nvSpPr>
          <p:cNvPr id="5" name="灯片编号占位符 5"/>
          <p:cNvSpPr>
            <a:spLocks noGrp="1"/>
          </p:cNvSpPr>
          <p:nvPr>
            <p:ph type="sldNum" sz="quarter" idx="12"/>
          </p:nvPr>
        </p:nvSpPr>
        <p:spPr/>
        <p:txBody>
          <a:bodyPr/>
          <a:lstStyle/>
          <a:p>
            <a:pPr>
              <a:defRPr/>
            </a:pPr>
            <a:fld id="{A260FEDD-33A6-4D5B-B72A-D62FEDAA2CD8}" type="slidenum">
              <a:rPr lang="en-US" altLang="zh-CN"/>
              <a:pPr>
                <a:defRPr/>
              </a:pPr>
              <a:t>64</a:t>
            </a:fld>
            <a:endParaRPr lang="en-US" altLang="zh-CN"/>
          </a:p>
        </p:txBody>
      </p:sp>
    </p:spTree>
  </p:cSld>
  <p:clrMapOvr>
    <a:masterClrMapping/>
  </p:clrMapOvr>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3506" name="Rectangle 2"/>
          <p:cNvSpPr>
            <a:spLocks noGrp="1" noChangeArrowheads="1"/>
          </p:cNvSpPr>
          <p:nvPr>
            <p:ph idx="1"/>
          </p:nvPr>
        </p:nvSpPr>
        <p:spPr>
          <a:xfrm>
            <a:off x="395288" y="620713"/>
            <a:ext cx="8280400" cy="5184775"/>
          </a:xfrm>
        </p:spPr>
        <p:txBody>
          <a:bodyPr>
            <a:normAutofit/>
          </a:bodyPr>
          <a:lstStyle/>
          <a:p>
            <a:pPr marL="0" indent="0" algn="just" eaLnBrk="1" fontAlgn="auto" hangingPunct="1">
              <a:spcAft>
                <a:spcPts val="0"/>
              </a:spcAft>
              <a:buClr>
                <a:schemeClr val="accent3"/>
              </a:buClr>
              <a:buFont typeface="Wingdings" pitchFamily="2" charset="2"/>
              <a:buNone/>
              <a:defRPr/>
            </a:pPr>
            <a:r>
              <a:rPr lang="zh-CN" altLang="en-US" sz="2800" b="1" dirty="0">
                <a:effectLst>
                  <a:outerShdw blurRad="38100" dist="38100" dir="2700000" algn="tl">
                    <a:srgbClr val="C0C0C0"/>
                  </a:outerShdw>
                </a:effectLst>
                <a:latin typeface="宋体" pitchFamily="2" charset="-122"/>
              </a:rPr>
              <a:t>例如：对</a:t>
            </a:r>
            <a:r>
              <a:rPr lang="en-US" altLang="zh-CN" sz="2800" b="1" dirty="0">
                <a:effectLst>
                  <a:outerShdw blurRad="38100" dist="38100" dir="2700000" algn="tl">
                    <a:srgbClr val="C0C0C0"/>
                  </a:outerShdw>
                </a:effectLst>
                <a:latin typeface="宋体" pitchFamily="2" charset="-122"/>
              </a:rPr>
              <a:t>a[2][3]</a:t>
            </a:r>
            <a:r>
              <a:rPr lang="zh-CN" altLang="en-US" sz="2800" b="1" dirty="0">
                <a:effectLst>
                  <a:outerShdw blurRad="38100" dist="38100" dir="2700000" algn="tl">
                    <a:srgbClr val="C0C0C0"/>
                  </a:outerShdw>
                </a:effectLst>
                <a:latin typeface="宋体" pitchFamily="2" charset="-122"/>
              </a:rPr>
              <a:t>，其元素的存放顺序为：</a:t>
            </a:r>
          </a:p>
          <a:p>
            <a:pPr marL="0" indent="0" algn="just" eaLnBrk="1" fontAlgn="auto" hangingPunct="1">
              <a:spcAft>
                <a:spcPts val="0"/>
              </a:spcAft>
              <a:buClr>
                <a:schemeClr val="accent3"/>
              </a:buClr>
              <a:buFont typeface="Wingdings" pitchFamily="2" charset="2"/>
              <a:buNone/>
              <a:defRPr/>
            </a:pPr>
            <a:r>
              <a:rPr lang="zh-CN" altLang="en-US" sz="2800" b="1" dirty="0">
                <a:effectLst>
                  <a:outerShdw blurRad="38100" dist="38100" dir="2700000" algn="tl">
                    <a:srgbClr val="C0C0C0"/>
                  </a:outerShdw>
                </a:effectLst>
                <a:latin typeface="Times New Roman" pitchFamily="18" charset="0"/>
              </a:rPr>
              <a:t>            </a:t>
            </a:r>
            <a:r>
              <a:rPr lang="en-US" altLang="zh-CN" sz="2800" b="1" dirty="0">
                <a:effectLst>
                  <a:outerShdw blurRad="38100" dist="38100" dir="2700000" algn="tl">
                    <a:srgbClr val="C0C0C0"/>
                  </a:outerShdw>
                </a:effectLst>
                <a:latin typeface="Times New Roman" pitchFamily="18" charset="0"/>
              </a:rPr>
              <a:t>a[0][0]</a:t>
            </a:r>
            <a:r>
              <a:rPr lang="zh-CN" altLang="en-US" sz="2800" b="1" dirty="0">
                <a:effectLst>
                  <a:outerShdw blurRad="38100" dist="38100" dir="2700000" algn="tl">
                    <a:srgbClr val="C0C0C0"/>
                  </a:outerShdw>
                </a:effectLst>
                <a:latin typeface="Times New Roman" pitchFamily="18" charset="0"/>
              </a:rPr>
              <a:t>、</a:t>
            </a:r>
            <a:r>
              <a:rPr lang="en-US" altLang="zh-CN" sz="2800" b="1" dirty="0">
                <a:effectLst>
                  <a:outerShdw blurRad="38100" dist="38100" dir="2700000" algn="tl">
                    <a:srgbClr val="C0C0C0"/>
                  </a:outerShdw>
                </a:effectLst>
                <a:latin typeface="Times New Roman" pitchFamily="18" charset="0"/>
              </a:rPr>
              <a:t>a[0][1]</a:t>
            </a:r>
            <a:r>
              <a:rPr lang="zh-CN" altLang="en-US" sz="2800" b="1" dirty="0">
                <a:effectLst>
                  <a:outerShdw blurRad="38100" dist="38100" dir="2700000" algn="tl">
                    <a:srgbClr val="C0C0C0"/>
                  </a:outerShdw>
                </a:effectLst>
                <a:latin typeface="Times New Roman" pitchFamily="18" charset="0"/>
              </a:rPr>
              <a:t>、</a:t>
            </a:r>
            <a:r>
              <a:rPr lang="en-US" altLang="zh-CN" sz="2800" b="1" dirty="0">
                <a:effectLst>
                  <a:outerShdw blurRad="38100" dist="38100" dir="2700000" algn="tl">
                    <a:srgbClr val="C0C0C0"/>
                  </a:outerShdw>
                </a:effectLst>
                <a:latin typeface="Times New Roman" pitchFamily="18" charset="0"/>
              </a:rPr>
              <a:t>a[0][2]</a:t>
            </a:r>
            <a:r>
              <a:rPr lang="zh-CN" altLang="en-US" sz="2800" b="1" dirty="0">
                <a:effectLst>
                  <a:outerShdw blurRad="38100" dist="38100" dir="2700000" algn="tl">
                    <a:srgbClr val="C0C0C0"/>
                  </a:outerShdw>
                </a:effectLst>
                <a:latin typeface="Times New Roman" pitchFamily="18" charset="0"/>
              </a:rPr>
              <a:t>、</a:t>
            </a:r>
          </a:p>
          <a:p>
            <a:pPr marL="0" indent="0" algn="just" eaLnBrk="1" fontAlgn="auto" hangingPunct="1">
              <a:spcAft>
                <a:spcPts val="0"/>
              </a:spcAft>
              <a:buClr>
                <a:schemeClr val="accent3"/>
              </a:buClr>
              <a:buFont typeface="Wingdings" pitchFamily="2" charset="2"/>
              <a:buNone/>
              <a:defRPr/>
            </a:pPr>
            <a:r>
              <a:rPr lang="zh-CN" altLang="en-US" sz="2800" b="1" dirty="0">
                <a:effectLst>
                  <a:outerShdw blurRad="38100" dist="38100" dir="2700000" algn="tl">
                    <a:srgbClr val="C0C0C0"/>
                  </a:outerShdw>
                </a:effectLst>
                <a:latin typeface="Times New Roman" pitchFamily="18" charset="0"/>
              </a:rPr>
              <a:t>            </a:t>
            </a:r>
            <a:r>
              <a:rPr lang="en-US" altLang="zh-CN" sz="2800" b="1" dirty="0">
                <a:effectLst>
                  <a:outerShdw blurRad="38100" dist="38100" dir="2700000" algn="tl">
                    <a:srgbClr val="C0C0C0"/>
                  </a:outerShdw>
                </a:effectLst>
                <a:latin typeface="Times New Roman" pitchFamily="18" charset="0"/>
              </a:rPr>
              <a:t>a[1][0]</a:t>
            </a:r>
            <a:r>
              <a:rPr lang="zh-CN" altLang="en-US" sz="2800" b="1" dirty="0">
                <a:effectLst>
                  <a:outerShdw blurRad="38100" dist="38100" dir="2700000" algn="tl">
                    <a:srgbClr val="C0C0C0"/>
                  </a:outerShdw>
                </a:effectLst>
                <a:latin typeface="Times New Roman" pitchFamily="18" charset="0"/>
              </a:rPr>
              <a:t>、</a:t>
            </a:r>
            <a:r>
              <a:rPr lang="en-US" altLang="zh-CN" sz="2800" b="1" dirty="0">
                <a:effectLst>
                  <a:outerShdw blurRad="38100" dist="38100" dir="2700000" algn="tl">
                    <a:srgbClr val="C0C0C0"/>
                  </a:outerShdw>
                </a:effectLst>
                <a:latin typeface="Times New Roman" pitchFamily="18" charset="0"/>
              </a:rPr>
              <a:t>a[1][1]</a:t>
            </a:r>
            <a:r>
              <a:rPr lang="zh-CN" altLang="en-US" sz="2800" b="1" dirty="0">
                <a:effectLst>
                  <a:outerShdw blurRad="38100" dist="38100" dir="2700000" algn="tl">
                    <a:srgbClr val="C0C0C0"/>
                  </a:outerShdw>
                </a:effectLst>
                <a:latin typeface="Times New Roman" pitchFamily="18" charset="0"/>
              </a:rPr>
              <a:t>、</a:t>
            </a:r>
            <a:r>
              <a:rPr lang="en-US" altLang="zh-CN" sz="2800" b="1" dirty="0">
                <a:effectLst>
                  <a:outerShdw blurRad="38100" dist="38100" dir="2700000" algn="tl">
                    <a:srgbClr val="C0C0C0"/>
                  </a:outerShdw>
                </a:effectLst>
                <a:latin typeface="Times New Roman" pitchFamily="18" charset="0"/>
              </a:rPr>
              <a:t>a[1][2]</a:t>
            </a:r>
            <a:r>
              <a:rPr lang="zh-CN" altLang="en-US" sz="2800" b="1" dirty="0">
                <a:effectLst>
                  <a:outerShdw blurRad="38100" dist="38100" dir="2700000" algn="tl">
                    <a:srgbClr val="C0C0C0"/>
                  </a:outerShdw>
                </a:effectLst>
                <a:latin typeface="Times New Roman" pitchFamily="18" charset="0"/>
              </a:rPr>
              <a:t>。</a:t>
            </a:r>
          </a:p>
          <a:p>
            <a:pPr marL="0" indent="0" algn="just" eaLnBrk="1" fontAlgn="auto" hangingPunct="1">
              <a:spcAft>
                <a:spcPts val="0"/>
              </a:spcAft>
              <a:buClr>
                <a:schemeClr val="accent3"/>
              </a:buClr>
              <a:buFont typeface="Wingdings" pitchFamily="2" charset="2"/>
              <a:buNone/>
              <a:defRPr/>
            </a:pPr>
            <a:endParaRPr lang="en-US" altLang="zh-CN" sz="2800" b="1" dirty="0">
              <a:effectLst>
                <a:outerShdw blurRad="38100" dist="38100" dir="2700000" algn="tl">
                  <a:srgbClr val="C0C0C0"/>
                </a:outerShdw>
              </a:effectLst>
              <a:latin typeface="Times New Roman" pitchFamily="18" charset="0"/>
            </a:endParaRPr>
          </a:p>
        </p:txBody>
      </p:sp>
      <p:sp>
        <p:nvSpPr>
          <p:cNvPr id="7" name="灯片编号占位符 5"/>
          <p:cNvSpPr>
            <a:spLocks noGrp="1"/>
          </p:cNvSpPr>
          <p:nvPr>
            <p:ph type="sldNum" sz="quarter" idx="12"/>
          </p:nvPr>
        </p:nvSpPr>
        <p:spPr/>
        <p:txBody>
          <a:bodyPr/>
          <a:lstStyle/>
          <a:p>
            <a:pPr>
              <a:defRPr/>
            </a:pPr>
            <a:fld id="{8A72CB3F-1770-4EFC-8CA1-065E98DB0DF3}" type="slidenum">
              <a:rPr lang="en-US" altLang="zh-CN"/>
              <a:pPr>
                <a:defRPr/>
              </a:pPr>
              <a:t>65</a:t>
            </a:fld>
            <a:endParaRPr lang="en-US" altLang="zh-CN"/>
          </a:p>
        </p:txBody>
      </p:sp>
      <p:sp>
        <p:nvSpPr>
          <p:cNvPr id="3077"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3074" name="Object 3"/>
          <p:cNvGraphicFramePr>
            <a:graphicFrameLocks noChangeAspect="1"/>
          </p:cNvGraphicFramePr>
          <p:nvPr/>
        </p:nvGraphicFramePr>
        <p:xfrm>
          <a:off x="-714375" y="2652713"/>
          <a:ext cx="9644063" cy="2490787"/>
        </p:xfrm>
        <a:graphic>
          <a:graphicData uri="http://schemas.openxmlformats.org/presentationml/2006/ole">
            <mc:AlternateContent xmlns:mc="http://schemas.openxmlformats.org/markup-compatibility/2006">
              <mc:Choice xmlns:v="urn:schemas-microsoft-com:vml" Requires="v">
                <p:oleObj spid="_x0000_s3093" r:id="rId3" imgW="5749928" imgH="1107730" progId="Visio.Drawing.11">
                  <p:embed/>
                </p:oleObj>
              </mc:Choice>
              <mc:Fallback>
                <p:oleObj r:id="rId3" imgW="5749928" imgH="1107730" progId="Visio.Drawing.11">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4375" y="2652713"/>
                        <a:ext cx="9644063" cy="24907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82" name="Rectangle 2"/>
          <p:cNvSpPr>
            <a:spLocks noGrp="1" noChangeArrowheads="1"/>
          </p:cNvSpPr>
          <p:nvPr>
            <p:ph idx="1"/>
          </p:nvPr>
        </p:nvSpPr>
        <p:spPr>
          <a:xfrm>
            <a:off x="395288" y="1052513"/>
            <a:ext cx="8280400" cy="5184775"/>
          </a:xfrm>
        </p:spPr>
        <p:txBody>
          <a:bodyPr>
            <a:normAutofit/>
          </a:bodyPr>
          <a:lstStyle/>
          <a:p>
            <a:pPr marL="536575" indent="-536575" algn="just" eaLnBrk="1" fontAlgn="auto" hangingPunct="1">
              <a:spcAft>
                <a:spcPts val="0"/>
              </a:spcAft>
              <a:buClr>
                <a:schemeClr val="accent3"/>
              </a:buClr>
              <a:buFont typeface="Wingdings" pitchFamily="2" charset="2"/>
              <a:buNone/>
              <a:defRPr/>
            </a:pPr>
            <a:r>
              <a:rPr lang="en-US" altLang="zh-CN" sz="2800" b="1" dirty="0">
                <a:effectLst>
                  <a:outerShdw blurRad="38100" dist="38100" dir="2700000" algn="tl">
                    <a:srgbClr val="C0C0C0"/>
                  </a:outerShdw>
                </a:effectLst>
                <a:latin typeface="宋体" pitchFamily="2" charset="-122"/>
              </a:rPr>
              <a:t>2. </a:t>
            </a:r>
            <a:r>
              <a:rPr lang="zh-CN" altLang="en-US" sz="2800" b="1" dirty="0">
                <a:effectLst>
                  <a:outerShdw blurRad="38100" dist="38100" dir="2700000" algn="tl">
                    <a:srgbClr val="C0C0C0"/>
                  </a:outerShdw>
                </a:effectLst>
                <a:latin typeface="宋体" pitchFamily="2" charset="-122"/>
              </a:rPr>
              <a:t>对于一个多维数组，它的元素在内存中的存放顺序有这样特点：第一维的下标变化最慢，最右边的下标变化最快。</a:t>
            </a:r>
          </a:p>
          <a:p>
            <a:pPr marL="536575" indent="-536575" algn="just" eaLnBrk="1" fontAlgn="auto" hangingPunct="1">
              <a:spcAft>
                <a:spcPts val="0"/>
              </a:spcAft>
              <a:buClr>
                <a:schemeClr val="accent3"/>
              </a:buClr>
              <a:buFont typeface="Wingdings" pitchFamily="2" charset="2"/>
              <a:buNone/>
              <a:defRPr/>
            </a:pPr>
            <a:endParaRPr lang="zh-CN" altLang="en-US" sz="2800" b="1" dirty="0">
              <a:effectLst>
                <a:outerShdw blurRad="38100" dist="38100" dir="2700000" algn="tl">
                  <a:srgbClr val="C0C0C0"/>
                </a:outerShdw>
              </a:effectLst>
              <a:latin typeface="宋体" pitchFamily="2" charset="-122"/>
            </a:endParaRPr>
          </a:p>
          <a:p>
            <a:pPr marL="536575" indent="-536575" algn="just" eaLnBrk="1" fontAlgn="auto" hangingPunct="1">
              <a:spcAft>
                <a:spcPts val="0"/>
              </a:spcAft>
              <a:buClr>
                <a:schemeClr val="accent3"/>
              </a:buClr>
              <a:buFont typeface="Wingdings" pitchFamily="2" charset="2"/>
              <a:buNone/>
              <a:defRPr/>
            </a:pPr>
            <a:r>
              <a:rPr lang="zh-CN" altLang="en-US" sz="2800" b="1" dirty="0">
                <a:effectLst>
                  <a:outerShdw blurRad="38100" dist="38100" dir="2700000" algn="tl">
                    <a:srgbClr val="C0C0C0"/>
                  </a:outerShdw>
                </a:effectLst>
                <a:latin typeface="宋体" pitchFamily="2" charset="-122"/>
              </a:rPr>
              <a:t>例如：</a:t>
            </a:r>
            <a:r>
              <a:rPr lang="zh-CN" altLang="en-US" sz="2800" b="1" dirty="0">
                <a:effectLst>
                  <a:outerShdw blurRad="38100" dist="38100" dir="2700000" algn="tl">
                    <a:srgbClr val="C0C0C0"/>
                  </a:outerShdw>
                </a:effectLst>
                <a:latin typeface="Times New Roman" pitchFamily="18" charset="0"/>
              </a:rPr>
              <a:t>多维数组：</a:t>
            </a:r>
            <a:r>
              <a:rPr lang="en-US" altLang="zh-CN" sz="2800" b="1" dirty="0">
                <a:effectLst>
                  <a:outerShdw blurRad="38100" dist="38100" dir="2700000" algn="tl">
                    <a:srgbClr val="C0C0C0"/>
                  </a:outerShdw>
                </a:effectLst>
                <a:latin typeface="Times New Roman" pitchFamily="18" charset="0"/>
              </a:rPr>
              <a:t>float c[2][2][3];</a:t>
            </a:r>
          </a:p>
          <a:p>
            <a:pPr marL="536575" indent="-536575" algn="just" eaLnBrk="1" fontAlgn="auto" hangingPunct="1">
              <a:spcAft>
                <a:spcPts val="0"/>
              </a:spcAft>
              <a:buClr>
                <a:schemeClr val="accent3"/>
              </a:buClr>
              <a:buFont typeface="Wingdings" pitchFamily="2" charset="2"/>
              <a:buNone/>
              <a:defRPr/>
            </a:pPr>
            <a:r>
              <a:rPr lang="zh-CN" altLang="en-US" sz="2800" b="1" dirty="0">
                <a:latin typeface="Times New Roman" pitchFamily="18" charset="0"/>
              </a:rPr>
              <a:t>其元素的存放顺序为：</a:t>
            </a:r>
          </a:p>
          <a:p>
            <a:pPr marL="536575" indent="-536575" eaLnBrk="1" fontAlgn="auto" hangingPunct="1">
              <a:spcAft>
                <a:spcPts val="0"/>
              </a:spcAft>
              <a:buClr>
                <a:schemeClr val="accent3"/>
              </a:buClr>
              <a:buFont typeface="Wingdings" pitchFamily="2" charset="2"/>
              <a:buNone/>
              <a:defRPr/>
            </a:pPr>
            <a:r>
              <a:rPr lang="zh-CN" altLang="en-US" sz="2800" b="1" dirty="0">
                <a:latin typeface="Times New Roman" pitchFamily="18" charset="0"/>
              </a:rPr>
              <a:t>      </a:t>
            </a:r>
            <a:r>
              <a:rPr lang="en-US" altLang="zh-CN" sz="2800" b="1" dirty="0">
                <a:latin typeface="Times New Roman" pitchFamily="18" charset="0"/>
              </a:rPr>
              <a:t>c[0][0][0]</a:t>
            </a:r>
            <a:r>
              <a:rPr lang="zh-CN" altLang="en-US" sz="2800" b="1" dirty="0">
                <a:latin typeface="Times New Roman" pitchFamily="18" charset="0"/>
              </a:rPr>
              <a:t>、</a:t>
            </a:r>
            <a:r>
              <a:rPr lang="en-US" altLang="zh-CN" sz="2800" b="1" dirty="0">
                <a:latin typeface="Times New Roman" pitchFamily="18" charset="0"/>
              </a:rPr>
              <a:t>c[0][0][1]</a:t>
            </a:r>
            <a:r>
              <a:rPr lang="zh-CN" altLang="en-US" sz="2800" b="1" dirty="0">
                <a:latin typeface="Times New Roman" pitchFamily="18" charset="0"/>
              </a:rPr>
              <a:t>、</a:t>
            </a:r>
            <a:r>
              <a:rPr lang="en-US" altLang="zh-CN" sz="2800" b="1" dirty="0">
                <a:latin typeface="Times New Roman" pitchFamily="18" charset="0"/>
              </a:rPr>
              <a:t>c[0][0][2]</a:t>
            </a:r>
            <a:r>
              <a:rPr lang="zh-CN" altLang="en-US" sz="2800" b="1" dirty="0">
                <a:latin typeface="Times New Roman" pitchFamily="18" charset="0"/>
              </a:rPr>
              <a:t>、</a:t>
            </a:r>
            <a:endParaRPr lang="en-US" altLang="zh-CN" sz="2800" b="1" dirty="0">
              <a:latin typeface="Times New Roman" pitchFamily="18" charset="0"/>
            </a:endParaRPr>
          </a:p>
          <a:p>
            <a:pPr marL="536575" indent="-536575" eaLnBrk="1" fontAlgn="auto" hangingPunct="1">
              <a:spcAft>
                <a:spcPts val="0"/>
              </a:spcAft>
              <a:buClr>
                <a:schemeClr val="accent3"/>
              </a:buClr>
              <a:buFont typeface="Wingdings" pitchFamily="2" charset="2"/>
              <a:buNone/>
              <a:defRPr/>
            </a:pPr>
            <a:r>
              <a:rPr lang="en-US" altLang="zh-CN" sz="2800" b="1" dirty="0">
                <a:latin typeface="Times New Roman" pitchFamily="18" charset="0"/>
              </a:rPr>
              <a:t>      c[0][1][0]</a:t>
            </a:r>
            <a:r>
              <a:rPr lang="zh-CN" altLang="en-US" sz="2800" b="1" dirty="0">
                <a:latin typeface="Times New Roman" pitchFamily="18" charset="0"/>
              </a:rPr>
              <a:t>、</a:t>
            </a:r>
            <a:r>
              <a:rPr lang="en-US" altLang="zh-CN" sz="2800" b="1" dirty="0">
                <a:latin typeface="Times New Roman" pitchFamily="18" charset="0"/>
              </a:rPr>
              <a:t>c[0][1][1]</a:t>
            </a:r>
            <a:r>
              <a:rPr lang="zh-CN" altLang="en-US" sz="2800" b="1" dirty="0">
                <a:latin typeface="Times New Roman" pitchFamily="18" charset="0"/>
              </a:rPr>
              <a:t>、</a:t>
            </a:r>
            <a:r>
              <a:rPr lang="en-US" altLang="zh-CN" sz="2800" b="1" dirty="0">
                <a:latin typeface="Times New Roman" pitchFamily="18" charset="0"/>
              </a:rPr>
              <a:t>c[0][1][2]</a:t>
            </a:r>
            <a:r>
              <a:rPr lang="zh-CN" altLang="en-US" sz="2800" b="1" dirty="0">
                <a:latin typeface="Times New Roman" pitchFamily="18" charset="0"/>
              </a:rPr>
              <a:t>、</a:t>
            </a:r>
            <a:endParaRPr lang="en-US" altLang="zh-CN" sz="2800" b="1" dirty="0">
              <a:latin typeface="Times New Roman" pitchFamily="18" charset="0"/>
            </a:endParaRPr>
          </a:p>
          <a:p>
            <a:pPr marL="536575" indent="-536575" eaLnBrk="1" fontAlgn="auto" hangingPunct="1">
              <a:spcAft>
                <a:spcPts val="0"/>
              </a:spcAft>
              <a:buClr>
                <a:schemeClr val="accent3"/>
              </a:buClr>
              <a:buFont typeface="Wingdings" pitchFamily="2" charset="2"/>
              <a:buNone/>
              <a:defRPr/>
            </a:pPr>
            <a:r>
              <a:rPr lang="en-US" altLang="zh-CN" sz="2800" b="1" dirty="0">
                <a:latin typeface="Times New Roman" pitchFamily="18" charset="0"/>
              </a:rPr>
              <a:t>      c[1][0][0]</a:t>
            </a:r>
            <a:r>
              <a:rPr lang="zh-CN" altLang="en-US" sz="2800" b="1" dirty="0">
                <a:latin typeface="Times New Roman" pitchFamily="18" charset="0"/>
              </a:rPr>
              <a:t>、</a:t>
            </a:r>
            <a:r>
              <a:rPr lang="en-US" altLang="zh-CN" sz="2800" b="1" dirty="0">
                <a:latin typeface="Times New Roman" pitchFamily="18" charset="0"/>
              </a:rPr>
              <a:t>c[1][0][1]</a:t>
            </a:r>
            <a:r>
              <a:rPr lang="zh-CN" altLang="en-US" sz="2800" b="1" dirty="0">
                <a:latin typeface="Times New Roman" pitchFamily="18" charset="0"/>
              </a:rPr>
              <a:t>、</a:t>
            </a:r>
            <a:r>
              <a:rPr lang="en-US" altLang="zh-CN" sz="2800" b="1" dirty="0">
                <a:latin typeface="Times New Roman" pitchFamily="18" charset="0"/>
              </a:rPr>
              <a:t>c[1][0][2]</a:t>
            </a:r>
            <a:r>
              <a:rPr lang="zh-CN" altLang="en-US" sz="2800" b="1" dirty="0">
                <a:latin typeface="Times New Roman" pitchFamily="18" charset="0"/>
              </a:rPr>
              <a:t>、</a:t>
            </a:r>
            <a:endParaRPr lang="en-US" altLang="zh-CN" sz="2800" b="1" dirty="0">
              <a:latin typeface="Times New Roman" pitchFamily="18" charset="0"/>
            </a:endParaRPr>
          </a:p>
          <a:p>
            <a:pPr marL="536575" indent="-536575" eaLnBrk="1" fontAlgn="auto" hangingPunct="1">
              <a:spcAft>
                <a:spcPts val="0"/>
              </a:spcAft>
              <a:buClr>
                <a:schemeClr val="accent3"/>
              </a:buClr>
              <a:buFont typeface="Wingdings" pitchFamily="2" charset="2"/>
              <a:buNone/>
              <a:defRPr/>
            </a:pPr>
            <a:r>
              <a:rPr lang="en-US" altLang="zh-CN" sz="2800" b="1" dirty="0">
                <a:latin typeface="Times New Roman" pitchFamily="18" charset="0"/>
              </a:rPr>
              <a:t>      c[1][1][0]</a:t>
            </a:r>
            <a:r>
              <a:rPr lang="zh-CN" altLang="en-US" sz="2800" b="1" dirty="0">
                <a:latin typeface="Times New Roman" pitchFamily="18" charset="0"/>
              </a:rPr>
              <a:t>、</a:t>
            </a:r>
            <a:r>
              <a:rPr lang="en-US" altLang="zh-CN" sz="2800" b="1" dirty="0">
                <a:latin typeface="Times New Roman" pitchFamily="18" charset="0"/>
              </a:rPr>
              <a:t>c[1][1][1]</a:t>
            </a:r>
            <a:r>
              <a:rPr lang="zh-CN" altLang="en-US" sz="2800" b="1" dirty="0">
                <a:latin typeface="Times New Roman" pitchFamily="18" charset="0"/>
              </a:rPr>
              <a:t>、</a:t>
            </a:r>
            <a:r>
              <a:rPr lang="en-US" altLang="zh-CN" sz="2800" b="1" dirty="0">
                <a:latin typeface="Times New Roman" pitchFamily="18" charset="0"/>
              </a:rPr>
              <a:t>c[1][1][2]</a:t>
            </a:r>
            <a:r>
              <a:rPr lang="zh-CN" altLang="en-US" sz="2800" b="1" dirty="0">
                <a:latin typeface="Times New Roman" pitchFamily="18" charset="0"/>
              </a:rPr>
              <a:t>。</a:t>
            </a:r>
            <a:endParaRPr lang="zh-CN" altLang="en-US" sz="2800" dirty="0"/>
          </a:p>
        </p:txBody>
      </p:sp>
      <p:sp>
        <p:nvSpPr>
          <p:cNvPr id="5" name="灯片编号占位符 5"/>
          <p:cNvSpPr>
            <a:spLocks noGrp="1"/>
          </p:cNvSpPr>
          <p:nvPr>
            <p:ph type="sldNum" sz="quarter" idx="12"/>
          </p:nvPr>
        </p:nvSpPr>
        <p:spPr/>
        <p:txBody>
          <a:bodyPr/>
          <a:lstStyle/>
          <a:p>
            <a:pPr>
              <a:defRPr/>
            </a:pPr>
            <a:fld id="{19E56407-300D-4754-9046-2DCED9BFE257}" type="slidenum">
              <a:rPr lang="en-US" altLang="zh-CN"/>
              <a:pPr>
                <a:defRPr/>
              </a:pPr>
              <a:t>66</a:t>
            </a:fld>
            <a:endParaRPr lang="en-US" altLang="zh-CN"/>
          </a:p>
        </p:txBody>
      </p:sp>
    </p:spTree>
  </p:cSld>
  <p:clrMapOvr>
    <a:masterClrMapping/>
  </p:clrMapOvr>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ChangeArrowheads="1"/>
          </p:cNvSpPr>
          <p:nvPr>
            <p:ph idx="1"/>
          </p:nvPr>
        </p:nvSpPr>
        <p:spPr>
          <a:xfrm>
            <a:off x="395288" y="561975"/>
            <a:ext cx="8534400" cy="5530850"/>
          </a:xfrm>
        </p:spPr>
        <p:txBody>
          <a:bodyPr>
            <a:normAutofit/>
          </a:bodyPr>
          <a:lstStyle/>
          <a:p>
            <a:pPr marL="533400" indent="-533400" eaLnBrk="1" fontAlgn="auto" hangingPunct="1">
              <a:spcAft>
                <a:spcPts val="0"/>
              </a:spcAft>
              <a:buClr>
                <a:schemeClr val="accent3"/>
              </a:buClr>
              <a:buFont typeface="Wingdings" pitchFamily="2" charset="2"/>
              <a:buNone/>
              <a:tabLst>
                <a:tab pos="2147888" algn="l"/>
              </a:tabLst>
              <a:defRPr/>
            </a:pPr>
            <a:r>
              <a:rPr lang="zh-CN" altLang="en-US" b="1" dirty="0">
                <a:effectLst>
                  <a:outerShdw blurRad="38100" dist="38100" dir="2700000" algn="tl">
                    <a:srgbClr val="C0C0C0"/>
                  </a:outerShdw>
                </a:effectLst>
                <a:latin typeface="宋体" pitchFamily="2" charset="-122"/>
              </a:rPr>
              <a:t>二维数组元素引用形式：</a:t>
            </a:r>
          </a:p>
          <a:p>
            <a:pPr marL="533400" indent="-533400" algn="just" eaLnBrk="1" fontAlgn="auto" hangingPunct="1">
              <a:spcAft>
                <a:spcPts val="0"/>
              </a:spcAft>
              <a:buClr>
                <a:schemeClr val="accent3"/>
              </a:buClr>
              <a:buFont typeface="Wingdings" pitchFamily="2" charset="2"/>
              <a:buNone/>
              <a:tabLst>
                <a:tab pos="2147888" algn="l"/>
              </a:tabLst>
              <a:defRPr/>
            </a:pPr>
            <a:r>
              <a:rPr lang="zh-CN" altLang="en-US" b="1" dirty="0">
                <a:latin typeface="宋体" pitchFamily="2" charset="-122"/>
              </a:rPr>
              <a:t>        </a:t>
            </a:r>
            <a:r>
              <a:rPr lang="zh-CN" altLang="en-US" b="1" dirty="0">
                <a:effectLst>
                  <a:outerShdw blurRad="38100" dist="38100" dir="2700000" algn="tl">
                    <a:srgbClr val="C0C0C0"/>
                  </a:outerShdw>
                </a:effectLst>
                <a:latin typeface="宋体" pitchFamily="2" charset="-122"/>
              </a:rPr>
              <a:t>数组名</a:t>
            </a:r>
            <a:r>
              <a:rPr lang="en-US" altLang="zh-CN" b="1" dirty="0">
                <a:effectLst>
                  <a:outerShdw blurRad="38100" dist="38100" dir="2700000" algn="tl">
                    <a:srgbClr val="C0C0C0"/>
                  </a:outerShdw>
                </a:effectLst>
                <a:latin typeface="宋体" pitchFamily="2" charset="-122"/>
              </a:rPr>
              <a:t>[</a:t>
            </a:r>
            <a:r>
              <a:rPr lang="zh-CN" altLang="en-US" b="1" dirty="0">
                <a:effectLst>
                  <a:outerShdw blurRad="38100" dist="38100" dir="2700000" algn="tl">
                    <a:srgbClr val="C0C0C0"/>
                  </a:outerShdw>
                </a:effectLst>
                <a:latin typeface="宋体" pitchFamily="2" charset="-122"/>
              </a:rPr>
              <a:t>行下标</a:t>
            </a:r>
            <a:r>
              <a:rPr lang="en-US" altLang="zh-CN" b="1" dirty="0">
                <a:effectLst>
                  <a:outerShdw blurRad="38100" dist="38100" dir="2700000" algn="tl">
                    <a:srgbClr val="C0C0C0"/>
                  </a:outerShdw>
                </a:effectLst>
                <a:latin typeface="宋体" pitchFamily="2" charset="-122"/>
              </a:rPr>
              <a:t>][</a:t>
            </a:r>
            <a:r>
              <a:rPr lang="zh-CN" altLang="en-US" b="1" dirty="0">
                <a:effectLst>
                  <a:outerShdw blurRad="38100" dist="38100" dir="2700000" algn="tl">
                    <a:srgbClr val="C0C0C0"/>
                  </a:outerShdw>
                </a:effectLst>
                <a:latin typeface="宋体" pitchFamily="2" charset="-122"/>
              </a:rPr>
              <a:t>列下标</a:t>
            </a:r>
            <a:r>
              <a:rPr lang="en-US" altLang="zh-CN" b="1" dirty="0">
                <a:effectLst>
                  <a:outerShdw blurRad="38100" dist="38100" dir="2700000" algn="tl">
                    <a:srgbClr val="C0C0C0"/>
                  </a:outerShdw>
                </a:effectLst>
                <a:latin typeface="宋体" pitchFamily="2" charset="-122"/>
              </a:rPr>
              <a:t>]</a:t>
            </a:r>
          </a:p>
          <a:p>
            <a:pPr marL="533400" indent="-533400" eaLnBrk="1" fontAlgn="auto" hangingPunct="1">
              <a:spcAft>
                <a:spcPts val="0"/>
              </a:spcAft>
              <a:buClr>
                <a:schemeClr val="accent3"/>
              </a:buClr>
              <a:buFont typeface="Wingdings" pitchFamily="2" charset="2"/>
              <a:buNone/>
              <a:tabLst>
                <a:tab pos="2147888" algn="l"/>
              </a:tabLst>
              <a:defRPr/>
            </a:pPr>
            <a:r>
              <a:rPr lang="zh-CN" altLang="en-US" b="1" dirty="0">
                <a:latin typeface="Times New Roman" pitchFamily="18" charset="0"/>
              </a:rPr>
              <a:t>例如：</a:t>
            </a:r>
            <a:r>
              <a:rPr lang="en-US" altLang="zh-CN" b="1" dirty="0">
                <a:latin typeface="Times New Roman" pitchFamily="18" charset="0"/>
              </a:rPr>
              <a:t>float  a[2][3], b[3][4];</a:t>
            </a:r>
          </a:p>
          <a:p>
            <a:pPr marL="533400" indent="-533400" eaLnBrk="1" fontAlgn="auto" hangingPunct="1">
              <a:lnSpc>
                <a:spcPct val="15000"/>
              </a:lnSpc>
              <a:spcAft>
                <a:spcPts val="0"/>
              </a:spcAft>
              <a:buClr>
                <a:schemeClr val="accent3"/>
              </a:buClr>
              <a:buFont typeface="Wingdings" pitchFamily="2" charset="2"/>
              <a:buNone/>
              <a:tabLst>
                <a:tab pos="2147888" algn="l"/>
              </a:tabLst>
              <a:defRPr/>
            </a:pPr>
            <a:r>
              <a:rPr lang="en-US" altLang="zh-CN" b="1" dirty="0">
                <a:latin typeface="Times New Roman" pitchFamily="18" charset="0"/>
              </a:rPr>
              <a:t>               	.</a:t>
            </a:r>
          </a:p>
          <a:p>
            <a:pPr marL="533400" indent="-533400" eaLnBrk="1" fontAlgn="auto" hangingPunct="1">
              <a:lnSpc>
                <a:spcPct val="15000"/>
              </a:lnSpc>
              <a:spcAft>
                <a:spcPts val="0"/>
              </a:spcAft>
              <a:buClr>
                <a:schemeClr val="accent3"/>
              </a:buClr>
              <a:buFont typeface="Wingdings" pitchFamily="2" charset="2"/>
              <a:buNone/>
              <a:tabLst>
                <a:tab pos="2147888" algn="l"/>
              </a:tabLst>
              <a:defRPr/>
            </a:pPr>
            <a:r>
              <a:rPr lang="en-US" altLang="zh-CN" b="1" dirty="0">
                <a:latin typeface="Times New Roman" pitchFamily="18" charset="0"/>
              </a:rPr>
              <a:t>                       	.</a:t>
            </a:r>
          </a:p>
          <a:p>
            <a:pPr marL="533400" indent="-533400" eaLnBrk="1" fontAlgn="auto" hangingPunct="1">
              <a:lnSpc>
                <a:spcPct val="15000"/>
              </a:lnSpc>
              <a:spcAft>
                <a:spcPts val="0"/>
              </a:spcAft>
              <a:buClr>
                <a:schemeClr val="accent3"/>
              </a:buClr>
              <a:buFont typeface="Wingdings" pitchFamily="2" charset="2"/>
              <a:buNone/>
              <a:tabLst>
                <a:tab pos="2147888" algn="l"/>
              </a:tabLst>
              <a:defRPr/>
            </a:pPr>
            <a:r>
              <a:rPr lang="en-US" altLang="zh-CN" b="1" dirty="0">
                <a:latin typeface="Times New Roman" pitchFamily="18" charset="0"/>
              </a:rPr>
              <a:t>		.</a:t>
            </a:r>
          </a:p>
          <a:p>
            <a:pPr marL="533400" indent="-533400" eaLnBrk="1" fontAlgn="auto" hangingPunct="1">
              <a:spcAft>
                <a:spcPts val="0"/>
              </a:spcAft>
              <a:buClr>
                <a:schemeClr val="accent3"/>
              </a:buClr>
              <a:buFont typeface="Wingdings" pitchFamily="2" charset="2"/>
              <a:buNone/>
              <a:tabLst>
                <a:tab pos="2147888" algn="l"/>
              </a:tabLst>
              <a:defRPr/>
            </a:pPr>
            <a:r>
              <a:rPr lang="en-US" altLang="zh-CN" b="1" dirty="0">
                <a:latin typeface="Times New Roman" pitchFamily="18" charset="0"/>
              </a:rPr>
              <a:t>             b[2][3]= b[2][3]+a[1][2];</a:t>
            </a:r>
          </a:p>
          <a:p>
            <a:pPr marL="533400" indent="-533400" eaLnBrk="1" fontAlgn="auto" hangingPunct="1">
              <a:spcAft>
                <a:spcPts val="0"/>
              </a:spcAft>
              <a:buClr>
                <a:schemeClr val="accent3"/>
              </a:buClr>
              <a:buFont typeface="Wingdings" pitchFamily="2" charset="2"/>
              <a:buNone/>
              <a:tabLst>
                <a:tab pos="2147888" algn="l"/>
              </a:tabLst>
              <a:defRPr/>
            </a:pPr>
            <a:r>
              <a:rPr lang="zh-CN" altLang="en-US" b="1" dirty="0">
                <a:latin typeface="Times New Roman" pitchFamily="18" charset="0"/>
              </a:rPr>
              <a:t>说明：</a:t>
            </a:r>
          </a:p>
          <a:p>
            <a:pPr marL="533400" indent="-533400" eaLnBrk="1" fontAlgn="auto" hangingPunct="1">
              <a:spcAft>
                <a:spcPts val="0"/>
              </a:spcAft>
              <a:buClr>
                <a:schemeClr val="accent3"/>
              </a:buClr>
              <a:buFont typeface="Wingdings" pitchFamily="2" charset="2"/>
              <a:buNone/>
              <a:tabLst>
                <a:tab pos="2147888" algn="l"/>
              </a:tabLst>
              <a:defRPr/>
            </a:pPr>
            <a:r>
              <a:rPr lang="en-US" altLang="zh-CN" b="1" dirty="0">
                <a:latin typeface="Times New Roman" pitchFamily="18" charset="0"/>
              </a:rPr>
              <a:t>1.  </a:t>
            </a:r>
            <a:r>
              <a:rPr lang="zh-CN" altLang="en-US" b="1" dirty="0">
                <a:latin typeface="Times New Roman" pitchFamily="18" charset="0"/>
              </a:rPr>
              <a:t>下标是整型常量、整型变量或整型表达式。</a:t>
            </a:r>
          </a:p>
          <a:p>
            <a:pPr marL="533400" indent="-533400" eaLnBrk="1" fontAlgn="auto" hangingPunct="1">
              <a:spcAft>
                <a:spcPts val="0"/>
              </a:spcAft>
              <a:buClr>
                <a:schemeClr val="accent3"/>
              </a:buClr>
              <a:buFont typeface="Wingdings" pitchFamily="2" charset="2"/>
              <a:buNone/>
              <a:tabLst>
                <a:tab pos="2147888" algn="l"/>
              </a:tabLst>
              <a:defRPr/>
            </a:pPr>
            <a:r>
              <a:rPr lang="en-US" altLang="zh-CN" b="1" dirty="0">
                <a:latin typeface="Times New Roman" pitchFamily="18" charset="0"/>
              </a:rPr>
              <a:t>2.   0≤</a:t>
            </a:r>
            <a:r>
              <a:rPr lang="zh-CN" altLang="en-US" b="1" dirty="0">
                <a:latin typeface="Times New Roman" pitchFamily="18" charset="0"/>
              </a:rPr>
              <a:t>下标值＜对应维的元素个数。</a:t>
            </a:r>
            <a:br>
              <a:rPr lang="zh-CN" altLang="en-US" b="1" dirty="0">
                <a:latin typeface="Times New Roman" pitchFamily="18" charset="0"/>
              </a:rPr>
            </a:br>
            <a:r>
              <a:rPr lang="zh-CN" altLang="en-US" b="1" dirty="0">
                <a:latin typeface="Times New Roman" pitchFamily="18" charset="0"/>
              </a:rPr>
              <a:t>例如：上例   </a:t>
            </a:r>
            <a:r>
              <a:rPr lang="en-US" altLang="zh-CN" b="1" dirty="0">
                <a:latin typeface="Times New Roman" pitchFamily="18" charset="0"/>
              </a:rPr>
              <a:t>b[2][3]= b[2][3]+a[1][2]; </a:t>
            </a:r>
            <a:br>
              <a:rPr lang="en-US" altLang="zh-CN" b="1" dirty="0">
                <a:latin typeface="Times New Roman" pitchFamily="18" charset="0"/>
              </a:rPr>
            </a:br>
            <a:r>
              <a:rPr lang="zh-CN" altLang="en-US" b="1" dirty="0">
                <a:latin typeface="Times New Roman" pitchFamily="18" charset="0"/>
              </a:rPr>
              <a:t>不能写成	</a:t>
            </a:r>
            <a:r>
              <a:rPr lang="en-US" altLang="zh-CN" b="1" dirty="0">
                <a:latin typeface="Times New Roman" pitchFamily="18" charset="0"/>
              </a:rPr>
              <a:t>b[2][3]= b[2][3]+</a:t>
            </a:r>
            <a:r>
              <a:rPr lang="en-US" altLang="zh-CN" b="1" u="sng" dirty="0">
                <a:latin typeface="Times New Roman" pitchFamily="18" charset="0"/>
              </a:rPr>
              <a:t>a[2][3]</a:t>
            </a:r>
            <a:r>
              <a:rPr lang="en-US" altLang="zh-CN" b="1" dirty="0">
                <a:latin typeface="Times New Roman" pitchFamily="18" charset="0"/>
              </a:rPr>
              <a:t>;</a:t>
            </a:r>
          </a:p>
          <a:p>
            <a:pPr marL="533400" indent="-533400" eaLnBrk="1" fontAlgn="auto" hangingPunct="1">
              <a:spcAft>
                <a:spcPts val="0"/>
              </a:spcAft>
              <a:buClr>
                <a:schemeClr val="accent3"/>
              </a:buClr>
              <a:buFont typeface="Wingdings" pitchFamily="2" charset="2"/>
              <a:buNone/>
              <a:tabLst>
                <a:tab pos="2147888" algn="l"/>
              </a:tabLst>
              <a:defRPr/>
            </a:pPr>
            <a:r>
              <a:rPr lang="en-US" altLang="zh-CN" b="1" dirty="0">
                <a:latin typeface="Times New Roman" pitchFamily="18" charset="0"/>
              </a:rPr>
              <a:t>3.   </a:t>
            </a:r>
            <a:r>
              <a:rPr lang="zh-CN" altLang="en-US" b="1" dirty="0">
                <a:latin typeface="Times New Roman" pitchFamily="18" charset="0"/>
              </a:rPr>
              <a:t>注意：数组说明与数组引用的区别。</a:t>
            </a:r>
          </a:p>
        </p:txBody>
      </p:sp>
      <p:sp>
        <p:nvSpPr>
          <p:cNvPr id="6" name="灯片编号占位符 5"/>
          <p:cNvSpPr>
            <a:spLocks noGrp="1"/>
          </p:cNvSpPr>
          <p:nvPr>
            <p:ph type="sldNum" sz="quarter" idx="12"/>
          </p:nvPr>
        </p:nvSpPr>
        <p:spPr/>
        <p:txBody>
          <a:bodyPr/>
          <a:lstStyle/>
          <a:p>
            <a:pPr>
              <a:defRPr/>
            </a:pPr>
            <a:fld id="{C2FA9A23-0EBC-488F-A34E-A33EB82216CD}" type="slidenum">
              <a:rPr lang="en-US" altLang="zh-CN"/>
              <a:pPr>
                <a:defRPr/>
              </a:pPr>
              <a:t>67</a:t>
            </a:fld>
            <a:endParaRPr lang="en-US" altLang="zh-CN"/>
          </a:p>
        </p:txBody>
      </p:sp>
      <p:sp>
        <p:nvSpPr>
          <p:cNvPr id="62468" name="AutoShape 6"/>
          <p:cNvSpPr>
            <a:spLocks noChangeArrowheads="1"/>
          </p:cNvSpPr>
          <p:nvPr/>
        </p:nvSpPr>
        <p:spPr bwMode="auto">
          <a:xfrm>
            <a:off x="7000875" y="5143500"/>
            <a:ext cx="1908175" cy="647700"/>
          </a:xfrm>
          <a:prstGeom prst="wedgeRoundRectCallout">
            <a:avLst>
              <a:gd name="adj1" fmla="val -108403"/>
              <a:gd name="adj2" fmla="val -67157"/>
              <a:gd name="adj3" fmla="val 16667"/>
            </a:avLst>
          </a:prstGeom>
          <a:solidFill>
            <a:schemeClr val="accent1"/>
          </a:solidFill>
          <a:ln w="9525">
            <a:solidFill>
              <a:srgbClr val="000000"/>
            </a:solidFill>
            <a:miter lim="800000"/>
            <a:headEnd/>
            <a:tailEnd/>
          </a:ln>
        </p:spPr>
        <p:txBody>
          <a:bodyPr/>
          <a:lstStyle/>
          <a:p>
            <a:r>
              <a:rPr lang="zh-CN" altLang="en-US" sz="2000"/>
              <a:t>行下标和列下标都越界</a:t>
            </a:r>
          </a:p>
        </p:txBody>
      </p:sp>
    </p:spTree>
  </p:cSld>
  <p:clrMapOvr>
    <a:masterClrMapping/>
  </p:clrMapOvr>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idx="1"/>
          </p:nvPr>
        </p:nvSpPr>
        <p:spPr>
          <a:xfrm>
            <a:off x="228600" y="500063"/>
            <a:ext cx="8534400" cy="5976937"/>
          </a:xfrm>
        </p:spPr>
        <p:txBody>
          <a:bodyPr/>
          <a:lstStyle/>
          <a:p>
            <a:pPr marL="0" indent="0" eaLnBrk="1" hangingPunct="1">
              <a:buFont typeface="Wingdings" pitchFamily="2" charset="2"/>
              <a:buNone/>
            </a:pPr>
            <a:r>
              <a:rPr lang="en-US" altLang="zh-CN" sz="2400" b="1" dirty="0"/>
              <a:t>【</a:t>
            </a:r>
            <a:r>
              <a:rPr lang="zh-CN" altLang="en-US" sz="2400" b="1" dirty="0"/>
              <a:t>例</a:t>
            </a:r>
            <a:r>
              <a:rPr lang="en-US" altLang="zh-CN" sz="2400" b="1" dirty="0"/>
              <a:t>4.11】</a:t>
            </a:r>
            <a:r>
              <a:rPr lang="zh-CN" altLang="en-US" sz="2400" b="1" dirty="0"/>
              <a:t>逐行输入二维数组的元素和逐行输出的程序。</a:t>
            </a:r>
            <a:endParaRPr lang="en-US" altLang="zh-CN" sz="2400" b="1" dirty="0"/>
          </a:p>
          <a:p>
            <a:pPr marL="0" indent="0" eaLnBrk="1" hangingPunct="1">
              <a:buFont typeface="Wingdings" pitchFamily="2" charset="2"/>
              <a:buNone/>
            </a:pPr>
            <a:r>
              <a:rPr lang="zh-CN" altLang="en-US" sz="2000" b="1" dirty="0"/>
              <a:t>     </a:t>
            </a:r>
            <a:r>
              <a:rPr lang="en-US" altLang="zh-CN" sz="2000" b="1" dirty="0"/>
              <a:t>#include &lt;</a:t>
            </a:r>
            <a:r>
              <a:rPr lang="en-US" altLang="zh-CN" sz="2000" b="1" dirty="0" err="1"/>
              <a:t>stdio.h</a:t>
            </a:r>
            <a:r>
              <a:rPr lang="en-US" altLang="zh-CN" sz="2000" b="1" dirty="0"/>
              <a:t>&gt;</a:t>
            </a:r>
          </a:p>
          <a:p>
            <a:pPr marL="0" indent="0" eaLnBrk="1" hangingPunct="1">
              <a:buFont typeface="Wingdings" pitchFamily="2" charset="2"/>
              <a:buNone/>
            </a:pPr>
            <a:r>
              <a:rPr lang="en-US" altLang="zh-CN" sz="2000" b="1" dirty="0"/>
              <a:t>     </a:t>
            </a:r>
            <a:r>
              <a:rPr lang="en-US" altLang="zh-CN" sz="2000" b="1" dirty="0" err="1"/>
              <a:t>int</a:t>
            </a:r>
            <a:r>
              <a:rPr lang="en-US" altLang="zh-CN" sz="2000" b="1" dirty="0"/>
              <a:t> main()</a:t>
            </a:r>
          </a:p>
          <a:p>
            <a:pPr marL="0" indent="0" eaLnBrk="1" hangingPunct="1">
              <a:buFont typeface="Wingdings" pitchFamily="2" charset="2"/>
              <a:buNone/>
            </a:pPr>
            <a:r>
              <a:rPr lang="en-US" altLang="zh-CN" sz="2000" b="1" dirty="0"/>
              <a:t>     {  </a:t>
            </a:r>
            <a:r>
              <a:rPr lang="en-US" altLang="zh-CN" sz="2000" b="1" dirty="0" err="1"/>
              <a:t>int</a:t>
            </a:r>
            <a:r>
              <a:rPr lang="en-US" altLang="zh-CN" sz="2000" b="1" dirty="0"/>
              <a:t> a[3][4], </a:t>
            </a:r>
            <a:r>
              <a:rPr lang="en-US" altLang="zh-CN" sz="2000" b="1" dirty="0" err="1"/>
              <a:t>i</a:t>
            </a:r>
            <a:r>
              <a:rPr lang="en-US" altLang="zh-CN" sz="2000" b="1" dirty="0"/>
              <a:t>, j;//</a:t>
            </a:r>
            <a:r>
              <a:rPr lang="zh-CN" altLang="en-US" sz="2000" b="1" dirty="0"/>
              <a:t>假设数组只有三行四列</a:t>
            </a:r>
          </a:p>
          <a:p>
            <a:pPr marL="0" indent="0" eaLnBrk="1" hangingPunct="1">
              <a:buFont typeface="Wingdings" pitchFamily="2" charset="2"/>
              <a:buNone/>
            </a:pPr>
            <a:r>
              <a:rPr lang="zh-CN" altLang="en-US" sz="2000" b="1" dirty="0"/>
              <a:t>        </a:t>
            </a:r>
            <a:r>
              <a:rPr lang="en-US" altLang="zh-CN" sz="2000" b="1" dirty="0"/>
              <a:t>for(</a:t>
            </a:r>
            <a:r>
              <a:rPr lang="en-US" altLang="zh-CN" sz="2000" b="1" dirty="0" err="1"/>
              <a:t>i</a:t>
            </a:r>
            <a:r>
              <a:rPr lang="en-US" altLang="zh-CN" sz="2000" b="1" dirty="0"/>
              <a:t> = 0; </a:t>
            </a:r>
            <a:r>
              <a:rPr lang="en-US" altLang="zh-CN" sz="2000" b="1" dirty="0" err="1"/>
              <a:t>i</a:t>
            </a:r>
            <a:r>
              <a:rPr lang="en-US" altLang="zh-CN" sz="2000" b="1" dirty="0"/>
              <a:t> &lt; 3; </a:t>
            </a:r>
            <a:r>
              <a:rPr lang="en-US" altLang="zh-CN" sz="2000" b="1" dirty="0" err="1"/>
              <a:t>i</a:t>
            </a:r>
            <a:r>
              <a:rPr lang="en-US" altLang="zh-CN" sz="2000" b="1" dirty="0"/>
              <a:t>++)   // </a:t>
            </a:r>
            <a:r>
              <a:rPr lang="zh-CN" altLang="en-US" sz="2000" b="1" dirty="0"/>
              <a:t>二维数组的元素逐行输入</a:t>
            </a:r>
          </a:p>
          <a:p>
            <a:pPr marL="0" indent="0" eaLnBrk="1" hangingPunct="1">
              <a:buFont typeface="Wingdings" pitchFamily="2" charset="2"/>
              <a:buNone/>
            </a:pPr>
            <a:r>
              <a:rPr lang="zh-CN" altLang="en-US" sz="2000" b="1" dirty="0"/>
              <a:t>          </a:t>
            </a:r>
            <a:r>
              <a:rPr lang="en-US" altLang="zh-CN" sz="2000" b="1" dirty="0"/>
              <a:t>for(j = 0; j &lt; 4; j++) {   //</a:t>
            </a:r>
            <a:r>
              <a:rPr lang="zh-CN" altLang="en-US" sz="2000" b="1" dirty="0"/>
              <a:t>每行逐列输入</a:t>
            </a:r>
          </a:p>
          <a:p>
            <a:pPr marL="0" indent="0" eaLnBrk="1" hangingPunct="1">
              <a:buFont typeface="Wingdings" pitchFamily="2" charset="2"/>
              <a:buNone/>
            </a:pPr>
            <a:r>
              <a:rPr lang="zh-CN" altLang="en-US" sz="2000" b="1" dirty="0"/>
              <a:t>            </a:t>
            </a:r>
            <a:r>
              <a:rPr lang="en-US" altLang="zh-CN" sz="2000" b="1" dirty="0" err="1"/>
              <a:t>printf</a:t>
            </a:r>
            <a:r>
              <a:rPr lang="en-US" altLang="zh-CN" sz="2000" b="1" dirty="0"/>
              <a:t>("Enter a[%d][%d]  ", </a:t>
            </a:r>
            <a:r>
              <a:rPr lang="en-US" altLang="zh-CN" sz="2000" b="1" dirty="0" err="1"/>
              <a:t>i</a:t>
            </a:r>
            <a:r>
              <a:rPr lang="en-US" altLang="zh-CN" sz="2000" b="1" dirty="0"/>
              <a:t>, j); </a:t>
            </a:r>
          </a:p>
          <a:p>
            <a:pPr marL="0" indent="0" eaLnBrk="1" hangingPunct="1">
              <a:buFont typeface="Wingdings" pitchFamily="2" charset="2"/>
              <a:buNone/>
            </a:pPr>
            <a:r>
              <a:rPr lang="en-US" altLang="zh-CN" sz="2000" b="1" dirty="0"/>
              <a:t>            </a:t>
            </a:r>
            <a:r>
              <a:rPr lang="en-US" altLang="zh-CN" sz="2000" b="1" dirty="0" err="1"/>
              <a:t>scanf</a:t>
            </a:r>
            <a:r>
              <a:rPr lang="en-US" altLang="zh-CN" sz="2000" b="1" dirty="0"/>
              <a:t>("%d", &amp;a[</a:t>
            </a:r>
            <a:r>
              <a:rPr lang="en-US" altLang="zh-CN" sz="2000" b="1" dirty="0" err="1"/>
              <a:t>i</a:t>
            </a:r>
            <a:r>
              <a:rPr lang="en-US" altLang="zh-CN" sz="2000" b="1" dirty="0"/>
              <a:t>][j]);</a:t>
            </a:r>
          </a:p>
          <a:p>
            <a:pPr marL="0" indent="0" eaLnBrk="1" hangingPunct="1">
              <a:buFont typeface="Wingdings" pitchFamily="2" charset="2"/>
              <a:buNone/>
            </a:pPr>
            <a:r>
              <a:rPr lang="en-US" altLang="zh-CN" sz="2000" b="1" dirty="0"/>
              <a:t>          }</a:t>
            </a:r>
          </a:p>
          <a:p>
            <a:pPr marL="0" indent="0" eaLnBrk="1" hangingPunct="1">
              <a:buFont typeface="Wingdings" pitchFamily="2" charset="2"/>
              <a:buNone/>
            </a:pPr>
            <a:r>
              <a:rPr lang="en-US" altLang="zh-CN" sz="2000" b="1" dirty="0"/>
              <a:t>        for(</a:t>
            </a:r>
            <a:r>
              <a:rPr lang="en-US" altLang="zh-CN" sz="2000" b="1" dirty="0" err="1"/>
              <a:t>i</a:t>
            </a:r>
            <a:r>
              <a:rPr lang="en-US" altLang="zh-CN" sz="2000" b="1" dirty="0"/>
              <a:t> = 0; </a:t>
            </a:r>
            <a:r>
              <a:rPr lang="en-US" altLang="zh-CN" sz="2000" b="1" dirty="0" err="1"/>
              <a:t>i</a:t>
            </a:r>
            <a:r>
              <a:rPr lang="en-US" altLang="zh-CN" sz="2000" b="1" dirty="0"/>
              <a:t> &lt; 3; </a:t>
            </a:r>
            <a:r>
              <a:rPr lang="en-US" altLang="zh-CN" sz="2000" b="1" dirty="0" err="1"/>
              <a:t>i</a:t>
            </a:r>
            <a:r>
              <a:rPr lang="en-US" altLang="zh-CN" sz="2000" b="1" dirty="0"/>
              <a:t>++) {// </a:t>
            </a:r>
            <a:r>
              <a:rPr lang="zh-CN" altLang="en-US" sz="2000" b="1" dirty="0"/>
              <a:t>二维数组的元素逐行输出 </a:t>
            </a:r>
          </a:p>
          <a:p>
            <a:pPr marL="0" indent="0" eaLnBrk="1" hangingPunct="1">
              <a:buFont typeface="Wingdings" pitchFamily="2" charset="2"/>
              <a:buNone/>
            </a:pPr>
            <a:r>
              <a:rPr lang="zh-CN" altLang="en-US" sz="2000" b="1" dirty="0"/>
              <a:t>          </a:t>
            </a:r>
            <a:r>
              <a:rPr lang="en-US" altLang="zh-CN" sz="2000" b="1" dirty="0"/>
              <a:t>for(j = 0; j &lt; 4; j++)  </a:t>
            </a:r>
            <a:r>
              <a:rPr lang="en-US" altLang="zh-CN" sz="2000" b="1" dirty="0" err="1"/>
              <a:t>printf</a:t>
            </a:r>
            <a:r>
              <a:rPr lang="en-US" altLang="zh-CN" sz="2000" b="1" dirty="0"/>
              <a:t>("%d\t", a[</a:t>
            </a:r>
            <a:r>
              <a:rPr lang="en-US" altLang="zh-CN" sz="2000" b="1" dirty="0" err="1"/>
              <a:t>i</a:t>
            </a:r>
            <a:r>
              <a:rPr lang="en-US" altLang="zh-CN" sz="2000" b="1" dirty="0"/>
              <a:t>][j]);</a:t>
            </a:r>
          </a:p>
          <a:p>
            <a:pPr marL="0" indent="0" eaLnBrk="1" hangingPunct="1">
              <a:buFont typeface="Wingdings" pitchFamily="2" charset="2"/>
              <a:buNone/>
            </a:pPr>
            <a:r>
              <a:rPr lang="en-US" altLang="zh-CN" sz="2000" b="1" dirty="0"/>
              <a:t>          </a:t>
            </a:r>
            <a:r>
              <a:rPr lang="en-US" altLang="zh-CN" sz="2000" b="1" dirty="0" err="1"/>
              <a:t>printf</a:t>
            </a:r>
            <a:r>
              <a:rPr lang="en-US" altLang="zh-CN" sz="2000" b="1" dirty="0"/>
              <a:t>("\n");  /* </a:t>
            </a:r>
            <a:r>
              <a:rPr lang="zh-CN" altLang="en-US" sz="2000" b="1" dirty="0"/>
              <a:t>一行元素输出后换行 *</a:t>
            </a:r>
            <a:r>
              <a:rPr lang="en-US" altLang="zh-CN" sz="2000" b="1" dirty="0"/>
              <a:t>/</a:t>
            </a:r>
          </a:p>
          <a:p>
            <a:pPr marL="0" indent="0" eaLnBrk="1" hangingPunct="1">
              <a:buFont typeface="Wingdings" pitchFamily="2" charset="2"/>
              <a:buNone/>
            </a:pPr>
            <a:r>
              <a:rPr lang="en-US" altLang="zh-CN" sz="2000" b="1" dirty="0"/>
              <a:t>        }</a:t>
            </a:r>
          </a:p>
          <a:p>
            <a:pPr marL="0" indent="0" eaLnBrk="1" hangingPunct="1">
              <a:buFont typeface="Wingdings" pitchFamily="2" charset="2"/>
              <a:buNone/>
            </a:pPr>
            <a:r>
              <a:rPr lang="en-US" altLang="zh-CN" sz="2000" b="1" dirty="0"/>
              <a:t>        return 0;</a:t>
            </a:r>
          </a:p>
          <a:p>
            <a:pPr marL="0" indent="0" eaLnBrk="1" hangingPunct="1">
              <a:buFont typeface="Wingdings" pitchFamily="2" charset="2"/>
              <a:buNone/>
            </a:pPr>
            <a:r>
              <a:rPr lang="en-US" altLang="zh-CN" sz="2000" b="1" dirty="0"/>
              <a:t>    }</a:t>
            </a:r>
          </a:p>
        </p:txBody>
      </p:sp>
      <p:sp>
        <p:nvSpPr>
          <p:cNvPr id="6" name="灯片编号占位符 5"/>
          <p:cNvSpPr>
            <a:spLocks noGrp="1"/>
          </p:cNvSpPr>
          <p:nvPr>
            <p:ph type="sldNum" sz="quarter" idx="12"/>
          </p:nvPr>
        </p:nvSpPr>
        <p:spPr/>
        <p:txBody>
          <a:bodyPr/>
          <a:lstStyle/>
          <a:p>
            <a:pPr>
              <a:defRPr/>
            </a:pPr>
            <a:fld id="{9052C351-D62F-4733-A802-0E479BF1595D}" type="slidenum">
              <a:rPr lang="en-US" altLang="zh-CN"/>
              <a:pPr>
                <a:defRPr/>
              </a:pPr>
              <a:t>68</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3490">
                                            <p:txEl>
                                              <p:pRg st="4" end="4"/>
                                            </p:txEl>
                                          </p:spTgt>
                                        </p:tgtEl>
                                        <p:attrNameLst>
                                          <p:attrName>style.visibility</p:attrName>
                                        </p:attrNameLst>
                                      </p:cBhvr>
                                      <p:to>
                                        <p:strVal val="visible"/>
                                      </p:to>
                                    </p:set>
                                    <p:anim calcmode="lin" valueType="num">
                                      <p:cBhvr additive="base">
                                        <p:cTn id="7" dur="500" fill="hold"/>
                                        <p:tgtEl>
                                          <p:spTgt spid="63490">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3490">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3490">
                                            <p:txEl>
                                              <p:pRg st="5" end="5"/>
                                            </p:txEl>
                                          </p:spTgt>
                                        </p:tgtEl>
                                        <p:attrNameLst>
                                          <p:attrName>style.visibility</p:attrName>
                                        </p:attrNameLst>
                                      </p:cBhvr>
                                      <p:to>
                                        <p:strVal val="visible"/>
                                      </p:to>
                                    </p:set>
                                    <p:anim calcmode="lin" valueType="num">
                                      <p:cBhvr additive="base">
                                        <p:cTn id="11" dur="500" fill="hold"/>
                                        <p:tgtEl>
                                          <p:spTgt spid="63490">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3490">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3490">
                                            <p:txEl>
                                              <p:pRg st="6" end="6"/>
                                            </p:txEl>
                                          </p:spTgt>
                                        </p:tgtEl>
                                        <p:attrNameLst>
                                          <p:attrName>style.visibility</p:attrName>
                                        </p:attrNameLst>
                                      </p:cBhvr>
                                      <p:to>
                                        <p:strVal val="visible"/>
                                      </p:to>
                                    </p:set>
                                    <p:anim calcmode="lin" valueType="num">
                                      <p:cBhvr additive="base">
                                        <p:cTn id="15" dur="500" fill="hold"/>
                                        <p:tgtEl>
                                          <p:spTgt spid="63490">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3490">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63490">
                                            <p:txEl>
                                              <p:pRg st="7" end="7"/>
                                            </p:txEl>
                                          </p:spTgt>
                                        </p:tgtEl>
                                        <p:attrNameLst>
                                          <p:attrName>style.visibility</p:attrName>
                                        </p:attrNameLst>
                                      </p:cBhvr>
                                      <p:to>
                                        <p:strVal val="visible"/>
                                      </p:to>
                                    </p:set>
                                    <p:anim calcmode="lin" valueType="num">
                                      <p:cBhvr additive="base">
                                        <p:cTn id="19" dur="500" fill="hold"/>
                                        <p:tgtEl>
                                          <p:spTgt spid="63490">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3490">
                                            <p:txEl>
                                              <p:pRg st="7" end="7"/>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63490">
                                            <p:txEl>
                                              <p:pRg st="8" end="8"/>
                                            </p:txEl>
                                          </p:spTgt>
                                        </p:tgtEl>
                                        <p:attrNameLst>
                                          <p:attrName>style.visibility</p:attrName>
                                        </p:attrNameLst>
                                      </p:cBhvr>
                                      <p:to>
                                        <p:strVal val="visible"/>
                                      </p:to>
                                    </p:set>
                                    <p:anim calcmode="lin" valueType="num">
                                      <p:cBhvr additive="base">
                                        <p:cTn id="23" dur="500" fill="hold"/>
                                        <p:tgtEl>
                                          <p:spTgt spid="63490">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63490">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63490">
                                            <p:txEl>
                                              <p:pRg st="9" end="9"/>
                                            </p:txEl>
                                          </p:spTgt>
                                        </p:tgtEl>
                                        <p:attrNameLst>
                                          <p:attrName>style.visibility</p:attrName>
                                        </p:attrNameLst>
                                      </p:cBhvr>
                                      <p:to>
                                        <p:strVal val="visible"/>
                                      </p:to>
                                    </p:set>
                                    <p:anim calcmode="lin" valueType="num">
                                      <p:cBhvr additive="base">
                                        <p:cTn id="29" dur="500" fill="hold"/>
                                        <p:tgtEl>
                                          <p:spTgt spid="63490">
                                            <p:txEl>
                                              <p:pRg st="9" end="9"/>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63490">
                                            <p:txEl>
                                              <p:pRg st="9" end="9"/>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63490">
                                            <p:txEl>
                                              <p:pRg st="10" end="10"/>
                                            </p:txEl>
                                          </p:spTgt>
                                        </p:tgtEl>
                                        <p:attrNameLst>
                                          <p:attrName>style.visibility</p:attrName>
                                        </p:attrNameLst>
                                      </p:cBhvr>
                                      <p:to>
                                        <p:strVal val="visible"/>
                                      </p:to>
                                    </p:set>
                                    <p:anim calcmode="lin" valueType="num">
                                      <p:cBhvr additive="base">
                                        <p:cTn id="33" dur="500" fill="hold"/>
                                        <p:tgtEl>
                                          <p:spTgt spid="63490">
                                            <p:txEl>
                                              <p:pRg st="10" end="10"/>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63490">
                                            <p:txEl>
                                              <p:pRg st="10" end="10"/>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63490">
                                            <p:txEl>
                                              <p:pRg st="11" end="11"/>
                                            </p:txEl>
                                          </p:spTgt>
                                        </p:tgtEl>
                                        <p:attrNameLst>
                                          <p:attrName>style.visibility</p:attrName>
                                        </p:attrNameLst>
                                      </p:cBhvr>
                                      <p:to>
                                        <p:strVal val="visible"/>
                                      </p:to>
                                    </p:set>
                                    <p:anim calcmode="lin" valueType="num">
                                      <p:cBhvr additive="base">
                                        <p:cTn id="37" dur="500" fill="hold"/>
                                        <p:tgtEl>
                                          <p:spTgt spid="63490">
                                            <p:txEl>
                                              <p:pRg st="11" end="11"/>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63490">
                                            <p:txEl>
                                              <p:pRg st="11" end="11"/>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63490">
                                            <p:txEl>
                                              <p:pRg st="12" end="12"/>
                                            </p:txEl>
                                          </p:spTgt>
                                        </p:tgtEl>
                                        <p:attrNameLst>
                                          <p:attrName>style.visibility</p:attrName>
                                        </p:attrNameLst>
                                      </p:cBhvr>
                                      <p:to>
                                        <p:strVal val="visible"/>
                                      </p:to>
                                    </p:set>
                                    <p:anim calcmode="lin" valueType="num">
                                      <p:cBhvr additive="base">
                                        <p:cTn id="41" dur="500" fill="hold"/>
                                        <p:tgtEl>
                                          <p:spTgt spid="63490">
                                            <p:txEl>
                                              <p:pRg st="12" end="12"/>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63490">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4"/>
          <p:cNvSpPr>
            <a:spLocks noGrp="1" noChangeArrowheads="1"/>
          </p:cNvSpPr>
          <p:nvPr>
            <p:ph type="title"/>
          </p:nvPr>
        </p:nvSpPr>
        <p:spPr>
          <a:xfrm>
            <a:off x="539750" y="260350"/>
            <a:ext cx="8088313" cy="647700"/>
          </a:xfrm>
          <a:noFill/>
        </p:spPr>
        <p:txBody>
          <a:bodyPr lIns="92075" tIns="46038" rIns="92075" bIns="46038"/>
          <a:lstStyle/>
          <a:p>
            <a:pPr eaLnBrk="1" hangingPunct="1"/>
            <a:r>
              <a:rPr lang="zh-CN" altLang="en-US">
                <a:solidFill>
                  <a:schemeClr val="tx1"/>
                </a:solidFill>
                <a:latin typeface="黑体" pitchFamily="2" charset="-122"/>
                <a:ea typeface="黑体" pitchFamily="2" charset="-122"/>
              </a:rPr>
              <a:t>多维数组初始化</a:t>
            </a:r>
          </a:p>
        </p:txBody>
      </p:sp>
      <p:sp>
        <p:nvSpPr>
          <p:cNvPr id="159746" name="Rectangle 2"/>
          <p:cNvSpPr>
            <a:spLocks noGrp="1" noChangeArrowheads="1"/>
          </p:cNvSpPr>
          <p:nvPr>
            <p:ph idx="1"/>
          </p:nvPr>
        </p:nvSpPr>
        <p:spPr>
          <a:xfrm>
            <a:off x="228600" y="1052513"/>
            <a:ext cx="8534400" cy="5424487"/>
          </a:xfrm>
        </p:spPr>
        <p:txBody>
          <a:bodyPr>
            <a:normAutofit/>
          </a:bodyPr>
          <a:lstStyle/>
          <a:p>
            <a:pPr marL="0" indent="0" algn="just" eaLnBrk="1" fontAlgn="auto" hangingPunct="1">
              <a:lnSpc>
                <a:spcPct val="90000"/>
              </a:lnSpc>
              <a:spcAft>
                <a:spcPts val="0"/>
              </a:spcAft>
              <a:buClr>
                <a:schemeClr val="accent3"/>
              </a:buClr>
              <a:buFont typeface="Wingdings" pitchFamily="2" charset="2"/>
              <a:buNone/>
              <a:defRPr/>
            </a:pPr>
            <a:r>
              <a:rPr lang="en-US" altLang="zh-CN" sz="3200" b="1" dirty="0">
                <a:effectLst>
                  <a:outerShdw blurRad="38100" dist="38100" dir="2700000" algn="tl">
                    <a:srgbClr val="C0C0C0"/>
                  </a:outerShdw>
                </a:effectLst>
                <a:latin typeface="黑体" pitchFamily="2" charset="-122"/>
                <a:ea typeface="黑体" pitchFamily="2" charset="-122"/>
              </a:rPr>
              <a:t>(1)</a:t>
            </a:r>
            <a:r>
              <a:rPr lang="zh-CN" altLang="en-US" sz="3200" b="1" dirty="0">
                <a:effectLst>
                  <a:outerShdw blurRad="38100" dist="38100" dir="2700000" algn="tl">
                    <a:srgbClr val="C0C0C0"/>
                  </a:outerShdw>
                </a:effectLst>
                <a:latin typeface="黑体" pitchFamily="2" charset="-122"/>
                <a:ea typeface="黑体" pitchFamily="2" charset="-122"/>
              </a:rPr>
              <a:t>按行给二维数组的全部元素赋初值。</a:t>
            </a:r>
          </a:p>
          <a:p>
            <a:pPr marL="0" indent="0" algn="just" eaLnBrk="1" fontAlgn="auto" hangingPunct="1">
              <a:lnSpc>
                <a:spcPct val="90000"/>
              </a:lnSpc>
              <a:spcAft>
                <a:spcPts val="0"/>
              </a:spcAft>
              <a:buClr>
                <a:schemeClr val="accent3"/>
              </a:buClr>
              <a:buFont typeface="Wingdings" pitchFamily="2" charset="2"/>
              <a:buNone/>
              <a:defRPr/>
            </a:pPr>
            <a:r>
              <a:rPr lang="zh-CN" altLang="en-US" sz="3200" b="1" dirty="0">
                <a:effectLst>
                  <a:outerShdw blurRad="38100" dist="38100" dir="2700000" algn="tl">
                    <a:srgbClr val="C0C0C0"/>
                  </a:outerShdw>
                </a:effectLst>
                <a:latin typeface="黑体" pitchFamily="2" charset="-122"/>
                <a:ea typeface="黑体" pitchFamily="2" charset="-122"/>
              </a:rPr>
              <a:t>例如：</a:t>
            </a:r>
          </a:p>
          <a:p>
            <a:pPr marL="0" indent="0" algn="just" eaLnBrk="1" fontAlgn="auto" hangingPunct="1">
              <a:lnSpc>
                <a:spcPct val="90000"/>
              </a:lnSpc>
              <a:spcAft>
                <a:spcPts val="0"/>
              </a:spcAft>
              <a:buClr>
                <a:schemeClr val="accent3"/>
              </a:buClr>
              <a:buFont typeface="Wingdings" pitchFamily="2" charset="2"/>
              <a:buNone/>
              <a:defRPr/>
            </a:pPr>
            <a:r>
              <a:rPr lang="zh-CN" altLang="en-US" sz="3200" b="1" dirty="0">
                <a:effectLst>
                  <a:outerShdw blurRad="38100" dist="38100" dir="2700000" algn="tl">
                    <a:srgbClr val="C0C0C0"/>
                  </a:outerShdw>
                </a:effectLst>
                <a:latin typeface="黑体" pitchFamily="2" charset="-122"/>
                <a:ea typeface="黑体" pitchFamily="2" charset="-122"/>
              </a:rPr>
              <a:t>   </a:t>
            </a:r>
            <a:r>
              <a:rPr lang="en-US" altLang="zh-CN" sz="3200" b="1" dirty="0" err="1">
                <a:effectLst>
                  <a:outerShdw blurRad="38100" dist="38100" dir="2700000" algn="tl">
                    <a:srgbClr val="C0C0C0"/>
                  </a:outerShdw>
                </a:effectLst>
                <a:latin typeface="黑体" pitchFamily="2" charset="-122"/>
                <a:ea typeface="黑体" pitchFamily="2" charset="-122"/>
              </a:rPr>
              <a:t>int</a:t>
            </a:r>
            <a:r>
              <a:rPr lang="en-US" altLang="zh-CN" sz="3200" b="1" dirty="0">
                <a:effectLst>
                  <a:outerShdw blurRad="38100" dist="38100" dir="2700000" algn="tl">
                    <a:srgbClr val="C0C0C0"/>
                  </a:outerShdw>
                </a:effectLst>
                <a:latin typeface="黑体" pitchFamily="2" charset="-122"/>
                <a:ea typeface="黑体" pitchFamily="2" charset="-122"/>
              </a:rPr>
              <a:t> a1[2][3]={{1, 2, 3},{4, 5, 6}};</a:t>
            </a:r>
          </a:p>
          <a:p>
            <a:pPr marL="0" indent="0" algn="just" eaLnBrk="1" fontAlgn="auto" hangingPunct="1">
              <a:lnSpc>
                <a:spcPct val="90000"/>
              </a:lnSpc>
              <a:spcAft>
                <a:spcPts val="0"/>
              </a:spcAft>
              <a:buClr>
                <a:schemeClr val="accent3"/>
              </a:buClr>
              <a:buFont typeface="Wingdings" pitchFamily="2" charset="2"/>
              <a:buNone/>
              <a:defRPr/>
            </a:pPr>
            <a:r>
              <a:rPr lang="en-US" altLang="zh-CN" sz="3200" b="1" dirty="0">
                <a:effectLst>
                  <a:outerShdw blurRad="38100" dist="38100" dir="2700000" algn="tl">
                    <a:srgbClr val="C0C0C0"/>
                  </a:outerShdw>
                </a:effectLst>
                <a:latin typeface="黑体" pitchFamily="2" charset="-122"/>
                <a:ea typeface="黑体" pitchFamily="2" charset="-122"/>
              </a:rPr>
              <a:t>(2)</a:t>
            </a:r>
            <a:r>
              <a:rPr lang="zh-CN" altLang="en-US" sz="3200" b="1" dirty="0">
                <a:effectLst>
                  <a:outerShdw blurRad="38100" dist="38100" dir="2700000" algn="tl">
                    <a:srgbClr val="C0C0C0"/>
                  </a:outerShdw>
                </a:effectLst>
                <a:latin typeface="黑体" pitchFamily="2" charset="-122"/>
                <a:ea typeface="黑体" pitchFamily="2" charset="-122"/>
              </a:rPr>
              <a:t>按元素的存储顺序给数组元素赋初值。</a:t>
            </a:r>
          </a:p>
          <a:p>
            <a:pPr marL="0" indent="0" algn="just" eaLnBrk="1" fontAlgn="auto" hangingPunct="1">
              <a:lnSpc>
                <a:spcPct val="90000"/>
              </a:lnSpc>
              <a:spcAft>
                <a:spcPts val="0"/>
              </a:spcAft>
              <a:buClr>
                <a:schemeClr val="accent3"/>
              </a:buClr>
              <a:buFont typeface="Wingdings" pitchFamily="2" charset="2"/>
              <a:buNone/>
              <a:defRPr/>
            </a:pPr>
            <a:r>
              <a:rPr lang="zh-CN" altLang="en-US" sz="3200" b="1" dirty="0">
                <a:effectLst>
                  <a:outerShdw blurRad="38100" dist="38100" dir="2700000" algn="tl">
                    <a:srgbClr val="C0C0C0"/>
                  </a:outerShdw>
                </a:effectLst>
                <a:latin typeface="黑体" pitchFamily="2" charset="-122"/>
                <a:ea typeface="黑体" pitchFamily="2" charset="-122"/>
              </a:rPr>
              <a:t>例如：</a:t>
            </a:r>
          </a:p>
          <a:p>
            <a:pPr marL="0" indent="0" algn="just" eaLnBrk="1" fontAlgn="auto" hangingPunct="1">
              <a:lnSpc>
                <a:spcPct val="90000"/>
              </a:lnSpc>
              <a:spcAft>
                <a:spcPts val="0"/>
              </a:spcAft>
              <a:buClr>
                <a:schemeClr val="accent3"/>
              </a:buClr>
              <a:buFont typeface="Wingdings" pitchFamily="2" charset="2"/>
              <a:buNone/>
              <a:defRPr/>
            </a:pPr>
            <a:r>
              <a:rPr lang="zh-CN" altLang="en-US" sz="3200" b="1" dirty="0">
                <a:effectLst>
                  <a:outerShdw blurRad="38100" dist="38100" dir="2700000" algn="tl">
                    <a:srgbClr val="C0C0C0"/>
                  </a:outerShdw>
                </a:effectLst>
                <a:latin typeface="黑体" pitchFamily="2" charset="-122"/>
                <a:ea typeface="黑体" pitchFamily="2" charset="-122"/>
              </a:rPr>
              <a:t>   </a:t>
            </a:r>
            <a:r>
              <a:rPr lang="en-US" altLang="zh-CN" sz="3200" b="1" dirty="0" err="1">
                <a:effectLst>
                  <a:outerShdw blurRad="38100" dist="38100" dir="2700000" algn="tl">
                    <a:srgbClr val="C0C0C0"/>
                  </a:outerShdw>
                </a:effectLst>
                <a:latin typeface="黑体" pitchFamily="2" charset="-122"/>
                <a:ea typeface="黑体" pitchFamily="2" charset="-122"/>
              </a:rPr>
              <a:t>int</a:t>
            </a:r>
            <a:r>
              <a:rPr lang="en-US" altLang="zh-CN" sz="3200" b="1" dirty="0">
                <a:effectLst>
                  <a:outerShdw blurRad="38100" dist="38100" dir="2700000" algn="tl">
                    <a:srgbClr val="C0C0C0"/>
                  </a:outerShdw>
                </a:effectLst>
                <a:latin typeface="黑体" pitchFamily="2" charset="-122"/>
                <a:ea typeface="黑体" pitchFamily="2" charset="-122"/>
              </a:rPr>
              <a:t> a2[2][3]={1, 2, 3, 4, 5, 6};</a:t>
            </a:r>
          </a:p>
          <a:p>
            <a:pPr marL="0" indent="0" algn="just" eaLnBrk="1" fontAlgn="auto" hangingPunct="1">
              <a:lnSpc>
                <a:spcPct val="90000"/>
              </a:lnSpc>
              <a:spcAft>
                <a:spcPts val="0"/>
              </a:spcAft>
              <a:buClr>
                <a:schemeClr val="accent3"/>
              </a:buClr>
              <a:buFont typeface="Wingdings" pitchFamily="2" charset="2"/>
              <a:buNone/>
              <a:defRPr/>
            </a:pPr>
            <a:r>
              <a:rPr lang="en-US" altLang="zh-CN" sz="3200" b="1" dirty="0">
                <a:effectLst>
                  <a:outerShdw blurRad="38100" dist="38100" dir="2700000" algn="tl">
                    <a:srgbClr val="C0C0C0"/>
                  </a:outerShdw>
                </a:effectLst>
                <a:latin typeface="黑体" pitchFamily="2" charset="-122"/>
                <a:ea typeface="黑体" pitchFamily="2" charset="-122"/>
              </a:rPr>
              <a:t>(3)</a:t>
            </a:r>
            <a:r>
              <a:rPr lang="zh-CN" altLang="en-US" sz="3200" b="1" dirty="0">
                <a:effectLst>
                  <a:outerShdw blurRad="38100" dist="38100" dir="2700000" algn="tl">
                    <a:srgbClr val="C0C0C0"/>
                  </a:outerShdw>
                </a:effectLst>
                <a:latin typeface="黑体" pitchFamily="2" charset="-122"/>
                <a:ea typeface="黑体" pitchFamily="2" charset="-122"/>
              </a:rPr>
              <a:t>按行给数组的部分元素赋初值。</a:t>
            </a:r>
          </a:p>
          <a:p>
            <a:pPr marL="0" indent="0" algn="just" eaLnBrk="1" fontAlgn="auto" hangingPunct="1">
              <a:lnSpc>
                <a:spcPct val="90000"/>
              </a:lnSpc>
              <a:spcAft>
                <a:spcPts val="0"/>
              </a:spcAft>
              <a:buClr>
                <a:schemeClr val="accent3"/>
              </a:buClr>
              <a:buFont typeface="Wingdings" pitchFamily="2" charset="2"/>
              <a:buNone/>
              <a:defRPr/>
            </a:pPr>
            <a:r>
              <a:rPr lang="zh-CN" altLang="en-US" sz="3200" b="1" dirty="0">
                <a:effectLst>
                  <a:outerShdw blurRad="38100" dist="38100" dir="2700000" algn="tl">
                    <a:srgbClr val="C0C0C0"/>
                  </a:outerShdw>
                </a:effectLst>
                <a:latin typeface="黑体" pitchFamily="2" charset="-122"/>
                <a:ea typeface="黑体" pitchFamily="2" charset="-122"/>
              </a:rPr>
              <a:t>例如： </a:t>
            </a:r>
          </a:p>
          <a:p>
            <a:pPr marL="0" indent="0" algn="just" eaLnBrk="1" fontAlgn="auto" hangingPunct="1">
              <a:lnSpc>
                <a:spcPct val="90000"/>
              </a:lnSpc>
              <a:spcAft>
                <a:spcPts val="0"/>
              </a:spcAft>
              <a:buClr>
                <a:schemeClr val="accent3"/>
              </a:buClr>
              <a:buFont typeface="Wingdings" pitchFamily="2" charset="2"/>
              <a:buNone/>
              <a:defRPr/>
            </a:pPr>
            <a:r>
              <a:rPr lang="zh-CN" altLang="en-US" sz="3200" b="1" dirty="0">
                <a:effectLst>
                  <a:outerShdw blurRad="38100" dist="38100" dir="2700000" algn="tl">
                    <a:srgbClr val="C0C0C0"/>
                  </a:outerShdw>
                </a:effectLst>
                <a:latin typeface="黑体" pitchFamily="2" charset="-122"/>
                <a:ea typeface="黑体" pitchFamily="2" charset="-122"/>
              </a:rPr>
              <a:t>   </a:t>
            </a:r>
            <a:r>
              <a:rPr lang="en-US" altLang="zh-CN" sz="3200" b="1" dirty="0" err="1">
                <a:effectLst>
                  <a:outerShdw blurRad="38100" dist="38100" dir="2700000" algn="tl">
                    <a:srgbClr val="C0C0C0"/>
                  </a:outerShdw>
                </a:effectLst>
                <a:latin typeface="黑体" pitchFamily="2" charset="-122"/>
                <a:ea typeface="黑体" pitchFamily="2" charset="-122"/>
              </a:rPr>
              <a:t>int</a:t>
            </a:r>
            <a:r>
              <a:rPr lang="en-US" altLang="zh-CN" sz="3200" b="1" dirty="0">
                <a:effectLst>
                  <a:outerShdw blurRad="38100" dist="38100" dir="2700000" algn="tl">
                    <a:srgbClr val="C0C0C0"/>
                  </a:outerShdw>
                </a:effectLst>
                <a:latin typeface="黑体" pitchFamily="2" charset="-122"/>
                <a:ea typeface="黑体" pitchFamily="2" charset="-122"/>
              </a:rPr>
              <a:t> a3[2][3]={{1, 2},{0, 5}};</a:t>
            </a:r>
          </a:p>
          <a:p>
            <a:pPr marL="0" indent="0" algn="just" eaLnBrk="1" fontAlgn="auto" hangingPunct="1">
              <a:lnSpc>
                <a:spcPct val="90000"/>
              </a:lnSpc>
              <a:spcAft>
                <a:spcPts val="0"/>
              </a:spcAft>
              <a:buClr>
                <a:schemeClr val="accent3"/>
              </a:buClr>
              <a:buFont typeface="Wingdings" pitchFamily="2" charset="2"/>
              <a:buNone/>
              <a:defRPr/>
            </a:pPr>
            <a:r>
              <a:rPr lang="en-US" altLang="zh-CN" sz="3200" b="1" dirty="0">
                <a:effectLst>
                  <a:outerShdw blurRad="38100" dist="38100" dir="2700000" algn="tl">
                    <a:srgbClr val="C0C0C0"/>
                  </a:outerShdw>
                </a:effectLst>
                <a:latin typeface="黑体" pitchFamily="2" charset="-122"/>
                <a:ea typeface="黑体" pitchFamily="2" charset="-122"/>
              </a:rPr>
              <a:t>       /*</a:t>
            </a:r>
            <a:r>
              <a:rPr lang="zh-CN" altLang="en-US" sz="3200" b="1" dirty="0">
                <a:effectLst>
                  <a:outerShdw blurRad="38100" dist="38100" dir="2700000" algn="tl">
                    <a:srgbClr val="C0C0C0"/>
                  </a:outerShdw>
                </a:effectLst>
                <a:latin typeface="黑体" pitchFamily="2" charset="-122"/>
                <a:ea typeface="黑体" pitchFamily="2" charset="-122"/>
              </a:rPr>
              <a:t>其余均为 </a:t>
            </a:r>
            <a:r>
              <a:rPr lang="en-US" altLang="zh-CN" sz="3200" b="1" dirty="0">
                <a:effectLst>
                  <a:outerShdw blurRad="38100" dist="38100" dir="2700000" algn="tl">
                    <a:srgbClr val="C0C0C0"/>
                  </a:outerShdw>
                </a:effectLst>
                <a:latin typeface="黑体" pitchFamily="2" charset="-122"/>
                <a:ea typeface="黑体" pitchFamily="2" charset="-122"/>
              </a:rPr>
              <a:t>0*/</a:t>
            </a:r>
          </a:p>
        </p:txBody>
      </p:sp>
      <p:sp>
        <p:nvSpPr>
          <p:cNvPr id="6" name="灯片编号占位符 5"/>
          <p:cNvSpPr>
            <a:spLocks noGrp="1"/>
          </p:cNvSpPr>
          <p:nvPr>
            <p:ph type="sldNum" sz="quarter" idx="12"/>
          </p:nvPr>
        </p:nvSpPr>
        <p:spPr/>
        <p:txBody>
          <a:bodyPr/>
          <a:lstStyle/>
          <a:p>
            <a:pPr>
              <a:defRPr/>
            </a:pPr>
            <a:fld id="{69B441D5-F7BF-4F71-AD68-A5B491BDC974}" type="slidenum">
              <a:rPr lang="en-US" altLang="zh-CN"/>
              <a:pPr>
                <a:defRPr/>
              </a:pPr>
              <a:t>69</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9746">
                                            <p:txEl>
                                              <p:pRg st="3" end="3"/>
                                            </p:txEl>
                                          </p:spTgt>
                                        </p:tgtEl>
                                        <p:attrNameLst>
                                          <p:attrName>style.visibility</p:attrName>
                                        </p:attrNameLst>
                                      </p:cBhvr>
                                      <p:to>
                                        <p:strVal val="visible"/>
                                      </p:to>
                                    </p:set>
                                    <p:anim calcmode="lin" valueType="num">
                                      <p:cBhvr additive="base">
                                        <p:cTn id="7" dur="500" fill="hold"/>
                                        <p:tgtEl>
                                          <p:spTgt spid="159746">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9746">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59746">
                                            <p:txEl>
                                              <p:pRg st="4" end="4"/>
                                            </p:txEl>
                                          </p:spTgt>
                                        </p:tgtEl>
                                        <p:attrNameLst>
                                          <p:attrName>style.visibility</p:attrName>
                                        </p:attrNameLst>
                                      </p:cBhvr>
                                      <p:to>
                                        <p:strVal val="visible"/>
                                      </p:to>
                                    </p:set>
                                    <p:anim calcmode="lin" valueType="num">
                                      <p:cBhvr additive="base">
                                        <p:cTn id="11" dur="500" fill="hold"/>
                                        <p:tgtEl>
                                          <p:spTgt spid="159746">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59746">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59746">
                                            <p:txEl>
                                              <p:pRg st="5" end="5"/>
                                            </p:txEl>
                                          </p:spTgt>
                                        </p:tgtEl>
                                        <p:attrNameLst>
                                          <p:attrName>style.visibility</p:attrName>
                                        </p:attrNameLst>
                                      </p:cBhvr>
                                      <p:to>
                                        <p:strVal val="visible"/>
                                      </p:to>
                                    </p:set>
                                    <p:anim calcmode="lin" valueType="num">
                                      <p:cBhvr additive="base">
                                        <p:cTn id="15" dur="500" fill="hold"/>
                                        <p:tgtEl>
                                          <p:spTgt spid="159746">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5974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159746">
                                            <p:txEl>
                                              <p:pRg st="6" end="6"/>
                                            </p:txEl>
                                          </p:spTgt>
                                        </p:tgtEl>
                                        <p:attrNameLst>
                                          <p:attrName>style.visibility</p:attrName>
                                        </p:attrNameLst>
                                      </p:cBhvr>
                                      <p:to>
                                        <p:strVal val="visible"/>
                                      </p:to>
                                    </p:set>
                                    <p:anim calcmode="lin" valueType="num">
                                      <p:cBhvr additive="base">
                                        <p:cTn id="21" dur="500" fill="hold"/>
                                        <p:tgtEl>
                                          <p:spTgt spid="159746">
                                            <p:txEl>
                                              <p:pRg st="6" end="6"/>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59746">
                                            <p:txEl>
                                              <p:pRg st="6" end="6"/>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59746">
                                            <p:txEl>
                                              <p:pRg st="7" end="7"/>
                                            </p:txEl>
                                          </p:spTgt>
                                        </p:tgtEl>
                                        <p:attrNameLst>
                                          <p:attrName>style.visibility</p:attrName>
                                        </p:attrNameLst>
                                      </p:cBhvr>
                                      <p:to>
                                        <p:strVal val="visible"/>
                                      </p:to>
                                    </p:set>
                                    <p:anim calcmode="lin" valueType="num">
                                      <p:cBhvr additive="base">
                                        <p:cTn id="25" dur="500" fill="hold"/>
                                        <p:tgtEl>
                                          <p:spTgt spid="159746">
                                            <p:txEl>
                                              <p:pRg st="7" end="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59746">
                                            <p:txEl>
                                              <p:pRg st="7" end="7"/>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59746">
                                            <p:txEl>
                                              <p:pRg st="8" end="8"/>
                                            </p:txEl>
                                          </p:spTgt>
                                        </p:tgtEl>
                                        <p:attrNameLst>
                                          <p:attrName>style.visibility</p:attrName>
                                        </p:attrNameLst>
                                      </p:cBhvr>
                                      <p:to>
                                        <p:strVal val="visible"/>
                                      </p:to>
                                    </p:set>
                                    <p:anim calcmode="lin" valueType="num">
                                      <p:cBhvr additive="base">
                                        <p:cTn id="29" dur="500" fill="hold"/>
                                        <p:tgtEl>
                                          <p:spTgt spid="159746">
                                            <p:txEl>
                                              <p:pRg st="8" end="8"/>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59746">
                                            <p:txEl>
                                              <p:pRg st="8" end="8"/>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159746">
                                            <p:txEl>
                                              <p:pRg st="9" end="9"/>
                                            </p:txEl>
                                          </p:spTgt>
                                        </p:tgtEl>
                                        <p:attrNameLst>
                                          <p:attrName>style.visibility</p:attrName>
                                        </p:attrNameLst>
                                      </p:cBhvr>
                                      <p:to>
                                        <p:strVal val="visible"/>
                                      </p:to>
                                    </p:set>
                                    <p:anim calcmode="lin" valueType="num">
                                      <p:cBhvr additive="base">
                                        <p:cTn id="33" dur="500" fill="hold"/>
                                        <p:tgtEl>
                                          <p:spTgt spid="159746">
                                            <p:txEl>
                                              <p:pRg st="9" end="9"/>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59746">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18" name="Rectangle 2"/>
          <p:cNvSpPr>
            <a:spLocks noGrp="1" noChangeArrowheads="1"/>
          </p:cNvSpPr>
          <p:nvPr>
            <p:ph idx="1"/>
          </p:nvPr>
        </p:nvSpPr>
        <p:spPr>
          <a:xfrm>
            <a:off x="228600" y="981075"/>
            <a:ext cx="8534400" cy="5495925"/>
          </a:xfrm>
        </p:spPr>
        <p:txBody>
          <a:bodyPr>
            <a:normAutofit/>
          </a:bodyPr>
          <a:lstStyle/>
          <a:p>
            <a:pPr marL="536575" indent="-536575" algn="just" eaLnBrk="1" fontAlgn="auto" hangingPunct="1">
              <a:lnSpc>
                <a:spcPct val="90000"/>
              </a:lnSpc>
              <a:spcAft>
                <a:spcPts val="0"/>
              </a:spcAft>
              <a:buClr>
                <a:schemeClr val="accent3"/>
              </a:buClr>
              <a:buFont typeface="Wingdings" pitchFamily="2" charset="2"/>
              <a:buNone/>
              <a:defRPr/>
            </a:pPr>
            <a:r>
              <a:rPr lang="en-US" altLang="zh-CN" b="1" dirty="0">
                <a:effectLst>
                  <a:outerShdw blurRad="38100" dist="38100" dir="2700000" algn="tl">
                    <a:srgbClr val="C0C0C0"/>
                  </a:outerShdw>
                </a:effectLst>
                <a:latin typeface="宋体" pitchFamily="2" charset="-122"/>
              </a:rPr>
              <a:t>(4)</a:t>
            </a:r>
            <a:r>
              <a:rPr lang="zh-CN" altLang="en-US" b="1" dirty="0">
                <a:effectLst>
                  <a:outerShdw blurRad="38100" dist="38100" dir="2700000" algn="tl">
                    <a:srgbClr val="C0C0C0"/>
                  </a:outerShdw>
                </a:effectLst>
                <a:latin typeface="宋体" pitchFamily="2" charset="-122"/>
              </a:rPr>
              <a:t>按元素的存储顺序给前面部分元素赋初值。</a:t>
            </a:r>
          </a:p>
          <a:p>
            <a:pPr marL="536575" indent="-536575" algn="just" eaLnBrk="1" fontAlgn="auto" hangingPunct="1">
              <a:lnSpc>
                <a:spcPct val="90000"/>
              </a:lnSpc>
              <a:spcAft>
                <a:spcPts val="0"/>
              </a:spcAft>
              <a:buClr>
                <a:schemeClr val="accent3"/>
              </a:buClr>
              <a:buFont typeface="Wingdings" pitchFamily="2" charset="2"/>
              <a:buNone/>
              <a:defRPr/>
            </a:pPr>
            <a:r>
              <a:rPr lang="zh-CN" altLang="en-US" b="1" dirty="0">
                <a:effectLst>
                  <a:outerShdw blurRad="38100" dist="38100" dir="2700000" algn="tl">
                    <a:srgbClr val="C0C0C0"/>
                  </a:outerShdw>
                </a:effectLst>
                <a:latin typeface="宋体" pitchFamily="2" charset="-122"/>
              </a:rPr>
              <a:t>例如：</a:t>
            </a:r>
          </a:p>
          <a:p>
            <a:pPr marL="536575" indent="-536575" algn="just" eaLnBrk="1" fontAlgn="auto" hangingPunct="1">
              <a:lnSpc>
                <a:spcPct val="90000"/>
              </a:lnSpc>
              <a:spcAft>
                <a:spcPts val="0"/>
              </a:spcAft>
              <a:buClr>
                <a:schemeClr val="accent3"/>
              </a:buClr>
              <a:buFont typeface="Wingdings" pitchFamily="2" charset="2"/>
              <a:buNone/>
              <a:defRPr/>
            </a:pPr>
            <a:r>
              <a:rPr lang="zh-CN" altLang="en-US" b="1" dirty="0">
                <a:effectLst>
                  <a:outerShdw blurRad="38100" dist="38100" dir="2700000" algn="tl">
                    <a:srgbClr val="C0C0C0"/>
                  </a:outerShdw>
                </a:effectLst>
                <a:latin typeface="宋体" pitchFamily="2" charset="-122"/>
              </a:rPr>
              <a:t>   </a:t>
            </a:r>
            <a:r>
              <a:rPr lang="en-US" altLang="zh-CN" b="1" dirty="0" err="1">
                <a:effectLst>
                  <a:outerShdw blurRad="38100" dist="38100" dir="2700000" algn="tl">
                    <a:srgbClr val="C0C0C0"/>
                  </a:outerShdw>
                </a:effectLst>
                <a:latin typeface="黑体" pitchFamily="2" charset="-122"/>
              </a:rPr>
              <a:t>int</a:t>
            </a:r>
            <a:r>
              <a:rPr lang="en-US" altLang="zh-CN" b="1" dirty="0">
                <a:effectLst>
                  <a:outerShdw blurRad="38100" dist="38100" dir="2700000" algn="tl">
                    <a:srgbClr val="C0C0C0"/>
                  </a:outerShdw>
                </a:effectLst>
                <a:latin typeface="黑体" pitchFamily="2" charset="-122"/>
              </a:rPr>
              <a:t> a4[2][3] = {1, 2, 3, 4};</a:t>
            </a:r>
            <a:r>
              <a:rPr lang="en-US" altLang="zh-CN" b="1" dirty="0">
                <a:effectLst>
                  <a:outerShdw blurRad="38100" dist="38100" dir="2700000" algn="tl">
                    <a:srgbClr val="C0C0C0"/>
                  </a:outerShdw>
                </a:effectLst>
                <a:latin typeface="宋体" pitchFamily="2" charset="-122"/>
              </a:rPr>
              <a:t> </a:t>
            </a:r>
          </a:p>
          <a:p>
            <a:pPr marL="536575" indent="-536575" algn="just" eaLnBrk="1" fontAlgn="auto" hangingPunct="1">
              <a:lnSpc>
                <a:spcPct val="90000"/>
              </a:lnSpc>
              <a:spcAft>
                <a:spcPts val="0"/>
              </a:spcAft>
              <a:buClr>
                <a:schemeClr val="accent3"/>
              </a:buClr>
              <a:buFont typeface="Wingdings" pitchFamily="2" charset="2"/>
              <a:buNone/>
              <a:defRPr/>
            </a:pPr>
            <a:r>
              <a:rPr lang="en-US" altLang="zh-CN" b="1" dirty="0">
                <a:effectLst>
                  <a:outerShdw blurRad="38100" dist="38100" dir="2700000" algn="tl">
                    <a:srgbClr val="C0C0C0"/>
                  </a:outerShdw>
                </a:effectLst>
                <a:latin typeface="宋体" pitchFamily="2" charset="-122"/>
              </a:rPr>
              <a:t>        /* </a:t>
            </a:r>
            <a:r>
              <a:rPr lang="zh-CN" altLang="en-US" b="1" dirty="0">
                <a:effectLst>
                  <a:outerShdw blurRad="38100" dist="38100" dir="2700000" algn="tl">
                    <a:srgbClr val="C0C0C0"/>
                  </a:outerShdw>
                </a:effectLst>
                <a:latin typeface="宋体" pitchFamily="2" charset="-122"/>
              </a:rPr>
              <a:t>其余均为 </a:t>
            </a:r>
            <a:r>
              <a:rPr lang="en-US" altLang="zh-CN" b="1" dirty="0">
                <a:effectLst>
                  <a:outerShdw blurRad="38100" dist="38100" dir="2700000" algn="tl">
                    <a:srgbClr val="C0C0C0"/>
                  </a:outerShdw>
                </a:effectLst>
                <a:latin typeface="宋体" pitchFamily="2" charset="-122"/>
              </a:rPr>
              <a:t>0 */</a:t>
            </a:r>
          </a:p>
          <a:p>
            <a:pPr marL="536575" indent="-536575" algn="just" eaLnBrk="1" fontAlgn="auto" hangingPunct="1">
              <a:lnSpc>
                <a:spcPct val="90000"/>
              </a:lnSpc>
              <a:spcAft>
                <a:spcPts val="0"/>
              </a:spcAft>
              <a:buClr>
                <a:schemeClr val="accent3"/>
              </a:buClr>
              <a:buFont typeface="Wingdings" pitchFamily="2" charset="2"/>
              <a:buNone/>
              <a:defRPr/>
            </a:pPr>
            <a:r>
              <a:rPr lang="en-US" altLang="zh-CN" b="1" dirty="0">
                <a:effectLst>
                  <a:outerShdw blurRad="38100" dist="38100" dir="2700000" algn="tl">
                    <a:srgbClr val="C0C0C0"/>
                  </a:outerShdw>
                </a:effectLst>
                <a:latin typeface="宋体" pitchFamily="2" charset="-122"/>
              </a:rPr>
              <a:t>(5)</a:t>
            </a:r>
            <a:r>
              <a:rPr lang="zh-CN" altLang="en-US" b="1" dirty="0">
                <a:effectLst>
                  <a:outerShdw blurRad="38100" dist="38100" dir="2700000" algn="tl">
                    <a:srgbClr val="C0C0C0"/>
                  </a:outerShdw>
                </a:effectLst>
                <a:latin typeface="宋体" pitchFamily="2" charset="-122"/>
              </a:rPr>
              <a:t>按元素的存储顺序赋初值，不指定第一维的元素个数，但其它维的长度不能省略。</a:t>
            </a:r>
          </a:p>
          <a:p>
            <a:pPr marL="536575" indent="-536575" algn="just" eaLnBrk="1" fontAlgn="auto" hangingPunct="1">
              <a:lnSpc>
                <a:spcPct val="90000"/>
              </a:lnSpc>
              <a:spcAft>
                <a:spcPts val="0"/>
              </a:spcAft>
              <a:buClr>
                <a:schemeClr val="accent3"/>
              </a:buClr>
              <a:buFont typeface="Wingdings" pitchFamily="2" charset="2"/>
              <a:buNone/>
              <a:defRPr/>
            </a:pPr>
            <a:r>
              <a:rPr lang="zh-CN" altLang="en-US" b="1" dirty="0">
                <a:effectLst>
                  <a:outerShdw blurRad="38100" dist="38100" dir="2700000" algn="tl">
                    <a:srgbClr val="C0C0C0"/>
                  </a:outerShdw>
                </a:effectLst>
                <a:latin typeface="宋体" pitchFamily="2" charset="-122"/>
              </a:rPr>
              <a:t>例如： </a:t>
            </a:r>
            <a:r>
              <a:rPr lang="en-US" altLang="zh-CN" b="1" dirty="0" err="1">
                <a:effectLst>
                  <a:outerShdw blurRad="38100" dist="38100" dir="2700000" algn="tl">
                    <a:srgbClr val="C0C0C0"/>
                  </a:outerShdw>
                </a:effectLst>
                <a:latin typeface="黑体" pitchFamily="2" charset="-122"/>
              </a:rPr>
              <a:t>int</a:t>
            </a:r>
            <a:r>
              <a:rPr lang="en-US" altLang="zh-CN" b="1" dirty="0">
                <a:effectLst>
                  <a:outerShdw blurRad="38100" dist="38100" dir="2700000" algn="tl">
                    <a:srgbClr val="C0C0C0"/>
                  </a:outerShdw>
                </a:effectLst>
                <a:latin typeface="黑体" pitchFamily="2" charset="-122"/>
              </a:rPr>
              <a:t> a5[][3] = {1, 2, 3, 4, 5};</a:t>
            </a:r>
          </a:p>
          <a:p>
            <a:pPr marL="536575" indent="-536575" algn="just" eaLnBrk="1" fontAlgn="auto" hangingPunct="1">
              <a:lnSpc>
                <a:spcPct val="90000"/>
              </a:lnSpc>
              <a:spcAft>
                <a:spcPts val="0"/>
              </a:spcAft>
              <a:buClr>
                <a:schemeClr val="accent3"/>
              </a:buClr>
              <a:buFont typeface="Wingdings" pitchFamily="2" charset="2"/>
              <a:buNone/>
              <a:defRPr/>
            </a:pPr>
            <a:r>
              <a:rPr lang="en-US" altLang="zh-CN" b="1" dirty="0">
                <a:effectLst>
                  <a:outerShdw blurRad="38100" dist="38100" dir="2700000" algn="tl">
                    <a:srgbClr val="C0C0C0"/>
                  </a:outerShdw>
                </a:effectLst>
                <a:latin typeface="黑体" pitchFamily="2" charset="-122"/>
              </a:rPr>
              <a:t>    /* </a:t>
            </a:r>
            <a:r>
              <a:rPr lang="zh-CN" altLang="en-US" b="1" dirty="0">
                <a:effectLst>
                  <a:outerShdw blurRad="38100" dist="38100" dir="2700000" algn="tl">
                    <a:srgbClr val="C0C0C0"/>
                  </a:outerShdw>
                </a:effectLst>
                <a:latin typeface="黑体" pitchFamily="2" charset="-122"/>
              </a:rPr>
              <a:t>等价：</a:t>
            </a:r>
            <a:r>
              <a:rPr lang="en-US" altLang="zh-CN" b="1" dirty="0" err="1">
                <a:effectLst>
                  <a:outerShdw blurRad="38100" dist="38100" dir="2700000" algn="tl">
                    <a:srgbClr val="C0C0C0"/>
                  </a:outerShdw>
                </a:effectLst>
                <a:latin typeface="黑体" pitchFamily="2" charset="-122"/>
              </a:rPr>
              <a:t>int</a:t>
            </a:r>
            <a:r>
              <a:rPr lang="en-US" altLang="zh-CN" b="1" dirty="0">
                <a:effectLst>
                  <a:outerShdw blurRad="38100" dist="38100" dir="2700000" algn="tl">
                    <a:srgbClr val="C0C0C0"/>
                  </a:outerShdw>
                </a:effectLst>
                <a:latin typeface="黑体" pitchFamily="2" charset="-122"/>
              </a:rPr>
              <a:t> a5[2][3]= </a:t>
            </a:r>
            <a:r>
              <a:rPr lang="en-US" altLang="zh-CN" b="1" dirty="0">
                <a:effectLst>
                  <a:outerShdw blurRad="38100" dist="38100" dir="2700000" algn="tl">
                    <a:srgbClr val="C0C0C0"/>
                  </a:outerShdw>
                </a:effectLst>
                <a:latin typeface="宋体" pitchFamily="2" charset="-122"/>
              </a:rPr>
              <a:t>…</a:t>
            </a:r>
            <a:r>
              <a:rPr lang="en-US" altLang="zh-CN" b="1" dirty="0">
                <a:effectLst>
                  <a:outerShdw blurRad="38100" dist="38100" dir="2700000" algn="tl">
                    <a:srgbClr val="C0C0C0"/>
                  </a:outerShdw>
                </a:effectLst>
                <a:latin typeface="黑体" pitchFamily="2" charset="-122"/>
              </a:rPr>
              <a:t> */</a:t>
            </a:r>
          </a:p>
          <a:p>
            <a:pPr marL="536575" indent="-536575" algn="just" eaLnBrk="1" fontAlgn="auto" hangingPunct="1">
              <a:lnSpc>
                <a:spcPct val="90000"/>
              </a:lnSpc>
              <a:spcAft>
                <a:spcPts val="0"/>
              </a:spcAft>
              <a:buClr>
                <a:schemeClr val="accent3"/>
              </a:buClr>
              <a:buFont typeface="Wingdings" pitchFamily="2" charset="2"/>
              <a:buNone/>
              <a:defRPr/>
            </a:pPr>
            <a:r>
              <a:rPr lang="en-US" altLang="zh-CN" b="1" dirty="0">
                <a:effectLst>
                  <a:outerShdw blurRad="38100" dist="38100" dir="2700000" algn="tl">
                    <a:srgbClr val="C0C0C0"/>
                  </a:outerShdw>
                </a:effectLst>
                <a:latin typeface="宋体" pitchFamily="2" charset="-122"/>
              </a:rPr>
              <a:t>(6)</a:t>
            </a:r>
            <a:r>
              <a:rPr lang="zh-CN" altLang="en-US" b="1" dirty="0">
                <a:effectLst>
                  <a:outerShdw blurRad="38100" dist="38100" dir="2700000" algn="tl">
                    <a:srgbClr val="C0C0C0"/>
                  </a:outerShdw>
                </a:effectLst>
                <a:latin typeface="宋体" pitchFamily="2" charset="-122"/>
              </a:rPr>
              <a:t>用按行赋初值方法，对各行的部分或全部元素赋初值，并省略第一维的元素个数。</a:t>
            </a:r>
          </a:p>
          <a:p>
            <a:pPr marL="536575" indent="-536575" algn="just" eaLnBrk="1" fontAlgn="auto" hangingPunct="1">
              <a:lnSpc>
                <a:spcPct val="90000"/>
              </a:lnSpc>
              <a:spcAft>
                <a:spcPts val="0"/>
              </a:spcAft>
              <a:buClr>
                <a:schemeClr val="accent3"/>
              </a:buClr>
              <a:buFont typeface="Wingdings" pitchFamily="2" charset="2"/>
              <a:buNone/>
              <a:defRPr/>
            </a:pPr>
            <a:r>
              <a:rPr lang="zh-CN" altLang="en-US" b="1" dirty="0">
                <a:effectLst>
                  <a:outerShdw blurRad="38100" dist="38100" dir="2700000" algn="tl">
                    <a:srgbClr val="C0C0C0"/>
                  </a:outerShdw>
                </a:effectLst>
                <a:latin typeface="宋体" pitchFamily="2" charset="-122"/>
              </a:rPr>
              <a:t>例如：</a:t>
            </a:r>
            <a:r>
              <a:rPr lang="en-US" altLang="zh-CN" b="1" dirty="0" err="1">
                <a:effectLst>
                  <a:outerShdw blurRad="38100" dist="38100" dir="2700000" algn="tl">
                    <a:srgbClr val="C0C0C0"/>
                  </a:outerShdw>
                </a:effectLst>
                <a:latin typeface="黑体" pitchFamily="2" charset="-122"/>
              </a:rPr>
              <a:t>int</a:t>
            </a:r>
            <a:r>
              <a:rPr lang="en-US" altLang="zh-CN" b="1" dirty="0">
                <a:effectLst>
                  <a:outerShdw blurRad="38100" dist="38100" dir="2700000" algn="tl">
                    <a:srgbClr val="C0C0C0"/>
                  </a:outerShdw>
                </a:effectLst>
                <a:latin typeface="黑体" pitchFamily="2" charset="-122"/>
              </a:rPr>
              <a:t> a6[][3] = {{0, 2}, {1}};</a:t>
            </a:r>
          </a:p>
          <a:p>
            <a:pPr marL="536575" indent="-536575" algn="just" eaLnBrk="1" fontAlgn="auto" hangingPunct="1">
              <a:lnSpc>
                <a:spcPct val="90000"/>
              </a:lnSpc>
              <a:spcAft>
                <a:spcPts val="0"/>
              </a:spcAft>
              <a:buClr>
                <a:schemeClr val="accent3"/>
              </a:buClr>
              <a:buFont typeface="Wingdings" pitchFamily="2" charset="2"/>
              <a:buNone/>
              <a:defRPr/>
            </a:pPr>
            <a:r>
              <a:rPr lang="en-US" altLang="zh-CN" b="1" dirty="0">
                <a:effectLst>
                  <a:outerShdw blurRad="38100" dist="38100" dir="2700000" algn="tl">
                    <a:srgbClr val="C0C0C0"/>
                  </a:outerShdw>
                </a:effectLst>
                <a:latin typeface="黑体" pitchFamily="2" charset="-122"/>
              </a:rPr>
              <a:t>    /* </a:t>
            </a:r>
            <a:r>
              <a:rPr lang="zh-CN" altLang="en-US" b="1" dirty="0">
                <a:effectLst>
                  <a:outerShdw blurRad="38100" dist="38100" dir="2700000" algn="tl">
                    <a:srgbClr val="C0C0C0"/>
                  </a:outerShdw>
                </a:effectLst>
                <a:latin typeface="黑体" pitchFamily="2" charset="-122"/>
              </a:rPr>
              <a:t>等价：</a:t>
            </a:r>
            <a:r>
              <a:rPr lang="en-US" altLang="zh-CN" b="1" dirty="0" err="1">
                <a:effectLst>
                  <a:outerShdw blurRad="38100" dist="38100" dir="2700000" algn="tl">
                    <a:srgbClr val="C0C0C0"/>
                  </a:outerShdw>
                </a:effectLst>
                <a:latin typeface="黑体" pitchFamily="2" charset="-122"/>
              </a:rPr>
              <a:t>int</a:t>
            </a:r>
            <a:r>
              <a:rPr lang="en-US" altLang="zh-CN" b="1" dirty="0">
                <a:effectLst>
                  <a:outerShdw blurRad="38100" dist="38100" dir="2700000" algn="tl">
                    <a:srgbClr val="C0C0C0"/>
                  </a:outerShdw>
                </a:effectLst>
                <a:latin typeface="黑体" pitchFamily="2" charset="-122"/>
              </a:rPr>
              <a:t> a6[2][3]= </a:t>
            </a:r>
            <a:r>
              <a:rPr lang="en-US" altLang="zh-CN" b="1" dirty="0">
                <a:effectLst>
                  <a:outerShdw blurRad="38100" dist="38100" dir="2700000" algn="tl">
                    <a:srgbClr val="C0C0C0"/>
                  </a:outerShdw>
                </a:effectLst>
                <a:latin typeface="宋体" pitchFamily="2" charset="-122"/>
              </a:rPr>
              <a:t>…</a:t>
            </a:r>
            <a:r>
              <a:rPr lang="en-US" altLang="zh-CN" b="1" dirty="0">
                <a:effectLst>
                  <a:outerShdw blurRad="38100" dist="38100" dir="2700000" algn="tl">
                    <a:srgbClr val="C0C0C0"/>
                  </a:outerShdw>
                </a:effectLst>
                <a:latin typeface="黑体" pitchFamily="2" charset="-122"/>
              </a:rPr>
              <a:t> */</a:t>
            </a:r>
          </a:p>
        </p:txBody>
      </p:sp>
      <p:sp>
        <p:nvSpPr>
          <p:cNvPr id="5" name="灯片编号占位符 5"/>
          <p:cNvSpPr>
            <a:spLocks noGrp="1"/>
          </p:cNvSpPr>
          <p:nvPr>
            <p:ph type="sldNum" sz="quarter" idx="12"/>
          </p:nvPr>
        </p:nvSpPr>
        <p:spPr/>
        <p:txBody>
          <a:bodyPr/>
          <a:lstStyle/>
          <a:p>
            <a:pPr>
              <a:defRPr/>
            </a:pPr>
            <a:fld id="{62D53947-31AC-4606-8B20-18DC6DFDC839}" type="slidenum">
              <a:rPr lang="en-US" altLang="zh-CN"/>
              <a:pPr>
                <a:defRPr/>
              </a:pPr>
              <a:t>70</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67618">
                                            <p:txEl>
                                              <p:pRg st="4" end="4"/>
                                            </p:txEl>
                                          </p:spTgt>
                                        </p:tgtEl>
                                        <p:attrNameLst>
                                          <p:attrName>style.visibility</p:attrName>
                                        </p:attrNameLst>
                                      </p:cBhvr>
                                      <p:to>
                                        <p:strVal val="visible"/>
                                      </p:to>
                                    </p:set>
                                    <p:anim calcmode="lin" valueType="num">
                                      <p:cBhvr additive="base">
                                        <p:cTn id="7" dur="500" fill="hold"/>
                                        <p:tgtEl>
                                          <p:spTgt spid="367618">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67618">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67618">
                                            <p:txEl>
                                              <p:pRg st="5" end="5"/>
                                            </p:txEl>
                                          </p:spTgt>
                                        </p:tgtEl>
                                        <p:attrNameLst>
                                          <p:attrName>style.visibility</p:attrName>
                                        </p:attrNameLst>
                                      </p:cBhvr>
                                      <p:to>
                                        <p:strVal val="visible"/>
                                      </p:to>
                                    </p:set>
                                    <p:anim calcmode="lin" valueType="num">
                                      <p:cBhvr additive="base">
                                        <p:cTn id="11" dur="500" fill="hold"/>
                                        <p:tgtEl>
                                          <p:spTgt spid="367618">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67618">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67618">
                                            <p:txEl>
                                              <p:pRg st="6" end="6"/>
                                            </p:txEl>
                                          </p:spTgt>
                                        </p:tgtEl>
                                        <p:attrNameLst>
                                          <p:attrName>style.visibility</p:attrName>
                                        </p:attrNameLst>
                                      </p:cBhvr>
                                      <p:to>
                                        <p:strVal val="visible"/>
                                      </p:to>
                                    </p:set>
                                    <p:anim calcmode="lin" valueType="num">
                                      <p:cBhvr additive="base">
                                        <p:cTn id="15" dur="500" fill="hold"/>
                                        <p:tgtEl>
                                          <p:spTgt spid="367618">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67618">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67618">
                                            <p:txEl>
                                              <p:pRg st="7" end="7"/>
                                            </p:txEl>
                                          </p:spTgt>
                                        </p:tgtEl>
                                        <p:attrNameLst>
                                          <p:attrName>style.visibility</p:attrName>
                                        </p:attrNameLst>
                                      </p:cBhvr>
                                      <p:to>
                                        <p:strVal val="visible"/>
                                      </p:to>
                                    </p:set>
                                    <p:anim calcmode="lin" valueType="num">
                                      <p:cBhvr additive="base">
                                        <p:cTn id="21" dur="500" fill="hold"/>
                                        <p:tgtEl>
                                          <p:spTgt spid="367618">
                                            <p:txEl>
                                              <p:pRg st="7" end="7"/>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67618">
                                            <p:txEl>
                                              <p:pRg st="7" end="7"/>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67618">
                                            <p:txEl>
                                              <p:pRg st="8" end="8"/>
                                            </p:txEl>
                                          </p:spTgt>
                                        </p:tgtEl>
                                        <p:attrNameLst>
                                          <p:attrName>style.visibility</p:attrName>
                                        </p:attrNameLst>
                                      </p:cBhvr>
                                      <p:to>
                                        <p:strVal val="visible"/>
                                      </p:to>
                                    </p:set>
                                    <p:anim calcmode="lin" valueType="num">
                                      <p:cBhvr additive="base">
                                        <p:cTn id="25" dur="500" fill="hold"/>
                                        <p:tgtEl>
                                          <p:spTgt spid="367618">
                                            <p:txEl>
                                              <p:pRg st="8" end="8"/>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67618">
                                            <p:txEl>
                                              <p:pRg st="8" end="8"/>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67618">
                                            <p:txEl>
                                              <p:pRg st="9" end="9"/>
                                            </p:txEl>
                                          </p:spTgt>
                                        </p:tgtEl>
                                        <p:attrNameLst>
                                          <p:attrName>style.visibility</p:attrName>
                                        </p:attrNameLst>
                                      </p:cBhvr>
                                      <p:to>
                                        <p:strVal val="visible"/>
                                      </p:to>
                                    </p:set>
                                    <p:anim calcmode="lin" valueType="num">
                                      <p:cBhvr additive="base">
                                        <p:cTn id="29" dur="500" fill="hold"/>
                                        <p:tgtEl>
                                          <p:spTgt spid="367618">
                                            <p:txEl>
                                              <p:pRg st="9" end="9"/>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67618">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4531" name="Rectangle 3"/>
          <p:cNvSpPr>
            <a:spLocks noGrp="1" noChangeArrowheads="1"/>
          </p:cNvSpPr>
          <p:nvPr>
            <p:ph type="title"/>
          </p:nvPr>
        </p:nvSpPr>
        <p:spPr>
          <a:xfrm>
            <a:off x="323850" y="203200"/>
            <a:ext cx="8702675" cy="6178550"/>
          </a:xfrm>
        </p:spPr>
        <p:txBody>
          <a:bodyPr lIns="92075" tIns="46038" rIns="92075" bIns="46038">
            <a:normAutofit/>
          </a:bodyPr>
          <a:lstStyle/>
          <a:p>
            <a:pPr eaLnBrk="1" fontAlgn="auto" hangingPunct="1">
              <a:spcAft>
                <a:spcPts val="0"/>
              </a:spcAft>
              <a:defRPr/>
            </a:pPr>
            <a:r>
              <a:rPr lang="en-US" altLang="zh-CN" sz="2800" b="1" dirty="0">
                <a:effectLst>
                  <a:outerShdw blurRad="38100" dist="38100" dir="2700000" algn="tl">
                    <a:srgbClr val="C0C0C0"/>
                  </a:outerShdw>
                </a:effectLst>
                <a:latin typeface="楷体_GB2312" pitchFamily="49" charset="-122"/>
                <a:ea typeface="楷体_GB2312" pitchFamily="49" charset="-122"/>
              </a:rPr>
              <a:t>【</a:t>
            </a:r>
            <a:r>
              <a:rPr lang="zh-CN" altLang="en-US" sz="2800" b="1" dirty="0">
                <a:effectLst>
                  <a:outerShdw blurRad="38100" dist="38100" dir="2700000" algn="tl">
                    <a:srgbClr val="C0C0C0"/>
                  </a:outerShdw>
                </a:effectLst>
                <a:latin typeface="楷体_GB2312" pitchFamily="49" charset="-122"/>
                <a:ea typeface="楷体_GB2312" pitchFamily="49" charset="-122"/>
              </a:rPr>
              <a:t>例</a:t>
            </a:r>
            <a:r>
              <a:rPr lang="en-US" altLang="zh-CN" sz="2800" b="1" dirty="0">
                <a:effectLst>
                  <a:outerShdw blurRad="38100" dist="38100" dir="2700000" algn="tl">
                    <a:srgbClr val="C0C0C0"/>
                  </a:outerShdw>
                </a:effectLst>
                <a:latin typeface="楷体_GB2312" pitchFamily="49" charset="-122"/>
                <a:ea typeface="楷体_GB2312" pitchFamily="49" charset="-122"/>
              </a:rPr>
              <a:t>4.12】</a:t>
            </a:r>
            <a:r>
              <a:rPr lang="zh-CN" altLang="en-US" sz="2800" b="1" dirty="0">
                <a:effectLst>
                  <a:outerShdw blurRad="38100" dist="38100" dir="2700000" algn="tl">
                    <a:srgbClr val="C0C0C0"/>
                  </a:outerShdw>
                </a:effectLst>
                <a:latin typeface="楷体_GB2312" pitchFamily="49" charset="-122"/>
                <a:ea typeface="楷体_GB2312" pitchFamily="49" charset="-122"/>
              </a:rPr>
              <a:t>编写输入年、月、日，求这一天是年的第几天的程序。</a:t>
            </a:r>
            <a:r>
              <a:rPr lang="en-US" altLang="zh-CN" sz="2800" b="1" dirty="0">
                <a:effectLst>
                  <a:outerShdw blurRad="38100" dist="38100" dir="2700000" algn="tl">
                    <a:srgbClr val="C0C0C0"/>
                  </a:outerShdw>
                </a:effectLst>
                <a:latin typeface="楷体_GB2312" pitchFamily="49" charset="-122"/>
                <a:ea typeface="楷体_GB2312" pitchFamily="49" charset="-122"/>
              </a:rPr>
              <a:t/>
            </a:r>
            <a:br>
              <a:rPr lang="en-US" altLang="zh-CN" sz="2800" b="1" dirty="0">
                <a:effectLst>
                  <a:outerShdw blurRad="38100" dist="38100" dir="2700000" algn="tl">
                    <a:srgbClr val="C0C0C0"/>
                  </a:outerShdw>
                </a:effectLst>
                <a:latin typeface="楷体_GB2312" pitchFamily="49" charset="-122"/>
                <a:ea typeface="楷体_GB2312" pitchFamily="49" charset="-122"/>
              </a:rPr>
            </a:br>
            <a:r>
              <a:rPr lang="zh-CN" altLang="en-US" sz="2800" b="1" dirty="0">
                <a:effectLst>
                  <a:outerShdw blurRad="38100" dist="38100" dir="2700000" algn="tl">
                    <a:srgbClr val="C0C0C0"/>
                  </a:outerShdw>
                </a:effectLst>
                <a:latin typeface="楷体_GB2312" pitchFamily="49" charset="-122"/>
                <a:ea typeface="楷体_GB2312" pitchFamily="49" charset="-122"/>
              </a:rPr>
              <a:t/>
            </a:r>
            <a:br>
              <a:rPr lang="zh-CN" altLang="en-US" sz="2800" b="1" dirty="0">
                <a:effectLst>
                  <a:outerShdw blurRad="38100" dist="38100" dir="2700000" algn="tl">
                    <a:srgbClr val="C0C0C0"/>
                  </a:outerShdw>
                </a:effectLst>
                <a:latin typeface="楷体_GB2312" pitchFamily="49" charset="-122"/>
                <a:ea typeface="楷体_GB2312" pitchFamily="49" charset="-122"/>
              </a:rPr>
            </a:br>
            <a:r>
              <a:rPr lang="en-US" altLang="zh-CN" sz="2800" b="1" dirty="0">
                <a:solidFill>
                  <a:schemeClr val="tx1"/>
                </a:solidFill>
                <a:effectLst>
                  <a:outerShdw blurRad="38100" dist="38100" dir="2700000" algn="tl">
                    <a:srgbClr val="C0C0C0"/>
                  </a:outerShdw>
                </a:effectLst>
                <a:latin typeface="楷体_GB2312" pitchFamily="49" charset="-122"/>
                <a:ea typeface="楷体_GB2312" pitchFamily="49" charset="-122"/>
              </a:rPr>
              <a:t>【</a:t>
            </a:r>
            <a:r>
              <a:rPr lang="zh-CN" altLang="en-US" sz="2800" b="1" dirty="0">
                <a:solidFill>
                  <a:schemeClr val="tx1"/>
                </a:solidFill>
                <a:effectLst>
                  <a:outerShdw blurRad="38100" dist="38100" dir="2700000" algn="tl">
                    <a:srgbClr val="C0C0C0"/>
                  </a:outerShdw>
                </a:effectLst>
                <a:latin typeface="楷体_GB2312" pitchFamily="49" charset="-122"/>
                <a:ea typeface="楷体_GB2312" pitchFamily="49" charset="-122"/>
              </a:rPr>
              <a:t>解题思路</a:t>
            </a:r>
            <a:r>
              <a:rPr lang="en-US" altLang="zh-CN" sz="2800" b="1" dirty="0">
                <a:solidFill>
                  <a:schemeClr val="tx1"/>
                </a:solidFill>
                <a:effectLst>
                  <a:outerShdw blurRad="38100" dist="38100" dir="2700000" algn="tl">
                    <a:srgbClr val="C0C0C0"/>
                  </a:outerShdw>
                </a:effectLst>
                <a:latin typeface="楷体_GB2312" pitchFamily="49" charset="-122"/>
                <a:ea typeface="楷体_GB2312" pitchFamily="49" charset="-122"/>
              </a:rPr>
              <a:t>】</a:t>
            </a:r>
            <a:br>
              <a:rPr lang="en-US" altLang="zh-CN" sz="2800" b="1" dirty="0">
                <a:solidFill>
                  <a:schemeClr val="tx1"/>
                </a:solidFill>
                <a:effectLst>
                  <a:outerShdw blurRad="38100" dist="38100" dir="2700000" algn="tl">
                    <a:srgbClr val="C0C0C0"/>
                  </a:outerShdw>
                </a:effectLst>
                <a:latin typeface="楷体_GB2312" pitchFamily="49" charset="-122"/>
                <a:ea typeface="楷体_GB2312" pitchFamily="49" charset="-122"/>
              </a:rPr>
            </a:br>
            <a:r>
              <a:rPr lang="zh-CN" altLang="en-US" sz="2800" b="1" dirty="0">
                <a:solidFill>
                  <a:schemeClr val="tx1"/>
                </a:solidFill>
                <a:effectLst>
                  <a:outerShdw blurRad="38100" dist="38100" dir="2700000" algn="tl">
                    <a:srgbClr val="C0C0C0"/>
                  </a:outerShdw>
                </a:effectLst>
                <a:latin typeface="楷体_GB2312" pitchFamily="49" charset="-122"/>
                <a:ea typeface="楷体_GB2312" pitchFamily="49" charset="-122"/>
              </a:rPr>
              <a:t>为确定一年中的第几天，需要一张每月的天数表，该表给出每个月份的天数。由于二月份的天数因闰年和平年有所不同，为处理方便，把月份天数表设计成一个二维数组。数组的</a:t>
            </a:r>
            <a:r>
              <a:rPr lang="en-US" altLang="zh-CN" sz="2800" b="1" dirty="0">
                <a:solidFill>
                  <a:schemeClr val="tx1"/>
                </a:solidFill>
                <a:effectLst>
                  <a:outerShdw blurRad="38100" dist="38100" dir="2700000" algn="tl">
                    <a:srgbClr val="C0C0C0"/>
                  </a:outerShdw>
                </a:effectLst>
                <a:latin typeface="楷体_GB2312" pitchFamily="49" charset="-122"/>
                <a:ea typeface="楷体_GB2312" pitchFamily="49" charset="-122"/>
              </a:rPr>
              <a:t>0</a:t>
            </a:r>
            <a:r>
              <a:rPr lang="zh-CN" altLang="en-US" sz="2800" b="1" dirty="0">
                <a:solidFill>
                  <a:schemeClr val="tx1"/>
                </a:solidFill>
                <a:effectLst>
                  <a:outerShdw blurRad="38100" dist="38100" dir="2700000" algn="tl">
                    <a:srgbClr val="C0C0C0"/>
                  </a:outerShdw>
                </a:effectLst>
                <a:latin typeface="楷体_GB2312" pitchFamily="49" charset="-122"/>
                <a:ea typeface="楷体_GB2312" pitchFamily="49" charset="-122"/>
              </a:rPr>
              <a:t>行给出平年各月份的天数，数组的</a:t>
            </a:r>
            <a:r>
              <a:rPr lang="en-US" altLang="zh-CN" sz="2800" b="1" dirty="0">
                <a:solidFill>
                  <a:schemeClr val="tx1"/>
                </a:solidFill>
                <a:effectLst>
                  <a:outerShdw blurRad="38100" dist="38100" dir="2700000" algn="tl">
                    <a:srgbClr val="C0C0C0"/>
                  </a:outerShdw>
                </a:effectLst>
                <a:latin typeface="楷体_GB2312" pitchFamily="49" charset="-122"/>
                <a:ea typeface="楷体_GB2312" pitchFamily="49" charset="-122"/>
              </a:rPr>
              <a:t>1</a:t>
            </a:r>
            <a:r>
              <a:rPr lang="zh-CN" altLang="en-US" sz="2800" b="1" dirty="0">
                <a:solidFill>
                  <a:schemeClr val="tx1"/>
                </a:solidFill>
                <a:effectLst>
                  <a:outerShdw blurRad="38100" dist="38100" dir="2700000" algn="tl">
                    <a:srgbClr val="C0C0C0"/>
                  </a:outerShdw>
                </a:effectLst>
                <a:latin typeface="楷体_GB2312" pitchFamily="49" charset="-122"/>
                <a:ea typeface="楷体_GB2312" pitchFamily="49" charset="-122"/>
              </a:rPr>
              <a:t>行给出闰年各月的天数。为了计算某月某日是这年的第几天，程序首先确定这一年是平年还是闰年，然后根据各月的天数表，将前几个月的天数与当月的日期累计，就得到该日期是该年的第几天。</a:t>
            </a:r>
            <a:br>
              <a:rPr lang="zh-CN" altLang="en-US" sz="2800" b="1" dirty="0">
                <a:solidFill>
                  <a:schemeClr val="tx1"/>
                </a:solidFill>
                <a:effectLst>
                  <a:outerShdw blurRad="38100" dist="38100" dir="2700000" algn="tl">
                    <a:srgbClr val="C0C0C0"/>
                  </a:outerShdw>
                </a:effectLst>
                <a:latin typeface="楷体_GB2312" pitchFamily="49" charset="-122"/>
                <a:ea typeface="楷体_GB2312" pitchFamily="49" charset="-122"/>
              </a:rPr>
            </a:br>
            <a:endParaRPr lang="zh-CN" altLang="en-US" sz="2800" b="1" dirty="0">
              <a:solidFill>
                <a:schemeClr val="tx1"/>
              </a:solidFill>
              <a:effectLst>
                <a:outerShdw blurRad="38100" dist="38100" dir="2700000" algn="tl">
                  <a:srgbClr val="C0C0C0"/>
                </a:outerShdw>
              </a:effectLst>
              <a:latin typeface="楷体_GB2312" pitchFamily="49" charset="-122"/>
              <a:ea typeface="楷体_GB2312" pitchFamily="49" charset="-122"/>
            </a:endParaRPr>
          </a:p>
        </p:txBody>
      </p:sp>
      <p:sp>
        <p:nvSpPr>
          <p:cNvPr id="5" name="灯片编号占位符 5"/>
          <p:cNvSpPr>
            <a:spLocks noGrp="1"/>
          </p:cNvSpPr>
          <p:nvPr>
            <p:ph type="sldNum" sz="quarter" idx="12"/>
          </p:nvPr>
        </p:nvSpPr>
        <p:spPr/>
        <p:txBody>
          <a:bodyPr/>
          <a:lstStyle/>
          <a:p>
            <a:pPr>
              <a:defRPr/>
            </a:pPr>
            <a:fld id="{0DB25466-B525-4B62-B400-A4C1D468B7ED}" type="slidenum">
              <a:rPr lang="en-US" altLang="zh-CN"/>
              <a:pPr>
                <a:defRPr/>
              </a:pPr>
              <a:t>71</a:t>
            </a:fld>
            <a:endParaRPr lang="en-US" altLang="zh-CN"/>
          </a:p>
        </p:txBody>
      </p:sp>
    </p:spTree>
  </p:cSld>
  <p:clrMapOvr>
    <a:masterClrMapping/>
  </p:clrMapOvr>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5554" name="Rectangle 2"/>
          <p:cNvSpPr>
            <a:spLocks noGrp="1" noChangeArrowheads="1"/>
          </p:cNvSpPr>
          <p:nvPr>
            <p:ph type="title"/>
          </p:nvPr>
        </p:nvSpPr>
        <p:spPr>
          <a:xfrm>
            <a:off x="323850" y="203200"/>
            <a:ext cx="8702675" cy="6178550"/>
          </a:xfrm>
        </p:spPr>
        <p:txBody>
          <a:bodyPr lIns="92075" tIns="46038" rIns="92075" bIns="46038">
            <a:normAutofit/>
          </a:bodyPr>
          <a:lstStyle/>
          <a:p>
            <a:pPr eaLnBrk="1" fontAlgn="auto" hangingPunct="1">
              <a:spcAft>
                <a:spcPts val="0"/>
              </a:spcAft>
              <a:defRPr/>
            </a:pPr>
            <a:r>
              <a:rPr lang="en-US" altLang="zh-CN" sz="2400" b="1" dirty="0">
                <a:solidFill>
                  <a:schemeClr val="tx1"/>
                </a:solidFill>
                <a:effectLst>
                  <a:outerShdw blurRad="38100" dist="38100" dir="2700000" algn="tl">
                    <a:srgbClr val="C0C0C0"/>
                  </a:outerShdw>
                </a:effectLst>
                <a:latin typeface="楷体_GB2312" pitchFamily="49" charset="-122"/>
                <a:ea typeface="楷体_GB2312" pitchFamily="49" charset="-122"/>
              </a:rPr>
              <a:t>#include  &lt;</a:t>
            </a:r>
            <a:r>
              <a:rPr lang="en-US" altLang="zh-CN" sz="2400" b="1" dirty="0" err="1">
                <a:solidFill>
                  <a:schemeClr val="tx1"/>
                </a:solidFill>
                <a:effectLst>
                  <a:outerShdw blurRad="38100" dist="38100" dir="2700000" algn="tl">
                    <a:srgbClr val="C0C0C0"/>
                  </a:outerShdw>
                </a:effectLst>
                <a:latin typeface="楷体_GB2312" pitchFamily="49" charset="-122"/>
                <a:ea typeface="楷体_GB2312" pitchFamily="49" charset="-122"/>
              </a:rPr>
              <a:t>stdio.h</a:t>
            </a:r>
            <a:r>
              <a:rPr lang="en-US" altLang="zh-CN" sz="2400" b="1" dirty="0">
                <a:solidFill>
                  <a:schemeClr val="tx1"/>
                </a:solidFill>
                <a:effectLst>
                  <a:outerShdw blurRad="38100" dist="38100" dir="2700000" algn="tl">
                    <a:srgbClr val="C0C0C0"/>
                  </a:outerShdw>
                </a:effectLst>
                <a:latin typeface="楷体_GB2312" pitchFamily="49" charset="-122"/>
                <a:ea typeface="楷体_GB2312" pitchFamily="49" charset="-122"/>
              </a:rPr>
              <a:t>&gt;</a:t>
            </a:r>
            <a:br>
              <a:rPr lang="en-US" altLang="zh-CN" sz="2400" b="1" dirty="0">
                <a:solidFill>
                  <a:schemeClr val="tx1"/>
                </a:solidFill>
                <a:effectLst>
                  <a:outerShdw blurRad="38100" dist="38100" dir="2700000" algn="tl">
                    <a:srgbClr val="C0C0C0"/>
                  </a:outerShdw>
                </a:effectLst>
                <a:latin typeface="楷体_GB2312" pitchFamily="49" charset="-122"/>
                <a:ea typeface="楷体_GB2312" pitchFamily="49" charset="-122"/>
              </a:rPr>
            </a:br>
            <a:r>
              <a:rPr lang="en-US" altLang="zh-CN" sz="2400" b="1" dirty="0" err="1">
                <a:solidFill>
                  <a:schemeClr val="tx1"/>
                </a:solidFill>
                <a:effectLst>
                  <a:outerShdw blurRad="38100" dist="38100" dir="2700000" algn="tl">
                    <a:srgbClr val="C0C0C0"/>
                  </a:outerShdw>
                </a:effectLst>
                <a:latin typeface="楷体_GB2312" pitchFamily="49" charset="-122"/>
                <a:ea typeface="楷体_GB2312" pitchFamily="49" charset="-122"/>
              </a:rPr>
              <a:t>int</a:t>
            </a:r>
            <a:r>
              <a:rPr lang="en-US" altLang="zh-CN" sz="2400" b="1" dirty="0">
                <a:solidFill>
                  <a:schemeClr val="tx1"/>
                </a:solidFill>
                <a:effectLst>
                  <a:outerShdw blurRad="38100" dist="38100" dir="2700000" algn="tl">
                    <a:srgbClr val="C0C0C0"/>
                  </a:outerShdw>
                </a:effectLst>
                <a:latin typeface="楷体_GB2312" pitchFamily="49" charset="-122"/>
                <a:ea typeface="楷体_GB2312" pitchFamily="49" charset="-122"/>
              </a:rPr>
              <a:t> </a:t>
            </a:r>
            <a:r>
              <a:rPr lang="en-US" altLang="zh-CN" sz="2400" b="1" dirty="0" err="1">
                <a:solidFill>
                  <a:schemeClr val="tx1"/>
                </a:solidFill>
                <a:effectLst>
                  <a:outerShdw blurRad="38100" dist="38100" dir="2700000" algn="tl">
                    <a:srgbClr val="C0C0C0"/>
                  </a:outerShdw>
                </a:effectLst>
                <a:latin typeface="楷体_GB2312" pitchFamily="49" charset="-122"/>
                <a:ea typeface="楷体_GB2312" pitchFamily="49" charset="-122"/>
              </a:rPr>
              <a:t>dayTable</a:t>
            </a:r>
            <a:r>
              <a:rPr lang="en-US" altLang="zh-CN" sz="2400" b="1" dirty="0">
                <a:solidFill>
                  <a:schemeClr val="tx1"/>
                </a:solidFill>
                <a:effectLst>
                  <a:outerShdw blurRad="38100" dist="38100" dir="2700000" algn="tl">
                    <a:srgbClr val="C0C0C0"/>
                  </a:outerShdw>
                </a:effectLst>
                <a:latin typeface="楷体_GB2312" pitchFamily="49" charset="-122"/>
                <a:ea typeface="楷体_GB2312" pitchFamily="49" charset="-122"/>
              </a:rPr>
              <a:t>[][12] =</a:t>
            </a:r>
            <a:br>
              <a:rPr lang="en-US" altLang="zh-CN" sz="2400" b="1" dirty="0">
                <a:solidFill>
                  <a:schemeClr val="tx1"/>
                </a:solidFill>
                <a:effectLst>
                  <a:outerShdw blurRad="38100" dist="38100" dir="2700000" algn="tl">
                    <a:srgbClr val="C0C0C0"/>
                  </a:outerShdw>
                </a:effectLst>
                <a:latin typeface="楷体_GB2312" pitchFamily="49" charset="-122"/>
                <a:ea typeface="楷体_GB2312" pitchFamily="49" charset="-122"/>
              </a:rPr>
            </a:br>
            <a:r>
              <a:rPr lang="en-US" altLang="zh-CN" sz="2400" b="1" dirty="0">
                <a:solidFill>
                  <a:schemeClr val="tx1"/>
                </a:solidFill>
                <a:effectLst>
                  <a:outerShdw blurRad="38100" dist="38100" dir="2700000" algn="tl">
                    <a:srgbClr val="C0C0C0"/>
                  </a:outerShdw>
                </a:effectLst>
                <a:latin typeface="楷体_GB2312" pitchFamily="49" charset="-122"/>
                <a:ea typeface="楷体_GB2312" pitchFamily="49" charset="-122"/>
              </a:rPr>
              <a:t>     {{31, </a:t>
            </a:r>
            <a:r>
              <a:rPr lang="en-US" altLang="zh-CN" sz="2400" b="1" dirty="0">
                <a:solidFill>
                  <a:srgbClr val="FF0000"/>
                </a:solidFill>
                <a:effectLst>
                  <a:outerShdw blurRad="38100" dist="38100" dir="2700000" algn="tl">
                    <a:srgbClr val="C0C0C0"/>
                  </a:outerShdw>
                </a:effectLst>
                <a:latin typeface="楷体_GB2312" pitchFamily="49" charset="-122"/>
                <a:ea typeface="楷体_GB2312" pitchFamily="49" charset="-122"/>
              </a:rPr>
              <a:t>28</a:t>
            </a:r>
            <a:r>
              <a:rPr lang="en-US" altLang="zh-CN" sz="2400" b="1" dirty="0">
                <a:solidFill>
                  <a:schemeClr val="tx1"/>
                </a:solidFill>
                <a:effectLst>
                  <a:outerShdw blurRad="38100" dist="38100" dir="2700000" algn="tl">
                    <a:srgbClr val="C0C0C0"/>
                  </a:outerShdw>
                </a:effectLst>
                <a:latin typeface="楷体_GB2312" pitchFamily="49" charset="-122"/>
                <a:ea typeface="楷体_GB2312" pitchFamily="49" charset="-122"/>
              </a:rPr>
              <a:t>, 31, 30, 31, 30, 31, 31, 30, 31, 30, 31},</a:t>
            </a:r>
            <a:br>
              <a:rPr lang="en-US" altLang="zh-CN" sz="2400" b="1" dirty="0">
                <a:solidFill>
                  <a:schemeClr val="tx1"/>
                </a:solidFill>
                <a:effectLst>
                  <a:outerShdw blurRad="38100" dist="38100" dir="2700000" algn="tl">
                    <a:srgbClr val="C0C0C0"/>
                  </a:outerShdw>
                </a:effectLst>
                <a:latin typeface="楷体_GB2312" pitchFamily="49" charset="-122"/>
                <a:ea typeface="楷体_GB2312" pitchFamily="49" charset="-122"/>
              </a:rPr>
            </a:br>
            <a:r>
              <a:rPr lang="en-US" altLang="zh-CN" sz="2400" b="1" dirty="0">
                <a:solidFill>
                  <a:schemeClr val="tx1"/>
                </a:solidFill>
                <a:effectLst>
                  <a:outerShdw blurRad="38100" dist="38100" dir="2700000" algn="tl">
                    <a:srgbClr val="C0C0C0"/>
                  </a:outerShdw>
                </a:effectLst>
                <a:latin typeface="楷体_GB2312" pitchFamily="49" charset="-122"/>
                <a:ea typeface="楷体_GB2312" pitchFamily="49" charset="-122"/>
              </a:rPr>
              <a:t>      {31, </a:t>
            </a:r>
            <a:r>
              <a:rPr lang="en-US" altLang="zh-CN" sz="2400" b="1" dirty="0">
                <a:solidFill>
                  <a:srgbClr val="FF0000"/>
                </a:solidFill>
                <a:effectLst>
                  <a:outerShdw blurRad="38100" dist="38100" dir="2700000" algn="tl">
                    <a:srgbClr val="C0C0C0"/>
                  </a:outerShdw>
                </a:effectLst>
                <a:latin typeface="楷体_GB2312" pitchFamily="49" charset="-122"/>
                <a:ea typeface="楷体_GB2312" pitchFamily="49" charset="-122"/>
              </a:rPr>
              <a:t>29</a:t>
            </a:r>
            <a:r>
              <a:rPr lang="en-US" altLang="zh-CN" sz="2400" b="1" dirty="0">
                <a:solidFill>
                  <a:schemeClr val="tx1"/>
                </a:solidFill>
                <a:effectLst>
                  <a:outerShdw blurRad="38100" dist="38100" dir="2700000" algn="tl">
                    <a:srgbClr val="C0C0C0"/>
                  </a:outerShdw>
                </a:effectLst>
                <a:latin typeface="楷体_GB2312" pitchFamily="49" charset="-122"/>
                <a:ea typeface="楷体_GB2312" pitchFamily="49" charset="-122"/>
              </a:rPr>
              <a:t>, 31, 30, 31, 30, 31, 31, 30, 31, 30, 31}};</a:t>
            </a:r>
            <a:br>
              <a:rPr lang="en-US" altLang="zh-CN" sz="2400" b="1" dirty="0">
                <a:solidFill>
                  <a:schemeClr val="tx1"/>
                </a:solidFill>
                <a:effectLst>
                  <a:outerShdw blurRad="38100" dist="38100" dir="2700000" algn="tl">
                    <a:srgbClr val="C0C0C0"/>
                  </a:outerShdw>
                </a:effectLst>
                <a:latin typeface="楷体_GB2312" pitchFamily="49" charset="-122"/>
                <a:ea typeface="楷体_GB2312" pitchFamily="49" charset="-122"/>
              </a:rPr>
            </a:br>
            <a:r>
              <a:rPr lang="en-US" altLang="zh-CN" sz="2400" b="1" dirty="0" err="1">
                <a:solidFill>
                  <a:schemeClr val="tx1"/>
                </a:solidFill>
                <a:effectLst>
                  <a:outerShdw blurRad="38100" dist="38100" dir="2700000" algn="tl">
                    <a:srgbClr val="C0C0C0"/>
                  </a:outerShdw>
                </a:effectLst>
                <a:latin typeface="楷体_GB2312" pitchFamily="49" charset="-122"/>
                <a:ea typeface="楷体_GB2312" pitchFamily="49" charset="-122"/>
              </a:rPr>
              <a:t>int</a:t>
            </a:r>
            <a:r>
              <a:rPr lang="en-US" altLang="zh-CN" sz="2400" b="1" dirty="0">
                <a:solidFill>
                  <a:schemeClr val="tx1"/>
                </a:solidFill>
                <a:effectLst>
                  <a:outerShdw blurRad="38100" dist="38100" dir="2700000" algn="tl">
                    <a:srgbClr val="C0C0C0"/>
                  </a:outerShdw>
                </a:effectLst>
                <a:latin typeface="楷体_GB2312" pitchFamily="49" charset="-122"/>
                <a:ea typeface="楷体_GB2312" pitchFamily="49" charset="-122"/>
              </a:rPr>
              <a:t> main()</a:t>
            </a:r>
            <a:br>
              <a:rPr lang="en-US" altLang="zh-CN" sz="2400" b="1" dirty="0">
                <a:solidFill>
                  <a:schemeClr val="tx1"/>
                </a:solidFill>
                <a:effectLst>
                  <a:outerShdw blurRad="38100" dist="38100" dir="2700000" algn="tl">
                    <a:srgbClr val="C0C0C0"/>
                  </a:outerShdw>
                </a:effectLst>
                <a:latin typeface="楷体_GB2312" pitchFamily="49" charset="-122"/>
                <a:ea typeface="楷体_GB2312" pitchFamily="49" charset="-122"/>
              </a:rPr>
            </a:br>
            <a:r>
              <a:rPr lang="en-US" altLang="zh-CN" sz="2400" b="1" dirty="0">
                <a:solidFill>
                  <a:schemeClr val="tx1"/>
                </a:solidFill>
                <a:effectLst>
                  <a:outerShdw blurRad="38100" dist="38100" dir="2700000" algn="tl">
                    <a:srgbClr val="C0C0C0"/>
                  </a:outerShdw>
                </a:effectLst>
                <a:latin typeface="楷体_GB2312" pitchFamily="49" charset="-122"/>
                <a:ea typeface="楷体_GB2312" pitchFamily="49" charset="-122"/>
              </a:rPr>
              <a:t>{  </a:t>
            </a:r>
            <a:r>
              <a:rPr lang="en-US" altLang="zh-CN" sz="2400" b="1" dirty="0" err="1">
                <a:solidFill>
                  <a:schemeClr val="tx1"/>
                </a:solidFill>
                <a:effectLst>
                  <a:outerShdw blurRad="38100" dist="38100" dir="2700000" algn="tl">
                    <a:srgbClr val="C0C0C0"/>
                  </a:outerShdw>
                </a:effectLst>
                <a:latin typeface="楷体_GB2312" pitchFamily="49" charset="-122"/>
                <a:ea typeface="楷体_GB2312" pitchFamily="49" charset="-122"/>
              </a:rPr>
              <a:t>int</a:t>
            </a:r>
            <a:r>
              <a:rPr lang="en-US" altLang="zh-CN" sz="2400" b="1" dirty="0">
                <a:solidFill>
                  <a:schemeClr val="tx1"/>
                </a:solidFill>
                <a:effectLst>
                  <a:outerShdw blurRad="38100" dist="38100" dir="2700000" algn="tl">
                    <a:srgbClr val="C0C0C0"/>
                  </a:outerShdw>
                </a:effectLst>
                <a:latin typeface="楷体_GB2312" pitchFamily="49" charset="-122"/>
                <a:ea typeface="楷体_GB2312" pitchFamily="49" charset="-122"/>
              </a:rPr>
              <a:t> year, month, day, leap, </a:t>
            </a:r>
            <a:r>
              <a:rPr lang="en-US" altLang="zh-CN" sz="2400" b="1" dirty="0" err="1">
                <a:solidFill>
                  <a:schemeClr val="tx1"/>
                </a:solidFill>
                <a:effectLst>
                  <a:outerShdw blurRad="38100" dist="38100" dir="2700000" algn="tl">
                    <a:srgbClr val="C0C0C0"/>
                  </a:outerShdw>
                </a:effectLst>
                <a:latin typeface="楷体_GB2312" pitchFamily="49" charset="-122"/>
                <a:ea typeface="楷体_GB2312" pitchFamily="49" charset="-122"/>
              </a:rPr>
              <a:t>i</a:t>
            </a:r>
            <a:r>
              <a:rPr lang="en-US" altLang="zh-CN" sz="2400" b="1" dirty="0">
                <a:solidFill>
                  <a:schemeClr val="tx1"/>
                </a:solidFill>
                <a:effectLst>
                  <a:outerShdw blurRad="38100" dist="38100" dir="2700000" algn="tl">
                    <a:srgbClr val="C0C0C0"/>
                  </a:outerShdw>
                </a:effectLst>
                <a:latin typeface="楷体_GB2312" pitchFamily="49" charset="-122"/>
                <a:ea typeface="楷体_GB2312" pitchFamily="49" charset="-122"/>
              </a:rPr>
              <a:t>;</a:t>
            </a:r>
            <a:br>
              <a:rPr lang="en-US" altLang="zh-CN" sz="2400" b="1" dirty="0">
                <a:solidFill>
                  <a:schemeClr val="tx1"/>
                </a:solidFill>
                <a:effectLst>
                  <a:outerShdw blurRad="38100" dist="38100" dir="2700000" algn="tl">
                    <a:srgbClr val="C0C0C0"/>
                  </a:outerShdw>
                </a:effectLst>
                <a:latin typeface="楷体_GB2312" pitchFamily="49" charset="-122"/>
                <a:ea typeface="楷体_GB2312" pitchFamily="49" charset="-122"/>
              </a:rPr>
            </a:br>
            <a:r>
              <a:rPr lang="en-US" altLang="zh-CN" sz="2400" b="1" dirty="0">
                <a:solidFill>
                  <a:schemeClr val="tx1"/>
                </a:solidFill>
                <a:effectLst>
                  <a:outerShdw blurRad="38100" dist="38100" dir="2700000" algn="tl">
                    <a:srgbClr val="C0C0C0"/>
                  </a:outerShdw>
                </a:effectLst>
                <a:latin typeface="楷体_GB2312" pitchFamily="49" charset="-122"/>
                <a:ea typeface="楷体_GB2312" pitchFamily="49" charset="-122"/>
              </a:rPr>
              <a:t>   </a:t>
            </a:r>
            <a:r>
              <a:rPr lang="en-US" altLang="zh-CN" sz="2400" b="1" dirty="0" err="1">
                <a:solidFill>
                  <a:schemeClr val="tx1"/>
                </a:solidFill>
                <a:effectLst>
                  <a:outerShdw blurRad="38100" dist="38100" dir="2700000" algn="tl">
                    <a:srgbClr val="C0C0C0"/>
                  </a:outerShdw>
                </a:effectLst>
                <a:latin typeface="楷体_GB2312" pitchFamily="49" charset="-122"/>
                <a:ea typeface="楷体_GB2312" pitchFamily="49" charset="-122"/>
              </a:rPr>
              <a:t>printf</a:t>
            </a:r>
            <a:r>
              <a:rPr lang="en-US" altLang="zh-CN" sz="2400" b="1" dirty="0">
                <a:solidFill>
                  <a:schemeClr val="tx1"/>
                </a:solidFill>
                <a:effectLst>
                  <a:outerShdw blurRad="38100" dist="38100" dir="2700000" algn="tl">
                    <a:srgbClr val="C0C0C0"/>
                  </a:outerShdw>
                </a:effectLst>
                <a:latin typeface="楷体_GB2312" pitchFamily="49" charset="-122"/>
                <a:ea typeface="楷体_GB2312" pitchFamily="49" charset="-122"/>
              </a:rPr>
              <a:t>("</a:t>
            </a:r>
            <a:r>
              <a:rPr lang="zh-CN" altLang="en-US" sz="2400" b="1" dirty="0">
                <a:solidFill>
                  <a:schemeClr val="tx1"/>
                </a:solidFill>
                <a:effectLst>
                  <a:outerShdw blurRad="38100" dist="38100" dir="2700000" algn="tl">
                    <a:srgbClr val="C0C0C0"/>
                  </a:outerShdw>
                </a:effectLst>
                <a:latin typeface="楷体_GB2312" pitchFamily="49" charset="-122"/>
                <a:ea typeface="楷体_GB2312" pitchFamily="49" charset="-122"/>
              </a:rPr>
              <a:t>输入年、月、日</a:t>
            </a:r>
            <a:r>
              <a:rPr lang="en-US" altLang="zh-CN" sz="2400" b="1" dirty="0">
                <a:solidFill>
                  <a:schemeClr val="tx1"/>
                </a:solidFill>
                <a:effectLst>
                  <a:outerShdw blurRad="38100" dist="38100" dir="2700000" algn="tl">
                    <a:srgbClr val="C0C0C0"/>
                  </a:outerShdw>
                </a:effectLst>
                <a:latin typeface="楷体_GB2312" pitchFamily="49" charset="-122"/>
                <a:ea typeface="楷体_GB2312" pitchFamily="49" charset="-122"/>
              </a:rPr>
              <a:t>\n");</a:t>
            </a:r>
            <a:br>
              <a:rPr lang="en-US" altLang="zh-CN" sz="2400" b="1" dirty="0">
                <a:solidFill>
                  <a:schemeClr val="tx1"/>
                </a:solidFill>
                <a:effectLst>
                  <a:outerShdw blurRad="38100" dist="38100" dir="2700000" algn="tl">
                    <a:srgbClr val="C0C0C0"/>
                  </a:outerShdw>
                </a:effectLst>
                <a:latin typeface="楷体_GB2312" pitchFamily="49" charset="-122"/>
                <a:ea typeface="楷体_GB2312" pitchFamily="49" charset="-122"/>
              </a:rPr>
            </a:br>
            <a:r>
              <a:rPr lang="en-US" altLang="zh-CN" sz="2400" b="1" dirty="0">
                <a:solidFill>
                  <a:schemeClr val="tx1"/>
                </a:solidFill>
                <a:effectLst>
                  <a:outerShdw blurRad="38100" dist="38100" dir="2700000" algn="tl">
                    <a:srgbClr val="C0C0C0"/>
                  </a:outerShdw>
                </a:effectLst>
                <a:latin typeface="楷体_GB2312" pitchFamily="49" charset="-122"/>
                <a:ea typeface="楷体_GB2312" pitchFamily="49" charset="-122"/>
              </a:rPr>
              <a:t>   </a:t>
            </a:r>
            <a:r>
              <a:rPr lang="en-US" altLang="zh-CN" sz="2400" b="1" dirty="0" err="1">
                <a:solidFill>
                  <a:schemeClr val="tx1"/>
                </a:solidFill>
                <a:effectLst>
                  <a:outerShdw blurRad="38100" dist="38100" dir="2700000" algn="tl">
                    <a:srgbClr val="C0C0C0"/>
                  </a:outerShdw>
                </a:effectLst>
                <a:latin typeface="楷体_GB2312" pitchFamily="49" charset="-122"/>
                <a:ea typeface="楷体_GB2312" pitchFamily="49" charset="-122"/>
              </a:rPr>
              <a:t>scanf</a:t>
            </a:r>
            <a:r>
              <a:rPr lang="en-US" altLang="zh-CN" sz="2400" b="1" dirty="0">
                <a:solidFill>
                  <a:schemeClr val="tx1"/>
                </a:solidFill>
                <a:effectLst>
                  <a:outerShdw blurRad="38100" dist="38100" dir="2700000" algn="tl">
                    <a:srgbClr val="C0C0C0"/>
                  </a:outerShdw>
                </a:effectLst>
                <a:latin typeface="楷体_GB2312" pitchFamily="49" charset="-122"/>
                <a:ea typeface="楷体_GB2312" pitchFamily="49" charset="-122"/>
              </a:rPr>
              <a:t>("%</a:t>
            </a:r>
            <a:r>
              <a:rPr lang="en-US" altLang="zh-CN" sz="2400" b="1" dirty="0" err="1">
                <a:solidFill>
                  <a:schemeClr val="tx1"/>
                </a:solidFill>
                <a:effectLst>
                  <a:outerShdw blurRad="38100" dist="38100" dir="2700000" algn="tl">
                    <a:srgbClr val="C0C0C0"/>
                  </a:outerShdw>
                </a:effectLst>
                <a:latin typeface="楷体_GB2312" pitchFamily="49" charset="-122"/>
                <a:ea typeface="楷体_GB2312" pitchFamily="49" charset="-122"/>
              </a:rPr>
              <a:t>d%d%d</a:t>
            </a:r>
            <a:r>
              <a:rPr lang="en-US" altLang="zh-CN" sz="2400" b="1" dirty="0">
                <a:solidFill>
                  <a:schemeClr val="tx1"/>
                </a:solidFill>
                <a:effectLst>
                  <a:outerShdw blurRad="38100" dist="38100" dir="2700000" algn="tl">
                    <a:srgbClr val="C0C0C0"/>
                  </a:outerShdw>
                </a:effectLst>
                <a:latin typeface="楷体_GB2312" pitchFamily="49" charset="-122"/>
                <a:ea typeface="楷体_GB2312" pitchFamily="49" charset="-122"/>
              </a:rPr>
              <a:t>", &amp;year, &amp;month, &amp;day);</a:t>
            </a:r>
            <a:br>
              <a:rPr lang="en-US" altLang="zh-CN" sz="2400" b="1" dirty="0">
                <a:solidFill>
                  <a:schemeClr val="tx1"/>
                </a:solidFill>
                <a:effectLst>
                  <a:outerShdw blurRad="38100" dist="38100" dir="2700000" algn="tl">
                    <a:srgbClr val="C0C0C0"/>
                  </a:outerShdw>
                </a:effectLst>
                <a:latin typeface="楷体_GB2312" pitchFamily="49" charset="-122"/>
                <a:ea typeface="楷体_GB2312" pitchFamily="49" charset="-122"/>
              </a:rPr>
            </a:br>
            <a:r>
              <a:rPr lang="en-US" altLang="zh-CN" sz="2400" b="1" dirty="0">
                <a:solidFill>
                  <a:schemeClr val="tx1"/>
                </a:solidFill>
                <a:effectLst>
                  <a:outerShdw blurRad="38100" dist="38100" dir="2700000" algn="tl">
                    <a:srgbClr val="C0C0C0"/>
                  </a:outerShdw>
                </a:effectLst>
                <a:latin typeface="楷体_GB2312" pitchFamily="49" charset="-122"/>
                <a:ea typeface="楷体_GB2312" pitchFamily="49" charset="-122"/>
              </a:rPr>
              <a:t>   leap = year%4  == 0 &amp;&amp; year%100 || year%400 == 0;</a:t>
            </a:r>
            <a:br>
              <a:rPr lang="en-US" altLang="zh-CN" sz="2400" b="1" dirty="0">
                <a:solidFill>
                  <a:schemeClr val="tx1"/>
                </a:solidFill>
                <a:effectLst>
                  <a:outerShdw blurRad="38100" dist="38100" dir="2700000" algn="tl">
                    <a:srgbClr val="C0C0C0"/>
                  </a:outerShdw>
                </a:effectLst>
                <a:latin typeface="楷体_GB2312" pitchFamily="49" charset="-122"/>
                <a:ea typeface="楷体_GB2312" pitchFamily="49" charset="-122"/>
              </a:rPr>
            </a:br>
            <a:r>
              <a:rPr lang="en-US" altLang="zh-CN" sz="2400" b="1" dirty="0">
                <a:solidFill>
                  <a:schemeClr val="tx1"/>
                </a:solidFill>
                <a:effectLst>
                  <a:outerShdw blurRad="38100" dist="38100" dir="2700000" algn="tl">
                    <a:srgbClr val="C0C0C0"/>
                  </a:outerShdw>
                </a:effectLst>
                <a:latin typeface="楷体_GB2312" pitchFamily="49" charset="-122"/>
                <a:ea typeface="楷体_GB2312" pitchFamily="49" charset="-122"/>
              </a:rPr>
              <a:t/>
            </a:r>
            <a:br>
              <a:rPr lang="en-US" altLang="zh-CN" sz="2400" b="1" dirty="0">
                <a:solidFill>
                  <a:schemeClr val="tx1"/>
                </a:solidFill>
                <a:effectLst>
                  <a:outerShdw blurRad="38100" dist="38100" dir="2700000" algn="tl">
                    <a:srgbClr val="C0C0C0"/>
                  </a:outerShdw>
                </a:effectLst>
                <a:latin typeface="楷体_GB2312" pitchFamily="49" charset="-122"/>
                <a:ea typeface="楷体_GB2312" pitchFamily="49" charset="-122"/>
              </a:rPr>
            </a:br>
            <a:r>
              <a:rPr lang="en-US" altLang="zh-CN" sz="2400" b="1" dirty="0">
                <a:solidFill>
                  <a:schemeClr val="tx1"/>
                </a:solidFill>
                <a:effectLst>
                  <a:outerShdw blurRad="38100" dist="38100" dir="2700000" algn="tl">
                    <a:srgbClr val="C0C0C0"/>
                  </a:outerShdw>
                </a:effectLst>
                <a:latin typeface="楷体_GB2312" pitchFamily="49" charset="-122"/>
                <a:ea typeface="楷体_GB2312" pitchFamily="49" charset="-122"/>
              </a:rPr>
              <a:t>   for(</a:t>
            </a:r>
            <a:r>
              <a:rPr lang="en-US" altLang="zh-CN" sz="2400" b="1" dirty="0" err="1">
                <a:solidFill>
                  <a:schemeClr val="tx1"/>
                </a:solidFill>
                <a:effectLst>
                  <a:outerShdw blurRad="38100" dist="38100" dir="2700000" algn="tl">
                    <a:srgbClr val="C0C0C0"/>
                  </a:outerShdw>
                </a:effectLst>
                <a:latin typeface="楷体_GB2312" pitchFamily="49" charset="-122"/>
                <a:ea typeface="楷体_GB2312" pitchFamily="49" charset="-122"/>
              </a:rPr>
              <a:t>i</a:t>
            </a:r>
            <a:r>
              <a:rPr lang="en-US" altLang="zh-CN" sz="2400" b="1" dirty="0">
                <a:solidFill>
                  <a:schemeClr val="tx1"/>
                </a:solidFill>
                <a:effectLst>
                  <a:outerShdw blurRad="38100" dist="38100" dir="2700000" algn="tl">
                    <a:srgbClr val="C0C0C0"/>
                  </a:outerShdw>
                </a:effectLst>
                <a:latin typeface="楷体_GB2312" pitchFamily="49" charset="-122"/>
                <a:ea typeface="楷体_GB2312" pitchFamily="49" charset="-122"/>
              </a:rPr>
              <a:t> = 0; </a:t>
            </a:r>
            <a:r>
              <a:rPr lang="en-US" altLang="zh-CN" sz="2400" b="1" dirty="0" err="1">
                <a:solidFill>
                  <a:schemeClr val="tx1"/>
                </a:solidFill>
                <a:effectLst>
                  <a:outerShdw blurRad="38100" dist="38100" dir="2700000" algn="tl">
                    <a:srgbClr val="C0C0C0"/>
                  </a:outerShdw>
                </a:effectLst>
                <a:latin typeface="楷体_GB2312" pitchFamily="49" charset="-122"/>
                <a:ea typeface="楷体_GB2312" pitchFamily="49" charset="-122"/>
              </a:rPr>
              <a:t>i</a:t>
            </a:r>
            <a:r>
              <a:rPr lang="en-US" altLang="zh-CN" sz="2400" b="1" dirty="0">
                <a:solidFill>
                  <a:schemeClr val="tx1"/>
                </a:solidFill>
                <a:effectLst>
                  <a:outerShdw blurRad="38100" dist="38100" dir="2700000" algn="tl">
                    <a:srgbClr val="C0C0C0"/>
                  </a:outerShdw>
                </a:effectLst>
                <a:latin typeface="楷体_GB2312" pitchFamily="49" charset="-122"/>
                <a:ea typeface="楷体_GB2312" pitchFamily="49" charset="-122"/>
              </a:rPr>
              <a:t> &lt; month-1; </a:t>
            </a:r>
            <a:r>
              <a:rPr lang="en-US" altLang="zh-CN" sz="2400" b="1" dirty="0" err="1">
                <a:solidFill>
                  <a:schemeClr val="tx1"/>
                </a:solidFill>
                <a:effectLst>
                  <a:outerShdw blurRad="38100" dist="38100" dir="2700000" algn="tl">
                    <a:srgbClr val="C0C0C0"/>
                  </a:outerShdw>
                </a:effectLst>
                <a:latin typeface="楷体_GB2312" pitchFamily="49" charset="-122"/>
                <a:ea typeface="楷体_GB2312" pitchFamily="49" charset="-122"/>
              </a:rPr>
              <a:t>i</a:t>
            </a:r>
            <a:r>
              <a:rPr lang="en-US" altLang="zh-CN" sz="2400" b="1" dirty="0">
                <a:solidFill>
                  <a:schemeClr val="tx1"/>
                </a:solidFill>
                <a:effectLst>
                  <a:outerShdw blurRad="38100" dist="38100" dir="2700000" algn="tl">
                    <a:srgbClr val="C0C0C0"/>
                  </a:outerShdw>
                </a:effectLst>
                <a:latin typeface="楷体_GB2312" pitchFamily="49" charset="-122"/>
                <a:ea typeface="楷体_GB2312" pitchFamily="49" charset="-122"/>
              </a:rPr>
              <a:t>++)</a:t>
            </a:r>
            <a:br>
              <a:rPr lang="en-US" altLang="zh-CN" sz="2400" b="1" dirty="0">
                <a:solidFill>
                  <a:schemeClr val="tx1"/>
                </a:solidFill>
                <a:effectLst>
                  <a:outerShdw blurRad="38100" dist="38100" dir="2700000" algn="tl">
                    <a:srgbClr val="C0C0C0"/>
                  </a:outerShdw>
                </a:effectLst>
                <a:latin typeface="楷体_GB2312" pitchFamily="49" charset="-122"/>
                <a:ea typeface="楷体_GB2312" pitchFamily="49" charset="-122"/>
              </a:rPr>
            </a:br>
            <a:r>
              <a:rPr lang="en-US" altLang="zh-CN" sz="2400" b="1" dirty="0">
                <a:solidFill>
                  <a:schemeClr val="tx1"/>
                </a:solidFill>
                <a:effectLst>
                  <a:outerShdw blurRad="38100" dist="38100" dir="2700000" algn="tl">
                    <a:srgbClr val="C0C0C0"/>
                  </a:outerShdw>
                </a:effectLst>
                <a:latin typeface="楷体_GB2312" pitchFamily="49" charset="-122"/>
                <a:ea typeface="楷体_GB2312" pitchFamily="49" charset="-122"/>
              </a:rPr>
              <a:t>         day += </a:t>
            </a:r>
            <a:r>
              <a:rPr lang="en-US" altLang="zh-CN" sz="2400" b="1" dirty="0" err="1">
                <a:solidFill>
                  <a:schemeClr val="tx1"/>
                </a:solidFill>
                <a:effectLst>
                  <a:outerShdw blurRad="38100" dist="38100" dir="2700000" algn="tl">
                    <a:srgbClr val="C0C0C0"/>
                  </a:outerShdw>
                </a:effectLst>
                <a:latin typeface="楷体_GB2312" pitchFamily="49" charset="-122"/>
                <a:ea typeface="楷体_GB2312" pitchFamily="49" charset="-122"/>
              </a:rPr>
              <a:t>dayTable</a:t>
            </a:r>
            <a:r>
              <a:rPr lang="en-US" altLang="zh-CN" sz="2400" b="1" dirty="0">
                <a:solidFill>
                  <a:schemeClr val="tx1"/>
                </a:solidFill>
                <a:effectLst>
                  <a:outerShdw blurRad="38100" dist="38100" dir="2700000" algn="tl">
                    <a:srgbClr val="C0C0C0"/>
                  </a:outerShdw>
                </a:effectLst>
                <a:latin typeface="楷体_GB2312" pitchFamily="49" charset="-122"/>
                <a:ea typeface="楷体_GB2312" pitchFamily="49" charset="-122"/>
              </a:rPr>
              <a:t>[leap][</a:t>
            </a:r>
            <a:r>
              <a:rPr lang="en-US" altLang="zh-CN" sz="2400" b="1" dirty="0" err="1">
                <a:solidFill>
                  <a:schemeClr val="tx1"/>
                </a:solidFill>
                <a:effectLst>
                  <a:outerShdw blurRad="38100" dist="38100" dir="2700000" algn="tl">
                    <a:srgbClr val="C0C0C0"/>
                  </a:outerShdw>
                </a:effectLst>
                <a:latin typeface="楷体_GB2312" pitchFamily="49" charset="-122"/>
                <a:ea typeface="楷体_GB2312" pitchFamily="49" charset="-122"/>
              </a:rPr>
              <a:t>i</a:t>
            </a:r>
            <a:r>
              <a:rPr lang="en-US" altLang="zh-CN" sz="2400" b="1" dirty="0">
                <a:solidFill>
                  <a:schemeClr val="tx1"/>
                </a:solidFill>
                <a:effectLst>
                  <a:outerShdw blurRad="38100" dist="38100" dir="2700000" algn="tl">
                    <a:srgbClr val="C0C0C0"/>
                  </a:outerShdw>
                </a:effectLst>
                <a:latin typeface="楷体_GB2312" pitchFamily="49" charset="-122"/>
                <a:ea typeface="楷体_GB2312" pitchFamily="49" charset="-122"/>
              </a:rPr>
              <a:t>];</a:t>
            </a:r>
            <a:br>
              <a:rPr lang="en-US" altLang="zh-CN" sz="2400" b="1" dirty="0">
                <a:solidFill>
                  <a:schemeClr val="tx1"/>
                </a:solidFill>
                <a:effectLst>
                  <a:outerShdw blurRad="38100" dist="38100" dir="2700000" algn="tl">
                    <a:srgbClr val="C0C0C0"/>
                  </a:outerShdw>
                </a:effectLst>
                <a:latin typeface="楷体_GB2312" pitchFamily="49" charset="-122"/>
                <a:ea typeface="楷体_GB2312" pitchFamily="49" charset="-122"/>
              </a:rPr>
            </a:br>
            <a:r>
              <a:rPr lang="en-US" altLang="zh-CN" sz="2400" b="1" dirty="0">
                <a:solidFill>
                  <a:schemeClr val="tx1"/>
                </a:solidFill>
                <a:effectLst>
                  <a:outerShdw blurRad="38100" dist="38100" dir="2700000" algn="tl">
                    <a:srgbClr val="C0C0C0"/>
                  </a:outerShdw>
                </a:effectLst>
                <a:latin typeface="楷体_GB2312" pitchFamily="49" charset="-122"/>
                <a:ea typeface="楷体_GB2312" pitchFamily="49" charset="-122"/>
              </a:rPr>
              <a:t>   </a:t>
            </a:r>
            <a:r>
              <a:rPr lang="en-US" altLang="zh-CN" sz="2400" b="1" dirty="0" err="1">
                <a:solidFill>
                  <a:schemeClr val="tx1"/>
                </a:solidFill>
                <a:effectLst>
                  <a:outerShdw blurRad="38100" dist="38100" dir="2700000" algn="tl">
                    <a:srgbClr val="C0C0C0"/>
                  </a:outerShdw>
                </a:effectLst>
                <a:latin typeface="楷体_GB2312" pitchFamily="49" charset="-122"/>
                <a:ea typeface="楷体_GB2312" pitchFamily="49" charset="-122"/>
              </a:rPr>
              <a:t>printf</a:t>
            </a:r>
            <a:r>
              <a:rPr lang="en-US" altLang="zh-CN" sz="2400" b="1" dirty="0">
                <a:solidFill>
                  <a:schemeClr val="tx1"/>
                </a:solidFill>
                <a:effectLst>
                  <a:outerShdw blurRad="38100" dist="38100" dir="2700000" algn="tl">
                    <a:srgbClr val="C0C0C0"/>
                  </a:outerShdw>
                </a:effectLst>
                <a:latin typeface="楷体_GB2312" pitchFamily="49" charset="-122"/>
                <a:ea typeface="楷体_GB2312" pitchFamily="49" charset="-122"/>
              </a:rPr>
              <a:t>("\n</a:t>
            </a:r>
            <a:r>
              <a:rPr lang="zh-CN" altLang="en-US" sz="2400" b="1" dirty="0">
                <a:solidFill>
                  <a:schemeClr val="tx1"/>
                </a:solidFill>
                <a:effectLst>
                  <a:outerShdw blurRad="38100" dist="38100" dir="2700000" algn="tl">
                    <a:srgbClr val="C0C0C0"/>
                  </a:outerShdw>
                </a:effectLst>
                <a:latin typeface="楷体_GB2312" pitchFamily="49" charset="-122"/>
                <a:ea typeface="楷体_GB2312" pitchFamily="49" charset="-122"/>
              </a:rPr>
              <a:t>这一天是年中的第</a:t>
            </a:r>
            <a:r>
              <a:rPr lang="en-US" altLang="zh-CN" sz="2400" b="1" dirty="0">
                <a:solidFill>
                  <a:schemeClr val="tx1"/>
                </a:solidFill>
                <a:effectLst>
                  <a:outerShdw blurRad="38100" dist="38100" dir="2700000" algn="tl">
                    <a:srgbClr val="C0C0C0"/>
                  </a:outerShdw>
                </a:effectLst>
                <a:latin typeface="楷体_GB2312" pitchFamily="49" charset="-122"/>
                <a:ea typeface="楷体_GB2312" pitchFamily="49" charset="-122"/>
              </a:rPr>
              <a:t>%d</a:t>
            </a:r>
            <a:r>
              <a:rPr lang="zh-CN" altLang="en-US" sz="2400" b="1" dirty="0">
                <a:solidFill>
                  <a:schemeClr val="tx1"/>
                </a:solidFill>
                <a:effectLst>
                  <a:outerShdw blurRad="38100" dist="38100" dir="2700000" algn="tl">
                    <a:srgbClr val="C0C0C0"/>
                  </a:outerShdw>
                </a:effectLst>
                <a:latin typeface="楷体_GB2312" pitchFamily="49" charset="-122"/>
                <a:ea typeface="楷体_GB2312" pitchFamily="49" charset="-122"/>
              </a:rPr>
              <a:t>天。</a:t>
            </a:r>
            <a:r>
              <a:rPr lang="en-US" altLang="zh-CN" sz="2400" b="1" dirty="0">
                <a:solidFill>
                  <a:schemeClr val="tx1"/>
                </a:solidFill>
                <a:effectLst>
                  <a:outerShdw blurRad="38100" dist="38100" dir="2700000" algn="tl">
                    <a:srgbClr val="C0C0C0"/>
                  </a:outerShdw>
                </a:effectLst>
                <a:latin typeface="楷体_GB2312" pitchFamily="49" charset="-122"/>
                <a:ea typeface="楷体_GB2312" pitchFamily="49" charset="-122"/>
              </a:rPr>
              <a:t>\n", day);</a:t>
            </a:r>
            <a:br>
              <a:rPr lang="en-US" altLang="zh-CN" sz="2400" b="1" dirty="0">
                <a:solidFill>
                  <a:schemeClr val="tx1"/>
                </a:solidFill>
                <a:effectLst>
                  <a:outerShdw blurRad="38100" dist="38100" dir="2700000" algn="tl">
                    <a:srgbClr val="C0C0C0"/>
                  </a:outerShdw>
                </a:effectLst>
                <a:latin typeface="楷体_GB2312" pitchFamily="49" charset="-122"/>
                <a:ea typeface="楷体_GB2312" pitchFamily="49" charset="-122"/>
              </a:rPr>
            </a:br>
            <a:r>
              <a:rPr lang="en-US" altLang="zh-CN" sz="2400" b="1" dirty="0">
                <a:solidFill>
                  <a:schemeClr val="tx1"/>
                </a:solidFill>
                <a:effectLst>
                  <a:outerShdw blurRad="38100" dist="38100" dir="2700000" algn="tl">
                    <a:srgbClr val="C0C0C0"/>
                  </a:outerShdw>
                </a:effectLst>
                <a:latin typeface="楷体_GB2312" pitchFamily="49" charset="-122"/>
                <a:ea typeface="楷体_GB2312" pitchFamily="49" charset="-122"/>
              </a:rPr>
              <a:t>   return 0;</a:t>
            </a:r>
            <a:br>
              <a:rPr lang="en-US" altLang="zh-CN" sz="2400" b="1" dirty="0">
                <a:solidFill>
                  <a:schemeClr val="tx1"/>
                </a:solidFill>
                <a:effectLst>
                  <a:outerShdw blurRad="38100" dist="38100" dir="2700000" algn="tl">
                    <a:srgbClr val="C0C0C0"/>
                  </a:outerShdw>
                </a:effectLst>
                <a:latin typeface="楷体_GB2312" pitchFamily="49" charset="-122"/>
                <a:ea typeface="楷体_GB2312" pitchFamily="49" charset="-122"/>
              </a:rPr>
            </a:br>
            <a:r>
              <a:rPr lang="en-US" altLang="zh-CN" sz="2400" b="1" dirty="0">
                <a:solidFill>
                  <a:schemeClr val="tx1"/>
                </a:solidFill>
                <a:effectLst>
                  <a:outerShdw blurRad="38100" dist="38100" dir="2700000" algn="tl">
                    <a:srgbClr val="C0C0C0"/>
                  </a:outerShdw>
                </a:effectLst>
                <a:latin typeface="楷体_GB2312" pitchFamily="49" charset="-122"/>
                <a:ea typeface="楷体_GB2312" pitchFamily="49" charset="-122"/>
              </a:rPr>
              <a:t>}</a:t>
            </a:r>
          </a:p>
        </p:txBody>
      </p:sp>
      <p:sp>
        <p:nvSpPr>
          <p:cNvPr id="5" name="灯片编号占位符 5"/>
          <p:cNvSpPr>
            <a:spLocks noGrp="1"/>
          </p:cNvSpPr>
          <p:nvPr>
            <p:ph type="sldNum" sz="quarter" idx="12"/>
          </p:nvPr>
        </p:nvSpPr>
        <p:spPr/>
        <p:txBody>
          <a:bodyPr/>
          <a:lstStyle/>
          <a:p>
            <a:pPr>
              <a:defRPr/>
            </a:pPr>
            <a:fld id="{F2AAFB16-12FC-4E7E-B1B2-CBEC9C38124C}" type="slidenum">
              <a:rPr lang="en-US" altLang="zh-CN"/>
              <a:pPr>
                <a:defRPr/>
              </a:pPr>
              <a:t>72</a:t>
            </a:fld>
            <a:endParaRPr lang="en-US" altLang="zh-CN"/>
          </a:p>
        </p:txBody>
      </p:sp>
    </p:spTree>
  </p:cSld>
  <p:clrMapOvr>
    <a:masterClrMapping/>
  </p:clrMapOvr>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idx="1"/>
          </p:nvPr>
        </p:nvSpPr>
        <p:spPr>
          <a:xfrm>
            <a:off x="250825" y="765175"/>
            <a:ext cx="8534400" cy="5280025"/>
          </a:xfrm>
        </p:spPr>
        <p:txBody>
          <a:bodyPr/>
          <a:lstStyle/>
          <a:p>
            <a:pPr marL="0" indent="0" eaLnBrk="1" hangingPunct="1">
              <a:buFont typeface="Wingdings" pitchFamily="2" charset="2"/>
              <a:buNone/>
            </a:pPr>
            <a:r>
              <a:rPr lang="en-US" altLang="zh-CN" sz="2800" b="1" dirty="0">
                <a:latin typeface="黑体" pitchFamily="2" charset="-122"/>
                <a:ea typeface="黑体" pitchFamily="2" charset="-122"/>
              </a:rPr>
              <a:t>【</a:t>
            </a:r>
            <a:r>
              <a:rPr lang="zh-CN" altLang="en-US" sz="2800" b="1" dirty="0">
                <a:latin typeface="黑体" pitchFamily="2" charset="-122"/>
                <a:ea typeface="黑体" pitchFamily="2" charset="-122"/>
              </a:rPr>
              <a:t>例</a:t>
            </a:r>
            <a:r>
              <a:rPr lang="en-US" altLang="zh-CN" sz="2800" b="1" dirty="0">
                <a:latin typeface="黑体" pitchFamily="2" charset="-122"/>
                <a:ea typeface="黑体" pitchFamily="2" charset="-122"/>
              </a:rPr>
              <a:t>】</a:t>
            </a:r>
            <a:r>
              <a:rPr lang="zh-CN" altLang="en-US" sz="2800" b="1" dirty="0">
                <a:latin typeface="黑体" pitchFamily="2" charset="-122"/>
                <a:ea typeface="黑体" pitchFamily="2" charset="-122"/>
              </a:rPr>
              <a:t>输入年与年中的第几天，计算这一天是这年的哪一月和哪一日。</a:t>
            </a:r>
          </a:p>
          <a:p>
            <a:pPr marL="0" indent="0" eaLnBrk="1" hangingPunct="1">
              <a:buFont typeface="Wingdings" pitchFamily="2" charset="2"/>
              <a:buNone/>
            </a:pPr>
            <a:r>
              <a:rPr lang="en-US" altLang="zh-CN" sz="2800" b="1" dirty="0"/>
              <a:t>【</a:t>
            </a:r>
            <a:r>
              <a:rPr lang="zh-CN" altLang="en-US" sz="2800" b="1" dirty="0"/>
              <a:t>解题思路</a:t>
            </a:r>
            <a:r>
              <a:rPr lang="en-US" altLang="zh-CN" sz="2800" b="1" dirty="0"/>
              <a:t>】</a:t>
            </a:r>
          </a:p>
          <a:p>
            <a:pPr marL="0" indent="0" eaLnBrk="1" hangingPunct="1">
              <a:buFont typeface="Wingdings" pitchFamily="2" charset="2"/>
              <a:buNone/>
            </a:pPr>
            <a:r>
              <a:rPr lang="zh-CN" altLang="en-US" sz="2800" b="1" dirty="0"/>
              <a:t>为从一年中的第几天</a:t>
            </a:r>
            <a:r>
              <a:rPr lang="en-US" altLang="zh-CN" sz="2800" b="1" dirty="0"/>
              <a:t>day</a:t>
            </a:r>
            <a:r>
              <a:rPr lang="zh-CN" altLang="en-US" sz="2800" b="1" dirty="0"/>
              <a:t>，确定这天的月</a:t>
            </a:r>
            <a:r>
              <a:rPr lang="en-US" altLang="zh-CN" sz="2800" b="1" dirty="0"/>
              <a:t>month</a:t>
            </a:r>
            <a:r>
              <a:rPr lang="zh-CN" altLang="en-US" sz="2800" b="1" dirty="0"/>
              <a:t>和日</a:t>
            </a:r>
            <a:r>
              <a:rPr lang="en-US" altLang="zh-CN" sz="2800" b="1" dirty="0"/>
              <a:t>day</a:t>
            </a:r>
            <a:r>
              <a:rPr lang="zh-CN" altLang="en-US" sz="2800" b="1" dirty="0"/>
              <a:t>，与例</a:t>
            </a:r>
            <a:r>
              <a:rPr lang="en-US" altLang="zh-CN" sz="2800" b="1" dirty="0"/>
              <a:t>4.13</a:t>
            </a:r>
            <a:r>
              <a:rPr lang="zh-CN" altLang="en-US" sz="2800" b="1" dirty="0"/>
              <a:t>一样，也需要一张每月的天数表。为了计算</a:t>
            </a:r>
            <a:r>
              <a:rPr lang="en-US" altLang="zh-CN" sz="2800" b="1" dirty="0"/>
              <a:t>month</a:t>
            </a:r>
            <a:r>
              <a:rPr lang="zh-CN" altLang="en-US" sz="2800" b="1" dirty="0"/>
              <a:t>和</a:t>
            </a:r>
            <a:r>
              <a:rPr lang="en-US" altLang="zh-CN" sz="2800" b="1" dirty="0"/>
              <a:t>day</a:t>
            </a:r>
            <a:r>
              <a:rPr lang="zh-CN" altLang="en-US" sz="2800" b="1" dirty="0"/>
              <a:t>，程序首先确定这一年是平年还是闰年，然后根据各月的天数表，逐一用每月的天数与</a:t>
            </a:r>
            <a:r>
              <a:rPr lang="en-US" altLang="zh-CN" sz="2800" b="1" dirty="0"/>
              <a:t>day</a:t>
            </a:r>
            <a:r>
              <a:rPr lang="zh-CN" altLang="en-US" sz="2800" b="1" dirty="0"/>
              <a:t>比较，如果</a:t>
            </a:r>
            <a:r>
              <a:rPr lang="en-US" altLang="zh-CN" sz="2800" b="1" dirty="0"/>
              <a:t>day</a:t>
            </a:r>
            <a:r>
              <a:rPr lang="zh-CN" altLang="en-US" sz="2800" b="1" dirty="0"/>
              <a:t>比当前月的天数大，就从</a:t>
            </a:r>
            <a:r>
              <a:rPr lang="en-US" altLang="zh-CN" sz="2800" b="1" dirty="0"/>
              <a:t>day</a:t>
            </a:r>
            <a:r>
              <a:rPr lang="zh-CN" altLang="en-US" sz="2800" b="1" dirty="0"/>
              <a:t>中减去这月的天数，并继续考虑下一个月。如果</a:t>
            </a:r>
            <a:r>
              <a:rPr lang="en-US" altLang="zh-CN" sz="2800" b="1" dirty="0"/>
              <a:t>day</a:t>
            </a:r>
            <a:r>
              <a:rPr lang="zh-CN" altLang="en-US" sz="2800" b="1" dirty="0"/>
              <a:t>小于等于当前月的天数，那么当前月就是要求的月份，</a:t>
            </a:r>
            <a:r>
              <a:rPr lang="en-US" altLang="zh-CN" sz="2800" b="1" dirty="0"/>
              <a:t>day</a:t>
            </a:r>
            <a:r>
              <a:rPr lang="zh-CN" altLang="en-US" sz="2800" b="1" dirty="0"/>
              <a:t>就是要求的这一月的日。</a:t>
            </a:r>
          </a:p>
        </p:txBody>
      </p:sp>
      <p:sp>
        <p:nvSpPr>
          <p:cNvPr id="5" name="灯片编号占位符 5"/>
          <p:cNvSpPr>
            <a:spLocks noGrp="1"/>
          </p:cNvSpPr>
          <p:nvPr>
            <p:ph type="sldNum" sz="quarter" idx="12"/>
          </p:nvPr>
        </p:nvSpPr>
        <p:spPr/>
        <p:txBody>
          <a:bodyPr/>
          <a:lstStyle/>
          <a:p>
            <a:pPr>
              <a:defRPr/>
            </a:pPr>
            <a:fld id="{0325DCDC-52A4-4128-94F0-330E7A5795C2}" type="slidenum">
              <a:rPr lang="en-US" altLang="zh-CN"/>
              <a:pPr>
                <a:defRPr/>
              </a:pPr>
              <a:t>73</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8610">
                                            <p:txEl>
                                              <p:pRg st="1" end="1"/>
                                            </p:txEl>
                                          </p:spTgt>
                                        </p:tgtEl>
                                        <p:attrNameLst>
                                          <p:attrName>style.visibility</p:attrName>
                                        </p:attrNameLst>
                                      </p:cBhvr>
                                      <p:to>
                                        <p:strVal val="visible"/>
                                      </p:to>
                                    </p:set>
                                    <p:anim calcmode="lin" valueType="num">
                                      <p:cBhvr additive="base">
                                        <p:cTn id="7" dur="500" fill="hold"/>
                                        <p:tgtEl>
                                          <p:spTgt spid="68610">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8610">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8610">
                                            <p:txEl>
                                              <p:pRg st="2" end="2"/>
                                            </p:txEl>
                                          </p:spTgt>
                                        </p:tgtEl>
                                        <p:attrNameLst>
                                          <p:attrName>style.visibility</p:attrName>
                                        </p:attrNameLst>
                                      </p:cBhvr>
                                      <p:to>
                                        <p:strVal val="visible"/>
                                      </p:to>
                                    </p:set>
                                    <p:anim calcmode="lin" valueType="num">
                                      <p:cBhvr additive="base">
                                        <p:cTn id="11" dur="500" fill="hold"/>
                                        <p:tgtEl>
                                          <p:spTgt spid="68610">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8610">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idx="1"/>
          </p:nvPr>
        </p:nvSpPr>
        <p:spPr>
          <a:xfrm>
            <a:off x="250825" y="476250"/>
            <a:ext cx="8534400" cy="6072188"/>
          </a:xfrm>
        </p:spPr>
        <p:txBody>
          <a:bodyPr/>
          <a:lstStyle/>
          <a:p>
            <a:pPr marL="0" indent="0" eaLnBrk="1" hangingPunct="1">
              <a:lnSpc>
                <a:spcPct val="95000"/>
              </a:lnSpc>
              <a:buFont typeface="Wingdings" pitchFamily="2" charset="2"/>
              <a:buNone/>
            </a:pPr>
            <a:r>
              <a:rPr lang="en-US" altLang="zh-CN" sz="2000" b="1" dirty="0"/>
              <a:t>#include  &lt;</a:t>
            </a:r>
            <a:r>
              <a:rPr lang="en-US" altLang="zh-CN" sz="2000" b="1" dirty="0" err="1"/>
              <a:t>stdio.h</a:t>
            </a:r>
            <a:r>
              <a:rPr lang="en-US" altLang="zh-CN" sz="2000" b="1" dirty="0"/>
              <a:t>&gt;</a:t>
            </a:r>
          </a:p>
          <a:p>
            <a:pPr marL="0" indent="0" eaLnBrk="1" hangingPunct="1">
              <a:lnSpc>
                <a:spcPct val="95000"/>
              </a:lnSpc>
              <a:buFont typeface="Wingdings" pitchFamily="2" charset="2"/>
              <a:buNone/>
            </a:pPr>
            <a:r>
              <a:rPr lang="en-US" altLang="zh-CN" sz="2000" b="1" dirty="0"/>
              <a:t> </a:t>
            </a:r>
            <a:r>
              <a:rPr lang="en-US" altLang="zh-CN" sz="2000" b="1" dirty="0" err="1"/>
              <a:t>int</a:t>
            </a:r>
            <a:r>
              <a:rPr lang="en-US" altLang="zh-CN" sz="2000" b="1" dirty="0"/>
              <a:t> </a:t>
            </a:r>
            <a:r>
              <a:rPr lang="en-US" altLang="zh-CN" sz="2000" b="1" dirty="0" err="1"/>
              <a:t>dayTable</a:t>
            </a:r>
            <a:r>
              <a:rPr lang="en-US" altLang="zh-CN" sz="2000" b="1" dirty="0"/>
              <a:t>[][12] =</a:t>
            </a:r>
          </a:p>
          <a:p>
            <a:pPr marL="0" indent="0" eaLnBrk="1" hangingPunct="1">
              <a:lnSpc>
                <a:spcPct val="95000"/>
              </a:lnSpc>
              <a:buFont typeface="Wingdings" pitchFamily="2" charset="2"/>
              <a:buNone/>
            </a:pPr>
            <a:r>
              <a:rPr lang="en-US" altLang="zh-CN" sz="2000" b="1" dirty="0"/>
              <a:t>           {{31, </a:t>
            </a:r>
            <a:r>
              <a:rPr lang="en-US" altLang="zh-CN" sz="2000" b="1" dirty="0">
                <a:solidFill>
                  <a:srgbClr val="FF0000"/>
                </a:solidFill>
              </a:rPr>
              <a:t>28</a:t>
            </a:r>
            <a:r>
              <a:rPr lang="en-US" altLang="zh-CN" sz="2000" b="1" dirty="0"/>
              <a:t>, 31, 30, 31, 30, 31, 31, 30, 31, 30, 31},</a:t>
            </a:r>
          </a:p>
          <a:p>
            <a:pPr marL="0" indent="0" eaLnBrk="1" hangingPunct="1">
              <a:lnSpc>
                <a:spcPct val="95000"/>
              </a:lnSpc>
              <a:buFont typeface="Wingdings" pitchFamily="2" charset="2"/>
              <a:buNone/>
            </a:pPr>
            <a:r>
              <a:rPr lang="en-US" altLang="zh-CN" sz="2000" b="1" dirty="0"/>
              <a:t>            {31, </a:t>
            </a:r>
            <a:r>
              <a:rPr lang="en-US" altLang="zh-CN" sz="2000" b="1" dirty="0">
                <a:solidFill>
                  <a:srgbClr val="FF0000"/>
                </a:solidFill>
              </a:rPr>
              <a:t>29</a:t>
            </a:r>
            <a:r>
              <a:rPr lang="en-US" altLang="zh-CN" sz="2000" b="1" dirty="0"/>
              <a:t>, 31, 30, 31, 30, 31, 31, 30, 31, 30, 31}};</a:t>
            </a:r>
          </a:p>
          <a:p>
            <a:pPr marL="0" indent="0" eaLnBrk="1" hangingPunct="1">
              <a:lnSpc>
                <a:spcPct val="95000"/>
              </a:lnSpc>
              <a:buFont typeface="Wingdings" pitchFamily="2" charset="2"/>
              <a:buNone/>
            </a:pPr>
            <a:r>
              <a:rPr lang="en-US" altLang="zh-CN" sz="2000" b="1" dirty="0"/>
              <a:t> char </a:t>
            </a:r>
            <a:r>
              <a:rPr lang="en-US" altLang="zh-CN" sz="2000" b="1" dirty="0" err="1"/>
              <a:t>monthname</a:t>
            </a:r>
            <a:r>
              <a:rPr lang="en-US" altLang="zh-CN" sz="2000" b="1" dirty="0"/>
              <a:t>[][10] = {"January", "February", "March", </a:t>
            </a:r>
          </a:p>
          <a:p>
            <a:pPr marL="0" indent="0" eaLnBrk="1" hangingPunct="1">
              <a:lnSpc>
                <a:spcPct val="95000"/>
              </a:lnSpc>
              <a:buFont typeface="Wingdings" pitchFamily="2" charset="2"/>
              <a:buNone/>
            </a:pPr>
            <a:r>
              <a:rPr lang="en-US" altLang="zh-CN" sz="2000" b="1" dirty="0"/>
              <a:t>          "April", "May", "June", "July", "August", "September", </a:t>
            </a:r>
          </a:p>
          <a:p>
            <a:pPr marL="0" indent="0" eaLnBrk="1" hangingPunct="1">
              <a:lnSpc>
                <a:spcPct val="95000"/>
              </a:lnSpc>
              <a:buFont typeface="Wingdings" pitchFamily="2" charset="2"/>
              <a:buNone/>
            </a:pPr>
            <a:r>
              <a:rPr lang="en-US" altLang="zh-CN" sz="2000" b="1" dirty="0"/>
              <a:t>          "</a:t>
            </a:r>
            <a:r>
              <a:rPr lang="en-US" altLang="zh-CN" sz="2000" b="1" dirty="0" err="1"/>
              <a:t>Octorber</a:t>
            </a:r>
            <a:r>
              <a:rPr lang="en-US" altLang="zh-CN" sz="2000" b="1" dirty="0"/>
              <a:t>", "November", "December"};</a:t>
            </a:r>
          </a:p>
          <a:p>
            <a:pPr marL="0" indent="0" eaLnBrk="1" hangingPunct="1">
              <a:lnSpc>
                <a:spcPct val="95000"/>
              </a:lnSpc>
              <a:buFont typeface="Wingdings" pitchFamily="2" charset="2"/>
              <a:buNone/>
            </a:pPr>
            <a:r>
              <a:rPr lang="en-US" altLang="zh-CN" sz="2000" b="1" dirty="0"/>
              <a:t> </a:t>
            </a:r>
            <a:r>
              <a:rPr lang="en-US" altLang="zh-CN" sz="2000" b="1" dirty="0" err="1"/>
              <a:t>int</a:t>
            </a:r>
            <a:r>
              <a:rPr lang="en-US" altLang="zh-CN" sz="2000" b="1" dirty="0"/>
              <a:t> main()</a:t>
            </a:r>
          </a:p>
          <a:p>
            <a:pPr marL="0" indent="0" eaLnBrk="1" hangingPunct="1">
              <a:lnSpc>
                <a:spcPct val="95000"/>
              </a:lnSpc>
              <a:buFont typeface="Wingdings" pitchFamily="2" charset="2"/>
              <a:buNone/>
            </a:pPr>
            <a:r>
              <a:rPr lang="en-US" altLang="zh-CN" sz="2000" b="1" dirty="0"/>
              <a:t> {  </a:t>
            </a:r>
            <a:r>
              <a:rPr lang="en-US" altLang="zh-CN" sz="2000" b="1" dirty="0" err="1"/>
              <a:t>int</a:t>
            </a:r>
            <a:r>
              <a:rPr lang="en-US" altLang="zh-CN" sz="2000" b="1" dirty="0"/>
              <a:t> year, day, leap, </a:t>
            </a:r>
            <a:r>
              <a:rPr lang="en-US" altLang="zh-CN" sz="2000" b="1" dirty="0" err="1"/>
              <a:t>i</a:t>
            </a:r>
            <a:r>
              <a:rPr lang="en-US" altLang="zh-CN" sz="2000" b="1" dirty="0"/>
              <a:t>;</a:t>
            </a:r>
          </a:p>
          <a:p>
            <a:pPr marL="0" indent="0" eaLnBrk="1" hangingPunct="1">
              <a:lnSpc>
                <a:spcPct val="95000"/>
              </a:lnSpc>
              <a:buFont typeface="Wingdings" pitchFamily="2" charset="2"/>
              <a:buNone/>
            </a:pPr>
            <a:r>
              <a:rPr lang="en-US" altLang="zh-CN" sz="2000" b="1" dirty="0"/>
              <a:t>    </a:t>
            </a:r>
            <a:r>
              <a:rPr lang="en-US" altLang="zh-CN" sz="2000" b="1" dirty="0" err="1"/>
              <a:t>printf</a:t>
            </a:r>
            <a:r>
              <a:rPr lang="en-US" altLang="zh-CN" sz="2000" b="1" dirty="0"/>
              <a:t>("</a:t>
            </a:r>
            <a:r>
              <a:rPr lang="zh-CN" altLang="en-US" sz="2000" b="1" dirty="0"/>
              <a:t>输入年和年中的日。</a:t>
            </a:r>
            <a:r>
              <a:rPr lang="en-US" altLang="zh-CN" sz="2000" b="1" dirty="0"/>
              <a:t>\n");</a:t>
            </a:r>
          </a:p>
          <a:p>
            <a:pPr marL="0" indent="0" eaLnBrk="1" hangingPunct="1">
              <a:lnSpc>
                <a:spcPct val="95000"/>
              </a:lnSpc>
              <a:buFont typeface="Wingdings" pitchFamily="2" charset="2"/>
              <a:buNone/>
            </a:pPr>
            <a:r>
              <a:rPr lang="en-US" altLang="zh-CN" sz="2000" b="1" dirty="0"/>
              <a:t>    </a:t>
            </a:r>
            <a:r>
              <a:rPr lang="en-US" altLang="zh-CN" sz="2000" b="1" dirty="0" err="1"/>
              <a:t>scanf</a:t>
            </a:r>
            <a:r>
              <a:rPr lang="en-US" altLang="zh-CN" sz="2000" b="1" dirty="0"/>
              <a:t>("%</a:t>
            </a:r>
            <a:r>
              <a:rPr lang="en-US" altLang="zh-CN" sz="2000" b="1" dirty="0" err="1"/>
              <a:t>d%d</a:t>
            </a:r>
            <a:r>
              <a:rPr lang="en-US" altLang="zh-CN" sz="2000" b="1" dirty="0"/>
              <a:t>", &amp;year, &amp;day);</a:t>
            </a:r>
          </a:p>
          <a:p>
            <a:pPr marL="0" indent="0" eaLnBrk="1" hangingPunct="1">
              <a:lnSpc>
                <a:spcPct val="95000"/>
              </a:lnSpc>
              <a:buFont typeface="Wingdings" pitchFamily="2" charset="2"/>
              <a:buNone/>
            </a:pPr>
            <a:r>
              <a:rPr lang="en-US" altLang="zh-CN" sz="2000" b="1" dirty="0"/>
              <a:t>    leap = year%4  == 0 &amp;&amp; year%100 || year%400 == 0;</a:t>
            </a:r>
          </a:p>
          <a:p>
            <a:pPr marL="0" indent="0" eaLnBrk="1" hangingPunct="1">
              <a:lnSpc>
                <a:spcPct val="95000"/>
              </a:lnSpc>
              <a:buFont typeface="Wingdings" pitchFamily="2" charset="2"/>
              <a:buNone/>
            </a:pPr>
            <a:r>
              <a:rPr lang="en-US" altLang="zh-CN" sz="2000" b="1" dirty="0"/>
              <a:t>    for(</a:t>
            </a:r>
            <a:r>
              <a:rPr lang="en-US" altLang="zh-CN" sz="2000" b="1" dirty="0" err="1"/>
              <a:t>i</a:t>
            </a:r>
            <a:r>
              <a:rPr lang="en-US" altLang="zh-CN" sz="2000" b="1" dirty="0"/>
              <a:t> = 0; day &gt; </a:t>
            </a:r>
            <a:r>
              <a:rPr lang="en-US" altLang="zh-CN" sz="2000" b="1" dirty="0" err="1"/>
              <a:t>dayTable</a:t>
            </a:r>
            <a:r>
              <a:rPr lang="en-US" altLang="zh-CN" sz="2000" b="1" dirty="0"/>
              <a:t>[leap][</a:t>
            </a:r>
            <a:r>
              <a:rPr lang="en-US" altLang="zh-CN" sz="2000" b="1" dirty="0" err="1"/>
              <a:t>i</a:t>
            </a:r>
            <a:r>
              <a:rPr lang="en-US" altLang="zh-CN" sz="2000" b="1" dirty="0"/>
              <a:t>]; </a:t>
            </a:r>
            <a:r>
              <a:rPr lang="en-US" altLang="zh-CN" sz="2000" b="1" dirty="0" err="1"/>
              <a:t>i</a:t>
            </a:r>
            <a:r>
              <a:rPr lang="en-US" altLang="zh-CN" sz="2000" b="1" dirty="0"/>
              <a:t>++)</a:t>
            </a:r>
          </a:p>
          <a:p>
            <a:pPr marL="0" indent="0" eaLnBrk="1" hangingPunct="1">
              <a:lnSpc>
                <a:spcPct val="95000"/>
              </a:lnSpc>
              <a:buFont typeface="Wingdings" pitchFamily="2" charset="2"/>
              <a:buNone/>
            </a:pPr>
            <a:r>
              <a:rPr lang="en-US" altLang="zh-CN" sz="2000" b="1" dirty="0"/>
              <a:t>        day -= </a:t>
            </a:r>
            <a:r>
              <a:rPr lang="en-US" altLang="zh-CN" sz="2000" b="1" dirty="0" err="1"/>
              <a:t>dayTable</a:t>
            </a:r>
            <a:r>
              <a:rPr lang="en-US" altLang="zh-CN" sz="2000" b="1" dirty="0"/>
              <a:t>[leap][</a:t>
            </a:r>
            <a:r>
              <a:rPr lang="en-US" altLang="zh-CN" sz="2000" b="1" dirty="0" err="1"/>
              <a:t>i</a:t>
            </a:r>
            <a:r>
              <a:rPr lang="en-US" altLang="zh-CN" sz="2000" b="1" dirty="0"/>
              <a:t>];</a:t>
            </a:r>
          </a:p>
          <a:p>
            <a:pPr marL="0" indent="0" eaLnBrk="1" hangingPunct="1">
              <a:lnSpc>
                <a:spcPct val="95000"/>
              </a:lnSpc>
              <a:buFont typeface="Wingdings" pitchFamily="2" charset="2"/>
              <a:buNone/>
            </a:pPr>
            <a:r>
              <a:rPr lang="en-US" altLang="zh-CN" sz="2000" b="1" dirty="0"/>
              <a:t>    </a:t>
            </a:r>
            <a:r>
              <a:rPr lang="en-US" altLang="zh-CN" sz="2000" b="1" dirty="0" err="1"/>
              <a:t>printf</a:t>
            </a:r>
            <a:r>
              <a:rPr lang="en-US" altLang="zh-CN" sz="2000" b="1" dirty="0"/>
              <a:t>("\n</a:t>
            </a:r>
            <a:r>
              <a:rPr lang="zh-CN" altLang="en-US" sz="2000" b="1" dirty="0"/>
              <a:t>这月的英文名是 </a:t>
            </a:r>
            <a:r>
              <a:rPr lang="en-US" altLang="zh-CN" sz="2000" b="1" dirty="0"/>
              <a:t>%s, </a:t>
            </a:r>
            <a:r>
              <a:rPr lang="zh-CN" altLang="en-US" sz="2000" b="1" dirty="0"/>
              <a:t>这天是 </a:t>
            </a:r>
            <a:r>
              <a:rPr lang="en-US" altLang="zh-CN" sz="2000" b="1" dirty="0"/>
              <a:t>%d</a:t>
            </a:r>
            <a:r>
              <a:rPr lang="zh-CN" altLang="en-US" sz="2000" b="1" dirty="0"/>
              <a:t>日。</a:t>
            </a:r>
            <a:r>
              <a:rPr lang="en-US" altLang="zh-CN" sz="2000" b="1" dirty="0"/>
              <a:t>\n", </a:t>
            </a:r>
            <a:r>
              <a:rPr lang="en-US" altLang="zh-CN" sz="2000" b="1" dirty="0" err="1"/>
              <a:t>monthname</a:t>
            </a:r>
            <a:r>
              <a:rPr lang="en-US" altLang="zh-CN" sz="2000" b="1" dirty="0"/>
              <a:t>[</a:t>
            </a:r>
            <a:r>
              <a:rPr lang="en-US" altLang="zh-CN" sz="2000" b="1" dirty="0" err="1"/>
              <a:t>i</a:t>
            </a:r>
            <a:r>
              <a:rPr lang="en-US" altLang="zh-CN" sz="2000" b="1" dirty="0"/>
              <a:t>], day);</a:t>
            </a:r>
          </a:p>
          <a:p>
            <a:pPr marL="0" indent="0" eaLnBrk="1" hangingPunct="1">
              <a:lnSpc>
                <a:spcPct val="95000"/>
              </a:lnSpc>
              <a:buFont typeface="Wingdings" pitchFamily="2" charset="2"/>
              <a:buNone/>
            </a:pPr>
            <a:r>
              <a:rPr lang="en-US" altLang="zh-CN" sz="2000" b="1" dirty="0"/>
              <a:t>    return 0;</a:t>
            </a:r>
          </a:p>
          <a:p>
            <a:pPr marL="0" indent="0" eaLnBrk="1" hangingPunct="1">
              <a:lnSpc>
                <a:spcPct val="95000"/>
              </a:lnSpc>
              <a:buFont typeface="Wingdings" pitchFamily="2" charset="2"/>
              <a:buNone/>
            </a:pPr>
            <a:r>
              <a:rPr lang="en-US" altLang="zh-CN" sz="2000" b="1" dirty="0"/>
              <a:t> }</a:t>
            </a:r>
          </a:p>
        </p:txBody>
      </p:sp>
      <p:sp>
        <p:nvSpPr>
          <p:cNvPr id="5" name="灯片编号占位符 5"/>
          <p:cNvSpPr>
            <a:spLocks noGrp="1"/>
          </p:cNvSpPr>
          <p:nvPr>
            <p:ph type="sldNum" sz="quarter" idx="12"/>
          </p:nvPr>
        </p:nvSpPr>
        <p:spPr/>
        <p:txBody>
          <a:bodyPr/>
          <a:lstStyle/>
          <a:p>
            <a:pPr>
              <a:defRPr/>
            </a:pPr>
            <a:fld id="{6B32144C-6AE7-4F0C-BB50-48731BBF27AE}" type="slidenum">
              <a:rPr lang="en-US" altLang="zh-CN"/>
              <a:pPr>
                <a:defRPr/>
              </a:pPr>
              <a:t>74</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9634">
                                            <p:txEl>
                                              <p:pRg st="7" end="7"/>
                                            </p:txEl>
                                          </p:spTgt>
                                        </p:tgtEl>
                                        <p:attrNameLst>
                                          <p:attrName>style.visibility</p:attrName>
                                        </p:attrNameLst>
                                      </p:cBhvr>
                                      <p:to>
                                        <p:strVal val="visible"/>
                                      </p:to>
                                    </p:set>
                                    <p:anim calcmode="lin" valueType="num">
                                      <p:cBhvr additive="base">
                                        <p:cTn id="7" dur="500" fill="hold"/>
                                        <p:tgtEl>
                                          <p:spTgt spid="69634">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9634">
                                            <p:txEl>
                                              <p:pRg st="7" end="7"/>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9634">
                                            <p:txEl>
                                              <p:pRg st="15" end="15"/>
                                            </p:txEl>
                                          </p:spTgt>
                                        </p:tgtEl>
                                        <p:attrNameLst>
                                          <p:attrName>style.visibility</p:attrName>
                                        </p:attrNameLst>
                                      </p:cBhvr>
                                      <p:to>
                                        <p:strVal val="visible"/>
                                      </p:to>
                                    </p:set>
                                    <p:anim calcmode="lin" valueType="num">
                                      <p:cBhvr additive="base">
                                        <p:cTn id="11" dur="500" fill="hold"/>
                                        <p:tgtEl>
                                          <p:spTgt spid="69634">
                                            <p:txEl>
                                              <p:pRg st="15" end="1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9634">
                                            <p:txEl>
                                              <p:pRg st="15" end="1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9634">
                                            <p:txEl>
                                              <p:pRg st="16" end="16"/>
                                            </p:txEl>
                                          </p:spTgt>
                                        </p:tgtEl>
                                        <p:attrNameLst>
                                          <p:attrName>style.visibility</p:attrName>
                                        </p:attrNameLst>
                                      </p:cBhvr>
                                      <p:to>
                                        <p:strVal val="visible"/>
                                      </p:to>
                                    </p:set>
                                    <p:anim calcmode="lin" valueType="num">
                                      <p:cBhvr additive="base">
                                        <p:cTn id="15" dur="500" fill="hold"/>
                                        <p:tgtEl>
                                          <p:spTgt spid="69634">
                                            <p:txEl>
                                              <p:pRg st="16" end="1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9634">
                                            <p:txEl>
                                              <p:pRg st="16" end="1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69634">
                                            <p:txEl>
                                              <p:pRg st="8" end="8"/>
                                            </p:txEl>
                                          </p:spTgt>
                                        </p:tgtEl>
                                        <p:attrNameLst>
                                          <p:attrName>style.visibility</p:attrName>
                                        </p:attrNameLst>
                                      </p:cBhvr>
                                      <p:to>
                                        <p:strVal val="visible"/>
                                      </p:to>
                                    </p:set>
                                    <p:anim calcmode="lin" valueType="num">
                                      <p:cBhvr additive="base">
                                        <p:cTn id="19" dur="500" fill="hold"/>
                                        <p:tgtEl>
                                          <p:spTgt spid="69634">
                                            <p:txEl>
                                              <p:pRg st="8" end="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9634">
                                            <p:txEl>
                                              <p:pRg st="8" end="8"/>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69634">
                                            <p:txEl>
                                              <p:pRg st="9" end="9"/>
                                            </p:txEl>
                                          </p:spTgt>
                                        </p:tgtEl>
                                        <p:attrNameLst>
                                          <p:attrName>style.visibility</p:attrName>
                                        </p:attrNameLst>
                                      </p:cBhvr>
                                      <p:to>
                                        <p:strVal val="visible"/>
                                      </p:to>
                                    </p:set>
                                    <p:anim calcmode="lin" valueType="num">
                                      <p:cBhvr additive="base">
                                        <p:cTn id="23" dur="500" fill="hold"/>
                                        <p:tgtEl>
                                          <p:spTgt spid="69634">
                                            <p:txEl>
                                              <p:pRg st="9" end="9"/>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69634">
                                            <p:txEl>
                                              <p:pRg st="9" end="9"/>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69634">
                                            <p:txEl>
                                              <p:pRg st="10" end="10"/>
                                            </p:txEl>
                                          </p:spTgt>
                                        </p:tgtEl>
                                        <p:attrNameLst>
                                          <p:attrName>style.visibility</p:attrName>
                                        </p:attrNameLst>
                                      </p:cBhvr>
                                      <p:to>
                                        <p:strVal val="visible"/>
                                      </p:to>
                                    </p:set>
                                    <p:anim calcmode="lin" valueType="num">
                                      <p:cBhvr additive="base">
                                        <p:cTn id="27" dur="500" fill="hold"/>
                                        <p:tgtEl>
                                          <p:spTgt spid="69634">
                                            <p:txEl>
                                              <p:pRg st="10" end="1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69634">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69634">
                                            <p:txEl>
                                              <p:pRg st="11" end="11"/>
                                            </p:txEl>
                                          </p:spTgt>
                                        </p:tgtEl>
                                        <p:attrNameLst>
                                          <p:attrName>style.visibility</p:attrName>
                                        </p:attrNameLst>
                                      </p:cBhvr>
                                      <p:to>
                                        <p:strVal val="visible"/>
                                      </p:to>
                                    </p:set>
                                    <p:anim calcmode="lin" valueType="num">
                                      <p:cBhvr additive="base">
                                        <p:cTn id="33" dur="500" fill="hold"/>
                                        <p:tgtEl>
                                          <p:spTgt spid="69634">
                                            <p:txEl>
                                              <p:pRg st="11" end="11"/>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69634">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69634">
                                            <p:txEl>
                                              <p:pRg st="12" end="12"/>
                                            </p:txEl>
                                          </p:spTgt>
                                        </p:tgtEl>
                                        <p:attrNameLst>
                                          <p:attrName>style.visibility</p:attrName>
                                        </p:attrNameLst>
                                      </p:cBhvr>
                                      <p:to>
                                        <p:strVal val="visible"/>
                                      </p:to>
                                    </p:set>
                                    <p:anim calcmode="lin" valueType="num">
                                      <p:cBhvr additive="base">
                                        <p:cTn id="39" dur="500" fill="hold"/>
                                        <p:tgtEl>
                                          <p:spTgt spid="69634">
                                            <p:txEl>
                                              <p:pRg st="12" end="12"/>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69634">
                                            <p:txEl>
                                              <p:pRg st="12" end="12"/>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69634">
                                            <p:txEl>
                                              <p:pRg st="13" end="13"/>
                                            </p:txEl>
                                          </p:spTgt>
                                        </p:tgtEl>
                                        <p:attrNameLst>
                                          <p:attrName>style.visibility</p:attrName>
                                        </p:attrNameLst>
                                      </p:cBhvr>
                                      <p:to>
                                        <p:strVal val="visible"/>
                                      </p:to>
                                    </p:set>
                                    <p:anim calcmode="lin" valueType="num">
                                      <p:cBhvr additive="base">
                                        <p:cTn id="43" dur="500" fill="hold"/>
                                        <p:tgtEl>
                                          <p:spTgt spid="69634">
                                            <p:txEl>
                                              <p:pRg st="13" end="1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69634">
                                            <p:txEl>
                                              <p:pRg st="13" end="13"/>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69634">
                                            <p:txEl>
                                              <p:pRg st="14" end="14"/>
                                            </p:txEl>
                                          </p:spTgt>
                                        </p:tgtEl>
                                        <p:attrNameLst>
                                          <p:attrName>style.visibility</p:attrName>
                                        </p:attrNameLst>
                                      </p:cBhvr>
                                      <p:to>
                                        <p:strVal val="visible"/>
                                      </p:to>
                                    </p:set>
                                    <p:anim calcmode="lin" valueType="num">
                                      <p:cBhvr additive="base">
                                        <p:cTn id="47" dur="500" fill="hold"/>
                                        <p:tgtEl>
                                          <p:spTgt spid="69634">
                                            <p:txEl>
                                              <p:pRg st="14" end="14"/>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69634">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12"/>
          <p:cNvSpPr>
            <a:spLocks noGrp="1" noChangeArrowheads="1"/>
          </p:cNvSpPr>
          <p:nvPr>
            <p:ph type="title"/>
          </p:nvPr>
        </p:nvSpPr>
        <p:spPr>
          <a:xfrm>
            <a:off x="539750" y="404813"/>
            <a:ext cx="8064500" cy="647700"/>
          </a:xfrm>
          <a:noFill/>
        </p:spPr>
        <p:txBody>
          <a:bodyPr lIns="92075" tIns="46038" rIns="92075" bIns="46038"/>
          <a:lstStyle/>
          <a:p>
            <a:pPr eaLnBrk="1" hangingPunct="1"/>
            <a:r>
              <a:rPr lang="en-US" altLang="zh-CN" sz="3600" dirty="0">
                <a:solidFill>
                  <a:schemeClr val="tx1"/>
                </a:solidFill>
                <a:latin typeface="黑体" pitchFamily="2" charset="-122"/>
                <a:ea typeface="黑体" pitchFamily="2" charset="-122"/>
              </a:rPr>
              <a:t>【</a:t>
            </a:r>
            <a:r>
              <a:rPr lang="zh-CN" altLang="en-US" sz="3600" dirty="0">
                <a:solidFill>
                  <a:schemeClr val="tx1"/>
                </a:solidFill>
                <a:latin typeface="黑体" pitchFamily="2" charset="-122"/>
                <a:ea typeface="黑体" pitchFamily="2" charset="-122"/>
              </a:rPr>
              <a:t>例</a:t>
            </a:r>
            <a:r>
              <a:rPr lang="en-US" altLang="zh-CN" sz="3600" dirty="0">
                <a:solidFill>
                  <a:schemeClr val="tx1"/>
                </a:solidFill>
                <a:latin typeface="黑体" pitchFamily="2" charset="-122"/>
                <a:ea typeface="黑体" pitchFamily="2" charset="-122"/>
              </a:rPr>
              <a:t>4.13】</a:t>
            </a:r>
            <a:r>
              <a:rPr lang="zh-CN" altLang="en-US" sz="3600" dirty="0">
                <a:solidFill>
                  <a:schemeClr val="tx1"/>
                </a:solidFill>
                <a:latin typeface="黑体" pitchFamily="2" charset="-122"/>
                <a:ea typeface="黑体" pitchFamily="2" charset="-122"/>
              </a:rPr>
              <a:t>输出以下形式的二维数组</a:t>
            </a:r>
          </a:p>
        </p:txBody>
      </p:sp>
      <p:sp>
        <p:nvSpPr>
          <p:cNvPr id="171010" name="Rectangle 2"/>
          <p:cNvSpPr>
            <a:spLocks noGrp="1" noChangeArrowheads="1"/>
          </p:cNvSpPr>
          <p:nvPr>
            <p:ph idx="1"/>
          </p:nvPr>
        </p:nvSpPr>
        <p:spPr>
          <a:xfrm>
            <a:off x="228600" y="1196975"/>
            <a:ext cx="8534400" cy="5280025"/>
          </a:xfrm>
        </p:spPr>
        <p:txBody>
          <a:bodyPr>
            <a:normAutofit/>
          </a:bodyPr>
          <a:lstStyle/>
          <a:p>
            <a:pPr marL="0" indent="0" algn="just"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latin typeface="宋体" pitchFamily="2" charset="-122"/>
              </a:rPr>
              <a:t>当</a:t>
            </a:r>
            <a:r>
              <a:rPr lang="en-US" altLang="zh-CN" b="1" dirty="0">
                <a:effectLst>
                  <a:outerShdw blurRad="38100" dist="38100" dir="2700000" algn="tl">
                    <a:srgbClr val="C0C0C0"/>
                  </a:outerShdw>
                </a:effectLst>
                <a:latin typeface="宋体" pitchFamily="2" charset="-122"/>
              </a:rPr>
              <a:t>n</a:t>
            </a:r>
            <a:r>
              <a:rPr lang="zh-CN" altLang="en-US" b="1" dirty="0">
                <a:effectLst>
                  <a:outerShdw blurRad="38100" dist="38100" dir="2700000" algn="tl">
                    <a:srgbClr val="C0C0C0"/>
                  </a:outerShdw>
                </a:effectLst>
                <a:latin typeface="宋体" pitchFamily="2" charset="-122"/>
              </a:rPr>
              <a:t>＝</a:t>
            </a:r>
            <a:r>
              <a:rPr lang="en-US" altLang="zh-CN" b="1" dirty="0">
                <a:effectLst>
                  <a:outerShdw blurRad="38100" dist="38100" dir="2700000" algn="tl">
                    <a:srgbClr val="C0C0C0"/>
                  </a:outerShdw>
                </a:effectLst>
                <a:latin typeface="宋体" pitchFamily="2" charset="-122"/>
              </a:rPr>
              <a:t>5</a:t>
            </a:r>
            <a:r>
              <a:rPr lang="zh-CN" altLang="en-US" b="1" dirty="0">
                <a:effectLst>
                  <a:outerShdw blurRad="38100" dist="38100" dir="2700000" algn="tl">
                    <a:srgbClr val="C0C0C0"/>
                  </a:outerShdw>
                </a:effectLst>
                <a:latin typeface="宋体" pitchFamily="2" charset="-122"/>
              </a:rPr>
              <a:t>时，    	</a:t>
            </a:r>
            <a:r>
              <a:rPr lang="en-US" altLang="zh-CN" b="1" dirty="0">
                <a:effectLst>
                  <a:outerShdw blurRad="38100" dist="38100" dir="2700000" algn="tl">
                    <a:srgbClr val="C0C0C0"/>
                  </a:outerShdw>
                </a:effectLst>
                <a:latin typeface="宋体" pitchFamily="2" charset="-122"/>
              </a:rPr>
              <a:t>1  2  3  4  5</a:t>
            </a:r>
          </a:p>
          <a:p>
            <a:pPr marL="0" indent="0" algn="just"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latin typeface="宋体" pitchFamily="2" charset="-122"/>
              </a:rPr>
              <a:t>         		5  1  2  3  4</a:t>
            </a:r>
          </a:p>
          <a:p>
            <a:pPr marL="0" indent="0" algn="just"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latin typeface="宋体" pitchFamily="2" charset="-122"/>
              </a:rPr>
              <a:t>         		4  5  1  2  3     </a:t>
            </a:r>
          </a:p>
          <a:p>
            <a:pPr marL="0" indent="0" algn="just"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latin typeface="宋体" pitchFamily="2" charset="-122"/>
              </a:rPr>
              <a:t>         		3  4  5  1  2</a:t>
            </a:r>
          </a:p>
          <a:p>
            <a:pPr marL="0" indent="0" algn="just"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latin typeface="宋体" pitchFamily="2" charset="-122"/>
              </a:rPr>
              <a:t>         		2  3  4  5  1     </a:t>
            </a:r>
          </a:p>
          <a:p>
            <a:pPr marL="0" indent="0"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latin typeface="宋体" pitchFamily="2" charset="-122"/>
              </a:rPr>
              <a:t>算法</a:t>
            </a:r>
            <a:r>
              <a:rPr lang="en-US" altLang="zh-CN" b="1" dirty="0">
                <a:effectLst>
                  <a:outerShdw blurRad="38100" dist="38100" dir="2700000" algn="tl">
                    <a:srgbClr val="C0C0C0"/>
                  </a:outerShdw>
                </a:effectLst>
                <a:latin typeface="宋体" pitchFamily="2" charset="-122"/>
              </a:rPr>
              <a:t>(1)</a:t>
            </a:r>
            <a:r>
              <a:rPr lang="zh-CN" altLang="en-US" b="1" dirty="0">
                <a:effectLst>
                  <a:outerShdw blurRad="38100" dist="38100" dir="2700000" algn="tl">
                    <a:srgbClr val="C0C0C0"/>
                  </a:outerShdw>
                </a:effectLst>
                <a:latin typeface="宋体" pitchFamily="2" charset="-122"/>
              </a:rPr>
              <a:t>：</a:t>
            </a:r>
          </a:p>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latin typeface="宋体" pitchFamily="2" charset="-122"/>
              </a:rPr>
              <a:t>1. </a:t>
            </a:r>
            <a:r>
              <a:rPr lang="zh-CN" altLang="en-US" b="1" dirty="0">
                <a:effectLst>
                  <a:outerShdw blurRad="38100" dist="38100" dir="2700000" algn="tl">
                    <a:srgbClr val="C0C0C0"/>
                  </a:outerShdw>
                </a:effectLst>
                <a:latin typeface="宋体" pitchFamily="2" charset="-122"/>
              </a:rPr>
              <a:t>先给出第 </a:t>
            </a:r>
            <a:r>
              <a:rPr lang="en-US" altLang="zh-CN" b="1" dirty="0">
                <a:effectLst>
                  <a:outerShdw blurRad="38100" dist="38100" dir="2700000" algn="tl">
                    <a:srgbClr val="C0C0C0"/>
                  </a:outerShdw>
                </a:effectLst>
                <a:latin typeface="宋体" pitchFamily="2" charset="-122"/>
              </a:rPr>
              <a:t>0 </a:t>
            </a:r>
            <a:r>
              <a:rPr lang="zh-CN" altLang="en-US" b="1" dirty="0">
                <a:effectLst>
                  <a:outerShdw blurRad="38100" dist="38100" dir="2700000" algn="tl">
                    <a:srgbClr val="C0C0C0"/>
                  </a:outerShdw>
                </a:effectLst>
                <a:latin typeface="宋体" pitchFamily="2" charset="-122"/>
              </a:rPr>
              <a:t>行；</a:t>
            </a:r>
          </a:p>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latin typeface="宋体" pitchFamily="2" charset="-122"/>
              </a:rPr>
              <a:t>2. </a:t>
            </a:r>
            <a:r>
              <a:rPr lang="zh-CN" altLang="en-US" b="1" dirty="0">
                <a:effectLst>
                  <a:outerShdw blurRad="38100" dist="38100" dir="2700000" algn="tl">
                    <a:srgbClr val="C0C0C0"/>
                  </a:outerShdw>
                </a:effectLst>
                <a:latin typeface="宋体" pitchFamily="2" charset="-122"/>
              </a:rPr>
              <a:t>利用第</a:t>
            </a:r>
            <a:r>
              <a:rPr lang="en-US" altLang="zh-CN" b="1" dirty="0" err="1">
                <a:effectLst>
                  <a:outerShdw blurRad="38100" dist="38100" dir="2700000" algn="tl">
                    <a:srgbClr val="C0C0C0"/>
                  </a:outerShdw>
                </a:effectLst>
                <a:latin typeface="宋体" pitchFamily="2" charset="-122"/>
              </a:rPr>
              <a:t>i</a:t>
            </a:r>
            <a:r>
              <a:rPr lang="zh-CN" altLang="en-US" b="1" dirty="0">
                <a:effectLst>
                  <a:outerShdw blurRad="38100" dist="38100" dir="2700000" algn="tl">
                    <a:srgbClr val="C0C0C0"/>
                  </a:outerShdw>
                </a:effectLst>
                <a:latin typeface="宋体" pitchFamily="2" charset="-122"/>
              </a:rPr>
              <a:t>行与上一行的关系，求出第</a:t>
            </a:r>
            <a:r>
              <a:rPr lang="en-US" altLang="zh-CN" b="1" dirty="0" err="1">
                <a:effectLst>
                  <a:outerShdw blurRad="38100" dist="38100" dir="2700000" algn="tl">
                    <a:srgbClr val="C0C0C0"/>
                  </a:outerShdw>
                </a:effectLst>
                <a:latin typeface="宋体" pitchFamily="2" charset="-122"/>
              </a:rPr>
              <a:t>i</a:t>
            </a:r>
            <a:r>
              <a:rPr lang="zh-CN" altLang="en-US" b="1" dirty="0">
                <a:effectLst>
                  <a:outerShdw blurRad="38100" dist="38100" dir="2700000" algn="tl">
                    <a:srgbClr val="C0C0C0"/>
                  </a:outerShdw>
                </a:effectLst>
                <a:latin typeface="宋体" pitchFamily="2" charset="-122"/>
              </a:rPr>
              <a:t>行；</a:t>
            </a:r>
          </a:p>
          <a:p>
            <a:pPr marL="0" indent="0"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latin typeface="宋体" pitchFamily="2" charset="-122"/>
              </a:rPr>
              <a:t>   </a:t>
            </a:r>
            <a:r>
              <a:rPr lang="en-US" altLang="zh-CN" b="1" dirty="0">
                <a:effectLst>
                  <a:outerShdw blurRad="38100" dist="38100" dir="2700000" algn="tl">
                    <a:srgbClr val="C0C0C0"/>
                  </a:outerShdw>
                </a:effectLst>
                <a:latin typeface="宋体" pitchFamily="2" charset="-122"/>
              </a:rPr>
              <a:t>(1) </a:t>
            </a:r>
            <a:r>
              <a:rPr lang="zh-CN" altLang="en-US" b="1" dirty="0">
                <a:effectLst>
                  <a:outerShdw blurRad="38100" dist="38100" dir="2700000" algn="tl">
                    <a:srgbClr val="C0C0C0"/>
                  </a:outerShdw>
                </a:effectLst>
                <a:latin typeface="宋体" pitchFamily="2" charset="-122"/>
              </a:rPr>
              <a:t>先求第</a:t>
            </a:r>
            <a:r>
              <a:rPr lang="en-US" altLang="zh-CN" b="1" dirty="0">
                <a:effectLst>
                  <a:outerShdw blurRad="38100" dist="38100" dir="2700000" algn="tl">
                    <a:srgbClr val="C0C0C0"/>
                  </a:outerShdw>
                </a:effectLst>
                <a:latin typeface="宋体" pitchFamily="2" charset="-122"/>
              </a:rPr>
              <a:t>0</a:t>
            </a:r>
            <a:r>
              <a:rPr lang="zh-CN" altLang="en-US" b="1" dirty="0">
                <a:effectLst>
                  <a:outerShdw blurRad="38100" dist="38100" dir="2700000" algn="tl">
                    <a:srgbClr val="C0C0C0"/>
                  </a:outerShdw>
                </a:effectLst>
                <a:latin typeface="宋体" pitchFamily="2" charset="-122"/>
              </a:rPr>
              <a:t>列（为上一行最后一列）；</a:t>
            </a:r>
          </a:p>
          <a:p>
            <a:pPr marL="0" indent="0"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latin typeface="宋体" pitchFamily="2" charset="-122"/>
              </a:rPr>
              <a:t>   </a:t>
            </a:r>
            <a:r>
              <a:rPr lang="en-US" altLang="zh-CN" b="1" dirty="0">
                <a:effectLst>
                  <a:outerShdw blurRad="38100" dist="38100" dir="2700000" algn="tl">
                    <a:srgbClr val="C0C0C0"/>
                  </a:outerShdw>
                </a:effectLst>
                <a:latin typeface="宋体" pitchFamily="2" charset="-122"/>
              </a:rPr>
              <a:t>(2) </a:t>
            </a:r>
            <a:r>
              <a:rPr lang="zh-CN" altLang="en-US" b="1" dirty="0">
                <a:effectLst>
                  <a:outerShdw blurRad="38100" dist="38100" dir="2700000" algn="tl">
                    <a:srgbClr val="C0C0C0"/>
                  </a:outerShdw>
                </a:effectLst>
                <a:latin typeface="宋体" pitchFamily="2" charset="-122"/>
              </a:rPr>
              <a:t>后求第</a:t>
            </a:r>
            <a:r>
              <a:rPr lang="en-US" altLang="zh-CN" b="1" dirty="0">
                <a:effectLst>
                  <a:outerShdw blurRad="38100" dist="38100" dir="2700000" algn="tl">
                    <a:srgbClr val="C0C0C0"/>
                  </a:outerShdw>
                </a:effectLst>
                <a:latin typeface="宋体" pitchFamily="2" charset="-122"/>
              </a:rPr>
              <a:t>1</a:t>
            </a:r>
            <a:r>
              <a:rPr lang="zh-CN" altLang="en-US" b="1" dirty="0">
                <a:effectLst>
                  <a:outerShdw blurRad="38100" dist="38100" dir="2700000" algn="tl">
                    <a:srgbClr val="C0C0C0"/>
                  </a:outerShdw>
                </a:effectLst>
                <a:latin typeface="宋体" pitchFamily="2" charset="-122"/>
              </a:rPr>
              <a:t>列至最后一列。</a:t>
            </a:r>
            <a:r>
              <a:rPr lang="zh-CN" altLang="en-US" dirty="0">
                <a:latin typeface="宋体" pitchFamily="2" charset="-122"/>
              </a:rPr>
              <a:t>                </a:t>
            </a:r>
          </a:p>
        </p:txBody>
      </p:sp>
      <p:sp>
        <p:nvSpPr>
          <p:cNvPr id="13" name="灯片编号占位符 5"/>
          <p:cNvSpPr>
            <a:spLocks noGrp="1"/>
          </p:cNvSpPr>
          <p:nvPr>
            <p:ph type="sldNum" sz="quarter" idx="12"/>
          </p:nvPr>
        </p:nvSpPr>
        <p:spPr/>
        <p:txBody>
          <a:bodyPr/>
          <a:lstStyle/>
          <a:p>
            <a:pPr>
              <a:defRPr/>
            </a:pPr>
            <a:fld id="{AC90C627-0A53-48A8-9C19-224E77964A78}" type="slidenum">
              <a:rPr lang="en-US" altLang="zh-CN"/>
              <a:pPr>
                <a:defRPr/>
              </a:pPr>
              <a:t>75</a:t>
            </a:fld>
            <a:endParaRPr lang="en-US" altLang="zh-CN"/>
          </a:p>
        </p:txBody>
      </p:sp>
      <p:sp>
        <p:nvSpPr>
          <p:cNvPr id="70661" name="Line 5"/>
          <p:cNvSpPr>
            <a:spLocks noChangeShapeType="1"/>
          </p:cNvSpPr>
          <p:nvPr/>
        </p:nvSpPr>
        <p:spPr bwMode="auto">
          <a:xfrm>
            <a:off x="1524000" y="4191000"/>
            <a:ext cx="914400" cy="685800"/>
          </a:xfrm>
          <a:prstGeom prst="line">
            <a:avLst/>
          </a:prstGeom>
          <a:noFill/>
          <a:ln w="9525">
            <a:noFill/>
            <a:round/>
            <a:headEnd/>
            <a:tailEnd type="triangle" w="med" len="med"/>
          </a:ln>
        </p:spPr>
        <p:txBody>
          <a:bodyPr wrap="none" lIns="92075" tIns="46038" rIns="92075" bIns="46038" anchor="ctr"/>
          <a:lstStyle/>
          <a:p>
            <a:endParaRPr lang="zh-CN" altLang="en-US"/>
          </a:p>
        </p:txBody>
      </p:sp>
      <p:sp>
        <p:nvSpPr>
          <p:cNvPr id="70662" name="Line 6"/>
          <p:cNvSpPr>
            <a:spLocks noChangeShapeType="1"/>
          </p:cNvSpPr>
          <p:nvPr/>
        </p:nvSpPr>
        <p:spPr bwMode="auto">
          <a:xfrm>
            <a:off x="1600200" y="4114800"/>
            <a:ext cx="762000" cy="762000"/>
          </a:xfrm>
          <a:prstGeom prst="line">
            <a:avLst/>
          </a:prstGeom>
          <a:noFill/>
          <a:ln w="9525">
            <a:noFill/>
            <a:round/>
            <a:headEnd/>
            <a:tailEnd type="triangle" w="med" len="med"/>
          </a:ln>
        </p:spPr>
        <p:txBody>
          <a:bodyPr wrap="none" lIns="92075" tIns="46038" rIns="92075" bIns="46038" anchor="ctr"/>
          <a:lstStyle/>
          <a:p>
            <a:endParaRPr lang="zh-CN" altLang="en-US"/>
          </a:p>
        </p:txBody>
      </p:sp>
      <p:sp>
        <p:nvSpPr>
          <p:cNvPr id="70663" name="Line 7"/>
          <p:cNvSpPr>
            <a:spLocks noChangeShapeType="1"/>
          </p:cNvSpPr>
          <p:nvPr/>
        </p:nvSpPr>
        <p:spPr bwMode="auto">
          <a:xfrm flipH="1" flipV="1">
            <a:off x="1600200" y="3581400"/>
            <a:ext cx="1447800" cy="1219200"/>
          </a:xfrm>
          <a:prstGeom prst="line">
            <a:avLst/>
          </a:prstGeom>
          <a:noFill/>
          <a:ln w="9525">
            <a:noFill/>
            <a:round/>
            <a:headEnd/>
            <a:tailEnd type="triangle" w="med" len="med"/>
          </a:ln>
        </p:spPr>
        <p:txBody>
          <a:bodyPr wrap="none" lIns="92075" tIns="46038" rIns="92075" bIns="46038" anchor="ctr"/>
          <a:lstStyle/>
          <a:p>
            <a:endParaRPr lang="zh-CN" altLang="en-US"/>
          </a:p>
        </p:txBody>
      </p:sp>
      <p:sp>
        <p:nvSpPr>
          <p:cNvPr id="70664" name="Line 8"/>
          <p:cNvSpPr>
            <a:spLocks noChangeShapeType="1"/>
          </p:cNvSpPr>
          <p:nvPr/>
        </p:nvSpPr>
        <p:spPr bwMode="auto">
          <a:xfrm>
            <a:off x="4343400" y="5029200"/>
            <a:ext cx="1447800" cy="0"/>
          </a:xfrm>
          <a:prstGeom prst="line">
            <a:avLst/>
          </a:prstGeom>
          <a:noFill/>
          <a:ln w="9525">
            <a:noFill/>
            <a:round/>
            <a:headEnd/>
            <a:tailEnd type="triangle" w="med" len="med"/>
          </a:ln>
        </p:spPr>
        <p:txBody>
          <a:bodyPr wrap="none" lIns="92075" tIns="46038" rIns="92075" bIns="46038" anchor="ctr"/>
          <a:lstStyle/>
          <a:p>
            <a:endParaRPr lang="zh-CN" altLang="en-US"/>
          </a:p>
        </p:txBody>
      </p:sp>
      <p:sp>
        <p:nvSpPr>
          <p:cNvPr id="70665" name="Line 9"/>
          <p:cNvSpPr>
            <a:spLocks noChangeShapeType="1"/>
          </p:cNvSpPr>
          <p:nvPr/>
        </p:nvSpPr>
        <p:spPr bwMode="auto">
          <a:xfrm>
            <a:off x="2057400" y="5105400"/>
            <a:ext cx="1371600" cy="76200"/>
          </a:xfrm>
          <a:prstGeom prst="line">
            <a:avLst/>
          </a:prstGeom>
          <a:noFill/>
          <a:ln w="9525">
            <a:noFill/>
            <a:round/>
            <a:headEnd/>
            <a:tailEnd/>
          </a:ln>
        </p:spPr>
        <p:txBody>
          <a:bodyPr wrap="none" lIns="92075" tIns="46038" rIns="92075" bIns="46038" anchor="ctr"/>
          <a:lstStyle/>
          <a:p>
            <a:endParaRPr lang="zh-CN" altLang="en-US"/>
          </a:p>
        </p:txBody>
      </p:sp>
      <p:sp>
        <p:nvSpPr>
          <p:cNvPr id="70666" name="Line 10"/>
          <p:cNvSpPr>
            <a:spLocks noChangeShapeType="1"/>
          </p:cNvSpPr>
          <p:nvPr/>
        </p:nvSpPr>
        <p:spPr bwMode="auto">
          <a:xfrm>
            <a:off x="1752600" y="5334000"/>
            <a:ext cx="1066800" cy="0"/>
          </a:xfrm>
          <a:prstGeom prst="line">
            <a:avLst/>
          </a:prstGeom>
          <a:noFill/>
          <a:ln w="9525">
            <a:noFill/>
            <a:round/>
            <a:headEnd/>
            <a:tailEnd/>
          </a:ln>
        </p:spPr>
        <p:txBody>
          <a:bodyPr wrap="none" lIns="92075" tIns="46038" rIns="92075" bIns="46038" anchor="ctr"/>
          <a:lstStyle/>
          <a:p>
            <a:endParaRPr lang="zh-CN" altLang="en-US"/>
          </a:p>
        </p:txBody>
      </p:sp>
      <p:sp>
        <p:nvSpPr>
          <p:cNvPr id="70667" name="Line 11"/>
          <p:cNvSpPr>
            <a:spLocks noChangeShapeType="1"/>
          </p:cNvSpPr>
          <p:nvPr/>
        </p:nvSpPr>
        <p:spPr bwMode="auto">
          <a:xfrm>
            <a:off x="2133600" y="5562600"/>
            <a:ext cx="685800" cy="0"/>
          </a:xfrm>
          <a:prstGeom prst="line">
            <a:avLst/>
          </a:prstGeom>
          <a:noFill/>
          <a:ln w="9525">
            <a:noFill/>
            <a:round/>
            <a:headEnd/>
            <a:tailEnd/>
          </a:ln>
        </p:spPr>
        <p:txBody>
          <a:bodyPr wrap="none" lIns="92075" tIns="46038" rIns="92075" bIns="46038"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1010">
                                            <p:txEl>
                                              <p:pRg st="5" end="5"/>
                                            </p:txEl>
                                          </p:spTgt>
                                        </p:tgtEl>
                                        <p:attrNameLst>
                                          <p:attrName>style.visibility</p:attrName>
                                        </p:attrNameLst>
                                      </p:cBhvr>
                                      <p:to>
                                        <p:strVal val="visible"/>
                                      </p:to>
                                    </p:set>
                                    <p:anim calcmode="lin" valueType="num">
                                      <p:cBhvr additive="base">
                                        <p:cTn id="7" dur="500" fill="hold"/>
                                        <p:tgtEl>
                                          <p:spTgt spid="171010">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1010">
                                            <p:txEl>
                                              <p:pRg st="5" end="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71010">
                                            <p:txEl>
                                              <p:pRg st="6" end="6"/>
                                            </p:txEl>
                                          </p:spTgt>
                                        </p:tgtEl>
                                        <p:attrNameLst>
                                          <p:attrName>style.visibility</p:attrName>
                                        </p:attrNameLst>
                                      </p:cBhvr>
                                      <p:to>
                                        <p:strVal val="visible"/>
                                      </p:to>
                                    </p:set>
                                    <p:anim calcmode="lin" valueType="num">
                                      <p:cBhvr additive="base">
                                        <p:cTn id="11" dur="500" fill="hold"/>
                                        <p:tgtEl>
                                          <p:spTgt spid="171010">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71010">
                                            <p:txEl>
                                              <p:pRg st="6" end="6"/>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71010">
                                            <p:txEl>
                                              <p:pRg st="7" end="7"/>
                                            </p:txEl>
                                          </p:spTgt>
                                        </p:tgtEl>
                                        <p:attrNameLst>
                                          <p:attrName>style.visibility</p:attrName>
                                        </p:attrNameLst>
                                      </p:cBhvr>
                                      <p:to>
                                        <p:strVal val="visible"/>
                                      </p:to>
                                    </p:set>
                                    <p:anim calcmode="lin" valueType="num">
                                      <p:cBhvr additive="base">
                                        <p:cTn id="15" dur="500" fill="hold"/>
                                        <p:tgtEl>
                                          <p:spTgt spid="171010">
                                            <p:txEl>
                                              <p:pRg st="7" end="7"/>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71010">
                                            <p:txEl>
                                              <p:pRg st="7" end="7"/>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71010">
                                            <p:txEl>
                                              <p:pRg st="8" end="8"/>
                                            </p:txEl>
                                          </p:spTgt>
                                        </p:tgtEl>
                                        <p:attrNameLst>
                                          <p:attrName>style.visibility</p:attrName>
                                        </p:attrNameLst>
                                      </p:cBhvr>
                                      <p:to>
                                        <p:strVal val="visible"/>
                                      </p:to>
                                    </p:set>
                                    <p:anim calcmode="lin" valueType="num">
                                      <p:cBhvr additive="base">
                                        <p:cTn id="19" dur="500" fill="hold"/>
                                        <p:tgtEl>
                                          <p:spTgt spid="171010">
                                            <p:txEl>
                                              <p:pRg st="8" end="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71010">
                                            <p:txEl>
                                              <p:pRg st="8" end="8"/>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71010">
                                            <p:txEl>
                                              <p:pRg st="9" end="9"/>
                                            </p:txEl>
                                          </p:spTgt>
                                        </p:tgtEl>
                                        <p:attrNameLst>
                                          <p:attrName>style.visibility</p:attrName>
                                        </p:attrNameLst>
                                      </p:cBhvr>
                                      <p:to>
                                        <p:strVal val="visible"/>
                                      </p:to>
                                    </p:set>
                                    <p:anim calcmode="lin" valueType="num">
                                      <p:cBhvr additive="base">
                                        <p:cTn id="23" dur="500" fill="hold"/>
                                        <p:tgtEl>
                                          <p:spTgt spid="171010">
                                            <p:txEl>
                                              <p:pRg st="9" end="9"/>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71010">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3"/>
          <p:cNvSpPr>
            <a:spLocks noGrp="1" noChangeArrowheads="1"/>
          </p:cNvSpPr>
          <p:nvPr>
            <p:ph idx="1"/>
          </p:nvPr>
        </p:nvSpPr>
        <p:spPr>
          <a:xfrm>
            <a:off x="468313" y="476250"/>
            <a:ext cx="8280400" cy="5903913"/>
          </a:xfrm>
        </p:spPr>
        <p:txBody>
          <a:bodyPr/>
          <a:lstStyle/>
          <a:p>
            <a:pPr eaLnBrk="1" hangingPunct="1">
              <a:lnSpc>
                <a:spcPct val="75000"/>
              </a:lnSpc>
              <a:buFont typeface="Wingdings" pitchFamily="2" charset="2"/>
              <a:buNone/>
            </a:pPr>
            <a:r>
              <a:rPr lang="en-US" altLang="zh-CN" sz="2400" b="1" dirty="0">
                <a:latin typeface="黑体" pitchFamily="2" charset="-122"/>
              </a:rPr>
              <a:t>#define MAXN  100</a:t>
            </a:r>
          </a:p>
          <a:p>
            <a:pPr eaLnBrk="1" hangingPunct="1">
              <a:lnSpc>
                <a:spcPct val="75000"/>
              </a:lnSpc>
              <a:buFont typeface="Wingdings" pitchFamily="2" charset="2"/>
              <a:buNone/>
            </a:pPr>
            <a:r>
              <a:rPr lang="en-US" altLang="zh-CN" sz="2400" b="1" dirty="0">
                <a:latin typeface="黑体" pitchFamily="2" charset="-122"/>
              </a:rPr>
              <a:t>void main()</a:t>
            </a:r>
          </a:p>
          <a:p>
            <a:pPr eaLnBrk="1" hangingPunct="1">
              <a:lnSpc>
                <a:spcPct val="75000"/>
              </a:lnSpc>
              <a:buFont typeface="Wingdings" pitchFamily="2" charset="2"/>
              <a:buNone/>
            </a:pPr>
            <a:r>
              <a:rPr lang="en-US" altLang="zh-CN" sz="2400" b="1" dirty="0">
                <a:latin typeface="黑体" pitchFamily="2" charset="-122"/>
              </a:rPr>
              <a:t>{ </a:t>
            </a:r>
            <a:r>
              <a:rPr lang="en-US" altLang="zh-CN" sz="2400" b="1" dirty="0" err="1">
                <a:latin typeface="黑体" pitchFamily="2" charset="-122"/>
              </a:rPr>
              <a:t>int</a:t>
            </a:r>
            <a:r>
              <a:rPr lang="en-US" altLang="zh-CN" sz="2400" b="1" dirty="0">
                <a:latin typeface="黑体" pitchFamily="2" charset="-122"/>
              </a:rPr>
              <a:t> </a:t>
            </a:r>
            <a:r>
              <a:rPr lang="en-US" altLang="zh-CN" sz="2400" b="1" dirty="0" err="1">
                <a:latin typeface="黑体" pitchFamily="2" charset="-122"/>
              </a:rPr>
              <a:t>i,j,n</a:t>
            </a:r>
            <a:r>
              <a:rPr lang="en-US" altLang="zh-CN" sz="2400" b="1" dirty="0">
                <a:latin typeface="黑体" pitchFamily="2" charset="-122"/>
              </a:rPr>
              <a:t>;</a:t>
            </a:r>
          </a:p>
          <a:p>
            <a:pPr eaLnBrk="1" hangingPunct="1">
              <a:lnSpc>
                <a:spcPct val="75000"/>
              </a:lnSpc>
              <a:buFont typeface="Wingdings" pitchFamily="2" charset="2"/>
              <a:buNone/>
            </a:pPr>
            <a:r>
              <a:rPr lang="en-US" altLang="zh-CN" sz="2400" b="1" dirty="0">
                <a:latin typeface="黑体" pitchFamily="2" charset="-122"/>
              </a:rPr>
              <a:t>  </a:t>
            </a:r>
            <a:r>
              <a:rPr lang="en-US" altLang="zh-CN" sz="2400" b="1" dirty="0" err="1">
                <a:latin typeface="黑体" pitchFamily="2" charset="-122"/>
              </a:rPr>
              <a:t>int</a:t>
            </a:r>
            <a:r>
              <a:rPr lang="en-US" altLang="zh-CN" sz="2400" b="1" dirty="0">
                <a:latin typeface="黑体" pitchFamily="2" charset="-122"/>
              </a:rPr>
              <a:t> a[MAXN][MAXN];</a:t>
            </a:r>
          </a:p>
          <a:p>
            <a:pPr eaLnBrk="1" hangingPunct="1">
              <a:lnSpc>
                <a:spcPct val="75000"/>
              </a:lnSpc>
              <a:buFont typeface="Wingdings" pitchFamily="2" charset="2"/>
              <a:buNone/>
            </a:pPr>
            <a:r>
              <a:rPr lang="en-US" altLang="zh-CN" sz="2400" b="1" dirty="0">
                <a:latin typeface="黑体" pitchFamily="2" charset="-122"/>
              </a:rPr>
              <a:t>  </a:t>
            </a:r>
            <a:r>
              <a:rPr lang="en-US" altLang="zh-CN" sz="2400" b="1" dirty="0" err="1">
                <a:latin typeface="黑体" pitchFamily="2" charset="-122"/>
              </a:rPr>
              <a:t>printf</a:t>
            </a:r>
            <a:r>
              <a:rPr lang="en-US" altLang="zh-CN" sz="2400" b="1" dirty="0">
                <a:latin typeface="黑体" pitchFamily="2" charset="-122"/>
              </a:rPr>
              <a:t>("Enter n:"); </a:t>
            </a:r>
            <a:r>
              <a:rPr lang="en-US" altLang="zh-CN" sz="2400" b="1" dirty="0" err="1">
                <a:latin typeface="黑体" pitchFamily="2" charset="-122"/>
              </a:rPr>
              <a:t>scanf</a:t>
            </a:r>
            <a:r>
              <a:rPr lang="en-US" altLang="zh-CN" sz="2400" b="1" dirty="0">
                <a:latin typeface="黑体" pitchFamily="2" charset="-122"/>
              </a:rPr>
              <a:t>("%</a:t>
            </a:r>
            <a:r>
              <a:rPr lang="en-US" altLang="zh-CN" sz="2400" b="1" dirty="0" err="1">
                <a:latin typeface="黑体" pitchFamily="2" charset="-122"/>
              </a:rPr>
              <a:t>d",&amp;n</a:t>
            </a:r>
            <a:r>
              <a:rPr lang="en-US" altLang="zh-CN" sz="2400" b="1" dirty="0">
                <a:latin typeface="黑体" pitchFamily="2" charset="-122"/>
              </a:rPr>
              <a:t>);</a:t>
            </a:r>
          </a:p>
          <a:p>
            <a:pPr eaLnBrk="1" hangingPunct="1">
              <a:lnSpc>
                <a:spcPct val="75000"/>
              </a:lnSpc>
              <a:buFont typeface="Wingdings" pitchFamily="2" charset="2"/>
              <a:buNone/>
            </a:pPr>
            <a:r>
              <a:rPr lang="en-US" altLang="zh-CN" sz="2400" b="1" dirty="0">
                <a:latin typeface="黑体" pitchFamily="2" charset="-122"/>
              </a:rPr>
              <a:t>  for(j=0;j&lt;</a:t>
            </a:r>
            <a:r>
              <a:rPr lang="en-US" altLang="zh-CN" sz="2400" b="1" dirty="0" err="1">
                <a:latin typeface="黑体" pitchFamily="2" charset="-122"/>
              </a:rPr>
              <a:t>n;j</a:t>
            </a:r>
            <a:r>
              <a:rPr lang="en-US" altLang="zh-CN" sz="2400" b="1" dirty="0">
                <a:latin typeface="黑体" pitchFamily="2" charset="-122"/>
              </a:rPr>
              <a:t>++)</a:t>
            </a:r>
          </a:p>
          <a:p>
            <a:pPr eaLnBrk="1" hangingPunct="1">
              <a:lnSpc>
                <a:spcPct val="75000"/>
              </a:lnSpc>
              <a:buFont typeface="Wingdings" pitchFamily="2" charset="2"/>
              <a:buNone/>
            </a:pPr>
            <a:r>
              <a:rPr lang="en-US" altLang="zh-CN" sz="2400" b="1" dirty="0">
                <a:latin typeface="黑体" pitchFamily="2" charset="-122"/>
              </a:rPr>
              <a:t>     a[0][j]=j+1; /* </a:t>
            </a:r>
            <a:r>
              <a:rPr lang="zh-CN" altLang="en-US" sz="2400" b="1" dirty="0">
                <a:latin typeface="黑体" pitchFamily="2" charset="-122"/>
              </a:rPr>
              <a:t>先产生第</a:t>
            </a:r>
            <a:r>
              <a:rPr lang="en-US" altLang="zh-CN" sz="2400" b="1" dirty="0">
                <a:latin typeface="黑体" pitchFamily="2" charset="-122"/>
              </a:rPr>
              <a:t>0</a:t>
            </a:r>
            <a:r>
              <a:rPr lang="zh-CN" altLang="en-US" sz="2400" b="1" dirty="0">
                <a:latin typeface="黑体" pitchFamily="2" charset="-122"/>
              </a:rPr>
              <a:t>行 *</a:t>
            </a:r>
            <a:r>
              <a:rPr lang="en-US" altLang="zh-CN" sz="2400" b="1" dirty="0">
                <a:latin typeface="黑体" pitchFamily="2" charset="-122"/>
              </a:rPr>
              <a:t>/</a:t>
            </a:r>
          </a:p>
          <a:p>
            <a:pPr eaLnBrk="1" hangingPunct="1">
              <a:lnSpc>
                <a:spcPct val="75000"/>
              </a:lnSpc>
              <a:buFont typeface="Wingdings" pitchFamily="2" charset="2"/>
              <a:buNone/>
            </a:pPr>
            <a:r>
              <a:rPr lang="en-US" altLang="zh-CN" sz="2400" b="1" dirty="0">
                <a:latin typeface="黑体" pitchFamily="2" charset="-122"/>
              </a:rPr>
              <a:t>  for(</a:t>
            </a:r>
            <a:r>
              <a:rPr lang="en-US" altLang="zh-CN" sz="2400" b="1" dirty="0" err="1">
                <a:latin typeface="黑体" pitchFamily="2" charset="-122"/>
              </a:rPr>
              <a:t>i</a:t>
            </a:r>
            <a:r>
              <a:rPr lang="en-US" altLang="zh-CN" sz="2400" b="1" dirty="0">
                <a:latin typeface="黑体" pitchFamily="2" charset="-122"/>
              </a:rPr>
              <a:t>=1;i&lt;</a:t>
            </a:r>
            <a:r>
              <a:rPr lang="en-US" altLang="zh-CN" sz="2400" b="1" dirty="0" err="1">
                <a:latin typeface="黑体" pitchFamily="2" charset="-122"/>
              </a:rPr>
              <a:t>n;i</a:t>
            </a:r>
            <a:r>
              <a:rPr lang="en-US" altLang="zh-CN" sz="2400" b="1" dirty="0">
                <a:latin typeface="黑体" pitchFamily="2" charset="-122"/>
              </a:rPr>
              <a:t>++){  /* </a:t>
            </a:r>
            <a:r>
              <a:rPr lang="zh-CN" altLang="en-US" sz="2400" b="1" dirty="0">
                <a:latin typeface="黑体" pitchFamily="2" charset="-122"/>
              </a:rPr>
              <a:t>从第</a:t>
            </a:r>
            <a:r>
              <a:rPr lang="en-US" altLang="zh-CN" sz="2400" b="1" dirty="0">
                <a:latin typeface="黑体" pitchFamily="2" charset="-122"/>
              </a:rPr>
              <a:t>1</a:t>
            </a:r>
            <a:r>
              <a:rPr lang="zh-CN" altLang="en-US" sz="2400" b="1" dirty="0">
                <a:latin typeface="黑体" pitchFamily="2" charset="-122"/>
              </a:rPr>
              <a:t>行起 *</a:t>
            </a:r>
            <a:r>
              <a:rPr lang="en-US" altLang="zh-CN" sz="2400" b="1" dirty="0">
                <a:latin typeface="黑体" pitchFamily="2" charset="-122"/>
              </a:rPr>
              <a:t>/</a:t>
            </a:r>
          </a:p>
          <a:p>
            <a:pPr eaLnBrk="1" hangingPunct="1">
              <a:lnSpc>
                <a:spcPct val="75000"/>
              </a:lnSpc>
              <a:buFont typeface="Wingdings" pitchFamily="2" charset="2"/>
              <a:buNone/>
            </a:pPr>
            <a:r>
              <a:rPr lang="en-US" altLang="zh-CN" sz="2400" b="1" dirty="0">
                <a:latin typeface="黑体" pitchFamily="2" charset="-122"/>
              </a:rPr>
              <a:t>     a[</a:t>
            </a:r>
            <a:r>
              <a:rPr lang="en-US" altLang="zh-CN" sz="2400" b="1" dirty="0" err="1">
                <a:latin typeface="黑体" pitchFamily="2" charset="-122"/>
              </a:rPr>
              <a:t>i</a:t>
            </a:r>
            <a:r>
              <a:rPr lang="en-US" altLang="zh-CN" sz="2400" b="1" dirty="0">
                <a:latin typeface="黑体" pitchFamily="2" charset="-122"/>
              </a:rPr>
              <a:t>][0]=a[i-1][n-1]; /* </a:t>
            </a:r>
            <a:r>
              <a:rPr lang="zh-CN" altLang="en-US" sz="2400" b="1" dirty="0">
                <a:latin typeface="黑体" pitchFamily="2" charset="-122"/>
              </a:rPr>
              <a:t>先产生当前行第</a:t>
            </a:r>
            <a:r>
              <a:rPr lang="en-US" altLang="zh-CN" sz="2400" b="1" dirty="0">
                <a:latin typeface="黑体" pitchFamily="2" charset="-122"/>
              </a:rPr>
              <a:t>0</a:t>
            </a:r>
            <a:r>
              <a:rPr lang="zh-CN" altLang="en-US" sz="2400" b="1" dirty="0">
                <a:latin typeface="黑体" pitchFamily="2" charset="-122"/>
              </a:rPr>
              <a:t>列 *</a:t>
            </a:r>
            <a:r>
              <a:rPr lang="en-US" altLang="zh-CN" sz="2400" b="1" dirty="0">
                <a:latin typeface="黑体" pitchFamily="2" charset="-122"/>
              </a:rPr>
              <a:t>/</a:t>
            </a:r>
          </a:p>
          <a:p>
            <a:pPr eaLnBrk="1" hangingPunct="1">
              <a:lnSpc>
                <a:spcPct val="75000"/>
              </a:lnSpc>
              <a:buFont typeface="Wingdings" pitchFamily="2" charset="2"/>
              <a:buNone/>
            </a:pPr>
            <a:r>
              <a:rPr lang="en-US" altLang="zh-CN" sz="2400" b="1" dirty="0">
                <a:latin typeface="黑体" pitchFamily="2" charset="-122"/>
              </a:rPr>
              <a:t>     for(j=1;j&lt;</a:t>
            </a:r>
            <a:r>
              <a:rPr lang="en-US" altLang="zh-CN" sz="2400" b="1" dirty="0" err="1">
                <a:latin typeface="黑体" pitchFamily="2" charset="-122"/>
              </a:rPr>
              <a:t>n;j</a:t>
            </a:r>
            <a:r>
              <a:rPr lang="en-US" altLang="zh-CN" sz="2400" b="1" dirty="0">
                <a:latin typeface="黑体" pitchFamily="2" charset="-122"/>
              </a:rPr>
              <a:t>++) /* </a:t>
            </a:r>
            <a:r>
              <a:rPr lang="zh-CN" altLang="en-US" sz="2400" b="1" dirty="0">
                <a:latin typeface="黑体" pitchFamily="2" charset="-122"/>
              </a:rPr>
              <a:t>再从当前行第</a:t>
            </a:r>
            <a:r>
              <a:rPr lang="en-US" altLang="zh-CN" sz="2400" b="1" dirty="0">
                <a:latin typeface="黑体" pitchFamily="2" charset="-122"/>
              </a:rPr>
              <a:t>1</a:t>
            </a:r>
            <a:r>
              <a:rPr lang="zh-CN" altLang="en-US" sz="2400" b="1" dirty="0">
                <a:latin typeface="黑体" pitchFamily="2" charset="-122"/>
              </a:rPr>
              <a:t>列起 *</a:t>
            </a:r>
            <a:r>
              <a:rPr lang="en-US" altLang="zh-CN" sz="2400" b="1" dirty="0">
                <a:latin typeface="黑体" pitchFamily="2" charset="-122"/>
              </a:rPr>
              <a:t>/</a:t>
            </a:r>
          </a:p>
          <a:p>
            <a:pPr eaLnBrk="1" hangingPunct="1">
              <a:lnSpc>
                <a:spcPct val="75000"/>
              </a:lnSpc>
              <a:buFont typeface="Wingdings" pitchFamily="2" charset="2"/>
              <a:buNone/>
            </a:pPr>
            <a:r>
              <a:rPr lang="en-US" altLang="zh-CN" sz="2400" b="1" dirty="0">
                <a:latin typeface="黑体" pitchFamily="2" charset="-122"/>
              </a:rPr>
              <a:t>	     a[</a:t>
            </a:r>
            <a:r>
              <a:rPr lang="en-US" altLang="zh-CN" sz="2400" b="1" dirty="0" err="1">
                <a:latin typeface="黑体" pitchFamily="2" charset="-122"/>
              </a:rPr>
              <a:t>i</a:t>
            </a:r>
            <a:r>
              <a:rPr lang="en-US" altLang="zh-CN" sz="2400" b="1" dirty="0">
                <a:latin typeface="黑体" pitchFamily="2" charset="-122"/>
              </a:rPr>
              <a:t>][j]=a[i-1][j-1]; /* </a:t>
            </a:r>
            <a:r>
              <a:rPr lang="zh-CN" altLang="en-US" sz="2400" b="1" dirty="0">
                <a:latin typeface="黑体" pitchFamily="2" charset="-122"/>
              </a:rPr>
              <a:t>为上</a:t>
            </a:r>
            <a:r>
              <a:rPr lang="en-US" altLang="zh-CN" sz="2400" b="1" dirty="0">
                <a:latin typeface="黑体" pitchFamily="2" charset="-122"/>
              </a:rPr>
              <a:t>1</a:t>
            </a:r>
            <a:r>
              <a:rPr lang="zh-CN" altLang="en-US" sz="2400" b="1" dirty="0">
                <a:latin typeface="黑体" pitchFamily="2" charset="-122"/>
              </a:rPr>
              <a:t>行左边</a:t>
            </a:r>
            <a:r>
              <a:rPr lang="en-US" altLang="zh-CN" sz="2400" b="1" dirty="0">
                <a:latin typeface="黑体" pitchFamily="2" charset="-122"/>
              </a:rPr>
              <a:t>1</a:t>
            </a:r>
            <a:r>
              <a:rPr lang="zh-CN" altLang="en-US" sz="2400" b="1" dirty="0">
                <a:latin typeface="黑体" pitchFamily="2" charset="-122"/>
              </a:rPr>
              <a:t>个元素 *</a:t>
            </a:r>
            <a:r>
              <a:rPr lang="en-US" altLang="zh-CN" sz="2400" b="1" dirty="0">
                <a:latin typeface="黑体" pitchFamily="2" charset="-122"/>
              </a:rPr>
              <a:t>/ </a:t>
            </a:r>
          </a:p>
          <a:p>
            <a:pPr eaLnBrk="1" hangingPunct="1">
              <a:lnSpc>
                <a:spcPct val="75000"/>
              </a:lnSpc>
              <a:buFont typeface="Wingdings" pitchFamily="2" charset="2"/>
              <a:buNone/>
            </a:pPr>
            <a:r>
              <a:rPr lang="en-US" altLang="zh-CN" sz="2400" b="1" dirty="0">
                <a:latin typeface="黑体" pitchFamily="2" charset="-122"/>
              </a:rPr>
              <a:t>  }</a:t>
            </a:r>
          </a:p>
          <a:p>
            <a:pPr eaLnBrk="1" hangingPunct="1">
              <a:lnSpc>
                <a:spcPct val="75000"/>
              </a:lnSpc>
              <a:buFont typeface="Wingdings" pitchFamily="2" charset="2"/>
              <a:buNone/>
            </a:pPr>
            <a:r>
              <a:rPr lang="en-US" altLang="zh-CN" sz="2400" b="1" dirty="0">
                <a:latin typeface="黑体" pitchFamily="2" charset="-122"/>
              </a:rPr>
              <a:t>}</a:t>
            </a:r>
          </a:p>
        </p:txBody>
      </p:sp>
      <p:sp>
        <p:nvSpPr>
          <p:cNvPr id="5" name="灯片编号占位符 5"/>
          <p:cNvSpPr>
            <a:spLocks noGrp="1"/>
          </p:cNvSpPr>
          <p:nvPr>
            <p:ph type="sldNum" sz="quarter" idx="12"/>
          </p:nvPr>
        </p:nvSpPr>
        <p:spPr/>
        <p:txBody>
          <a:bodyPr/>
          <a:lstStyle/>
          <a:p>
            <a:pPr>
              <a:defRPr/>
            </a:pPr>
            <a:fld id="{E71E2F4A-1F54-4795-98AF-4F4AE88ACEB7}" type="slidenum">
              <a:rPr lang="en-US" altLang="zh-CN"/>
              <a:pPr>
                <a:defRPr/>
              </a:pPr>
              <a:t>76</a:t>
            </a:fld>
            <a:endParaRPr lang="en-US" altLang="zh-CN"/>
          </a:p>
        </p:txBody>
      </p:sp>
      <p:sp>
        <p:nvSpPr>
          <p:cNvPr id="4" name="TextBox 3"/>
          <p:cNvSpPr txBox="1"/>
          <p:nvPr/>
        </p:nvSpPr>
        <p:spPr>
          <a:xfrm>
            <a:off x="6215063" y="0"/>
            <a:ext cx="2928937" cy="2246313"/>
          </a:xfrm>
          <a:prstGeom prst="rect">
            <a:avLst/>
          </a:prstGeom>
          <a:noFill/>
        </p:spPr>
        <p:txBody>
          <a:bodyPr>
            <a:spAutoFit/>
          </a:bodyPr>
          <a:lstStyle/>
          <a:p>
            <a:pPr algn="just" eaLnBrk="1" fontAlgn="auto" hangingPunct="1">
              <a:spcAft>
                <a:spcPts val="0"/>
              </a:spcAft>
              <a:buClr>
                <a:schemeClr val="accent3"/>
              </a:buClr>
              <a:buFont typeface="Wingdings" pitchFamily="2" charset="2"/>
              <a:buNone/>
              <a:defRPr/>
            </a:pPr>
            <a:r>
              <a:rPr lang="en-US" altLang="zh-CN" dirty="0">
                <a:effectLst>
                  <a:outerShdw blurRad="38100" dist="38100" dir="2700000" algn="tl">
                    <a:srgbClr val="C0C0C0"/>
                  </a:outerShdw>
                </a:effectLst>
                <a:latin typeface="宋体" pitchFamily="2" charset="-122"/>
              </a:rPr>
              <a:t>1  2  3  4  5</a:t>
            </a:r>
          </a:p>
          <a:p>
            <a:pPr algn="just" eaLnBrk="1" fontAlgn="auto" hangingPunct="1">
              <a:spcAft>
                <a:spcPts val="0"/>
              </a:spcAft>
              <a:buClr>
                <a:schemeClr val="accent3"/>
              </a:buClr>
              <a:buFont typeface="Wingdings" pitchFamily="2" charset="2"/>
              <a:buNone/>
              <a:defRPr/>
            </a:pPr>
            <a:r>
              <a:rPr lang="en-US" altLang="zh-CN" dirty="0">
                <a:effectLst>
                  <a:outerShdw blurRad="38100" dist="38100" dir="2700000" algn="tl">
                    <a:srgbClr val="C0C0C0"/>
                  </a:outerShdw>
                </a:effectLst>
                <a:latin typeface="宋体" pitchFamily="2" charset="-122"/>
              </a:rPr>
              <a:t>5  1  2  3  4</a:t>
            </a:r>
          </a:p>
          <a:p>
            <a:pPr algn="just" eaLnBrk="1" fontAlgn="auto" hangingPunct="1">
              <a:spcAft>
                <a:spcPts val="0"/>
              </a:spcAft>
              <a:buClr>
                <a:schemeClr val="accent3"/>
              </a:buClr>
              <a:buFont typeface="Wingdings" pitchFamily="2" charset="2"/>
              <a:buNone/>
              <a:defRPr/>
            </a:pPr>
            <a:r>
              <a:rPr lang="en-US" altLang="zh-CN" dirty="0">
                <a:effectLst>
                  <a:outerShdw blurRad="38100" dist="38100" dir="2700000" algn="tl">
                    <a:srgbClr val="C0C0C0"/>
                  </a:outerShdw>
                </a:effectLst>
                <a:latin typeface="宋体" pitchFamily="2" charset="-122"/>
              </a:rPr>
              <a:t>4  5  1  2  3     </a:t>
            </a:r>
          </a:p>
          <a:p>
            <a:pPr algn="just" eaLnBrk="1" fontAlgn="auto" hangingPunct="1">
              <a:spcAft>
                <a:spcPts val="0"/>
              </a:spcAft>
              <a:buClr>
                <a:schemeClr val="accent3"/>
              </a:buClr>
              <a:buFont typeface="Wingdings" pitchFamily="2" charset="2"/>
              <a:buNone/>
              <a:defRPr/>
            </a:pPr>
            <a:r>
              <a:rPr lang="en-US" altLang="zh-CN" dirty="0">
                <a:effectLst>
                  <a:outerShdw blurRad="38100" dist="38100" dir="2700000" algn="tl">
                    <a:srgbClr val="C0C0C0"/>
                  </a:outerShdw>
                </a:effectLst>
                <a:latin typeface="宋体" pitchFamily="2" charset="-122"/>
              </a:rPr>
              <a:t>3  4  5  1  2</a:t>
            </a:r>
          </a:p>
          <a:p>
            <a:pPr algn="just" eaLnBrk="1" fontAlgn="auto" hangingPunct="1">
              <a:spcAft>
                <a:spcPts val="0"/>
              </a:spcAft>
              <a:buClr>
                <a:schemeClr val="accent3"/>
              </a:buClr>
              <a:buFont typeface="Wingdings" pitchFamily="2" charset="2"/>
              <a:buNone/>
              <a:defRPr/>
            </a:pPr>
            <a:r>
              <a:rPr lang="en-US" altLang="zh-CN" dirty="0">
                <a:effectLst>
                  <a:outerShdw blurRad="38100" dist="38100" dir="2700000" algn="tl">
                    <a:srgbClr val="C0C0C0"/>
                  </a:outerShdw>
                </a:effectLst>
                <a:latin typeface="宋体" pitchFamily="2" charset="-122"/>
              </a:rPr>
              <a:t>2  3  4  5  1</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1682">
                                            <p:txEl>
                                              <p:pRg st="0" end="0"/>
                                            </p:txEl>
                                          </p:spTgt>
                                        </p:tgtEl>
                                        <p:attrNameLst>
                                          <p:attrName>style.visibility</p:attrName>
                                        </p:attrNameLst>
                                      </p:cBhvr>
                                      <p:to>
                                        <p:strVal val="visible"/>
                                      </p:to>
                                    </p:set>
                                    <p:anim calcmode="lin" valueType="num">
                                      <p:cBhvr additive="base">
                                        <p:cTn id="7" dur="500" fill="hold"/>
                                        <p:tgtEl>
                                          <p:spTgt spid="7168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168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1682">
                                            <p:txEl>
                                              <p:pRg st="1" end="1"/>
                                            </p:txEl>
                                          </p:spTgt>
                                        </p:tgtEl>
                                        <p:attrNameLst>
                                          <p:attrName>style.visibility</p:attrName>
                                        </p:attrNameLst>
                                      </p:cBhvr>
                                      <p:to>
                                        <p:strVal val="visible"/>
                                      </p:to>
                                    </p:set>
                                    <p:anim calcmode="lin" valueType="num">
                                      <p:cBhvr additive="base">
                                        <p:cTn id="11" dur="500" fill="hold"/>
                                        <p:tgtEl>
                                          <p:spTgt spid="71682">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1682">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71682">
                                            <p:txEl>
                                              <p:pRg st="2" end="2"/>
                                            </p:txEl>
                                          </p:spTgt>
                                        </p:tgtEl>
                                        <p:attrNameLst>
                                          <p:attrName>style.visibility</p:attrName>
                                        </p:attrNameLst>
                                      </p:cBhvr>
                                      <p:to>
                                        <p:strVal val="visible"/>
                                      </p:to>
                                    </p:set>
                                    <p:anim calcmode="lin" valueType="num">
                                      <p:cBhvr additive="base">
                                        <p:cTn id="15" dur="500" fill="hold"/>
                                        <p:tgtEl>
                                          <p:spTgt spid="71682">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1682">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71682">
                                            <p:txEl>
                                              <p:pRg st="3" end="3"/>
                                            </p:txEl>
                                          </p:spTgt>
                                        </p:tgtEl>
                                        <p:attrNameLst>
                                          <p:attrName>style.visibility</p:attrName>
                                        </p:attrNameLst>
                                      </p:cBhvr>
                                      <p:to>
                                        <p:strVal val="visible"/>
                                      </p:to>
                                    </p:set>
                                    <p:anim calcmode="lin" valueType="num">
                                      <p:cBhvr additive="base">
                                        <p:cTn id="19" dur="500" fill="hold"/>
                                        <p:tgtEl>
                                          <p:spTgt spid="71682">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1682">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71682">
                                            <p:txEl>
                                              <p:pRg st="12" end="12"/>
                                            </p:txEl>
                                          </p:spTgt>
                                        </p:tgtEl>
                                        <p:attrNameLst>
                                          <p:attrName>style.visibility</p:attrName>
                                        </p:attrNameLst>
                                      </p:cBhvr>
                                      <p:to>
                                        <p:strVal val="visible"/>
                                      </p:to>
                                    </p:set>
                                    <p:anim calcmode="lin" valueType="num">
                                      <p:cBhvr additive="base">
                                        <p:cTn id="23" dur="500" fill="hold"/>
                                        <p:tgtEl>
                                          <p:spTgt spid="71682">
                                            <p:txEl>
                                              <p:pRg st="12" end="1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1682">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71682">
                                            <p:txEl>
                                              <p:pRg st="4" end="4"/>
                                            </p:txEl>
                                          </p:spTgt>
                                        </p:tgtEl>
                                        <p:attrNameLst>
                                          <p:attrName>style.visibility</p:attrName>
                                        </p:attrNameLst>
                                      </p:cBhvr>
                                      <p:to>
                                        <p:strVal val="visible"/>
                                      </p:to>
                                    </p:set>
                                    <p:anim calcmode="lin" valueType="num">
                                      <p:cBhvr additive="base">
                                        <p:cTn id="29" dur="500" fill="hold"/>
                                        <p:tgtEl>
                                          <p:spTgt spid="71682">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7168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71682">
                                            <p:txEl>
                                              <p:pRg st="5" end="5"/>
                                            </p:txEl>
                                          </p:spTgt>
                                        </p:tgtEl>
                                        <p:attrNameLst>
                                          <p:attrName>style.visibility</p:attrName>
                                        </p:attrNameLst>
                                      </p:cBhvr>
                                      <p:to>
                                        <p:strVal val="visible"/>
                                      </p:to>
                                    </p:set>
                                    <p:anim calcmode="lin" valueType="num">
                                      <p:cBhvr additive="base">
                                        <p:cTn id="35" dur="500" fill="hold"/>
                                        <p:tgtEl>
                                          <p:spTgt spid="71682">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71682">
                                            <p:txEl>
                                              <p:pRg st="5" end="5"/>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71682">
                                            <p:txEl>
                                              <p:pRg st="6" end="6"/>
                                            </p:txEl>
                                          </p:spTgt>
                                        </p:tgtEl>
                                        <p:attrNameLst>
                                          <p:attrName>style.visibility</p:attrName>
                                        </p:attrNameLst>
                                      </p:cBhvr>
                                      <p:to>
                                        <p:strVal val="visible"/>
                                      </p:to>
                                    </p:set>
                                    <p:anim calcmode="lin" valueType="num">
                                      <p:cBhvr additive="base">
                                        <p:cTn id="39" dur="500" fill="hold"/>
                                        <p:tgtEl>
                                          <p:spTgt spid="71682">
                                            <p:txEl>
                                              <p:pRg st="6" end="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7168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71682">
                                            <p:txEl>
                                              <p:pRg st="7" end="7"/>
                                            </p:txEl>
                                          </p:spTgt>
                                        </p:tgtEl>
                                        <p:attrNameLst>
                                          <p:attrName>style.visibility</p:attrName>
                                        </p:attrNameLst>
                                      </p:cBhvr>
                                      <p:to>
                                        <p:strVal val="visible"/>
                                      </p:to>
                                    </p:set>
                                    <p:anim calcmode="lin" valueType="num">
                                      <p:cBhvr additive="base">
                                        <p:cTn id="45" dur="500" fill="hold"/>
                                        <p:tgtEl>
                                          <p:spTgt spid="71682">
                                            <p:txEl>
                                              <p:pRg st="7" end="7"/>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71682">
                                            <p:txEl>
                                              <p:pRg st="7" end="7"/>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71682">
                                            <p:txEl>
                                              <p:pRg st="11" end="11"/>
                                            </p:txEl>
                                          </p:spTgt>
                                        </p:tgtEl>
                                        <p:attrNameLst>
                                          <p:attrName>style.visibility</p:attrName>
                                        </p:attrNameLst>
                                      </p:cBhvr>
                                      <p:to>
                                        <p:strVal val="visible"/>
                                      </p:to>
                                    </p:set>
                                    <p:anim calcmode="lin" valueType="num">
                                      <p:cBhvr additive="base">
                                        <p:cTn id="49" dur="500" fill="hold"/>
                                        <p:tgtEl>
                                          <p:spTgt spid="71682">
                                            <p:txEl>
                                              <p:pRg st="11" end="11"/>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71682">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71682">
                                            <p:txEl>
                                              <p:pRg st="8" end="8"/>
                                            </p:txEl>
                                          </p:spTgt>
                                        </p:tgtEl>
                                        <p:attrNameLst>
                                          <p:attrName>style.visibility</p:attrName>
                                        </p:attrNameLst>
                                      </p:cBhvr>
                                      <p:to>
                                        <p:strVal val="visible"/>
                                      </p:to>
                                    </p:set>
                                    <p:anim calcmode="lin" valueType="num">
                                      <p:cBhvr additive="base">
                                        <p:cTn id="55" dur="500" fill="hold"/>
                                        <p:tgtEl>
                                          <p:spTgt spid="71682">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71682">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71682">
                                            <p:txEl>
                                              <p:pRg st="9" end="9"/>
                                            </p:txEl>
                                          </p:spTgt>
                                        </p:tgtEl>
                                        <p:attrNameLst>
                                          <p:attrName>style.visibility</p:attrName>
                                        </p:attrNameLst>
                                      </p:cBhvr>
                                      <p:to>
                                        <p:strVal val="visible"/>
                                      </p:to>
                                    </p:set>
                                    <p:anim calcmode="lin" valueType="num">
                                      <p:cBhvr additive="base">
                                        <p:cTn id="61" dur="500" fill="hold"/>
                                        <p:tgtEl>
                                          <p:spTgt spid="71682">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71682">
                                            <p:txEl>
                                              <p:pRg st="9" end="9"/>
                                            </p:txEl>
                                          </p:spTgt>
                                        </p:tgtEl>
                                        <p:attrNameLst>
                                          <p:attrName>ppt_y</p:attrName>
                                        </p:attrNameLst>
                                      </p:cBhvr>
                                      <p:tavLst>
                                        <p:tav tm="0">
                                          <p:val>
                                            <p:strVal val="1+#ppt_h/2"/>
                                          </p:val>
                                        </p:tav>
                                        <p:tav tm="100000">
                                          <p:val>
                                            <p:strVal val="#ppt_y"/>
                                          </p:val>
                                        </p:tav>
                                      </p:tavLst>
                                    </p:anim>
                                  </p:childTnLst>
                                </p:cTn>
                              </p:par>
                              <p:par>
                                <p:cTn id="63" presetID="2" presetClass="entr" presetSubtype="4" fill="hold" nodeType="withEffect">
                                  <p:stCondLst>
                                    <p:cond delay="0"/>
                                  </p:stCondLst>
                                  <p:childTnLst>
                                    <p:set>
                                      <p:cBhvr>
                                        <p:cTn id="64" dur="1" fill="hold">
                                          <p:stCondLst>
                                            <p:cond delay="0"/>
                                          </p:stCondLst>
                                        </p:cTn>
                                        <p:tgtEl>
                                          <p:spTgt spid="71682">
                                            <p:txEl>
                                              <p:pRg st="10" end="10"/>
                                            </p:txEl>
                                          </p:spTgt>
                                        </p:tgtEl>
                                        <p:attrNameLst>
                                          <p:attrName>style.visibility</p:attrName>
                                        </p:attrNameLst>
                                      </p:cBhvr>
                                      <p:to>
                                        <p:strVal val="visible"/>
                                      </p:to>
                                    </p:set>
                                    <p:anim calcmode="lin" valueType="num">
                                      <p:cBhvr additive="base">
                                        <p:cTn id="65" dur="500" fill="hold"/>
                                        <p:tgtEl>
                                          <p:spTgt spid="71682">
                                            <p:txEl>
                                              <p:pRg st="10" end="10"/>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71682">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7602" name="Rectangle 2"/>
          <p:cNvSpPr>
            <a:spLocks noGrp="1" noChangeArrowheads="1"/>
          </p:cNvSpPr>
          <p:nvPr>
            <p:ph idx="1"/>
          </p:nvPr>
        </p:nvSpPr>
        <p:spPr>
          <a:xfrm>
            <a:off x="468313" y="765175"/>
            <a:ext cx="8280400" cy="5903913"/>
          </a:xfrm>
        </p:spPr>
        <p:txBody>
          <a:bodyPr>
            <a:normAutofit/>
          </a:bodyPr>
          <a:lstStyle/>
          <a:p>
            <a:pPr marL="274320" indent="-274320" eaLnBrk="1" fontAlgn="auto" hangingPunct="1">
              <a:lnSpc>
                <a:spcPct val="85000"/>
              </a:lnSpc>
              <a:spcAft>
                <a:spcPts val="0"/>
              </a:spcAft>
              <a:buClr>
                <a:schemeClr val="accent3"/>
              </a:buClr>
              <a:buFont typeface="Wingdings" pitchFamily="2" charset="2"/>
              <a:buNone/>
              <a:defRPr/>
            </a:pPr>
            <a:r>
              <a:rPr lang="zh-CN" altLang="en-US" sz="2400" b="1" dirty="0">
                <a:solidFill>
                  <a:srgbClr val="0000FF"/>
                </a:solidFill>
                <a:effectLst>
                  <a:outerShdw blurRad="38100" dist="38100" dir="2700000" algn="tl">
                    <a:srgbClr val="C0C0C0"/>
                  </a:outerShdw>
                </a:effectLst>
                <a:latin typeface="宋体" pitchFamily="2" charset="-122"/>
              </a:rPr>
              <a:t>算法</a:t>
            </a:r>
            <a:r>
              <a:rPr lang="en-US" altLang="zh-CN" sz="2400" b="1" dirty="0">
                <a:solidFill>
                  <a:srgbClr val="0000FF"/>
                </a:solidFill>
                <a:effectLst>
                  <a:outerShdw blurRad="38100" dist="38100" dir="2700000" algn="tl">
                    <a:srgbClr val="C0C0C0"/>
                  </a:outerShdw>
                </a:effectLst>
                <a:latin typeface="宋体" pitchFamily="2" charset="-122"/>
              </a:rPr>
              <a:t>(2)</a:t>
            </a:r>
            <a:r>
              <a:rPr lang="zh-CN" altLang="en-US" sz="2400" b="1" dirty="0">
                <a:solidFill>
                  <a:srgbClr val="0000FF"/>
                </a:solidFill>
                <a:effectLst>
                  <a:outerShdw blurRad="38100" dist="38100" dir="2700000" algn="tl">
                    <a:srgbClr val="C0C0C0"/>
                  </a:outerShdw>
                </a:effectLst>
                <a:latin typeface="宋体" pitchFamily="2" charset="-122"/>
              </a:rPr>
              <a:t>：</a:t>
            </a:r>
          </a:p>
          <a:p>
            <a:pPr marL="274320" indent="-274320" eaLnBrk="1" fontAlgn="auto" hangingPunct="1">
              <a:lnSpc>
                <a:spcPct val="85000"/>
              </a:lnSpc>
              <a:spcAft>
                <a:spcPts val="0"/>
              </a:spcAft>
              <a:buClr>
                <a:schemeClr val="accent3"/>
              </a:buClr>
              <a:buFont typeface="Wingdings" pitchFamily="2" charset="2"/>
              <a:buNone/>
              <a:defRPr/>
            </a:pPr>
            <a:endParaRPr lang="zh-CN" altLang="en-US" sz="2400" b="1" dirty="0">
              <a:solidFill>
                <a:srgbClr val="0000FF"/>
              </a:solidFill>
              <a:effectLst>
                <a:outerShdw blurRad="38100" dist="38100" dir="2700000" algn="tl">
                  <a:srgbClr val="C0C0C0"/>
                </a:outerShdw>
              </a:effectLst>
              <a:latin typeface="宋体" pitchFamily="2" charset="-122"/>
            </a:endParaRPr>
          </a:p>
          <a:p>
            <a:pPr marL="0" indent="0" eaLnBrk="1" fontAlgn="auto" hangingPunct="1">
              <a:lnSpc>
                <a:spcPct val="85000"/>
              </a:lnSpc>
              <a:spcAft>
                <a:spcPts val="0"/>
              </a:spcAft>
              <a:buClr>
                <a:schemeClr val="accent3"/>
              </a:buClr>
              <a:buFont typeface="Wingdings" pitchFamily="2" charset="2"/>
              <a:buNone/>
              <a:defRPr/>
            </a:pPr>
            <a:r>
              <a:rPr lang="zh-CN" altLang="en-US" b="1" dirty="0"/>
              <a:t>将</a:t>
            </a:r>
            <a:r>
              <a:rPr lang="en-US" altLang="zh-CN" b="1" dirty="0" err="1"/>
              <a:t>i</a:t>
            </a:r>
            <a:r>
              <a:rPr lang="zh-CN" altLang="en-US" b="1" dirty="0"/>
              <a:t>行的内容分成两部分</a:t>
            </a:r>
            <a:r>
              <a:rPr lang="en-US" altLang="zh-CN" b="1" dirty="0"/>
              <a:t>:</a:t>
            </a:r>
            <a:r>
              <a:rPr lang="en-US" altLang="zh-CN" b="1" dirty="0" err="1">
                <a:solidFill>
                  <a:srgbClr val="FF0000"/>
                </a:solidFill>
              </a:rPr>
              <a:t>i</a:t>
            </a:r>
            <a:r>
              <a:rPr lang="zh-CN" altLang="en-US" b="1" dirty="0">
                <a:solidFill>
                  <a:srgbClr val="FF0000"/>
                </a:solidFill>
              </a:rPr>
              <a:t>列至</a:t>
            </a:r>
            <a:r>
              <a:rPr lang="en-US" altLang="zh-CN" b="1" dirty="0">
                <a:solidFill>
                  <a:srgbClr val="FF0000"/>
                </a:solidFill>
              </a:rPr>
              <a:t>n-1</a:t>
            </a:r>
            <a:r>
              <a:rPr lang="zh-CN" altLang="en-US" b="1" dirty="0">
                <a:solidFill>
                  <a:srgbClr val="FF0000"/>
                </a:solidFill>
              </a:rPr>
              <a:t>列的值为</a:t>
            </a:r>
            <a:r>
              <a:rPr lang="en-US" altLang="zh-CN" b="1" dirty="0">
                <a:solidFill>
                  <a:srgbClr val="FF0000"/>
                </a:solidFill>
              </a:rPr>
              <a:t>1</a:t>
            </a:r>
            <a:r>
              <a:rPr lang="zh-CN" altLang="en-US" b="1" dirty="0">
                <a:solidFill>
                  <a:srgbClr val="FF0000"/>
                </a:solidFill>
              </a:rPr>
              <a:t>至</a:t>
            </a:r>
            <a:r>
              <a:rPr lang="en-US" altLang="zh-CN" b="1" dirty="0">
                <a:solidFill>
                  <a:srgbClr val="FF0000"/>
                </a:solidFill>
              </a:rPr>
              <a:t>n-</a:t>
            </a:r>
            <a:r>
              <a:rPr lang="en-US" altLang="zh-CN" b="1" dirty="0" err="1">
                <a:solidFill>
                  <a:srgbClr val="FF0000"/>
                </a:solidFill>
              </a:rPr>
              <a:t>i</a:t>
            </a:r>
            <a:r>
              <a:rPr lang="zh-CN" altLang="en-US" b="1" dirty="0">
                <a:solidFill>
                  <a:srgbClr val="FF0000"/>
                </a:solidFill>
              </a:rPr>
              <a:t>，</a:t>
            </a:r>
            <a:r>
              <a:rPr lang="en-US" altLang="zh-CN" b="1" dirty="0">
                <a:solidFill>
                  <a:srgbClr val="FF0000"/>
                </a:solidFill>
              </a:rPr>
              <a:t>0</a:t>
            </a:r>
            <a:r>
              <a:rPr lang="zh-CN" altLang="en-US" b="1" dirty="0">
                <a:solidFill>
                  <a:srgbClr val="FF0000"/>
                </a:solidFill>
              </a:rPr>
              <a:t>列至</a:t>
            </a:r>
            <a:r>
              <a:rPr lang="en-US" altLang="zh-CN" b="1" dirty="0">
                <a:solidFill>
                  <a:srgbClr val="FF0000"/>
                </a:solidFill>
              </a:rPr>
              <a:t>i-1</a:t>
            </a:r>
            <a:r>
              <a:rPr lang="zh-CN" altLang="en-US" b="1" dirty="0">
                <a:solidFill>
                  <a:srgbClr val="FF0000"/>
                </a:solidFill>
              </a:rPr>
              <a:t>列的值为</a:t>
            </a:r>
            <a:r>
              <a:rPr lang="en-US" altLang="zh-CN" b="1" dirty="0">
                <a:solidFill>
                  <a:srgbClr val="FF0000"/>
                </a:solidFill>
              </a:rPr>
              <a:t>n-i+1</a:t>
            </a:r>
            <a:r>
              <a:rPr lang="zh-CN" altLang="en-US" b="1" dirty="0">
                <a:solidFill>
                  <a:srgbClr val="FF0000"/>
                </a:solidFill>
              </a:rPr>
              <a:t>至</a:t>
            </a:r>
            <a:r>
              <a:rPr lang="en-US" altLang="zh-CN" b="1" dirty="0">
                <a:solidFill>
                  <a:srgbClr val="FF0000"/>
                </a:solidFill>
              </a:rPr>
              <a:t>n</a:t>
            </a:r>
            <a:r>
              <a:rPr lang="zh-CN" altLang="en-US" b="1" dirty="0"/>
              <a:t>。为了简便，引入赋值变量</a:t>
            </a:r>
            <a:r>
              <a:rPr lang="en-US" altLang="zh-CN" b="1" dirty="0"/>
              <a:t>k</a:t>
            </a:r>
            <a:r>
              <a:rPr lang="zh-CN" altLang="en-US" b="1" dirty="0"/>
              <a:t>，</a:t>
            </a:r>
            <a:r>
              <a:rPr lang="en-US" altLang="zh-CN" b="1" dirty="0"/>
              <a:t>k</a:t>
            </a:r>
            <a:r>
              <a:rPr lang="zh-CN" altLang="en-US" b="1" dirty="0"/>
              <a:t>的初值为</a:t>
            </a:r>
            <a:r>
              <a:rPr lang="en-US" altLang="zh-CN" b="1" dirty="0"/>
              <a:t>1</a:t>
            </a:r>
            <a:r>
              <a:rPr lang="zh-CN" altLang="en-US" b="1" dirty="0"/>
              <a:t>，每次赋值后增</a:t>
            </a:r>
            <a:r>
              <a:rPr lang="en-US" altLang="zh-CN" b="1" dirty="0"/>
              <a:t>1</a:t>
            </a:r>
            <a:r>
              <a:rPr lang="zh-CN" altLang="en-US" b="1" dirty="0"/>
              <a:t>。实现代码如下：</a:t>
            </a:r>
          </a:p>
          <a:p>
            <a:pPr marL="274320" indent="-274320" eaLnBrk="1" fontAlgn="auto" hangingPunct="1">
              <a:lnSpc>
                <a:spcPct val="85000"/>
              </a:lnSpc>
              <a:spcAft>
                <a:spcPts val="0"/>
              </a:spcAft>
              <a:buClr>
                <a:schemeClr val="accent3"/>
              </a:buClr>
              <a:buFont typeface="Wingdings" pitchFamily="2" charset="2"/>
              <a:buNone/>
              <a:defRPr/>
            </a:pPr>
            <a:r>
              <a:rPr lang="zh-CN" altLang="en-US" b="1" dirty="0"/>
              <a:t>       </a:t>
            </a:r>
            <a:r>
              <a:rPr lang="en-US" altLang="zh-CN" b="1" dirty="0"/>
              <a:t>for(</a:t>
            </a:r>
            <a:r>
              <a:rPr lang="en-US" altLang="zh-CN" b="1" dirty="0" err="1"/>
              <a:t>i</a:t>
            </a:r>
            <a:r>
              <a:rPr lang="en-US" altLang="zh-CN" b="1" dirty="0"/>
              <a:t> = 0; </a:t>
            </a:r>
            <a:r>
              <a:rPr lang="en-US" altLang="zh-CN" b="1" dirty="0" err="1"/>
              <a:t>i</a:t>
            </a:r>
            <a:r>
              <a:rPr lang="en-US" altLang="zh-CN" b="1" dirty="0"/>
              <a:t> &lt; n; </a:t>
            </a:r>
            <a:r>
              <a:rPr lang="en-US" altLang="zh-CN" b="1" dirty="0" err="1"/>
              <a:t>i</a:t>
            </a:r>
            <a:r>
              <a:rPr lang="en-US" altLang="zh-CN" b="1" dirty="0"/>
              <a:t>++) {  </a:t>
            </a:r>
          </a:p>
          <a:p>
            <a:pPr marL="274320" indent="-274320" eaLnBrk="1" fontAlgn="auto" hangingPunct="1">
              <a:lnSpc>
                <a:spcPct val="85000"/>
              </a:lnSpc>
              <a:spcAft>
                <a:spcPts val="0"/>
              </a:spcAft>
              <a:buClr>
                <a:schemeClr val="accent3"/>
              </a:buClr>
              <a:buFont typeface="Wingdings" pitchFamily="2" charset="2"/>
              <a:buNone/>
              <a:defRPr/>
            </a:pPr>
            <a:r>
              <a:rPr lang="en-US" altLang="zh-CN" b="1" dirty="0"/>
              <a:t>           for(k = 1,j = </a:t>
            </a:r>
            <a:r>
              <a:rPr lang="en-US" altLang="zh-CN" b="1" dirty="0" err="1"/>
              <a:t>i</a:t>
            </a:r>
            <a:r>
              <a:rPr lang="en-US" altLang="zh-CN" b="1" dirty="0"/>
              <a:t>; j &lt; n; j++)</a:t>
            </a:r>
          </a:p>
          <a:p>
            <a:pPr marL="274320" indent="-274320" eaLnBrk="1" fontAlgn="auto" hangingPunct="1">
              <a:lnSpc>
                <a:spcPct val="85000"/>
              </a:lnSpc>
              <a:spcAft>
                <a:spcPts val="0"/>
              </a:spcAft>
              <a:buClr>
                <a:schemeClr val="accent3"/>
              </a:buClr>
              <a:buFont typeface="Wingdings" pitchFamily="2" charset="2"/>
              <a:buNone/>
              <a:defRPr/>
            </a:pPr>
            <a:r>
              <a:rPr lang="en-US" altLang="zh-CN" b="1" dirty="0"/>
              <a:t>              a[</a:t>
            </a:r>
            <a:r>
              <a:rPr lang="en-US" altLang="zh-CN" b="1" dirty="0" err="1"/>
              <a:t>i</a:t>
            </a:r>
            <a:r>
              <a:rPr lang="en-US" altLang="zh-CN" b="1" dirty="0"/>
              <a:t>][j] = k++;</a:t>
            </a:r>
          </a:p>
          <a:p>
            <a:pPr marL="274320" indent="-274320" eaLnBrk="1" fontAlgn="auto" hangingPunct="1">
              <a:lnSpc>
                <a:spcPct val="85000"/>
              </a:lnSpc>
              <a:spcAft>
                <a:spcPts val="0"/>
              </a:spcAft>
              <a:buClr>
                <a:schemeClr val="accent3"/>
              </a:buClr>
              <a:buFont typeface="Wingdings" pitchFamily="2" charset="2"/>
              <a:buNone/>
              <a:defRPr/>
            </a:pPr>
            <a:r>
              <a:rPr lang="en-US" altLang="zh-CN" b="1" dirty="0"/>
              <a:t>           for(j = 0; j &lt; </a:t>
            </a:r>
            <a:r>
              <a:rPr lang="en-US" altLang="zh-CN" b="1" dirty="0" err="1"/>
              <a:t>i</a:t>
            </a:r>
            <a:r>
              <a:rPr lang="en-US" altLang="zh-CN" b="1" dirty="0"/>
              <a:t>; j++)</a:t>
            </a:r>
          </a:p>
          <a:p>
            <a:pPr marL="274320" indent="-274320" eaLnBrk="1" fontAlgn="auto" hangingPunct="1">
              <a:lnSpc>
                <a:spcPct val="85000"/>
              </a:lnSpc>
              <a:spcAft>
                <a:spcPts val="0"/>
              </a:spcAft>
              <a:buClr>
                <a:schemeClr val="accent3"/>
              </a:buClr>
              <a:buFont typeface="Wingdings" pitchFamily="2" charset="2"/>
              <a:buNone/>
              <a:defRPr/>
            </a:pPr>
            <a:r>
              <a:rPr lang="en-US" altLang="zh-CN" b="1" dirty="0"/>
              <a:t>              a[</a:t>
            </a:r>
            <a:r>
              <a:rPr lang="en-US" altLang="zh-CN" b="1" dirty="0" err="1"/>
              <a:t>i</a:t>
            </a:r>
            <a:r>
              <a:rPr lang="en-US" altLang="zh-CN" b="1" dirty="0"/>
              <a:t>][j] = k++;</a:t>
            </a:r>
          </a:p>
          <a:p>
            <a:pPr marL="274320" indent="-274320" eaLnBrk="1" fontAlgn="auto" hangingPunct="1">
              <a:lnSpc>
                <a:spcPct val="85000"/>
              </a:lnSpc>
              <a:spcAft>
                <a:spcPts val="0"/>
              </a:spcAft>
              <a:buClr>
                <a:schemeClr val="accent3"/>
              </a:buClr>
              <a:buFont typeface="Wingdings" pitchFamily="2" charset="2"/>
              <a:buNone/>
              <a:defRPr/>
            </a:pPr>
            <a:r>
              <a:rPr lang="en-US" altLang="zh-CN" b="1" dirty="0"/>
              <a:t>       }</a:t>
            </a:r>
          </a:p>
        </p:txBody>
      </p:sp>
      <p:sp>
        <p:nvSpPr>
          <p:cNvPr id="5" name="灯片编号占位符 5"/>
          <p:cNvSpPr>
            <a:spLocks noGrp="1"/>
          </p:cNvSpPr>
          <p:nvPr>
            <p:ph type="sldNum" sz="quarter" idx="12"/>
          </p:nvPr>
        </p:nvSpPr>
        <p:spPr/>
        <p:txBody>
          <a:bodyPr/>
          <a:lstStyle/>
          <a:p>
            <a:pPr>
              <a:defRPr/>
            </a:pPr>
            <a:fld id="{8ABE8C2D-BA2D-45F9-9921-EF4121BCF14E}" type="slidenum">
              <a:rPr lang="en-US" altLang="zh-CN"/>
              <a:pPr>
                <a:defRPr/>
              </a:pPr>
              <a:t>77</a:t>
            </a:fld>
            <a:endParaRPr lang="en-US" altLang="zh-CN"/>
          </a:p>
        </p:txBody>
      </p:sp>
      <p:sp>
        <p:nvSpPr>
          <p:cNvPr id="4" name="TextBox 3"/>
          <p:cNvSpPr txBox="1"/>
          <p:nvPr/>
        </p:nvSpPr>
        <p:spPr>
          <a:xfrm>
            <a:off x="5715000" y="3714750"/>
            <a:ext cx="2928938" cy="2246313"/>
          </a:xfrm>
          <a:prstGeom prst="rect">
            <a:avLst/>
          </a:prstGeom>
          <a:noFill/>
        </p:spPr>
        <p:txBody>
          <a:bodyPr>
            <a:spAutoFit/>
          </a:bodyPr>
          <a:lstStyle/>
          <a:p>
            <a:pPr algn="just" eaLnBrk="1" fontAlgn="auto" hangingPunct="1">
              <a:spcAft>
                <a:spcPts val="0"/>
              </a:spcAft>
              <a:buClr>
                <a:schemeClr val="accent3"/>
              </a:buClr>
              <a:buFont typeface="Wingdings" pitchFamily="2" charset="2"/>
              <a:buNone/>
              <a:defRPr/>
            </a:pPr>
            <a:r>
              <a:rPr lang="en-US" altLang="zh-CN" dirty="0">
                <a:effectLst>
                  <a:outerShdw blurRad="38100" dist="38100" dir="2700000" algn="tl">
                    <a:srgbClr val="C0C0C0"/>
                  </a:outerShdw>
                </a:effectLst>
                <a:latin typeface="宋体" pitchFamily="2" charset="-122"/>
              </a:rPr>
              <a:t>1  2  3  4  5</a:t>
            </a:r>
          </a:p>
          <a:p>
            <a:pPr algn="just" eaLnBrk="1" fontAlgn="auto" hangingPunct="1">
              <a:spcAft>
                <a:spcPts val="0"/>
              </a:spcAft>
              <a:buClr>
                <a:schemeClr val="accent3"/>
              </a:buClr>
              <a:buFont typeface="Wingdings" pitchFamily="2" charset="2"/>
              <a:buNone/>
              <a:defRPr/>
            </a:pPr>
            <a:r>
              <a:rPr lang="en-US" altLang="zh-CN" dirty="0">
                <a:effectLst>
                  <a:outerShdw blurRad="38100" dist="38100" dir="2700000" algn="tl">
                    <a:srgbClr val="C0C0C0"/>
                  </a:outerShdw>
                </a:effectLst>
                <a:latin typeface="宋体" pitchFamily="2" charset="-122"/>
              </a:rPr>
              <a:t>5  1  2  3  4</a:t>
            </a:r>
          </a:p>
          <a:p>
            <a:pPr algn="just" eaLnBrk="1" fontAlgn="auto" hangingPunct="1">
              <a:spcAft>
                <a:spcPts val="0"/>
              </a:spcAft>
              <a:buClr>
                <a:schemeClr val="accent3"/>
              </a:buClr>
              <a:buFont typeface="Wingdings" pitchFamily="2" charset="2"/>
              <a:buNone/>
              <a:defRPr/>
            </a:pPr>
            <a:r>
              <a:rPr lang="en-US" altLang="zh-CN" dirty="0">
                <a:effectLst>
                  <a:outerShdw blurRad="38100" dist="38100" dir="2700000" algn="tl">
                    <a:srgbClr val="C0C0C0"/>
                  </a:outerShdw>
                </a:effectLst>
                <a:latin typeface="宋体" pitchFamily="2" charset="-122"/>
              </a:rPr>
              <a:t>4  5  1  2  3     </a:t>
            </a:r>
          </a:p>
          <a:p>
            <a:pPr algn="just" eaLnBrk="1" fontAlgn="auto" hangingPunct="1">
              <a:spcAft>
                <a:spcPts val="0"/>
              </a:spcAft>
              <a:buClr>
                <a:schemeClr val="accent3"/>
              </a:buClr>
              <a:buFont typeface="Wingdings" pitchFamily="2" charset="2"/>
              <a:buNone/>
              <a:defRPr/>
            </a:pPr>
            <a:r>
              <a:rPr lang="en-US" altLang="zh-CN" dirty="0">
                <a:effectLst>
                  <a:outerShdw blurRad="38100" dist="38100" dir="2700000" algn="tl">
                    <a:srgbClr val="C0C0C0"/>
                  </a:outerShdw>
                </a:effectLst>
                <a:latin typeface="宋体" pitchFamily="2" charset="-122"/>
              </a:rPr>
              <a:t>3  4  5  1  2</a:t>
            </a:r>
          </a:p>
          <a:p>
            <a:pPr algn="just" eaLnBrk="1" fontAlgn="auto" hangingPunct="1">
              <a:spcAft>
                <a:spcPts val="0"/>
              </a:spcAft>
              <a:buClr>
                <a:schemeClr val="accent3"/>
              </a:buClr>
              <a:buFont typeface="Wingdings" pitchFamily="2" charset="2"/>
              <a:buNone/>
              <a:defRPr/>
            </a:pPr>
            <a:r>
              <a:rPr lang="en-US" altLang="zh-CN" dirty="0">
                <a:effectLst>
                  <a:outerShdw blurRad="38100" dist="38100" dir="2700000" algn="tl">
                    <a:srgbClr val="C0C0C0"/>
                  </a:outerShdw>
                </a:effectLst>
                <a:latin typeface="宋体" pitchFamily="2" charset="-122"/>
              </a:rPr>
              <a:t>2  3  4  5  1</a:t>
            </a:r>
            <a:endParaRPr lang="zh-CN" altLang="en-US" dirty="0"/>
          </a:p>
        </p:txBody>
      </p:sp>
      <p:cxnSp>
        <p:nvCxnSpPr>
          <p:cNvPr id="7" name="Straight Connector 6"/>
          <p:cNvCxnSpPr/>
          <p:nvPr/>
        </p:nvCxnSpPr>
        <p:spPr>
          <a:xfrm>
            <a:off x="5929313" y="3929063"/>
            <a:ext cx="2071687" cy="1785937"/>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6072188" y="3714750"/>
            <a:ext cx="17145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37602">
                                            <p:txEl>
                                              <p:pRg st="3" end="3"/>
                                            </p:txEl>
                                          </p:spTgt>
                                        </p:tgtEl>
                                        <p:attrNameLst>
                                          <p:attrName>style.visibility</p:attrName>
                                        </p:attrNameLst>
                                      </p:cBhvr>
                                      <p:to>
                                        <p:strVal val="visible"/>
                                      </p:to>
                                    </p:set>
                                    <p:anim calcmode="lin" valueType="num">
                                      <p:cBhvr additive="base">
                                        <p:cTn id="7" dur="500" fill="hold"/>
                                        <p:tgtEl>
                                          <p:spTgt spid="537602">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37602">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37602">
                                            <p:txEl>
                                              <p:pRg st="8" end="8"/>
                                            </p:txEl>
                                          </p:spTgt>
                                        </p:tgtEl>
                                        <p:attrNameLst>
                                          <p:attrName>style.visibility</p:attrName>
                                        </p:attrNameLst>
                                      </p:cBhvr>
                                      <p:to>
                                        <p:strVal val="visible"/>
                                      </p:to>
                                    </p:set>
                                    <p:anim calcmode="lin" valueType="num">
                                      <p:cBhvr additive="base">
                                        <p:cTn id="11" dur="500" fill="hold"/>
                                        <p:tgtEl>
                                          <p:spTgt spid="537602">
                                            <p:txEl>
                                              <p:pRg st="8" end="8"/>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37602">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37602">
                                            <p:txEl>
                                              <p:pRg st="4" end="4"/>
                                            </p:txEl>
                                          </p:spTgt>
                                        </p:tgtEl>
                                        <p:attrNameLst>
                                          <p:attrName>style.visibility</p:attrName>
                                        </p:attrNameLst>
                                      </p:cBhvr>
                                      <p:to>
                                        <p:strVal val="visible"/>
                                      </p:to>
                                    </p:set>
                                    <p:anim calcmode="lin" valueType="num">
                                      <p:cBhvr additive="base">
                                        <p:cTn id="17" dur="500" fill="hold"/>
                                        <p:tgtEl>
                                          <p:spTgt spid="537602">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37602">
                                            <p:txEl>
                                              <p:pRg st="4" end="4"/>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537602">
                                            <p:txEl>
                                              <p:pRg st="5" end="5"/>
                                            </p:txEl>
                                          </p:spTgt>
                                        </p:tgtEl>
                                        <p:attrNameLst>
                                          <p:attrName>style.visibility</p:attrName>
                                        </p:attrNameLst>
                                      </p:cBhvr>
                                      <p:to>
                                        <p:strVal val="visible"/>
                                      </p:to>
                                    </p:set>
                                    <p:anim calcmode="lin" valueType="num">
                                      <p:cBhvr additive="base">
                                        <p:cTn id="21" dur="500" fill="hold"/>
                                        <p:tgtEl>
                                          <p:spTgt spid="537602">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3760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537602">
                                            <p:txEl>
                                              <p:pRg st="6" end="6"/>
                                            </p:txEl>
                                          </p:spTgt>
                                        </p:tgtEl>
                                        <p:attrNameLst>
                                          <p:attrName>style.visibility</p:attrName>
                                        </p:attrNameLst>
                                      </p:cBhvr>
                                      <p:to>
                                        <p:strVal val="visible"/>
                                      </p:to>
                                    </p:set>
                                    <p:anim calcmode="lin" valueType="num">
                                      <p:cBhvr additive="base">
                                        <p:cTn id="27" dur="500" fill="hold"/>
                                        <p:tgtEl>
                                          <p:spTgt spid="537602">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37602">
                                            <p:txEl>
                                              <p:pRg st="6" end="6"/>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537602">
                                            <p:txEl>
                                              <p:pRg st="7" end="7"/>
                                            </p:txEl>
                                          </p:spTgt>
                                        </p:tgtEl>
                                        <p:attrNameLst>
                                          <p:attrName>style.visibility</p:attrName>
                                        </p:attrNameLst>
                                      </p:cBhvr>
                                      <p:to>
                                        <p:strVal val="visible"/>
                                      </p:to>
                                    </p:set>
                                    <p:anim calcmode="lin" valueType="num">
                                      <p:cBhvr additive="base">
                                        <p:cTn id="31" dur="500" fill="hold"/>
                                        <p:tgtEl>
                                          <p:spTgt spid="537602">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37602">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8626" name="Rectangle 2"/>
          <p:cNvSpPr>
            <a:spLocks noGrp="1" noChangeArrowheads="1"/>
          </p:cNvSpPr>
          <p:nvPr>
            <p:ph idx="1"/>
          </p:nvPr>
        </p:nvSpPr>
        <p:spPr>
          <a:xfrm>
            <a:off x="468313" y="765175"/>
            <a:ext cx="8280400" cy="5903913"/>
          </a:xfrm>
        </p:spPr>
        <p:txBody>
          <a:bodyPr>
            <a:normAutofit/>
          </a:bodyPr>
          <a:lstStyle/>
          <a:p>
            <a:pPr marL="274320" indent="-274320" eaLnBrk="1" fontAlgn="auto" hangingPunct="1">
              <a:spcAft>
                <a:spcPts val="0"/>
              </a:spcAft>
              <a:buClr>
                <a:schemeClr val="accent3"/>
              </a:buClr>
              <a:buFont typeface="Wingdings" pitchFamily="2" charset="2"/>
              <a:buNone/>
              <a:defRPr/>
            </a:pPr>
            <a:r>
              <a:rPr lang="zh-CN" altLang="en-US" b="1" dirty="0">
                <a:solidFill>
                  <a:srgbClr val="0000FF"/>
                </a:solidFill>
                <a:effectLst>
                  <a:outerShdw blurRad="38100" dist="38100" dir="2700000" algn="tl">
                    <a:srgbClr val="C0C0C0"/>
                  </a:outerShdw>
                </a:effectLst>
                <a:latin typeface="宋体" pitchFamily="2" charset="-122"/>
              </a:rPr>
              <a:t>算法</a:t>
            </a:r>
            <a:r>
              <a:rPr lang="en-US" altLang="zh-CN" b="1" dirty="0">
                <a:solidFill>
                  <a:srgbClr val="0000FF"/>
                </a:solidFill>
                <a:effectLst>
                  <a:outerShdw blurRad="38100" dist="38100" dir="2700000" algn="tl">
                    <a:srgbClr val="C0C0C0"/>
                  </a:outerShdw>
                </a:effectLst>
                <a:latin typeface="宋体" pitchFamily="2" charset="-122"/>
              </a:rPr>
              <a:t>(3)</a:t>
            </a:r>
            <a:r>
              <a:rPr lang="zh-CN" altLang="en-US" b="1" dirty="0">
                <a:solidFill>
                  <a:srgbClr val="0000FF"/>
                </a:solidFill>
                <a:effectLst>
                  <a:outerShdw blurRad="38100" dist="38100" dir="2700000" algn="tl">
                    <a:srgbClr val="C0C0C0"/>
                  </a:outerShdw>
                </a:effectLst>
                <a:latin typeface="宋体" pitchFamily="2" charset="-122"/>
              </a:rPr>
              <a:t>：</a:t>
            </a:r>
          </a:p>
          <a:p>
            <a:pPr marL="274320" indent="-274320" eaLnBrk="1" fontAlgn="auto" hangingPunct="1">
              <a:spcAft>
                <a:spcPts val="0"/>
              </a:spcAft>
              <a:buClr>
                <a:schemeClr val="accent3"/>
              </a:buClr>
              <a:buFont typeface="Wingdings" pitchFamily="2" charset="2"/>
              <a:buNone/>
              <a:defRPr/>
            </a:pPr>
            <a:endParaRPr lang="zh-CN" altLang="en-US" b="1" dirty="0">
              <a:solidFill>
                <a:srgbClr val="0000FF"/>
              </a:solidFill>
              <a:effectLst>
                <a:outerShdw blurRad="38100" dist="38100" dir="2700000" algn="tl">
                  <a:srgbClr val="C0C0C0"/>
                </a:outerShdw>
              </a:effectLst>
              <a:latin typeface="宋体" pitchFamily="2" charset="-122"/>
            </a:endParaRPr>
          </a:p>
          <a:p>
            <a:pPr marL="0" indent="0" eaLnBrk="1" fontAlgn="auto" hangingPunct="1">
              <a:spcAft>
                <a:spcPts val="0"/>
              </a:spcAft>
              <a:buClr>
                <a:schemeClr val="accent3"/>
              </a:buClr>
              <a:buFont typeface="Wingdings" pitchFamily="2" charset="2"/>
              <a:buNone/>
              <a:defRPr/>
            </a:pPr>
            <a:r>
              <a:rPr lang="zh-CN" altLang="en-US" b="1" dirty="0"/>
              <a:t>将解法</a:t>
            </a:r>
            <a:r>
              <a:rPr lang="en-US" altLang="zh-CN" b="1" dirty="0"/>
              <a:t>2</a:t>
            </a:r>
            <a:r>
              <a:rPr lang="zh-CN" altLang="en-US" b="1" dirty="0"/>
              <a:t>中的变量</a:t>
            </a:r>
            <a:r>
              <a:rPr lang="en-US" altLang="zh-CN" b="1" dirty="0"/>
              <a:t>k</a:t>
            </a:r>
            <a:r>
              <a:rPr lang="zh-CN" altLang="en-US" b="1" dirty="0"/>
              <a:t>去掉</a:t>
            </a:r>
            <a:r>
              <a:rPr lang="en-US" altLang="zh-CN" b="1" dirty="0"/>
              <a:t>, </a:t>
            </a:r>
            <a:r>
              <a:rPr lang="en-US" altLang="zh-CN" b="1" dirty="0" err="1"/>
              <a:t>i</a:t>
            </a:r>
            <a:r>
              <a:rPr lang="zh-CN" altLang="en-US" b="1" dirty="0"/>
              <a:t>列至</a:t>
            </a:r>
            <a:r>
              <a:rPr lang="en-US" altLang="zh-CN" b="1" dirty="0"/>
              <a:t>n-1</a:t>
            </a:r>
            <a:r>
              <a:rPr lang="zh-CN" altLang="en-US" b="1" dirty="0"/>
              <a:t>列的</a:t>
            </a:r>
            <a:r>
              <a:rPr lang="en-US" altLang="zh-CN" b="1" dirty="0"/>
              <a:t>j</a:t>
            </a:r>
            <a:r>
              <a:rPr lang="zh-CN" altLang="en-US" b="1" dirty="0"/>
              <a:t>列元素</a:t>
            </a:r>
            <a:r>
              <a:rPr lang="en-US" altLang="zh-CN" b="1" dirty="0"/>
              <a:t>a[</a:t>
            </a:r>
            <a:r>
              <a:rPr lang="en-US" altLang="zh-CN" b="1" dirty="0" err="1"/>
              <a:t>i</a:t>
            </a:r>
            <a:r>
              <a:rPr lang="en-US" altLang="zh-CN" b="1" dirty="0"/>
              <a:t>][j]</a:t>
            </a:r>
            <a:r>
              <a:rPr lang="zh-CN" altLang="en-US" b="1" dirty="0"/>
              <a:t>的值是</a:t>
            </a:r>
            <a:r>
              <a:rPr lang="en-US" altLang="zh-CN" b="1" dirty="0"/>
              <a:t>j-i+1</a:t>
            </a:r>
            <a:r>
              <a:rPr lang="zh-CN" altLang="en-US" b="1" dirty="0"/>
              <a:t>；</a:t>
            </a:r>
            <a:r>
              <a:rPr lang="en-US" altLang="zh-CN" b="1" dirty="0"/>
              <a:t>0</a:t>
            </a:r>
            <a:r>
              <a:rPr lang="zh-CN" altLang="en-US" b="1" dirty="0"/>
              <a:t>列至</a:t>
            </a:r>
            <a:r>
              <a:rPr lang="en-US" altLang="zh-CN" b="1" dirty="0"/>
              <a:t>i-1</a:t>
            </a:r>
            <a:r>
              <a:rPr lang="zh-CN" altLang="en-US" b="1" dirty="0"/>
              <a:t>列的</a:t>
            </a:r>
            <a:r>
              <a:rPr lang="en-US" altLang="zh-CN" b="1" dirty="0"/>
              <a:t>j</a:t>
            </a:r>
            <a:r>
              <a:rPr lang="zh-CN" altLang="en-US" b="1" dirty="0"/>
              <a:t>列的值是</a:t>
            </a:r>
            <a:r>
              <a:rPr lang="en-US" altLang="zh-CN" b="1" dirty="0"/>
              <a:t>j-i+1+n</a:t>
            </a:r>
            <a:r>
              <a:rPr lang="zh-CN" altLang="en-US" b="1" dirty="0"/>
              <a:t>。得到以下实现代码</a:t>
            </a:r>
            <a:r>
              <a:rPr lang="en-US" altLang="zh-CN" b="1" dirty="0"/>
              <a:t>:</a:t>
            </a:r>
          </a:p>
          <a:p>
            <a:pPr marL="274320" indent="-274320" eaLnBrk="1" fontAlgn="auto" hangingPunct="1">
              <a:spcAft>
                <a:spcPts val="0"/>
              </a:spcAft>
              <a:buClr>
                <a:schemeClr val="accent3"/>
              </a:buClr>
              <a:buFont typeface="Wingdings" pitchFamily="2" charset="2"/>
              <a:buNone/>
              <a:defRPr/>
            </a:pPr>
            <a:r>
              <a:rPr lang="en-US" altLang="zh-CN" b="1" dirty="0"/>
              <a:t>       for(</a:t>
            </a:r>
            <a:r>
              <a:rPr lang="en-US" altLang="zh-CN" b="1" dirty="0" err="1"/>
              <a:t>i</a:t>
            </a:r>
            <a:r>
              <a:rPr lang="en-US" altLang="zh-CN" b="1" dirty="0"/>
              <a:t> = 0; </a:t>
            </a:r>
            <a:r>
              <a:rPr lang="en-US" altLang="zh-CN" b="1" dirty="0" err="1"/>
              <a:t>i</a:t>
            </a:r>
            <a:r>
              <a:rPr lang="en-US" altLang="zh-CN" b="1" dirty="0"/>
              <a:t> &lt; n; </a:t>
            </a:r>
            <a:r>
              <a:rPr lang="en-US" altLang="zh-CN" b="1" dirty="0" err="1"/>
              <a:t>i</a:t>
            </a:r>
            <a:r>
              <a:rPr lang="en-US" altLang="zh-CN" b="1" dirty="0"/>
              <a:t>++)  {</a:t>
            </a:r>
          </a:p>
          <a:p>
            <a:pPr marL="274320" indent="-274320" eaLnBrk="1" fontAlgn="auto" hangingPunct="1">
              <a:spcAft>
                <a:spcPts val="0"/>
              </a:spcAft>
              <a:buClr>
                <a:schemeClr val="accent3"/>
              </a:buClr>
              <a:buFont typeface="Wingdings" pitchFamily="2" charset="2"/>
              <a:buNone/>
              <a:defRPr/>
            </a:pPr>
            <a:r>
              <a:rPr lang="en-US" altLang="zh-CN" b="1" dirty="0"/>
              <a:t>            for(j = </a:t>
            </a:r>
            <a:r>
              <a:rPr lang="en-US" altLang="zh-CN" b="1" dirty="0" err="1"/>
              <a:t>i</a:t>
            </a:r>
            <a:r>
              <a:rPr lang="en-US" altLang="zh-CN" b="1" dirty="0"/>
              <a:t>; j &lt; n; j++) </a:t>
            </a:r>
          </a:p>
          <a:p>
            <a:pPr marL="274320" indent="-274320" eaLnBrk="1" fontAlgn="auto" hangingPunct="1">
              <a:spcAft>
                <a:spcPts val="0"/>
              </a:spcAft>
              <a:buClr>
                <a:schemeClr val="accent3"/>
              </a:buClr>
              <a:buFont typeface="Wingdings" pitchFamily="2" charset="2"/>
              <a:buNone/>
              <a:defRPr/>
            </a:pPr>
            <a:r>
              <a:rPr lang="en-US" altLang="zh-CN" b="1" dirty="0"/>
              <a:t>               a[</a:t>
            </a:r>
            <a:r>
              <a:rPr lang="en-US" altLang="zh-CN" b="1" dirty="0" err="1"/>
              <a:t>i</a:t>
            </a:r>
            <a:r>
              <a:rPr lang="en-US" altLang="zh-CN" b="1" dirty="0"/>
              <a:t>][j] = j - </a:t>
            </a:r>
            <a:r>
              <a:rPr lang="en-US" altLang="zh-CN" b="1" dirty="0" err="1"/>
              <a:t>i</a:t>
            </a:r>
            <a:r>
              <a:rPr lang="en-US" altLang="zh-CN" b="1" dirty="0"/>
              <a:t> + 1;</a:t>
            </a:r>
          </a:p>
          <a:p>
            <a:pPr marL="274320" indent="-274320" eaLnBrk="1" fontAlgn="auto" hangingPunct="1">
              <a:spcAft>
                <a:spcPts val="0"/>
              </a:spcAft>
              <a:buClr>
                <a:schemeClr val="accent3"/>
              </a:buClr>
              <a:buFont typeface="Wingdings" pitchFamily="2" charset="2"/>
              <a:buNone/>
              <a:defRPr/>
            </a:pPr>
            <a:r>
              <a:rPr lang="en-US" altLang="zh-CN" b="1" dirty="0"/>
              <a:t>            for(j = 0; j &lt; </a:t>
            </a:r>
            <a:r>
              <a:rPr lang="en-US" altLang="zh-CN" b="1" dirty="0" err="1"/>
              <a:t>i</a:t>
            </a:r>
            <a:r>
              <a:rPr lang="en-US" altLang="zh-CN" b="1" dirty="0"/>
              <a:t>; j++) </a:t>
            </a:r>
          </a:p>
          <a:p>
            <a:pPr marL="274320" indent="-274320" eaLnBrk="1" fontAlgn="auto" hangingPunct="1">
              <a:spcAft>
                <a:spcPts val="0"/>
              </a:spcAft>
              <a:buClr>
                <a:schemeClr val="accent3"/>
              </a:buClr>
              <a:buFont typeface="Wingdings" pitchFamily="2" charset="2"/>
              <a:buNone/>
              <a:defRPr/>
            </a:pPr>
            <a:r>
              <a:rPr lang="en-US" altLang="zh-CN" b="1" dirty="0"/>
              <a:t>               a[</a:t>
            </a:r>
            <a:r>
              <a:rPr lang="en-US" altLang="zh-CN" b="1" dirty="0" err="1"/>
              <a:t>i</a:t>
            </a:r>
            <a:r>
              <a:rPr lang="en-US" altLang="zh-CN" b="1" dirty="0"/>
              <a:t>][j] = j - </a:t>
            </a:r>
            <a:r>
              <a:rPr lang="en-US" altLang="zh-CN" b="1" dirty="0" err="1"/>
              <a:t>i</a:t>
            </a:r>
            <a:r>
              <a:rPr lang="en-US" altLang="zh-CN" b="1" dirty="0"/>
              <a:t> + 1 + n;</a:t>
            </a:r>
          </a:p>
          <a:p>
            <a:pPr marL="274320" indent="-274320" eaLnBrk="1" fontAlgn="auto" hangingPunct="1">
              <a:spcAft>
                <a:spcPts val="0"/>
              </a:spcAft>
              <a:buClr>
                <a:schemeClr val="accent3"/>
              </a:buClr>
              <a:buFont typeface="Wingdings" pitchFamily="2" charset="2"/>
              <a:buNone/>
              <a:defRPr/>
            </a:pPr>
            <a:r>
              <a:rPr lang="en-US" altLang="zh-CN" b="1" dirty="0"/>
              <a:t>       }</a:t>
            </a:r>
            <a:r>
              <a:rPr lang="en-US" altLang="zh-CN" dirty="0"/>
              <a:t> </a:t>
            </a:r>
          </a:p>
        </p:txBody>
      </p:sp>
      <p:sp>
        <p:nvSpPr>
          <p:cNvPr id="5" name="灯片编号占位符 5"/>
          <p:cNvSpPr>
            <a:spLocks noGrp="1"/>
          </p:cNvSpPr>
          <p:nvPr>
            <p:ph type="sldNum" sz="quarter" idx="12"/>
          </p:nvPr>
        </p:nvSpPr>
        <p:spPr/>
        <p:txBody>
          <a:bodyPr/>
          <a:lstStyle/>
          <a:p>
            <a:pPr>
              <a:defRPr/>
            </a:pPr>
            <a:fld id="{76C67D3F-D561-4F3C-8F5A-0883039AE633}" type="slidenum">
              <a:rPr lang="en-US" altLang="zh-CN"/>
              <a:pPr>
                <a:defRPr/>
              </a:pPr>
              <a:t>78</a:t>
            </a:fld>
            <a:endParaRPr lang="en-US" altLang="zh-CN"/>
          </a:p>
        </p:txBody>
      </p:sp>
      <p:sp>
        <p:nvSpPr>
          <p:cNvPr id="6" name="TextBox 5"/>
          <p:cNvSpPr txBox="1"/>
          <p:nvPr/>
        </p:nvSpPr>
        <p:spPr>
          <a:xfrm>
            <a:off x="5715000" y="3714750"/>
            <a:ext cx="2928938" cy="2678113"/>
          </a:xfrm>
          <a:prstGeom prst="rect">
            <a:avLst/>
          </a:prstGeom>
          <a:noFill/>
        </p:spPr>
        <p:txBody>
          <a:bodyPr>
            <a:spAutoFit/>
          </a:bodyPr>
          <a:lstStyle/>
          <a:p>
            <a:pPr algn="just" eaLnBrk="1" fontAlgn="auto" hangingPunct="1">
              <a:spcAft>
                <a:spcPts val="0"/>
              </a:spcAft>
              <a:buClr>
                <a:schemeClr val="accent3"/>
              </a:buClr>
              <a:buFont typeface="Wingdings" pitchFamily="2" charset="2"/>
              <a:buNone/>
              <a:defRPr/>
            </a:pPr>
            <a:r>
              <a:rPr lang="zh-CN" altLang="en-US" dirty="0">
                <a:effectLst>
                  <a:outerShdw blurRad="38100" dist="38100" dir="2700000" algn="tl">
                    <a:srgbClr val="C0C0C0"/>
                  </a:outerShdw>
                </a:effectLst>
                <a:latin typeface="宋体" pitchFamily="2" charset="-122"/>
              </a:rPr>
              <a:t>  </a:t>
            </a:r>
            <a:r>
              <a:rPr lang="en-US" altLang="zh-CN" i="1" dirty="0">
                <a:solidFill>
                  <a:srgbClr val="FF6600"/>
                </a:solidFill>
                <a:effectLst>
                  <a:outerShdw blurRad="38100" dist="38100" dir="2700000" algn="tl">
                    <a:srgbClr val="C0C0C0"/>
                  </a:outerShdw>
                </a:effectLst>
                <a:latin typeface="宋体" pitchFamily="2" charset="-122"/>
              </a:rPr>
              <a:t>0</a:t>
            </a:r>
            <a:r>
              <a:rPr lang="zh-CN" altLang="en-US" i="1" dirty="0">
                <a:solidFill>
                  <a:srgbClr val="FF6600"/>
                </a:solidFill>
                <a:effectLst>
                  <a:outerShdw blurRad="38100" dist="38100" dir="2700000" algn="tl">
                    <a:srgbClr val="C0C0C0"/>
                  </a:outerShdw>
                </a:effectLst>
                <a:latin typeface="宋体" pitchFamily="2" charset="-122"/>
              </a:rPr>
              <a:t>  </a:t>
            </a:r>
            <a:r>
              <a:rPr lang="en-US" altLang="zh-CN" i="1" dirty="0">
                <a:solidFill>
                  <a:srgbClr val="FF6600"/>
                </a:solidFill>
                <a:effectLst>
                  <a:outerShdw blurRad="38100" dist="38100" dir="2700000" algn="tl">
                    <a:srgbClr val="C0C0C0"/>
                  </a:outerShdw>
                </a:effectLst>
                <a:latin typeface="宋体" pitchFamily="2" charset="-122"/>
              </a:rPr>
              <a:t>1</a:t>
            </a:r>
            <a:r>
              <a:rPr lang="zh-CN" altLang="en-US" i="1" dirty="0">
                <a:solidFill>
                  <a:srgbClr val="FF6600"/>
                </a:solidFill>
                <a:effectLst>
                  <a:outerShdw blurRad="38100" dist="38100" dir="2700000" algn="tl">
                    <a:srgbClr val="C0C0C0"/>
                  </a:outerShdw>
                </a:effectLst>
                <a:latin typeface="宋体" pitchFamily="2" charset="-122"/>
              </a:rPr>
              <a:t>  </a:t>
            </a:r>
            <a:r>
              <a:rPr lang="en-US" altLang="zh-CN" i="1" dirty="0">
                <a:solidFill>
                  <a:srgbClr val="FF6600"/>
                </a:solidFill>
                <a:effectLst>
                  <a:outerShdw blurRad="38100" dist="38100" dir="2700000" algn="tl">
                    <a:srgbClr val="C0C0C0"/>
                  </a:outerShdw>
                </a:effectLst>
                <a:latin typeface="宋体" pitchFamily="2" charset="-122"/>
              </a:rPr>
              <a:t>2</a:t>
            </a:r>
            <a:r>
              <a:rPr lang="zh-CN" altLang="en-US" i="1" dirty="0">
                <a:solidFill>
                  <a:srgbClr val="FF6600"/>
                </a:solidFill>
                <a:effectLst>
                  <a:outerShdw blurRad="38100" dist="38100" dir="2700000" algn="tl">
                    <a:srgbClr val="C0C0C0"/>
                  </a:outerShdw>
                </a:effectLst>
                <a:latin typeface="宋体" pitchFamily="2" charset="-122"/>
              </a:rPr>
              <a:t>  </a:t>
            </a:r>
            <a:r>
              <a:rPr lang="en-US" altLang="zh-CN" i="1" dirty="0">
                <a:solidFill>
                  <a:srgbClr val="FF6600"/>
                </a:solidFill>
                <a:effectLst>
                  <a:outerShdw blurRad="38100" dist="38100" dir="2700000" algn="tl">
                    <a:srgbClr val="C0C0C0"/>
                  </a:outerShdw>
                </a:effectLst>
                <a:latin typeface="宋体" pitchFamily="2" charset="-122"/>
              </a:rPr>
              <a:t>3</a:t>
            </a:r>
            <a:r>
              <a:rPr lang="zh-CN" altLang="en-US" i="1" dirty="0">
                <a:solidFill>
                  <a:srgbClr val="FF6600"/>
                </a:solidFill>
                <a:effectLst>
                  <a:outerShdw blurRad="38100" dist="38100" dir="2700000" algn="tl">
                    <a:srgbClr val="C0C0C0"/>
                  </a:outerShdw>
                </a:effectLst>
                <a:latin typeface="宋体" pitchFamily="2" charset="-122"/>
              </a:rPr>
              <a:t>  </a:t>
            </a:r>
            <a:r>
              <a:rPr lang="en-US" altLang="zh-CN" i="1" dirty="0">
                <a:solidFill>
                  <a:srgbClr val="FF6600"/>
                </a:solidFill>
                <a:effectLst>
                  <a:outerShdw blurRad="38100" dist="38100" dir="2700000" algn="tl">
                    <a:srgbClr val="C0C0C0"/>
                  </a:outerShdw>
                </a:effectLst>
                <a:latin typeface="宋体" pitchFamily="2" charset="-122"/>
              </a:rPr>
              <a:t>4</a:t>
            </a:r>
          </a:p>
          <a:p>
            <a:pPr algn="just" eaLnBrk="1" fontAlgn="auto" hangingPunct="1">
              <a:spcAft>
                <a:spcPts val="0"/>
              </a:spcAft>
              <a:buClr>
                <a:schemeClr val="accent3"/>
              </a:buClr>
              <a:buFont typeface="Wingdings" pitchFamily="2" charset="2"/>
              <a:buNone/>
              <a:defRPr/>
            </a:pPr>
            <a:r>
              <a:rPr lang="en-US" altLang="zh-CN" i="1" dirty="0">
                <a:solidFill>
                  <a:srgbClr val="FF6600"/>
                </a:solidFill>
                <a:effectLst>
                  <a:outerShdw blurRad="38100" dist="38100" dir="2700000" algn="tl">
                    <a:srgbClr val="C0C0C0"/>
                  </a:outerShdw>
                </a:effectLst>
                <a:latin typeface="宋体" pitchFamily="2" charset="-122"/>
              </a:rPr>
              <a:t>0</a:t>
            </a:r>
            <a:r>
              <a:rPr lang="zh-CN" altLang="en-US" dirty="0">
                <a:effectLst>
                  <a:outerShdw blurRad="38100" dist="38100" dir="2700000" algn="tl">
                    <a:srgbClr val="C0C0C0"/>
                  </a:outerShdw>
                </a:effectLst>
                <a:latin typeface="宋体" pitchFamily="2" charset="-122"/>
              </a:rPr>
              <a:t> </a:t>
            </a:r>
            <a:r>
              <a:rPr lang="en-US" altLang="zh-CN" dirty="0">
                <a:effectLst>
                  <a:outerShdw blurRad="38100" dist="38100" dir="2700000" algn="tl">
                    <a:srgbClr val="C0C0C0"/>
                  </a:outerShdw>
                </a:effectLst>
                <a:latin typeface="宋体" pitchFamily="2" charset="-122"/>
              </a:rPr>
              <a:t>1  2  3  4  5</a:t>
            </a:r>
          </a:p>
          <a:p>
            <a:pPr algn="just" eaLnBrk="1" fontAlgn="auto" hangingPunct="1">
              <a:spcAft>
                <a:spcPts val="0"/>
              </a:spcAft>
              <a:buClr>
                <a:schemeClr val="accent3"/>
              </a:buClr>
              <a:buFont typeface="Wingdings" pitchFamily="2" charset="2"/>
              <a:buNone/>
              <a:defRPr/>
            </a:pPr>
            <a:r>
              <a:rPr lang="en-US" altLang="zh-CN" i="1" dirty="0">
                <a:solidFill>
                  <a:srgbClr val="FF6600"/>
                </a:solidFill>
                <a:effectLst>
                  <a:outerShdw blurRad="38100" dist="38100" dir="2700000" algn="tl">
                    <a:srgbClr val="C0C0C0"/>
                  </a:outerShdw>
                </a:effectLst>
                <a:latin typeface="宋体" pitchFamily="2" charset="-122"/>
              </a:rPr>
              <a:t>1</a:t>
            </a:r>
            <a:r>
              <a:rPr lang="zh-CN" altLang="en-US" dirty="0">
                <a:effectLst>
                  <a:outerShdw blurRad="38100" dist="38100" dir="2700000" algn="tl">
                    <a:srgbClr val="C0C0C0"/>
                  </a:outerShdw>
                </a:effectLst>
                <a:latin typeface="宋体" pitchFamily="2" charset="-122"/>
              </a:rPr>
              <a:t> </a:t>
            </a:r>
            <a:r>
              <a:rPr lang="en-US" altLang="zh-CN" dirty="0">
                <a:effectLst>
                  <a:outerShdw blurRad="38100" dist="38100" dir="2700000" algn="tl">
                    <a:srgbClr val="C0C0C0"/>
                  </a:outerShdw>
                </a:effectLst>
                <a:latin typeface="宋体" pitchFamily="2" charset="-122"/>
              </a:rPr>
              <a:t>5  1  2  3  4</a:t>
            </a:r>
          </a:p>
          <a:p>
            <a:pPr algn="just" eaLnBrk="1" fontAlgn="auto" hangingPunct="1">
              <a:spcAft>
                <a:spcPts val="0"/>
              </a:spcAft>
              <a:buClr>
                <a:schemeClr val="accent3"/>
              </a:buClr>
              <a:buFont typeface="Wingdings" pitchFamily="2" charset="2"/>
              <a:buNone/>
              <a:defRPr/>
            </a:pPr>
            <a:r>
              <a:rPr lang="en-US" altLang="zh-CN" i="1" dirty="0">
                <a:solidFill>
                  <a:srgbClr val="FF6600"/>
                </a:solidFill>
                <a:effectLst>
                  <a:outerShdw blurRad="38100" dist="38100" dir="2700000" algn="tl">
                    <a:srgbClr val="C0C0C0"/>
                  </a:outerShdw>
                </a:effectLst>
                <a:latin typeface="宋体" pitchFamily="2" charset="-122"/>
              </a:rPr>
              <a:t>2</a:t>
            </a:r>
            <a:r>
              <a:rPr lang="zh-CN" altLang="en-US" dirty="0">
                <a:effectLst>
                  <a:outerShdw blurRad="38100" dist="38100" dir="2700000" algn="tl">
                    <a:srgbClr val="C0C0C0"/>
                  </a:outerShdw>
                </a:effectLst>
                <a:latin typeface="宋体" pitchFamily="2" charset="-122"/>
              </a:rPr>
              <a:t> </a:t>
            </a:r>
            <a:r>
              <a:rPr lang="en-US" altLang="zh-CN" dirty="0">
                <a:effectLst>
                  <a:outerShdw blurRad="38100" dist="38100" dir="2700000" algn="tl">
                    <a:srgbClr val="C0C0C0"/>
                  </a:outerShdw>
                </a:effectLst>
                <a:latin typeface="宋体" pitchFamily="2" charset="-122"/>
              </a:rPr>
              <a:t>4  5  1  2  3     </a:t>
            </a:r>
          </a:p>
          <a:p>
            <a:pPr algn="just" eaLnBrk="1" fontAlgn="auto" hangingPunct="1">
              <a:spcAft>
                <a:spcPts val="0"/>
              </a:spcAft>
              <a:buClr>
                <a:schemeClr val="accent3"/>
              </a:buClr>
              <a:buFont typeface="Wingdings" pitchFamily="2" charset="2"/>
              <a:buNone/>
              <a:defRPr/>
            </a:pPr>
            <a:r>
              <a:rPr lang="en-US" altLang="zh-CN" i="1" dirty="0">
                <a:solidFill>
                  <a:srgbClr val="FF6600"/>
                </a:solidFill>
                <a:effectLst>
                  <a:outerShdw blurRad="38100" dist="38100" dir="2700000" algn="tl">
                    <a:srgbClr val="C0C0C0"/>
                  </a:outerShdw>
                </a:effectLst>
                <a:latin typeface="宋体" pitchFamily="2" charset="-122"/>
              </a:rPr>
              <a:t>3</a:t>
            </a:r>
            <a:r>
              <a:rPr lang="zh-CN" altLang="en-US" dirty="0">
                <a:effectLst>
                  <a:outerShdw blurRad="38100" dist="38100" dir="2700000" algn="tl">
                    <a:srgbClr val="C0C0C0"/>
                  </a:outerShdw>
                </a:effectLst>
                <a:latin typeface="宋体" pitchFamily="2" charset="-122"/>
              </a:rPr>
              <a:t> </a:t>
            </a:r>
            <a:r>
              <a:rPr lang="en-US" altLang="zh-CN" dirty="0">
                <a:effectLst>
                  <a:outerShdw blurRad="38100" dist="38100" dir="2700000" algn="tl">
                    <a:srgbClr val="C0C0C0"/>
                  </a:outerShdw>
                </a:effectLst>
                <a:latin typeface="宋体" pitchFamily="2" charset="-122"/>
              </a:rPr>
              <a:t>3  4  5  1  2</a:t>
            </a:r>
          </a:p>
          <a:p>
            <a:pPr algn="just" eaLnBrk="1" fontAlgn="auto" hangingPunct="1">
              <a:spcAft>
                <a:spcPts val="0"/>
              </a:spcAft>
              <a:buClr>
                <a:schemeClr val="accent3"/>
              </a:buClr>
              <a:buFont typeface="Wingdings" pitchFamily="2" charset="2"/>
              <a:buNone/>
              <a:defRPr/>
            </a:pPr>
            <a:r>
              <a:rPr lang="en-US" altLang="zh-CN" i="1" dirty="0">
                <a:solidFill>
                  <a:srgbClr val="FF6600"/>
                </a:solidFill>
                <a:effectLst>
                  <a:outerShdw blurRad="38100" dist="38100" dir="2700000" algn="tl">
                    <a:srgbClr val="C0C0C0"/>
                  </a:outerShdw>
                </a:effectLst>
                <a:latin typeface="宋体" pitchFamily="2" charset="-122"/>
              </a:rPr>
              <a:t>4</a:t>
            </a:r>
            <a:r>
              <a:rPr lang="zh-CN" altLang="en-US" dirty="0">
                <a:effectLst>
                  <a:outerShdw blurRad="38100" dist="38100" dir="2700000" algn="tl">
                    <a:srgbClr val="C0C0C0"/>
                  </a:outerShdw>
                </a:effectLst>
                <a:latin typeface="宋体" pitchFamily="2" charset="-122"/>
              </a:rPr>
              <a:t> </a:t>
            </a:r>
            <a:r>
              <a:rPr lang="en-US" altLang="zh-CN" dirty="0">
                <a:effectLst>
                  <a:outerShdw blurRad="38100" dist="38100" dir="2700000" algn="tl">
                    <a:srgbClr val="C0C0C0"/>
                  </a:outerShdw>
                </a:effectLst>
                <a:latin typeface="宋体" pitchFamily="2" charset="-122"/>
              </a:rPr>
              <a:t>2  3  4  5  1</a:t>
            </a:r>
            <a:endParaRPr lang="zh-CN" altLang="en-US" dirty="0"/>
          </a:p>
        </p:txBody>
      </p:sp>
      <p:cxnSp>
        <p:nvCxnSpPr>
          <p:cNvPr id="8" name="Straight Connector 7"/>
          <p:cNvCxnSpPr/>
          <p:nvPr/>
        </p:nvCxnSpPr>
        <p:spPr>
          <a:xfrm>
            <a:off x="6000750" y="4214813"/>
            <a:ext cx="2571750" cy="2000250"/>
          </a:xfrm>
          <a:prstGeom prst="line">
            <a:avLst/>
          </a:prstGeom>
        </p:spPr>
        <p:style>
          <a:lnRef idx="1">
            <a:schemeClr val="accent1"/>
          </a:lnRef>
          <a:fillRef idx="0">
            <a:schemeClr val="accent1"/>
          </a:fillRef>
          <a:effectRef idx="0">
            <a:schemeClr val="accent1"/>
          </a:effectRef>
          <a:fontRef idx="minor">
            <a:schemeClr val="tx1"/>
          </a:fontRef>
        </p:style>
      </p:cxnSp>
      <p:sp>
        <p:nvSpPr>
          <p:cNvPr id="9" name="Oval 8"/>
          <p:cNvSpPr/>
          <p:nvPr/>
        </p:nvSpPr>
        <p:spPr>
          <a:xfrm>
            <a:off x="7643813" y="4143375"/>
            <a:ext cx="500062" cy="500063"/>
          </a:xfrm>
          <a:prstGeom prst="ellipse">
            <a:avLst/>
          </a:prstGeom>
          <a:solidFill>
            <a:schemeClr val="bg1">
              <a:alpha val="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10" name="Oval 9"/>
          <p:cNvSpPr/>
          <p:nvPr/>
        </p:nvSpPr>
        <p:spPr>
          <a:xfrm>
            <a:off x="6572250" y="5000625"/>
            <a:ext cx="500063" cy="500063"/>
          </a:xfrm>
          <a:prstGeom prst="ellipse">
            <a:avLst/>
          </a:prstGeom>
          <a:solidFill>
            <a:schemeClr val="bg1">
              <a:alpha val="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73736" name="TextBox 10"/>
          <p:cNvSpPr txBox="1">
            <a:spLocks noChangeArrowheads="1"/>
          </p:cNvSpPr>
          <p:nvPr/>
        </p:nvSpPr>
        <p:spPr bwMode="auto">
          <a:xfrm>
            <a:off x="5429250" y="4857750"/>
            <a:ext cx="406400" cy="523875"/>
          </a:xfrm>
          <a:prstGeom prst="rect">
            <a:avLst/>
          </a:prstGeom>
          <a:noFill/>
          <a:ln w="9525">
            <a:noFill/>
            <a:miter lim="800000"/>
            <a:headEnd/>
            <a:tailEnd/>
          </a:ln>
        </p:spPr>
        <p:txBody>
          <a:bodyPr>
            <a:spAutoFit/>
          </a:bodyPr>
          <a:lstStyle/>
          <a:p>
            <a:r>
              <a:rPr lang="en-US" altLang="zh-CN"/>
              <a:t>i</a:t>
            </a:r>
            <a:endParaRPr lang="zh-CN" altLang="en-US"/>
          </a:p>
        </p:txBody>
      </p:sp>
      <p:sp>
        <p:nvSpPr>
          <p:cNvPr id="73737" name="TextBox 11"/>
          <p:cNvSpPr txBox="1">
            <a:spLocks noChangeArrowheads="1"/>
          </p:cNvSpPr>
          <p:nvPr/>
        </p:nvSpPr>
        <p:spPr bwMode="auto">
          <a:xfrm>
            <a:off x="7286625" y="3214688"/>
            <a:ext cx="406400" cy="523875"/>
          </a:xfrm>
          <a:prstGeom prst="rect">
            <a:avLst/>
          </a:prstGeom>
          <a:noFill/>
          <a:ln w="9525">
            <a:noFill/>
            <a:miter lim="800000"/>
            <a:headEnd/>
            <a:tailEnd/>
          </a:ln>
        </p:spPr>
        <p:txBody>
          <a:bodyPr>
            <a:spAutoFit/>
          </a:bodyPr>
          <a:lstStyle/>
          <a:p>
            <a:r>
              <a:rPr lang="en-US" altLang="zh-CN"/>
              <a:t>j</a:t>
            </a:r>
            <a:endParaRPr lang="zh-CN" altLang="en-US"/>
          </a:p>
        </p:txBody>
      </p:sp>
      <p:sp>
        <p:nvSpPr>
          <p:cNvPr id="11" name="TextBox 10"/>
          <p:cNvSpPr txBox="1"/>
          <p:nvPr/>
        </p:nvSpPr>
        <p:spPr>
          <a:xfrm>
            <a:off x="4211960" y="476672"/>
            <a:ext cx="4320480" cy="954107"/>
          </a:xfrm>
          <a:prstGeom prst="rect">
            <a:avLst/>
          </a:prstGeom>
          <a:noFill/>
        </p:spPr>
        <p:txBody>
          <a:bodyPr wrap="square" rtlCol="0">
            <a:spAutoFit/>
          </a:bodyPr>
          <a:lstStyle/>
          <a:p>
            <a:pPr algn="l"/>
            <a:r>
              <a:rPr lang="en-US" altLang="zh-CN" dirty="0" err="1">
                <a:solidFill>
                  <a:srgbClr val="FF0000"/>
                </a:solidFill>
              </a:rPr>
              <a:t>i</a:t>
            </a:r>
            <a:r>
              <a:rPr lang="zh-CN" altLang="en-US" dirty="0">
                <a:solidFill>
                  <a:srgbClr val="FF0000"/>
                </a:solidFill>
              </a:rPr>
              <a:t>列至</a:t>
            </a:r>
            <a:r>
              <a:rPr lang="en-US" altLang="zh-CN" dirty="0">
                <a:solidFill>
                  <a:srgbClr val="FF0000"/>
                </a:solidFill>
              </a:rPr>
              <a:t>n-1</a:t>
            </a:r>
            <a:r>
              <a:rPr lang="zh-CN" altLang="en-US" dirty="0">
                <a:solidFill>
                  <a:srgbClr val="FF0000"/>
                </a:solidFill>
              </a:rPr>
              <a:t>列的值为</a:t>
            </a:r>
            <a:r>
              <a:rPr lang="en-US" altLang="zh-CN" dirty="0">
                <a:solidFill>
                  <a:srgbClr val="FF0000"/>
                </a:solidFill>
              </a:rPr>
              <a:t>1</a:t>
            </a:r>
            <a:r>
              <a:rPr lang="zh-CN" altLang="en-US" dirty="0">
                <a:solidFill>
                  <a:srgbClr val="FF0000"/>
                </a:solidFill>
              </a:rPr>
              <a:t>至</a:t>
            </a:r>
            <a:r>
              <a:rPr lang="en-US" altLang="zh-CN" dirty="0">
                <a:solidFill>
                  <a:srgbClr val="FF0000"/>
                </a:solidFill>
              </a:rPr>
              <a:t>n-</a:t>
            </a:r>
            <a:r>
              <a:rPr lang="en-US" altLang="zh-CN" dirty="0" err="1">
                <a:solidFill>
                  <a:srgbClr val="FF0000"/>
                </a:solidFill>
              </a:rPr>
              <a:t>i</a:t>
            </a:r>
            <a:r>
              <a:rPr lang="zh-CN" altLang="en-US" dirty="0">
                <a:solidFill>
                  <a:srgbClr val="FF0000"/>
                </a:solidFill>
              </a:rPr>
              <a:t>，</a:t>
            </a:r>
            <a:r>
              <a:rPr lang="en-US" altLang="zh-CN" dirty="0">
                <a:solidFill>
                  <a:srgbClr val="FF0000"/>
                </a:solidFill>
              </a:rPr>
              <a:t>0</a:t>
            </a:r>
            <a:r>
              <a:rPr lang="zh-CN" altLang="en-US" dirty="0">
                <a:solidFill>
                  <a:srgbClr val="FF0000"/>
                </a:solidFill>
              </a:rPr>
              <a:t>列至</a:t>
            </a:r>
            <a:r>
              <a:rPr lang="en-US" altLang="zh-CN" dirty="0">
                <a:solidFill>
                  <a:srgbClr val="FF0000"/>
                </a:solidFill>
              </a:rPr>
              <a:t>i-1</a:t>
            </a:r>
            <a:r>
              <a:rPr lang="zh-CN" altLang="en-US" dirty="0">
                <a:solidFill>
                  <a:srgbClr val="FF0000"/>
                </a:solidFill>
              </a:rPr>
              <a:t>列的值为</a:t>
            </a:r>
            <a:r>
              <a:rPr lang="en-US" altLang="zh-CN" dirty="0">
                <a:solidFill>
                  <a:srgbClr val="FF0000"/>
                </a:solidFill>
              </a:rPr>
              <a:t>n-i+1</a:t>
            </a:r>
            <a:r>
              <a:rPr lang="zh-CN" altLang="en-US" dirty="0">
                <a:solidFill>
                  <a:srgbClr val="FF0000"/>
                </a:solidFill>
              </a:rPr>
              <a:t>至</a:t>
            </a:r>
            <a:r>
              <a:rPr lang="en-US" altLang="zh-CN" dirty="0">
                <a:solidFill>
                  <a:srgbClr val="FF0000"/>
                </a:solidFill>
              </a:rPr>
              <a:t>n</a:t>
            </a:r>
            <a:endParaRPr lang="zh-CN" altLang="en-US" dirty="0"/>
          </a:p>
        </p:txBody>
      </p:sp>
      <p:sp>
        <p:nvSpPr>
          <p:cNvPr id="12" name="矩形 11"/>
          <p:cNvSpPr/>
          <p:nvPr/>
        </p:nvSpPr>
        <p:spPr>
          <a:xfrm>
            <a:off x="1547664" y="4005064"/>
            <a:ext cx="2592288" cy="43204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1700064" y="4941168"/>
            <a:ext cx="3015952" cy="43204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2" presetClass="entr" presetSubtype="4"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 calcmode="lin" valueType="num">
                                      <p:cBhvr additive="base">
                                        <p:cTn id="9" dur="500" fill="hold"/>
                                        <p:tgtEl>
                                          <p:spTgt spid="12"/>
                                        </p:tgtEl>
                                        <p:attrNameLst>
                                          <p:attrName>ppt_x</p:attrName>
                                        </p:attrNameLst>
                                      </p:cBhvr>
                                      <p:tavLst>
                                        <p:tav tm="0">
                                          <p:val>
                                            <p:strVal val="#ppt_x"/>
                                          </p:val>
                                        </p:tav>
                                        <p:tav tm="100000">
                                          <p:val>
                                            <p:strVal val="#ppt_x"/>
                                          </p:val>
                                        </p:tav>
                                      </p:tavLst>
                                    </p:anim>
                                    <p:anim calcmode="lin" valueType="num">
                                      <p:cBhvr additive="base">
                                        <p:cTn id="1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2" presetClass="entr" presetSubtype="4"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additive="base">
                                        <p:cTn id="17" dur="500" fill="hold"/>
                                        <p:tgtEl>
                                          <p:spTgt spid="13"/>
                                        </p:tgtEl>
                                        <p:attrNameLst>
                                          <p:attrName>ppt_x</p:attrName>
                                        </p:attrNameLst>
                                      </p:cBhvr>
                                      <p:tavLst>
                                        <p:tav tm="0">
                                          <p:val>
                                            <p:strVal val="#ppt_x"/>
                                          </p:val>
                                        </p:tav>
                                        <p:tav tm="100000">
                                          <p:val>
                                            <p:strVal val="#ppt_x"/>
                                          </p:val>
                                        </p:tav>
                                      </p:tavLst>
                                    </p:anim>
                                    <p:anim calcmode="lin" valueType="num">
                                      <p:cBhvr additive="base">
                                        <p:cTn id="1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animBg="1"/>
      <p:bldP spid="13"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9650" name="Rectangle 2"/>
          <p:cNvSpPr>
            <a:spLocks noGrp="1" noChangeArrowheads="1"/>
          </p:cNvSpPr>
          <p:nvPr>
            <p:ph idx="1"/>
          </p:nvPr>
        </p:nvSpPr>
        <p:spPr>
          <a:xfrm>
            <a:off x="468313" y="765175"/>
            <a:ext cx="8280400" cy="5903913"/>
          </a:xfrm>
        </p:spPr>
        <p:txBody>
          <a:bodyPr>
            <a:normAutofit/>
          </a:bodyPr>
          <a:lstStyle/>
          <a:p>
            <a:pPr marL="274320" indent="-274320" eaLnBrk="1" fontAlgn="auto" hangingPunct="1">
              <a:spcAft>
                <a:spcPts val="0"/>
              </a:spcAft>
              <a:buClr>
                <a:schemeClr val="accent3"/>
              </a:buClr>
              <a:buFont typeface="Wingdings" pitchFamily="2" charset="2"/>
              <a:buNone/>
              <a:defRPr/>
            </a:pPr>
            <a:r>
              <a:rPr lang="zh-CN" altLang="en-US" b="1" dirty="0">
                <a:solidFill>
                  <a:srgbClr val="0000FF"/>
                </a:solidFill>
                <a:effectLst>
                  <a:outerShdw blurRad="38100" dist="38100" dir="2700000" algn="tl">
                    <a:srgbClr val="C0C0C0"/>
                  </a:outerShdw>
                </a:effectLst>
                <a:latin typeface="宋体" pitchFamily="2" charset="-122"/>
              </a:rPr>
              <a:t>算法</a:t>
            </a:r>
            <a:r>
              <a:rPr lang="en-US" altLang="zh-CN" b="1" dirty="0">
                <a:solidFill>
                  <a:srgbClr val="0000FF"/>
                </a:solidFill>
                <a:effectLst>
                  <a:outerShdw blurRad="38100" dist="38100" dir="2700000" algn="tl">
                    <a:srgbClr val="C0C0C0"/>
                  </a:outerShdw>
                </a:effectLst>
                <a:latin typeface="宋体" pitchFamily="2" charset="-122"/>
              </a:rPr>
              <a:t>(4)</a:t>
            </a:r>
            <a:r>
              <a:rPr lang="zh-CN" altLang="en-US" b="1" dirty="0">
                <a:solidFill>
                  <a:srgbClr val="0000FF"/>
                </a:solidFill>
                <a:effectLst>
                  <a:outerShdw blurRad="38100" dist="38100" dir="2700000" algn="tl">
                    <a:srgbClr val="C0C0C0"/>
                  </a:outerShdw>
                </a:effectLst>
                <a:latin typeface="宋体" pitchFamily="2" charset="-122"/>
              </a:rPr>
              <a:t>：</a:t>
            </a:r>
          </a:p>
          <a:p>
            <a:pPr marL="274320" indent="-274320" eaLnBrk="1" fontAlgn="auto" hangingPunct="1">
              <a:spcAft>
                <a:spcPts val="0"/>
              </a:spcAft>
              <a:buClr>
                <a:schemeClr val="accent3"/>
              </a:buClr>
              <a:buFont typeface="Wingdings" pitchFamily="2" charset="2"/>
              <a:buNone/>
              <a:defRPr/>
            </a:pPr>
            <a:endParaRPr lang="zh-CN" altLang="en-US" b="1" dirty="0">
              <a:solidFill>
                <a:srgbClr val="0000FF"/>
              </a:solidFill>
              <a:effectLst>
                <a:outerShdw blurRad="38100" dist="38100" dir="2700000" algn="tl">
                  <a:srgbClr val="C0C0C0"/>
                </a:outerShdw>
              </a:effectLst>
              <a:latin typeface="宋体" pitchFamily="2" charset="-122"/>
            </a:endParaRPr>
          </a:p>
          <a:p>
            <a:pPr marL="274320" indent="-274320" eaLnBrk="1" fontAlgn="auto" hangingPunct="1">
              <a:spcAft>
                <a:spcPts val="0"/>
              </a:spcAft>
              <a:buClr>
                <a:schemeClr val="accent3"/>
              </a:buClr>
              <a:buFont typeface="Wingdings" pitchFamily="2" charset="2"/>
              <a:buNone/>
              <a:defRPr/>
            </a:pPr>
            <a:r>
              <a:rPr lang="zh-CN" altLang="en-US" b="1" dirty="0"/>
              <a:t>将解法</a:t>
            </a:r>
            <a:r>
              <a:rPr lang="en-US" altLang="zh-CN" b="1" dirty="0"/>
              <a:t>3</a:t>
            </a:r>
            <a:r>
              <a:rPr lang="zh-CN" altLang="en-US" b="1" dirty="0"/>
              <a:t>中的两个</a:t>
            </a:r>
            <a:r>
              <a:rPr lang="en-US" altLang="zh-CN" b="1" dirty="0"/>
              <a:t>j</a:t>
            </a:r>
            <a:r>
              <a:rPr lang="zh-CN" altLang="en-US" b="1" dirty="0"/>
              <a:t>循环合并</a:t>
            </a:r>
            <a:r>
              <a:rPr lang="en-US" altLang="zh-CN" b="1" dirty="0"/>
              <a:t>:</a:t>
            </a:r>
          </a:p>
          <a:p>
            <a:pPr marL="274320" indent="-274320" eaLnBrk="1" fontAlgn="auto" hangingPunct="1">
              <a:spcAft>
                <a:spcPts val="0"/>
              </a:spcAft>
              <a:buClr>
                <a:schemeClr val="accent3"/>
              </a:buClr>
              <a:buFont typeface="Wingdings" pitchFamily="2" charset="2"/>
              <a:buNone/>
              <a:defRPr/>
            </a:pPr>
            <a:r>
              <a:rPr lang="en-US" altLang="zh-CN" b="1" dirty="0"/>
              <a:t>       for(</a:t>
            </a:r>
            <a:r>
              <a:rPr lang="en-US" altLang="zh-CN" b="1" dirty="0" err="1"/>
              <a:t>i</a:t>
            </a:r>
            <a:r>
              <a:rPr lang="en-US" altLang="zh-CN" b="1" dirty="0"/>
              <a:t> = 0; </a:t>
            </a:r>
            <a:r>
              <a:rPr lang="en-US" altLang="zh-CN" b="1" dirty="0" err="1"/>
              <a:t>i</a:t>
            </a:r>
            <a:r>
              <a:rPr lang="en-US" altLang="zh-CN" b="1" dirty="0"/>
              <a:t> &lt; n; </a:t>
            </a:r>
            <a:r>
              <a:rPr lang="en-US" altLang="zh-CN" b="1" dirty="0" err="1"/>
              <a:t>i</a:t>
            </a:r>
            <a:r>
              <a:rPr lang="en-US" altLang="zh-CN" b="1" dirty="0"/>
              <a:t>++)</a:t>
            </a:r>
          </a:p>
          <a:p>
            <a:pPr marL="274320" indent="-274320" eaLnBrk="1" fontAlgn="auto" hangingPunct="1">
              <a:spcAft>
                <a:spcPts val="0"/>
              </a:spcAft>
              <a:buClr>
                <a:schemeClr val="accent3"/>
              </a:buClr>
              <a:buFont typeface="Wingdings" pitchFamily="2" charset="2"/>
              <a:buNone/>
              <a:defRPr/>
            </a:pPr>
            <a:r>
              <a:rPr lang="en-US" altLang="zh-CN" b="1" dirty="0"/>
              <a:t>          for(j = 0; j &lt; n; j++)</a:t>
            </a:r>
          </a:p>
          <a:p>
            <a:pPr marL="274320" indent="-274320" eaLnBrk="1" fontAlgn="auto" hangingPunct="1">
              <a:spcAft>
                <a:spcPts val="0"/>
              </a:spcAft>
              <a:buClr>
                <a:schemeClr val="accent3"/>
              </a:buClr>
              <a:buFont typeface="Wingdings" pitchFamily="2" charset="2"/>
              <a:buNone/>
              <a:defRPr/>
            </a:pPr>
            <a:r>
              <a:rPr lang="en-US" altLang="zh-CN" b="1" dirty="0"/>
              <a:t>             a[</a:t>
            </a:r>
            <a:r>
              <a:rPr lang="en-US" altLang="zh-CN" b="1" dirty="0" err="1"/>
              <a:t>i</a:t>
            </a:r>
            <a:r>
              <a:rPr lang="en-US" altLang="zh-CN" b="1" dirty="0"/>
              <a:t>][j] = j &lt; </a:t>
            </a:r>
            <a:r>
              <a:rPr lang="en-US" altLang="zh-CN" b="1" dirty="0" err="1"/>
              <a:t>i</a:t>
            </a:r>
            <a:r>
              <a:rPr lang="en-US" altLang="zh-CN" b="1" dirty="0"/>
              <a:t> ? j - </a:t>
            </a:r>
            <a:r>
              <a:rPr lang="en-US" altLang="zh-CN" b="1" dirty="0" err="1"/>
              <a:t>i</a:t>
            </a:r>
            <a:r>
              <a:rPr lang="en-US" altLang="zh-CN" b="1" dirty="0"/>
              <a:t> + 1 + n : j - </a:t>
            </a:r>
            <a:r>
              <a:rPr lang="en-US" altLang="zh-CN" b="1" dirty="0" err="1"/>
              <a:t>i</a:t>
            </a:r>
            <a:r>
              <a:rPr lang="en-US" altLang="zh-CN" b="1" dirty="0"/>
              <a:t> + 1 ;</a:t>
            </a:r>
          </a:p>
        </p:txBody>
      </p:sp>
      <p:sp>
        <p:nvSpPr>
          <p:cNvPr id="5" name="灯片编号占位符 5"/>
          <p:cNvSpPr>
            <a:spLocks noGrp="1"/>
          </p:cNvSpPr>
          <p:nvPr>
            <p:ph type="sldNum" sz="quarter" idx="12"/>
          </p:nvPr>
        </p:nvSpPr>
        <p:spPr/>
        <p:txBody>
          <a:bodyPr/>
          <a:lstStyle/>
          <a:p>
            <a:pPr>
              <a:defRPr/>
            </a:pPr>
            <a:fld id="{0CDA1E5E-8023-491E-8C2A-D0B88258E666}" type="slidenum">
              <a:rPr lang="en-US" altLang="zh-CN"/>
              <a:pPr>
                <a:defRPr/>
              </a:pPr>
              <a:t>79</a:t>
            </a:fld>
            <a:endParaRPr lang="en-US" altLang="zh-CN"/>
          </a:p>
        </p:txBody>
      </p:sp>
      <p:sp>
        <p:nvSpPr>
          <p:cNvPr id="4" name="TextBox 3"/>
          <p:cNvSpPr txBox="1"/>
          <p:nvPr/>
        </p:nvSpPr>
        <p:spPr>
          <a:xfrm>
            <a:off x="6000750" y="4143375"/>
            <a:ext cx="2928938" cy="2246313"/>
          </a:xfrm>
          <a:prstGeom prst="rect">
            <a:avLst/>
          </a:prstGeom>
          <a:noFill/>
        </p:spPr>
        <p:txBody>
          <a:bodyPr>
            <a:spAutoFit/>
          </a:bodyPr>
          <a:lstStyle/>
          <a:p>
            <a:pPr algn="just" eaLnBrk="1" fontAlgn="auto" hangingPunct="1">
              <a:spcAft>
                <a:spcPts val="0"/>
              </a:spcAft>
              <a:buClr>
                <a:schemeClr val="accent3"/>
              </a:buClr>
              <a:buFont typeface="Wingdings" pitchFamily="2" charset="2"/>
              <a:buNone/>
              <a:defRPr/>
            </a:pPr>
            <a:r>
              <a:rPr lang="en-US" altLang="zh-CN" dirty="0">
                <a:effectLst>
                  <a:outerShdw blurRad="38100" dist="38100" dir="2700000" algn="tl">
                    <a:srgbClr val="C0C0C0"/>
                  </a:outerShdw>
                </a:effectLst>
                <a:latin typeface="宋体" pitchFamily="2" charset="-122"/>
              </a:rPr>
              <a:t>1  2  3  4  5</a:t>
            </a:r>
          </a:p>
          <a:p>
            <a:pPr algn="just" eaLnBrk="1" fontAlgn="auto" hangingPunct="1">
              <a:spcAft>
                <a:spcPts val="0"/>
              </a:spcAft>
              <a:buClr>
                <a:schemeClr val="accent3"/>
              </a:buClr>
              <a:buFont typeface="Wingdings" pitchFamily="2" charset="2"/>
              <a:buNone/>
              <a:defRPr/>
            </a:pPr>
            <a:r>
              <a:rPr lang="en-US" altLang="zh-CN" dirty="0">
                <a:effectLst>
                  <a:outerShdw blurRad="38100" dist="38100" dir="2700000" algn="tl">
                    <a:srgbClr val="C0C0C0"/>
                  </a:outerShdw>
                </a:effectLst>
                <a:latin typeface="宋体" pitchFamily="2" charset="-122"/>
              </a:rPr>
              <a:t>5  1  2  3  4</a:t>
            </a:r>
          </a:p>
          <a:p>
            <a:pPr algn="just" eaLnBrk="1" fontAlgn="auto" hangingPunct="1">
              <a:spcAft>
                <a:spcPts val="0"/>
              </a:spcAft>
              <a:buClr>
                <a:schemeClr val="accent3"/>
              </a:buClr>
              <a:buFont typeface="Wingdings" pitchFamily="2" charset="2"/>
              <a:buNone/>
              <a:defRPr/>
            </a:pPr>
            <a:r>
              <a:rPr lang="en-US" altLang="zh-CN" dirty="0">
                <a:effectLst>
                  <a:outerShdw blurRad="38100" dist="38100" dir="2700000" algn="tl">
                    <a:srgbClr val="C0C0C0"/>
                  </a:outerShdw>
                </a:effectLst>
                <a:latin typeface="宋体" pitchFamily="2" charset="-122"/>
              </a:rPr>
              <a:t>4  5  1  2  3     </a:t>
            </a:r>
          </a:p>
          <a:p>
            <a:pPr algn="just" eaLnBrk="1" fontAlgn="auto" hangingPunct="1">
              <a:spcAft>
                <a:spcPts val="0"/>
              </a:spcAft>
              <a:buClr>
                <a:schemeClr val="accent3"/>
              </a:buClr>
              <a:buFont typeface="Wingdings" pitchFamily="2" charset="2"/>
              <a:buNone/>
              <a:defRPr/>
            </a:pPr>
            <a:r>
              <a:rPr lang="en-US" altLang="zh-CN" dirty="0">
                <a:effectLst>
                  <a:outerShdw blurRad="38100" dist="38100" dir="2700000" algn="tl">
                    <a:srgbClr val="C0C0C0"/>
                  </a:outerShdw>
                </a:effectLst>
                <a:latin typeface="宋体" pitchFamily="2" charset="-122"/>
              </a:rPr>
              <a:t>3  4  5  1  2</a:t>
            </a:r>
          </a:p>
          <a:p>
            <a:pPr algn="just" eaLnBrk="1" fontAlgn="auto" hangingPunct="1">
              <a:spcAft>
                <a:spcPts val="0"/>
              </a:spcAft>
              <a:buClr>
                <a:schemeClr val="accent3"/>
              </a:buClr>
              <a:buFont typeface="Wingdings" pitchFamily="2" charset="2"/>
              <a:buNone/>
              <a:defRPr/>
            </a:pPr>
            <a:r>
              <a:rPr lang="en-US" altLang="zh-CN" dirty="0">
                <a:effectLst>
                  <a:outerShdw blurRad="38100" dist="38100" dir="2700000" algn="tl">
                    <a:srgbClr val="C0C0C0"/>
                  </a:outerShdw>
                </a:effectLst>
                <a:latin typeface="宋体" pitchFamily="2" charset="-122"/>
              </a:rPr>
              <a:t>2  3  4  5  1</a:t>
            </a:r>
            <a:endParaRPr lang="zh-CN" altLang="en-US" dirty="0"/>
          </a:p>
        </p:txBody>
      </p:sp>
      <p:cxnSp>
        <p:nvCxnSpPr>
          <p:cNvPr id="7" name="Straight Connector 6"/>
          <p:cNvCxnSpPr/>
          <p:nvPr/>
        </p:nvCxnSpPr>
        <p:spPr>
          <a:xfrm>
            <a:off x="6072188" y="4357688"/>
            <a:ext cx="2357437" cy="1857375"/>
          </a:xfrm>
          <a:prstGeom prst="line">
            <a:avLst/>
          </a:prstGeom>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251520" y="3861048"/>
            <a:ext cx="5112568" cy="2677656"/>
          </a:xfrm>
          <a:prstGeom prst="rect">
            <a:avLst/>
          </a:prstGeom>
        </p:spPr>
        <p:txBody>
          <a:bodyPr wrap="square">
            <a:spAutoFit/>
          </a:bodyPr>
          <a:lstStyle/>
          <a:p>
            <a:pPr marL="274320" indent="-274320" algn="l" eaLnBrk="1" fontAlgn="auto" hangingPunct="1">
              <a:spcAft>
                <a:spcPts val="0"/>
              </a:spcAft>
              <a:buClr>
                <a:schemeClr val="accent3"/>
              </a:buClr>
              <a:buFont typeface="Wingdings" pitchFamily="2" charset="2"/>
              <a:buNone/>
              <a:defRPr/>
            </a:pPr>
            <a:r>
              <a:rPr lang="en-US" altLang="zh-CN" dirty="0"/>
              <a:t>for(</a:t>
            </a:r>
            <a:r>
              <a:rPr lang="en-US" altLang="zh-CN" dirty="0" err="1"/>
              <a:t>i</a:t>
            </a:r>
            <a:r>
              <a:rPr lang="en-US" altLang="zh-CN" dirty="0"/>
              <a:t> = 0; </a:t>
            </a:r>
            <a:r>
              <a:rPr lang="en-US" altLang="zh-CN" dirty="0" err="1"/>
              <a:t>i</a:t>
            </a:r>
            <a:r>
              <a:rPr lang="en-US" altLang="zh-CN" dirty="0"/>
              <a:t> &lt; n; </a:t>
            </a:r>
            <a:r>
              <a:rPr lang="en-US" altLang="zh-CN" dirty="0" err="1"/>
              <a:t>i</a:t>
            </a:r>
            <a:r>
              <a:rPr lang="en-US" altLang="zh-CN" dirty="0"/>
              <a:t>++)  {</a:t>
            </a:r>
          </a:p>
          <a:p>
            <a:pPr marL="274320" indent="-274320" algn="l" eaLnBrk="1" fontAlgn="auto" hangingPunct="1">
              <a:spcAft>
                <a:spcPts val="0"/>
              </a:spcAft>
              <a:buClr>
                <a:schemeClr val="accent3"/>
              </a:buClr>
              <a:buFont typeface="Wingdings" pitchFamily="2" charset="2"/>
              <a:buNone/>
              <a:defRPr/>
            </a:pPr>
            <a:r>
              <a:rPr lang="en-US" altLang="zh-CN" dirty="0"/>
              <a:t>        </a:t>
            </a:r>
            <a:r>
              <a:rPr lang="en-US" altLang="zh-CN" dirty="0">
                <a:solidFill>
                  <a:srgbClr val="FF0000"/>
                </a:solidFill>
              </a:rPr>
              <a:t>for(j = </a:t>
            </a:r>
            <a:r>
              <a:rPr lang="en-US" altLang="zh-CN" dirty="0" err="1">
                <a:solidFill>
                  <a:srgbClr val="FF0000"/>
                </a:solidFill>
              </a:rPr>
              <a:t>i</a:t>
            </a:r>
            <a:r>
              <a:rPr lang="en-US" altLang="zh-CN" dirty="0">
                <a:solidFill>
                  <a:srgbClr val="FF0000"/>
                </a:solidFill>
              </a:rPr>
              <a:t>; j &lt; n</a:t>
            </a:r>
            <a:r>
              <a:rPr lang="en-US" altLang="zh-CN" dirty="0"/>
              <a:t>; j++) </a:t>
            </a:r>
          </a:p>
          <a:p>
            <a:pPr marL="274320" indent="-274320" algn="l" eaLnBrk="1" fontAlgn="auto" hangingPunct="1">
              <a:spcAft>
                <a:spcPts val="0"/>
              </a:spcAft>
              <a:buClr>
                <a:schemeClr val="accent3"/>
              </a:buClr>
              <a:buFont typeface="Wingdings" pitchFamily="2" charset="2"/>
              <a:buNone/>
              <a:defRPr/>
            </a:pPr>
            <a:r>
              <a:rPr lang="en-US" altLang="zh-CN" dirty="0"/>
              <a:t>               a[</a:t>
            </a:r>
            <a:r>
              <a:rPr lang="en-US" altLang="zh-CN" dirty="0" err="1"/>
              <a:t>i</a:t>
            </a:r>
            <a:r>
              <a:rPr lang="en-US" altLang="zh-CN" dirty="0"/>
              <a:t>][j] = j - </a:t>
            </a:r>
            <a:r>
              <a:rPr lang="en-US" altLang="zh-CN" dirty="0" err="1"/>
              <a:t>i</a:t>
            </a:r>
            <a:r>
              <a:rPr lang="en-US" altLang="zh-CN" dirty="0"/>
              <a:t> + 1;</a:t>
            </a:r>
          </a:p>
          <a:p>
            <a:pPr marL="274320" indent="-274320" algn="l" eaLnBrk="1" fontAlgn="auto" hangingPunct="1">
              <a:spcAft>
                <a:spcPts val="0"/>
              </a:spcAft>
              <a:buClr>
                <a:schemeClr val="accent3"/>
              </a:buClr>
              <a:buFont typeface="Wingdings" pitchFamily="2" charset="2"/>
              <a:buNone/>
              <a:defRPr/>
            </a:pPr>
            <a:r>
              <a:rPr lang="en-US" altLang="zh-CN" dirty="0"/>
              <a:t>         </a:t>
            </a:r>
            <a:r>
              <a:rPr lang="en-US" altLang="zh-CN" dirty="0">
                <a:solidFill>
                  <a:srgbClr val="FF0000"/>
                </a:solidFill>
              </a:rPr>
              <a:t>for(j = 0; j &lt; </a:t>
            </a:r>
            <a:r>
              <a:rPr lang="en-US" altLang="zh-CN" dirty="0" err="1">
                <a:solidFill>
                  <a:srgbClr val="FF0000"/>
                </a:solidFill>
              </a:rPr>
              <a:t>i</a:t>
            </a:r>
            <a:r>
              <a:rPr lang="en-US" altLang="zh-CN" dirty="0"/>
              <a:t>; j++) </a:t>
            </a:r>
          </a:p>
          <a:p>
            <a:pPr marL="274320" indent="-274320" algn="l" eaLnBrk="1" fontAlgn="auto" hangingPunct="1">
              <a:spcAft>
                <a:spcPts val="0"/>
              </a:spcAft>
              <a:buClr>
                <a:schemeClr val="accent3"/>
              </a:buClr>
              <a:buFont typeface="Wingdings" pitchFamily="2" charset="2"/>
              <a:buNone/>
              <a:defRPr/>
            </a:pPr>
            <a:r>
              <a:rPr lang="en-US" altLang="zh-CN" dirty="0"/>
              <a:t>               a[</a:t>
            </a:r>
            <a:r>
              <a:rPr lang="en-US" altLang="zh-CN" dirty="0" err="1"/>
              <a:t>i</a:t>
            </a:r>
            <a:r>
              <a:rPr lang="en-US" altLang="zh-CN" dirty="0"/>
              <a:t>][j] = j - </a:t>
            </a:r>
            <a:r>
              <a:rPr lang="en-US" altLang="zh-CN" dirty="0" err="1"/>
              <a:t>i</a:t>
            </a:r>
            <a:r>
              <a:rPr lang="en-US" altLang="zh-CN" dirty="0"/>
              <a:t> + 1 + n</a:t>
            </a:r>
          </a:p>
          <a:p>
            <a:pPr marL="274320" indent="-274320" algn="l" eaLnBrk="1" fontAlgn="auto" hangingPunct="1">
              <a:spcAft>
                <a:spcPts val="0"/>
              </a:spcAft>
              <a:buClr>
                <a:schemeClr val="accent3"/>
              </a:buClr>
              <a:buFont typeface="Wingdings" pitchFamily="2" charset="2"/>
              <a:buNone/>
              <a:defRPr/>
            </a:pPr>
            <a:r>
              <a:rPr lang="en-US" altLang="zh-CN" dirty="0"/>
              <a:t> }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39650">
                                            <p:txEl>
                                              <p:pRg st="3" end="3"/>
                                            </p:txEl>
                                          </p:spTgt>
                                        </p:tgtEl>
                                        <p:attrNameLst>
                                          <p:attrName>style.visibility</p:attrName>
                                        </p:attrNameLst>
                                      </p:cBhvr>
                                      <p:to>
                                        <p:strVal val="visible"/>
                                      </p:to>
                                    </p:set>
                                    <p:anim calcmode="lin" valueType="num">
                                      <p:cBhvr additive="base">
                                        <p:cTn id="7" dur="500" fill="hold"/>
                                        <p:tgtEl>
                                          <p:spTgt spid="539650">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39650">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39650">
                                            <p:txEl>
                                              <p:pRg st="4" end="4"/>
                                            </p:txEl>
                                          </p:spTgt>
                                        </p:tgtEl>
                                        <p:attrNameLst>
                                          <p:attrName>style.visibility</p:attrName>
                                        </p:attrNameLst>
                                      </p:cBhvr>
                                      <p:to>
                                        <p:strVal val="visible"/>
                                      </p:to>
                                    </p:set>
                                    <p:anim calcmode="lin" valueType="num">
                                      <p:cBhvr additive="base">
                                        <p:cTn id="11" dur="500" fill="hold"/>
                                        <p:tgtEl>
                                          <p:spTgt spid="539650">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39650">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39650">
                                            <p:txEl>
                                              <p:pRg st="5" end="5"/>
                                            </p:txEl>
                                          </p:spTgt>
                                        </p:tgtEl>
                                        <p:attrNameLst>
                                          <p:attrName>style.visibility</p:attrName>
                                        </p:attrNameLst>
                                      </p:cBhvr>
                                      <p:to>
                                        <p:strVal val="visible"/>
                                      </p:to>
                                    </p:set>
                                    <p:anim calcmode="lin" valueType="num">
                                      <p:cBhvr additive="base">
                                        <p:cTn id="15" dur="500" fill="hold"/>
                                        <p:tgtEl>
                                          <p:spTgt spid="539650">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39650">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40674" name="Rectangle 2"/>
          <p:cNvSpPr>
            <a:spLocks noGrp="1" noChangeArrowheads="1"/>
          </p:cNvSpPr>
          <p:nvPr>
            <p:ph idx="1"/>
          </p:nvPr>
        </p:nvSpPr>
        <p:spPr>
          <a:xfrm>
            <a:off x="571500" y="714375"/>
            <a:ext cx="8280400" cy="5903913"/>
          </a:xfrm>
        </p:spPr>
        <p:txBody>
          <a:bodyPr>
            <a:normAutofit/>
          </a:bodyPr>
          <a:lstStyle/>
          <a:p>
            <a:pPr marL="274320" indent="-274320" eaLnBrk="1" fontAlgn="auto" hangingPunct="1">
              <a:spcAft>
                <a:spcPts val="0"/>
              </a:spcAft>
              <a:buClr>
                <a:schemeClr val="accent3"/>
              </a:buClr>
              <a:buFont typeface="Wingdings" pitchFamily="2" charset="2"/>
              <a:buNone/>
              <a:defRPr/>
            </a:pPr>
            <a:r>
              <a:rPr lang="zh-CN" altLang="en-US" b="1" dirty="0">
                <a:solidFill>
                  <a:srgbClr val="0000FF"/>
                </a:solidFill>
                <a:effectLst>
                  <a:outerShdw blurRad="38100" dist="38100" dir="2700000" algn="tl">
                    <a:srgbClr val="C0C0C0"/>
                  </a:outerShdw>
                </a:effectLst>
                <a:latin typeface="宋体" pitchFamily="2" charset="-122"/>
              </a:rPr>
              <a:t>算法</a:t>
            </a:r>
            <a:r>
              <a:rPr lang="en-US" altLang="zh-CN" b="1" dirty="0">
                <a:solidFill>
                  <a:srgbClr val="0000FF"/>
                </a:solidFill>
                <a:effectLst>
                  <a:outerShdw blurRad="38100" dist="38100" dir="2700000" algn="tl">
                    <a:srgbClr val="C0C0C0"/>
                  </a:outerShdw>
                </a:effectLst>
                <a:latin typeface="宋体" pitchFamily="2" charset="-122"/>
              </a:rPr>
              <a:t>(5)</a:t>
            </a:r>
            <a:r>
              <a:rPr lang="zh-CN" altLang="en-US" b="1" dirty="0">
                <a:solidFill>
                  <a:srgbClr val="0000FF"/>
                </a:solidFill>
                <a:effectLst>
                  <a:outerShdw blurRad="38100" dist="38100" dir="2700000" algn="tl">
                    <a:srgbClr val="C0C0C0"/>
                  </a:outerShdw>
                </a:effectLst>
                <a:latin typeface="宋体" pitchFamily="2" charset="-122"/>
              </a:rPr>
              <a:t>：</a:t>
            </a:r>
          </a:p>
          <a:p>
            <a:pPr marL="274320" indent="-274320" eaLnBrk="1" fontAlgn="auto" hangingPunct="1">
              <a:spcAft>
                <a:spcPts val="0"/>
              </a:spcAft>
              <a:buClr>
                <a:schemeClr val="accent3"/>
              </a:buClr>
              <a:buFont typeface="Wingdings" pitchFamily="2" charset="2"/>
              <a:buNone/>
              <a:defRPr/>
            </a:pPr>
            <a:endParaRPr lang="zh-CN" altLang="en-US" b="1" dirty="0">
              <a:solidFill>
                <a:srgbClr val="0000FF"/>
              </a:solidFill>
              <a:effectLst>
                <a:outerShdw blurRad="38100" dist="38100" dir="2700000" algn="tl">
                  <a:srgbClr val="C0C0C0"/>
                </a:outerShdw>
              </a:effectLst>
              <a:latin typeface="宋体" pitchFamily="2" charset="-122"/>
            </a:endParaRPr>
          </a:p>
          <a:p>
            <a:pPr marL="274320" indent="-274320"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rPr>
              <a:t>将解法</a:t>
            </a:r>
            <a:r>
              <a:rPr lang="en-US" altLang="zh-CN" b="1" dirty="0">
                <a:effectLst>
                  <a:outerShdw blurRad="38100" dist="38100" dir="2700000" algn="tl">
                    <a:srgbClr val="C0C0C0"/>
                  </a:outerShdw>
                </a:effectLst>
              </a:rPr>
              <a:t>4</a:t>
            </a:r>
            <a:r>
              <a:rPr lang="zh-CN" altLang="en-US" b="1" dirty="0">
                <a:effectLst>
                  <a:outerShdw blurRad="38100" dist="38100" dir="2700000" algn="tl">
                    <a:srgbClr val="C0C0C0"/>
                  </a:outerShdw>
                </a:effectLst>
              </a:rPr>
              <a:t>中的条件表达式简化：</a:t>
            </a:r>
          </a:p>
          <a:p>
            <a:pPr marL="274320" indent="-274320"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rPr>
              <a:t>       </a:t>
            </a:r>
            <a:r>
              <a:rPr lang="en-US" altLang="zh-CN" b="1" dirty="0">
                <a:effectLst>
                  <a:outerShdw blurRad="38100" dist="38100" dir="2700000" algn="tl">
                    <a:srgbClr val="C0C0C0"/>
                  </a:outerShdw>
                </a:effectLst>
              </a:rPr>
              <a:t>for(</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 = 0; </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 &lt; n; </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a:t>
            </a:r>
          </a:p>
          <a:p>
            <a:pPr marL="274320" indent="-27432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for(j = 0; j &lt; n; j++)</a:t>
            </a:r>
          </a:p>
          <a:p>
            <a:pPr marL="274320" indent="-27432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a[</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][j] = (n - </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 + j) % n  +  1</a:t>
            </a:r>
          </a:p>
        </p:txBody>
      </p:sp>
      <p:sp>
        <p:nvSpPr>
          <p:cNvPr id="5" name="灯片编号占位符 5"/>
          <p:cNvSpPr>
            <a:spLocks noGrp="1"/>
          </p:cNvSpPr>
          <p:nvPr>
            <p:ph type="sldNum" sz="quarter" idx="12"/>
          </p:nvPr>
        </p:nvSpPr>
        <p:spPr/>
        <p:txBody>
          <a:bodyPr/>
          <a:lstStyle/>
          <a:p>
            <a:pPr>
              <a:defRPr/>
            </a:pPr>
            <a:fld id="{1F3E38D4-73BD-4D06-9048-8B2EFD6F5A5B}" type="slidenum">
              <a:rPr lang="en-US" altLang="zh-CN"/>
              <a:pPr>
                <a:defRPr/>
              </a:pPr>
              <a:t>80</a:t>
            </a:fld>
            <a:endParaRPr lang="en-US" altLang="zh-CN"/>
          </a:p>
        </p:txBody>
      </p:sp>
      <p:sp>
        <p:nvSpPr>
          <p:cNvPr id="4" name="TextBox 3"/>
          <p:cNvSpPr txBox="1"/>
          <p:nvPr/>
        </p:nvSpPr>
        <p:spPr>
          <a:xfrm>
            <a:off x="428625" y="3929063"/>
            <a:ext cx="2928938" cy="2246312"/>
          </a:xfrm>
          <a:prstGeom prst="rect">
            <a:avLst/>
          </a:prstGeom>
          <a:noFill/>
        </p:spPr>
        <p:txBody>
          <a:bodyPr>
            <a:spAutoFit/>
          </a:bodyPr>
          <a:lstStyle/>
          <a:p>
            <a:pPr algn="just" eaLnBrk="1" fontAlgn="auto" hangingPunct="1">
              <a:spcAft>
                <a:spcPts val="0"/>
              </a:spcAft>
              <a:buClr>
                <a:schemeClr val="accent3"/>
              </a:buClr>
              <a:buFont typeface="Wingdings" pitchFamily="2" charset="2"/>
              <a:buNone/>
              <a:defRPr/>
            </a:pPr>
            <a:r>
              <a:rPr lang="en-US" altLang="zh-CN" dirty="0">
                <a:effectLst>
                  <a:outerShdw blurRad="38100" dist="38100" dir="2700000" algn="tl">
                    <a:srgbClr val="C0C0C0"/>
                  </a:outerShdw>
                </a:effectLst>
                <a:latin typeface="宋体" pitchFamily="2" charset="-122"/>
              </a:rPr>
              <a:t>1  2  3  4  5</a:t>
            </a:r>
          </a:p>
          <a:p>
            <a:pPr algn="just" eaLnBrk="1" fontAlgn="auto" hangingPunct="1">
              <a:spcAft>
                <a:spcPts val="0"/>
              </a:spcAft>
              <a:buClr>
                <a:schemeClr val="accent3"/>
              </a:buClr>
              <a:buFont typeface="Wingdings" pitchFamily="2" charset="2"/>
              <a:buNone/>
              <a:defRPr/>
            </a:pPr>
            <a:r>
              <a:rPr lang="en-US" altLang="zh-CN" dirty="0">
                <a:effectLst>
                  <a:outerShdw blurRad="38100" dist="38100" dir="2700000" algn="tl">
                    <a:srgbClr val="C0C0C0"/>
                  </a:outerShdw>
                </a:effectLst>
                <a:latin typeface="宋体" pitchFamily="2" charset="-122"/>
              </a:rPr>
              <a:t>5  1  2  3  4</a:t>
            </a:r>
          </a:p>
          <a:p>
            <a:pPr algn="just" eaLnBrk="1" fontAlgn="auto" hangingPunct="1">
              <a:spcAft>
                <a:spcPts val="0"/>
              </a:spcAft>
              <a:buClr>
                <a:schemeClr val="accent3"/>
              </a:buClr>
              <a:buFont typeface="Wingdings" pitchFamily="2" charset="2"/>
              <a:buNone/>
              <a:defRPr/>
            </a:pPr>
            <a:r>
              <a:rPr lang="en-US" altLang="zh-CN" dirty="0">
                <a:effectLst>
                  <a:outerShdw blurRad="38100" dist="38100" dir="2700000" algn="tl">
                    <a:srgbClr val="C0C0C0"/>
                  </a:outerShdw>
                </a:effectLst>
                <a:latin typeface="宋体" pitchFamily="2" charset="-122"/>
              </a:rPr>
              <a:t>4  5  1  2  3     </a:t>
            </a:r>
          </a:p>
          <a:p>
            <a:pPr algn="just" eaLnBrk="1" fontAlgn="auto" hangingPunct="1">
              <a:spcAft>
                <a:spcPts val="0"/>
              </a:spcAft>
              <a:buClr>
                <a:schemeClr val="accent3"/>
              </a:buClr>
              <a:buFont typeface="Wingdings" pitchFamily="2" charset="2"/>
              <a:buNone/>
              <a:defRPr/>
            </a:pPr>
            <a:r>
              <a:rPr lang="en-US" altLang="zh-CN" dirty="0">
                <a:effectLst>
                  <a:outerShdw blurRad="38100" dist="38100" dir="2700000" algn="tl">
                    <a:srgbClr val="C0C0C0"/>
                  </a:outerShdw>
                </a:effectLst>
                <a:latin typeface="宋体" pitchFamily="2" charset="-122"/>
              </a:rPr>
              <a:t>3  4  5  1  2</a:t>
            </a:r>
          </a:p>
          <a:p>
            <a:pPr algn="just" eaLnBrk="1" fontAlgn="auto" hangingPunct="1">
              <a:spcAft>
                <a:spcPts val="0"/>
              </a:spcAft>
              <a:buClr>
                <a:schemeClr val="accent3"/>
              </a:buClr>
              <a:buFont typeface="Wingdings" pitchFamily="2" charset="2"/>
              <a:buNone/>
              <a:defRPr/>
            </a:pPr>
            <a:r>
              <a:rPr lang="en-US" altLang="zh-CN" dirty="0">
                <a:effectLst>
                  <a:outerShdw blurRad="38100" dist="38100" dir="2700000" algn="tl">
                    <a:srgbClr val="C0C0C0"/>
                  </a:outerShdw>
                </a:effectLst>
                <a:latin typeface="宋体" pitchFamily="2" charset="-122"/>
              </a:rPr>
              <a:t>2  3  4  5  1</a:t>
            </a:r>
            <a:endParaRPr lang="zh-CN" altLang="en-US" dirty="0"/>
          </a:p>
        </p:txBody>
      </p:sp>
      <p:sp>
        <p:nvSpPr>
          <p:cNvPr id="8" name="TextBox 7"/>
          <p:cNvSpPr txBox="1"/>
          <p:nvPr/>
        </p:nvSpPr>
        <p:spPr>
          <a:xfrm>
            <a:off x="3929063" y="4000500"/>
            <a:ext cx="2928937" cy="2246313"/>
          </a:xfrm>
          <a:prstGeom prst="rect">
            <a:avLst/>
          </a:prstGeom>
          <a:noFill/>
        </p:spPr>
        <p:txBody>
          <a:bodyPr>
            <a:spAutoFit/>
          </a:bodyPr>
          <a:lstStyle/>
          <a:p>
            <a:pPr algn="just" eaLnBrk="1" fontAlgn="auto" hangingPunct="1">
              <a:spcAft>
                <a:spcPts val="0"/>
              </a:spcAft>
              <a:buClr>
                <a:schemeClr val="accent3"/>
              </a:buClr>
              <a:buFont typeface="Wingdings" pitchFamily="2" charset="2"/>
              <a:buNone/>
              <a:defRPr/>
            </a:pPr>
            <a:r>
              <a:rPr lang="en-US" altLang="zh-CN" dirty="0">
                <a:effectLst>
                  <a:outerShdw blurRad="38100" dist="38100" dir="2700000" algn="tl">
                    <a:srgbClr val="C0C0C0"/>
                  </a:outerShdw>
                </a:effectLst>
                <a:latin typeface="宋体" pitchFamily="2" charset="-122"/>
              </a:rPr>
              <a:t>0  1  2  3  4</a:t>
            </a:r>
          </a:p>
          <a:p>
            <a:pPr algn="just" eaLnBrk="1" fontAlgn="auto" hangingPunct="1">
              <a:spcAft>
                <a:spcPts val="0"/>
              </a:spcAft>
              <a:buClr>
                <a:schemeClr val="accent3"/>
              </a:buClr>
              <a:buFont typeface="Wingdings" pitchFamily="2" charset="2"/>
              <a:buNone/>
              <a:defRPr/>
            </a:pPr>
            <a:r>
              <a:rPr lang="en-US" altLang="zh-CN" dirty="0">
                <a:effectLst>
                  <a:outerShdw blurRad="38100" dist="38100" dir="2700000" algn="tl">
                    <a:srgbClr val="C0C0C0"/>
                  </a:outerShdw>
                </a:effectLst>
                <a:latin typeface="宋体" pitchFamily="2" charset="-122"/>
              </a:rPr>
              <a:t>4  0  1  2  3</a:t>
            </a:r>
          </a:p>
          <a:p>
            <a:pPr algn="just" eaLnBrk="1" fontAlgn="auto" hangingPunct="1">
              <a:spcAft>
                <a:spcPts val="0"/>
              </a:spcAft>
              <a:buClr>
                <a:schemeClr val="accent3"/>
              </a:buClr>
              <a:buFont typeface="Wingdings" pitchFamily="2" charset="2"/>
              <a:buNone/>
              <a:defRPr/>
            </a:pPr>
            <a:r>
              <a:rPr lang="en-US" altLang="zh-CN" dirty="0">
                <a:effectLst>
                  <a:outerShdw blurRad="38100" dist="38100" dir="2700000" algn="tl">
                    <a:srgbClr val="C0C0C0"/>
                  </a:outerShdw>
                </a:effectLst>
                <a:latin typeface="宋体" pitchFamily="2" charset="-122"/>
              </a:rPr>
              <a:t>3  4  0  1  2     </a:t>
            </a:r>
          </a:p>
          <a:p>
            <a:pPr algn="just" eaLnBrk="1" fontAlgn="auto" hangingPunct="1">
              <a:spcAft>
                <a:spcPts val="0"/>
              </a:spcAft>
              <a:buClr>
                <a:schemeClr val="accent3"/>
              </a:buClr>
              <a:buFont typeface="Wingdings" pitchFamily="2" charset="2"/>
              <a:buNone/>
              <a:defRPr/>
            </a:pPr>
            <a:r>
              <a:rPr lang="en-US" altLang="zh-CN" dirty="0">
                <a:effectLst>
                  <a:outerShdw blurRad="38100" dist="38100" dir="2700000" algn="tl">
                    <a:srgbClr val="C0C0C0"/>
                  </a:outerShdw>
                </a:effectLst>
                <a:latin typeface="宋体" pitchFamily="2" charset="-122"/>
              </a:rPr>
              <a:t>2  3  4  0  1</a:t>
            </a:r>
          </a:p>
          <a:p>
            <a:pPr algn="just" eaLnBrk="1" fontAlgn="auto" hangingPunct="1">
              <a:spcAft>
                <a:spcPts val="0"/>
              </a:spcAft>
              <a:buClr>
                <a:schemeClr val="accent3"/>
              </a:buClr>
              <a:buFont typeface="Wingdings" pitchFamily="2" charset="2"/>
              <a:buNone/>
              <a:defRPr/>
            </a:pPr>
            <a:r>
              <a:rPr lang="en-US" altLang="zh-CN" dirty="0">
                <a:effectLst>
                  <a:outerShdw blurRad="38100" dist="38100" dir="2700000" algn="tl">
                    <a:srgbClr val="C0C0C0"/>
                  </a:outerShdw>
                </a:effectLst>
                <a:latin typeface="宋体" pitchFamily="2" charset="-122"/>
              </a:rPr>
              <a:t>1  2  3  4  0</a:t>
            </a:r>
            <a:endParaRPr lang="zh-CN" altLang="en-US" dirty="0"/>
          </a:p>
        </p:txBody>
      </p:sp>
      <p:sp>
        <p:nvSpPr>
          <p:cNvPr id="10" name="Right Arrow 9"/>
          <p:cNvSpPr/>
          <p:nvPr/>
        </p:nvSpPr>
        <p:spPr>
          <a:xfrm>
            <a:off x="3286125" y="5000625"/>
            <a:ext cx="500063" cy="4286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11" name="Right Arrow 10"/>
          <p:cNvSpPr/>
          <p:nvPr/>
        </p:nvSpPr>
        <p:spPr>
          <a:xfrm rot="18074436">
            <a:off x="6143626" y="3286125"/>
            <a:ext cx="501650" cy="4286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grpSp>
        <p:nvGrpSpPr>
          <p:cNvPr id="2" name="Group 12"/>
          <p:cNvGrpSpPr>
            <a:grpSpLocks/>
          </p:cNvGrpSpPr>
          <p:nvPr/>
        </p:nvGrpSpPr>
        <p:grpSpPr bwMode="auto">
          <a:xfrm>
            <a:off x="5857875" y="857250"/>
            <a:ext cx="3286125" cy="2246313"/>
            <a:chOff x="5857884" y="857232"/>
            <a:chExt cx="3286116" cy="2246313"/>
          </a:xfrm>
        </p:grpSpPr>
        <p:sp>
          <p:nvSpPr>
            <p:cNvPr id="9" name="TextBox 8"/>
            <p:cNvSpPr txBox="1"/>
            <p:nvPr/>
          </p:nvSpPr>
          <p:spPr>
            <a:xfrm>
              <a:off x="5857884" y="857232"/>
              <a:ext cx="2928930" cy="2246313"/>
            </a:xfrm>
            <a:prstGeom prst="rect">
              <a:avLst/>
            </a:prstGeom>
            <a:noFill/>
          </p:spPr>
          <p:txBody>
            <a:bodyPr>
              <a:spAutoFit/>
            </a:bodyPr>
            <a:lstStyle/>
            <a:p>
              <a:pPr algn="just" eaLnBrk="1" fontAlgn="auto" hangingPunct="1">
                <a:spcAft>
                  <a:spcPts val="0"/>
                </a:spcAft>
                <a:buClr>
                  <a:schemeClr val="accent3"/>
                </a:buClr>
                <a:buFont typeface="Wingdings" pitchFamily="2" charset="2"/>
                <a:buNone/>
                <a:defRPr/>
              </a:pPr>
              <a:r>
                <a:rPr lang="en-US" altLang="zh-CN" dirty="0">
                  <a:effectLst>
                    <a:outerShdw blurRad="38100" dist="38100" dir="2700000" algn="tl">
                      <a:srgbClr val="C0C0C0"/>
                    </a:outerShdw>
                  </a:effectLst>
                  <a:latin typeface="宋体" pitchFamily="2" charset="-122"/>
                </a:rPr>
                <a:t>5  6  7  8  9</a:t>
              </a:r>
            </a:p>
            <a:p>
              <a:pPr algn="just" eaLnBrk="1" fontAlgn="auto" hangingPunct="1">
                <a:spcAft>
                  <a:spcPts val="0"/>
                </a:spcAft>
                <a:buClr>
                  <a:schemeClr val="accent3"/>
                </a:buClr>
                <a:buFont typeface="Wingdings" pitchFamily="2" charset="2"/>
                <a:buNone/>
                <a:defRPr/>
              </a:pPr>
              <a:r>
                <a:rPr lang="en-US" altLang="zh-CN" dirty="0">
                  <a:effectLst>
                    <a:outerShdw blurRad="38100" dist="38100" dir="2700000" algn="tl">
                      <a:srgbClr val="C0C0C0"/>
                    </a:outerShdw>
                  </a:effectLst>
                  <a:latin typeface="宋体" pitchFamily="2" charset="-122"/>
                </a:rPr>
                <a:t>4  5  6  7  8</a:t>
              </a:r>
            </a:p>
            <a:p>
              <a:pPr algn="just" eaLnBrk="1" fontAlgn="auto" hangingPunct="1">
                <a:spcAft>
                  <a:spcPts val="0"/>
                </a:spcAft>
                <a:buClr>
                  <a:schemeClr val="accent3"/>
                </a:buClr>
                <a:buFont typeface="Wingdings" pitchFamily="2" charset="2"/>
                <a:buNone/>
                <a:defRPr/>
              </a:pPr>
              <a:r>
                <a:rPr lang="en-US" altLang="zh-CN" dirty="0">
                  <a:effectLst>
                    <a:outerShdw blurRad="38100" dist="38100" dir="2700000" algn="tl">
                      <a:srgbClr val="C0C0C0"/>
                    </a:outerShdw>
                  </a:effectLst>
                  <a:latin typeface="宋体" pitchFamily="2" charset="-122"/>
                </a:rPr>
                <a:t>3  4  5  6  7     </a:t>
              </a:r>
            </a:p>
            <a:p>
              <a:pPr algn="just" eaLnBrk="1" fontAlgn="auto" hangingPunct="1">
                <a:spcAft>
                  <a:spcPts val="0"/>
                </a:spcAft>
                <a:buClr>
                  <a:schemeClr val="accent3"/>
                </a:buClr>
                <a:buFont typeface="Wingdings" pitchFamily="2" charset="2"/>
                <a:buNone/>
                <a:defRPr/>
              </a:pPr>
              <a:r>
                <a:rPr lang="en-US" altLang="zh-CN" dirty="0">
                  <a:effectLst>
                    <a:outerShdw blurRad="38100" dist="38100" dir="2700000" algn="tl">
                      <a:srgbClr val="C0C0C0"/>
                    </a:outerShdw>
                  </a:effectLst>
                  <a:latin typeface="宋体" pitchFamily="2" charset="-122"/>
                </a:rPr>
                <a:t>2  3  4  5  6</a:t>
              </a:r>
            </a:p>
            <a:p>
              <a:pPr algn="just" eaLnBrk="1" fontAlgn="auto" hangingPunct="1">
                <a:spcAft>
                  <a:spcPts val="0"/>
                </a:spcAft>
                <a:buClr>
                  <a:schemeClr val="accent3"/>
                </a:buClr>
                <a:buFont typeface="Wingdings" pitchFamily="2" charset="2"/>
                <a:buNone/>
                <a:defRPr/>
              </a:pPr>
              <a:r>
                <a:rPr lang="en-US" altLang="zh-CN" dirty="0">
                  <a:effectLst>
                    <a:outerShdw blurRad="38100" dist="38100" dir="2700000" algn="tl">
                      <a:srgbClr val="C0C0C0"/>
                    </a:outerShdw>
                  </a:effectLst>
                  <a:latin typeface="宋体" pitchFamily="2" charset="-122"/>
                </a:rPr>
                <a:t>1  2  3  4  5</a:t>
              </a:r>
              <a:endParaRPr lang="zh-CN" altLang="en-US" dirty="0"/>
            </a:p>
          </p:txBody>
        </p:sp>
        <p:sp>
          <p:nvSpPr>
            <p:cNvPr id="75786" name="TextBox 11"/>
            <p:cNvSpPr txBox="1">
              <a:spLocks noChangeArrowheads="1"/>
            </p:cNvSpPr>
            <p:nvPr/>
          </p:nvSpPr>
          <p:spPr bwMode="auto">
            <a:xfrm>
              <a:off x="8420725" y="1714488"/>
              <a:ext cx="723275" cy="523220"/>
            </a:xfrm>
            <a:prstGeom prst="rect">
              <a:avLst/>
            </a:prstGeom>
            <a:noFill/>
            <a:ln w="9525">
              <a:noFill/>
              <a:miter lim="800000"/>
              <a:headEnd/>
              <a:tailEnd/>
            </a:ln>
          </p:spPr>
          <p:txBody>
            <a:bodyPr wrap="none">
              <a:spAutoFit/>
            </a:bodyPr>
            <a:lstStyle/>
            <a:p>
              <a:r>
                <a:rPr lang="en-US" altLang="zh-CN"/>
                <a:t>%5</a:t>
              </a:r>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animBg="1"/>
      <p:bldP spid="11" grpId="0" animBg="1"/>
    </p:bldLst>
  </p:timing>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41698" name="Rectangle 2"/>
          <p:cNvSpPr>
            <a:spLocks noGrp="1" noChangeArrowheads="1"/>
          </p:cNvSpPr>
          <p:nvPr>
            <p:ph idx="1"/>
          </p:nvPr>
        </p:nvSpPr>
        <p:spPr>
          <a:xfrm>
            <a:off x="468313" y="765175"/>
            <a:ext cx="8280400" cy="5903913"/>
          </a:xfrm>
        </p:spPr>
        <p:txBody>
          <a:bodyPr>
            <a:normAutofit/>
          </a:bodyPr>
          <a:lstStyle/>
          <a:p>
            <a:pPr marL="274320" indent="-274320" eaLnBrk="1" fontAlgn="auto" hangingPunct="1">
              <a:spcAft>
                <a:spcPts val="0"/>
              </a:spcAft>
              <a:buClr>
                <a:schemeClr val="accent3"/>
              </a:buClr>
              <a:buFont typeface="Wingdings" pitchFamily="2" charset="2"/>
              <a:buNone/>
              <a:defRPr/>
            </a:pPr>
            <a:r>
              <a:rPr lang="zh-CN" altLang="en-US" b="1" dirty="0">
                <a:solidFill>
                  <a:srgbClr val="0000FF"/>
                </a:solidFill>
                <a:effectLst>
                  <a:outerShdw blurRad="38100" dist="38100" dir="2700000" algn="tl">
                    <a:srgbClr val="C0C0C0"/>
                  </a:outerShdw>
                </a:effectLst>
                <a:latin typeface="宋体" pitchFamily="2" charset="-122"/>
              </a:rPr>
              <a:t>算法</a:t>
            </a:r>
            <a:r>
              <a:rPr lang="en-US" altLang="zh-CN" b="1" dirty="0">
                <a:solidFill>
                  <a:srgbClr val="0000FF"/>
                </a:solidFill>
                <a:effectLst>
                  <a:outerShdw blurRad="38100" dist="38100" dir="2700000" algn="tl">
                    <a:srgbClr val="C0C0C0"/>
                  </a:outerShdw>
                </a:effectLst>
                <a:latin typeface="宋体" pitchFamily="2" charset="-122"/>
              </a:rPr>
              <a:t>(6)</a:t>
            </a:r>
            <a:r>
              <a:rPr lang="zh-CN" altLang="en-US" b="1" dirty="0">
                <a:solidFill>
                  <a:srgbClr val="0000FF"/>
                </a:solidFill>
                <a:effectLst>
                  <a:outerShdw blurRad="38100" dist="38100" dir="2700000" algn="tl">
                    <a:srgbClr val="C0C0C0"/>
                  </a:outerShdw>
                </a:effectLst>
                <a:latin typeface="宋体" pitchFamily="2" charset="-122"/>
              </a:rPr>
              <a:t>：</a:t>
            </a:r>
          </a:p>
          <a:p>
            <a:pPr marL="0" indent="0"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rPr>
              <a:t>先给出</a:t>
            </a:r>
            <a:r>
              <a:rPr lang="en-US" altLang="zh-CN" b="1" dirty="0">
                <a:effectLst>
                  <a:outerShdw blurRad="38100" dist="38100" dir="2700000" algn="tl">
                    <a:srgbClr val="C0C0C0"/>
                  </a:outerShdw>
                </a:effectLst>
              </a:rPr>
              <a:t>0</a:t>
            </a:r>
            <a:r>
              <a:rPr lang="zh-CN" altLang="en-US" b="1" dirty="0">
                <a:effectLst>
                  <a:outerShdw blurRad="38100" dist="38100" dir="2700000" algn="tl">
                    <a:srgbClr val="C0C0C0"/>
                  </a:outerShdw>
                </a:effectLst>
              </a:rPr>
              <a:t>行</a:t>
            </a:r>
            <a:r>
              <a:rPr lang="en-US" altLang="zh-CN" b="1" dirty="0">
                <a:effectLst>
                  <a:outerShdw blurRad="38100" dist="38100" dir="2700000" algn="tl">
                    <a:srgbClr val="C0C0C0"/>
                  </a:outerShdw>
                </a:effectLst>
              </a:rPr>
              <a:t>, </a:t>
            </a:r>
            <a:r>
              <a:rPr lang="zh-CN" altLang="en-US" b="1" dirty="0">
                <a:effectLst>
                  <a:outerShdw blurRad="38100" dist="38100" dir="2700000" algn="tl">
                    <a:srgbClr val="C0C0C0"/>
                  </a:outerShdw>
                </a:effectLst>
              </a:rPr>
              <a:t>然后由</a:t>
            </a:r>
            <a:r>
              <a:rPr lang="en-US" altLang="zh-CN" b="1" dirty="0" err="1">
                <a:effectLst>
                  <a:outerShdw blurRad="38100" dist="38100" dir="2700000" algn="tl">
                    <a:srgbClr val="C0C0C0"/>
                  </a:outerShdw>
                </a:effectLst>
              </a:rPr>
              <a:t>i</a:t>
            </a:r>
            <a:r>
              <a:rPr lang="zh-CN" altLang="en-US" b="1" dirty="0">
                <a:effectLst>
                  <a:outerShdw blurRad="38100" dist="38100" dir="2700000" algn="tl">
                    <a:srgbClr val="C0C0C0"/>
                  </a:outerShdw>
                </a:effectLst>
              </a:rPr>
              <a:t>行与</a:t>
            </a:r>
            <a:r>
              <a:rPr lang="en-US" altLang="zh-CN" b="1" dirty="0">
                <a:effectLst>
                  <a:outerShdw blurRad="38100" dist="38100" dir="2700000" algn="tl">
                    <a:srgbClr val="C0C0C0"/>
                  </a:outerShdw>
                </a:effectLst>
              </a:rPr>
              <a:t>0</a:t>
            </a:r>
            <a:r>
              <a:rPr lang="zh-CN" altLang="en-US" b="1" dirty="0">
                <a:effectLst>
                  <a:outerShdw blurRad="38100" dist="38100" dir="2700000" algn="tl">
                    <a:srgbClr val="C0C0C0"/>
                  </a:outerShdw>
                </a:effectLst>
              </a:rPr>
              <a:t>行的关系</a:t>
            </a:r>
            <a:r>
              <a:rPr lang="en-US" altLang="zh-CN" b="1" dirty="0">
                <a:effectLst>
                  <a:outerShdw blurRad="38100" dist="38100" dir="2700000" algn="tl">
                    <a:srgbClr val="C0C0C0"/>
                  </a:outerShdw>
                </a:effectLst>
              </a:rPr>
              <a:t>,</a:t>
            </a:r>
            <a:r>
              <a:rPr lang="zh-CN" altLang="en-US" b="1" dirty="0">
                <a:effectLst>
                  <a:outerShdw blurRad="38100" dist="38100" dir="2700000" algn="tl">
                    <a:srgbClr val="C0C0C0"/>
                  </a:outerShdw>
                </a:effectLst>
              </a:rPr>
              <a:t>填写</a:t>
            </a:r>
            <a:r>
              <a:rPr lang="en-US" altLang="zh-CN" b="1" dirty="0" err="1">
                <a:effectLst>
                  <a:outerShdw blurRad="38100" dist="38100" dir="2700000" algn="tl">
                    <a:srgbClr val="C0C0C0"/>
                  </a:outerShdw>
                </a:effectLst>
              </a:rPr>
              <a:t>i</a:t>
            </a:r>
            <a:r>
              <a:rPr lang="zh-CN" altLang="en-US" b="1" dirty="0">
                <a:effectLst>
                  <a:outerShdw blurRad="38100" dist="38100" dir="2700000" algn="tl">
                    <a:srgbClr val="C0C0C0"/>
                  </a:outerShdw>
                </a:effectLst>
              </a:rPr>
              <a:t>行。</a:t>
            </a:r>
          </a:p>
          <a:p>
            <a:pPr marL="0" indent="0"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rPr>
              <a:t>设</a:t>
            </a:r>
            <a:r>
              <a:rPr lang="en-US" altLang="zh-CN" b="1" dirty="0" err="1">
                <a:effectLst>
                  <a:outerShdw blurRad="38100" dist="38100" dir="2700000" algn="tl">
                    <a:srgbClr val="C0C0C0"/>
                  </a:outerShdw>
                </a:effectLst>
              </a:rPr>
              <a:t>i</a:t>
            </a:r>
            <a:r>
              <a:rPr lang="zh-CN" altLang="en-US" b="1" dirty="0">
                <a:effectLst>
                  <a:outerShdw blurRad="38100" dist="38100" dir="2700000" algn="tl">
                    <a:srgbClr val="C0C0C0"/>
                  </a:outerShdw>
                </a:effectLst>
              </a:rPr>
              <a:t>行的</a:t>
            </a:r>
            <a:r>
              <a:rPr lang="en-US" altLang="zh-CN" b="1" dirty="0">
                <a:effectLst>
                  <a:outerShdw blurRad="38100" dist="38100" dir="2700000" algn="tl">
                    <a:srgbClr val="C0C0C0"/>
                  </a:outerShdw>
                </a:effectLst>
              </a:rPr>
              <a:t>j</a:t>
            </a:r>
            <a:r>
              <a:rPr lang="zh-CN" altLang="en-US" b="1" dirty="0">
                <a:effectLst>
                  <a:outerShdw blurRad="38100" dist="38100" dir="2700000" algn="tl">
                    <a:srgbClr val="C0C0C0"/>
                  </a:outerShdw>
                </a:effectLst>
              </a:rPr>
              <a:t>列元素</a:t>
            </a:r>
            <a:r>
              <a:rPr lang="en-US" altLang="zh-CN" b="1" dirty="0">
                <a:effectLst>
                  <a:outerShdw blurRad="38100" dist="38100" dir="2700000" algn="tl">
                    <a:srgbClr val="C0C0C0"/>
                  </a:outerShdw>
                </a:effectLst>
              </a:rPr>
              <a:t>a[</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][j]</a:t>
            </a:r>
            <a:r>
              <a:rPr lang="zh-CN" altLang="en-US" b="1" dirty="0">
                <a:effectLst>
                  <a:outerShdw blurRad="38100" dist="38100" dir="2700000" algn="tl">
                    <a:srgbClr val="C0C0C0"/>
                  </a:outerShdw>
                </a:effectLst>
              </a:rPr>
              <a:t>等于</a:t>
            </a:r>
            <a:r>
              <a:rPr lang="en-US" altLang="zh-CN" b="1" dirty="0">
                <a:effectLst>
                  <a:outerShdw blurRad="38100" dist="38100" dir="2700000" algn="tl">
                    <a:srgbClr val="C0C0C0"/>
                  </a:outerShdw>
                </a:effectLst>
              </a:rPr>
              <a:t>0</a:t>
            </a:r>
            <a:r>
              <a:rPr lang="zh-CN" altLang="en-US" b="1" dirty="0">
                <a:effectLst>
                  <a:outerShdw blurRad="38100" dist="38100" dir="2700000" algn="tl">
                    <a:srgbClr val="C0C0C0"/>
                  </a:outerShdw>
                </a:effectLst>
              </a:rPr>
              <a:t>行的</a:t>
            </a:r>
            <a:r>
              <a:rPr lang="en-US" altLang="zh-CN" b="1" dirty="0">
                <a:effectLst>
                  <a:outerShdw blurRad="38100" dist="38100" dir="2700000" algn="tl">
                    <a:srgbClr val="C0C0C0"/>
                  </a:outerShdw>
                </a:effectLst>
              </a:rPr>
              <a:t>k</a:t>
            </a:r>
            <a:r>
              <a:rPr lang="zh-CN" altLang="en-US" b="1" dirty="0">
                <a:effectLst>
                  <a:outerShdw blurRad="38100" dist="38100" dir="2700000" algn="tl">
                    <a:srgbClr val="C0C0C0"/>
                  </a:outerShdw>
                </a:effectLst>
              </a:rPr>
              <a:t>列元素</a:t>
            </a:r>
            <a:r>
              <a:rPr lang="en-US" altLang="zh-CN" b="1" dirty="0">
                <a:effectLst>
                  <a:outerShdw blurRad="38100" dist="38100" dir="2700000" algn="tl">
                    <a:srgbClr val="C0C0C0"/>
                  </a:outerShdw>
                </a:effectLst>
              </a:rPr>
              <a:t>a[0][k]</a:t>
            </a:r>
            <a:r>
              <a:rPr lang="zh-CN" altLang="en-US" b="1" dirty="0">
                <a:effectLst>
                  <a:outerShdw blurRad="38100" dist="38100" dir="2700000" algn="tl">
                    <a:srgbClr val="C0C0C0"/>
                  </a:outerShdw>
                </a:effectLst>
              </a:rPr>
              <a:t>。则</a:t>
            </a:r>
            <a:r>
              <a:rPr lang="en-US" altLang="zh-CN" b="1" dirty="0">
                <a:effectLst>
                  <a:outerShdw blurRad="38100" dist="38100" dir="2700000" algn="tl">
                    <a:srgbClr val="C0C0C0"/>
                  </a:outerShdw>
                </a:effectLst>
              </a:rPr>
              <a:t>k</a:t>
            </a:r>
            <a:r>
              <a:rPr lang="zh-CN" altLang="en-US" b="1" dirty="0">
                <a:effectLst>
                  <a:outerShdw blurRad="38100" dist="38100" dir="2700000" algn="tl">
                    <a:srgbClr val="C0C0C0"/>
                  </a:outerShdw>
                </a:effectLst>
              </a:rPr>
              <a:t>的计算式如下：</a:t>
            </a:r>
          </a:p>
          <a:p>
            <a:pPr marL="274320" indent="-274320"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rPr>
              <a:t>         当</a:t>
            </a:r>
            <a:r>
              <a:rPr lang="en-US" altLang="zh-CN" b="1" dirty="0">
                <a:effectLst>
                  <a:outerShdw blurRad="38100" dist="38100" dir="2700000" algn="tl">
                    <a:srgbClr val="C0C0C0"/>
                  </a:outerShdw>
                </a:effectLst>
              </a:rPr>
              <a:t>j &gt;= </a:t>
            </a:r>
            <a:r>
              <a:rPr lang="en-US" altLang="zh-CN" b="1" dirty="0" err="1">
                <a:effectLst>
                  <a:outerShdw blurRad="38100" dist="38100" dir="2700000" algn="tl">
                    <a:srgbClr val="C0C0C0"/>
                  </a:outerShdw>
                </a:effectLst>
              </a:rPr>
              <a:t>i</a:t>
            </a:r>
            <a:r>
              <a:rPr lang="zh-CN" altLang="en-US" b="1" dirty="0">
                <a:effectLst>
                  <a:outerShdw blurRad="38100" dist="38100" dir="2700000" algn="tl">
                    <a:srgbClr val="C0C0C0"/>
                  </a:outerShdw>
                </a:effectLst>
              </a:rPr>
              <a:t>时</a:t>
            </a:r>
            <a:r>
              <a:rPr lang="en-US" altLang="zh-CN" b="1" dirty="0">
                <a:effectLst>
                  <a:outerShdw blurRad="38100" dist="38100" dir="2700000" algn="tl">
                    <a:srgbClr val="C0C0C0"/>
                  </a:outerShdw>
                </a:effectLst>
              </a:rPr>
              <a:t>: k = j - </a:t>
            </a:r>
            <a:r>
              <a:rPr lang="en-US" altLang="zh-CN" b="1" dirty="0" err="1">
                <a:effectLst>
                  <a:outerShdw blurRad="38100" dist="38100" dir="2700000" algn="tl">
                    <a:srgbClr val="C0C0C0"/>
                  </a:outerShdw>
                </a:effectLst>
              </a:rPr>
              <a:t>i</a:t>
            </a:r>
            <a:endParaRPr lang="en-US" altLang="zh-CN" b="1" dirty="0">
              <a:effectLst>
                <a:outerShdw blurRad="38100" dist="38100" dir="2700000" algn="tl">
                  <a:srgbClr val="C0C0C0"/>
                </a:outerShdw>
              </a:effectLst>
            </a:endParaRPr>
          </a:p>
          <a:p>
            <a:pPr marL="274320" indent="-27432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a:t>
            </a:r>
            <a:r>
              <a:rPr lang="zh-CN" altLang="en-US" b="1" dirty="0">
                <a:effectLst>
                  <a:outerShdw blurRad="38100" dist="38100" dir="2700000" algn="tl">
                    <a:srgbClr val="C0C0C0"/>
                  </a:outerShdw>
                </a:effectLst>
              </a:rPr>
              <a:t>当</a:t>
            </a:r>
            <a:r>
              <a:rPr lang="en-US" altLang="zh-CN" b="1" dirty="0">
                <a:effectLst>
                  <a:outerShdw blurRad="38100" dist="38100" dir="2700000" algn="tl">
                    <a:srgbClr val="C0C0C0"/>
                  </a:outerShdw>
                </a:effectLst>
              </a:rPr>
              <a:t>j &lt; </a:t>
            </a:r>
            <a:r>
              <a:rPr lang="en-US" altLang="zh-CN" b="1" dirty="0" err="1">
                <a:effectLst>
                  <a:outerShdw blurRad="38100" dist="38100" dir="2700000" algn="tl">
                    <a:srgbClr val="C0C0C0"/>
                  </a:outerShdw>
                </a:effectLst>
              </a:rPr>
              <a:t>i</a:t>
            </a:r>
            <a:r>
              <a:rPr lang="zh-CN" altLang="en-US" b="1" dirty="0">
                <a:effectLst>
                  <a:outerShdw blurRad="38100" dist="38100" dir="2700000" algn="tl">
                    <a:srgbClr val="C0C0C0"/>
                  </a:outerShdw>
                </a:effectLst>
              </a:rPr>
              <a:t>时</a:t>
            </a:r>
            <a:r>
              <a:rPr lang="en-US" altLang="zh-CN" b="1" dirty="0">
                <a:effectLst>
                  <a:outerShdw blurRad="38100" dist="38100" dir="2700000" algn="tl">
                    <a:srgbClr val="C0C0C0"/>
                  </a:outerShdw>
                </a:effectLst>
              </a:rPr>
              <a:t>: k = j - </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 + n</a:t>
            </a:r>
          </a:p>
          <a:p>
            <a:pPr marL="274320" indent="-274320"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rPr>
              <a:t>计算</a:t>
            </a:r>
            <a:r>
              <a:rPr lang="en-US" altLang="zh-CN" b="1" dirty="0">
                <a:effectLst>
                  <a:outerShdw blurRad="38100" dist="38100" dir="2700000" algn="tl">
                    <a:srgbClr val="C0C0C0"/>
                  </a:outerShdw>
                </a:effectLst>
              </a:rPr>
              <a:t>k</a:t>
            </a:r>
            <a:r>
              <a:rPr lang="zh-CN" altLang="en-US" b="1" dirty="0">
                <a:effectLst>
                  <a:outerShdw blurRad="38100" dist="38100" dir="2700000" algn="tl">
                    <a:srgbClr val="C0C0C0"/>
                  </a:outerShdw>
                </a:effectLst>
              </a:rPr>
              <a:t>的代码可以写成 </a:t>
            </a:r>
          </a:p>
          <a:p>
            <a:pPr marL="274320" indent="-274320"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rPr>
              <a:t>           </a:t>
            </a:r>
            <a:r>
              <a:rPr lang="en-US" altLang="zh-CN" b="1" dirty="0">
                <a:effectLst>
                  <a:outerShdw blurRad="38100" dist="38100" dir="2700000" algn="tl">
                    <a:srgbClr val="C0C0C0"/>
                  </a:outerShdw>
                </a:effectLst>
              </a:rPr>
              <a:t>k = j - </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 &gt;= 0 ? j - </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 : j - </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 + n; </a:t>
            </a:r>
          </a:p>
          <a:p>
            <a:pPr marL="274320" indent="-274320"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rPr>
              <a:t>或简写成</a:t>
            </a:r>
          </a:p>
          <a:p>
            <a:pPr marL="274320" indent="-274320"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rPr>
              <a:t>           </a:t>
            </a:r>
            <a:r>
              <a:rPr lang="en-US" altLang="zh-CN" b="1" dirty="0">
                <a:effectLst>
                  <a:outerShdw blurRad="38100" dist="38100" dir="2700000" algn="tl">
                    <a:srgbClr val="C0C0C0"/>
                  </a:outerShdw>
                </a:effectLst>
              </a:rPr>
              <a:t>k = (j - </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 + n) % n </a:t>
            </a:r>
          </a:p>
        </p:txBody>
      </p:sp>
      <p:sp>
        <p:nvSpPr>
          <p:cNvPr id="5" name="灯片编号占位符 5"/>
          <p:cNvSpPr>
            <a:spLocks noGrp="1"/>
          </p:cNvSpPr>
          <p:nvPr>
            <p:ph type="sldNum" sz="quarter" idx="12"/>
          </p:nvPr>
        </p:nvSpPr>
        <p:spPr/>
        <p:txBody>
          <a:bodyPr/>
          <a:lstStyle/>
          <a:p>
            <a:pPr>
              <a:defRPr/>
            </a:pPr>
            <a:fld id="{23005794-A24D-4E03-8CB9-EE9EF030CE1F}" type="slidenum">
              <a:rPr lang="en-US" altLang="zh-CN"/>
              <a:pPr>
                <a:defRPr/>
              </a:pPr>
              <a:t>81</a:t>
            </a:fld>
            <a:endParaRPr lang="en-US" altLang="zh-CN"/>
          </a:p>
        </p:txBody>
      </p:sp>
    </p:spTree>
  </p:cSld>
  <p:clrMapOvr>
    <a:masterClrMapping/>
  </p:clrMapOvr>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42722" name="Rectangle 2"/>
          <p:cNvSpPr>
            <a:spLocks noGrp="1" noChangeArrowheads="1"/>
          </p:cNvSpPr>
          <p:nvPr>
            <p:ph idx="1"/>
          </p:nvPr>
        </p:nvSpPr>
        <p:spPr>
          <a:xfrm>
            <a:off x="468313" y="765175"/>
            <a:ext cx="8280400" cy="5903913"/>
          </a:xfrm>
        </p:spPr>
        <p:txBody>
          <a:bodyPr>
            <a:normAutofit/>
          </a:bodyPr>
          <a:lstStyle/>
          <a:p>
            <a:pPr marL="274320" indent="-274320"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rPr>
              <a:t>实现代码如下：</a:t>
            </a:r>
          </a:p>
          <a:p>
            <a:pPr marL="274320" indent="-274320"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rPr>
              <a:t>       </a:t>
            </a:r>
            <a:r>
              <a:rPr lang="en-US" altLang="zh-CN" b="1" dirty="0">
                <a:effectLst>
                  <a:outerShdw blurRad="38100" dist="38100" dir="2700000" algn="tl">
                    <a:srgbClr val="C0C0C0"/>
                  </a:outerShdw>
                </a:effectLst>
              </a:rPr>
              <a:t>for(j = 0; j &lt; n; j++) a[0][j] = j + 1;</a:t>
            </a:r>
          </a:p>
          <a:p>
            <a:pPr marL="274320" indent="-27432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for(</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 = 1; </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 &lt; n; </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  </a:t>
            </a:r>
          </a:p>
          <a:p>
            <a:pPr marL="274320" indent="-27432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for(j = 0; j &lt; n; j++)  </a:t>
            </a:r>
          </a:p>
          <a:p>
            <a:pPr marL="274320" indent="-274320" eaLnBrk="1" fontAlgn="auto" hangingPunct="1">
              <a:spcAft>
                <a:spcPts val="0"/>
              </a:spcAft>
              <a:buClr>
                <a:schemeClr val="accent3"/>
              </a:buClr>
              <a:buFont typeface="Wingdings" pitchFamily="2" charset="2"/>
              <a:buNone/>
              <a:defRPr/>
            </a:pPr>
            <a:r>
              <a:rPr lang="en-US" altLang="zh-CN" b="1" dirty="0">
                <a:solidFill>
                  <a:srgbClr val="336600"/>
                </a:solidFill>
                <a:effectLst>
                  <a:outerShdw blurRad="38100" dist="38100" dir="2700000" algn="tl">
                    <a:srgbClr val="C0C0C0"/>
                  </a:outerShdw>
                </a:effectLst>
              </a:rPr>
              <a:t>         /* k = ?;  </a:t>
            </a:r>
          </a:p>
          <a:p>
            <a:pPr marL="274320" indent="-274320" eaLnBrk="1" fontAlgn="auto" hangingPunct="1">
              <a:spcAft>
                <a:spcPts val="0"/>
              </a:spcAft>
              <a:buClr>
                <a:schemeClr val="accent3"/>
              </a:buClr>
              <a:buFont typeface="Wingdings" pitchFamily="2" charset="2"/>
              <a:buNone/>
              <a:defRPr/>
            </a:pPr>
            <a:r>
              <a:rPr lang="en-US" altLang="zh-CN" b="1" dirty="0">
                <a:solidFill>
                  <a:srgbClr val="336600"/>
                </a:solidFill>
                <a:effectLst>
                  <a:outerShdw blurRad="38100" dist="38100" dir="2700000" algn="tl">
                    <a:srgbClr val="C0C0C0"/>
                  </a:outerShdw>
                </a:effectLst>
              </a:rPr>
              <a:t>           (1)  j - </a:t>
            </a:r>
            <a:r>
              <a:rPr lang="en-US" altLang="zh-CN" b="1" dirty="0" err="1">
                <a:solidFill>
                  <a:srgbClr val="336600"/>
                </a:solidFill>
                <a:effectLst>
                  <a:outerShdw blurRad="38100" dist="38100" dir="2700000" algn="tl">
                    <a:srgbClr val="C0C0C0"/>
                  </a:outerShdw>
                </a:effectLst>
              </a:rPr>
              <a:t>i</a:t>
            </a:r>
            <a:r>
              <a:rPr lang="en-US" altLang="zh-CN" b="1" dirty="0">
                <a:solidFill>
                  <a:srgbClr val="336600"/>
                </a:solidFill>
                <a:effectLst>
                  <a:outerShdw blurRad="38100" dist="38100" dir="2700000" algn="tl">
                    <a:srgbClr val="C0C0C0"/>
                  </a:outerShdw>
                </a:effectLst>
              </a:rPr>
              <a:t> &gt;= 0 : k = j - </a:t>
            </a:r>
            <a:r>
              <a:rPr lang="en-US" altLang="zh-CN" b="1" dirty="0" err="1">
                <a:solidFill>
                  <a:srgbClr val="336600"/>
                </a:solidFill>
                <a:effectLst>
                  <a:outerShdw blurRad="38100" dist="38100" dir="2700000" algn="tl">
                    <a:srgbClr val="C0C0C0"/>
                  </a:outerShdw>
                </a:effectLst>
              </a:rPr>
              <a:t>i</a:t>
            </a:r>
            <a:endParaRPr lang="en-US" altLang="zh-CN" b="1" dirty="0">
              <a:solidFill>
                <a:srgbClr val="336600"/>
              </a:solidFill>
              <a:effectLst>
                <a:outerShdw blurRad="38100" dist="38100" dir="2700000" algn="tl">
                  <a:srgbClr val="C0C0C0"/>
                </a:outerShdw>
              </a:effectLst>
            </a:endParaRPr>
          </a:p>
          <a:p>
            <a:pPr marL="274320" indent="-274320" eaLnBrk="1" fontAlgn="auto" hangingPunct="1">
              <a:spcAft>
                <a:spcPts val="0"/>
              </a:spcAft>
              <a:buClr>
                <a:schemeClr val="accent3"/>
              </a:buClr>
              <a:buFont typeface="Wingdings" pitchFamily="2" charset="2"/>
              <a:buNone/>
              <a:defRPr/>
            </a:pPr>
            <a:r>
              <a:rPr lang="en-US" altLang="zh-CN" b="1" dirty="0">
                <a:solidFill>
                  <a:srgbClr val="336600"/>
                </a:solidFill>
                <a:effectLst>
                  <a:outerShdw blurRad="38100" dist="38100" dir="2700000" algn="tl">
                    <a:srgbClr val="C0C0C0"/>
                  </a:outerShdw>
                </a:effectLst>
              </a:rPr>
              <a:t>           (2)  j - </a:t>
            </a:r>
            <a:r>
              <a:rPr lang="en-US" altLang="zh-CN" b="1" dirty="0" err="1">
                <a:solidFill>
                  <a:srgbClr val="336600"/>
                </a:solidFill>
                <a:effectLst>
                  <a:outerShdw blurRad="38100" dist="38100" dir="2700000" algn="tl">
                    <a:srgbClr val="C0C0C0"/>
                  </a:outerShdw>
                </a:effectLst>
              </a:rPr>
              <a:t>i</a:t>
            </a:r>
            <a:r>
              <a:rPr lang="en-US" altLang="zh-CN" b="1" dirty="0">
                <a:solidFill>
                  <a:srgbClr val="336600"/>
                </a:solidFill>
                <a:effectLst>
                  <a:outerShdw blurRad="38100" dist="38100" dir="2700000" algn="tl">
                    <a:srgbClr val="C0C0C0"/>
                  </a:outerShdw>
                </a:effectLst>
              </a:rPr>
              <a:t> &lt; 0  : k = j - </a:t>
            </a:r>
            <a:r>
              <a:rPr lang="en-US" altLang="zh-CN" b="1" dirty="0" err="1">
                <a:solidFill>
                  <a:srgbClr val="336600"/>
                </a:solidFill>
                <a:effectLst>
                  <a:outerShdw blurRad="38100" dist="38100" dir="2700000" algn="tl">
                    <a:srgbClr val="C0C0C0"/>
                  </a:outerShdw>
                </a:effectLst>
              </a:rPr>
              <a:t>i</a:t>
            </a:r>
            <a:r>
              <a:rPr lang="en-US" altLang="zh-CN" b="1" dirty="0">
                <a:solidFill>
                  <a:srgbClr val="336600"/>
                </a:solidFill>
                <a:effectLst>
                  <a:outerShdw blurRad="38100" dist="38100" dir="2700000" algn="tl">
                    <a:srgbClr val="C0C0C0"/>
                  </a:outerShdw>
                </a:effectLst>
              </a:rPr>
              <a:t> + n  </a:t>
            </a:r>
          </a:p>
          <a:p>
            <a:pPr marL="274320" indent="-274320" eaLnBrk="1" fontAlgn="auto" hangingPunct="1">
              <a:spcAft>
                <a:spcPts val="0"/>
              </a:spcAft>
              <a:buClr>
                <a:schemeClr val="accent3"/>
              </a:buClr>
              <a:buFont typeface="Wingdings" pitchFamily="2" charset="2"/>
              <a:buNone/>
              <a:defRPr/>
            </a:pPr>
            <a:r>
              <a:rPr lang="en-US" altLang="zh-CN" b="1" dirty="0">
                <a:solidFill>
                  <a:srgbClr val="336600"/>
                </a:solidFill>
                <a:effectLst>
                  <a:outerShdw blurRad="38100" dist="38100" dir="2700000" algn="tl">
                    <a:srgbClr val="C0C0C0"/>
                  </a:outerShdw>
                </a:effectLst>
              </a:rPr>
              <a:t>      k = j - </a:t>
            </a:r>
            <a:r>
              <a:rPr lang="en-US" altLang="zh-CN" b="1" dirty="0" err="1">
                <a:solidFill>
                  <a:srgbClr val="336600"/>
                </a:solidFill>
                <a:effectLst>
                  <a:outerShdw blurRad="38100" dist="38100" dir="2700000" algn="tl">
                    <a:srgbClr val="C0C0C0"/>
                  </a:outerShdw>
                </a:effectLst>
              </a:rPr>
              <a:t>i</a:t>
            </a:r>
            <a:r>
              <a:rPr lang="en-US" altLang="zh-CN" b="1" dirty="0">
                <a:solidFill>
                  <a:srgbClr val="336600"/>
                </a:solidFill>
                <a:effectLst>
                  <a:outerShdw blurRad="38100" dist="38100" dir="2700000" algn="tl">
                    <a:srgbClr val="C0C0C0"/>
                  </a:outerShdw>
                </a:effectLst>
              </a:rPr>
              <a:t> &gt;= 0 ? j - </a:t>
            </a:r>
            <a:r>
              <a:rPr lang="en-US" altLang="zh-CN" b="1" dirty="0" err="1">
                <a:solidFill>
                  <a:srgbClr val="336600"/>
                </a:solidFill>
                <a:effectLst>
                  <a:outerShdw blurRad="38100" dist="38100" dir="2700000" algn="tl">
                    <a:srgbClr val="C0C0C0"/>
                  </a:outerShdw>
                </a:effectLst>
              </a:rPr>
              <a:t>i</a:t>
            </a:r>
            <a:r>
              <a:rPr lang="en-US" altLang="zh-CN" b="1" dirty="0">
                <a:solidFill>
                  <a:srgbClr val="336600"/>
                </a:solidFill>
                <a:effectLst>
                  <a:outerShdw blurRad="38100" dist="38100" dir="2700000" algn="tl">
                    <a:srgbClr val="C0C0C0"/>
                  </a:outerShdw>
                </a:effectLst>
              </a:rPr>
              <a:t> : j - </a:t>
            </a:r>
            <a:r>
              <a:rPr lang="en-US" altLang="zh-CN" b="1" dirty="0" err="1">
                <a:solidFill>
                  <a:srgbClr val="336600"/>
                </a:solidFill>
                <a:effectLst>
                  <a:outerShdw blurRad="38100" dist="38100" dir="2700000" algn="tl">
                    <a:srgbClr val="C0C0C0"/>
                  </a:outerShdw>
                </a:effectLst>
              </a:rPr>
              <a:t>i</a:t>
            </a:r>
            <a:r>
              <a:rPr lang="en-US" altLang="zh-CN" b="1" dirty="0">
                <a:solidFill>
                  <a:srgbClr val="336600"/>
                </a:solidFill>
                <a:effectLst>
                  <a:outerShdw blurRad="38100" dist="38100" dir="2700000" algn="tl">
                    <a:srgbClr val="C0C0C0"/>
                  </a:outerShdw>
                </a:effectLst>
              </a:rPr>
              <a:t> + n; </a:t>
            </a:r>
            <a:r>
              <a:rPr lang="zh-CN" altLang="en-US" b="1" dirty="0">
                <a:solidFill>
                  <a:srgbClr val="336600"/>
                </a:solidFill>
                <a:effectLst>
                  <a:outerShdw blurRad="38100" dist="38100" dir="2700000" algn="tl">
                    <a:srgbClr val="C0C0C0"/>
                  </a:outerShdw>
                </a:effectLst>
              </a:rPr>
              <a:t>或 </a:t>
            </a:r>
            <a:r>
              <a:rPr lang="en-US" altLang="zh-CN" b="1" dirty="0">
                <a:solidFill>
                  <a:srgbClr val="336600"/>
                </a:solidFill>
                <a:effectLst>
                  <a:outerShdw blurRad="38100" dist="38100" dir="2700000" algn="tl">
                    <a:srgbClr val="C0C0C0"/>
                  </a:outerShdw>
                </a:effectLst>
              </a:rPr>
              <a:t>(j - </a:t>
            </a:r>
            <a:r>
              <a:rPr lang="en-US" altLang="zh-CN" b="1" dirty="0" err="1">
                <a:solidFill>
                  <a:srgbClr val="336600"/>
                </a:solidFill>
                <a:effectLst>
                  <a:outerShdw blurRad="38100" dist="38100" dir="2700000" algn="tl">
                    <a:srgbClr val="C0C0C0"/>
                  </a:outerShdw>
                </a:effectLst>
              </a:rPr>
              <a:t>i</a:t>
            </a:r>
            <a:r>
              <a:rPr lang="en-US" altLang="zh-CN" b="1" dirty="0">
                <a:solidFill>
                  <a:srgbClr val="336600"/>
                </a:solidFill>
                <a:effectLst>
                  <a:outerShdw blurRad="38100" dist="38100" dir="2700000" algn="tl">
                    <a:srgbClr val="C0C0C0"/>
                  </a:outerShdw>
                </a:effectLst>
              </a:rPr>
              <a:t> + n) % n */</a:t>
            </a:r>
          </a:p>
          <a:p>
            <a:pPr marL="274320" indent="-27432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a[</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][j] = a[0][(j - </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 + n) % n];</a:t>
            </a:r>
          </a:p>
        </p:txBody>
      </p:sp>
      <p:sp>
        <p:nvSpPr>
          <p:cNvPr id="5" name="灯片编号占位符 5"/>
          <p:cNvSpPr>
            <a:spLocks noGrp="1"/>
          </p:cNvSpPr>
          <p:nvPr>
            <p:ph type="sldNum" sz="quarter" idx="12"/>
          </p:nvPr>
        </p:nvSpPr>
        <p:spPr/>
        <p:txBody>
          <a:bodyPr/>
          <a:lstStyle/>
          <a:p>
            <a:pPr>
              <a:defRPr/>
            </a:pPr>
            <a:fld id="{29E955C1-54E5-4153-B291-793AD23AB772}" type="slidenum">
              <a:rPr lang="en-US" altLang="zh-CN"/>
              <a:pPr>
                <a:defRPr/>
              </a:pPr>
              <a:t>82</a:t>
            </a:fld>
            <a:endParaRPr lang="en-US" altLang="zh-CN"/>
          </a:p>
        </p:txBody>
      </p:sp>
    </p:spTree>
  </p:cSld>
  <p:clrMapOvr>
    <a:masterClrMapping/>
  </p:clrMapOvr>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43746" name="Rectangle 2"/>
          <p:cNvSpPr>
            <a:spLocks noGrp="1" noChangeArrowheads="1"/>
          </p:cNvSpPr>
          <p:nvPr>
            <p:ph idx="1"/>
          </p:nvPr>
        </p:nvSpPr>
        <p:spPr>
          <a:xfrm>
            <a:off x="468313" y="333375"/>
            <a:ext cx="8280400" cy="6335713"/>
          </a:xfrm>
        </p:spPr>
        <p:txBody>
          <a:bodyPr>
            <a:normAutofit/>
          </a:bodyPr>
          <a:lstStyle/>
          <a:p>
            <a:pPr marL="0" indent="0" eaLnBrk="1" fontAlgn="auto" hangingPunct="1">
              <a:lnSpc>
                <a:spcPct val="95000"/>
              </a:lnSpc>
              <a:spcAft>
                <a:spcPts val="0"/>
              </a:spcAft>
              <a:buClr>
                <a:schemeClr val="accent3"/>
              </a:buClr>
              <a:buFont typeface="Wingdings" pitchFamily="2" charset="2"/>
              <a:buNone/>
              <a:defRPr/>
            </a:pPr>
            <a:r>
              <a:rPr lang="zh-CN" altLang="en-US" b="1" dirty="0">
                <a:solidFill>
                  <a:srgbClr val="0000FF"/>
                </a:solidFill>
                <a:effectLst>
                  <a:outerShdw blurRad="38100" dist="38100" dir="2700000" algn="tl">
                    <a:srgbClr val="C0C0C0"/>
                  </a:outerShdw>
                </a:effectLst>
                <a:latin typeface="宋体" pitchFamily="2" charset="-122"/>
              </a:rPr>
              <a:t>算法</a:t>
            </a:r>
            <a:r>
              <a:rPr lang="en-US" altLang="zh-CN" b="1" dirty="0">
                <a:solidFill>
                  <a:srgbClr val="0000FF"/>
                </a:solidFill>
                <a:effectLst>
                  <a:outerShdw blurRad="38100" dist="38100" dir="2700000" algn="tl">
                    <a:srgbClr val="C0C0C0"/>
                  </a:outerShdw>
                </a:effectLst>
                <a:latin typeface="宋体" pitchFamily="2" charset="-122"/>
              </a:rPr>
              <a:t>(7)</a:t>
            </a:r>
            <a:r>
              <a:rPr lang="zh-CN" altLang="en-US" b="1" dirty="0">
                <a:solidFill>
                  <a:srgbClr val="0000FF"/>
                </a:solidFill>
                <a:effectLst>
                  <a:outerShdw blurRad="38100" dist="38100" dir="2700000" algn="tl">
                    <a:srgbClr val="C0C0C0"/>
                  </a:outerShdw>
                </a:effectLst>
                <a:latin typeface="宋体" pitchFamily="2" charset="-122"/>
              </a:rPr>
              <a:t>：</a:t>
            </a:r>
          </a:p>
          <a:p>
            <a:pPr marL="0" indent="0" eaLnBrk="1" fontAlgn="auto" hangingPunct="1">
              <a:lnSpc>
                <a:spcPct val="95000"/>
              </a:lnSpc>
              <a:spcAft>
                <a:spcPts val="0"/>
              </a:spcAft>
              <a:buClr>
                <a:schemeClr val="accent3"/>
              </a:buClr>
              <a:buFont typeface="Wingdings" pitchFamily="2" charset="2"/>
              <a:buNone/>
              <a:defRPr/>
            </a:pPr>
            <a:r>
              <a:rPr lang="zh-CN" altLang="en-US" b="1" dirty="0">
                <a:effectLst>
                  <a:outerShdw blurRad="38100" dist="38100" dir="2700000" algn="tl">
                    <a:srgbClr val="C0C0C0"/>
                  </a:outerShdw>
                </a:effectLst>
              </a:rPr>
              <a:t>对</a:t>
            </a:r>
            <a:r>
              <a:rPr lang="en-US" altLang="zh-CN" b="1" dirty="0" err="1">
                <a:effectLst>
                  <a:outerShdw blurRad="38100" dist="38100" dir="2700000" algn="tl">
                    <a:srgbClr val="C0C0C0"/>
                  </a:outerShdw>
                </a:effectLst>
              </a:rPr>
              <a:t>i</a:t>
            </a:r>
            <a:r>
              <a:rPr lang="zh-CN" altLang="en-US" b="1" dirty="0">
                <a:effectLst>
                  <a:outerShdw blurRad="38100" dist="38100" dir="2700000" algn="tl">
                    <a:srgbClr val="C0C0C0"/>
                  </a:outerShdw>
                </a:effectLst>
              </a:rPr>
              <a:t>行，从</a:t>
            </a:r>
            <a:r>
              <a:rPr lang="en-US" altLang="zh-CN" b="1" dirty="0" err="1">
                <a:effectLst>
                  <a:outerShdw blurRad="38100" dist="38100" dir="2700000" algn="tl">
                    <a:srgbClr val="C0C0C0"/>
                  </a:outerShdw>
                </a:effectLst>
              </a:rPr>
              <a:t>i</a:t>
            </a:r>
            <a:r>
              <a:rPr lang="zh-CN" altLang="en-US" b="1" dirty="0">
                <a:effectLst>
                  <a:outerShdw blurRad="38100" dist="38100" dir="2700000" algn="tl">
                    <a:srgbClr val="C0C0C0"/>
                  </a:outerShdw>
                </a:effectLst>
              </a:rPr>
              <a:t>列开始顺序将整数</a:t>
            </a:r>
            <a:r>
              <a:rPr lang="en-US" altLang="zh-CN" b="1" dirty="0">
                <a:effectLst>
                  <a:outerShdw blurRad="38100" dist="38100" dir="2700000" algn="tl">
                    <a:srgbClr val="C0C0C0"/>
                  </a:outerShdw>
                </a:effectLst>
              </a:rPr>
              <a:t>1</a:t>
            </a:r>
            <a:r>
              <a:rPr lang="zh-CN" altLang="en-US" b="1" dirty="0">
                <a:effectLst>
                  <a:outerShdw blurRad="38100" dist="38100" dir="2700000" algn="tl">
                    <a:srgbClr val="C0C0C0"/>
                  </a:outerShdw>
                </a:effectLst>
              </a:rPr>
              <a:t>至</a:t>
            </a:r>
            <a:r>
              <a:rPr lang="en-US" altLang="zh-CN" b="1" dirty="0">
                <a:effectLst>
                  <a:outerShdw blurRad="38100" dist="38100" dir="2700000" algn="tl">
                    <a:srgbClr val="C0C0C0"/>
                  </a:outerShdw>
                </a:effectLst>
              </a:rPr>
              <a:t>n</a:t>
            </a:r>
            <a:r>
              <a:rPr lang="zh-CN" altLang="en-US" b="1" dirty="0">
                <a:effectLst>
                  <a:outerShdw blurRad="38100" dist="38100" dir="2700000" algn="tl">
                    <a:srgbClr val="C0C0C0"/>
                  </a:outerShdw>
                </a:effectLst>
              </a:rPr>
              <a:t>填入到数组中。</a:t>
            </a:r>
          </a:p>
          <a:p>
            <a:pPr marL="0" indent="0" eaLnBrk="1" fontAlgn="auto" hangingPunct="1">
              <a:lnSpc>
                <a:spcPct val="95000"/>
              </a:lnSpc>
              <a:spcAft>
                <a:spcPts val="0"/>
              </a:spcAft>
              <a:buClr>
                <a:schemeClr val="accent3"/>
              </a:buClr>
              <a:buFont typeface="Wingdings" pitchFamily="2" charset="2"/>
              <a:buNone/>
              <a:defRPr/>
            </a:pPr>
            <a:r>
              <a:rPr lang="zh-CN" altLang="en-US" b="1" dirty="0">
                <a:effectLst>
                  <a:outerShdw blurRad="38100" dist="38100" dir="2700000" algn="tl">
                    <a:srgbClr val="C0C0C0"/>
                  </a:outerShdw>
                </a:effectLst>
              </a:rPr>
              <a:t>为数组的</a:t>
            </a:r>
            <a:r>
              <a:rPr lang="en-US" altLang="zh-CN" b="1" dirty="0" err="1">
                <a:effectLst>
                  <a:outerShdw blurRad="38100" dist="38100" dir="2700000" algn="tl">
                    <a:srgbClr val="C0C0C0"/>
                  </a:outerShdw>
                </a:effectLst>
              </a:rPr>
              <a:t>i</a:t>
            </a:r>
            <a:r>
              <a:rPr lang="zh-CN" altLang="en-US" b="1" dirty="0">
                <a:effectLst>
                  <a:outerShdw blurRad="38100" dist="38100" dir="2700000" algn="tl">
                    <a:srgbClr val="C0C0C0"/>
                  </a:outerShdw>
                </a:effectLst>
              </a:rPr>
              <a:t>行元素填写数字，可从</a:t>
            </a:r>
            <a:r>
              <a:rPr lang="en-US" altLang="zh-CN" b="1" dirty="0" err="1">
                <a:effectLst>
                  <a:outerShdw blurRad="38100" dist="38100" dir="2700000" algn="tl">
                    <a:srgbClr val="C0C0C0"/>
                  </a:outerShdw>
                </a:effectLst>
              </a:rPr>
              <a:t>i</a:t>
            </a:r>
            <a:r>
              <a:rPr lang="zh-CN" altLang="en-US" b="1" dirty="0">
                <a:effectLst>
                  <a:outerShdw blurRad="38100" dist="38100" dir="2700000" algn="tl">
                    <a:srgbClr val="C0C0C0"/>
                  </a:outerShdw>
                </a:effectLst>
              </a:rPr>
              <a:t>列开始顺序填写</a:t>
            </a:r>
            <a:r>
              <a:rPr lang="en-US" altLang="zh-CN" b="1" dirty="0">
                <a:effectLst>
                  <a:outerShdw blurRad="38100" dist="38100" dir="2700000" algn="tl">
                    <a:srgbClr val="C0C0C0"/>
                  </a:outerShdw>
                </a:effectLst>
              </a:rPr>
              <a:t>n</a:t>
            </a:r>
            <a:r>
              <a:rPr lang="zh-CN" altLang="en-US" b="1" dirty="0">
                <a:effectLst>
                  <a:outerShdw blurRad="38100" dist="38100" dir="2700000" algn="tl">
                    <a:srgbClr val="C0C0C0"/>
                  </a:outerShdw>
                </a:effectLst>
              </a:rPr>
              <a:t>次。</a:t>
            </a:r>
          </a:p>
          <a:p>
            <a:pPr marL="0" indent="0" eaLnBrk="1" fontAlgn="auto" hangingPunct="1">
              <a:lnSpc>
                <a:spcPct val="95000"/>
              </a:lnSpc>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j</a:t>
            </a:r>
            <a:r>
              <a:rPr lang="zh-CN" altLang="en-US" b="1" dirty="0">
                <a:effectLst>
                  <a:outerShdw blurRad="38100" dist="38100" dir="2700000" algn="tl">
                    <a:srgbClr val="C0C0C0"/>
                  </a:outerShdw>
                </a:effectLst>
              </a:rPr>
              <a:t>从</a:t>
            </a:r>
            <a:r>
              <a:rPr lang="en-US" altLang="zh-CN" b="1" dirty="0" err="1">
                <a:effectLst>
                  <a:outerShdw blurRad="38100" dist="38100" dir="2700000" algn="tl">
                    <a:srgbClr val="C0C0C0"/>
                  </a:outerShdw>
                </a:effectLst>
              </a:rPr>
              <a:t>i</a:t>
            </a:r>
            <a:r>
              <a:rPr lang="zh-CN" altLang="en-US" b="1" dirty="0">
                <a:effectLst>
                  <a:outerShdw blurRad="38100" dist="38100" dir="2700000" algn="tl">
                    <a:srgbClr val="C0C0C0"/>
                  </a:outerShdw>
                </a:effectLst>
              </a:rPr>
              <a:t>开始顺序递增，当</a:t>
            </a:r>
            <a:r>
              <a:rPr lang="en-US" altLang="zh-CN" b="1" dirty="0">
                <a:effectLst>
                  <a:outerShdw blurRad="38100" dist="38100" dir="2700000" algn="tl">
                    <a:srgbClr val="C0C0C0"/>
                  </a:outerShdw>
                </a:effectLst>
              </a:rPr>
              <a:t>j</a:t>
            </a:r>
            <a:r>
              <a:rPr lang="zh-CN" altLang="en-US" b="1" dirty="0">
                <a:effectLst>
                  <a:outerShdw blurRad="38100" dist="38100" dir="2700000" algn="tl">
                    <a:srgbClr val="C0C0C0"/>
                  </a:outerShdw>
                </a:effectLst>
              </a:rPr>
              <a:t>大于等于</a:t>
            </a:r>
            <a:r>
              <a:rPr lang="en-US" altLang="zh-CN" b="1" dirty="0">
                <a:effectLst>
                  <a:outerShdw blurRad="38100" dist="38100" dir="2700000" algn="tl">
                    <a:srgbClr val="C0C0C0"/>
                  </a:outerShdw>
                </a:effectLst>
              </a:rPr>
              <a:t>n</a:t>
            </a:r>
            <a:r>
              <a:rPr lang="zh-CN" altLang="en-US" b="1" dirty="0">
                <a:effectLst>
                  <a:outerShdw blurRad="38100" dist="38100" dir="2700000" algn="tl">
                    <a:srgbClr val="C0C0C0"/>
                  </a:outerShdw>
                </a:effectLst>
              </a:rPr>
              <a:t>时，用运算符</a:t>
            </a:r>
            <a:r>
              <a:rPr lang="en-US" altLang="zh-CN" b="1" dirty="0">
                <a:effectLst>
                  <a:outerShdw blurRad="38100" dist="38100" dir="2700000" algn="tl">
                    <a:srgbClr val="C0C0C0"/>
                  </a:outerShdw>
                </a:effectLst>
              </a:rPr>
              <a:t>%</a:t>
            </a:r>
            <a:r>
              <a:rPr lang="zh-CN" altLang="en-US" b="1" dirty="0">
                <a:effectLst>
                  <a:outerShdw blurRad="38100" dist="38100" dir="2700000" algn="tl">
                    <a:srgbClr val="C0C0C0"/>
                  </a:outerShdw>
                </a:effectLst>
              </a:rPr>
              <a:t>，从</a:t>
            </a:r>
            <a:r>
              <a:rPr lang="en-US" altLang="zh-CN" b="1" dirty="0">
                <a:effectLst>
                  <a:outerShdw blurRad="38100" dist="38100" dir="2700000" algn="tl">
                    <a:srgbClr val="C0C0C0"/>
                  </a:outerShdw>
                </a:effectLst>
              </a:rPr>
              <a:t>j</a:t>
            </a:r>
            <a:r>
              <a:rPr lang="zh-CN" altLang="en-US" b="1" dirty="0">
                <a:effectLst>
                  <a:outerShdw blurRad="38100" dist="38100" dir="2700000" algn="tl">
                    <a:srgbClr val="C0C0C0"/>
                  </a:outerShdw>
                </a:effectLst>
              </a:rPr>
              <a:t>减去</a:t>
            </a:r>
            <a:r>
              <a:rPr lang="en-US" altLang="zh-CN" b="1" dirty="0">
                <a:effectLst>
                  <a:outerShdw blurRad="38100" dist="38100" dir="2700000" algn="tl">
                    <a:srgbClr val="C0C0C0"/>
                  </a:outerShdw>
                </a:effectLst>
              </a:rPr>
              <a:t>n</a:t>
            </a:r>
            <a:r>
              <a:rPr lang="zh-CN" altLang="en-US" b="1" dirty="0">
                <a:effectLst>
                  <a:outerShdw blurRad="38100" dist="38100" dir="2700000" algn="tl">
                    <a:srgbClr val="C0C0C0"/>
                  </a:outerShdw>
                </a:effectLst>
              </a:rPr>
              <a:t>，改为从</a:t>
            </a:r>
            <a:r>
              <a:rPr lang="en-US" altLang="zh-CN" b="1" dirty="0">
                <a:effectLst>
                  <a:outerShdw blurRad="38100" dist="38100" dir="2700000" algn="tl">
                    <a:srgbClr val="C0C0C0"/>
                  </a:outerShdw>
                </a:effectLst>
              </a:rPr>
              <a:t>0</a:t>
            </a:r>
            <a:r>
              <a:rPr lang="zh-CN" altLang="en-US" b="1" dirty="0">
                <a:effectLst>
                  <a:outerShdw blurRad="38100" dist="38100" dir="2700000" algn="tl">
                    <a:srgbClr val="C0C0C0"/>
                  </a:outerShdw>
                </a:effectLst>
              </a:rPr>
              <a:t>列开始，即填写的元素是</a:t>
            </a:r>
            <a:r>
              <a:rPr lang="en-US" altLang="zh-CN" b="1" dirty="0">
                <a:effectLst>
                  <a:outerShdw blurRad="38100" dist="38100" dir="2700000" algn="tl">
                    <a:srgbClr val="C0C0C0"/>
                  </a:outerShdw>
                </a:effectLst>
              </a:rPr>
              <a:t>a[</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a:t>
            </a:r>
            <a:r>
              <a:rPr lang="en-US" altLang="zh-CN" b="1" dirty="0" err="1">
                <a:effectLst>
                  <a:outerShdw blurRad="38100" dist="38100" dir="2700000" algn="tl">
                    <a:srgbClr val="C0C0C0"/>
                  </a:outerShdw>
                </a:effectLst>
              </a:rPr>
              <a:t>j%n</a:t>
            </a:r>
            <a:r>
              <a:rPr lang="en-US" altLang="zh-CN" b="1" dirty="0">
                <a:effectLst>
                  <a:outerShdw blurRad="38100" dist="38100" dir="2700000" algn="tl">
                    <a:srgbClr val="C0C0C0"/>
                  </a:outerShdw>
                </a:effectLst>
              </a:rPr>
              <a:t>]</a:t>
            </a:r>
            <a:r>
              <a:rPr lang="zh-CN" altLang="en-US" b="1" dirty="0">
                <a:effectLst>
                  <a:outerShdw blurRad="38100" dist="38100" dir="2700000" algn="tl">
                    <a:srgbClr val="C0C0C0"/>
                  </a:outerShdw>
                </a:effectLst>
              </a:rPr>
              <a:t>。要填写的值等于</a:t>
            </a:r>
            <a:r>
              <a:rPr lang="en-US" altLang="zh-CN" b="1" dirty="0">
                <a:effectLst>
                  <a:outerShdw blurRad="38100" dist="38100" dir="2700000" algn="tl">
                    <a:srgbClr val="C0C0C0"/>
                  </a:outerShdw>
                </a:effectLst>
              </a:rPr>
              <a:t>j-i+1</a:t>
            </a:r>
            <a:r>
              <a:rPr lang="zh-CN" altLang="en-US" b="1" dirty="0">
                <a:effectLst>
                  <a:outerShdw blurRad="38100" dist="38100" dir="2700000" algn="tl">
                    <a:srgbClr val="C0C0C0"/>
                  </a:outerShdw>
                </a:effectLst>
              </a:rPr>
              <a:t>。</a:t>
            </a:r>
          </a:p>
          <a:p>
            <a:pPr marL="0" indent="0" eaLnBrk="1" fontAlgn="auto" hangingPunct="1">
              <a:lnSpc>
                <a:spcPct val="95000"/>
              </a:lnSpc>
              <a:spcAft>
                <a:spcPts val="0"/>
              </a:spcAft>
              <a:buClr>
                <a:schemeClr val="accent3"/>
              </a:buClr>
              <a:buFont typeface="Wingdings" pitchFamily="2" charset="2"/>
              <a:buNone/>
              <a:defRPr/>
            </a:pPr>
            <a:r>
              <a:rPr lang="zh-CN" altLang="en-US" b="1" dirty="0">
                <a:effectLst>
                  <a:outerShdw blurRad="38100" dist="38100" dir="2700000" algn="tl">
                    <a:srgbClr val="C0C0C0"/>
                  </a:outerShdw>
                </a:effectLst>
              </a:rPr>
              <a:t>       </a:t>
            </a:r>
            <a:r>
              <a:rPr lang="en-US" altLang="zh-CN" b="1" dirty="0">
                <a:effectLst>
                  <a:outerShdw blurRad="38100" dist="38100" dir="2700000" algn="tl">
                    <a:srgbClr val="C0C0C0"/>
                  </a:outerShdw>
                </a:effectLst>
              </a:rPr>
              <a:t>for(</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 = 0; </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 &lt; n; </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  </a:t>
            </a:r>
          </a:p>
          <a:p>
            <a:pPr marL="0" indent="0" eaLnBrk="1" fontAlgn="auto" hangingPunct="1">
              <a:lnSpc>
                <a:spcPct val="95000"/>
              </a:lnSpc>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for(j = </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 j &lt; </a:t>
            </a:r>
            <a:r>
              <a:rPr lang="en-US" altLang="zh-CN" b="1" dirty="0" err="1">
                <a:effectLst>
                  <a:outerShdw blurRad="38100" dist="38100" dir="2700000" algn="tl">
                    <a:srgbClr val="C0C0C0"/>
                  </a:outerShdw>
                </a:effectLst>
              </a:rPr>
              <a:t>i+n</a:t>
            </a:r>
            <a:r>
              <a:rPr lang="en-US" altLang="zh-CN" b="1" dirty="0">
                <a:effectLst>
                  <a:outerShdw blurRad="38100" dist="38100" dir="2700000" algn="tl">
                    <a:srgbClr val="C0C0C0"/>
                  </a:outerShdw>
                </a:effectLst>
              </a:rPr>
              <a:t>; j++) /* </a:t>
            </a:r>
            <a:r>
              <a:rPr lang="en-US" altLang="zh-CN" b="1" dirty="0" err="1">
                <a:effectLst>
                  <a:outerShdw blurRad="38100" dist="38100" dir="2700000" algn="tl">
                    <a:srgbClr val="C0C0C0"/>
                  </a:outerShdw>
                </a:effectLst>
              </a:rPr>
              <a:t>i</a:t>
            </a:r>
            <a:r>
              <a:rPr lang="zh-CN" altLang="en-US" b="1" dirty="0">
                <a:effectLst>
                  <a:outerShdw blurRad="38100" dist="38100" dir="2700000" algn="tl">
                    <a:srgbClr val="C0C0C0"/>
                  </a:outerShdw>
                </a:effectLst>
              </a:rPr>
              <a:t>行，从</a:t>
            </a:r>
            <a:r>
              <a:rPr lang="en-US" altLang="zh-CN" b="1" dirty="0">
                <a:effectLst>
                  <a:outerShdw blurRad="38100" dist="38100" dir="2700000" algn="tl">
                    <a:srgbClr val="C0C0C0"/>
                  </a:outerShdw>
                </a:effectLst>
              </a:rPr>
              <a:t>j</a:t>
            </a:r>
            <a:r>
              <a:rPr lang="zh-CN" altLang="en-US" b="1" dirty="0">
                <a:effectLst>
                  <a:outerShdw blurRad="38100" dist="38100" dir="2700000" algn="tl">
                    <a:srgbClr val="C0C0C0"/>
                  </a:outerShdw>
                </a:effectLst>
              </a:rPr>
              <a:t>列开始填数，共填数</a:t>
            </a:r>
            <a:r>
              <a:rPr lang="en-US" altLang="zh-CN" b="1" dirty="0">
                <a:effectLst>
                  <a:outerShdw blurRad="38100" dist="38100" dir="2700000" algn="tl">
                    <a:srgbClr val="C0C0C0"/>
                  </a:outerShdw>
                </a:effectLst>
              </a:rPr>
              <a:t>n</a:t>
            </a:r>
            <a:r>
              <a:rPr lang="zh-CN" altLang="en-US" b="1" dirty="0">
                <a:effectLst>
                  <a:outerShdw blurRad="38100" dist="38100" dir="2700000" algn="tl">
                    <a:srgbClr val="C0C0C0"/>
                  </a:outerShdw>
                </a:effectLst>
              </a:rPr>
              <a:t>次 *</a:t>
            </a:r>
            <a:r>
              <a:rPr lang="en-US" altLang="zh-CN" b="1" dirty="0">
                <a:effectLst>
                  <a:outerShdw blurRad="38100" dist="38100" dir="2700000" algn="tl">
                    <a:srgbClr val="C0C0C0"/>
                  </a:outerShdw>
                </a:effectLst>
              </a:rPr>
              <a:t>/</a:t>
            </a:r>
          </a:p>
          <a:p>
            <a:pPr marL="0" indent="0" eaLnBrk="1" fontAlgn="auto" hangingPunct="1">
              <a:lnSpc>
                <a:spcPct val="95000"/>
              </a:lnSpc>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a[</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a:t>
            </a:r>
            <a:r>
              <a:rPr lang="en-US" altLang="zh-CN" b="1" dirty="0" err="1">
                <a:effectLst>
                  <a:outerShdw blurRad="38100" dist="38100" dir="2700000" algn="tl">
                    <a:srgbClr val="C0C0C0"/>
                  </a:outerShdw>
                </a:effectLst>
              </a:rPr>
              <a:t>j%n</a:t>
            </a:r>
            <a:r>
              <a:rPr lang="en-US" altLang="zh-CN" b="1" dirty="0">
                <a:effectLst>
                  <a:outerShdw blurRad="38100" dist="38100" dir="2700000" algn="tl">
                    <a:srgbClr val="C0C0C0"/>
                  </a:outerShdw>
                </a:effectLst>
              </a:rPr>
              <a:t>] = j-i+1;</a:t>
            </a:r>
          </a:p>
        </p:txBody>
      </p:sp>
      <p:sp>
        <p:nvSpPr>
          <p:cNvPr id="5" name="灯片编号占位符 5"/>
          <p:cNvSpPr>
            <a:spLocks noGrp="1"/>
          </p:cNvSpPr>
          <p:nvPr>
            <p:ph type="sldNum" sz="quarter" idx="12"/>
          </p:nvPr>
        </p:nvSpPr>
        <p:spPr/>
        <p:txBody>
          <a:bodyPr/>
          <a:lstStyle/>
          <a:p>
            <a:pPr>
              <a:defRPr/>
            </a:pPr>
            <a:fld id="{F1BF8010-22EA-4AF0-B623-320A527DF28E}" type="slidenum">
              <a:rPr lang="en-US" altLang="zh-CN"/>
              <a:pPr>
                <a:defRPr/>
              </a:pPr>
              <a:t>83</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43746">
                                            <p:txEl>
                                              <p:pRg st="4" end="4"/>
                                            </p:txEl>
                                          </p:spTgt>
                                        </p:tgtEl>
                                        <p:attrNameLst>
                                          <p:attrName>style.visibility</p:attrName>
                                        </p:attrNameLst>
                                      </p:cBhvr>
                                      <p:to>
                                        <p:strVal val="visible"/>
                                      </p:to>
                                    </p:set>
                                    <p:anim calcmode="lin" valueType="num">
                                      <p:cBhvr additive="base">
                                        <p:cTn id="7" dur="500" fill="hold"/>
                                        <p:tgtEl>
                                          <p:spTgt spid="543746">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43746">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43746">
                                            <p:txEl>
                                              <p:pRg st="5" end="5"/>
                                            </p:txEl>
                                          </p:spTgt>
                                        </p:tgtEl>
                                        <p:attrNameLst>
                                          <p:attrName>style.visibility</p:attrName>
                                        </p:attrNameLst>
                                      </p:cBhvr>
                                      <p:to>
                                        <p:strVal val="visible"/>
                                      </p:to>
                                    </p:set>
                                    <p:anim calcmode="lin" valueType="num">
                                      <p:cBhvr additive="base">
                                        <p:cTn id="11" dur="500" fill="hold"/>
                                        <p:tgtEl>
                                          <p:spTgt spid="543746">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43746">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43746">
                                            <p:txEl>
                                              <p:pRg st="6" end="6"/>
                                            </p:txEl>
                                          </p:spTgt>
                                        </p:tgtEl>
                                        <p:attrNameLst>
                                          <p:attrName>style.visibility</p:attrName>
                                        </p:attrNameLst>
                                      </p:cBhvr>
                                      <p:to>
                                        <p:strVal val="visible"/>
                                      </p:to>
                                    </p:set>
                                    <p:anim calcmode="lin" valueType="num">
                                      <p:cBhvr additive="base">
                                        <p:cTn id="15" dur="500" fill="hold"/>
                                        <p:tgtEl>
                                          <p:spTgt spid="543746">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43746">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44770" name="Rectangle 2"/>
          <p:cNvSpPr>
            <a:spLocks noGrp="1" noChangeArrowheads="1"/>
          </p:cNvSpPr>
          <p:nvPr>
            <p:ph idx="1"/>
          </p:nvPr>
        </p:nvSpPr>
        <p:spPr>
          <a:xfrm>
            <a:off x="468313" y="333375"/>
            <a:ext cx="8280400" cy="1800225"/>
          </a:xfrm>
        </p:spPr>
        <p:txBody>
          <a:bodyPr>
            <a:normAutofit/>
          </a:bodyPr>
          <a:lstStyle/>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a:t>
            </a:r>
            <a:r>
              <a:rPr lang="zh-CN" altLang="en-US" b="1" dirty="0">
                <a:effectLst>
                  <a:outerShdw blurRad="38100" dist="38100" dir="2700000" algn="tl">
                    <a:srgbClr val="C0C0C0"/>
                  </a:outerShdw>
                </a:effectLst>
              </a:rPr>
              <a:t>例</a:t>
            </a:r>
            <a:r>
              <a:rPr lang="en-US" altLang="zh-CN" b="1" dirty="0">
                <a:effectLst>
                  <a:outerShdw blurRad="38100" dist="38100" dir="2700000" algn="tl">
                    <a:srgbClr val="C0C0C0"/>
                  </a:outerShdw>
                </a:effectLst>
              </a:rPr>
              <a:t>4.14】</a:t>
            </a:r>
            <a:r>
              <a:rPr lang="zh-CN" altLang="en-US" b="1" dirty="0">
                <a:effectLst>
                  <a:outerShdw blurRad="38100" dist="38100" dir="2700000" algn="tl">
                    <a:srgbClr val="C0C0C0"/>
                  </a:outerShdw>
                </a:effectLst>
              </a:rPr>
              <a:t>形成以下形式的二维数组</a:t>
            </a:r>
            <a:r>
              <a:rPr lang="en-US" altLang="zh-CN" b="1" dirty="0">
                <a:effectLst>
                  <a:outerShdw blurRad="38100" dist="38100" dir="2700000" algn="tl">
                    <a:srgbClr val="C0C0C0"/>
                  </a:outerShdw>
                </a:effectLst>
              </a:rPr>
              <a:t>(</a:t>
            </a:r>
            <a:r>
              <a:rPr lang="zh-CN" altLang="en-US" b="1" dirty="0">
                <a:effectLst>
                  <a:outerShdw blurRad="38100" dist="38100" dir="2700000" algn="tl">
                    <a:srgbClr val="C0C0C0"/>
                  </a:outerShdw>
                </a:effectLst>
              </a:rPr>
              <a:t>以下示例是</a:t>
            </a:r>
            <a:r>
              <a:rPr lang="en-US" altLang="zh-CN" b="1" dirty="0">
                <a:effectLst>
                  <a:outerShdw blurRad="38100" dist="38100" dir="2700000" algn="tl">
                    <a:srgbClr val="C0C0C0"/>
                  </a:outerShdw>
                </a:effectLst>
              </a:rPr>
              <a:t>n = 5)</a:t>
            </a:r>
            <a:r>
              <a:rPr lang="zh-CN" altLang="en-US" b="1" dirty="0">
                <a:effectLst>
                  <a:outerShdw blurRad="38100" dist="38100" dir="2700000" algn="tl">
                    <a:srgbClr val="C0C0C0"/>
                  </a:outerShdw>
                </a:effectLst>
              </a:rPr>
              <a:t>，并输出。示例中有向斜线段表示填数方向，有向斜线段之前的数字表示线段的编号</a:t>
            </a:r>
            <a:r>
              <a:rPr lang="en-US" altLang="zh-CN" b="1" dirty="0">
                <a:effectLst>
                  <a:outerShdw blurRad="38100" dist="38100" dir="2700000" algn="tl">
                    <a:srgbClr val="C0C0C0"/>
                  </a:outerShdw>
                </a:effectLst>
              </a:rPr>
              <a:t>d</a:t>
            </a:r>
            <a:r>
              <a:rPr lang="zh-CN" altLang="en-US" b="1" dirty="0">
                <a:effectLst>
                  <a:outerShdw blurRad="38100" dist="38100" dir="2700000" algn="tl">
                    <a:srgbClr val="C0C0C0"/>
                  </a:outerShdw>
                </a:effectLst>
              </a:rPr>
              <a:t>。</a:t>
            </a:r>
          </a:p>
        </p:txBody>
      </p:sp>
      <p:sp>
        <p:nvSpPr>
          <p:cNvPr id="7" name="灯片编号占位符 5"/>
          <p:cNvSpPr>
            <a:spLocks noGrp="1"/>
          </p:cNvSpPr>
          <p:nvPr>
            <p:ph type="sldNum" sz="quarter" idx="12"/>
          </p:nvPr>
        </p:nvSpPr>
        <p:spPr/>
        <p:txBody>
          <a:bodyPr/>
          <a:lstStyle/>
          <a:p>
            <a:pPr>
              <a:defRPr/>
            </a:pPr>
            <a:fld id="{47293A77-AEA6-434A-B1D5-B7DE4755058A}" type="slidenum">
              <a:rPr lang="en-US" altLang="zh-CN"/>
              <a:pPr>
                <a:defRPr/>
              </a:pPr>
              <a:t>84</a:t>
            </a:fld>
            <a:endParaRPr lang="en-US" altLang="zh-CN"/>
          </a:p>
        </p:txBody>
      </p:sp>
      <p:sp>
        <p:nvSpPr>
          <p:cNvPr id="4101" name="Rectangle 4"/>
          <p:cNvSpPr>
            <a:spLocks noChangeArrowheads="1"/>
          </p:cNvSpPr>
          <p:nvPr/>
        </p:nvSpPr>
        <p:spPr bwMode="auto">
          <a:xfrm>
            <a:off x="0" y="2486025"/>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4098" name="Object 3"/>
          <p:cNvGraphicFramePr>
            <a:graphicFrameLocks noChangeAspect="1"/>
          </p:cNvGraphicFramePr>
          <p:nvPr/>
        </p:nvGraphicFramePr>
        <p:xfrm>
          <a:off x="1692275" y="2060575"/>
          <a:ext cx="5759450" cy="4537075"/>
        </p:xfrm>
        <a:graphic>
          <a:graphicData uri="http://schemas.openxmlformats.org/presentationml/2006/ole">
            <mc:AlternateContent xmlns:mc="http://schemas.openxmlformats.org/markup-compatibility/2006">
              <mc:Choice xmlns:v="urn:schemas-microsoft-com:vml" Requires="v">
                <p:oleObj spid="_x0000_s4117" r:id="rId3" imgW="3075996" imgH="3094726" progId="Visio.Drawing.11">
                  <p:embed/>
                </p:oleObj>
              </mc:Choice>
              <mc:Fallback>
                <p:oleObj r:id="rId3" imgW="3075996" imgH="3094726" progId="Visio.Drawing.11">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2275" y="2060575"/>
                        <a:ext cx="5759450" cy="4537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02" name="TextBox 1"/>
          <p:cNvSpPr txBox="1">
            <a:spLocks noChangeArrowheads="1"/>
          </p:cNvSpPr>
          <p:nvPr/>
        </p:nvSpPr>
        <p:spPr bwMode="auto">
          <a:xfrm>
            <a:off x="-144463" y="4149725"/>
            <a:ext cx="1665288" cy="522288"/>
          </a:xfrm>
          <a:prstGeom prst="rect">
            <a:avLst/>
          </a:prstGeom>
          <a:noFill/>
          <a:ln w="9525">
            <a:noFill/>
            <a:miter lim="800000"/>
            <a:headEnd/>
            <a:tailEnd/>
          </a:ln>
        </p:spPr>
        <p:txBody>
          <a:bodyPr wrap="none">
            <a:spAutoFit/>
          </a:bodyPr>
          <a:lstStyle/>
          <a:p>
            <a:r>
              <a:rPr lang="zh-CN" altLang="en-US"/>
              <a:t>奇</a:t>
            </a:r>
            <a:r>
              <a:rPr lang="en-US" altLang="zh-CN"/>
              <a:t>[n-d, 0]</a:t>
            </a:r>
            <a:endParaRPr lang="zh-CN" altLang="en-US"/>
          </a:p>
        </p:txBody>
      </p:sp>
      <p:sp>
        <p:nvSpPr>
          <p:cNvPr id="4103" name="TextBox 2"/>
          <p:cNvSpPr txBox="1">
            <a:spLocks noChangeArrowheads="1"/>
          </p:cNvSpPr>
          <p:nvPr/>
        </p:nvSpPr>
        <p:spPr bwMode="auto">
          <a:xfrm>
            <a:off x="2601913" y="5732463"/>
            <a:ext cx="1965325" cy="523875"/>
          </a:xfrm>
          <a:prstGeom prst="rect">
            <a:avLst/>
          </a:prstGeom>
          <a:noFill/>
          <a:ln w="9525">
            <a:noFill/>
            <a:miter lim="800000"/>
            <a:headEnd/>
            <a:tailEnd/>
          </a:ln>
        </p:spPr>
        <p:txBody>
          <a:bodyPr wrap="none">
            <a:spAutoFit/>
          </a:bodyPr>
          <a:lstStyle/>
          <a:p>
            <a:r>
              <a:rPr lang="zh-CN" altLang="en-US"/>
              <a:t>偶</a:t>
            </a:r>
            <a:r>
              <a:rPr lang="en-US" altLang="zh-CN"/>
              <a:t>[n-1, d-1]</a:t>
            </a:r>
            <a:endParaRPr lang="zh-CN" altLang="en-US"/>
          </a:p>
        </p:txBody>
      </p:sp>
      <p:sp>
        <p:nvSpPr>
          <p:cNvPr id="4104" name="TextBox 3"/>
          <p:cNvSpPr txBox="1">
            <a:spLocks noChangeArrowheads="1"/>
          </p:cNvSpPr>
          <p:nvPr/>
        </p:nvSpPr>
        <p:spPr bwMode="auto">
          <a:xfrm>
            <a:off x="2435225" y="1870075"/>
            <a:ext cx="1755775" cy="523875"/>
          </a:xfrm>
          <a:prstGeom prst="rect">
            <a:avLst/>
          </a:prstGeom>
          <a:noFill/>
          <a:ln w="9525">
            <a:noFill/>
            <a:miter lim="800000"/>
            <a:headEnd/>
            <a:tailEnd/>
          </a:ln>
        </p:spPr>
        <p:txBody>
          <a:bodyPr wrap="none">
            <a:spAutoFit/>
          </a:bodyPr>
          <a:lstStyle/>
          <a:p>
            <a:r>
              <a:rPr lang="zh-CN" altLang="en-US"/>
              <a:t>奇 </a:t>
            </a:r>
            <a:r>
              <a:rPr lang="en-US" altLang="zh-CN"/>
              <a:t>[0, d-n]</a:t>
            </a:r>
            <a:endParaRPr lang="zh-CN" altLang="en-US"/>
          </a:p>
        </p:txBody>
      </p:sp>
      <p:sp>
        <p:nvSpPr>
          <p:cNvPr id="5" name="TextBox 4"/>
          <p:cNvSpPr txBox="1"/>
          <p:nvPr/>
        </p:nvSpPr>
        <p:spPr>
          <a:xfrm>
            <a:off x="5427663" y="3625850"/>
            <a:ext cx="3273425" cy="523875"/>
          </a:xfrm>
          <a:prstGeom prst="rect">
            <a:avLst/>
          </a:prstGeom>
          <a:noFill/>
        </p:spPr>
        <p:txBody>
          <a:bodyPr wrap="none">
            <a:spAutoFit/>
          </a:bodyPr>
          <a:lstStyle/>
          <a:p>
            <a:pPr>
              <a:defRPr/>
            </a:pPr>
            <a:r>
              <a:rPr lang="en-US" altLang="zh-CN" dirty="0">
                <a:effectLst>
                  <a:outerShdw blurRad="38100" dist="38100" dir="2700000" algn="tl">
                    <a:srgbClr val="C0C0C0"/>
                  </a:outerShdw>
                </a:effectLst>
              </a:rPr>
              <a:t>      </a:t>
            </a:r>
            <a:r>
              <a:rPr lang="zh-CN" altLang="en-US" dirty="0">
                <a:effectLst>
                  <a:outerShdw blurRad="38100" dist="38100" dir="2700000" algn="tl">
                    <a:srgbClr val="C0C0C0"/>
                  </a:outerShdw>
                </a:effectLst>
              </a:rPr>
              <a:t>偶 </a:t>
            </a:r>
            <a:r>
              <a:rPr lang="en-US" altLang="zh-CN" dirty="0">
                <a:effectLst>
                  <a:outerShdw blurRad="38100" dist="38100" dir="2700000" algn="tl">
                    <a:srgbClr val="C0C0C0"/>
                  </a:outerShdw>
                </a:effectLst>
              </a:rPr>
              <a:t>[2*n-1-d, n-1]</a:t>
            </a:r>
            <a:endParaRPr lang="zh-CN" altLang="en-US" dirty="0"/>
          </a:p>
        </p:txBody>
      </p:sp>
    </p:spTree>
  </p:cSld>
  <p:clrMapOvr>
    <a:masterClrMapping/>
  </p:clrMapOvr>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72738" name="Rectangle 2"/>
          <p:cNvSpPr>
            <a:spLocks noGrp="1" noChangeArrowheads="1"/>
          </p:cNvSpPr>
          <p:nvPr>
            <p:ph idx="1"/>
          </p:nvPr>
        </p:nvSpPr>
        <p:spPr>
          <a:xfrm>
            <a:off x="395288" y="692150"/>
            <a:ext cx="8367712" cy="5545138"/>
          </a:xfrm>
        </p:spPr>
        <p:txBody>
          <a:bodyPr>
            <a:normAutofit/>
          </a:bodyPr>
          <a:lstStyle/>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a:t>
            </a:r>
            <a:r>
              <a:rPr lang="zh-CN" altLang="en-US" b="1" dirty="0">
                <a:effectLst>
                  <a:outerShdw blurRad="38100" dist="38100" dir="2700000" algn="tl">
                    <a:srgbClr val="C0C0C0"/>
                  </a:outerShdw>
                </a:effectLst>
              </a:rPr>
              <a:t>解题思路</a:t>
            </a:r>
            <a:r>
              <a:rPr lang="en-US" altLang="zh-CN" b="1" dirty="0">
                <a:effectLst>
                  <a:outerShdw blurRad="38100" dist="38100" dir="2700000" algn="tl">
                    <a:srgbClr val="C0C0C0"/>
                  </a:outerShdw>
                </a:effectLst>
              </a:rPr>
              <a:t>】</a:t>
            </a:r>
          </a:p>
          <a:p>
            <a:pPr marL="0" indent="0"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rPr>
              <a:t>一个</a:t>
            </a:r>
            <a:r>
              <a:rPr lang="en-US" altLang="zh-CN" b="1" dirty="0">
                <a:effectLst>
                  <a:outerShdw blurRad="38100" dist="38100" dir="2700000" algn="tl">
                    <a:srgbClr val="C0C0C0"/>
                  </a:outerShdw>
                </a:effectLst>
              </a:rPr>
              <a:t>n*n</a:t>
            </a:r>
            <a:r>
              <a:rPr lang="zh-CN" altLang="en-US" b="1" dirty="0">
                <a:effectLst>
                  <a:outerShdw blurRad="38100" dist="38100" dir="2700000" algn="tl">
                    <a:srgbClr val="C0C0C0"/>
                  </a:outerShdw>
                </a:effectLst>
              </a:rPr>
              <a:t>二维数组，共有</a:t>
            </a:r>
            <a:r>
              <a:rPr lang="en-US" altLang="zh-CN" b="1" dirty="0">
                <a:effectLst>
                  <a:outerShdw blurRad="38100" dist="38100" dir="2700000" algn="tl">
                    <a:srgbClr val="C0C0C0"/>
                  </a:outerShdw>
                </a:effectLst>
              </a:rPr>
              <a:t>2</a:t>
            </a:r>
            <a:r>
              <a:rPr lang="zh-CN" altLang="en-US" b="1" dirty="0">
                <a:effectLst>
                  <a:outerShdw blurRad="38100" dist="38100" dir="2700000" algn="tl">
                    <a:srgbClr val="C0C0C0"/>
                  </a:outerShdw>
                </a:effectLst>
              </a:rPr>
              <a:t>*</a:t>
            </a:r>
            <a:r>
              <a:rPr lang="en-US" altLang="zh-CN" b="1" dirty="0">
                <a:effectLst>
                  <a:outerShdw blurRad="38100" dist="38100" dir="2700000" algn="tl">
                    <a:srgbClr val="C0C0C0"/>
                  </a:outerShdw>
                </a:effectLst>
              </a:rPr>
              <a:t>n-1</a:t>
            </a:r>
            <a:r>
              <a:rPr lang="zh-CN" altLang="en-US" b="1" dirty="0">
                <a:effectLst>
                  <a:outerShdw blurRad="38100" dist="38100" dir="2700000" algn="tl">
                    <a:srgbClr val="C0C0C0"/>
                  </a:outerShdw>
                </a:effectLst>
              </a:rPr>
              <a:t>条斜线段，将它们顺次编号为</a:t>
            </a:r>
            <a:r>
              <a:rPr lang="en-US" altLang="zh-CN" b="1" dirty="0">
                <a:effectLst>
                  <a:outerShdw blurRad="38100" dist="38100" dir="2700000" algn="tl">
                    <a:srgbClr val="C0C0C0"/>
                  </a:outerShdw>
                </a:effectLst>
              </a:rPr>
              <a:t>1</a:t>
            </a:r>
            <a:r>
              <a:rPr lang="zh-CN" altLang="en-US" b="1" dirty="0">
                <a:effectLst>
                  <a:outerShdw blurRad="38100" dist="38100" dir="2700000" algn="tl">
                    <a:srgbClr val="C0C0C0"/>
                  </a:outerShdw>
                </a:effectLst>
              </a:rPr>
              <a:t>至</a:t>
            </a:r>
            <a:r>
              <a:rPr lang="en-US" altLang="zh-CN" b="1" dirty="0">
                <a:effectLst>
                  <a:outerShdw blurRad="38100" dist="38100" dir="2700000" algn="tl">
                    <a:srgbClr val="C0C0C0"/>
                  </a:outerShdw>
                </a:effectLst>
              </a:rPr>
              <a:t>2*n-1</a:t>
            </a:r>
            <a:r>
              <a:rPr lang="zh-CN" altLang="en-US" b="1" dirty="0">
                <a:effectLst>
                  <a:outerShdw blurRad="38100" dist="38100" dir="2700000" algn="tl">
                    <a:srgbClr val="C0C0C0"/>
                  </a:outerShdw>
                </a:effectLst>
              </a:rPr>
              <a:t>。从数组的左下至右上的顺序逐条斜线填写数字。填写数字的方向按斜线的奇偶性交替变化。另外，每条斜线的行列起始位置的变化规律与斜线位于数组的下三角或上三角不同。对于下三角，第奇数条斜线从左上往右下，起始行为</a:t>
            </a:r>
            <a:r>
              <a:rPr lang="en-US" altLang="zh-CN" b="1" dirty="0">
                <a:effectLst>
                  <a:outerShdw blurRad="38100" dist="38100" dir="2700000" algn="tl">
                    <a:srgbClr val="C0C0C0"/>
                  </a:outerShdw>
                </a:effectLst>
              </a:rPr>
              <a:t>n-d</a:t>
            </a:r>
            <a:r>
              <a:rPr lang="zh-CN" altLang="en-US" b="1" dirty="0">
                <a:effectLst>
                  <a:outerShdw blurRad="38100" dist="38100" dir="2700000" algn="tl">
                    <a:srgbClr val="C0C0C0"/>
                  </a:outerShdw>
                </a:effectLst>
              </a:rPr>
              <a:t>（</a:t>
            </a:r>
            <a:r>
              <a:rPr lang="en-US" altLang="zh-CN" b="1" dirty="0">
                <a:effectLst>
                  <a:outerShdw blurRad="38100" dist="38100" dir="2700000" algn="tl">
                    <a:srgbClr val="C0C0C0"/>
                  </a:outerShdw>
                </a:effectLst>
              </a:rPr>
              <a:t>d</a:t>
            </a:r>
            <a:r>
              <a:rPr lang="zh-CN" altLang="en-US" b="1" dirty="0">
                <a:effectLst>
                  <a:outerShdw blurRad="38100" dist="38100" dir="2700000" algn="tl">
                    <a:srgbClr val="C0C0C0"/>
                  </a:outerShdw>
                </a:effectLst>
              </a:rPr>
              <a:t>为斜线编号，下同），起始列为</a:t>
            </a:r>
            <a:r>
              <a:rPr lang="en-US" altLang="zh-CN" b="1" dirty="0">
                <a:effectLst>
                  <a:outerShdw blurRad="38100" dist="38100" dir="2700000" algn="tl">
                    <a:srgbClr val="C0C0C0"/>
                  </a:outerShdw>
                </a:effectLst>
              </a:rPr>
              <a:t>0</a:t>
            </a:r>
            <a:r>
              <a:rPr lang="zh-CN" altLang="en-US" b="1" dirty="0">
                <a:effectLst>
                  <a:outerShdw blurRad="38100" dist="38100" dir="2700000" algn="tl">
                    <a:srgbClr val="C0C0C0"/>
                  </a:outerShdw>
                </a:effectLst>
              </a:rPr>
              <a:t>；第偶数条斜线从右下往左上，起始行为</a:t>
            </a:r>
            <a:r>
              <a:rPr lang="en-US" altLang="zh-CN" b="1" dirty="0">
                <a:effectLst>
                  <a:outerShdw blurRad="38100" dist="38100" dir="2700000" algn="tl">
                    <a:srgbClr val="C0C0C0"/>
                  </a:outerShdw>
                </a:effectLst>
              </a:rPr>
              <a:t>n-1,</a:t>
            </a:r>
            <a:r>
              <a:rPr lang="zh-CN" altLang="en-US" b="1" dirty="0">
                <a:effectLst>
                  <a:outerShdw blurRad="38100" dist="38100" dir="2700000" algn="tl">
                    <a:srgbClr val="C0C0C0"/>
                  </a:outerShdw>
                </a:effectLst>
              </a:rPr>
              <a:t>起始列为</a:t>
            </a:r>
            <a:r>
              <a:rPr lang="en-US" altLang="zh-CN" b="1" dirty="0">
                <a:effectLst>
                  <a:outerShdw blurRad="38100" dist="38100" dir="2700000" algn="tl">
                    <a:srgbClr val="C0C0C0"/>
                  </a:outerShdw>
                </a:effectLst>
              </a:rPr>
              <a:t>d-1</a:t>
            </a:r>
            <a:r>
              <a:rPr lang="zh-CN" altLang="en-US" b="1" dirty="0">
                <a:effectLst>
                  <a:outerShdw blurRad="38100" dist="38100" dir="2700000" algn="tl">
                    <a:srgbClr val="C0C0C0"/>
                  </a:outerShdw>
                </a:effectLst>
              </a:rPr>
              <a:t>。对于上三角，第奇数条斜线从左上往右下，起始行为</a:t>
            </a:r>
            <a:r>
              <a:rPr lang="en-US" altLang="zh-CN" b="1" dirty="0">
                <a:effectLst>
                  <a:outerShdw blurRad="38100" dist="38100" dir="2700000" algn="tl">
                    <a:srgbClr val="C0C0C0"/>
                  </a:outerShdw>
                </a:effectLst>
              </a:rPr>
              <a:t>0</a:t>
            </a:r>
            <a:r>
              <a:rPr lang="zh-CN" altLang="en-US" b="1" dirty="0">
                <a:effectLst>
                  <a:outerShdw blurRad="38100" dist="38100" dir="2700000" algn="tl">
                    <a:srgbClr val="C0C0C0"/>
                  </a:outerShdw>
                </a:effectLst>
              </a:rPr>
              <a:t>，起始列为</a:t>
            </a:r>
            <a:r>
              <a:rPr lang="en-US" altLang="zh-CN" b="1" dirty="0">
                <a:effectLst>
                  <a:outerShdw blurRad="38100" dist="38100" dir="2700000" algn="tl">
                    <a:srgbClr val="C0C0C0"/>
                  </a:outerShdw>
                </a:effectLst>
              </a:rPr>
              <a:t>d-n</a:t>
            </a:r>
            <a:r>
              <a:rPr lang="zh-CN" altLang="en-US" b="1" dirty="0">
                <a:effectLst>
                  <a:outerShdw blurRad="38100" dist="38100" dir="2700000" algn="tl">
                    <a:srgbClr val="C0C0C0"/>
                  </a:outerShdw>
                </a:effectLst>
              </a:rPr>
              <a:t>；第偶数条斜线从右下往左上，起始行为</a:t>
            </a:r>
            <a:r>
              <a:rPr lang="en-US" altLang="zh-CN" b="1" dirty="0">
                <a:effectLst>
                  <a:outerShdw blurRad="38100" dist="38100" dir="2700000" algn="tl">
                    <a:srgbClr val="C0C0C0"/>
                  </a:outerShdw>
                </a:effectLst>
              </a:rPr>
              <a:t>2*n-1-d,</a:t>
            </a:r>
            <a:r>
              <a:rPr lang="zh-CN" altLang="en-US" b="1" dirty="0">
                <a:effectLst>
                  <a:outerShdw blurRad="38100" dist="38100" dir="2700000" algn="tl">
                    <a:srgbClr val="C0C0C0"/>
                  </a:outerShdw>
                </a:effectLst>
              </a:rPr>
              <a:t>起始列为</a:t>
            </a:r>
            <a:r>
              <a:rPr lang="en-US" altLang="zh-CN" b="1" dirty="0">
                <a:effectLst>
                  <a:outerShdw blurRad="38100" dist="38100" dir="2700000" algn="tl">
                    <a:srgbClr val="C0C0C0"/>
                  </a:outerShdw>
                </a:effectLst>
              </a:rPr>
              <a:t>n-1</a:t>
            </a:r>
            <a:r>
              <a:rPr lang="zh-CN" altLang="en-US" b="1" dirty="0">
                <a:effectLst>
                  <a:outerShdw blurRad="38100" dist="38100" dir="2700000" algn="tl">
                    <a:srgbClr val="C0C0C0"/>
                  </a:outerShdw>
                </a:effectLst>
              </a:rPr>
              <a:t>。</a:t>
            </a:r>
          </a:p>
        </p:txBody>
      </p:sp>
      <p:sp>
        <p:nvSpPr>
          <p:cNvPr id="6" name="灯片编号占位符 5"/>
          <p:cNvSpPr>
            <a:spLocks noGrp="1"/>
          </p:cNvSpPr>
          <p:nvPr>
            <p:ph type="sldNum" sz="quarter" idx="12"/>
          </p:nvPr>
        </p:nvSpPr>
        <p:spPr/>
        <p:txBody>
          <a:bodyPr/>
          <a:lstStyle/>
          <a:p>
            <a:pPr>
              <a:defRPr/>
            </a:pPr>
            <a:fld id="{5CBF9430-D61E-4EEA-862D-2F90B6585183}" type="slidenum">
              <a:rPr lang="en-US" altLang="zh-CN"/>
              <a:pPr>
                <a:defRPr/>
              </a:pPr>
              <a:t>85</a:t>
            </a:fld>
            <a:endParaRPr lang="en-US" altLang="zh-CN"/>
          </a:p>
        </p:txBody>
      </p:sp>
      <p:sp>
        <p:nvSpPr>
          <p:cNvPr id="79876" name="Line 4"/>
          <p:cNvSpPr>
            <a:spLocks noChangeShapeType="1"/>
          </p:cNvSpPr>
          <p:nvPr/>
        </p:nvSpPr>
        <p:spPr bwMode="auto">
          <a:xfrm>
            <a:off x="457200" y="5257800"/>
            <a:ext cx="4191000" cy="0"/>
          </a:xfrm>
          <a:prstGeom prst="line">
            <a:avLst/>
          </a:prstGeom>
          <a:noFill/>
          <a:ln w="9525">
            <a:noFill/>
            <a:round/>
            <a:headEnd/>
            <a:tailEnd/>
          </a:ln>
        </p:spPr>
        <p:txBody>
          <a:bodyPr wrap="none" lIns="92075" tIns="46038" rIns="92075" bIns="46038" anchor="ctr"/>
          <a:lstStyle/>
          <a:p>
            <a:endParaRPr lang="zh-CN" altLang="en-US"/>
          </a:p>
        </p:txBody>
      </p:sp>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47842" name="Rectangle 2"/>
          <p:cNvSpPr>
            <a:spLocks noGrp="1" noChangeArrowheads="1"/>
          </p:cNvSpPr>
          <p:nvPr>
            <p:ph idx="1"/>
          </p:nvPr>
        </p:nvSpPr>
        <p:spPr>
          <a:xfrm>
            <a:off x="395288" y="260350"/>
            <a:ext cx="8367712" cy="6597650"/>
          </a:xfrm>
        </p:spPr>
        <p:txBody>
          <a:bodyPr>
            <a:normAutofit/>
          </a:bodyPr>
          <a:lstStyle/>
          <a:p>
            <a:pPr marL="0" indent="0" eaLnBrk="1" fontAlgn="auto" hangingPunct="1">
              <a:spcAft>
                <a:spcPts val="0"/>
              </a:spcAft>
              <a:buClr>
                <a:schemeClr val="accent3"/>
              </a:buClr>
              <a:buFont typeface="Wingdings" pitchFamily="2" charset="2"/>
              <a:buNone/>
              <a:defRPr/>
            </a:pPr>
            <a:r>
              <a:rPr lang="en-US" altLang="zh-CN" sz="2400" b="1" dirty="0">
                <a:effectLst>
                  <a:outerShdw blurRad="38100" dist="38100" dir="2700000" algn="tl">
                    <a:srgbClr val="C0C0C0"/>
                  </a:outerShdw>
                </a:effectLst>
              </a:rPr>
              <a:t>for(k = d = 1; d &lt;= 2*n-1; d++)  { </a:t>
            </a:r>
          </a:p>
          <a:p>
            <a:pPr marL="0" indent="0" eaLnBrk="1" fontAlgn="auto" hangingPunct="1">
              <a:spcAft>
                <a:spcPts val="0"/>
              </a:spcAft>
              <a:buClr>
                <a:schemeClr val="accent3"/>
              </a:buClr>
              <a:buFont typeface="Wingdings" pitchFamily="2" charset="2"/>
              <a:buNone/>
              <a:defRPr/>
            </a:pPr>
            <a:r>
              <a:rPr lang="en-US" altLang="zh-CN" sz="2400" b="1" dirty="0">
                <a:effectLst>
                  <a:outerShdw blurRad="38100" dist="38100" dir="2700000" algn="tl">
                    <a:srgbClr val="C0C0C0"/>
                  </a:outerShdw>
                </a:effectLst>
              </a:rPr>
              <a:t>    if (d &lt;= n-1)  /* </a:t>
            </a:r>
            <a:r>
              <a:rPr lang="zh-CN" altLang="en-US" sz="2400" b="1" dirty="0">
                <a:effectLst>
                  <a:outerShdw blurRad="38100" dist="38100" dir="2700000" algn="tl">
                    <a:srgbClr val="C0C0C0"/>
                  </a:outerShdw>
                </a:effectLst>
              </a:rPr>
              <a:t>左下三角 *</a:t>
            </a:r>
            <a:r>
              <a:rPr lang="en-US" altLang="zh-CN" sz="2400" b="1" dirty="0">
                <a:effectLst>
                  <a:outerShdw blurRad="38100" dist="38100" dir="2700000" algn="tl">
                    <a:srgbClr val="C0C0C0"/>
                  </a:outerShdw>
                </a:effectLst>
              </a:rPr>
              <a:t>/</a:t>
            </a:r>
          </a:p>
          <a:p>
            <a:pPr marL="0" indent="0" eaLnBrk="1" fontAlgn="auto" hangingPunct="1">
              <a:spcAft>
                <a:spcPts val="0"/>
              </a:spcAft>
              <a:buClr>
                <a:schemeClr val="accent3"/>
              </a:buClr>
              <a:buFont typeface="Wingdings" pitchFamily="2" charset="2"/>
              <a:buNone/>
              <a:defRPr/>
            </a:pPr>
            <a:r>
              <a:rPr lang="en-US" altLang="zh-CN" sz="2400" b="1" dirty="0">
                <a:effectLst>
                  <a:outerShdw blurRad="38100" dist="38100" dir="2700000" algn="tl">
                    <a:srgbClr val="C0C0C0"/>
                  </a:outerShdw>
                </a:effectLst>
              </a:rPr>
              <a:t>        if (d % 2)   /* </a:t>
            </a:r>
            <a:r>
              <a:rPr lang="zh-CN" altLang="en-US" sz="2400" b="1" dirty="0">
                <a:effectLst>
                  <a:outerShdw blurRad="38100" dist="38100" dir="2700000" algn="tl">
                    <a:srgbClr val="C0C0C0"/>
                  </a:outerShdw>
                </a:effectLst>
              </a:rPr>
              <a:t>奇数号斜线，从左上往右下 *</a:t>
            </a:r>
            <a:r>
              <a:rPr lang="en-US" altLang="zh-CN" sz="2400" b="1" dirty="0">
                <a:effectLst>
                  <a:outerShdw blurRad="38100" dist="38100" dir="2700000" algn="tl">
                    <a:srgbClr val="C0C0C0"/>
                  </a:outerShdw>
                </a:effectLst>
              </a:rPr>
              <a:t>/</a:t>
            </a:r>
          </a:p>
          <a:p>
            <a:pPr marL="0" indent="0" eaLnBrk="1" fontAlgn="auto" hangingPunct="1">
              <a:spcAft>
                <a:spcPts val="0"/>
              </a:spcAft>
              <a:buClr>
                <a:schemeClr val="accent3"/>
              </a:buClr>
              <a:buFont typeface="Wingdings" pitchFamily="2" charset="2"/>
              <a:buNone/>
              <a:defRPr/>
            </a:pPr>
            <a:r>
              <a:rPr lang="en-US" altLang="zh-CN" sz="2400" b="1" dirty="0">
                <a:effectLst>
                  <a:outerShdw blurRad="38100" dist="38100" dir="2700000" algn="tl">
                    <a:srgbClr val="C0C0C0"/>
                  </a:outerShdw>
                </a:effectLst>
              </a:rPr>
              <a:t>            for(</a:t>
            </a:r>
            <a:r>
              <a:rPr lang="en-US" altLang="zh-CN" sz="2400" b="1" dirty="0" err="1">
                <a:effectLst>
                  <a:outerShdw blurRad="38100" dist="38100" dir="2700000" algn="tl">
                    <a:srgbClr val="C0C0C0"/>
                  </a:outerShdw>
                </a:effectLst>
              </a:rPr>
              <a:t>i</a:t>
            </a:r>
            <a:r>
              <a:rPr lang="en-US" altLang="zh-CN" sz="2400" b="1" dirty="0">
                <a:effectLst>
                  <a:outerShdw blurRad="38100" dist="38100" dir="2700000" algn="tl">
                    <a:srgbClr val="C0C0C0"/>
                  </a:outerShdw>
                </a:effectLst>
              </a:rPr>
              <a:t> = n-d, j = 0; </a:t>
            </a:r>
            <a:r>
              <a:rPr lang="en-US" altLang="zh-CN" sz="2400" b="1" dirty="0" err="1">
                <a:effectLst>
                  <a:outerShdw blurRad="38100" dist="38100" dir="2700000" algn="tl">
                    <a:srgbClr val="C0C0C0"/>
                  </a:outerShdw>
                </a:effectLst>
              </a:rPr>
              <a:t>i</a:t>
            </a:r>
            <a:r>
              <a:rPr lang="en-US" altLang="zh-CN" sz="2400" b="1" dirty="0">
                <a:effectLst>
                  <a:outerShdw blurRad="38100" dist="38100" dir="2700000" algn="tl">
                    <a:srgbClr val="C0C0C0"/>
                  </a:outerShdw>
                </a:effectLst>
              </a:rPr>
              <a:t> &lt; n; </a:t>
            </a:r>
            <a:r>
              <a:rPr lang="en-US" altLang="zh-CN" sz="2400" b="1" dirty="0" err="1">
                <a:effectLst>
                  <a:outerShdw blurRad="38100" dist="38100" dir="2700000" algn="tl">
                    <a:srgbClr val="C0C0C0"/>
                  </a:outerShdw>
                </a:effectLst>
              </a:rPr>
              <a:t>i</a:t>
            </a:r>
            <a:r>
              <a:rPr lang="en-US" altLang="zh-CN" sz="2400" b="1" dirty="0">
                <a:effectLst>
                  <a:outerShdw blurRad="38100" dist="38100" dir="2700000" algn="tl">
                    <a:srgbClr val="C0C0C0"/>
                  </a:outerShdw>
                </a:effectLst>
              </a:rPr>
              <a:t>++, j++)    a[</a:t>
            </a:r>
            <a:r>
              <a:rPr lang="en-US" altLang="zh-CN" sz="2400" b="1" dirty="0" err="1">
                <a:effectLst>
                  <a:outerShdw blurRad="38100" dist="38100" dir="2700000" algn="tl">
                    <a:srgbClr val="C0C0C0"/>
                  </a:outerShdw>
                </a:effectLst>
              </a:rPr>
              <a:t>i</a:t>
            </a:r>
            <a:r>
              <a:rPr lang="en-US" altLang="zh-CN" sz="2400" b="1" dirty="0">
                <a:effectLst>
                  <a:outerShdw blurRad="38100" dist="38100" dir="2700000" algn="tl">
                    <a:srgbClr val="C0C0C0"/>
                  </a:outerShdw>
                </a:effectLst>
              </a:rPr>
              <a:t>][j] = k++;</a:t>
            </a:r>
          </a:p>
          <a:p>
            <a:pPr marL="0" indent="0" eaLnBrk="1" fontAlgn="auto" hangingPunct="1">
              <a:spcAft>
                <a:spcPts val="0"/>
              </a:spcAft>
              <a:buClr>
                <a:schemeClr val="accent3"/>
              </a:buClr>
              <a:buFont typeface="Wingdings" pitchFamily="2" charset="2"/>
              <a:buNone/>
              <a:defRPr/>
            </a:pPr>
            <a:r>
              <a:rPr lang="en-US" altLang="zh-CN" sz="2400" b="1" dirty="0">
                <a:effectLst>
                  <a:outerShdw blurRad="38100" dist="38100" dir="2700000" algn="tl">
                    <a:srgbClr val="C0C0C0"/>
                  </a:outerShdw>
                </a:effectLst>
              </a:rPr>
              <a:t>        else  /* </a:t>
            </a:r>
            <a:r>
              <a:rPr lang="zh-CN" altLang="en-US" sz="2400" b="1" dirty="0">
                <a:effectLst>
                  <a:outerShdw blurRad="38100" dist="38100" dir="2700000" algn="tl">
                    <a:srgbClr val="C0C0C0"/>
                  </a:outerShdw>
                </a:effectLst>
              </a:rPr>
              <a:t>偶数号斜线，从右下往左上 *</a:t>
            </a:r>
            <a:r>
              <a:rPr lang="en-US" altLang="zh-CN" sz="2400" b="1" dirty="0">
                <a:effectLst>
                  <a:outerShdw blurRad="38100" dist="38100" dir="2700000" algn="tl">
                    <a:srgbClr val="C0C0C0"/>
                  </a:outerShdw>
                </a:effectLst>
              </a:rPr>
              <a:t>/</a:t>
            </a:r>
          </a:p>
          <a:p>
            <a:pPr marL="0" indent="0" eaLnBrk="1" fontAlgn="auto" hangingPunct="1">
              <a:spcAft>
                <a:spcPts val="0"/>
              </a:spcAft>
              <a:buClr>
                <a:schemeClr val="accent3"/>
              </a:buClr>
              <a:buFont typeface="Wingdings" pitchFamily="2" charset="2"/>
              <a:buNone/>
              <a:defRPr/>
            </a:pPr>
            <a:r>
              <a:rPr lang="en-US" altLang="zh-CN" sz="2400" b="1" dirty="0">
                <a:effectLst>
                  <a:outerShdw blurRad="38100" dist="38100" dir="2700000" algn="tl">
                    <a:srgbClr val="C0C0C0"/>
                  </a:outerShdw>
                </a:effectLst>
              </a:rPr>
              <a:t>            for(</a:t>
            </a:r>
            <a:r>
              <a:rPr lang="en-US" altLang="zh-CN" sz="2400" b="1" dirty="0" err="1">
                <a:effectLst>
                  <a:outerShdw blurRad="38100" dist="38100" dir="2700000" algn="tl">
                    <a:srgbClr val="C0C0C0"/>
                  </a:outerShdw>
                </a:effectLst>
              </a:rPr>
              <a:t>i</a:t>
            </a:r>
            <a:r>
              <a:rPr lang="en-US" altLang="zh-CN" sz="2400" b="1" dirty="0">
                <a:effectLst>
                  <a:outerShdw blurRad="38100" dist="38100" dir="2700000" algn="tl">
                    <a:srgbClr val="C0C0C0"/>
                  </a:outerShdw>
                </a:effectLst>
              </a:rPr>
              <a:t> = n-1, j = d-1; </a:t>
            </a:r>
            <a:r>
              <a:rPr lang="en-US" altLang="zh-CN" sz="2400" b="1" dirty="0" err="1">
                <a:effectLst>
                  <a:outerShdw blurRad="38100" dist="38100" dir="2700000" algn="tl">
                    <a:srgbClr val="C0C0C0"/>
                  </a:outerShdw>
                </a:effectLst>
              </a:rPr>
              <a:t>i</a:t>
            </a:r>
            <a:r>
              <a:rPr lang="en-US" altLang="zh-CN" sz="2400" b="1" dirty="0">
                <a:effectLst>
                  <a:outerShdw blurRad="38100" dist="38100" dir="2700000" algn="tl">
                    <a:srgbClr val="C0C0C0"/>
                  </a:outerShdw>
                </a:effectLst>
              </a:rPr>
              <a:t> &gt;= n-d; </a:t>
            </a:r>
            <a:r>
              <a:rPr lang="en-US" altLang="zh-CN" sz="2400" b="1" dirty="0" err="1">
                <a:effectLst>
                  <a:outerShdw blurRad="38100" dist="38100" dir="2700000" algn="tl">
                    <a:srgbClr val="C0C0C0"/>
                  </a:outerShdw>
                </a:effectLst>
              </a:rPr>
              <a:t>i</a:t>
            </a:r>
            <a:r>
              <a:rPr lang="en-US" altLang="zh-CN" sz="2400" b="1" dirty="0">
                <a:effectLst>
                  <a:outerShdw blurRad="38100" dist="38100" dir="2700000" algn="tl">
                    <a:srgbClr val="C0C0C0"/>
                  </a:outerShdw>
                </a:effectLst>
              </a:rPr>
              <a:t>--, j--)  a[</a:t>
            </a:r>
            <a:r>
              <a:rPr lang="en-US" altLang="zh-CN" sz="2400" b="1" dirty="0" err="1">
                <a:effectLst>
                  <a:outerShdw blurRad="38100" dist="38100" dir="2700000" algn="tl">
                    <a:srgbClr val="C0C0C0"/>
                  </a:outerShdw>
                </a:effectLst>
              </a:rPr>
              <a:t>i</a:t>
            </a:r>
            <a:r>
              <a:rPr lang="en-US" altLang="zh-CN" sz="2400" b="1" dirty="0">
                <a:effectLst>
                  <a:outerShdw blurRad="38100" dist="38100" dir="2700000" algn="tl">
                    <a:srgbClr val="C0C0C0"/>
                  </a:outerShdw>
                </a:effectLst>
              </a:rPr>
              <a:t>][j] = k++;</a:t>
            </a:r>
          </a:p>
          <a:p>
            <a:pPr marL="0" indent="0" eaLnBrk="1" fontAlgn="auto" hangingPunct="1">
              <a:spcAft>
                <a:spcPts val="0"/>
              </a:spcAft>
              <a:buClr>
                <a:schemeClr val="accent3"/>
              </a:buClr>
              <a:buFont typeface="Wingdings" pitchFamily="2" charset="2"/>
              <a:buNone/>
              <a:defRPr/>
            </a:pPr>
            <a:r>
              <a:rPr lang="en-US" altLang="zh-CN" sz="2400" b="1" dirty="0">
                <a:effectLst>
                  <a:outerShdw blurRad="38100" dist="38100" dir="2700000" algn="tl">
                    <a:srgbClr val="C0C0C0"/>
                  </a:outerShdw>
                </a:effectLst>
              </a:rPr>
              <a:t>   else   /* d &gt;= n</a:t>
            </a:r>
            <a:r>
              <a:rPr lang="zh-CN" altLang="en-US" sz="2400" b="1" dirty="0">
                <a:effectLst>
                  <a:outerShdw blurRad="38100" dist="38100" dir="2700000" algn="tl">
                    <a:srgbClr val="C0C0C0"/>
                  </a:outerShdw>
                </a:effectLst>
              </a:rPr>
              <a:t>，右上三角 *</a:t>
            </a:r>
            <a:r>
              <a:rPr lang="en-US" altLang="zh-CN" sz="2400" b="1" dirty="0">
                <a:effectLst>
                  <a:outerShdw blurRad="38100" dist="38100" dir="2700000" algn="tl">
                    <a:srgbClr val="C0C0C0"/>
                  </a:outerShdw>
                </a:effectLst>
              </a:rPr>
              <a:t>/</a:t>
            </a:r>
          </a:p>
          <a:p>
            <a:pPr marL="0" indent="0" eaLnBrk="1" fontAlgn="auto" hangingPunct="1">
              <a:spcAft>
                <a:spcPts val="0"/>
              </a:spcAft>
              <a:buClr>
                <a:schemeClr val="accent3"/>
              </a:buClr>
              <a:buFont typeface="Wingdings" pitchFamily="2" charset="2"/>
              <a:buNone/>
              <a:defRPr/>
            </a:pPr>
            <a:r>
              <a:rPr lang="en-US" altLang="zh-CN" sz="2400" b="1" dirty="0">
                <a:effectLst>
                  <a:outerShdw blurRad="38100" dist="38100" dir="2700000" algn="tl">
                    <a:srgbClr val="C0C0C0"/>
                  </a:outerShdw>
                </a:effectLst>
              </a:rPr>
              <a:t>        if (d % 2)  </a:t>
            </a:r>
          </a:p>
          <a:p>
            <a:pPr marL="0" indent="0" eaLnBrk="1" fontAlgn="auto" hangingPunct="1">
              <a:spcAft>
                <a:spcPts val="0"/>
              </a:spcAft>
              <a:buClr>
                <a:schemeClr val="accent3"/>
              </a:buClr>
              <a:buFont typeface="Wingdings" pitchFamily="2" charset="2"/>
              <a:buNone/>
              <a:defRPr/>
            </a:pPr>
            <a:r>
              <a:rPr lang="en-US" altLang="zh-CN" sz="2400" b="1" dirty="0">
                <a:effectLst>
                  <a:outerShdw blurRad="38100" dist="38100" dir="2700000" algn="tl">
                    <a:srgbClr val="C0C0C0"/>
                  </a:outerShdw>
                </a:effectLst>
              </a:rPr>
              <a:t>           for(</a:t>
            </a:r>
            <a:r>
              <a:rPr lang="en-US" altLang="zh-CN" sz="2400" b="1" dirty="0" err="1">
                <a:effectLst>
                  <a:outerShdw blurRad="38100" dist="38100" dir="2700000" algn="tl">
                    <a:srgbClr val="C0C0C0"/>
                  </a:outerShdw>
                </a:effectLst>
              </a:rPr>
              <a:t>i</a:t>
            </a:r>
            <a:r>
              <a:rPr lang="en-US" altLang="zh-CN" sz="2400" b="1" dirty="0">
                <a:effectLst>
                  <a:outerShdw blurRad="38100" dist="38100" dir="2700000" algn="tl">
                    <a:srgbClr val="C0C0C0"/>
                  </a:outerShdw>
                </a:effectLst>
              </a:rPr>
              <a:t> = 0, j = d-n; </a:t>
            </a:r>
            <a:r>
              <a:rPr lang="en-US" altLang="zh-CN" sz="2400" b="1" dirty="0" err="1">
                <a:effectLst>
                  <a:outerShdw blurRad="38100" dist="38100" dir="2700000" algn="tl">
                    <a:srgbClr val="C0C0C0"/>
                  </a:outerShdw>
                </a:effectLst>
              </a:rPr>
              <a:t>i</a:t>
            </a:r>
            <a:r>
              <a:rPr lang="en-US" altLang="zh-CN" sz="2400" b="1" dirty="0">
                <a:effectLst>
                  <a:outerShdw blurRad="38100" dist="38100" dir="2700000" algn="tl">
                    <a:srgbClr val="C0C0C0"/>
                  </a:outerShdw>
                </a:effectLst>
              </a:rPr>
              <a:t> &lt;= 2*n-1-d; </a:t>
            </a:r>
            <a:r>
              <a:rPr lang="en-US" altLang="zh-CN" sz="2400" b="1" dirty="0" err="1">
                <a:effectLst>
                  <a:outerShdw blurRad="38100" dist="38100" dir="2700000" algn="tl">
                    <a:srgbClr val="C0C0C0"/>
                  </a:outerShdw>
                </a:effectLst>
              </a:rPr>
              <a:t>i</a:t>
            </a:r>
            <a:r>
              <a:rPr lang="en-US" altLang="zh-CN" sz="2400" b="1" dirty="0">
                <a:effectLst>
                  <a:outerShdw blurRad="38100" dist="38100" dir="2700000" algn="tl">
                    <a:srgbClr val="C0C0C0"/>
                  </a:outerShdw>
                </a:effectLst>
              </a:rPr>
              <a:t>++, j++)a[</a:t>
            </a:r>
            <a:r>
              <a:rPr lang="en-US" altLang="zh-CN" sz="2400" b="1" dirty="0" err="1">
                <a:effectLst>
                  <a:outerShdw blurRad="38100" dist="38100" dir="2700000" algn="tl">
                    <a:srgbClr val="C0C0C0"/>
                  </a:outerShdw>
                </a:effectLst>
              </a:rPr>
              <a:t>i</a:t>
            </a:r>
            <a:r>
              <a:rPr lang="en-US" altLang="zh-CN" sz="2400" b="1" dirty="0">
                <a:effectLst>
                  <a:outerShdw blurRad="38100" dist="38100" dir="2700000" algn="tl">
                    <a:srgbClr val="C0C0C0"/>
                  </a:outerShdw>
                </a:effectLst>
              </a:rPr>
              <a:t>][j] = k++;</a:t>
            </a:r>
          </a:p>
          <a:p>
            <a:pPr marL="0" indent="0" eaLnBrk="1" fontAlgn="auto" hangingPunct="1">
              <a:spcAft>
                <a:spcPts val="0"/>
              </a:spcAft>
              <a:buClr>
                <a:schemeClr val="accent3"/>
              </a:buClr>
              <a:buFont typeface="Wingdings" pitchFamily="2" charset="2"/>
              <a:buNone/>
              <a:defRPr/>
            </a:pPr>
            <a:r>
              <a:rPr lang="en-US" altLang="zh-CN" sz="2400" b="1" dirty="0">
                <a:effectLst>
                  <a:outerShdw blurRad="38100" dist="38100" dir="2700000" algn="tl">
                    <a:srgbClr val="C0C0C0"/>
                  </a:outerShdw>
                </a:effectLst>
              </a:rPr>
              <a:t>       else </a:t>
            </a:r>
          </a:p>
          <a:p>
            <a:pPr marL="0" indent="0" eaLnBrk="1" fontAlgn="auto" hangingPunct="1">
              <a:spcAft>
                <a:spcPts val="0"/>
              </a:spcAft>
              <a:buClr>
                <a:schemeClr val="accent3"/>
              </a:buClr>
              <a:buFont typeface="Wingdings" pitchFamily="2" charset="2"/>
              <a:buNone/>
              <a:defRPr/>
            </a:pPr>
            <a:r>
              <a:rPr lang="en-US" altLang="zh-CN" sz="2400" b="1" dirty="0">
                <a:effectLst>
                  <a:outerShdw blurRad="38100" dist="38100" dir="2700000" algn="tl">
                    <a:srgbClr val="C0C0C0"/>
                  </a:outerShdw>
                </a:effectLst>
              </a:rPr>
              <a:t>           for(</a:t>
            </a:r>
            <a:r>
              <a:rPr lang="en-US" altLang="zh-CN" sz="2400" b="1" dirty="0" err="1">
                <a:effectLst>
                  <a:outerShdw blurRad="38100" dist="38100" dir="2700000" algn="tl">
                    <a:srgbClr val="C0C0C0"/>
                  </a:outerShdw>
                </a:effectLst>
              </a:rPr>
              <a:t>i</a:t>
            </a:r>
            <a:r>
              <a:rPr lang="en-US" altLang="zh-CN" sz="2400" b="1" dirty="0">
                <a:effectLst>
                  <a:outerShdw blurRad="38100" dist="38100" dir="2700000" algn="tl">
                    <a:srgbClr val="C0C0C0"/>
                  </a:outerShdw>
                </a:effectLst>
              </a:rPr>
              <a:t> = 2*n-1-d, j = n-1; </a:t>
            </a:r>
            <a:r>
              <a:rPr lang="en-US" altLang="zh-CN" sz="2400" b="1" dirty="0" err="1">
                <a:effectLst>
                  <a:outerShdw blurRad="38100" dist="38100" dir="2700000" algn="tl">
                    <a:srgbClr val="C0C0C0"/>
                  </a:outerShdw>
                </a:effectLst>
              </a:rPr>
              <a:t>i</a:t>
            </a:r>
            <a:r>
              <a:rPr lang="en-US" altLang="zh-CN" sz="2400" b="1" dirty="0">
                <a:effectLst>
                  <a:outerShdw blurRad="38100" dist="38100" dir="2700000" algn="tl">
                    <a:srgbClr val="C0C0C0"/>
                  </a:outerShdw>
                </a:effectLst>
              </a:rPr>
              <a:t> &gt;= 0; </a:t>
            </a:r>
            <a:r>
              <a:rPr lang="en-US" altLang="zh-CN" sz="2400" b="1" dirty="0" err="1">
                <a:effectLst>
                  <a:outerShdw blurRad="38100" dist="38100" dir="2700000" algn="tl">
                    <a:srgbClr val="C0C0C0"/>
                  </a:outerShdw>
                </a:effectLst>
              </a:rPr>
              <a:t>i</a:t>
            </a:r>
            <a:r>
              <a:rPr lang="en-US" altLang="zh-CN" sz="2400" b="1" dirty="0">
                <a:effectLst>
                  <a:outerShdw blurRad="38100" dist="38100" dir="2700000" algn="tl">
                    <a:srgbClr val="C0C0C0"/>
                  </a:outerShdw>
                </a:effectLst>
              </a:rPr>
              <a:t>--, j--)  a[</a:t>
            </a:r>
            <a:r>
              <a:rPr lang="en-US" altLang="zh-CN" sz="2400" b="1" dirty="0" err="1">
                <a:effectLst>
                  <a:outerShdw blurRad="38100" dist="38100" dir="2700000" algn="tl">
                    <a:srgbClr val="C0C0C0"/>
                  </a:outerShdw>
                </a:effectLst>
              </a:rPr>
              <a:t>i</a:t>
            </a:r>
            <a:r>
              <a:rPr lang="en-US" altLang="zh-CN" sz="2400" b="1" dirty="0">
                <a:effectLst>
                  <a:outerShdw blurRad="38100" dist="38100" dir="2700000" algn="tl">
                    <a:srgbClr val="C0C0C0"/>
                  </a:outerShdw>
                </a:effectLst>
              </a:rPr>
              <a:t>][j] = k++;</a:t>
            </a:r>
          </a:p>
          <a:p>
            <a:pPr marL="0" indent="0" eaLnBrk="1" fontAlgn="auto" hangingPunct="1">
              <a:spcAft>
                <a:spcPts val="0"/>
              </a:spcAft>
              <a:buClr>
                <a:schemeClr val="accent3"/>
              </a:buClr>
              <a:buFont typeface="Wingdings" pitchFamily="2" charset="2"/>
              <a:buNone/>
              <a:defRPr/>
            </a:pPr>
            <a:r>
              <a:rPr lang="en-US" altLang="zh-CN" sz="2400" b="1" dirty="0">
                <a:effectLst>
                  <a:outerShdw blurRad="38100" dist="38100" dir="2700000" algn="tl">
                    <a:srgbClr val="C0C0C0"/>
                  </a:outerShdw>
                </a:effectLst>
              </a:rPr>
              <a:t> }</a:t>
            </a:r>
          </a:p>
          <a:p>
            <a:pPr marL="0" indent="0" eaLnBrk="1" fontAlgn="auto" hangingPunct="1">
              <a:spcAft>
                <a:spcPts val="0"/>
              </a:spcAft>
              <a:buClr>
                <a:schemeClr val="accent3"/>
              </a:buClr>
              <a:buFont typeface="Wingdings" pitchFamily="2" charset="2"/>
              <a:buNone/>
              <a:defRPr/>
            </a:pPr>
            <a:r>
              <a:rPr lang="en-US" altLang="zh-CN" sz="2400" b="1" dirty="0">
                <a:effectLst>
                  <a:outerShdw blurRad="38100" dist="38100" dir="2700000" algn="tl">
                    <a:srgbClr val="C0C0C0"/>
                  </a:outerShdw>
                </a:effectLst>
              </a:rPr>
              <a:t>       </a:t>
            </a:r>
          </a:p>
        </p:txBody>
      </p:sp>
      <p:sp>
        <p:nvSpPr>
          <p:cNvPr id="6" name="灯片编号占位符 5"/>
          <p:cNvSpPr>
            <a:spLocks noGrp="1"/>
          </p:cNvSpPr>
          <p:nvPr>
            <p:ph type="sldNum" sz="quarter" idx="12"/>
          </p:nvPr>
        </p:nvSpPr>
        <p:spPr/>
        <p:txBody>
          <a:bodyPr/>
          <a:lstStyle/>
          <a:p>
            <a:pPr>
              <a:defRPr/>
            </a:pPr>
            <a:fld id="{EA054BAB-2CBC-4318-8A10-A8367B6B5899}" type="slidenum">
              <a:rPr lang="en-US" altLang="zh-CN"/>
              <a:pPr>
                <a:defRPr/>
              </a:pPr>
              <a:t>86</a:t>
            </a:fld>
            <a:endParaRPr lang="en-US" altLang="zh-CN"/>
          </a:p>
        </p:txBody>
      </p:sp>
      <p:sp>
        <p:nvSpPr>
          <p:cNvPr id="81924" name="Line 3"/>
          <p:cNvSpPr>
            <a:spLocks noChangeShapeType="1"/>
          </p:cNvSpPr>
          <p:nvPr/>
        </p:nvSpPr>
        <p:spPr bwMode="auto">
          <a:xfrm>
            <a:off x="457200" y="5257800"/>
            <a:ext cx="4191000" cy="0"/>
          </a:xfrm>
          <a:prstGeom prst="line">
            <a:avLst/>
          </a:prstGeom>
          <a:noFill/>
          <a:ln w="9525">
            <a:noFill/>
            <a:round/>
            <a:headEnd/>
            <a:tailEnd/>
          </a:ln>
        </p:spPr>
        <p:txBody>
          <a:bodyPr wrap="none" lIns="92075" tIns="46038" rIns="92075" bIns="46038" anchor="ctr"/>
          <a:lstStyle/>
          <a:p>
            <a:endParaRPr lang="zh-CN" altLang="en-US"/>
          </a:p>
        </p:txBody>
      </p:sp>
      <p:sp>
        <p:nvSpPr>
          <p:cNvPr id="5" name="TextBox 4"/>
          <p:cNvSpPr txBox="1"/>
          <p:nvPr/>
        </p:nvSpPr>
        <p:spPr>
          <a:xfrm>
            <a:off x="2771800" y="5301208"/>
            <a:ext cx="5400600" cy="1384995"/>
          </a:xfrm>
          <a:prstGeom prst="rect">
            <a:avLst/>
          </a:prstGeom>
          <a:solidFill>
            <a:schemeClr val="accent1"/>
          </a:solidFill>
        </p:spPr>
        <p:txBody>
          <a:bodyPr wrap="square" rtlCol="0">
            <a:spAutoFit/>
          </a:bodyPr>
          <a:lstStyle/>
          <a:p>
            <a:pPr algn="l"/>
            <a:r>
              <a:rPr lang="zh-CN" altLang="en-US" dirty="0">
                <a:effectLst>
                  <a:outerShdw blurRad="38100" dist="38100" dir="2700000" algn="tl">
                    <a:srgbClr val="C0C0C0"/>
                  </a:outerShdw>
                </a:effectLst>
              </a:rPr>
              <a:t>对于下三角，第奇数条斜线从左上往右下，起始行为</a:t>
            </a:r>
            <a:r>
              <a:rPr lang="en-US" altLang="zh-CN" dirty="0">
                <a:effectLst>
                  <a:outerShdw blurRad="38100" dist="38100" dir="2700000" algn="tl">
                    <a:srgbClr val="C0C0C0"/>
                  </a:outerShdw>
                </a:effectLst>
              </a:rPr>
              <a:t>n-d</a:t>
            </a:r>
            <a:r>
              <a:rPr lang="zh-CN" altLang="en-US" dirty="0">
                <a:effectLst>
                  <a:outerShdw blurRad="38100" dist="38100" dir="2700000" algn="tl">
                    <a:srgbClr val="C0C0C0"/>
                  </a:outerShdw>
                </a:effectLst>
              </a:rPr>
              <a:t>（</a:t>
            </a:r>
            <a:r>
              <a:rPr lang="en-US" altLang="zh-CN" dirty="0">
                <a:effectLst>
                  <a:outerShdw blurRad="38100" dist="38100" dir="2700000" algn="tl">
                    <a:srgbClr val="C0C0C0"/>
                  </a:outerShdw>
                </a:effectLst>
              </a:rPr>
              <a:t>d</a:t>
            </a:r>
            <a:r>
              <a:rPr lang="zh-CN" altLang="en-US" dirty="0">
                <a:effectLst>
                  <a:outerShdw blurRad="38100" dist="38100" dir="2700000" algn="tl">
                    <a:srgbClr val="C0C0C0"/>
                  </a:outerShdw>
                </a:effectLst>
              </a:rPr>
              <a:t>为斜线编号，下同），起始列为</a:t>
            </a:r>
            <a:r>
              <a:rPr lang="en-US" altLang="zh-CN" dirty="0">
                <a:effectLst>
                  <a:outerShdw blurRad="38100" dist="38100" dir="2700000" algn="tl">
                    <a:srgbClr val="C0C0C0"/>
                  </a:outerShdw>
                </a:effectLst>
              </a:rPr>
              <a:t>0</a:t>
            </a:r>
            <a:r>
              <a:rPr lang="zh-CN" altLang="en-US" dirty="0">
                <a:effectLst>
                  <a:outerShdw blurRad="38100" dist="38100" dir="2700000" algn="tl">
                    <a:srgbClr val="C0C0C0"/>
                  </a:outerShdw>
                </a:effectLst>
              </a:rPr>
              <a:t>；</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47842">
                                            <p:txEl>
                                              <p:pRg st="1" end="1"/>
                                            </p:txEl>
                                          </p:spTgt>
                                        </p:tgtEl>
                                        <p:attrNameLst>
                                          <p:attrName>style.visibility</p:attrName>
                                        </p:attrNameLst>
                                      </p:cBhvr>
                                      <p:to>
                                        <p:strVal val="visible"/>
                                      </p:to>
                                    </p:set>
                                    <p:anim calcmode="lin" valueType="num">
                                      <p:cBhvr additive="base">
                                        <p:cTn id="7" dur="500" fill="hold"/>
                                        <p:tgtEl>
                                          <p:spTgt spid="54784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4784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47842">
                                            <p:txEl>
                                              <p:pRg st="2" end="2"/>
                                            </p:txEl>
                                          </p:spTgt>
                                        </p:tgtEl>
                                        <p:attrNameLst>
                                          <p:attrName>style.visibility</p:attrName>
                                        </p:attrNameLst>
                                      </p:cBhvr>
                                      <p:to>
                                        <p:strVal val="visible"/>
                                      </p:to>
                                    </p:set>
                                    <p:anim calcmode="lin" valueType="num">
                                      <p:cBhvr additive="base">
                                        <p:cTn id="19" dur="500" fill="hold"/>
                                        <p:tgtEl>
                                          <p:spTgt spid="54784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47842">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547842">
                                            <p:txEl>
                                              <p:pRg st="3" end="3"/>
                                            </p:txEl>
                                          </p:spTgt>
                                        </p:tgtEl>
                                        <p:attrNameLst>
                                          <p:attrName>style.visibility</p:attrName>
                                        </p:attrNameLst>
                                      </p:cBhvr>
                                      <p:to>
                                        <p:strVal val="visible"/>
                                      </p:to>
                                    </p:set>
                                    <p:anim calcmode="lin" valueType="num">
                                      <p:cBhvr additive="base">
                                        <p:cTn id="23" dur="500" fill="hold"/>
                                        <p:tgtEl>
                                          <p:spTgt spid="547842">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4784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547842">
                                            <p:txEl>
                                              <p:pRg st="4" end="4"/>
                                            </p:txEl>
                                          </p:spTgt>
                                        </p:tgtEl>
                                        <p:attrNameLst>
                                          <p:attrName>style.visibility</p:attrName>
                                        </p:attrNameLst>
                                      </p:cBhvr>
                                      <p:to>
                                        <p:strVal val="visible"/>
                                      </p:to>
                                    </p:set>
                                    <p:anim calcmode="lin" valueType="num">
                                      <p:cBhvr additive="base">
                                        <p:cTn id="29" dur="500" fill="hold"/>
                                        <p:tgtEl>
                                          <p:spTgt spid="547842">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547842">
                                            <p:txEl>
                                              <p:pRg st="4" end="4"/>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547842">
                                            <p:txEl>
                                              <p:pRg st="5" end="5"/>
                                            </p:txEl>
                                          </p:spTgt>
                                        </p:tgtEl>
                                        <p:attrNameLst>
                                          <p:attrName>style.visibility</p:attrName>
                                        </p:attrNameLst>
                                      </p:cBhvr>
                                      <p:to>
                                        <p:strVal val="visible"/>
                                      </p:to>
                                    </p:set>
                                    <p:anim calcmode="lin" valueType="num">
                                      <p:cBhvr additive="base">
                                        <p:cTn id="33" dur="500" fill="hold"/>
                                        <p:tgtEl>
                                          <p:spTgt spid="547842">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54784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547842">
                                            <p:txEl>
                                              <p:pRg st="6" end="6"/>
                                            </p:txEl>
                                          </p:spTgt>
                                        </p:tgtEl>
                                        <p:attrNameLst>
                                          <p:attrName>style.visibility</p:attrName>
                                        </p:attrNameLst>
                                      </p:cBhvr>
                                      <p:to>
                                        <p:strVal val="visible"/>
                                      </p:to>
                                    </p:set>
                                    <p:anim calcmode="lin" valueType="num">
                                      <p:cBhvr additive="base">
                                        <p:cTn id="39" dur="500" fill="hold"/>
                                        <p:tgtEl>
                                          <p:spTgt spid="547842">
                                            <p:txEl>
                                              <p:pRg st="6" end="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547842">
                                            <p:txEl>
                                              <p:pRg st="6" end="6"/>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547842">
                                            <p:txEl>
                                              <p:pRg st="7" end="7"/>
                                            </p:txEl>
                                          </p:spTgt>
                                        </p:tgtEl>
                                        <p:attrNameLst>
                                          <p:attrName>style.visibility</p:attrName>
                                        </p:attrNameLst>
                                      </p:cBhvr>
                                      <p:to>
                                        <p:strVal val="visible"/>
                                      </p:to>
                                    </p:set>
                                    <p:anim calcmode="lin" valueType="num">
                                      <p:cBhvr additive="base">
                                        <p:cTn id="43" dur="500" fill="hold"/>
                                        <p:tgtEl>
                                          <p:spTgt spid="547842">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47842">
                                            <p:txEl>
                                              <p:pRg st="7" end="7"/>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547842">
                                            <p:txEl>
                                              <p:pRg st="8" end="8"/>
                                            </p:txEl>
                                          </p:spTgt>
                                        </p:tgtEl>
                                        <p:attrNameLst>
                                          <p:attrName>style.visibility</p:attrName>
                                        </p:attrNameLst>
                                      </p:cBhvr>
                                      <p:to>
                                        <p:strVal val="visible"/>
                                      </p:to>
                                    </p:set>
                                    <p:anim calcmode="lin" valueType="num">
                                      <p:cBhvr additive="base">
                                        <p:cTn id="47" dur="500" fill="hold"/>
                                        <p:tgtEl>
                                          <p:spTgt spid="547842">
                                            <p:txEl>
                                              <p:pRg st="8" end="8"/>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547842">
                                            <p:txEl>
                                              <p:pRg st="8" end="8"/>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547842">
                                            <p:txEl>
                                              <p:pRg st="9" end="9"/>
                                            </p:txEl>
                                          </p:spTgt>
                                        </p:tgtEl>
                                        <p:attrNameLst>
                                          <p:attrName>style.visibility</p:attrName>
                                        </p:attrNameLst>
                                      </p:cBhvr>
                                      <p:to>
                                        <p:strVal val="visible"/>
                                      </p:to>
                                    </p:set>
                                    <p:anim calcmode="lin" valueType="num">
                                      <p:cBhvr additive="base">
                                        <p:cTn id="51" dur="500" fill="hold"/>
                                        <p:tgtEl>
                                          <p:spTgt spid="547842">
                                            <p:txEl>
                                              <p:pRg st="9" end="9"/>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547842">
                                            <p:txEl>
                                              <p:pRg st="9" end="9"/>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547842">
                                            <p:txEl>
                                              <p:pRg st="10" end="10"/>
                                            </p:txEl>
                                          </p:spTgt>
                                        </p:tgtEl>
                                        <p:attrNameLst>
                                          <p:attrName>style.visibility</p:attrName>
                                        </p:attrNameLst>
                                      </p:cBhvr>
                                      <p:to>
                                        <p:strVal val="visible"/>
                                      </p:to>
                                    </p:set>
                                    <p:anim calcmode="lin" valueType="num">
                                      <p:cBhvr additive="base">
                                        <p:cTn id="55" dur="500" fill="hold"/>
                                        <p:tgtEl>
                                          <p:spTgt spid="547842">
                                            <p:txEl>
                                              <p:pRg st="10" end="10"/>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547842">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4"/>
          <p:cNvSpPr>
            <a:spLocks noGrp="1" noChangeArrowheads="1"/>
          </p:cNvSpPr>
          <p:nvPr>
            <p:ph type="title"/>
          </p:nvPr>
        </p:nvSpPr>
        <p:spPr>
          <a:xfrm>
            <a:off x="539750" y="260350"/>
            <a:ext cx="8088313" cy="647700"/>
          </a:xfrm>
          <a:noFill/>
        </p:spPr>
        <p:txBody>
          <a:bodyPr lIns="92075" tIns="46038" rIns="92075" bIns="46038"/>
          <a:lstStyle/>
          <a:p>
            <a:pPr eaLnBrk="1" hangingPunct="1"/>
            <a:r>
              <a:rPr lang="en-US" altLang="zh-CN">
                <a:solidFill>
                  <a:schemeClr val="tx1"/>
                </a:solidFill>
                <a:latin typeface="黑体" pitchFamily="2" charset="-122"/>
                <a:ea typeface="黑体" pitchFamily="2" charset="-122"/>
              </a:rPr>
              <a:t>4.4  </a:t>
            </a:r>
            <a:r>
              <a:rPr lang="zh-CN" altLang="en-US">
                <a:solidFill>
                  <a:schemeClr val="tx1"/>
                </a:solidFill>
                <a:latin typeface="黑体" pitchFamily="2" charset="-122"/>
                <a:ea typeface="黑体" pitchFamily="2" charset="-122"/>
              </a:rPr>
              <a:t>字符串处理技术基础 </a:t>
            </a:r>
          </a:p>
        </p:txBody>
      </p:sp>
      <p:sp>
        <p:nvSpPr>
          <p:cNvPr id="545794" name="Rectangle 2"/>
          <p:cNvSpPr>
            <a:spLocks noGrp="1" noChangeArrowheads="1"/>
          </p:cNvSpPr>
          <p:nvPr>
            <p:ph idx="1"/>
          </p:nvPr>
        </p:nvSpPr>
        <p:spPr>
          <a:xfrm>
            <a:off x="395288" y="908050"/>
            <a:ext cx="8367712" cy="3744913"/>
          </a:xfrm>
        </p:spPr>
        <p:txBody>
          <a:bodyPr>
            <a:normAutofit/>
          </a:bodyPr>
          <a:lstStyle/>
          <a:p>
            <a:pPr marL="1262063" indent="-1262063" algn="just"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latin typeface="宋体" pitchFamily="2" charset="-122"/>
              </a:rPr>
              <a:t>定义： </a:t>
            </a:r>
            <a:r>
              <a:rPr lang="en-US" altLang="zh-CN" b="1" dirty="0">
                <a:effectLst>
                  <a:outerShdw blurRad="38100" dist="38100" dir="2700000" algn="tl">
                    <a:srgbClr val="C0C0C0"/>
                  </a:outerShdw>
                </a:effectLst>
                <a:latin typeface="宋体" pitchFamily="2" charset="-122"/>
              </a:rPr>
              <a:t>char </a:t>
            </a:r>
            <a:r>
              <a:rPr lang="zh-CN" altLang="en-US" b="1" dirty="0">
                <a:effectLst>
                  <a:outerShdw blurRad="38100" dist="38100" dir="2700000" algn="tl">
                    <a:srgbClr val="C0C0C0"/>
                  </a:outerShdw>
                </a:effectLst>
                <a:latin typeface="宋体" pitchFamily="2" charset="-122"/>
              </a:rPr>
              <a:t>字符数组名</a:t>
            </a:r>
            <a:r>
              <a:rPr lang="en-US" altLang="zh-CN" b="1" dirty="0">
                <a:effectLst>
                  <a:outerShdw blurRad="38100" dist="38100" dir="2700000" algn="tl">
                    <a:srgbClr val="C0C0C0"/>
                  </a:outerShdw>
                </a:effectLst>
                <a:latin typeface="宋体" pitchFamily="2" charset="-122"/>
              </a:rPr>
              <a:t>[</a:t>
            </a:r>
            <a:r>
              <a:rPr lang="zh-CN" altLang="en-US" b="1" dirty="0">
                <a:effectLst>
                  <a:outerShdw blurRad="38100" dist="38100" dir="2700000" algn="tl">
                    <a:srgbClr val="C0C0C0"/>
                  </a:outerShdw>
                </a:effectLst>
                <a:latin typeface="宋体" pitchFamily="2" charset="-122"/>
              </a:rPr>
              <a:t>元素个数</a:t>
            </a:r>
            <a:r>
              <a:rPr lang="en-US" altLang="zh-CN" b="1" dirty="0">
                <a:effectLst>
                  <a:outerShdw blurRad="38100" dist="38100" dir="2700000" algn="tl">
                    <a:srgbClr val="C0C0C0"/>
                  </a:outerShdw>
                </a:effectLst>
                <a:latin typeface="宋体" pitchFamily="2" charset="-122"/>
              </a:rPr>
              <a:t>];</a:t>
            </a:r>
          </a:p>
          <a:p>
            <a:pPr marL="1262063" indent="-1262063" algn="just"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latin typeface="宋体" pitchFamily="2" charset="-122"/>
              </a:rPr>
              <a:t>例如： </a:t>
            </a:r>
            <a:r>
              <a:rPr lang="en-US" altLang="zh-CN" b="1" dirty="0">
                <a:effectLst>
                  <a:outerShdw blurRad="38100" dist="38100" dir="2700000" algn="tl">
                    <a:srgbClr val="C0C0C0"/>
                  </a:outerShdw>
                </a:effectLst>
                <a:latin typeface="宋体" pitchFamily="2" charset="-122"/>
              </a:rPr>
              <a:t>char s[5];</a:t>
            </a:r>
          </a:p>
          <a:p>
            <a:pPr marL="1262063" indent="-1262063"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latin typeface="宋体" pitchFamily="2" charset="-122"/>
              </a:rPr>
              <a:t>表示： 数组</a:t>
            </a:r>
            <a:r>
              <a:rPr lang="en-US" altLang="zh-CN" b="1" dirty="0">
                <a:effectLst>
                  <a:outerShdw blurRad="38100" dist="38100" dir="2700000" algn="tl">
                    <a:srgbClr val="C0C0C0"/>
                  </a:outerShdw>
                </a:effectLst>
                <a:latin typeface="宋体" pitchFamily="2" charset="-122"/>
              </a:rPr>
              <a:t>s</a:t>
            </a:r>
            <a:r>
              <a:rPr lang="zh-CN" altLang="en-US" b="1" dirty="0">
                <a:effectLst>
                  <a:outerShdw blurRad="38100" dist="38100" dir="2700000" algn="tl">
                    <a:srgbClr val="C0C0C0"/>
                  </a:outerShdw>
                </a:effectLst>
                <a:latin typeface="宋体" pitchFamily="2" charset="-122"/>
              </a:rPr>
              <a:t>有</a:t>
            </a:r>
            <a:r>
              <a:rPr lang="en-US" altLang="zh-CN" b="1" dirty="0">
                <a:effectLst>
                  <a:outerShdw blurRad="38100" dist="38100" dir="2700000" algn="tl">
                    <a:srgbClr val="C0C0C0"/>
                  </a:outerShdw>
                </a:effectLst>
                <a:latin typeface="宋体" pitchFamily="2" charset="-122"/>
              </a:rPr>
              <a:t>5</a:t>
            </a:r>
            <a:r>
              <a:rPr lang="zh-CN" altLang="en-US" b="1" dirty="0">
                <a:effectLst>
                  <a:outerShdw blurRad="38100" dist="38100" dir="2700000" algn="tl">
                    <a:srgbClr val="C0C0C0"/>
                  </a:outerShdw>
                </a:effectLst>
                <a:latin typeface="宋体" pitchFamily="2" charset="-122"/>
              </a:rPr>
              <a:t>个元素，每个元素能存放一个字符，整个数组最多可存放</a:t>
            </a:r>
            <a:r>
              <a:rPr lang="en-US" altLang="zh-CN" b="1" dirty="0">
                <a:effectLst>
                  <a:outerShdw blurRad="38100" dist="38100" dir="2700000" algn="tl">
                    <a:srgbClr val="C0C0C0"/>
                  </a:outerShdw>
                </a:effectLst>
                <a:latin typeface="宋体" pitchFamily="2" charset="-122"/>
              </a:rPr>
              <a:t>5</a:t>
            </a:r>
            <a:r>
              <a:rPr lang="zh-CN" altLang="en-US" b="1" dirty="0">
                <a:effectLst>
                  <a:outerShdw blurRad="38100" dist="38100" dir="2700000" algn="tl">
                    <a:srgbClr val="C0C0C0"/>
                  </a:outerShdw>
                </a:effectLst>
                <a:latin typeface="宋体" pitchFamily="2" charset="-122"/>
              </a:rPr>
              <a:t>个字符。</a:t>
            </a:r>
          </a:p>
          <a:p>
            <a:pPr marL="1262063" indent="-1262063"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latin typeface="宋体" pitchFamily="2" charset="-122"/>
              </a:rPr>
              <a:t>如：   </a:t>
            </a:r>
            <a:r>
              <a:rPr lang="en-US" altLang="zh-CN" b="1" dirty="0">
                <a:effectLst>
                  <a:outerShdw blurRad="38100" dist="38100" dir="2700000" algn="tl">
                    <a:srgbClr val="C0C0C0"/>
                  </a:outerShdw>
                </a:effectLst>
              </a:rPr>
              <a:t>s[0]='C'; s[1]='h'; s[2]='</a:t>
            </a:r>
            <a:r>
              <a:rPr lang="en-US" altLang="zh-CN" b="1" dirty="0" err="1">
                <a:effectLst>
                  <a:outerShdw blurRad="38100" dist="38100" dir="2700000" algn="tl">
                    <a:srgbClr val="C0C0C0"/>
                  </a:outerShdw>
                </a:effectLst>
              </a:rPr>
              <a:t>i</a:t>
            </a:r>
            <a:r>
              <a:rPr lang="en-US" altLang="zh-CN" b="1" dirty="0">
                <a:effectLst>
                  <a:outerShdw blurRad="38100" dist="38100" dir="2700000" algn="tl">
                    <a:srgbClr val="C0C0C0"/>
                  </a:outerShdw>
                </a:effectLst>
              </a:rPr>
              <a:t>'; s[3]='n'; s[4]='a';</a:t>
            </a:r>
          </a:p>
          <a:p>
            <a:pPr marL="1262063" indent="-1262063" algn="just"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latin typeface="宋体" pitchFamily="2" charset="-122"/>
              </a:rPr>
              <a:t>初始化： </a:t>
            </a:r>
          </a:p>
          <a:p>
            <a:pPr marL="1262063" indent="-1262063" algn="just"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ea typeface="楷体_GB2312" pitchFamily="49" charset="-122"/>
              </a:rPr>
              <a:t>char s[5] = {'</a:t>
            </a:r>
            <a:r>
              <a:rPr lang="en-US" altLang="zh-CN" b="1" dirty="0" err="1">
                <a:effectLst>
                  <a:outerShdw blurRad="38100" dist="38100" dir="2700000" algn="tl">
                    <a:srgbClr val="C0C0C0"/>
                  </a:outerShdw>
                </a:effectLst>
                <a:ea typeface="楷体_GB2312" pitchFamily="49" charset="-122"/>
              </a:rPr>
              <a:t>C','h','i','n','a</a:t>
            </a:r>
            <a:r>
              <a:rPr lang="en-US" altLang="zh-CN" b="1" dirty="0">
                <a:effectLst>
                  <a:outerShdw blurRad="38100" dist="38100" dir="2700000" algn="tl">
                    <a:srgbClr val="C0C0C0"/>
                  </a:outerShdw>
                </a:effectLst>
                <a:ea typeface="楷体_GB2312" pitchFamily="49" charset="-122"/>
              </a:rPr>
              <a:t>'};</a:t>
            </a:r>
          </a:p>
        </p:txBody>
      </p:sp>
      <p:sp>
        <p:nvSpPr>
          <p:cNvPr id="46" name="灯片编号占位符 5"/>
          <p:cNvSpPr>
            <a:spLocks noGrp="1"/>
          </p:cNvSpPr>
          <p:nvPr>
            <p:ph type="sldNum" sz="quarter" idx="12"/>
          </p:nvPr>
        </p:nvSpPr>
        <p:spPr>
          <a:xfrm>
            <a:off x="7924800" y="5800179"/>
            <a:ext cx="762000" cy="365125"/>
          </a:xfrm>
        </p:spPr>
        <p:txBody>
          <a:bodyPr/>
          <a:lstStyle/>
          <a:p>
            <a:pPr>
              <a:defRPr/>
            </a:pPr>
            <a:fld id="{78A07B4B-945B-49AD-BAD0-FDC8745FE044}" type="slidenum">
              <a:rPr lang="en-US" altLang="zh-CN"/>
              <a:pPr>
                <a:defRPr/>
              </a:pPr>
              <a:t>87</a:t>
            </a:fld>
            <a:endParaRPr lang="en-US" altLang="zh-CN"/>
          </a:p>
        </p:txBody>
      </p:sp>
      <p:sp>
        <p:nvSpPr>
          <p:cNvPr id="83973" name="Line 3"/>
          <p:cNvSpPr>
            <a:spLocks noChangeShapeType="1"/>
          </p:cNvSpPr>
          <p:nvPr/>
        </p:nvSpPr>
        <p:spPr bwMode="auto">
          <a:xfrm>
            <a:off x="457200" y="4701629"/>
            <a:ext cx="4191000" cy="0"/>
          </a:xfrm>
          <a:prstGeom prst="line">
            <a:avLst/>
          </a:prstGeom>
          <a:noFill/>
          <a:ln w="9525">
            <a:noFill/>
            <a:round/>
            <a:headEnd/>
            <a:tailEnd/>
          </a:ln>
        </p:spPr>
        <p:txBody>
          <a:bodyPr wrap="none" lIns="92075" tIns="46038" rIns="92075" bIns="46038" anchor="ctr"/>
          <a:lstStyle/>
          <a:p>
            <a:endParaRPr lang="zh-CN" altLang="en-US"/>
          </a:p>
        </p:txBody>
      </p:sp>
      <p:graphicFrame>
        <p:nvGraphicFramePr>
          <p:cNvPr id="545797" name="Group 5"/>
          <p:cNvGraphicFramePr>
            <a:graphicFrameLocks noGrp="1"/>
          </p:cNvGraphicFramePr>
          <p:nvPr/>
        </p:nvGraphicFramePr>
        <p:xfrm>
          <a:off x="5148263" y="3933825"/>
          <a:ext cx="2293937" cy="476250"/>
        </p:xfrm>
        <a:graphic>
          <a:graphicData uri="http://schemas.openxmlformats.org/drawingml/2006/table">
            <a:tbl>
              <a:tblPr/>
              <a:tblGrid>
                <a:gridCol w="458787">
                  <a:extLst>
                    <a:ext uri="{9D8B030D-6E8A-4147-A177-3AD203B41FA5}">
                      <a16:colId xmlns:a16="http://schemas.microsoft.com/office/drawing/2014/main" val="20000"/>
                    </a:ext>
                  </a:extLst>
                </a:gridCol>
                <a:gridCol w="460375">
                  <a:extLst>
                    <a:ext uri="{9D8B030D-6E8A-4147-A177-3AD203B41FA5}">
                      <a16:colId xmlns:a16="http://schemas.microsoft.com/office/drawing/2014/main" val="20001"/>
                    </a:ext>
                  </a:extLst>
                </a:gridCol>
                <a:gridCol w="458788">
                  <a:extLst>
                    <a:ext uri="{9D8B030D-6E8A-4147-A177-3AD203B41FA5}">
                      <a16:colId xmlns:a16="http://schemas.microsoft.com/office/drawing/2014/main" val="20002"/>
                    </a:ext>
                  </a:extLst>
                </a:gridCol>
                <a:gridCol w="458787">
                  <a:extLst>
                    <a:ext uri="{9D8B030D-6E8A-4147-A177-3AD203B41FA5}">
                      <a16:colId xmlns:a16="http://schemas.microsoft.com/office/drawing/2014/main" val="20003"/>
                    </a:ext>
                  </a:extLst>
                </a:gridCol>
                <a:gridCol w="457200">
                  <a:extLst>
                    <a:ext uri="{9D8B030D-6E8A-4147-A177-3AD203B41FA5}">
                      <a16:colId xmlns:a16="http://schemas.microsoft.com/office/drawing/2014/main" val="20004"/>
                    </a:ext>
                  </a:extLst>
                </a:gridCol>
              </a:tblGrid>
              <a:tr h="476250">
                <a:tc>
                  <a:txBody>
                    <a:bodyPr/>
                    <a:lstStyle/>
                    <a:p>
                      <a:pPr marL="0" marR="0" lvl="0" indent="0" algn="ctr" defTabSz="914400" rtl="0" eaLnBrk="1" fontAlgn="base" latinLnBrk="0" hangingPunct="1">
                        <a:lnSpc>
                          <a:spcPct val="105000"/>
                        </a:lnSpc>
                        <a:spcBef>
                          <a:spcPct val="15000"/>
                        </a:spcBef>
                        <a:spcAft>
                          <a:spcPct val="0"/>
                        </a:spcAft>
                        <a:buClr>
                          <a:srgbClr val="0066FF"/>
                        </a:buClr>
                        <a:buSzPct val="85000"/>
                        <a:buFont typeface="Wingdings" pitchFamily="2" charset="2"/>
                        <a:buNone/>
                        <a:tabLst/>
                      </a:pPr>
                      <a:r>
                        <a:rPr kumimoji="1" lang="en-US" altLang="zh-CN" sz="2400" b="0" i="0" u="none" strike="noStrike" cap="none" normalizeH="0" baseline="0">
                          <a:ln>
                            <a:noFill/>
                          </a:ln>
                          <a:solidFill>
                            <a:schemeClr val="tx1"/>
                          </a:solidFill>
                          <a:effectLst/>
                          <a:latin typeface="Arial" charset="0"/>
                          <a:ea typeface="黑体" pitchFamily="2" charset="-122"/>
                        </a:rPr>
                        <a:t>C</a:t>
                      </a:r>
                    </a:p>
                  </a:txBody>
                  <a:tcPr marL="92075" marR="92075" marT="46050" marB="4605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15000"/>
                        </a:spcBef>
                        <a:spcAft>
                          <a:spcPct val="0"/>
                        </a:spcAft>
                        <a:buClr>
                          <a:srgbClr val="0066FF"/>
                        </a:buClr>
                        <a:buSzPct val="85000"/>
                        <a:buFont typeface="Wingdings" pitchFamily="2" charset="2"/>
                        <a:buNone/>
                        <a:tabLst/>
                      </a:pPr>
                      <a:r>
                        <a:rPr kumimoji="1" lang="en-US" altLang="zh-CN" sz="2400" b="0" i="0" u="none" strike="noStrike" cap="none" normalizeH="0" baseline="0">
                          <a:ln>
                            <a:noFill/>
                          </a:ln>
                          <a:solidFill>
                            <a:schemeClr val="tx1"/>
                          </a:solidFill>
                          <a:effectLst/>
                          <a:latin typeface="Arial" charset="0"/>
                          <a:ea typeface="黑体" pitchFamily="2" charset="-122"/>
                        </a:rPr>
                        <a:t>h</a:t>
                      </a:r>
                    </a:p>
                  </a:txBody>
                  <a:tcPr marL="92075" marR="92075" marT="46050" marB="46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15000"/>
                        </a:spcBef>
                        <a:spcAft>
                          <a:spcPct val="0"/>
                        </a:spcAft>
                        <a:buClr>
                          <a:srgbClr val="0066FF"/>
                        </a:buClr>
                        <a:buSzPct val="85000"/>
                        <a:buFont typeface="Wingdings" pitchFamily="2" charset="2"/>
                        <a:buNone/>
                        <a:tabLst/>
                      </a:pPr>
                      <a:r>
                        <a:rPr kumimoji="1" lang="en-US" altLang="zh-CN" sz="2400" b="0" i="0" u="none" strike="noStrike" cap="none" normalizeH="0" baseline="0">
                          <a:ln>
                            <a:noFill/>
                          </a:ln>
                          <a:solidFill>
                            <a:schemeClr val="tx1"/>
                          </a:solidFill>
                          <a:effectLst/>
                          <a:latin typeface="Arial" charset="0"/>
                          <a:ea typeface="黑体" pitchFamily="2" charset="-122"/>
                        </a:rPr>
                        <a:t>i</a:t>
                      </a:r>
                    </a:p>
                  </a:txBody>
                  <a:tcPr marL="92075" marR="92075" marT="46050" marB="46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15000"/>
                        </a:spcBef>
                        <a:spcAft>
                          <a:spcPct val="0"/>
                        </a:spcAft>
                        <a:buClr>
                          <a:srgbClr val="0066FF"/>
                        </a:buClr>
                        <a:buSzPct val="85000"/>
                        <a:buFont typeface="Wingdings" pitchFamily="2" charset="2"/>
                        <a:buNone/>
                        <a:tabLst/>
                      </a:pPr>
                      <a:r>
                        <a:rPr kumimoji="1" lang="en-US" altLang="zh-CN" sz="2400" b="0" i="0" u="none" strike="noStrike" cap="none" normalizeH="0" baseline="0">
                          <a:ln>
                            <a:noFill/>
                          </a:ln>
                          <a:solidFill>
                            <a:schemeClr val="tx1"/>
                          </a:solidFill>
                          <a:effectLst/>
                          <a:latin typeface="Arial" charset="0"/>
                          <a:ea typeface="黑体" pitchFamily="2" charset="-122"/>
                        </a:rPr>
                        <a:t>n</a:t>
                      </a:r>
                    </a:p>
                  </a:txBody>
                  <a:tcPr marL="92075" marR="92075" marT="46050" marB="46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15000"/>
                        </a:spcBef>
                        <a:spcAft>
                          <a:spcPct val="0"/>
                        </a:spcAft>
                        <a:buClr>
                          <a:srgbClr val="0066FF"/>
                        </a:buClr>
                        <a:buSzPct val="85000"/>
                        <a:buFont typeface="Wingdings" pitchFamily="2" charset="2"/>
                        <a:buNone/>
                        <a:tabLst/>
                      </a:pPr>
                      <a:r>
                        <a:rPr kumimoji="1" lang="en-US" altLang="zh-CN" sz="2400" b="0" i="0" u="none" strike="noStrike" cap="none" normalizeH="0" baseline="0">
                          <a:ln>
                            <a:noFill/>
                          </a:ln>
                          <a:solidFill>
                            <a:schemeClr val="tx1"/>
                          </a:solidFill>
                          <a:effectLst/>
                          <a:latin typeface="Arial" charset="0"/>
                          <a:ea typeface="黑体" pitchFamily="2" charset="-122"/>
                        </a:rPr>
                        <a:t>a</a:t>
                      </a:r>
                    </a:p>
                  </a:txBody>
                  <a:tcPr marL="92075" marR="92075" marT="46050" marB="4605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545832" name="Rectangle 40"/>
          <p:cNvSpPr>
            <a:spLocks noChangeArrowheads="1"/>
          </p:cNvSpPr>
          <p:nvPr/>
        </p:nvSpPr>
        <p:spPr bwMode="auto">
          <a:xfrm>
            <a:off x="395288" y="5033417"/>
            <a:ext cx="4608512" cy="519112"/>
          </a:xfrm>
          <a:prstGeom prst="rect">
            <a:avLst/>
          </a:prstGeom>
          <a:noFill/>
          <a:ln w="9525">
            <a:noFill/>
            <a:miter lim="800000"/>
            <a:headEnd/>
            <a:tailEnd/>
          </a:ln>
          <a:effectLst/>
        </p:spPr>
        <p:txBody>
          <a:bodyPr lIns="92075" tIns="46038" rIns="92075" bIns="46038">
            <a:spAutoFit/>
          </a:bodyPr>
          <a:lstStyle/>
          <a:p>
            <a:pPr algn="l" eaLnBrk="1" hangingPunct="1">
              <a:spcBef>
                <a:spcPct val="50000"/>
              </a:spcBef>
              <a:buClr>
                <a:schemeClr val="hlink"/>
              </a:buClr>
              <a:buSzPct val="50000"/>
              <a:buFont typeface="Monotype Sorts" pitchFamily="2" charset="2"/>
              <a:buNone/>
              <a:defRPr/>
            </a:pPr>
            <a:r>
              <a:rPr kumimoji="1" lang="en-US" altLang="zh-CN" dirty="0">
                <a:effectLst>
                  <a:outerShdw blurRad="38100" dist="38100" dir="2700000" algn="tl">
                    <a:srgbClr val="C0C0C0"/>
                  </a:outerShdw>
                </a:effectLst>
                <a:latin typeface="Arial" charset="0"/>
                <a:ea typeface="楷体_GB2312" pitchFamily="49" charset="-122"/>
              </a:rPr>
              <a:t>char s[4] = {'</a:t>
            </a:r>
            <a:r>
              <a:rPr kumimoji="1" lang="en-US" altLang="zh-CN" dirty="0" err="1">
                <a:effectLst>
                  <a:outerShdw blurRad="38100" dist="38100" dir="2700000" algn="tl">
                    <a:srgbClr val="C0C0C0"/>
                  </a:outerShdw>
                </a:effectLst>
                <a:latin typeface="Arial" charset="0"/>
                <a:ea typeface="楷体_GB2312" pitchFamily="49" charset="-122"/>
              </a:rPr>
              <a:t>C','h','i','n','a</a:t>
            </a:r>
            <a:r>
              <a:rPr kumimoji="1" lang="en-US" altLang="zh-CN" dirty="0">
                <a:effectLst>
                  <a:outerShdw blurRad="38100" dist="38100" dir="2700000" algn="tl">
                    <a:srgbClr val="C0C0C0"/>
                  </a:outerShdw>
                </a:effectLst>
                <a:latin typeface="Arial" charset="0"/>
                <a:ea typeface="楷体_GB2312" pitchFamily="49" charset="-122"/>
              </a:rPr>
              <a:t>'};</a:t>
            </a:r>
            <a:endParaRPr kumimoji="1" lang="en-US" altLang="zh-CN" sz="2400" dirty="0">
              <a:effectLst>
                <a:outerShdw blurRad="38100" dist="38100" dir="2700000" algn="tl">
                  <a:srgbClr val="C0C0C0"/>
                </a:outerShdw>
              </a:effectLst>
              <a:latin typeface="宋体" pitchFamily="2" charset="-122"/>
              <a:ea typeface="宋体" pitchFamily="2" charset="-122"/>
            </a:endParaRPr>
          </a:p>
        </p:txBody>
      </p:sp>
      <p:sp>
        <p:nvSpPr>
          <p:cNvPr id="545833" name="Rectangle 41"/>
          <p:cNvSpPr>
            <a:spLocks noChangeArrowheads="1"/>
          </p:cNvSpPr>
          <p:nvPr/>
        </p:nvSpPr>
        <p:spPr bwMode="auto">
          <a:xfrm>
            <a:off x="5076825" y="5033417"/>
            <a:ext cx="1295400" cy="519112"/>
          </a:xfrm>
          <a:prstGeom prst="rect">
            <a:avLst/>
          </a:prstGeom>
          <a:noFill/>
          <a:ln w="9525">
            <a:noFill/>
            <a:miter lim="800000"/>
            <a:headEnd/>
            <a:tailEnd/>
          </a:ln>
          <a:effectLst/>
        </p:spPr>
        <p:txBody>
          <a:bodyPr lIns="92075" tIns="46038" rIns="92075" bIns="46038">
            <a:spAutoFit/>
          </a:bodyPr>
          <a:lstStyle/>
          <a:p>
            <a:pPr algn="l" eaLnBrk="1" hangingPunct="1">
              <a:spcBef>
                <a:spcPct val="50000"/>
              </a:spcBef>
              <a:buClr>
                <a:schemeClr val="hlink"/>
              </a:buClr>
              <a:buSzPct val="50000"/>
              <a:buFont typeface="Monotype Sorts" pitchFamily="2" charset="2"/>
              <a:buNone/>
              <a:defRPr/>
            </a:pPr>
            <a:r>
              <a:rPr kumimoji="1" lang="en-US" altLang="zh-CN" dirty="0">
                <a:solidFill>
                  <a:srgbClr val="FF3300"/>
                </a:solidFill>
                <a:effectLst>
                  <a:outerShdw blurRad="38100" dist="38100" dir="2700000" algn="tl">
                    <a:srgbClr val="C0C0C0"/>
                  </a:outerShdw>
                </a:effectLst>
                <a:latin typeface="宋体" pitchFamily="2" charset="-122"/>
                <a:ea typeface="宋体" pitchFamily="2" charset="-122"/>
              </a:rPr>
              <a:t>//</a:t>
            </a:r>
            <a:r>
              <a:rPr kumimoji="1" lang="zh-CN" altLang="en-US" dirty="0">
                <a:solidFill>
                  <a:srgbClr val="FF3300"/>
                </a:solidFill>
                <a:effectLst>
                  <a:outerShdw blurRad="38100" dist="38100" dir="2700000" algn="tl">
                    <a:srgbClr val="C0C0C0"/>
                  </a:outerShdw>
                </a:effectLst>
                <a:latin typeface="宋体" pitchFamily="2" charset="-122"/>
                <a:ea typeface="宋体" pitchFamily="2" charset="-122"/>
              </a:rPr>
              <a:t>错误！</a:t>
            </a:r>
          </a:p>
        </p:txBody>
      </p:sp>
      <p:sp>
        <p:nvSpPr>
          <p:cNvPr id="545835" name="AutoShape 43"/>
          <p:cNvSpPr>
            <a:spLocks noChangeArrowheads="1"/>
          </p:cNvSpPr>
          <p:nvPr/>
        </p:nvSpPr>
        <p:spPr bwMode="auto">
          <a:xfrm>
            <a:off x="2627313" y="5609679"/>
            <a:ext cx="3816350" cy="431800"/>
          </a:xfrm>
          <a:prstGeom prst="wedgeRoundRectCallout">
            <a:avLst>
              <a:gd name="adj1" fmla="val -73421"/>
              <a:gd name="adj2" fmla="val -94486"/>
              <a:gd name="adj3" fmla="val 16667"/>
            </a:avLst>
          </a:prstGeom>
          <a:solidFill>
            <a:schemeClr val="accent2"/>
          </a:solidFill>
          <a:ln w="9525">
            <a:solidFill>
              <a:schemeClr val="folHlink"/>
            </a:solidFill>
            <a:miter lim="800000"/>
            <a:headEnd/>
            <a:tailEnd/>
          </a:ln>
        </p:spPr>
        <p:txBody>
          <a:bodyPr lIns="92075" tIns="46038" rIns="92075" bIns="46038"/>
          <a:lstStyle/>
          <a:p>
            <a:pPr eaLnBrk="1" hangingPunct="1">
              <a:lnSpc>
                <a:spcPct val="85000"/>
              </a:lnSpc>
              <a:buClr>
                <a:schemeClr val="hlink"/>
              </a:buClr>
              <a:buSzPct val="50000"/>
              <a:buFont typeface="Monotype Sorts" pitchFamily="2" charset="2"/>
              <a:buNone/>
            </a:pPr>
            <a:r>
              <a:rPr kumimoji="1" lang="zh-CN" altLang="en-US" sz="2400">
                <a:solidFill>
                  <a:schemeClr val="bg1"/>
                </a:solidFill>
                <a:latin typeface="Arial" charset="0"/>
                <a:ea typeface="楷体_GB2312" pitchFamily="49" charset="-122"/>
              </a:rPr>
              <a:t>数组元素个数太少</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2" fill="hold" nodeType="afterEffect">
                                  <p:stCondLst>
                                    <p:cond delay="0"/>
                                  </p:stCondLst>
                                  <p:childTnLst>
                                    <p:set>
                                      <p:cBhvr>
                                        <p:cTn id="6" dur="1" fill="hold">
                                          <p:stCondLst>
                                            <p:cond delay="0"/>
                                          </p:stCondLst>
                                        </p:cTn>
                                        <p:tgtEl>
                                          <p:spTgt spid="545797"/>
                                        </p:tgtEl>
                                        <p:attrNameLst>
                                          <p:attrName>style.visibility</p:attrName>
                                        </p:attrNameLst>
                                      </p:cBhvr>
                                      <p:to>
                                        <p:strVal val="visible"/>
                                      </p:to>
                                    </p:set>
                                    <p:animEffect transition="in" filter="wipe(right)">
                                      <p:cBhvr>
                                        <p:cTn id="7" dur="500"/>
                                        <p:tgtEl>
                                          <p:spTgt spid="54579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45832"/>
                                        </p:tgtEl>
                                        <p:attrNameLst>
                                          <p:attrName>style.visibility</p:attrName>
                                        </p:attrNameLst>
                                      </p:cBhvr>
                                      <p:to>
                                        <p:strVal val="visible"/>
                                      </p:to>
                                    </p:set>
                                    <p:animEffect transition="in" filter="wipe(down)">
                                      <p:cBhvr>
                                        <p:cTn id="12" dur="500"/>
                                        <p:tgtEl>
                                          <p:spTgt spid="545832"/>
                                        </p:tgtEl>
                                      </p:cBhvr>
                                    </p:animEffect>
                                  </p:childTnLst>
                                </p:cTn>
                              </p:par>
                            </p:childTnLst>
                          </p:cTn>
                        </p:par>
                        <p:par>
                          <p:cTn id="13" fill="hold" nodeType="afterGroup">
                            <p:stCondLst>
                              <p:cond delay="500"/>
                            </p:stCondLst>
                            <p:childTnLst>
                              <p:par>
                                <p:cTn id="14" presetID="22" presetClass="entr" presetSubtype="4" fill="hold" grpId="0" nodeType="afterEffect">
                                  <p:stCondLst>
                                    <p:cond delay="0"/>
                                  </p:stCondLst>
                                  <p:childTnLst>
                                    <p:set>
                                      <p:cBhvr>
                                        <p:cTn id="15" dur="1" fill="hold">
                                          <p:stCondLst>
                                            <p:cond delay="0"/>
                                          </p:stCondLst>
                                        </p:cTn>
                                        <p:tgtEl>
                                          <p:spTgt spid="545833"/>
                                        </p:tgtEl>
                                        <p:attrNameLst>
                                          <p:attrName>style.visibility</p:attrName>
                                        </p:attrNameLst>
                                      </p:cBhvr>
                                      <p:to>
                                        <p:strVal val="visible"/>
                                      </p:to>
                                    </p:set>
                                    <p:animEffect transition="in" filter="wipe(down)">
                                      <p:cBhvr>
                                        <p:cTn id="16" dur="500"/>
                                        <p:tgtEl>
                                          <p:spTgt spid="545833"/>
                                        </p:tgtEl>
                                      </p:cBhvr>
                                    </p:animEffect>
                                  </p:childTnLst>
                                </p:cTn>
                              </p:par>
                            </p:childTnLst>
                          </p:cTn>
                        </p:par>
                        <p:par>
                          <p:cTn id="17" fill="hold" nodeType="afterGroup">
                            <p:stCondLst>
                              <p:cond delay="1000"/>
                            </p:stCondLst>
                            <p:childTnLst>
                              <p:par>
                                <p:cTn id="18" presetID="22" presetClass="entr" presetSubtype="4" fill="hold" grpId="0" nodeType="afterEffect">
                                  <p:stCondLst>
                                    <p:cond delay="0"/>
                                  </p:stCondLst>
                                  <p:childTnLst>
                                    <p:set>
                                      <p:cBhvr>
                                        <p:cTn id="19" dur="1" fill="hold">
                                          <p:stCondLst>
                                            <p:cond delay="0"/>
                                          </p:stCondLst>
                                        </p:cTn>
                                        <p:tgtEl>
                                          <p:spTgt spid="545835"/>
                                        </p:tgtEl>
                                        <p:attrNameLst>
                                          <p:attrName>style.visibility</p:attrName>
                                        </p:attrNameLst>
                                      </p:cBhvr>
                                      <p:to>
                                        <p:strVal val="visible"/>
                                      </p:to>
                                    </p:set>
                                    <p:animEffect transition="in" filter="wipe(down)">
                                      <p:cBhvr>
                                        <p:cTn id="20" dur="500"/>
                                        <p:tgtEl>
                                          <p:spTgt spid="5458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5832" grpId="0" autoUpdateAnimBg="0"/>
      <p:bldP spid="545833" grpId="0" autoUpdateAnimBg="0"/>
      <p:bldP spid="545835" grpId="0" animBg="1" autoUpdateAnimBg="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4"/>
          <p:cNvSpPr>
            <a:spLocks noGrp="1" noChangeArrowheads="1"/>
          </p:cNvSpPr>
          <p:nvPr>
            <p:ph type="title"/>
          </p:nvPr>
        </p:nvSpPr>
        <p:spPr>
          <a:xfrm>
            <a:off x="411163" y="217488"/>
            <a:ext cx="8448675" cy="647700"/>
          </a:xfrm>
          <a:noFill/>
        </p:spPr>
        <p:txBody>
          <a:bodyPr lIns="92075" tIns="46038" rIns="92075" bIns="46038"/>
          <a:lstStyle/>
          <a:p>
            <a:pPr eaLnBrk="1" hangingPunct="1"/>
            <a:r>
              <a:rPr lang="zh-CN" altLang="en-US"/>
              <a:t>字符串的</a:t>
            </a:r>
            <a:r>
              <a:rPr lang="zh-CN" altLang="en-US">
                <a:solidFill>
                  <a:srgbClr val="0000FF"/>
                </a:solidFill>
              </a:rPr>
              <a:t>初始化</a:t>
            </a:r>
          </a:p>
        </p:txBody>
      </p:sp>
      <p:sp>
        <p:nvSpPr>
          <p:cNvPr id="401410" name="Rectangle 2"/>
          <p:cNvSpPr>
            <a:spLocks noGrp="1" noChangeArrowheads="1"/>
          </p:cNvSpPr>
          <p:nvPr>
            <p:ph idx="1"/>
          </p:nvPr>
        </p:nvSpPr>
        <p:spPr>
          <a:xfrm>
            <a:off x="395288" y="908050"/>
            <a:ext cx="8367712" cy="1081088"/>
          </a:xfrm>
        </p:spPr>
        <p:txBody>
          <a:bodyPr>
            <a:normAutofit/>
          </a:bodyPr>
          <a:lstStyle/>
          <a:p>
            <a:pPr marL="0" indent="0" algn="just"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ea typeface="楷体_GB2312" pitchFamily="49" charset="-122"/>
              </a:rPr>
              <a:t>char s1[ ]={ '</a:t>
            </a:r>
            <a:r>
              <a:rPr lang="en-US" altLang="zh-CN" b="1" dirty="0" err="1">
                <a:effectLst>
                  <a:outerShdw blurRad="38100" dist="38100" dir="2700000" algn="tl">
                    <a:srgbClr val="C0C0C0"/>
                  </a:outerShdw>
                </a:effectLst>
                <a:ea typeface="楷体_GB2312" pitchFamily="49" charset="-122"/>
              </a:rPr>
              <a:t>s','t','u','d','e','n','t</a:t>
            </a:r>
            <a:r>
              <a:rPr lang="en-US" altLang="zh-CN" b="1" dirty="0">
                <a:effectLst>
                  <a:outerShdw blurRad="38100" dist="38100" dir="2700000" algn="tl">
                    <a:srgbClr val="C0C0C0"/>
                  </a:outerShdw>
                </a:effectLst>
                <a:ea typeface="楷体_GB2312" pitchFamily="49" charset="-122"/>
              </a:rPr>
              <a:t>' };//</a:t>
            </a:r>
            <a:r>
              <a:rPr lang="en-US" altLang="zh-CN" b="1" dirty="0" err="1">
                <a:effectLst>
                  <a:outerShdw blurRad="38100" dist="38100" dir="2700000" algn="tl">
                    <a:srgbClr val="C0C0C0"/>
                  </a:outerShdw>
                </a:effectLst>
                <a:ea typeface="楷体_GB2312" pitchFamily="49" charset="-122"/>
              </a:rPr>
              <a:t>普通字符数组</a:t>
            </a:r>
            <a:endParaRPr lang="en-US" altLang="zh-CN" b="1" dirty="0">
              <a:effectLst>
                <a:outerShdw blurRad="38100" dist="38100" dir="2700000" algn="tl">
                  <a:srgbClr val="C0C0C0"/>
                </a:outerShdw>
              </a:effectLst>
              <a:ea typeface="楷体_GB2312" pitchFamily="49" charset="-122"/>
            </a:endParaRPr>
          </a:p>
          <a:p>
            <a:pPr marL="0" indent="0" algn="just"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ea typeface="楷体_GB2312" pitchFamily="49" charset="-122"/>
              </a:rPr>
              <a:t>S1</a:t>
            </a:r>
            <a:r>
              <a:rPr lang="zh-CN" altLang="en-US" b="1" dirty="0">
                <a:effectLst>
                  <a:outerShdw blurRad="38100" dist="38100" dir="2700000" algn="tl">
                    <a:srgbClr val="C0C0C0"/>
                  </a:outerShdw>
                </a:effectLst>
                <a:ea typeface="楷体_GB2312" pitchFamily="49" charset="-122"/>
              </a:rPr>
              <a:t>只有</a:t>
            </a:r>
            <a:r>
              <a:rPr lang="en-US" altLang="zh-CN" b="1" dirty="0">
                <a:effectLst>
                  <a:outerShdw blurRad="38100" dist="38100" dir="2700000" algn="tl">
                    <a:srgbClr val="C0C0C0"/>
                  </a:outerShdw>
                </a:effectLst>
                <a:ea typeface="楷体_GB2312" pitchFamily="49" charset="-122"/>
              </a:rPr>
              <a:t>7</a:t>
            </a:r>
            <a:r>
              <a:rPr lang="zh-CN" altLang="en-US" b="1" dirty="0">
                <a:effectLst>
                  <a:outerShdw blurRad="38100" dist="38100" dir="2700000" algn="tl">
                    <a:srgbClr val="C0C0C0"/>
                  </a:outerShdw>
                </a:effectLst>
                <a:ea typeface="楷体_GB2312" pitchFamily="49" charset="-122"/>
              </a:rPr>
              <a:t>个元素：</a:t>
            </a:r>
          </a:p>
        </p:txBody>
      </p:sp>
      <p:sp>
        <p:nvSpPr>
          <p:cNvPr id="48" name="灯片编号占位符 5"/>
          <p:cNvSpPr>
            <a:spLocks noGrp="1"/>
          </p:cNvSpPr>
          <p:nvPr>
            <p:ph type="sldNum" sz="quarter" idx="12"/>
          </p:nvPr>
        </p:nvSpPr>
        <p:spPr/>
        <p:txBody>
          <a:bodyPr/>
          <a:lstStyle/>
          <a:p>
            <a:pPr>
              <a:defRPr/>
            </a:pPr>
            <a:fld id="{FA114B68-3759-4019-9A49-06CB38FBCAEA}" type="slidenum">
              <a:rPr lang="en-US" altLang="zh-CN"/>
              <a:pPr>
                <a:defRPr/>
              </a:pPr>
              <a:t>88</a:t>
            </a:fld>
            <a:endParaRPr lang="en-US" altLang="zh-CN"/>
          </a:p>
        </p:txBody>
      </p:sp>
      <p:sp>
        <p:nvSpPr>
          <p:cNvPr id="84997" name="Line 3"/>
          <p:cNvSpPr>
            <a:spLocks noChangeShapeType="1"/>
          </p:cNvSpPr>
          <p:nvPr/>
        </p:nvSpPr>
        <p:spPr bwMode="auto">
          <a:xfrm>
            <a:off x="457200" y="5257800"/>
            <a:ext cx="4191000" cy="0"/>
          </a:xfrm>
          <a:prstGeom prst="line">
            <a:avLst/>
          </a:prstGeom>
          <a:noFill/>
          <a:ln w="9525">
            <a:noFill/>
            <a:round/>
            <a:headEnd/>
            <a:tailEnd/>
          </a:ln>
        </p:spPr>
        <p:txBody>
          <a:bodyPr wrap="none" lIns="92075" tIns="46038" rIns="92075" bIns="46038" anchor="ctr"/>
          <a:lstStyle/>
          <a:p>
            <a:endParaRPr lang="zh-CN" altLang="en-US"/>
          </a:p>
        </p:txBody>
      </p:sp>
      <p:graphicFrame>
        <p:nvGraphicFramePr>
          <p:cNvPr id="401454" name="Group 46"/>
          <p:cNvGraphicFramePr>
            <a:graphicFrameLocks noGrp="1"/>
          </p:cNvGraphicFramePr>
          <p:nvPr/>
        </p:nvGraphicFramePr>
        <p:xfrm>
          <a:off x="3995738" y="4292600"/>
          <a:ext cx="3671887" cy="476250"/>
        </p:xfrm>
        <a:graphic>
          <a:graphicData uri="http://schemas.openxmlformats.org/drawingml/2006/table">
            <a:tbl>
              <a:tblPr/>
              <a:tblGrid>
                <a:gridCol w="458787">
                  <a:extLst>
                    <a:ext uri="{9D8B030D-6E8A-4147-A177-3AD203B41FA5}">
                      <a16:colId xmlns:a16="http://schemas.microsoft.com/office/drawing/2014/main" val="20000"/>
                    </a:ext>
                  </a:extLst>
                </a:gridCol>
                <a:gridCol w="460375">
                  <a:extLst>
                    <a:ext uri="{9D8B030D-6E8A-4147-A177-3AD203B41FA5}">
                      <a16:colId xmlns:a16="http://schemas.microsoft.com/office/drawing/2014/main" val="20001"/>
                    </a:ext>
                  </a:extLst>
                </a:gridCol>
                <a:gridCol w="458788">
                  <a:extLst>
                    <a:ext uri="{9D8B030D-6E8A-4147-A177-3AD203B41FA5}">
                      <a16:colId xmlns:a16="http://schemas.microsoft.com/office/drawing/2014/main" val="20002"/>
                    </a:ext>
                  </a:extLst>
                </a:gridCol>
                <a:gridCol w="458787">
                  <a:extLst>
                    <a:ext uri="{9D8B030D-6E8A-4147-A177-3AD203B41FA5}">
                      <a16:colId xmlns:a16="http://schemas.microsoft.com/office/drawing/2014/main" val="20003"/>
                    </a:ext>
                  </a:extLst>
                </a:gridCol>
                <a:gridCol w="457200">
                  <a:extLst>
                    <a:ext uri="{9D8B030D-6E8A-4147-A177-3AD203B41FA5}">
                      <a16:colId xmlns:a16="http://schemas.microsoft.com/office/drawing/2014/main" val="20004"/>
                    </a:ext>
                  </a:extLst>
                </a:gridCol>
                <a:gridCol w="460375">
                  <a:extLst>
                    <a:ext uri="{9D8B030D-6E8A-4147-A177-3AD203B41FA5}">
                      <a16:colId xmlns:a16="http://schemas.microsoft.com/office/drawing/2014/main" val="20005"/>
                    </a:ext>
                  </a:extLst>
                </a:gridCol>
                <a:gridCol w="458788">
                  <a:extLst>
                    <a:ext uri="{9D8B030D-6E8A-4147-A177-3AD203B41FA5}">
                      <a16:colId xmlns:a16="http://schemas.microsoft.com/office/drawing/2014/main" val="20006"/>
                    </a:ext>
                  </a:extLst>
                </a:gridCol>
                <a:gridCol w="458787">
                  <a:extLst>
                    <a:ext uri="{9D8B030D-6E8A-4147-A177-3AD203B41FA5}">
                      <a16:colId xmlns:a16="http://schemas.microsoft.com/office/drawing/2014/main" val="20007"/>
                    </a:ext>
                  </a:extLst>
                </a:gridCol>
              </a:tblGrid>
              <a:tr h="476250">
                <a:tc>
                  <a:txBody>
                    <a:bodyPr/>
                    <a:lstStyle/>
                    <a:p>
                      <a:pPr marL="0" marR="0" lvl="0" indent="0" algn="ctr" defTabSz="914400" rtl="0" eaLnBrk="1" fontAlgn="base" latinLnBrk="0" hangingPunct="1">
                        <a:lnSpc>
                          <a:spcPct val="105000"/>
                        </a:lnSpc>
                        <a:spcBef>
                          <a:spcPct val="15000"/>
                        </a:spcBef>
                        <a:spcAft>
                          <a:spcPct val="0"/>
                        </a:spcAft>
                        <a:buClr>
                          <a:srgbClr val="0066FF"/>
                        </a:buClr>
                        <a:buSzPct val="85000"/>
                        <a:buFont typeface="Wingdings" pitchFamily="2" charset="2"/>
                        <a:buNone/>
                        <a:tabLst/>
                      </a:pPr>
                      <a:r>
                        <a:rPr kumimoji="1" lang="en-US" altLang="zh-CN" sz="2400" b="0" i="0" u="none" strike="noStrike" cap="none" normalizeH="0" baseline="0">
                          <a:ln>
                            <a:noFill/>
                          </a:ln>
                          <a:solidFill>
                            <a:schemeClr val="tx1"/>
                          </a:solidFill>
                          <a:effectLst/>
                          <a:latin typeface="Arial" charset="0"/>
                          <a:ea typeface="黑体" pitchFamily="2" charset="-122"/>
                        </a:rPr>
                        <a:t>s</a:t>
                      </a:r>
                    </a:p>
                  </a:txBody>
                  <a:tcPr marL="92075" marR="92075" marT="46050" marB="4605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15000"/>
                        </a:spcBef>
                        <a:spcAft>
                          <a:spcPct val="0"/>
                        </a:spcAft>
                        <a:buClr>
                          <a:srgbClr val="0066FF"/>
                        </a:buClr>
                        <a:buSzPct val="85000"/>
                        <a:buFont typeface="Wingdings" pitchFamily="2" charset="2"/>
                        <a:buNone/>
                        <a:tabLst/>
                      </a:pPr>
                      <a:r>
                        <a:rPr kumimoji="1" lang="en-US" altLang="zh-CN" sz="2400" b="0" i="0" u="none" strike="noStrike" cap="none" normalizeH="0" baseline="0">
                          <a:ln>
                            <a:noFill/>
                          </a:ln>
                          <a:solidFill>
                            <a:schemeClr val="tx1"/>
                          </a:solidFill>
                          <a:effectLst/>
                          <a:latin typeface="Arial" charset="0"/>
                          <a:ea typeface="黑体" pitchFamily="2" charset="-122"/>
                        </a:rPr>
                        <a:t>t</a:t>
                      </a:r>
                    </a:p>
                  </a:txBody>
                  <a:tcPr marL="92075" marR="92075" marT="46050" marB="46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15000"/>
                        </a:spcBef>
                        <a:spcAft>
                          <a:spcPct val="0"/>
                        </a:spcAft>
                        <a:buClr>
                          <a:srgbClr val="0066FF"/>
                        </a:buClr>
                        <a:buSzPct val="85000"/>
                        <a:buFont typeface="Wingdings" pitchFamily="2" charset="2"/>
                        <a:buNone/>
                        <a:tabLst/>
                      </a:pPr>
                      <a:r>
                        <a:rPr kumimoji="1" lang="en-US" altLang="zh-CN" sz="2400" b="0" i="0" u="none" strike="noStrike" cap="none" normalizeH="0" baseline="0">
                          <a:ln>
                            <a:noFill/>
                          </a:ln>
                          <a:solidFill>
                            <a:schemeClr val="tx1"/>
                          </a:solidFill>
                          <a:effectLst/>
                          <a:latin typeface="Arial" charset="0"/>
                          <a:ea typeface="黑体" pitchFamily="2" charset="-122"/>
                        </a:rPr>
                        <a:t>u</a:t>
                      </a:r>
                    </a:p>
                  </a:txBody>
                  <a:tcPr marL="92075" marR="92075" marT="46050" marB="46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15000"/>
                        </a:spcBef>
                        <a:spcAft>
                          <a:spcPct val="0"/>
                        </a:spcAft>
                        <a:buClr>
                          <a:srgbClr val="0066FF"/>
                        </a:buClr>
                        <a:buSzPct val="85000"/>
                        <a:buFont typeface="Wingdings" pitchFamily="2" charset="2"/>
                        <a:buNone/>
                        <a:tabLst/>
                      </a:pPr>
                      <a:r>
                        <a:rPr kumimoji="1" lang="en-US" altLang="zh-CN" sz="2400" b="0" i="0" u="none" strike="noStrike" cap="none" normalizeH="0" baseline="0">
                          <a:ln>
                            <a:noFill/>
                          </a:ln>
                          <a:solidFill>
                            <a:schemeClr val="tx1"/>
                          </a:solidFill>
                          <a:effectLst/>
                          <a:latin typeface="Arial" charset="0"/>
                          <a:ea typeface="黑体" pitchFamily="2" charset="-122"/>
                        </a:rPr>
                        <a:t>d</a:t>
                      </a:r>
                    </a:p>
                  </a:txBody>
                  <a:tcPr marL="92075" marR="92075" marT="46050" marB="46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15000"/>
                        </a:spcBef>
                        <a:spcAft>
                          <a:spcPct val="0"/>
                        </a:spcAft>
                        <a:buClr>
                          <a:srgbClr val="0066FF"/>
                        </a:buClr>
                        <a:buSzPct val="85000"/>
                        <a:buFont typeface="Wingdings" pitchFamily="2" charset="2"/>
                        <a:buNone/>
                        <a:tabLst/>
                      </a:pPr>
                      <a:r>
                        <a:rPr kumimoji="1" lang="en-US" altLang="zh-CN" sz="2400" b="0" i="0" u="none" strike="noStrike" cap="none" normalizeH="0" baseline="0">
                          <a:ln>
                            <a:noFill/>
                          </a:ln>
                          <a:solidFill>
                            <a:schemeClr val="tx1"/>
                          </a:solidFill>
                          <a:effectLst/>
                          <a:latin typeface="Arial" charset="0"/>
                          <a:ea typeface="黑体" pitchFamily="2" charset="-122"/>
                        </a:rPr>
                        <a:t>e</a:t>
                      </a:r>
                    </a:p>
                  </a:txBody>
                  <a:tcPr marL="92075" marR="92075" marT="46050" marB="46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15000"/>
                        </a:spcBef>
                        <a:spcAft>
                          <a:spcPct val="0"/>
                        </a:spcAft>
                        <a:buClr>
                          <a:srgbClr val="0066FF"/>
                        </a:buClr>
                        <a:buSzPct val="85000"/>
                        <a:buFont typeface="Wingdings" pitchFamily="2" charset="2"/>
                        <a:buNone/>
                        <a:tabLst/>
                      </a:pPr>
                      <a:r>
                        <a:rPr kumimoji="1" lang="en-US" altLang="zh-CN" sz="2400" b="0" i="0" u="none" strike="noStrike" cap="none" normalizeH="0" baseline="0">
                          <a:ln>
                            <a:noFill/>
                          </a:ln>
                          <a:solidFill>
                            <a:schemeClr val="tx1"/>
                          </a:solidFill>
                          <a:effectLst/>
                          <a:latin typeface="Arial" charset="0"/>
                          <a:ea typeface="黑体" pitchFamily="2" charset="-122"/>
                        </a:rPr>
                        <a:t>n</a:t>
                      </a:r>
                    </a:p>
                  </a:txBody>
                  <a:tcPr marL="92075" marR="92075" marT="46050" marB="46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15000"/>
                        </a:spcBef>
                        <a:spcAft>
                          <a:spcPct val="0"/>
                        </a:spcAft>
                        <a:buClr>
                          <a:srgbClr val="0066FF"/>
                        </a:buClr>
                        <a:buSzPct val="85000"/>
                        <a:buFont typeface="Wingdings" pitchFamily="2" charset="2"/>
                        <a:buNone/>
                        <a:tabLst/>
                      </a:pPr>
                      <a:r>
                        <a:rPr kumimoji="1" lang="en-US" altLang="zh-CN" sz="2400" b="0" i="0" u="none" strike="noStrike" cap="none" normalizeH="0" baseline="0">
                          <a:ln>
                            <a:noFill/>
                          </a:ln>
                          <a:solidFill>
                            <a:schemeClr val="tx1"/>
                          </a:solidFill>
                          <a:effectLst/>
                          <a:latin typeface="Arial" charset="0"/>
                          <a:ea typeface="黑体" pitchFamily="2" charset="-122"/>
                        </a:rPr>
                        <a:t>t</a:t>
                      </a:r>
                    </a:p>
                  </a:txBody>
                  <a:tcPr marL="92075" marR="92075" marT="46050" marB="46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15000"/>
                        </a:spcBef>
                        <a:spcAft>
                          <a:spcPct val="0"/>
                        </a:spcAft>
                        <a:buClr>
                          <a:srgbClr val="0066FF"/>
                        </a:buClr>
                        <a:buSzPct val="85000"/>
                        <a:buFont typeface="Wingdings" pitchFamily="2" charset="2"/>
                        <a:buNone/>
                        <a:tabLst/>
                      </a:pPr>
                      <a:r>
                        <a:rPr kumimoji="1" lang="en-US" altLang="zh-CN" sz="2400" b="0" i="0" u="none" strike="noStrike" cap="none" normalizeH="0" baseline="0">
                          <a:ln>
                            <a:noFill/>
                          </a:ln>
                          <a:solidFill>
                            <a:schemeClr val="tx1"/>
                          </a:solidFill>
                          <a:effectLst/>
                          <a:latin typeface="Arial" charset="0"/>
                          <a:ea typeface="黑体" pitchFamily="2" charset="-122"/>
                        </a:rPr>
                        <a:t>\0</a:t>
                      </a:r>
                    </a:p>
                  </a:txBody>
                  <a:tcPr marL="92075" marR="92075" marT="46050" marB="4605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401455" name="Group 47"/>
          <p:cNvGraphicFramePr>
            <a:graphicFrameLocks noGrp="1"/>
          </p:cNvGraphicFramePr>
          <p:nvPr/>
        </p:nvGraphicFramePr>
        <p:xfrm>
          <a:off x="3419475" y="1484313"/>
          <a:ext cx="3213100" cy="476250"/>
        </p:xfrm>
        <a:graphic>
          <a:graphicData uri="http://schemas.openxmlformats.org/drawingml/2006/table">
            <a:tbl>
              <a:tblPr/>
              <a:tblGrid>
                <a:gridCol w="458788">
                  <a:extLst>
                    <a:ext uri="{9D8B030D-6E8A-4147-A177-3AD203B41FA5}">
                      <a16:colId xmlns:a16="http://schemas.microsoft.com/office/drawing/2014/main" val="20000"/>
                    </a:ext>
                  </a:extLst>
                </a:gridCol>
                <a:gridCol w="460375">
                  <a:extLst>
                    <a:ext uri="{9D8B030D-6E8A-4147-A177-3AD203B41FA5}">
                      <a16:colId xmlns:a16="http://schemas.microsoft.com/office/drawing/2014/main" val="20001"/>
                    </a:ext>
                  </a:extLst>
                </a:gridCol>
                <a:gridCol w="458787">
                  <a:extLst>
                    <a:ext uri="{9D8B030D-6E8A-4147-A177-3AD203B41FA5}">
                      <a16:colId xmlns:a16="http://schemas.microsoft.com/office/drawing/2014/main" val="20002"/>
                    </a:ext>
                  </a:extLst>
                </a:gridCol>
                <a:gridCol w="458788">
                  <a:extLst>
                    <a:ext uri="{9D8B030D-6E8A-4147-A177-3AD203B41FA5}">
                      <a16:colId xmlns:a16="http://schemas.microsoft.com/office/drawing/2014/main" val="20003"/>
                    </a:ext>
                  </a:extLst>
                </a:gridCol>
                <a:gridCol w="457200">
                  <a:extLst>
                    <a:ext uri="{9D8B030D-6E8A-4147-A177-3AD203B41FA5}">
                      <a16:colId xmlns:a16="http://schemas.microsoft.com/office/drawing/2014/main" val="20004"/>
                    </a:ext>
                  </a:extLst>
                </a:gridCol>
                <a:gridCol w="460375">
                  <a:extLst>
                    <a:ext uri="{9D8B030D-6E8A-4147-A177-3AD203B41FA5}">
                      <a16:colId xmlns:a16="http://schemas.microsoft.com/office/drawing/2014/main" val="20005"/>
                    </a:ext>
                  </a:extLst>
                </a:gridCol>
                <a:gridCol w="458787">
                  <a:extLst>
                    <a:ext uri="{9D8B030D-6E8A-4147-A177-3AD203B41FA5}">
                      <a16:colId xmlns:a16="http://schemas.microsoft.com/office/drawing/2014/main" val="20006"/>
                    </a:ext>
                  </a:extLst>
                </a:gridCol>
              </a:tblGrid>
              <a:tr h="476250">
                <a:tc>
                  <a:txBody>
                    <a:bodyPr/>
                    <a:lstStyle/>
                    <a:p>
                      <a:pPr marL="0" marR="0" lvl="0" indent="0" algn="ctr" defTabSz="914400" rtl="0" eaLnBrk="1" fontAlgn="base" latinLnBrk="0" hangingPunct="1">
                        <a:lnSpc>
                          <a:spcPct val="105000"/>
                        </a:lnSpc>
                        <a:spcBef>
                          <a:spcPct val="15000"/>
                        </a:spcBef>
                        <a:spcAft>
                          <a:spcPct val="0"/>
                        </a:spcAft>
                        <a:buClr>
                          <a:srgbClr val="0066FF"/>
                        </a:buClr>
                        <a:buSzPct val="85000"/>
                        <a:buFont typeface="Wingdings" pitchFamily="2" charset="2"/>
                        <a:buNone/>
                        <a:tabLst/>
                      </a:pPr>
                      <a:r>
                        <a:rPr kumimoji="1" lang="en-US" altLang="zh-CN" sz="2400" b="0" i="0" u="none" strike="noStrike" cap="none" normalizeH="0" baseline="0">
                          <a:ln>
                            <a:noFill/>
                          </a:ln>
                          <a:solidFill>
                            <a:schemeClr val="tx1"/>
                          </a:solidFill>
                          <a:effectLst/>
                          <a:latin typeface="Arial" charset="0"/>
                          <a:ea typeface="黑体" pitchFamily="2" charset="-122"/>
                        </a:rPr>
                        <a:t>s</a:t>
                      </a:r>
                    </a:p>
                  </a:txBody>
                  <a:tcPr marL="92075" marR="92075" marT="46050" marB="4605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15000"/>
                        </a:spcBef>
                        <a:spcAft>
                          <a:spcPct val="0"/>
                        </a:spcAft>
                        <a:buClr>
                          <a:srgbClr val="0066FF"/>
                        </a:buClr>
                        <a:buSzPct val="85000"/>
                        <a:buFont typeface="Wingdings" pitchFamily="2" charset="2"/>
                        <a:buNone/>
                        <a:tabLst/>
                      </a:pPr>
                      <a:r>
                        <a:rPr kumimoji="1" lang="en-US" altLang="zh-CN" sz="2400" b="0" i="0" u="none" strike="noStrike" cap="none" normalizeH="0" baseline="0">
                          <a:ln>
                            <a:noFill/>
                          </a:ln>
                          <a:solidFill>
                            <a:schemeClr val="tx1"/>
                          </a:solidFill>
                          <a:effectLst/>
                          <a:latin typeface="Arial" charset="0"/>
                          <a:ea typeface="黑体" pitchFamily="2" charset="-122"/>
                        </a:rPr>
                        <a:t>t</a:t>
                      </a:r>
                    </a:p>
                  </a:txBody>
                  <a:tcPr marL="92075" marR="92075" marT="46050" marB="46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15000"/>
                        </a:spcBef>
                        <a:spcAft>
                          <a:spcPct val="0"/>
                        </a:spcAft>
                        <a:buClr>
                          <a:srgbClr val="0066FF"/>
                        </a:buClr>
                        <a:buSzPct val="85000"/>
                        <a:buFont typeface="Wingdings" pitchFamily="2" charset="2"/>
                        <a:buNone/>
                        <a:tabLst/>
                      </a:pPr>
                      <a:r>
                        <a:rPr kumimoji="1" lang="en-US" altLang="zh-CN" sz="2400" b="0" i="0" u="none" strike="noStrike" cap="none" normalizeH="0" baseline="0">
                          <a:ln>
                            <a:noFill/>
                          </a:ln>
                          <a:solidFill>
                            <a:schemeClr val="tx1"/>
                          </a:solidFill>
                          <a:effectLst/>
                          <a:latin typeface="Arial" charset="0"/>
                          <a:ea typeface="黑体" pitchFamily="2" charset="-122"/>
                        </a:rPr>
                        <a:t>u</a:t>
                      </a:r>
                    </a:p>
                  </a:txBody>
                  <a:tcPr marL="92075" marR="92075" marT="46050" marB="46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15000"/>
                        </a:spcBef>
                        <a:spcAft>
                          <a:spcPct val="0"/>
                        </a:spcAft>
                        <a:buClr>
                          <a:srgbClr val="0066FF"/>
                        </a:buClr>
                        <a:buSzPct val="85000"/>
                        <a:buFont typeface="Wingdings" pitchFamily="2" charset="2"/>
                        <a:buNone/>
                        <a:tabLst/>
                      </a:pPr>
                      <a:r>
                        <a:rPr kumimoji="1" lang="en-US" altLang="zh-CN" sz="2400" b="0" i="0" u="none" strike="noStrike" cap="none" normalizeH="0" baseline="0">
                          <a:ln>
                            <a:noFill/>
                          </a:ln>
                          <a:solidFill>
                            <a:schemeClr val="tx1"/>
                          </a:solidFill>
                          <a:effectLst/>
                          <a:latin typeface="Arial" charset="0"/>
                          <a:ea typeface="黑体" pitchFamily="2" charset="-122"/>
                        </a:rPr>
                        <a:t>d</a:t>
                      </a:r>
                    </a:p>
                  </a:txBody>
                  <a:tcPr marL="92075" marR="92075" marT="46050" marB="46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15000"/>
                        </a:spcBef>
                        <a:spcAft>
                          <a:spcPct val="0"/>
                        </a:spcAft>
                        <a:buClr>
                          <a:srgbClr val="0066FF"/>
                        </a:buClr>
                        <a:buSzPct val="85000"/>
                        <a:buFont typeface="Wingdings" pitchFamily="2" charset="2"/>
                        <a:buNone/>
                        <a:tabLst/>
                      </a:pPr>
                      <a:r>
                        <a:rPr kumimoji="1" lang="en-US" altLang="zh-CN" sz="2400" b="0" i="0" u="none" strike="noStrike" cap="none" normalizeH="0" baseline="0">
                          <a:ln>
                            <a:noFill/>
                          </a:ln>
                          <a:solidFill>
                            <a:schemeClr val="tx1"/>
                          </a:solidFill>
                          <a:effectLst/>
                          <a:latin typeface="Arial" charset="0"/>
                          <a:ea typeface="黑体" pitchFamily="2" charset="-122"/>
                        </a:rPr>
                        <a:t>e</a:t>
                      </a:r>
                    </a:p>
                  </a:txBody>
                  <a:tcPr marL="92075" marR="92075" marT="46050" marB="46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15000"/>
                        </a:spcBef>
                        <a:spcAft>
                          <a:spcPct val="0"/>
                        </a:spcAft>
                        <a:buClr>
                          <a:srgbClr val="0066FF"/>
                        </a:buClr>
                        <a:buSzPct val="85000"/>
                        <a:buFont typeface="Wingdings" pitchFamily="2" charset="2"/>
                        <a:buNone/>
                        <a:tabLst/>
                      </a:pPr>
                      <a:r>
                        <a:rPr kumimoji="1" lang="en-US" altLang="zh-CN" sz="2400" b="0" i="0" u="none" strike="noStrike" cap="none" normalizeH="0" baseline="0">
                          <a:ln>
                            <a:noFill/>
                          </a:ln>
                          <a:solidFill>
                            <a:schemeClr val="tx1"/>
                          </a:solidFill>
                          <a:effectLst/>
                          <a:latin typeface="Arial" charset="0"/>
                          <a:ea typeface="黑体" pitchFamily="2" charset="-122"/>
                        </a:rPr>
                        <a:t>n</a:t>
                      </a:r>
                    </a:p>
                  </a:txBody>
                  <a:tcPr marL="92075" marR="92075" marT="46050" marB="460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15000"/>
                        </a:spcBef>
                        <a:spcAft>
                          <a:spcPct val="0"/>
                        </a:spcAft>
                        <a:buClr>
                          <a:srgbClr val="0066FF"/>
                        </a:buClr>
                        <a:buSzPct val="85000"/>
                        <a:buFont typeface="Wingdings" pitchFamily="2" charset="2"/>
                        <a:buNone/>
                        <a:tabLst/>
                      </a:pPr>
                      <a:r>
                        <a:rPr kumimoji="1" lang="en-US" altLang="zh-CN" sz="2400" b="0" i="0" u="none" strike="noStrike" cap="none" normalizeH="0" baseline="0">
                          <a:ln>
                            <a:noFill/>
                          </a:ln>
                          <a:solidFill>
                            <a:schemeClr val="tx1"/>
                          </a:solidFill>
                          <a:effectLst/>
                          <a:latin typeface="Arial" charset="0"/>
                          <a:ea typeface="黑体" pitchFamily="2" charset="-122"/>
                        </a:rPr>
                        <a:t>t</a:t>
                      </a:r>
                    </a:p>
                  </a:txBody>
                  <a:tcPr marL="92075" marR="92075" marT="46050" marB="4605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401451" name="AutoShape 43"/>
          <p:cNvSpPr>
            <a:spLocks noChangeArrowheads="1"/>
          </p:cNvSpPr>
          <p:nvPr/>
        </p:nvSpPr>
        <p:spPr bwMode="auto">
          <a:xfrm>
            <a:off x="6804025" y="2924175"/>
            <a:ext cx="1584325" cy="719138"/>
          </a:xfrm>
          <a:prstGeom prst="wedgeRoundRectCallout">
            <a:avLst>
              <a:gd name="adj1" fmla="val -13028"/>
              <a:gd name="adj2" fmla="val 134546"/>
              <a:gd name="adj3" fmla="val 16667"/>
            </a:avLst>
          </a:prstGeom>
          <a:solidFill>
            <a:schemeClr val="accent2"/>
          </a:solidFill>
          <a:ln w="9525">
            <a:solidFill>
              <a:schemeClr val="folHlink"/>
            </a:solidFill>
            <a:miter lim="800000"/>
            <a:headEnd/>
            <a:tailEnd/>
          </a:ln>
        </p:spPr>
        <p:txBody>
          <a:bodyPr lIns="92075" tIns="46038" rIns="92075" bIns="46038"/>
          <a:lstStyle/>
          <a:p>
            <a:pPr eaLnBrk="1" hangingPunct="1">
              <a:lnSpc>
                <a:spcPct val="85000"/>
              </a:lnSpc>
              <a:buClr>
                <a:schemeClr val="hlink"/>
              </a:buClr>
              <a:buSzPct val="50000"/>
              <a:buFont typeface="Monotype Sorts" pitchFamily="2" charset="2"/>
              <a:buNone/>
            </a:pPr>
            <a:r>
              <a:rPr kumimoji="1" lang="zh-CN" altLang="en-US" sz="2400">
                <a:solidFill>
                  <a:schemeClr val="bg1"/>
                </a:solidFill>
                <a:latin typeface="Arial" charset="0"/>
                <a:ea typeface="楷体_GB2312" pitchFamily="49" charset="-122"/>
              </a:rPr>
              <a:t>字符串</a:t>
            </a:r>
            <a:br>
              <a:rPr kumimoji="1" lang="zh-CN" altLang="en-US" sz="2400">
                <a:solidFill>
                  <a:schemeClr val="bg1"/>
                </a:solidFill>
                <a:latin typeface="Arial" charset="0"/>
                <a:ea typeface="楷体_GB2312" pitchFamily="49" charset="-122"/>
              </a:rPr>
            </a:br>
            <a:r>
              <a:rPr kumimoji="1" lang="zh-CN" altLang="en-US" sz="2400">
                <a:solidFill>
                  <a:schemeClr val="bg1"/>
                </a:solidFill>
                <a:latin typeface="Arial" charset="0"/>
                <a:ea typeface="楷体_GB2312" pitchFamily="49" charset="-122"/>
              </a:rPr>
              <a:t>结束标志</a:t>
            </a:r>
          </a:p>
        </p:txBody>
      </p:sp>
      <p:sp>
        <p:nvSpPr>
          <p:cNvPr id="401452" name="Rectangle 44"/>
          <p:cNvSpPr>
            <a:spLocks noChangeArrowheads="1"/>
          </p:cNvSpPr>
          <p:nvPr/>
        </p:nvSpPr>
        <p:spPr bwMode="auto">
          <a:xfrm>
            <a:off x="468313" y="2205038"/>
            <a:ext cx="8207375" cy="2484437"/>
          </a:xfrm>
          <a:prstGeom prst="rect">
            <a:avLst/>
          </a:prstGeom>
          <a:noFill/>
          <a:ln w="9525">
            <a:noFill/>
            <a:miter lim="800000"/>
            <a:headEnd/>
            <a:tailEnd/>
          </a:ln>
          <a:effectLst/>
        </p:spPr>
        <p:txBody>
          <a:bodyPr lIns="92075" tIns="46038" rIns="92075" bIns="46038">
            <a:spAutoFit/>
          </a:bodyPr>
          <a:lstStyle/>
          <a:p>
            <a:pPr algn="l" eaLnBrk="1" hangingPunct="1">
              <a:spcBef>
                <a:spcPct val="20000"/>
              </a:spcBef>
              <a:buClr>
                <a:schemeClr val="hlink"/>
              </a:buClr>
              <a:buSzPct val="50000"/>
              <a:buFont typeface="Monotype Sorts" pitchFamily="2" charset="2"/>
              <a:buNone/>
              <a:defRPr/>
            </a:pPr>
            <a:r>
              <a:rPr kumimoji="1" lang="zh-CN" altLang="en-US" dirty="0">
                <a:effectLst>
                  <a:outerShdw blurRad="38100" dist="38100" dir="2700000" algn="tl">
                    <a:srgbClr val="C0C0C0"/>
                  </a:outerShdw>
                </a:effectLst>
                <a:latin typeface="Arial" charset="0"/>
                <a:ea typeface="楷体_GB2312" pitchFamily="49" charset="-122"/>
              </a:rPr>
              <a:t>用字符串常量对字符数组初始化时，系统会在字符列未尾添加一个字符串结束符。</a:t>
            </a:r>
          </a:p>
          <a:p>
            <a:pPr algn="l" eaLnBrk="1" hangingPunct="1">
              <a:spcBef>
                <a:spcPct val="20000"/>
              </a:spcBef>
              <a:buClr>
                <a:schemeClr val="hlink"/>
              </a:buClr>
              <a:buSzPct val="50000"/>
              <a:buFont typeface="Monotype Sorts" pitchFamily="2" charset="2"/>
              <a:buNone/>
              <a:defRPr/>
            </a:pPr>
            <a:r>
              <a:rPr kumimoji="1" lang="zh-CN" altLang="en-US" dirty="0">
                <a:effectLst>
                  <a:outerShdw blurRad="38100" dist="38100" dir="2700000" algn="tl">
                    <a:srgbClr val="C0C0C0"/>
                  </a:outerShdw>
                </a:effectLst>
                <a:latin typeface="Arial" charset="0"/>
                <a:ea typeface="楷体_GB2312" pitchFamily="49" charset="-122"/>
              </a:rPr>
              <a:t>如</a:t>
            </a:r>
            <a:r>
              <a:rPr kumimoji="1" lang="zh-CN" altLang="en-US" dirty="0">
                <a:latin typeface="Arial" charset="0"/>
                <a:ea typeface="楷体_GB2312" pitchFamily="49" charset="-122"/>
              </a:rPr>
              <a:t>：</a:t>
            </a:r>
            <a:r>
              <a:rPr kumimoji="1" lang="en-US" altLang="zh-CN" dirty="0">
                <a:effectLst>
                  <a:outerShdw blurRad="38100" dist="38100" dir="2700000" algn="tl">
                    <a:srgbClr val="C0C0C0"/>
                  </a:outerShdw>
                </a:effectLst>
                <a:latin typeface="Arial" charset="0"/>
                <a:ea typeface="楷体_GB2312" pitchFamily="49" charset="-122"/>
              </a:rPr>
              <a:t>char s2[ ] = "student";</a:t>
            </a:r>
          </a:p>
          <a:p>
            <a:pPr algn="l" eaLnBrk="1" hangingPunct="1">
              <a:spcBef>
                <a:spcPct val="20000"/>
              </a:spcBef>
              <a:buClr>
                <a:schemeClr val="hlink"/>
              </a:buClr>
              <a:buSzPct val="50000"/>
              <a:buFont typeface="Monotype Sorts" pitchFamily="2" charset="2"/>
              <a:buNone/>
              <a:defRPr/>
            </a:pPr>
            <a:r>
              <a:rPr kumimoji="1" lang="zh-CN" altLang="en-US" dirty="0">
                <a:effectLst>
                  <a:outerShdw blurRad="38100" dist="38100" dir="2700000" algn="tl">
                    <a:srgbClr val="C0C0C0"/>
                  </a:outerShdw>
                </a:effectLst>
                <a:latin typeface="Arial" charset="0"/>
                <a:ea typeface="楷体_GB2312" pitchFamily="49" charset="-122"/>
              </a:rPr>
              <a:t>或    </a:t>
            </a:r>
            <a:r>
              <a:rPr kumimoji="1" lang="en-US" altLang="zh-CN" dirty="0">
                <a:effectLst>
                  <a:outerShdw blurRad="38100" dist="38100" dir="2700000" algn="tl">
                    <a:srgbClr val="C0C0C0"/>
                  </a:outerShdw>
                </a:effectLst>
                <a:latin typeface="Arial" charset="0"/>
                <a:ea typeface="楷体_GB2312" pitchFamily="49" charset="-122"/>
              </a:rPr>
              <a:t>char s2[ ] = { "student" };</a:t>
            </a:r>
            <a:endParaRPr kumimoji="1" lang="en-US" altLang="zh-CN" sz="2000" dirty="0">
              <a:effectLst>
                <a:outerShdw blurRad="38100" dist="38100" dir="2700000" algn="tl">
                  <a:srgbClr val="C0C0C0"/>
                </a:outerShdw>
              </a:effectLst>
              <a:latin typeface="Arial" charset="0"/>
              <a:ea typeface="楷体_GB2312" pitchFamily="49" charset="-122"/>
            </a:endParaRPr>
          </a:p>
          <a:p>
            <a:pPr algn="l" eaLnBrk="1" hangingPunct="1">
              <a:spcBef>
                <a:spcPct val="20000"/>
              </a:spcBef>
              <a:buClr>
                <a:schemeClr val="hlink"/>
              </a:buClr>
              <a:buSzPct val="50000"/>
              <a:buFont typeface="Monotype Sorts" pitchFamily="2" charset="2"/>
              <a:buNone/>
              <a:defRPr/>
            </a:pPr>
            <a:r>
              <a:rPr kumimoji="1" lang="en-US" altLang="zh-CN" dirty="0">
                <a:effectLst>
                  <a:outerShdw blurRad="38100" dist="38100" dir="2700000" algn="tl">
                    <a:srgbClr val="C0C0C0"/>
                  </a:outerShdw>
                </a:effectLst>
                <a:latin typeface="Arial" charset="0"/>
                <a:ea typeface="楷体_GB2312" pitchFamily="49" charset="-122"/>
              </a:rPr>
              <a:t>s2</a:t>
            </a:r>
            <a:r>
              <a:rPr kumimoji="1" lang="zh-CN" altLang="en-US" dirty="0">
                <a:effectLst>
                  <a:outerShdw blurRad="38100" dist="38100" dir="2700000" algn="tl">
                    <a:srgbClr val="C0C0C0"/>
                  </a:outerShdw>
                </a:effectLst>
                <a:latin typeface="Arial" charset="0"/>
                <a:ea typeface="楷体_GB2312" pitchFamily="49" charset="-122"/>
              </a:rPr>
              <a:t>有</a:t>
            </a:r>
            <a:r>
              <a:rPr kumimoji="1" lang="en-US" altLang="zh-CN" dirty="0">
                <a:effectLst>
                  <a:outerShdw blurRad="38100" dist="38100" dir="2700000" algn="tl">
                    <a:srgbClr val="C0C0C0"/>
                  </a:outerShdw>
                </a:effectLst>
                <a:latin typeface="Arial" charset="0"/>
                <a:ea typeface="楷体_GB2312" pitchFamily="49" charset="-122"/>
              </a:rPr>
              <a:t>8</a:t>
            </a:r>
            <a:r>
              <a:rPr kumimoji="1" lang="zh-CN" altLang="en-US" dirty="0">
                <a:effectLst>
                  <a:outerShdw blurRad="38100" dist="38100" dir="2700000" algn="tl">
                    <a:srgbClr val="C0C0C0"/>
                  </a:outerShdw>
                </a:effectLst>
                <a:latin typeface="Arial" charset="0"/>
                <a:ea typeface="楷体_GB2312" pitchFamily="49" charset="-122"/>
              </a:rPr>
              <a:t>个元素：</a:t>
            </a:r>
          </a:p>
        </p:txBody>
      </p:sp>
      <p:sp>
        <p:nvSpPr>
          <p:cNvPr id="401453" name="Rectangle 45"/>
          <p:cNvSpPr>
            <a:spLocks noChangeArrowheads="1"/>
          </p:cNvSpPr>
          <p:nvPr/>
        </p:nvSpPr>
        <p:spPr bwMode="auto">
          <a:xfrm>
            <a:off x="539750" y="4941888"/>
            <a:ext cx="8064500" cy="1040927"/>
          </a:xfrm>
          <a:prstGeom prst="rect">
            <a:avLst/>
          </a:prstGeom>
          <a:noFill/>
          <a:ln w="9525">
            <a:noFill/>
            <a:miter lim="800000"/>
            <a:headEnd/>
            <a:tailEnd/>
          </a:ln>
          <a:effectLst/>
        </p:spPr>
        <p:txBody>
          <a:bodyPr lIns="92075" tIns="46038" rIns="92075" bIns="46038">
            <a:spAutoFit/>
          </a:bodyPr>
          <a:lstStyle/>
          <a:p>
            <a:pPr algn="l" eaLnBrk="1" hangingPunct="1">
              <a:spcBef>
                <a:spcPct val="20000"/>
              </a:spcBef>
              <a:buClr>
                <a:schemeClr val="hlink"/>
              </a:buClr>
              <a:buSzPct val="50000"/>
              <a:buFont typeface="Monotype Sorts" pitchFamily="2" charset="2"/>
              <a:buNone/>
              <a:defRPr/>
            </a:pPr>
            <a:r>
              <a:rPr kumimoji="1" lang="zh-CN" altLang="en-US" dirty="0">
                <a:effectLst>
                  <a:outerShdw blurRad="38100" dist="38100" dir="2700000" algn="tl">
                    <a:srgbClr val="C0C0C0"/>
                  </a:outerShdw>
                </a:effectLst>
                <a:latin typeface="Arial" charset="0"/>
                <a:ea typeface="楷体_GB2312" pitchFamily="49" charset="-122"/>
              </a:rPr>
              <a:t>说明：</a:t>
            </a:r>
            <a:r>
              <a:rPr kumimoji="1" lang="en-US" altLang="zh-CN" dirty="0">
                <a:effectLst>
                  <a:outerShdw blurRad="38100" dist="38100" dir="2700000" algn="tl">
                    <a:srgbClr val="C0C0C0"/>
                  </a:outerShdw>
                </a:effectLst>
                <a:latin typeface="Arial" charset="0"/>
                <a:ea typeface="楷体_GB2312" pitchFamily="49" charset="-122"/>
              </a:rPr>
              <a:t> </a:t>
            </a:r>
            <a:r>
              <a:rPr kumimoji="1" lang="en-US" altLang="zh-CN" dirty="0" err="1">
                <a:effectLst>
                  <a:outerShdw blurRad="38100" dist="38100" dir="2700000" algn="tl">
                    <a:srgbClr val="C0C0C0"/>
                  </a:outerShdw>
                </a:effectLst>
                <a:latin typeface="Arial" charset="0"/>
                <a:ea typeface="楷体_GB2312" pitchFamily="49" charset="-122"/>
              </a:rPr>
              <a:t>printf</a:t>
            </a:r>
            <a:r>
              <a:rPr kumimoji="1" lang="en-US" altLang="zh-CN" dirty="0">
                <a:effectLst>
                  <a:outerShdw blurRad="38100" dist="38100" dir="2700000" algn="tl">
                    <a:srgbClr val="C0C0C0"/>
                  </a:outerShdw>
                </a:effectLst>
                <a:latin typeface="Arial" charset="0"/>
                <a:ea typeface="楷体_GB2312" pitchFamily="49" charset="-122"/>
              </a:rPr>
              <a:t> ( “%s”, s2 ) ;  </a:t>
            </a:r>
            <a:r>
              <a:rPr kumimoji="1" lang="zh-CN" altLang="en-US" dirty="0">
                <a:effectLst>
                  <a:outerShdw blurRad="38100" dist="38100" dir="2700000" algn="tl">
                    <a:srgbClr val="C0C0C0"/>
                  </a:outerShdw>
                </a:effectLst>
                <a:latin typeface="Arial" charset="0"/>
                <a:ea typeface="楷体_GB2312" pitchFamily="49" charset="-122"/>
              </a:rPr>
              <a:t>是正确的。</a:t>
            </a:r>
            <a:endParaRPr kumimoji="1" lang="en-US" altLang="zh-CN" dirty="0">
              <a:effectLst>
                <a:outerShdw blurRad="38100" dist="38100" dir="2700000" algn="tl">
                  <a:srgbClr val="C0C0C0"/>
                </a:outerShdw>
              </a:effectLst>
              <a:latin typeface="Arial" charset="0"/>
              <a:ea typeface="楷体_GB2312" pitchFamily="49" charset="-122"/>
            </a:endParaRPr>
          </a:p>
          <a:p>
            <a:pPr algn="l" eaLnBrk="1" hangingPunct="1">
              <a:spcBef>
                <a:spcPct val="20000"/>
              </a:spcBef>
              <a:buClr>
                <a:schemeClr val="hlink"/>
              </a:buClr>
              <a:buSzPct val="50000"/>
              <a:buFont typeface="Monotype Sorts" pitchFamily="2" charset="2"/>
              <a:buNone/>
              <a:defRPr/>
            </a:pPr>
            <a:r>
              <a:rPr kumimoji="1" lang="zh-CN" altLang="en-US" dirty="0">
                <a:effectLst>
                  <a:outerShdw blurRad="38100" dist="38100" dir="2700000" algn="tl">
                    <a:srgbClr val="C0C0C0"/>
                  </a:outerShdw>
                </a:effectLst>
                <a:latin typeface="Arial" charset="0"/>
                <a:ea typeface="楷体_GB2312" pitchFamily="49" charset="-122"/>
              </a:rPr>
              <a:t> 而       </a:t>
            </a:r>
            <a:r>
              <a:rPr kumimoji="1" lang="en-US" altLang="zh-CN" dirty="0" err="1">
                <a:effectLst>
                  <a:outerShdw blurRad="38100" dist="38100" dir="2700000" algn="tl">
                    <a:srgbClr val="C0C0C0"/>
                  </a:outerShdw>
                </a:effectLst>
                <a:latin typeface="Arial" charset="0"/>
                <a:ea typeface="楷体_GB2312" pitchFamily="49" charset="-122"/>
              </a:rPr>
              <a:t>printf</a:t>
            </a:r>
            <a:r>
              <a:rPr kumimoji="1" lang="en-US" altLang="zh-CN" dirty="0">
                <a:effectLst>
                  <a:outerShdw blurRad="38100" dist="38100" dir="2700000" algn="tl">
                    <a:srgbClr val="C0C0C0"/>
                  </a:outerShdw>
                </a:effectLst>
                <a:latin typeface="Arial" charset="0"/>
                <a:ea typeface="楷体_GB2312" pitchFamily="49" charset="-122"/>
              </a:rPr>
              <a:t> ( “%s”, s1 ) ;  </a:t>
            </a:r>
            <a:r>
              <a:rPr kumimoji="1" lang="zh-CN" altLang="en-US" dirty="0">
                <a:effectLst>
                  <a:outerShdw blurRad="38100" dist="38100" dir="2700000" algn="tl">
                    <a:srgbClr val="C0C0C0"/>
                  </a:outerShdw>
                </a:effectLst>
                <a:latin typeface="Arial" charset="0"/>
                <a:ea typeface="楷体_GB2312" pitchFamily="49" charset="-122"/>
              </a:rPr>
              <a:t>是错误的。</a:t>
            </a:r>
          </a:p>
        </p:txBody>
      </p:sp>
      <p:sp>
        <p:nvSpPr>
          <p:cNvPr id="12" name="TextBox 11"/>
          <p:cNvSpPr txBox="1"/>
          <p:nvPr/>
        </p:nvSpPr>
        <p:spPr>
          <a:xfrm>
            <a:off x="2267744" y="6021289"/>
            <a:ext cx="6192688" cy="492443"/>
          </a:xfrm>
          <a:prstGeom prst="rect">
            <a:avLst/>
          </a:prstGeom>
          <a:noFill/>
        </p:spPr>
        <p:txBody>
          <a:bodyPr wrap="square" rtlCol="0">
            <a:spAutoFit/>
          </a:bodyPr>
          <a:lstStyle/>
          <a:p>
            <a:r>
              <a:rPr lang="en-US" altLang="zh-CN" sz="2600" dirty="0">
                <a:effectLst>
                  <a:outerShdw blurRad="38100" dist="38100" dir="2700000" algn="tl">
                    <a:srgbClr val="C0C0C0"/>
                  </a:outerShdw>
                </a:effectLst>
                <a:latin typeface="+mn-lt"/>
                <a:ea typeface="楷体_GB2312" pitchFamily="49" charset="-122"/>
              </a:rPr>
              <a:t>char s1[10]={</a:t>
            </a:r>
            <a:r>
              <a:rPr lang="en-US" altLang="zh-CN" sz="2400" dirty="0">
                <a:effectLst>
                  <a:outerShdw blurRad="38100" dist="38100" dir="2700000" algn="tl">
                    <a:srgbClr val="C0C0C0"/>
                  </a:outerShdw>
                </a:effectLst>
                <a:ea typeface="楷体_GB2312" pitchFamily="49" charset="-122"/>
              </a:rPr>
              <a:t>'</a:t>
            </a:r>
            <a:r>
              <a:rPr lang="en-US" altLang="zh-CN" sz="2600" dirty="0">
                <a:effectLst>
                  <a:outerShdw blurRad="38100" dist="38100" dir="2700000" algn="tl">
                    <a:srgbClr val="C0C0C0"/>
                  </a:outerShdw>
                </a:effectLst>
                <a:latin typeface="+mn-lt"/>
                <a:ea typeface="楷体_GB2312" pitchFamily="49" charset="-122"/>
              </a:rPr>
              <a:t>s</a:t>
            </a:r>
            <a:r>
              <a:rPr lang="en-US" altLang="zh-CN" sz="2400" dirty="0">
                <a:effectLst>
                  <a:outerShdw blurRad="38100" dist="38100" dir="2700000" algn="tl">
                    <a:srgbClr val="C0C0C0"/>
                  </a:outerShdw>
                </a:effectLst>
                <a:ea typeface="楷体_GB2312" pitchFamily="49" charset="-122"/>
              </a:rPr>
              <a:t>'</a:t>
            </a:r>
            <a:r>
              <a:rPr lang="en-US" altLang="zh-CN" sz="2600" dirty="0">
                <a:effectLst>
                  <a:outerShdw blurRad="38100" dist="38100" dir="2700000" algn="tl">
                    <a:srgbClr val="C0C0C0"/>
                  </a:outerShdw>
                </a:effectLst>
                <a:latin typeface="+mn-lt"/>
                <a:ea typeface="楷体_GB2312" pitchFamily="49" charset="-122"/>
              </a:rPr>
              <a:t>,</a:t>
            </a:r>
            <a:r>
              <a:rPr lang="en-US" altLang="zh-CN" sz="2400" dirty="0">
                <a:effectLst>
                  <a:outerShdw blurRad="38100" dist="38100" dir="2700000" algn="tl">
                    <a:srgbClr val="C0C0C0"/>
                  </a:outerShdw>
                </a:effectLst>
                <a:ea typeface="楷体_GB2312" pitchFamily="49" charset="-122"/>
              </a:rPr>
              <a:t> '</a:t>
            </a:r>
            <a:r>
              <a:rPr lang="en-US" altLang="zh-CN" sz="2600" dirty="0">
                <a:effectLst>
                  <a:outerShdw blurRad="38100" dist="38100" dir="2700000" algn="tl">
                    <a:srgbClr val="C0C0C0"/>
                  </a:outerShdw>
                </a:effectLst>
                <a:latin typeface="+mn-lt"/>
                <a:ea typeface="楷体_GB2312" pitchFamily="49" charset="-122"/>
              </a:rPr>
              <a:t>t</a:t>
            </a:r>
            <a:r>
              <a:rPr lang="en-US" altLang="zh-CN" sz="2400" dirty="0">
                <a:effectLst>
                  <a:outerShdw blurRad="38100" dist="38100" dir="2700000" algn="tl">
                    <a:srgbClr val="C0C0C0"/>
                  </a:outerShdw>
                </a:effectLst>
                <a:ea typeface="楷体_GB2312" pitchFamily="49" charset="-122"/>
              </a:rPr>
              <a:t>', '</a:t>
            </a:r>
            <a:r>
              <a:rPr lang="en-US" altLang="zh-CN" sz="2600" dirty="0">
                <a:effectLst>
                  <a:outerShdw blurRad="38100" dist="38100" dir="2700000" algn="tl">
                    <a:srgbClr val="C0C0C0"/>
                  </a:outerShdw>
                </a:effectLst>
                <a:latin typeface="+mn-lt"/>
                <a:ea typeface="楷体_GB2312" pitchFamily="49" charset="-122"/>
              </a:rPr>
              <a:t>u</a:t>
            </a:r>
            <a:r>
              <a:rPr lang="en-US" altLang="zh-CN" sz="2400" dirty="0">
                <a:effectLst>
                  <a:outerShdw blurRad="38100" dist="38100" dir="2700000" algn="tl">
                    <a:srgbClr val="C0C0C0"/>
                  </a:outerShdw>
                </a:effectLst>
                <a:ea typeface="楷体_GB2312" pitchFamily="49" charset="-122"/>
              </a:rPr>
              <a:t>', '</a:t>
            </a:r>
            <a:r>
              <a:rPr lang="en-US" altLang="zh-CN" sz="2600" dirty="0">
                <a:effectLst>
                  <a:outerShdw blurRad="38100" dist="38100" dir="2700000" algn="tl">
                    <a:srgbClr val="C0C0C0"/>
                  </a:outerShdw>
                </a:effectLst>
                <a:latin typeface="+mn-lt"/>
                <a:ea typeface="楷体_GB2312" pitchFamily="49" charset="-122"/>
              </a:rPr>
              <a:t>d</a:t>
            </a:r>
            <a:r>
              <a:rPr lang="en-US" altLang="zh-CN" sz="2400" dirty="0">
                <a:effectLst>
                  <a:outerShdw blurRad="38100" dist="38100" dir="2700000" algn="tl">
                    <a:srgbClr val="C0C0C0"/>
                  </a:outerShdw>
                </a:effectLst>
                <a:ea typeface="楷体_GB2312" pitchFamily="49" charset="-122"/>
              </a:rPr>
              <a:t>', '</a:t>
            </a:r>
            <a:r>
              <a:rPr lang="en-US" altLang="zh-CN" sz="2600" dirty="0" err="1">
                <a:effectLst>
                  <a:outerShdw blurRad="38100" dist="38100" dir="2700000" algn="tl">
                    <a:srgbClr val="C0C0C0"/>
                  </a:outerShdw>
                </a:effectLst>
                <a:latin typeface="+mn-lt"/>
                <a:ea typeface="楷体_GB2312" pitchFamily="49" charset="-122"/>
              </a:rPr>
              <a:t>e</a:t>
            </a:r>
            <a:r>
              <a:rPr lang="en-US" altLang="zh-CN" sz="2400" dirty="0" err="1">
                <a:effectLst>
                  <a:outerShdw blurRad="38100" dist="38100" dir="2700000" algn="tl">
                    <a:srgbClr val="C0C0C0"/>
                  </a:outerShdw>
                </a:effectLst>
                <a:ea typeface="楷体_GB2312" pitchFamily="49" charset="-122"/>
              </a:rPr>
              <a:t>','</a:t>
            </a:r>
            <a:r>
              <a:rPr lang="en-US" altLang="zh-CN" sz="2600" dirty="0" err="1">
                <a:effectLst>
                  <a:outerShdw blurRad="38100" dist="38100" dir="2700000" algn="tl">
                    <a:srgbClr val="C0C0C0"/>
                  </a:outerShdw>
                </a:effectLst>
                <a:latin typeface="+mn-lt"/>
                <a:ea typeface="楷体_GB2312" pitchFamily="49" charset="-122"/>
              </a:rPr>
              <a:t>n</a:t>
            </a:r>
            <a:r>
              <a:rPr lang="en-US" altLang="zh-CN" sz="2400" dirty="0">
                <a:effectLst>
                  <a:outerShdw blurRad="38100" dist="38100" dir="2700000" algn="tl">
                    <a:srgbClr val="C0C0C0"/>
                  </a:outerShdw>
                </a:effectLst>
                <a:ea typeface="楷体_GB2312" pitchFamily="49" charset="-122"/>
              </a:rPr>
              <a:t>' ,'</a:t>
            </a:r>
            <a:r>
              <a:rPr lang="en-US" altLang="zh-CN" sz="2600" dirty="0">
                <a:effectLst>
                  <a:outerShdw blurRad="38100" dist="38100" dir="2700000" algn="tl">
                    <a:srgbClr val="C0C0C0"/>
                  </a:outerShdw>
                </a:effectLst>
                <a:latin typeface="+mn-lt"/>
                <a:ea typeface="楷体_GB2312" pitchFamily="49" charset="-122"/>
              </a:rPr>
              <a:t>t</a:t>
            </a:r>
            <a:r>
              <a:rPr lang="en-US" altLang="zh-CN" sz="2400" dirty="0">
                <a:effectLst>
                  <a:outerShdw blurRad="38100" dist="38100" dir="2700000" algn="tl">
                    <a:srgbClr val="C0C0C0"/>
                  </a:outerShdw>
                </a:effectLst>
                <a:ea typeface="楷体_GB2312" pitchFamily="49" charset="-122"/>
              </a:rPr>
              <a:t>'</a:t>
            </a:r>
            <a:r>
              <a:rPr lang="en-US" altLang="zh-CN" sz="2600" dirty="0">
                <a:effectLst>
                  <a:outerShdw blurRad="38100" dist="38100" dir="2700000" algn="tl">
                    <a:srgbClr val="C0C0C0"/>
                  </a:outerShdw>
                </a:effectLst>
                <a:latin typeface="+mn-lt"/>
                <a:ea typeface="楷体_GB2312" pitchFamily="49" charset="-122"/>
              </a:rPr>
              <a:t> };</a:t>
            </a:r>
            <a:endParaRPr lang="zh-CN" altLang="en-US" sz="2600" dirty="0">
              <a:effectLst>
                <a:outerShdw blurRad="38100" dist="38100" dir="2700000" algn="tl">
                  <a:srgbClr val="C0C0C0"/>
                </a:outerShdw>
              </a:effectLst>
              <a:latin typeface="+mn-lt"/>
              <a:ea typeface="楷体_GB2312" pitchFamily="49" charset="-122"/>
            </a:endParaRPr>
          </a:p>
        </p:txBody>
      </p:sp>
      <p:sp>
        <p:nvSpPr>
          <p:cNvPr id="13" name="椭圆形标注 12"/>
          <p:cNvSpPr/>
          <p:nvPr/>
        </p:nvSpPr>
        <p:spPr>
          <a:xfrm>
            <a:off x="6804248" y="4869160"/>
            <a:ext cx="2160240" cy="1008112"/>
          </a:xfrm>
          <a:prstGeom prst="wedgeEllipse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这样可以吗？</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2" fill="hold" nodeType="afterEffect">
                                  <p:stCondLst>
                                    <p:cond delay="0"/>
                                  </p:stCondLst>
                                  <p:childTnLst>
                                    <p:set>
                                      <p:cBhvr>
                                        <p:cTn id="6" dur="1" fill="hold">
                                          <p:stCondLst>
                                            <p:cond delay="0"/>
                                          </p:stCondLst>
                                        </p:cTn>
                                        <p:tgtEl>
                                          <p:spTgt spid="401455"/>
                                        </p:tgtEl>
                                        <p:attrNameLst>
                                          <p:attrName>style.visibility</p:attrName>
                                        </p:attrNameLst>
                                      </p:cBhvr>
                                      <p:to>
                                        <p:strVal val="visible"/>
                                      </p:to>
                                    </p:set>
                                    <p:animEffect transition="in" filter="wipe(right)">
                                      <p:cBhvr>
                                        <p:cTn id="7" dur="500"/>
                                        <p:tgtEl>
                                          <p:spTgt spid="40145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01452"/>
                                        </p:tgtEl>
                                        <p:attrNameLst>
                                          <p:attrName>style.visibility</p:attrName>
                                        </p:attrNameLst>
                                      </p:cBhvr>
                                      <p:to>
                                        <p:strVal val="visible"/>
                                      </p:to>
                                    </p:set>
                                    <p:animEffect transition="in" filter="wipe(up)">
                                      <p:cBhvr>
                                        <p:cTn id="12" dur="500"/>
                                        <p:tgtEl>
                                          <p:spTgt spid="401452"/>
                                        </p:tgtEl>
                                      </p:cBhvr>
                                    </p:animEffect>
                                  </p:childTnLst>
                                </p:cTn>
                              </p:par>
                            </p:childTnLst>
                          </p:cTn>
                        </p:par>
                        <p:par>
                          <p:cTn id="13" fill="hold" nodeType="afterGroup">
                            <p:stCondLst>
                              <p:cond delay="500"/>
                            </p:stCondLst>
                            <p:childTnLst>
                              <p:par>
                                <p:cTn id="14" presetID="22" presetClass="entr" presetSubtype="1" fill="hold" nodeType="afterEffect">
                                  <p:stCondLst>
                                    <p:cond delay="0"/>
                                  </p:stCondLst>
                                  <p:childTnLst>
                                    <p:set>
                                      <p:cBhvr>
                                        <p:cTn id="15" dur="1" fill="hold">
                                          <p:stCondLst>
                                            <p:cond delay="0"/>
                                          </p:stCondLst>
                                        </p:cTn>
                                        <p:tgtEl>
                                          <p:spTgt spid="401454"/>
                                        </p:tgtEl>
                                        <p:attrNameLst>
                                          <p:attrName>style.visibility</p:attrName>
                                        </p:attrNameLst>
                                      </p:cBhvr>
                                      <p:to>
                                        <p:strVal val="visible"/>
                                      </p:to>
                                    </p:set>
                                    <p:animEffect transition="in" filter="wipe(up)">
                                      <p:cBhvr>
                                        <p:cTn id="16" dur="500"/>
                                        <p:tgtEl>
                                          <p:spTgt spid="401454"/>
                                        </p:tgtEl>
                                      </p:cBhvr>
                                    </p:animEffect>
                                  </p:childTnLst>
                                </p:cTn>
                              </p:par>
                            </p:childTnLst>
                          </p:cTn>
                        </p:par>
                        <p:par>
                          <p:cTn id="17" fill="hold" nodeType="afterGroup">
                            <p:stCondLst>
                              <p:cond delay="1000"/>
                            </p:stCondLst>
                            <p:childTnLst>
                              <p:par>
                                <p:cTn id="18" presetID="22" presetClass="entr" presetSubtype="4" fill="hold" grpId="0" nodeType="afterEffect">
                                  <p:stCondLst>
                                    <p:cond delay="0"/>
                                  </p:stCondLst>
                                  <p:childTnLst>
                                    <p:set>
                                      <p:cBhvr>
                                        <p:cTn id="19" dur="1" fill="hold">
                                          <p:stCondLst>
                                            <p:cond delay="0"/>
                                          </p:stCondLst>
                                        </p:cTn>
                                        <p:tgtEl>
                                          <p:spTgt spid="401451"/>
                                        </p:tgtEl>
                                        <p:attrNameLst>
                                          <p:attrName>style.visibility</p:attrName>
                                        </p:attrNameLst>
                                      </p:cBhvr>
                                      <p:to>
                                        <p:strVal val="visible"/>
                                      </p:to>
                                    </p:set>
                                    <p:animEffect transition="in" filter="wipe(down)">
                                      <p:cBhvr>
                                        <p:cTn id="20" dur="500"/>
                                        <p:tgtEl>
                                          <p:spTgt spid="401451"/>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iterate type="lt">
                                    <p:tmPct val="100000"/>
                                  </p:iterate>
                                  <p:childTnLst>
                                    <p:set>
                                      <p:cBhvr>
                                        <p:cTn id="24" dur="1" fill="hold">
                                          <p:stCondLst>
                                            <p:cond delay="0"/>
                                          </p:stCondLst>
                                        </p:cTn>
                                        <p:tgtEl>
                                          <p:spTgt spid="401453"/>
                                        </p:tgtEl>
                                        <p:attrNameLst>
                                          <p:attrName>style.visibility</p:attrName>
                                        </p:attrNameLst>
                                      </p:cBhvr>
                                      <p:to>
                                        <p:strVal val="visible"/>
                                      </p:to>
                                    </p:set>
                                    <p:animEffect transition="in" filter="wipe(left)">
                                      <p:cBhvr>
                                        <p:cTn id="25" dur="75"/>
                                        <p:tgtEl>
                                          <p:spTgt spid="401453"/>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12"/>
                                        </p:tgtEl>
                                        <p:attrNameLst>
                                          <p:attrName>style.visibility</p:attrName>
                                        </p:attrNameLst>
                                      </p:cBhvr>
                                      <p:to>
                                        <p:strVal val="visible"/>
                                      </p:to>
                                    </p:set>
                                    <p:anim calcmode="lin" valueType="num">
                                      <p:cBhvr additive="base">
                                        <p:cTn id="30" dur="500" fill="hold"/>
                                        <p:tgtEl>
                                          <p:spTgt spid="12"/>
                                        </p:tgtEl>
                                        <p:attrNameLst>
                                          <p:attrName>ppt_x</p:attrName>
                                        </p:attrNameLst>
                                      </p:cBhvr>
                                      <p:tavLst>
                                        <p:tav tm="0">
                                          <p:val>
                                            <p:strVal val="#ppt_x"/>
                                          </p:val>
                                        </p:tav>
                                        <p:tav tm="100000">
                                          <p:val>
                                            <p:strVal val="#ppt_x"/>
                                          </p:val>
                                        </p:tav>
                                      </p:tavLst>
                                    </p:anim>
                                    <p:anim calcmode="lin" valueType="num">
                                      <p:cBhvr additive="base">
                                        <p:cTn id="31" dur="500" fill="hold"/>
                                        <p:tgtEl>
                                          <p:spTgt spid="12"/>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 calcmode="lin" valueType="num">
                                      <p:cBhvr additive="base">
                                        <p:cTn id="34" dur="500" fill="hold"/>
                                        <p:tgtEl>
                                          <p:spTgt spid="13"/>
                                        </p:tgtEl>
                                        <p:attrNameLst>
                                          <p:attrName>ppt_x</p:attrName>
                                        </p:attrNameLst>
                                      </p:cBhvr>
                                      <p:tavLst>
                                        <p:tav tm="0">
                                          <p:val>
                                            <p:strVal val="#ppt_x"/>
                                          </p:val>
                                        </p:tav>
                                        <p:tav tm="100000">
                                          <p:val>
                                            <p:strVal val="#ppt_x"/>
                                          </p:val>
                                        </p:tav>
                                      </p:tavLst>
                                    </p:anim>
                                    <p:anim calcmode="lin" valueType="num">
                                      <p:cBhvr additive="base">
                                        <p:cTn id="35"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1451" grpId="0" animBg="1" autoUpdateAnimBg="0"/>
      <p:bldP spid="401452" grpId="0" autoUpdateAnimBg="0"/>
      <p:bldP spid="401453" grpId="0" autoUpdateAnimBg="0"/>
      <p:bldP spid="12" grpId="0"/>
      <p:bldP spid="13"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2" name="Rectangle 2"/>
          <p:cNvSpPr>
            <a:spLocks noGrp="1" noChangeArrowheads="1"/>
          </p:cNvSpPr>
          <p:nvPr>
            <p:ph idx="1"/>
          </p:nvPr>
        </p:nvSpPr>
        <p:spPr>
          <a:xfrm>
            <a:off x="323850" y="981075"/>
            <a:ext cx="8439150" cy="5495925"/>
          </a:xfrm>
        </p:spPr>
        <p:txBody>
          <a:bodyPr>
            <a:normAutofit/>
          </a:bodyPr>
          <a:lstStyle/>
          <a:p>
            <a:pPr marL="0" indent="0" algn="just" eaLnBrk="1" fontAlgn="auto" hangingPunct="1">
              <a:lnSpc>
                <a:spcPct val="110000"/>
              </a:lnSpc>
              <a:spcAft>
                <a:spcPts val="0"/>
              </a:spcAft>
              <a:buClr>
                <a:schemeClr val="accent3"/>
              </a:buClr>
              <a:buFont typeface="Wingdings" pitchFamily="2" charset="2"/>
              <a:buNone/>
              <a:defRPr/>
            </a:pPr>
            <a:r>
              <a:rPr lang="zh-CN" altLang="en-US" sz="3200" b="1" dirty="0">
                <a:effectLst>
                  <a:outerShdw blurRad="38100" dist="38100" dir="2700000" algn="tl">
                    <a:srgbClr val="C0C0C0"/>
                  </a:outerShdw>
                </a:effectLst>
              </a:rPr>
              <a:t>例：</a:t>
            </a:r>
            <a:r>
              <a:rPr lang="en-US" altLang="zh-CN" sz="3200" b="1" dirty="0"/>
              <a:t>char c3[ ][30]={ "I am happy!" </a:t>
            </a:r>
            <a:r>
              <a:rPr lang="zh-CN" altLang="en-US" sz="3200" b="1" dirty="0"/>
              <a:t>，</a:t>
            </a:r>
          </a:p>
          <a:p>
            <a:pPr marL="0" indent="0" algn="just" eaLnBrk="1" fontAlgn="auto" hangingPunct="1">
              <a:lnSpc>
                <a:spcPct val="110000"/>
              </a:lnSpc>
              <a:spcAft>
                <a:spcPts val="0"/>
              </a:spcAft>
              <a:buClr>
                <a:schemeClr val="accent3"/>
              </a:buClr>
              <a:buFont typeface="Wingdings" pitchFamily="2" charset="2"/>
              <a:buNone/>
              <a:defRPr/>
            </a:pPr>
            <a:r>
              <a:rPr lang="zh-CN" altLang="en-US" sz="3200" b="1" dirty="0"/>
              <a:t>         </a:t>
            </a:r>
            <a:r>
              <a:rPr lang="en-US" altLang="zh-CN" sz="3200" b="1" dirty="0"/>
              <a:t>"I am </a:t>
            </a:r>
            <a:r>
              <a:rPr lang="en-US" altLang="zh-CN" sz="3200" b="1" dirty="0" err="1"/>
              <a:t>learnning</a:t>
            </a:r>
            <a:r>
              <a:rPr lang="en-US" altLang="zh-CN" sz="3200" b="1" dirty="0"/>
              <a:t> C language." };</a:t>
            </a:r>
          </a:p>
          <a:p>
            <a:pPr marL="0" indent="0" algn="just" eaLnBrk="1" fontAlgn="auto" hangingPunct="1">
              <a:lnSpc>
                <a:spcPct val="110000"/>
              </a:lnSpc>
              <a:spcAft>
                <a:spcPts val="0"/>
              </a:spcAft>
              <a:buClr>
                <a:schemeClr val="accent3"/>
              </a:buClr>
              <a:buFont typeface="Wingdings" pitchFamily="2" charset="2"/>
              <a:buNone/>
              <a:defRPr/>
            </a:pPr>
            <a:r>
              <a:rPr lang="zh-CN" altLang="en-US" sz="4000" b="1" dirty="0">
                <a:effectLst>
                  <a:outerShdw blurRad="38100" dist="38100" dir="2700000" algn="tl">
                    <a:srgbClr val="C0C0C0"/>
                  </a:outerShdw>
                </a:effectLst>
                <a:latin typeface="宋体" pitchFamily="2" charset="-122"/>
              </a:rPr>
              <a:t>说明：</a:t>
            </a:r>
            <a:r>
              <a:rPr lang="zh-CN" altLang="en-US" sz="3200" b="1" dirty="0">
                <a:effectLst>
                  <a:outerShdw blurRad="38100" dist="38100" dir="2700000" algn="tl">
                    <a:srgbClr val="C0C0C0"/>
                  </a:outerShdw>
                </a:effectLst>
                <a:latin typeface="宋体" pitchFamily="2" charset="-122"/>
              </a:rPr>
              <a:t>字符数组</a:t>
            </a:r>
            <a:r>
              <a:rPr lang="en-US" altLang="zh-CN" sz="3200" b="1" dirty="0">
                <a:effectLst>
                  <a:outerShdw blurRad="38100" dist="38100" dir="2700000" algn="tl">
                    <a:srgbClr val="C0C0C0"/>
                  </a:outerShdw>
                </a:effectLst>
                <a:latin typeface="宋体" pitchFamily="2" charset="-122"/>
              </a:rPr>
              <a:t>c3[0]</a:t>
            </a:r>
            <a:r>
              <a:rPr lang="zh-CN" altLang="en-US" sz="3200" b="1" dirty="0">
                <a:effectLst>
                  <a:outerShdw blurRad="38100" dist="38100" dir="2700000" algn="tl">
                    <a:srgbClr val="C0C0C0"/>
                  </a:outerShdw>
                </a:effectLst>
                <a:latin typeface="宋体" pitchFamily="2" charset="-122"/>
              </a:rPr>
              <a:t>、</a:t>
            </a:r>
            <a:r>
              <a:rPr lang="en-US" altLang="zh-CN" sz="3200" b="1" dirty="0">
                <a:effectLst>
                  <a:outerShdw blurRad="38100" dist="38100" dir="2700000" algn="tl">
                    <a:srgbClr val="C0C0C0"/>
                  </a:outerShdw>
                </a:effectLst>
                <a:latin typeface="宋体" pitchFamily="2" charset="-122"/>
              </a:rPr>
              <a:t>c3[1]</a:t>
            </a:r>
            <a:r>
              <a:rPr lang="zh-CN" altLang="en-US" sz="3200" b="1" dirty="0">
                <a:effectLst>
                  <a:outerShdw blurRad="38100" dist="38100" dir="2700000" algn="tl">
                    <a:srgbClr val="C0C0C0"/>
                  </a:outerShdw>
                </a:effectLst>
                <a:latin typeface="宋体" pitchFamily="2" charset="-122"/>
              </a:rPr>
              <a:t>各可存储</a:t>
            </a:r>
            <a:r>
              <a:rPr lang="en-US" altLang="zh-CN" sz="3200" b="1" dirty="0">
                <a:effectLst>
                  <a:outerShdw blurRad="38100" dist="38100" dir="2700000" algn="tl">
                    <a:srgbClr val="C0C0C0"/>
                  </a:outerShdw>
                </a:effectLst>
                <a:latin typeface="宋体" pitchFamily="2" charset="-122"/>
              </a:rPr>
              <a:t>30</a:t>
            </a:r>
            <a:r>
              <a:rPr lang="zh-CN" altLang="en-US" sz="3200" b="1" dirty="0">
                <a:effectLst>
                  <a:outerShdw blurRad="38100" dist="38100" dir="2700000" algn="tl">
                    <a:srgbClr val="C0C0C0"/>
                  </a:outerShdw>
                </a:effectLst>
                <a:latin typeface="宋体" pitchFamily="2" charset="-122"/>
              </a:rPr>
              <a:t>个字符，现分别存储着有</a:t>
            </a:r>
            <a:r>
              <a:rPr lang="en-US" altLang="zh-CN" sz="3200" b="1" dirty="0">
                <a:effectLst>
                  <a:outerShdw blurRad="38100" dist="38100" dir="2700000" algn="tl">
                    <a:srgbClr val="C0C0C0"/>
                  </a:outerShdw>
                </a:effectLst>
                <a:latin typeface="宋体" pitchFamily="2" charset="-122"/>
              </a:rPr>
              <a:t>11</a:t>
            </a:r>
            <a:r>
              <a:rPr lang="zh-CN" altLang="en-US" sz="3200" b="1" dirty="0">
                <a:effectLst>
                  <a:outerShdw blurRad="38100" dist="38100" dir="2700000" algn="tl">
                    <a:srgbClr val="C0C0C0"/>
                  </a:outerShdw>
                </a:effectLst>
                <a:latin typeface="宋体" pitchFamily="2" charset="-122"/>
              </a:rPr>
              <a:t>个有效字符的字符串，和有</a:t>
            </a:r>
            <a:r>
              <a:rPr lang="en-US" altLang="zh-CN" sz="3200" b="1" dirty="0">
                <a:effectLst>
                  <a:outerShdw blurRad="38100" dist="38100" dir="2700000" algn="tl">
                    <a:srgbClr val="C0C0C0"/>
                  </a:outerShdw>
                </a:effectLst>
                <a:latin typeface="宋体" pitchFamily="2" charset="-122"/>
              </a:rPr>
              <a:t>26</a:t>
            </a:r>
            <a:r>
              <a:rPr lang="zh-CN" altLang="en-US" sz="3200" b="1" dirty="0">
                <a:effectLst>
                  <a:outerShdw blurRad="38100" dist="38100" dir="2700000" algn="tl">
                    <a:srgbClr val="C0C0C0"/>
                  </a:outerShdw>
                </a:effectLst>
                <a:latin typeface="宋体" pitchFamily="2" charset="-122"/>
              </a:rPr>
              <a:t>个有效字符的字符串。</a:t>
            </a:r>
          </a:p>
          <a:p>
            <a:pPr marL="0" indent="0" algn="just" eaLnBrk="1" fontAlgn="auto" hangingPunct="1">
              <a:lnSpc>
                <a:spcPct val="110000"/>
              </a:lnSpc>
              <a:spcAft>
                <a:spcPts val="0"/>
              </a:spcAft>
              <a:buClr>
                <a:schemeClr val="accent3"/>
              </a:buClr>
              <a:buFont typeface="Wingdings" pitchFamily="2" charset="2"/>
              <a:buNone/>
              <a:defRPr/>
            </a:pPr>
            <a:r>
              <a:rPr lang="zh-CN" altLang="en-US" sz="4000" b="1" dirty="0">
                <a:effectLst>
                  <a:outerShdw blurRad="38100" dist="38100" dir="2700000" algn="tl">
                    <a:srgbClr val="C0C0C0"/>
                  </a:outerShdw>
                </a:effectLst>
                <a:latin typeface="宋体" pitchFamily="2" charset="-122"/>
              </a:rPr>
              <a:t>字符串结束标志 </a:t>
            </a:r>
            <a:r>
              <a:rPr lang="en-US" altLang="zh-CN" sz="4000" b="1" dirty="0">
                <a:effectLst>
                  <a:outerShdw blurRad="38100" dist="38100" dir="2700000" algn="tl">
                    <a:srgbClr val="C0C0C0"/>
                  </a:outerShdw>
                </a:effectLst>
              </a:rPr>
              <a:t>'\0'</a:t>
            </a:r>
          </a:p>
          <a:p>
            <a:pPr marL="0" indent="0" algn="just" eaLnBrk="1" fontAlgn="auto" hangingPunct="1">
              <a:lnSpc>
                <a:spcPct val="110000"/>
              </a:lnSpc>
              <a:spcAft>
                <a:spcPts val="0"/>
              </a:spcAft>
              <a:buClr>
                <a:schemeClr val="accent3"/>
              </a:buClr>
              <a:buFont typeface="Wingdings" pitchFamily="2" charset="2"/>
              <a:buNone/>
              <a:defRPr/>
            </a:pPr>
            <a:r>
              <a:rPr lang="en-US" altLang="zh-CN" sz="3200" b="1" dirty="0">
                <a:effectLst>
                  <a:outerShdw blurRad="38100" dist="38100" dir="2700000" algn="tl">
                    <a:srgbClr val="C0C0C0"/>
                  </a:outerShdw>
                </a:effectLst>
                <a:latin typeface="宋体" pitchFamily="2" charset="-122"/>
              </a:rPr>
              <a:t>    </a:t>
            </a:r>
            <a:r>
              <a:rPr lang="en-US" altLang="zh-CN" sz="3200" b="1" dirty="0">
                <a:effectLst>
                  <a:outerShdw blurRad="38100" dist="38100" dir="2700000" algn="tl">
                    <a:srgbClr val="C0C0C0"/>
                  </a:outerShdw>
                </a:effectLst>
              </a:rPr>
              <a:t>‘\0’</a:t>
            </a:r>
            <a:r>
              <a:rPr lang="zh-CN" altLang="en-US" sz="3200" b="1" dirty="0">
                <a:effectLst>
                  <a:outerShdw blurRad="38100" dist="38100" dir="2700000" algn="tl">
                    <a:srgbClr val="C0C0C0"/>
                  </a:outerShdw>
                </a:effectLst>
                <a:latin typeface="宋体" pitchFamily="2" charset="-122"/>
              </a:rPr>
              <a:t>代表</a:t>
            </a:r>
            <a:r>
              <a:rPr lang="en-US" altLang="zh-CN" sz="3200" b="1" dirty="0">
                <a:solidFill>
                  <a:srgbClr val="FF0000"/>
                </a:solidFill>
                <a:effectLst>
                  <a:outerShdw blurRad="38100" dist="38100" dir="2700000" algn="tl">
                    <a:srgbClr val="C0C0C0"/>
                  </a:outerShdw>
                </a:effectLst>
                <a:latin typeface="宋体" pitchFamily="2" charset="-122"/>
              </a:rPr>
              <a:t>ASCII</a:t>
            </a:r>
            <a:r>
              <a:rPr lang="zh-CN" altLang="en-US" sz="3200" b="1" dirty="0">
                <a:solidFill>
                  <a:srgbClr val="FF0000"/>
                </a:solidFill>
                <a:effectLst>
                  <a:outerShdw blurRad="38100" dist="38100" dir="2700000" algn="tl">
                    <a:srgbClr val="C0C0C0"/>
                  </a:outerShdw>
                </a:effectLst>
                <a:latin typeface="宋体" pitchFamily="2" charset="-122"/>
              </a:rPr>
              <a:t>码为</a:t>
            </a:r>
            <a:r>
              <a:rPr lang="en-US" altLang="zh-CN" sz="3200" b="1" dirty="0">
                <a:solidFill>
                  <a:srgbClr val="FF0000"/>
                </a:solidFill>
                <a:effectLst>
                  <a:outerShdw blurRad="38100" dist="38100" dir="2700000" algn="tl">
                    <a:srgbClr val="C0C0C0"/>
                  </a:outerShdw>
                </a:effectLst>
                <a:latin typeface="宋体" pitchFamily="2" charset="-122"/>
              </a:rPr>
              <a:t>0</a:t>
            </a:r>
            <a:r>
              <a:rPr lang="zh-CN" altLang="en-US" sz="3200" b="1" dirty="0">
                <a:effectLst>
                  <a:outerShdw blurRad="38100" dist="38100" dir="2700000" algn="tl">
                    <a:srgbClr val="C0C0C0"/>
                  </a:outerShdw>
                </a:effectLst>
                <a:latin typeface="宋体" pitchFamily="2" charset="-122"/>
              </a:rPr>
              <a:t>的字符，用于判断字符串是否结束。</a:t>
            </a:r>
          </a:p>
        </p:txBody>
      </p:sp>
      <p:sp>
        <p:nvSpPr>
          <p:cNvPr id="6" name="灯片编号占位符 5"/>
          <p:cNvSpPr>
            <a:spLocks noGrp="1"/>
          </p:cNvSpPr>
          <p:nvPr>
            <p:ph type="sldNum" sz="quarter" idx="12"/>
          </p:nvPr>
        </p:nvSpPr>
        <p:spPr/>
        <p:txBody>
          <a:bodyPr/>
          <a:lstStyle/>
          <a:p>
            <a:pPr>
              <a:defRPr/>
            </a:pPr>
            <a:fld id="{F8872E70-71E0-4659-97E7-6F67EDDA4432}" type="slidenum">
              <a:rPr lang="en-US" altLang="zh-CN"/>
              <a:pPr>
                <a:defRPr/>
              </a:pPr>
              <a:t>89</a:t>
            </a:fld>
            <a:endParaRPr lang="en-US" altLang="zh-CN"/>
          </a:p>
        </p:txBody>
      </p:sp>
      <p:sp>
        <p:nvSpPr>
          <p:cNvPr id="86020" name="Line 4"/>
          <p:cNvSpPr>
            <a:spLocks noChangeShapeType="1"/>
          </p:cNvSpPr>
          <p:nvPr/>
        </p:nvSpPr>
        <p:spPr bwMode="auto">
          <a:xfrm>
            <a:off x="457200" y="5257800"/>
            <a:ext cx="4191000" cy="0"/>
          </a:xfrm>
          <a:prstGeom prst="line">
            <a:avLst/>
          </a:prstGeom>
          <a:noFill/>
          <a:ln w="9525">
            <a:noFill/>
            <a:round/>
            <a:headEnd/>
            <a:tailEnd/>
          </a:ln>
        </p:spPr>
        <p:txBody>
          <a:bodyPr wrap="none" lIns="92075" tIns="46038" rIns="92075" bIns="46038" anchor="ctr"/>
          <a:lstStyle/>
          <a:p>
            <a:endParaRPr lang="zh-CN" altLang="en-US"/>
          </a:p>
        </p:txBody>
      </p:sp>
    </p:spTree>
  </p:cSld>
  <p:clrMapOvr>
    <a:masterClrMapping/>
  </p:clrMapOvr>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5"/>
          <p:cNvSpPr>
            <a:spLocks noGrp="1" noChangeArrowheads="1"/>
          </p:cNvSpPr>
          <p:nvPr>
            <p:ph type="title"/>
          </p:nvPr>
        </p:nvSpPr>
        <p:spPr>
          <a:xfrm>
            <a:off x="539750" y="260350"/>
            <a:ext cx="8088313" cy="647700"/>
          </a:xfrm>
          <a:noFill/>
        </p:spPr>
        <p:txBody>
          <a:bodyPr lIns="92075" tIns="46038" rIns="92075" bIns="46038"/>
          <a:lstStyle/>
          <a:p>
            <a:pPr eaLnBrk="1" hangingPunct="1"/>
            <a:r>
              <a:rPr lang="zh-CN" altLang="en-US">
                <a:solidFill>
                  <a:schemeClr val="tx1"/>
                </a:solidFill>
                <a:latin typeface="黑体" pitchFamily="2" charset="-122"/>
                <a:ea typeface="黑体" pitchFamily="2" charset="-122"/>
              </a:rPr>
              <a:t>字符串常量</a:t>
            </a:r>
          </a:p>
        </p:txBody>
      </p:sp>
      <p:sp>
        <p:nvSpPr>
          <p:cNvPr id="376834" name="Rectangle 2"/>
          <p:cNvSpPr>
            <a:spLocks noGrp="1" noChangeArrowheads="1"/>
          </p:cNvSpPr>
          <p:nvPr>
            <p:ph idx="1"/>
          </p:nvPr>
        </p:nvSpPr>
        <p:spPr>
          <a:xfrm>
            <a:off x="395288" y="908050"/>
            <a:ext cx="8367712" cy="5568950"/>
          </a:xfrm>
        </p:spPr>
        <p:txBody>
          <a:bodyPr>
            <a:normAutofit/>
          </a:bodyPr>
          <a:lstStyle/>
          <a:p>
            <a:pPr marL="536575" indent="-536575" eaLnBrk="1" fontAlgn="auto" hangingPunct="1">
              <a:lnSpc>
                <a:spcPct val="90000"/>
              </a:lnSpc>
              <a:spcAft>
                <a:spcPts val="0"/>
              </a:spcAft>
              <a:buClr>
                <a:schemeClr val="accent3"/>
              </a:buClr>
              <a:buFont typeface="Wingdings" pitchFamily="2" charset="2"/>
              <a:buNone/>
              <a:defRPr/>
            </a:pPr>
            <a:r>
              <a:rPr lang="zh-CN" altLang="en-US" sz="2800" b="1" dirty="0">
                <a:latin typeface="宋体" pitchFamily="2" charset="-122"/>
              </a:rPr>
              <a:t>字符串常量的书写形式：</a:t>
            </a:r>
            <a:r>
              <a:rPr lang="en-US" altLang="zh-CN" sz="2800" b="1" dirty="0">
                <a:latin typeface="宋体" pitchFamily="2" charset="-122"/>
              </a:rPr>
              <a:t>"</a:t>
            </a:r>
            <a:r>
              <a:rPr lang="zh-CN" altLang="en-US" sz="2800" b="1" dirty="0">
                <a:latin typeface="宋体" pitchFamily="2" charset="-122"/>
              </a:rPr>
              <a:t>字符序列</a:t>
            </a:r>
            <a:r>
              <a:rPr lang="en-US" altLang="zh-CN" sz="2800" b="1" dirty="0">
                <a:latin typeface="宋体" pitchFamily="2" charset="-122"/>
              </a:rPr>
              <a:t>"</a:t>
            </a:r>
          </a:p>
          <a:p>
            <a:pPr marL="536575" indent="-536575" eaLnBrk="1" fontAlgn="auto" hangingPunct="1">
              <a:lnSpc>
                <a:spcPct val="90000"/>
              </a:lnSpc>
              <a:spcAft>
                <a:spcPts val="0"/>
              </a:spcAft>
              <a:buClr>
                <a:schemeClr val="accent3"/>
              </a:buClr>
              <a:buFont typeface="Wingdings" pitchFamily="2" charset="2"/>
              <a:buNone/>
              <a:defRPr/>
            </a:pPr>
            <a:r>
              <a:rPr lang="zh-CN" altLang="en-US" sz="2800" b="1" dirty="0">
                <a:latin typeface="宋体" pitchFamily="2" charset="-122"/>
              </a:rPr>
              <a:t>其中：字符序列由零个或多个字符组成。</a:t>
            </a:r>
          </a:p>
          <a:p>
            <a:pPr marL="536575" indent="-536575" eaLnBrk="1" fontAlgn="auto" hangingPunct="1">
              <a:lnSpc>
                <a:spcPct val="90000"/>
              </a:lnSpc>
              <a:spcAft>
                <a:spcPts val="0"/>
              </a:spcAft>
              <a:buClr>
                <a:schemeClr val="accent3"/>
              </a:buClr>
              <a:buFont typeface="Wingdings" pitchFamily="2" charset="2"/>
              <a:buNone/>
              <a:defRPr/>
            </a:pPr>
            <a:r>
              <a:rPr lang="zh-CN" altLang="en-US" sz="2800" b="1" dirty="0">
                <a:latin typeface="宋体" pitchFamily="2" charset="-122"/>
              </a:rPr>
              <a:t>例如：字符串常量</a:t>
            </a:r>
            <a:r>
              <a:rPr lang="zh-CN" altLang="en-US" sz="2800" b="1" dirty="0">
                <a:latin typeface="Courier New"/>
              </a:rPr>
              <a:t>”</a:t>
            </a:r>
            <a:r>
              <a:rPr lang="en-US" altLang="zh-CN" sz="2800" b="1" dirty="0">
                <a:latin typeface="宋体" pitchFamily="2" charset="-122"/>
              </a:rPr>
              <a:t>I am a student.</a:t>
            </a:r>
            <a:r>
              <a:rPr lang="en-US" altLang="zh-CN" sz="2800" b="1" dirty="0">
                <a:latin typeface="Courier New"/>
              </a:rPr>
              <a:t>”</a:t>
            </a:r>
            <a:r>
              <a:rPr lang="zh-CN" altLang="en-US" sz="2800" b="1" dirty="0">
                <a:latin typeface="宋体" pitchFamily="2" charset="-122"/>
              </a:rPr>
              <a:t>含</a:t>
            </a:r>
            <a:r>
              <a:rPr lang="en-US" altLang="zh-CN" sz="2800" b="1" dirty="0">
                <a:latin typeface="宋体" pitchFamily="2" charset="-122"/>
              </a:rPr>
              <a:t>15</a:t>
            </a:r>
            <a:r>
              <a:rPr lang="zh-CN" altLang="en-US" sz="2800" b="1" dirty="0">
                <a:latin typeface="宋体" pitchFamily="2" charset="-122"/>
              </a:rPr>
              <a:t>个有效字符，而字符串常量</a:t>
            </a:r>
            <a:r>
              <a:rPr lang="zh-CN" altLang="en-US" sz="2800" b="1" dirty="0">
                <a:latin typeface="Courier New"/>
              </a:rPr>
              <a:t>””</a:t>
            </a:r>
            <a:r>
              <a:rPr lang="zh-CN" altLang="en-US" sz="2800" b="1" dirty="0">
                <a:latin typeface="宋体" pitchFamily="2" charset="-122"/>
              </a:rPr>
              <a:t>不含任何有效字符，其长度为</a:t>
            </a:r>
            <a:r>
              <a:rPr lang="en-US" altLang="zh-CN" sz="2800" b="1" dirty="0">
                <a:latin typeface="宋体" pitchFamily="2" charset="-122"/>
              </a:rPr>
              <a:t>0</a:t>
            </a:r>
            <a:r>
              <a:rPr lang="zh-CN" altLang="en-US" sz="2800" b="1" dirty="0">
                <a:latin typeface="宋体" pitchFamily="2" charset="-122"/>
              </a:rPr>
              <a:t>，习惯称为空字符串。</a:t>
            </a:r>
          </a:p>
          <a:p>
            <a:pPr marL="536575" indent="-536575" eaLnBrk="1" fontAlgn="auto" hangingPunct="1">
              <a:lnSpc>
                <a:spcPct val="90000"/>
              </a:lnSpc>
              <a:spcAft>
                <a:spcPts val="0"/>
              </a:spcAft>
              <a:buClr>
                <a:schemeClr val="accent3"/>
              </a:buClr>
              <a:buFont typeface="Wingdings" pitchFamily="2" charset="2"/>
              <a:buNone/>
              <a:defRPr/>
            </a:pPr>
            <a:r>
              <a:rPr lang="zh-CN" altLang="en-US" sz="2800" b="1" dirty="0">
                <a:latin typeface="宋体" pitchFamily="2" charset="-122"/>
              </a:rPr>
              <a:t>注意：</a:t>
            </a:r>
          </a:p>
          <a:p>
            <a:pPr marL="536575" indent="-536575" eaLnBrk="1" fontAlgn="auto" hangingPunct="1">
              <a:lnSpc>
                <a:spcPct val="90000"/>
              </a:lnSpc>
              <a:spcAft>
                <a:spcPts val="0"/>
              </a:spcAft>
              <a:buClr>
                <a:schemeClr val="accent3"/>
              </a:buClr>
              <a:buFont typeface="Wingdings" pitchFamily="2" charset="2"/>
              <a:buNone/>
              <a:defRPr/>
            </a:pPr>
            <a:r>
              <a:rPr lang="en-US" altLang="zh-CN" sz="2800" b="1" dirty="0">
                <a:latin typeface="宋体" pitchFamily="2" charset="-122"/>
              </a:rPr>
              <a:t>1. </a:t>
            </a:r>
            <a:r>
              <a:rPr lang="zh-CN" altLang="en-US" sz="2800" b="1" dirty="0">
                <a:latin typeface="宋体" pitchFamily="2" charset="-122"/>
              </a:rPr>
              <a:t>字符串常量与字符常量的区别。</a:t>
            </a:r>
          </a:p>
          <a:p>
            <a:pPr marL="536575" indent="-536575" eaLnBrk="1" fontAlgn="auto" hangingPunct="1">
              <a:lnSpc>
                <a:spcPct val="90000"/>
              </a:lnSpc>
              <a:spcAft>
                <a:spcPts val="0"/>
              </a:spcAft>
              <a:buClr>
                <a:schemeClr val="accent3"/>
              </a:buClr>
              <a:buFont typeface="Wingdings" pitchFamily="2" charset="2"/>
              <a:buNone/>
              <a:defRPr/>
            </a:pPr>
            <a:r>
              <a:rPr lang="en-US" altLang="zh-CN" sz="2800" b="1" dirty="0">
                <a:effectLst>
                  <a:outerShdw blurRad="38100" dist="38100" dir="2700000" algn="tl">
                    <a:srgbClr val="C0C0C0"/>
                  </a:outerShdw>
                </a:effectLst>
                <a:latin typeface="宋体" pitchFamily="2" charset="-122"/>
              </a:rPr>
              <a:t>2. </a:t>
            </a:r>
            <a:r>
              <a:rPr lang="zh-CN" altLang="en-US" sz="2800" b="1" dirty="0">
                <a:effectLst>
                  <a:outerShdw blurRad="38100" dist="38100" dir="2700000" algn="tl">
                    <a:srgbClr val="C0C0C0"/>
                  </a:outerShdw>
                </a:effectLst>
                <a:latin typeface="宋体" pitchFamily="2" charset="-122"/>
              </a:rPr>
              <a:t>若双引号要作为字符串的一部分。应使用转义序列 </a:t>
            </a:r>
            <a:r>
              <a:rPr lang="en-US" altLang="zh-CN" sz="2800" b="1" dirty="0">
                <a:effectLst>
                  <a:outerShdw blurRad="38100" dist="38100" dir="2700000" algn="tl">
                    <a:srgbClr val="C0C0C0"/>
                  </a:outerShdw>
                </a:effectLst>
                <a:latin typeface="宋体" pitchFamily="2" charset="-122"/>
              </a:rPr>
              <a:t>\" </a:t>
            </a:r>
            <a:r>
              <a:rPr lang="zh-CN" altLang="en-US" sz="2800" b="1" dirty="0">
                <a:effectLst>
                  <a:outerShdw blurRad="38100" dist="38100" dir="2700000" algn="tl">
                    <a:srgbClr val="C0C0C0"/>
                  </a:outerShdw>
                </a:effectLst>
                <a:latin typeface="宋体" pitchFamily="2" charset="-122"/>
              </a:rPr>
              <a:t>实现。</a:t>
            </a:r>
          </a:p>
          <a:p>
            <a:pPr marL="536575" indent="-536575" eaLnBrk="1" fontAlgn="auto" hangingPunct="1">
              <a:lnSpc>
                <a:spcPct val="90000"/>
              </a:lnSpc>
              <a:spcAft>
                <a:spcPts val="0"/>
              </a:spcAft>
              <a:buClr>
                <a:schemeClr val="accent3"/>
              </a:buClr>
              <a:buFont typeface="Wingdings" pitchFamily="2" charset="2"/>
              <a:buNone/>
              <a:defRPr/>
            </a:pPr>
            <a:r>
              <a:rPr lang="en-US" altLang="zh-CN" sz="2800" b="1" dirty="0">
                <a:latin typeface="宋体" pitchFamily="2" charset="-122"/>
              </a:rPr>
              <a:t>3. </a:t>
            </a:r>
            <a:r>
              <a:rPr lang="zh-CN" altLang="en-US" sz="2800" b="1" dirty="0">
                <a:latin typeface="宋体" pitchFamily="2" charset="-122"/>
              </a:rPr>
              <a:t>其他转义序列 </a:t>
            </a:r>
            <a:r>
              <a:rPr lang="en-US" altLang="zh-CN" sz="2800" b="1" dirty="0">
                <a:latin typeface="宋体" pitchFamily="2" charset="-122"/>
              </a:rPr>
              <a:t>(</a:t>
            </a:r>
            <a:r>
              <a:rPr lang="zh-CN" altLang="en-US" sz="2800" b="1" dirty="0">
                <a:latin typeface="宋体" pitchFamily="2" charset="-122"/>
              </a:rPr>
              <a:t>如</a:t>
            </a:r>
            <a:r>
              <a:rPr lang="en-US" altLang="zh-CN" sz="2800" b="1" dirty="0">
                <a:latin typeface="宋体" pitchFamily="2" charset="-122"/>
              </a:rPr>
              <a:t>\n</a:t>
            </a:r>
            <a:r>
              <a:rPr lang="zh-CN" altLang="en-US" sz="2800" b="1" dirty="0">
                <a:latin typeface="宋体" pitchFamily="2" charset="-122"/>
              </a:rPr>
              <a:t>，</a:t>
            </a:r>
            <a:r>
              <a:rPr lang="en-US" altLang="zh-CN" sz="2800" b="1" dirty="0">
                <a:latin typeface="宋体" pitchFamily="2" charset="-122"/>
              </a:rPr>
              <a:t>\t)</a:t>
            </a:r>
            <a:r>
              <a:rPr lang="zh-CN" altLang="en-US" sz="2800" b="1" dirty="0">
                <a:latin typeface="宋体" pitchFamily="2" charset="-122"/>
              </a:rPr>
              <a:t>也可以作为单个字符出现在字符串常量中。</a:t>
            </a:r>
          </a:p>
          <a:p>
            <a:pPr marL="536575" indent="-536575" eaLnBrk="1" fontAlgn="auto" hangingPunct="1">
              <a:lnSpc>
                <a:spcPct val="90000"/>
              </a:lnSpc>
              <a:spcAft>
                <a:spcPts val="0"/>
              </a:spcAft>
              <a:buClr>
                <a:schemeClr val="accent3"/>
              </a:buClr>
              <a:buFont typeface="Wingdings" pitchFamily="2" charset="2"/>
              <a:buNone/>
              <a:defRPr/>
            </a:pPr>
            <a:r>
              <a:rPr lang="zh-CN" altLang="en-US" sz="2800" b="1" dirty="0">
                <a:latin typeface="宋体" pitchFamily="2" charset="-122"/>
              </a:rPr>
              <a:t>   如 </a:t>
            </a:r>
            <a:r>
              <a:rPr lang="en-US" altLang="zh-CN" sz="2800" b="1" dirty="0">
                <a:latin typeface="宋体" pitchFamily="2" charset="-122"/>
              </a:rPr>
              <a:t>"\</a:t>
            </a:r>
            <a:r>
              <a:rPr lang="en-US" altLang="zh-CN" sz="2800" b="1" dirty="0" err="1">
                <a:latin typeface="宋体" pitchFamily="2" charset="-122"/>
              </a:rPr>
              <a:t>tThis</a:t>
            </a:r>
            <a:r>
              <a:rPr lang="en-US" altLang="zh-CN" sz="2800" b="1" dirty="0">
                <a:latin typeface="宋体" pitchFamily="2" charset="-122"/>
              </a:rPr>
              <a:t> is a string.\n"</a:t>
            </a:r>
          </a:p>
        </p:txBody>
      </p:sp>
      <p:sp>
        <p:nvSpPr>
          <p:cNvPr id="7" name="灯片编号占位符 5"/>
          <p:cNvSpPr>
            <a:spLocks noGrp="1"/>
          </p:cNvSpPr>
          <p:nvPr>
            <p:ph type="sldNum" sz="quarter" idx="12"/>
          </p:nvPr>
        </p:nvSpPr>
        <p:spPr/>
        <p:txBody>
          <a:bodyPr/>
          <a:lstStyle/>
          <a:p>
            <a:pPr>
              <a:defRPr/>
            </a:pPr>
            <a:fld id="{02F38EB2-A43D-4CC7-B19A-9395489F8D74}" type="slidenum">
              <a:rPr lang="en-US" altLang="zh-CN"/>
              <a:pPr>
                <a:defRPr/>
              </a:pPr>
              <a:t>90</a:t>
            </a:fld>
            <a:endParaRPr lang="en-US" altLang="zh-CN"/>
          </a:p>
        </p:txBody>
      </p:sp>
      <p:sp>
        <p:nvSpPr>
          <p:cNvPr id="87045" name="Line 4"/>
          <p:cNvSpPr>
            <a:spLocks noChangeShapeType="1"/>
          </p:cNvSpPr>
          <p:nvPr/>
        </p:nvSpPr>
        <p:spPr bwMode="auto">
          <a:xfrm>
            <a:off x="457200" y="5257800"/>
            <a:ext cx="4191000" cy="0"/>
          </a:xfrm>
          <a:prstGeom prst="line">
            <a:avLst/>
          </a:prstGeom>
          <a:noFill/>
          <a:ln w="9525">
            <a:noFill/>
            <a:round/>
            <a:headEnd/>
            <a:tailEnd/>
          </a:ln>
        </p:spPr>
        <p:txBody>
          <a:bodyPr wrap="none" lIns="92075" tIns="46038" rIns="92075" bIns="46038" anchor="ctr"/>
          <a:lstStyle/>
          <a:p>
            <a:endParaRPr lang="zh-CN" altLang="en-US"/>
          </a:p>
        </p:txBody>
      </p:sp>
    </p:spTree>
  </p:cSld>
  <p:clrMapOvr>
    <a:masterClrMapping/>
  </p:clrMapOvr>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858" name="Rectangle 2"/>
          <p:cNvSpPr>
            <a:spLocks noGrp="1" noChangeArrowheads="1"/>
          </p:cNvSpPr>
          <p:nvPr>
            <p:ph idx="1"/>
          </p:nvPr>
        </p:nvSpPr>
        <p:spPr>
          <a:xfrm>
            <a:off x="250825" y="1052513"/>
            <a:ext cx="8424863" cy="5495925"/>
          </a:xfrm>
        </p:spPr>
        <p:txBody>
          <a:bodyPr>
            <a:normAutofit/>
          </a:bodyPr>
          <a:lstStyle/>
          <a:p>
            <a:pPr marL="536575" indent="-536575" eaLnBrk="1" fontAlgn="auto" hangingPunct="1">
              <a:spcAft>
                <a:spcPts val="0"/>
              </a:spcAft>
              <a:buClr>
                <a:schemeClr val="accent3"/>
              </a:buClr>
              <a:buFont typeface="Wingdings" pitchFamily="2" charset="2"/>
              <a:buNone/>
              <a:defRPr/>
            </a:pPr>
            <a:r>
              <a:rPr lang="en-US" altLang="zh-CN" sz="2800" b="1" dirty="0">
                <a:latin typeface="宋体" pitchFamily="2" charset="-122"/>
              </a:rPr>
              <a:t>4. </a:t>
            </a:r>
            <a:r>
              <a:rPr lang="zh-CN" altLang="en-US" sz="2800" b="1" dirty="0">
                <a:latin typeface="宋体" pitchFamily="2" charset="-122"/>
              </a:rPr>
              <a:t>如果一个字符串常量在一行内写不下时</a:t>
            </a:r>
            <a:r>
              <a:rPr lang="zh-CN" altLang="en-US" sz="2800" b="1" dirty="0">
                <a:effectLst>
                  <a:outerShdw blurRad="38100" dist="38100" dir="2700000" algn="tl">
                    <a:srgbClr val="C0C0C0"/>
                  </a:outerShdw>
                </a:effectLst>
                <a:latin typeface="宋体" pitchFamily="2" charset="-122"/>
              </a:rPr>
              <a:t>：</a:t>
            </a:r>
          </a:p>
          <a:p>
            <a:pPr marL="536575" indent="-536575" algn="just" eaLnBrk="1" fontAlgn="auto" hangingPunct="1">
              <a:spcAft>
                <a:spcPts val="0"/>
              </a:spcAft>
              <a:buClr>
                <a:schemeClr val="accent3"/>
              </a:buClr>
              <a:buFont typeface="Wingdings" pitchFamily="2" charset="2"/>
              <a:buNone/>
              <a:defRPr/>
            </a:pPr>
            <a:r>
              <a:rPr lang="en-US" altLang="zh-CN" sz="2800" b="1" dirty="0">
                <a:effectLst>
                  <a:outerShdw blurRad="38100" dist="38100" dir="2700000" algn="tl">
                    <a:srgbClr val="C0C0C0"/>
                  </a:outerShdw>
                </a:effectLst>
                <a:latin typeface="宋体" pitchFamily="2" charset="-122"/>
              </a:rPr>
              <a:t>(1) </a:t>
            </a:r>
            <a:r>
              <a:rPr lang="zh-CN" altLang="en-US" sz="2800" b="1" dirty="0">
                <a:effectLst>
                  <a:outerShdw blurRad="38100" dist="38100" dir="2700000" algn="tl">
                    <a:srgbClr val="C0C0C0"/>
                  </a:outerShdw>
                </a:effectLst>
                <a:latin typeface="宋体" pitchFamily="2" charset="-122"/>
              </a:rPr>
              <a:t>在键入字符 </a:t>
            </a:r>
            <a:r>
              <a:rPr lang="en-US" altLang="zh-CN" sz="2800" b="1" dirty="0">
                <a:effectLst>
                  <a:outerShdw blurRad="38100" dist="38100" dir="2700000" algn="tl">
                    <a:srgbClr val="C0C0C0"/>
                  </a:outerShdw>
                </a:effectLst>
                <a:latin typeface="宋体" pitchFamily="2" charset="-122"/>
              </a:rPr>
              <a:t>'\' </a:t>
            </a:r>
            <a:r>
              <a:rPr lang="zh-CN" altLang="en-US" sz="2800" b="1" dirty="0">
                <a:effectLst>
                  <a:outerShdw blurRad="38100" dist="38100" dir="2700000" algn="tl">
                    <a:srgbClr val="C0C0C0"/>
                  </a:outerShdw>
                </a:effectLst>
                <a:latin typeface="宋体" pitchFamily="2" charset="-122"/>
              </a:rPr>
              <a:t>之后紧接键入回车键。</a:t>
            </a:r>
          </a:p>
          <a:p>
            <a:pPr marL="536575" indent="-536575" algn="just" eaLnBrk="1" fontAlgn="auto" hangingPunct="1">
              <a:spcAft>
                <a:spcPts val="0"/>
              </a:spcAft>
              <a:buClr>
                <a:schemeClr val="accent3"/>
              </a:buClr>
              <a:buFont typeface="Wingdings" pitchFamily="2" charset="2"/>
              <a:buNone/>
              <a:defRPr/>
            </a:pPr>
            <a:r>
              <a:rPr lang="zh-CN" altLang="en-US" sz="2800" b="1" dirty="0">
                <a:effectLst>
                  <a:outerShdw blurRad="38100" dist="38100" dir="2700000" algn="tl">
                    <a:srgbClr val="C0C0C0"/>
                  </a:outerShdw>
                </a:effectLst>
                <a:latin typeface="宋体" pitchFamily="2" charset="-122"/>
              </a:rPr>
              <a:t>例如</a:t>
            </a:r>
            <a:r>
              <a:rPr lang="en-US" altLang="zh-CN" sz="2800" b="1" dirty="0">
                <a:effectLst>
                  <a:outerShdw blurRad="38100" dist="38100" dir="2700000" algn="tl">
                    <a:srgbClr val="C0C0C0"/>
                  </a:outerShdw>
                </a:effectLst>
                <a:latin typeface="宋体" pitchFamily="2" charset="-122"/>
              </a:rPr>
              <a:t>:  </a:t>
            </a:r>
            <a:r>
              <a:rPr lang="en-US" altLang="zh-CN" sz="2800" b="1" dirty="0">
                <a:solidFill>
                  <a:srgbClr val="FF0000"/>
                </a:solidFill>
                <a:effectLst>
                  <a:outerShdw blurRad="38100" dist="38100" dir="2700000" algn="tl">
                    <a:srgbClr val="C0C0C0"/>
                  </a:outerShdw>
                </a:effectLst>
                <a:latin typeface="宋体" pitchFamily="2" charset="-122"/>
              </a:rPr>
              <a:t>"</a:t>
            </a:r>
            <a:r>
              <a:rPr lang="en-US" altLang="zh-CN" sz="2800" b="1" dirty="0">
                <a:effectLst>
                  <a:outerShdw blurRad="38100" dist="38100" dir="2700000" algn="tl">
                    <a:srgbClr val="C0C0C0"/>
                  </a:outerShdw>
                </a:effectLst>
                <a:latin typeface="宋体" pitchFamily="2" charset="-122"/>
              </a:rPr>
              <a:t>I am a </a:t>
            </a:r>
            <a:r>
              <a:rPr lang="en-US" altLang="zh-CN" sz="2800" b="1" dirty="0" err="1">
                <a:effectLst>
                  <a:outerShdw blurRad="38100" dist="38100" dir="2700000" algn="tl">
                    <a:srgbClr val="C0C0C0"/>
                  </a:outerShdw>
                </a:effectLst>
                <a:latin typeface="宋体" pitchFamily="2" charset="-122"/>
              </a:rPr>
              <a:t>st</a:t>
            </a:r>
            <a:r>
              <a:rPr lang="en-US" altLang="zh-CN" sz="2800" b="1" dirty="0">
                <a:effectLst>
                  <a:outerShdw blurRad="38100" dist="38100" dir="2700000" algn="tl">
                    <a:srgbClr val="C0C0C0"/>
                  </a:outerShdw>
                </a:effectLst>
                <a:latin typeface="宋体" pitchFamily="2" charset="-122"/>
              </a:rPr>
              <a:t>\ (</a:t>
            </a:r>
            <a:r>
              <a:rPr lang="zh-CN" altLang="en-US" sz="2800" b="1" dirty="0">
                <a:effectLst>
                  <a:outerShdw blurRad="38100" dist="38100" dir="2700000" algn="tl">
                    <a:srgbClr val="C0C0C0"/>
                  </a:outerShdw>
                </a:effectLst>
                <a:latin typeface="宋体" pitchFamily="2" charset="-122"/>
              </a:rPr>
              <a:t>回车换行符</a:t>
            </a:r>
            <a:r>
              <a:rPr lang="en-US" altLang="zh-CN" sz="2800" b="1" dirty="0">
                <a:effectLst>
                  <a:outerShdw blurRad="38100" dist="38100" dir="2700000" algn="tl">
                    <a:srgbClr val="C0C0C0"/>
                  </a:outerShdw>
                </a:effectLst>
                <a:latin typeface="宋体" pitchFamily="2" charset="-122"/>
              </a:rPr>
              <a:t>)</a:t>
            </a:r>
          </a:p>
          <a:p>
            <a:pPr marL="536575" indent="-536575" algn="just" eaLnBrk="1" fontAlgn="auto" hangingPunct="1">
              <a:spcAft>
                <a:spcPts val="0"/>
              </a:spcAft>
              <a:buClr>
                <a:schemeClr val="accent3"/>
              </a:buClr>
              <a:buFont typeface="Wingdings" pitchFamily="2" charset="2"/>
              <a:buNone/>
              <a:defRPr/>
            </a:pPr>
            <a:r>
              <a:rPr lang="en-US" altLang="zh-CN" sz="2800" b="1" dirty="0">
                <a:effectLst>
                  <a:outerShdw blurRad="38100" dist="38100" dir="2700000" algn="tl">
                    <a:srgbClr val="C0C0C0"/>
                  </a:outerShdw>
                </a:effectLst>
                <a:latin typeface="宋体" pitchFamily="2" charset="-122"/>
              </a:rPr>
              <a:t>       ring.</a:t>
            </a:r>
            <a:r>
              <a:rPr lang="en-US" altLang="zh-CN" sz="2800" b="1" dirty="0">
                <a:solidFill>
                  <a:srgbClr val="FF0000"/>
                </a:solidFill>
                <a:effectLst>
                  <a:outerShdw blurRad="38100" dist="38100" dir="2700000" algn="tl">
                    <a:srgbClr val="C0C0C0"/>
                  </a:outerShdw>
                </a:effectLst>
                <a:latin typeface="宋体" pitchFamily="2" charset="-122"/>
              </a:rPr>
              <a:t>"</a:t>
            </a:r>
          </a:p>
          <a:p>
            <a:pPr marL="536575" indent="-536575" algn="just" eaLnBrk="1" fontAlgn="auto" hangingPunct="1">
              <a:spcAft>
                <a:spcPts val="0"/>
              </a:spcAft>
              <a:buClr>
                <a:schemeClr val="accent3"/>
              </a:buClr>
              <a:buFont typeface="Wingdings" pitchFamily="2" charset="2"/>
              <a:buNone/>
              <a:defRPr/>
            </a:pPr>
            <a:r>
              <a:rPr lang="zh-CN" altLang="en-US" sz="2800" b="1" dirty="0">
                <a:effectLst>
                  <a:outerShdw blurRad="38100" dist="38100" dir="2700000" algn="tl">
                    <a:srgbClr val="C0C0C0"/>
                  </a:outerShdw>
                </a:effectLst>
                <a:latin typeface="宋体" pitchFamily="2" charset="-122"/>
              </a:rPr>
              <a:t>就是字符串常量  </a:t>
            </a:r>
            <a:r>
              <a:rPr lang="en-US" altLang="zh-CN" sz="2800" b="1" dirty="0">
                <a:effectLst>
                  <a:outerShdw blurRad="38100" dist="38100" dir="2700000" algn="tl">
                    <a:srgbClr val="C0C0C0"/>
                  </a:outerShdw>
                </a:effectLst>
                <a:latin typeface="宋体" pitchFamily="2" charset="-122"/>
              </a:rPr>
              <a:t>"I am a string."</a:t>
            </a:r>
            <a:r>
              <a:rPr lang="zh-CN" altLang="en-US" sz="2800" b="1" dirty="0">
                <a:effectLst>
                  <a:outerShdw blurRad="38100" dist="38100" dir="2700000" algn="tl">
                    <a:srgbClr val="C0C0C0"/>
                  </a:outerShdw>
                </a:effectLst>
                <a:latin typeface="宋体" pitchFamily="2" charset="-122"/>
              </a:rPr>
              <a:t>。</a:t>
            </a:r>
          </a:p>
          <a:p>
            <a:pPr marL="536575" indent="-536575" algn="just" eaLnBrk="1" fontAlgn="auto" hangingPunct="1">
              <a:spcAft>
                <a:spcPts val="0"/>
              </a:spcAft>
              <a:buClr>
                <a:schemeClr val="accent3"/>
              </a:buClr>
              <a:buFont typeface="Wingdings" pitchFamily="2" charset="2"/>
              <a:buNone/>
              <a:defRPr/>
            </a:pPr>
            <a:endParaRPr lang="zh-CN" altLang="en-US" sz="2800" b="1" dirty="0">
              <a:effectLst>
                <a:outerShdw blurRad="38100" dist="38100" dir="2700000" algn="tl">
                  <a:srgbClr val="C0C0C0"/>
                </a:outerShdw>
              </a:effectLst>
              <a:latin typeface="宋体" pitchFamily="2" charset="-122"/>
            </a:endParaRPr>
          </a:p>
          <a:p>
            <a:pPr marL="536575" indent="-536575" algn="just" eaLnBrk="1" fontAlgn="auto" hangingPunct="1">
              <a:spcAft>
                <a:spcPts val="0"/>
              </a:spcAft>
              <a:buClr>
                <a:schemeClr val="accent3"/>
              </a:buClr>
              <a:buFont typeface="Wingdings" pitchFamily="2" charset="2"/>
              <a:buNone/>
              <a:defRPr/>
            </a:pPr>
            <a:r>
              <a:rPr lang="en-US" altLang="zh-CN" sz="2800" b="1" dirty="0">
                <a:effectLst>
                  <a:outerShdw blurRad="38100" dist="38100" dir="2700000" algn="tl">
                    <a:srgbClr val="C0C0C0"/>
                  </a:outerShdw>
                </a:effectLst>
                <a:latin typeface="宋体" pitchFamily="2" charset="-122"/>
              </a:rPr>
              <a:t>(2)</a:t>
            </a:r>
            <a:r>
              <a:rPr lang="zh-CN" altLang="en-US" sz="2800" b="1" dirty="0">
                <a:effectLst>
                  <a:outerShdw blurRad="38100" dist="38100" dir="2700000" algn="tl">
                    <a:srgbClr val="C0C0C0"/>
                  </a:outerShdw>
                </a:effectLst>
                <a:latin typeface="宋体" pitchFamily="2" charset="-122"/>
              </a:rPr>
              <a:t>连续两个紧接的字符串常量</a:t>
            </a:r>
            <a:r>
              <a:rPr lang="en-US" altLang="zh-CN" sz="2800" b="1" dirty="0">
                <a:effectLst>
                  <a:outerShdw blurRad="38100" dist="38100" dir="2700000" algn="tl">
                    <a:srgbClr val="C0C0C0"/>
                  </a:outerShdw>
                </a:effectLst>
                <a:latin typeface="宋体" pitchFamily="2" charset="-122"/>
              </a:rPr>
              <a:t>(</a:t>
            </a:r>
            <a:r>
              <a:rPr lang="zh-CN" altLang="en-US" sz="2800" b="1" dirty="0">
                <a:effectLst>
                  <a:outerShdw blurRad="38100" dist="38100" dir="2700000" algn="tl">
                    <a:srgbClr val="C0C0C0"/>
                  </a:outerShdw>
                </a:effectLst>
                <a:latin typeface="宋体" pitchFamily="2" charset="-122"/>
              </a:rPr>
              <a:t>分两行写也可以</a:t>
            </a:r>
            <a:r>
              <a:rPr lang="en-US" altLang="zh-CN" sz="2800" b="1" dirty="0">
                <a:effectLst>
                  <a:outerShdw blurRad="38100" dist="38100" dir="2700000" algn="tl">
                    <a:srgbClr val="C0C0C0"/>
                  </a:outerShdw>
                </a:effectLst>
                <a:latin typeface="宋体" pitchFamily="2" charset="-122"/>
              </a:rPr>
              <a:t>)</a:t>
            </a:r>
            <a:r>
              <a:rPr lang="zh-CN" altLang="en-US" sz="2800" b="1" dirty="0">
                <a:effectLst>
                  <a:outerShdw blurRad="38100" dist="38100" dir="2700000" algn="tl">
                    <a:srgbClr val="C0C0C0"/>
                  </a:outerShdw>
                </a:effectLst>
                <a:latin typeface="宋体" pitchFamily="2" charset="-122"/>
              </a:rPr>
              <a:t>相当于一个字符串常量。</a:t>
            </a:r>
          </a:p>
          <a:p>
            <a:pPr marL="536575" indent="-536575" algn="just" eaLnBrk="1" fontAlgn="auto" hangingPunct="1">
              <a:spcAft>
                <a:spcPts val="0"/>
              </a:spcAft>
              <a:buClr>
                <a:schemeClr val="accent3"/>
              </a:buClr>
              <a:buFont typeface="Wingdings" pitchFamily="2" charset="2"/>
              <a:buNone/>
              <a:defRPr/>
            </a:pPr>
            <a:r>
              <a:rPr lang="zh-CN" altLang="en-US" sz="2800" b="1" dirty="0">
                <a:effectLst>
                  <a:outerShdw blurRad="38100" dist="38100" dir="2700000" algn="tl">
                    <a:srgbClr val="C0C0C0"/>
                  </a:outerShdw>
                </a:effectLst>
                <a:latin typeface="宋体" pitchFamily="2" charset="-122"/>
              </a:rPr>
              <a:t>例如： </a:t>
            </a:r>
            <a:r>
              <a:rPr lang="en-US" altLang="zh-CN" sz="2800" b="1" dirty="0">
                <a:effectLst>
                  <a:outerShdw blurRad="38100" dist="38100" dir="2700000" algn="tl">
                    <a:srgbClr val="C0C0C0"/>
                  </a:outerShdw>
                </a:effectLst>
                <a:latin typeface="宋体" pitchFamily="2" charset="-122"/>
              </a:rPr>
              <a:t>"I am "  "a string."</a:t>
            </a:r>
          </a:p>
          <a:p>
            <a:pPr marL="536575" indent="-536575" algn="just" eaLnBrk="1" fontAlgn="auto" hangingPunct="1">
              <a:spcAft>
                <a:spcPts val="0"/>
              </a:spcAft>
              <a:buClr>
                <a:schemeClr val="accent3"/>
              </a:buClr>
              <a:buFont typeface="Wingdings" pitchFamily="2" charset="2"/>
              <a:buNone/>
              <a:defRPr/>
            </a:pPr>
            <a:r>
              <a:rPr lang="en-US" altLang="zh-CN" sz="2800" b="1" dirty="0">
                <a:effectLst>
                  <a:outerShdw blurRad="38100" dist="38100" dir="2700000" algn="tl">
                    <a:srgbClr val="C0C0C0"/>
                  </a:outerShdw>
                </a:effectLst>
                <a:latin typeface="宋体" pitchFamily="2" charset="-122"/>
              </a:rPr>
              <a:t>       </a:t>
            </a:r>
            <a:r>
              <a:rPr lang="zh-CN" altLang="en-US" sz="2800" b="1" dirty="0">
                <a:effectLst>
                  <a:outerShdw blurRad="38100" dist="38100" dir="2700000" algn="tl">
                    <a:srgbClr val="C0C0C0"/>
                  </a:outerShdw>
                </a:effectLst>
                <a:latin typeface="宋体" pitchFamily="2" charset="-122"/>
              </a:rPr>
              <a:t>也是字符串常量  </a:t>
            </a:r>
            <a:r>
              <a:rPr lang="en-US" altLang="zh-CN" sz="2800" b="1" dirty="0">
                <a:effectLst>
                  <a:outerShdw blurRad="38100" dist="38100" dir="2700000" algn="tl">
                    <a:srgbClr val="C0C0C0"/>
                  </a:outerShdw>
                </a:effectLst>
                <a:latin typeface="宋体" pitchFamily="2" charset="-122"/>
              </a:rPr>
              <a:t>"I am a string."</a:t>
            </a:r>
            <a:r>
              <a:rPr lang="zh-CN" altLang="en-US" sz="2800" b="1" dirty="0">
                <a:effectLst>
                  <a:outerShdw blurRad="38100" dist="38100" dir="2700000" algn="tl">
                    <a:srgbClr val="C0C0C0"/>
                  </a:outerShdw>
                </a:effectLst>
                <a:latin typeface="宋体" pitchFamily="2" charset="-122"/>
              </a:rPr>
              <a:t>。</a:t>
            </a:r>
          </a:p>
        </p:txBody>
      </p:sp>
      <p:sp>
        <p:nvSpPr>
          <p:cNvPr id="6" name="灯片编号占位符 5"/>
          <p:cNvSpPr>
            <a:spLocks noGrp="1"/>
          </p:cNvSpPr>
          <p:nvPr>
            <p:ph type="sldNum" sz="quarter" idx="12"/>
          </p:nvPr>
        </p:nvSpPr>
        <p:spPr/>
        <p:txBody>
          <a:bodyPr/>
          <a:lstStyle/>
          <a:p>
            <a:pPr>
              <a:defRPr/>
            </a:pPr>
            <a:fld id="{08497223-9845-4C97-980F-DD6D853DC95E}" type="slidenum">
              <a:rPr lang="en-US" altLang="zh-CN"/>
              <a:pPr>
                <a:defRPr/>
              </a:pPr>
              <a:t>91</a:t>
            </a:fld>
            <a:endParaRPr lang="en-US" altLang="zh-CN"/>
          </a:p>
        </p:txBody>
      </p:sp>
      <p:sp>
        <p:nvSpPr>
          <p:cNvPr id="88068" name="Line 4"/>
          <p:cNvSpPr>
            <a:spLocks noChangeShapeType="1"/>
          </p:cNvSpPr>
          <p:nvPr/>
        </p:nvSpPr>
        <p:spPr bwMode="auto">
          <a:xfrm>
            <a:off x="457200" y="5257800"/>
            <a:ext cx="4191000" cy="0"/>
          </a:xfrm>
          <a:prstGeom prst="line">
            <a:avLst/>
          </a:prstGeom>
          <a:noFill/>
          <a:ln w="9525">
            <a:noFill/>
            <a:round/>
            <a:headEnd/>
            <a:tailEnd/>
          </a:ln>
        </p:spPr>
        <p:txBody>
          <a:bodyPr wrap="none" lIns="92075" tIns="46038" rIns="92075" bIns="46038" anchor="ctr"/>
          <a:lstStyle/>
          <a:p>
            <a:endParaRPr lang="zh-CN" altLang="en-US"/>
          </a:p>
        </p:txBody>
      </p:sp>
    </p:spTree>
  </p:cSld>
  <p:clrMapOvr>
    <a:masterClrMapping/>
  </p:clrMapOvr>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5"/>
          <p:cNvSpPr>
            <a:spLocks noGrp="1" noChangeArrowheads="1"/>
          </p:cNvSpPr>
          <p:nvPr>
            <p:ph type="title"/>
          </p:nvPr>
        </p:nvSpPr>
        <p:spPr>
          <a:xfrm>
            <a:off x="539750" y="260350"/>
            <a:ext cx="8088313" cy="647700"/>
          </a:xfrm>
          <a:noFill/>
        </p:spPr>
        <p:txBody>
          <a:bodyPr lIns="92075" tIns="46038" rIns="92075" bIns="46038"/>
          <a:lstStyle/>
          <a:p>
            <a:pPr eaLnBrk="1" hangingPunct="1"/>
            <a:r>
              <a:rPr lang="zh-CN" altLang="en-US">
                <a:solidFill>
                  <a:schemeClr val="tx1"/>
                </a:solidFill>
                <a:latin typeface="黑体" pitchFamily="2" charset="-122"/>
                <a:ea typeface="黑体" pitchFamily="2" charset="-122"/>
              </a:rPr>
              <a:t>字符串 输入输出</a:t>
            </a:r>
          </a:p>
        </p:txBody>
      </p:sp>
      <p:sp>
        <p:nvSpPr>
          <p:cNvPr id="378882" name="Rectangle 2"/>
          <p:cNvSpPr>
            <a:spLocks noGrp="1" noChangeArrowheads="1"/>
          </p:cNvSpPr>
          <p:nvPr>
            <p:ph idx="1"/>
          </p:nvPr>
        </p:nvSpPr>
        <p:spPr>
          <a:xfrm>
            <a:off x="323850" y="908050"/>
            <a:ext cx="8439150" cy="5473700"/>
          </a:xfrm>
        </p:spPr>
        <p:txBody>
          <a:bodyPr>
            <a:normAutofit/>
          </a:bodyPr>
          <a:lstStyle/>
          <a:p>
            <a:pPr marL="0" indent="0" eaLnBrk="1" fontAlgn="auto" hangingPunct="1">
              <a:spcAft>
                <a:spcPts val="0"/>
              </a:spcAft>
              <a:buClr>
                <a:schemeClr val="accent3"/>
              </a:buClr>
              <a:buFont typeface="Wingdings" pitchFamily="2" charset="2"/>
              <a:buNone/>
              <a:defRPr/>
            </a:pPr>
            <a:r>
              <a:rPr lang="zh-CN" altLang="en-US" sz="3200" b="1" dirty="0">
                <a:latin typeface="黑体" pitchFamily="2" charset="-122"/>
                <a:ea typeface="黑体" pitchFamily="2" charset="-122"/>
              </a:rPr>
              <a:t>字符串的输入输出有两种方式：</a:t>
            </a:r>
          </a:p>
          <a:p>
            <a:pPr marL="0" indent="0" eaLnBrk="1" fontAlgn="auto" hangingPunct="1">
              <a:spcAft>
                <a:spcPts val="0"/>
              </a:spcAft>
              <a:buClr>
                <a:schemeClr val="accent3"/>
              </a:buClr>
              <a:buFont typeface="Wingdings" pitchFamily="2" charset="2"/>
              <a:buNone/>
              <a:defRPr/>
            </a:pPr>
            <a:r>
              <a:rPr lang="zh-CN" altLang="en-US" b="1" dirty="0">
                <a:latin typeface="黑体" pitchFamily="2" charset="-122"/>
                <a:ea typeface="黑体" pitchFamily="2" charset="-122"/>
              </a:rPr>
              <a:t>格式 </a:t>
            </a:r>
            <a:r>
              <a:rPr lang="en-US" altLang="zh-CN" b="1" dirty="0">
                <a:latin typeface="黑体" pitchFamily="2" charset="-122"/>
                <a:ea typeface="黑体" pitchFamily="2" charset="-122"/>
              </a:rPr>
              <a:t>"%c"</a:t>
            </a:r>
            <a:r>
              <a:rPr lang="zh-CN" altLang="en-US" b="1" dirty="0">
                <a:latin typeface="黑体" pitchFamily="2" charset="-122"/>
                <a:ea typeface="黑体" pitchFamily="2" charset="-122"/>
              </a:rPr>
              <a:t>：结合循环结构逐个字符输入或输出。</a:t>
            </a:r>
          </a:p>
          <a:p>
            <a:pPr marL="0" indent="0" eaLnBrk="1" fontAlgn="auto" hangingPunct="1">
              <a:spcAft>
                <a:spcPts val="0"/>
              </a:spcAft>
              <a:buClr>
                <a:schemeClr val="accent3"/>
              </a:buClr>
              <a:buFont typeface="Wingdings" pitchFamily="2" charset="2"/>
              <a:buNone/>
              <a:defRPr/>
            </a:pPr>
            <a:r>
              <a:rPr lang="zh-CN" altLang="en-US" b="1" dirty="0">
                <a:latin typeface="黑体" pitchFamily="2" charset="-122"/>
                <a:ea typeface="黑体" pitchFamily="2" charset="-122"/>
              </a:rPr>
              <a:t>格式 </a:t>
            </a:r>
            <a:r>
              <a:rPr lang="en-US" altLang="zh-CN" b="1" dirty="0">
                <a:latin typeface="黑体" pitchFamily="2" charset="-122"/>
                <a:ea typeface="黑体" pitchFamily="2" charset="-122"/>
              </a:rPr>
              <a:t>"%s"</a:t>
            </a:r>
            <a:r>
              <a:rPr lang="zh-CN" altLang="en-US" b="1" dirty="0">
                <a:latin typeface="黑体" pitchFamily="2" charset="-122"/>
                <a:ea typeface="黑体" pitchFamily="2" charset="-122"/>
              </a:rPr>
              <a:t>：将字符串整体地输入或输出。</a:t>
            </a:r>
          </a:p>
          <a:p>
            <a:pPr marL="0" indent="0" eaLnBrk="1" fontAlgn="auto" hangingPunct="1">
              <a:spcAft>
                <a:spcPts val="0"/>
              </a:spcAft>
              <a:buClr>
                <a:schemeClr val="accent3"/>
              </a:buClr>
              <a:buFont typeface="Wingdings" pitchFamily="2" charset="2"/>
              <a:buNone/>
              <a:defRPr/>
            </a:pPr>
            <a:r>
              <a:rPr lang="zh-CN" altLang="en-US" b="1" dirty="0">
                <a:latin typeface="黑体" pitchFamily="2" charset="-122"/>
                <a:ea typeface="黑体" pitchFamily="2" charset="-122"/>
              </a:rPr>
              <a:t>例如：</a:t>
            </a:r>
          </a:p>
          <a:p>
            <a:pPr marL="0" indent="0" eaLnBrk="1" fontAlgn="auto" hangingPunct="1">
              <a:spcAft>
                <a:spcPts val="0"/>
              </a:spcAft>
              <a:buClr>
                <a:schemeClr val="accent3"/>
              </a:buClr>
              <a:buFont typeface="Wingdings" pitchFamily="2" charset="2"/>
              <a:buNone/>
              <a:defRPr/>
            </a:pPr>
            <a:r>
              <a:rPr lang="zh-CN" altLang="en-US" b="1" dirty="0">
                <a:latin typeface="黑体" pitchFamily="2" charset="-122"/>
                <a:ea typeface="黑体" pitchFamily="2" charset="-122"/>
              </a:rPr>
              <a:t>      </a:t>
            </a:r>
            <a:r>
              <a:rPr lang="en-US" altLang="zh-CN" b="1" dirty="0">
                <a:latin typeface="黑体" pitchFamily="2" charset="-122"/>
                <a:ea typeface="黑体" pitchFamily="2" charset="-122"/>
              </a:rPr>
              <a:t>char s[ ] = "C language";</a:t>
            </a:r>
          </a:p>
          <a:p>
            <a:pPr marL="0" indent="0" eaLnBrk="1" fontAlgn="auto" hangingPunct="1">
              <a:spcAft>
                <a:spcPts val="0"/>
              </a:spcAft>
              <a:buClr>
                <a:schemeClr val="accent3"/>
              </a:buClr>
              <a:buFont typeface="Wingdings" pitchFamily="2" charset="2"/>
              <a:buNone/>
              <a:defRPr/>
            </a:pPr>
            <a:r>
              <a:rPr lang="zh-CN" altLang="en-US" b="1" dirty="0">
                <a:latin typeface="黑体" pitchFamily="2" charset="-122"/>
                <a:ea typeface="黑体" pitchFamily="2" charset="-122"/>
              </a:rPr>
              <a:t>用格式 </a:t>
            </a:r>
            <a:r>
              <a:rPr lang="en-US" altLang="zh-CN" b="1" dirty="0">
                <a:latin typeface="黑体" pitchFamily="2" charset="-122"/>
                <a:ea typeface="黑体" pitchFamily="2" charset="-122"/>
              </a:rPr>
              <a:t>"%c"</a:t>
            </a:r>
            <a:r>
              <a:rPr lang="zh-CN" altLang="en-US" b="1" dirty="0">
                <a:latin typeface="黑体" pitchFamily="2" charset="-122"/>
                <a:ea typeface="黑体" pitchFamily="2" charset="-122"/>
              </a:rPr>
              <a:t>方法输出：</a:t>
            </a:r>
          </a:p>
          <a:p>
            <a:pPr marL="0" indent="0" eaLnBrk="1" fontAlgn="auto" hangingPunct="1">
              <a:spcAft>
                <a:spcPts val="0"/>
              </a:spcAft>
              <a:buClr>
                <a:schemeClr val="accent3"/>
              </a:buClr>
              <a:buFont typeface="Wingdings" pitchFamily="2" charset="2"/>
              <a:buNone/>
              <a:defRPr/>
            </a:pPr>
            <a:r>
              <a:rPr lang="zh-CN" altLang="en-US" b="1" dirty="0">
                <a:latin typeface="黑体" pitchFamily="2" charset="-122"/>
                <a:ea typeface="黑体" pitchFamily="2" charset="-122"/>
              </a:rPr>
              <a:t>      </a:t>
            </a:r>
            <a:r>
              <a:rPr lang="en-US" altLang="zh-CN" b="1" dirty="0">
                <a:latin typeface="黑体" pitchFamily="2" charset="-122"/>
                <a:ea typeface="黑体" pitchFamily="2" charset="-122"/>
              </a:rPr>
              <a:t>for ( </a:t>
            </a:r>
            <a:r>
              <a:rPr lang="en-US" altLang="zh-CN" b="1" dirty="0" err="1">
                <a:latin typeface="黑体" pitchFamily="2" charset="-122"/>
                <a:ea typeface="黑体" pitchFamily="2" charset="-122"/>
              </a:rPr>
              <a:t>i</a:t>
            </a:r>
            <a:r>
              <a:rPr lang="en-US" altLang="zh-CN" b="1" dirty="0">
                <a:latin typeface="黑体" pitchFamily="2" charset="-122"/>
                <a:ea typeface="黑体" pitchFamily="2" charset="-122"/>
              </a:rPr>
              <a:t> = 0;  s[</a:t>
            </a:r>
            <a:r>
              <a:rPr lang="en-US" altLang="zh-CN" b="1" dirty="0" err="1">
                <a:latin typeface="黑体" pitchFamily="2" charset="-122"/>
                <a:ea typeface="黑体" pitchFamily="2" charset="-122"/>
              </a:rPr>
              <a:t>i</a:t>
            </a:r>
            <a:r>
              <a:rPr lang="en-US" altLang="zh-CN" b="1" dirty="0">
                <a:latin typeface="黑体" pitchFamily="2" charset="-122"/>
                <a:ea typeface="黑体" pitchFamily="2" charset="-122"/>
              </a:rPr>
              <a:t>];  ++</a:t>
            </a:r>
            <a:r>
              <a:rPr lang="en-US" altLang="zh-CN" b="1" dirty="0" err="1">
                <a:latin typeface="黑体" pitchFamily="2" charset="-122"/>
                <a:ea typeface="黑体" pitchFamily="2" charset="-122"/>
              </a:rPr>
              <a:t>i</a:t>
            </a:r>
            <a:r>
              <a:rPr lang="en-US" altLang="zh-CN" b="1" dirty="0">
                <a:latin typeface="黑体" pitchFamily="2" charset="-122"/>
                <a:ea typeface="黑体" pitchFamily="2" charset="-122"/>
              </a:rPr>
              <a:t> )</a:t>
            </a:r>
          </a:p>
          <a:p>
            <a:pPr marL="0" indent="0" eaLnBrk="1" fontAlgn="auto" hangingPunct="1">
              <a:spcAft>
                <a:spcPts val="0"/>
              </a:spcAft>
              <a:buClr>
                <a:schemeClr val="accent3"/>
              </a:buClr>
              <a:buFont typeface="Wingdings" pitchFamily="2" charset="2"/>
              <a:buNone/>
              <a:defRPr/>
            </a:pPr>
            <a:r>
              <a:rPr lang="en-US" altLang="zh-CN" b="1" dirty="0">
                <a:latin typeface="黑体" pitchFamily="2" charset="-122"/>
                <a:ea typeface="黑体" pitchFamily="2" charset="-122"/>
              </a:rPr>
              <a:t>              </a:t>
            </a:r>
            <a:r>
              <a:rPr lang="en-US" altLang="zh-CN" b="1" dirty="0" err="1">
                <a:latin typeface="黑体" pitchFamily="2" charset="-122"/>
                <a:ea typeface="黑体" pitchFamily="2" charset="-122"/>
              </a:rPr>
              <a:t>printf</a:t>
            </a:r>
            <a:r>
              <a:rPr lang="en-US" altLang="zh-CN" b="1" dirty="0">
                <a:latin typeface="黑体" pitchFamily="2" charset="-122"/>
                <a:ea typeface="黑体" pitchFamily="2" charset="-122"/>
              </a:rPr>
              <a:t> ( "%c",  s[</a:t>
            </a:r>
            <a:r>
              <a:rPr lang="en-US" altLang="zh-CN" b="1" dirty="0" err="1">
                <a:latin typeface="黑体" pitchFamily="2" charset="-122"/>
                <a:ea typeface="黑体" pitchFamily="2" charset="-122"/>
              </a:rPr>
              <a:t>i</a:t>
            </a:r>
            <a:r>
              <a:rPr lang="en-US" altLang="zh-CN" b="1" dirty="0">
                <a:latin typeface="黑体" pitchFamily="2" charset="-122"/>
                <a:ea typeface="黑体" pitchFamily="2" charset="-122"/>
              </a:rPr>
              <a:t>] );</a:t>
            </a:r>
          </a:p>
          <a:p>
            <a:pPr marL="0" indent="0" eaLnBrk="1" fontAlgn="auto" hangingPunct="1">
              <a:spcAft>
                <a:spcPts val="0"/>
              </a:spcAft>
              <a:buClr>
                <a:schemeClr val="accent3"/>
              </a:buClr>
              <a:buFont typeface="Wingdings" pitchFamily="2" charset="2"/>
              <a:buNone/>
              <a:defRPr/>
            </a:pPr>
            <a:r>
              <a:rPr lang="zh-CN" altLang="en-US" b="1" dirty="0">
                <a:latin typeface="黑体" pitchFamily="2" charset="-122"/>
                <a:ea typeface="黑体" pitchFamily="2" charset="-122"/>
              </a:rPr>
              <a:t>用格式 </a:t>
            </a:r>
            <a:r>
              <a:rPr lang="en-US" altLang="zh-CN" b="1" dirty="0">
                <a:latin typeface="黑体" pitchFamily="2" charset="-122"/>
                <a:ea typeface="黑体" pitchFamily="2" charset="-122"/>
              </a:rPr>
              <a:t>"%s"</a:t>
            </a:r>
            <a:r>
              <a:rPr lang="zh-CN" altLang="en-US" b="1" dirty="0">
                <a:latin typeface="黑体" pitchFamily="2" charset="-122"/>
                <a:ea typeface="黑体" pitchFamily="2" charset="-122"/>
              </a:rPr>
              <a:t>方法输出：</a:t>
            </a:r>
          </a:p>
          <a:p>
            <a:pPr marL="0" indent="0" eaLnBrk="1" fontAlgn="auto" hangingPunct="1">
              <a:spcAft>
                <a:spcPts val="0"/>
              </a:spcAft>
              <a:buClr>
                <a:schemeClr val="accent3"/>
              </a:buClr>
              <a:buFont typeface="Wingdings" pitchFamily="2" charset="2"/>
              <a:buNone/>
              <a:defRPr/>
            </a:pPr>
            <a:r>
              <a:rPr lang="zh-CN" altLang="en-US" b="1" dirty="0">
                <a:latin typeface="黑体" pitchFamily="2" charset="-122"/>
                <a:ea typeface="黑体" pitchFamily="2" charset="-122"/>
              </a:rPr>
              <a:t>        </a:t>
            </a:r>
            <a:r>
              <a:rPr lang="en-US" altLang="zh-CN" b="1" dirty="0" err="1">
                <a:latin typeface="黑体" pitchFamily="2" charset="-122"/>
                <a:ea typeface="黑体" pitchFamily="2" charset="-122"/>
              </a:rPr>
              <a:t>printf</a:t>
            </a:r>
            <a:r>
              <a:rPr lang="en-US" altLang="zh-CN" b="1" dirty="0">
                <a:latin typeface="黑体" pitchFamily="2" charset="-122"/>
                <a:ea typeface="黑体" pitchFamily="2" charset="-122"/>
              </a:rPr>
              <a:t> ( "%s",  s );</a:t>
            </a:r>
          </a:p>
        </p:txBody>
      </p:sp>
      <p:sp>
        <p:nvSpPr>
          <p:cNvPr id="7" name="灯片编号占位符 5"/>
          <p:cNvSpPr>
            <a:spLocks noGrp="1"/>
          </p:cNvSpPr>
          <p:nvPr>
            <p:ph type="sldNum" sz="quarter" idx="12"/>
          </p:nvPr>
        </p:nvSpPr>
        <p:spPr/>
        <p:txBody>
          <a:bodyPr/>
          <a:lstStyle/>
          <a:p>
            <a:pPr>
              <a:defRPr/>
            </a:pPr>
            <a:fld id="{40BA3D24-DE12-41C3-AB6C-254C90CAD488}" type="slidenum">
              <a:rPr lang="en-US" altLang="zh-CN"/>
              <a:pPr>
                <a:defRPr/>
              </a:pPr>
              <a:t>92</a:t>
            </a:fld>
            <a:endParaRPr lang="en-US" altLang="zh-CN"/>
          </a:p>
        </p:txBody>
      </p:sp>
      <p:sp>
        <p:nvSpPr>
          <p:cNvPr id="89093" name="Line 4"/>
          <p:cNvSpPr>
            <a:spLocks noChangeShapeType="1"/>
          </p:cNvSpPr>
          <p:nvPr/>
        </p:nvSpPr>
        <p:spPr bwMode="auto">
          <a:xfrm>
            <a:off x="457200" y="5257800"/>
            <a:ext cx="4191000" cy="0"/>
          </a:xfrm>
          <a:prstGeom prst="line">
            <a:avLst/>
          </a:prstGeom>
          <a:noFill/>
          <a:ln w="9525">
            <a:noFill/>
            <a:round/>
            <a:headEnd/>
            <a:tailEnd/>
          </a:ln>
        </p:spPr>
        <p:txBody>
          <a:bodyPr wrap="none" lIns="92075" tIns="46038" rIns="92075" bIns="46038" anchor="ctr"/>
          <a:lstStyle/>
          <a:p>
            <a:endParaRPr lang="zh-CN" altLang="en-US"/>
          </a:p>
        </p:txBody>
      </p:sp>
    </p:spTree>
  </p:cSld>
  <p:clrMapOvr>
    <a:masterClrMapping/>
  </p:clrMapOvr>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5"/>
          <p:cNvSpPr>
            <a:spLocks noGrp="1" noChangeArrowheads="1"/>
          </p:cNvSpPr>
          <p:nvPr>
            <p:ph type="title"/>
          </p:nvPr>
        </p:nvSpPr>
        <p:spPr>
          <a:xfrm>
            <a:off x="539750" y="260350"/>
            <a:ext cx="8088313" cy="647700"/>
          </a:xfrm>
          <a:noFill/>
        </p:spPr>
        <p:txBody>
          <a:bodyPr lIns="92075" tIns="46038" rIns="92075" bIns="46038"/>
          <a:lstStyle/>
          <a:p>
            <a:pPr eaLnBrk="1" hangingPunct="1"/>
            <a:r>
              <a:rPr lang="zh-CN" altLang="en-US">
                <a:solidFill>
                  <a:schemeClr val="tx1"/>
                </a:solidFill>
                <a:latin typeface="黑体" pitchFamily="2" charset="-122"/>
                <a:ea typeface="黑体" pitchFamily="2" charset="-122"/>
              </a:rPr>
              <a:t>说明</a:t>
            </a:r>
          </a:p>
        </p:txBody>
      </p:sp>
      <p:sp>
        <p:nvSpPr>
          <p:cNvPr id="379906" name="Rectangle 2"/>
          <p:cNvSpPr>
            <a:spLocks noGrp="1" noChangeArrowheads="1"/>
          </p:cNvSpPr>
          <p:nvPr>
            <p:ph idx="1"/>
          </p:nvPr>
        </p:nvSpPr>
        <p:spPr>
          <a:xfrm>
            <a:off x="323850" y="1052513"/>
            <a:ext cx="8439150" cy="5424487"/>
          </a:xfrm>
        </p:spPr>
        <p:txBody>
          <a:bodyPr>
            <a:normAutofit/>
          </a:bodyPr>
          <a:lstStyle/>
          <a:p>
            <a:pPr marL="0" indent="0" eaLnBrk="1" fontAlgn="auto" hangingPunct="1">
              <a:lnSpc>
                <a:spcPct val="120000"/>
              </a:lnSpc>
              <a:spcAft>
                <a:spcPts val="0"/>
              </a:spcAft>
              <a:buClr>
                <a:schemeClr val="accent3"/>
              </a:buClr>
              <a:buFont typeface="Wingdings" pitchFamily="2" charset="2"/>
              <a:buNone/>
              <a:defRPr/>
            </a:pPr>
            <a:r>
              <a:rPr lang="en-US" altLang="zh-CN" b="1" dirty="0">
                <a:effectLst>
                  <a:outerShdw blurRad="38100" dist="38100" dir="2700000" algn="tl">
                    <a:srgbClr val="C0C0C0"/>
                  </a:outerShdw>
                </a:effectLst>
                <a:latin typeface="宋体" pitchFamily="2" charset="-122"/>
              </a:rPr>
              <a:t>(1)</a:t>
            </a:r>
            <a:r>
              <a:rPr lang="zh-CN" altLang="en-US" b="1" dirty="0">
                <a:effectLst>
                  <a:outerShdw blurRad="38100" dist="38100" dir="2700000" algn="tl">
                    <a:srgbClr val="C0C0C0"/>
                  </a:outerShdw>
                </a:effectLst>
                <a:latin typeface="宋体" pitchFamily="2" charset="-122"/>
              </a:rPr>
              <a:t>字符串与存储字符串的字符数组有区别。</a:t>
            </a:r>
          </a:p>
          <a:p>
            <a:pPr marL="0" indent="0" eaLnBrk="1" fontAlgn="auto" hangingPunct="1">
              <a:lnSpc>
                <a:spcPct val="120000"/>
              </a:lnSpc>
              <a:spcAft>
                <a:spcPts val="0"/>
              </a:spcAft>
              <a:buClr>
                <a:schemeClr val="accent3"/>
              </a:buClr>
              <a:buFont typeface="Wingdings" pitchFamily="2" charset="2"/>
              <a:buNone/>
              <a:defRPr/>
            </a:pPr>
            <a:r>
              <a:rPr lang="zh-CN" altLang="en-US" b="1" dirty="0">
                <a:effectLst>
                  <a:outerShdw blurRad="38100" dist="38100" dir="2700000" algn="tl">
                    <a:srgbClr val="C0C0C0"/>
                  </a:outerShdw>
                </a:effectLst>
                <a:latin typeface="宋体" pitchFamily="2" charset="-122"/>
              </a:rPr>
              <a:t>    字符串的</a:t>
            </a:r>
            <a:r>
              <a:rPr lang="zh-CN" altLang="en-US" b="1" dirty="0">
                <a:solidFill>
                  <a:srgbClr val="FF0000"/>
                </a:solidFill>
                <a:effectLst>
                  <a:outerShdw blurRad="38100" dist="38100" dir="2700000" algn="tl">
                    <a:srgbClr val="C0C0C0"/>
                  </a:outerShdw>
                </a:effectLst>
                <a:latin typeface="宋体" pitchFamily="2" charset="-122"/>
              </a:rPr>
              <a:t>有效字符</a:t>
            </a:r>
            <a:r>
              <a:rPr lang="zh-CN" altLang="en-US" b="1" dirty="0">
                <a:effectLst>
                  <a:outerShdw blurRad="38100" dist="38100" dir="2700000" algn="tl">
                    <a:srgbClr val="C0C0C0"/>
                  </a:outerShdw>
                </a:effectLst>
                <a:latin typeface="宋体" pitchFamily="2" charset="-122"/>
              </a:rPr>
              <a:t>是指从所指位置的第一个字符开始至字符串结束标志符之前的那些字符。</a:t>
            </a:r>
          </a:p>
          <a:p>
            <a:pPr marL="0" indent="0" eaLnBrk="1" fontAlgn="auto" hangingPunct="1">
              <a:lnSpc>
                <a:spcPct val="120000"/>
              </a:lnSpc>
              <a:spcAft>
                <a:spcPts val="0"/>
              </a:spcAft>
              <a:buClr>
                <a:schemeClr val="accent3"/>
              </a:buClr>
              <a:buFont typeface="Wingdings" pitchFamily="2" charset="2"/>
              <a:buNone/>
              <a:defRPr/>
            </a:pPr>
            <a:r>
              <a:rPr lang="zh-CN" altLang="en-US" b="1" dirty="0">
                <a:effectLst>
                  <a:outerShdw blurRad="38100" dist="38100" dir="2700000" algn="tl">
                    <a:srgbClr val="C0C0C0"/>
                  </a:outerShdw>
                </a:effectLst>
                <a:latin typeface="宋体" pitchFamily="2" charset="-122"/>
              </a:rPr>
              <a:t>例如：</a:t>
            </a:r>
          </a:p>
          <a:p>
            <a:pPr marL="0" indent="0" eaLnBrk="1" fontAlgn="auto" hangingPunct="1">
              <a:lnSpc>
                <a:spcPct val="120000"/>
              </a:lnSpc>
              <a:spcAft>
                <a:spcPts val="0"/>
              </a:spcAft>
              <a:buClr>
                <a:schemeClr val="accent3"/>
              </a:buClr>
              <a:buFont typeface="Wingdings" pitchFamily="2" charset="2"/>
              <a:buNone/>
              <a:defRPr/>
            </a:pPr>
            <a:r>
              <a:rPr lang="zh-CN" altLang="en-US" b="1" dirty="0">
                <a:effectLst>
                  <a:outerShdw blurRad="38100" dist="38100" dir="2700000" algn="tl">
                    <a:srgbClr val="C0C0C0"/>
                  </a:outerShdw>
                </a:effectLst>
                <a:latin typeface="宋体" pitchFamily="2" charset="-122"/>
              </a:rPr>
              <a:t>  </a:t>
            </a:r>
            <a:r>
              <a:rPr lang="en-US" altLang="zh-CN" b="1" dirty="0">
                <a:effectLst>
                  <a:outerShdw blurRad="38100" dist="38100" dir="2700000" algn="tl">
                    <a:srgbClr val="C0C0C0"/>
                  </a:outerShdw>
                </a:effectLst>
              </a:rPr>
              <a:t>char </a:t>
            </a:r>
            <a:r>
              <a:rPr lang="en-US" altLang="zh-CN" b="1" dirty="0" err="1">
                <a:effectLst>
                  <a:outerShdw blurRad="38100" dist="38100" dir="2700000" algn="tl">
                    <a:srgbClr val="C0C0C0"/>
                  </a:outerShdw>
                </a:effectLst>
              </a:rPr>
              <a:t>str</a:t>
            </a:r>
            <a:r>
              <a:rPr lang="en-US" altLang="zh-CN" b="1" dirty="0">
                <a:effectLst>
                  <a:outerShdw blurRad="38100" dist="38100" dir="2700000" algn="tl">
                    <a:srgbClr val="C0C0C0"/>
                  </a:outerShdw>
                </a:effectLst>
              </a:rPr>
              <a:t>[50] = "Pas\0cal Cobol Fortran C";</a:t>
            </a:r>
          </a:p>
          <a:p>
            <a:pPr marL="0" indent="0" eaLnBrk="1" fontAlgn="auto" hangingPunct="1">
              <a:lnSpc>
                <a:spcPct val="120000"/>
              </a:lnSpc>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a:t>
            </a:r>
            <a:r>
              <a:rPr lang="en-US" altLang="zh-CN" b="1" dirty="0" err="1">
                <a:effectLst>
                  <a:outerShdw blurRad="38100" dist="38100" dir="2700000" algn="tl">
                    <a:srgbClr val="C0C0C0"/>
                  </a:outerShdw>
                </a:effectLst>
              </a:rPr>
              <a:t>printf</a:t>
            </a:r>
            <a:r>
              <a:rPr lang="en-US" altLang="zh-CN" b="1" dirty="0">
                <a:effectLst>
                  <a:outerShdw blurRad="38100" dist="38100" dir="2700000" algn="tl">
                    <a:srgbClr val="C0C0C0"/>
                  </a:outerShdw>
                </a:effectLst>
              </a:rPr>
              <a:t> ( "%s\n", </a:t>
            </a:r>
            <a:r>
              <a:rPr lang="en-US" altLang="zh-CN" b="1" dirty="0" err="1">
                <a:effectLst>
                  <a:outerShdw blurRad="38100" dist="38100" dir="2700000" algn="tl">
                    <a:srgbClr val="C0C0C0"/>
                  </a:outerShdw>
                </a:effectLst>
              </a:rPr>
              <a:t>str</a:t>
            </a:r>
            <a:r>
              <a:rPr lang="en-US" altLang="zh-CN" b="1" dirty="0">
                <a:effectLst>
                  <a:outerShdw blurRad="38100" dist="38100" dir="2700000" algn="tl">
                    <a:srgbClr val="C0C0C0"/>
                  </a:outerShdw>
                </a:effectLst>
              </a:rPr>
              <a:t> );</a:t>
            </a:r>
          </a:p>
          <a:p>
            <a:pPr marL="0" indent="0" eaLnBrk="1" fontAlgn="auto" hangingPunct="1">
              <a:lnSpc>
                <a:spcPct val="120000"/>
              </a:lnSpc>
              <a:spcAft>
                <a:spcPts val="0"/>
              </a:spcAft>
              <a:buClr>
                <a:schemeClr val="accent3"/>
              </a:buClr>
              <a:buFont typeface="Wingdings" pitchFamily="2" charset="2"/>
              <a:buNone/>
              <a:defRPr/>
            </a:pPr>
            <a:r>
              <a:rPr lang="zh-CN" altLang="en-US" b="1" dirty="0">
                <a:effectLst>
                  <a:outerShdw blurRad="38100" dist="38100" dir="2700000" algn="tl">
                    <a:srgbClr val="C0C0C0"/>
                  </a:outerShdw>
                </a:effectLst>
                <a:latin typeface="宋体" pitchFamily="2" charset="-122"/>
              </a:rPr>
              <a:t>只输出：</a:t>
            </a:r>
            <a:r>
              <a:rPr lang="en-US" altLang="zh-CN" b="1" dirty="0">
                <a:effectLst>
                  <a:outerShdw blurRad="38100" dist="38100" dir="2700000" algn="tl">
                    <a:srgbClr val="C0C0C0"/>
                  </a:outerShdw>
                </a:effectLst>
                <a:latin typeface="宋体" pitchFamily="2" charset="-122"/>
              </a:rPr>
              <a:t>Pas</a:t>
            </a:r>
          </a:p>
          <a:p>
            <a:pPr marL="0" indent="0" eaLnBrk="1" fontAlgn="auto" hangingPunct="1">
              <a:lnSpc>
                <a:spcPct val="120000"/>
              </a:lnSpc>
              <a:spcAft>
                <a:spcPts val="0"/>
              </a:spcAft>
              <a:buClr>
                <a:schemeClr val="accent3"/>
              </a:buClr>
              <a:buFont typeface="Wingdings" pitchFamily="2" charset="2"/>
              <a:buNone/>
              <a:defRPr/>
            </a:pPr>
            <a:r>
              <a:rPr lang="en-US" altLang="zh-CN" b="1" dirty="0">
                <a:effectLst>
                  <a:outerShdw blurRad="38100" dist="38100" dir="2700000" algn="tl">
                    <a:srgbClr val="C0C0C0"/>
                  </a:outerShdw>
                </a:effectLst>
                <a:latin typeface="宋体" pitchFamily="2" charset="-122"/>
              </a:rPr>
              <a:t>    </a:t>
            </a:r>
            <a:r>
              <a:rPr lang="zh-CN" altLang="en-US" b="1" dirty="0">
                <a:effectLst>
                  <a:outerShdw blurRad="38100" dist="38100" dir="2700000" algn="tl">
                    <a:srgbClr val="C0C0C0"/>
                  </a:outerShdw>
                </a:effectLst>
                <a:latin typeface="宋体" pitchFamily="2" charset="-122"/>
              </a:rPr>
              <a:t>而实际上，数组</a:t>
            </a:r>
            <a:r>
              <a:rPr lang="en-US" altLang="zh-CN" b="1" dirty="0" err="1">
                <a:effectLst>
                  <a:outerShdw blurRad="38100" dist="38100" dir="2700000" algn="tl">
                    <a:srgbClr val="C0C0C0"/>
                  </a:outerShdw>
                </a:effectLst>
                <a:latin typeface="宋体" pitchFamily="2" charset="-122"/>
              </a:rPr>
              <a:t>str</a:t>
            </a:r>
            <a:r>
              <a:rPr lang="en-US" altLang="zh-CN" b="1" dirty="0">
                <a:effectLst>
                  <a:outerShdw blurRad="38100" dist="38100" dir="2700000" algn="tl">
                    <a:srgbClr val="C0C0C0"/>
                  </a:outerShdw>
                </a:effectLst>
                <a:latin typeface="宋体" pitchFamily="2" charset="-122"/>
              </a:rPr>
              <a:t>[]</a:t>
            </a:r>
            <a:r>
              <a:rPr lang="zh-CN" altLang="en-US" b="1" dirty="0">
                <a:effectLst>
                  <a:outerShdw blurRad="38100" dist="38100" dir="2700000" algn="tl">
                    <a:srgbClr val="C0C0C0"/>
                  </a:outerShdw>
                </a:effectLst>
                <a:latin typeface="宋体" pitchFamily="2" charset="-122"/>
              </a:rPr>
              <a:t>在字符串结束符之后还存有其它许多字符。</a:t>
            </a:r>
          </a:p>
        </p:txBody>
      </p:sp>
      <p:sp>
        <p:nvSpPr>
          <p:cNvPr id="7" name="灯片编号占位符 5"/>
          <p:cNvSpPr>
            <a:spLocks noGrp="1"/>
          </p:cNvSpPr>
          <p:nvPr>
            <p:ph type="sldNum" sz="quarter" idx="12"/>
          </p:nvPr>
        </p:nvSpPr>
        <p:spPr/>
        <p:txBody>
          <a:bodyPr/>
          <a:lstStyle/>
          <a:p>
            <a:pPr>
              <a:defRPr/>
            </a:pPr>
            <a:fld id="{BD336A15-F5D1-4CDD-841E-C36A9A28761E}" type="slidenum">
              <a:rPr lang="en-US" altLang="zh-CN"/>
              <a:pPr>
                <a:defRPr/>
              </a:pPr>
              <a:t>93</a:t>
            </a:fld>
            <a:endParaRPr lang="en-US" altLang="zh-CN"/>
          </a:p>
        </p:txBody>
      </p:sp>
      <p:sp>
        <p:nvSpPr>
          <p:cNvPr id="90117" name="Line 4"/>
          <p:cNvSpPr>
            <a:spLocks noChangeShapeType="1"/>
          </p:cNvSpPr>
          <p:nvPr/>
        </p:nvSpPr>
        <p:spPr bwMode="auto">
          <a:xfrm>
            <a:off x="457200" y="5257800"/>
            <a:ext cx="4191000" cy="0"/>
          </a:xfrm>
          <a:prstGeom prst="line">
            <a:avLst/>
          </a:prstGeom>
          <a:noFill/>
          <a:ln w="9525">
            <a:noFill/>
            <a:round/>
            <a:headEnd/>
            <a:tailEnd/>
          </a:ln>
        </p:spPr>
        <p:txBody>
          <a:bodyPr wrap="none" lIns="92075" tIns="46038" rIns="92075" bIns="46038" anchor="ctr"/>
          <a:lstStyle/>
          <a:p>
            <a:endParaRPr lang="zh-CN" altLang="en-US"/>
          </a:p>
        </p:txBody>
      </p:sp>
      <p:sp>
        <p:nvSpPr>
          <p:cNvPr id="3" name="文本框 2">
            <a:extLst>
              <a:ext uri="{FF2B5EF4-FFF2-40B4-BE49-F238E27FC236}">
                <a16:creationId xmlns:a16="http://schemas.microsoft.com/office/drawing/2014/main" id="{CBFBE4BE-28D0-4E25-397C-6570A553D69B}"/>
              </a:ext>
            </a:extLst>
          </p:cNvPr>
          <p:cNvSpPr txBox="1"/>
          <p:nvPr/>
        </p:nvSpPr>
        <p:spPr>
          <a:xfrm>
            <a:off x="556188" y="5834083"/>
            <a:ext cx="4583502" cy="523220"/>
          </a:xfrm>
          <a:prstGeom prst="rect">
            <a:avLst/>
          </a:prstGeom>
          <a:noFill/>
        </p:spPr>
        <p:txBody>
          <a:bodyPr wrap="square">
            <a:spAutoFit/>
          </a:bodyPr>
          <a:lstStyle/>
          <a:p>
            <a:r>
              <a:rPr lang="zh-CN" altLang="en-US" dirty="0"/>
              <a:t> printf ( "%s\n", </a:t>
            </a:r>
            <a:r>
              <a:rPr lang="zh-CN" altLang="en-US" dirty="0">
                <a:solidFill>
                  <a:srgbClr val="FF0000"/>
                </a:solidFill>
              </a:rPr>
              <a:t>&amp;str[4] </a:t>
            </a:r>
            <a:r>
              <a:rPr lang="zh-CN" altLang="en-US" dirty="0"/>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79906">
                                            <p:txEl>
                                              <p:pRg st="6" end="6"/>
                                            </p:txEl>
                                          </p:spTgt>
                                        </p:tgtEl>
                                        <p:attrNameLst>
                                          <p:attrName>style.visibility</p:attrName>
                                        </p:attrNameLst>
                                      </p:cBhvr>
                                      <p:to>
                                        <p:strVal val="visible"/>
                                      </p:to>
                                    </p:set>
                                    <p:anim calcmode="lin" valueType="num">
                                      <p:cBhvr additive="base">
                                        <p:cTn id="11" dur="500" fill="hold"/>
                                        <p:tgtEl>
                                          <p:spTgt spid="379906">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79906">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930" name="Rectangle 2"/>
          <p:cNvSpPr>
            <a:spLocks noGrp="1" noChangeArrowheads="1"/>
          </p:cNvSpPr>
          <p:nvPr>
            <p:ph idx="1"/>
          </p:nvPr>
        </p:nvSpPr>
        <p:spPr>
          <a:xfrm>
            <a:off x="228600" y="908050"/>
            <a:ext cx="8534400" cy="4609182"/>
          </a:xfrm>
        </p:spPr>
        <p:txBody>
          <a:bodyPr>
            <a:normAutofit fontScale="92500" lnSpcReduction="20000"/>
          </a:bodyPr>
          <a:lstStyle/>
          <a:p>
            <a:pPr marL="711200" indent="-711200" eaLnBrk="1" fontAlgn="auto" hangingPunct="1">
              <a:spcAft>
                <a:spcPts val="0"/>
              </a:spcAft>
              <a:buClr>
                <a:schemeClr val="accent3"/>
              </a:buClr>
              <a:buFont typeface="Wingdings" pitchFamily="2" charset="2"/>
              <a:buNone/>
              <a:defRPr/>
            </a:pPr>
            <a:r>
              <a:rPr lang="en-US" altLang="zh-CN" sz="2800" b="1" dirty="0">
                <a:effectLst>
                  <a:outerShdw blurRad="38100" dist="38100" dir="2700000" algn="tl">
                    <a:srgbClr val="C0C0C0"/>
                  </a:outerShdw>
                </a:effectLst>
                <a:latin typeface="宋体" pitchFamily="2" charset="-122"/>
              </a:rPr>
              <a:t>(2) </a:t>
            </a:r>
            <a:r>
              <a:rPr lang="zh-CN" altLang="en-US" sz="2800" b="1" dirty="0">
                <a:effectLst>
                  <a:outerShdw blurRad="38100" dist="38100" dir="2700000" algn="tl">
                    <a:srgbClr val="C0C0C0"/>
                  </a:outerShdw>
                </a:effectLst>
                <a:latin typeface="宋体" pitchFamily="2" charset="-122"/>
              </a:rPr>
              <a:t>用</a:t>
            </a:r>
            <a:r>
              <a:rPr lang="en-US" altLang="zh-CN" sz="2800" b="1" dirty="0">
                <a:effectLst>
                  <a:outerShdw blurRad="38100" dist="38100" dir="2700000" algn="tl">
                    <a:srgbClr val="C0C0C0"/>
                  </a:outerShdw>
                </a:effectLst>
                <a:latin typeface="宋体" pitchFamily="2" charset="-122"/>
              </a:rPr>
              <a:t>"%s"</a:t>
            </a:r>
            <a:r>
              <a:rPr lang="zh-CN" altLang="en-US" sz="2800" b="1" dirty="0">
                <a:effectLst>
                  <a:outerShdw blurRad="38100" dist="38100" dir="2700000" algn="tl">
                    <a:srgbClr val="C0C0C0"/>
                  </a:outerShdw>
                </a:effectLst>
                <a:latin typeface="宋体" pitchFamily="2" charset="-122"/>
              </a:rPr>
              <a:t>格式输出字符串时，不包括字符串结束标志符。对应的输出项是字符串常量、字符数组名。</a:t>
            </a:r>
          </a:p>
          <a:p>
            <a:pPr marL="711200" indent="-711200" eaLnBrk="1" fontAlgn="auto" hangingPunct="1">
              <a:spcAft>
                <a:spcPts val="0"/>
              </a:spcAft>
              <a:buClr>
                <a:schemeClr val="accent3"/>
              </a:buClr>
              <a:buFont typeface="Wingdings" pitchFamily="2" charset="2"/>
              <a:buNone/>
              <a:defRPr/>
            </a:pPr>
            <a:r>
              <a:rPr lang="en-US" altLang="zh-CN" sz="2800" b="1" dirty="0">
                <a:effectLst>
                  <a:outerShdw blurRad="38100" dist="38100" dir="2700000" algn="tl">
                    <a:srgbClr val="C0C0C0"/>
                  </a:outerShdw>
                </a:effectLst>
                <a:latin typeface="宋体" pitchFamily="2" charset="-122"/>
              </a:rPr>
              <a:t>(3) </a:t>
            </a:r>
            <a:r>
              <a:rPr lang="zh-CN" altLang="en-US" sz="2800" b="1" dirty="0">
                <a:effectLst>
                  <a:outerShdw blurRad="38100" dist="38100" dir="2700000" algn="tl">
                    <a:srgbClr val="C0C0C0"/>
                  </a:outerShdw>
                </a:effectLst>
                <a:latin typeface="宋体" pitchFamily="2" charset="-122"/>
              </a:rPr>
              <a:t>用 </a:t>
            </a:r>
            <a:r>
              <a:rPr lang="en-US" altLang="zh-CN" sz="2800" b="1" dirty="0" err="1">
                <a:effectLst>
                  <a:outerShdw blurRad="38100" dist="38100" dir="2700000" algn="tl">
                    <a:srgbClr val="C0C0C0"/>
                  </a:outerShdw>
                </a:effectLst>
                <a:latin typeface="宋体" pitchFamily="2" charset="-122"/>
              </a:rPr>
              <a:t>scanf</a:t>
            </a:r>
            <a:r>
              <a:rPr lang="en-US" altLang="zh-CN" sz="2800" b="1" dirty="0">
                <a:effectLst>
                  <a:outerShdw blurRad="38100" dist="38100" dir="2700000" algn="tl">
                    <a:srgbClr val="C0C0C0"/>
                  </a:outerShdw>
                </a:effectLst>
                <a:latin typeface="宋体" pitchFamily="2" charset="-122"/>
              </a:rPr>
              <a:t>()</a:t>
            </a:r>
            <a:r>
              <a:rPr lang="zh-CN" altLang="en-US" sz="2800" b="1" dirty="0">
                <a:effectLst>
                  <a:outerShdw blurRad="38100" dist="38100" dir="2700000" algn="tl">
                    <a:srgbClr val="C0C0C0"/>
                  </a:outerShdw>
                </a:effectLst>
                <a:latin typeface="宋体" pitchFamily="2" charset="-122"/>
              </a:rPr>
              <a:t>为字符数组输入字符串时，输入项是数组名，不要加地址运算符 </a:t>
            </a:r>
            <a:r>
              <a:rPr lang="en-US" altLang="zh-CN" sz="2800" b="1" dirty="0">
                <a:effectLst>
                  <a:outerShdw blurRad="38100" dist="38100" dir="2700000" algn="tl">
                    <a:srgbClr val="C0C0C0"/>
                  </a:outerShdw>
                </a:effectLst>
                <a:latin typeface="宋体" pitchFamily="2" charset="-122"/>
              </a:rPr>
              <a:t>&amp;</a:t>
            </a:r>
            <a:r>
              <a:rPr lang="zh-CN" altLang="en-US" sz="2800" b="1" dirty="0">
                <a:effectLst>
                  <a:outerShdw blurRad="38100" dist="38100" dir="2700000" algn="tl">
                    <a:srgbClr val="C0C0C0"/>
                  </a:outerShdw>
                </a:effectLst>
                <a:latin typeface="宋体" pitchFamily="2" charset="-122"/>
              </a:rPr>
              <a:t>。</a:t>
            </a:r>
          </a:p>
          <a:p>
            <a:pPr marL="711200" indent="-711200" algn="just" eaLnBrk="1" fontAlgn="auto" hangingPunct="1">
              <a:spcAft>
                <a:spcPts val="0"/>
              </a:spcAft>
              <a:buClr>
                <a:schemeClr val="accent3"/>
              </a:buClr>
              <a:buFont typeface="Wingdings" pitchFamily="2" charset="2"/>
              <a:buNone/>
              <a:defRPr/>
            </a:pPr>
            <a:r>
              <a:rPr lang="zh-CN" altLang="en-US" sz="2800" b="1" dirty="0">
                <a:effectLst>
                  <a:outerShdw blurRad="38100" dist="38100" dir="2700000" algn="tl">
                    <a:srgbClr val="C0C0C0"/>
                  </a:outerShdw>
                </a:effectLst>
                <a:latin typeface="宋体" pitchFamily="2" charset="-122"/>
              </a:rPr>
              <a:t>例如</a:t>
            </a:r>
            <a:r>
              <a:rPr lang="en-US" altLang="zh-CN" sz="2800" b="1" dirty="0">
                <a:effectLst>
                  <a:outerShdw blurRad="38100" dist="38100" dir="2700000" algn="tl">
                    <a:srgbClr val="C0C0C0"/>
                  </a:outerShdw>
                </a:effectLst>
                <a:latin typeface="宋体" pitchFamily="2" charset="-122"/>
              </a:rPr>
              <a:t>:  char  </a:t>
            </a:r>
            <a:r>
              <a:rPr lang="en-US" altLang="zh-CN" sz="2800" b="1" dirty="0" err="1">
                <a:effectLst>
                  <a:outerShdw blurRad="38100" dist="38100" dir="2700000" algn="tl">
                    <a:srgbClr val="C0C0C0"/>
                  </a:outerShdw>
                </a:effectLst>
                <a:latin typeface="宋体" pitchFamily="2" charset="-122"/>
              </a:rPr>
              <a:t>str</a:t>
            </a:r>
            <a:r>
              <a:rPr lang="en-US" altLang="zh-CN" sz="2800" b="1" dirty="0">
                <a:effectLst>
                  <a:outerShdw blurRad="38100" dist="38100" dir="2700000" algn="tl">
                    <a:srgbClr val="C0C0C0"/>
                  </a:outerShdw>
                </a:effectLst>
                <a:latin typeface="宋体" pitchFamily="2" charset="-122"/>
              </a:rPr>
              <a:t>[10];</a:t>
            </a:r>
          </a:p>
          <a:p>
            <a:pPr marL="711200" indent="-711200" algn="just" eaLnBrk="1" fontAlgn="auto" hangingPunct="1">
              <a:spcAft>
                <a:spcPts val="0"/>
              </a:spcAft>
              <a:buClr>
                <a:schemeClr val="accent3"/>
              </a:buClr>
              <a:buFont typeface="Wingdings" pitchFamily="2" charset="2"/>
              <a:buNone/>
              <a:defRPr/>
            </a:pPr>
            <a:r>
              <a:rPr lang="en-US" altLang="zh-CN" sz="2800" b="1" dirty="0">
                <a:effectLst>
                  <a:outerShdw blurRad="38100" dist="38100" dir="2700000" algn="tl">
                    <a:srgbClr val="C0C0C0"/>
                  </a:outerShdw>
                </a:effectLst>
                <a:latin typeface="宋体" pitchFamily="2" charset="-122"/>
              </a:rPr>
              <a:t>       </a:t>
            </a:r>
            <a:r>
              <a:rPr lang="en-US" altLang="zh-CN" sz="2800" b="1" dirty="0" err="1">
                <a:effectLst>
                  <a:outerShdw blurRad="38100" dist="38100" dir="2700000" algn="tl">
                    <a:srgbClr val="C0C0C0"/>
                  </a:outerShdw>
                </a:effectLst>
                <a:latin typeface="宋体" pitchFamily="2" charset="-122"/>
              </a:rPr>
              <a:t>scanf</a:t>
            </a:r>
            <a:r>
              <a:rPr lang="en-US" altLang="zh-CN" sz="2800" b="1" dirty="0">
                <a:effectLst>
                  <a:outerShdw blurRad="38100" dist="38100" dir="2700000" algn="tl">
                    <a:srgbClr val="C0C0C0"/>
                  </a:outerShdw>
                </a:effectLst>
                <a:latin typeface="宋体" pitchFamily="2" charset="-122"/>
              </a:rPr>
              <a:t>("%s", </a:t>
            </a:r>
            <a:r>
              <a:rPr lang="en-US" altLang="zh-CN" sz="2800" b="1" dirty="0" err="1">
                <a:effectLst>
                  <a:outerShdw blurRad="38100" dist="38100" dir="2700000" algn="tl">
                    <a:srgbClr val="C0C0C0"/>
                  </a:outerShdw>
                </a:effectLst>
                <a:latin typeface="宋体" pitchFamily="2" charset="-122"/>
              </a:rPr>
              <a:t>str</a:t>
            </a:r>
            <a:r>
              <a:rPr lang="en-US" altLang="zh-CN" sz="2800" b="1">
                <a:effectLst>
                  <a:outerShdw blurRad="38100" dist="38100" dir="2700000" algn="tl">
                    <a:srgbClr val="C0C0C0"/>
                  </a:outerShdw>
                </a:effectLst>
                <a:latin typeface="宋体" pitchFamily="2" charset="-122"/>
              </a:rPr>
              <a:t>); /* &amp; */</a:t>
            </a:r>
            <a:endParaRPr lang="en-US" altLang="zh-CN" sz="2800" b="1" dirty="0">
              <a:effectLst>
                <a:outerShdw blurRad="38100" dist="38100" dir="2700000" algn="tl">
                  <a:srgbClr val="C0C0C0"/>
                </a:outerShdw>
              </a:effectLst>
              <a:latin typeface="宋体" pitchFamily="2" charset="-122"/>
            </a:endParaRPr>
          </a:p>
          <a:p>
            <a:pPr marL="711200" indent="-711200" algn="just" eaLnBrk="1" fontAlgn="auto" hangingPunct="1">
              <a:spcAft>
                <a:spcPts val="0"/>
              </a:spcAft>
              <a:buClr>
                <a:schemeClr val="accent3"/>
              </a:buClr>
              <a:buFont typeface="Wingdings" pitchFamily="2" charset="2"/>
              <a:buNone/>
              <a:defRPr/>
            </a:pPr>
            <a:endParaRPr lang="en-US" altLang="zh-CN" sz="2800" b="1" dirty="0">
              <a:effectLst>
                <a:outerShdw blurRad="38100" dist="38100" dir="2700000" algn="tl">
                  <a:srgbClr val="C0C0C0"/>
                </a:outerShdw>
              </a:effectLst>
              <a:latin typeface="宋体" pitchFamily="2" charset="-122"/>
            </a:endParaRPr>
          </a:p>
          <a:p>
            <a:pPr marL="711200" indent="-711200" algn="just" eaLnBrk="1" fontAlgn="auto" hangingPunct="1">
              <a:spcAft>
                <a:spcPts val="0"/>
              </a:spcAft>
              <a:buClr>
                <a:schemeClr val="accent3"/>
              </a:buClr>
              <a:buNone/>
              <a:defRPr/>
            </a:pPr>
            <a:r>
              <a:rPr lang="en-US" altLang="zh-CN" sz="2800" b="1" dirty="0">
                <a:effectLst>
                  <a:outerShdw blurRad="38100" dist="38100" dir="2700000" algn="tl">
                    <a:srgbClr val="C0C0C0"/>
                  </a:outerShdw>
                </a:effectLst>
                <a:latin typeface="宋体" pitchFamily="2" charset="-122"/>
              </a:rPr>
              <a:t>(4)</a:t>
            </a:r>
            <a:r>
              <a:rPr kumimoji="1" lang="en-US" altLang="zh-CN" sz="2800" dirty="0">
                <a:effectLst>
                  <a:outerShdw blurRad="38100" dist="38100" dir="2700000" algn="tl">
                    <a:srgbClr val="C0C0C0"/>
                  </a:outerShdw>
                </a:effectLst>
                <a:latin typeface="Arial" charset="0"/>
                <a:ea typeface="楷体_GB2312" pitchFamily="49" charset="-122"/>
              </a:rPr>
              <a:t> </a:t>
            </a:r>
            <a:r>
              <a:rPr lang="zh-CN" altLang="en-US" sz="2800" b="1" dirty="0">
                <a:effectLst>
                  <a:outerShdw blurRad="38100" dist="38100" dir="2700000" algn="tl">
                    <a:srgbClr val="C0C0C0"/>
                  </a:outerShdw>
                </a:effectLst>
                <a:latin typeface="宋体" pitchFamily="2" charset="-122"/>
              </a:rPr>
              <a:t>用</a:t>
            </a:r>
            <a:r>
              <a:rPr lang="en-US" altLang="zh-CN" sz="2800" b="1" dirty="0">
                <a:effectLst>
                  <a:outerShdw blurRad="38100" dist="38100" dir="2700000" algn="tl">
                    <a:srgbClr val="C0C0C0"/>
                  </a:outerShdw>
                </a:effectLst>
                <a:latin typeface="宋体" pitchFamily="2" charset="-122"/>
              </a:rPr>
              <a:t>"%s"</a:t>
            </a:r>
            <a:r>
              <a:rPr lang="zh-CN" altLang="en-US" sz="2800" b="1" dirty="0">
                <a:effectLst>
                  <a:outerShdw blurRad="38100" dist="38100" dir="2700000" algn="tl">
                    <a:srgbClr val="C0C0C0"/>
                  </a:outerShdw>
                </a:effectLst>
                <a:latin typeface="宋体" pitchFamily="2" charset="-122"/>
              </a:rPr>
              <a:t>格式输入字符串时，跳过前导空白类字符，只能输入一串不含空白类字符的字符序列。遇空白类字符，或输入了格式指定的字符个数，就结束输入。若要输入一串包括空格符在内的一行字符，要用字符行输入函数</a:t>
            </a:r>
            <a:r>
              <a:rPr lang="en-US" altLang="zh-CN" sz="2800" b="1" dirty="0">
                <a:effectLst>
                  <a:outerShdw blurRad="38100" dist="38100" dir="2700000" algn="tl">
                    <a:srgbClr val="C0C0C0"/>
                  </a:outerShdw>
                </a:effectLst>
                <a:latin typeface="宋体" pitchFamily="2" charset="-122"/>
              </a:rPr>
              <a:t>gets()</a:t>
            </a:r>
            <a:r>
              <a:rPr lang="zh-CN" altLang="en-US" sz="2800" b="1" dirty="0">
                <a:effectLst>
                  <a:outerShdw blurRad="38100" dist="38100" dir="2700000" algn="tl">
                    <a:srgbClr val="C0C0C0"/>
                  </a:outerShdw>
                </a:effectLst>
                <a:latin typeface="宋体" pitchFamily="2" charset="-122"/>
              </a:rPr>
              <a:t>。</a:t>
            </a:r>
          </a:p>
          <a:p>
            <a:pPr marL="711200" indent="-711200" algn="just" eaLnBrk="1" fontAlgn="auto" hangingPunct="1">
              <a:spcAft>
                <a:spcPts val="0"/>
              </a:spcAft>
              <a:buClr>
                <a:schemeClr val="accent3"/>
              </a:buClr>
              <a:buFont typeface="Wingdings" pitchFamily="2" charset="2"/>
              <a:buNone/>
              <a:defRPr/>
            </a:pPr>
            <a:endParaRPr lang="en-US" altLang="zh-CN" sz="2800" b="1" dirty="0">
              <a:effectLst>
                <a:outerShdw blurRad="38100" dist="38100" dir="2700000" algn="tl">
                  <a:srgbClr val="C0C0C0"/>
                </a:outerShdw>
              </a:effectLst>
              <a:latin typeface="宋体" pitchFamily="2" charset="-122"/>
            </a:endParaRPr>
          </a:p>
        </p:txBody>
      </p:sp>
      <p:sp>
        <p:nvSpPr>
          <p:cNvPr id="9" name="灯片编号占位符 5"/>
          <p:cNvSpPr>
            <a:spLocks noGrp="1"/>
          </p:cNvSpPr>
          <p:nvPr>
            <p:ph type="sldNum" sz="quarter" idx="12"/>
          </p:nvPr>
        </p:nvSpPr>
        <p:spPr/>
        <p:txBody>
          <a:bodyPr/>
          <a:lstStyle/>
          <a:p>
            <a:pPr>
              <a:defRPr/>
            </a:pPr>
            <a:fld id="{541E584B-E05B-41F8-9EE4-4E014F165C26}" type="slidenum">
              <a:rPr lang="en-US" altLang="zh-CN"/>
              <a:pPr>
                <a:defRPr/>
              </a:pPr>
              <a:t>94</a:t>
            </a:fld>
            <a:endParaRPr lang="en-US" altLang="zh-CN" dirty="0"/>
          </a:p>
        </p:txBody>
      </p:sp>
      <p:sp>
        <p:nvSpPr>
          <p:cNvPr id="91140" name="Line 4"/>
          <p:cNvSpPr>
            <a:spLocks noChangeShapeType="1"/>
          </p:cNvSpPr>
          <p:nvPr/>
        </p:nvSpPr>
        <p:spPr bwMode="auto">
          <a:xfrm>
            <a:off x="457200" y="5257800"/>
            <a:ext cx="4191000" cy="0"/>
          </a:xfrm>
          <a:prstGeom prst="line">
            <a:avLst/>
          </a:prstGeom>
          <a:noFill/>
          <a:ln w="9525">
            <a:noFill/>
            <a:round/>
            <a:headEnd/>
            <a:tailEnd/>
          </a:ln>
        </p:spPr>
        <p:txBody>
          <a:bodyPr wrap="none" lIns="92075" tIns="46038" rIns="92075" bIns="46038"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80930">
                                            <p:txEl>
                                              <p:pRg st="1" end="1"/>
                                            </p:txEl>
                                          </p:spTgt>
                                        </p:tgtEl>
                                        <p:attrNameLst>
                                          <p:attrName>style.visibility</p:attrName>
                                        </p:attrNameLst>
                                      </p:cBhvr>
                                      <p:to>
                                        <p:strVal val="visible"/>
                                      </p:to>
                                    </p:set>
                                    <p:anim calcmode="lin" valueType="num">
                                      <p:cBhvr additive="base">
                                        <p:cTn id="7" dur="500" fill="hold"/>
                                        <p:tgtEl>
                                          <p:spTgt spid="380930">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80930">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80930">
                                            <p:txEl>
                                              <p:pRg st="2" end="2"/>
                                            </p:txEl>
                                          </p:spTgt>
                                        </p:tgtEl>
                                        <p:attrNameLst>
                                          <p:attrName>style.visibility</p:attrName>
                                        </p:attrNameLst>
                                      </p:cBhvr>
                                      <p:to>
                                        <p:strVal val="visible"/>
                                      </p:to>
                                    </p:set>
                                    <p:anim calcmode="lin" valueType="num">
                                      <p:cBhvr additive="base">
                                        <p:cTn id="11" dur="500" fill="hold"/>
                                        <p:tgtEl>
                                          <p:spTgt spid="380930">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80930">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80930">
                                            <p:txEl>
                                              <p:pRg st="3" end="3"/>
                                            </p:txEl>
                                          </p:spTgt>
                                        </p:tgtEl>
                                        <p:attrNameLst>
                                          <p:attrName>style.visibility</p:attrName>
                                        </p:attrNameLst>
                                      </p:cBhvr>
                                      <p:to>
                                        <p:strVal val="visible"/>
                                      </p:to>
                                    </p:set>
                                    <p:anim calcmode="lin" valueType="num">
                                      <p:cBhvr additive="base">
                                        <p:cTn id="15" dur="500" fill="hold"/>
                                        <p:tgtEl>
                                          <p:spTgt spid="380930">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8093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80930">
                                            <p:txEl>
                                              <p:pRg st="5" end="5"/>
                                            </p:txEl>
                                          </p:spTgt>
                                        </p:tgtEl>
                                        <p:attrNameLst>
                                          <p:attrName>style.visibility</p:attrName>
                                        </p:attrNameLst>
                                      </p:cBhvr>
                                      <p:to>
                                        <p:strVal val="visible"/>
                                      </p:to>
                                    </p:set>
                                    <p:anim calcmode="lin" valueType="num">
                                      <p:cBhvr additive="base">
                                        <p:cTn id="21" dur="500" fill="hold"/>
                                        <p:tgtEl>
                                          <p:spTgt spid="380930">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80930">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Rectangle 2"/>
          <p:cNvSpPr>
            <a:spLocks noGrp="1" noChangeArrowheads="1"/>
          </p:cNvSpPr>
          <p:nvPr>
            <p:ph idx="1"/>
          </p:nvPr>
        </p:nvSpPr>
        <p:spPr>
          <a:xfrm>
            <a:off x="323850" y="549275"/>
            <a:ext cx="8534400" cy="5832475"/>
          </a:xfrm>
        </p:spPr>
        <p:txBody>
          <a:bodyPr>
            <a:normAutofit/>
          </a:bodyPr>
          <a:lstStyle/>
          <a:p>
            <a:pPr marL="0" indent="0" algn="just"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latin typeface="宋体" pitchFamily="2" charset="-122"/>
              </a:rPr>
              <a:t>(5)</a:t>
            </a:r>
            <a:r>
              <a:rPr lang="zh-CN" altLang="en-US" b="1" dirty="0">
                <a:effectLst>
                  <a:outerShdw blurRad="38100" dist="38100" dir="2700000" algn="tl">
                    <a:srgbClr val="C0C0C0"/>
                  </a:outerShdw>
                </a:effectLst>
                <a:latin typeface="宋体" pitchFamily="2" charset="-122"/>
              </a:rPr>
              <a:t>若用</a:t>
            </a:r>
            <a:r>
              <a:rPr lang="en-US" altLang="zh-CN" b="1" dirty="0">
                <a:effectLst>
                  <a:outerShdw blurRad="38100" dist="38100" dir="2700000" algn="tl">
                    <a:srgbClr val="C0C0C0"/>
                  </a:outerShdw>
                </a:effectLst>
                <a:latin typeface="Courier New"/>
              </a:rPr>
              <a:t>”</a:t>
            </a:r>
            <a:r>
              <a:rPr lang="en-US" altLang="zh-CN" b="1" dirty="0">
                <a:effectLst>
                  <a:outerShdw blurRad="38100" dist="38100" dir="2700000" algn="tl">
                    <a:srgbClr val="C0C0C0"/>
                  </a:outerShdw>
                </a:effectLst>
                <a:latin typeface="宋体" pitchFamily="2" charset="-122"/>
              </a:rPr>
              <a:t>%c</a:t>
            </a:r>
            <a:r>
              <a:rPr lang="en-US" altLang="zh-CN" b="1" dirty="0">
                <a:effectLst>
                  <a:outerShdw blurRad="38100" dist="38100" dir="2700000" algn="tl">
                    <a:srgbClr val="C0C0C0"/>
                  </a:outerShdw>
                </a:effectLst>
                <a:latin typeface="Courier New"/>
              </a:rPr>
              <a:t>”</a:t>
            </a:r>
            <a:r>
              <a:rPr lang="zh-CN" altLang="en-US" b="1" dirty="0">
                <a:effectLst>
                  <a:outerShdw blurRad="38100" dist="38100" dir="2700000" algn="tl">
                    <a:srgbClr val="C0C0C0"/>
                  </a:outerShdw>
                </a:effectLst>
                <a:latin typeface="宋体" pitchFamily="2" charset="-122"/>
              </a:rPr>
              <a:t>格式结合循环输入字符序列，且想构成字符串，则必须用赋值语句在字符列之后存入字符串结束标志符。</a:t>
            </a:r>
          </a:p>
          <a:p>
            <a:pPr marL="0" indent="0" algn="just"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latin typeface="宋体" pitchFamily="2" charset="-122"/>
              </a:rPr>
              <a:t>例如：</a:t>
            </a:r>
            <a:r>
              <a:rPr lang="en-US" altLang="zh-CN" b="1" dirty="0">
                <a:effectLst>
                  <a:outerShdw blurRad="38100" dist="38100" dir="2700000" algn="tl">
                    <a:srgbClr val="C0C0C0"/>
                  </a:outerShdw>
                </a:effectLst>
              </a:rPr>
              <a:t>char s[20];  </a:t>
            </a:r>
            <a:r>
              <a:rPr lang="en-US" altLang="zh-CN" b="1" dirty="0" err="1">
                <a:effectLst>
                  <a:outerShdw blurRad="38100" dist="38100" dir="2700000" algn="tl">
                    <a:srgbClr val="C0C0C0"/>
                  </a:outerShdw>
                </a:effectLst>
              </a:rPr>
              <a:t>int</a:t>
            </a:r>
            <a:r>
              <a:rPr lang="en-US" altLang="zh-CN" b="1" dirty="0">
                <a:effectLst>
                  <a:outerShdw blurRad="38100" dist="38100" dir="2700000" algn="tl">
                    <a:srgbClr val="C0C0C0"/>
                  </a:outerShdw>
                </a:effectLst>
              </a:rPr>
              <a:t> k;</a:t>
            </a:r>
          </a:p>
          <a:p>
            <a:pPr marL="0" indent="0" algn="just"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for ( k = 0;  k &lt; 5; k++ )</a:t>
            </a:r>
          </a:p>
          <a:p>
            <a:pPr marL="0" indent="0" algn="just"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a:t>
            </a:r>
            <a:r>
              <a:rPr lang="en-US" altLang="zh-CN" b="1" dirty="0" err="1">
                <a:effectLst>
                  <a:outerShdw blurRad="38100" dist="38100" dir="2700000" algn="tl">
                    <a:srgbClr val="C0C0C0"/>
                  </a:outerShdw>
                </a:effectLst>
              </a:rPr>
              <a:t>scanf</a:t>
            </a:r>
            <a:r>
              <a:rPr lang="en-US" altLang="zh-CN" b="1" dirty="0">
                <a:effectLst>
                  <a:outerShdw blurRad="38100" dist="38100" dir="2700000" algn="tl">
                    <a:srgbClr val="C0C0C0"/>
                  </a:outerShdw>
                </a:effectLst>
              </a:rPr>
              <a:t> ( "%c", &amp;s[k] );</a:t>
            </a:r>
          </a:p>
          <a:p>
            <a:pPr marL="0" indent="0" algn="just" eaLnBrk="1" fontAlgn="auto" hangingPunct="1">
              <a:spcAft>
                <a:spcPts val="0"/>
              </a:spcAft>
              <a:buClr>
                <a:schemeClr val="accent3"/>
              </a:buClr>
              <a:buFont typeface="Wingdings" pitchFamily="2" charset="2"/>
              <a:buNone/>
              <a:defRPr/>
            </a:pPr>
            <a:r>
              <a:rPr lang="en-US" altLang="zh-CN" b="1" dirty="0">
                <a:solidFill>
                  <a:srgbClr val="FF0000"/>
                </a:solidFill>
                <a:effectLst>
                  <a:outerShdw blurRad="38100" dist="38100" dir="2700000" algn="tl">
                    <a:srgbClr val="C0C0C0"/>
                  </a:outerShdw>
                </a:effectLst>
              </a:rPr>
              <a:t>           s[k] = '\0'</a:t>
            </a:r>
            <a:r>
              <a:rPr lang="en-US" altLang="zh-CN" b="1" dirty="0">
                <a:effectLst>
                  <a:outerShdw blurRad="38100" dist="38100" dir="2700000" algn="tl">
                    <a:srgbClr val="C0C0C0"/>
                  </a:outerShdw>
                </a:effectLst>
              </a:rPr>
              <a:t> ;  </a:t>
            </a:r>
            <a:r>
              <a:rPr lang="en-US" altLang="zh-CN" sz="2400" b="1" dirty="0">
                <a:effectLst>
                  <a:outerShdw blurRad="38100" dist="38100" dir="2700000" algn="tl">
                    <a:srgbClr val="C0C0C0"/>
                  </a:outerShdw>
                </a:effectLst>
                <a:latin typeface="宋体" pitchFamily="2" charset="-122"/>
              </a:rPr>
              <a:t>/* </a:t>
            </a:r>
            <a:r>
              <a:rPr lang="zh-CN" altLang="en-US" sz="2400" b="1" dirty="0">
                <a:effectLst>
                  <a:outerShdw blurRad="38100" dist="38100" dir="2700000" algn="tl">
                    <a:srgbClr val="C0C0C0"/>
                  </a:outerShdw>
                </a:effectLst>
                <a:latin typeface="宋体" pitchFamily="2" charset="-122"/>
              </a:rPr>
              <a:t>使输入的</a:t>
            </a:r>
            <a:r>
              <a:rPr lang="en-US" altLang="zh-CN" sz="2400" b="1" dirty="0">
                <a:effectLst>
                  <a:outerShdw blurRad="38100" dist="38100" dir="2700000" algn="tl">
                    <a:srgbClr val="C0C0C0"/>
                  </a:outerShdw>
                </a:effectLst>
                <a:latin typeface="宋体" pitchFamily="2" charset="-122"/>
              </a:rPr>
              <a:t>k</a:t>
            </a:r>
            <a:r>
              <a:rPr lang="zh-CN" altLang="en-US" sz="2400" b="1" dirty="0">
                <a:effectLst>
                  <a:outerShdw blurRad="38100" dist="38100" dir="2700000" algn="tl">
                    <a:srgbClr val="C0C0C0"/>
                  </a:outerShdw>
                </a:effectLst>
                <a:latin typeface="宋体" pitchFamily="2" charset="-122"/>
              </a:rPr>
              <a:t>个字符构成字符串 *</a:t>
            </a:r>
            <a:r>
              <a:rPr lang="en-US" altLang="zh-CN" sz="2400" b="1" dirty="0">
                <a:effectLst>
                  <a:outerShdw blurRad="38100" dist="38100" dir="2700000" algn="tl">
                    <a:srgbClr val="C0C0C0"/>
                  </a:outerShdw>
                </a:effectLst>
                <a:latin typeface="宋体" pitchFamily="2" charset="-122"/>
              </a:rPr>
              <a:t>/</a:t>
            </a:r>
          </a:p>
          <a:p>
            <a:pPr marL="0" indent="0" algn="just"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latin typeface="宋体" pitchFamily="2" charset="-122"/>
              </a:rPr>
              <a:t>    </a:t>
            </a:r>
            <a:r>
              <a:rPr lang="zh-CN" altLang="en-US" b="1" dirty="0">
                <a:effectLst>
                  <a:outerShdw blurRad="38100" dist="38100" dir="2700000" algn="tl">
                    <a:srgbClr val="C0C0C0"/>
                  </a:outerShdw>
                </a:effectLst>
                <a:latin typeface="宋体" pitchFamily="2" charset="-122"/>
              </a:rPr>
              <a:t>当字符串由程序逐个字符生成时，程序也必须在它最后接上字符串结束标志符。</a:t>
            </a:r>
          </a:p>
          <a:p>
            <a:pPr marL="0" indent="0" algn="just"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latin typeface="宋体" pitchFamily="2" charset="-122"/>
              </a:rPr>
              <a:t>例如：  </a:t>
            </a:r>
            <a:r>
              <a:rPr lang="en-US" altLang="zh-CN" b="1" dirty="0">
                <a:effectLst>
                  <a:outerShdw blurRad="38100" dist="38100" dir="2700000" algn="tl">
                    <a:srgbClr val="C0C0C0"/>
                  </a:outerShdw>
                </a:effectLst>
              </a:rPr>
              <a:t>for(k = 0; k &lt; 26; k++)</a:t>
            </a:r>
          </a:p>
          <a:p>
            <a:pPr marL="0" indent="0" algn="just"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s[k] = '</a:t>
            </a:r>
            <a:r>
              <a:rPr lang="en-US" altLang="zh-CN" b="1" dirty="0" err="1">
                <a:effectLst>
                  <a:outerShdw blurRad="38100" dist="38100" dir="2700000" algn="tl">
                    <a:srgbClr val="C0C0C0"/>
                  </a:outerShdw>
                </a:effectLst>
              </a:rPr>
              <a:t>a'+k</a:t>
            </a:r>
            <a:r>
              <a:rPr lang="en-US" altLang="zh-CN" b="1" dirty="0">
                <a:effectLst>
                  <a:outerShdw blurRad="38100" dist="38100" dir="2700000" algn="tl">
                    <a:srgbClr val="C0C0C0"/>
                  </a:outerShdw>
                </a:effectLst>
              </a:rPr>
              <a:t>;  </a:t>
            </a:r>
            <a:r>
              <a:rPr lang="en-US" altLang="zh-CN" sz="2400" b="1" dirty="0">
                <a:effectLst>
                  <a:outerShdw blurRad="38100" dist="38100" dir="2700000" algn="tl">
                    <a:srgbClr val="C0C0C0"/>
                  </a:outerShdw>
                </a:effectLst>
              </a:rPr>
              <a:t>/* </a:t>
            </a:r>
            <a:r>
              <a:rPr lang="zh-CN" altLang="en-US" sz="2400" b="1" dirty="0">
                <a:effectLst>
                  <a:outerShdw blurRad="38100" dist="38100" dir="2700000" algn="tl">
                    <a:srgbClr val="C0C0C0"/>
                  </a:outerShdw>
                </a:effectLst>
              </a:rPr>
              <a:t>生成</a:t>
            </a:r>
            <a:r>
              <a:rPr lang="en-US" altLang="zh-CN" sz="2400" b="1" dirty="0">
                <a:effectLst>
                  <a:outerShdw blurRad="38100" dist="38100" dir="2700000" algn="tl">
                    <a:srgbClr val="C0C0C0"/>
                  </a:outerShdw>
                </a:effectLst>
              </a:rPr>
              <a:t>26</a:t>
            </a:r>
            <a:r>
              <a:rPr lang="zh-CN" altLang="en-US" sz="2400" b="1" dirty="0">
                <a:effectLst>
                  <a:outerShdw blurRad="38100" dist="38100" dir="2700000" algn="tl">
                    <a:srgbClr val="C0C0C0"/>
                  </a:outerShdw>
                </a:effectLst>
              </a:rPr>
              <a:t>个小写字母 *</a:t>
            </a:r>
            <a:r>
              <a:rPr lang="en-US" altLang="zh-CN" sz="2400" b="1" dirty="0">
                <a:effectLst>
                  <a:outerShdw blurRad="38100" dist="38100" dir="2700000" algn="tl">
                    <a:srgbClr val="C0C0C0"/>
                  </a:outerShdw>
                </a:effectLst>
              </a:rPr>
              <a:t>/</a:t>
            </a:r>
          </a:p>
          <a:p>
            <a:pPr marL="0" indent="0" algn="just" eaLnBrk="1" fontAlgn="auto" hangingPunct="1">
              <a:spcAft>
                <a:spcPts val="0"/>
              </a:spcAft>
              <a:buClr>
                <a:schemeClr val="accent3"/>
              </a:buClr>
              <a:buFont typeface="Wingdings" pitchFamily="2" charset="2"/>
              <a:buNone/>
              <a:defRPr/>
            </a:pPr>
            <a:r>
              <a:rPr lang="en-US" altLang="zh-CN" b="1" dirty="0">
                <a:solidFill>
                  <a:srgbClr val="FF0000"/>
                </a:solidFill>
                <a:effectLst>
                  <a:outerShdw blurRad="38100" dist="38100" dir="2700000" algn="tl">
                    <a:srgbClr val="C0C0C0"/>
                  </a:outerShdw>
                </a:effectLst>
              </a:rPr>
              <a:t>               s[k] = '\0'</a:t>
            </a:r>
            <a:r>
              <a:rPr lang="en-US" altLang="zh-CN" b="1" dirty="0">
                <a:effectLst>
                  <a:outerShdw blurRad="38100" dist="38100" dir="2700000" algn="tl">
                    <a:srgbClr val="C0C0C0"/>
                  </a:outerShdw>
                </a:effectLst>
              </a:rPr>
              <a:t>;</a:t>
            </a:r>
          </a:p>
        </p:txBody>
      </p:sp>
      <p:sp>
        <p:nvSpPr>
          <p:cNvPr id="6" name="灯片编号占位符 5"/>
          <p:cNvSpPr>
            <a:spLocks noGrp="1"/>
          </p:cNvSpPr>
          <p:nvPr>
            <p:ph type="sldNum" sz="quarter" idx="12"/>
          </p:nvPr>
        </p:nvSpPr>
        <p:spPr/>
        <p:txBody>
          <a:bodyPr/>
          <a:lstStyle/>
          <a:p>
            <a:pPr>
              <a:defRPr/>
            </a:pPr>
            <a:fld id="{79175EAC-6BB1-462A-A033-44C5FB159CE6}" type="slidenum">
              <a:rPr lang="en-US" altLang="zh-CN"/>
              <a:pPr>
                <a:defRPr/>
              </a:pPr>
              <a:t>95</a:t>
            </a:fld>
            <a:endParaRPr lang="en-US" altLang="zh-CN"/>
          </a:p>
        </p:txBody>
      </p:sp>
      <p:sp>
        <p:nvSpPr>
          <p:cNvPr id="92164" name="Line 4"/>
          <p:cNvSpPr>
            <a:spLocks noChangeShapeType="1"/>
          </p:cNvSpPr>
          <p:nvPr/>
        </p:nvSpPr>
        <p:spPr bwMode="auto">
          <a:xfrm>
            <a:off x="457200" y="5257800"/>
            <a:ext cx="4191000" cy="0"/>
          </a:xfrm>
          <a:prstGeom prst="line">
            <a:avLst/>
          </a:prstGeom>
          <a:noFill/>
          <a:ln w="9525">
            <a:noFill/>
            <a:round/>
            <a:headEnd/>
            <a:tailEnd/>
          </a:ln>
        </p:spPr>
        <p:txBody>
          <a:bodyPr wrap="none" lIns="92075" tIns="46038" rIns="92075" bIns="46038"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81954">
                                            <p:txEl>
                                              <p:pRg st="5" end="5"/>
                                            </p:txEl>
                                          </p:spTgt>
                                        </p:tgtEl>
                                        <p:attrNameLst>
                                          <p:attrName>style.visibility</p:attrName>
                                        </p:attrNameLst>
                                      </p:cBhvr>
                                      <p:to>
                                        <p:strVal val="visible"/>
                                      </p:to>
                                    </p:set>
                                    <p:anim calcmode="lin" valueType="num">
                                      <p:cBhvr additive="base">
                                        <p:cTn id="7" dur="500" fill="hold"/>
                                        <p:tgtEl>
                                          <p:spTgt spid="381954">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81954">
                                            <p:txEl>
                                              <p:pRg st="5" end="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81954">
                                            <p:txEl>
                                              <p:pRg st="6" end="6"/>
                                            </p:txEl>
                                          </p:spTgt>
                                        </p:tgtEl>
                                        <p:attrNameLst>
                                          <p:attrName>style.visibility</p:attrName>
                                        </p:attrNameLst>
                                      </p:cBhvr>
                                      <p:to>
                                        <p:strVal val="visible"/>
                                      </p:to>
                                    </p:set>
                                    <p:anim calcmode="lin" valueType="num">
                                      <p:cBhvr additive="base">
                                        <p:cTn id="11" dur="500" fill="hold"/>
                                        <p:tgtEl>
                                          <p:spTgt spid="381954">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81954">
                                            <p:txEl>
                                              <p:pRg st="6" end="6"/>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81954">
                                            <p:txEl>
                                              <p:pRg st="7" end="7"/>
                                            </p:txEl>
                                          </p:spTgt>
                                        </p:tgtEl>
                                        <p:attrNameLst>
                                          <p:attrName>style.visibility</p:attrName>
                                        </p:attrNameLst>
                                      </p:cBhvr>
                                      <p:to>
                                        <p:strVal val="visible"/>
                                      </p:to>
                                    </p:set>
                                    <p:anim calcmode="lin" valueType="num">
                                      <p:cBhvr additive="base">
                                        <p:cTn id="15" dur="500" fill="hold"/>
                                        <p:tgtEl>
                                          <p:spTgt spid="381954">
                                            <p:txEl>
                                              <p:pRg st="7" end="7"/>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81954">
                                            <p:txEl>
                                              <p:pRg st="7" end="7"/>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81954">
                                            <p:txEl>
                                              <p:pRg st="8" end="8"/>
                                            </p:txEl>
                                          </p:spTgt>
                                        </p:tgtEl>
                                        <p:attrNameLst>
                                          <p:attrName>style.visibility</p:attrName>
                                        </p:attrNameLst>
                                      </p:cBhvr>
                                      <p:to>
                                        <p:strVal val="visible"/>
                                      </p:to>
                                    </p:set>
                                    <p:anim calcmode="lin" valueType="num">
                                      <p:cBhvr additive="base">
                                        <p:cTn id="19" dur="500" fill="hold"/>
                                        <p:tgtEl>
                                          <p:spTgt spid="381954">
                                            <p:txEl>
                                              <p:pRg st="8" end="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81954">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5"/>
          <p:cNvSpPr>
            <a:spLocks noGrp="1" noChangeArrowheads="1"/>
          </p:cNvSpPr>
          <p:nvPr>
            <p:ph type="title"/>
          </p:nvPr>
        </p:nvSpPr>
        <p:spPr>
          <a:xfrm>
            <a:off x="539750" y="260350"/>
            <a:ext cx="8088313" cy="647700"/>
          </a:xfrm>
          <a:noFill/>
        </p:spPr>
        <p:txBody>
          <a:bodyPr lIns="92075" tIns="46038" rIns="92075" bIns="46038"/>
          <a:lstStyle/>
          <a:p>
            <a:pPr eaLnBrk="1" hangingPunct="1"/>
            <a:r>
              <a:rPr lang="zh-CN" altLang="en-US" dirty="0">
                <a:solidFill>
                  <a:schemeClr val="tx1"/>
                </a:solidFill>
                <a:latin typeface="黑体" pitchFamily="2" charset="-122"/>
                <a:ea typeface="黑体" pitchFamily="2" charset="-122"/>
              </a:rPr>
              <a:t>字符串处理函数</a:t>
            </a:r>
          </a:p>
        </p:txBody>
      </p:sp>
      <p:sp>
        <p:nvSpPr>
          <p:cNvPr id="382978" name="Rectangle 2"/>
          <p:cNvSpPr>
            <a:spLocks noGrp="1" noChangeArrowheads="1"/>
          </p:cNvSpPr>
          <p:nvPr>
            <p:ph idx="1"/>
          </p:nvPr>
        </p:nvSpPr>
        <p:spPr>
          <a:xfrm>
            <a:off x="250825" y="908050"/>
            <a:ext cx="8534400" cy="5791200"/>
          </a:xfrm>
        </p:spPr>
        <p:txBody>
          <a:bodyPr>
            <a:normAutofit/>
          </a:bodyPr>
          <a:lstStyle/>
          <a:p>
            <a:pPr marL="1074738" indent="-1074738" algn="just"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latin typeface="宋体" pitchFamily="2" charset="-122"/>
              </a:rPr>
              <a:t>(1)</a:t>
            </a:r>
            <a:r>
              <a:rPr lang="zh-CN" altLang="en-US" b="1" dirty="0">
                <a:effectLst>
                  <a:outerShdw blurRad="38100" dist="38100" dir="2700000" algn="tl">
                    <a:srgbClr val="C0C0C0"/>
                  </a:outerShdw>
                </a:effectLst>
                <a:latin typeface="宋体" pitchFamily="2" charset="-122"/>
              </a:rPr>
              <a:t>求字符串长度函数 </a:t>
            </a:r>
            <a:r>
              <a:rPr lang="en-US" altLang="zh-CN" b="1" dirty="0" err="1">
                <a:effectLst>
                  <a:outerShdw blurRad="38100" dist="38100" dir="2700000" algn="tl">
                    <a:srgbClr val="C0C0C0"/>
                  </a:outerShdw>
                </a:effectLst>
                <a:latin typeface="宋体" pitchFamily="2" charset="-122"/>
              </a:rPr>
              <a:t>strlen</a:t>
            </a:r>
            <a:r>
              <a:rPr lang="en-US" altLang="zh-CN" b="1" dirty="0">
                <a:effectLst>
                  <a:outerShdw blurRad="38100" dist="38100" dir="2700000" algn="tl">
                    <a:srgbClr val="C0C0C0"/>
                  </a:outerShdw>
                </a:effectLst>
                <a:latin typeface="宋体" pitchFamily="2" charset="-122"/>
              </a:rPr>
              <a:t>(</a:t>
            </a:r>
            <a:r>
              <a:rPr lang="zh-CN" altLang="en-US" b="1" dirty="0">
                <a:effectLst>
                  <a:outerShdw blurRad="38100" dist="38100" dir="2700000" algn="tl">
                    <a:srgbClr val="C0C0C0"/>
                  </a:outerShdw>
                </a:effectLst>
                <a:latin typeface="宋体" pitchFamily="2" charset="-122"/>
              </a:rPr>
              <a:t>字符串</a:t>
            </a:r>
            <a:r>
              <a:rPr lang="en-US" altLang="zh-CN" b="1" dirty="0">
                <a:effectLst>
                  <a:outerShdw blurRad="38100" dist="38100" dir="2700000" algn="tl">
                    <a:srgbClr val="C0C0C0"/>
                  </a:outerShdw>
                </a:effectLst>
                <a:latin typeface="宋体" pitchFamily="2" charset="-122"/>
              </a:rPr>
              <a:t>)</a:t>
            </a:r>
          </a:p>
          <a:p>
            <a:pPr marL="1074738" indent="-1074738" algn="just"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latin typeface="宋体" pitchFamily="2" charset="-122"/>
              </a:rPr>
              <a:t>功能：返回字符串的有效字符个数</a:t>
            </a:r>
            <a:r>
              <a:rPr lang="en-US" altLang="zh-CN" b="1" dirty="0">
                <a:effectLst>
                  <a:outerShdw blurRad="38100" dist="38100" dir="2700000" algn="tl">
                    <a:srgbClr val="C0C0C0"/>
                  </a:outerShdw>
                </a:effectLst>
                <a:latin typeface="宋体" pitchFamily="2" charset="-122"/>
              </a:rPr>
              <a:t>(</a:t>
            </a:r>
            <a:r>
              <a:rPr lang="zh-CN" altLang="en-US" b="1" dirty="0">
                <a:effectLst>
                  <a:outerShdw blurRad="38100" dist="38100" dir="2700000" algn="tl">
                    <a:srgbClr val="C0C0C0"/>
                  </a:outerShdw>
                </a:effectLst>
                <a:latin typeface="宋体" pitchFamily="2" charset="-122"/>
              </a:rPr>
              <a:t>不包括</a:t>
            </a:r>
            <a:r>
              <a:rPr lang="zh-CN" altLang="en-US" b="1" dirty="0">
                <a:effectLst>
                  <a:outerShdw blurRad="38100" dist="38100" dir="2700000" algn="tl">
                    <a:srgbClr val="C0C0C0"/>
                  </a:outerShdw>
                </a:effectLst>
                <a:latin typeface="Courier New"/>
              </a:rPr>
              <a:t>’</a:t>
            </a:r>
            <a:r>
              <a:rPr lang="en-US" altLang="zh-CN" b="1" dirty="0">
                <a:effectLst>
                  <a:outerShdw blurRad="38100" dist="38100" dir="2700000" algn="tl">
                    <a:srgbClr val="C0C0C0"/>
                  </a:outerShdw>
                </a:effectLst>
                <a:latin typeface="宋体" pitchFamily="2" charset="-122"/>
              </a:rPr>
              <a:t>\0</a:t>
            </a:r>
            <a:r>
              <a:rPr lang="en-US" altLang="zh-CN" b="1" dirty="0">
                <a:effectLst>
                  <a:outerShdw blurRad="38100" dist="38100" dir="2700000" algn="tl">
                    <a:srgbClr val="C0C0C0"/>
                  </a:outerShdw>
                </a:effectLst>
                <a:latin typeface="Courier New"/>
              </a:rPr>
              <a:t>’</a:t>
            </a:r>
            <a:r>
              <a:rPr lang="en-US" altLang="zh-CN" b="1" dirty="0">
                <a:effectLst>
                  <a:outerShdw blurRad="38100" dist="38100" dir="2700000" algn="tl">
                    <a:srgbClr val="C0C0C0"/>
                  </a:outerShdw>
                </a:effectLst>
                <a:latin typeface="宋体" pitchFamily="2" charset="-122"/>
              </a:rPr>
              <a:t>) </a:t>
            </a:r>
            <a:r>
              <a:rPr lang="zh-CN" altLang="en-US" b="1" dirty="0">
                <a:effectLst>
                  <a:outerShdw blurRad="38100" dist="38100" dir="2700000" algn="tl">
                    <a:srgbClr val="C0C0C0"/>
                  </a:outerShdw>
                </a:effectLst>
                <a:latin typeface="宋体" pitchFamily="2" charset="-122"/>
              </a:rPr>
              <a:t>。</a:t>
            </a:r>
          </a:p>
          <a:p>
            <a:pPr marL="1074738" indent="-1074738" algn="just"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latin typeface="宋体" pitchFamily="2" charset="-122"/>
              </a:rPr>
              <a:t>说明：字符串可以是字符串常量或字符数组</a:t>
            </a:r>
            <a:r>
              <a:rPr lang="en-US" altLang="zh-CN" b="1" dirty="0">
                <a:effectLst>
                  <a:outerShdw blurRad="38100" dist="38100" dir="2700000" algn="tl">
                    <a:srgbClr val="C0C0C0"/>
                  </a:outerShdw>
                </a:effectLst>
                <a:latin typeface="宋体" pitchFamily="2" charset="-122"/>
              </a:rPr>
              <a:t>(</a:t>
            </a:r>
            <a:r>
              <a:rPr lang="zh-CN" altLang="en-US" b="1" dirty="0">
                <a:effectLst>
                  <a:outerShdw blurRad="38100" dist="38100" dir="2700000" algn="tl">
                    <a:srgbClr val="C0C0C0"/>
                  </a:outerShdw>
                </a:effectLst>
                <a:latin typeface="宋体" pitchFamily="2" charset="-122"/>
              </a:rPr>
              <a:t>下同</a:t>
            </a:r>
            <a:r>
              <a:rPr lang="en-US" altLang="zh-CN" b="1" dirty="0">
                <a:effectLst>
                  <a:outerShdw blurRad="38100" dist="38100" dir="2700000" algn="tl">
                    <a:srgbClr val="C0C0C0"/>
                  </a:outerShdw>
                </a:effectLst>
                <a:latin typeface="宋体" pitchFamily="2" charset="-122"/>
              </a:rPr>
              <a:t>)</a:t>
            </a:r>
            <a:r>
              <a:rPr lang="zh-CN" altLang="en-US" b="1" dirty="0">
                <a:effectLst>
                  <a:outerShdw blurRad="38100" dist="38100" dir="2700000" algn="tl">
                    <a:srgbClr val="C0C0C0"/>
                  </a:outerShdw>
                </a:effectLst>
                <a:latin typeface="宋体" pitchFamily="2" charset="-122"/>
              </a:rPr>
              <a:t>。</a:t>
            </a:r>
          </a:p>
          <a:p>
            <a:pPr marL="1074738" indent="-1074738" algn="just"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latin typeface="宋体" pitchFamily="2" charset="-122"/>
              </a:rPr>
              <a:t>例：  </a:t>
            </a:r>
            <a:r>
              <a:rPr lang="en-US" altLang="zh-CN" b="1" dirty="0">
                <a:effectLst>
                  <a:outerShdw blurRad="38100" dist="38100" dir="2700000" algn="tl">
                    <a:srgbClr val="C0C0C0"/>
                  </a:outerShdw>
                </a:effectLst>
              </a:rPr>
              <a:t>char </a:t>
            </a:r>
            <a:r>
              <a:rPr lang="en-US" altLang="zh-CN" b="1" dirty="0" err="1">
                <a:effectLst>
                  <a:outerShdw blurRad="38100" dist="38100" dir="2700000" algn="tl">
                    <a:srgbClr val="C0C0C0"/>
                  </a:outerShdw>
                </a:effectLst>
              </a:rPr>
              <a:t>str</a:t>
            </a:r>
            <a:r>
              <a:rPr lang="en-US" altLang="zh-CN" b="1" dirty="0">
                <a:effectLst>
                  <a:outerShdw blurRad="38100" dist="38100" dir="2700000" algn="tl">
                    <a:srgbClr val="C0C0C0"/>
                  </a:outerShdw>
                </a:effectLst>
              </a:rPr>
              <a:t>[10]="China";</a:t>
            </a:r>
          </a:p>
          <a:p>
            <a:pPr marL="1074738" indent="-1074738" algn="just"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a:t>
            </a:r>
            <a:r>
              <a:rPr lang="en-US" altLang="zh-CN" b="1" dirty="0" err="1">
                <a:effectLst>
                  <a:outerShdw blurRad="38100" dist="38100" dir="2700000" algn="tl">
                    <a:srgbClr val="C0C0C0"/>
                  </a:outerShdw>
                </a:effectLst>
              </a:rPr>
              <a:t>printf</a:t>
            </a:r>
            <a:r>
              <a:rPr lang="en-US" altLang="zh-CN" b="1" dirty="0">
                <a:effectLst>
                  <a:outerShdw blurRad="38100" dist="38100" dir="2700000" algn="tl">
                    <a:srgbClr val="C0C0C0"/>
                  </a:outerShdw>
                </a:effectLst>
              </a:rPr>
              <a:t>("%d", </a:t>
            </a:r>
            <a:r>
              <a:rPr lang="en-US" altLang="zh-CN" b="1" dirty="0" err="1">
                <a:effectLst>
                  <a:outerShdw blurRad="38100" dist="38100" dir="2700000" algn="tl">
                    <a:srgbClr val="C0C0C0"/>
                  </a:outerShdw>
                </a:effectLst>
              </a:rPr>
              <a:t>strlen</a:t>
            </a:r>
            <a:r>
              <a:rPr lang="en-US" altLang="zh-CN" b="1" dirty="0">
                <a:effectLst>
                  <a:outerShdw blurRad="38100" dist="38100" dir="2700000" algn="tl">
                    <a:srgbClr val="C0C0C0"/>
                  </a:outerShdw>
                </a:effectLst>
              </a:rPr>
              <a:t>(</a:t>
            </a:r>
            <a:r>
              <a:rPr lang="en-US" altLang="zh-CN" b="1" dirty="0" err="1">
                <a:effectLst>
                  <a:outerShdw blurRad="38100" dist="38100" dir="2700000" algn="tl">
                    <a:srgbClr val="C0C0C0"/>
                  </a:outerShdw>
                </a:effectLst>
              </a:rPr>
              <a:t>str</a:t>
            </a:r>
            <a:r>
              <a:rPr lang="en-US" altLang="zh-CN" b="1" dirty="0">
                <a:effectLst>
                  <a:outerShdw blurRad="38100" dist="38100" dir="2700000" algn="tl">
                    <a:srgbClr val="C0C0C0"/>
                  </a:outerShdw>
                </a:effectLst>
              </a:rPr>
              <a:t>));</a:t>
            </a:r>
            <a:r>
              <a:rPr lang="en-US" altLang="zh-CN" b="1" dirty="0">
                <a:effectLst>
                  <a:outerShdw blurRad="38100" dist="38100" dir="2700000" algn="tl">
                    <a:srgbClr val="C0C0C0"/>
                  </a:outerShdw>
                </a:effectLst>
                <a:latin typeface="宋体" pitchFamily="2" charset="-122"/>
              </a:rPr>
              <a:t> /* </a:t>
            </a:r>
            <a:r>
              <a:rPr lang="zh-CN" altLang="en-US" b="1" dirty="0">
                <a:effectLst>
                  <a:outerShdw blurRad="38100" dist="38100" dir="2700000" algn="tl">
                    <a:srgbClr val="C0C0C0"/>
                  </a:outerShdw>
                </a:effectLst>
                <a:latin typeface="宋体" pitchFamily="2" charset="-122"/>
              </a:rPr>
              <a:t>结果为</a:t>
            </a:r>
            <a:r>
              <a:rPr lang="en-US" altLang="zh-CN" b="1" dirty="0">
                <a:effectLst>
                  <a:outerShdw blurRad="38100" dist="38100" dir="2700000" algn="tl">
                    <a:srgbClr val="C0C0C0"/>
                  </a:outerShdw>
                </a:effectLst>
                <a:latin typeface="宋体" pitchFamily="2" charset="-122"/>
              </a:rPr>
              <a:t>5 */</a:t>
            </a:r>
          </a:p>
          <a:p>
            <a:pPr marL="1074738" indent="-1074738" algn="just"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latin typeface="宋体" pitchFamily="2" charset="-122"/>
              </a:rPr>
              <a:t>(2)</a:t>
            </a:r>
            <a:r>
              <a:rPr lang="zh-CN" altLang="en-US" b="1" dirty="0">
                <a:effectLst>
                  <a:outerShdw blurRad="38100" dist="38100" dir="2700000" algn="tl">
                    <a:srgbClr val="C0C0C0"/>
                  </a:outerShdw>
                </a:effectLst>
                <a:latin typeface="宋体" pitchFamily="2" charset="-122"/>
              </a:rPr>
              <a:t>字符串拷贝函数 </a:t>
            </a:r>
            <a:r>
              <a:rPr lang="en-US" altLang="zh-CN" b="1" dirty="0" err="1">
                <a:effectLst>
                  <a:outerShdw blurRad="38100" dist="38100" dir="2700000" algn="tl">
                    <a:srgbClr val="C0C0C0"/>
                  </a:outerShdw>
                </a:effectLst>
                <a:latin typeface="宋体" pitchFamily="2" charset="-122"/>
              </a:rPr>
              <a:t>strcpy</a:t>
            </a:r>
            <a:r>
              <a:rPr lang="en-US" altLang="zh-CN" b="1" dirty="0">
                <a:effectLst>
                  <a:outerShdw blurRad="38100" dist="38100" dir="2700000" algn="tl">
                    <a:srgbClr val="C0C0C0"/>
                  </a:outerShdw>
                </a:effectLst>
                <a:latin typeface="宋体" pitchFamily="2" charset="-122"/>
              </a:rPr>
              <a:t>(</a:t>
            </a:r>
            <a:r>
              <a:rPr lang="zh-CN" altLang="en-US" b="1" dirty="0">
                <a:effectLst>
                  <a:outerShdw blurRad="38100" dist="38100" dir="2700000" algn="tl">
                    <a:srgbClr val="C0C0C0"/>
                  </a:outerShdw>
                </a:effectLst>
                <a:latin typeface="宋体" pitchFamily="2" charset="-122"/>
              </a:rPr>
              <a:t>字符数组</a:t>
            </a:r>
            <a:r>
              <a:rPr lang="en-US" altLang="zh-CN" b="1" dirty="0">
                <a:effectLst>
                  <a:outerShdw blurRad="38100" dist="38100" dir="2700000" algn="tl">
                    <a:srgbClr val="C0C0C0"/>
                  </a:outerShdw>
                </a:effectLst>
                <a:latin typeface="宋体" pitchFamily="2" charset="-122"/>
              </a:rPr>
              <a:t>1,</a:t>
            </a:r>
            <a:r>
              <a:rPr lang="zh-CN" altLang="en-US" b="1" dirty="0">
                <a:effectLst>
                  <a:outerShdw blurRad="38100" dist="38100" dir="2700000" algn="tl">
                    <a:srgbClr val="C0C0C0"/>
                  </a:outerShdw>
                </a:effectLst>
                <a:latin typeface="宋体" pitchFamily="2" charset="-122"/>
              </a:rPr>
              <a:t>字符串</a:t>
            </a:r>
            <a:r>
              <a:rPr lang="en-US" altLang="zh-CN" b="1" dirty="0">
                <a:effectLst>
                  <a:outerShdw blurRad="38100" dist="38100" dir="2700000" algn="tl">
                    <a:srgbClr val="C0C0C0"/>
                  </a:outerShdw>
                </a:effectLst>
                <a:latin typeface="宋体" pitchFamily="2" charset="-122"/>
              </a:rPr>
              <a:t>2)</a:t>
            </a:r>
          </a:p>
          <a:p>
            <a:pPr marL="1074738" indent="-1074738" algn="just"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latin typeface="宋体" pitchFamily="2" charset="-122"/>
              </a:rPr>
              <a:t>功能：将字符串</a:t>
            </a:r>
            <a:r>
              <a:rPr lang="en-US" altLang="zh-CN" b="1" dirty="0">
                <a:effectLst>
                  <a:outerShdw blurRad="38100" dist="38100" dir="2700000" algn="tl">
                    <a:srgbClr val="C0C0C0"/>
                  </a:outerShdw>
                </a:effectLst>
                <a:latin typeface="宋体" pitchFamily="2" charset="-122"/>
              </a:rPr>
              <a:t>2</a:t>
            </a:r>
            <a:r>
              <a:rPr lang="zh-CN" altLang="en-US" b="1" dirty="0">
                <a:effectLst>
                  <a:outerShdw blurRad="38100" dist="38100" dir="2700000" algn="tl">
                    <a:srgbClr val="C0C0C0"/>
                  </a:outerShdw>
                </a:effectLst>
                <a:latin typeface="宋体" pitchFamily="2" charset="-122"/>
              </a:rPr>
              <a:t>复制到字符数组</a:t>
            </a:r>
            <a:r>
              <a:rPr lang="en-US" altLang="zh-CN" b="1" dirty="0">
                <a:effectLst>
                  <a:outerShdw blurRad="38100" dist="38100" dir="2700000" algn="tl">
                    <a:srgbClr val="C0C0C0"/>
                  </a:outerShdw>
                </a:effectLst>
                <a:latin typeface="宋体" pitchFamily="2" charset="-122"/>
              </a:rPr>
              <a:t>1</a:t>
            </a:r>
            <a:r>
              <a:rPr lang="zh-CN" altLang="en-US" b="1" dirty="0">
                <a:effectLst>
                  <a:outerShdw blurRad="38100" dist="38100" dir="2700000" algn="tl">
                    <a:srgbClr val="C0C0C0"/>
                  </a:outerShdw>
                </a:effectLst>
                <a:latin typeface="宋体" pitchFamily="2" charset="-122"/>
              </a:rPr>
              <a:t>。要求字符数组</a:t>
            </a:r>
            <a:r>
              <a:rPr lang="en-US" altLang="zh-CN" b="1" dirty="0">
                <a:effectLst>
                  <a:outerShdw blurRad="38100" dist="38100" dir="2700000" algn="tl">
                    <a:srgbClr val="C0C0C0"/>
                  </a:outerShdw>
                </a:effectLst>
                <a:latin typeface="宋体" pitchFamily="2" charset="-122"/>
              </a:rPr>
              <a:t>1</a:t>
            </a:r>
            <a:r>
              <a:rPr lang="zh-CN" altLang="en-US" b="1" dirty="0">
                <a:effectLst>
                  <a:outerShdw blurRad="38100" dist="38100" dir="2700000" algn="tl">
                    <a:srgbClr val="C0C0C0"/>
                  </a:outerShdw>
                </a:effectLst>
                <a:latin typeface="宋体" pitchFamily="2" charset="-122"/>
              </a:rPr>
              <a:t>的长度不能小于字符串</a:t>
            </a:r>
            <a:r>
              <a:rPr lang="en-US" altLang="zh-CN" b="1" dirty="0">
                <a:effectLst>
                  <a:outerShdw blurRad="38100" dist="38100" dir="2700000" algn="tl">
                    <a:srgbClr val="C0C0C0"/>
                  </a:outerShdw>
                </a:effectLst>
                <a:latin typeface="宋体" pitchFamily="2" charset="-122"/>
              </a:rPr>
              <a:t>2</a:t>
            </a:r>
            <a:r>
              <a:rPr lang="zh-CN" altLang="en-US" b="1" dirty="0">
                <a:effectLst>
                  <a:outerShdw blurRad="38100" dist="38100" dir="2700000" algn="tl">
                    <a:srgbClr val="C0C0C0"/>
                  </a:outerShdw>
                </a:effectLst>
                <a:latin typeface="宋体" pitchFamily="2" charset="-122"/>
              </a:rPr>
              <a:t>的长度。</a:t>
            </a:r>
          </a:p>
          <a:p>
            <a:pPr marL="1074738" indent="-1074738" algn="just"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latin typeface="宋体" pitchFamily="2" charset="-122"/>
              </a:rPr>
              <a:t>例：  </a:t>
            </a:r>
            <a:r>
              <a:rPr lang="en-US" altLang="zh-CN" b="1" dirty="0">
                <a:effectLst>
                  <a:outerShdw blurRad="38100" dist="38100" dir="2700000" algn="tl">
                    <a:srgbClr val="C0C0C0"/>
                  </a:outerShdw>
                </a:effectLst>
              </a:rPr>
              <a:t>char str1[10], str2[ ]="China";</a:t>
            </a:r>
          </a:p>
          <a:p>
            <a:pPr marL="1074738" indent="-1074738" algn="just"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a:t>
            </a:r>
            <a:r>
              <a:rPr lang="en-US" altLang="zh-CN" b="1" dirty="0" err="1">
                <a:effectLst>
                  <a:outerShdw blurRad="38100" dist="38100" dir="2700000" algn="tl">
                    <a:srgbClr val="C0C0C0"/>
                  </a:outerShdw>
                </a:effectLst>
              </a:rPr>
              <a:t>strcpy</a:t>
            </a:r>
            <a:r>
              <a:rPr lang="en-US" altLang="zh-CN" b="1" dirty="0">
                <a:effectLst>
                  <a:outerShdw blurRad="38100" dist="38100" dir="2700000" algn="tl">
                    <a:srgbClr val="C0C0C0"/>
                  </a:outerShdw>
                </a:effectLst>
              </a:rPr>
              <a:t>(str1, str2); </a:t>
            </a:r>
          </a:p>
          <a:p>
            <a:pPr marL="1074738" indent="-1074738" algn="just"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rPr>
              <a:t>或：    </a:t>
            </a:r>
            <a:r>
              <a:rPr lang="en-US" altLang="zh-CN" b="1" dirty="0" err="1">
                <a:effectLst>
                  <a:outerShdw blurRad="38100" dist="38100" dir="2700000" algn="tl">
                    <a:srgbClr val="C0C0C0"/>
                  </a:outerShdw>
                </a:effectLst>
              </a:rPr>
              <a:t>strcpy</a:t>
            </a:r>
            <a:r>
              <a:rPr lang="en-US" altLang="zh-CN" b="1" dirty="0">
                <a:effectLst>
                  <a:outerShdw blurRad="38100" dist="38100" dir="2700000" algn="tl">
                    <a:srgbClr val="C0C0C0"/>
                  </a:outerShdw>
                </a:effectLst>
              </a:rPr>
              <a:t>(str1, "China"); </a:t>
            </a:r>
          </a:p>
        </p:txBody>
      </p:sp>
      <p:sp>
        <p:nvSpPr>
          <p:cNvPr id="8" name="灯片编号占位符 5"/>
          <p:cNvSpPr>
            <a:spLocks noGrp="1"/>
          </p:cNvSpPr>
          <p:nvPr>
            <p:ph type="sldNum" sz="quarter" idx="12"/>
          </p:nvPr>
        </p:nvSpPr>
        <p:spPr/>
        <p:txBody>
          <a:bodyPr/>
          <a:lstStyle/>
          <a:p>
            <a:pPr>
              <a:defRPr/>
            </a:pPr>
            <a:fld id="{143A6202-55CB-47CD-9250-B3C707B118A3}" type="slidenum">
              <a:rPr lang="en-US" altLang="zh-CN"/>
              <a:pPr>
                <a:defRPr/>
              </a:pPr>
              <a:t>96</a:t>
            </a:fld>
            <a:endParaRPr lang="en-US" altLang="zh-CN"/>
          </a:p>
        </p:txBody>
      </p:sp>
      <p:sp>
        <p:nvSpPr>
          <p:cNvPr id="93189" name="Line 4"/>
          <p:cNvSpPr>
            <a:spLocks noChangeShapeType="1"/>
          </p:cNvSpPr>
          <p:nvPr/>
        </p:nvSpPr>
        <p:spPr bwMode="auto">
          <a:xfrm>
            <a:off x="457200" y="5257800"/>
            <a:ext cx="4191000" cy="0"/>
          </a:xfrm>
          <a:prstGeom prst="line">
            <a:avLst/>
          </a:prstGeom>
          <a:noFill/>
          <a:ln w="9525">
            <a:noFill/>
            <a:round/>
            <a:headEnd/>
            <a:tailEnd/>
          </a:ln>
        </p:spPr>
        <p:txBody>
          <a:bodyPr wrap="none" lIns="92075" tIns="46038" rIns="92075" bIns="46038" anchor="ctr"/>
          <a:lstStyle/>
          <a:p>
            <a:endParaRPr lang="zh-CN" altLang="en-US"/>
          </a:p>
        </p:txBody>
      </p:sp>
      <p:sp>
        <p:nvSpPr>
          <p:cNvPr id="382983" name="AutoShape 7"/>
          <p:cNvSpPr>
            <a:spLocks noChangeArrowheads="1"/>
          </p:cNvSpPr>
          <p:nvPr/>
        </p:nvSpPr>
        <p:spPr bwMode="auto">
          <a:xfrm>
            <a:off x="5364163" y="5589588"/>
            <a:ext cx="3455987" cy="1008062"/>
          </a:xfrm>
          <a:prstGeom prst="wedgeRoundRectCallout">
            <a:avLst>
              <a:gd name="adj1" fmla="val -81097"/>
              <a:gd name="adj2" fmla="val -33620"/>
              <a:gd name="adj3" fmla="val 16667"/>
            </a:avLst>
          </a:prstGeom>
          <a:solidFill>
            <a:schemeClr val="accent2"/>
          </a:solidFill>
          <a:ln w="9525">
            <a:solidFill>
              <a:schemeClr val="accent2"/>
            </a:solidFill>
            <a:miter lim="800000"/>
            <a:headEnd/>
            <a:tailEnd/>
          </a:ln>
          <a:effectLst/>
        </p:spPr>
        <p:txBody>
          <a:bodyPr lIns="92075" tIns="46038" rIns="92075" bIns="46038"/>
          <a:lstStyle/>
          <a:p>
            <a:pPr marL="457200" indent="-457200" algn="l" eaLnBrk="1" hangingPunct="1">
              <a:spcBef>
                <a:spcPct val="20000"/>
              </a:spcBef>
              <a:buClr>
                <a:schemeClr val="hlink"/>
              </a:buClr>
              <a:buSzPct val="50000"/>
              <a:buFont typeface="Monotype Sorts" pitchFamily="2" charset="2"/>
              <a:buNone/>
              <a:defRPr/>
            </a:pPr>
            <a:r>
              <a:rPr kumimoji="1" lang="en-US" altLang="zh-CN" sz="2400" dirty="0">
                <a:solidFill>
                  <a:schemeClr val="bg1"/>
                </a:solidFill>
                <a:effectLst>
                  <a:outerShdw blurRad="38100" dist="38100" dir="2700000" algn="tl">
                    <a:srgbClr val="000000"/>
                  </a:outerShdw>
                </a:effectLst>
                <a:latin typeface="Arial" charset="0"/>
                <a:ea typeface="楷体_GB2312" pitchFamily="49" charset="-122"/>
              </a:rPr>
              <a:t>1. '\0'</a:t>
            </a:r>
            <a:r>
              <a:rPr kumimoji="1" lang="zh-CN" altLang="en-US" sz="2400" dirty="0">
                <a:solidFill>
                  <a:schemeClr val="bg1"/>
                </a:solidFill>
                <a:effectLst>
                  <a:outerShdw blurRad="38100" dist="38100" dir="2700000" algn="tl">
                    <a:srgbClr val="000000"/>
                  </a:outerShdw>
                </a:effectLst>
                <a:latin typeface="Arial" charset="0"/>
                <a:ea typeface="楷体_GB2312" pitchFamily="49" charset="-122"/>
              </a:rPr>
              <a:t>一起拷贝</a:t>
            </a:r>
          </a:p>
          <a:p>
            <a:pPr marL="457200" indent="-457200" algn="l" eaLnBrk="1" hangingPunct="1">
              <a:spcBef>
                <a:spcPct val="20000"/>
              </a:spcBef>
              <a:buClr>
                <a:schemeClr val="hlink"/>
              </a:buClr>
              <a:buSzPct val="50000"/>
              <a:buFont typeface="Monotype Sorts" pitchFamily="2" charset="2"/>
              <a:buNone/>
              <a:defRPr/>
            </a:pPr>
            <a:r>
              <a:rPr kumimoji="1" lang="en-US" altLang="zh-CN" sz="2400" dirty="0">
                <a:solidFill>
                  <a:schemeClr val="bg1"/>
                </a:solidFill>
                <a:effectLst>
                  <a:outerShdw blurRad="38100" dist="38100" dir="2700000" algn="tl">
                    <a:srgbClr val="000000"/>
                  </a:outerShdw>
                </a:effectLst>
                <a:latin typeface="Arial" charset="0"/>
                <a:ea typeface="楷体_GB2312" pitchFamily="49" charset="-122"/>
              </a:rPr>
              <a:t>2. </a:t>
            </a:r>
            <a:r>
              <a:rPr kumimoji="1" lang="zh-CN" altLang="en-US" sz="2400" dirty="0">
                <a:solidFill>
                  <a:schemeClr val="bg1"/>
                </a:solidFill>
                <a:effectLst>
                  <a:outerShdw blurRad="38100" dist="38100" dir="2700000" algn="tl">
                    <a:srgbClr val="000000"/>
                  </a:outerShdw>
                </a:effectLst>
                <a:latin typeface="Arial" charset="0"/>
                <a:ea typeface="楷体_GB2312" pitchFamily="49" charset="-122"/>
              </a:rPr>
              <a:t>不能使用</a:t>
            </a:r>
            <a:r>
              <a:rPr kumimoji="1" lang="en-US" altLang="zh-CN" sz="2400" dirty="0">
                <a:solidFill>
                  <a:schemeClr val="bg1"/>
                </a:solidFill>
                <a:effectLst>
                  <a:outerShdw blurRad="38100" dist="38100" dir="2700000" algn="tl">
                    <a:srgbClr val="000000"/>
                  </a:outerShdw>
                </a:effectLst>
                <a:latin typeface="Arial" charset="0"/>
                <a:ea typeface="楷体_GB2312" pitchFamily="49" charset="-122"/>
              </a:rPr>
              <a:t>:str1=str2</a:t>
            </a:r>
          </a:p>
        </p:txBody>
      </p:sp>
      <p:sp>
        <p:nvSpPr>
          <p:cNvPr id="9" name="椭圆形标注 8"/>
          <p:cNvSpPr/>
          <p:nvPr/>
        </p:nvSpPr>
        <p:spPr>
          <a:xfrm>
            <a:off x="5292080" y="116632"/>
            <a:ext cx="3672408" cy="1008112"/>
          </a:xfrm>
          <a:prstGeom prst="wedgeEllipse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#include “</a:t>
            </a:r>
            <a:r>
              <a:rPr lang="en-US" altLang="zh-CN" dirty="0" err="1"/>
              <a:t>string.h</a:t>
            </a:r>
            <a:r>
              <a:rPr lang="en-US" altLang="zh-CN" dirty="0"/>
              <a:t>”</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82978">
                                            <p:txEl>
                                              <p:pRg st="0" end="0"/>
                                            </p:txEl>
                                          </p:spTgt>
                                        </p:tgtEl>
                                        <p:attrNameLst>
                                          <p:attrName>style.visibility</p:attrName>
                                        </p:attrNameLst>
                                      </p:cBhvr>
                                      <p:to>
                                        <p:strVal val="visible"/>
                                      </p:to>
                                    </p:set>
                                    <p:anim calcmode="lin" valueType="num">
                                      <p:cBhvr additive="base">
                                        <p:cTn id="13" dur="500" fill="hold"/>
                                        <p:tgtEl>
                                          <p:spTgt spid="382978">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82978">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82978">
                                            <p:txEl>
                                              <p:pRg st="1" end="1"/>
                                            </p:txEl>
                                          </p:spTgt>
                                        </p:tgtEl>
                                        <p:attrNameLst>
                                          <p:attrName>style.visibility</p:attrName>
                                        </p:attrNameLst>
                                      </p:cBhvr>
                                      <p:to>
                                        <p:strVal val="visible"/>
                                      </p:to>
                                    </p:set>
                                    <p:anim calcmode="lin" valueType="num">
                                      <p:cBhvr additive="base">
                                        <p:cTn id="17" dur="500" fill="hold"/>
                                        <p:tgtEl>
                                          <p:spTgt spid="382978">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82978">
                                            <p:txEl>
                                              <p:pRg st="1" end="1"/>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82978">
                                            <p:txEl>
                                              <p:pRg st="2" end="2"/>
                                            </p:txEl>
                                          </p:spTgt>
                                        </p:tgtEl>
                                        <p:attrNameLst>
                                          <p:attrName>style.visibility</p:attrName>
                                        </p:attrNameLst>
                                      </p:cBhvr>
                                      <p:to>
                                        <p:strVal val="visible"/>
                                      </p:to>
                                    </p:set>
                                    <p:anim calcmode="lin" valueType="num">
                                      <p:cBhvr additive="base">
                                        <p:cTn id="21" dur="500" fill="hold"/>
                                        <p:tgtEl>
                                          <p:spTgt spid="382978">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8297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82978">
                                            <p:txEl>
                                              <p:pRg st="3" end="3"/>
                                            </p:txEl>
                                          </p:spTgt>
                                        </p:tgtEl>
                                        <p:attrNameLst>
                                          <p:attrName>style.visibility</p:attrName>
                                        </p:attrNameLst>
                                      </p:cBhvr>
                                      <p:to>
                                        <p:strVal val="visible"/>
                                      </p:to>
                                    </p:set>
                                    <p:anim calcmode="lin" valueType="num">
                                      <p:cBhvr additive="base">
                                        <p:cTn id="27" dur="500" fill="hold"/>
                                        <p:tgtEl>
                                          <p:spTgt spid="382978">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82978">
                                            <p:txEl>
                                              <p:pRg st="3" end="3"/>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82978">
                                            <p:txEl>
                                              <p:pRg st="4" end="4"/>
                                            </p:txEl>
                                          </p:spTgt>
                                        </p:tgtEl>
                                        <p:attrNameLst>
                                          <p:attrName>style.visibility</p:attrName>
                                        </p:attrNameLst>
                                      </p:cBhvr>
                                      <p:to>
                                        <p:strVal val="visible"/>
                                      </p:to>
                                    </p:set>
                                    <p:anim calcmode="lin" valueType="num">
                                      <p:cBhvr additive="base">
                                        <p:cTn id="31" dur="500" fill="hold"/>
                                        <p:tgtEl>
                                          <p:spTgt spid="38297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8297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82978">
                                            <p:txEl>
                                              <p:pRg st="5" end="5"/>
                                            </p:txEl>
                                          </p:spTgt>
                                        </p:tgtEl>
                                        <p:attrNameLst>
                                          <p:attrName>style.visibility</p:attrName>
                                        </p:attrNameLst>
                                      </p:cBhvr>
                                      <p:to>
                                        <p:strVal val="visible"/>
                                      </p:to>
                                    </p:set>
                                    <p:anim calcmode="lin" valueType="num">
                                      <p:cBhvr additive="base">
                                        <p:cTn id="37" dur="500" fill="hold"/>
                                        <p:tgtEl>
                                          <p:spTgt spid="382978">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82978">
                                            <p:txEl>
                                              <p:pRg st="5" end="5"/>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382978">
                                            <p:txEl>
                                              <p:pRg st="6" end="6"/>
                                            </p:txEl>
                                          </p:spTgt>
                                        </p:tgtEl>
                                        <p:attrNameLst>
                                          <p:attrName>style.visibility</p:attrName>
                                        </p:attrNameLst>
                                      </p:cBhvr>
                                      <p:to>
                                        <p:strVal val="visible"/>
                                      </p:to>
                                    </p:set>
                                    <p:anim calcmode="lin" valueType="num">
                                      <p:cBhvr additive="base">
                                        <p:cTn id="41" dur="500" fill="hold"/>
                                        <p:tgtEl>
                                          <p:spTgt spid="382978">
                                            <p:txEl>
                                              <p:pRg st="6" end="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82978">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382978">
                                            <p:txEl>
                                              <p:pRg st="7" end="7"/>
                                            </p:txEl>
                                          </p:spTgt>
                                        </p:tgtEl>
                                        <p:attrNameLst>
                                          <p:attrName>style.visibility</p:attrName>
                                        </p:attrNameLst>
                                      </p:cBhvr>
                                      <p:to>
                                        <p:strVal val="visible"/>
                                      </p:to>
                                    </p:set>
                                    <p:anim calcmode="lin" valueType="num">
                                      <p:cBhvr additive="base">
                                        <p:cTn id="47" dur="500" fill="hold"/>
                                        <p:tgtEl>
                                          <p:spTgt spid="382978">
                                            <p:txEl>
                                              <p:pRg st="7" end="7"/>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82978">
                                            <p:txEl>
                                              <p:pRg st="7" end="7"/>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82978">
                                            <p:txEl>
                                              <p:pRg st="8" end="8"/>
                                            </p:txEl>
                                          </p:spTgt>
                                        </p:tgtEl>
                                        <p:attrNameLst>
                                          <p:attrName>style.visibility</p:attrName>
                                        </p:attrNameLst>
                                      </p:cBhvr>
                                      <p:to>
                                        <p:strVal val="visible"/>
                                      </p:to>
                                    </p:set>
                                    <p:anim calcmode="lin" valueType="num">
                                      <p:cBhvr additive="base">
                                        <p:cTn id="51" dur="500" fill="hold"/>
                                        <p:tgtEl>
                                          <p:spTgt spid="382978">
                                            <p:txEl>
                                              <p:pRg st="8" end="8"/>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82978">
                                            <p:txEl>
                                              <p:pRg st="8" end="8"/>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382978">
                                            <p:txEl>
                                              <p:pRg st="9" end="9"/>
                                            </p:txEl>
                                          </p:spTgt>
                                        </p:tgtEl>
                                        <p:attrNameLst>
                                          <p:attrName>style.visibility</p:attrName>
                                        </p:attrNameLst>
                                      </p:cBhvr>
                                      <p:to>
                                        <p:strVal val="visible"/>
                                      </p:to>
                                    </p:set>
                                    <p:anim calcmode="lin" valueType="num">
                                      <p:cBhvr additive="base">
                                        <p:cTn id="55" dur="500" fill="hold"/>
                                        <p:tgtEl>
                                          <p:spTgt spid="382978">
                                            <p:txEl>
                                              <p:pRg st="9" end="9"/>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82978">
                                            <p:txEl>
                                              <p:pRg st="9" end="9"/>
                                            </p:txEl>
                                          </p:spTgt>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382983"/>
                                        </p:tgtEl>
                                        <p:attrNameLst>
                                          <p:attrName>style.visibility</p:attrName>
                                        </p:attrNameLst>
                                      </p:cBhvr>
                                      <p:to>
                                        <p:strVal val="visible"/>
                                      </p:to>
                                    </p:set>
                                    <p:anim calcmode="lin" valueType="num">
                                      <p:cBhvr additive="base">
                                        <p:cTn id="59" dur="500" fill="hold"/>
                                        <p:tgtEl>
                                          <p:spTgt spid="382983"/>
                                        </p:tgtEl>
                                        <p:attrNameLst>
                                          <p:attrName>ppt_x</p:attrName>
                                        </p:attrNameLst>
                                      </p:cBhvr>
                                      <p:tavLst>
                                        <p:tav tm="0">
                                          <p:val>
                                            <p:strVal val="#ppt_x"/>
                                          </p:val>
                                        </p:tav>
                                        <p:tav tm="100000">
                                          <p:val>
                                            <p:strVal val="#ppt_x"/>
                                          </p:val>
                                        </p:tav>
                                      </p:tavLst>
                                    </p:anim>
                                    <p:anim calcmode="lin" valueType="num">
                                      <p:cBhvr additive="base">
                                        <p:cTn id="60" dur="500" fill="hold"/>
                                        <p:tgtEl>
                                          <p:spTgt spid="38298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2983" grpId="0" animBg="1"/>
      <p:bldP spid="9"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2" name="Rectangle 2"/>
          <p:cNvSpPr>
            <a:spLocks noGrp="1" noChangeArrowheads="1"/>
          </p:cNvSpPr>
          <p:nvPr>
            <p:ph idx="1"/>
          </p:nvPr>
        </p:nvSpPr>
        <p:spPr>
          <a:xfrm>
            <a:off x="228600" y="981075"/>
            <a:ext cx="8534400" cy="5688013"/>
          </a:xfrm>
        </p:spPr>
        <p:txBody>
          <a:bodyPr>
            <a:normAutofit/>
          </a:bodyPr>
          <a:lstStyle/>
          <a:p>
            <a:pPr marL="1074738" indent="-1074738" eaLnBrk="1" fontAlgn="auto" hangingPunct="1">
              <a:lnSpc>
                <a:spcPct val="95000"/>
              </a:lnSpc>
              <a:spcAft>
                <a:spcPts val="0"/>
              </a:spcAft>
              <a:buClr>
                <a:schemeClr val="accent3"/>
              </a:buClr>
              <a:buFont typeface="Wingdings" pitchFamily="2" charset="2"/>
              <a:buNone/>
              <a:defRPr/>
            </a:pPr>
            <a:r>
              <a:rPr lang="en-US" altLang="zh-CN" b="1" dirty="0">
                <a:effectLst>
                  <a:outerShdw blurRad="38100" dist="38100" dir="2700000" algn="tl">
                    <a:srgbClr val="C0C0C0"/>
                  </a:outerShdw>
                </a:effectLst>
                <a:latin typeface="宋体" pitchFamily="2" charset="-122"/>
              </a:rPr>
              <a:t>(3) </a:t>
            </a:r>
            <a:r>
              <a:rPr lang="zh-CN" altLang="en-US" b="1" dirty="0">
                <a:effectLst>
                  <a:outerShdw blurRad="38100" dist="38100" dir="2700000" algn="tl">
                    <a:srgbClr val="C0C0C0"/>
                  </a:outerShdw>
                </a:effectLst>
                <a:latin typeface="宋体" pitchFamily="2" charset="-122"/>
              </a:rPr>
              <a:t>字符串拷贝函数 </a:t>
            </a:r>
            <a:r>
              <a:rPr lang="en-US" altLang="zh-CN" b="1" dirty="0" err="1">
                <a:effectLst>
                  <a:outerShdw blurRad="38100" dist="38100" dir="2700000" algn="tl">
                    <a:srgbClr val="C0C0C0"/>
                  </a:outerShdw>
                </a:effectLst>
                <a:latin typeface="宋体" pitchFamily="2" charset="-122"/>
              </a:rPr>
              <a:t>strncpy</a:t>
            </a:r>
            <a:r>
              <a:rPr lang="en-US" altLang="zh-CN" b="1" dirty="0">
                <a:effectLst>
                  <a:outerShdw blurRad="38100" dist="38100" dir="2700000" algn="tl">
                    <a:srgbClr val="C0C0C0"/>
                  </a:outerShdw>
                </a:effectLst>
                <a:latin typeface="宋体" pitchFamily="2" charset="-122"/>
              </a:rPr>
              <a:t>(</a:t>
            </a:r>
            <a:r>
              <a:rPr lang="zh-CN" altLang="en-US" b="1" dirty="0">
                <a:effectLst>
                  <a:outerShdw blurRad="38100" dist="38100" dir="2700000" algn="tl">
                    <a:srgbClr val="C0C0C0"/>
                  </a:outerShdw>
                </a:effectLst>
                <a:latin typeface="宋体" pitchFamily="2" charset="-122"/>
              </a:rPr>
              <a:t>字符数组</a:t>
            </a:r>
            <a:r>
              <a:rPr lang="en-US" altLang="zh-CN" b="1" dirty="0">
                <a:effectLst>
                  <a:outerShdw blurRad="38100" dist="38100" dir="2700000" algn="tl">
                    <a:srgbClr val="C0C0C0"/>
                  </a:outerShdw>
                </a:effectLst>
                <a:latin typeface="宋体" pitchFamily="2" charset="-122"/>
              </a:rPr>
              <a:t>1,</a:t>
            </a:r>
            <a:r>
              <a:rPr lang="zh-CN" altLang="en-US" b="1" dirty="0">
                <a:effectLst>
                  <a:outerShdw blurRad="38100" dist="38100" dir="2700000" algn="tl">
                    <a:srgbClr val="C0C0C0"/>
                  </a:outerShdw>
                </a:effectLst>
                <a:latin typeface="宋体" pitchFamily="2" charset="-122"/>
              </a:rPr>
              <a:t>字符串</a:t>
            </a:r>
            <a:r>
              <a:rPr lang="en-US" altLang="zh-CN" b="1" dirty="0">
                <a:effectLst>
                  <a:outerShdw blurRad="38100" dist="38100" dir="2700000" algn="tl">
                    <a:srgbClr val="C0C0C0"/>
                  </a:outerShdw>
                </a:effectLst>
                <a:latin typeface="宋体" pitchFamily="2" charset="-122"/>
              </a:rPr>
              <a:t>2,n)</a:t>
            </a:r>
          </a:p>
          <a:p>
            <a:pPr marL="1074738" indent="-1074738" eaLnBrk="1" fontAlgn="auto" hangingPunct="1">
              <a:lnSpc>
                <a:spcPct val="95000"/>
              </a:lnSpc>
              <a:spcAft>
                <a:spcPts val="0"/>
              </a:spcAft>
              <a:buClr>
                <a:schemeClr val="accent3"/>
              </a:buClr>
              <a:buFont typeface="Wingdings" pitchFamily="2" charset="2"/>
              <a:buNone/>
              <a:defRPr/>
            </a:pPr>
            <a:r>
              <a:rPr lang="zh-CN" altLang="en-US" b="1" dirty="0">
                <a:effectLst>
                  <a:outerShdw blurRad="38100" dist="38100" dir="2700000" algn="tl">
                    <a:srgbClr val="C0C0C0"/>
                  </a:outerShdw>
                </a:effectLst>
                <a:latin typeface="宋体" pitchFamily="2" charset="-122"/>
              </a:rPr>
              <a:t>功能：将字符串</a:t>
            </a:r>
            <a:r>
              <a:rPr lang="en-US" altLang="zh-CN" b="1" dirty="0">
                <a:effectLst>
                  <a:outerShdw blurRad="38100" dist="38100" dir="2700000" algn="tl">
                    <a:srgbClr val="C0C0C0"/>
                  </a:outerShdw>
                </a:effectLst>
                <a:latin typeface="宋体" pitchFamily="2" charset="-122"/>
              </a:rPr>
              <a:t>2</a:t>
            </a:r>
            <a:r>
              <a:rPr lang="zh-CN" altLang="en-US" b="1" dirty="0">
                <a:effectLst>
                  <a:outerShdw blurRad="38100" dist="38100" dir="2700000" algn="tl">
                    <a:srgbClr val="C0C0C0"/>
                  </a:outerShdw>
                </a:effectLst>
                <a:latin typeface="宋体" pitchFamily="2" charset="-122"/>
              </a:rPr>
              <a:t>的前</a:t>
            </a:r>
            <a:r>
              <a:rPr lang="en-US" altLang="zh-CN" b="1" dirty="0">
                <a:effectLst>
                  <a:outerShdw blurRad="38100" dist="38100" dir="2700000" algn="tl">
                    <a:srgbClr val="C0C0C0"/>
                  </a:outerShdw>
                </a:effectLst>
                <a:latin typeface="宋体" pitchFamily="2" charset="-122"/>
              </a:rPr>
              <a:t>n</a:t>
            </a:r>
            <a:r>
              <a:rPr lang="zh-CN" altLang="en-US" b="1" dirty="0">
                <a:effectLst>
                  <a:outerShdw blurRad="38100" dist="38100" dir="2700000" algn="tl">
                    <a:srgbClr val="C0C0C0"/>
                  </a:outerShdw>
                </a:effectLst>
                <a:latin typeface="宋体" pitchFamily="2" charset="-122"/>
              </a:rPr>
              <a:t>个字符复制到字符数组</a:t>
            </a:r>
            <a:r>
              <a:rPr lang="en-US" altLang="zh-CN" b="1" dirty="0">
                <a:effectLst>
                  <a:outerShdw blurRad="38100" dist="38100" dir="2700000" algn="tl">
                    <a:srgbClr val="C0C0C0"/>
                  </a:outerShdw>
                </a:effectLst>
                <a:latin typeface="宋体" pitchFamily="2" charset="-122"/>
              </a:rPr>
              <a:t>1</a:t>
            </a:r>
            <a:r>
              <a:rPr lang="zh-CN" altLang="en-US" b="1" dirty="0">
                <a:effectLst>
                  <a:outerShdw blurRad="38100" dist="38100" dir="2700000" algn="tl">
                    <a:srgbClr val="C0C0C0"/>
                  </a:outerShdw>
                </a:effectLst>
                <a:latin typeface="宋体" pitchFamily="2" charset="-122"/>
              </a:rPr>
              <a:t>前</a:t>
            </a:r>
            <a:r>
              <a:rPr lang="en-US" altLang="zh-CN" b="1" dirty="0">
                <a:effectLst>
                  <a:outerShdw blurRad="38100" dist="38100" dir="2700000" algn="tl">
                    <a:srgbClr val="C0C0C0"/>
                  </a:outerShdw>
                </a:effectLst>
                <a:latin typeface="宋体" pitchFamily="2" charset="-122"/>
              </a:rPr>
              <a:t>n</a:t>
            </a:r>
            <a:r>
              <a:rPr lang="zh-CN" altLang="en-US" b="1" dirty="0">
                <a:effectLst>
                  <a:outerShdw blurRad="38100" dist="38100" dir="2700000" algn="tl">
                    <a:srgbClr val="C0C0C0"/>
                  </a:outerShdw>
                </a:effectLst>
                <a:latin typeface="宋体" pitchFamily="2" charset="-122"/>
              </a:rPr>
              <a:t>个字符，字符数组</a:t>
            </a:r>
            <a:r>
              <a:rPr lang="en-US" altLang="zh-CN" b="1" dirty="0">
                <a:effectLst>
                  <a:outerShdw blurRad="38100" dist="38100" dir="2700000" algn="tl">
                    <a:srgbClr val="C0C0C0"/>
                  </a:outerShdw>
                </a:effectLst>
                <a:latin typeface="宋体" pitchFamily="2" charset="-122"/>
              </a:rPr>
              <a:t>1</a:t>
            </a:r>
            <a:r>
              <a:rPr lang="zh-CN" altLang="en-US" b="1" dirty="0">
                <a:effectLst>
                  <a:outerShdw blurRad="38100" dist="38100" dir="2700000" algn="tl">
                    <a:srgbClr val="C0C0C0"/>
                  </a:outerShdw>
                </a:effectLst>
                <a:latin typeface="宋体" pitchFamily="2" charset="-122"/>
              </a:rPr>
              <a:t>后面的字符不变。</a:t>
            </a:r>
          </a:p>
          <a:p>
            <a:pPr marL="1074738" indent="-1074738" algn="just" eaLnBrk="1" fontAlgn="auto" hangingPunct="1">
              <a:lnSpc>
                <a:spcPct val="95000"/>
              </a:lnSpc>
              <a:spcAft>
                <a:spcPts val="0"/>
              </a:spcAft>
              <a:buClr>
                <a:schemeClr val="accent3"/>
              </a:buClr>
              <a:buFont typeface="Wingdings" pitchFamily="2" charset="2"/>
              <a:buNone/>
              <a:defRPr/>
            </a:pPr>
            <a:r>
              <a:rPr lang="zh-CN" altLang="en-US" b="1" dirty="0">
                <a:effectLst>
                  <a:outerShdw blurRad="38100" dist="38100" dir="2700000" algn="tl">
                    <a:srgbClr val="C0C0C0"/>
                  </a:outerShdw>
                </a:effectLst>
                <a:latin typeface="宋体" pitchFamily="2" charset="-122"/>
              </a:rPr>
              <a:t>例：  </a:t>
            </a:r>
            <a:r>
              <a:rPr lang="en-US" altLang="zh-CN" b="1" dirty="0">
                <a:effectLst>
                  <a:outerShdw blurRad="38100" dist="38100" dir="2700000" algn="tl">
                    <a:srgbClr val="C0C0C0"/>
                  </a:outerShdw>
                </a:effectLst>
              </a:rPr>
              <a:t>char str1[10], str2[ ]="China";</a:t>
            </a:r>
          </a:p>
          <a:p>
            <a:pPr marL="1074738" indent="-1074738" algn="just" eaLnBrk="1" fontAlgn="auto" hangingPunct="1">
              <a:lnSpc>
                <a:spcPct val="95000"/>
              </a:lnSpc>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a:t>
            </a:r>
            <a:r>
              <a:rPr lang="en-US" altLang="zh-CN" b="1" dirty="0" err="1">
                <a:effectLst>
                  <a:outerShdw blurRad="38100" dist="38100" dir="2700000" algn="tl">
                    <a:srgbClr val="C0C0C0"/>
                  </a:outerShdw>
                </a:effectLst>
              </a:rPr>
              <a:t>strncpy</a:t>
            </a:r>
            <a:r>
              <a:rPr lang="en-US" altLang="zh-CN" b="1" dirty="0">
                <a:effectLst>
                  <a:outerShdw blurRad="38100" dist="38100" dir="2700000" algn="tl">
                    <a:srgbClr val="C0C0C0"/>
                  </a:outerShdw>
                </a:effectLst>
              </a:rPr>
              <a:t>(str1, str2, 3);  /* str1="Chi" */</a:t>
            </a:r>
          </a:p>
          <a:p>
            <a:pPr marL="1074738" indent="-1074738" algn="just" eaLnBrk="1" fontAlgn="auto" hangingPunct="1">
              <a:lnSpc>
                <a:spcPct val="95000"/>
              </a:lnSpc>
              <a:spcBef>
                <a:spcPct val="75000"/>
              </a:spcBef>
              <a:spcAft>
                <a:spcPts val="0"/>
              </a:spcAft>
              <a:buClr>
                <a:schemeClr val="accent3"/>
              </a:buClr>
              <a:buFont typeface="Wingdings" pitchFamily="2" charset="2"/>
              <a:buNone/>
              <a:defRPr/>
            </a:pPr>
            <a:r>
              <a:rPr lang="en-US" altLang="zh-CN" b="1" dirty="0">
                <a:effectLst>
                  <a:outerShdw blurRad="38100" dist="38100" dir="2700000" algn="tl">
                    <a:srgbClr val="C0C0C0"/>
                  </a:outerShdw>
                </a:effectLst>
                <a:latin typeface="宋体" pitchFamily="2" charset="-122"/>
              </a:rPr>
              <a:t>(4)</a:t>
            </a:r>
            <a:r>
              <a:rPr lang="zh-CN" altLang="en-US" b="1" dirty="0">
                <a:effectLst>
                  <a:outerShdw blurRad="38100" dist="38100" dir="2700000" algn="tl">
                    <a:srgbClr val="C0C0C0"/>
                  </a:outerShdw>
                </a:effectLst>
                <a:latin typeface="宋体" pitchFamily="2" charset="-122"/>
              </a:rPr>
              <a:t>字符串连接函数 </a:t>
            </a:r>
            <a:r>
              <a:rPr lang="en-US" altLang="zh-CN" b="1" dirty="0" err="1">
                <a:effectLst>
                  <a:outerShdw blurRad="38100" dist="38100" dir="2700000" algn="tl">
                    <a:srgbClr val="C0C0C0"/>
                  </a:outerShdw>
                </a:effectLst>
                <a:latin typeface="宋体" pitchFamily="2" charset="-122"/>
              </a:rPr>
              <a:t>strcat</a:t>
            </a:r>
            <a:r>
              <a:rPr lang="en-US" altLang="zh-CN" b="1" dirty="0">
                <a:effectLst>
                  <a:outerShdw blurRad="38100" dist="38100" dir="2700000" algn="tl">
                    <a:srgbClr val="C0C0C0"/>
                  </a:outerShdw>
                </a:effectLst>
                <a:latin typeface="宋体" pitchFamily="2" charset="-122"/>
              </a:rPr>
              <a:t>(</a:t>
            </a:r>
            <a:r>
              <a:rPr lang="zh-CN" altLang="en-US" b="1" dirty="0">
                <a:effectLst>
                  <a:outerShdw blurRad="38100" dist="38100" dir="2700000" algn="tl">
                    <a:srgbClr val="C0C0C0"/>
                  </a:outerShdw>
                </a:effectLst>
                <a:latin typeface="宋体" pitchFamily="2" charset="-122"/>
              </a:rPr>
              <a:t>字符数组</a:t>
            </a:r>
            <a:r>
              <a:rPr lang="en-US" altLang="zh-CN" b="1" dirty="0">
                <a:effectLst>
                  <a:outerShdw blurRad="38100" dist="38100" dir="2700000" algn="tl">
                    <a:srgbClr val="C0C0C0"/>
                  </a:outerShdw>
                </a:effectLst>
                <a:latin typeface="宋体" pitchFamily="2" charset="-122"/>
              </a:rPr>
              <a:t>1,</a:t>
            </a:r>
            <a:r>
              <a:rPr lang="zh-CN" altLang="en-US" b="1" dirty="0">
                <a:effectLst>
                  <a:outerShdw blurRad="38100" dist="38100" dir="2700000" algn="tl">
                    <a:srgbClr val="C0C0C0"/>
                  </a:outerShdw>
                </a:effectLst>
                <a:latin typeface="宋体" pitchFamily="2" charset="-122"/>
              </a:rPr>
              <a:t>字符串</a:t>
            </a:r>
            <a:r>
              <a:rPr lang="en-US" altLang="zh-CN" b="1" dirty="0">
                <a:effectLst>
                  <a:outerShdw blurRad="38100" dist="38100" dir="2700000" algn="tl">
                    <a:srgbClr val="C0C0C0"/>
                  </a:outerShdw>
                </a:effectLst>
                <a:latin typeface="宋体" pitchFamily="2" charset="-122"/>
              </a:rPr>
              <a:t>2)</a:t>
            </a:r>
          </a:p>
          <a:p>
            <a:pPr marL="1074738" indent="-1074738" eaLnBrk="1" fontAlgn="auto" hangingPunct="1">
              <a:lnSpc>
                <a:spcPct val="95000"/>
              </a:lnSpc>
              <a:spcAft>
                <a:spcPts val="0"/>
              </a:spcAft>
              <a:buClr>
                <a:schemeClr val="accent3"/>
              </a:buClr>
              <a:buFont typeface="Wingdings" pitchFamily="2" charset="2"/>
              <a:buNone/>
              <a:defRPr/>
            </a:pPr>
            <a:r>
              <a:rPr lang="zh-CN" altLang="en-US" b="1" dirty="0">
                <a:effectLst>
                  <a:outerShdw blurRad="38100" dist="38100" dir="2700000" algn="tl">
                    <a:srgbClr val="C0C0C0"/>
                  </a:outerShdw>
                </a:effectLst>
                <a:latin typeface="宋体" pitchFamily="2" charset="-122"/>
              </a:rPr>
              <a:t>功能：将字符串</a:t>
            </a:r>
            <a:r>
              <a:rPr lang="en-US" altLang="zh-CN" b="1" dirty="0">
                <a:effectLst>
                  <a:outerShdw blurRad="38100" dist="38100" dir="2700000" algn="tl">
                    <a:srgbClr val="C0C0C0"/>
                  </a:outerShdw>
                </a:effectLst>
                <a:latin typeface="宋体" pitchFamily="2" charset="-122"/>
              </a:rPr>
              <a:t>2</a:t>
            </a:r>
            <a:r>
              <a:rPr lang="zh-CN" altLang="en-US" b="1" dirty="0">
                <a:effectLst>
                  <a:outerShdw blurRad="38100" dist="38100" dir="2700000" algn="tl">
                    <a:srgbClr val="C0C0C0"/>
                  </a:outerShdw>
                </a:effectLst>
                <a:latin typeface="宋体" pitchFamily="2" charset="-122"/>
              </a:rPr>
              <a:t>接在字符数组</a:t>
            </a:r>
            <a:r>
              <a:rPr lang="en-US" altLang="zh-CN" b="1" dirty="0">
                <a:effectLst>
                  <a:outerShdw blurRad="38100" dist="38100" dir="2700000" algn="tl">
                    <a:srgbClr val="C0C0C0"/>
                  </a:outerShdw>
                </a:effectLst>
                <a:latin typeface="宋体" pitchFamily="2" charset="-122"/>
              </a:rPr>
              <a:t>1</a:t>
            </a:r>
            <a:r>
              <a:rPr lang="zh-CN" altLang="en-US" b="1" dirty="0">
                <a:effectLst>
                  <a:outerShdw blurRad="38100" dist="38100" dir="2700000" algn="tl">
                    <a:srgbClr val="C0C0C0"/>
                  </a:outerShdw>
                </a:effectLst>
                <a:latin typeface="宋体" pitchFamily="2" charset="-122"/>
              </a:rPr>
              <a:t>的后面。</a:t>
            </a:r>
          </a:p>
          <a:p>
            <a:pPr marL="1074738" indent="-1074738" algn="just" eaLnBrk="1" fontAlgn="auto" hangingPunct="1">
              <a:lnSpc>
                <a:spcPct val="95000"/>
              </a:lnSpc>
              <a:spcAft>
                <a:spcPts val="0"/>
              </a:spcAft>
              <a:buClr>
                <a:schemeClr val="accent3"/>
              </a:buClr>
              <a:buFont typeface="Wingdings" pitchFamily="2" charset="2"/>
              <a:buNone/>
              <a:defRPr/>
            </a:pPr>
            <a:r>
              <a:rPr lang="zh-CN" altLang="en-US" b="1" dirty="0">
                <a:effectLst>
                  <a:outerShdw blurRad="38100" dist="38100" dir="2700000" algn="tl">
                    <a:srgbClr val="C0C0C0"/>
                  </a:outerShdw>
                </a:effectLst>
                <a:latin typeface="宋体" pitchFamily="2" charset="-122"/>
              </a:rPr>
              <a:t>例：  </a:t>
            </a:r>
            <a:r>
              <a:rPr lang="en-US" altLang="zh-CN" b="1" dirty="0">
                <a:effectLst>
                  <a:outerShdw blurRad="38100" dist="38100" dir="2700000" algn="tl">
                    <a:srgbClr val="C0C0C0"/>
                  </a:outerShdw>
                </a:effectLst>
              </a:rPr>
              <a:t>char str1[30]="Beijing ";</a:t>
            </a:r>
          </a:p>
          <a:p>
            <a:pPr marL="1074738" indent="-1074738" algn="just" eaLnBrk="1" fontAlgn="auto" hangingPunct="1">
              <a:lnSpc>
                <a:spcPct val="95000"/>
              </a:lnSpc>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char str2[ ]="Shanghai";</a:t>
            </a:r>
          </a:p>
          <a:p>
            <a:pPr marL="1074738" indent="-1074738" algn="just" eaLnBrk="1" fontAlgn="auto" hangingPunct="1">
              <a:lnSpc>
                <a:spcPct val="95000"/>
              </a:lnSpc>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a:t>
            </a:r>
            <a:r>
              <a:rPr lang="en-US" altLang="en-US" b="1" dirty="0" err="1">
                <a:effectLst>
                  <a:outerShdw blurRad="38100" dist="38100" dir="2700000" algn="tl">
                    <a:srgbClr val="C0C0C0"/>
                  </a:outerShdw>
                </a:effectLst>
              </a:rPr>
              <a:t>strcat</a:t>
            </a:r>
            <a:r>
              <a:rPr lang="en-US" altLang="en-US" b="1" dirty="0">
                <a:effectLst>
                  <a:outerShdw blurRad="38100" dist="38100" dir="2700000" algn="tl">
                    <a:srgbClr val="C0C0C0"/>
                  </a:outerShdw>
                </a:effectLst>
              </a:rPr>
              <a:t>(str1, str2); </a:t>
            </a:r>
            <a:r>
              <a:rPr lang="en-US" altLang="zh-CN" b="1" dirty="0">
                <a:effectLst>
                  <a:outerShdw blurRad="38100" dist="38100" dir="2700000" algn="tl">
                    <a:srgbClr val="C0C0C0"/>
                  </a:outerShdw>
                </a:effectLst>
              </a:rPr>
              <a:t> </a:t>
            </a:r>
            <a:r>
              <a:rPr lang="en-US" altLang="en-US" b="1" dirty="0" err="1">
                <a:effectLst>
                  <a:outerShdw blurRad="38100" dist="38100" dir="2700000" algn="tl">
                    <a:srgbClr val="C0C0C0"/>
                  </a:outerShdw>
                </a:effectLst>
              </a:rPr>
              <a:t>printf</a:t>
            </a:r>
            <a:r>
              <a:rPr lang="en-US" altLang="en-US" b="1" dirty="0">
                <a:effectLst>
                  <a:outerShdw blurRad="38100" dist="38100" dir="2700000" algn="tl">
                    <a:srgbClr val="C0C0C0"/>
                  </a:outerShdw>
                </a:effectLst>
              </a:rPr>
              <a:t>("%s\n", str1);</a:t>
            </a:r>
          </a:p>
          <a:p>
            <a:pPr marL="1074738" indent="-1074738" algn="just" eaLnBrk="1" fontAlgn="auto" hangingPunct="1">
              <a:lnSpc>
                <a:spcPct val="95000"/>
              </a:lnSpc>
              <a:spcAft>
                <a:spcPts val="0"/>
              </a:spcAft>
              <a:buClr>
                <a:schemeClr val="accent3"/>
              </a:buClr>
              <a:buFont typeface="Wingdings" pitchFamily="2" charset="2"/>
              <a:buNone/>
              <a:defRPr/>
            </a:pPr>
            <a:r>
              <a:rPr lang="en-US" altLang="en-US" b="1" dirty="0" err="1">
                <a:effectLst>
                  <a:outerShdw blurRad="38100" dist="38100" dir="2700000" algn="tl">
                    <a:srgbClr val="C0C0C0"/>
                  </a:outerShdw>
                </a:effectLst>
              </a:rPr>
              <a:t>输出</a:t>
            </a:r>
            <a:r>
              <a:rPr lang="zh-CN" altLang="en-US" b="1" dirty="0">
                <a:effectLst>
                  <a:outerShdw blurRad="38100" dist="38100" dir="2700000" algn="tl">
                    <a:srgbClr val="C0C0C0"/>
                  </a:outerShdw>
                </a:effectLst>
              </a:rPr>
              <a:t>：</a:t>
            </a:r>
            <a:r>
              <a:rPr lang="en-US" altLang="en-US" b="1" dirty="0">
                <a:effectLst>
                  <a:outerShdw blurRad="38100" dist="38100" dir="2700000" algn="tl">
                    <a:srgbClr val="C0C0C0"/>
                  </a:outerShdw>
                </a:effectLst>
              </a:rPr>
              <a:t>Beijing</a:t>
            </a:r>
            <a:r>
              <a:rPr lang="en-US" altLang="zh-CN" b="1" dirty="0">
                <a:effectLst>
                  <a:outerShdw blurRad="38100" dist="38100" dir="2700000" algn="tl">
                    <a:srgbClr val="C0C0C0"/>
                  </a:outerShdw>
                </a:effectLst>
              </a:rPr>
              <a:t> </a:t>
            </a:r>
            <a:r>
              <a:rPr lang="en-US" altLang="en-US" b="1" dirty="0">
                <a:effectLst>
                  <a:outerShdw blurRad="38100" dist="38100" dir="2700000" algn="tl">
                    <a:srgbClr val="C0C0C0"/>
                  </a:outerShdw>
                </a:effectLst>
              </a:rPr>
              <a:t>Shanghai</a:t>
            </a:r>
            <a:endParaRPr lang="en-US" altLang="zh-CN" b="1" dirty="0">
              <a:effectLst>
                <a:outerShdw blurRad="38100" dist="38100" dir="2700000" algn="tl">
                  <a:srgbClr val="C0C0C0"/>
                </a:outerShdw>
              </a:effectLst>
            </a:endParaRPr>
          </a:p>
        </p:txBody>
      </p:sp>
      <p:sp>
        <p:nvSpPr>
          <p:cNvPr id="6" name="灯片编号占位符 5"/>
          <p:cNvSpPr>
            <a:spLocks noGrp="1"/>
          </p:cNvSpPr>
          <p:nvPr>
            <p:ph type="sldNum" sz="quarter" idx="12"/>
          </p:nvPr>
        </p:nvSpPr>
        <p:spPr/>
        <p:txBody>
          <a:bodyPr/>
          <a:lstStyle/>
          <a:p>
            <a:pPr>
              <a:defRPr/>
            </a:pPr>
            <a:fld id="{1FC573BC-2B63-4D82-9F20-36BDA9C20C82}" type="slidenum">
              <a:rPr lang="en-US" altLang="zh-CN"/>
              <a:pPr>
                <a:defRPr/>
              </a:pPr>
              <a:t>97</a:t>
            </a:fld>
            <a:endParaRPr lang="en-US" altLang="zh-CN"/>
          </a:p>
        </p:txBody>
      </p:sp>
      <p:sp>
        <p:nvSpPr>
          <p:cNvPr id="94212" name="Line 4"/>
          <p:cNvSpPr>
            <a:spLocks noChangeShapeType="1"/>
          </p:cNvSpPr>
          <p:nvPr/>
        </p:nvSpPr>
        <p:spPr bwMode="auto">
          <a:xfrm>
            <a:off x="457200" y="5257800"/>
            <a:ext cx="4191000" cy="0"/>
          </a:xfrm>
          <a:prstGeom prst="line">
            <a:avLst/>
          </a:prstGeom>
          <a:noFill/>
          <a:ln w="9525">
            <a:noFill/>
            <a:round/>
            <a:headEnd/>
            <a:tailEnd/>
          </a:ln>
        </p:spPr>
        <p:txBody>
          <a:bodyPr wrap="none" lIns="92075" tIns="46038" rIns="92075" bIns="46038"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84002">
                                            <p:txEl>
                                              <p:pRg st="2" end="2"/>
                                            </p:txEl>
                                          </p:spTgt>
                                        </p:tgtEl>
                                        <p:attrNameLst>
                                          <p:attrName>style.visibility</p:attrName>
                                        </p:attrNameLst>
                                      </p:cBhvr>
                                      <p:to>
                                        <p:strVal val="visible"/>
                                      </p:to>
                                    </p:set>
                                    <p:anim calcmode="lin" valueType="num">
                                      <p:cBhvr additive="base">
                                        <p:cTn id="7" dur="500" fill="hold"/>
                                        <p:tgtEl>
                                          <p:spTgt spid="384002">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84002">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84002">
                                            <p:txEl>
                                              <p:pRg st="3" end="3"/>
                                            </p:txEl>
                                          </p:spTgt>
                                        </p:tgtEl>
                                        <p:attrNameLst>
                                          <p:attrName>style.visibility</p:attrName>
                                        </p:attrNameLst>
                                      </p:cBhvr>
                                      <p:to>
                                        <p:strVal val="visible"/>
                                      </p:to>
                                    </p:set>
                                    <p:anim calcmode="lin" valueType="num">
                                      <p:cBhvr additive="base">
                                        <p:cTn id="11" dur="500" fill="hold"/>
                                        <p:tgtEl>
                                          <p:spTgt spid="384002">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8400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84002">
                                            <p:txEl>
                                              <p:pRg st="4" end="4"/>
                                            </p:txEl>
                                          </p:spTgt>
                                        </p:tgtEl>
                                        <p:attrNameLst>
                                          <p:attrName>style.visibility</p:attrName>
                                        </p:attrNameLst>
                                      </p:cBhvr>
                                      <p:to>
                                        <p:strVal val="visible"/>
                                      </p:to>
                                    </p:set>
                                    <p:anim calcmode="lin" valueType="num">
                                      <p:cBhvr additive="base">
                                        <p:cTn id="17" dur="500" fill="hold"/>
                                        <p:tgtEl>
                                          <p:spTgt spid="384002">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84002">
                                            <p:txEl>
                                              <p:pRg st="4" end="4"/>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84002">
                                            <p:txEl>
                                              <p:pRg st="5" end="5"/>
                                            </p:txEl>
                                          </p:spTgt>
                                        </p:tgtEl>
                                        <p:attrNameLst>
                                          <p:attrName>style.visibility</p:attrName>
                                        </p:attrNameLst>
                                      </p:cBhvr>
                                      <p:to>
                                        <p:strVal val="visible"/>
                                      </p:to>
                                    </p:set>
                                    <p:anim calcmode="lin" valueType="num">
                                      <p:cBhvr additive="base">
                                        <p:cTn id="21" dur="500" fill="hold"/>
                                        <p:tgtEl>
                                          <p:spTgt spid="384002">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8400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84002">
                                            <p:txEl>
                                              <p:pRg st="6" end="6"/>
                                            </p:txEl>
                                          </p:spTgt>
                                        </p:tgtEl>
                                        <p:attrNameLst>
                                          <p:attrName>style.visibility</p:attrName>
                                        </p:attrNameLst>
                                      </p:cBhvr>
                                      <p:to>
                                        <p:strVal val="visible"/>
                                      </p:to>
                                    </p:set>
                                    <p:anim calcmode="lin" valueType="num">
                                      <p:cBhvr additive="base">
                                        <p:cTn id="27" dur="500" fill="hold"/>
                                        <p:tgtEl>
                                          <p:spTgt spid="384002">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84002">
                                            <p:txEl>
                                              <p:pRg st="6" end="6"/>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84002">
                                            <p:txEl>
                                              <p:pRg st="7" end="7"/>
                                            </p:txEl>
                                          </p:spTgt>
                                        </p:tgtEl>
                                        <p:attrNameLst>
                                          <p:attrName>style.visibility</p:attrName>
                                        </p:attrNameLst>
                                      </p:cBhvr>
                                      <p:to>
                                        <p:strVal val="visible"/>
                                      </p:to>
                                    </p:set>
                                    <p:anim calcmode="lin" valueType="num">
                                      <p:cBhvr additive="base">
                                        <p:cTn id="31" dur="500" fill="hold"/>
                                        <p:tgtEl>
                                          <p:spTgt spid="384002">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84002">
                                            <p:txEl>
                                              <p:pRg st="7" end="7"/>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84002">
                                            <p:txEl>
                                              <p:pRg st="8" end="8"/>
                                            </p:txEl>
                                          </p:spTgt>
                                        </p:tgtEl>
                                        <p:attrNameLst>
                                          <p:attrName>style.visibility</p:attrName>
                                        </p:attrNameLst>
                                      </p:cBhvr>
                                      <p:to>
                                        <p:strVal val="visible"/>
                                      </p:to>
                                    </p:set>
                                    <p:anim calcmode="lin" valueType="num">
                                      <p:cBhvr additive="base">
                                        <p:cTn id="35" dur="500" fill="hold"/>
                                        <p:tgtEl>
                                          <p:spTgt spid="384002">
                                            <p:txEl>
                                              <p:pRg st="8" end="8"/>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84002">
                                            <p:txEl>
                                              <p:pRg st="8" end="8"/>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84002">
                                            <p:txEl>
                                              <p:pRg st="9" end="9"/>
                                            </p:txEl>
                                          </p:spTgt>
                                        </p:tgtEl>
                                        <p:attrNameLst>
                                          <p:attrName>style.visibility</p:attrName>
                                        </p:attrNameLst>
                                      </p:cBhvr>
                                      <p:to>
                                        <p:strVal val="visible"/>
                                      </p:to>
                                    </p:set>
                                    <p:anim calcmode="lin" valueType="num">
                                      <p:cBhvr additive="base">
                                        <p:cTn id="39" dur="500" fill="hold"/>
                                        <p:tgtEl>
                                          <p:spTgt spid="384002">
                                            <p:txEl>
                                              <p:pRg st="9" end="9"/>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84002">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50" name="Rectangle 2"/>
          <p:cNvSpPr>
            <a:spLocks noGrp="1" noChangeArrowheads="1"/>
          </p:cNvSpPr>
          <p:nvPr>
            <p:ph idx="1"/>
          </p:nvPr>
        </p:nvSpPr>
        <p:spPr>
          <a:xfrm>
            <a:off x="228600" y="549275"/>
            <a:ext cx="8534400" cy="5495925"/>
          </a:xfrm>
        </p:spPr>
        <p:txBody>
          <a:bodyPr>
            <a:noAutofit/>
          </a:bodyPr>
          <a:lstStyle/>
          <a:p>
            <a:pPr marL="1074738" indent="-1074738" eaLnBrk="1" fontAlgn="auto" hangingPunct="1">
              <a:spcAft>
                <a:spcPts val="0"/>
              </a:spcAft>
              <a:buClr>
                <a:schemeClr val="accent3"/>
              </a:buClr>
              <a:buFont typeface="Wingdings" pitchFamily="2" charset="2"/>
              <a:buNone/>
              <a:defRPr/>
            </a:pPr>
            <a:r>
              <a:rPr lang="en-US" altLang="zh-CN" sz="2800" b="1" dirty="0">
                <a:effectLst>
                  <a:outerShdw blurRad="38100" dist="38100" dir="2700000" algn="tl">
                    <a:srgbClr val="C0C0C0"/>
                  </a:outerShdw>
                </a:effectLst>
                <a:latin typeface="宋体" pitchFamily="2" charset="-122"/>
              </a:rPr>
              <a:t>(5)</a:t>
            </a:r>
            <a:r>
              <a:rPr lang="zh-CN" altLang="en-US" sz="2800" b="1" dirty="0">
                <a:effectLst>
                  <a:outerShdw blurRad="38100" dist="38100" dir="2700000" algn="tl">
                    <a:srgbClr val="C0C0C0"/>
                  </a:outerShdw>
                </a:effectLst>
                <a:latin typeface="宋体" pitchFamily="2" charset="-122"/>
              </a:rPr>
              <a:t>字符串比较函数 </a:t>
            </a:r>
            <a:r>
              <a:rPr lang="en-US" altLang="zh-CN" sz="2800" b="1" dirty="0" err="1">
                <a:effectLst>
                  <a:outerShdw blurRad="38100" dist="38100" dir="2700000" algn="tl">
                    <a:srgbClr val="C0C0C0"/>
                  </a:outerShdw>
                </a:effectLst>
                <a:latin typeface="宋体" pitchFamily="2" charset="-122"/>
              </a:rPr>
              <a:t>strcmp</a:t>
            </a:r>
            <a:r>
              <a:rPr lang="en-US" altLang="zh-CN" sz="2800" b="1" dirty="0">
                <a:effectLst>
                  <a:outerShdw blurRad="38100" dist="38100" dir="2700000" algn="tl">
                    <a:srgbClr val="C0C0C0"/>
                  </a:outerShdw>
                </a:effectLst>
                <a:latin typeface="宋体" pitchFamily="2" charset="-122"/>
              </a:rPr>
              <a:t>(</a:t>
            </a:r>
            <a:r>
              <a:rPr lang="zh-CN" altLang="en-US" sz="2800" b="1" dirty="0">
                <a:effectLst>
                  <a:outerShdw blurRad="38100" dist="38100" dir="2700000" algn="tl">
                    <a:srgbClr val="C0C0C0"/>
                  </a:outerShdw>
                </a:effectLst>
                <a:latin typeface="宋体" pitchFamily="2" charset="-122"/>
              </a:rPr>
              <a:t>字符串</a:t>
            </a:r>
            <a:r>
              <a:rPr lang="en-US" altLang="zh-CN" sz="2800" b="1" dirty="0">
                <a:effectLst>
                  <a:outerShdw blurRad="38100" dist="38100" dir="2700000" algn="tl">
                    <a:srgbClr val="C0C0C0"/>
                  </a:outerShdw>
                </a:effectLst>
                <a:latin typeface="宋体" pitchFamily="2" charset="-122"/>
              </a:rPr>
              <a:t>1,</a:t>
            </a:r>
            <a:r>
              <a:rPr lang="zh-CN" altLang="en-US" sz="2800" b="1" dirty="0">
                <a:effectLst>
                  <a:outerShdw blurRad="38100" dist="38100" dir="2700000" algn="tl">
                    <a:srgbClr val="C0C0C0"/>
                  </a:outerShdw>
                </a:effectLst>
                <a:latin typeface="宋体" pitchFamily="2" charset="-122"/>
              </a:rPr>
              <a:t>字符串</a:t>
            </a:r>
            <a:r>
              <a:rPr lang="en-US" altLang="zh-CN" sz="2800" b="1" dirty="0">
                <a:effectLst>
                  <a:outerShdw blurRad="38100" dist="38100" dir="2700000" algn="tl">
                    <a:srgbClr val="C0C0C0"/>
                  </a:outerShdw>
                </a:effectLst>
                <a:latin typeface="宋体" pitchFamily="2" charset="-122"/>
              </a:rPr>
              <a:t>2)</a:t>
            </a:r>
          </a:p>
          <a:p>
            <a:pPr marL="1074738" indent="-1074738" eaLnBrk="1" fontAlgn="auto" hangingPunct="1">
              <a:spcAft>
                <a:spcPts val="0"/>
              </a:spcAft>
              <a:buClr>
                <a:schemeClr val="accent3"/>
              </a:buClr>
              <a:buFont typeface="Wingdings" pitchFamily="2" charset="2"/>
              <a:buNone/>
              <a:defRPr/>
            </a:pPr>
            <a:r>
              <a:rPr lang="zh-CN" altLang="en-US" sz="2800" b="1" dirty="0">
                <a:effectLst>
                  <a:outerShdw blurRad="38100" dist="38100" dir="2700000" algn="tl">
                    <a:srgbClr val="C0C0C0"/>
                  </a:outerShdw>
                </a:effectLst>
                <a:latin typeface="宋体" pitchFamily="2" charset="-122"/>
              </a:rPr>
              <a:t>功能：比较两个字符串大小（按 </a:t>
            </a:r>
            <a:r>
              <a:rPr lang="en-US" altLang="zh-CN" sz="2800" b="1" dirty="0">
                <a:effectLst>
                  <a:outerShdw blurRad="38100" dist="38100" dir="2700000" algn="tl">
                    <a:srgbClr val="C0C0C0"/>
                  </a:outerShdw>
                </a:effectLst>
                <a:latin typeface="宋体" pitchFamily="2" charset="-122"/>
              </a:rPr>
              <a:t>ASCII </a:t>
            </a:r>
            <a:r>
              <a:rPr lang="zh-CN" altLang="en-US" sz="2800" b="1" dirty="0">
                <a:effectLst>
                  <a:outerShdw blurRad="38100" dist="38100" dir="2700000" algn="tl">
                    <a:srgbClr val="C0C0C0"/>
                  </a:outerShdw>
                </a:effectLst>
                <a:latin typeface="宋体" pitchFamily="2" charset="-122"/>
              </a:rPr>
              <a:t>码值比较）</a:t>
            </a:r>
          </a:p>
          <a:p>
            <a:pPr marL="1074738" indent="-1074738" eaLnBrk="1" fontAlgn="auto" hangingPunct="1">
              <a:spcAft>
                <a:spcPts val="0"/>
              </a:spcAft>
              <a:buClr>
                <a:schemeClr val="accent3"/>
              </a:buClr>
              <a:buFont typeface="Wingdings" pitchFamily="2" charset="2"/>
              <a:buNone/>
              <a:defRPr/>
            </a:pPr>
            <a:r>
              <a:rPr lang="zh-CN" altLang="en-US" sz="2800" b="1" dirty="0">
                <a:effectLst>
                  <a:outerShdw blurRad="38100" dist="38100" dir="2700000" algn="tl">
                    <a:srgbClr val="C0C0C0"/>
                  </a:outerShdw>
                </a:effectLst>
                <a:latin typeface="宋体" pitchFamily="2" charset="-122"/>
              </a:rPr>
              <a:t>如果：字符串</a:t>
            </a:r>
            <a:r>
              <a:rPr lang="en-US" altLang="zh-CN" sz="2800" b="1" dirty="0">
                <a:effectLst>
                  <a:outerShdw blurRad="38100" dist="38100" dir="2700000" algn="tl">
                    <a:srgbClr val="C0C0C0"/>
                  </a:outerShdw>
                </a:effectLst>
                <a:latin typeface="宋体" pitchFamily="2" charset="-122"/>
              </a:rPr>
              <a:t>1 = </a:t>
            </a:r>
            <a:r>
              <a:rPr lang="zh-CN" altLang="en-US" sz="2800" b="1" dirty="0">
                <a:effectLst>
                  <a:outerShdw blurRad="38100" dist="38100" dir="2700000" algn="tl">
                    <a:srgbClr val="C0C0C0"/>
                  </a:outerShdw>
                </a:effectLst>
                <a:latin typeface="宋体" pitchFamily="2" charset="-122"/>
              </a:rPr>
              <a:t>字符串</a:t>
            </a:r>
            <a:r>
              <a:rPr lang="en-US" altLang="zh-CN" sz="2800" b="1" dirty="0">
                <a:effectLst>
                  <a:outerShdw blurRad="38100" dist="38100" dir="2700000" algn="tl">
                    <a:srgbClr val="C0C0C0"/>
                  </a:outerShdw>
                </a:effectLst>
                <a:latin typeface="宋体" pitchFamily="2" charset="-122"/>
              </a:rPr>
              <a:t>2</a:t>
            </a:r>
            <a:r>
              <a:rPr lang="zh-CN" altLang="en-US" sz="2800" b="1" dirty="0">
                <a:effectLst>
                  <a:outerShdw blurRad="38100" dist="38100" dir="2700000" algn="tl">
                    <a:srgbClr val="C0C0C0"/>
                  </a:outerShdw>
                </a:effectLst>
                <a:latin typeface="宋体" pitchFamily="2" charset="-122"/>
              </a:rPr>
              <a:t>，函数返回值为</a:t>
            </a:r>
            <a:r>
              <a:rPr lang="en-US" altLang="zh-CN" sz="2800" b="1" dirty="0">
                <a:effectLst>
                  <a:outerShdw blurRad="38100" dist="38100" dir="2700000" algn="tl">
                    <a:srgbClr val="C0C0C0"/>
                  </a:outerShdw>
                </a:effectLst>
                <a:latin typeface="宋体" pitchFamily="2" charset="-122"/>
              </a:rPr>
              <a:t>0</a:t>
            </a:r>
            <a:r>
              <a:rPr lang="zh-CN" altLang="en-US" sz="2800" b="1" dirty="0">
                <a:effectLst>
                  <a:outerShdw blurRad="38100" dist="38100" dir="2700000" algn="tl">
                    <a:srgbClr val="C0C0C0"/>
                  </a:outerShdw>
                </a:effectLst>
                <a:latin typeface="宋体" pitchFamily="2" charset="-122"/>
              </a:rPr>
              <a:t>；</a:t>
            </a:r>
          </a:p>
          <a:p>
            <a:pPr marL="1074738" indent="-1074738" eaLnBrk="1" fontAlgn="auto" hangingPunct="1">
              <a:spcAft>
                <a:spcPts val="0"/>
              </a:spcAft>
              <a:buClr>
                <a:schemeClr val="accent3"/>
              </a:buClr>
              <a:buFont typeface="Wingdings" pitchFamily="2" charset="2"/>
              <a:buNone/>
              <a:defRPr/>
            </a:pPr>
            <a:r>
              <a:rPr lang="zh-CN" altLang="en-US" sz="2800" b="1" dirty="0">
                <a:effectLst>
                  <a:outerShdw blurRad="38100" dist="38100" dir="2700000" algn="tl">
                    <a:srgbClr val="C0C0C0"/>
                  </a:outerShdw>
                </a:effectLst>
                <a:latin typeface="宋体" pitchFamily="2" charset="-122"/>
              </a:rPr>
              <a:t>      字符串</a:t>
            </a:r>
            <a:r>
              <a:rPr lang="en-US" altLang="zh-CN" sz="2800" b="1" dirty="0">
                <a:effectLst>
                  <a:outerShdw blurRad="38100" dist="38100" dir="2700000" algn="tl">
                    <a:srgbClr val="C0C0C0"/>
                  </a:outerShdw>
                </a:effectLst>
                <a:latin typeface="宋体" pitchFamily="2" charset="-122"/>
              </a:rPr>
              <a:t>1 &gt; </a:t>
            </a:r>
            <a:r>
              <a:rPr lang="zh-CN" altLang="en-US" sz="2800" b="1" dirty="0">
                <a:effectLst>
                  <a:outerShdw blurRad="38100" dist="38100" dir="2700000" algn="tl">
                    <a:srgbClr val="C0C0C0"/>
                  </a:outerShdw>
                </a:effectLst>
                <a:latin typeface="宋体" pitchFamily="2" charset="-122"/>
              </a:rPr>
              <a:t>字符串</a:t>
            </a:r>
            <a:r>
              <a:rPr lang="en-US" altLang="zh-CN" sz="2800" b="1" dirty="0">
                <a:effectLst>
                  <a:outerShdw blurRad="38100" dist="38100" dir="2700000" algn="tl">
                    <a:srgbClr val="C0C0C0"/>
                  </a:outerShdw>
                </a:effectLst>
                <a:latin typeface="宋体" pitchFamily="2" charset="-122"/>
              </a:rPr>
              <a:t>2</a:t>
            </a:r>
            <a:r>
              <a:rPr lang="zh-CN" altLang="en-US" sz="2800" b="1" dirty="0">
                <a:effectLst>
                  <a:outerShdw blurRad="38100" dist="38100" dir="2700000" algn="tl">
                    <a:srgbClr val="C0C0C0"/>
                  </a:outerShdw>
                </a:effectLst>
                <a:latin typeface="宋体" pitchFamily="2" charset="-122"/>
              </a:rPr>
              <a:t>，函数返回值为</a:t>
            </a:r>
            <a:r>
              <a:rPr lang="zh-CN" altLang="en-US" sz="2800" b="1" dirty="0">
                <a:solidFill>
                  <a:srgbClr val="FF0000"/>
                </a:solidFill>
                <a:effectLst>
                  <a:outerShdw blurRad="38100" dist="38100" dir="2700000" algn="tl">
                    <a:srgbClr val="C0C0C0"/>
                  </a:outerShdw>
                </a:effectLst>
                <a:latin typeface="宋体" pitchFamily="2" charset="-122"/>
              </a:rPr>
              <a:t>正整数</a:t>
            </a:r>
            <a:r>
              <a:rPr lang="zh-CN" altLang="en-US" sz="2800" b="1" dirty="0">
                <a:effectLst>
                  <a:outerShdw blurRad="38100" dist="38100" dir="2700000" algn="tl">
                    <a:srgbClr val="C0C0C0"/>
                  </a:outerShdw>
                </a:effectLst>
                <a:latin typeface="宋体" pitchFamily="2" charset="-122"/>
              </a:rPr>
              <a:t>；</a:t>
            </a:r>
          </a:p>
          <a:p>
            <a:pPr marL="1074738" indent="-1074738" eaLnBrk="1" fontAlgn="auto" hangingPunct="1">
              <a:spcAft>
                <a:spcPts val="0"/>
              </a:spcAft>
              <a:buClr>
                <a:schemeClr val="accent3"/>
              </a:buClr>
              <a:buFont typeface="Wingdings" pitchFamily="2" charset="2"/>
              <a:buNone/>
              <a:defRPr/>
            </a:pPr>
            <a:r>
              <a:rPr lang="zh-CN" altLang="en-US" sz="2800" b="1" dirty="0">
                <a:effectLst>
                  <a:outerShdw blurRad="38100" dist="38100" dir="2700000" algn="tl">
                    <a:srgbClr val="C0C0C0"/>
                  </a:outerShdw>
                </a:effectLst>
                <a:latin typeface="宋体" pitchFamily="2" charset="-122"/>
              </a:rPr>
              <a:t>      字符串</a:t>
            </a:r>
            <a:r>
              <a:rPr lang="en-US" altLang="zh-CN" sz="2800" b="1" dirty="0">
                <a:effectLst>
                  <a:outerShdw blurRad="38100" dist="38100" dir="2700000" algn="tl">
                    <a:srgbClr val="C0C0C0"/>
                  </a:outerShdw>
                </a:effectLst>
                <a:latin typeface="宋体" pitchFamily="2" charset="-122"/>
              </a:rPr>
              <a:t>1 &lt; </a:t>
            </a:r>
            <a:r>
              <a:rPr lang="zh-CN" altLang="en-US" sz="2800" b="1" dirty="0">
                <a:effectLst>
                  <a:outerShdw blurRad="38100" dist="38100" dir="2700000" algn="tl">
                    <a:srgbClr val="C0C0C0"/>
                  </a:outerShdw>
                </a:effectLst>
                <a:latin typeface="宋体" pitchFamily="2" charset="-122"/>
              </a:rPr>
              <a:t>字符串</a:t>
            </a:r>
            <a:r>
              <a:rPr lang="en-US" altLang="zh-CN" sz="2800" b="1" dirty="0">
                <a:effectLst>
                  <a:outerShdw blurRad="38100" dist="38100" dir="2700000" algn="tl">
                    <a:srgbClr val="C0C0C0"/>
                  </a:outerShdw>
                </a:effectLst>
                <a:latin typeface="宋体" pitchFamily="2" charset="-122"/>
              </a:rPr>
              <a:t>2</a:t>
            </a:r>
            <a:r>
              <a:rPr lang="zh-CN" altLang="en-US" sz="2800" b="1" dirty="0">
                <a:effectLst>
                  <a:outerShdw blurRad="38100" dist="38100" dir="2700000" algn="tl">
                    <a:srgbClr val="C0C0C0"/>
                  </a:outerShdw>
                </a:effectLst>
                <a:latin typeface="宋体" pitchFamily="2" charset="-122"/>
              </a:rPr>
              <a:t>，函数返回值为</a:t>
            </a:r>
            <a:r>
              <a:rPr lang="zh-CN" altLang="en-US" sz="2800" b="1" dirty="0">
                <a:solidFill>
                  <a:srgbClr val="FF0000"/>
                </a:solidFill>
                <a:effectLst>
                  <a:outerShdw blurRad="38100" dist="38100" dir="2700000" algn="tl">
                    <a:srgbClr val="C0C0C0"/>
                  </a:outerShdw>
                </a:effectLst>
                <a:latin typeface="宋体" pitchFamily="2" charset="-122"/>
              </a:rPr>
              <a:t>负整数</a:t>
            </a:r>
            <a:r>
              <a:rPr lang="zh-CN" altLang="en-US" sz="2800" b="1" dirty="0">
                <a:effectLst>
                  <a:outerShdw blurRad="38100" dist="38100" dir="2700000" algn="tl">
                    <a:srgbClr val="C0C0C0"/>
                  </a:outerShdw>
                </a:effectLst>
                <a:latin typeface="宋体" pitchFamily="2" charset="-122"/>
              </a:rPr>
              <a:t>；</a:t>
            </a:r>
          </a:p>
          <a:p>
            <a:pPr marL="1074738" indent="-1074738" eaLnBrk="1" fontAlgn="auto" hangingPunct="1">
              <a:spcAft>
                <a:spcPts val="0"/>
              </a:spcAft>
              <a:buClr>
                <a:schemeClr val="accent3"/>
              </a:buClr>
              <a:buFont typeface="Wingdings" pitchFamily="2" charset="2"/>
              <a:buNone/>
              <a:defRPr/>
            </a:pPr>
            <a:r>
              <a:rPr lang="zh-CN" altLang="en-US" sz="2800" b="1" dirty="0">
                <a:effectLst>
                  <a:outerShdw blurRad="38100" dist="38100" dir="2700000" algn="tl">
                    <a:srgbClr val="C0C0C0"/>
                  </a:outerShdw>
                </a:effectLst>
                <a:latin typeface="宋体" pitchFamily="2" charset="-122"/>
              </a:rPr>
              <a:t>例：  </a:t>
            </a:r>
            <a:r>
              <a:rPr lang="en-US" altLang="zh-CN" sz="2800" b="1" dirty="0">
                <a:effectLst>
                  <a:outerShdw blurRad="38100" dist="38100" dir="2700000" algn="tl">
                    <a:srgbClr val="C0C0C0"/>
                  </a:outerShdw>
                </a:effectLst>
              </a:rPr>
              <a:t>char str1[30] = "Beijing ";</a:t>
            </a:r>
          </a:p>
          <a:p>
            <a:pPr marL="1074738" indent="-1074738" algn="just" eaLnBrk="1" fontAlgn="auto" hangingPunct="1">
              <a:spcAft>
                <a:spcPts val="0"/>
              </a:spcAft>
              <a:buClr>
                <a:schemeClr val="accent3"/>
              </a:buClr>
              <a:buFont typeface="Wingdings" pitchFamily="2" charset="2"/>
              <a:buNone/>
              <a:defRPr/>
            </a:pPr>
            <a:r>
              <a:rPr lang="en-US" altLang="zh-CN" sz="2800" b="1" dirty="0">
                <a:effectLst>
                  <a:outerShdw blurRad="38100" dist="38100" dir="2700000" algn="tl">
                    <a:srgbClr val="C0C0C0"/>
                  </a:outerShdw>
                </a:effectLst>
              </a:rPr>
              <a:t>           char str2[30] = "Shanghai";</a:t>
            </a:r>
          </a:p>
          <a:p>
            <a:pPr marL="1074738" indent="-1074738" algn="just" eaLnBrk="1" fontAlgn="auto" hangingPunct="1">
              <a:spcAft>
                <a:spcPts val="0"/>
              </a:spcAft>
              <a:buClr>
                <a:schemeClr val="accent3"/>
              </a:buClr>
              <a:buFont typeface="Wingdings" pitchFamily="2" charset="2"/>
              <a:buNone/>
              <a:defRPr/>
            </a:pPr>
            <a:r>
              <a:rPr lang="en-US" altLang="zh-CN" sz="2800" b="1" dirty="0">
                <a:effectLst>
                  <a:outerShdw blurRad="38100" dist="38100" dir="2700000" algn="tl">
                    <a:srgbClr val="C0C0C0"/>
                  </a:outerShdw>
                </a:effectLst>
              </a:rPr>
              <a:t>           </a:t>
            </a:r>
            <a:r>
              <a:rPr lang="en-US" altLang="en-US" sz="2800" b="1" dirty="0" err="1">
                <a:effectLst>
                  <a:outerShdw blurRad="38100" dist="38100" dir="2700000" algn="tl">
                    <a:srgbClr val="C0C0C0"/>
                  </a:outerShdw>
                </a:effectLst>
              </a:rPr>
              <a:t>printf</a:t>
            </a:r>
            <a:r>
              <a:rPr lang="en-US" altLang="en-US" sz="2800" b="1" dirty="0">
                <a:effectLst>
                  <a:outerShdw blurRad="38100" dist="38100" dir="2700000" algn="tl">
                    <a:srgbClr val="C0C0C0"/>
                  </a:outerShdw>
                </a:effectLst>
              </a:rPr>
              <a:t>("%</a:t>
            </a:r>
            <a:r>
              <a:rPr lang="en-US" altLang="zh-CN" sz="2800" b="1" dirty="0">
                <a:effectLst>
                  <a:outerShdw blurRad="38100" dist="38100" dir="2700000" algn="tl">
                    <a:srgbClr val="C0C0C0"/>
                  </a:outerShdw>
                </a:effectLst>
              </a:rPr>
              <a:t>d</a:t>
            </a:r>
            <a:r>
              <a:rPr lang="en-US" altLang="en-US" sz="2800" b="1" dirty="0">
                <a:effectLst>
                  <a:outerShdw blurRad="38100" dist="38100" dir="2700000" algn="tl">
                    <a:srgbClr val="C0C0C0"/>
                  </a:outerShdw>
                </a:effectLst>
              </a:rPr>
              <a:t>", </a:t>
            </a:r>
            <a:r>
              <a:rPr lang="en-US" altLang="en-US" sz="2800" b="1" dirty="0" err="1">
                <a:effectLst>
                  <a:outerShdw blurRad="38100" dist="38100" dir="2700000" algn="tl">
                    <a:srgbClr val="C0C0C0"/>
                  </a:outerShdw>
                </a:effectLst>
              </a:rPr>
              <a:t>strc</a:t>
            </a:r>
            <a:r>
              <a:rPr lang="en-US" altLang="zh-CN" sz="2800" b="1" dirty="0" err="1">
                <a:effectLst>
                  <a:outerShdw blurRad="38100" dist="38100" dir="2700000" algn="tl">
                    <a:srgbClr val="C0C0C0"/>
                  </a:outerShdw>
                </a:effectLst>
              </a:rPr>
              <a:t>mp</a:t>
            </a:r>
            <a:r>
              <a:rPr lang="en-US" altLang="en-US" sz="2800" b="1" dirty="0">
                <a:effectLst>
                  <a:outerShdw blurRad="38100" dist="38100" dir="2700000" algn="tl">
                    <a:srgbClr val="C0C0C0"/>
                  </a:outerShdw>
                </a:effectLst>
              </a:rPr>
              <a:t>(str1, str2));</a:t>
            </a:r>
            <a:r>
              <a:rPr lang="en-US" altLang="zh-CN" sz="2800" b="1" dirty="0">
                <a:effectLst>
                  <a:outerShdw blurRad="38100" dist="38100" dir="2700000" algn="tl">
                    <a:srgbClr val="C0C0C0"/>
                  </a:outerShdw>
                </a:effectLst>
              </a:rPr>
              <a:t> </a:t>
            </a:r>
          </a:p>
          <a:p>
            <a:pPr marL="1074738" indent="-1074738" algn="just" eaLnBrk="1" fontAlgn="auto" hangingPunct="1">
              <a:spcAft>
                <a:spcPts val="0"/>
              </a:spcAft>
              <a:buClr>
                <a:schemeClr val="accent3"/>
              </a:buClr>
              <a:buFont typeface="Wingdings" pitchFamily="2" charset="2"/>
              <a:buNone/>
              <a:defRPr/>
            </a:pPr>
            <a:r>
              <a:rPr lang="en-US" altLang="zh-CN" sz="2800" b="1" dirty="0">
                <a:effectLst>
                  <a:outerShdw blurRad="38100" dist="38100" dir="2700000" algn="tl">
                    <a:srgbClr val="C0C0C0"/>
                  </a:outerShdw>
                </a:effectLst>
              </a:rPr>
              <a:t>           </a:t>
            </a:r>
            <a:r>
              <a:rPr lang="en-US" altLang="zh-CN" sz="2800" b="1" dirty="0" err="1">
                <a:effectLst>
                  <a:outerShdw blurRad="38100" dist="38100" dir="2700000" algn="tl">
                    <a:srgbClr val="C0C0C0"/>
                  </a:outerShdw>
                </a:effectLst>
              </a:rPr>
              <a:t>printf</a:t>
            </a:r>
            <a:r>
              <a:rPr lang="en-US" altLang="zh-CN" sz="2800" b="1" dirty="0">
                <a:effectLst>
                  <a:outerShdw blurRad="38100" dist="38100" dir="2700000" algn="tl">
                    <a:srgbClr val="C0C0C0"/>
                  </a:outerShdw>
                </a:effectLst>
              </a:rPr>
              <a:t>("\</a:t>
            </a:r>
            <a:r>
              <a:rPr lang="en-US" altLang="zh-CN" sz="2800" b="1" dirty="0" err="1">
                <a:effectLst>
                  <a:outerShdw blurRad="38100" dist="38100" dir="2700000" algn="tl">
                    <a:srgbClr val="C0C0C0"/>
                  </a:outerShdw>
                </a:effectLst>
              </a:rPr>
              <a:t>t%d",strcmp</a:t>
            </a:r>
            <a:r>
              <a:rPr lang="en-US" altLang="zh-CN" sz="2800" b="1" dirty="0">
                <a:effectLst>
                  <a:outerShdw blurRad="38100" dist="38100" dir="2700000" algn="tl">
                    <a:srgbClr val="C0C0C0"/>
                  </a:outerShdw>
                </a:effectLst>
              </a:rPr>
              <a:t>("ABC","AAA");</a:t>
            </a:r>
          </a:p>
          <a:p>
            <a:pPr marL="1074738" indent="-1074738" algn="just" eaLnBrk="1" fontAlgn="auto" hangingPunct="1">
              <a:spcAft>
                <a:spcPts val="0"/>
              </a:spcAft>
              <a:buClr>
                <a:schemeClr val="accent3"/>
              </a:buClr>
              <a:buFont typeface="Wingdings" pitchFamily="2" charset="2"/>
              <a:buNone/>
              <a:defRPr/>
            </a:pPr>
            <a:r>
              <a:rPr lang="zh-CN" altLang="en-US" sz="2800" b="1" dirty="0">
                <a:effectLst>
                  <a:outerShdw blurRad="38100" dist="38100" dir="2700000" algn="tl">
                    <a:srgbClr val="C0C0C0"/>
                  </a:outerShdw>
                </a:effectLst>
              </a:rPr>
              <a:t>输出：</a:t>
            </a:r>
            <a:r>
              <a:rPr lang="en-US" altLang="zh-CN" sz="2800" b="1" dirty="0">
                <a:effectLst>
                  <a:outerShdw blurRad="38100" dist="38100" dir="2700000" algn="tl">
                    <a:srgbClr val="C0C0C0"/>
                  </a:outerShdw>
                </a:effectLst>
              </a:rPr>
              <a:t>-1     1</a:t>
            </a:r>
            <a:endParaRPr lang="en-US" altLang="zh-CN" sz="2800" b="1" dirty="0">
              <a:effectLst>
                <a:outerShdw blurRad="38100" dist="38100" dir="2700000" algn="tl">
                  <a:srgbClr val="C0C0C0"/>
                </a:outerShdw>
              </a:effectLst>
              <a:latin typeface="宋体" pitchFamily="2" charset="-122"/>
            </a:endParaRPr>
          </a:p>
        </p:txBody>
      </p:sp>
      <p:sp>
        <p:nvSpPr>
          <p:cNvPr id="8" name="灯片编号占位符 5"/>
          <p:cNvSpPr>
            <a:spLocks noGrp="1"/>
          </p:cNvSpPr>
          <p:nvPr>
            <p:ph type="sldNum" sz="quarter" idx="12"/>
          </p:nvPr>
        </p:nvSpPr>
        <p:spPr/>
        <p:txBody>
          <a:bodyPr/>
          <a:lstStyle/>
          <a:p>
            <a:pPr>
              <a:defRPr/>
            </a:pPr>
            <a:fld id="{3E2B2836-E13F-4FA2-A45B-17A52E717FCA}" type="slidenum">
              <a:rPr lang="en-US" altLang="zh-CN"/>
              <a:pPr>
                <a:defRPr/>
              </a:pPr>
              <a:t>98</a:t>
            </a:fld>
            <a:endParaRPr lang="en-US" altLang="zh-CN"/>
          </a:p>
        </p:txBody>
      </p:sp>
      <p:sp>
        <p:nvSpPr>
          <p:cNvPr id="95236" name="Line 4"/>
          <p:cNvSpPr>
            <a:spLocks noChangeShapeType="1"/>
          </p:cNvSpPr>
          <p:nvPr/>
        </p:nvSpPr>
        <p:spPr bwMode="auto">
          <a:xfrm>
            <a:off x="457200" y="5257800"/>
            <a:ext cx="4191000" cy="0"/>
          </a:xfrm>
          <a:prstGeom prst="line">
            <a:avLst/>
          </a:prstGeom>
          <a:noFill/>
          <a:ln w="9525">
            <a:noFill/>
            <a:round/>
            <a:headEnd/>
            <a:tailEnd/>
          </a:ln>
        </p:spPr>
        <p:txBody>
          <a:bodyPr wrap="none" lIns="92075" tIns="46038" rIns="92075" bIns="46038"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86050">
                                            <p:txEl>
                                              <p:pRg st="5" end="5"/>
                                            </p:txEl>
                                          </p:spTgt>
                                        </p:tgtEl>
                                        <p:attrNameLst>
                                          <p:attrName>style.visibility</p:attrName>
                                        </p:attrNameLst>
                                      </p:cBhvr>
                                      <p:to>
                                        <p:strVal val="visible"/>
                                      </p:to>
                                    </p:set>
                                    <p:anim calcmode="lin" valueType="num">
                                      <p:cBhvr additive="base">
                                        <p:cTn id="7" dur="500" fill="hold"/>
                                        <p:tgtEl>
                                          <p:spTgt spid="386050">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86050">
                                            <p:txEl>
                                              <p:pRg st="5" end="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86050">
                                            <p:txEl>
                                              <p:pRg st="6" end="6"/>
                                            </p:txEl>
                                          </p:spTgt>
                                        </p:tgtEl>
                                        <p:attrNameLst>
                                          <p:attrName>style.visibility</p:attrName>
                                        </p:attrNameLst>
                                      </p:cBhvr>
                                      <p:to>
                                        <p:strVal val="visible"/>
                                      </p:to>
                                    </p:set>
                                    <p:anim calcmode="lin" valueType="num">
                                      <p:cBhvr additive="base">
                                        <p:cTn id="11" dur="500" fill="hold"/>
                                        <p:tgtEl>
                                          <p:spTgt spid="386050">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86050">
                                            <p:txEl>
                                              <p:pRg st="6" end="6"/>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86050">
                                            <p:txEl>
                                              <p:pRg st="7" end="7"/>
                                            </p:txEl>
                                          </p:spTgt>
                                        </p:tgtEl>
                                        <p:attrNameLst>
                                          <p:attrName>style.visibility</p:attrName>
                                        </p:attrNameLst>
                                      </p:cBhvr>
                                      <p:to>
                                        <p:strVal val="visible"/>
                                      </p:to>
                                    </p:set>
                                    <p:anim calcmode="lin" valueType="num">
                                      <p:cBhvr additive="base">
                                        <p:cTn id="15" dur="500" fill="hold"/>
                                        <p:tgtEl>
                                          <p:spTgt spid="386050">
                                            <p:txEl>
                                              <p:pRg st="7" end="7"/>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86050">
                                            <p:txEl>
                                              <p:pRg st="7" end="7"/>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86050">
                                            <p:txEl>
                                              <p:pRg st="8" end="8"/>
                                            </p:txEl>
                                          </p:spTgt>
                                        </p:tgtEl>
                                        <p:attrNameLst>
                                          <p:attrName>style.visibility</p:attrName>
                                        </p:attrNameLst>
                                      </p:cBhvr>
                                      <p:to>
                                        <p:strVal val="visible"/>
                                      </p:to>
                                    </p:set>
                                    <p:anim calcmode="lin" valueType="num">
                                      <p:cBhvr additive="base">
                                        <p:cTn id="19" dur="500" fill="hold"/>
                                        <p:tgtEl>
                                          <p:spTgt spid="386050">
                                            <p:txEl>
                                              <p:pRg st="8" end="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86050">
                                            <p:txEl>
                                              <p:pRg st="8" end="8"/>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86050">
                                            <p:txEl>
                                              <p:pRg st="9" end="9"/>
                                            </p:txEl>
                                          </p:spTgt>
                                        </p:tgtEl>
                                        <p:attrNameLst>
                                          <p:attrName>style.visibility</p:attrName>
                                        </p:attrNameLst>
                                      </p:cBhvr>
                                      <p:to>
                                        <p:strVal val="visible"/>
                                      </p:to>
                                    </p:set>
                                    <p:anim calcmode="lin" valueType="num">
                                      <p:cBhvr additive="base">
                                        <p:cTn id="23" dur="500" fill="hold"/>
                                        <p:tgtEl>
                                          <p:spTgt spid="386050">
                                            <p:txEl>
                                              <p:pRg st="9" end="9"/>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86050">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074" name="Rectangle 2"/>
          <p:cNvSpPr>
            <a:spLocks noGrp="1" noChangeArrowheads="1"/>
          </p:cNvSpPr>
          <p:nvPr>
            <p:ph idx="1"/>
          </p:nvPr>
        </p:nvSpPr>
        <p:spPr>
          <a:xfrm>
            <a:off x="228600" y="981075"/>
            <a:ext cx="8534400" cy="5495925"/>
          </a:xfrm>
        </p:spPr>
        <p:txBody>
          <a:bodyPr>
            <a:normAutofit/>
          </a:bodyPr>
          <a:lstStyle/>
          <a:p>
            <a:pPr marL="0" indent="0" eaLnBrk="1" fontAlgn="auto" hangingPunct="1">
              <a:lnSpc>
                <a:spcPct val="110000"/>
              </a:lnSpc>
              <a:spcAft>
                <a:spcPts val="0"/>
              </a:spcAft>
              <a:buClr>
                <a:schemeClr val="accent3"/>
              </a:buClr>
              <a:buFont typeface="Wingdings" pitchFamily="2" charset="2"/>
              <a:buNone/>
              <a:defRPr/>
            </a:pPr>
            <a:r>
              <a:rPr lang="en-US" altLang="zh-CN" b="1" dirty="0">
                <a:effectLst>
                  <a:outerShdw blurRad="38100" dist="38100" dir="2700000" algn="tl">
                    <a:srgbClr val="C0C0C0"/>
                  </a:outerShdw>
                </a:effectLst>
                <a:latin typeface="宋体" pitchFamily="2" charset="-122"/>
              </a:rPr>
              <a:t>(6) </a:t>
            </a:r>
            <a:r>
              <a:rPr lang="en-US" altLang="zh-CN" b="1" dirty="0" err="1">
                <a:effectLst>
                  <a:outerShdw blurRad="38100" dist="38100" dir="2700000" algn="tl">
                    <a:srgbClr val="C0C0C0"/>
                  </a:outerShdw>
                </a:effectLst>
                <a:latin typeface="宋体" pitchFamily="2" charset="-122"/>
              </a:rPr>
              <a:t>strlwr</a:t>
            </a:r>
            <a:r>
              <a:rPr lang="en-US" altLang="zh-CN" b="1" dirty="0">
                <a:effectLst>
                  <a:outerShdw blurRad="38100" dist="38100" dir="2700000" algn="tl">
                    <a:srgbClr val="C0C0C0"/>
                  </a:outerShdw>
                </a:effectLst>
                <a:latin typeface="宋体" pitchFamily="2" charset="-122"/>
              </a:rPr>
              <a:t>(</a:t>
            </a:r>
            <a:r>
              <a:rPr lang="zh-CN" altLang="en-US" b="1" dirty="0">
                <a:effectLst>
                  <a:outerShdw blurRad="38100" dist="38100" dir="2700000" algn="tl">
                    <a:srgbClr val="C0C0C0"/>
                  </a:outerShdw>
                </a:effectLst>
                <a:latin typeface="宋体" pitchFamily="2" charset="-122"/>
              </a:rPr>
              <a:t>字符数组</a:t>
            </a:r>
            <a:r>
              <a:rPr lang="en-US" altLang="zh-CN" b="1" dirty="0">
                <a:effectLst>
                  <a:outerShdw blurRad="38100" dist="38100" dir="2700000" algn="tl">
                    <a:srgbClr val="C0C0C0"/>
                  </a:outerShdw>
                </a:effectLst>
                <a:latin typeface="宋体" pitchFamily="2" charset="-122"/>
              </a:rPr>
              <a:t>)</a:t>
            </a:r>
          </a:p>
          <a:p>
            <a:pPr marL="0" indent="0" eaLnBrk="1" fontAlgn="auto" hangingPunct="1">
              <a:lnSpc>
                <a:spcPct val="110000"/>
              </a:lnSpc>
              <a:spcAft>
                <a:spcPts val="0"/>
              </a:spcAft>
              <a:buClr>
                <a:schemeClr val="accent3"/>
              </a:buClr>
              <a:buFont typeface="Wingdings" pitchFamily="2" charset="2"/>
              <a:buNone/>
              <a:defRPr/>
            </a:pPr>
            <a:r>
              <a:rPr lang="zh-CN" altLang="en-US" b="1" dirty="0">
                <a:effectLst>
                  <a:outerShdw blurRad="38100" dist="38100" dir="2700000" algn="tl">
                    <a:srgbClr val="C0C0C0"/>
                  </a:outerShdw>
                </a:effectLst>
                <a:latin typeface="宋体" pitchFamily="2" charset="-122"/>
              </a:rPr>
              <a:t>功能：将字符数组内的大写字母转换成小写字母。</a:t>
            </a:r>
          </a:p>
          <a:p>
            <a:pPr marL="0" indent="0" eaLnBrk="1" fontAlgn="auto" hangingPunct="1">
              <a:lnSpc>
                <a:spcPct val="110000"/>
              </a:lnSpc>
              <a:spcAft>
                <a:spcPts val="0"/>
              </a:spcAft>
              <a:buClr>
                <a:schemeClr val="accent3"/>
              </a:buClr>
              <a:buFont typeface="Wingdings" pitchFamily="2" charset="2"/>
              <a:buNone/>
              <a:defRPr/>
            </a:pPr>
            <a:r>
              <a:rPr lang="en-US" altLang="zh-CN" b="1" dirty="0">
                <a:effectLst>
                  <a:outerShdw blurRad="38100" dist="38100" dir="2700000" algn="tl">
                    <a:srgbClr val="C0C0C0"/>
                  </a:outerShdw>
                </a:effectLst>
                <a:latin typeface="宋体" pitchFamily="2" charset="-122"/>
              </a:rPr>
              <a:t>(7) </a:t>
            </a:r>
            <a:r>
              <a:rPr lang="en-US" altLang="zh-CN" b="1" dirty="0" err="1">
                <a:effectLst>
                  <a:outerShdw blurRad="38100" dist="38100" dir="2700000" algn="tl">
                    <a:srgbClr val="C0C0C0"/>
                  </a:outerShdw>
                </a:effectLst>
                <a:latin typeface="宋体" pitchFamily="2" charset="-122"/>
              </a:rPr>
              <a:t>strupr</a:t>
            </a:r>
            <a:r>
              <a:rPr lang="en-US" altLang="zh-CN" b="1" dirty="0">
                <a:effectLst>
                  <a:outerShdw blurRad="38100" dist="38100" dir="2700000" algn="tl">
                    <a:srgbClr val="C0C0C0"/>
                  </a:outerShdw>
                </a:effectLst>
                <a:latin typeface="宋体" pitchFamily="2" charset="-122"/>
              </a:rPr>
              <a:t>(</a:t>
            </a:r>
            <a:r>
              <a:rPr lang="zh-CN" altLang="en-US" b="1" dirty="0">
                <a:effectLst>
                  <a:outerShdw blurRad="38100" dist="38100" dir="2700000" algn="tl">
                    <a:srgbClr val="C0C0C0"/>
                  </a:outerShdw>
                </a:effectLst>
                <a:latin typeface="宋体" pitchFamily="2" charset="-122"/>
              </a:rPr>
              <a:t>字符数组</a:t>
            </a:r>
            <a:r>
              <a:rPr lang="en-US" altLang="zh-CN" b="1" dirty="0">
                <a:effectLst>
                  <a:outerShdw blurRad="38100" dist="38100" dir="2700000" algn="tl">
                    <a:srgbClr val="C0C0C0"/>
                  </a:outerShdw>
                </a:effectLst>
                <a:latin typeface="宋体" pitchFamily="2" charset="-122"/>
              </a:rPr>
              <a:t>)</a:t>
            </a:r>
          </a:p>
          <a:p>
            <a:pPr marL="0" indent="0" eaLnBrk="1" fontAlgn="auto" hangingPunct="1">
              <a:lnSpc>
                <a:spcPct val="110000"/>
              </a:lnSpc>
              <a:spcAft>
                <a:spcPts val="0"/>
              </a:spcAft>
              <a:buClr>
                <a:schemeClr val="accent3"/>
              </a:buClr>
              <a:buFont typeface="Wingdings" pitchFamily="2" charset="2"/>
              <a:buNone/>
              <a:defRPr/>
            </a:pPr>
            <a:r>
              <a:rPr lang="zh-CN" altLang="en-US" b="1" dirty="0">
                <a:effectLst>
                  <a:outerShdw blurRad="38100" dist="38100" dir="2700000" algn="tl">
                    <a:srgbClr val="C0C0C0"/>
                  </a:outerShdw>
                </a:effectLst>
                <a:latin typeface="宋体" pitchFamily="2" charset="-122"/>
              </a:rPr>
              <a:t>功能：将字符数组内的小写字母转换成大写字母。</a:t>
            </a:r>
          </a:p>
          <a:p>
            <a:pPr marL="0" indent="0" eaLnBrk="1" fontAlgn="auto" hangingPunct="1">
              <a:lnSpc>
                <a:spcPct val="110000"/>
              </a:lnSpc>
              <a:spcAft>
                <a:spcPts val="0"/>
              </a:spcAft>
              <a:buClr>
                <a:schemeClr val="accent3"/>
              </a:buClr>
              <a:buFont typeface="Wingdings" pitchFamily="2" charset="2"/>
              <a:buNone/>
              <a:defRPr/>
            </a:pPr>
            <a:r>
              <a:rPr lang="zh-CN" altLang="en-US" b="1" dirty="0">
                <a:effectLst>
                  <a:outerShdw blurRad="38100" dist="38100" dir="2700000" algn="tl">
                    <a:srgbClr val="C0C0C0"/>
                  </a:outerShdw>
                </a:effectLst>
                <a:latin typeface="宋体" pitchFamily="2" charset="-122"/>
              </a:rPr>
              <a:t>例：  </a:t>
            </a:r>
            <a:r>
              <a:rPr lang="en-US" altLang="zh-CN" b="1" dirty="0">
                <a:effectLst>
                  <a:outerShdw blurRad="38100" dist="38100" dir="2700000" algn="tl">
                    <a:srgbClr val="C0C0C0"/>
                  </a:outerShdw>
                </a:effectLst>
              </a:rPr>
              <a:t>char str1[30] = "Beijing";</a:t>
            </a:r>
          </a:p>
          <a:p>
            <a:pPr marL="0" indent="0" algn="just" eaLnBrk="1" fontAlgn="auto" hangingPunct="1">
              <a:lnSpc>
                <a:spcPct val="110000"/>
              </a:lnSpc>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char str2[30] = "Shanghai";</a:t>
            </a:r>
          </a:p>
          <a:p>
            <a:pPr marL="0" indent="0" algn="just" eaLnBrk="1" fontAlgn="auto" hangingPunct="1">
              <a:lnSpc>
                <a:spcPct val="110000"/>
              </a:lnSpc>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a:t>
            </a:r>
            <a:r>
              <a:rPr lang="en-US" altLang="zh-CN" b="1" dirty="0" err="1">
                <a:effectLst>
                  <a:outerShdw blurRad="38100" dist="38100" dir="2700000" algn="tl">
                    <a:srgbClr val="C0C0C0"/>
                  </a:outerShdw>
                </a:effectLst>
              </a:rPr>
              <a:t>strlwr</a:t>
            </a:r>
            <a:r>
              <a:rPr lang="en-US" altLang="zh-CN" b="1" dirty="0">
                <a:effectLst>
                  <a:outerShdw blurRad="38100" dist="38100" dir="2700000" algn="tl">
                    <a:srgbClr val="C0C0C0"/>
                  </a:outerShdw>
                </a:effectLst>
              </a:rPr>
              <a:t> (str1);  </a:t>
            </a:r>
            <a:r>
              <a:rPr lang="en-US" altLang="zh-CN" b="1" dirty="0" err="1">
                <a:effectLst>
                  <a:outerShdw blurRad="38100" dist="38100" dir="2700000" algn="tl">
                    <a:srgbClr val="C0C0C0"/>
                  </a:outerShdw>
                </a:effectLst>
              </a:rPr>
              <a:t>strupr</a:t>
            </a:r>
            <a:r>
              <a:rPr lang="en-US" altLang="zh-CN" b="1" dirty="0">
                <a:effectLst>
                  <a:outerShdw blurRad="38100" dist="38100" dir="2700000" algn="tl">
                    <a:srgbClr val="C0C0C0"/>
                  </a:outerShdw>
                </a:effectLst>
              </a:rPr>
              <a:t> (str2);</a:t>
            </a:r>
          </a:p>
          <a:p>
            <a:pPr marL="0" indent="0" algn="just" eaLnBrk="1" fontAlgn="auto" hangingPunct="1">
              <a:lnSpc>
                <a:spcPct val="110000"/>
              </a:lnSpc>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a:t>
            </a:r>
            <a:r>
              <a:rPr lang="en-US" altLang="zh-CN" b="1" dirty="0" err="1">
                <a:effectLst>
                  <a:outerShdw blurRad="38100" dist="38100" dir="2700000" algn="tl">
                    <a:srgbClr val="C0C0C0"/>
                  </a:outerShdw>
                </a:effectLst>
              </a:rPr>
              <a:t>printf</a:t>
            </a:r>
            <a:r>
              <a:rPr lang="en-US" altLang="zh-CN" b="1" dirty="0">
                <a:effectLst>
                  <a:outerShdw blurRad="38100" dist="38100" dir="2700000" algn="tl">
                    <a:srgbClr val="C0C0C0"/>
                  </a:outerShdw>
                </a:effectLst>
              </a:rPr>
              <a:t>("str1=%s\nstr2=%s\n", str1, str2);</a:t>
            </a:r>
          </a:p>
          <a:p>
            <a:pPr marL="0" indent="0" algn="just" eaLnBrk="1" fontAlgn="auto" hangingPunct="1">
              <a:lnSpc>
                <a:spcPct val="110000"/>
              </a:lnSpc>
              <a:spcAft>
                <a:spcPts val="0"/>
              </a:spcAft>
              <a:buClr>
                <a:schemeClr val="accent3"/>
              </a:buClr>
              <a:buFont typeface="Wingdings" pitchFamily="2" charset="2"/>
              <a:buNone/>
              <a:defRPr/>
            </a:pPr>
            <a:r>
              <a:rPr lang="zh-CN" altLang="en-US" b="1" dirty="0">
                <a:effectLst>
                  <a:outerShdw blurRad="38100" dist="38100" dir="2700000" algn="tl">
                    <a:srgbClr val="C0C0C0"/>
                  </a:outerShdw>
                </a:effectLst>
              </a:rPr>
              <a:t>输出：</a:t>
            </a:r>
            <a:r>
              <a:rPr lang="en-US" altLang="zh-CN" b="1" dirty="0">
                <a:effectLst>
                  <a:outerShdw blurRad="38100" dist="38100" dir="2700000" algn="tl">
                    <a:srgbClr val="C0C0C0"/>
                  </a:outerShdw>
                </a:effectLst>
              </a:rPr>
              <a:t>str1=</a:t>
            </a:r>
            <a:r>
              <a:rPr lang="en-US" altLang="zh-CN" b="1" dirty="0" err="1">
                <a:effectLst>
                  <a:outerShdw blurRad="38100" dist="38100" dir="2700000" algn="tl">
                    <a:srgbClr val="C0C0C0"/>
                  </a:outerShdw>
                </a:effectLst>
              </a:rPr>
              <a:t>beijing</a:t>
            </a:r>
            <a:endParaRPr lang="en-US" altLang="zh-CN" b="1" dirty="0">
              <a:effectLst>
                <a:outerShdw blurRad="38100" dist="38100" dir="2700000" algn="tl">
                  <a:srgbClr val="C0C0C0"/>
                </a:outerShdw>
              </a:effectLst>
            </a:endParaRPr>
          </a:p>
          <a:p>
            <a:pPr marL="0" indent="0" algn="just" eaLnBrk="1" fontAlgn="auto" hangingPunct="1">
              <a:lnSpc>
                <a:spcPct val="110000"/>
              </a:lnSpc>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str2=SHANGHAI</a:t>
            </a:r>
          </a:p>
        </p:txBody>
      </p:sp>
      <p:sp>
        <p:nvSpPr>
          <p:cNvPr id="6" name="灯片编号占位符 5"/>
          <p:cNvSpPr>
            <a:spLocks noGrp="1"/>
          </p:cNvSpPr>
          <p:nvPr>
            <p:ph type="sldNum" sz="quarter" idx="12"/>
          </p:nvPr>
        </p:nvSpPr>
        <p:spPr/>
        <p:txBody>
          <a:bodyPr/>
          <a:lstStyle/>
          <a:p>
            <a:pPr>
              <a:defRPr/>
            </a:pPr>
            <a:fld id="{D0CDB54B-D319-45AB-A92D-A710CE26A553}" type="slidenum">
              <a:rPr lang="en-US" altLang="zh-CN"/>
              <a:pPr>
                <a:defRPr/>
              </a:pPr>
              <a:t>99</a:t>
            </a:fld>
            <a:endParaRPr lang="en-US" altLang="zh-CN"/>
          </a:p>
        </p:txBody>
      </p:sp>
      <p:sp>
        <p:nvSpPr>
          <p:cNvPr id="96260" name="Line 4"/>
          <p:cNvSpPr>
            <a:spLocks noChangeShapeType="1"/>
          </p:cNvSpPr>
          <p:nvPr/>
        </p:nvSpPr>
        <p:spPr bwMode="auto">
          <a:xfrm>
            <a:off x="457200" y="5257800"/>
            <a:ext cx="4191000" cy="0"/>
          </a:xfrm>
          <a:prstGeom prst="line">
            <a:avLst/>
          </a:prstGeom>
          <a:noFill/>
          <a:ln w="9525">
            <a:noFill/>
            <a:round/>
            <a:headEnd/>
            <a:tailEnd/>
          </a:ln>
        </p:spPr>
        <p:txBody>
          <a:bodyPr wrap="none" lIns="92075" tIns="46038" rIns="92075" bIns="46038"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87074">
                                            <p:txEl>
                                              <p:pRg st="4" end="4"/>
                                            </p:txEl>
                                          </p:spTgt>
                                        </p:tgtEl>
                                        <p:attrNameLst>
                                          <p:attrName>style.visibility</p:attrName>
                                        </p:attrNameLst>
                                      </p:cBhvr>
                                      <p:to>
                                        <p:strVal val="visible"/>
                                      </p:to>
                                    </p:set>
                                    <p:anim calcmode="lin" valueType="num">
                                      <p:cBhvr additive="base">
                                        <p:cTn id="7" dur="500" fill="hold"/>
                                        <p:tgtEl>
                                          <p:spTgt spid="387074">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87074">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87074">
                                            <p:txEl>
                                              <p:pRg st="5" end="5"/>
                                            </p:txEl>
                                          </p:spTgt>
                                        </p:tgtEl>
                                        <p:attrNameLst>
                                          <p:attrName>style.visibility</p:attrName>
                                        </p:attrNameLst>
                                      </p:cBhvr>
                                      <p:to>
                                        <p:strVal val="visible"/>
                                      </p:to>
                                    </p:set>
                                    <p:anim calcmode="lin" valueType="num">
                                      <p:cBhvr additive="base">
                                        <p:cTn id="11" dur="500" fill="hold"/>
                                        <p:tgtEl>
                                          <p:spTgt spid="387074">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87074">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87074">
                                            <p:txEl>
                                              <p:pRg st="6" end="6"/>
                                            </p:txEl>
                                          </p:spTgt>
                                        </p:tgtEl>
                                        <p:attrNameLst>
                                          <p:attrName>style.visibility</p:attrName>
                                        </p:attrNameLst>
                                      </p:cBhvr>
                                      <p:to>
                                        <p:strVal val="visible"/>
                                      </p:to>
                                    </p:set>
                                    <p:anim calcmode="lin" valueType="num">
                                      <p:cBhvr additive="base">
                                        <p:cTn id="15" dur="500" fill="hold"/>
                                        <p:tgtEl>
                                          <p:spTgt spid="387074">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87074">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87074">
                                            <p:txEl>
                                              <p:pRg st="7" end="7"/>
                                            </p:txEl>
                                          </p:spTgt>
                                        </p:tgtEl>
                                        <p:attrNameLst>
                                          <p:attrName>style.visibility</p:attrName>
                                        </p:attrNameLst>
                                      </p:cBhvr>
                                      <p:to>
                                        <p:strVal val="visible"/>
                                      </p:to>
                                    </p:set>
                                    <p:anim calcmode="lin" valueType="num">
                                      <p:cBhvr additive="base">
                                        <p:cTn id="19" dur="500" fill="hold"/>
                                        <p:tgtEl>
                                          <p:spTgt spid="387074">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87074">
                                            <p:txEl>
                                              <p:pRg st="7" end="7"/>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87074">
                                            <p:txEl>
                                              <p:pRg st="8" end="8"/>
                                            </p:txEl>
                                          </p:spTgt>
                                        </p:tgtEl>
                                        <p:attrNameLst>
                                          <p:attrName>style.visibility</p:attrName>
                                        </p:attrNameLst>
                                      </p:cBhvr>
                                      <p:to>
                                        <p:strVal val="visible"/>
                                      </p:to>
                                    </p:set>
                                    <p:anim calcmode="lin" valueType="num">
                                      <p:cBhvr additive="base">
                                        <p:cTn id="23" dur="500" fill="hold"/>
                                        <p:tgtEl>
                                          <p:spTgt spid="387074">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87074">
                                            <p:txEl>
                                              <p:pRg st="8" end="8"/>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87074">
                                            <p:txEl>
                                              <p:pRg st="9" end="9"/>
                                            </p:txEl>
                                          </p:spTgt>
                                        </p:tgtEl>
                                        <p:attrNameLst>
                                          <p:attrName>style.visibility</p:attrName>
                                        </p:attrNameLst>
                                      </p:cBhvr>
                                      <p:to>
                                        <p:strVal val="visible"/>
                                      </p:to>
                                    </p:set>
                                    <p:anim calcmode="lin" valueType="num">
                                      <p:cBhvr additive="base">
                                        <p:cTn id="27" dur="500" fill="hold"/>
                                        <p:tgtEl>
                                          <p:spTgt spid="387074">
                                            <p:txEl>
                                              <p:pRg st="9" end="9"/>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87074">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098" name="Rectangle 2"/>
          <p:cNvSpPr>
            <a:spLocks noGrp="1" noChangeArrowheads="1"/>
          </p:cNvSpPr>
          <p:nvPr>
            <p:ph idx="1"/>
          </p:nvPr>
        </p:nvSpPr>
        <p:spPr>
          <a:xfrm>
            <a:off x="250825" y="981075"/>
            <a:ext cx="8534400" cy="5568950"/>
          </a:xfrm>
        </p:spPr>
        <p:txBody>
          <a:bodyPr>
            <a:normAutofit/>
          </a:bodyPr>
          <a:lstStyle/>
          <a:p>
            <a:pPr marL="1074738" indent="-1074738" eaLnBrk="1" fontAlgn="auto" hangingPunct="1">
              <a:lnSpc>
                <a:spcPct val="90000"/>
              </a:lnSpc>
              <a:spcAft>
                <a:spcPts val="0"/>
              </a:spcAft>
              <a:buClr>
                <a:schemeClr val="accent3"/>
              </a:buClr>
              <a:buFont typeface="Wingdings" pitchFamily="2" charset="2"/>
              <a:buNone/>
              <a:defRPr/>
            </a:pPr>
            <a:r>
              <a:rPr lang="en-US" altLang="zh-CN" b="1" dirty="0">
                <a:effectLst>
                  <a:outerShdw blurRad="38100" dist="38100" dir="2700000" algn="tl">
                    <a:srgbClr val="C0C0C0"/>
                  </a:outerShdw>
                </a:effectLst>
                <a:latin typeface="宋体" pitchFamily="2" charset="-122"/>
              </a:rPr>
              <a:t>(8)</a:t>
            </a:r>
            <a:r>
              <a:rPr lang="zh-CN" altLang="en-US" b="1" dirty="0">
                <a:effectLst>
                  <a:outerShdw blurRad="38100" dist="38100" dir="2700000" algn="tl">
                    <a:srgbClr val="C0C0C0"/>
                  </a:outerShdw>
                </a:effectLst>
                <a:latin typeface="宋体" pitchFamily="2" charset="-122"/>
              </a:rPr>
              <a:t>字符串输出函数 </a:t>
            </a:r>
            <a:r>
              <a:rPr lang="en-US" altLang="zh-CN" b="1" dirty="0">
                <a:effectLst>
                  <a:outerShdw blurRad="38100" dist="38100" dir="2700000" algn="tl">
                    <a:srgbClr val="C0C0C0"/>
                  </a:outerShdw>
                </a:effectLst>
                <a:latin typeface="宋体" pitchFamily="2" charset="-122"/>
              </a:rPr>
              <a:t>puts(</a:t>
            </a:r>
            <a:r>
              <a:rPr lang="zh-CN" altLang="en-US" b="1" dirty="0">
                <a:effectLst>
                  <a:outerShdw blurRad="38100" dist="38100" dir="2700000" algn="tl">
                    <a:srgbClr val="C0C0C0"/>
                  </a:outerShdw>
                </a:effectLst>
                <a:latin typeface="宋体" pitchFamily="2" charset="-122"/>
              </a:rPr>
              <a:t>字符串</a:t>
            </a:r>
            <a:r>
              <a:rPr lang="en-US" altLang="zh-CN" b="1" dirty="0">
                <a:effectLst>
                  <a:outerShdw blurRad="38100" dist="38100" dir="2700000" algn="tl">
                    <a:srgbClr val="C0C0C0"/>
                  </a:outerShdw>
                </a:effectLst>
                <a:latin typeface="宋体" pitchFamily="2" charset="-122"/>
              </a:rPr>
              <a:t>)</a:t>
            </a:r>
          </a:p>
          <a:p>
            <a:pPr marL="1074738" indent="-1074738" eaLnBrk="1" fontAlgn="auto" hangingPunct="1">
              <a:lnSpc>
                <a:spcPct val="90000"/>
              </a:lnSpc>
              <a:spcAft>
                <a:spcPts val="0"/>
              </a:spcAft>
              <a:buClr>
                <a:schemeClr val="accent3"/>
              </a:buClr>
              <a:buFont typeface="Wingdings" pitchFamily="2" charset="2"/>
              <a:buNone/>
              <a:defRPr/>
            </a:pPr>
            <a:r>
              <a:rPr lang="zh-CN" altLang="en-US" b="1" dirty="0">
                <a:effectLst>
                  <a:outerShdw blurRad="38100" dist="38100" dir="2700000" algn="tl">
                    <a:srgbClr val="C0C0C0"/>
                  </a:outerShdw>
                </a:effectLst>
                <a:latin typeface="宋体" pitchFamily="2" charset="-122"/>
              </a:rPr>
              <a:t>功能：输出字符串内容后自动换行（即将字符串结束符 </a:t>
            </a:r>
            <a:r>
              <a:rPr lang="en-US" altLang="zh-CN" b="1" dirty="0">
                <a:effectLst>
                  <a:outerShdw blurRad="38100" dist="38100" dir="2700000" algn="tl">
                    <a:srgbClr val="C0C0C0"/>
                  </a:outerShdw>
                </a:effectLst>
              </a:rPr>
              <a:t>'\0' </a:t>
            </a:r>
            <a:r>
              <a:rPr lang="zh-CN" altLang="en-US" b="1" dirty="0">
                <a:effectLst>
                  <a:outerShdw blurRad="38100" dist="38100" dir="2700000" algn="tl">
                    <a:srgbClr val="C0C0C0"/>
                  </a:outerShdw>
                </a:effectLst>
                <a:latin typeface="宋体" pitchFamily="2" charset="-122"/>
              </a:rPr>
              <a:t>转换成 </a:t>
            </a:r>
            <a:r>
              <a:rPr lang="en-US" altLang="zh-CN" b="1" dirty="0">
                <a:effectLst>
                  <a:outerShdw blurRad="38100" dist="38100" dir="2700000" algn="tl">
                    <a:srgbClr val="C0C0C0"/>
                  </a:outerShdw>
                </a:effectLst>
              </a:rPr>
              <a:t>'\n'</a:t>
            </a:r>
            <a:r>
              <a:rPr lang="zh-CN" altLang="en-US" b="1" dirty="0">
                <a:effectLst>
                  <a:outerShdw blurRad="38100" dist="38100" dir="2700000" algn="tl">
                    <a:srgbClr val="C0C0C0"/>
                  </a:outerShdw>
                </a:effectLst>
              </a:rPr>
              <a:t>）。</a:t>
            </a:r>
          </a:p>
          <a:p>
            <a:pPr marL="1074738" indent="-1074738" eaLnBrk="1" fontAlgn="auto" hangingPunct="1">
              <a:lnSpc>
                <a:spcPct val="90000"/>
              </a:lnSpc>
              <a:spcAft>
                <a:spcPts val="0"/>
              </a:spcAft>
              <a:buClr>
                <a:schemeClr val="accent3"/>
              </a:buClr>
              <a:buFont typeface="Wingdings" pitchFamily="2" charset="2"/>
              <a:buNone/>
              <a:defRPr/>
            </a:pPr>
            <a:r>
              <a:rPr lang="zh-CN" altLang="en-US" b="1" dirty="0">
                <a:effectLst>
                  <a:outerShdw blurRad="38100" dist="38100" dir="2700000" algn="tl">
                    <a:srgbClr val="C0C0C0"/>
                  </a:outerShdw>
                </a:effectLst>
                <a:latin typeface="宋体" pitchFamily="2" charset="-122"/>
              </a:rPr>
              <a:t>例：  </a:t>
            </a:r>
            <a:r>
              <a:rPr lang="en-US" altLang="zh-CN" b="1" dirty="0">
                <a:effectLst>
                  <a:outerShdw blurRad="38100" dist="38100" dir="2700000" algn="tl">
                    <a:srgbClr val="C0C0C0"/>
                  </a:outerShdw>
                </a:effectLst>
              </a:rPr>
              <a:t>char </a:t>
            </a:r>
            <a:r>
              <a:rPr lang="en-US" altLang="zh-CN" b="1" dirty="0" err="1">
                <a:effectLst>
                  <a:outerShdw blurRad="38100" dist="38100" dir="2700000" algn="tl">
                    <a:srgbClr val="C0C0C0"/>
                  </a:outerShdw>
                </a:effectLst>
              </a:rPr>
              <a:t>str</a:t>
            </a:r>
            <a:r>
              <a:rPr lang="en-US" altLang="zh-CN" b="1" dirty="0">
                <a:effectLst>
                  <a:outerShdw blurRad="38100" dist="38100" dir="2700000" algn="tl">
                    <a:srgbClr val="C0C0C0"/>
                  </a:outerShdw>
                </a:effectLst>
              </a:rPr>
              <a:t>[30] = "Beijing";</a:t>
            </a:r>
            <a:endParaRPr lang="en-US" altLang="zh-CN" b="1" dirty="0">
              <a:effectLst>
                <a:outerShdw blurRad="38100" dist="38100" dir="2700000" algn="tl">
                  <a:srgbClr val="C0C0C0"/>
                </a:outerShdw>
              </a:effectLst>
              <a:latin typeface="宋体" pitchFamily="2" charset="-122"/>
            </a:endParaRPr>
          </a:p>
          <a:p>
            <a:pPr marL="1074738" indent="-1074738" eaLnBrk="1" fontAlgn="auto" hangingPunct="1">
              <a:lnSpc>
                <a:spcPct val="90000"/>
              </a:lnSpc>
              <a:spcAft>
                <a:spcPts val="0"/>
              </a:spcAft>
              <a:buClr>
                <a:schemeClr val="accent3"/>
              </a:buClr>
              <a:buFont typeface="Wingdings" pitchFamily="2" charset="2"/>
              <a:buNone/>
              <a:defRPr/>
            </a:pPr>
            <a:r>
              <a:rPr lang="en-US" altLang="zh-CN" b="1" dirty="0">
                <a:effectLst>
                  <a:outerShdw blurRad="38100" dist="38100" dir="2700000" algn="tl">
                    <a:srgbClr val="C0C0C0"/>
                  </a:outerShdw>
                </a:effectLst>
                <a:latin typeface="宋体" pitchFamily="2" charset="-122"/>
              </a:rPr>
              <a:t>      </a:t>
            </a:r>
            <a:r>
              <a:rPr lang="en-US" altLang="zh-CN" b="1" dirty="0">
                <a:effectLst>
                  <a:outerShdw blurRad="38100" dist="38100" dir="2700000" algn="tl">
                    <a:srgbClr val="C0C0C0"/>
                  </a:outerShdw>
                </a:effectLst>
              </a:rPr>
              <a:t>puts (</a:t>
            </a:r>
            <a:r>
              <a:rPr lang="en-US" altLang="zh-CN" b="1" dirty="0" err="1">
                <a:effectLst>
                  <a:outerShdw blurRad="38100" dist="38100" dir="2700000" algn="tl">
                    <a:srgbClr val="C0C0C0"/>
                  </a:outerShdw>
                </a:effectLst>
              </a:rPr>
              <a:t>str</a:t>
            </a:r>
            <a:r>
              <a:rPr lang="en-US" altLang="zh-CN" b="1" dirty="0">
                <a:effectLst>
                  <a:outerShdw blurRad="38100" dist="38100" dir="2700000" algn="tl">
                    <a:srgbClr val="C0C0C0"/>
                  </a:outerShdw>
                </a:effectLst>
              </a:rPr>
              <a:t>);</a:t>
            </a:r>
            <a:r>
              <a:rPr lang="en-US" altLang="zh-CN" b="1" dirty="0">
                <a:effectLst>
                  <a:outerShdw blurRad="38100" dist="38100" dir="2700000" algn="tl">
                    <a:srgbClr val="C0C0C0"/>
                  </a:outerShdw>
                </a:effectLst>
                <a:latin typeface="宋体" pitchFamily="2" charset="-122"/>
              </a:rPr>
              <a:t> </a:t>
            </a:r>
            <a:r>
              <a:rPr lang="en-US" altLang="zh-CN" b="1" dirty="0">
                <a:effectLst>
                  <a:outerShdw blurRad="38100" dist="38100" dir="2700000" algn="tl">
                    <a:srgbClr val="C0C0C0"/>
                  </a:outerShdw>
                </a:effectLst>
              </a:rPr>
              <a:t>/* </a:t>
            </a:r>
            <a:r>
              <a:rPr lang="zh-CN" altLang="en-US" b="1" dirty="0">
                <a:effectLst>
                  <a:outerShdw blurRad="38100" dist="38100" dir="2700000" algn="tl">
                    <a:srgbClr val="C0C0C0"/>
                  </a:outerShdw>
                </a:effectLst>
              </a:rPr>
              <a:t>等价</a:t>
            </a:r>
            <a:r>
              <a:rPr lang="en-US" altLang="zh-CN" b="1" dirty="0" err="1">
                <a:effectLst>
                  <a:outerShdw blurRad="38100" dist="38100" dir="2700000" algn="tl">
                    <a:srgbClr val="C0C0C0"/>
                  </a:outerShdw>
                </a:effectLst>
              </a:rPr>
              <a:t>printf</a:t>
            </a:r>
            <a:r>
              <a:rPr lang="en-US" altLang="zh-CN" b="1" dirty="0">
                <a:effectLst>
                  <a:outerShdw blurRad="38100" dist="38100" dir="2700000" algn="tl">
                    <a:srgbClr val="C0C0C0"/>
                  </a:outerShdw>
                </a:effectLst>
              </a:rPr>
              <a:t> ("%s\n", </a:t>
            </a:r>
            <a:r>
              <a:rPr lang="en-US" altLang="zh-CN" b="1" dirty="0" err="1">
                <a:effectLst>
                  <a:outerShdw blurRad="38100" dist="38100" dir="2700000" algn="tl">
                    <a:srgbClr val="C0C0C0"/>
                  </a:outerShdw>
                </a:effectLst>
              </a:rPr>
              <a:t>str</a:t>
            </a:r>
            <a:r>
              <a:rPr lang="en-US" altLang="zh-CN" b="1" dirty="0">
                <a:effectLst>
                  <a:outerShdw blurRad="38100" dist="38100" dir="2700000" algn="tl">
                    <a:srgbClr val="C0C0C0"/>
                  </a:outerShdw>
                </a:effectLst>
              </a:rPr>
              <a:t>); */</a:t>
            </a:r>
          </a:p>
          <a:p>
            <a:pPr marL="1074738" indent="-1074738" eaLnBrk="1" fontAlgn="auto" hangingPunct="1">
              <a:lnSpc>
                <a:spcPct val="90000"/>
              </a:lnSpc>
              <a:spcAft>
                <a:spcPts val="0"/>
              </a:spcAft>
              <a:buClr>
                <a:schemeClr val="accent3"/>
              </a:buClr>
              <a:buFont typeface="Wingdings" pitchFamily="2" charset="2"/>
              <a:buNone/>
              <a:defRPr/>
            </a:pPr>
            <a:r>
              <a:rPr lang="en-US" altLang="zh-CN" b="1" dirty="0">
                <a:effectLst>
                  <a:outerShdw blurRad="38100" dist="38100" dir="2700000" algn="tl">
                    <a:srgbClr val="C0C0C0"/>
                  </a:outerShdw>
                </a:effectLst>
                <a:latin typeface="宋体" pitchFamily="2" charset="-122"/>
              </a:rPr>
              <a:t>(9)</a:t>
            </a:r>
            <a:r>
              <a:rPr lang="zh-CN" altLang="en-US" b="1" dirty="0">
                <a:effectLst>
                  <a:outerShdw blurRad="38100" dist="38100" dir="2700000" algn="tl">
                    <a:srgbClr val="C0C0C0"/>
                  </a:outerShdw>
                </a:effectLst>
                <a:latin typeface="宋体" pitchFamily="2" charset="-122"/>
              </a:rPr>
              <a:t>字符串输入函数 </a:t>
            </a:r>
            <a:r>
              <a:rPr lang="en-US" altLang="zh-CN" b="1" dirty="0">
                <a:effectLst>
                  <a:outerShdw blurRad="38100" dist="38100" dir="2700000" algn="tl">
                    <a:srgbClr val="C0C0C0"/>
                  </a:outerShdw>
                </a:effectLst>
                <a:latin typeface="宋体" pitchFamily="2" charset="-122"/>
              </a:rPr>
              <a:t>gets(</a:t>
            </a:r>
            <a:r>
              <a:rPr lang="zh-CN" altLang="en-US" b="1" dirty="0">
                <a:effectLst>
                  <a:outerShdw blurRad="38100" dist="38100" dir="2700000" algn="tl">
                    <a:srgbClr val="C0C0C0"/>
                  </a:outerShdw>
                </a:effectLst>
                <a:latin typeface="宋体" pitchFamily="2" charset="-122"/>
              </a:rPr>
              <a:t>字符数组</a:t>
            </a:r>
            <a:r>
              <a:rPr lang="en-US" altLang="zh-CN" b="1" dirty="0">
                <a:effectLst>
                  <a:outerShdw blurRad="38100" dist="38100" dir="2700000" algn="tl">
                    <a:srgbClr val="C0C0C0"/>
                  </a:outerShdw>
                </a:effectLst>
                <a:latin typeface="宋体" pitchFamily="2" charset="-122"/>
              </a:rPr>
              <a:t>)</a:t>
            </a:r>
          </a:p>
          <a:p>
            <a:pPr marL="1074738" indent="-1074738" eaLnBrk="1" fontAlgn="auto" hangingPunct="1">
              <a:lnSpc>
                <a:spcPct val="90000"/>
              </a:lnSpc>
              <a:spcAft>
                <a:spcPts val="0"/>
              </a:spcAft>
              <a:buClr>
                <a:schemeClr val="accent3"/>
              </a:buClr>
              <a:buFont typeface="Wingdings" pitchFamily="2" charset="2"/>
              <a:buNone/>
              <a:defRPr/>
            </a:pPr>
            <a:r>
              <a:rPr lang="zh-CN" altLang="en-US" b="1" dirty="0">
                <a:effectLst>
                  <a:outerShdw blurRad="38100" dist="38100" dir="2700000" algn="tl">
                    <a:srgbClr val="C0C0C0"/>
                  </a:outerShdw>
                </a:effectLst>
                <a:latin typeface="宋体" pitchFamily="2" charset="-122"/>
              </a:rPr>
              <a:t>功能：从终端输入字符序列到字符数组，最后自动补字符串结束符（即将输入时的回车符转换成</a:t>
            </a:r>
            <a:r>
              <a:rPr lang="zh-CN" altLang="en-US" b="1" dirty="0">
                <a:effectLst>
                  <a:outerShdw blurRad="38100" dist="38100" dir="2700000" algn="tl">
                    <a:srgbClr val="C0C0C0"/>
                  </a:outerShdw>
                </a:effectLst>
                <a:latin typeface="Courier New"/>
              </a:rPr>
              <a:t>’</a:t>
            </a:r>
            <a:r>
              <a:rPr lang="en-US" altLang="zh-CN" b="1" dirty="0">
                <a:effectLst>
                  <a:outerShdw blurRad="38100" dist="38100" dir="2700000" algn="tl">
                    <a:srgbClr val="C0C0C0"/>
                  </a:outerShdw>
                </a:effectLst>
                <a:latin typeface="宋体" pitchFamily="2" charset="-122"/>
              </a:rPr>
              <a:t>\0</a:t>
            </a:r>
            <a:r>
              <a:rPr lang="en-US" altLang="zh-CN" b="1" dirty="0">
                <a:effectLst>
                  <a:outerShdw blurRad="38100" dist="38100" dir="2700000" algn="tl">
                    <a:srgbClr val="C0C0C0"/>
                  </a:outerShdw>
                </a:effectLst>
                <a:latin typeface="Courier New"/>
              </a:rPr>
              <a:t>’</a:t>
            </a:r>
            <a:r>
              <a:rPr lang="zh-CN" altLang="en-US" b="1" dirty="0">
                <a:effectLst>
                  <a:outerShdw blurRad="38100" dist="38100" dir="2700000" algn="tl">
                    <a:srgbClr val="C0C0C0"/>
                  </a:outerShdw>
                </a:effectLst>
                <a:latin typeface="宋体" pitchFamily="2" charset="-122"/>
              </a:rPr>
              <a:t>字符存储）。</a:t>
            </a:r>
          </a:p>
          <a:p>
            <a:pPr marL="1074738" indent="-1074738" eaLnBrk="1" fontAlgn="auto" hangingPunct="1">
              <a:lnSpc>
                <a:spcPct val="90000"/>
              </a:lnSpc>
              <a:spcAft>
                <a:spcPts val="0"/>
              </a:spcAft>
              <a:buClr>
                <a:schemeClr val="accent3"/>
              </a:buClr>
              <a:buFont typeface="Wingdings" pitchFamily="2" charset="2"/>
              <a:buNone/>
              <a:defRPr/>
            </a:pPr>
            <a:r>
              <a:rPr lang="zh-CN" altLang="en-US" b="1" dirty="0">
                <a:effectLst>
                  <a:outerShdw blurRad="38100" dist="38100" dir="2700000" algn="tl">
                    <a:srgbClr val="C0C0C0"/>
                  </a:outerShdw>
                </a:effectLst>
                <a:latin typeface="宋体" pitchFamily="2" charset="-122"/>
              </a:rPr>
              <a:t>例：  </a:t>
            </a:r>
            <a:r>
              <a:rPr lang="en-US" altLang="zh-CN" b="1" dirty="0">
                <a:effectLst>
                  <a:outerShdw blurRad="38100" dist="38100" dir="2700000" algn="tl">
                    <a:srgbClr val="C0C0C0"/>
                  </a:outerShdw>
                </a:effectLst>
              </a:rPr>
              <a:t>char </a:t>
            </a:r>
            <a:r>
              <a:rPr lang="en-US" altLang="zh-CN" b="1" dirty="0" err="1">
                <a:effectLst>
                  <a:outerShdw blurRad="38100" dist="38100" dir="2700000" algn="tl">
                    <a:srgbClr val="C0C0C0"/>
                  </a:outerShdw>
                </a:effectLst>
              </a:rPr>
              <a:t>str</a:t>
            </a:r>
            <a:r>
              <a:rPr lang="en-US" altLang="zh-CN" b="1" dirty="0">
                <a:effectLst>
                  <a:outerShdw blurRad="38100" dist="38100" dir="2700000" algn="tl">
                    <a:srgbClr val="C0C0C0"/>
                  </a:outerShdw>
                </a:effectLst>
              </a:rPr>
              <a:t>[30];</a:t>
            </a:r>
          </a:p>
          <a:p>
            <a:pPr marL="1074738" indent="-1074738" eaLnBrk="1" fontAlgn="auto" hangingPunct="1">
              <a:lnSpc>
                <a:spcPct val="90000"/>
              </a:lnSpc>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gets(</a:t>
            </a:r>
            <a:r>
              <a:rPr lang="en-US" altLang="zh-CN" b="1" dirty="0" err="1">
                <a:effectLst>
                  <a:outerShdw blurRad="38100" dist="38100" dir="2700000" algn="tl">
                    <a:srgbClr val="C0C0C0"/>
                  </a:outerShdw>
                </a:effectLst>
              </a:rPr>
              <a:t>str</a:t>
            </a:r>
            <a:r>
              <a:rPr lang="en-US" altLang="zh-CN" b="1" dirty="0">
                <a:effectLst>
                  <a:outerShdw blurRad="38100" dist="38100" dir="2700000" algn="tl">
                    <a:srgbClr val="C0C0C0"/>
                  </a:outerShdw>
                </a:effectLst>
              </a:rPr>
              <a:t>); puts(</a:t>
            </a:r>
            <a:r>
              <a:rPr lang="en-US" altLang="zh-CN" b="1" dirty="0" err="1">
                <a:effectLst>
                  <a:outerShdw blurRad="38100" dist="38100" dir="2700000" algn="tl">
                    <a:srgbClr val="C0C0C0"/>
                  </a:outerShdw>
                </a:effectLst>
              </a:rPr>
              <a:t>str</a:t>
            </a:r>
            <a:r>
              <a:rPr lang="en-US" altLang="zh-CN" b="1" dirty="0">
                <a:effectLst>
                  <a:outerShdw blurRad="38100" dist="38100" dir="2700000" algn="tl">
                    <a:srgbClr val="C0C0C0"/>
                  </a:outerShdw>
                </a:effectLst>
              </a:rPr>
              <a:t>);</a:t>
            </a:r>
          </a:p>
          <a:p>
            <a:pPr marL="1074738" indent="-1074738" eaLnBrk="1" fontAlgn="auto" hangingPunct="1">
              <a:lnSpc>
                <a:spcPct val="90000"/>
              </a:lnSpc>
              <a:spcAft>
                <a:spcPts val="0"/>
              </a:spcAft>
              <a:buClr>
                <a:schemeClr val="accent3"/>
              </a:buClr>
              <a:buFont typeface="Wingdings" pitchFamily="2" charset="2"/>
              <a:buNone/>
              <a:defRPr/>
            </a:pPr>
            <a:r>
              <a:rPr lang="zh-CN" altLang="en-US" b="1" dirty="0">
                <a:effectLst>
                  <a:outerShdw blurRad="38100" dist="38100" dir="2700000" algn="tl">
                    <a:srgbClr val="C0C0C0"/>
                  </a:outerShdw>
                </a:effectLst>
              </a:rPr>
              <a:t>输入：</a:t>
            </a:r>
            <a:r>
              <a:rPr lang="en-US" altLang="zh-CN" b="1" dirty="0" err="1">
                <a:effectLst>
                  <a:outerShdw blurRad="38100" dist="38100" dir="2700000" algn="tl">
                    <a:srgbClr val="C0C0C0"/>
                  </a:outerShdw>
                </a:effectLst>
              </a:rPr>
              <a:t>Fudan</a:t>
            </a:r>
            <a:r>
              <a:rPr lang="en-US" altLang="zh-CN" b="1" dirty="0">
                <a:effectLst>
                  <a:outerShdw blurRad="38100" dist="38100" dir="2700000" algn="tl">
                    <a:srgbClr val="C0C0C0"/>
                  </a:outerShdw>
                </a:effectLst>
              </a:rPr>
              <a:t> Uni.         </a:t>
            </a:r>
            <a:r>
              <a:rPr lang="zh-CN" altLang="en-US" b="1" dirty="0">
                <a:effectLst>
                  <a:outerShdw blurRad="38100" dist="38100" dir="2700000" algn="tl">
                    <a:srgbClr val="C0C0C0"/>
                  </a:outerShdw>
                </a:effectLst>
              </a:rPr>
              <a:t>输出： </a:t>
            </a:r>
            <a:r>
              <a:rPr lang="en-US" altLang="zh-CN" b="1" dirty="0">
                <a:effectLst>
                  <a:outerShdw blurRad="38100" dist="38100" dir="2700000" algn="tl">
                    <a:srgbClr val="C0C0C0"/>
                  </a:outerShdw>
                </a:effectLst>
              </a:rPr>
              <a:t>Fudan Uni. </a:t>
            </a:r>
          </a:p>
          <a:p>
            <a:pPr marL="1074738" indent="-1074738" eaLnBrk="1" fontAlgn="auto" hangingPunct="1">
              <a:lnSpc>
                <a:spcPct val="90000"/>
              </a:lnSpc>
              <a:spcAft>
                <a:spcPts val="0"/>
              </a:spcAft>
              <a:buClr>
                <a:schemeClr val="accent3"/>
              </a:buClr>
              <a:buFont typeface="Wingdings" pitchFamily="2" charset="2"/>
              <a:buNone/>
              <a:defRPr/>
            </a:pPr>
            <a:r>
              <a:rPr lang="en-US" altLang="zh-CN" b="1" dirty="0">
                <a:effectLst>
                  <a:outerShdw blurRad="38100" dist="38100" dir="2700000" algn="tl">
                    <a:srgbClr val="C0C0C0"/>
                  </a:outerShdw>
                </a:effectLst>
              </a:rPr>
              <a:t>          </a:t>
            </a:r>
            <a:r>
              <a:rPr lang="en-US" altLang="zh-CN" b="1" dirty="0">
                <a:solidFill>
                  <a:srgbClr val="FF0000"/>
                </a:solidFill>
                <a:effectLst>
                  <a:outerShdw blurRad="38100" dist="38100" dir="2700000" algn="tl">
                    <a:srgbClr val="C0C0C0"/>
                  </a:outerShdw>
                </a:effectLst>
              </a:rPr>
              <a:t>puts(gets(</a:t>
            </a:r>
            <a:r>
              <a:rPr lang="en-US" altLang="zh-CN" b="1" dirty="0" err="1">
                <a:solidFill>
                  <a:srgbClr val="FF0000"/>
                </a:solidFill>
                <a:effectLst>
                  <a:outerShdw blurRad="38100" dist="38100" dir="2700000" algn="tl">
                    <a:srgbClr val="C0C0C0"/>
                  </a:outerShdw>
                </a:effectLst>
              </a:rPr>
              <a:t>str</a:t>
            </a:r>
            <a:r>
              <a:rPr lang="en-US" altLang="zh-CN" b="1" dirty="0">
                <a:solidFill>
                  <a:srgbClr val="FF0000"/>
                </a:solidFill>
                <a:effectLst>
                  <a:outerShdw blurRad="38100" dist="38100" dir="2700000" algn="tl">
                    <a:srgbClr val="C0C0C0"/>
                  </a:outerShdw>
                </a:effectLst>
              </a:rPr>
              <a:t>));</a:t>
            </a:r>
          </a:p>
        </p:txBody>
      </p:sp>
      <p:sp>
        <p:nvSpPr>
          <p:cNvPr id="6" name="灯片编号占位符 5"/>
          <p:cNvSpPr>
            <a:spLocks noGrp="1"/>
          </p:cNvSpPr>
          <p:nvPr>
            <p:ph type="sldNum" sz="quarter" idx="12"/>
          </p:nvPr>
        </p:nvSpPr>
        <p:spPr/>
        <p:txBody>
          <a:bodyPr/>
          <a:lstStyle/>
          <a:p>
            <a:pPr>
              <a:defRPr/>
            </a:pPr>
            <a:fld id="{C4B8E71D-E59A-4DBC-BCC9-C0C34ACC22AC}" type="slidenum">
              <a:rPr lang="en-US" altLang="zh-CN"/>
              <a:pPr>
                <a:defRPr/>
              </a:pPr>
              <a:t>100</a:t>
            </a:fld>
            <a:endParaRPr lang="en-US" altLang="zh-CN"/>
          </a:p>
        </p:txBody>
      </p:sp>
      <p:sp>
        <p:nvSpPr>
          <p:cNvPr id="97284" name="Line 4"/>
          <p:cNvSpPr>
            <a:spLocks noChangeShapeType="1"/>
          </p:cNvSpPr>
          <p:nvPr/>
        </p:nvSpPr>
        <p:spPr bwMode="auto">
          <a:xfrm>
            <a:off x="457200" y="5257800"/>
            <a:ext cx="4191000" cy="0"/>
          </a:xfrm>
          <a:prstGeom prst="line">
            <a:avLst/>
          </a:prstGeom>
          <a:noFill/>
          <a:ln w="9525">
            <a:noFill/>
            <a:round/>
            <a:headEnd/>
            <a:tailEnd/>
          </a:ln>
        </p:spPr>
        <p:txBody>
          <a:bodyPr wrap="none" lIns="92075" tIns="46038" rIns="92075" bIns="46038"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88098">
                                            <p:txEl>
                                              <p:pRg st="2" end="2"/>
                                            </p:txEl>
                                          </p:spTgt>
                                        </p:tgtEl>
                                        <p:attrNameLst>
                                          <p:attrName>style.visibility</p:attrName>
                                        </p:attrNameLst>
                                      </p:cBhvr>
                                      <p:to>
                                        <p:strVal val="visible"/>
                                      </p:to>
                                    </p:set>
                                    <p:anim calcmode="lin" valueType="num">
                                      <p:cBhvr additive="base">
                                        <p:cTn id="7" dur="500" fill="hold"/>
                                        <p:tgtEl>
                                          <p:spTgt spid="388098">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88098">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88098">
                                            <p:txEl>
                                              <p:pRg st="3" end="3"/>
                                            </p:txEl>
                                          </p:spTgt>
                                        </p:tgtEl>
                                        <p:attrNameLst>
                                          <p:attrName>style.visibility</p:attrName>
                                        </p:attrNameLst>
                                      </p:cBhvr>
                                      <p:to>
                                        <p:strVal val="visible"/>
                                      </p:to>
                                    </p:set>
                                    <p:anim calcmode="lin" valueType="num">
                                      <p:cBhvr additive="base">
                                        <p:cTn id="11" dur="500" fill="hold"/>
                                        <p:tgtEl>
                                          <p:spTgt spid="388098">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8809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88098">
                                            <p:txEl>
                                              <p:pRg st="4" end="4"/>
                                            </p:txEl>
                                          </p:spTgt>
                                        </p:tgtEl>
                                        <p:attrNameLst>
                                          <p:attrName>style.visibility</p:attrName>
                                        </p:attrNameLst>
                                      </p:cBhvr>
                                      <p:to>
                                        <p:strVal val="visible"/>
                                      </p:to>
                                    </p:set>
                                    <p:anim calcmode="lin" valueType="num">
                                      <p:cBhvr additive="base">
                                        <p:cTn id="17" dur="500" fill="hold"/>
                                        <p:tgtEl>
                                          <p:spTgt spid="388098">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88098">
                                            <p:txEl>
                                              <p:pRg st="4" end="4"/>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88098">
                                            <p:txEl>
                                              <p:pRg st="5" end="5"/>
                                            </p:txEl>
                                          </p:spTgt>
                                        </p:tgtEl>
                                        <p:attrNameLst>
                                          <p:attrName>style.visibility</p:attrName>
                                        </p:attrNameLst>
                                      </p:cBhvr>
                                      <p:to>
                                        <p:strVal val="visible"/>
                                      </p:to>
                                    </p:set>
                                    <p:anim calcmode="lin" valueType="num">
                                      <p:cBhvr additive="base">
                                        <p:cTn id="21" dur="500" fill="hold"/>
                                        <p:tgtEl>
                                          <p:spTgt spid="388098">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8809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88098">
                                            <p:txEl>
                                              <p:pRg st="6" end="6"/>
                                            </p:txEl>
                                          </p:spTgt>
                                        </p:tgtEl>
                                        <p:attrNameLst>
                                          <p:attrName>style.visibility</p:attrName>
                                        </p:attrNameLst>
                                      </p:cBhvr>
                                      <p:to>
                                        <p:strVal val="visible"/>
                                      </p:to>
                                    </p:set>
                                    <p:anim calcmode="lin" valueType="num">
                                      <p:cBhvr additive="base">
                                        <p:cTn id="27" dur="500" fill="hold"/>
                                        <p:tgtEl>
                                          <p:spTgt spid="388098">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88098">
                                            <p:txEl>
                                              <p:pRg st="6" end="6"/>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88098">
                                            <p:txEl>
                                              <p:pRg st="7" end="7"/>
                                            </p:txEl>
                                          </p:spTgt>
                                        </p:tgtEl>
                                        <p:attrNameLst>
                                          <p:attrName>style.visibility</p:attrName>
                                        </p:attrNameLst>
                                      </p:cBhvr>
                                      <p:to>
                                        <p:strVal val="visible"/>
                                      </p:to>
                                    </p:set>
                                    <p:anim calcmode="lin" valueType="num">
                                      <p:cBhvr additive="base">
                                        <p:cTn id="31" dur="500" fill="hold"/>
                                        <p:tgtEl>
                                          <p:spTgt spid="388098">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88098">
                                            <p:txEl>
                                              <p:pRg st="7" end="7"/>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88098">
                                            <p:txEl>
                                              <p:pRg st="8" end="8"/>
                                            </p:txEl>
                                          </p:spTgt>
                                        </p:tgtEl>
                                        <p:attrNameLst>
                                          <p:attrName>style.visibility</p:attrName>
                                        </p:attrNameLst>
                                      </p:cBhvr>
                                      <p:to>
                                        <p:strVal val="visible"/>
                                      </p:to>
                                    </p:set>
                                    <p:anim calcmode="lin" valueType="num">
                                      <p:cBhvr additive="base">
                                        <p:cTn id="35" dur="500" fill="hold"/>
                                        <p:tgtEl>
                                          <p:spTgt spid="388098">
                                            <p:txEl>
                                              <p:pRg st="8" end="8"/>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88098">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388098">
                                            <p:txEl>
                                              <p:pRg st="9" end="9"/>
                                            </p:txEl>
                                          </p:spTgt>
                                        </p:tgtEl>
                                        <p:attrNameLst>
                                          <p:attrName>style.visibility</p:attrName>
                                        </p:attrNameLst>
                                      </p:cBhvr>
                                      <p:to>
                                        <p:strVal val="visible"/>
                                      </p:to>
                                    </p:set>
                                    <p:anim calcmode="lin" valueType="num">
                                      <p:cBhvr additive="base">
                                        <p:cTn id="41" dur="500" fill="hold"/>
                                        <p:tgtEl>
                                          <p:spTgt spid="388098">
                                            <p:txEl>
                                              <p:pRg st="9" end="9"/>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88098">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5"/>
          <p:cNvSpPr>
            <a:spLocks noGrp="1" noChangeArrowheads="1"/>
          </p:cNvSpPr>
          <p:nvPr>
            <p:ph type="title"/>
          </p:nvPr>
        </p:nvSpPr>
        <p:spPr>
          <a:xfrm>
            <a:off x="285750" y="0"/>
            <a:ext cx="8088313" cy="647700"/>
          </a:xfrm>
          <a:noFill/>
        </p:spPr>
        <p:txBody>
          <a:bodyPr lIns="92075" tIns="46038" rIns="92075" bIns="46038"/>
          <a:lstStyle/>
          <a:p>
            <a:pPr eaLnBrk="1" hangingPunct="1"/>
            <a:r>
              <a:rPr lang="en-US" altLang="zh-CN" sz="3600" dirty="0">
                <a:solidFill>
                  <a:schemeClr val="tx1"/>
                </a:solidFill>
                <a:latin typeface="黑体" pitchFamily="2" charset="-122"/>
                <a:ea typeface="黑体" pitchFamily="2" charset="-122"/>
              </a:rPr>
              <a:t>【</a:t>
            </a:r>
            <a:r>
              <a:rPr lang="zh-CN" altLang="en-US" sz="3600" dirty="0">
                <a:solidFill>
                  <a:schemeClr val="tx1"/>
                </a:solidFill>
                <a:latin typeface="黑体" pitchFamily="2" charset="-122"/>
                <a:ea typeface="黑体" pitchFamily="2" charset="-122"/>
              </a:rPr>
              <a:t>例</a:t>
            </a:r>
            <a:r>
              <a:rPr lang="en-US" altLang="zh-CN" sz="3600" dirty="0">
                <a:solidFill>
                  <a:schemeClr val="tx1"/>
                </a:solidFill>
                <a:latin typeface="黑体" pitchFamily="2" charset="-122"/>
                <a:ea typeface="黑体" pitchFamily="2" charset="-122"/>
              </a:rPr>
              <a:t>4.15】</a:t>
            </a:r>
            <a:r>
              <a:rPr lang="zh-CN" altLang="en-US" sz="3600" dirty="0">
                <a:solidFill>
                  <a:schemeClr val="tx1"/>
                </a:solidFill>
                <a:latin typeface="黑体" pitchFamily="2" charset="-122"/>
                <a:ea typeface="黑体" pitchFamily="2" charset="-122"/>
              </a:rPr>
              <a:t>字符串处理函数的用法</a:t>
            </a:r>
          </a:p>
        </p:txBody>
      </p:sp>
      <p:sp>
        <p:nvSpPr>
          <p:cNvPr id="98307" name="Rectangle 2"/>
          <p:cNvSpPr>
            <a:spLocks noGrp="1" noChangeArrowheads="1"/>
          </p:cNvSpPr>
          <p:nvPr>
            <p:ph idx="1"/>
          </p:nvPr>
        </p:nvSpPr>
        <p:spPr>
          <a:xfrm>
            <a:off x="214313" y="571500"/>
            <a:ext cx="8497887" cy="5761038"/>
          </a:xfrm>
        </p:spPr>
        <p:txBody>
          <a:bodyPr/>
          <a:lstStyle/>
          <a:p>
            <a:pPr marL="0" indent="0" algn="just" eaLnBrk="1" hangingPunct="1">
              <a:lnSpc>
                <a:spcPct val="90000"/>
              </a:lnSpc>
              <a:buFont typeface="Wingdings" pitchFamily="2" charset="2"/>
              <a:buNone/>
            </a:pPr>
            <a:r>
              <a:rPr lang="en-US" altLang="zh-CN" sz="2400" b="1"/>
              <a:t>#include  &lt;string.h&gt;</a:t>
            </a:r>
          </a:p>
          <a:p>
            <a:pPr marL="0" indent="0" algn="just" eaLnBrk="1" hangingPunct="1">
              <a:lnSpc>
                <a:spcPct val="90000"/>
              </a:lnSpc>
              <a:buFont typeface="Wingdings" pitchFamily="2" charset="2"/>
              <a:buNone/>
            </a:pPr>
            <a:r>
              <a:rPr lang="en-US" altLang="zh-CN" sz="2400" b="1"/>
              <a:t>char s1[100], s2[100], s3[100];</a:t>
            </a:r>
          </a:p>
          <a:p>
            <a:pPr marL="0" indent="0" algn="just" eaLnBrk="1" hangingPunct="1">
              <a:lnSpc>
                <a:spcPct val="90000"/>
              </a:lnSpc>
              <a:buFont typeface="Wingdings" pitchFamily="2" charset="2"/>
              <a:buNone/>
            </a:pPr>
            <a:r>
              <a:rPr lang="en-US" altLang="zh-CN" sz="2400" b="1"/>
              <a:t>void main()</a:t>
            </a:r>
          </a:p>
          <a:p>
            <a:pPr marL="0" indent="0" algn="just" eaLnBrk="1" hangingPunct="1">
              <a:lnSpc>
                <a:spcPct val="90000"/>
              </a:lnSpc>
              <a:buFont typeface="Wingdings" pitchFamily="2" charset="2"/>
              <a:buNone/>
            </a:pPr>
            <a:r>
              <a:rPr lang="en-US" altLang="zh-CN" sz="2400" b="1"/>
              <a:t>{ printf("</a:t>
            </a:r>
            <a:r>
              <a:rPr lang="zh-CN" altLang="en-US" sz="2400" b="1"/>
              <a:t>输入字符序列</a:t>
            </a:r>
            <a:r>
              <a:rPr lang="en-US" altLang="zh-CN" sz="2400" b="1"/>
              <a:t>s1\n"); scanf("%s", s1); </a:t>
            </a:r>
          </a:p>
          <a:p>
            <a:pPr marL="0" indent="0" algn="just" eaLnBrk="1" hangingPunct="1">
              <a:lnSpc>
                <a:spcPct val="90000"/>
              </a:lnSpc>
              <a:buFont typeface="Wingdings" pitchFamily="2" charset="2"/>
              <a:buNone/>
            </a:pPr>
            <a:r>
              <a:rPr lang="en-US" altLang="zh-CN" sz="2400" b="1"/>
              <a:t>  while(getchar() != '\n'); </a:t>
            </a:r>
            <a:r>
              <a:rPr lang="en-US" altLang="zh-CN" sz="2000" b="1"/>
              <a:t>/* </a:t>
            </a:r>
            <a:r>
              <a:rPr lang="zh-CN" altLang="en-US" sz="2000" b="1"/>
              <a:t>处理掉换行符否则影响以后输入*</a:t>
            </a:r>
            <a:r>
              <a:rPr lang="en-US" altLang="zh-CN" sz="2000" b="1"/>
              <a:t>/</a:t>
            </a:r>
            <a:endParaRPr lang="en-US" altLang="zh-CN" sz="2400" b="1"/>
          </a:p>
          <a:p>
            <a:pPr marL="0" indent="0" algn="just" eaLnBrk="1" hangingPunct="1">
              <a:lnSpc>
                <a:spcPct val="90000"/>
              </a:lnSpc>
              <a:buFont typeface="Wingdings" pitchFamily="2" charset="2"/>
              <a:buNone/>
            </a:pPr>
            <a:r>
              <a:rPr lang="en-US" altLang="zh-CN" sz="2400" b="1"/>
              <a:t>  printf("s1 = %s\n", s1); </a:t>
            </a:r>
          </a:p>
          <a:p>
            <a:pPr marL="0" indent="0" algn="just" eaLnBrk="1" hangingPunct="1">
              <a:lnSpc>
                <a:spcPct val="90000"/>
              </a:lnSpc>
              <a:buFont typeface="Wingdings" pitchFamily="2" charset="2"/>
              <a:buNone/>
            </a:pPr>
            <a:r>
              <a:rPr lang="en-US" altLang="zh-CN" sz="2400" b="1"/>
              <a:t>  strcpy(s2, s1);  strncpy(s3, s1, 5);</a:t>
            </a:r>
          </a:p>
          <a:p>
            <a:pPr marL="0" indent="0" algn="just" eaLnBrk="1" hangingPunct="1">
              <a:lnSpc>
                <a:spcPct val="90000"/>
              </a:lnSpc>
              <a:buFont typeface="Wingdings" pitchFamily="2" charset="2"/>
              <a:buNone/>
            </a:pPr>
            <a:r>
              <a:rPr lang="en-US" altLang="zh-CN" sz="2400" b="1"/>
              <a:t>  printf("</a:t>
            </a:r>
            <a:r>
              <a:rPr lang="zh-CN" altLang="en-US" sz="2400" b="1"/>
              <a:t>从</a:t>
            </a:r>
            <a:r>
              <a:rPr lang="en-US" altLang="zh-CN" sz="2400" b="1"/>
              <a:t>s1</a:t>
            </a:r>
            <a:r>
              <a:rPr lang="zh-CN" altLang="en-US" sz="2400" b="1"/>
              <a:t>拷贝的</a:t>
            </a:r>
            <a:r>
              <a:rPr lang="en-US" altLang="zh-CN" sz="2400" b="1"/>
              <a:t>s2 = %s\n", s2);</a:t>
            </a:r>
          </a:p>
          <a:p>
            <a:pPr marL="0" indent="0" algn="just" eaLnBrk="1" hangingPunct="1">
              <a:lnSpc>
                <a:spcPct val="90000"/>
              </a:lnSpc>
              <a:buFont typeface="Wingdings" pitchFamily="2" charset="2"/>
              <a:buNone/>
            </a:pPr>
            <a:r>
              <a:rPr lang="en-US" altLang="zh-CN" sz="2400" b="1"/>
              <a:t>  printf("</a:t>
            </a:r>
            <a:r>
              <a:rPr lang="zh-CN" altLang="en-US" sz="2400" b="1"/>
              <a:t>从</a:t>
            </a:r>
            <a:r>
              <a:rPr lang="en-US" altLang="zh-CN" sz="2400" b="1"/>
              <a:t>s1</a:t>
            </a:r>
            <a:r>
              <a:rPr lang="zh-CN" altLang="en-US" sz="2400" b="1"/>
              <a:t>只拷贝</a:t>
            </a:r>
            <a:r>
              <a:rPr lang="en-US" altLang="zh-CN" sz="2400" b="1"/>
              <a:t>5</a:t>
            </a:r>
            <a:r>
              <a:rPr lang="zh-CN" altLang="en-US" sz="2400" b="1"/>
              <a:t>个字符的</a:t>
            </a:r>
            <a:r>
              <a:rPr lang="en-US" altLang="zh-CN" sz="2400" b="1"/>
              <a:t>s3 = %s\n", s3);</a:t>
            </a:r>
          </a:p>
          <a:p>
            <a:pPr marL="0" indent="0" algn="just" eaLnBrk="1" hangingPunct="1">
              <a:lnSpc>
                <a:spcPct val="90000"/>
              </a:lnSpc>
              <a:buFont typeface="Wingdings" pitchFamily="2" charset="2"/>
              <a:buNone/>
            </a:pPr>
            <a:r>
              <a:rPr lang="en-US" altLang="zh-CN" sz="2400" b="1"/>
              <a:t>  strcat(s1,s3);printf("</a:t>
            </a:r>
            <a:r>
              <a:rPr lang="zh-CN" altLang="en-US" sz="2400" b="1"/>
              <a:t>接上</a:t>
            </a:r>
            <a:r>
              <a:rPr lang="en-US" altLang="zh-CN" sz="2400" b="1"/>
              <a:t>s3</a:t>
            </a:r>
            <a:r>
              <a:rPr lang="zh-CN" altLang="en-US" sz="2400" b="1"/>
              <a:t>的</a:t>
            </a:r>
            <a:r>
              <a:rPr lang="en-US" altLang="zh-CN" sz="2400" b="1"/>
              <a:t>s1=%s\n", s1);</a:t>
            </a:r>
          </a:p>
          <a:p>
            <a:pPr marL="0" indent="0" algn="just" eaLnBrk="1" hangingPunct="1">
              <a:lnSpc>
                <a:spcPct val="90000"/>
              </a:lnSpc>
              <a:buFont typeface="Wingdings" pitchFamily="2" charset="2"/>
              <a:buNone/>
            </a:pPr>
            <a:r>
              <a:rPr lang="en-US" altLang="zh-CN" sz="2400" b="1"/>
              <a:t>  printf("</a:t>
            </a:r>
            <a:r>
              <a:rPr lang="zh-CN" altLang="en-US" sz="2400" b="1"/>
              <a:t>输入字符行到</a:t>
            </a:r>
            <a:r>
              <a:rPr lang="en-US" altLang="zh-CN" sz="2400" b="1"/>
              <a:t>s1\n");  gets(s1);</a:t>
            </a:r>
          </a:p>
          <a:p>
            <a:pPr marL="0" indent="0" algn="just" eaLnBrk="1" hangingPunct="1">
              <a:lnSpc>
                <a:spcPct val="90000"/>
              </a:lnSpc>
              <a:buFont typeface="Wingdings" pitchFamily="2" charset="2"/>
              <a:buNone/>
            </a:pPr>
            <a:r>
              <a:rPr lang="en-US" altLang="zh-CN" sz="2400" b="1"/>
              <a:t>  printf("s1 = %s\n", s1);</a:t>
            </a:r>
          </a:p>
          <a:p>
            <a:pPr marL="0" indent="0" algn="just" eaLnBrk="1" hangingPunct="1">
              <a:lnSpc>
                <a:spcPct val="90000"/>
              </a:lnSpc>
              <a:buFont typeface="Wingdings" pitchFamily="2" charset="2"/>
              <a:buNone/>
            </a:pPr>
            <a:r>
              <a:rPr lang="en-US" altLang="zh-CN" sz="2400" b="1"/>
              <a:t>  strcpy(s2, s1);   strncpy(s3, s1, 5);</a:t>
            </a:r>
          </a:p>
          <a:p>
            <a:pPr marL="0" indent="0" algn="just" eaLnBrk="1" hangingPunct="1">
              <a:lnSpc>
                <a:spcPct val="90000"/>
              </a:lnSpc>
              <a:buFont typeface="Wingdings" pitchFamily="2" charset="2"/>
              <a:buNone/>
            </a:pPr>
            <a:r>
              <a:rPr lang="en-US" altLang="zh-CN" sz="2400" b="1"/>
              <a:t>  puts(s2);puts(s3);strcat(s1,s3);puts(s1);</a:t>
            </a:r>
          </a:p>
          <a:p>
            <a:pPr marL="0" indent="0" algn="just" eaLnBrk="1" hangingPunct="1">
              <a:lnSpc>
                <a:spcPct val="90000"/>
              </a:lnSpc>
              <a:buFont typeface="Wingdings" pitchFamily="2" charset="2"/>
              <a:buNone/>
            </a:pPr>
            <a:r>
              <a:rPr lang="en-US" altLang="zh-CN" sz="2400" b="1"/>
              <a:t>}</a:t>
            </a:r>
          </a:p>
        </p:txBody>
      </p:sp>
      <p:sp>
        <p:nvSpPr>
          <p:cNvPr id="7" name="灯片编号占位符 5"/>
          <p:cNvSpPr>
            <a:spLocks noGrp="1"/>
          </p:cNvSpPr>
          <p:nvPr>
            <p:ph type="sldNum" sz="quarter" idx="12"/>
          </p:nvPr>
        </p:nvSpPr>
        <p:spPr/>
        <p:txBody>
          <a:bodyPr/>
          <a:lstStyle/>
          <a:p>
            <a:pPr>
              <a:defRPr/>
            </a:pPr>
            <a:fld id="{4454CB46-923E-46E9-BE1A-97107D6B7CB9}" type="slidenum">
              <a:rPr lang="en-US" altLang="zh-CN"/>
              <a:pPr>
                <a:defRPr/>
              </a:pPr>
              <a:t>101</a:t>
            </a:fld>
            <a:endParaRPr lang="en-US" altLang="zh-CN"/>
          </a:p>
        </p:txBody>
      </p:sp>
      <p:sp>
        <p:nvSpPr>
          <p:cNvPr id="98309" name="Line 4"/>
          <p:cNvSpPr>
            <a:spLocks noChangeShapeType="1"/>
          </p:cNvSpPr>
          <p:nvPr/>
        </p:nvSpPr>
        <p:spPr bwMode="auto">
          <a:xfrm>
            <a:off x="457200" y="5257800"/>
            <a:ext cx="4191000" cy="0"/>
          </a:xfrm>
          <a:prstGeom prst="line">
            <a:avLst/>
          </a:prstGeom>
          <a:noFill/>
          <a:ln w="9525">
            <a:noFill/>
            <a:round/>
            <a:headEnd/>
            <a:tailEnd/>
          </a:ln>
        </p:spPr>
        <p:txBody>
          <a:bodyPr wrap="none" lIns="92075" tIns="46038" rIns="92075" bIns="46038" anchor="ctr"/>
          <a:lstStyle/>
          <a:p>
            <a:endParaRPr lang="zh-CN" altLang="en-US"/>
          </a:p>
        </p:txBody>
      </p:sp>
    </p:spTree>
  </p:cSld>
  <p:clrMapOvr>
    <a:masterClrMapping/>
  </p:clrMapOvr>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5"/>
          <p:cNvSpPr>
            <a:spLocks noGrp="1" noChangeArrowheads="1"/>
          </p:cNvSpPr>
          <p:nvPr>
            <p:ph type="title"/>
          </p:nvPr>
        </p:nvSpPr>
        <p:spPr>
          <a:xfrm>
            <a:off x="395288" y="404813"/>
            <a:ext cx="8353425" cy="863600"/>
          </a:xfrm>
          <a:noFill/>
        </p:spPr>
        <p:txBody>
          <a:bodyPr lIns="92075" tIns="46038" rIns="92075" bIns="46038"/>
          <a:lstStyle/>
          <a:p>
            <a:pPr eaLnBrk="1" hangingPunct="1"/>
            <a:r>
              <a:rPr lang="en-US" altLang="zh-CN" sz="3600" dirty="0">
                <a:solidFill>
                  <a:schemeClr val="tx1"/>
                </a:solidFill>
                <a:latin typeface="黑体" pitchFamily="2" charset="-122"/>
                <a:ea typeface="黑体" pitchFamily="2" charset="-122"/>
              </a:rPr>
              <a:t>【</a:t>
            </a:r>
            <a:r>
              <a:rPr lang="zh-CN" altLang="en-US" sz="3600" dirty="0">
                <a:solidFill>
                  <a:schemeClr val="tx1"/>
                </a:solidFill>
                <a:latin typeface="黑体" pitchFamily="2" charset="-122"/>
                <a:ea typeface="黑体" pitchFamily="2" charset="-122"/>
              </a:rPr>
              <a:t>例</a:t>
            </a:r>
            <a:r>
              <a:rPr lang="en-US" altLang="zh-CN" sz="3600" dirty="0">
                <a:solidFill>
                  <a:schemeClr val="tx1"/>
                </a:solidFill>
                <a:latin typeface="黑体" pitchFamily="2" charset="-122"/>
                <a:ea typeface="黑体" pitchFamily="2" charset="-122"/>
              </a:rPr>
              <a:t>】</a:t>
            </a:r>
            <a:r>
              <a:rPr lang="zh-CN" altLang="en-US" sz="3600" dirty="0">
                <a:solidFill>
                  <a:schemeClr val="tx1"/>
                </a:solidFill>
                <a:latin typeface="黑体" pitchFamily="2" charset="-122"/>
                <a:ea typeface="黑体" pitchFamily="2" charset="-122"/>
              </a:rPr>
              <a:t>统计各英文字母出现的次数</a:t>
            </a:r>
          </a:p>
        </p:txBody>
      </p:sp>
      <p:sp>
        <p:nvSpPr>
          <p:cNvPr id="99331" name="Rectangle 2"/>
          <p:cNvSpPr>
            <a:spLocks noGrp="1" noChangeArrowheads="1"/>
          </p:cNvSpPr>
          <p:nvPr>
            <p:ph type="body" sz="half" idx="1"/>
          </p:nvPr>
        </p:nvSpPr>
        <p:spPr>
          <a:xfrm>
            <a:off x="611188" y="1528763"/>
            <a:ext cx="7993062" cy="4852987"/>
          </a:xfrm>
        </p:spPr>
        <p:txBody>
          <a:bodyPr/>
          <a:lstStyle/>
          <a:p>
            <a:pPr marL="0" indent="0" eaLnBrk="1" hangingPunct="1">
              <a:buFont typeface="Wingdings" pitchFamily="2" charset="2"/>
              <a:buNone/>
            </a:pPr>
            <a:r>
              <a:rPr lang="en-US" altLang="zh-CN" sz="2400" b="1"/>
              <a:t>【</a:t>
            </a:r>
            <a:r>
              <a:rPr lang="zh-CN" altLang="en-US" sz="2400" b="1"/>
              <a:t>解题思路</a:t>
            </a:r>
            <a:r>
              <a:rPr lang="en-US" altLang="zh-CN" sz="2400" b="1"/>
              <a:t>】</a:t>
            </a:r>
          </a:p>
          <a:p>
            <a:pPr marL="0" indent="0" eaLnBrk="1" hangingPunct="1">
              <a:buFont typeface="Wingdings" pitchFamily="2" charset="2"/>
              <a:buNone/>
            </a:pPr>
            <a:r>
              <a:rPr lang="zh-CN" altLang="en-US" sz="2800" b="1"/>
              <a:t>程序需要一个存储字符行的数组，还需要</a:t>
            </a:r>
            <a:r>
              <a:rPr lang="en-US" altLang="zh-CN" sz="2800" b="1"/>
              <a:t>52</a:t>
            </a:r>
            <a:r>
              <a:rPr lang="zh-CN" altLang="en-US" sz="2800" b="1"/>
              <a:t>个英文字母计数器，分别统计大小写共</a:t>
            </a:r>
            <a:r>
              <a:rPr lang="en-US" altLang="zh-CN" sz="2800" b="1"/>
              <a:t>52</a:t>
            </a:r>
            <a:r>
              <a:rPr lang="zh-CN" altLang="en-US" sz="2800" b="1"/>
              <a:t>个英文字母的出现次数。</a:t>
            </a:r>
          </a:p>
          <a:p>
            <a:pPr marL="0" indent="0" eaLnBrk="1" hangingPunct="1">
              <a:buFont typeface="Wingdings" pitchFamily="2" charset="2"/>
              <a:buNone/>
            </a:pPr>
            <a:r>
              <a:rPr lang="zh-CN" altLang="en-US" sz="2800" b="1"/>
              <a:t>程序顺序扫视输入字符行中的字符，直至遇字符串结束符结束。当程序发现当前字符是英文字母时，对应英文字母的计数器增</a:t>
            </a:r>
            <a:r>
              <a:rPr lang="en-US" altLang="zh-CN" sz="2800" b="1"/>
              <a:t>1</a:t>
            </a:r>
            <a:r>
              <a:rPr lang="zh-CN" altLang="en-US" sz="2800" b="1"/>
              <a:t>，否则掠过当前字符。程序用一个数组</a:t>
            </a:r>
            <a:r>
              <a:rPr lang="en-US" altLang="zh-CN" sz="2800" b="1"/>
              <a:t>count[52]</a:t>
            </a:r>
            <a:r>
              <a:rPr lang="zh-CN" altLang="en-US" sz="2800" b="1"/>
              <a:t>实现</a:t>
            </a:r>
            <a:r>
              <a:rPr lang="en-US" altLang="zh-CN" sz="2800" b="1"/>
              <a:t>52</a:t>
            </a:r>
            <a:r>
              <a:rPr lang="zh-CN" altLang="en-US" sz="2800" b="1"/>
              <a:t>个计数器，并设大写英文字符顺序对应前</a:t>
            </a:r>
            <a:r>
              <a:rPr lang="en-US" altLang="zh-CN" sz="2800" b="1"/>
              <a:t>26</a:t>
            </a:r>
            <a:r>
              <a:rPr lang="zh-CN" altLang="en-US" sz="2800" b="1"/>
              <a:t>个计数器</a:t>
            </a:r>
            <a:r>
              <a:rPr lang="en-US" altLang="zh-CN" sz="2800" b="1"/>
              <a:t>(count[0]-count[25])</a:t>
            </a:r>
            <a:r>
              <a:rPr lang="zh-CN" altLang="en-US" sz="2800" b="1"/>
              <a:t>，小写英文字符顺序对应后</a:t>
            </a:r>
            <a:r>
              <a:rPr lang="en-US" altLang="zh-CN" sz="2800" b="1"/>
              <a:t>26</a:t>
            </a:r>
            <a:r>
              <a:rPr lang="zh-CN" altLang="en-US" sz="2800" b="1"/>
              <a:t>个计数器</a:t>
            </a:r>
            <a:r>
              <a:rPr lang="en-US" altLang="zh-CN" sz="2800" b="1"/>
              <a:t>(count[26]-count[51])</a:t>
            </a:r>
            <a:r>
              <a:rPr lang="zh-CN" altLang="en-US" sz="2800" b="1"/>
              <a:t>。</a:t>
            </a:r>
            <a:r>
              <a:rPr lang="zh-CN" altLang="en-US" sz="2800"/>
              <a:t> </a:t>
            </a:r>
          </a:p>
        </p:txBody>
      </p:sp>
      <p:sp>
        <p:nvSpPr>
          <p:cNvPr id="7" name="灯片编号占位符 6"/>
          <p:cNvSpPr>
            <a:spLocks noGrp="1"/>
          </p:cNvSpPr>
          <p:nvPr>
            <p:ph type="sldNum" sz="quarter" idx="12"/>
          </p:nvPr>
        </p:nvSpPr>
        <p:spPr/>
        <p:txBody>
          <a:bodyPr/>
          <a:lstStyle/>
          <a:p>
            <a:pPr>
              <a:defRPr/>
            </a:pPr>
            <a:fld id="{1B06053D-B956-47D7-95FA-4EB75FA8E138}" type="slidenum">
              <a:rPr lang="en-US" altLang="zh-CN"/>
              <a:pPr>
                <a:defRPr/>
              </a:pPr>
              <a:t>102</a:t>
            </a:fld>
            <a:endParaRPr lang="en-US" altLang="zh-CN"/>
          </a:p>
        </p:txBody>
      </p:sp>
      <p:sp>
        <p:nvSpPr>
          <p:cNvPr id="99333" name="Line 4"/>
          <p:cNvSpPr>
            <a:spLocks noChangeShapeType="1"/>
          </p:cNvSpPr>
          <p:nvPr/>
        </p:nvSpPr>
        <p:spPr bwMode="auto">
          <a:xfrm>
            <a:off x="457200" y="5257800"/>
            <a:ext cx="4191000" cy="0"/>
          </a:xfrm>
          <a:prstGeom prst="line">
            <a:avLst/>
          </a:prstGeom>
          <a:noFill/>
          <a:ln w="9525">
            <a:noFill/>
            <a:round/>
            <a:headEnd/>
            <a:tailEnd/>
          </a:ln>
        </p:spPr>
        <p:txBody>
          <a:bodyPr wrap="none" lIns="92075" tIns="46038" rIns="92075" bIns="46038" anchor="ctr"/>
          <a:lstStyle/>
          <a:p>
            <a:endParaRPr lang="zh-CN" altLang="en-US"/>
          </a:p>
        </p:txBody>
      </p:sp>
    </p:spTree>
  </p:cSld>
  <p:clrMapOvr>
    <a:masterClrMapping/>
  </p:clrMapOvr>
  <p:transition/>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9891" name="Rectangle 3"/>
          <p:cNvSpPr>
            <a:spLocks noGrp="1" noChangeArrowheads="1"/>
          </p:cNvSpPr>
          <p:nvPr>
            <p:ph type="body" sz="half" idx="1"/>
          </p:nvPr>
        </p:nvSpPr>
        <p:spPr>
          <a:xfrm>
            <a:off x="468313" y="476250"/>
            <a:ext cx="8207375" cy="6381750"/>
          </a:xfrm>
        </p:spPr>
        <p:txBody>
          <a:bodyPr>
            <a:normAutofit/>
          </a:bodyPr>
          <a:lstStyle/>
          <a:p>
            <a:pPr marL="0" indent="0" algn="just" eaLnBrk="1" fontAlgn="auto" hangingPunct="1">
              <a:lnSpc>
                <a:spcPct val="85000"/>
              </a:lnSpc>
              <a:spcAft>
                <a:spcPts val="0"/>
              </a:spcAft>
              <a:buClr>
                <a:schemeClr val="accent3"/>
              </a:buClr>
              <a:buFont typeface="Wingdings" pitchFamily="2" charset="2"/>
              <a:buNone/>
              <a:defRPr/>
            </a:pPr>
            <a:r>
              <a:rPr lang="en-US" altLang="zh-CN" sz="2400" b="1" dirty="0"/>
              <a:t>#include  &lt;</a:t>
            </a:r>
            <a:r>
              <a:rPr lang="en-US" altLang="zh-CN" sz="2400" b="1" dirty="0" err="1"/>
              <a:t>stdio.h</a:t>
            </a:r>
            <a:r>
              <a:rPr lang="en-US" altLang="zh-CN" sz="2400" b="1" dirty="0"/>
              <a:t>&gt;</a:t>
            </a:r>
          </a:p>
          <a:p>
            <a:pPr marL="0" indent="0" algn="just" eaLnBrk="1" fontAlgn="auto" hangingPunct="1">
              <a:lnSpc>
                <a:spcPct val="85000"/>
              </a:lnSpc>
              <a:spcAft>
                <a:spcPts val="0"/>
              </a:spcAft>
              <a:buClr>
                <a:schemeClr val="accent3"/>
              </a:buClr>
              <a:buFont typeface="Wingdings" pitchFamily="2" charset="2"/>
              <a:buNone/>
              <a:defRPr/>
            </a:pPr>
            <a:r>
              <a:rPr lang="en-US" altLang="zh-CN" sz="2400" b="1" dirty="0"/>
              <a:t>void main()</a:t>
            </a:r>
          </a:p>
          <a:p>
            <a:pPr marL="0" indent="0" algn="just" eaLnBrk="1" fontAlgn="auto" hangingPunct="1">
              <a:lnSpc>
                <a:spcPct val="85000"/>
              </a:lnSpc>
              <a:spcAft>
                <a:spcPts val="0"/>
              </a:spcAft>
              <a:buClr>
                <a:schemeClr val="accent3"/>
              </a:buClr>
              <a:buFont typeface="Wingdings" pitchFamily="2" charset="2"/>
              <a:buNone/>
              <a:defRPr/>
            </a:pPr>
            <a:r>
              <a:rPr lang="en-US" altLang="zh-CN" sz="2400" b="1" dirty="0"/>
              <a:t>{  char </a:t>
            </a:r>
            <a:r>
              <a:rPr lang="en-US" altLang="zh-CN" sz="2400" b="1" dirty="0" err="1"/>
              <a:t>buf</a:t>
            </a:r>
            <a:r>
              <a:rPr lang="en-US" altLang="zh-CN" sz="2400" b="1" dirty="0"/>
              <a:t>[120];    </a:t>
            </a:r>
            <a:r>
              <a:rPr lang="en-US" altLang="zh-CN" sz="2400" b="1" dirty="0" err="1"/>
              <a:t>int</a:t>
            </a:r>
            <a:r>
              <a:rPr lang="en-US" altLang="zh-CN" sz="2400" b="1" dirty="0"/>
              <a:t>  </a:t>
            </a:r>
            <a:r>
              <a:rPr lang="en-US" altLang="zh-CN" sz="2400" b="1" dirty="0" err="1"/>
              <a:t>i</a:t>
            </a:r>
            <a:r>
              <a:rPr lang="en-US" altLang="zh-CN" sz="2400" b="1" dirty="0"/>
              <a:t>, count[52]; </a:t>
            </a:r>
          </a:p>
          <a:p>
            <a:pPr marL="0" indent="0" eaLnBrk="1" fontAlgn="auto" hangingPunct="1">
              <a:lnSpc>
                <a:spcPct val="85000"/>
              </a:lnSpc>
              <a:spcAft>
                <a:spcPts val="0"/>
              </a:spcAft>
              <a:buClr>
                <a:schemeClr val="accent3"/>
              </a:buClr>
              <a:buFont typeface="Wingdings" pitchFamily="2" charset="2"/>
              <a:buNone/>
              <a:defRPr/>
            </a:pPr>
            <a:r>
              <a:rPr lang="en-US" altLang="zh-CN" sz="2400" b="1" dirty="0"/>
              <a:t>  </a:t>
            </a:r>
            <a:r>
              <a:rPr lang="en-US" altLang="zh-CN" sz="2400" b="1" dirty="0" err="1"/>
              <a:t>printf</a:t>
            </a:r>
            <a:r>
              <a:rPr lang="en-US" altLang="zh-CN" sz="2400" b="1" dirty="0"/>
              <a:t>("Enter letter line.\n"); gets(</a:t>
            </a:r>
            <a:r>
              <a:rPr lang="en-US" altLang="zh-CN" sz="2400" b="1" dirty="0" err="1"/>
              <a:t>buf</a:t>
            </a:r>
            <a:r>
              <a:rPr lang="en-US" altLang="zh-CN" sz="2400" b="1" dirty="0"/>
              <a:t>);</a:t>
            </a:r>
          </a:p>
          <a:p>
            <a:pPr marL="0" indent="0" eaLnBrk="1" fontAlgn="auto" hangingPunct="1">
              <a:lnSpc>
                <a:spcPct val="85000"/>
              </a:lnSpc>
              <a:spcAft>
                <a:spcPts val="0"/>
              </a:spcAft>
              <a:buClr>
                <a:schemeClr val="accent3"/>
              </a:buClr>
              <a:buFont typeface="Wingdings" pitchFamily="2" charset="2"/>
              <a:buNone/>
              <a:defRPr/>
            </a:pPr>
            <a:r>
              <a:rPr lang="en-US" altLang="zh-CN" sz="2400" b="1" dirty="0">
                <a:solidFill>
                  <a:srgbClr val="FF0000"/>
                </a:solidFill>
              </a:rPr>
              <a:t>  for(</a:t>
            </a:r>
            <a:r>
              <a:rPr lang="en-US" altLang="zh-CN" sz="2400" b="1" dirty="0" err="1">
                <a:solidFill>
                  <a:srgbClr val="FF0000"/>
                </a:solidFill>
              </a:rPr>
              <a:t>i</a:t>
            </a:r>
            <a:r>
              <a:rPr lang="en-US" altLang="zh-CN" sz="2400" b="1" dirty="0">
                <a:solidFill>
                  <a:srgbClr val="FF0000"/>
                </a:solidFill>
              </a:rPr>
              <a:t> = 0; </a:t>
            </a:r>
            <a:r>
              <a:rPr lang="en-US" altLang="zh-CN" sz="2400" b="1" dirty="0" err="1">
                <a:solidFill>
                  <a:srgbClr val="FF0000"/>
                </a:solidFill>
              </a:rPr>
              <a:t>i</a:t>
            </a:r>
            <a:r>
              <a:rPr lang="en-US" altLang="zh-CN" sz="2400" b="1" dirty="0">
                <a:solidFill>
                  <a:srgbClr val="FF0000"/>
                </a:solidFill>
              </a:rPr>
              <a:t> &lt; 52; </a:t>
            </a:r>
            <a:r>
              <a:rPr lang="en-US" altLang="zh-CN" sz="2400" b="1" dirty="0" err="1">
                <a:solidFill>
                  <a:srgbClr val="FF0000"/>
                </a:solidFill>
              </a:rPr>
              <a:t>i</a:t>
            </a:r>
            <a:r>
              <a:rPr lang="en-US" altLang="zh-CN" sz="2400" b="1" dirty="0">
                <a:solidFill>
                  <a:srgbClr val="FF0000"/>
                </a:solidFill>
              </a:rPr>
              <a:t>++)  count[</a:t>
            </a:r>
            <a:r>
              <a:rPr lang="en-US" altLang="zh-CN" sz="2400" b="1" dirty="0" err="1">
                <a:solidFill>
                  <a:srgbClr val="FF0000"/>
                </a:solidFill>
              </a:rPr>
              <a:t>i</a:t>
            </a:r>
            <a:r>
              <a:rPr lang="en-US" altLang="zh-CN" sz="2400" b="1" dirty="0">
                <a:solidFill>
                  <a:srgbClr val="FF0000"/>
                </a:solidFill>
              </a:rPr>
              <a:t>] = 0; </a:t>
            </a:r>
            <a:r>
              <a:rPr lang="en-US" altLang="zh-CN" sz="2400" b="1" dirty="0">
                <a:solidFill>
                  <a:srgbClr val="FF0000"/>
                </a:solidFill>
                <a:effectLst>
                  <a:outerShdw blurRad="38100" dist="38100" dir="2700000" algn="tl">
                    <a:srgbClr val="C0C0C0"/>
                  </a:outerShdw>
                </a:effectLst>
              </a:rPr>
              <a:t>/* </a:t>
            </a:r>
            <a:r>
              <a:rPr lang="zh-CN" altLang="en-US" sz="2400" b="1" dirty="0">
                <a:solidFill>
                  <a:srgbClr val="FF0000"/>
                </a:solidFill>
                <a:effectLst>
                  <a:outerShdw blurRad="38100" dist="38100" dir="2700000" algn="tl">
                    <a:srgbClr val="C0C0C0"/>
                  </a:outerShdw>
                </a:effectLst>
              </a:rPr>
              <a:t>计数器赋初值 *</a:t>
            </a:r>
            <a:r>
              <a:rPr lang="en-US" altLang="zh-CN" sz="2400" b="1" dirty="0">
                <a:solidFill>
                  <a:srgbClr val="FF0000"/>
                </a:solidFill>
                <a:effectLst>
                  <a:outerShdw blurRad="38100" dist="38100" dir="2700000" algn="tl">
                    <a:srgbClr val="C0C0C0"/>
                  </a:outerShdw>
                </a:effectLst>
              </a:rPr>
              <a:t>/</a:t>
            </a:r>
          </a:p>
          <a:p>
            <a:pPr marL="0" indent="0" eaLnBrk="1" fontAlgn="auto" hangingPunct="1">
              <a:lnSpc>
                <a:spcPct val="85000"/>
              </a:lnSpc>
              <a:spcAft>
                <a:spcPts val="0"/>
              </a:spcAft>
              <a:buClr>
                <a:schemeClr val="accent3"/>
              </a:buClr>
              <a:buFont typeface="Wingdings" pitchFamily="2" charset="2"/>
              <a:buNone/>
              <a:defRPr/>
            </a:pPr>
            <a:r>
              <a:rPr lang="en-US" altLang="zh-CN" sz="2400" b="1" dirty="0"/>
              <a:t>  for(</a:t>
            </a:r>
            <a:r>
              <a:rPr lang="en-US" altLang="zh-CN" sz="2400" b="1" dirty="0" err="1"/>
              <a:t>i</a:t>
            </a:r>
            <a:r>
              <a:rPr lang="en-US" altLang="zh-CN" sz="2400" b="1" dirty="0"/>
              <a:t> = 0; </a:t>
            </a:r>
            <a:r>
              <a:rPr lang="en-US" altLang="zh-CN" sz="2400" b="1" dirty="0" err="1"/>
              <a:t>buf</a:t>
            </a:r>
            <a:r>
              <a:rPr lang="en-US" altLang="zh-CN" sz="2400" b="1" dirty="0"/>
              <a:t>[</a:t>
            </a:r>
            <a:r>
              <a:rPr lang="en-US" altLang="zh-CN" sz="2400" b="1" dirty="0" err="1"/>
              <a:t>i</a:t>
            </a:r>
            <a:r>
              <a:rPr lang="en-US" altLang="zh-CN" sz="2400" b="1" dirty="0"/>
              <a:t>] != '\0'; </a:t>
            </a:r>
            <a:r>
              <a:rPr lang="en-US" altLang="zh-CN" sz="2400" b="1" dirty="0" err="1"/>
              <a:t>i</a:t>
            </a:r>
            <a:r>
              <a:rPr lang="en-US" altLang="zh-CN" sz="2400" b="1" dirty="0"/>
              <a:t>++)</a:t>
            </a:r>
          </a:p>
          <a:p>
            <a:pPr marL="0" indent="0" eaLnBrk="1" fontAlgn="auto" hangingPunct="1">
              <a:lnSpc>
                <a:spcPct val="85000"/>
              </a:lnSpc>
              <a:spcAft>
                <a:spcPts val="0"/>
              </a:spcAft>
              <a:buClr>
                <a:schemeClr val="accent3"/>
              </a:buClr>
              <a:buFont typeface="Wingdings" pitchFamily="2" charset="2"/>
              <a:buNone/>
              <a:defRPr/>
            </a:pPr>
            <a:r>
              <a:rPr lang="en-US" altLang="zh-CN" sz="2400" b="1" dirty="0"/>
              <a:t>     if (</a:t>
            </a:r>
            <a:r>
              <a:rPr lang="en-US" altLang="zh-CN" sz="2400" b="1" dirty="0" err="1"/>
              <a:t>buf</a:t>
            </a:r>
            <a:r>
              <a:rPr lang="en-US" altLang="zh-CN" sz="2400" b="1" dirty="0"/>
              <a:t>[</a:t>
            </a:r>
            <a:r>
              <a:rPr lang="en-US" altLang="zh-CN" sz="2400" b="1" dirty="0" err="1"/>
              <a:t>i</a:t>
            </a:r>
            <a:r>
              <a:rPr lang="en-US" altLang="zh-CN" sz="2400" b="1" dirty="0"/>
              <a:t>] &gt;= 'A' &amp;&amp; </a:t>
            </a:r>
            <a:r>
              <a:rPr lang="en-US" altLang="zh-CN" sz="2400" b="1" dirty="0" err="1"/>
              <a:t>buf</a:t>
            </a:r>
            <a:r>
              <a:rPr lang="en-US" altLang="zh-CN" sz="2400" b="1" dirty="0"/>
              <a:t>[</a:t>
            </a:r>
            <a:r>
              <a:rPr lang="en-US" altLang="zh-CN" sz="2400" b="1" dirty="0" err="1"/>
              <a:t>i</a:t>
            </a:r>
            <a:r>
              <a:rPr lang="en-US" altLang="zh-CN" sz="2400" b="1" dirty="0"/>
              <a:t>] &lt;= 'Z') count[</a:t>
            </a:r>
            <a:r>
              <a:rPr lang="en-US" altLang="zh-CN" sz="2400" b="1" dirty="0" err="1"/>
              <a:t>buf</a:t>
            </a:r>
            <a:r>
              <a:rPr lang="en-US" altLang="zh-CN" sz="2400" b="1" dirty="0"/>
              <a:t>[</a:t>
            </a:r>
            <a:r>
              <a:rPr lang="en-US" altLang="zh-CN" sz="2400" b="1" dirty="0" err="1"/>
              <a:t>i</a:t>
            </a:r>
            <a:r>
              <a:rPr lang="en-US" altLang="zh-CN" sz="2400" b="1" dirty="0"/>
              <a:t>] – 'A']++;</a:t>
            </a:r>
          </a:p>
          <a:p>
            <a:pPr marL="0" indent="0" eaLnBrk="1" fontAlgn="auto" hangingPunct="1">
              <a:lnSpc>
                <a:spcPct val="85000"/>
              </a:lnSpc>
              <a:spcAft>
                <a:spcPts val="0"/>
              </a:spcAft>
              <a:buClr>
                <a:schemeClr val="accent3"/>
              </a:buClr>
              <a:buFont typeface="Wingdings" pitchFamily="2" charset="2"/>
              <a:buNone/>
              <a:defRPr/>
            </a:pPr>
            <a:r>
              <a:rPr lang="en-US" altLang="zh-CN" sz="2400" b="1" dirty="0"/>
              <a:t>     else if (</a:t>
            </a:r>
            <a:r>
              <a:rPr lang="en-US" altLang="zh-CN" sz="2400" b="1" dirty="0" err="1"/>
              <a:t>buf</a:t>
            </a:r>
            <a:r>
              <a:rPr lang="en-US" altLang="zh-CN" sz="2400" b="1" dirty="0"/>
              <a:t>[</a:t>
            </a:r>
            <a:r>
              <a:rPr lang="en-US" altLang="zh-CN" sz="2400" b="1" dirty="0" err="1"/>
              <a:t>i</a:t>
            </a:r>
            <a:r>
              <a:rPr lang="en-US" altLang="zh-CN" sz="2400" b="1" dirty="0"/>
              <a:t>] &gt;= 'a' &amp;&amp; </a:t>
            </a:r>
            <a:r>
              <a:rPr lang="en-US" altLang="zh-CN" sz="2400" b="1" dirty="0" err="1"/>
              <a:t>buf</a:t>
            </a:r>
            <a:r>
              <a:rPr lang="en-US" altLang="zh-CN" sz="2400" b="1" dirty="0"/>
              <a:t>[</a:t>
            </a:r>
            <a:r>
              <a:rPr lang="en-US" altLang="zh-CN" sz="2400" b="1" dirty="0" err="1"/>
              <a:t>i</a:t>
            </a:r>
            <a:r>
              <a:rPr lang="en-US" altLang="zh-CN" sz="2400" b="1" dirty="0"/>
              <a:t>] &lt;= 'z')</a:t>
            </a:r>
          </a:p>
          <a:p>
            <a:pPr marL="0" indent="0" eaLnBrk="1" fontAlgn="auto" hangingPunct="1">
              <a:lnSpc>
                <a:spcPct val="85000"/>
              </a:lnSpc>
              <a:spcAft>
                <a:spcPts val="0"/>
              </a:spcAft>
              <a:buClr>
                <a:schemeClr val="accent3"/>
              </a:buClr>
              <a:buFont typeface="Wingdings" pitchFamily="2" charset="2"/>
              <a:buNone/>
              <a:defRPr/>
            </a:pPr>
            <a:r>
              <a:rPr lang="en-US" altLang="zh-CN" sz="2400" b="1" dirty="0"/>
              <a:t>               count[</a:t>
            </a:r>
            <a:r>
              <a:rPr lang="en-US" altLang="zh-CN" sz="2400" b="1" dirty="0" err="1"/>
              <a:t>buf</a:t>
            </a:r>
            <a:r>
              <a:rPr lang="en-US" altLang="zh-CN" sz="2400" b="1" dirty="0"/>
              <a:t>[</a:t>
            </a:r>
            <a:r>
              <a:rPr lang="en-US" altLang="zh-CN" sz="2400" b="1" dirty="0" err="1"/>
              <a:t>i</a:t>
            </a:r>
            <a:r>
              <a:rPr lang="en-US" altLang="zh-CN" sz="2400" b="1" dirty="0"/>
              <a:t>] – 'a' + 26]++;</a:t>
            </a:r>
          </a:p>
          <a:p>
            <a:pPr marL="0" indent="0" eaLnBrk="1" fontAlgn="auto" hangingPunct="1">
              <a:lnSpc>
                <a:spcPct val="85000"/>
              </a:lnSpc>
              <a:spcAft>
                <a:spcPts val="0"/>
              </a:spcAft>
              <a:buClr>
                <a:schemeClr val="accent3"/>
              </a:buClr>
              <a:buFont typeface="Wingdings" pitchFamily="2" charset="2"/>
              <a:buNone/>
              <a:defRPr/>
            </a:pPr>
            <a:r>
              <a:rPr lang="en-US" altLang="zh-CN" sz="2400" b="1" dirty="0"/>
              <a:t>  for(</a:t>
            </a:r>
            <a:r>
              <a:rPr lang="en-US" altLang="zh-CN" sz="2400" b="1" dirty="0" err="1"/>
              <a:t>i</a:t>
            </a:r>
            <a:r>
              <a:rPr lang="en-US" altLang="zh-CN" sz="2400" b="1" dirty="0"/>
              <a:t> = 0; </a:t>
            </a:r>
            <a:r>
              <a:rPr lang="en-US" altLang="zh-CN" sz="2400" b="1" dirty="0" err="1"/>
              <a:t>i</a:t>
            </a:r>
            <a:r>
              <a:rPr lang="en-US" altLang="zh-CN" sz="2400" b="1" dirty="0"/>
              <a:t> &lt; 52; </a:t>
            </a:r>
            <a:r>
              <a:rPr lang="en-US" altLang="zh-CN" sz="2400" b="1" dirty="0" err="1"/>
              <a:t>i</a:t>
            </a:r>
            <a:r>
              <a:rPr lang="en-US" altLang="zh-CN" sz="2400" b="1" dirty="0"/>
              <a:t>++)</a:t>
            </a:r>
          </a:p>
          <a:p>
            <a:pPr marL="0" indent="0" eaLnBrk="1" fontAlgn="auto" hangingPunct="1">
              <a:lnSpc>
                <a:spcPct val="85000"/>
              </a:lnSpc>
              <a:spcAft>
                <a:spcPts val="0"/>
              </a:spcAft>
              <a:buClr>
                <a:schemeClr val="accent3"/>
              </a:buClr>
              <a:buFont typeface="Wingdings" pitchFamily="2" charset="2"/>
              <a:buNone/>
              <a:defRPr/>
            </a:pPr>
            <a:r>
              <a:rPr lang="en-US" altLang="zh-CN" sz="2400" b="1" dirty="0"/>
              <a:t>     if (count[</a:t>
            </a:r>
            <a:r>
              <a:rPr lang="en-US" altLang="zh-CN" sz="2400" b="1" dirty="0" err="1"/>
              <a:t>i</a:t>
            </a:r>
            <a:r>
              <a:rPr lang="en-US" altLang="zh-CN" sz="2400" b="1" dirty="0"/>
              <a:t>])    </a:t>
            </a:r>
            <a:r>
              <a:rPr lang="en-US" altLang="zh-CN" sz="2400" b="1" dirty="0">
                <a:effectLst>
                  <a:outerShdw blurRad="38100" dist="38100" dir="2700000" algn="tl">
                    <a:srgbClr val="C0C0C0"/>
                  </a:outerShdw>
                </a:effectLst>
              </a:rPr>
              <a:t>/* </a:t>
            </a:r>
            <a:r>
              <a:rPr lang="zh-CN" altLang="en-US" sz="2400" b="1" dirty="0">
                <a:effectLst>
                  <a:outerShdw blurRad="38100" dist="38100" dir="2700000" algn="tl">
                    <a:srgbClr val="C0C0C0"/>
                  </a:outerShdw>
                </a:effectLst>
              </a:rPr>
              <a:t>未出现的字母不输出 *</a:t>
            </a:r>
            <a:r>
              <a:rPr lang="en-US" altLang="zh-CN" sz="2400" b="1" dirty="0">
                <a:effectLst>
                  <a:outerShdw blurRad="38100" dist="38100" dir="2700000" algn="tl">
                    <a:srgbClr val="C0C0C0"/>
                  </a:outerShdw>
                </a:effectLst>
              </a:rPr>
              <a:t>/</a:t>
            </a:r>
          </a:p>
          <a:p>
            <a:pPr marL="0" indent="0" eaLnBrk="1" fontAlgn="auto" hangingPunct="1">
              <a:lnSpc>
                <a:spcPct val="85000"/>
              </a:lnSpc>
              <a:spcAft>
                <a:spcPts val="0"/>
              </a:spcAft>
              <a:buClr>
                <a:schemeClr val="accent3"/>
              </a:buClr>
              <a:buFont typeface="Wingdings" pitchFamily="2" charset="2"/>
              <a:buNone/>
              <a:defRPr/>
            </a:pPr>
            <a:r>
              <a:rPr lang="en-US" altLang="zh-CN" sz="2400" b="1" dirty="0"/>
              <a:t>        </a:t>
            </a:r>
            <a:r>
              <a:rPr lang="en-US" altLang="zh-CN" sz="2400" b="1" dirty="0" err="1"/>
              <a:t>printf</a:t>
            </a:r>
            <a:r>
              <a:rPr lang="en-US" altLang="zh-CN" sz="2400" b="1" dirty="0"/>
              <a:t>("%c(%d)\t", </a:t>
            </a:r>
            <a:r>
              <a:rPr lang="en-US" altLang="zh-CN" sz="2400" b="1" dirty="0" err="1"/>
              <a:t>i</a:t>
            </a:r>
            <a:r>
              <a:rPr lang="en-US" altLang="zh-CN" sz="2400" b="1" dirty="0"/>
              <a:t> &lt; 26 ? </a:t>
            </a:r>
            <a:r>
              <a:rPr lang="en-US" altLang="zh-CN" sz="2400" b="1" dirty="0" err="1"/>
              <a:t>i+'A</a:t>
            </a:r>
            <a:r>
              <a:rPr lang="en-US" altLang="zh-CN" sz="2400" b="1" dirty="0"/>
              <a:t>' : </a:t>
            </a:r>
          </a:p>
          <a:p>
            <a:pPr marL="0" indent="0" eaLnBrk="1" fontAlgn="auto" hangingPunct="1">
              <a:lnSpc>
                <a:spcPct val="85000"/>
              </a:lnSpc>
              <a:spcAft>
                <a:spcPts val="0"/>
              </a:spcAft>
              <a:buClr>
                <a:schemeClr val="accent3"/>
              </a:buClr>
              <a:buFont typeface="Wingdings" pitchFamily="2" charset="2"/>
              <a:buNone/>
              <a:defRPr/>
            </a:pPr>
            <a:r>
              <a:rPr lang="en-US" altLang="zh-CN" sz="2400" b="1" dirty="0"/>
              <a:t>             i-26+'a', count[</a:t>
            </a:r>
            <a:r>
              <a:rPr lang="en-US" altLang="zh-CN" sz="2400" b="1" dirty="0" err="1"/>
              <a:t>i</a:t>
            </a:r>
            <a:r>
              <a:rPr lang="en-US" altLang="zh-CN" sz="2400" b="1" dirty="0"/>
              <a:t>]);</a:t>
            </a:r>
          </a:p>
          <a:p>
            <a:pPr marL="0" indent="0" eaLnBrk="1" fontAlgn="auto" hangingPunct="1">
              <a:lnSpc>
                <a:spcPct val="85000"/>
              </a:lnSpc>
              <a:spcAft>
                <a:spcPts val="0"/>
              </a:spcAft>
              <a:buClr>
                <a:schemeClr val="accent3"/>
              </a:buClr>
              <a:buFont typeface="Wingdings" pitchFamily="2" charset="2"/>
              <a:buNone/>
              <a:defRPr/>
            </a:pPr>
            <a:r>
              <a:rPr lang="en-US" altLang="zh-CN" sz="2400" b="1" dirty="0"/>
              <a:t>  </a:t>
            </a:r>
            <a:r>
              <a:rPr lang="en-US" altLang="zh-CN" sz="2400" b="1" dirty="0" err="1"/>
              <a:t>printf</a:t>
            </a:r>
            <a:r>
              <a:rPr lang="en-US" altLang="zh-CN" sz="2400" b="1" dirty="0"/>
              <a:t>("\n\n");</a:t>
            </a:r>
          </a:p>
          <a:p>
            <a:pPr marL="0" indent="0" eaLnBrk="1" fontAlgn="auto" hangingPunct="1">
              <a:lnSpc>
                <a:spcPct val="85000"/>
              </a:lnSpc>
              <a:spcAft>
                <a:spcPts val="0"/>
              </a:spcAft>
              <a:buClr>
                <a:schemeClr val="accent3"/>
              </a:buClr>
              <a:buFont typeface="Wingdings" pitchFamily="2" charset="2"/>
              <a:buNone/>
              <a:defRPr/>
            </a:pPr>
            <a:r>
              <a:rPr lang="en-US" altLang="zh-CN" sz="2400" b="1" dirty="0"/>
              <a:t>}</a:t>
            </a:r>
          </a:p>
        </p:txBody>
      </p:sp>
      <p:sp>
        <p:nvSpPr>
          <p:cNvPr id="6" name="灯片编号占位符 6"/>
          <p:cNvSpPr>
            <a:spLocks noGrp="1"/>
          </p:cNvSpPr>
          <p:nvPr>
            <p:ph type="sldNum" sz="quarter" idx="12"/>
          </p:nvPr>
        </p:nvSpPr>
        <p:spPr/>
        <p:txBody>
          <a:bodyPr/>
          <a:lstStyle/>
          <a:p>
            <a:pPr>
              <a:defRPr/>
            </a:pPr>
            <a:fld id="{AA81D9C7-6C80-447B-B09F-CFBBB621FBA4}" type="slidenum">
              <a:rPr lang="en-US" altLang="zh-CN"/>
              <a:pPr>
                <a:defRPr/>
              </a:pPr>
              <a:t>103</a:t>
            </a:fld>
            <a:endParaRPr lang="en-US" altLang="zh-CN"/>
          </a:p>
        </p:txBody>
      </p:sp>
      <p:sp>
        <p:nvSpPr>
          <p:cNvPr id="100356" name="Line 4"/>
          <p:cNvSpPr>
            <a:spLocks noChangeShapeType="1"/>
          </p:cNvSpPr>
          <p:nvPr/>
        </p:nvSpPr>
        <p:spPr bwMode="auto">
          <a:xfrm>
            <a:off x="457200" y="5257800"/>
            <a:ext cx="4191000" cy="0"/>
          </a:xfrm>
          <a:prstGeom prst="line">
            <a:avLst/>
          </a:prstGeom>
          <a:noFill/>
          <a:ln w="9525">
            <a:noFill/>
            <a:round/>
            <a:headEnd/>
            <a:tailEnd/>
          </a:ln>
        </p:spPr>
        <p:txBody>
          <a:bodyPr wrap="none" lIns="92075" tIns="46038" rIns="92075" bIns="46038" anchor="ctr"/>
          <a:lstStyle/>
          <a:p>
            <a:endParaRPr lang="zh-CN" altLang="en-US"/>
          </a:p>
        </p:txBody>
      </p:sp>
      <p:sp>
        <p:nvSpPr>
          <p:cNvPr id="5" name="TextBox 4"/>
          <p:cNvSpPr txBox="1"/>
          <p:nvPr/>
        </p:nvSpPr>
        <p:spPr>
          <a:xfrm>
            <a:off x="3779912" y="1124744"/>
            <a:ext cx="3096344" cy="523220"/>
          </a:xfrm>
          <a:prstGeom prst="rect">
            <a:avLst/>
          </a:prstGeom>
          <a:solidFill>
            <a:schemeClr val="accent1"/>
          </a:solidFill>
        </p:spPr>
        <p:txBody>
          <a:bodyPr wrap="square" rtlCol="0">
            <a:spAutoFit/>
          </a:bodyPr>
          <a:lstStyle/>
          <a:p>
            <a:r>
              <a:rPr lang="en-US" altLang="zh-CN" dirty="0"/>
              <a:t>count[52]={0};</a:t>
            </a:r>
            <a:endParaRPr lang="zh-CN" altLang="en-US" dirty="0"/>
          </a:p>
        </p:txBody>
      </p:sp>
      <p:sp>
        <p:nvSpPr>
          <p:cNvPr id="8" name="TextBox 7"/>
          <p:cNvSpPr txBox="1"/>
          <p:nvPr/>
        </p:nvSpPr>
        <p:spPr>
          <a:xfrm>
            <a:off x="5292080" y="5473005"/>
            <a:ext cx="3600400" cy="1384995"/>
          </a:xfrm>
          <a:prstGeom prst="rect">
            <a:avLst/>
          </a:prstGeom>
          <a:solidFill>
            <a:schemeClr val="accent6"/>
          </a:solidFill>
        </p:spPr>
        <p:txBody>
          <a:bodyPr wrap="square" rtlCol="0">
            <a:spAutoFit/>
          </a:bodyPr>
          <a:lstStyle/>
          <a:p>
            <a:pPr algn="l"/>
            <a:r>
              <a:rPr lang="en-US" altLang="zh-CN" dirty="0" err="1"/>
              <a:t>Ascii</a:t>
            </a:r>
            <a:r>
              <a:rPr lang="zh-CN" altLang="en-US" dirty="0"/>
              <a:t>码：大写字母在前，小写字母在后；</a:t>
            </a:r>
            <a:r>
              <a:rPr lang="en-US" altLang="zh-CN" dirty="0"/>
              <a:t>Z</a:t>
            </a:r>
            <a:r>
              <a:rPr lang="zh-CN" altLang="en-US" dirty="0"/>
              <a:t>和</a:t>
            </a:r>
            <a:r>
              <a:rPr lang="en-US" altLang="zh-CN" dirty="0"/>
              <a:t>a</a:t>
            </a:r>
            <a:r>
              <a:rPr lang="zh-CN" altLang="en-US" dirty="0"/>
              <a:t>不连续</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49891">
                                            <p:txEl>
                                              <p:pRg st="3" end="3"/>
                                            </p:txEl>
                                          </p:spTgt>
                                        </p:tgtEl>
                                        <p:attrNameLst>
                                          <p:attrName>style.visibility</p:attrName>
                                        </p:attrNameLst>
                                      </p:cBhvr>
                                      <p:to>
                                        <p:strVal val="visible"/>
                                      </p:to>
                                    </p:set>
                                    <p:anim calcmode="lin" valueType="num">
                                      <p:cBhvr additive="base">
                                        <p:cTn id="7" dur="500" fill="hold"/>
                                        <p:tgtEl>
                                          <p:spTgt spid="549891">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4989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49891">
                                            <p:txEl>
                                              <p:pRg st="4" end="4"/>
                                            </p:txEl>
                                          </p:spTgt>
                                        </p:tgtEl>
                                        <p:attrNameLst>
                                          <p:attrName>style.visibility</p:attrName>
                                        </p:attrNameLst>
                                      </p:cBhvr>
                                      <p:to>
                                        <p:strVal val="visible"/>
                                      </p:to>
                                    </p:set>
                                    <p:anim calcmode="lin" valueType="num">
                                      <p:cBhvr additive="base">
                                        <p:cTn id="13" dur="500" fill="hold"/>
                                        <p:tgtEl>
                                          <p:spTgt spid="549891">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4989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49891">
                                            <p:txEl>
                                              <p:pRg st="5" end="5"/>
                                            </p:txEl>
                                          </p:spTgt>
                                        </p:tgtEl>
                                        <p:attrNameLst>
                                          <p:attrName>style.visibility</p:attrName>
                                        </p:attrNameLst>
                                      </p:cBhvr>
                                      <p:to>
                                        <p:strVal val="visible"/>
                                      </p:to>
                                    </p:set>
                                    <p:anim calcmode="lin" valueType="num">
                                      <p:cBhvr additive="base">
                                        <p:cTn id="25" dur="500" fill="hold"/>
                                        <p:tgtEl>
                                          <p:spTgt spid="549891">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49891">
                                            <p:txEl>
                                              <p:pRg st="5" end="5"/>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549891">
                                            <p:txEl>
                                              <p:pRg st="6" end="6"/>
                                            </p:txEl>
                                          </p:spTgt>
                                        </p:tgtEl>
                                        <p:attrNameLst>
                                          <p:attrName>style.visibility</p:attrName>
                                        </p:attrNameLst>
                                      </p:cBhvr>
                                      <p:to>
                                        <p:strVal val="visible"/>
                                      </p:to>
                                    </p:set>
                                    <p:anim calcmode="lin" valueType="num">
                                      <p:cBhvr additive="base">
                                        <p:cTn id="29" dur="500" fill="hold"/>
                                        <p:tgtEl>
                                          <p:spTgt spid="549891">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549891">
                                            <p:txEl>
                                              <p:pRg st="6" end="6"/>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549891">
                                            <p:txEl>
                                              <p:pRg st="7" end="7"/>
                                            </p:txEl>
                                          </p:spTgt>
                                        </p:tgtEl>
                                        <p:attrNameLst>
                                          <p:attrName>style.visibility</p:attrName>
                                        </p:attrNameLst>
                                      </p:cBhvr>
                                      <p:to>
                                        <p:strVal val="visible"/>
                                      </p:to>
                                    </p:set>
                                    <p:anim calcmode="lin" valueType="num">
                                      <p:cBhvr additive="base">
                                        <p:cTn id="33" dur="500" fill="hold"/>
                                        <p:tgtEl>
                                          <p:spTgt spid="549891">
                                            <p:txEl>
                                              <p:pRg st="7" end="7"/>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549891">
                                            <p:txEl>
                                              <p:pRg st="7" end="7"/>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549891">
                                            <p:txEl>
                                              <p:pRg st="8" end="8"/>
                                            </p:txEl>
                                          </p:spTgt>
                                        </p:tgtEl>
                                        <p:attrNameLst>
                                          <p:attrName>style.visibility</p:attrName>
                                        </p:attrNameLst>
                                      </p:cBhvr>
                                      <p:to>
                                        <p:strVal val="visible"/>
                                      </p:to>
                                    </p:set>
                                    <p:anim calcmode="lin" valueType="num">
                                      <p:cBhvr additive="base">
                                        <p:cTn id="37" dur="500" fill="hold"/>
                                        <p:tgtEl>
                                          <p:spTgt spid="549891">
                                            <p:txEl>
                                              <p:pRg st="8" end="8"/>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49891">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additive="base">
                                        <p:cTn id="43" dur="500" fill="hold"/>
                                        <p:tgtEl>
                                          <p:spTgt spid="8"/>
                                        </p:tgtEl>
                                        <p:attrNameLst>
                                          <p:attrName>ppt_x</p:attrName>
                                        </p:attrNameLst>
                                      </p:cBhvr>
                                      <p:tavLst>
                                        <p:tav tm="0">
                                          <p:val>
                                            <p:strVal val="#ppt_x"/>
                                          </p:val>
                                        </p:tav>
                                        <p:tav tm="100000">
                                          <p:val>
                                            <p:strVal val="#ppt_x"/>
                                          </p:val>
                                        </p:tav>
                                      </p:tavLst>
                                    </p:anim>
                                    <p:anim calcmode="lin" valueType="num">
                                      <p:cBhvr additive="base">
                                        <p:cTn id="4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549891">
                                            <p:txEl>
                                              <p:pRg st="9" end="9"/>
                                            </p:txEl>
                                          </p:spTgt>
                                        </p:tgtEl>
                                        <p:attrNameLst>
                                          <p:attrName>style.visibility</p:attrName>
                                        </p:attrNameLst>
                                      </p:cBhvr>
                                      <p:to>
                                        <p:strVal val="visible"/>
                                      </p:to>
                                    </p:set>
                                    <p:anim calcmode="lin" valueType="num">
                                      <p:cBhvr additive="base">
                                        <p:cTn id="49" dur="500" fill="hold"/>
                                        <p:tgtEl>
                                          <p:spTgt spid="549891">
                                            <p:txEl>
                                              <p:pRg st="9" end="9"/>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549891">
                                            <p:txEl>
                                              <p:pRg st="9" end="9"/>
                                            </p:txEl>
                                          </p:spTgt>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549891">
                                            <p:txEl>
                                              <p:pRg st="10" end="10"/>
                                            </p:txEl>
                                          </p:spTgt>
                                        </p:tgtEl>
                                        <p:attrNameLst>
                                          <p:attrName>style.visibility</p:attrName>
                                        </p:attrNameLst>
                                      </p:cBhvr>
                                      <p:to>
                                        <p:strVal val="visible"/>
                                      </p:to>
                                    </p:set>
                                    <p:anim calcmode="lin" valueType="num">
                                      <p:cBhvr additive="base">
                                        <p:cTn id="53" dur="500" fill="hold"/>
                                        <p:tgtEl>
                                          <p:spTgt spid="549891">
                                            <p:txEl>
                                              <p:pRg st="10" end="10"/>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549891">
                                            <p:txEl>
                                              <p:pRg st="10" end="10"/>
                                            </p:txEl>
                                          </p:spTgt>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549891">
                                            <p:txEl>
                                              <p:pRg st="11" end="11"/>
                                            </p:txEl>
                                          </p:spTgt>
                                        </p:tgtEl>
                                        <p:attrNameLst>
                                          <p:attrName>style.visibility</p:attrName>
                                        </p:attrNameLst>
                                      </p:cBhvr>
                                      <p:to>
                                        <p:strVal val="visible"/>
                                      </p:to>
                                    </p:set>
                                    <p:anim calcmode="lin" valueType="num">
                                      <p:cBhvr additive="base">
                                        <p:cTn id="57" dur="500" fill="hold"/>
                                        <p:tgtEl>
                                          <p:spTgt spid="549891">
                                            <p:txEl>
                                              <p:pRg st="11" end="11"/>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549891">
                                            <p:txEl>
                                              <p:pRg st="11" end="11"/>
                                            </p:txEl>
                                          </p:spTgt>
                                        </p:tgtEl>
                                        <p:attrNameLst>
                                          <p:attrName>ppt_y</p:attrName>
                                        </p:attrNameLst>
                                      </p:cBhvr>
                                      <p:tavLst>
                                        <p:tav tm="0">
                                          <p:val>
                                            <p:strVal val="1+#ppt_h/2"/>
                                          </p:val>
                                        </p:tav>
                                        <p:tav tm="100000">
                                          <p:val>
                                            <p:strVal val="#ppt_y"/>
                                          </p:val>
                                        </p:tav>
                                      </p:tavLst>
                                    </p:anim>
                                  </p:childTnLst>
                                </p:cTn>
                              </p:par>
                              <p:par>
                                <p:cTn id="59" presetID="2" presetClass="entr" presetSubtype="4" fill="hold" nodeType="withEffect">
                                  <p:stCondLst>
                                    <p:cond delay="0"/>
                                  </p:stCondLst>
                                  <p:childTnLst>
                                    <p:set>
                                      <p:cBhvr>
                                        <p:cTn id="60" dur="1" fill="hold">
                                          <p:stCondLst>
                                            <p:cond delay="0"/>
                                          </p:stCondLst>
                                        </p:cTn>
                                        <p:tgtEl>
                                          <p:spTgt spid="549891">
                                            <p:txEl>
                                              <p:pRg st="12" end="12"/>
                                            </p:txEl>
                                          </p:spTgt>
                                        </p:tgtEl>
                                        <p:attrNameLst>
                                          <p:attrName>style.visibility</p:attrName>
                                        </p:attrNameLst>
                                      </p:cBhvr>
                                      <p:to>
                                        <p:strVal val="visible"/>
                                      </p:to>
                                    </p:set>
                                    <p:anim calcmode="lin" valueType="num">
                                      <p:cBhvr additive="base">
                                        <p:cTn id="61" dur="500" fill="hold"/>
                                        <p:tgtEl>
                                          <p:spTgt spid="549891">
                                            <p:txEl>
                                              <p:pRg st="12" end="12"/>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549891">
                                            <p:txEl>
                                              <p:pRg st="12" end="12"/>
                                            </p:txEl>
                                          </p:spTgt>
                                        </p:tgtEl>
                                        <p:attrNameLst>
                                          <p:attrName>ppt_y</p:attrName>
                                        </p:attrNameLst>
                                      </p:cBhvr>
                                      <p:tavLst>
                                        <p:tav tm="0">
                                          <p:val>
                                            <p:strVal val="1+#ppt_h/2"/>
                                          </p:val>
                                        </p:tav>
                                        <p:tav tm="100000">
                                          <p:val>
                                            <p:strVal val="#ppt_y"/>
                                          </p:val>
                                        </p:tav>
                                      </p:tavLst>
                                    </p:anim>
                                  </p:childTnLst>
                                </p:cTn>
                              </p:par>
                              <p:par>
                                <p:cTn id="63" presetID="2" presetClass="entr" presetSubtype="4" fill="hold" nodeType="withEffect">
                                  <p:stCondLst>
                                    <p:cond delay="0"/>
                                  </p:stCondLst>
                                  <p:childTnLst>
                                    <p:set>
                                      <p:cBhvr>
                                        <p:cTn id="64" dur="1" fill="hold">
                                          <p:stCondLst>
                                            <p:cond delay="0"/>
                                          </p:stCondLst>
                                        </p:cTn>
                                        <p:tgtEl>
                                          <p:spTgt spid="549891">
                                            <p:txEl>
                                              <p:pRg st="13" end="13"/>
                                            </p:txEl>
                                          </p:spTgt>
                                        </p:tgtEl>
                                        <p:attrNameLst>
                                          <p:attrName>style.visibility</p:attrName>
                                        </p:attrNameLst>
                                      </p:cBhvr>
                                      <p:to>
                                        <p:strVal val="visible"/>
                                      </p:to>
                                    </p:set>
                                    <p:anim calcmode="lin" valueType="num">
                                      <p:cBhvr additive="base">
                                        <p:cTn id="65" dur="500" fill="hold"/>
                                        <p:tgtEl>
                                          <p:spTgt spid="549891">
                                            <p:txEl>
                                              <p:pRg st="13" end="13"/>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549891">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Lst>
  </p:timing>
</p:sld>
</file>

<file path=ppt/slides/slide10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1378" name="Rectangle 2"/>
          <p:cNvSpPr>
            <a:spLocks noGrp="1" noChangeArrowheads="1"/>
          </p:cNvSpPr>
          <p:nvPr>
            <p:ph type="body" sz="half" idx="1"/>
          </p:nvPr>
        </p:nvSpPr>
        <p:spPr>
          <a:xfrm>
            <a:off x="468313" y="476250"/>
            <a:ext cx="8207375" cy="6381750"/>
          </a:xfrm>
        </p:spPr>
        <p:txBody>
          <a:bodyPr/>
          <a:lstStyle/>
          <a:p>
            <a:pPr marL="0" indent="0" eaLnBrk="1" hangingPunct="1">
              <a:buFont typeface="Wingdings" pitchFamily="2" charset="2"/>
              <a:buNone/>
            </a:pPr>
            <a:r>
              <a:rPr lang="en-US" altLang="zh-CN" sz="2800" b="1" dirty="0">
                <a:latin typeface="黑体" pitchFamily="2" charset="-122"/>
                <a:ea typeface="黑体" pitchFamily="2" charset="-122"/>
              </a:rPr>
              <a:t>【</a:t>
            </a:r>
            <a:r>
              <a:rPr lang="zh-CN" altLang="en-US" sz="2800" b="1" dirty="0">
                <a:latin typeface="黑体" pitchFamily="2" charset="-122"/>
                <a:ea typeface="黑体" pitchFamily="2" charset="-122"/>
              </a:rPr>
              <a:t>例</a:t>
            </a:r>
            <a:r>
              <a:rPr lang="en-US" altLang="zh-CN" sz="2800" b="1" dirty="0">
                <a:latin typeface="黑体" pitchFamily="2" charset="-122"/>
                <a:ea typeface="黑体" pitchFamily="2" charset="-122"/>
              </a:rPr>
              <a:t>4.19】</a:t>
            </a:r>
            <a:r>
              <a:rPr lang="zh-CN" altLang="en-US" sz="2800" b="1" dirty="0">
                <a:latin typeface="黑体" pitchFamily="2" charset="-122"/>
                <a:ea typeface="黑体" pitchFamily="2" charset="-122"/>
              </a:rPr>
              <a:t>读入若干字符行，以空行</a:t>
            </a:r>
            <a:r>
              <a:rPr lang="en-US" altLang="zh-CN" sz="2800" b="1" dirty="0">
                <a:latin typeface="黑体" pitchFamily="2" charset="-122"/>
                <a:ea typeface="黑体" pitchFamily="2" charset="-122"/>
              </a:rPr>
              <a:t>(</a:t>
            </a:r>
            <a:r>
              <a:rPr lang="zh-CN" altLang="en-US" sz="2800" b="1" dirty="0">
                <a:latin typeface="黑体" pitchFamily="2" charset="-122"/>
                <a:ea typeface="黑体" pitchFamily="2" charset="-122"/>
              </a:rPr>
              <a:t>即只键入回车符的行</a:t>
            </a:r>
            <a:r>
              <a:rPr lang="en-US" altLang="zh-CN" sz="2800" b="1" dirty="0">
                <a:latin typeface="黑体" pitchFamily="2" charset="-122"/>
                <a:ea typeface="黑体" pitchFamily="2" charset="-122"/>
              </a:rPr>
              <a:t>)</a:t>
            </a:r>
            <a:r>
              <a:rPr lang="zh-CN" altLang="en-US" sz="2800" b="1" dirty="0">
                <a:latin typeface="黑体" pitchFamily="2" charset="-122"/>
                <a:ea typeface="黑体" pitchFamily="2" charset="-122"/>
              </a:rPr>
              <a:t>结束，输出其中最长的行。</a:t>
            </a:r>
          </a:p>
          <a:p>
            <a:pPr marL="0" indent="0" eaLnBrk="1" hangingPunct="1">
              <a:buFont typeface="Wingdings" pitchFamily="2" charset="2"/>
              <a:buNone/>
            </a:pPr>
            <a:r>
              <a:rPr lang="en-US" altLang="zh-CN" sz="2800" b="1" dirty="0">
                <a:latin typeface="楷体_GB2312" pitchFamily="49" charset="-122"/>
                <a:ea typeface="楷体_GB2312" pitchFamily="49" charset="-122"/>
              </a:rPr>
              <a:t>【</a:t>
            </a:r>
            <a:r>
              <a:rPr lang="zh-CN" altLang="en-US" sz="2800" b="1" dirty="0">
                <a:latin typeface="楷体_GB2312" pitchFamily="49" charset="-122"/>
                <a:ea typeface="楷体_GB2312" pitchFamily="49" charset="-122"/>
              </a:rPr>
              <a:t>解题思路</a:t>
            </a:r>
            <a:r>
              <a:rPr lang="en-US" altLang="zh-CN" sz="2800" b="1" dirty="0">
                <a:latin typeface="楷体_GB2312" pitchFamily="49" charset="-122"/>
                <a:ea typeface="楷体_GB2312" pitchFamily="49" charset="-122"/>
              </a:rPr>
              <a:t>】</a:t>
            </a:r>
          </a:p>
          <a:p>
            <a:pPr marL="0" indent="0" eaLnBrk="1" hangingPunct="1">
              <a:buFont typeface="Wingdings" pitchFamily="2" charset="2"/>
              <a:buNone/>
            </a:pPr>
            <a:r>
              <a:rPr lang="zh-CN" altLang="en-US" sz="2800" b="1" dirty="0">
                <a:latin typeface="楷体_GB2312" pitchFamily="49" charset="-122"/>
                <a:ea typeface="楷体_GB2312" pitchFamily="49" charset="-122"/>
              </a:rPr>
              <a:t>程序的主要工作是一个循环，每次循环输入一个字符行，求出输入字符的长度，接着判输入字符行是否是空行，空行是长度为</a:t>
            </a:r>
            <a:r>
              <a:rPr lang="en-US" altLang="zh-CN" sz="2800" b="1" dirty="0">
                <a:latin typeface="楷体_GB2312" pitchFamily="49" charset="-122"/>
                <a:ea typeface="楷体_GB2312" pitchFamily="49" charset="-122"/>
              </a:rPr>
              <a:t>0</a:t>
            </a:r>
            <a:r>
              <a:rPr lang="zh-CN" altLang="en-US" sz="2800" b="1" dirty="0">
                <a:latin typeface="楷体_GB2312" pitchFamily="49" charset="-122"/>
                <a:ea typeface="楷体_GB2312" pitchFamily="49" charset="-122"/>
              </a:rPr>
              <a:t>的行。如果是空行，则结束循环；如果不是空行，与早先求得的最长行比较，如果比早先求得的最长行更长，就用当前行更新已求得的最长行。直至循环结束，程序输出最长行。</a:t>
            </a:r>
            <a:endParaRPr lang="en-US" altLang="zh-CN" sz="2800" b="1" dirty="0">
              <a:latin typeface="楷体_GB2312" pitchFamily="49" charset="-122"/>
              <a:ea typeface="楷体_GB2312" pitchFamily="49" charset="-122"/>
            </a:endParaRPr>
          </a:p>
          <a:p>
            <a:pPr marL="0" indent="0" eaLnBrk="1" hangingPunct="1">
              <a:buFont typeface="Wingdings" pitchFamily="2" charset="2"/>
              <a:buNone/>
            </a:pPr>
            <a:r>
              <a:rPr lang="zh-CN" altLang="en-US" sz="2800" b="1" dirty="0">
                <a:latin typeface="楷体_GB2312" pitchFamily="49" charset="-122"/>
                <a:ea typeface="楷体_GB2312" pitchFamily="49" charset="-122"/>
              </a:rPr>
              <a:t>为了程序处理方便，最长行的信息以最长行内容和最长行的长度两项信息比较适宜，便于直接比较最长行的长度。</a:t>
            </a:r>
            <a:r>
              <a:rPr lang="zh-CN" altLang="en-US" sz="2800" dirty="0">
                <a:latin typeface="楷体_GB2312" pitchFamily="49" charset="-122"/>
                <a:ea typeface="楷体_GB2312" pitchFamily="49" charset="-122"/>
              </a:rPr>
              <a:t> </a:t>
            </a:r>
          </a:p>
        </p:txBody>
      </p:sp>
      <p:sp>
        <p:nvSpPr>
          <p:cNvPr id="6" name="灯片编号占位符 6"/>
          <p:cNvSpPr>
            <a:spLocks noGrp="1"/>
          </p:cNvSpPr>
          <p:nvPr>
            <p:ph type="sldNum" sz="quarter" idx="12"/>
          </p:nvPr>
        </p:nvSpPr>
        <p:spPr/>
        <p:txBody>
          <a:bodyPr/>
          <a:lstStyle/>
          <a:p>
            <a:pPr>
              <a:defRPr/>
            </a:pPr>
            <a:fld id="{DDC35384-6CE2-4E6E-B514-0F2B5184E9EE}" type="slidenum">
              <a:rPr lang="en-US" altLang="zh-CN"/>
              <a:pPr>
                <a:defRPr/>
              </a:pPr>
              <a:t>104</a:t>
            </a:fld>
            <a:endParaRPr lang="en-US" altLang="zh-CN"/>
          </a:p>
        </p:txBody>
      </p:sp>
      <p:sp>
        <p:nvSpPr>
          <p:cNvPr id="101380" name="Line 3"/>
          <p:cNvSpPr>
            <a:spLocks noChangeShapeType="1"/>
          </p:cNvSpPr>
          <p:nvPr/>
        </p:nvSpPr>
        <p:spPr bwMode="auto">
          <a:xfrm>
            <a:off x="457200" y="5257800"/>
            <a:ext cx="4191000" cy="0"/>
          </a:xfrm>
          <a:prstGeom prst="line">
            <a:avLst/>
          </a:prstGeom>
          <a:noFill/>
          <a:ln w="9525">
            <a:noFill/>
            <a:round/>
            <a:headEnd/>
            <a:tailEnd/>
          </a:ln>
        </p:spPr>
        <p:txBody>
          <a:bodyPr wrap="none" lIns="92075" tIns="46038" rIns="92075" bIns="46038" anchor="ctr"/>
          <a:lstStyle/>
          <a:p>
            <a:endParaRPr lang="zh-CN" altLang="en-US"/>
          </a:p>
        </p:txBody>
      </p:sp>
    </p:spTree>
  </p:cSld>
  <p:clrMapOvr>
    <a:masterClrMapping/>
  </p:clrMapOvr>
  <p:transition/>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2402" name="Rectangle 2"/>
          <p:cNvSpPr>
            <a:spLocks noGrp="1" noChangeArrowheads="1"/>
          </p:cNvSpPr>
          <p:nvPr>
            <p:ph type="body" sz="half" idx="1"/>
          </p:nvPr>
        </p:nvSpPr>
        <p:spPr>
          <a:xfrm>
            <a:off x="468313" y="476250"/>
            <a:ext cx="8207375" cy="6381750"/>
          </a:xfrm>
        </p:spPr>
        <p:txBody>
          <a:bodyPr/>
          <a:lstStyle/>
          <a:p>
            <a:pPr marL="0" indent="0" eaLnBrk="1" hangingPunct="1">
              <a:buFont typeface="Wingdings" pitchFamily="2" charset="2"/>
              <a:buNone/>
            </a:pPr>
            <a:r>
              <a:rPr lang="en-US" altLang="zh-CN" sz="2000" b="1"/>
              <a:t>#include &lt;stdio.h&gt;</a:t>
            </a:r>
          </a:p>
          <a:p>
            <a:pPr marL="0" indent="0" eaLnBrk="1" hangingPunct="1">
              <a:buFont typeface="Wingdings" pitchFamily="2" charset="2"/>
              <a:buNone/>
            </a:pPr>
            <a:r>
              <a:rPr lang="en-US" altLang="zh-CN" sz="2000" b="1"/>
              <a:t>#include &lt;string.h&gt;</a:t>
            </a:r>
          </a:p>
          <a:p>
            <a:pPr marL="0" indent="0" eaLnBrk="1" hangingPunct="1">
              <a:buFont typeface="Wingdings" pitchFamily="2" charset="2"/>
              <a:buNone/>
            </a:pPr>
            <a:r>
              <a:rPr lang="en-US" altLang="zh-CN" sz="2000" b="1"/>
              <a:t>#define MAXLINE 256</a:t>
            </a:r>
          </a:p>
          <a:p>
            <a:pPr marL="0" indent="0" eaLnBrk="1" hangingPunct="1">
              <a:buFont typeface="Wingdings" pitchFamily="2" charset="2"/>
              <a:buNone/>
            </a:pPr>
            <a:r>
              <a:rPr lang="en-US" altLang="zh-CN" sz="2000" b="1"/>
              <a:t>int main()</a:t>
            </a:r>
          </a:p>
          <a:p>
            <a:pPr marL="0" indent="0" eaLnBrk="1" hangingPunct="1">
              <a:buFont typeface="Wingdings" pitchFamily="2" charset="2"/>
              <a:buNone/>
            </a:pPr>
            <a:r>
              <a:rPr lang="en-US" altLang="zh-CN" sz="2000" b="1"/>
              <a:t>{ int  len, max;   char line [MAXLINE], save [MAXLINE];</a:t>
            </a:r>
          </a:p>
          <a:p>
            <a:pPr marL="0" indent="0" eaLnBrk="1" hangingPunct="1">
              <a:buFont typeface="Wingdings" pitchFamily="2" charset="2"/>
              <a:buNone/>
            </a:pPr>
            <a:r>
              <a:rPr lang="en-US" altLang="zh-CN" sz="2000" b="1"/>
              <a:t>      max = 0; /*</a:t>
            </a:r>
            <a:r>
              <a:rPr lang="zh-CN" altLang="en-US" sz="2000" b="1"/>
              <a:t>最长行的行长的初值为</a:t>
            </a:r>
            <a:r>
              <a:rPr lang="en-US" altLang="zh-CN" sz="2000" b="1"/>
              <a:t>0*/</a:t>
            </a:r>
          </a:p>
          <a:p>
            <a:pPr marL="0" indent="0" eaLnBrk="1" hangingPunct="1">
              <a:buFont typeface="Wingdings" pitchFamily="2" charset="2"/>
              <a:buNone/>
            </a:pPr>
            <a:r>
              <a:rPr lang="en-US" altLang="zh-CN" sz="2000" b="1"/>
              <a:t>      for (; ;) { printf("Enter a line(return to finish).\n");  gets(line);</a:t>
            </a:r>
          </a:p>
          <a:p>
            <a:pPr marL="0" indent="0" eaLnBrk="1" hangingPunct="1">
              <a:buFont typeface="Wingdings" pitchFamily="2" charset="2"/>
              <a:buNone/>
            </a:pPr>
            <a:r>
              <a:rPr lang="en-US" altLang="zh-CN" sz="2000" b="1"/>
              <a:t>          if ((len = strlen(line)) == 0) /*</a:t>
            </a:r>
            <a:r>
              <a:rPr lang="zh-CN" altLang="en-US" sz="2000" b="1"/>
              <a:t>求当行行长度，并判是否为空行*</a:t>
            </a:r>
            <a:r>
              <a:rPr lang="en-US" altLang="zh-CN" sz="2000" b="1"/>
              <a:t>/</a:t>
            </a:r>
          </a:p>
          <a:p>
            <a:pPr marL="0" indent="0" eaLnBrk="1" hangingPunct="1">
              <a:buFont typeface="Wingdings" pitchFamily="2" charset="2"/>
              <a:buNone/>
            </a:pPr>
            <a:r>
              <a:rPr lang="en-US" altLang="zh-CN" sz="2000" b="1"/>
              <a:t>            break; /*</a:t>
            </a:r>
            <a:r>
              <a:rPr lang="zh-CN" altLang="en-US" sz="2000" b="1"/>
              <a:t>如果是空行，跳出循环*</a:t>
            </a:r>
            <a:r>
              <a:rPr lang="en-US" altLang="zh-CN" sz="2000" b="1"/>
              <a:t>/</a:t>
            </a:r>
          </a:p>
          <a:p>
            <a:pPr marL="0" indent="0" eaLnBrk="1" hangingPunct="1">
              <a:buFont typeface="Wingdings" pitchFamily="2" charset="2"/>
              <a:buNone/>
            </a:pPr>
            <a:r>
              <a:rPr lang="en-US" altLang="zh-CN" sz="2000" b="1"/>
              <a:t>          if (len &gt; max) {/*</a:t>
            </a:r>
            <a:r>
              <a:rPr lang="zh-CN" altLang="en-US" sz="2000" b="1"/>
              <a:t>当前行是更长的行*</a:t>
            </a:r>
            <a:r>
              <a:rPr lang="en-US" altLang="zh-CN" sz="2000" b="1"/>
              <a:t>/</a:t>
            </a:r>
          </a:p>
          <a:p>
            <a:pPr marL="0" indent="0" eaLnBrk="1" hangingPunct="1">
              <a:buFont typeface="Wingdings" pitchFamily="2" charset="2"/>
              <a:buNone/>
            </a:pPr>
            <a:r>
              <a:rPr lang="en-US" altLang="zh-CN" sz="2000" b="1"/>
              <a:t>              max = len; /*</a:t>
            </a:r>
            <a:r>
              <a:rPr lang="zh-CN" altLang="en-US" sz="2000" b="1"/>
              <a:t>保存行的长度*</a:t>
            </a:r>
            <a:r>
              <a:rPr lang="en-US" altLang="zh-CN" sz="2000" b="1"/>
              <a:t>/ strcpy(save, line); </a:t>
            </a:r>
          </a:p>
          <a:p>
            <a:pPr marL="0" indent="0" eaLnBrk="1" hangingPunct="1">
              <a:buFont typeface="Wingdings" pitchFamily="2" charset="2"/>
              <a:buNone/>
            </a:pPr>
            <a:r>
              <a:rPr lang="en-US" altLang="zh-CN" sz="2000" b="1"/>
              <a:t>          }</a:t>
            </a:r>
          </a:p>
          <a:p>
            <a:pPr marL="0" indent="0" eaLnBrk="1" hangingPunct="1">
              <a:buFont typeface="Wingdings" pitchFamily="2" charset="2"/>
              <a:buNone/>
            </a:pPr>
            <a:r>
              <a:rPr lang="en-US" altLang="zh-CN" sz="2000" b="1"/>
              <a:t>      }</a:t>
            </a:r>
          </a:p>
          <a:p>
            <a:pPr marL="0" indent="0" eaLnBrk="1" hangingPunct="1">
              <a:buFont typeface="Wingdings" pitchFamily="2" charset="2"/>
              <a:buNone/>
            </a:pPr>
            <a:r>
              <a:rPr lang="en-US" altLang="zh-CN" sz="2000" b="1"/>
              <a:t>      if (max &gt; 0) /*</a:t>
            </a:r>
            <a:r>
              <a:rPr lang="zh-CN" altLang="en-US" sz="2000" b="1"/>
              <a:t>如果有非空行读入过的话，输出找到的最长行*</a:t>
            </a:r>
            <a:r>
              <a:rPr lang="en-US" altLang="zh-CN" sz="2000" b="1"/>
              <a:t>/</a:t>
            </a:r>
          </a:p>
          <a:p>
            <a:pPr marL="0" indent="0" eaLnBrk="1" hangingPunct="1">
              <a:buFont typeface="Wingdings" pitchFamily="2" charset="2"/>
              <a:buNone/>
            </a:pPr>
            <a:r>
              <a:rPr lang="en-US" altLang="zh-CN" sz="2000" b="1"/>
              <a:t>          printf("The max length of line is:\n%s\n", save);</a:t>
            </a:r>
          </a:p>
          <a:p>
            <a:pPr marL="0" indent="0" eaLnBrk="1" hangingPunct="1">
              <a:buFont typeface="Wingdings" pitchFamily="2" charset="2"/>
              <a:buNone/>
            </a:pPr>
            <a:r>
              <a:rPr lang="en-US" altLang="zh-CN" sz="2000" b="1"/>
              <a:t>      return 0;</a:t>
            </a:r>
          </a:p>
          <a:p>
            <a:pPr marL="0" indent="0" eaLnBrk="1" hangingPunct="1">
              <a:buFont typeface="Wingdings" pitchFamily="2" charset="2"/>
              <a:buNone/>
            </a:pPr>
            <a:r>
              <a:rPr lang="en-US" altLang="zh-CN" sz="2000" b="1"/>
              <a:t>    }</a:t>
            </a:r>
          </a:p>
        </p:txBody>
      </p:sp>
      <p:sp>
        <p:nvSpPr>
          <p:cNvPr id="6" name="灯片编号占位符 6"/>
          <p:cNvSpPr>
            <a:spLocks noGrp="1"/>
          </p:cNvSpPr>
          <p:nvPr>
            <p:ph type="sldNum" sz="quarter" idx="12"/>
          </p:nvPr>
        </p:nvSpPr>
        <p:spPr/>
        <p:txBody>
          <a:bodyPr/>
          <a:lstStyle/>
          <a:p>
            <a:pPr>
              <a:defRPr/>
            </a:pPr>
            <a:fld id="{35EE2486-2B52-4EEF-A70C-A9F7F28767A3}" type="slidenum">
              <a:rPr lang="en-US" altLang="zh-CN"/>
              <a:pPr>
                <a:defRPr/>
              </a:pPr>
              <a:t>105</a:t>
            </a:fld>
            <a:endParaRPr lang="en-US" altLang="zh-CN"/>
          </a:p>
        </p:txBody>
      </p:sp>
      <p:sp>
        <p:nvSpPr>
          <p:cNvPr id="102404" name="Line 3"/>
          <p:cNvSpPr>
            <a:spLocks noChangeShapeType="1"/>
          </p:cNvSpPr>
          <p:nvPr/>
        </p:nvSpPr>
        <p:spPr bwMode="auto">
          <a:xfrm>
            <a:off x="457200" y="5257800"/>
            <a:ext cx="4191000" cy="0"/>
          </a:xfrm>
          <a:prstGeom prst="line">
            <a:avLst/>
          </a:prstGeom>
          <a:noFill/>
          <a:ln w="9525">
            <a:noFill/>
            <a:round/>
            <a:headEnd/>
            <a:tailEnd/>
          </a:ln>
        </p:spPr>
        <p:txBody>
          <a:bodyPr wrap="none" lIns="92075" tIns="46038" rIns="92075" bIns="46038" anchor="ctr"/>
          <a:lstStyle/>
          <a:p>
            <a:endParaRPr lang="zh-CN" altLang="en-US"/>
          </a:p>
        </p:txBody>
      </p:sp>
    </p:spTree>
  </p:cSld>
  <p:clrMapOvr>
    <a:masterClrMapping/>
  </p:clrMapOvr>
  <p:transition/>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5"/>
          <p:cNvSpPr>
            <a:spLocks noGrp="1" noChangeArrowheads="1"/>
          </p:cNvSpPr>
          <p:nvPr>
            <p:ph type="title"/>
          </p:nvPr>
        </p:nvSpPr>
        <p:spPr>
          <a:xfrm>
            <a:off x="0" y="642938"/>
            <a:ext cx="8940800" cy="865187"/>
          </a:xfrm>
          <a:noFill/>
        </p:spPr>
        <p:txBody>
          <a:bodyPr lIns="92075" tIns="46038" rIns="92075" bIns="46038"/>
          <a:lstStyle/>
          <a:p>
            <a:pPr eaLnBrk="1" hangingPunct="1"/>
            <a:r>
              <a:rPr lang="en-US" altLang="zh-CN" sz="3200" dirty="0">
                <a:solidFill>
                  <a:schemeClr val="tx1"/>
                </a:solidFill>
                <a:latin typeface="黑体" pitchFamily="2" charset="-122"/>
                <a:ea typeface="黑体" pitchFamily="2" charset="-122"/>
              </a:rPr>
              <a:t>【</a:t>
            </a:r>
            <a:r>
              <a:rPr lang="zh-CN" altLang="en-US" sz="3200" dirty="0">
                <a:solidFill>
                  <a:schemeClr val="tx1"/>
                </a:solidFill>
                <a:latin typeface="黑体" pitchFamily="2" charset="-122"/>
                <a:ea typeface="黑体" pitchFamily="2" charset="-122"/>
              </a:rPr>
              <a:t>例</a:t>
            </a:r>
            <a:r>
              <a:rPr lang="en-US" altLang="zh-CN" sz="3200" dirty="0">
                <a:solidFill>
                  <a:schemeClr val="tx1"/>
                </a:solidFill>
                <a:latin typeface="黑体" pitchFamily="2" charset="-122"/>
                <a:ea typeface="黑体" pitchFamily="2" charset="-122"/>
              </a:rPr>
              <a:t>4.17】</a:t>
            </a:r>
            <a:r>
              <a:rPr lang="zh-CN" altLang="en-US" sz="3200" dirty="0">
                <a:solidFill>
                  <a:schemeClr val="tx1"/>
                </a:solidFill>
                <a:latin typeface="黑体" pitchFamily="2" charset="-122"/>
                <a:ea typeface="黑体" pitchFamily="2" charset="-122"/>
              </a:rPr>
              <a:t>输入字符串</a:t>
            </a:r>
            <a:r>
              <a:rPr lang="en-US" altLang="zh-CN" sz="3200" dirty="0">
                <a:solidFill>
                  <a:schemeClr val="tx1"/>
                </a:solidFill>
                <a:latin typeface="黑体" pitchFamily="2" charset="-122"/>
                <a:ea typeface="黑体" pitchFamily="2" charset="-122"/>
              </a:rPr>
              <a:t>,</a:t>
            </a:r>
            <a:r>
              <a:rPr lang="zh-CN" altLang="en-US" sz="3200" dirty="0">
                <a:solidFill>
                  <a:schemeClr val="tx1"/>
                </a:solidFill>
                <a:latin typeface="黑体" pitchFamily="2" charset="-122"/>
                <a:ea typeface="黑体" pitchFamily="2" charset="-122"/>
              </a:rPr>
              <a:t>统计其单词个数。约定单词由英文字母组成，其他字符只是用来分隔单词。</a:t>
            </a:r>
          </a:p>
        </p:txBody>
      </p:sp>
      <p:sp>
        <p:nvSpPr>
          <p:cNvPr id="103427" name="Rectangle 2"/>
          <p:cNvSpPr>
            <a:spLocks noGrp="1" noChangeArrowheads="1"/>
          </p:cNvSpPr>
          <p:nvPr>
            <p:ph idx="1"/>
          </p:nvPr>
        </p:nvSpPr>
        <p:spPr>
          <a:xfrm>
            <a:off x="323850" y="1863725"/>
            <a:ext cx="8534400" cy="4494213"/>
          </a:xfrm>
        </p:spPr>
        <p:txBody>
          <a:bodyPr/>
          <a:lstStyle/>
          <a:p>
            <a:pPr marL="0" indent="0" eaLnBrk="1" hangingPunct="1">
              <a:buFont typeface="Wingdings" pitchFamily="2" charset="2"/>
              <a:buNone/>
            </a:pPr>
            <a:r>
              <a:rPr lang="en-US" altLang="zh-CN" b="1"/>
              <a:t>【</a:t>
            </a:r>
            <a:r>
              <a:rPr lang="zh-CN" altLang="en-US" b="1"/>
              <a:t>解题思路</a:t>
            </a:r>
            <a:r>
              <a:rPr lang="en-US" altLang="zh-CN" b="1"/>
              <a:t>】</a:t>
            </a:r>
          </a:p>
          <a:p>
            <a:pPr marL="0" indent="0" eaLnBrk="1" hangingPunct="1">
              <a:buFont typeface="Wingdings" pitchFamily="2" charset="2"/>
              <a:buNone/>
            </a:pPr>
            <a:r>
              <a:rPr lang="zh-CN" altLang="en-US" b="1"/>
              <a:t>为了实现统计字符行中单词个数，程序引入单词计数器。关键问题</a:t>
            </a:r>
            <a:r>
              <a:rPr lang="en-US" altLang="zh-CN" b="1"/>
              <a:t>: </a:t>
            </a:r>
            <a:r>
              <a:rPr lang="zh-CN" altLang="en-US" b="1"/>
              <a:t>顺序考察输入串并从字符行中识别出单词。为了计算出字符行中的单词个数，识别过程需要设置两种状态：识别程序正在处理一段连续的英文字母字符和正在处理一段连续的其它字符。不妨记前者为“单词中”，后者为“不在单词中”。识别程序对当前考察的字符也可分成两类：是英文字母字符和非英文字母字符。两个状态和两类字符的组合有四种情况，对每种情况程序要处理的工作如下：</a:t>
            </a:r>
          </a:p>
        </p:txBody>
      </p:sp>
      <p:sp>
        <p:nvSpPr>
          <p:cNvPr id="7" name="灯片编号占位符 5"/>
          <p:cNvSpPr>
            <a:spLocks noGrp="1"/>
          </p:cNvSpPr>
          <p:nvPr>
            <p:ph type="sldNum" sz="quarter" idx="12"/>
          </p:nvPr>
        </p:nvSpPr>
        <p:spPr/>
        <p:txBody>
          <a:bodyPr/>
          <a:lstStyle/>
          <a:p>
            <a:pPr>
              <a:defRPr/>
            </a:pPr>
            <a:fld id="{A9DE1D78-9E0D-46AA-8229-AEE50B5D1909}" type="slidenum">
              <a:rPr lang="en-US" altLang="zh-CN"/>
              <a:pPr>
                <a:defRPr/>
              </a:pPr>
              <a:t>106</a:t>
            </a:fld>
            <a:endParaRPr lang="en-US" altLang="zh-CN"/>
          </a:p>
        </p:txBody>
      </p:sp>
      <p:sp>
        <p:nvSpPr>
          <p:cNvPr id="103429" name="Line 4"/>
          <p:cNvSpPr>
            <a:spLocks noChangeShapeType="1"/>
          </p:cNvSpPr>
          <p:nvPr/>
        </p:nvSpPr>
        <p:spPr bwMode="auto">
          <a:xfrm>
            <a:off x="457200" y="5257800"/>
            <a:ext cx="4191000" cy="0"/>
          </a:xfrm>
          <a:prstGeom prst="line">
            <a:avLst/>
          </a:prstGeom>
          <a:noFill/>
          <a:ln w="9525">
            <a:noFill/>
            <a:round/>
            <a:headEnd/>
            <a:tailEnd/>
          </a:ln>
        </p:spPr>
        <p:txBody>
          <a:bodyPr wrap="none" lIns="92075" tIns="46038" rIns="92075" bIns="46038" anchor="ctr"/>
          <a:lstStyle/>
          <a:p>
            <a:endParaRPr lang="zh-CN" altLang="en-US"/>
          </a:p>
        </p:txBody>
      </p:sp>
    </p:spTree>
  </p:cSld>
  <p:clrMapOvr>
    <a:masterClrMapping/>
  </p:clrMapOvr>
  <p:transition/>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idx="1"/>
          </p:nvPr>
        </p:nvSpPr>
        <p:spPr>
          <a:xfrm>
            <a:off x="228600" y="1125538"/>
            <a:ext cx="8534400" cy="5351462"/>
          </a:xfrm>
        </p:spPr>
        <p:txBody>
          <a:bodyPr/>
          <a:lstStyle/>
          <a:p>
            <a:pPr marL="0" indent="0" eaLnBrk="1" hangingPunct="1">
              <a:buFont typeface="Wingdings" pitchFamily="2" charset="2"/>
              <a:buNone/>
            </a:pPr>
            <a:r>
              <a:rPr lang="en-US" altLang="zh-CN" sz="3200" b="1" dirty="0"/>
              <a:t>1</a:t>
            </a:r>
            <a:r>
              <a:rPr lang="zh-CN" altLang="en-US" sz="3200" b="1" dirty="0"/>
              <a:t>、如果当前状态正在单词中，当前字符又是英文字母，则继续保持原状态。</a:t>
            </a:r>
          </a:p>
          <a:p>
            <a:pPr marL="0" indent="0" eaLnBrk="1" hangingPunct="1">
              <a:buFont typeface="Wingdings" pitchFamily="2" charset="2"/>
              <a:buNone/>
            </a:pPr>
            <a:r>
              <a:rPr lang="en-US" altLang="zh-CN" sz="3200" b="1" dirty="0">
                <a:solidFill>
                  <a:srgbClr val="FF0000"/>
                </a:solidFill>
              </a:rPr>
              <a:t>2</a:t>
            </a:r>
            <a:r>
              <a:rPr lang="zh-CN" altLang="en-US" sz="3200" b="1" dirty="0">
                <a:solidFill>
                  <a:srgbClr val="FF0000"/>
                </a:solidFill>
              </a:rPr>
              <a:t>、如果当前状态正在单词中，当前字符不是英文字母，则程序状态变成不在单词中。</a:t>
            </a:r>
          </a:p>
          <a:p>
            <a:pPr marL="0" indent="0" eaLnBrk="1" hangingPunct="1">
              <a:buFont typeface="Wingdings" pitchFamily="2" charset="2"/>
              <a:buNone/>
            </a:pPr>
            <a:r>
              <a:rPr lang="en-US" altLang="zh-CN" sz="3200" b="1" dirty="0">
                <a:solidFill>
                  <a:srgbClr val="FF0000"/>
                </a:solidFill>
              </a:rPr>
              <a:t>3</a:t>
            </a:r>
            <a:r>
              <a:rPr lang="zh-CN" altLang="en-US" sz="3200" b="1" dirty="0">
                <a:solidFill>
                  <a:srgbClr val="FF0000"/>
                </a:solidFill>
              </a:rPr>
              <a:t>、如果当前状态不在单词中，当前字符又是英文字母，则程序状态变成在单词中。为了统计单词个数，这时单词计数器应增</a:t>
            </a:r>
            <a:r>
              <a:rPr lang="en-US" altLang="zh-CN" sz="3200" b="1" dirty="0">
                <a:solidFill>
                  <a:srgbClr val="FF0000"/>
                </a:solidFill>
              </a:rPr>
              <a:t>1</a:t>
            </a:r>
            <a:r>
              <a:rPr lang="zh-CN" altLang="en-US" sz="3200" b="1" dirty="0">
                <a:solidFill>
                  <a:srgbClr val="FF0000"/>
                </a:solidFill>
              </a:rPr>
              <a:t>。</a:t>
            </a:r>
          </a:p>
          <a:p>
            <a:pPr marL="0" indent="0" eaLnBrk="1" hangingPunct="1">
              <a:buFont typeface="Wingdings" pitchFamily="2" charset="2"/>
              <a:buNone/>
            </a:pPr>
            <a:r>
              <a:rPr lang="en-US" altLang="zh-CN" sz="3200" b="1" dirty="0"/>
              <a:t>4</a:t>
            </a:r>
            <a:r>
              <a:rPr lang="zh-CN" altLang="en-US" sz="3200" b="1" dirty="0"/>
              <a:t>、如果当前状态不在单词中，当前字符又不是英文字母，则继续保持原状态。</a:t>
            </a:r>
            <a:endParaRPr lang="zh-CN" altLang="en-US" sz="3200" dirty="0"/>
          </a:p>
        </p:txBody>
      </p:sp>
      <p:sp>
        <p:nvSpPr>
          <p:cNvPr id="6" name="灯片编号占位符 5"/>
          <p:cNvSpPr>
            <a:spLocks noGrp="1"/>
          </p:cNvSpPr>
          <p:nvPr>
            <p:ph type="sldNum" sz="quarter" idx="12"/>
          </p:nvPr>
        </p:nvSpPr>
        <p:spPr/>
        <p:txBody>
          <a:bodyPr/>
          <a:lstStyle/>
          <a:p>
            <a:pPr>
              <a:defRPr/>
            </a:pPr>
            <a:fld id="{59CBF5F5-02A6-49F1-9620-ED1D158BAC3E}" type="slidenum">
              <a:rPr lang="en-US" altLang="zh-CN"/>
              <a:pPr>
                <a:defRPr/>
              </a:pPr>
              <a:t>107</a:t>
            </a:fld>
            <a:endParaRPr lang="en-US" altLang="zh-CN"/>
          </a:p>
        </p:txBody>
      </p:sp>
      <p:sp>
        <p:nvSpPr>
          <p:cNvPr id="104452" name="Line 3"/>
          <p:cNvSpPr>
            <a:spLocks noChangeShapeType="1"/>
          </p:cNvSpPr>
          <p:nvPr/>
        </p:nvSpPr>
        <p:spPr bwMode="auto">
          <a:xfrm>
            <a:off x="457200" y="5257800"/>
            <a:ext cx="4191000" cy="0"/>
          </a:xfrm>
          <a:prstGeom prst="line">
            <a:avLst/>
          </a:prstGeom>
          <a:noFill/>
          <a:ln w="9525">
            <a:noFill/>
            <a:round/>
            <a:headEnd/>
            <a:tailEnd/>
          </a:ln>
        </p:spPr>
        <p:txBody>
          <a:bodyPr wrap="none" lIns="92075" tIns="46038" rIns="92075" bIns="46038"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4450">
                                            <p:txEl>
                                              <p:pRg st="1" end="1"/>
                                            </p:txEl>
                                          </p:spTgt>
                                        </p:tgtEl>
                                        <p:attrNameLst>
                                          <p:attrName>style.visibility</p:attrName>
                                        </p:attrNameLst>
                                      </p:cBhvr>
                                      <p:to>
                                        <p:strVal val="visible"/>
                                      </p:to>
                                    </p:set>
                                    <p:anim calcmode="lin" valueType="num">
                                      <p:cBhvr additive="base">
                                        <p:cTn id="7" dur="500" fill="hold"/>
                                        <p:tgtEl>
                                          <p:spTgt spid="104450">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445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4450">
                                            <p:txEl>
                                              <p:pRg st="2" end="2"/>
                                            </p:txEl>
                                          </p:spTgt>
                                        </p:tgtEl>
                                        <p:attrNameLst>
                                          <p:attrName>style.visibility</p:attrName>
                                        </p:attrNameLst>
                                      </p:cBhvr>
                                      <p:to>
                                        <p:strVal val="visible"/>
                                      </p:to>
                                    </p:set>
                                    <p:anim calcmode="lin" valueType="num">
                                      <p:cBhvr additive="base">
                                        <p:cTn id="13" dur="500" fill="hold"/>
                                        <p:tgtEl>
                                          <p:spTgt spid="104450">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445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4450">
                                            <p:txEl>
                                              <p:pRg st="3" end="3"/>
                                            </p:txEl>
                                          </p:spTgt>
                                        </p:tgtEl>
                                        <p:attrNameLst>
                                          <p:attrName>style.visibility</p:attrName>
                                        </p:attrNameLst>
                                      </p:cBhvr>
                                      <p:to>
                                        <p:strVal val="visible"/>
                                      </p:to>
                                    </p:set>
                                    <p:anim calcmode="lin" valueType="num">
                                      <p:cBhvr additive="base">
                                        <p:cTn id="19" dur="500" fill="hold"/>
                                        <p:tgtEl>
                                          <p:spTgt spid="104450">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4450">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692697"/>
            <a:ext cx="8229600" cy="5631904"/>
          </a:xfrm>
        </p:spPr>
        <p:txBody>
          <a:bodyPr/>
          <a:lstStyle/>
          <a:p>
            <a:pPr marL="0" indent="0" eaLnBrk="1" hangingPunct="1">
              <a:buFont typeface="Wingdings" pitchFamily="2" charset="2"/>
              <a:buNone/>
            </a:pPr>
            <a:r>
              <a:rPr lang="zh-CN" altLang="en-US" sz="2800" b="1" dirty="0"/>
              <a:t>如果当前状态正在单词中，当前字符不是英文字母，则程序状态变成不在单词中。</a:t>
            </a:r>
            <a:endParaRPr lang="en-US" altLang="zh-CN" sz="2800" b="1" dirty="0"/>
          </a:p>
          <a:p>
            <a:pPr marL="0" indent="0" eaLnBrk="1" hangingPunct="1">
              <a:buFont typeface="Wingdings" pitchFamily="2" charset="2"/>
              <a:buNone/>
            </a:pPr>
            <a:r>
              <a:rPr lang="zh-CN" altLang="en-US" sz="2800" b="1" dirty="0"/>
              <a:t>如果当前状态不在单词中，当前字符又是英文字母，则程序状态变成在单词中。为了统计单词个数，这时单词计数器应增</a:t>
            </a:r>
            <a:r>
              <a:rPr lang="en-US" altLang="zh-CN" sz="2800" b="1" dirty="0"/>
              <a:t>1</a:t>
            </a:r>
            <a:r>
              <a:rPr lang="zh-CN" altLang="en-US" sz="2800" b="1" dirty="0"/>
              <a:t>。</a:t>
            </a:r>
          </a:p>
          <a:p>
            <a:pPr marL="0" indent="0" eaLnBrk="1" hangingPunct="1">
              <a:buFont typeface="Wingdings" pitchFamily="2" charset="2"/>
              <a:buNone/>
            </a:pPr>
            <a:r>
              <a:rPr lang="en-US" altLang="zh-CN" sz="2400" b="1" dirty="0"/>
              <a:t>if(</a:t>
            </a:r>
            <a:r>
              <a:rPr lang="en-US" altLang="zh-CN" sz="2400" b="1" dirty="0" err="1"/>
              <a:t>inword</a:t>
            </a:r>
            <a:r>
              <a:rPr lang="en-US" altLang="zh-CN" sz="2400" b="1" dirty="0"/>
              <a:t>)</a:t>
            </a:r>
          </a:p>
          <a:p>
            <a:pPr marL="0" indent="0" eaLnBrk="1" hangingPunct="1">
              <a:buFont typeface="Wingdings" pitchFamily="2" charset="2"/>
              <a:buNone/>
            </a:pPr>
            <a:r>
              <a:rPr lang="en-US" altLang="zh-CN" sz="2400" b="1" dirty="0"/>
              <a:t>{</a:t>
            </a:r>
          </a:p>
          <a:p>
            <a:pPr marL="0" indent="0" eaLnBrk="1" hangingPunct="1">
              <a:buFont typeface="Wingdings" pitchFamily="2" charset="2"/>
              <a:buNone/>
            </a:pPr>
            <a:r>
              <a:rPr lang="en-US" altLang="zh-CN" sz="2400" b="1" dirty="0"/>
              <a:t>    if(!letter) </a:t>
            </a:r>
            <a:r>
              <a:rPr lang="en-US" altLang="zh-CN" sz="2400" b="1" dirty="0" err="1"/>
              <a:t>inword</a:t>
            </a:r>
            <a:r>
              <a:rPr lang="en-US" altLang="zh-CN" sz="2400" b="1" dirty="0"/>
              <a:t> =0;</a:t>
            </a:r>
          </a:p>
          <a:p>
            <a:pPr marL="0" indent="0" eaLnBrk="1" hangingPunct="1">
              <a:buFont typeface="Wingdings" pitchFamily="2" charset="2"/>
              <a:buNone/>
            </a:pPr>
            <a:r>
              <a:rPr lang="en-US" altLang="zh-CN" sz="2400" b="1" dirty="0"/>
              <a:t>}</a:t>
            </a:r>
          </a:p>
          <a:p>
            <a:pPr marL="0" indent="0" eaLnBrk="1" hangingPunct="1">
              <a:buFont typeface="Wingdings" pitchFamily="2" charset="2"/>
              <a:buNone/>
            </a:pPr>
            <a:r>
              <a:rPr lang="en-US" altLang="zh-CN" sz="2400" b="1" dirty="0"/>
              <a:t>else if(letter)</a:t>
            </a:r>
          </a:p>
          <a:p>
            <a:pPr marL="0" indent="0" eaLnBrk="1" hangingPunct="1">
              <a:buFont typeface="Wingdings" pitchFamily="2" charset="2"/>
              <a:buNone/>
            </a:pPr>
            <a:r>
              <a:rPr lang="en-US" altLang="zh-CN" sz="2400" b="1" dirty="0"/>
              <a:t>{</a:t>
            </a:r>
          </a:p>
          <a:p>
            <a:pPr marL="0" indent="0" eaLnBrk="1" hangingPunct="1">
              <a:buFont typeface="Wingdings" pitchFamily="2" charset="2"/>
              <a:buNone/>
            </a:pPr>
            <a:r>
              <a:rPr lang="en-US" altLang="zh-CN" sz="2400" b="1" dirty="0"/>
              <a:t>    </a:t>
            </a:r>
            <a:r>
              <a:rPr lang="en-US" altLang="zh-CN" sz="2400" b="1" dirty="0" err="1"/>
              <a:t>inword</a:t>
            </a:r>
            <a:r>
              <a:rPr lang="en-US" altLang="zh-CN" sz="2400" b="1" dirty="0"/>
              <a:t> =1; words++;</a:t>
            </a:r>
          </a:p>
          <a:p>
            <a:pPr marL="0" indent="0" eaLnBrk="1" hangingPunct="1">
              <a:buFont typeface="Wingdings" pitchFamily="2" charset="2"/>
              <a:buNone/>
            </a:pPr>
            <a:r>
              <a:rPr lang="en-US" altLang="zh-CN" sz="2400" b="1" dirty="0"/>
              <a:t>}</a:t>
            </a:r>
          </a:p>
          <a:p>
            <a:pPr marL="0" indent="0" eaLnBrk="1" hangingPunct="1">
              <a:buFont typeface="Wingdings" pitchFamily="2" charset="2"/>
              <a:buNone/>
            </a:pPr>
            <a:endParaRPr lang="en-US" altLang="zh-CN" sz="2800" b="1" dirty="0">
              <a:solidFill>
                <a:srgbClr val="FF0000"/>
              </a:solidFill>
            </a:endParaRPr>
          </a:p>
          <a:p>
            <a:pPr marL="0" indent="0" eaLnBrk="1" hangingPunct="1">
              <a:buFont typeface="Wingdings" pitchFamily="2" charset="2"/>
              <a:buNone/>
            </a:pPr>
            <a:endParaRPr lang="zh-CN" altLang="en-US" sz="2800" b="1" dirty="0">
              <a:solidFill>
                <a:srgbClr val="FF0000"/>
              </a:solidFill>
            </a:endParaRPr>
          </a:p>
          <a:p>
            <a:pPr>
              <a:buNone/>
            </a:pPr>
            <a:endParaRPr lang="zh-CN" altLang="en-US" dirty="0"/>
          </a:p>
        </p:txBody>
      </p:sp>
      <p:sp>
        <p:nvSpPr>
          <p:cNvPr id="4" name="灯片编号占位符 3"/>
          <p:cNvSpPr>
            <a:spLocks noGrp="1"/>
          </p:cNvSpPr>
          <p:nvPr>
            <p:ph type="sldNum" sz="quarter" idx="12"/>
          </p:nvPr>
        </p:nvSpPr>
        <p:spPr/>
        <p:txBody>
          <a:bodyPr/>
          <a:lstStyle/>
          <a:p>
            <a:pPr>
              <a:defRPr/>
            </a:pPr>
            <a:fld id="{5DCB0509-EBFA-4973-BBC1-64BDD304043B}" type="slidenum">
              <a:rPr lang="en-US" altLang="zh-CN" smtClean="0"/>
              <a:pPr>
                <a:defRPr/>
              </a:pPr>
              <a:t>108</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 calcmode="lin" valueType="num">
                                      <p:cBhvr additive="base">
                                        <p:cTn id="25"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 calcmode="lin" valueType="num">
                                      <p:cBhvr additive="base">
                                        <p:cTn id="3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 calcmode="lin" valueType="num">
                                      <p:cBhvr additive="base">
                                        <p:cTn id="3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8" end="8"/>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anim calcmode="lin" valueType="num">
                                      <p:cBhvr additive="base">
                                        <p:cTn id="4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95CB5F-B978-0104-4310-BAF76D2BCDFE}"/>
              </a:ext>
            </a:extLst>
          </p:cNvPr>
          <p:cNvSpPr>
            <a:spLocks noGrp="1"/>
          </p:cNvSpPr>
          <p:nvPr>
            <p:ph type="title"/>
          </p:nvPr>
        </p:nvSpPr>
        <p:spPr/>
        <p:txBody>
          <a:bodyPr/>
          <a:lstStyle/>
          <a:p>
            <a:r>
              <a:rPr lang="zh-CN" altLang="en-US" dirty="0"/>
              <a:t>模式匹配</a:t>
            </a:r>
          </a:p>
        </p:txBody>
      </p:sp>
      <p:sp>
        <p:nvSpPr>
          <p:cNvPr id="3" name="内容占位符 2">
            <a:extLst>
              <a:ext uri="{FF2B5EF4-FFF2-40B4-BE49-F238E27FC236}">
                <a16:creationId xmlns:a16="http://schemas.microsoft.com/office/drawing/2014/main" id="{8F8BAD64-A826-0C38-96FC-A621C94AA8B0}"/>
              </a:ext>
            </a:extLst>
          </p:cNvPr>
          <p:cNvSpPr>
            <a:spLocks noGrp="1"/>
          </p:cNvSpPr>
          <p:nvPr>
            <p:ph idx="1"/>
          </p:nvPr>
        </p:nvSpPr>
        <p:spPr>
          <a:xfrm>
            <a:off x="251520" y="1935163"/>
            <a:ext cx="8784976" cy="4389437"/>
          </a:xfrm>
        </p:spPr>
        <p:txBody>
          <a:bodyPr/>
          <a:lstStyle/>
          <a:p>
            <a:pPr indent="0" algn="just">
              <a:buNone/>
            </a:pP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设</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T</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P</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是两个字符串</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(T</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的长度为</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n</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P</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的长度为</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m</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1≤m≤n)</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，称</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T</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为目标（</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Target</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P</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为模式（</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Pattern</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），要求在</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T</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中查找是否有与</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P</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相等的子串。如果有，则给出</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P</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在</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T</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中的匹配位置，这个运算被称为模式匹配</a:t>
            </a:r>
            <a:endPar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indent="0" algn="just">
              <a:buNone/>
            </a:pP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indent="0" algn="just">
              <a:buNone/>
            </a:pP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实现模式匹配的</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Brute Force</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算法如下：</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marL="558800" indent="-285750" algn="just"/>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按顺序遍历</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T</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的字符串，将</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T</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的每个字符作为匹配的起始字符，用</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P</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的字符依次与</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T</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中的字符做比较，判断是否匹配。</a:t>
            </a:r>
            <a:endParaRPr lang="en-US" altLang="zh-CN" sz="2000" kern="100" dirty="0">
              <a:latin typeface="等线" panose="02010600030101010101" pitchFamily="2" charset="-122"/>
              <a:ea typeface="等线" panose="02010600030101010101" pitchFamily="2" charset="-122"/>
              <a:cs typeface="Times New Roman" panose="02020603050405020304" pitchFamily="18" charset="0"/>
            </a:endParaRPr>
          </a:p>
          <a:p>
            <a:pPr marL="558800" indent="-285750" algn="just"/>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如果</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T</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P</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的当前字符匹配，则比较下一个字符；否则，以</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T</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的当前起始字符的下个字符为起始字符，重复上述步骤。</a:t>
            </a:r>
            <a:endParaRPr lang="en-US" altLang="zh-CN" sz="2000" kern="100" dirty="0">
              <a:latin typeface="等线" panose="02010600030101010101" pitchFamily="2" charset="-122"/>
              <a:ea typeface="等线" panose="02010600030101010101" pitchFamily="2" charset="-122"/>
              <a:cs typeface="Times New Roman" panose="02020603050405020304" pitchFamily="18" charset="0"/>
            </a:endParaRPr>
          </a:p>
          <a:p>
            <a:pPr marL="558800" indent="-285750" algn="just"/>
            <a:r>
              <a:rPr lang="zh-CN" altLang="en-US" sz="2000" kern="100" dirty="0">
                <a:latin typeface="Times New Roman" panose="02020603050405020304" pitchFamily="18" charset="0"/>
                <a:ea typeface="宋体" panose="02010600030101010101" pitchFamily="2" charset="-122"/>
                <a:cs typeface="Times New Roman" panose="02020603050405020304" pitchFamily="18" charset="0"/>
              </a:rPr>
              <a:t>若</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T</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的一个子字符串与</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P</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匹配，则返回</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T</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中的匹配子串的起始字符的序号，匹配成功；如果在</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T</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中不存在与</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P</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匹配的子字符串，则匹配失败。</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
        <p:nvSpPr>
          <p:cNvPr id="4" name="灯片编号占位符 3">
            <a:extLst>
              <a:ext uri="{FF2B5EF4-FFF2-40B4-BE49-F238E27FC236}">
                <a16:creationId xmlns:a16="http://schemas.microsoft.com/office/drawing/2014/main" id="{779DB05A-E609-7E0D-E896-ABA06047196C}"/>
              </a:ext>
            </a:extLst>
          </p:cNvPr>
          <p:cNvSpPr>
            <a:spLocks noGrp="1"/>
          </p:cNvSpPr>
          <p:nvPr>
            <p:ph type="sldNum" sz="quarter" idx="12"/>
          </p:nvPr>
        </p:nvSpPr>
        <p:spPr/>
        <p:txBody>
          <a:bodyPr/>
          <a:lstStyle/>
          <a:p>
            <a:pPr>
              <a:defRPr/>
            </a:pPr>
            <a:fld id="{5DCB0509-EBFA-4973-BBC1-64BDD304043B}" type="slidenum">
              <a:rPr lang="en-US" altLang="zh-CN" smtClean="0"/>
              <a:pPr>
                <a:defRPr/>
              </a:pPr>
              <a:t>109</a:t>
            </a:fld>
            <a:endParaRPr lang="en-US" altLang="zh-CN"/>
          </a:p>
        </p:txBody>
      </p:sp>
    </p:spTree>
    <p:extLst>
      <p:ext uri="{BB962C8B-B14F-4D97-AF65-F5344CB8AC3E}">
        <p14:creationId xmlns:p14="http://schemas.microsoft.com/office/powerpoint/2010/main" val="728870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A1B90F-E539-8E3C-EB43-0295E7B4EB3F}"/>
              </a:ext>
            </a:extLst>
          </p:cNvPr>
          <p:cNvSpPr>
            <a:spLocks noGrp="1"/>
          </p:cNvSpPr>
          <p:nvPr>
            <p:ph type="title"/>
          </p:nvPr>
        </p:nvSpPr>
        <p:spPr/>
        <p:txBody>
          <a:bodyPr/>
          <a:lstStyle/>
          <a:p>
            <a:r>
              <a:rPr lang="zh-CN" altLang="en-US" dirty="0"/>
              <a:t>基础算法：</a:t>
            </a:r>
          </a:p>
        </p:txBody>
      </p:sp>
      <p:sp>
        <p:nvSpPr>
          <p:cNvPr id="3" name="内容占位符 2">
            <a:extLst>
              <a:ext uri="{FF2B5EF4-FFF2-40B4-BE49-F238E27FC236}">
                <a16:creationId xmlns:a16="http://schemas.microsoft.com/office/drawing/2014/main" id="{5B2181F2-9325-122A-29EB-31F361B552A6}"/>
              </a:ext>
            </a:extLst>
          </p:cNvPr>
          <p:cNvSpPr>
            <a:spLocks noGrp="1"/>
          </p:cNvSpPr>
          <p:nvPr>
            <p:ph idx="1"/>
          </p:nvPr>
        </p:nvSpPr>
        <p:spPr>
          <a:xfrm>
            <a:off x="457200" y="1935163"/>
            <a:ext cx="8229600" cy="4786312"/>
          </a:xfrm>
        </p:spPr>
        <p:txBody>
          <a:bodyPr/>
          <a:lstStyle/>
          <a:p>
            <a:pPr marL="0" indent="0">
              <a:buNone/>
            </a:pPr>
            <a:r>
              <a:rPr lang="en-US" altLang="zh-CN" sz="2400" dirty="0"/>
              <a:t>m = </a:t>
            </a:r>
            <a:r>
              <a:rPr lang="en-US" altLang="zh-CN" sz="2400" dirty="0" err="1"/>
              <a:t>strlen</a:t>
            </a:r>
            <a:r>
              <a:rPr lang="en-US" altLang="zh-CN" sz="2400" dirty="0"/>
              <a:t>(P);</a:t>
            </a:r>
          </a:p>
          <a:p>
            <a:pPr marL="0" indent="0">
              <a:buNone/>
            </a:pPr>
            <a:r>
              <a:rPr lang="en-US" altLang="zh-CN" sz="2400" dirty="0"/>
              <a:t>n = </a:t>
            </a:r>
            <a:r>
              <a:rPr lang="en-US" altLang="zh-CN" sz="2400" dirty="0" err="1"/>
              <a:t>strlen</a:t>
            </a:r>
            <a:r>
              <a:rPr lang="en-US" altLang="zh-CN" sz="2400" dirty="0"/>
              <a:t>(T);</a:t>
            </a:r>
          </a:p>
          <a:p>
            <a:pPr marL="0" indent="0">
              <a:buNone/>
            </a:pPr>
            <a:r>
              <a:rPr lang="en-US" altLang="zh-CN" sz="2400" dirty="0"/>
              <a:t>for (</a:t>
            </a:r>
            <a:r>
              <a:rPr lang="en-US" altLang="zh-CN" sz="2400" dirty="0" err="1"/>
              <a:t>i</a:t>
            </a:r>
            <a:r>
              <a:rPr lang="en-US" altLang="zh-CN" sz="2400" dirty="0"/>
              <a:t> = 0; </a:t>
            </a:r>
            <a:r>
              <a:rPr lang="en-US" altLang="zh-CN" sz="2400" dirty="0" err="1"/>
              <a:t>i</a:t>
            </a:r>
            <a:r>
              <a:rPr lang="en-US" altLang="zh-CN" sz="2400" dirty="0"/>
              <a:t> &lt;= n - m; ++</a:t>
            </a:r>
            <a:r>
              <a:rPr lang="en-US" altLang="zh-CN" sz="2400" dirty="0" err="1"/>
              <a:t>i</a:t>
            </a:r>
            <a:r>
              <a:rPr lang="en-US" altLang="zh-CN" sz="2400" dirty="0"/>
              <a:t>)</a:t>
            </a:r>
          </a:p>
          <a:p>
            <a:pPr marL="0" indent="0">
              <a:buNone/>
            </a:pPr>
            <a:r>
              <a:rPr lang="en-US" altLang="zh-CN" sz="2400" dirty="0"/>
              <a:t>{</a:t>
            </a:r>
          </a:p>
          <a:p>
            <a:pPr marL="0" indent="0">
              <a:buNone/>
            </a:pPr>
            <a:r>
              <a:rPr lang="en-US" altLang="zh-CN" sz="2400" dirty="0"/>
              <a:t>	j = 0; </a:t>
            </a:r>
          </a:p>
          <a:p>
            <a:pPr marL="0" indent="0">
              <a:buNone/>
            </a:pPr>
            <a:r>
              <a:rPr lang="en-US" altLang="zh-CN" sz="2400" dirty="0"/>
              <a:t>	while (j &lt; m &amp;&amp; T[</a:t>
            </a:r>
            <a:r>
              <a:rPr lang="en-US" altLang="zh-CN" sz="2400" dirty="0" err="1"/>
              <a:t>i</a:t>
            </a:r>
            <a:r>
              <a:rPr lang="en-US" altLang="zh-CN" sz="2400" dirty="0"/>
              <a:t> + j] == P[j])</a:t>
            </a:r>
          </a:p>
          <a:p>
            <a:pPr marL="0" indent="0">
              <a:buNone/>
            </a:pPr>
            <a:r>
              <a:rPr lang="en-US" altLang="zh-CN" sz="2400" dirty="0"/>
              <a:t>		++j;</a:t>
            </a:r>
          </a:p>
          <a:p>
            <a:pPr marL="0" indent="0">
              <a:buNone/>
            </a:pPr>
            <a:r>
              <a:rPr lang="en-US" altLang="zh-CN" sz="2400" dirty="0"/>
              <a:t>	if (j == m)</a:t>
            </a:r>
          </a:p>
          <a:p>
            <a:pPr marL="0" indent="0">
              <a:buNone/>
            </a:pPr>
            <a:r>
              <a:rPr lang="en-US" altLang="zh-CN" sz="2400" dirty="0"/>
              <a:t>		return </a:t>
            </a:r>
            <a:r>
              <a:rPr lang="en-US" altLang="zh-CN" sz="2400" dirty="0" err="1"/>
              <a:t>i</a:t>
            </a:r>
            <a:r>
              <a:rPr lang="en-US" altLang="zh-CN" sz="2400" dirty="0"/>
              <a:t>;</a:t>
            </a:r>
          </a:p>
          <a:p>
            <a:pPr marL="0" indent="0">
              <a:buNone/>
            </a:pPr>
            <a:r>
              <a:rPr lang="en-US" altLang="zh-CN" sz="2400" dirty="0"/>
              <a:t>}</a:t>
            </a:r>
          </a:p>
          <a:p>
            <a:endParaRPr lang="zh-CN" altLang="en-US" dirty="0"/>
          </a:p>
        </p:txBody>
      </p:sp>
      <p:sp>
        <p:nvSpPr>
          <p:cNvPr id="4" name="灯片编号占位符 3">
            <a:extLst>
              <a:ext uri="{FF2B5EF4-FFF2-40B4-BE49-F238E27FC236}">
                <a16:creationId xmlns:a16="http://schemas.microsoft.com/office/drawing/2014/main" id="{5C49410F-2825-B053-65CB-5AAE89218F6A}"/>
              </a:ext>
            </a:extLst>
          </p:cNvPr>
          <p:cNvSpPr>
            <a:spLocks noGrp="1"/>
          </p:cNvSpPr>
          <p:nvPr>
            <p:ph type="sldNum" sz="quarter" idx="12"/>
          </p:nvPr>
        </p:nvSpPr>
        <p:spPr/>
        <p:txBody>
          <a:bodyPr/>
          <a:lstStyle/>
          <a:p>
            <a:pPr>
              <a:defRPr/>
            </a:pPr>
            <a:fld id="{5DCB0509-EBFA-4973-BBC1-64BDD304043B}" type="slidenum">
              <a:rPr lang="en-US" altLang="zh-CN" smtClean="0"/>
              <a:pPr>
                <a:defRPr/>
              </a:pPr>
              <a:t>110</a:t>
            </a:fld>
            <a:endParaRPr lang="en-US" altLang="zh-CN"/>
          </a:p>
        </p:txBody>
      </p:sp>
    </p:spTree>
    <p:extLst>
      <p:ext uri="{BB962C8B-B14F-4D97-AF65-F5344CB8AC3E}">
        <p14:creationId xmlns:p14="http://schemas.microsoft.com/office/powerpoint/2010/main" val="4155935808"/>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FC5115-8AF5-2C4B-80F0-C48A84E608B2}"/>
              </a:ext>
            </a:extLst>
          </p:cNvPr>
          <p:cNvSpPr>
            <a:spLocks noGrp="1"/>
          </p:cNvSpPr>
          <p:nvPr>
            <p:ph type="title"/>
          </p:nvPr>
        </p:nvSpPr>
        <p:spPr/>
        <p:txBody>
          <a:bodyPr/>
          <a:lstStyle/>
          <a:p>
            <a:r>
              <a:rPr lang="zh-CN" altLang="en-US" dirty="0"/>
              <a:t>这段代码的功能：</a:t>
            </a:r>
          </a:p>
        </p:txBody>
      </p:sp>
      <p:sp>
        <p:nvSpPr>
          <p:cNvPr id="3" name="内容占位符 2">
            <a:extLst>
              <a:ext uri="{FF2B5EF4-FFF2-40B4-BE49-F238E27FC236}">
                <a16:creationId xmlns:a16="http://schemas.microsoft.com/office/drawing/2014/main" id="{8B18F833-893E-7ED2-1821-7AD27FA54A48}"/>
              </a:ext>
            </a:extLst>
          </p:cNvPr>
          <p:cNvSpPr>
            <a:spLocks noGrp="1"/>
          </p:cNvSpPr>
          <p:nvPr>
            <p:ph idx="1"/>
          </p:nvPr>
        </p:nvSpPr>
        <p:spPr/>
        <p:txBody>
          <a:bodyPr/>
          <a:lstStyle/>
          <a:p>
            <a:r>
              <a:rPr lang="en-US" altLang="zh-CN" sz="1800" dirty="0"/>
              <a:t>	char s[100];</a:t>
            </a:r>
          </a:p>
          <a:p>
            <a:r>
              <a:rPr lang="en-US" altLang="zh-CN" sz="1800" dirty="0"/>
              <a:t>	int </a:t>
            </a:r>
            <a:r>
              <a:rPr lang="en-US" altLang="zh-CN" sz="1800" dirty="0" err="1"/>
              <a:t>i</a:t>
            </a:r>
            <a:r>
              <a:rPr lang="en-US" altLang="zh-CN" sz="1800" dirty="0"/>
              <a:t>=0,j,n,flag=0;</a:t>
            </a:r>
          </a:p>
          <a:p>
            <a:r>
              <a:rPr lang="en-US" altLang="zh-CN" sz="1800" dirty="0"/>
              <a:t>	while ((s[</a:t>
            </a:r>
            <a:r>
              <a:rPr lang="en-US" altLang="zh-CN" sz="1800" dirty="0" err="1"/>
              <a:t>i</a:t>
            </a:r>
            <a:r>
              <a:rPr lang="en-US" altLang="zh-CN" sz="1800" dirty="0"/>
              <a:t>]=</a:t>
            </a:r>
            <a:r>
              <a:rPr lang="en-US" altLang="zh-CN" sz="1800" dirty="0" err="1"/>
              <a:t>getchar</a:t>
            </a:r>
            <a:r>
              <a:rPr lang="en-US" altLang="zh-CN" sz="1800" dirty="0" smtClean="0"/>
              <a:t>())!=‘\</a:t>
            </a:r>
            <a:r>
              <a:rPr lang="en-US" altLang="zh-CN" sz="1800" dirty="0"/>
              <a:t>n</a:t>
            </a:r>
            <a:r>
              <a:rPr lang="en-US" altLang="zh-CN" sz="1800" dirty="0" smtClean="0"/>
              <a:t>’)   </a:t>
            </a:r>
            <a:r>
              <a:rPr lang="zh-CN" altLang="en-US" sz="1800" dirty="0" smtClean="0"/>
              <a:t>让用户在键盘上输入值读进</a:t>
            </a:r>
            <a:r>
              <a:rPr lang="en-US" altLang="zh-CN" sz="1800" dirty="0" smtClean="0"/>
              <a:t>char</a:t>
            </a:r>
            <a:r>
              <a:rPr lang="zh-CN" altLang="en-US" sz="1800" dirty="0" smtClean="0"/>
              <a:t>，回车除外</a:t>
            </a:r>
            <a:endParaRPr lang="en-US" altLang="zh-CN" sz="1800" dirty="0"/>
          </a:p>
          <a:p>
            <a:r>
              <a:rPr lang="en-US" altLang="zh-CN" sz="1800" dirty="0"/>
              <a:t>	         </a:t>
            </a:r>
            <a:r>
              <a:rPr lang="en-US" altLang="zh-CN" sz="1800" dirty="0" err="1"/>
              <a:t>i</a:t>
            </a:r>
            <a:r>
              <a:rPr lang="en-US" altLang="zh-CN" sz="1800" dirty="0"/>
              <a:t>++;</a:t>
            </a:r>
          </a:p>
          <a:p>
            <a:r>
              <a:rPr lang="en-US" altLang="zh-CN" sz="1800" dirty="0"/>
              <a:t>	if(i%2==0</a:t>
            </a:r>
            <a:r>
              <a:rPr lang="en-US" altLang="zh-CN" sz="1800" dirty="0" smtClean="0"/>
              <a:t>)    </a:t>
            </a:r>
            <a:r>
              <a:rPr lang="zh-CN" altLang="en-US" sz="1800" dirty="0" smtClean="0"/>
              <a:t>如果</a:t>
            </a:r>
            <a:r>
              <a:rPr lang="en-US" altLang="zh-CN" sz="1800" dirty="0" err="1" smtClean="0"/>
              <a:t>i</a:t>
            </a:r>
            <a:r>
              <a:rPr lang="zh-CN" altLang="en-US" sz="1800" dirty="0" smtClean="0"/>
              <a:t>即整个字符串的长度为偶数</a:t>
            </a:r>
            <a:endParaRPr lang="en-US" altLang="zh-CN" sz="1800" dirty="0"/>
          </a:p>
          <a:p>
            <a:r>
              <a:rPr lang="en-US" altLang="zh-CN" sz="1800" dirty="0"/>
              <a:t>	        n=</a:t>
            </a:r>
            <a:r>
              <a:rPr lang="en-US" altLang="zh-CN" sz="1800" dirty="0" err="1"/>
              <a:t>i</a:t>
            </a:r>
            <a:r>
              <a:rPr lang="en-US" altLang="zh-CN" sz="1800" dirty="0"/>
              <a:t>/2;</a:t>
            </a:r>
          </a:p>
          <a:p>
            <a:r>
              <a:rPr lang="en-US" altLang="zh-CN" sz="1800" dirty="0"/>
              <a:t>	else n=</a:t>
            </a:r>
            <a:r>
              <a:rPr lang="en-US" altLang="zh-CN" sz="1800" dirty="0" err="1"/>
              <a:t>i</a:t>
            </a:r>
            <a:r>
              <a:rPr lang="en-US" altLang="zh-CN" sz="1800" dirty="0"/>
              <a:t>/2+1</a:t>
            </a:r>
            <a:r>
              <a:rPr lang="en-US" altLang="zh-CN" sz="1800" dirty="0" smtClean="0"/>
              <a:t>;   n</a:t>
            </a:r>
            <a:r>
              <a:rPr lang="zh-CN" altLang="en-US" sz="1800" dirty="0" smtClean="0"/>
              <a:t>为整个字符串的中间位置</a:t>
            </a:r>
            <a:endParaRPr lang="en-US" altLang="zh-CN" sz="1800" dirty="0"/>
          </a:p>
          <a:p>
            <a:r>
              <a:rPr lang="en-US" altLang="zh-CN" sz="1800" dirty="0"/>
              <a:t>	for (j=0;j&lt;</a:t>
            </a:r>
            <a:r>
              <a:rPr lang="en-US" altLang="zh-CN" sz="1800" dirty="0" err="1"/>
              <a:t>n;j</a:t>
            </a:r>
            <a:r>
              <a:rPr lang="en-US" altLang="zh-CN" sz="1800" dirty="0"/>
              <a:t>++) </a:t>
            </a:r>
            <a:r>
              <a:rPr lang="en-US" altLang="zh-CN" sz="1800" dirty="0" smtClean="0"/>
              <a:t>{    </a:t>
            </a:r>
            <a:r>
              <a:rPr lang="zh-CN" altLang="en-US" sz="1800" dirty="0" smtClean="0"/>
              <a:t>整个字符串跑一半</a:t>
            </a:r>
            <a:endParaRPr lang="en-US" altLang="zh-CN" sz="1800" dirty="0"/>
          </a:p>
          <a:p>
            <a:r>
              <a:rPr lang="en-US" altLang="zh-CN" sz="1800" dirty="0"/>
              <a:t>	         if (s[j]!=s[i-j-1]) </a:t>
            </a:r>
            <a:r>
              <a:rPr lang="en-US" altLang="zh-CN" sz="1800" dirty="0" smtClean="0"/>
              <a:t>{   </a:t>
            </a:r>
            <a:r>
              <a:rPr lang="zh-CN" altLang="en-US" sz="1800" dirty="0" smtClean="0"/>
              <a:t>数组长度是</a:t>
            </a:r>
            <a:r>
              <a:rPr lang="en-US" altLang="zh-CN" sz="1800" dirty="0" err="1" smtClean="0"/>
              <a:t>i</a:t>
            </a:r>
            <a:r>
              <a:rPr lang="zh-CN" altLang="en-US" sz="1800" dirty="0" smtClean="0"/>
              <a:t>，</a:t>
            </a:r>
            <a:r>
              <a:rPr lang="en-US" altLang="zh-CN" sz="1800" dirty="0" smtClean="0"/>
              <a:t>i-1</a:t>
            </a:r>
            <a:r>
              <a:rPr lang="zh-CN" altLang="en-US" sz="1800" dirty="0" smtClean="0"/>
              <a:t>是最后一个</a:t>
            </a:r>
            <a:endParaRPr lang="en-US" altLang="zh-CN" sz="1800" dirty="0"/>
          </a:p>
          <a:p>
            <a:r>
              <a:rPr lang="en-US" altLang="zh-CN" sz="1800" dirty="0"/>
              <a:t>	               flag=1;</a:t>
            </a:r>
          </a:p>
          <a:p>
            <a:r>
              <a:rPr lang="en-US" altLang="zh-CN" sz="1800" dirty="0"/>
              <a:t>	               break;	</a:t>
            </a:r>
          </a:p>
          <a:p>
            <a:r>
              <a:rPr lang="en-US" altLang="zh-CN" sz="1800" dirty="0"/>
              <a:t>                          }	</a:t>
            </a:r>
            <a:r>
              <a:rPr lang="zh-CN" altLang="en-US" sz="1800" dirty="0" smtClean="0"/>
              <a:t>看字符串是否中心对称</a:t>
            </a:r>
            <a:endParaRPr lang="en-US" altLang="zh-CN" sz="1800" dirty="0"/>
          </a:p>
          <a:p>
            <a:r>
              <a:rPr lang="en-US" altLang="zh-CN" sz="1800" dirty="0"/>
              <a:t>	}</a:t>
            </a:r>
          </a:p>
        </p:txBody>
      </p:sp>
      <p:sp>
        <p:nvSpPr>
          <p:cNvPr id="4" name="灯片编号占位符 3">
            <a:extLst>
              <a:ext uri="{FF2B5EF4-FFF2-40B4-BE49-F238E27FC236}">
                <a16:creationId xmlns:a16="http://schemas.microsoft.com/office/drawing/2014/main" id="{E7D5B92E-95CF-1A54-AA7A-28BB5765944B}"/>
              </a:ext>
            </a:extLst>
          </p:cNvPr>
          <p:cNvSpPr>
            <a:spLocks noGrp="1"/>
          </p:cNvSpPr>
          <p:nvPr>
            <p:ph type="sldNum" sz="quarter" idx="12"/>
          </p:nvPr>
        </p:nvSpPr>
        <p:spPr/>
        <p:txBody>
          <a:bodyPr/>
          <a:lstStyle/>
          <a:p>
            <a:pPr>
              <a:defRPr/>
            </a:pPr>
            <a:fld id="{5DCB0509-EBFA-4973-BBC1-64BDD304043B}" type="slidenum">
              <a:rPr lang="en-US" altLang="zh-CN" smtClean="0"/>
              <a:pPr>
                <a:defRPr/>
              </a:pPr>
              <a:t>111</a:t>
            </a:fld>
            <a:endParaRPr lang="en-US" altLang="zh-CN"/>
          </a:p>
        </p:txBody>
      </p:sp>
    </p:spTree>
    <p:extLst>
      <p:ext uri="{BB962C8B-B14F-4D97-AF65-F5344CB8AC3E}">
        <p14:creationId xmlns:p14="http://schemas.microsoft.com/office/powerpoint/2010/main" val="836399945"/>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4A6B4EA-DA6F-76B8-4B81-CEDE28EEF2FE}"/>
              </a:ext>
            </a:extLst>
          </p:cNvPr>
          <p:cNvSpPr>
            <a:spLocks noGrp="1"/>
          </p:cNvSpPr>
          <p:nvPr>
            <p:ph idx="1"/>
          </p:nvPr>
        </p:nvSpPr>
        <p:spPr>
          <a:xfrm>
            <a:off x="323528" y="548680"/>
            <a:ext cx="8229600" cy="6048672"/>
          </a:xfrm>
        </p:spPr>
        <p:txBody>
          <a:bodyPr/>
          <a:lstStyle/>
          <a:p>
            <a:r>
              <a:rPr lang="en-US" altLang="zh-CN" sz="1200" dirty="0"/>
              <a:t>#include &lt;</a:t>
            </a:r>
            <a:r>
              <a:rPr lang="en-US" altLang="zh-CN" sz="1200" dirty="0" err="1"/>
              <a:t>stdio.h</a:t>
            </a:r>
            <a:r>
              <a:rPr lang="en-US" altLang="zh-CN" sz="1200" dirty="0"/>
              <a:t>&gt;</a:t>
            </a:r>
          </a:p>
          <a:p>
            <a:r>
              <a:rPr lang="en-US" altLang="zh-CN" sz="1200" dirty="0"/>
              <a:t>#include &lt;</a:t>
            </a:r>
            <a:r>
              <a:rPr lang="en-US" altLang="zh-CN" sz="1200" dirty="0" err="1"/>
              <a:t>string.h</a:t>
            </a:r>
            <a:r>
              <a:rPr lang="en-US" altLang="zh-CN" sz="1200" dirty="0"/>
              <a:t>&gt;</a:t>
            </a:r>
          </a:p>
          <a:p>
            <a:endParaRPr lang="en-US" altLang="zh-CN" sz="1200" dirty="0"/>
          </a:p>
          <a:p>
            <a:r>
              <a:rPr lang="en-US" altLang="zh-CN" sz="1200" dirty="0"/>
              <a:t>int main() {</a:t>
            </a:r>
          </a:p>
          <a:p>
            <a:r>
              <a:rPr lang="en-US" altLang="zh-CN" sz="1200" dirty="0"/>
              <a:t>    char str[100];</a:t>
            </a:r>
          </a:p>
          <a:p>
            <a:r>
              <a:rPr lang="en-US" altLang="zh-CN" sz="1200" dirty="0"/>
              <a:t>    </a:t>
            </a:r>
            <a:r>
              <a:rPr lang="en-US" altLang="zh-CN" sz="1200" dirty="0" err="1"/>
              <a:t>printf</a:t>
            </a:r>
            <a:r>
              <a:rPr lang="en-US" altLang="zh-CN" sz="1200" dirty="0"/>
              <a:t>("Enter a string: ");</a:t>
            </a:r>
          </a:p>
          <a:p>
            <a:r>
              <a:rPr lang="en-US" altLang="zh-CN" sz="1200" dirty="0"/>
              <a:t>    </a:t>
            </a:r>
            <a:r>
              <a:rPr lang="en-US" altLang="zh-CN" sz="1200" dirty="0" err="1"/>
              <a:t>scanf</a:t>
            </a:r>
            <a:r>
              <a:rPr lang="en-US" altLang="zh-CN" sz="1200" dirty="0"/>
              <a:t>("%s", str);</a:t>
            </a:r>
          </a:p>
          <a:p>
            <a:endParaRPr lang="en-US" altLang="zh-CN" sz="1200" dirty="0"/>
          </a:p>
          <a:p>
            <a:r>
              <a:rPr lang="en-US" altLang="zh-CN" sz="1200" dirty="0"/>
              <a:t>    int start, end;</a:t>
            </a:r>
          </a:p>
          <a:p>
            <a:r>
              <a:rPr lang="en-US" altLang="zh-CN" sz="1200" dirty="0"/>
              <a:t>    </a:t>
            </a:r>
            <a:r>
              <a:rPr lang="en-US" altLang="zh-CN" sz="1200" dirty="0" err="1"/>
              <a:t>printf</a:t>
            </a:r>
            <a:r>
              <a:rPr lang="en-US" altLang="zh-CN" sz="1200" dirty="0"/>
              <a:t>("Enter the starting and ending indices: ");</a:t>
            </a:r>
          </a:p>
          <a:p>
            <a:r>
              <a:rPr lang="en-US" altLang="zh-CN" sz="1200" dirty="0"/>
              <a:t>    </a:t>
            </a:r>
            <a:r>
              <a:rPr lang="en-US" altLang="zh-CN" sz="1200" dirty="0" err="1"/>
              <a:t>scanf</a:t>
            </a:r>
            <a:r>
              <a:rPr lang="en-US" altLang="zh-CN" sz="1200" dirty="0"/>
              <a:t>("%d %d", &amp;start, &amp;end);</a:t>
            </a:r>
          </a:p>
          <a:p>
            <a:endParaRPr lang="en-US" altLang="zh-CN" sz="1200" dirty="0"/>
          </a:p>
          <a:p>
            <a:r>
              <a:rPr lang="en-US" altLang="zh-CN" sz="1200" dirty="0"/>
              <a:t>    int length = </a:t>
            </a:r>
            <a:r>
              <a:rPr lang="en-US" altLang="zh-CN" sz="1200" dirty="0" err="1"/>
              <a:t>strlen</a:t>
            </a:r>
            <a:r>
              <a:rPr lang="en-US" altLang="zh-CN" sz="1200" dirty="0"/>
              <a:t>(str);</a:t>
            </a:r>
          </a:p>
          <a:p>
            <a:r>
              <a:rPr lang="en-US" altLang="zh-CN" sz="1200" dirty="0"/>
              <a:t>    if (start &gt;= 0 &amp;&amp; start &lt; length &amp;&amp; end &gt;= 0 &amp;&amp; end &lt; length &amp;&amp; start &lt;= end) {</a:t>
            </a:r>
          </a:p>
          <a:p>
            <a:r>
              <a:rPr lang="en-US" altLang="zh-CN" sz="1200" dirty="0"/>
              <a:t>        char substring[100];</a:t>
            </a:r>
          </a:p>
          <a:p>
            <a:r>
              <a:rPr lang="en-US" altLang="zh-CN" sz="1200" dirty="0"/>
              <a:t>        int j = 0;</a:t>
            </a:r>
          </a:p>
          <a:p>
            <a:r>
              <a:rPr lang="en-US" altLang="zh-CN" sz="1200" dirty="0"/>
              <a:t>        for (int </a:t>
            </a:r>
            <a:r>
              <a:rPr lang="en-US" altLang="zh-CN" sz="1200" dirty="0" err="1"/>
              <a:t>i</a:t>
            </a:r>
            <a:r>
              <a:rPr lang="en-US" altLang="zh-CN" sz="1200" dirty="0"/>
              <a:t> = start; </a:t>
            </a:r>
            <a:r>
              <a:rPr lang="en-US" altLang="zh-CN" sz="1200" dirty="0" err="1"/>
              <a:t>i</a:t>
            </a:r>
            <a:r>
              <a:rPr lang="en-US" altLang="zh-CN" sz="1200" dirty="0"/>
              <a:t> &lt;= end; </a:t>
            </a:r>
            <a:r>
              <a:rPr lang="en-US" altLang="zh-CN" sz="1200" dirty="0" err="1"/>
              <a:t>i</a:t>
            </a:r>
            <a:r>
              <a:rPr lang="en-US" altLang="zh-CN" sz="1200" dirty="0"/>
              <a:t>++) {</a:t>
            </a:r>
          </a:p>
          <a:p>
            <a:r>
              <a:rPr lang="en-US" altLang="zh-CN" sz="1200" dirty="0"/>
              <a:t>            substring[</a:t>
            </a:r>
            <a:r>
              <a:rPr lang="en-US" altLang="zh-CN" sz="1200" dirty="0" err="1"/>
              <a:t>j++</a:t>
            </a:r>
            <a:r>
              <a:rPr lang="en-US" altLang="zh-CN" sz="1200" dirty="0"/>
              <a:t>] = </a:t>
            </a:r>
            <a:r>
              <a:rPr lang="en-US" altLang="zh-CN" sz="1200" dirty="0" err="1"/>
              <a:t>str</a:t>
            </a:r>
            <a:r>
              <a:rPr lang="en-US" altLang="zh-CN" sz="1200" dirty="0"/>
              <a:t>[</a:t>
            </a:r>
            <a:r>
              <a:rPr lang="en-US" altLang="zh-CN" sz="1200" dirty="0" err="1"/>
              <a:t>i</a:t>
            </a:r>
            <a:r>
              <a:rPr lang="en-US" altLang="zh-CN" sz="1200" dirty="0" smtClean="0"/>
              <a:t>];   </a:t>
            </a:r>
            <a:r>
              <a:rPr lang="zh-CN" altLang="en-US" sz="1200" dirty="0" smtClean="0"/>
              <a:t>把本来</a:t>
            </a:r>
            <a:r>
              <a:rPr lang="en-US" altLang="zh-CN" sz="1200" dirty="0" err="1" smtClean="0"/>
              <a:t>str</a:t>
            </a:r>
            <a:r>
              <a:rPr lang="zh-CN" altLang="en-US" sz="1200" dirty="0" smtClean="0"/>
              <a:t>里面的元素复制到</a:t>
            </a:r>
            <a:r>
              <a:rPr lang="en-US" altLang="zh-CN" sz="1200" dirty="0" smtClean="0"/>
              <a:t>substring</a:t>
            </a:r>
            <a:r>
              <a:rPr lang="zh-CN" altLang="en-US" sz="1200" dirty="0" smtClean="0"/>
              <a:t>里，让</a:t>
            </a:r>
            <a:r>
              <a:rPr lang="en-US" altLang="zh-CN" sz="1200" dirty="0" smtClean="0"/>
              <a:t>j</a:t>
            </a:r>
            <a:r>
              <a:rPr lang="zh-CN" altLang="en-US" sz="1200" dirty="0" smtClean="0"/>
              <a:t>变大</a:t>
            </a:r>
            <a:endParaRPr lang="en-US" altLang="zh-CN" sz="1200" dirty="0"/>
          </a:p>
          <a:p>
            <a:r>
              <a:rPr lang="en-US" altLang="zh-CN" sz="1200" dirty="0"/>
              <a:t>        }</a:t>
            </a:r>
          </a:p>
          <a:p>
            <a:r>
              <a:rPr lang="en-US" altLang="zh-CN" sz="1200" dirty="0">
                <a:solidFill>
                  <a:srgbClr val="FF0000"/>
                </a:solidFill>
              </a:rPr>
              <a:t>        substring[j] = </a:t>
            </a:r>
            <a:r>
              <a:rPr lang="en-US" altLang="zh-CN" sz="1200" dirty="0" smtClean="0">
                <a:solidFill>
                  <a:srgbClr val="FF0000"/>
                </a:solidFill>
              </a:rPr>
              <a:t>‘\0’;  </a:t>
            </a:r>
            <a:r>
              <a:rPr lang="zh-CN" altLang="en-US" sz="1200" dirty="0" smtClean="0">
                <a:solidFill>
                  <a:srgbClr val="FF0000"/>
                </a:solidFill>
              </a:rPr>
              <a:t>手动加必要的</a:t>
            </a:r>
            <a:r>
              <a:rPr lang="en-US" altLang="zh-CN" sz="1200" dirty="0">
                <a:solidFill>
                  <a:srgbClr val="FF0000"/>
                </a:solidFill>
              </a:rPr>
              <a:t>\0</a:t>
            </a:r>
            <a:endParaRPr lang="en-US" altLang="zh-CN" sz="1200" dirty="0">
              <a:solidFill>
                <a:srgbClr val="FF0000"/>
              </a:solidFill>
            </a:endParaRPr>
          </a:p>
          <a:p>
            <a:r>
              <a:rPr lang="en-US" altLang="zh-CN" sz="1200" dirty="0"/>
              <a:t>        </a:t>
            </a:r>
            <a:r>
              <a:rPr lang="en-US" altLang="zh-CN" sz="1200" dirty="0" err="1"/>
              <a:t>printf</a:t>
            </a:r>
            <a:r>
              <a:rPr lang="en-US" altLang="zh-CN" sz="1200" dirty="0"/>
              <a:t>("Substring: %s", substring);</a:t>
            </a:r>
          </a:p>
          <a:p>
            <a:r>
              <a:rPr lang="en-US" altLang="zh-CN" sz="1200" dirty="0"/>
              <a:t>    } else {</a:t>
            </a:r>
          </a:p>
          <a:p>
            <a:r>
              <a:rPr lang="en-US" altLang="zh-CN" sz="1200" dirty="0"/>
              <a:t>        </a:t>
            </a:r>
            <a:r>
              <a:rPr lang="en-US" altLang="zh-CN" sz="1200" dirty="0" err="1"/>
              <a:t>printf</a:t>
            </a:r>
            <a:r>
              <a:rPr lang="en-US" altLang="zh-CN" sz="1200" dirty="0"/>
              <a:t>("Invalid indices!");</a:t>
            </a:r>
          </a:p>
          <a:p>
            <a:r>
              <a:rPr lang="en-US" altLang="zh-CN" sz="1200" dirty="0"/>
              <a:t>    }</a:t>
            </a:r>
          </a:p>
          <a:p>
            <a:r>
              <a:rPr lang="en-US" altLang="zh-CN" sz="1200" dirty="0"/>
              <a:t>    return 0;</a:t>
            </a:r>
          </a:p>
          <a:p>
            <a:r>
              <a:rPr lang="en-US" altLang="zh-CN" sz="1200" dirty="0"/>
              <a:t>}</a:t>
            </a:r>
          </a:p>
          <a:p>
            <a:endParaRPr lang="zh-CN" altLang="en-US" sz="1200" dirty="0"/>
          </a:p>
        </p:txBody>
      </p:sp>
      <p:sp>
        <p:nvSpPr>
          <p:cNvPr id="4" name="灯片编号占位符 3">
            <a:extLst>
              <a:ext uri="{FF2B5EF4-FFF2-40B4-BE49-F238E27FC236}">
                <a16:creationId xmlns:a16="http://schemas.microsoft.com/office/drawing/2014/main" id="{E76D01F7-9D60-6427-107A-3B0A3A71255B}"/>
              </a:ext>
            </a:extLst>
          </p:cNvPr>
          <p:cNvSpPr>
            <a:spLocks noGrp="1"/>
          </p:cNvSpPr>
          <p:nvPr>
            <p:ph type="sldNum" sz="quarter" idx="12"/>
          </p:nvPr>
        </p:nvSpPr>
        <p:spPr/>
        <p:txBody>
          <a:bodyPr/>
          <a:lstStyle/>
          <a:p>
            <a:pPr>
              <a:defRPr/>
            </a:pPr>
            <a:fld id="{5DCB0509-EBFA-4973-BBC1-64BDD304043B}" type="slidenum">
              <a:rPr lang="en-US" altLang="zh-CN" smtClean="0"/>
              <a:pPr>
                <a:defRPr/>
              </a:pPr>
              <a:t>112</a:t>
            </a:fld>
            <a:endParaRPr lang="en-US" altLang="zh-CN"/>
          </a:p>
        </p:txBody>
      </p:sp>
    </p:spTree>
    <p:extLst>
      <p:ext uri="{BB962C8B-B14F-4D97-AF65-F5344CB8AC3E}">
        <p14:creationId xmlns:p14="http://schemas.microsoft.com/office/powerpoint/2010/main" val="4138345396"/>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NULL"/></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2.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docProps/app.xml><?xml version="1.0" encoding="utf-8"?>
<Properties xmlns="http://schemas.openxmlformats.org/officeDocument/2006/extended-properties" xmlns:vt="http://schemas.openxmlformats.org/officeDocument/2006/docPropsVTypes">
  <Template>Default Theme</Template>
  <TotalTime>15527</TotalTime>
  <Words>13000</Words>
  <Application>Microsoft Office PowerPoint</Application>
  <PresentationFormat>全屏显示(4:3)</PresentationFormat>
  <Paragraphs>1187</Paragraphs>
  <Slides>112</Slides>
  <Notes>5</Notes>
  <HiddenSlides>13</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1</vt:i4>
      </vt:variant>
      <vt:variant>
        <vt:lpstr>幻灯片标题</vt:lpstr>
      </vt:variant>
      <vt:variant>
        <vt:i4>112</vt:i4>
      </vt:variant>
    </vt:vector>
  </HeadingPairs>
  <TitlesOfParts>
    <vt:vector size="129" baseType="lpstr">
      <vt:lpstr>Monotype Sorts</vt:lpstr>
      <vt:lpstr>Noto Sans</vt:lpstr>
      <vt:lpstr>等线</vt:lpstr>
      <vt:lpstr>黑体</vt:lpstr>
      <vt:lpstr>楷体_GB2312</vt:lpstr>
      <vt:lpstr>隶书</vt:lpstr>
      <vt:lpstr>宋体</vt:lpstr>
      <vt:lpstr>Arial</vt:lpstr>
      <vt:lpstr>Calibri</vt:lpstr>
      <vt:lpstr>Constantia</vt:lpstr>
      <vt:lpstr>Courier New</vt:lpstr>
      <vt:lpstr>Symbol</vt:lpstr>
      <vt:lpstr>Times New Roman</vt:lpstr>
      <vt:lpstr>Wingdings</vt:lpstr>
      <vt:lpstr>Wingdings 2</vt:lpstr>
      <vt:lpstr>Flow</vt:lpstr>
      <vt:lpstr>Visio.Drawing.11</vt:lpstr>
      <vt:lpstr>第4章 数组</vt:lpstr>
      <vt:lpstr>PowerPoint 演示文稿</vt:lpstr>
      <vt:lpstr>4.1  数组的基本概念</vt:lpstr>
      <vt:lpstr>PowerPoint 演示文稿</vt:lpstr>
      <vt:lpstr>4.2  一维数组</vt:lpstr>
      <vt:lpstr>PowerPoint 演示文稿</vt:lpstr>
      <vt:lpstr>一维数组元素的引用</vt:lpstr>
      <vt:lpstr>PowerPoint 演示文稿</vt:lpstr>
      <vt:lpstr>一维数组初始化</vt:lpstr>
      <vt:lpstr>PowerPoint 演示文稿</vt:lpstr>
      <vt:lpstr>PowerPoint 演示文稿</vt:lpstr>
      <vt:lpstr>一维数组应用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使用数组支持预计算</vt:lpstr>
      <vt:lpstr>PowerPoint 演示文稿</vt:lpstr>
      <vt:lpstr>PowerPoint 演示文稿</vt:lpstr>
      <vt:lpstr>快速“筛”出2~n之间所有素数的方法:埃拉托色尼筛</vt:lpstr>
      <vt:lpstr>PowerPoint 演示文稿</vt:lpstr>
      <vt:lpstr>PowerPoint 演示文稿</vt:lpstr>
      <vt:lpstr>PowerPoint 演示文稿</vt:lpstr>
      <vt:lpstr>PowerPoint 演示文稿</vt:lpstr>
      <vt:lpstr>类似思路的题目</vt:lpstr>
      <vt:lpstr>PowerPoint 演示文稿</vt:lpstr>
      <vt:lpstr>PowerPoint 演示文稿</vt:lpstr>
      <vt:lpstr>PowerPoint 演示文稿</vt:lpstr>
      <vt:lpstr>PowerPoint 演示文稿</vt:lpstr>
      <vt:lpstr>冒泡法排序优化</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交换法排序</vt:lpstr>
      <vt:lpstr>交换法排序</vt:lpstr>
      <vt:lpstr>交换法从高到低排序</vt:lpstr>
      <vt:lpstr> 非比较排序：        计数排序（counting sort）</vt:lpstr>
      <vt:lpstr>PowerPoint 演示文稿</vt:lpstr>
      <vt:lpstr>PowerPoint 演示文稿</vt:lpstr>
      <vt:lpstr>PowerPoint 演示文稿</vt:lpstr>
      <vt:lpstr>PowerPoint 演示文稿</vt:lpstr>
      <vt:lpstr>PowerPoint 演示文稿</vt:lpstr>
      <vt:lpstr>PowerPoint 演示文稿</vt:lpstr>
      <vt:lpstr>回顾例题</vt:lpstr>
      <vt:lpstr>4.3   多维数组</vt:lpstr>
      <vt:lpstr>PowerPoint 演示文稿</vt:lpstr>
      <vt:lpstr>PowerPoint 演示文稿</vt:lpstr>
      <vt:lpstr>PowerPoint 演示文稿</vt:lpstr>
      <vt:lpstr>PowerPoint 演示文稿</vt:lpstr>
      <vt:lpstr>PowerPoint 演示文稿</vt:lpstr>
      <vt:lpstr>PowerPoint 演示文稿</vt:lpstr>
      <vt:lpstr>多维数组初始化</vt:lpstr>
      <vt:lpstr>PowerPoint 演示文稿</vt:lpstr>
      <vt:lpstr>【例4.12】编写输入年、月、日，求这一天是年的第几天的程序。  【解题思路】 为确定一年中的第几天，需要一张每月的天数表，该表给出每个月份的天数。由于二月份的天数因闰年和平年有所不同，为处理方便，把月份天数表设计成一个二维数组。数组的0行给出平年各月份的天数，数组的1行给出闰年各月的天数。为了计算某月某日是这年的第几天，程序首先确定这一年是平年还是闰年，然后根据各月的天数表，将前几个月的天数与当月的日期累计，就得到该日期是该年的第几天。 </vt:lpstr>
      <vt:lpstr>#include  &lt;stdio.h&gt; int dayTable[][12] =      {{31, 28, 31, 30, 31, 30, 31, 31, 30, 31, 30, 31},       {31, 29, 31, 30, 31, 30, 31, 31, 30, 31, 30, 31}}; int main() {  int year, month, day, leap, i;    printf("输入年、月、日\n");    scanf("%d%d%d", &amp;year, &amp;month, &amp;day);    leap = year%4  == 0 &amp;&amp; year%100 || year%400 == 0;     for(i = 0; i &lt; month-1; i++)          day += dayTable[leap][i];    printf("\n这一天是年中的第%d天。\n", day);    return 0; }</vt:lpstr>
      <vt:lpstr>PowerPoint 演示文稿</vt:lpstr>
      <vt:lpstr>PowerPoint 演示文稿</vt:lpstr>
      <vt:lpstr>【例4.13】输出以下形式的二维数组</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4.4  字符串处理技术基础 </vt:lpstr>
      <vt:lpstr>字符串的初始化</vt:lpstr>
      <vt:lpstr>PowerPoint 演示文稿</vt:lpstr>
      <vt:lpstr>字符串常量</vt:lpstr>
      <vt:lpstr>PowerPoint 演示文稿</vt:lpstr>
      <vt:lpstr>字符串 输入输出</vt:lpstr>
      <vt:lpstr>说明</vt:lpstr>
      <vt:lpstr>PowerPoint 演示文稿</vt:lpstr>
      <vt:lpstr>PowerPoint 演示文稿</vt:lpstr>
      <vt:lpstr>字符串处理函数</vt:lpstr>
      <vt:lpstr>PowerPoint 演示文稿</vt:lpstr>
      <vt:lpstr>PowerPoint 演示文稿</vt:lpstr>
      <vt:lpstr>PowerPoint 演示文稿</vt:lpstr>
      <vt:lpstr>PowerPoint 演示文稿</vt:lpstr>
      <vt:lpstr>【例4.15】字符串处理函数的用法</vt:lpstr>
      <vt:lpstr>【例】统计各英文字母出现的次数</vt:lpstr>
      <vt:lpstr>PowerPoint 演示文稿</vt:lpstr>
      <vt:lpstr>PowerPoint 演示文稿</vt:lpstr>
      <vt:lpstr>PowerPoint 演示文稿</vt:lpstr>
      <vt:lpstr>【例4.17】输入字符串,统计其单词个数。约定单词由英文字母组成，其他字符只是用来分隔单词。</vt:lpstr>
      <vt:lpstr>PowerPoint 演示文稿</vt:lpstr>
      <vt:lpstr>PowerPoint 演示文稿</vt:lpstr>
      <vt:lpstr>模式匹配</vt:lpstr>
      <vt:lpstr>基础算法：</vt:lpstr>
      <vt:lpstr>这段代码的功能：</vt:lpstr>
      <vt:lpstr>PowerPoint 演示文稿</vt:lpstr>
    </vt:vector>
  </TitlesOfParts>
  <Company>Fudan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第4章 数组、字符串、指针及其应用</dc:title>
  <dc:subject>程序设计</dc:subject>
  <dc:creator>xkl&amp;zzz</dc:creator>
  <cp:lastModifiedBy>User</cp:lastModifiedBy>
  <cp:revision>377</cp:revision>
  <dcterms:created xsi:type="dcterms:W3CDTF">1998-12-22T08:05:14Z</dcterms:created>
  <dcterms:modified xsi:type="dcterms:W3CDTF">2025-11-06T06:06:14Z</dcterms:modified>
</cp:coreProperties>
</file>