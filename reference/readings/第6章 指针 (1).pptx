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95"/>
  </p:notesMasterIdLst>
  <p:handoutMasterIdLst>
    <p:handoutMasterId r:id="rId96"/>
  </p:handoutMasterIdLst>
  <p:sldIdLst>
    <p:sldId id="256" r:id="rId2"/>
    <p:sldId id="309" r:id="rId3"/>
    <p:sldId id="396" r:id="rId4"/>
    <p:sldId id="414" r:id="rId5"/>
    <p:sldId id="413" r:id="rId6"/>
    <p:sldId id="415" r:id="rId7"/>
    <p:sldId id="481" r:id="rId8"/>
    <p:sldId id="416" r:id="rId9"/>
    <p:sldId id="417" r:id="rId10"/>
    <p:sldId id="473" r:id="rId11"/>
    <p:sldId id="419" r:id="rId12"/>
    <p:sldId id="482" r:id="rId13"/>
    <p:sldId id="418" r:id="rId14"/>
    <p:sldId id="420" r:id="rId15"/>
    <p:sldId id="421" r:id="rId16"/>
    <p:sldId id="463" r:id="rId17"/>
    <p:sldId id="464" r:id="rId18"/>
    <p:sldId id="466" r:id="rId19"/>
    <p:sldId id="467" r:id="rId20"/>
    <p:sldId id="469" r:id="rId21"/>
    <p:sldId id="468" r:id="rId22"/>
    <p:sldId id="422" r:id="rId23"/>
    <p:sldId id="423" r:id="rId24"/>
    <p:sldId id="424" r:id="rId25"/>
    <p:sldId id="425" r:id="rId26"/>
    <p:sldId id="426" r:id="rId27"/>
    <p:sldId id="462" r:id="rId28"/>
    <p:sldId id="427" r:id="rId29"/>
    <p:sldId id="428" r:id="rId30"/>
    <p:sldId id="429" r:id="rId31"/>
    <p:sldId id="383" r:id="rId32"/>
    <p:sldId id="384" r:id="rId33"/>
    <p:sldId id="385" r:id="rId34"/>
    <p:sldId id="386" r:id="rId35"/>
    <p:sldId id="387" r:id="rId36"/>
    <p:sldId id="388" r:id="rId37"/>
    <p:sldId id="389" r:id="rId38"/>
    <p:sldId id="390" r:id="rId39"/>
    <p:sldId id="391" r:id="rId40"/>
    <p:sldId id="470" r:id="rId41"/>
    <p:sldId id="392" r:id="rId42"/>
    <p:sldId id="393" r:id="rId43"/>
    <p:sldId id="394" r:id="rId44"/>
    <p:sldId id="395" r:id="rId45"/>
    <p:sldId id="471" r:id="rId46"/>
    <p:sldId id="440" r:id="rId47"/>
    <p:sldId id="441" r:id="rId48"/>
    <p:sldId id="442" r:id="rId49"/>
    <p:sldId id="443" r:id="rId50"/>
    <p:sldId id="444" r:id="rId51"/>
    <p:sldId id="445" r:id="rId52"/>
    <p:sldId id="446" r:id="rId53"/>
    <p:sldId id="447" r:id="rId54"/>
    <p:sldId id="450" r:id="rId55"/>
    <p:sldId id="451" r:id="rId56"/>
    <p:sldId id="452" r:id="rId57"/>
    <p:sldId id="453" r:id="rId58"/>
    <p:sldId id="454" r:id="rId59"/>
    <p:sldId id="458" r:id="rId60"/>
    <p:sldId id="459" r:id="rId61"/>
    <p:sldId id="460" r:id="rId62"/>
    <p:sldId id="461" r:id="rId63"/>
    <p:sldId id="448" r:id="rId64"/>
    <p:sldId id="432" r:id="rId65"/>
    <p:sldId id="433" r:id="rId66"/>
    <p:sldId id="434" r:id="rId67"/>
    <p:sldId id="435" r:id="rId68"/>
    <p:sldId id="436" r:id="rId69"/>
    <p:sldId id="437" r:id="rId70"/>
    <p:sldId id="438" r:id="rId71"/>
    <p:sldId id="455" r:id="rId72"/>
    <p:sldId id="456" r:id="rId73"/>
    <p:sldId id="457" r:id="rId74"/>
    <p:sldId id="449" r:id="rId75"/>
    <p:sldId id="472" r:id="rId76"/>
    <p:sldId id="403" r:id="rId77"/>
    <p:sldId id="404" r:id="rId78"/>
    <p:sldId id="405" r:id="rId79"/>
    <p:sldId id="406" r:id="rId80"/>
    <p:sldId id="407" r:id="rId81"/>
    <p:sldId id="408" r:id="rId82"/>
    <p:sldId id="409" r:id="rId83"/>
    <p:sldId id="410" r:id="rId84"/>
    <p:sldId id="411" r:id="rId85"/>
    <p:sldId id="412" r:id="rId86"/>
    <p:sldId id="480" r:id="rId87"/>
    <p:sldId id="474" r:id="rId88"/>
    <p:sldId id="477" r:id="rId89"/>
    <p:sldId id="475" r:id="rId90"/>
    <p:sldId id="476" r:id="rId91"/>
    <p:sldId id="478" r:id="rId92"/>
    <p:sldId id="479" r:id="rId93"/>
    <p:sldId id="397" r:id="rId94"/>
  </p:sldIdLst>
  <p:sldSz cx="9144000" cy="6858000" type="screen4x3"/>
  <p:notesSz cx="7099300" cy="10234613"/>
  <p:defaultTextStyle>
    <a:defPPr>
      <a:defRPr lang="zh-CN"/>
    </a:defPPr>
    <a:lvl1pPr algn="l" rtl="0" eaLnBrk="0" fontAlgn="base" hangingPunct="0">
      <a:spcBef>
        <a:spcPct val="0"/>
      </a:spcBef>
      <a:spcAft>
        <a:spcPct val="0"/>
      </a:spcAft>
      <a:defRPr sz="3200" b="1" i="1" kern="1200">
        <a:solidFill>
          <a:schemeClr val="tx1"/>
        </a:solidFill>
        <a:latin typeface="Arial Unicode MS" panose="020B0604020202020204" pitchFamily="34" charset="-128"/>
        <a:ea typeface="楷体_GB2312" pitchFamily="49" charset="-122"/>
        <a:cs typeface="+mn-cs"/>
      </a:defRPr>
    </a:lvl1pPr>
    <a:lvl2pPr marL="457200" algn="l" rtl="0" eaLnBrk="0" fontAlgn="base" hangingPunct="0">
      <a:spcBef>
        <a:spcPct val="0"/>
      </a:spcBef>
      <a:spcAft>
        <a:spcPct val="0"/>
      </a:spcAft>
      <a:defRPr sz="3200" b="1" i="1" kern="1200">
        <a:solidFill>
          <a:schemeClr val="tx1"/>
        </a:solidFill>
        <a:latin typeface="Arial Unicode MS" panose="020B0604020202020204" pitchFamily="34" charset="-128"/>
        <a:ea typeface="楷体_GB2312" pitchFamily="49" charset="-122"/>
        <a:cs typeface="+mn-cs"/>
      </a:defRPr>
    </a:lvl2pPr>
    <a:lvl3pPr marL="914400" algn="l" rtl="0" eaLnBrk="0" fontAlgn="base" hangingPunct="0">
      <a:spcBef>
        <a:spcPct val="0"/>
      </a:spcBef>
      <a:spcAft>
        <a:spcPct val="0"/>
      </a:spcAft>
      <a:defRPr sz="3200" b="1" i="1" kern="1200">
        <a:solidFill>
          <a:schemeClr val="tx1"/>
        </a:solidFill>
        <a:latin typeface="Arial Unicode MS" panose="020B0604020202020204" pitchFamily="34" charset="-128"/>
        <a:ea typeface="楷体_GB2312" pitchFamily="49" charset="-122"/>
        <a:cs typeface="+mn-cs"/>
      </a:defRPr>
    </a:lvl3pPr>
    <a:lvl4pPr marL="1371600" algn="l" rtl="0" eaLnBrk="0" fontAlgn="base" hangingPunct="0">
      <a:spcBef>
        <a:spcPct val="0"/>
      </a:spcBef>
      <a:spcAft>
        <a:spcPct val="0"/>
      </a:spcAft>
      <a:defRPr sz="3200" b="1" i="1" kern="1200">
        <a:solidFill>
          <a:schemeClr val="tx1"/>
        </a:solidFill>
        <a:latin typeface="Arial Unicode MS" panose="020B0604020202020204" pitchFamily="34" charset="-128"/>
        <a:ea typeface="楷体_GB2312" pitchFamily="49" charset="-122"/>
        <a:cs typeface="+mn-cs"/>
      </a:defRPr>
    </a:lvl4pPr>
    <a:lvl5pPr marL="1828800" algn="l" rtl="0" eaLnBrk="0" fontAlgn="base" hangingPunct="0">
      <a:spcBef>
        <a:spcPct val="0"/>
      </a:spcBef>
      <a:spcAft>
        <a:spcPct val="0"/>
      </a:spcAft>
      <a:defRPr sz="3200" b="1" i="1" kern="1200">
        <a:solidFill>
          <a:schemeClr val="tx1"/>
        </a:solidFill>
        <a:latin typeface="Arial Unicode MS" panose="020B0604020202020204" pitchFamily="34" charset="-128"/>
        <a:ea typeface="楷体_GB2312" pitchFamily="49" charset="-122"/>
        <a:cs typeface="+mn-cs"/>
      </a:defRPr>
    </a:lvl5pPr>
    <a:lvl6pPr marL="2286000" algn="l" defTabSz="914400" rtl="0" eaLnBrk="1" latinLnBrk="0" hangingPunct="1">
      <a:defRPr sz="3200" b="1" i="1" kern="1200">
        <a:solidFill>
          <a:schemeClr val="tx1"/>
        </a:solidFill>
        <a:latin typeface="Arial Unicode MS" panose="020B0604020202020204" pitchFamily="34" charset="-128"/>
        <a:ea typeface="楷体_GB2312" pitchFamily="49" charset="-122"/>
        <a:cs typeface="+mn-cs"/>
      </a:defRPr>
    </a:lvl6pPr>
    <a:lvl7pPr marL="2743200" algn="l" defTabSz="914400" rtl="0" eaLnBrk="1" latinLnBrk="0" hangingPunct="1">
      <a:defRPr sz="3200" b="1" i="1" kern="1200">
        <a:solidFill>
          <a:schemeClr val="tx1"/>
        </a:solidFill>
        <a:latin typeface="Arial Unicode MS" panose="020B0604020202020204" pitchFamily="34" charset="-128"/>
        <a:ea typeface="楷体_GB2312" pitchFamily="49" charset="-122"/>
        <a:cs typeface="+mn-cs"/>
      </a:defRPr>
    </a:lvl7pPr>
    <a:lvl8pPr marL="3200400" algn="l" defTabSz="914400" rtl="0" eaLnBrk="1" latinLnBrk="0" hangingPunct="1">
      <a:defRPr sz="3200" b="1" i="1" kern="1200">
        <a:solidFill>
          <a:schemeClr val="tx1"/>
        </a:solidFill>
        <a:latin typeface="Arial Unicode MS" panose="020B0604020202020204" pitchFamily="34" charset="-128"/>
        <a:ea typeface="楷体_GB2312" pitchFamily="49" charset="-122"/>
        <a:cs typeface="+mn-cs"/>
      </a:defRPr>
    </a:lvl8pPr>
    <a:lvl9pPr marL="3657600" algn="l" defTabSz="914400" rtl="0" eaLnBrk="1" latinLnBrk="0" hangingPunct="1">
      <a:defRPr sz="3200" b="1" i="1" kern="1200">
        <a:solidFill>
          <a:schemeClr val="tx1"/>
        </a:solidFill>
        <a:latin typeface="Arial Unicode MS" panose="020B0604020202020204" pitchFamily="34" charset="-128"/>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40" autoAdjust="0"/>
    <p:restoredTop sz="82510" autoAdjust="0"/>
  </p:normalViewPr>
  <p:slideViewPr>
    <p:cSldViewPr>
      <p:cViewPr varScale="1">
        <p:scale>
          <a:sx n="102" d="100"/>
          <a:sy n="102" d="100"/>
        </p:scale>
        <p:origin x="1816"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6B850FB8-2716-EDB6-AD15-DE744423FDF4}"/>
              </a:ext>
            </a:extLst>
          </p:cNvPr>
          <p:cNvSpPr>
            <a:spLocks noGrp="1" noChangeArrowheads="1"/>
          </p:cNvSpPr>
          <p:nvPr>
            <p:ph type="hdr" sz="quarter"/>
          </p:nvPr>
        </p:nvSpPr>
        <p:spPr bwMode="auto">
          <a:xfrm>
            <a:off x="0"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defTabSz="990600" eaLnBrk="1" hangingPunct="1">
              <a:spcBef>
                <a:spcPct val="0"/>
              </a:spcBef>
              <a:buClrTx/>
              <a:buSzTx/>
              <a:buFontTx/>
              <a:buNone/>
              <a:defRPr sz="1300" b="0" i="0">
                <a:latin typeface="Arial" panose="020B0604020202020204" pitchFamily="34" charset="0"/>
                <a:ea typeface="宋体" panose="02010600030101010101" pitchFamily="2" charset="-122"/>
              </a:defRPr>
            </a:lvl1pPr>
          </a:lstStyle>
          <a:p>
            <a:pPr>
              <a:defRPr/>
            </a:pPr>
            <a:endParaRPr lang="en-US" altLang="zh-CN"/>
          </a:p>
        </p:txBody>
      </p:sp>
      <p:sp>
        <p:nvSpPr>
          <p:cNvPr id="80899" name="Rectangle 3">
            <a:extLst>
              <a:ext uri="{FF2B5EF4-FFF2-40B4-BE49-F238E27FC236}">
                <a16:creationId xmlns:a16="http://schemas.microsoft.com/office/drawing/2014/main" id="{A3B5FCEE-3B04-0E7A-19D5-AAB90783FFE8}"/>
              </a:ext>
            </a:extLst>
          </p:cNvPr>
          <p:cNvSpPr>
            <a:spLocks noGrp="1" noChangeArrowheads="1"/>
          </p:cNvSpPr>
          <p:nvPr>
            <p:ph type="dt" sz="quarter" idx="1"/>
          </p:nvPr>
        </p:nvSpPr>
        <p:spPr bwMode="auto">
          <a:xfrm>
            <a:off x="4021138"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defTabSz="990600" eaLnBrk="1" hangingPunct="1">
              <a:spcBef>
                <a:spcPct val="0"/>
              </a:spcBef>
              <a:buClrTx/>
              <a:buSzTx/>
              <a:buFontTx/>
              <a:buNone/>
              <a:defRPr sz="1300" b="0" i="0">
                <a:latin typeface="Arial" panose="020B0604020202020204" pitchFamily="34" charset="0"/>
                <a:ea typeface="宋体" panose="02010600030101010101" pitchFamily="2" charset="-122"/>
              </a:defRPr>
            </a:lvl1pPr>
          </a:lstStyle>
          <a:p>
            <a:pPr>
              <a:defRPr/>
            </a:pPr>
            <a:endParaRPr lang="en-US" altLang="zh-CN"/>
          </a:p>
        </p:txBody>
      </p:sp>
      <p:sp>
        <p:nvSpPr>
          <p:cNvPr id="80900" name="Rectangle 4">
            <a:extLst>
              <a:ext uri="{FF2B5EF4-FFF2-40B4-BE49-F238E27FC236}">
                <a16:creationId xmlns:a16="http://schemas.microsoft.com/office/drawing/2014/main" id="{69DA3B46-279C-1FDE-2F52-FBBEB833DCFF}"/>
              </a:ext>
            </a:extLst>
          </p:cNvPr>
          <p:cNvSpPr>
            <a:spLocks noGrp="1" noChangeArrowheads="1"/>
          </p:cNvSpPr>
          <p:nvPr>
            <p:ph type="ftr" sz="quarter" idx="2"/>
          </p:nvPr>
        </p:nvSpPr>
        <p:spPr bwMode="auto">
          <a:xfrm>
            <a:off x="0"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defTabSz="990600" eaLnBrk="1" hangingPunct="1">
              <a:spcBef>
                <a:spcPct val="0"/>
              </a:spcBef>
              <a:buClrTx/>
              <a:buSzTx/>
              <a:buFontTx/>
              <a:buNone/>
              <a:defRPr sz="1300" b="0" i="0">
                <a:latin typeface="Arial" panose="020B0604020202020204" pitchFamily="34" charset="0"/>
                <a:ea typeface="宋体" panose="02010600030101010101" pitchFamily="2" charset="-122"/>
              </a:defRPr>
            </a:lvl1pPr>
          </a:lstStyle>
          <a:p>
            <a:pPr>
              <a:defRPr/>
            </a:pPr>
            <a:endParaRPr lang="en-US" altLang="zh-CN"/>
          </a:p>
        </p:txBody>
      </p:sp>
      <p:sp>
        <p:nvSpPr>
          <p:cNvPr id="80901" name="Rectangle 5">
            <a:extLst>
              <a:ext uri="{FF2B5EF4-FFF2-40B4-BE49-F238E27FC236}">
                <a16:creationId xmlns:a16="http://schemas.microsoft.com/office/drawing/2014/main" id="{2B78CC9E-3F3C-2A93-5C7E-D60B9309EE99}"/>
              </a:ext>
            </a:extLst>
          </p:cNvPr>
          <p:cNvSpPr>
            <a:spLocks noGrp="1" noChangeArrowheads="1"/>
          </p:cNvSpPr>
          <p:nvPr>
            <p:ph type="sldNum" sz="quarter" idx="3"/>
          </p:nvPr>
        </p:nvSpPr>
        <p:spPr bwMode="auto">
          <a:xfrm>
            <a:off x="4021138"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defTabSz="990600" eaLnBrk="1" hangingPunct="1">
              <a:defRPr sz="1300" b="0" i="0" smtClean="0">
                <a:latin typeface="Arial" panose="020B0604020202020204" pitchFamily="34" charset="0"/>
                <a:ea typeface="宋体" panose="02010600030101010101" pitchFamily="2" charset="-122"/>
              </a:defRPr>
            </a:lvl1pPr>
          </a:lstStyle>
          <a:p>
            <a:pPr>
              <a:defRPr/>
            </a:pPr>
            <a:fld id="{94EBDEF7-C384-D542-BCFB-D04D9717EB19}"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8EC7AAC-C753-66FC-0522-BA0B40226A0C}"/>
              </a:ext>
            </a:extLst>
          </p:cNvPr>
          <p:cNvSpPr>
            <a:spLocks noGrp="1" noChangeArrowheads="1"/>
          </p:cNvSpPr>
          <p:nvPr>
            <p:ph type="hdr" sz="quarter"/>
          </p:nvPr>
        </p:nvSpPr>
        <p:spPr bwMode="auto">
          <a:xfrm>
            <a:off x="0"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defTabSz="990600" eaLnBrk="1" hangingPunct="1">
              <a:spcBef>
                <a:spcPct val="0"/>
              </a:spcBef>
              <a:buClrTx/>
              <a:buSzTx/>
              <a:buFontTx/>
              <a:buNone/>
              <a:defRPr sz="1300" b="0" i="0">
                <a:latin typeface="Arial" panose="020B0604020202020204" pitchFamily="34" charset="0"/>
                <a:ea typeface="宋体" panose="02010600030101010101" pitchFamily="2" charset="-122"/>
              </a:defRPr>
            </a:lvl1pPr>
          </a:lstStyle>
          <a:p>
            <a:pPr>
              <a:defRPr/>
            </a:pPr>
            <a:endParaRPr lang="en-US" altLang="zh-CN"/>
          </a:p>
        </p:txBody>
      </p:sp>
      <p:sp>
        <p:nvSpPr>
          <p:cNvPr id="51203" name="Rectangle 3">
            <a:extLst>
              <a:ext uri="{FF2B5EF4-FFF2-40B4-BE49-F238E27FC236}">
                <a16:creationId xmlns:a16="http://schemas.microsoft.com/office/drawing/2014/main" id="{47B8C29E-E5D1-E984-3D63-5CD3BABE7141}"/>
              </a:ext>
            </a:extLst>
          </p:cNvPr>
          <p:cNvSpPr>
            <a:spLocks noGrp="1" noChangeArrowheads="1"/>
          </p:cNvSpPr>
          <p:nvPr>
            <p:ph type="dt" idx="1"/>
          </p:nvPr>
        </p:nvSpPr>
        <p:spPr bwMode="auto">
          <a:xfrm>
            <a:off x="4021138"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defTabSz="990600" eaLnBrk="1" hangingPunct="1">
              <a:spcBef>
                <a:spcPct val="0"/>
              </a:spcBef>
              <a:buClrTx/>
              <a:buSzTx/>
              <a:buFontTx/>
              <a:buNone/>
              <a:defRPr sz="1300" b="0" i="0">
                <a:latin typeface="Arial" panose="020B0604020202020204" pitchFamily="34" charset="0"/>
                <a:ea typeface="宋体" panose="02010600030101010101"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0281317D-90EE-424A-81CE-DFB447DE3AE7}"/>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05" name="Rectangle 5">
            <a:extLst>
              <a:ext uri="{FF2B5EF4-FFF2-40B4-BE49-F238E27FC236}">
                <a16:creationId xmlns:a16="http://schemas.microsoft.com/office/drawing/2014/main" id="{76FAA7FF-F7F5-9FED-9F44-B63911FC739F}"/>
              </a:ext>
            </a:extLst>
          </p:cNvPr>
          <p:cNvSpPr>
            <a:spLocks noGrp="1" noChangeArrowheads="1"/>
          </p:cNvSpPr>
          <p:nvPr>
            <p:ph type="body" sz="quarter" idx="3"/>
          </p:nvPr>
        </p:nvSpPr>
        <p:spPr bwMode="auto">
          <a:xfrm>
            <a:off x="709613" y="4860925"/>
            <a:ext cx="5680075" cy="4605338"/>
          </a:xfrm>
          <a:prstGeom prst="rect">
            <a:avLst/>
          </a:prstGeom>
          <a:noFill/>
          <a:ln>
            <a:noFill/>
          </a:ln>
          <a:effectLst/>
        </p:spPr>
        <p:txBody>
          <a:bodyPr vert="horz" wrap="square" lIns="99048" tIns="49524" rIns="99048" bIns="49524"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206" name="Rectangle 6">
            <a:extLst>
              <a:ext uri="{FF2B5EF4-FFF2-40B4-BE49-F238E27FC236}">
                <a16:creationId xmlns:a16="http://schemas.microsoft.com/office/drawing/2014/main" id="{2BA0CB8C-541F-6EBF-2D75-75BDDDBF324B}"/>
              </a:ext>
            </a:extLst>
          </p:cNvPr>
          <p:cNvSpPr>
            <a:spLocks noGrp="1" noChangeArrowheads="1"/>
          </p:cNvSpPr>
          <p:nvPr>
            <p:ph type="ftr" sz="quarter" idx="4"/>
          </p:nvPr>
        </p:nvSpPr>
        <p:spPr bwMode="auto">
          <a:xfrm>
            <a:off x="0"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defTabSz="990600" eaLnBrk="1" hangingPunct="1">
              <a:spcBef>
                <a:spcPct val="0"/>
              </a:spcBef>
              <a:buClrTx/>
              <a:buSzTx/>
              <a:buFontTx/>
              <a:buNone/>
              <a:defRPr sz="1300" b="0" i="0">
                <a:latin typeface="Arial" panose="020B0604020202020204" pitchFamily="34" charset="0"/>
                <a:ea typeface="宋体" panose="02010600030101010101" pitchFamily="2" charset="-122"/>
              </a:defRPr>
            </a:lvl1pPr>
          </a:lstStyle>
          <a:p>
            <a:pPr>
              <a:defRPr/>
            </a:pPr>
            <a:endParaRPr lang="en-US" altLang="zh-CN"/>
          </a:p>
        </p:txBody>
      </p:sp>
      <p:sp>
        <p:nvSpPr>
          <p:cNvPr id="51207" name="Rectangle 7">
            <a:extLst>
              <a:ext uri="{FF2B5EF4-FFF2-40B4-BE49-F238E27FC236}">
                <a16:creationId xmlns:a16="http://schemas.microsoft.com/office/drawing/2014/main" id="{E8B504CF-6159-A89B-9465-CD96B3722D52}"/>
              </a:ext>
            </a:extLst>
          </p:cNvPr>
          <p:cNvSpPr>
            <a:spLocks noGrp="1" noChangeArrowheads="1"/>
          </p:cNvSpPr>
          <p:nvPr>
            <p:ph type="sldNum" sz="quarter" idx="5"/>
          </p:nvPr>
        </p:nvSpPr>
        <p:spPr bwMode="auto">
          <a:xfrm>
            <a:off x="4021138"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defTabSz="990600" eaLnBrk="1" hangingPunct="1">
              <a:defRPr sz="1300" b="0" i="0" smtClean="0">
                <a:latin typeface="Arial" panose="020B0604020202020204" pitchFamily="34" charset="0"/>
                <a:ea typeface="宋体" panose="02010600030101010101" pitchFamily="2" charset="-122"/>
              </a:defRPr>
            </a:lvl1pPr>
          </a:lstStyle>
          <a:p>
            <a:pPr>
              <a:defRPr/>
            </a:pPr>
            <a:fld id="{D181C44B-D884-624B-8620-22A7FB86999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b="1" i="0">
                <a:solidFill>
                  <a:srgbClr val="273239"/>
                </a:solidFill>
                <a:effectLst/>
                <a:latin typeface="Nunito" pitchFamily="2" charset="0"/>
              </a:rPr>
              <a:t>Note:</a:t>
            </a:r>
            <a:r>
              <a:rPr lang="en-US" altLang="zh-CN" b="0" i="0">
                <a:solidFill>
                  <a:srgbClr val="273239"/>
                </a:solidFill>
                <a:effectLst/>
                <a:latin typeface="Nunito" pitchFamily="2" charset="0"/>
              </a:rPr>
              <a:t> It is recommended that the pointers should always be initialized to some value before starting using it. Otherwise, it may lead to number of errors.</a:t>
            </a:r>
          </a:p>
          <a:p>
            <a:endParaRPr kumimoji="1" lang="en-US" altLang="zh-CN" b="0" i="0">
              <a:solidFill>
                <a:srgbClr val="273239"/>
              </a:solidFill>
              <a:effectLst/>
              <a:latin typeface="Nunito" pitchFamily="2" charset="0"/>
            </a:endParaRPr>
          </a:p>
          <a:p>
            <a:r>
              <a:rPr lang="zh-CN" altLang="en-US"/>
              <a:t>在 </a:t>
            </a:r>
            <a:r>
              <a:rPr lang="en-US" altLang="zh-CN"/>
              <a:t>C </a:t>
            </a:r>
            <a:r>
              <a:rPr lang="zh-CN" altLang="en-US"/>
              <a:t>语言中，</a:t>
            </a:r>
            <a:r>
              <a:rPr lang="en-US" altLang="zh-CN" sz="1200" kern="1200">
                <a:solidFill>
                  <a:schemeClr val="tx1"/>
                </a:solidFill>
                <a:latin typeface="Arial" panose="020B0604020202020204" pitchFamily="34" charset="0"/>
                <a:ea typeface="宋体" panose="02010600030101010101" pitchFamily="2" charset="-122"/>
                <a:cs typeface="+mn-cs"/>
              </a:rPr>
              <a:t>NULL</a:t>
            </a:r>
            <a:r>
              <a:rPr lang="en-US" altLang="zh-CN"/>
              <a:t> </a:t>
            </a:r>
            <a:r>
              <a:rPr lang="zh-CN" altLang="en-US"/>
              <a:t>是一个</a:t>
            </a:r>
            <a:r>
              <a:rPr lang="zh-CN" altLang="en-US" b="1"/>
              <a:t>宏常量（</a:t>
            </a:r>
            <a:r>
              <a:rPr lang="en-US" altLang="zh-CN" b="1"/>
              <a:t>macro constant</a:t>
            </a:r>
            <a:r>
              <a:rPr lang="zh-CN" altLang="en-US" b="1"/>
              <a:t>）</a:t>
            </a:r>
            <a:r>
              <a:rPr lang="zh-CN" altLang="en-US"/>
              <a:t>，定义在头文件中，例如：</a:t>
            </a:r>
          </a:p>
          <a:p>
            <a:pPr rtl="0"/>
            <a:r>
              <a:rPr lang="en-US" altLang="zh-CN" sz="1200" kern="1200">
                <a:solidFill>
                  <a:schemeClr val="tx1"/>
                </a:solidFill>
                <a:latin typeface="Arial" panose="020B0604020202020204" pitchFamily="34" charset="0"/>
                <a:ea typeface="宋体" panose="02010600030101010101" pitchFamily="2" charset="-122"/>
                <a:cs typeface="+mn-cs"/>
              </a:rPr>
              <a:t>// </a:t>
            </a:r>
            <a:r>
              <a:rPr lang="zh-CN" altLang="en-US" sz="1200" kern="1200">
                <a:solidFill>
                  <a:schemeClr val="tx1"/>
                </a:solidFill>
                <a:latin typeface="Arial" panose="020B0604020202020204" pitchFamily="34" charset="0"/>
                <a:ea typeface="宋体" panose="02010600030101010101" pitchFamily="2" charset="-122"/>
                <a:cs typeface="+mn-cs"/>
              </a:rPr>
              <a:t>在 </a:t>
            </a:r>
            <a:r>
              <a:rPr lang="en-US" altLang="zh-CN" sz="1200" kern="1200">
                <a:solidFill>
                  <a:schemeClr val="tx1"/>
                </a:solidFill>
                <a:latin typeface="Arial" panose="020B0604020202020204" pitchFamily="34" charset="0"/>
                <a:ea typeface="宋体" panose="02010600030101010101" pitchFamily="2" charset="-122"/>
                <a:cs typeface="+mn-cs"/>
              </a:rPr>
              <a:t>stddef.h </a:t>
            </a:r>
            <a:r>
              <a:rPr lang="zh-CN" altLang="en-US" sz="1200" kern="1200">
                <a:solidFill>
                  <a:schemeClr val="tx1"/>
                </a:solidFill>
                <a:latin typeface="Arial" panose="020B0604020202020204" pitchFamily="34" charset="0"/>
                <a:ea typeface="宋体" panose="02010600030101010101" pitchFamily="2" charset="-122"/>
                <a:cs typeface="+mn-cs"/>
              </a:rPr>
              <a:t>或 </a:t>
            </a:r>
            <a:r>
              <a:rPr lang="en-US" altLang="zh-CN" sz="1200" kern="1200">
                <a:solidFill>
                  <a:schemeClr val="tx1"/>
                </a:solidFill>
                <a:latin typeface="Arial" panose="020B0604020202020204" pitchFamily="34" charset="0"/>
                <a:ea typeface="宋体" panose="02010600030101010101" pitchFamily="2" charset="-122"/>
                <a:cs typeface="+mn-cs"/>
              </a:rPr>
              <a:t>stdio.h </a:t>
            </a:r>
            <a:r>
              <a:rPr lang="zh-CN" altLang="en-US" sz="1200" kern="1200">
                <a:solidFill>
                  <a:schemeClr val="tx1"/>
                </a:solidFill>
                <a:latin typeface="Arial" panose="020B0604020202020204" pitchFamily="34" charset="0"/>
                <a:ea typeface="宋体" panose="02010600030101010101" pitchFamily="2" charset="-122"/>
                <a:cs typeface="+mn-cs"/>
              </a:rPr>
              <a:t>中</a:t>
            </a:r>
          </a:p>
          <a:p>
            <a:pPr rtl="0"/>
            <a:r>
              <a:rPr lang="en-US" altLang="zh-CN" sz="1200" kern="1200">
                <a:solidFill>
                  <a:schemeClr val="tx1"/>
                </a:solidFill>
                <a:latin typeface="Arial" panose="020B0604020202020204" pitchFamily="34" charset="0"/>
                <a:ea typeface="宋体" panose="02010600030101010101" pitchFamily="2" charset="-122"/>
                <a:cs typeface="+mn-cs"/>
              </a:rPr>
              <a:t>#define NULL ((void *)0)</a:t>
            </a:r>
          </a:p>
          <a:p>
            <a:pPr rtl="0"/>
            <a:endParaRPr lang="en-US" altLang="zh-CN" sz="1200" kern="1200">
              <a:solidFill>
                <a:schemeClr val="tx1"/>
              </a:solidFill>
              <a:latin typeface="Arial" panose="020B0604020202020204" pitchFamily="34" charset="0"/>
              <a:ea typeface="宋体" panose="02010600030101010101" pitchFamily="2" charset="-122"/>
              <a:cs typeface="+mn-cs"/>
            </a:endParaRPr>
          </a:p>
          <a:p>
            <a:r>
              <a:rPr lang="zh-CN" altLang="en-US"/>
              <a:t>💡 </a:t>
            </a:r>
            <a:r>
              <a:rPr lang="en-US" altLang="zh-CN" sz="1200" kern="1200">
                <a:solidFill>
                  <a:schemeClr val="tx1"/>
                </a:solidFill>
                <a:latin typeface="Arial" panose="020B0604020202020204" pitchFamily="34" charset="0"/>
                <a:ea typeface="宋体" panose="02010600030101010101" pitchFamily="2" charset="-122"/>
                <a:cs typeface="+mn-cs"/>
              </a:rPr>
              <a:t>NULL</a:t>
            </a:r>
            <a:r>
              <a:rPr lang="en-US" altLang="zh-CN"/>
              <a:t> </a:t>
            </a:r>
            <a:r>
              <a:rPr lang="zh-CN" altLang="en-US"/>
              <a:t>本质上就是一个“被强制转换成 </a:t>
            </a:r>
            <a:r>
              <a:rPr lang="en-US" altLang="zh-CN" sz="1200" kern="1200">
                <a:solidFill>
                  <a:schemeClr val="tx1"/>
                </a:solidFill>
                <a:latin typeface="Arial" panose="020B0604020202020204" pitchFamily="34" charset="0"/>
                <a:ea typeface="宋体" panose="02010600030101010101" pitchFamily="2" charset="-122"/>
                <a:cs typeface="+mn-cs"/>
              </a:rPr>
              <a:t>void*</a:t>
            </a:r>
            <a:r>
              <a:rPr lang="en-US" altLang="zh-CN"/>
              <a:t> </a:t>
            </a:r>
            <a:r>
              <a:rPr lang="zh-CN" altLang="en-US"/>
              <a:t>类型的 </a:t>
            </a:r>
            <a:r>
              <a:rPr lang="en-US" altLang="zh-CN"/>
              <a:t>0 </a:t>
            </a:r>
            <a:r>
              <a:rPr lang="zh-CN" altLang="en-US"/>
              <a:t>地址常量”。</a:t>
            </a:r>
            <a:endParaRPr lang="en-US" altLang="zh-CN"/>
          </a:p>
          <a:p>
            <a:endParaRPr kumimoji="1" lang="en-US" altLang="zh-CN" i="0"/>
          </a:p>
          <a:p>
            <a:r>
              <a:rPr lang="en-US" altLang="zh-CN" b="1"/>
              <a:t>NULL </a:t>
            </a:r>
            <a:r>
              <a:rPr lang="zh-CN" altLang="en-US" b="1"/>
              <a:t>的含义</a:t>
            </a:r>
          </a:p>
          <a:p>
            <a:pPr marL="171450" indent="-171450">
              <a:buFont typeface="Arial" panose="020B0604020202020204" pitchFamily="34" charset="0"/>
              <a:buChar char="•"/>
            </a:pPr>
            <a:r>
              <a:rPr lang="en-US" altLang="zh-CN" sz="1200" kern="1200">
                <a:solidFill>
                  <a:schemeClr val="tx1"/>
                </a:solidFill>
                <a:latin typeface="Arial" panose="020B0604020202020204" pitchFamily="34" charset="0"/>
                <a:ea typeface="宋体" panose="02010600030101010101" pitchFamily="2" charset="-122"/>
                <a:cs typeface="+mn-cs"/>
              </a:rPr>
              <a:t>0</a:t>
            </a:r>
            <a:r>
              <a:rPr lang="zh-CN" altLang="en-US"/>
              <a:t> 是一个 </a:t>
            </a:r>
            <a:r>
              <a:rPr lang="zh-CN" altLang="en-US" b="1"/>
              <a:t>整数常量</a:t>
            </a:r>
            <a:endParaRPr lang="zh-CN" altLang="en-US"/>
          </a:p>
          <a:p>
            <a:pPr marL="171450" indent="-171450">
              <a:buFont typeface="Arial" panose="020B0604020202020204" pitchFamily="34" charset="0"/>
              <a:buChar char="•"/>
            </a:pPr>
            <a:r>
              <a:rPr lang="en-US" altLang="zh-CN" sz="1200" kern="1200">
                <a:solidFill>
                  <a:schemeClr val="tx1"/>
                </a:solidFill>
                <a:latin typeface="Arial" panose="020B0604020202020204" pitchFamily="34" charset="0"/>
                <a:ea typeface="宋体" panose="02010600030101010101" pitchFamily="2" charset="-122"/>
                <a:cs typeface="+mn-cs"/>
              </a:rPr>
              <a:t>(void*)0</a:t>
            </a:r>
            <a:r>
              <a:rPr lang="en-US" altLang="zh-CN"/>
              <a:t> </a:t>
            </a:r>
            <a:r>
              <a:rPr lang="zh-CN" altLang="en-US"/>
              <a:t>表示 </a:t>
            </a:r>
            <a:r>
              <a:rPr lang="zh-CN" altLang="en-US" b="1"/>
              <a:t>地址为 </a:t>
            </a:r>
            <a:r>
              <a:rPr lang="en-US" altLang="zh-CN" b="1"/>
              <a:t>0 </a:t>
            </a:r>
            <a:r>
              <a:rPr lang="zh-CN" altLang="en-US" b="1"/>
              <a:t>的指针常量</a:t>
            </a:r>
            <a:endParaRPr lang="zh-CN" altLang="en-US"/>
          </a:p>
          <a:p>
            <a:pPr marL="171450" indent="-171450">
              <a:buFont typeface="Arial" panose="020B0604020202020204" pitchFamily="34" charset="0"/>
              <a:buChar char="•"/>
            </a:pPr>
            <a:r>
              <a:rPr lang="en-US" altLang="zh-CN" sz="1200" kern="1200">
                <a:solidFill>
                  <a:schemeClr val="tx1"/>
                </a:solidFill>
                <a:latin typeface="Arial" panose="020B0604020202020204" pitchFamily="34" charset="0"/>
                <a:ea typeface="宋体" panose="02010600030101010101" pitchFamily="2" charset="-122"/>
                <a:cs typeface="+mn-cs"/>
              </a:rPr>
              <a:t>NULL</a:t>
            </a:r>
            <a:r>
              <a:rPr lang="en-US" altLang="zh-CN"/>
              <a:t> </a:t>
            </a:r>
            <a:r>
              <a:rPr lang="zh-CN" altLang="en-US"/>
              <a:t>就代表一个 </a:t>
            </a:r>
            <a:r>
              <a:rPr lang="zh-CN" altLang="en-US" b="1"/>
              <a:t>“空指针（</a:t>
            </a:r>
            <a:r>
              <a:rPr lang="en-US" altLang="zh-CN" b="1"/>
              <a:t>null pointer</a:t>
            </a:r>
            <a:r>
              <a:rPr lang="zh-CN" altLang="en-US" b="1"/>
              <a:t>）”</a:t>
            </a:r>
            <a:endParaRPr lang="en-US" altLang="zh-CN"/>
          </a:p>
          <a:p>
            <a:r>
              <a:rPr lang="zh-CN" altLang="en-US"/>
              <a:t>也就是说：</a:t>
            </a:r>
          </a:p>
          <a:p>
            <a:r>
              <a:rPr lang="en-US" altLang="zh-CN"/>
              <a:t>NULL </a:t>
            </a:r>
            <a:r>
              <a:rPr lang="zh-CN" altLang="en-US"/>
              <a:t>不是“没有值”，而是“</a:t>
            </a:r>
            <a:r>
              <a:rPr lang="zh-CN" altLang="en-US" b="1"/>
              <a:t>不指向任何有效内存地址</a:t>
            </a:r>
            <a:r>
              <a:rPr lang="zh-CN" altLang="en-US"/>
              <a:t>”的特殊指针值。</a:t>
            </a:r>
          </a:p>
          <a:p>
            <a:endParaRPr kumimoji="1" lang="zh-CN" altLang="en-US" i="0"/>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8</a:t>
            </a:fld>
            <a:endParaRPr lang="en-US" altLang="zh-CN"/>
          </a:p>
        </p:txBody>
      </p:sp>
    </p:spTree>
    <p:extLst>
      <p:ext uri="{BB962C8B-B14F-4D97-AF65-F5344CB8AC3E}">
        <p14:creationId xmlns:p14="http://schemas.microsoft.com/office/powerpoint/2010/main" val="3816336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50C21-385F-B70F-7574-B32CC763B9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B5D7EC-C517-714C-6652-CCE4FD181441}"/>
              </a:ext>
            </a:extLst>
          </p:cNvPr>
          <p:cNvSpPr>
            <a:spLocks noGrp="1" noRot="1" noChangeAspect="1"/>
          </p:cNvSpPr>
          <p:nvPr>
            <p:ph type="sldImg"/>
          </p:nvPr>
        </p:nvSpPr>
        <p:spPr>
          <a:xfrm>
            <a:off x="992188" y="768350"/>
            <a:ext cx="5114925" cy="3836988"/>
          </a:xfrm>
        </p:spPr>
      </p:sp>
      <p:sp>
        <p:nvSpPr>
          <p:cNvPr id="3" name="备注占位符 2">
            <a:extLst>
              <a:ext uri="{FF2B5EF4-FFF2-40B4-BE49-F238E27FC236}">
                <a16:creationId xmlns:a16="http://schemas.microsoft.com/office/drawing/2014/main" id="{7B2105F9-65E6-2E82-0606-A345C0A932E8}"/>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667DDBA4-103D-77E2-4709-CB4C61CBE376}"/>
              </a:ext>
            </a:extLst>
          </p:cNvPr>
          <p:cNvSpPr>
            <a:spLocks noGrp="1"/>
          </p:cNvSpPr>
          <p:nvPr>
            <p:ph type="sldNum" sz="quarter" idx="5"/>
          </p:nvPr>
        </p:nvSpPr>
        <p:spPr/>
        <p:txBody>
          <a:bodyPr/>
          <a:lstStyle/>
          <a:p>
            <a:pPr>
              <a:defRPr/>
            </a:pPr>
            <a:fld id="{D181C44B-D884-624B-8620-22A7FB869997}" type="slidenum">
              <a:rPr lang="en-US" altLang="zh-CN"/>
              <a:pPr>
                <a:defRPr/>
              </a:pPr>
              <a:t>10</a:t>
            </a:fld>
            <a:endParaRPr lang="en-US" altLang="zh-CN"/>
          </a:p>
        </p:txBody>
      </p:sp>
    </p:spTree>
    <p:extLst>
      <p:ext uri="{BB962C8B-B14F-4D97-AF65-F5344CB8AC3E}">
        <p14:creationId xmlns:p14="http://schemas.microsoft.com/office/powerpoint/2010/main" val="20377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11</a:t>
            </a:fld>
            <a:endParaRPr lang="en-US" altLang="zh-CN"/>
          </a:p>
        </p:txBody>
      </p:sp>
    </p:spTree>
    <p:extLst>
      <p:ext uri="{BB962C8B-B14F-4D97-AF65-F5344CB8AC3E}">
        <p14:creationId xmlns:p14="http://schemas.microsoft.com/office/powerpoint/2010/main" val="189666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b="0" i="0">
                <a:solidFill>
                  <a:srgbClr val="E93F34"/>
                </a:solidFill>
                <a:effectLst/>
                <a:latin typeface="Courier" panose="02070309020205020404" pitchFamily="49" charset="0"/>
              </a:rPr>
              <a:t>红色 </a:t>
            </a:r>
            <a:r>
              <a:rPr lang="en-US" altLang="zh-CN" b="0" i="0">
                <a:solidFill>
                  <a:srgbClr val="E93F34"/>
                </a:solidFill>
                <a:effectLst/>
                <a:latin typeface="Courier" panose="02070309020205020404" pitchFamily="49" charset="0"/>
              </a:rPr>
              <a:t>error: conflicting types for 'i’</a:t>
            </a:r>
          </a:p>
          <a:p>
            <a:r>
              <a:rPr kumimoji="1" lang="zh-CN" altLang="en-US" b="0" i="0">
                <a:solidFill>
                  <a:srgbClr val="E93F34"/>
                </a:solidFill>
                <a:effectLst/>
                <a:latin typeface="Courier" panose="02070309020205020404" pitchFamily="49" charset="0"/>
              </a:rPr>
              <a:t>以上赋值语法上都合法，但有些操作不“合法”。</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13</a:t>
            </a:fld>
            <a:endParaRPr lang="en-US" altLang="zh-CN"/>
          </a:p>
        </p:txBody>
      </p:sp>
    </p:spTree>
    <p:extLst>
      <p:ext uri="{BB962C8B-B14F-4D97-AF65-F5344CB8AC3E}">
        <p14:creationId xmlns:p14="http://schemas.microsoft.com/office/powerpoint/2010/main" val="1396098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en-US" altLang="zh-CN"/>
              <a:t>*ip=-118284542</a:t>
            </a:r>
          </a:p>
          <a:p>
            <a:r>
              <a:rPr kumimoji="1" lang="en-US" altLang="zh-CN"/>
              <a:t>*cp=2</a:t>
            </a:r>
          </a:p>
          <a:p>
            <a:endParaRPr kumimoji="1" lang="en-US" altLang="zh-CN"/>
          </a:p>
          <a:p>
            <a:r>
              <a:rPr lang="en-US" altLang="zh-CN"/>
              <a:t>ip = (int*)cp;</a:t>
            </a:r>
            <a:r>
              <a:rPr lang="zh-CN" altLang="en-US"/>
              <a:t>：这里发生了不安全的强制类型转换。</a:t>
            </a:r>
            <a:r>
              <a:rPr lang="en-US" altLang="zh-CN"/>
              <a:t>cp </a:t>
            </a:r>
            <a:r>
              <a:rPr lang="zh-CN" altLang="en-US"/>
              <a:t>是一个 </a:t>
            </a:r>
            <a:r>
              <a:rPr lang="en-US" altLang="zh-CN"/>
              <a:t>char* </a:t>
            </a:r>
            <a:r>
              <a:rPr lang="zh-CN" altLang="en-US"/>
              <a:t>指针，而 </a:t>
            </a:r>
            <a:r>
              <a:rPr lang="en-US" altLang="zh-CN"/>
              <a:t>ip </a:t>
            </a:r>
            <a:r>
              <a:rPr lang="zh-CN" altLang="en-US"/>
              <a:t>是一个 </a:t>
            </a:r>
            <a:r>
              <a:rPr lang="en-US" altLang="zh-CN"/>
              <a:t>int* </a:t>
            </a:r>
            <a:r>
              <a:rPr lang="zh-CN" altLang="en-US"/>
              <a:t>指针。由于 </a:t>
            </a:r>
            <a:r>
              <a:rPr lang="en-US" altLang="zh-CN"/>
              <a:t>char </a:t>
            </a:r>
            <a:r>
              <a:rPr lang="zh-CN" altLang="en-US"/>
              <a:t>通常是 </a:t>
            </a:r>
            <a:r>
              <a:rPr lang="en-US" altLang="zh-CN"/>
              <a:t>1 </a:t>
            </a:r>
            <a:r>
              <a:rPr lang="zh-CN" altLang="en-US"/>
              <a:t>字节，而 </a:t>
            </a:r>
            <a:r>
              <a:rPr lang="en-US" altLang="zh-CN"/>
              <a:t>int </a:t>
            </a:r>
            <a:r>
              <a:rPr lang="zh-CN" altLang="en-US"/>
              <a:t>通常是 </a:t>
            </a:r>
            <a:r>
              <a:rPr lang="en-US" altLang="zh-CN"/>
              <a:t>4 </a:t>
            </a:r>
            <a:r>
              <a:rPr lang="zh-CN" altLang="en-US"/>
              <a:t>或 </a:t>
            </a:r>
            <a:r>
              <a:rPr lang="en-US" altLang="zh-CN"/>
              <a:t>8 </a:t>
            </a:r>
            <a:r>
              <a:rPr lang="zh-CN" altLang="en-US"/>
              <a:t>字节（取决于系统架构），直接转换会导致解引用时的内存读取出现问题。</a:t>
            </a:r>
            <a:endParaRPr kumimoji="1" lang="en-US" altLang="zh-CN"/>
          </a:p>
          <a:p>
            <a:endParaRPr lang="en-US" altLang="zh-CN"/>
          </a:p>
          <a:p>
            <a:r>
              <a:rPr lang="zh-CN" altLang="en-US"/>
              <a:t>运行结果解释：</a:t>
            </a:r>
            <a:endParaRPr lang="en-US" altLang="zh-CN"/>
          </a:p>
          <a:p>
            <a:r>
              <a:rPr lang="zh-CN" altLang="en-US"/>
              <a:t>假设 </a:t>
            </a:r>
            <a:r>
              <a:rPr lang="en-US" altLang="zh-CN"/>
              <a:t>char </a:t>
            </a:r>
            <a:r>
              <a:rPr lang="zh-CN" altLang="en-US"/>
              <a:t>占 </a:t>
            </a:r>
            <a:r>
              <a:rPr lang="en-US" altLang="zh-CN"/>
              <a:t>1 </a:t>
            </a:r>
            <a:r>
              <a:rPr lang="zh-CN" altLang="en-US"/>
              <a:t>字节，</a:t>
            </a:r>
            <a:r>
              <a:rPr lang="en-US" altLang="zh-CN"/>
              <a:t>int </a:t>
            </a:r>
            <a:r>
              <a:rPr lang="zh-CN" altLang="en-US"/>
              <a:t>占 </a:t>
            </a:r>
            <a:r>
              <a:rPr lang="en-US" altLang="zh-CN"/>
              <a:t>4 </a:t>
            </a:r>
            <a:r>
              <a:rPr lang="zh-CN" altLang="en-US"/>
              <a:t>字节：</a:t>
            </a:r>
            <a:endParaRPr kumimoji="1" lang="en-US" altLang="zh-CN"/>
          </a:p>
          <a:p>
            <a:r>
              <a:rPr lang="zh-CN" altLang="en-US"/>
              <a:t>当 </a:t>
            </a:r>
            <a:r>
              <a:rPr lang="en-US" altLang="zh-CN"/>
              <a:t>ip </a:t>
            </a:r>
            <a:r>
              <a:rPr lang="zh-CN" altLang="en-US"/>
              <a:t>被赋值为 </a:t>
            </a:r>
            <a:r>
              <a:rPr lang="en-US" altLang="zh-CN"/>
              <a:t>cp </a:t>
            </a:r>
            <a:r>
              <a:rPr lang="zh-CN" altLang="en-US"/>
              <a:t>后，</a:t>
            </a:r>
            <a:r>
              <a:rPr lang="en-US" altLang="zh-CN"/>
              <a:t>ip </a:t>
            </a:r>
            <a:r>
              <a:rPr lang="zh-CN" altLang="en-US"/>
              <a:t>指向的是 </a:t>
            </a:r>
            <a:r>
              <a:rPr lang="en-US" altLang="zh-CN"/>
              <a:t>char c </a:t>
            </a:r>
            <a:r>
              <a:rPr lang="zh-CN" altLang="en-US"/>
              <a:t>的地址。但是当 *</a:t>
            </a:r>
            <a:r>
              <a:rPr lang="en-US" altLang="zh-CN"/>
              <a:t>ip </a:t>
            </a:r>
            <a:r>
              <a:rPr lang="zh-CN" altLang="en-US"/>
              <a:t>被解引用时，它会尝试读取 </a:t>
            </a:r>
            <a:r>
              <a:rPr lang="en-US" altLang="zh-CN"/>
              <a:t>4 </a:t>
            </a:r>
            <a:r>
              <a:rPr lang="zh-CN" altLang="en-US"/>
              <a:t>个字节的数据，而 </a:t>
            </a:r>
            <a:r>
              <a:rPr lang="en-US" altLang="zh-CN"/>
              <a:t>cp </a:t>
            </a:r>
            <a:r>
              <a:rPr lang="zh-CN" altLang="en-US"/>
              <a:t>仅指向 </a:t>
            </a:r>
            <a:r>
              <a:rPr lang="en-US" altLang="zh-CN"/>
              <a:t>1 </a:t>
            </a:r>
            <a:r>
              <a:rPr lang="zh-CN" altLang="en-US"/>
              <a:t>个字节。结果可能是未定义的行为，程序可能读取到不正确的值或崩溃。</a:t>
            </a:r>
            <a:endParaRPr lang="en-US" altLang="zh-CN"/>
          </a:p>
          <a:p>
            <a:endParaRPr kumimoji="1" lang="en-US" altLang="zh-CN"/>
          </a:p>
          <a:p>
            <a:r>
              <a:rPr lang="zh-CN" altLang="en-US"/>
              <a:t>强制类型转换是危险的操作，特别是在处理不同大小的数据类型时，可能会导致程序的不可预测行为或内存访问错误。</a:t>
            </a:r>
            <a:endParaRPr lang="en-US" altLang="zh-CN"/>
          </a:p>
          <a:p>
            <a:endParaRPr kumimoji="1" lang="en-US" altLang="zh-CN"/>
          </a:p>
          <a:p>
            <a:r>
              <a:rPr kumimoji="1" lang="zh-CN" altLang="en-US"/>
              <a:t>再利用</a:t>
            </a:r>
            <a:r>
              <a:rPr kumimoji="1" lang="en-US" altLang="zh-CN"/>
              <a:t>Python</a:t>
            </a:r>
            <a:r>
              <a:rPr kumimoji="1" lang="zh-CN" altLang="en-US"/>
              <a:t> </a:t>
            </a:r>
            <a:r>
              <a:rPr kumimoji="1" lang="en-US" altLang="zh-CN"/>
              <a:t>Tutor</a:t>
            </a:r>
            <a:r>
              <a:rPr kumimoji="1" lang="zh-CN" altLang="en-US"/>
              <a:t>看个例子：</a:t>
            </a:r>
            <a:endParaRPr kumimoji="1" lang="en-US" altLang="zh-CN"/>
          </a:p>
          <a:p>
            <a:r>
              <a:rPr kumimoji="1" lang="en-US" altLang="zh-CN"/>
              <a:t>#include &lt;stdio.h&gt;</a:t>
            </a:r>
          </a:p>
          <a:p>
            <a:r>
              <a:rPr kumimoji="1" lang="en-US" altLang="zh-CN"/>
              <a:t>void main () {</a:t>
            </a:r>
          </a:p>
          <a:p>
            <a:r>
              <a:rPr kumimoji="1" lang="en-US" altLang="zh-CN"/>
              <a:t>    int * ip,i=1;</a:t>
            </a:r>
          </a:p>
          <a:p>
            <a:r>
              <a:rPr kumimoji="1" lang="en-US" altLang="zh-CN"/>
              <a:t>    char * cp,c=2;</a:t>
            </a:r>
          </a:p>
          <a:p>
            <a:r>
              <a:rPr kumimoji="1" lang="en-US" altLang="zh-CN"/>
              <a:t>    ip=&amp;i;</a:t>
            </a:r>
          </a:p>
          <a:p>
            <a:r>
              <a:rPr kumimoji="1" lang="en-US" altLang="zh-CN"/>
              <a:t>    cp=&amp;c;</a:t>
            </a:r>
          </a:p>
          <a:p>
            <a:r>
              <a:rPr kumimoji="1" lang="en-US" altLang="zh-CN"/>
              <a:t>    </a:t>
            </a:r>
          </a:p>
          <a:p>
            <a:r>
              <a:rPr kumimoji="1" lang="en-US" altLang="zh-CN"/>
              <a:t>    ip++;</a:t>
            </a:r>
          </a:p>
          <a:p>
            <a:r>
              <a:rPr kumimoji="1" lang="en-US" altLang="zh-CN"/>
              <a:t>    cp++;</a:t>
            </a:r>
          </a:p>
          <a:p>
            <a:r>
              <a:rPr kumimoji="1" lang="en-US" altLang="zh-CN"/>
              <a:t>}</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14</a:t>
            </a:fld>
            <a:endParaRPr lang="en-US" altLang="zh-CN"/>
          </a:p>
        </p:txBody>
      </p:sp>
    </p:spTree>
    <p:extLst>
      <p:ext uri="{BB962C8B-B14F-4D97-AF65-F5344CB8AC3E}">
        <p14:creationId xmlns:p14="http://schemas.microsoft.com/office/powerpoint/2010/main" val="4151740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algn="l" fontAlgn="base"/>
            <a:r>
              <a:rPr lang="en-US" altLang="zh-CN" b="1" i="0">
                <a:solidFill>
                  <a:srgbClr val="273239"/>
                </a:solidFill>
                <a:effectLst/>
                <a:latin typeface="Source Sans 3"/>
              </a:rPr>
              <a:t>Memory Layout of C Programs</a:t>
            </a:r>
            <a:endParaRPr lang="en-US" altLang="zh-CN" b="1" i="0">
              <a:solidFill>
                <a:srgbClr val="273239"/>
              </a:solidFill>
              <a:effectLst/>
              <a:latin typeface="Nunito" pitchFamily="2" charset="0"/>
            </a:endParaRPr>
          </a:p>
          <a:p>
            <a:r>
              <a:rPr lang="en-US" altLang="zh-CN" b="1" i="0">
                <a:solidFill>
                  <a:srgbClr val="273239"/>
                </a:solidFill>
                <a:effectLst/>
                <a:latin typeface="Nunito" pitchFamily="2" charset="0"/>
              </a:rPr>
              <a:t>https://www.geeksforgeeks.org/memory-layout-of-c-program/?ref=oin_asr11</a:t>
            </a:r>
          </a:p>
          <a:p>
            <a:endParaRPr lang="en-US" altLang="zh-CN" b="1" i="0">
              <a:solidFill>
                <a:srgbClr val="273239"/>
              </a:solidFill>
              <a:effectLst/>
              <a:latin typeface="Nunito" pitchFamily="2" charset="0"/>
            </a:endParaRPr>
          </a:p>
          <a:p>
            <a:r>
              <a:rPr lang="en-US" altLang="zh-CN" b="1" i="0">
                <a:solidFill>
                  <a:srgbClr val="273239"/>
                </a:solidFill>
                <a:effectLst/>
                <a:latin typeface="Nunito" pitchFamily="2" charset="0"/>
              </a:rPr>
              <a:t>bss</a:t>
            </a:r>
            <a:r>
              <a:rPr lang="zh-CN" altLang="en-US" b="1" i="0">
                <a:solidFill>
                  <a:srgbClr val="273239"/>
                </a:solidFill>
                <a:effectLst/>
                <a:latin typeface="Nunito" pitchFamily="2" charset="0"/>
              </a:rPr>
              <a:t> </a:t>
            </a:r>
            <a:r>
              <a:rPr lang="en-US" altLang="zh-CN" b="1" i="0">
                <a:solidFill>
                  <a:srgbClr val="273239"/>
                </a:solidFill>
                <a:effectLst/>
                <a:latin typeface="Nunito" pitchFamily="2" charset="0"/>
              </a:rPr>
              <a:t>=</a:t>
            </a:r>
            <a:r>
              <a:rPr lang="zh-CN" altLang="en-US" b="1" i="0">
                <a:solidFill>
                  <a:srgbClr val="273239"/>
                </a:solidFill>
                <a:effectLst/>
                <a:latin typeface="Nunito" pitchFamily="2" charset="0"/>
              </a:rPr>
              <a:t> </a:t>
            </a:r>
            <a:r>
              <a:rPr lang="en-US" altLang="zh-CN" b="1" i="0">
                <a:solidFill>
                  <a:srgbClr val="273239"/>
                </a:solidFill>
                <a:effectLst/>
                <a:latin typeface="Nunito" pitchFamily="2" charset="0"/>
              </a:rPr>
              <a:t>block started by symbol</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16</a:t>
            </a:fld>
            <a:endParaRPr lang="en-US" altLang="zh-CN"/>
          </a:p>
        </p:txBody>
      </p:sp>
    </p:spTree>
    <p:extLst>
      <p:ext uri="{BB962C8B-B14F-4D97-AF65-F5344CB8AC3E}">
        <p14:creationId xmlns:p14="http://schemas.microsoft.com/office/powerpoint/2010/main" val="2074022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1AFF7-DDD2-6E81-9593-E9B2699A19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C3EA8E-57FC-206B-865D-F0D95E2A8F3B}"/>
              </a:ext>
            </a:extLst>
          </p:cNvPr>
          <p:cNvSpPr>
            <a:spLocks noGrp="1" noRot="1" noChangeAspect="1"/>
          </p:cNvSpPr>
          <p:nvPr>
            <p:ph type="sldImg"/>
          </p:nvPr>
        </p:nvSpPr>
        <p:spPr>
          <a:xfrm>
            <a:off x="992188" y="768350"/>
            <a:ext cx="5114925" cy="3836988"/>
          </a:xfrm>
        </p:spPr>
      </p:sp>
      <p:sp>
        <p:nvSpPr>
          <p:cNvPr id="3" name="备注占位符 2">
            <a:extLst>
              <a:ext uri="{FF2B5EF4-FFF2-40B4-BE49-F238E27FC236}">
                <a16:creationId xmlns:a16="http://schemas.microsoft.com/office/drawing/2014/main" id="{99409E1D-1611-420B-4AAD-7DDE5F0E36FE}"/>
              </a:ext>
            </a:extLst>
          </p:cNvPr>
          <p:cNvSpPr>
            <a:spLocks noGrp="1"/>
          </p:cNvSpPr>
          <p:nvPr>
            <p:ph type="body" idx="1"/>
          </p:nvPr>
        </p:nvSpPr>
        <p:spPr/>
        <p:txBody>
          <a:bodyPr/>
          <a:lstStyle/>
          <a:p>
            <a:pPr algn="l" fontAlgn="base"/>
            <a:r>
              <a:rPr lang="en-US" altLang="zh-CN" b="1" i="0">
                <a:solidFill>
                  <a:srgbClr val="273239"/>
                </a:solidFill>
                <a:effectLst/>
                <a:latin typeface="Source Sans 3"/>
              </a:rPr>
              <a:t>Memory Layout of C Programs</a:t>
            </a:r>
            <a:endParaRPr lang="en-US" altLang="zh-CN" b="1" i="0">
              <a:solidFill>
                <a:srgbClr val="273239"/>
              </a:solidFill>
              <a:effectLst/>
              <a:latin typeface="Nunito" pitchFamily="2" charset="0"/>
            </a:endParaRPr>
          </a:p>
          <a:p>
            <a:r>
              <a:rPr lang="en-US" altLang="zh-CN" b="1" i="0">
                <a:solidFill>
                  <a:srgbClr val="273239"/>
                </a:solidFill>
                <a:effectLst/>
                <a:latin typeface="Nunito" pitchFamily="2" charset="0"/>
              </a:rPr>
              <a:t>https://www.geeksforgeeks.org/memory-layout-of-c-program/?ref=oin_asr11</a:t>
            </a:r>
          </a:p>
        </p:txBody>
      </p:sp>
      <p:sp>
        <p:nvSpPr>
          <p:cNvPr id="4" name="灯片编号占位符 3">
            <a:extLst>
              <a:ext uri="{FF2B5EF4-FFF2-40B4-BE49-F238E27FC236}">
                <a16:creationId xmlns:a16="http://schemas.microsoft.com/office/drawing/2014/main" id="{F2CEE8C8-4A37-0EAF-1515-21B2068F0EF6}"/>
              </a:ext>
            </a:extLst>
          </p:cNvPr>
          <p:cNvSpPr>
            <a:spLocks noGrp="1"/>
          </p:cNvSpPr>
          <p:nvPr>
            <p:ph type="sldNum" sz="quarter" idx="5"/>
          </p:nvPr>
        </p:nvSpPr>
        <p:spPr/>
        <p:txBody>
          <a:bodyPr/>
          <a:lstStyle/>
          <a:p>
            <a:pPr>
              <a:defRPr/>
            </a:pPr>
            <a:fld id="{D181C44B-D884-624B-8620-22A7FB869997}" type="slidenum">
              <a:rPr lang="en-US" altLang="zh-CN"/>
              <a:pPr>
                <a:defRPr/>
              </a:pPr>
              <a:t>17</a:t>
            </a:fld>
            <a:endParaRPr lang="en-US" altLang="zh-CN"/>
          </a:p>
        </p:txBody>
      </p:sp>
    </p:spTree>
    <p:extLst>
      <p:ext uri="{BB962C8B-B14F-4D97-AF65-F5344CB8AC3E}">
        <p14:creationId xmlns:p14="http://schemas.microsoft.com/office/powerpoint/2010/main" val="683203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430D8-987C-F83A-714A-66FB7C37F2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35FC19-FE3F-0F57-8575-DA1740075A2D}"/>
              </a:ext>
            </a:extLst>
          </p:cNvPr>
          <p:cNvSpPr>
            <a:spLocks noGrp="1" noRot="1" noChangeAspect="1"/>
          </p:cNvSpPr>
          <p:nvPr>
            <p:ph type="sldImg"/>
          </p:nvPr>
        </p:nvSpPr>
        <p:spPr>
          <a:xfrm>
            <a:off x="992188" y="768350"/>
            <a:ext cx="5114925" cy="3836988"/>
          </a:xfrm>
        </p:spPr>
      </p:sp>
      <p:sp>
        <p:nvSpPr>
          <p:cNvPr id="3" name="备注占位符 2">
            <a:extLst>
              <a:ext uri="{FF2B5EF4-FFF2-40B4-BE49-F238E27FC236}">
                <a16:creationId xmlns:a16="http://schemas.microsoft.com/office/drawing/2014/main" id="{71577FA3-D95B-C89B-FE36-ABACA2D6D8AE}"/>
              </a:ext>
            </a:extLst>
          </p:cNvPr>
          <p:cNvSpPr>
            <a:spLocks noGrp="1"/>
          </p:cNvSpPr>
          <p:nvPr>
            <p:ph type="body" idx="1"/>
          </p:nvPr>
        </p:nvSpPr>
        <p:spPr/>
        <p:txBody>
          <a:bodyPr/>
          <a:lstStyle/>
          <a:p>
            <a:pPr algn="l" fontAlgn="base"/>
            <a:r>
              <a:rPr lang="en-US" altLang="zh-CN" b="1" i="0">
                <a:solidFill>
                  <a:srgbClr val="273239"/>
                </a:solidFill>
                <a:effectLst/>
                <a:latin typeface="Source Sans 3"/>
              </a:rPr>
              <a:t>Memory Layout of C Programs</a:t>
            </a:r>
            <a:endParaRPr lang="en-US" altLang="zh-CN" b="1" i="0">
              <a:solidFill>
                <a:srgbClr val="273239"/>
              </a:solidFill>
              <a:effectLst/>
              <a:latin typeface="Nunito" pitchFamily="2" charset="0"/>
            </a:endParaRPr>
          </a:p>
          <a:p>
            <a:r>
              <a:rPr lang="en-US" altLang="zh-CN" b="1" i="0">
                <a:solidFill>
                  <a:srgbClr val="273239"/>
                </a:solidFill>
                <a:effectLst/>
                <a:latin typeface="Nunito" pitchFamily="2" charset="0"/>
              </a:rPr>
              <a:t>https://www.geeksforgeeks.org/memory-layout-of-c-program/?ref=oin_asr11</a:t>
            </a:r>
          </a:p>
        </p:txBody>
      </p:sp>
      <p:sp>
        <p:nvSpPr>
          <p:cNvPr id="4" name="灯片编号占位符 3">
            <a:extLst>
              <a:ext uri="{FF2B5EF4-FFF2-40B4-BE49-F238E27FC236}">
                <a16:creationId xmlns:a16="http://schemas.microsoft.com/office/drawing/2014/main" id="{17B945B5-2DE3-A7C0-DA28-61F3D33FC967}"/>
              </a:ext>
            </a:extLst>
          </p:cNvPr>
          <p:cNvSpPr>
            <a:spLocks noGrp="1"/>
          </p:cNvSpPr>
          <p:nvPr>
            <p:ph type="sldNum" sz="quarter" idx="5"/>
          </p:nvPr>
        </p:nvSpPr>
        <p:spPr/>
        <p:txBody>
          <a:bodyPr/>
          <a:lstStyle/>
          <a:p>
            <a:pPr>
              <a:defRPr/>
            </a:pPr>
            <a:fld id="{D181C44B-D884-624B-8620-22A7FB869997}" type="slidenum">
              <a:rPr lang="en-US" altLang="zh-CN"/>
              <a:pPr>
                <a:defRPr/>
              </a:pPr>
              <a:t>18</a:t>
            </a:fld>
            <a:endParaRPr lang="en-US" altLang="zh-CN"/>
          </a:p>
        </p:txBody>
      </p:sp>
    </p:spTree>
    <p:extLst>
      <p:ext uri="{BB962C8B-B14F-4D97-AF65-F5344CB8AC3E}">
        <p14:creationId xmlns:p14="http://schemas.microsoft.com/office/powerpoint/2010/main" val="1062413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CC2CD-9BDE-1572-DBC9-A670F36FBC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377363-5588-EF58-47D0-A5F19937126F}"/>
              </a:ext>
            </a:extLst>
          </p:cNvPr>
          <p:cNvSpPr>
            <a:spLocks noGrp="1" noRot="1" noChangeAspect="1"/>
          </p:cNvSpPr>
          <p:nvPr>
            <p:ph type="sldImg"/>
          </p:nvPr>
        </p:nvSpPr>
        <p:spPr>
          <a:xfrm>
            <a:off x="992188" y="768350"/>
            <a:ext cx="5114925" cy="3836988"/>
          </a:xfrm>
        </p:spPr>
      </p:sp>
      <p:sp>
        <p:nvSpPr>
          <p:cNvPr id="3" name="备注占位符 2">
            <a:extLst>
              <a:ext uri="{FF2B5EF4-FFF2-40B4-BE49-F238E27FC236}">
                <a16:creationId xmlns:a16="http://schemas.microsoft.com/office/drawing/2014/main" id="{DF619E5E-7F67-F9CC-169B-0F65195C8DCE}"/>
              </a:ext>
            </a:extLst>
          </p:cNvPr>
          <p:cNvSpPr>
            <a:spLocks noGrp="1"/>
          </p:cNvSpPr>
          <p:nvPr>
            <p:ph type="body" idx="1"/>
          </p:nvPr>
        </p:nvSpPr>
        <p:spPr/>
        <p:txBody>
          <a:bodyPr/>
          <a:lstStyle/>
          <a:p>
            <a:pPr algn="l" fontAlgn="base"/>
            <a:r>
              <a:rPr lang="en-US" altLang="zh-CN" b="1" i="0">
                <a:solidFill>
                  <a:srgbClr val="273239"/>
                </a:solidFill>
                <a:effectLst/>
                <a:latin typeface="Source Sans 3"/>
              </a:rPr>
              <a:t>Memory Layout of C Programs</a:t>
            </a:r>
            <a:endParaRPr lang="en-US" altLang="zh-CN" b="1" i="0">
              <a:solidFill>
                <a:srgbClr val="273239"/>
              </a:solidFill>
              <a:effectLst/>
              <a:latin typeface="Nunito" pitchFamily="2" charset="0"/>
            </a:endParaRPr>
          </a:p>
          <a:p>
            <a:r>
              <a:rPr lang="en-US" altLang="zh-CN" b="1" i="0">
                <a:solidFill>
                  <a:srgbClr val="273239"/>
                </a:solidFill>
                <a:effectLst/>
                <a:latin typeface="Nunito" pitchFamily="2" charset="0"/>
              </a:rPr>
              <a:t>https://www.geeksforgeeks.org/memory-layout-of-c-program/?ref=oin_asr11</a:t>
            </a:r>
          </a:p>
        </p:txBody>
      </p:sp>
      <p:sp>
        <p:nvSpPr>
          <p:cNvPr id="4" name="灯片编号占位符 3">
            <a:extLst>
              <a:ext uri="{FF2B5EF4-FFF2-40B4-BE49-F238E27FC236}">
                <a16:creationId xmlns:a16="http://schemas.microsoft.com/office/drawing/2014/main" id="{147DE584-BA69-05A3-1FB5-719A532BC55D}"/>
              </a:ext>
            </a:extLst>
          </p:cNvPr>
          <p:cNvSpPr>
            <a:spLocks noGrp="1"/>
          </p:cNvSpPr>
          <p:nvPr>
            <p:ph type="sldNum" sz="quarter" idx="5"/>
          </p:nvPr>
        </p:nvSpPr>
        <p:spPr/>
        <p:txBody>
          <a:bodyPr/>
          <a:lstStyle/>
          <a:p>
            <a:pPr>
              <a:defRPr/>
            </a:pPr>
            <a:fld id="{D181C44B-D884-624B-8620-22A7FB869997}" type="slidenum">
              <a:rPr lang="en-US" altLang="zh-CN"/>
              <a:pPr>
                <a:defRPr/>
              </a:pPr>
              <a:t>19</a:t>
            </a:fld>
            <a:endParaRPr lang="en-US" altLang="zh-CN"/>
          </a:p>
        </p:txBody>
      </p:sp>
    </p:spTree>
    <p:extLst>
      <p:ext uri="{BB962C8B-B14F-4D97-AF65-F5344CB8AC3E}">
        <p14:creationId xmlns:p14="http://schemas.microsoft.com/office/powerpoint/2010/main" val="3569617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BA2AB-DA3E-6807-B2EF-4F9BBBAF6A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1EC06F-2ECA-E378-B4F4-1E9936FB5C4F}"/>
              </a:ext>
            </a:extLst>
          </p:cNvPr>
          <p:cNvSpPr>
            <a:spLocks noGrp="1" noRot="1" noChangeAspect="1"/>
          </p:cNvSpPr>
          <p:nvPr>
            <p:ph type="sldImg"/>
          </p:nvPr>
        </p:nvSpPr>
        <p:spPr>
          <a:xfrm>
            <a:off x="992188" y="768350"/>
            <a:ext cx="5114925" cy="3836988"/>
          </a:xfrm>
        </p:spPr>
      </p:sp>
      <p:sp>
        <p:nvSpPr>
          <p:cNvPr id="3" name="备注占位符 2">
            <a:extLst>
              <a:ext uri="{FF2B5EF4-FFF2-40B4-BE49-F238E27FC236}">
                <a16:creationId xmlns:a16="http://schemas.microsoft.com/office/drawing/2014/main" id="{79AADDD5-4945-70A5-054E-F6214FEA3CA4}"/>
              </a:ext>
            </a:extLst>
          </p:cNvPr>
          <p:cNvSpPr>
            <a:spLocks noGrp="1"/>
          </p:cNvSpPr>
          <p:nvPr>
            <p:ph type="body" idx="1"/>
          </p:nvPr>
        </p:nvSpPr>
        <p:spPr/>
        <p:txBody>
          <a:bodyPr/>
          <a:lstStyle/>
          <a:p>
            <a:pPr algn="l" fontAlgn="base"/>
            <a:r>
              <a:rPr lang="en-US" altLang="zh-CN" b="1" i="0">
                <a:solidFill>
                  <a:srgbClr val="273239"/>
                </a:solidFill>
                <a:effectLst/>
                <a:latin typeface="Source Sans 3"/>
              </a:rPr>
              <a:t>Memory Layout of C Programs</a:t>
            </a:r>
            <a:endParaRPr lang="en-US" altLang="zh-CN" b="1" i="0">
              <a:solidFill>
                <a:srgbClr val="273239"/>
              </a:solidFill>
              <a:effectLst/>
              <a:latin typeface="Nunito" pitchFamily="2" charset="0"/>
            </a:endParaRPr>
          </a:p>
          <a:p>
            <a:r>
              <a:rPr lang="en-US" altLang="zh-CN" b="1" i="0">
                <a:solidFill>
                  <a:srgbClr val="273239"/>
                </a:solidFill>
                <a:effectLst/>
                <a:latin typeface="Nunito" pitchFamily="2" charset="0"/>
              </a:rPr>
              <a:t>https://www.geeksforgeeks.org/memory-layout-of-c-program/?ref=oin_asr11</a:t>
            </a:r>
          </a:p>
          <a:p>
            <a:endParaRPr lang="en-US" altLang="zh-CN" b="1" i="0">
              <a:solidFill>
                <a:srgbClr val="273239"/>
              </a:solidFill>
              <a:effectLst/>
              <a:latin typeface="Nunito"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i="0">
                <a:solidFill>
                  <a:srgbClr val="273239"/>
                </a:solidFill>
                <a:effectLst/>
                <a:latin typeface="Source Sans 3"/>
              </a:rPr>
              <a:t>Dynamic Memory Allocation in C using malloc(), calloc(), free() and realloc()</a:t>
            </a:r>
          </a:p>
          <a:p>
            <a:r>
              <a:rPr lang="en-US" altLang="zh-CN" b="1" i="0">
                <a:solidFill>
                  <a:srgbClr val="273239"/>
                </a:solidFill>
                <a:effectLst/>
                <a:latin typeface="Nunito" pitchFamily="2" charset="0"/>
              </a:rPr>
              <a:t>https://www.geeksforgeeks.org/dynamic-memory-allocation-in-c-using-malloc-calloc-free-and-realloc/?ref=oin_asr19</a:t>
            </a:r>
          </a:p>
          <a:p>
            <a:endParaRPr lang="en-US" altLang="zh-CN" b="1" i="0">
              <a:solidFill>
                <a:srgbClr val="273239"/>
              </a:solidFill>
              <a:effectLst/>
              <a:latin typeface="Nunito" pitchFamily="2" charset="0"/>
            </a:endParaRPr>
          </a:p>
          <a:p>
            <a:r>
              <a:rPr lang="en-US" altLang="zh-CN">
                <a:effectLst/>
                <a:latin typeface="Helvetica Neue" panose="02000503000000020004" pitchFamily="2" charset="0"/>
              </a:rPr>
              <a:t>### 1. **</a:t>
            </a:r>
            <a:r>
              <a:rPr lang="zh-CN" altLang="en-US">
                <a:effectLst/>
                <a:latin typeface="Helvetica Neue" panose="02000503000000020004" pitchFamily="2" charset="0"/>
              </a:rPr>
              <a:t>操作系统和架构**：</a:t>
            </a:r>
          </a:p>
          <a:p>
            <a:r>
              <a:rPr lang="zh-CN" altLang="en-US">
                <a:effectLst/>
                <a:latin typeface="Helvetica Neue" panose="02000503000000020004" pitchFamily="2" charset="0"/>
              </a:rPr>
              <a:t>   </a:t>
            </a:r>
            <a:r>
              <a:rPr lang="en-US" altLang="zh-CN">
                <a:effectLst/>
                <a:latin typeface="Helvetica Neue" panose="02000503000000020004" pitchFamily="2" charset="0"/>
              </a:rPr>
              <a:t>- **32 </a:t>
            </a:r>
            <a:r>
              <a:rPr lang="zh-CN" altLang="en-US">
                <a:effectLst/>
                <a:latin typeface="Helvetica Neue" panose="02000503000000020004" pitchFamily="2" charset="0"/>
              </a:rPr>
              <a:t>位系统**：堆内存大小一般在几百 </a:t>
            </a:r>
            <a:r>
              <a:rPr lang="en-US" altLang="zh-CN">
                <a:effectLst/>
                <a:latin typeface="Helvetica Neue" panose="02000503000000020004" pitchFamily="2" charset="0"/>
              </a:rPr>
              <a:t>MB </a:t>
            </a:r>
            <a:r>
              <a:rPr lang="zh-CN" altLang="en-US">
                <a:effectLst/>
                <a:latin typeface="Helvetica Neue" panose="02000503000000020004" pitchFamily="2" charset="0"/>
              </a:rPr>
              <a:t>到 </a:t>
            </a:r>
            <a:r>
              <a:rPr lang="en-US" altLang="zh-CN">
                <a:effectLst/>
                <a:latin typeface="Helvetica Neue" panose="02000503000000020004" pitchFamily="2" charset="0"/>
              </a:rPr>
              <a:t>1GB </a:t>
            </a:r>
            <a:r>
              <a:rPr lang="zh-CN" altLang="en-US">
                <a:effectLst/>
                <a:latin typeface="Helvetica Neue" panose="02000503000000020004" pitchFamily="2" charset="0"/>
              </a:rPr>
              <a:t>之间，受限于可用的虚拟地址空间。</a:t>
            </a:r>
          </a:p>
          <a:p>
            <a:r>
              <a:rPr lang="zh-CN" altLang="en-US">
                <a:effectLst/>
                <a:latin typeface="Helvetica Neue" panose="02000503000000020004" pitchFamily="2" charset="0"/>
              </a:rPr>
              <a:t>   </a:t>
            </a:r>
            <a:r>
              <a:rPr lang="en-US" altLang="zh-CN">
                <a:effectLst/>
                <a:latin typeface="Helvetica Neue" panose="02000503000000020004" pitchFamily="2" charset="0"/>
              </a:rPr>
              <a:t>- **64 </a:t>
            </a:r>
            <a:r>
              <a:rPr lang="zh-CN" altLang="en-US">
                <a:effectLst/>
                <a:latin typeface="PingFang SC"/>
              </a:rPr>
              <a:t>位系统</a:t>
            </a:r>
            <a:r>
              <a:rPr lang="zh-CN" altLang="en-US">
                <a:effectLst/>
                <a:latin typeface="Helvetica Neue" panose="02000503000000020004" pitchFamily="2" charset="0"/>
              </a:rPr>
              <a:t>**</a:t>
            </a:r>
            <a:r>
              <a:rPr lang="zh-CN" altLang="en-US">
                <a:effectLst/>
                <a:latin typeface="PingFang SC"/>
              </a:rPr>
              <a:t>：由于</a:t>
            </a:r>
            <a:r>
              <a:rPr lang="en-US" altLang="zh-CN">
                <a:effectLst/>
                <a:latin typeface="Helvetica Neue" panose="02000503000000020004" pitchFamily="2" charset="0"/>
              </a:rPr>
              <a:t>64</a:t>
            </a:r>
            <a:r>
              <a:rPr lang="zh-CN" altLang="en-US">
                <a:effectLst/>
                <a:latin typeface="PingFang SC"/>
              </a:rPr>
              <a:t>位系统有更大的地址空间，堆内存的大小可以达到数</a:t>
            </a:r>
            <a:r>
              <a:rPr lang="zh-CN" altLang="en-US">
                <a:effectLst/>
                <a:latin typeface="Helvetica Neue" panose="02000503000000020004" pitchFamily="2" charset="0"/>
              </a:rPr>
              <a:t> </a:t>
            </a:r>
            <a:r>
              <a:rPr lang="en-US" altLang="zh-CN">
                <a:effectLst/>
                <a:latin typeface="Helvetica Neue" panose="02000503000000020004" pitchFamily="2" charset="0"/>
              </a:rPr>
              <a:t>GB </a:t>
            </a:r>
            <a:r>
              <a:rPr lang="zh-CN" altLang="en-US">
                <a:effectLst/>
                <a:latin typeface="PingFang SC"/>
              </a:rPr>
              <a:t>甚至</a:t>
            </a:r>
            <a:r>
              <a:rPr lang="zh-CN" altLang="en-US">
                <a:effectLst/>
                <a:latin typeface="Helvetica Neue" panose="02000503000000020004" pitchFamily="2" charset="0"/>
              </a:rPr>
              <a:t> </a:t>
            </a:r>
            <a:r>
              <a:rPr lang="en-US" altLang="zh-CN">
                <a:effectLst/>
                <a:latin typeface="Helvetica Neue" panose="02000503000000020004" pitchFamily="2" charset="0"/>
              </a:rPr>
              <a:t>TB </a:t>
            </a:r>
            <a:r>
              <a:rPr lang="zh-CN" altLang="en-US">
                <a:effectLst/>
                <a:latin typeface="PingFang SC"/>
              </a:rPr>
              <a:t>级别，具体取决于可用的物理内存。</a:t>
            </a:r>
          </a:p>
          <a:p>
            <a:r>
              <a:rPr lang="en-US" altLang="zh-CN">
                <a:effectLst/>
                <a:latin typeface="Helvetica Neue" panose="02000503000000020004" pitchFamily="2" charset="0"/>
              </a:rPr>
              <a:t>### 4. **</a:t>
            </a:r>
            <a:r>
              <a:rPr lang="zh-CN" altLang="en-US">
                <a:effectLst/>
                <a:latin typeface="Helvetica Neue" panose="02000503000000020004" pitchFamily="2" charset="0"/>
              </a:rPr>
              <a:t>系统设置**：</a:t>
            </a:r>
          </a:p>
          <a:p>
            <a:r>
              <a:rPr lang="zh-CN" altLang="en-US">
                <a:effectLst/>
                <a:latin typeface="Helvetica Neue" panose="02000503000000020004" pitchFamily="2" charset="0"/>
              </a:rPr>
              <a:t>   </a:t>
            </a:r>
            <a:r>
              <a:rPr lang="en-US" altLang="zh-CN">
                <a:effectLst/>
                <a:latin typeface="Helvetica Neue" panose="02000503000000020004" pitchFamily="2" charset="0"/>
              </a:rPr>
              <a:t>- </a:t>
            </a:r>
            <a:r>
              <a:rPr lang="zh-CN" altLang="en-US">
                <a:effectLst/>
                <a:latin typeface="Helvetica Neue" panose="02000503000000020004" pitchFamily="2" charset="0"/>
              </a:rPr>
              <a:t>在 **</a:t>
            </a:r>
            <a:r>
              <a:rPr lang="en-US" altLang="zh-CN">
                <a:effectLst/>
                <a:latin typeface="Helvetica Neue" panose="02000503000000020004" pitchFamily="2" charset="0"/>
              </a:rPr>
              <a:t>Linux** </a:t>
            </a:r>
            <a:r>
              <a:rPr lang="zh-CN" altLang="en-US">
                <a:effectLst/>
                <a:latin typeface="Helvetica Neue" panose="02000503000000020004" pitchFamily="2" charset="0"/>
              </a:rPr>
              <a:t>系统中，</a:t>
            </a:r>
            <a:r>
              <a:rPr lang="en-US" altLang="zh-CN">
                <a:effectLst/>
                <a:latin typeface="Helvetica Neue" panose="02000503000000020004" pitchFamily="2" charset="0"/>
              </a:rPr>
              <a:t>`ulimit` </a:t>
            </a:r>
            <a:r>
              <a:rPr lang="zh-CN" altLang="en-US">
                <a:effectLst/>
                <a:latin typeface="Helvetica Neue" panose="02000503000000020004" pitchFamily="2" charset="0"/>
              </a:rPr>
              <a:t>命令可以限制程序的最大虚拟内存，这会影响堆内存的大小。</a:t>
            </a:r>
          </a:p>
          <a:p>
            <a:r>
              <a:rPr lang="zh-CN" altLang="en-US">
                <a:effectLst/>
                <a:latin typeface="Helvetica Neue" panose="02000503000000020004" pitchFamily="2" charset="0"/>
              </a:rPr>
              <a:t>   </a:t>
            </a:r>
            <a:r>
              <a:rPr lang="en-US" altLang="zh-CN">
                <a:effectLst/>
                <a:latin typeface="Helvetica Neue" panose="02000503000000020004" pitchFamily="2" charset="0"/>
              </a:rPr>
              <a:t>- </a:t>
            </a:r>
            <a:r>
              <a:rPr lang="zh-CN" altLang="en-US">
                <a:effectLst/>
                <a:latin typeface="PingFang SC"/>
              </a:rPr>
              <a:t>在</a:t>
            </a:r>
            <a:r>
              <a:rPr lang="zh-CN" altLang="en-US">
                <a:effectLst/>
                <a:latin typeface="Helvetica Neue" panose="02000503000000020004" pitchFamily="2" charset="0"/>
              </a:rPr>
              <a:t> **</a:t>
            </a:r>
            <a:r>
              <a:rPr lang="en-US" altLang="zh-CN">
                <a:effectLst/>
                <a:latin typeface="Helvetica Neue" panose="02000503000000020004" pitchFamily="2" charset="0"/>
              </a:rPr>
              <a:t>Windows** </a:t>
            </a:r>
            <a:r>
              <a:rPr lang="zh-CN" altLang="en-US">
                <a:effectLst/>
                <a:latin typeface="PingFang SC"/>
              </a:rPr>
              <a:t>系统中，程序的堆内存大小受限于系统设置和可用的虚拟内存空间。</a:t>
            </a:r>
          </a:p>
          <a:p>
            <a:r>
              <a:rPr lang="en-US" altLang="zh-CN">
                <a:effectLst/>
                <a:latin typeface="Helvetica Neue" panose="02000503000000020004" pitchFamily="2" charset="0"/>
              </a:rPr>
              <a:t>### </a:t>
            </a:r>
            <a:r>
              <a:rPr lang="zh-CN" altLang="en-US">
                <a:effectLst/>
                <a:latin typeface="Helvetica Neue" panose="02000503000000020004" pitchFamily="2" charset="0"/>
              </a:rPr>
              <a:t>实际大小范围：</a:t>
            </a:r>
          </a:p>
          <a:p>
            <a:r>
              <a:rPr lang="zh-CN" altLang="en-US">
                <a:effectLst/>
                <a:latin typeface="PingFang SC"/>
              </a:rPr>
              <a:t>堆内存通常是比栈空间大得多的内存区域。在大多数常见系统中，堆内存的大小范围从几</a:t>
            </a:r>
            <a:r>
              <a:rPr lang="zh-CN" altLang="en-US">
                <a:effectLst/>
                <a:latin typeface="Helvetica Neue" panose="02000503000000020004" pitchFamily="2" charset="0"/>
              </a:rPr>
              <a:t> </a:t>
            </a:r>
            <a:r>
              <a:rPr lang="en-US" altLang="zh-CN">
                <a:effectLst/>
                <a:latin typeface="Helvetica Neue" panose="02000503000000020004" pitchFamily="2" charset="0"/>
              </a:rPr>
              <a:t>MB </a:t>
            </a:r>
            <a:r>
              <a:rPr lang="zh-CN" altLang="en-US">
                <a:effectLst/>
                <a:latin typeface="PingFang SC"/>
              </a:rPr>
              <a:t>到几</a:t>
            </a:r>
            <a:r>
              <a:rPr lang="zh-CN" altLang="en-US">
                <a:effectLst/>
                <a:latin typeface="Helvetica Neue" panose="02000503000000020004" pitchFamily="2" charset="0"/>
              </a:rPr>
              <a:t> </a:t>
            </a:r>
            <a:r>
              <a:rPr lang="en-US" altLang="zh-CN">
                <a:effectLst/>
                <a:latin typeface="Helvetica Neue" panose="02000503000000020004" pitchFamily="2" charset="0"/>
              </a:rPr>
              <a:t>GB </a:t>
            </a:r>
            <a:r>
              <a:rPr lang="zh-CN" altLang="en-US">
                <a:effectLst/>
                <a:latin typeface="PingFang SC"/>
              </a:rPr>
              <a:t>不等，具体取决于操作系统的内存管理和硬件资源。</a:t>
            </a:r>
          </a:p>
          <a:p>
            <a:endParaRPr lang="en-US" altLang="zh-CN" b="1" i="0">
              <a:solidFill>
                <a:srgbClr val="273239"/>
              </a:solidFill>
              <a:effectLst/>
              <a:latin typeface="Nunito" pitchFamily="2" charset="0"/>
            </a:endParaRPr>
          </a:p>
        </p:txBody>
      </p:sp>
      <p:sp>
        <p:nvSpPr>
          <p:cNvPr id="4" name="灯片编号占位符 3">
            <a:extLst>
              <a:ext uri="{FF2B5EF4-FFF2-40B4-BE49-F238E27FC236}">
                <a16:creationId xmlns:a16="http://schemas.microsoft.com/office/drawing/2014/main" id="{3F0EE74B-FDD8-CE6E-93F0-C9A06E1A63A6}"/>
              </a:ext>
            </a:extLst>
          </p:cNvPr>
          <p:cNvSpPr>
            <a:spLocks noGrp="1"/>
          </p:cNvSpPr>
          <p:nvPr>
            <p:ph type="sldNum" sz="quarter" idx="5"/>
          </p:nvPr>
        </p:nvSpPr>
        <p:spPr/>
        <p:txBody>
          <a:bodyPr/>
          <a:lstStyle/>
          <a:p>
            <a:pPr>
              <a:defRPr/>
            </a:pPr>
            <a:fld id="{D181C44B-D884-624B-8620-22A7FB869997}" type="slidenum">
              <a:rPr lang="en-US" altLang="zh-CN"/>
              <a:pPr>
                <a:defRPr/>
              </a:pPr>
              <a:t>20</a:t>
            </a:fld>
            <a:endParaRPr lang="en-US" altLang="zh-CN"/>
          </a:p>
        </p:txBody>
      </p:sp>
    </p:spTree>
    <p:extLst>
      <p:ext uri="{BB962C8B-B14F-4D97-AF65-F5344CB8AC3E}">
        <p14:creationId xmlns:p14="http://schemas.microsoft.com/office/powerpoint/2010/main" val="142573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D38F5-590C-857D-509C-824EF9B13A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C2E3D5-4C48-58F4-7262-F2DA11A212A3}"/>
              </a:ext>
            </a:extLst>
          </p:cNvPr>
          <p:cNvSpPr>
            <a:spLocks noGrp="1" noRot="1" noChangeAspect="1"/>
          </p:cNvSpPr>
          <p:nvPr>
            <p:ph type="sldImg"/>
          </p:nvPr>
        </p:nvSpPr>
        <p:spPr>
          <a:xfrm>
            <a:off x="992188" y="768350"/>
            <a:ext cx="5114925" cy="3836988"/>
          </a:xfrm>
        </p:spPr>
      </p:sp>
      <p:sp>
        <p:nvSpPr>
          <p:cNvPr id="3" name="备注占位符 2">
            <a:extLst>
              <a:ext uri="{FF2B5EF4-FFF2-40B4-BE49-F238E27FC236}">
                <a16:creationId xmlns:a16="http://schemas.microsoft.com/office/drawing/2014/main" id="{CB4C2E51-98D8-4166-136F-392717AF8077}"/>
              </a:ext>
            </a:extLst>
          </p:cNvPr>
          <p:cNvSpPr>
            <a:spLocks noGrp="1"/>
          </p:cNvSpPr>
          <p:nvPr>
            <p:ph type="body" idx="1"/>
          </p:nvPr>
        </p:nvSpPr>
        <p:spPr/>
        <p:txBody>
          <a:bodyPr/>
          <a:lstStyle/>
          <a:p>
            <a:pPr algn="l" fontAlgn="base"/>
            <a:r>
              <a:rPr lang="en-US" altLang="zh-CN" b="1" i="0">
                <a:solidFill>
                  <a:srgbClr val="273239"/>
                </a:solidFill>
                <a:effectLst/>
                <a:latin typeface="Source Sans 3"/>
              </a:rPr>
              <a:t>Memory Layout of C Programs</a:t>
            </a:r>
            <a:endParaRPr lang="en-US" altLang="zh-CN" b="1" i="0">
              <a:solidFill>
                <a:srgbClr val="273239"/>
              </a:solidFill>
              <a:effectLst/>
              <a:latin typeface="Nunito" pitchFamily="2" charset="0"/>
            </a:endParaRPr>
          </a:p>
          <a:p>
            <a:r>
              <a:rPr lang="en-US" altLang="zh-CN" b="1" i="0">
                <a:solidFill>
                  <a:srgbClr val="273239"/>
                </a:solidFill>
                <a:effectLst/>
                <a:latin typeface="Nunito" pitchFamily="2" charset="0"/>
              </a:rPr>
              <a:t>https://www.geeksforgeeks.org/memory-layout-of-c-program/?ref=oin_asr11</a:t>
            </a:r>
          </a:p>
          <a:p>
            <a:endParaRPr lang="en-US" altLang="zh-CN" b="1" i="0">
              <a:solidFill>
                <a:srgbClr val="273239"/>
              </a:solidFill>
              <a:effectLst/>
              <a:latin typeface="Nunito" pitchFamily="2" charset="0"/>
            </a:endParaRPr>
          </a:p>
          <a:p>
            <a:r>
              <a:rPr lang="en-US" altLang="zh-CN">
                <a:effectLst/>
                <a:latin typeface="Helvetica Neue" panose="02000503000000020004" pitchFamily="2" charset="0"/>
              </a:rPr>
              <a:t>### 1. **</a:t>
            </a:r>
            <a:r>
              <a:rPr lang="zh-CN" altLang="en-US">
                <a:effectLst/>
                <a:latin typeface="Helvetica Neue" panose="02000503000000020004" pitchFamily="2" charset="0"/>
              </a:rPr>
              <a:t>在 </a:t>
            </a:r>
            <a:r>
              <a:rPr lang="en-US" altLang="zh-CN">
                <a:effectLst/>
                <a:latin typeface="Helvetica Neue" panose="02000503000000020004" pitchFamily="2" charset="0"/>
              </a:rPr>
              <a:t>32 </a:t>
            </a:r>
            <a:r>
              <a:rPr lang="zh-CN" altLang="en-US">
                <a:effectLst/>
                <a:latin typeface="Helvetica Neue" panose="02000503000000020004" pitchFamily="2" charset="0"/>
              </a:rPr>
              <a:t>位和 </a:t>
            </a:r>
            <a:r>
              <a:rPr lang="en-US" altLang="zh-CN">
                <a:effectLst/>
                <a:latin typeface="Helvetica Neue" panose="02000503000000020004" pitchFamily="2" charset="0"/>
              </a:rPr>
              <a:t>64 </a:t>
            </a:r>
            <a:r>
              <a:rPr lang="zh-CN" altLang="en-US">
                <a:effectLst/>
                <a:latin typeface="Helvetica Neue" panose="02000503000000020004" pitchFamily="2" charset="0"/>
              </a:rPr>
              <a:t>位系统中的栈大小**：</a:t>
            </a:r>
          </a:p>
          <a:p>
            <a:r>
              <a:rPr lang="zh-CN" altLang="en-US">
                <a:effectLst/>
                <a:latin typeface="Helvetica Neue" panose="02000503000000020004" pitchFamily="2" charset="0"/>
              </a:rPr>
              <a:t>   </a:t>
            </a:r>
            <a:r>
              <a:rPr lang="en-US" altLang="zh-CN">
                <a:effectLst/>
                <a:latin typeface="Helvetica Neue" panose="02000503000000020004" pitchFamily="2" charset="0"/>
              </a:rPr>
              <a:t>- **32 </a:t>
            </a:r>
            <a:r>
              <a:rPr lang="zh-CN" altLang="en-US">
                <a:effectLst/>
                <a:latin typeface="Helvetica Neue" panose="02000503000000020004" pitchFamily="2" charset="0"/>
              </a:rPr>
              <a:t>位系统**：栈的大小通常在 **</a:t>
            </a:r>
            <a:r>
              <a:rPr lang="en-US" altLang="zh-CN">
                <a:effectLst/>
                <a:latin typeface="Helvetica Neue" panose="02000503000000020004" pitchFamily="2" charset="0"/>
              </a:rPr>
              <a:t>1MB </a:t>
            </a:r>
            <a:r>
              <a:rPr lang="zh-CN" altLang="en-US">
                <a:effectLst/>
                <a:latin typeface="Helvetica Neue" panose="02000503000000020004" pitchFamily="2" charset="0"/>
              </a:rPr>
              <a:t>到 </a:t>
            </a:r>
            <a:r>
              <a:rPr lang="en-US" altLang="zh-CN">
                <a:effectLst/>
                <a:latin typeface="Helvetica Neue" panose="02000503000000020004" pitchFamily="2" charset="0"/>
              </a:rPr>
              <a:t>8MB** </a:t>
            </a:r>
            <a:r>
              <a:rPr lang="zh-CN" altLang="en-US">
                <a:effectLst/>
                <a:latin typeface="Helvetica Neue" panose="02000503000000020004" pitchFamily="2" charset="0"/>
              </a:rPr>
              <a:t>之间。</a:t>
            </a:r>
          </a:p>
          <a:p>
            <a:r>
              <a:rPr lang="zh-CN" altLang="en-US">
                <a:effectLst/>
                <a:latin typeface="Helvetica Neue" panose="02000503000000020004" pitchFamily="2" charset="0"/>
              </a:rPr>
              <a:t>   </a:t>
            </a:r>
            <a:r>
              <a:rPr lang="en-US" altLang="zh-CN">
                <a:effectLst/>
                <a:latin typeface="Helvetica Neue" panose="02000503000000020004" pitchFamily="2" charset="0"/>
              </a:rPr>
              <a:t>- **64 </a:t>
            </a:r>
            <a:r>
              <a:rPr lang="zh-CN" altLang="en-US">
                <a:effectLst/>
                <a:latin typeface="Helvetica Neue" panose="02000503000000020004" pitchFamily="2" charset="0"/>
              </a:rPr>
              <a:t>位系统**：默认栈大小通常会更大，典型范围是 **</a:t>
            </a:r>
            <a:r>
              <a:rPr lang="en-US" altLang="zh-CN">
                <a:effectLst/>
                <a:latin typeface="Helvetica Neue" panose="02000503000000020004" pitchFamily="2" charset="0"/>
              </a:rPr>
              <a:t>8MB </a:t>
            </a:r>
            <a:r>
              <a:rPr lang="zh-CN" altLang="en-US">
                <a:effectLst/>
                <a:latin typeface="Helvetica Neue" panose="02000503000000020004" pitchFamily="2" charset="0"/>
              </a:rPr>
              <a:t>到 </a:t>
            </a:r>
            <a:r>
              <a:rPr lang="en-US" altLang="zh-CN">
                <a:effectLst/>
                <a:latin typeface="Helvetica Neue" panose="02000503000000020004" pitchFamily="2" charset="0"/>
              </a:rPr>
              <a:t>16MB**</a:t>
            </a:r>
            <a:r>
              <a:rPr lang="zh-CN" altLang="en-US">
                <a:effectLst/>
                <a:latin typeface="Helvetica Neue" panose="02000503000000020004" pitchFamily="2" charset="0"/>
              </a:rPr>
              <a:t>。</a:t>
            </a:r>
            <a:br>
              <a:rPr lang="zh-CN" altLang="en-US">
                <a:effectLst/>
                <a:latin typeface="Helvetica Neue" panose="02000503000000020004" pitchFamily="2" charset="0"/>
              </a:rPr>
            </a:br>
            <a:endParaRPr lang="zh-CN" altLang="en-US">
              <a:effectLst/>
              <a:latin typeface="Helvetica Neue" panose="02000503000000020004" pitchFamily="2" charset="0"/>
            </a:endParaRPr>
          </a:p>
          <a:p>
            <a:r>
              <a:rPr lang="en-US" altLang="zh-CN">
                <a:effectLst/>
                <a:latin typeface="Helvetica Neue" panose="02000503000000020004" pitchFamily="2" charset="0"/>
              </a:rPr>
              <a:t>### 2. **</a:t>
            </a:r>
            <a:r>
              <a:rPr lang="zh-CN" altLang="en-US">
                <a:effectLst/>
                <a:latin typeface="Helvetica Neue" panose="02000503000000020004" pitchFamily="2" charset="0"/>
              </a:rPr>
              <a:t>操作系统默认栈大小**：</a:t>
            </a:r>
          </a:p>
          <a:p>
            <a:r>
              <a:rPr lang="zh-CN" altLang="en-US">
                <a:effectLst/>
                <a:latin typeface="Helvetica Neue" panose="02000503000000020004" pitchFamily="2" charset="0"/>
              </a:rPr>
              <a:t>   </a:t>
            </a:r>
            <a:r>
              <a:rPr lang="en-US" altLang="zh-CN">
                <a:effectLst/>
                <a:latin typeface="Helvetica Neue" panose="02000503000000020004" pitchFamily="2" charset="0"/>
              </a:rPr>
              <a:t>- **Linux**</a:t>
            </a:r>
            <a:r>
              <a:rPr lang="zh-CN" altLang="en-US">
                <a:effectLst/>
                <a:latin typeface="Helvetica Neue" panose="02000503000000020004" pitchFamily="2" charset="0"/>
              </a:rPr>
              <a:t>：在 </a:t>
            </a:r>
            <a:r>
              <a:rPr lang="en-US" altLang="zh-CN">
                <a:effectLst/>
                <a:latin typeface="Helvetica Neue" panose="02000503000000020004" pitchFamily="2" charset="0"/>
              </a:rPr>
              <a:t>Linux </a:t>
            </a:r>
            <a:r>
              <a:rPr lang="zh-CN" altLang="en-US">
                <a:effectLst/>
                <a:latin typeface="Helvetica Neue" panose="02000503000000020004" pitchFamily="2" charset="0"/>
              </a:rPr>
              <a:t>系统中，默认栈大小通常是 **</a:t>
            </a:r>
            <a:r>
              <a:rPr lang="en-US" altLang="zh-CN">
                <a:effectLst/>
                <a:latin typeface="Helvetica Neue" panose="02000503000000020004" pitchFamily="2" charset="0"/>
              </a:rPr>
              <a:t>8MB**</a:t>
            </a:r>
            <a:r>
              <a:rPr lang="zh-CN" altLang="en-US">
                <a:effectLst/>
                <a:latin typeface="Helvetica Neue" panose="02000503000000020004" pitchFamily="2" charset="0"/>
              </a:rPr>
              <a:t>，但是可以通过修改 </a:t>
            </a:r>
            <a:r>
              <a:rPr lang="en-US" altLang="zh-CN">
                <a:effectLst/>
                <a:latin typeface="Helvetica Neue" panose="02000503000000020004" pitchFamily="2" charset="0"/>
              </a:rPr>
              <a:t>`ulimit` </a:t>
            </a:r>
            <a:r>
              <a:rPr lang="zh-CN" altLang="en-US">
                <a:effectLst/>
                <a:latin typeface="Helvetica Neue" panose="02000503000000020004" pitchFamily="2" charset="0"/>
              </a:rPr>
              <a:t>设置来调整。</a:t>
            </a:r>
          </a:p>
          <a:p>
            <a:r>
              <a:rPr lang="zh-CN" altLang="en-US">
                <a:effectLst/>
                <a:latin typeface="Helvetica Neue" panose="02000503000000020004" pitchFamily="2" charset="0"/>
              </a:rPr>
              <a:t>   </a:t>
            </a:r>
            <a:r>
              <a:rPr lang="en-US" altLang="zh-CN">
                <a:effectLst/>
                <a:latin typeface="Helvetica Neue" panose="02000503000000020004" pitchFamily="2" charset="0"/>
              </a:rPr>
              <a:t>- **Windows**</a:t>
            </a:r>
            <a:r>
              <a:rPr lang="zh-CN" altLang="en-US">
                <a:effectLst/>
                <a:latin typeface="Helvetica Neue" panose="02000503000000020004" pitchFamily="2" charset="0"/>
              </a:rPr>
              <a:t>：在 </a:t>
            </a:r>
            <a:r>
              <a:rPr lang="en-US" altLang="zh-CN">
                <a:effectLst/>
                <a:latin typeface="Helvetica Neue" panose="02000503000000020004" pitchFamily="2" charset="0"/>
              </a:rPr>
              <a:t>Windows </a:t>
            </a:r>
            <a:r>
              <a:rPr lang="zh-CN" altLang="en-US">
                <a:effectLst/>
                <a:latin typeface="Helvetica Neue" panose="02000503000000020004" pitchFamily="2" charset="0"/>
              </a:rPr>
              <a:t>系统中，默认栈大小为 **</a:t>
            </a:r>
            <a:r>
              <a:rPr lang="en-US" altLang="zh-CN">
                <a:effectLst/>
                <a:latin typeface="Helvetica Neue" panose="02000503000000020004" pitchFamily="2" charset="0"/>
              </a:rPr>
              <a:t>1MB**</a:t>
            </a:r>
            <a:r>
              <a:rPr lang="zh-CN" altLang="en-US">
                <a:effectLst/>
                <a:latin typeface="Helvetica Neue" panose="02000503000000020004" pitchFamily="2" charset="0"/>
              </a:rPr>
              <a:t>，但是可以在编译时通过选项进行修改。</a:t>
            </a:r>
          </a:p>
          <a:p>
            <a:r>
              <a:rPr lang="zh-CN" altLang="en-US">
                <a:effectLst/>
                <a:latin typeface="Helvetica Neue" panose="02000503000000020004" pitchFamily="2" charset="0"/>
              </a:rPr>
              <a:t>   </a:t>
            </a:r>
            <a:r>
              <a:rPr lang="en-US" altLang="zh-CN">
                <a:effectLst/>
                <a:latin typeface="Helvetica Neue" panose="02000503000000020004" pitchFamily="2" charset="0"/>
              </a:rPr>
              <a:t>- **MacOS**</a:t>
            </a:r>
            <a:r>
              <a:rPr lang="zh-CN" altLang="en-US">
                <a:effectLst/>
                <a:latin typeface="PingFang SC"/>
              </a:rPr>
              <a:t>：</a:t>
            </a:r>
            <a:r>
              <a:rPr lang="en-US" altLang="zh-CN">
                <a:effectLst/>
                <a:latin typeface="Helvetica Neue" panose="02000503000000020004" pitchFamily="2" charset="0"/>
              </a:rPr>
              <a:t>MacOS </a:t>
            </a:r>
            <a:r>
              <a:rPr lang="zh-CN" altLang="en-US">
                <a:effectLst/>
                <a:latin typeface="PingFang SC"/>
              </a:rPr>
              <a:t>默认栈大小通常也是</a:t>
            </a:r>
            <a:r>
              <a:rPr lang="zh-CN" altLang="en-US">
                <a:effectLst/>
                <a:latin typeface="Helvetica Neue" panose="02000503000000020004" pitchFamily="2" charset="0"/>
              </a:rPr>
              <a:t> **</a:t>
            </a:r>
            <a:r>
              <a:rPr lang="en-US" altLang="zh-CN">
                <a:effectLst/>
                <a:latin typeface="Helvetica Neue" panose="02000503000000020004" pitchFamily="2" charset="0"/>
              </a:rPr>
              <a:t>8MB**</a:t>
            </a:r>
            <a:r>
              <a:rPr lang="zh-CN" altLang="en-US">
                <a:effectLst/>
                <a:latin typeface="PingFang SC"/>
              </a:rPr>
              <a:t>，并且可以通过系统设置进行调整。</a:t>
            </a:r>
            <a:endParaRPr lang="zh-CN" altLang="en-US">
              <a:effectLst/>
              <a:latin typeface="Helvetica Neue" panose="02000503000000020004" pitchFamily="2" charset="0"/>
            </a:endParaRPr>
          </a:p>
          <a:p>
            <a:endParaRPr lang="en-US" altLang="zh-CN" b="1" i="0">
              <a:solidFill>
                <a:srgbClr val="273239"/>
              </a:solidFill>
              <a:effectLst/>
              <a:latin typeface="Nunito" pitchFamily="2" charset="0"/>
            </a:endParaRPr>
          </a:p>
        </p:txBody>
      </p:sp>
      <p:sp>
        <p:nvSpPr>
          <p:cNvPr id="4" name="灯片编号占位符 3">
            <a:extLst>
              <a:ext uri="{FF2B5EF4-FFF2-40B4-BE49-F238E27FC236}">
                <a16:creationId xmlns:a16="http://schemas.microsoft.com/office/drawing/2014/main" id="{216A68B3-1BDB-DDE0-9083-63264FB8F285}"/>
              </a:ext>
            </a:extLst>
          </p:cNvPr>
          <p:cNvSpPr>
            <a:spLocks noGrp="1"/>
          </p:cNvSpPr>
          <p:nvPr>
            <p:ph type="sldNum" sz="quarter" idx="5"/>
          </p:nvPr>
        </p:nvSpPr>
        <p:spPr/>
        <p:txBody>
          <a:bodyPr/>
          <a:lstStyle/>
          <a:p>
            <a:pPr>
              <a:defRPr/>
            </a:pPr>
            <a:fld id="{D181C44B-D884-624B-8620-22A7FB869997}" type="slidenum">
              <a:rPr lang="en-US" altLang="zh-CN"/>
              <a:pPr>
                <a:defRPr/>
              </a:pPr>
              <a:t>21</a:t>
            </a:fld>
            <a:endParaRPr lang="en-US" altLang="zh-CN"/>
          </a:p>
        </p:txBody>
      </p:sp>
    </p:spTree>
    <p:extLst>
      <p:ext uri="{BB962C8B-B14F-4D97-AF65-F5344CB8AC3E}">
        <p14:creationId xmlns:p14="http://schemas.microsoft.com/office/powerpoint/2010/main" val="4149814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zh-CN" altLang="en-US"/>
              <a:t>或者 </a:t>
            </a:r>
            <a:r>
              <a:rPr lang="en-US" altLang="zh-CN"/>
              <a:t>int a[10]</a:t>
            </a:r>
            <a:r>
              <a:rPr lang="zh-CN" altLang="en-US"/>
              <a:t> </a:t>
            </a:r>
            <a:r>
              <a:rPr lang="en-US" altLang="zh-CN"/>
              <a:t>=</a:t>
            </a:r>
            <a:r>
              <a:rPr lang="zh-CN" altLang="en-US"/>
              <a:t> </a:t>
            </a:r>
            <a:r>
              <a:rPr lang="en-US" altLang="zh-CN"/>
              <a:t>{0};</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23</a:t>
            </a:fld>
            <a:endParaRPr lang="en-US" altLang="zh-CN"/>
          </a:p>
        </p:txBody>
      </p:sp>
    </p:spTree>
    <p:extLst>
      <p:ext uri="{BB962C8B-B14F-4D97-AF65-F5344CB8AC3E}">
        <p14:creationId xmlns:p14="http://schemas.microsoft.com/office/powerpoint/2010/main" val="2447979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i="0">
                <a:solidFill>
                  <a:srgbClr val="273239"/>
                </a:solidFill>
                <a:effectLst/>
                <a:latin typeface="Source Sans 3"/>
              </a:rPr>
              <a:t>What is Memory Leak? How can we avoid?</a:t>
            </a:r>
            <a:endParaRPr kumimoji="1" lang="en-US" altLang="zh-CN"/>
          </a:p>
          <a:p>
            <a:r>
              <a:rPr kumimoji="1" lang="en-US" altLang="zh-CN"/>
              <a:t>https://www.geeksforgeeks.org/what-is-memory-leak-how-can-we-avoid/</a:t>
            </a:r>
          </a:p>
          <a:p>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24</a:t>
            </a:fld>
            <a:endParaRPr lang="en-US" altLang="zh-CN"/>
          </a:p>
        </p:txBody>
      </p:sp>
    </p:spTree>
    <p:extLst>
      <p:ext uri="{BB962C8B-B14F-4D97-AF65-F5344CB8AC3E}">
        <p14:creationId xmlns:p14="http://schemas.microsoft.com/office/powerpoint/2010/main" val="32240584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a:t>A[i] = (int *) malloc (sizeof (int) * 5); </a:t>
            </a:r>
          </a:p>
          <a:p>
            <a:r>
              <a:rPr kumimoji="1" lang="en-US" altLang="zh-CN"/>
              <a:t>-&gt;</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a:t>A[i] = (int *) malloc (sizeof (int) * </a:t>
            </a:r>
            <a:r>
              <a:rPr lang="en-US" altLang="zh-CN" sz="1200" b="0" i="0"/>
              <a:t>(i+1)</a:t>
            </a:r>
            <a:r>
              <a:rPr lang="zh-CN" altLang="en-US" sz="1200" b="0" i="0"/>
              <a:t>); </a:t>
            </a:r>
          </a:p>
          <a:p>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28</a:t>
            </a:fld>
            <a:endParaRPr lang="en-US" altLang="zh-CN"/>
          </a:p>
        </p:txBody>
      </p:sp>
    </p:spTree>
    <p:extLst>
      <p:ext uri="{BB962C8B-B14F-4D97-AF65-F5344CB8AC3E}">
        <p14:creationId xmlns:p14="http://schemas.microsoft.com/office/powerpoint/2010/main" val="1864100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en-US" altLang="zh-CN"/>
              <a:t>#include &lt;stdlib.h&gt;</a:t>
            </a:r>
          </a:p>
          <a:p>
            <a:r>
              <a:rPr kumimoji="1" lang="en-US" altLang="zh-CN"/>
              <a:t>void main () {</a:t>
            </a:r>
          </a:p>
          <a:p>
            <a:r>
              <a:rPr kumimoji="1" lang="en-US" altLang="zh-CN"/>
              <a:t>    int a[5] = {0};</a:t>
            </a:r>
          </a:p>
          <a:p>
            <a:r>
              <a:rPr kumimoji="1" lang="en-US" altLang="zh-CN"/>
              <a:t>    a[0] = 1;</a:t>
            </a:r>
          </a:p>
          <a:p>
            <a:r>
              <a:rPr kumimoji="1" lang="en-US" altLang="zh-CN"/>
              <a:t>    a[-1] = 2;</a:t>
            </a:r>
          </a:p>
          <a:p>
            <a:r>
              <a:rPr kumimoji="1" lang="en-US" altLang="zh-CN"/>
              <a:t>    int *p;</a:t>
            </a:r>
          </a:p>
          <a:p>
            <a:r>
              <a:rPr kumimoji="1" lang="en-US" altLang="zh-CN"/>
              <a:t>    p = &amp;a[4];</a:t>
            </a:r>
          </a:p>
          <a:p>
            <a:r>
              <a:rPr kumimoji="1" lang="en-US" altLang="zh-CN"/>
              <a:t>    *p = 2;</a:t>
            </a:r>
          </a:p>
          <a:p>
            <a:r>
              <a:rPr kumimoji="1" lang="en-US" altLang="zh-CN"/>
              <a:t>    p[-1] = 3;</a:t>
            </a:r>
          </a:p>
          <a:p>
            <a:r>
              <a:rPr kumimoji="1" lang="en-US" altLang="zh-CN"/>
              <a:t>}</a:t>
            </a:r>
          </a:p>
          <a:p>
            <a:endParaRPr kumimoji="1" lang="en-US" altLang="zh-CN"/>
          </a:p>
          <a:p>
            <a:r>
              <a:rPr kumimoji="1" lang="zh-CN" altLang="en-US"/>
              <a:t>数组的下标不可以为负数，但使用指针来访问数组元素，可以使用负数作为下标。</a:t>
            </a:r>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35</a:t>
            </a:fld>
            <a:endParaRPr lang="en-US" altLang="zh-CN"/>
          </a:p>
        </p:txBody>
      </p:sp>
    </p:spTree>
    <p:extLst>
      <p:ext uri="{BB962C8B-B14F-4D97-AF65-F5344CB8AC3E}">
        <p14:creationId xmlns:p14="http://schemas.microsoft.com/office/powerpoint/2010/main" val="3809514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i="0">
                <a:solidFill>
                  <a:srgbClr val="273239"/>
                </a:solidFill>
                <a:effectLst/>
                <a:latin typeface="Source Sans 3"/>
              </a:rPr>
              <a:t>Storage for Strings in C</a:t>
            </a:r>
          </a:p>
          <a:p>
            <a:r>
              <a:rPr kumimoji="1" lang="en-US" altLang="zh-CN"/>
              <a:t>https://www.geeksforgeeks.org/storage-for-strings-in-c/</a:t>
            </a:r>
            <a:endParaRPr kumimoji="1" lang="zh-CN" altLang="en-US"/>
          </a:p>
          <a:p>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41</a:t>
            </a:fld>
            <a:endParaRPr lang="en-US" altLang="zh-CN"/>
          </a:p>
        </p:txBody>
      </p:sp>
    </p:spTree>
    <p:extLst>
      <p:ext uri="{BB962C8B-B14F-4D97-AF65-F5344CB8AC3E}">
        <p14:creationId xmlns:p14="http://schemas.microsoft.com/office/powerpoint/2010/main" val="2627179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zh-CN" altLang="en-US"/>
              <a:t>这里要注意</a:t>
            </a:r>
            <a:r>
              <a:rPr kumimoji="1" lang="en-US" altLang="zh-CN"/>
              <a:t>to</a:t>
            </a:r>
            <a:r>
              <a:rPr kumimoji="1" lang="zh-CN" altLang="en-US"/>
              <a:t>是一个字符数组，或者是一个具有分配足够空间的字符指针</a:t>
            </a:r>
            <a:endParaRPr kumimoji="1" lang="en-US" altLang="zh-CN"/>
          </a:p>
          <a:p>
            <a:r>
              <a:rPr kumimoji="1" lang="zh-CN" altLang="en-US"/>
              <a:t>例如：</a:t>
            </a:r>
            <a:endParaRPr kumimoji="1" lang="en-US" altLang="zh-CN"/>
          </a:p>
          <a:p>
            <a:r>
              <a:rPr lang="en-US" altLang="zh-CN"/>
              <a:t>char *to = (char*)malloc(strlen(source) + 1); // </a:t>
            </a:r>
            <a:r>
              <a:rPr lang="zh-CN" altLang="en-US"/>
              <a:t>额外的 </a:t>
            </a:r>
            <a:r>
              <a:rPr lang="en-US" altLang="zh-CN"/>
              <a:t>1 </a:t>
            </a:r>
            <a:r>
              <a:rPr lang="zh-CN" altLang="en-US"/>
              <a:t>用于存储 </a:t>
            </a:r>
            <a:r>
              <a:rPr lang="en-US" altLang="zh-CN"/>
              <a:t>'\0'</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43</a:t>
            </a:fld>
            <a:endParaRPr lang="en-US" altLang="zh-CN"/>
          </a:p>
        </p:txBody>
      </p:sp>
    </p:spTree>
    <p:extLst>
      <p:ext uri="{BB962C8B-B14F-4D97-AF65-F5344CB8AC3E}">
        <p14:creationId xmlns:p14="http://schemas.microsoft.com/office/powerpoint/2010/main" val="9195340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b="0" i="0">
                <a:solidFill>
                  <a:srgbClr val="333333"/>
                </a:solidFill>
                <a:effectLst/>
                <a:latin typeface="Helvetica Neue" panose="02000503000000020004" pitchFamily="2" charset="0"/>
              </a:rPr>
              <a:t>C </a:t>
            </a:r>
            <a:r>
              <a:rPr lang="zh-CN" altLang="en-US" b="0" i="0">
                <a:solidFill>
                  <a:srgbClr val="333333"/>
                </a:solidFill>
                <a:effectLst/>
                <a:latin typeface="Helvetica Neue" panose="02000503000000020004" pitchFamily="2" charset="0"/>
              </a:rPr>
              <a:t>库函数 </a:t>
            </a:r>
            <a:r>
              <a:rPr lang="en-US" altLang="zh-CN" b="1" i="0">
                <a:solidFill>
                  <a:srgbClr val="333333"/>
                </a:solidFill>
                <a:effectLst/>
                <a:latin typeface="Helvetica Neue" panose="02000503000000020004" pitchFamily="2" charset="0"/>
              </a:rPr>
              <a:t>void exit(int status)</a:t>
            </a:r>
            <a:r>
              <a:rPr lang="en-US" altLang="zh-CN" b="0" i="0">
                <a:solidFill>
                  <a:srgbClr val="333333"/>
                </a:solidFill>
                <a:effectLst/>
                <a:latin typeface="Helvetica Neue" panose="02000503000000020004" pitchFamily="2" charset="0"/>
              </a:rPr>
              <a:t> </a:t>
            </a:r>
            <a:r>
              <a:rPr lang="zh-CN" altLang="en-US" b="0" i="0">
                <a:solidFill>
                  <a:srgbClr val="333333"/>
                </a:solidFill>
                <a:effectLst/>
                <a:latin typeface="Helvetica Neue" panose="02000503000000020004" pitchFamily="2" charset="0"/>
              </a:rPr>
              <a:t>立即终止调用进程。任何属于该进程的打开的文件描述符都会被关闭，该进程的子进程由父进程继承，初始化，且会向父进程发送一个 </a:t>
            </a:r>
            <a:r>
              <a:rPr lang="en-US" altLang="zh-CN" b="0" i="0">
                <a:solidFill>
                  <a:srgbClr val="333333"/>
                </a:solidFill>
                <a:effectLst/>
                <a:latin typeface="Helvetica Neue" panose="02000503000000020004" pitchFamily="2" charset="0"/>
              </a:rPr>
              <a:t>SIGCHLD </a:t>
            </a:r>
            <a:r>
              <a:rPr lang="zh-CN" altLang="en-US" b="0" i="0">
                <a:solidFill>
                  <a:srgbClr val="333333"/>
                </a:solidFill>
                <a:effectLst/>
                <a:latin typeface="Helvetica Neue" panose="02000503000000020004" pitchFamily="2" charset="0"/>
              </a:rPr>
              <a:t>信号。</a:t>
            </a:r>
            <a:endParaRPr lang="en-US" altLang="zh-CN" b="0" i="0">
              <a:solidFill>
                <a:srgbClr val="333333"/>
              </a:solidFill>
              <a:effectLst/>
              <a:latin typeface="Helvetica Neue" panose="02000503000000020004" pitchFamily="2" charset="0"/>
            </a:endParaRPr>
          </a:p>
          <a:p>
            <a:endParaRPr kumimoji="1" lang="en-US" altLang="zh-CN" b="0" i="0">
              <a:solidFill>
                <a:srgbClr val="333333"/>
              </a:solidFill>
              <a:effectLst/>
              <a:latin typeface="Helvetica Neue" panose="02000503000000020004" pitchFamily="2" charset="0"/>
            </a:endParaRPr>
          </a:p>
          <a:p>
            <a:r>
              <a:rPr kumimoji="1" lang="en-US" altLang="zh-CN"/>
              <a:t>https://www.runoob.com/cprogramming/c-function-exit.html</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55</a:t>
            </a:fld>
            <a:endParaRPr lang="en-US" altLang="zh-CN"/>
          </a:p>
        </p:txBody>
      </p:sp>
    </p:spTree>
    <p:extLst>
      <p:ext uri="{BB962C8B-B14F-4D97-AF65-F5344CB8AC3E}">
        <p14:creationId xmlns:p14="http://schemas.microsoft.com/office/powerpoint/2010/main" val="30843106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en-US" altLang="zh-CN"/>
              <a:t>#include &lt;stdlib.h&gt;</a:t>
            </a:r>
          </a:p>
          <a:p>
            <a:endParaRPr kumimoji="1" lang="en-US" altLang="zh-CN"/>
          </a:p>
          <a:p>
            <a:r>
              <a:rPr kumimoji="1" lang="en-US" altLang="zh-CN"/>
              <a:t>int sum(int *a, int n){</a:t>
            </a:r>
          </a:p>
          <a:p>
            <a:r>
              <a:rPr kumimoji="1" lang="en-US" altLang="zh-CN"/>
              <a:t>  int s;</a:t>
            </a:r>
          </a:p>
          <a:p>
            <a:r>
              <a:rPr kumimoji="1" lang="en-US" altLang="zh-CN"/>
              <a:t>  for(s=0; n&gt;0; n--, a++)</a:t>
            </a:r>
          </a:p>
          <a:p>
            <a:r>
              <a:rPr kumimoji="1" lang="en-US" altLang="zh-CN"/>
              <a:t>    s += *a;</a:t>
            </a:r>
          </a:p>
          <a:p>
            <a:r>
              <a:rPr kumimoji="1" lang="en-US" altLang="zh-CN"/>
              <a:t>  return s;</a:t>
            </a:r>
          </a:p>
          <a:p>
            <a:r>
              <a:rPr kumimoji="1" lang="en-US" altLang="zh-CN"/>
              <a:t>}</a:t>
            </a:r>
          </a:p>
          <a:p>
            <a:endParaRPr kumimoji="1" lang="en-US" altLang="zh-CN"/>
          </a:p>
          <a:p>
            <a:r>
              <a:rPr kumimoji="1" lang="en-US" altLang="zh-CN"/>
              <a:t>void main () {</a:t>
            </a:r>
          </a:p>
          <a:p>
            <a:r>
              <a:rPr kumimoji="1" lang="en-US" altLang="zh-CN"/>
              <a:t>  int a[5] = {1,2,3,4,5};</a:t>
            </a:r>
          </a:p>
          <a:p>
            <a:r>
              <a:rPr kumimoji="1" lang="en-US" altLang="zh-CN"/>
              <a:t>  int s = sum(a, 5);</a:t>
            </a:r>
          </a:p>
          <a:p>
            <a:r>
              <a:rPr kumimoji="1" lang="en-US" altLang="zh-CN"/>
              <a:t>  printf("s=%d and a[0]=%d\n",s,a[0]);</a:t>
            </a:r>
          </a:p>
          <a:p>
            <a:r>
              <a:rPr kumimoji="1" lang="en-US" altLang="zh-CN"/>
              <a:t>}</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57</a:t>
            </a:fld>
            <a:endParaRPr lang="en-US" altLang="zh-CN"/>
          </a:p>
        </p:txBody>
      </p:sp>
    </p:spTree>
    <p:extLst>
      <p:ext uri="{BB962C8B-B14F-4D97-AF65-F5344CB8AC3E}">
        <p14:creationId xmlns:p14="http://schemas.microsoft.com/office/powerpoint/2010/main" val="38369298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en-US" altLang="zh-CN"/>
              <a:t>#include &lt;stdlib.h&gt;</a:t>
            </a:r>
          </a:p>
          <a:p>
            <a:endParaRPr kumimoji="1" lang="en-US" altLang="zh-CN"/>
          </a:p>
          <a:p>
            <a:r>
              <a:rPr kumimoji="1" lang="en-US" altLang="zh-CN"/>
              <a:t>int sum(int *a, int n){</a:t>
            </a:r>
          </a:p>
          <a:p>
            <a:r>
              <a:rPr kumimoji="1" lang="en-US" altLang="zh-CN"/>
              <a:t>  int *ap, s;</a:t>
            </a:r>
          </a:p>
          <a:p>
            <a:r>
              <a:rPr kumimoji="1" lang="en-US" altLang="zh-CN"/>
              <a:t>  for(s = 0, ap = a; ap &lt; a+n; ap++)</a:t>
            </a:r>
          </a:p>
          <a:p>
            <a:r>
              <a:rPr kumimoji="1" lang="en-US" altLang="zh-CN"/>
              <a:t>    s += *ap;</a:t>
            </a:r>
          </a:p>
          <a:p>
            <a:r>
              <a:rPr kumimoji="1" lang="en-US" altLang="zh-CN"/>
              <a:t>  return s;</a:t>
            </a:r>
          </a:p>
          <a:p>
            <a:r>
              <a:rPr kumimoji="1" lang="en-US" altLang="zh-CN"/>
              <a:t>}</a:t>
            </a:r>
          </a:p>
          <a:p>
            <a:endParaRPr kumimoji="1" lang="en-US" altLang="zh-CN"/>
          </a:p>
          <a:p>
            <a:r>
              <a:rPr kumimoji="1" lang="en-US" altLang="zh-CN"/>
              <a:t>void main () {</a:t>
            </a:r>
          </a:p>
          <a:p>
            <a:r>
              <a:rPr kumimoji="1" lang="en-US" altLang="zh-CN"/>
              <a:t>  int a[5] = {1,2,3,4,5};</a:t>
            </a:r>
          </a:p>
          <a:p>
            <a:r>
              <a:rPr kumimoji="1" lang="en-US" altLang="zh-CN"/>
              <a:t>  int s = sum(a, 5);</a:t>
            </a:r>
          </a:p>
          <a:p>
            <a:r>
              <a:rPr kumimoji="1" lang="en-US" altLang="zh-CN"/>
              <a:t>  printf("s=%d and a[0]=%d\n",s,a[0]);</a:t>
            </a:r>
          </a:p>
          <a:p>
            <a:r>
              <a:rPr kumimoji="1" lang="en-US" altLang="zh-CN"/>
              <a:t>}</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58</a:t>
            </a:fld>
            <a:endParaRPr lang="en-US" altLang="zh-CN"/>
          </a:p>
        </p:txBody>
      </p:sp>
    </p:spTree>
    <p:extLst>
      <p:ext uri="{BB962C8B-B14F-4D97-AF65-F5344CB8AC3E}">
        <p14:creationId xmlns:p14="http://schemas.microsoft.com/office/powerpoint/2010/main" val="42572426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zh-CN" altLang="en-US"/>
              <a:t>注意这里不是字符串指针，而是字符指针</a:t>
            </a:r>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59</a:t>
            </a:fld>
            <a:endParaRPr lang="en-US" altLang="zh-CN"/>
          </a:p>
        </p:txBody>
      </p:sp>
    </p:spTree>
    <p:extLst>
      <p:ext uri="{BB962C8B-B14F-4D97-AF65-F5344CB8AC3E}">
        <p14:creationId xmlns:p14="http://schemas.microsoft.com/office/powerpoint/2010/main" val="10142601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zh-CN" altLang="en-US"/>
              <a:t>注意参数</a:t>
            </a:r>
            <a:r>
              <a:rPr kumimoji="1" lang="en-US" altLang="zh-CN"/>
              <a:t>to</a:t>
            </a:r>
            <a:r>
              <a:rPr kumimoji="1" lang="zh-CN" altLang="en-US"/>
              <a:t>所指向的内存，不管是静态分配，还是动态分配，都要确保有足够的内存空间容纳拷贝的字符串。</a:t>
            </a:r>
            <a:endParaRPr kumimoji="1" lang="en-US" altLang="zh-CN"/>
          </a:p>
          <a:p>
            <a:r>
              <a:rPr kumimoji="1" lang="zh-CN" altLang="en-US"/>
              <a:t>注意：当</a:t>
            </a:r>
            <a:r>
              <a:rPr kumimoji="1" lang="en-US" altLang="zh-CN"/>
              <a:t>from</a:t>
            </a:r>
            <a:r>
              <a:rPr kumimoji="1" lang="zh-CN" altLang="en-US"/>
              <a:t>中不包含‘</a:t>
            </a:r>
            <a:r>
              <a:rPr kumimoji="1" lang="en-US" altLang="zh-CN"/>
              <a:t>\0</a:t>
            </a:r>
            <a:r>
              <a:rPr kumimoji="1" lang="zh-CN" altLang="en-US"/>
              <a:t>’时，会出现死循环。</a:t>
            </a:r>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60</a:t>
            </a:fld>
            <a:endParaRPr lang="en-US" altLang="zh-CN"/>
          </a:p>
        </p:txBody>
      </p:sp>
    </p:spTree>
    <p:extLst>
      <p:ext uri="{BB962C8B-B14F-4D97-AF65-F5344CB8AC3E}">
        <p14:creationId xmlns:p14="http://schemas.microsoft.com/office/powerpoint/2010/main" val="8420392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61</a:t>
            </a:fld>
            <a:endParaRPr lang="en-US" altLang="zh-CN"/>
          </a:p>
        </p:txBody>
      </p:sp>
    </p:spTree>
    <p:extLst>
      <p:ext uri="{BB962C8B-B14F-4D97-AF65-F5344CB8AC3E}">
        <p14:creationId xmlns:p14="http://schemas.microsoft.com/office/powerpoint/2010/main" val="5489941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zh-CN" altLang="en-US"/>
              <a:t>代替</a:t>
            </a:r>
            <a:r>
              <a:rPr kumimoji="1" lang="en-US" altLang="zh-CN"/>
              <a:t>gets()</a:t>
            </a:r>
          </a:p>
          <a:p>
            <a:endParaRPr kumimoji="1" lang="en-US" altLang="zh-CN"/>
          </a:p>
          <a:p>
            <a:r>
              <a:rPr kumimoji="1" lang="en-US" altLang="zh-CN"/>
              <a:t>#include  &lt;stdio.h&gt;</a:t>
            </a:r>
          </a:p>
          <a:p>
            <a:r>
              <a:rPr kumimoji="1" lang="en-US" altLang="zh-CN"/>
              <a:t>int getnch(char *s, int lim) {</a:t>
            </a:r>
          </a:p>
          <a:p>
            <a:r>
              <a:rPr kumimoji="1" lang="en-US" altLang="zh-CN"/>
              <a:t>  char   *ps = s;</a:t>
            </a:r>
          </a:p>
          <a:p>
            <a:r>
              <a:rPr kumimoji="1" lang="en-US" altLang="zh-CN"/>
              <a:t>  while (ps &lt; s+lim &amp;&amp; (*ps++ = getchar()) !='\n');</a:t>
            </a:r>
          </a:p>
          <a:p>
            <a:r>
              <a:rPr kumimoji="1" lang="en-US" altLang="zh-CN"/>
              <a:t>  *--ps ='\0';  //</a:t>
            </a:r>
            <a:r>
              <a:rPr kumimoji="1" lang="zh-CN" altLang="en-US"/>
              <a:t>不保存末尾的回车</a:t>
            </a:r>
          </a:p>
          <a:p>
            <a:r>
              <a:rPr kumimoji="1" lang="zh-CN" altLang="en-US"/>
              <a:t>  </a:t>
            </a:r>
            <a:r>
              <a:rPr kumimoji="1" lang="en-US" altLang="zh-CN"/>
              <a:t>return ps - s;//</a:t>
            </a:r>
            <a:r>
              <a:rPr kumimoji="1" lang="zh-CN" altLang="en-US"/>
              <a:t>返回读入并保存的字符个数，即字符串长度</a:t>
            </a:r>
          </a:p>
          <a:p>
            <a:r>
              <a:rPr kumimoji="1" lang="en-US" altLang="zh-CN"/>
              <a:t>}</a:t>
            </a:r>
          </a:p>
          <a:p>
            <a:endParaRPr kumimoji="1" lang="en-US" altLang="zh-CN"/>
          </a:p>
          <a:p>
            <a:r>
              <a:rPr kumimoji="1" lang="en-US" altLang="zh-CN"/>
              <a:t>void main()</a:t>
            </a:r>
          </a:p>
          <a:p>
            <a:r>
              <a:rPr kumimoji="1" lang="en-US" altLang="zh-CN"/>
              <a:t>{</a:t>
            </a:r>
          </a:p>
          <a:p>
            <a:r>
              <a:rPr kumimoji="1" lang="en-US" altLang="zh-CN">
                <a:solidFill>
                  <a:srgbClr val="FF0000"/>
                </a:solidFill>
              </a:rPr>
              <a:t>  char s[11]; //char *s; error</a:t>
            </a:r>
          </a:p>
          <a:p>
            <a:r>
              <a:rPr kumimoji="1" lang="en-US" altLang="zh-CN"/>
              <a:t>  getnch(s, 10);</a:t>
            </a:r>
          </a:p>
          <a:p>
            <a:r>
              <a:rPr kumimoji="1" lang="en-US" altLang="zh-CN"/>
              <a:t>  printf("input=%s\n", s);</a:t>
            </a:r>
          </a:p>
          <a:p>
            <a:r>
              <a:rPr kumimoji="1" lang="en-US" altLang="zh-CN"/>
              <a:t>}</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62</a:t>
            </a:fld>
            <a:endParaRPr lang="en-US" altLang="zh-CN"/>
          </a:p>
        </p:txBody>
      </p:sp>
    </p:spTree>
    <p:extLst>
      <p:ext uri="{BB962C8B-B14F-4D97-AF65-F5344CB8AC3E}">
        <p14:creationId xmlns:p14="http://schemas.microsoft.com/office/powerpoint/2010/main" val="36508481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a:t>对于一个数组</a:t>
            </a:r>
            <a:r>
              <a:rPr lang="en-US" altLang="zh-CN"/>
              <a:t>int</a:t>
            </a:r>
            <a:r>
              <a:rPr lang="zh-CN" altLang="en-US"/>
              <a:t> </a:t>
            </a:r>
            <a:r>
              <a:rPr lang="en-US" altLang="zh-CN"/>
              <a:t>a[2][3]</a:t>
            </a:r>
            <a:r>
              <a:rPr lang="zh-CN" altLang="en-US"/>
              <a:t>来说：</a:t>
            </a:r>
            <a:endParaRPr lang="en-US" altLang="zh-CN"/>
          </a:p>
          <a:p>
            <a:r>
              <a:rPr lang="en-US" altLang="zh-CN"/>
              <a:t>a + i</a:t>
            </a:r>
            <a:r>
              <a:rPr lang="zh-CN" altLang="en-US"/>
              <a:t>表示第</a:t>
            </a:r>
            <a:r>
              <a:rPr lang="en-US" altLang="zh-CN"/>
              <a:t>i</a:t>
            </a:r>
            <a:r>
              <a:rPr lang="zh-CN" altLang="en-US"/>
              <a:t>行的地址，类型是</a:t>
            </a:r>
            <a:r>
              <a:rPr lang="en-US" altLang="zh-CN"/>
              <a:t>int (*)[3]</a:t>
            </a:r>
          </a:p>
          <a:p>
            <a:r>
              <a:rPr lang="en-US" altLang="zh-CN"/>
              <a:t>a[i]</a:t>
            </a:r>
            <a:r>
              <a:rPr lang="zh-CN" altLang="en-US"/>
              <a:t>是数组下标访问的方式，表示第</a:t>
            </a:r>
            <a:r>
              <a:rPr lang="en-US" altLang="zh-CN"/>
              <a:t>i</a:t>
            </a:r>
            <a:r>
              <a:rPr lang="zh-CN" altLang="en-US"/>
              <a:t>行数组的起始地址，类型是</a:t>
            </a:r>
            <a:r>
              <a:rPr lang="en-US" altLang="zh-CN"/>
              <a:t>int*</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66</a:t>
            </a:fld>
            <a:endParaRPr lang="en-US" altLang="zh-CN"/>
          </a:p>
        </p:txBody>
      </p:sp>
    </p:spTree>
    <p:extLst>
      <p:ext uri="{BB962C8B-B14F-4D97-AF65-F5344CB8AC3E}">
        <p14:creationId xmlns:p14="http://schemas.microsoft.com/office/powerpoint/2010/main" val="41090605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1200"/>
              <a:t>*</a:t>
            </a:r>
            <a:r>
              <a:rPr lang="en-US" altLang="zh-CN" sz="1200"/>
              <a:t>p+j</a:t>
            </a:r>
            <a:r>
              <a:rPr lang="zh-CN" altLang="en-US" sz="1200"/>
              <a:t> </a:t>
            </a:r>
            <a:r>
              <a:rPr lang="en-US" altLang="zh-CN" sz="1200"/>
              <a:t>=</a:t>
            </a:r>
            <a:r>
              <a:rPr lang="zh-CN" altLang="en-US" sz="1200"/>
              <a:t> </a:t>
            </a:r>
            <a:r>
              <a:rPr lang="en-US" altLang="zh-CN" sz="1200"/>
              <a:t>(</a:t>
            </a:r>
            <a:r>
              <a:rPr lang="zh-CN" altLang="en-US" sz="1200"/>
              <a:t>*</a:t>
            </a:r>
            <a:r>
              <a:rPr lang="en-US" altLang="zh-CN" sz="1200"/>
              <a:t>p)+j</a:t>
            </a:r>
          </a:p>
          <a:p>
            <a:r>
              <a:rPr lang="en-US" altLang="zh-CN" sz="1200"/>
              <a:t>*</a:t>
            </a:r>
            <a:r>
              <a:rPr lang="zh-CN" altLang="en-US" sz="1200"/>
              <a:t>的优先级高， *</a:t>
            </a:r>
            <a:r>
              <a:rPr lang="en-US" altLang="zh-CN" sz="1200"/>
              <a:t>p</a:t>
            </a:r>
            <a:r>
              <a:rPr lang="zh-CN" altLang="en-US" sz="1200"/>
              <a:t> 表示指向</a:t>
            </a:r>
            <a:r>
              <a:rPr lang="en-US" altLang="zh-CN" sz="1200"/>
              <a:t>a</a:t>
            </a:r>
            <a:r>
              <a:rPr lang="zh-CN" altLang="en-US" sz="1200"/>
              <a:t>的第一行的首地址</a:t>
            </a:r>
            <a:endParaRPr lang="en-US" altLang="zh-CN" sz="1200"/>
          </a:p>
          <a:p>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69</a:t>
            </a:fld>
            <a:endParaRPr lang="en-US" altLang="zh-CN"/>
          </a:p>
        </p:txBody>
      </p:sp>
    </p:spTree>
    <p:extLst>
      <p:ext uri="{BB962C8B-B14F-4D97-AF65-F5344CB8AC3E}">
        <p14:creationId xmlns:p14="http://schemas.microsoft.com/office/powerpoint/2010/main" val="23960933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en-US" altLang="zh-CN"/>
              <a:t>#include  &lt;stdio.h&gt;</a:t>
            </a:r>
          </a:p>
          <a:p>
            <a:r>
              <a:rPr kumimoji="1" lang="en-US" altLang="zh-CN"/>
              <a:t>void main() {</a:t>
            </a:r>
          </a:p>
          <a:p>
            <a:r>
              <a:rPr kumimoji="1" lang="en-US" altLang="zh-CN"/>
              <a:t>  int a[3][4] = { { 1,   3,   5,   7}, </a:t>
            </a:r>
          </a:p>
          <a:p>
            <a:r>
              <a:rPr kumimoji="1" lang="en-US" altLang="zh-CN"/>
              <a:t>                       { 9, 11, 13, 15},  </a:t>
            </a:r>
          </a:p>
          <a:p>
            <a:r>
              <a:rPr kumimoji="1" lang="en-US" altLang="zh-CN"/>
              <a:t>                       {17, 19, 21, 23}};</a:t>
            </a:r>
          </a:p>
          <a:p>
            <a:r>
              <a:rPr kumimoji="1" lang="en-US" altLang="zh-CN"/>
              <a:t>  int i, *ip, (*p)[4];</a:t>
            </a:r>
          </a:p>
          <a:p>
            <a:r>
              <a:rPr kumimoji="1" lang="en-US" altLang="zh-CN"/>
              <a:t>  </a:t>
            </a:r>
          </a:p>
          <a:p>
            <a:r>
              <a:rPr kumimoji="1" lang="en-US" altLang="zh-CN"/>
              <a:t>  p  = a+1;    ip = p[0];</a:t>
            </a:r>
          </a:p>
          <a:p>
            <a:r>
              <a:rPr kumimoji="1" lang="en-US" altLang="zh-CN"/>
              <a:t>  for(i = 1; i &lt;= 4; ip += 2, i++)</a:t>
            </a:r>
          </a:p>
          <a:p>
            <a:r>
              <a:rPr kumimoji="1" lang="en-US" altLang="zh-CN"/>
              <a:t>    printf("%d\t", *ip);</a:t>
            </a:r>
          </a:p>
          <a:p>
            <a:r>
              <a:rPr kumimoji="1" lang="en-US" altLang="zh-CN"/>
              <a:t>  printf("\n");</a:t>
            </a:r>
          </a:p>
          <a:p>
            <a:r>
              <a:rPr kumimoji="1" lang="en-US" altLang="zh-CN"/>
              <a:t>  </a:t>
            </a:r>
          </a:p>
          <a:p>
            <a:r>
              <a:rPr kumimoji="1" lang="en-US" altLang="zh-CN"/>
              <a:t>  p = a;</a:t>
            </a:r>
          </a:p>
          <a:p>
            <a:r>
              <a:rPr kumimoji="1" lang="en-US" altLang="zh-CN"/>
              <a:t>  for (i = 0; i &lt; 2; p++, i++)</a:t>
            </a:r>
          </a:p>
          <a:p>
            <a:r>
              <a:rPr kumimoji="1" lang="en-US" altLang="zh-CN"/>
              <a:t>    printf("%d\t", *(*(p+i)+1));</a:t>
            </a:r>
          </a:p>
          <a:p>
            <a:r>
              <a:rPr kumimoji="1" lang="en-US" altLang="zh-CN"/>
              <a:t>  printf("\n");</a:t>
            </a:r>
          </a:p>
          <a:p>
            <a:r>
              <a:rPr kumimoji="1" lang="en-US" altLang="zh-CN"/>
              <a:t>}</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70</a:t>
            </a:fld>
            <a:endParaRPr lang="en-US" altLang="zh-CN"/>
          </a:p>
        </p:txBody>
      </p:sp>
    </p:spTree>
    <p:extLst>
      <p:ext uri="{BB962C8B-B14F-4D97-AF65-F5344CB8AC3E}">
        <p14:creationId xmlns:p14="http://schemas.microsoft.com/office/powerpoint/2010/main" val="37663706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en-US" altLang="zh-CN"/>
              <a:t>#include  &lt;stdio.h&gt;</a:t>
            </a:r>
          </a:p>
          <a:p>
            <a:r>
              <a:rPr kumimoji="1" lang="en-US" altLang="zh-CN"/>
              <a:t>#define MAXN 3</a:t>
            </a:r>
          </a:p>
          <a:p>
            <a:r>
              <a:rPr kumimoji="1" lang="en-US" altLang="zh-CN"/>
              <a:t>int s[MAXN][6] = {{5, 70, 80, 96, 70, 90},</a:t>
            </a:r>
          </a:p>
          <a:p>
            <a:r>
              <a:rPr kumimoji="1" lang="en-US" altLang="zh-CN"/>
              <a:t>                  {7, 40, 80, 50, 60, 80},</a:t>
            </a:r>
          </a:p>
          <a:p>
            <a:r>
              <a:rPr kumimoji="1" lang="en-US" altLang="zh-CN"/>
              <a:t>                  {8, 50, 70, 40, 50, 75}};</a:t>
            </a:r>
          </a:p>
          <a:p>
            <a:r>
              <a:rPr kumimoji="1" lang="en-US" altLang="zh-CN"/>
              <a:t>void search(int (*)[6], int, int);</a:t>
            </a:r>
          </a:p>
          <a:p>
            <a:r>
              <a:rPr kumimoji="1" lang="en-US" altLang="zh-CN"/>
              <a:t>void main(){</a:t>
            </a:r>
          </a:p>
          <a:p>
            <a:r>
              <a:rPr kumimoji="1" lang="en-US" altLang="zh-CN"/>
              <a:t>  search(s, MAXN, 7);</a:t>
            </a:r>
          </a:p>
          <a:p>
            <a:r>
              <a:rPr kumimoji="1" lang="en-US" altLang="zh-CN"/>
              <a:t>  search(s, MAXN, 5);</a:t>
            </a:r>
          </a:p>
          <a:p>
            <a:r>
              <a:rPr kumimoji="1" lang="en-US" altLang="zh-CN"/>
              <a:t>  search(s, MAXN, 8);</a:t>
            </a:r>
          </a:p>
          <a:p>
            <a:r>
              <a:rPr kumimoji="1" lang="en-US" altLang="zh-CN"/>
              <a:t>  search(s, MAXN, 2);</a:t>
            </a:r>
          </a:p>
          <a:p>
            <a:r>
              <a:rPr kumimoji="1" lang="en-US" altLang="zh-CN"/>
              <a:t>} </a:t>
            </a:r>
          </a:p>
          <a:p>
            <a:endParaRPr kumimoji="1" lang="en-US" altLang="zh-CN"/>
          </a:p>
          <a:p>
            <a:r>
              <a:rPr kumimoji="1" lang="en-US" altLang="zh-CN"/>
              <a:t>void search(int (*p)[6], int m, int no){</a:t>
            </a:r>
          </a:p>
          <a:p>
            <a:r>
              <a:rPr kumimoji="1" lang="en-US" altLang="zh-CN"/>
              <a:t>  int (*ap)[6], *pp; </a:t>
            </a:r>
          </a:p>
          <a:p>
            <a:r>
              <a:rPr kumimoji="1" lang="en-US" altLang="zh-CN"/>
              <a:t>  for(ap = p; ap &lt; p+m; ap++)</a:t>
            </a:r>
          </a:p>
          <a:p>
            <a:r>
              <a:rPr kumimoji="1" lang="en-US" altLang="zh-CN"/>
              <a:t>   if ( (*ap)[0] == no)  {//**ap</a:t>
            </a:r>
            <a:r>
              <a:rPr kumimoji="1" lang="zh-CN" altLang="en-US"/>
              <a:t>和</a:t>
            </a:r>
            <a:r>
              <a:rPr kumimoji="1" lang="en-US" altLang="zh-CN"/>
              <a:t>(*ap)[0]</a:t>
            </a:r>
            <a:r>
              <a:rPr kumimoji="1" lang="zh-CN" altLang="en-US"/>
              <a:t>等价</a:t>
            </a:r>
            <a:r>
              <a:rPr kumimoji="1" lang="en-US" altLang="zh-CN"/>
              <a:t>,</a:t>
            </a:r>
            <a:r>
              <a:rPr kumimoji="1" lang="zh-CN" altLang="en-US"/>
              <a:t>教材中用了**</a:t>
            </a:r>
            <a:r>
              <a:rPr kumimoji="1" lang="en-US" altLang="zh-CN"/>
              <a:t>ap</a:t>
            </a:r>
          </a:p>
          <a:p>
            <a:r>
              <a:rPr kumimoji="1" lang="en-US" altLang="zh-CN"/>
              <a:t>     printf("%d </a:t>
            </a:r>
            <a:r>
              <a:rPr kumimoji="1" lang="zh-CN" altLang="en-US"/>
              <a:t>号学生是 </a:t>
            </a:r>
            <a:r>
              <a:rPr kumimoji="1" lang="en-US" altLang="zh-CN"/>
              <a:t>:\n", no);</a:t>
            </a:r>
          </a:p>
          <a:p>
            <a:r>
              <a:rPr kumimoji="1" lang="en-US" altLang="zh-CN"/>
              <a:t>     for(pp = *ap+1; pp &lt;*ap+6; pp++)</a:t>
            </a:r>
          </a:p>
          <a:p>
            <a:r>
              <a:rPr kumimoji="1" lang="en-US" altLang="zh-CN"/>
              <a:t>           printf("%4d\t", *pp);</a:t>
            </a:r>
          </a:p>
          <a:p>
            <a:r>
              <a:rPr kumimoji="1" lang="en-US" altLang="zh-CN"/>
              <a:t>     printf("\n");</a:t>
            </a:r>
          </a:p>
          <a:p>
            <a:r>
              <a:rPr kumimoji="1" lang="en-US" altLang="zh-CN"/>
              <a:t>     return;</a:t>
            </a:r>
          </a:p>
          <a:p>
            <a:r>
              <a:rPr kumimoji="1" lang="en-US" altLang="zh-CN"/>
              <a:t>   }</a:t>
            </a:r>
          </a:p>
          <a:p>
            <a:r>
              <a:rPr kumimoji="1" lang="en-US" altLang="zh-CN"/>
              <a:t>   printf("</a:t>
            </a:r>
            <a:r>
              <a:rPr kumimoji="1" lang="zh-CN" altLang="en-US"/>
              <a:t>没有 </a:t>
            </a:r>
            <a:r>
              <a:rPr kumimoji="1" lang="en-US" altLang="zh-CN"/>
              <a:t>%d </a:t>
            </a:r>
            <a:r>
              <a:rPr kumimoji="1" lang="zh-CN" altLang="en-US"/>
              <a:t>号的学生</a:t>
            </a:r>
            <a:r>
              <a:rPr kumimoji="1" lang="en-US" altLang="zh-CN"/>
              <a:t>.\n", no);</a:t>
            </a:r>
          </a:p>
          <a:p>
            <a:r>
              <a:rPr kumimoji="1" lang="en-US" altLang="zh-CN"/>
              <a:t>}</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73</a:t>
            </a:fld>
            <a:endParaRPr lang="en-US" altLang="zh-CN"/>
          </a:p>
        </p:txBody>
      </p:sp>
    </p:spTree>
    <p:extLst>
      <p:ext uri="{BB962C8B-B14F-4D97-AF65-F5344CB8AC3E}">
        <p14:creationId xmlns:p14="http://schemas.microsoft.com/office/powerpoint/2010/main" val="21653864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74</a:t>
            </a:fld>
            <a:endParaRPr lang="en-US" altLang="zh-CN"/>
          </a:p>
        </p:txBody>
      </p:sp>
    </p:spTree>
    <p:extLst>
      <p:ext uri="{BB962C8B-B14F-4D97-AF65-F5344CB8AC3E}">
        <p14:creationId xmlns:p14="http://schemas.microsoft.com/office/powerpoint/2010/main" val="25746119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a:t>*apt[k]</a:t>
            </a:r>
            <a:r>
              <a:rPr lang="zh-CN" altLang="en-US" sz="1200"/>
              <a:t> 等价于 </a:t>
            </a:r>
            <a:r>
              <a:rPr lang="en-US" altLang="zh-CN" sz="1200"/>
              <a:t>*(apt[k])</a:t>
            </a:r>
          </a:p>
          <a:p>
            <a:endParaRPr kumimoji="1" lang="en-US" altLang="zh-CN" sz="1200"/>
          </a:p>
          <a:p>
            <a:r>
              <a:rPr lang="zh-CN" altLang="en-US" sz="1200">
                <a:solidFill>
                  <a:srgbClr val="0066FF"/>
                </a:solidFill>
              </a:rPr>
              <a:t>**</a:t>
            </a:r>
            <a:r>
              <a:rPr lang="en-US" altLang="zh-CN" sz="1200">
                <a:solidFill>
                  <a:srgbClr val="0066FF"/>
                </a:solidFill>
              </a:rPr>
              <a:t>(apt+k) </a:t>
            </a:r>
            <a:r>
              <a:rPr kumimoji="1" lang="zh-CN" altLang="en-US" sz="1200">
                <a:solidFill>
                  <a:srgbClr val="0066FF"/>
                </a:solidFill>
              </a:rPr>
              <a:t>等价于 </a:t>
            </a:r>
            <a:r>
              <a:rPr lang="zh-CN" altLang="en-US" sz="1200">
                <a:solidFill>
                  <a:srgbClr val="0066FF"/>
                </a:solidFill>
              </a:rPr>
              <a:t>*</a:t>
            </a:r>
            <a:r>
              <a:rPr lang="en-US" altLang="zh-CN" sz="1200">
                <a:solidFill>
                  <a:srgbClr val="0066FF"/>
                </a:solidFill>
              </a:rPr>
              <a:t>(</a:t>
            </a:r>
            <a:r>
              <a:rPr lang="zh-CN" altLang="en-US" sz="1200">
                <a:solidFill>
                  <a:srgbClr val="0066FF"/>
                </a:solidFill>
              </a:rPr>
              <a:t>*</a:t>
            </a:r>
            <a:r>
              <a:rPr lang="en-US" altLang="zh-CN" sz="1200">
                <a:solidFill>
                  <a:srgbClr val="0066FF"/>
                </a:solidFill>
              </a:rPr>
              <a:t>(apt+k))</a:t>
            </a:r>
            <a:r>
              <a:rPr lang="zh-CN" altLang="en-US" sz="1200">
                <a:solidFill>
                  <a:srgbClr val="0066FF"/>
                </a:solidFill>
              </a:rPr>
              <a:t>，其中</a:t>
            </a:r>
            <a:r>
              <a:rPr lang="en-US" altLang="zh-CN" sz="1200">
                <a:solidFill>
                  <a:srgbClr val="0066FF"/>
                </a:solidFill>
              </a:rPr>
              <a:t> </a:t>
            </a:r>
            <a:r>
              <a:rPr lang="zh-CN" altLang="en-US" sz="1200">
                <a:solidFill>
                  <a:srgbClr val="0066FF"/>
                </a:solidFill>
              </a:rPr>
              <a:t>*</a:t>
            </a:r>
            <a:r>
              <a:rPr lang="en-US" altLang="zh-CN" sz="1200">
                <a:solidFill>
                  <a:srgbClr val="0066FF"/>
                </a:solidFill>
              </a:rPr>
              <a:t>(apt+k)</a:t>
            </a:r>
            <a:r>
              <a:rPr lang="zh-CN" altLang="en-US" sz="1200">
                <a:solidFill>
                  <a:srgbClr val="0066FF"/>
                </a:solidFill>
              </a:rPr>
              <a:t>等价于</a:t>
            </a:r>
            <a:r>
              <a:rPr lang="en-US" altLang="zh-CN" sz="1200"/>
              <a:t>apt[k]</a:t>
            </a:r>
            <a:r>
              <a:rPr lang="zh-CN" altLang="en-US" sz="1200"/>
              <a:t>，因此，</a:t>
            </a:r>
            <a:r>
              <a:rPr lang="zh-CN" altLang="en-US" sz="1200">
                <a:solidFill>
                  <a:srgbClr val="0066FF"/>
                </a:solidFill>
              </a:rPr>
              <a:t>**</a:t>
            </a:r>
            <a:r>
              <a:rPr lang="en-US" altLang="zh-CN" sz="1200">
                <a:solidFill>
                  <a:srgbClr val="0066FF"/>
                </a:solidFill>
              </a:rPr>
              <a:t>(apt+k) </a:t>
            </a:r>
            <a:r>
              <a:rPr lang="zh-CN" altLang="en-US" sz="1200">
                <a:solidFill>
                  <a:srgbClr val="0066FF"/>
                </a:solidFill>
              </a:rPr>
              <a:t>等价于</a:t>
            </a:r>
            <a:r>
              <a:rPr lang="en-US" altLang="zh-CN" sz="1200"/>
              <a:t>*apt[k]</a:t>
            </a:r>
            <a:r>
              <a:rPr lang="zh-CN" altLang="en-US" sz="1200"/>
              <a:t> </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78</a:t>
            </a:fld>
            <a:endParaRPr lang="en-US" altLang="zh-CN"/>
          </a:p>
        </p:txBody>
      </p:sp>
    </p:spTree>
    <p:extLst>
      <p:ext uri="{BB962C8B-B14F-4D97-AF65-F5344CB8AC3E}">
        <p14:creationId xmlns:p14="http://schemas.microsoft.com/office/powerpoint/2010/main" val="4974999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a:t>wName</a:t>
            </a:r>
            <a:r>
              <a:rPr lang="zh-CN" altLang="en-US" sz="1200"/>
              <a:t>是一个指针数组（字符指针数组），每个元素是一个字符指针，指向一个字符串（字符数组）。</a:t>
            </a:r>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82</a:t>
            </a:fld>
            <a:endParaRPr lang="en-US" altLang="zh-CN"/>
          </a:p>
        </p:txBody>
      </p:sp>
    </p:spTree>
    <p:extLst>
      <p:ext uri="{BB962C8B-B14F-4D97-AF65-F5344CB8AC3E}">
        <p14:creationId xmlns:p14="http://schemas.microsoft.com/office/powerpoint/2010/main" val="20245637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a:t>在 </a:t>
            </a:r>
            <a:r>
              <a:rPr lang="en-US" altLang="zh-CN"/>
              <a:t>C </a:t>
            </a:r>
            <a:r>
              <a:rPr lang="zh-CN" altLang="en-US"/>
              <a:t>语言中，每个函数在内存中都有一段被编译器生成的</a:t>
            </a:r>
            <a:r>
              <a:rPr lang="zh-CN" altLang="en-US" b="1"/>
              <a:t>机器指令序列</a:t>
            </a:r>
            <a:r>
              <a:rPr lang="zh-CN" altLang="en-US"/>
              <a:t>，这些指令被加载到程序的**代码段（</a:t>
            </a:r>
            <a:r>
              <a:rPr lang="en-US" altLang="zh-CN"/>
              <a:t>text segment</a:t>
            </a:r>
            <a:r>
              <a:rPr lang="zh-CN" altLang="en-US"/>
              <a:t>）**中。</a:t>
            </a:r>
            <a:br>
              <a:rPr lang="zh-CN" altLang="en-US"/>
            </a:br>
            <a:r>
              <a:rPr lang="zh-CN" altLang="en-US" b="1"/>
              <a:t>函数地址</a:t>
            </a:r>
            <a:r>
              <a:rPr lang="zh-CN" altLang="en-US"/>
              <a:t>就是这段机器指令开始的那一块内存地址。</a:t>
            </a:r>
            <a:endParaRPr lang="en-US" altLang="zh-CN"/>
          </a:p>
          <a:p>
            <a:endParaRPr kumimoji="1" lang="en-US" altLang="zh-CN"/>
          </a:p>
          <a:p>
            <a:r>
              <a:rPr lang="zh-CN" altLang="en-US"/>
              <a:t>在函数调用中，</a:t>
            </a:r>
            <a:r>
              <a:rPr lang="en-US" altLang="zh-CN" sz="1200" kern="1200">
                <a:solidFill>
                  <a:schemeClr val="tx1"/>
                </a:solidFill>
                <a:latin typeface="Arial" panose="020B0604020202020204" pitchFamily="34" charset="0"/>
                <a:ea typeface="宋体" panose="02010600030101010101" pitchFamily="2" charset="-122"/>
                <a:cs typeface="+mn-cs"/>
              </a:rPr>
              <a:t>【</a:t>
            </a:r>
            <a:r>
              <a:rPr lang="zh-CN" altLang="en-US" sz="1200" kern="1200">
                <a:solidFill>
                  <a:schemeClr val="tx1"/>
                </a:solidFill>
                <a:latin typeface="Arial" panose="020B0604020202020204" pitchFamily="34" charset="0"/>
                <a:ea typeface="宋体" panose="02010600030101010101" pitchFamily="2" charset="-122"/>
                <a:cs typeface="+mn-cs"/>
              </a:rPr>
              <a:t>函数名</a:t>
            </a:r>
            <a:r>
              <a:rPr lang="en-US" altLang="zh-CN" sz="1200" kern="1200">
                <a:solidFill>
                  <a:schemeClr val="tx1"/>
                </a:solidFill>
                <a:latin typeface="Arial" panose="020B0604020202020204" pitchFamily="34" charset="0"/>
                <a:ea typeface="宋体" panose="02010600030101010101" pitchFamily="2" charset="-122"/>
                <a:cs typeface="+mn-cs"/>
              </a:rPr>
              <a:t>】</a:t>
            </a:r>
            <a:r>
              <a:rPr lang="en-US" altLang="zh-CN"/>
              <a:t> </a:t>
            </a:r>
            <a:r>
              <a:rPr lang="zh-CN" altLang="en-US"/>
              <a:t>实际上会被当作函数的首地址。</a:t>
            </a:r>
            <a:endParaRPr lang="en-US" altLang="zh-CN"/>
          </a:p>
          <a:p>
            <a:endParaRPr kumimoji="1" lang="en-US" altLang="zh-CN"/>
          </a:p>
          <a:p>
            <a:r>
              <a:rPr lang="zh-CN" altLang="en-US" b="1"/>
              <a:t>函数指针</a:t>
            </a:r>
            <a:r>
              <a:rPr lang="zh-CN" altLang="en-US"/>
              <a:t>是一种“指向函数的指针变量”，即：它保存的是一个函数的入口地址，从而可以通过这个指针来调用函数。</a:t>
            </a:r>
          </a:p>
          <a:p>
            <a:endParaRPr kumimoji="1" lang="zh-CN" altLang="en-US"/>
          </a:p>
        </p:txBody>
      </p:sp>
      <p:sp>
        <p:nvSpPr>
          <p:cNvPr id="4" name="灯片编号占位符 3"/>
          <p:cNvSpPr>
            <a:spLocks noGrp="1"/>
          </p:cNvSpPr>
          <p:nvPr>
            <p:ph type="sldNum" sz="quarter" idx="5"/>
          </p:nvPr>
        </p:nvSpPr>
        <p:spPr/>
        <p:txBody>
          <a:bodyPr/>
          <a:lstStyle/>
          <a:p>
            <a:pPr>
              <a:defRPr/>
            </a:pPr>
            <a:fld id="{D181C44B-D884-624B-8620-22A7FB869997}" type="slidenum">
              <a:rPr lang="en-US" altLang="zh-CN"/>
              <a:pPr>
                <a:defRPr/>
              </a:pPr>
              <a:t>88</a:t>
            </a:fld>
            <a:endParaRPr lang="en-US" altLang="zh-CN"/>
          </a:p>
        </p:txBody>
      </p:sp>
    </p:spTree>
    <p:extLst>
      <p:ext uri="{BB962C8B-B14F-4D97-AF65-F5344CB8AC3E}">
        <p14:creationId xmlns:p14="http://schemas.microsoft.com/office/powerpoint/2010/main" val="2140887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59A5F55-CE90-E570-0D0E-807D98918D40}"/>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494B0238-53D3-0886-1E9B-C9C2CDCDD26E}"/>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5657ECDF-5C0D-2ACC-54A5-0EC564481767}"/>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eaLnBrk="1" hangingPunct="1">
                  <a:defRPr/>
                </a:pPr>
                <a:endParaRPr lang="en-US" altLang="zh-CN"/>
              </a:p>
            </p:txBody>
          </p:sp>
          <p:sp>
            <p:nvSpPr>
              <p:cNvPr id="11" name="Rectangle 5">
                <a:extLst>
                  <a:ext uri="{FF2B5EF4-FFF2-40B4-BE49-F238E27FC236}">
                    <a16:creationId xmlns:a16="http://schemas.microsoft.com/office/drawing/2014/main" id="{885F4951-04F5-D5A2-108C-2BC5470F6D93}"/>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eaLnBrk="1" hangingPunct="1">
                  <a:defRPr/>
                </a:pPr>
                <a:endParaRPr lang="en-US" altLang="zh-CN"/>
              </a:p>
            </p:txBody>
          </p:sp>
        </p:grpSp>
        <p:grpSp>
          <p:nvGrpSpPr>
            <p:cNvPr id="4" name="Group 6">
              <a:extLst>
                <a:ext uri="{FF2B5EF4-FFF2-40B4-BE49-F238E27FC236}">
                  <a16:creationId xmlns:a16="http://schemas.microsoft.com/office/drawing/2014/main" id="{FA97147C-9355-EA23-5208-0B0C3807FBAC}"/>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3C63B2F2-BEBF-DD86-AD7D-18B866AC2FB2}"/>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eaLnBrk="1" hangingPunct="1">
                  <a:defRPr/>
                </a:pPr>
                <a:endParaRPr lang="en-US" altLang="zh-CN"/>
              </a:p>
            </p:txBody>
          </p:sp>
          <p:sp>
            <p:nvSpPr>
              <p:cNvPr id="9" name="Rectangle 8">
                <a:extLst>
                  <a:ext uri="{FF2B5EF4-FFF2-40B4-BE49-F238E27FC236}">
                    <a16:creationId xmlns:a16="http://schemas.microsoft.com/office/drawing/2014/main" id="{E6901AE6-C00B-0E35-A2CD-A6D37DE95009}"/>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eaLnBrk="1" hangingPunct="1">
                  <a:defRPr/>
                </a:pPr>
                <a:endParaRPr lang="en-US" altLang="zh-CN"/>
              </a:p>
            </p:txBody>
          </p:sp>
        </p:grpSp>
        <p:sp>
          <p:nvSpPr>
            <p:cNvPr id="5" name="Rectangle 9">
              <a:extLst>
                <a:ext uri="{FF2B5EF4-FFF2-40B4-BE49-F238E27FC236}">
                  <a16:creationId xmlns:a16="http://schemas.microsoft.com/office/drawing/2014/main" id="{DDA6B8A6-4EEF-75BF-41F8-B1D97B9F056C}"/>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eaLnBrk="1" hangingPunct="1">
                <a:defRPr/>
              </a:pPr>
              <a:endParaRPr lang="en-US" altLang="zh-CN"/>
            </a:p>
          </p:txBody>
        </p:sp>
        <p:sp>
          <p:nvSpPr>
            <p:cNvPr id="6" name="Rectangle 10">
              <a:extLst>
                <a:ext uri="{FF2B5EF4-FFF2-40B4-BE49-F238E27FC236}">
                  <a16:creationId xmlns:a16="http://schemas.microsoft.com/office/drawing/2014/main" id="{D712B27F-1CB4-3B5F-AB88-F8A6DFEC734A}"/>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eaLnBrk="1" hangingPunct="1">
                <a:defRPr/>
              </a:pPr>
              <a:endParaRPr lang="en-US" altLang="zh-CN"/>
            </a:p>
          </p:txBody>
        </p:sp>
        <p:sp>
          <p:nvSpPr>
            <p:cNvPr id="7" name="Rectangle 11">
              <a:extLst>
                <a:ext uri="{FF2B5EF4-FFF2-40B4-BE49-F238E27FC236}">
                  <a16:creationId xmlns:a16="http://schemas.microsoft.com/office/drawing/2014/main" id="{8B924C4E-1BB2-61B9-3ACF-381878DE867B}"/>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eaLnBrk="1" hangingPunct="1">
                <a:defRPr/>
              </a:pPr>
              <a:endParaRPr lang="en-US" altLang="zh-CN"/>
            </a:p>
          </p:txBody>
        </p:sp>
      </p:grpSp>
      <p:sp>
        <p:nvSpPr>
          <p:cNvPr id="21516"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21517"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2" name="Rectangle 14">
            <a:extLst>
              <a:ext uri="{FF2B5EF4-FFF2-40B4-BE49-F238E27FC236}">
                <a16:creationId xmlns:a16="http://schemas.microsoft.com/office/drawing/2014/main" id="{8057507E-387E-EE2E-9CFC-871CB5451EF7}"/>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a16="http://schemas.microsoft.com/office/drawing/2014/main" id="{45090FEF-039E-0058-FC98-A2583C350428}"/>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4" name="Rectangle 16">
            <a:extLst>
              <a:ext uri="{FF2B5EF4-FFF2-40B4-BE49-F238E27FC236}">
                <a16:creationId xmlns:a16="http://schemas.microsoft.com/office/drawing/2014/main" id="{6781CC6B-D6BE-3316-3D1E-5AB64C2A8429}"/>
              </a:ext>
            </a:extLst>
          </p:cNvPr>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43924FAE-328C-FC45-8533-EE08B8D144C8}" type="slidenum">
              <a:rPr lang="en-US" altLang="zh-CN"/>
              <a:pPr>
                <a:defRPr/>
              </a:pPr>
              <a:t>‹#›</a:t>
            </a:fld>
            <a:endParaRPr lang="en-US" altLang="zh-CN"/>
          </a:p>
        </p:txBody>
      </p:sp>
    </p:spTree>
    <p:extLst>
      <p:ext uri="{BB962C8B-B14F-4D97-AF65-F5344CB8AC3E}">
        <p14:creationId xmlns:p14="http://schemas.microsoft.com/office/powerpoint/2010/main" val="963247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11">
            <a:extLst>
              <a:ext uri="{FF2B5EF4-FFF2-40B4-BE49-F238E27FC236}">
                <a16:creationId xmlns:a16="http://schemas.microsoft.com/office/drawing/2014/main" id="{84BBD3F1-E4F8-7CAA-917B-2589A0D596A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BD89AD7D-5CD6-031E-A2DE-CB3DDC4DA9C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8AF4B5C4-7A1C-624B-D3D3-80095D9719EB}"/>
              </a:ext>
            </a:extLst>
          </p:cNvPr>
          <p:cNvSpPr>
            <a:spLocks noGrp="1" noChangeArrowheads="1"/>
          </p:cNvSpPr>
          <p:nvPr>
            <p:ph type="sldNum" sz="quarter" idx="12"/>
          </p:nvPr>
        </p:nvSpPr>
        <p:spPr>
          <a:ln/>
        </p:spPr>
        <p:txBody>
          <a:bodyPr/>
          <a:lstStyle>
            <a:lvl1pPr>
              <a:defRPr/>
            </a:lvl1pPr>
          </a:lstStyle>
          <a:p>
            <a:pPr>
              <a:defRPr/>
            </a:pPr>
            <a:fld id="{B4DB3E23-C3A6-E440-A6AA-BB03D378853F}" type="slidenum">
              <a:rPr lang="en-US" altLang="zh-CN"/>
              <a:pPr>
                <a:defRPr/>
              </a:pPr>
              <a:t>‹#›</a:t>
            </a:fld>
            <a:endParaRPr lang="en-US" altLang="zh-CN"/>
          </a:p>
        </p:txBody>
      </p:sp>
    </p:spTree>
    <p:extLst>
      <p:ext uri="{BB962C8B-B14F-4D97-AF65-F5344CB8AC3E}">
        <p14:creationId xmlns:p14="http://schemas.microsoft.com/office/powerpoint/2010/main" val="3690895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11">
            <a:extLst>
              <a:ext uri="{FF2B5EF4-FFF2-40B4-BE49-F238E27FC236}">
                <a16:creationId xmlns:a16="http://schemas.microsoft.com/office/drawing/2014/main" id="{29CFD9E3-E919-B695-C382-C678BEF0896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177AD36D-956A-C4DB-AAF8-0FEFD7B31C5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E2D81E2E-C7EA-1FB9-25B3-0BD6C0EEA460}"/>
              </a:ext>
            </a:extLst>
          </p:cNvPr>
          <p:cNvSpPr>
            <a:spLocks noGrp="1" noChangeArrowheads="1"/>
          </p:cNvSpPr>
          <p:nvPr>
            <p:ph type="sldNum" sz="quarter" idx="12"/>
          </p:nvPr>
        </p:nvSpPr>
        <p:spPr>
          <a:ln/>
        </p:spPr>
        <p:txBody>
          <a:bodyPr/>
          <a:lstStyle>
            <a:lvl1pPr>
              <a:defRPr/>
            </a:lvl1pPr>
          </a:lstStyle>
          <a:p>
            <a:pPr>
              <a:defRPr/>
            </a:pPr>
            <a:fld id="{3BF2EC36-ED4C-2546-AD41-55F63CCF2C6B}" type="slidenum">
              <a:rPr lang="en-US" altLang="zh-CN"/>
              <a:pPr>
                <a:defRPr/>
              </a:pPr>
              <a:t>‹#›</a:t>
            </a:fld>
            <a:endParaRPr lang="en-US" altLang="zh-CN"/>
          </a:p>
        </p:txBody>
      </p:sp>
    </p:spTree>
    <p:extLst>
      <p:ext uri="{BB962C8B-B14F-4D97-AF65-F5344CB8AC3E}">
        <p14:creationId xmlns:p14="http://schemas.microsoft.com/office/powerpoint/2010/main" val="2220153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11826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51450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11">
            <a:extLst>
              <a:ext uri="{FF2B5EF4-FFF2-40B4-BE49-F238E27FC236}">
                <a16:creationId xmlns:a16="http://schemas.microsoft.com/office/drawing/2014/main" id="{EFDB857B-AE69-C03B-9458-9DEF986D377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50542A2B-D29E-45C2-1275-EB596BEC81C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6BFE42C4-5039-B73E-52F5-32BC3FF39061}"/>
              </a:ext>
            </a:extLst>
          </p:cNvPr>
          <p:cNvSpPr>
            <a:spLocks noGrp="1" noChangeArrowheads="1"/>
          </p:cNvSpPr>
          <p:nvPr>
            <p:ph type="sldNum" sz="quarter" idx="12"/>
          </p:nvPr>
        </p:nvSpPr>
        <p:spPr>
          <a:ln/>
        </p:spPr>
        <p:txBody>
          <a:bodyPr/>
          <a:lstStyle>
            <a:lvl1pPr>
              <a:defRPr/>
            </a:lvl1pPr>
          </a:lstStyle>
          <a:p>
            <a:pPr>
              <a:defRPr/>
            </a:pPr>
            <a:fld id="{1062B322-C278-2B46-A349-218EDB3A57EC}" type="slidenum">
              <a:rPr lang="en-US" altLang="zh-CN"/>
              <a:pPr>
                <a:defRPr/>
              </a:pPr>
              <a:t>‹#›</a:t>
            </a:fld>
            <a:endParaRPr lang="en-US" altLang="zh-CN"/>
          </a:p>
        </p:txBody>
      </p:sp>
    </p:spTree>
    <p:extLst>
      <p:ext uri="{BB962C8B-B14F-4D97-AF65-F5344CB8AC3E}">
        <p14:creationId xmlns:p14="http://schemas.microsoft.com/office/powerpoint/2010/main" val="3326536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11">
            <a:extLst>
              <a:ext uri="{FF2B5EF4-FFF2-40B4-BE49-F238E27FC236}">
                <a16:creationId xmlns:a16="http://schemas.microsoft.com/office/drawing/2014/main" id="{960676C0-99EE-43D2-DF99-F1F0E7ACF4E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D2BCD9EB-6826-12FF-EAC2-DC84336C541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2286BF2A-E5FC-94A0-0C3E-30DFB3F1F18D}"/>
              </a:ext>
            </a:extLst>
          </p:cNvPr>
          <p:cNvSpPr>
            <a:spLocks noGrp="1" noChangeArrowheads="1"/>
          </p:cNvSpPr>
          <p:nvPr>
            <p:ph type="sldNum" sz="quarter" idx="12"/>
          </p:nvPr>
        </p:nvSpPr>
        <p:spPr>
          <a:ln/>
        </p:spPr>
        <p:txBody>
          <a:bodyPr/>
          <a:lstStyle>
            <a:lvl1pPr>
              <a:defRPr/>
            </a:lvl1pPr>
          </a:lstStyle>
          <a:p>
            <a:pPr>
              <a:defRPr/>
            </a:pPr>
            <a:fld id="{824A31CE-C47E-3C46-98D4-E8E8482622E3}" type="slidenum">
              <a:rPr lang="en-US" altLang="zh-CN"/>
              <a:pPr>
                <a:defRPr/>
              </a:pPr>
              <a:t>‹#›</a:t>
            </a:fld>
            <a:endParaRPr lang="en-US" altLang="zh-CN"/>
          </a:p>
        </p:txBody>
      </p:sp>
    </p:spTree>
    <p:extLst>
      <p:ext uri="{BB962C8B-B14F-4D97-AF65-F5344CB8AC3E}">
        <p14:creationId xmlns:p14="http://schemas.microsoft.com/office/powerpoint/2010/main" val="3073991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Rectangle 11">
            <a:extLst>
              <a:ext uri="{FF2B5EF4-FFF2-40B4-BE49-F238E27FC236}">
                <a16:creationId xmlns:a16="http://schemas.microsoft.com/office/drawing/2014/main" id="{79F50C98-9CAB-EC65-9E83-DAC9A202C82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1B2F141E-1EF8-E294-3AAD-4BFADF4AAC6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88996A07-50D8-B824-B766-2AE46D7EB809}"/>
              </a:ext>
            </a:extLst>
          </p:cNvPr>
          <p:cNvSpPr>
            <a:spLocks noGrp="1" noChangeArrowheads="1"/>
          </p:cNvSpPr>
          <p:nvPr>
            <p:ph type="sldNum" sz="quarter" idx="12"/>
          </p:nvPr>
        </p:nvSpPr>
        <p:spPr>
          <a:ln/>
        </p:spPr>
        <p:txBody>
          <a:bodyPr/>
          <a:lstStyle>
            <a:lvl1pPr>
              <a:defRPr/>
            </a:lvl1pPr>
          </a:lstStyle>
          <a:p>
            <a:pPr>
              <a:defRPr/>
            </a:pPr>
            <a:fld id="{989068F1-36FA-6840-8824-F8217995DF82}" type="slidenum">
              <a:rPr lang="en-US" altLang="zh-CN"/>
              <a:pPr>
                <a:defRPr/>
              </a:pPr>
              <a:t>‹#›</a:t>
            </a:fld>
            <a:endParaRPr lang="en-US" altLang="zh-CN"/>
          </a:p>
        </p:txBody>
      </p:sp>
    </p:spTree>
    <p:extLst>
      <p:ext uri="{BB962C8B-B14F-4D97-AF65-F5344CB8AC3E}">
        <p14:creationId xmlns:p14="http://schemas.microsoft.com/office/powerpoint/2010/main" val="1836647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8417963A-FF86-593B-F788-EA6E75CF7F6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172EE8F8-3313-E527-85E7-0803BEBFC97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C5CE018F-350C-D925-48CC-43B400E88D9D}"/>
              </a:ext>
            </a:extLst>
          </p:cNvPr>
          <p:cNvSpPr>
            <a:spLocks noGrp="1" noChangeArrowheads="1"/>
          </p:cNvSpPr>
          <p:nvPr>
            <p:ph type="sldNum" sz="quarter" idx="12"/>
          </p:nvPr>
        </p:nvSpPr>
        <p:spPr>
          <a:ln/>
        </p:spPr>
        <p:txBody>
          <a:bodyPr/>
          <a:lstStyle>
            <a:lvl1pPr>
              <a:defRPr/>
            </a:lvl1pPr>
          </a:lstStyle>
          <a:p>
            <a:pPr>
              <a:defRPr/>
            </a:pPr>
            <a:fld id="{F1F886F4-5270-7E46-9E9E-B392F0CDA13D}" type="slidenum">
              <a:rPr lang="en-US" altLang="zh-CN"/>
              <a:pPr>
                <a:defRPr/>
              </a:pPr>
              <a:t>‹#›</a:t>
            </a:fld>
            <a:endParaRPr lang="en-US" altLang="zh-CN"/>
          </a:p>
        </p:txBody>
      </p:sp>
    </p:spTree>
    <p:extLst>
      <p:ext uri="{BB962C8B-B14F-4D97-AF65-F5344CB8AC3E}">
        <p14:creationId xmlns:p14="http://schemas.microsoft.com/office/powerpoint/2010/main" val="1674321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11">
            <a:extLst>
              <a:ext uri="{FF2B5EF4-FFF2-40B4-BE49-F238E27FC236}">
                <a16:creationId xmlns:a16="http://schemas.microsoft.com/office/drawing/2014/main" id="{9D405F57-5462-389E-7D61-C0B71474C4F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7E46E078-43D1-7E92-D85A-C29E29946C4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1230AE12-D104-0130-0336-72C675ECDA61}"/>
              </a:ext>
            </a:extLst>
          </p:cNvPr>
          <p:cNvSpPr>
            <a:spLocks noGrp="1" noChangeArrowheads="1"/>
          </p:cNvSpPr>
          <p:nvPr>
            <p:ph type="sldNum" sz="quarter" idx="12"/>
          </p:nvPr>
        </p:nvSpPr>
        <p:spPr>
          <a:ln/>
        </p:spPr>
        <p:txBody>
          <a:bodyPr/>
          <a:lstStyle>
            <a:lvl1pPr>
              <a:defRPr/>
            </a:lvl1pPr>
          </a:lstStyle>
          <a:p>
            <a:pPr>
              <a:defRPr/>
            </a:pPr>
            <a:fld id="{97216C19-E747-3143-9185-EBC39CFBD920}" type="slidenum">
              <a:rPr lang="en-US" altLang="zh-CN"/>
              <a:pPr>
                <a:defRPr/>
              </a:pPr>
              <a:t>‹#›</a:t>
            </a:fld>
            <a:endParaRPr lang="en-US" altLang="zh-CN"/>
          </a:p>
        </p:txBody>
      </p:sp>
    </p:spTree>
    <p:extLst>
      <p:ext uri="{BB962C8B-B14F-4D97-AF65-F5344CB8AC3E}">
        <p14:creationId xmlns:p14="http://schemas.microsoft.com/office/powerpoint/2010/main" val="1167755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11">
            <a:extLst>
              <a:ext uri="{FF2B5EF4-FFF2-40B4-BE49-F238E27FC236}">
                <a16:creationId xmlns:a16="http://schemas.microsoft.com/office/drawing/2014/main" id="{9ED677D7-AECA-0AD1-91D3-9E8E40F4E70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062CA102-719C-94C8-AE0B-8D658653097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990DD285-5552-932E-9C36-89DCF0004805}"/>
              </a:ext>
            </a:extLst>
          </p:cNvPr>
          <p:cNvSpPr>
            <a:spLocks noGrp="1" noChangeArrowheads="1"/>
          </p:cNvSpPr>
          <p:nvPr>
            <p:ph type="sldNum" sz="quarter" idx="12"/>
          </p:nvPr>
        </p:nvSpPr>
        <p:spPr>
          <a:ln/>
        </p:spPr>
        <p:txBody>
          <a:bodyPr/>
          <a:lstStyle>
            <a:lvl1pPr>
              <a:defRPr/>
            </a:lvl1pPr>
          </a:lstStyle>
          <a:p>
            <a:pPr>
              <a:defRPr/>
            </a:pPr>
            <a:fld id="{86BD071D-CE43-3546-ABE4-EEFECFAD049D}" type="slidenum">
              <a:rPr lang="en-US" altLang="zh-CN"/>
              <a:pPr>
                <a:defRPr/>
              </a:pPr>
              <a:t>‹#›</a:t>
            </a:fld>
            <a:endParaRPr lang="en-US" altLang="zh-CN"/>
          </a:p>
        </p:txBody>
      </p:sp>
    </p:spTree>
    <p:extLst>
      <p:ext uri="{BB962C8B-B14F-4D97-AF65-F5344CB8AC3E}">
        <p14:creationId xmlns:p14="http://schemas.microsoft.com/office/powerpoint/2010/main" val="1875421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11">
            <a:extLst>
              <a:ext uri="{FF2B5EF4-FFF2-40B4-BE49-F238E27FC236}">
                <a16:creationId xmlns:a16="http://schemas.microsoft.com/office/drawing/2014/main" id="{777D34AD-5589-287D-C444-EB3F91D2CC2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5B7DE62E-F24C-F48B-1144-CC93618D06A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AFF1217-295F-A876-9FD5-B1E12931486F}"/>
              </a:ext>
            </a:extLst>
          </p:cNvPr>
          <p:cNvSpPr>
            <a:spLocks noGrp="1" noChangeArrowheads="1"/>
          </p:cNvSpPr>
          <p:nvPr>
            <p:ph type="sldNum" sz="quarter" idx="12"/>
          </p:nvPr>
        </p:nvSpPr>
        <p:spPr>
          <a:ln/>
        </p:spPr>
        <p:txBody>
          <a:bodyPr/>
          <a:lstStyle>
            <a:lvl1pPr>
              <a:defRPr/>
            </a:lvl1pPr>
          </a:lstStyle>
          <a:p>
            <a:pPr>
              <a:defRPr/>
            </a:pPr>
            <a:fld id="{69D3CE4C-DB9C-3346-9F08-34CEF8AC0F42}" type="slidenum">
              <a:rPr lang="en-US" altLang="zh-CN"/>
              <a:pPr>
                <a:defRPr/>
              </a:pPr>
              <a:t>‹#›</a:t>
            </a:fld>
            <a:endParaRPr lang="en-US" altLang="zh-CN"/>
          </a:p>
        </p:txBody>
      </p:sp>
    </p:spTree>
    <p:extLst>
      <p:ext uri="{BB962C8B-B14F-4D97-AF65-F5344CB8AC3E}">
        <p14:creationId xmlns:p14="http://schemas.microsoft.com/office/powerpoint/2010/main" val="2556656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11">
            <a:extLst>
              <a:ext uri="{FF2B5EF4-FFF2-40B4-BE49-F238E27FC236}">
                <a16:creationId xmlns:a16="http://schemas.microsoft.com/office/drawing/2014/main" id="{F89BDEA0-BDD2-E7BA-CD81-9543119D07E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9D07DCA8-F56A-83DE-A078-84D5034DC92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9D5070E-368D-83DE-02D3-07926C55816D}"/>
              </a:ext>
            </a:extLst>
          </p:cNvPr>
          <p:cNvSpPr>
            <a:spLocks noGrp="1" noChangeArrowheads="1"/>
          </p:cNvSpPr>
          <p:nvPr>
            <p:ph type="sldNum" sz="quarter" idx="12"/>
          </p:nvPr>
        </p:nvSpPr>
        <p:spPr>
          <a:ln/>
        </p:spPr>
        <p:txBody>
          <a:bodyPr/>
          <a:lstStyle>
            <a:lvl1pPr>
              <a:defRPr/>
            </a:lvl1pPr>
          </a:lstStyle>
          <a:p>
            <a:pPr>
              <a:defRPr/>
            </a:pPr>
            <a:fld id="{DED8B227-ABA3-4443-B437-5B5A01610588}" type="slidenum">
              <a:rPr lang="en-US" altLang="zh-CN"/>
              <a:pPr>
                <a:defRPr/>
              </a:pPr>
              <a:t>‹#›</a:t>
            </a:fld>
            <a:endParaRPr lang="en-US" altLang="zh-CN"/>
          </a:p>
        </p:txBody>
      </p:sp>
    </p:spTree>
    <p:extLst>
      <p:ext uri="{BB962C8B-B14F-4D97-AF65-F5344CB8AC3E}">
        <p14:creationId xmlns:p14="http://schemas.microsoft.com/office/powerpoint/2010/main" val="2674876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A54C362-5F9B-7714-DD34-E7B2AF1C2C6C}"/>
              </a:ext>
            </a:extLst>
          </p:cNvPr>
          <p:cNvSpPr>
            <a:spLocks noChangeArrowheads="1"/>
          </p:cNvSpPr>
          <p:nvPr/>
        </p:nvSpPr>
        <p:spPr bwMode="ltGray">
          <a:xfrm>
            <a:off x="417513" y="1098550"/>
            <a:ext cx="438150" cy="474663"/>
          </a:xfrm>
          <a:prstGeom prst="rect">
            <a:avLst/>
          </a:prstGeom>
          <a:solidFill>
            <a:schemeClr val="accent2"/>
          </a:soli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algn="ctr" eaLnBrk="1" hangingPunct="1">
              <a:spcBef>
                <a:spcPct val="0"/>
              </a:spcBef>
              <a:buClrTx/>
              <a:buSzTx/>
              <a:buFontTx/>
              <a:buNone/>
              <a:defRPr/>
            </a:pPr>
            <a:endParaRPr kumimoji="1" lang="en-US" altLang="en-US" sz="2400" b="0" i="0">
              <a:latin typeface="Tahoma" panose="020B0604030504040204" pitchFamily="34" charset="0"/>
              <a:ea typeface="宋体" panose="02010600030101010101" pitchFamily="2" charset="-122"/>
            </a:endParaRPr>
          </a:p>
        </p:txBody>
      </p:sp>
      <p:sp>
        <p:nvSpPr>
          <p:cNvPr id="1027" name="Rectangle 3">
            <a:extLst>
              <a:ext uri="{FF2B5EF4-FFF2-40B4-BE49-F238E27FC236}">
                <a16:creationId xmlns:a16="http://schemas.microsoft.com/office/drawing/2014/main" id="{52A3BC11-8591-54CC-0FDF-58EB12DA4F1A}"/>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algn="ctr" eaLnBrk="1" hangingPunct="1">
              <a:spcBef>
                <a:spcPct val="0"/>
              </a:spcBef>
              <a:buClrTx/>
              <a:buSzTx/>
              <a:buFontTx/>
              <a:buNone/>
              <a:defRPr/>
            </a:pPr>
            <a:endParaRPr kumimoji="1" lang="en-US" altLang="en-US" sz="2400" b="0" i="0">
              <a:latin typeface="Tahoma" panose="020B0604030504040204" pitchFamily="34" charset="0"/>
              <a:ea typeface="宋体" panose="02010600030101010101" pitchFamily="2" charset="-122"/>
            </a:endParaRPr>
          </a:p>
        </p:txBody>
      </p:sp>
      <p:sp>
        <p:nvSpPr>
          <p:cNvPr id="1028" name="Rectangle 4">
            <a:extLst>
              <a:ext uri="{FF2B5EF4-FFF2-40B4-BE49-F238E27FC236}">
                <a16:creationId xmlns:a16="http://schemas.microsoft.com/office/drawing/2014/main" id="{175CDEE4-2AAC-3BA5-D1DE-D78892E3D810}"/>
              </a:ext>
            </a:extLst>
          </p:cNvPr>
          <p:cNvSpPr>
            <a:spLocks noChangeArrowheads="1"/>
          </p:cNvSpPr>
          <p:nvPr/>
        </p:nvSpPr>
        <p:spPr bwMode="ltGray">
          <a:xfrm>
            <a:off x="541338" y="1520825"/>
            <a:ext cx="422275" cy="474663"/>
          </a:xfrm>
          <a:prstGeom prst="rect">
            <a:avLst/>
          </a:prstGeom>
          <a:solidFill>
            <a:schemeClr val="folHlink"/>
          </a:soli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algn="ctr" eaLnBrk="1" hangingPunct="1">
              <a:spcBef>
                <a:spcPct val="0"/>
              </a:spcBef>
              <a:buClrTx/>
              <a:buSzTx/>
              <a:buFontTx/>
              <a:buNone/>
              <a:defRPr/>
            </a:pPr>
            <a:endParaRPr kumimoji="1" lang="en-US" altLang="en-US" sz="2400" b="0" i="0">
              <a:latin typeface="Tahoma" panose="020B0604030504040204" pitchFamily="34" charset="0"/>
              <a:ea typeface="宋体" panose="02010600030101010101" pitchFamily="2" charset="-122"/>
            </a:endParaRPr>
          </a:p>
        </p:txBody>
      </p:sp>
      <p:sp>
        <p:nvSpPr>
          <p:cNvPr id="1029" name="Rectangle 5">
            <a:extLst>
              <a:ext uri="{FF2B5EF4-FFF2-40B4-BE49-F238E27FC236}">
                <a16:creationId xmlns:a16="http://schemas.microsoft.com/office/drawing/2014/main" id="{62E745D7-53A5-A192-7972-27503C42B919}"/>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algn="ctr" eaLnBrk="1" hangingPunct="1">
              <a:spcBef>
                <a:spcPct val="0"/>
              </a:spcBef>
              <a:buClrTx/>
              <a:buSzTx/>
              <a:buFontTx/>
              <a:buNone/>
              <a:defRPr/>
            </a:pPr>
            <a:endParaRPr kumimoji="1" lang="en-US" altLang="en-US" sz="2400" b="0" i="0">
              <a:latin typeface="Tahoma" panose="020B0604030504040204" pitchFamily="34" charset="0"/>
              <a:ea typeface="宋体" panose="02010600030101010101" pitchFamily="2" charset="-122"/>
            </a:endParaRPr>
          </a:p>
        </p:txBody>
      </p:sp>
      <p:sp>
        <p:nvSpPr>
          <p:cNvPr id="1030" name="Rectangle 6">
            <a:extLst>
              <a:ext uri="{FF2B5EF4-FFF2-40B4-BE49-F238E27FC236}">
                <a16:creationId xmlns:a16="http://schemas.microsoft.com/office/drawing/2014/main" id="{4982C74F-F083-3F79-D174-D411A1378441}"/>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algn="ctr" eaLnBrk="1" hangingPunct="1">
              <a:spcBef>
                <a:spcPct val="0"/>
              </a:spcBef>
              <a:buClrTx/>
              <a:buSzTx/>
              <a:buFontTx/>
              <a:buNone/>
              <a:defRPr/>
            </a:pPr>
            <a:endParaRPr kumimoji="1" lang="en-US" altLang="en-US" sz="2400" b="0" i="0">
              <a:latin typeface="Tahoma" panose="020B0604030504040204" pitchFamily="34" charset="0"/>
              <a:ea typeface="宋体" panose="02010600030101010101" pitchFamily="2" charset="-122"/>
            </a:endParaRPr>
          </a:p>
        </p:txBody>
      </p:sp>
      <p:sp>
        <p:nvSpPr>
          <p:cNvPr id="1031" name="Rectangle 7">
            <a:extLst>
              <a:ext uri="{FF2B5EF4-FFF2-40B4-BE49-F238E27FC236}">
                <a16:creationId xmlns:a16="http://schemas.microsoft.com/office/drawing/2014/main" id="{DA888A4F-4DA0-3D55-3D97-235345F98349}"/>
              </a:ext>
            </a:extLst>
          </p:cNvPr>
          <p:cNvSpPr>
            <a:spLocks noChangeArrowheads="1"/>
          </p:cNvSpPr>
          <p:nvPr/>
        </p:nvSpPr>
        <p:spPr bwMode="gray">
          <a:xfrm>
            <a:off x="762000" y="990600"/>
            <a:ext cx="31750" cy="1052513"/>
          </a:xfrm>
          <a:prstGeom prst="rect">
            <a:avLst/>
          </a:prstGeom>
          <a:solidFill>
            <a:schemeClr val="bg2"/>
          </a:soli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algn="ctr" eaLnBrk="1" hangingPunct="1">
              <a:spcBef>
                <a:spcPct val="0"/>
              </a:spcBef>
              <a:buClrTx/>
              <a:buSzTx/>
              <a:buFontTx/>
              <a:buNone/>
              <a:defRPr/>
            </a:pPr>
            <a:endParaRPr kumimoji="1" lang="en-US" altLang="en-US" sz="2400" b="0" i="0">
              <a:latin typeface="Tahoma" panose="020B0604030504040204" pitchFamily="34" charset="0"/>
              <a:ea typeface="宋体" panose="02010600030101010101" pitchFamily="2" charset="-122"/>
            </a:endParaRPr>
          </a:p>
        </p:txBody>
      </p:sp>
      <p:sp>
        <p:nvSpPr>
          <p:cNvPr id="1032" name="Rectangle 8">
            <a:extLst>
              <a:ext uri="{FF2B5EF4-FFF2-40B4-BE49-F238E27FC236}">
                <a16:creationId xmlns:a16="http://schemas.microsoft.com/office/drawing/2014/main" id="{DB6D832C-A522-817C-6370-DAD337666E6D}"/>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1pPr>
            <a:lvl2pPr marL="742950" indent="-28575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2pPr>
            <a:lvl3pPr marL="11430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3pPr>
            <a:lvl4pPr marL="16002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4pPr>
            <a:lvl5pPr marL="2057400" indent="-228600">
              <a:spcBef>
                <a:spcPct val="20000"/>
              </a:spcBef>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u"/>
              <a:defRPr sz="3200" b="1" i="1">
                <a:solidFill>
                  <a:schemeClr val="tx1"/>
                </a:solidFill>
                <a:latin typeface="Arial Unicode MS" pitchFamily="34" charset="-122"/>
                <a:ea typeface="楷体_GB2312" pitchFamily="49" charset="-122"/>
              </a:defRPr>
            </a:lvl9pPr>
          </a:lstStyle>
          <a:p>
            <a:pPr algn="ctr" eaLnBrk="1" hangingPunct="1">
              <a:spcBef>
                <a:spcPct val="0"/>
              </a:spcBef>
              <a:buClrTx/>
              <a:buSzTx/>
              <a:buFontTx/>
              <a:buNone/>
              <a:defRPr/>
            </a:pPr>
            <a:endParaRPr kumimoji="1" lang="en-US" altLang="en-US" sz="2400" b="0" i="0">
              <a:latin typeface="Tahoma" panose="020B0604030504040204" pitchFamily="34" charset="0"/>
              <a:ea typeface="宋体" panose="02010600030101010101" pitchFamily="2" charset="-122"/>
            </a:endParaRPr>
          </a:p>
        </p:txBody>
      </p:sp>
      <p:sp>
        <p:nvSpPr>
          <p:cNvPr id="1033" name="Rectangle 9">
            <a:extLst>
              <a:ext uri="{FF2B5EF4-FFF2-40B4-BE49-F238E27FC236}">
                <a16:creationId xmlns:a16="http://schemas.microsoft.com/office/drawing/2014/main" id="{D9B140DC-9593-910E-55E7-9EDC8B0BB3CF}"/>
              </a:ext>
            </a:extLst>
          </p:cNvPr>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607ACFA0-3044-2365-BF92-DCB247D95397}"/>
              </a:ext>
            </a:extLst>
          </p:cNvPr>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491" name="Rectangle 11">
            <a:extLst>
              <a:ext uri="{FF2B5EF4-FFF2-40B4-BE49-F238E27FC236}">
                <a16:creationId xmlns:a16="http://schemas.microsoft.com/office/drawing/2014/main" id="{E93F6F40-76C5-3760-09A2-7B8F0A9B7DFC}"/>
              </a:ext>
            </a:extLst>
          </p:cNvPr>
          <p:cNvSpPr>
            <a:spLocks noGrp="1" noChangeArrowheads="1"/>
          </p:cNvSpPr>
          <p:nvPr>
            <p:ph type="dt" sz="half" idx="2"/>
          </p:nvPr>
        </p:nvSpPr>
        <p:spPr bwMode="auto">
          <a:xfrm>
            <a:off x="1162050" y="6243638"/>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400" b="0" i="0">
                <a:latin typeface="+mn-lt"/>
                <a:ea typeface="宋体" panose="02010600030101010101" pitchFamily="2" charset="-122"/>
              </a:defRPr>
            </a:lvl1pPr>
          </a:lstStyle>
          <a:p>
            <a:pPr>
              <a:defRPr/>
            </a:pPr>
            <a:endParaRPr lang="en-US" altLang="zh-CN"/>
          </a:p>
        </p:txBody>
      </p:sp>
      <p:sp>
        <p:nvSpPr>
          <p:cNvPr id="20492" name="Rectangle 12">
            <a:extLst>
              <a:ext uri="{FF2B5EF4-FFF2-40B4-BE49-F238E27FC236}">
                <a16:creationId xmlns:a16="http://schemas.microsoft.com/office/drawing/2014/main" id="{5F039091-D204-4E20-85EB-BBBF7DD79005}"/>
              </a:ext>
            </a:extLst>
          </p:cNvPr>
          <p:cNvSpPr>
            <a:spLocks noGrp="1" noChangeArrowheads="1"/>
          </p:cNvSpPr>
          <p:nvPr>
            <p:ph type="ftr" sz="quarter" idx="3"/>
          </p:nvPr>
        </p:nvSpPr>
        <p:spPr bwMode="auto">
          <a:xfrm>
            <a:off x="3657600" y="6243638"/>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spcBef>
                <a:spcPct val="0"/>
              </a:spcBef>
              <a:buClrTx/>
              <a:buSzTx/>
              <a:buFontTx/>
              <a:buNone/>
              <a:defRPr sz="1400" b="0" i="0">
                <a:latin typeface="+mn-lt"/>
                <a:ea typeface="宋体" panose="02010600030101010101" pitchFamily="2" charset="-122"/>
              </a:defRPr>
            </a:lvl1pPr>
          </a:lstStyle>
          <a:p>
            <a:pPr>
              <a:defRPr/>
            </a:pPr>
            <a:endParaRPr lang="en-US" altLang="zh-CN"/>
          </a:p>
        </p:txBody>
      </p:sp>
      <p:sp>
        <p:nvSpPr>
          <p:cNvPr id="20493" name="Rectangle 13">
            <a:extLst>
              <a:ext uri="{FF2B5EF4-FFF2-40B4-BE49-F238E27FC236}">
                <a16:creationId xmlns:a16="http://schemas.microsoft.com/office/drawing/2014/main" id="{5DC38B0F-C97C-EF69-A0CE-D117CEC4968F}"/>
              </a:ext>
            </a:extLst>
          </p:cNvPr>
          <p:cNvSpPr>
            <a:spLocks noGrp="1" noChangeArrowheads="1"/>
          </p:cNvSpPr>
          <p:nvPr>
            <p:ph type="sldNum" sz="quarter" idx="4"/>
          </p:nvPr>
        </p:nvSpPr>
        <p:spPr bwMode="auto">
          <a:xfrm>
            <a:off x="7042150" y="6243638"/>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b="0" i="0" smtClean="0">
                <a:latin typeface="Tahoma" panose="020B0604030504040204" pitchFamily="34" charset="0"/>
                <a:ea typeface="宋体" panose="02010600030101010101" pitchFamily="2" charset="-122"/>
              </a:defRPr>
            </a:lvl1pPr>
          </a:lstStyle>
          <a:p>
            <a:pPr>
              <a:defRPr/>
            </a:pPr>
            <a:fld id="{546DBFC6-FFEE-1D44-9F2A-90F82864175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8"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Unicode MS" panose="020B0604020202020204" pitchFamily="34" charset="-128"/>
          <a:ea typeface="华文隶书" panose="02010800040101010101" pitchFamily="2" charset="-122"/>
        </a:defRPr>
      </a:lvl2pPr>
      <a:lvl3pPr algn="l" rtl="0" eaLnBrk="0" fontAlgn="base" hangingPunct="0">
        <a:spcBef>
          <a:spcPct val="0"/>
        </a:spcBef>
        <a:spcAft>
          <a:spcPct val="0"/>
        </a:spcAft>
        <a:defRPr sz="4400">
          <a:solidFill>
            <a:schemeClr val="tx2"/>
          </a:solidFill>
          <a:latin typeface="Arial Unicode MS" panose="020B0604020202020204" pitchFamily="34" charset="-128"/>
          <a:ea typeface="华文隶书" panose="02010800040101010101" pitchFamily="2" charset="-122"/>
        </a:defRPr>
      </a:lvl3pPr>
      <a:lvl4pPr algn="l" rtl="0" eaLnBrk="0" fontAlgn="base" hangingPunct="0">
        <a:spcBef>
          <a:spcPct val="0"/>
        </a:spcBef>
        <a:spcAft>
          <a:spcPct val="0"/>
        </a:spcAft>
        <a:defRPr sz="4400">
          <a:solidFill>
            <a:schemeClr val="tx2"/>
          </a:solidFill>
          <a:latin typeface="Arial Unicode MS" panose="020B0604020202020204" pitchFamily="34" charset="-128"/>
          <a:ea typeface="华文隶书" panose="02010800040101010101" pitchFamily="2" charset="-122"/>
        </a:defRPr>
      </a:lvl4pPr>
      <a:lvl5pPr algn="l" rtl="0" eaLnBrk="0" fontAlgn="base" hangingPunct="0">
        <a:spcBef>
          <a:spcPct val="0"/>
        </a:spcBef>
        <a:spcAft>
          <a:spcPct val="0"/>
        </a:spcAft>
        <a:defRPr sz="4400">
          <a:solidFill>
            <a:schemeClr val="tx2"/>
          </a:solidFill>
          <a:latin typeface="Arial Unicode MS" panose="020B0604020202020204" pitchFamily="34" charset="-128"/>
          <a:ea typeface="华文隶书" panose="02010800040101010101" pitchFamily="2" charset="-122"/>
        </a:defRPr>
      </a:lvl5pPr>
      <a:lvl6pPr marL="457200" algn="l" rtl="0" fontAlgn="base">
        <a:spcBef>
          <a:spcPct val="0"/>
        </a:spcBef>
        <a:spcAft>
          <a:spcPct val="0"/>
        </a:spcAft>
        <a:defRPr sz="4400">
          <a:solidFill>
            <a:schemeClr val="tx2"/>
          </a:solidFill>
          <a:latin typeface="Arial Unicode MS" panose="020B0604020202020204" pitchFamily="34" charset="-128"/>
          <a:ea typeface="华文隶书" panose="02010800040101010101" pitchFamily="2" charset="-122"/>
        </a:defRPr>
      </a:lvl6pPr>
      <a:lvl7pPr marL="914400" algn="l" rtl="0" fontAlgn="base">
        <a:spcBef>
          <a:spcPct val="0"/>
        </a:spcBef>
        <a:spcAft>
          <a:spcPct val="0"/>
        </a:spcAft>
        <a:defRPr sz="4400">
          <a:solidFill>
            <a:schemeClr val="tx2"/>
          </a:solidFill>
          <a:latin typeface="Arial Unicode MS" panose="020B0604020202020204" pitchFamily="34" charset="-128"/>
          <a:ea typeface="华文隶书" panose="02010800040101010101" pitchFamily="2" charset="-122"/>
        </a:defRPr>
      </a:lvl7pPr>
      <a:lvl8pPr marL="1371600" algn="l" rtl="0" fontAlgn="base">
        <a:spcBef>
          <a:spcPct val="0"/>
        </a:spcBef>
        <a:spcAft>
          <a:spcPct val="0"/>
        </a:spcAft>
        <a:defRPr sz="4400">
          <a:solidFill>
            <a:schemeClr val="tx2"/>
          </a:solidFill>
          <a:latin typeface="Arial Unicode MS" panose="020B0604020202020204" pitchFamily="34" charset="-128"/>
          <a:ea typeface="华文隶书" panose="02010800040101010101" pitchFamily="2" charset="-122"/>
        </a:defRPr>
      </a:lvl8pPr>
      <a:lvl9pPr marL="1828800" algn="l" rtl="0" fontAlgn="base">
        <a:spcBef>
          <a:spcPct val="0"/>
        </a:spcBef>
        <a:spcAft>
          <a:spcPct val="0"/>
        </a:spcAft>
        <a:defRPr sz="4400">
          <a:solidFill>
            <a:schemeClr val="tx2"/>
          </a:solidFill>
          <a:latin typeface="Arial Unicode MS" panose="020B0604020202020204" pitchFamily="34" charset="-128"/>
          <a:ea typeface="华文隶书" panose="020108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images.google.com/imgres?imgurl=http://lib.bicea.edu.cn/jsjwh/tools/pc.jpg&amp;imgrefurl=http://lib.bicea.edu.cn/jsjwh/index.htm&amp;h=327&amp;w=300&amp;sz=21&amp;hl=zh-CN&amp;start=292&amp;tbnid=qLAHl96qtX_H8M:&amp;tbnh=118&amp;tbnw=108&amp;prev=/images%3Fq%3D%25E8%25AE%25A1%25E7%25AE%2597%25E6%259C%25BA%2B%25E5%259F%25BA%25E7%25A1%2580%26start%3D280%26gbv%3D2%26ndsp%3D20%26svnum%3D10%26hl%3Dzh-CN%26newwindow%3D1%26sa%3D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hyperlink" Target="https://pythontutor.com/render.html#mode=display"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hyperlink" Target="https://pythontutor.com/render.html#mode=displa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pythontutor.com/render.html#mode=display" TargetMode="Externa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https://pythontutor.com/render.html#mode=display" TargetMode="External"/><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3.sv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pythontutor.com/render.html#mode=display"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hyperlink" Target="https://pythontutor.com/render.html#mode=display"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hyperlink" Target="https://pythontutor.com/render.html#mode=display"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pythontutor.com/render.html#mode=display"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7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pythontutor.com/render.html#mode=display" TargetMode="Externa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8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hyperlink" Target="&#31532;7&#21608;%20%20&#20316;&#19994;.ppt#-1,1,PowerPoint &#28436;&#31034;&#25991;&#31295;" TargetMode="External"/><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image" Target="../media/image1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4">
            <a:extLst>
              <a:ext uri="{FF2B5EF4-FFF2-40B4-BE49-F238E27FC236}">
                <a16:creationId xmlns:a16="http://schemas.microsoft.com/office/drawing/2014/main" id="{A2C960EB-6A6A-0EA6-940C-7A2E4B7BEC82}"/>
              </a:ext>
            </a:extLst>
          </p:cNvPr>
          <p:cNvSpPr>
            <a:spLocks noGrp="1" noChangeArrowheads="1"/>
          </p:cNvSpPr>
          <p:nvPr>
            <p:ph type="ctrTitle"/>
          </p:nvPr>
        </p:nvSpPr>
        <p:spPr/>
        <p:txBody>
          <a:bodyPr/>
          <a:lstStyle/>
          <a:p>
            <a:pPr algn="ctr" eaLnBrk="1" hangingPunct="1"/>
            <a:r>
              <a:rPr lang="en-US" altLang="zh-CN" sz="7200">
                <a:solidFill>
                  <a:schemeClr val="folHlink"/>
                </a:solidFill>
              </a:rPr>
              <a:t>C</a:t>
            </a:r>
            <a:r>
              <a:rPr lang="zh-CN" altLang="en-US" sz="7200">
                <a:solidFill>
                  <a:schemeClr val="folHlink"/>
                </a:solidFill>
              </a:rPr>
              <a:t>语言程序设计</a:t>
            </a:r>
          </a:p>
        </p:txBody>
      </p:sp>
      <p:pic>
        <p:nvPicPr>
          <p:cNvPr id="8195" name="Picture 19" descr="pc">
            <a:hlinkClick r:id="rId2"/>
            <a:extLst>
              <a:ext uri="{FF2B5EF4-FFF2-40B4-BE49-F238E27FC236}">
                <a16:creationId xmlns:a16="http://schemas.microsoft.com/office/drawing/2014/main" id="{A3C4E064-508C-03EB-1B84-6ACE934516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4413" y="4913313"/>
            <a:ext cx="1779587"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ABCC71E-72A1-C0B1-D924-05B0901CFEA2}"/>
              </a:ext>
            </a:extLst>
          </p:cNvPr>
          <p:cNvSpPr>
            <a:spLocks noGrp="1" noChangeArrowheads="1"/>
          </p:cNvSpPr>
          <p:nvPr>
            <p:ph type="ctrTitle"/>
          </p:nvPr>
        </p:nvSpPr>
        <p:spPr/>
        <p:txBody>
          <a:bodyPr/>
          <a:lstStyle/>
          <a:p>
            <a:pPr eaLnBrk="1" hangingPunct="1"/>
            <a:r>
              <a:rPr lang="zh-CN" altLang="en-US"/>
              <a:t>第</a:t>
            </a:r>
            <a:r>
              <a:rPr lang="en-US" altLang="zh-CN"/>
              <a:t>6</a:t>
            </a:r>
            <a:r>
              <a:rPr lang="zh-CN" altLang="en-US"/>
              <a:t>章 指针</a:t>
            </a:r>
            <a:endParaRPr lang="zh-CN" altLang="en-US" sz="4000" b="1">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718A272-D267-F0F5-3B12-F9111B86A4AB}"/>
              </a:ext>
            </a:extLst>
          </p:cNvPr>
          <p:cNvSpPr>
            <a:spLocks noGrp="1" noChangeArrowheads="1"/>
          </p:cNvSpPr>
          <p:nvPr>
            <p:ph type="title"/>
          </p:nvPr>
        </p:nvSpPr>
        <p:spPr/>
        <p:txBody>
          <a:bodyPr/>
          <a:lstStyle/>
          <a:p>
            <a:pPr eaLnBrk="1" hangingPunct="1"/>
            <a:r>
              <a:rPr lang="zh-CN" altLang="en-US"/>
              <a:t>本次课程</a:t>
            </a:r>
          </a:p>
        </p:txBody>
      </p:sp>
      <p:sp>
        <p:nvSpPr>
          <p:cNvPr id="7171" name="Rectangle 3">
            <a:extLst>
              <a:ext uri="{FF2B5EF4-FFF2-40B4-BE49-F238E27FC236}">
                <a16:creationId xmlns:a16="http://schemas.microsoft.com/office/drawing/2014/main" id="{5F2D12C9-FF60-0DEC-0329-4701D0EC13E5}"/>
              </a:ext>
            </a:extLst>
          </p:cNvPr>
          <p:cNvSpPr>
            <a:spLocks noGrp="1" noChangeArrowheads="1"/>
          </p:cNvSpPr>
          <p:nvPr>
            <p:ph type="body" idx="1"/>
          </p:nvPr>
        </p:nvSpPr>
        <p:spPr/>
        <p:txBody>
          <a:bodyPr/>
          <a:lstStyle/>
          <a:p>
            <a:pPr eaLnBrk="1" hangingPunct="1"/>
            <a:r>
              <a:rPr lang="zh-CN" altLang="en-US"/>
              <a:t>指针</a:t>
            </a:r>
          </a:p>
          <a:p>
            <a:pPr eaLnBrk="1" hangingPunct="1"/>
            <a:r>
              <a:rPr lang="zh-CN" altLang="en-US"/>
              <a:t>用指针定义数组（动态数组）</a:t>
            </a:r>
            <a:endParaRPr lang="en-US" altLang="zh-CN"/>
          </a:p>
          <a:p>
            <a:pPr eaLnBrk="1" hangingPunct="1"/>
            <a:r>
              <a:rPr lang="zh-CN" altLang="en-US"/>
              <a:t>指针和数组</a:t>
            </a:r>
            <a:endParaRPr lang="en-US" altLang="zh-CN"/>
          </a:p>
          <a:p>
            <a:pPr eaLnBrk="1" hangingPunct="1"/>
            <a:r>
              <a:rPr lang="zh-CN" altLang="en-US"/>
              <a:t>指针和字符串</a:t>
            </a:r>
            <a:endParaRPr lang="en-US" altLang="zh-CN"/>
          </a:p>
          <a:p>
            <a:pPr eaLnBrk="1" hangingPunct="1"/>
            <a:r>
              <a:rPr lang="zh-CN" altLang="en-US"/>
              <a:t>指针和函数传参</a:t>
            </a:r>
            <a:r>
              <a:rPr lang="en-US" altLang="zh-CN"/>
              <a:t> (more)</a:t>
            </a:r>
          </a:p>
          <a:p>
            <a:pPr eaLnBrk="1" hangingPunct="1"/>
            <a:r>
              <a:rPr lang="zh-CN" altLang="en-US"/>
              <a:t>指针数组</a:t>
            </a:r>
            <a:endParaRPr lang="en-US" altLang="zh-CN"/>
          </a:p>
          <a:p>
            <a:pPr eaLnBrk="1" hangingPunct="1"/>
            <a:r>
              <a:rPr lang="zh-CN" altLang="en-US"/>
              <a:t>函数指针*</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1A42EF8-E93C-6227-7A04-41EE0001ED00}"/>
              </a:ext>
            </a:extLst>
          </p:cNvPr>
          <p:cNvSpPr>
            <a:spLocks noGrp="1" noChangeArrowheads="1"/>
          </p:cNvSpPr>
          <p:nvPr>
            <p:ph type="ctrTitle"/>
          </p:nvPr>
        </p:nvSpPr>
        <p:spPr/>
        <p:txBody>
          <a:bodyPr/>
          <a:lstStyle/>
          <a:p>
            <a:pPr eaLnBrk="1" hangingPunct="1"/>
            <a:r>
              <a:rPr lang="zh-CN" altLang="en-US"/>
              <a:t>指针</a:t>
            </a:r>
          </a:p>
        </p:txBody>
      </p:sp>
      <p:sp>
        <p:nvSpPr>
          <p:cNvPr id="584707" name="Rectangle 3">
            <a:extLst>
              <a:ext uri="{FF2B5EF4-FFF2-40B4-BE49-F238E27FC236}">
                <a16:creationId xmlns:a16="http://schemas.microsoft.com/office/drawing/2014/main" id="{FF1F4F4B-2945-2DA8-4D47-53B0364AE160}"/>
              </a:ext>
            </a:extLst>
          </p:cNvPr>
          <p:cNvSpPr>
            <a:spLocks noGrp="1" noChangeArrowheads="1"/>
          </p:cNvSpPr>
          <p:nvPr>
            <p:ph type="subTitle" idx="1"/>
          </p:nvPr>
        </p:nvSpPr>
        <p:spPr/>
        <p:txBody>
          <a:body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584707">
                                            <p:txEl>
                                              <p:pRg st="0" end="0"/>
                                            </p:txEl>
                                          </p:spTgt>
                                        </p:tgtEl>
                                        <p:attrNameLst>
                                          <p:attrName>style.visibility</p:attrName>
                                        </p:attrNameLst>
                                      </p:cBhvr>
                                      <p:to>
                                        <p:strVal val="visible"/>
                                      </p:to>
                                    </p:set>
                                    <p:anim calcmode="lin" valueType="num">
                                      <p:cBhvr additive="base">
                                        <p:cTn id="7" dur="500" fill="hold"/>
                                        <p:tgtEl>
                                          <p:spTgt spid="5847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470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0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B36BC2A-8F82-CB81-85BF-0C8DA6074008}"/>
              </a:ext>
            </a:extLst>
          </p:cNvPr>
          <p:cNvSpPr>
            <a:spLocks noGrp="1" noChangeArrowheads="1"/>
          </p:cNvSpPr>
          <p:nvPr>
            <p:ph type="title"/>
          </p:nvPr>
        </p:nvSpPr>
        <p:spPr/>
        <p:txBody>
          <a:bodyPr/>
          <a:lstStyle/>
          <a:p>
            <a:pPr eaLnBrk="1" hangingPunct="1"/>
            <a:r>
              <a:rPr lang="zh-CN" altLang="en-US"/>
              <a:t>指针</a:t>
            </a:r>
            <a:r>
              <a:rPr lang="en-US" altLang="zh-CN"/>
              <a:t>——</a:t>
            </a:r>
            <a:r>
              <a:rPr lang="zh-CN" altLang="en-US"/>
              <a:t>预备知识</a:t>
            </a:r>
          </a:p>
        </p:txBody>
      </p:sp>
      <p:sp>
        <p:nvSpPr>
          <p:cNvPr id="583683" name="Rectangle 3">
            <a:extLst>
              <a:ext uri="{FF2B5EF4-FFF2-40B4-BE49-F238E27FC236}">
                <a16:creationId xmlns:a16="http://schemas.microsoft.com/office/drawing/2014/main" id="{8D0D6CAA-16C0-8FF3-4F31-AF93609FDDC0}"/>
              </a:ext>
            </a:extLst>
          </p:cNvPr>
          <p:cNvSpPr>
            <a:spLocks noGrp="1" noChangeArrowheads="1"/>
          </p:cNvSpPr>
          <p:nvPr>
            <p:ph type="body" idx="1"/>
          </p:nvPr>
        </p:nvSpPr>
        <p:spPr/>
        <p:txBody>
          <a:bodyPr/>
          <a:lstStyle/>
          <a:p>
            <a:pPr eaLnBrk="1" hangingPunct="1">
              <a:lnSpc>
                <a:spcPct val="90000"/>
              </a:lnSpc>
            </a:pPr>
            <a:r>
              <a:rPr lang="zh-CN" altLang="en-US"/>
              <a:t>变量</a:t>
            </a:r>
          </a:p>
          <a:p>
            <a:pPr eaLnBrk="1" hangingPunct="1">
              <a:lnSpc>
                <a:spcPct val="90000"/>
              </a:lnSpc>
            </a:pPr>
            <a:r>
              <a:rPr lang="zh-CN" altLang="en-US"/>
              <a:t>变量类型</a:t>
            </a:r>
          </a:p>
          <a:p>
            <a:pPr eaLnBrk="1" hangingPunct="1">
              <a:lnSpc>
                <a:spcPct val="90000"/>
              </a:lnSpc>
            </a:pPr>
            <a:r>
              <a:rPr lang="zh-CN" altLang="en-US"/>
              <a:t>变量名</a:t>
            </a:r>
          </a:p>
          <a:p>
            <a:pPr eaLnBrk="1" hangingPunct="1">
              <a:lnSpc>
                <a:spcPct val="90000"/>
              </a:lnSpc>
            </a:pPr>
            <a:r>
              <a:rPr lang="zh-CN" altLang="en-US"/>
              <a:t>变量的地址</a:t>
            </a:r>
          </a:p>
          <a:p>
            <a:pPr eaLnBrk="1" hangingPunct="1">
              <a:lnSpc>
                <a:spcPct val="90000"/>
              </a:lnSpc>
            </a:pPr>
            <a:r>
              <a:rPr lang="zh-CN" altLang="en-US"/>
              <a:t>变量的值</a:t>
            </a:r>
            <a:r>
              <a:rPr lang="en-US" altLang="zh-CN"/>
              <a:t>(</a:t>
            </a:r>
            <a:r>
              <a:rPr lang="zh-CN" altLang="en-US"/>
              <a:t>内容</a:t>
            </a:r>
            <a:r>
              <a:rPr lang="en-US" altLang="zh-CN"/>
              <a:t>)</a:t>
            </a:r>
          </a:p>
          <a:p>
            <a:pPr eaLnBrk="1" hangingPunct="1">
              <a:lnSpc>
                <a:spcPct val="90000"/>
              </a:lnSpc>
            </a:pPr>
            <a:r>
              <a:rPr lang="zh-CN" altLang="en-US"/>
              <a:t>例：</a:t>
            </a:r>
            <a:br>
              <a:rPr lang="zh-CN" altLang="en-US"/>
            </a:br>
            <a:r>
              <a:rPr lang="zh-CN" altLang="en-US"/>
              <a:t>	</a:t>
            </a:r>
            <a:r>
              <a:rPr lang="en-US" altLang="zh-CN"/>
              <a:t>int  i=1;</a:t>
            </a:r>
            <a:br>
              <a:rPr lang="en-US" altLang="zh-CN"/>
            </a:br>
            <a:r>
              <a:rPr lang="en-US" altLang="zh-CN"/>
              <a:t>	i=i+2;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3683">
                                            <p:txEl>
                                              <p:pRg st="0" end="0"/>
                                            </p:txEl>
                                          </p:spTgt>
                                        </p:tgtEl>
                                        <p:attrNameLst>
                                          <p:attrName>style.visibility</p:attrName>
                                        </p:attrNameLst>
                                      </p:cBhvr>
                                      <p:to>
                                        <p:strVal val="visible"/>
                                      </p:to>
                                    </p:set>
                                    <p:anim calcmode="lin" valueType="num">
                                      <p:cBhvr additive="base">
                                        <p:cTn id="7" dur="500" fill="hold"/>
                                        <p:tgtEl>
                                          <p:spTgt spid="5836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368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3683">
                                            <p:txEl>
                                              <p:pRg st="1" end="1"/>
                                            </p:txEl>
                                          </p:spTgt>
                                        </p:tgtEl>
                                        <p:attrNameLst>
                                          <p:attrName>style.visibility</p:attrName>
                                        </p:attrNameLst>
                                      </p:cBhvr>
                                      <p:to>
                                        <p:strVal val="visible"/>
                                      </p:to>
                                    </p:set>
                                    <p:anim calcmode="lin" valueType="num">
                                      <p:cBhvr additive="base">
                                        <p:cTn id="13" dur="500" fill="hold"/>
                                        <p:tgtEl>
                                          <p:spTgt spid="5836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8368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3683">
                                            <p:txEl>
                                              <p:pRg st="2" end="2"/>
                                            </p:txEl>
                                          </p:spTgt>
                                        </p:tgtEl>
                                        <p:attrNameLst>
                                          <p:attrName>style.visibility</p:attrName>
                                        </p:attrNameLst>
                                      </p:cBhvr>
                                      <p:to>
                                        <p:strVal val="visible"/>
                                      </p:to>
                                    </p:set>
                                    <p:anim calcmode="lin" valueType="num">
                                      <p:cBhvr additive="base">
                                        <p:cTn id="19" dur="500" fill="hold"/>
                                        <p:tgtEl>
                                          <p:spTgt spid="5836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368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83683">
                                            <p:txEl>
                                              <p:pRg st="3" end="3"/>
                                            </p:txEl>
                                          </p:spTgt>
                                        </p:tgtEl>
                                        <p:attrNameLst>
                                          <p:attrName>style.visibility</p:attrName>
                                        </p:attrNameLst>
                                      </p:cBhvr>
                                      <p:to>
                                        <p:strVal val="visible"/>
                                      </p:to>
                                    </p:set>
                                    <p:anim calcmode="lin" valueType="num">
                                      <p:cBhvr additive="base">
                                        <p:cTn id="25" dur="500" fill="hold"/>
                                        <p:tgtEl>
                                          <p:spTgt spid="5836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8368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83683">
                                            <p:txEl>
                                              <p:pRg st="4" end="4"/>
                                            </p:txEl>
                                          </p:spTgt>
                                        </p:tgtEl>
                                        <p:attrNameLst>
                                          <p:attrName>style.visibility</p:attrName>
                                        </p:attrNameLst>
                                      </p:cBhvr>
                                      <p:to>
                                        <p:strVal val="visible"/>
                                      </p:to>
                                    </p:set>
                                    <p:anim calcmode="lin" valueType="num">
                                      <p:cBhvr additive="base">
                                        <p:cTn id="31" dur="500" fill="hold"/>
                                        <p:tgtEl>
                                          <p:spTgt spid="5836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8368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83683">
                                            <p:txEl>
                                              <p:pRg st="5" end="5"/>
                                            </p:txEl>
                                          </p:spTgt>
                                        </p:tgtEl>
                                        <p:attrNameLst>
                                          <p:attrName>style.visibility</p:attrName>
                                        </p:attrNameLst>
                                      </p:cBhvr>
                                      <p:to>
                                        <p:strVal val="visible"/>
                                      </p:to>
                                    </p:set>
                                    <p:anim calcmode="lin" valueType="num">
                                      <p:cBhvr additive="base">
                                        <p:cTn id="37" dur="500" fill="hold"/>
                                        <p:tgtEl>
                                          <p:spTgt spid="5836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83683">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8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204AD26-035F-0207-6105-EF8BC93555E0}"/>
              </a:ext>
            </a:extLst>
          </p:cNvPr>
          <p:cNvSpPr>
            <a:spLocks noGrp="1" noChangeArrowheads="1"/>
          </p:cNvSpPr>
          <p:nvPr>
            <p:ph type="title"/>
          </p:nvPr>
        </p:nvSpPr>
        <p:spPr/>
        <p:txBody>
          <a:bodyPr/>
          <a:lstStyle/>
          <a:p>
            <a:pPr eaLnBrk="1" hangingPunct="1"/>
            <a:r>
              <a:rPr lang="zh-CN" altLang="en-US"/>
              <a:t>指针变量</a:t>
            </a:r>
          </a:p>
        </p:txBody>
      </p:sp>
      <p:sp>
        <p:nvSpPr>
          <p:cNvPr id="585731" name="Rectangle 3">
            <a:extLst>
              <a:ext uri="{FF2B5EF4-FFF2-40B4-BE49-F238E27FC236}">
                <a16:creationId xmlns:a16="http://schemas.microsoft.com/office/drawing/2014/main" id="{1A021EB6-FEEF-CF22-D3CA-7E8ADC5B787F}"/>
              </a:ext>
            </a:extLst>
          </p:cNvPr>
          <p:cNvSpPr>
            <a:spLocks noGrp="1" noChangeArrowheads="1"/>
          </p:cNvSpPr>
          <p:nvPr>
            <p:ph type="body" idx="1"/>
          </p:nvPr>
        </p:nvSpPr>
        <p:spPr/>
        <p:txBody>
          <a:bodyPr/>
          <a:lstStyle/>
          <a:p>
            <a:pPr eaLnBrk="1" hangingPunct="1"/>
            <a:r>
              <a:rPr lang="zh-CN" altLang="en-US"/>
              <a:t>指针变量定义</a:t>
            </a:r>
            <a:endParaRPr lang="en-US" altLang="zh-CN"/>
          </a:p>
          <a:p>
            <a:pPr lvl="1" eaLnBrk="1" hangingPunct="1"/>
            <a:r>
              <a:rPr lang="zh-CN" altLang="en-US">
                <a:solidFill>
                  <a:srgbClr val="0070C0"/>
                </a:solidFill>
              </a:rPr>
              <a:t>类型   *  标识符；</a:t>
            </a:r>
          </a:p>
          <a:p>
            <a:pPr eaLnBrk="1" hangingPunct="1"/>
            <a:r>
              <a:rPr lang="zh-CN" altLang="en-US"/>
              <a:t>本质含义</a:t>
            </a:r>
            <a:endParaRPr lang="en-US" altLang="zh-CN"/>
          </a:p>
          <a:p>
            <a:pPr lvl="1" eaLnBrk="1" hangingPunct="1"/>
            <a:r>
              <a:rPr lang="zh-CN" altLang="en-US"/>
              <a:t>指针的值是一个内存地址</a:t>
            </a:r>
            <a:endParaRPr lang="en-US" altLang="zh-CN"/>
          </a:p>
          <a:p>
            <a:pPr lvl="1" eaLnBrk="1" hangingPunct="1"/>
            <a:r>
              <a:rPr lang="zh-CN" altLang="en-US"/>
              <a:t>“指针”只是</a:t>
            </a:r>
            <a:r>
              <a:rPr lang="zh-CN" altLang="en-US">
                <a:solidFill>
                  <a:srgbClr val="0070C0"/>
                </a:solidFill>
              </a:rPr>
              <a:t>存放地址的变量</a:t>
            </a:r>
          </a:p>
          <a:p>
            <a:pPr eaLnBrk="1" hangingPunct="1"/>
            <a:r>
              <a:rPr lang="zh-CN" altLang="en-US"/>
              <a:t>例：</a:t>
            </a:r>
          </a:p>
          <a:p>
            <a:pPr lvl="1" eaLnBrk="1" hangingPunct="1"/>
            <a:r>
              <a:rPr lang="en-US" altLang="zh-CN"/>
              <a:t>int  *ip;</a:t>
            </a:r>
          </a:p>
          <a:p>
            <a:pPr lvl="1" eaLnBrk="1" hangingPunct="1"/>
            <a:r>
              <a:rPr lang="en-US" altLang="zh-CN"/>
              <a:t>float *fp1, *fp2;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5731">
                                            <p:txEl>
                                              <p:pRg st="0" end="0"/>
                                            </p:txEl>
                                          </p:spTgt>
                                        </p:tgtEl>
                                        <p:attrNameLst>
                                          <p:attrName>style.visibility</p:attrName>
                                        </p:attrNameLst>
                                      </p:cBhvr>
                                      <p:to>
                                        <p:strVal val="visible"/>
                                      </p:to>
                                    </p:set>
                                    <p:anim calcmode="lin" valueType="num">
                                      <p:cBhvr additive="base">
                                        <p:cTn id="7" dur="500" fill="hold"/>
                                        <p:tgtEl>
                                          <p:spTgt spid="5857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573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85731">
                                            <p:txEl>
                                              <p:pRg st="1" end="1"/>
                                            </p:txEl>
                                          </p:spTgt>
                                        </p:tgtEl>
                                        <p:attrNameLst>
                                          <p:attrName>style.visibility</p:attrName>
                                        </p:attrNameLst>
                                      </p:cBhvr>
                                      <p:to>
                                        <p:strVal val="visible"/>
                                      </p:to>
                                    </p:set>
                                    <p:anim calcmode="lin" valueType="num">
                                      <p:cBhvr additive="base">
                                        <p:cTn id="11" dur="500" fill="hold"/>
                                        <p:tgtEl>
                                          <p:spTgt spid="58573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8573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85731">
                                            <p:txEl>
                                              <p:pRg st="2" end="2"/>
                                            </p:txEl>
                                          </p:spTgt>
                                        </p:tgtEl>
                                        <p:attrNameLst>
                                          <p:attrName>style.visibility</p:attrName>
                                        </p:attrNameLst>
                                      </p:cBhvr>
                                      <p:to>
                                        <p:strVal val="visible"/>
                                      </p:to>
                                    </p:set>
                                    <p:anim calcmode="lin" valueType="num">
                                      <p:cBhvr additive="base">
                                        <p:cTn id="17" dur="500" fill="hold"/>
                                        <p:tgtEl>
                                          <p:spTgt spid="58573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8573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par>
                                <p:cTn id="19" presetID="2" presetClass="entr" presetSubtype="8" fill="hold" grpId="0" nodeType="withEffect">
                                  <p:stCondLst>
                                    <p:cond delay="0"/>
                                  </p:stCondLst>
                                  <p:childTnLst>
                                    <p:set>
                                      <p:cBhvr>
                                        <p:cTn id="20" dur="1" fill="hold">
                                          <p:stCondLst>
                                            <p:cond delay="0"/>
                                          </p:stCondLst>
                                        </p:cTn>
                                        <p:tgtEl>
                                          <p:spTgt spid="585731">
                                            <p:txEl>
                                              <p:pRg st="3" end="3"/>
                                            </p:txEl>
                                          </p:spTgt>
                                        </p:tgtEl>
                                        <p:attrNameLst>
                                          <p:attrName>style.visibility</p:attrName>
                                        </p:attrNameLst>
                                      </p:cBhvr>
                                      <p:to>
                                        <p:strVal val="visible"/>
                                      </p:to>
                                    </p:set>
                                    <p:anim calcmode="lin" valueType="num">
                                      <p:cBhvr additive="base">
                                        <p:cTn id="21" dur="500" fill="hold"/>
                                        <p:tgtEl>
                                          <p:spTgt spid="585731">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8573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whoosh.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585731">
                                            <p:txEl>
                                              <p:pRg st="4" end="4"/>
                                            </p:txEl>
                                          </p:spTgt>
                                        </p:tgtEl>
                                        <p:attrNameLst>
                                          <p:attrName>style.visibility</p:attrName>
                                        </p:attrNameLst>
                                      </p:cBhvr>
                                      <p:to>
                                        <p:strVal val="visible"/>
                                      </p:to>
                                    </p:set>
                                    <p:anim calcmode="lin" valueType="num">
                                      <p:cBhvr additive="base">
                                        <p:cTn id="25" dur="500" fill="hold"/>
                                        <p:tgtEl>
                                          <p:spTgt spid="58573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8573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85731">
                                            <p:txEl>
                                              <p:pRg st="5" end="5"/>
                                            </p:txEl>
                                          </p:spTgt>
                                        </p:tgtEl>
                                        <p:attrNameLst>
                                          <p:attrName>style.visibility</p:attrName>
                                        </p:attrNameLst>
                                      </p:cBhvr>
                                      <p:to>
                                        <p:strVal val="visible"/>
                                      </p:to>
                                    </p:set>
                                    <p:anim calcmode="lin" valueType="num">
                                      <p:cBhvr additive="base">
                                        <p:cTn id="31" dur="500" fill="hold"/>
                                        <p:tgtEl>
                                          <p:spTgt spid="585731">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8573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585731">
                                            <p:txEl>
                                              <p:pRg st="6" end="6"/>
                                            </p:txEl>
                                          </p:spTgt>
                                        </p:tgtEl>
                                        <p:attrNameLst>
                                          <p:attrName>style.visibility</p:attrName>
                                        </p:attrNameLst>
                                      </p:cBhvr>
                                      <p:to>
                                        <p:strVal val="visible"/>
                                      </p:to>
                                    </p:set>
                                    <p:anim calcmode="lin" valueType="num">
                                      <p:cBhvr additive="base">
                                        <p:cTn id="35" dur="500" fill="hold"/>
                                        <p:tgtEl>
                                          <p:spTgt spid="585731">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8573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par>
                                <p:cTn id="37" presetID="2" presetClass="entr" presetSubtype="8" fill="hold" grpId="0" nodeType="withEffect">
                                  <p:stCondLst>
                                    <p:cond delay="0"/>
                                  </p:stCondLst>
                                  <p:childTnLst>
                                    <p:set>
                                      <p:cBhvr>
                                        <p:cTn id="38" dur="1" fill="hold">
                                          <p:stCondLst>
                                            <p:cond delay="0"/>
                                          </p:stCondLst>
                                        </p:cTn>
                                        <p:tgtEl>
                                          <p:spTgt spid="585731">
                                            <p:txEl>
                                              <p:pRg st="7" end="7"/>
                                            </p:txEl>
                                          </p:spTgt>
                                        </p:tgtEl>
                                        <p:attrNameLst>
                                          <p:attrName>style.visibility</p:attrName>
                                        </p:attrNameLst>
                                      </p:cBhvr>
                                      <p:to>
                                        <p:strVal val="visible"/>
                                      </p:to>
                                    </p:set>
                                    <p:anim calcmode="lin" valueType="num">
                                      <p:cBhvr additive="base">
                                        <p:cTn id="39" dur="500" fill="hold"/>
                                        <p:tgtEl>
                                          <p:spTgt spid="585731">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85731">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1"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A3C2B77-BA48-463A-37BD-259A9186B320}"/>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974EA2F9-FF90-6B64-2C6C-35E341C4ADDC}"/>
              </a:ext>
            </a:extLst>
          </p:cNvPr>
          <p:cNvSpPr>
            <a:spLocks noGrp="1" noChangeArrowheads="1"/>
          </p:cNvSpPr>
          <p:nvPr>
            <p:ph type="title"/>
          </p:nvPr>
        </p:nvSpPr>
        <p:spPr/>
        <p:txBody>
          <a:bodyPr/>
          <a:lstStyle/>
          <a:p>
            <a:pPr eaLnBrk="1" hangingPunct="1"/>
            <a:r>
              <a:rPr lang="zh-CN" altLang="en-US"/>
              <a:t>指针变量</a:t>
            </a:r>
          </a:p>
        </p:txBody>
      </p:sp>
      <p:sp>
        <p:nvSpPr>
          <p:cNvPr id="585731" name="Rectangle 3">
            <a:extLst>
              <a:ext uri="{FF2B5EF4-FFF2-40B4-BE49-F238E27FC236}">
                <a16:creationId xmlns:a16="http://schemas.microsoft.com/office/drawing/2014/main" id="{E5F398AF-4EE5-8976-8A96-0D7AD39C36B8}"/>
              </a:ext>
            </a:extLst>
          </p:cNvPr>
          <p:cNvSpPr>
            <a:spLocks noGrp="1" noChangeArrowheads="1"/>
          </p:cNvSpPr>
          <p:nvPr>
            <p:ph type="body" idx="1"/>
          </p:nvPr>
        </p:nvSpPr>
        <p:spPr>
          <a:xfrm>
            <a:off x="1182688" y="2017713"/>
            <a:ext cx="7421760" cy="4114800"/>
          </a:xfrm>
        </p:spPr>
        <p:txBody>
          <a:bodyPr/>
          <a:lstStyle/>
          <a:p>
            <a:pPr eaLnBrk="1" hangingPunct="1"/>
            <a:r>
              <a:rPr lang="zh-CN" altLang="en-US" sz="2400"/>
              <a:t>💡 指针占用的字节数 ≠ 被指向变量的类型，而是与计算机系统的“位数”有关。</a:t>
            </a:r>
            <a:endParaRPr lang="en-US" altLang="zh-CN" sz="2400"/>
          </a:p>
        </p:txBody>
      </p:sp>
      <p:graphicFrame>
        <p:nvGraphicFramePr>
          <p:cNvPr id="6" name="表格 5">
            <a:extLst>
              <a:ext uri="{FF2B5EF4-FFF2-40B4-BE49-F238E27FC236}">
                <a16:creationId xmlns:a16="http://schemas.microsoft.com/office/drawing/2014/main" id="{DC4B6767-DF0C-5DA2-C44E-08EC5B2C8879}"/>
              </a:ext>
            </a:extLst>
          </p:cNvPr>
          <p:cNvGraphicFramePr>
            <a:graphicFrameLocks noGrp="1"/>
          </p:cNvGraphicFramePr>
          <p:nvPr>
            <p:extLst>
              <p:ext uri="{D42A27DB-BD31-4B8C-83A1-F6EECF244321}">
                <p14:modId xmlns:p14="http://schemas.microsoft.com/office/powerpoint/2010/main" val="3098351510"/>
              </p:ext>
            </p:extLst>
          </p:nvPr>
        </p:nvGraphicFramePr>
        <p:xfrm>
          <a:off x="1150938" y="3140968"/>
          <a:ext cx="7293444" cy="2664296"/>
        </p:xfrm>
        <a:graphic>
          <a:graphicData uri="http://schemas.openxmlformats.org/drawingml/2006/table">
            <a:tbl>
              <a:tblPr/>
              <a:tblGrid>
                <a:gridCol w="2431148">
                  <a:extLst>
                    <a:ext uri="{9D8B030D-6E8A-4147-A177-3AD203B41FA5}">
                      <a16:colId xmlns:a16="http://schemas.microsoft.com/office/drawing/2014/main" val="1907870194"/>
                    </a:ext>
                  </a:extLst>
                </a:gridCol>
                <a:gridCol w="2431148">
                  <a:extLst>
                    <a:ext uri="{9D8B030D-6E8A-4147-A177-3AD203B41FA5}">
                      <a16:colId xmlns:a16="http://schemas.microsoft.com/office/drawing/2014/main" val="2822407217"/>
                    </a:ext>
                  </a:extLst>
                </a:gridCol>
                <a:gridCol w="2431148">
                  <a:extLst>
                    <a:ext uri="{9D8B030D-6E8A-4147-A177-3AD203B41FA5}">
                      <a16:colId xmlns:a16="http://schemas.microsoft.com/office/drawing/2014/main" val="2304279172"/>
                    </a:ext>
                  </a:extLst>
                </a:gridCol>
              </a:tblGrid>
              <a:tr h="666074">
                <a:tc>
                  <a:txBody>
                    <a:bodyPr/>
                    <a:lstStyle/>
                    <a:p>
                      <a:pPr>
                        <a:buNone/>
                      </a:pPr>
                      <a:r>
                        <a:rPr lang="zh-CN" altLang="en-US"/>
                        <a:t>计算机架构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指针大小（字节）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能寻址的范围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3935358"/>
                  </a:ext>
                </a:extLst>
              </a:tr>
              <a:tr h="666074">
                <a:tc>
                  <a:txBody>
                    <a:bodyPr/>
                    <a:lstStyle/>
                    <a:p>
                      <a:pPr>
                        <a:buNone/>
                      </a:pPr>
                      <a:r>
                        <a:rPr lang="en-US" altLang="zh-CN"/>
                        <a:t>16 </a:t>
                      </a:r>
                      <a:r>
                        <a:rPr lang="zh-CN" altLang="en-US"/>
                        <a:t>位系统（古老）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a:t>2 </a:t>
                      </a:r>
                      <a:r>
                        <a:rPr lang="zh-CN" altLang="en-US"/>
                        <a:t>字节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64KB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5490368"/>
                  </a:ext>
                </a:extLst>
              </a:tr>
              <a:tr h="666074">
                <a:tc>
                  <a:txBody>
                    <a:bodyPr/>
                    <a:lstStyle/>
                    <a:p>
                      <a:pPr>
                        <a:buNone/>
                      </a:pPr>
                      <a:r>
                        <a:rPr lang="en-US" altLang="zh-CN"/>
                        <a:t>32 </a:t>
                      </a:r>
                      <a:r>
                        <a:rPr lang="zh-CN" altLang="en-US"/>
                        <a:t>位系统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a:t>4 </a:t>
                      </a:r>
                      <a:r>
                        <a:rPr lang="zh-CN" altLang="en-US"/>
                        <a:t>字节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4GB（2³² </a:t>
                      </a:r>
                      <a:r>
                        <a:rPr lang="zh-CN" altLang="en-US"/>
                        <a:t>个地址）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1590231"/>
                  </a:ext>
                </a:extLst>
              </a:tr>
              <a:tr h="666074">
                <a:tc>
                  <a:txBody>
                    <a:bodyPr/>
                    <a:lstStyle/>
                    <a:p>
                      <a:pPr>
                        <a:buNone/>
                      </a:pPr>
                      <a:r>
                        <a:rPr lang="en-US" altLang="zh-CN"/>
                        <a:t>64 </a:t>
                      </a:r>
                      <a:r>
                        <a:rPr lang="zh-CN" altLang="en-US"/>
                        <a:t>位系统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a:t>8 </a:t>
                      </a:r>
                      <a:r>
                        <a:rPr lang="zh-CN" altLang="en-US"/>
                        <a:t>字节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16EB（2⁶⁴ </a:t>
                      </a:r>
                      <a:r>
                        <a:rPr lang="zh-CN" altLang="en-US"/>
                        <a:t>个地址）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9209592"/>
                  </a:ext>
                </a:extLst>
              </a:tr>
            </a:tbl>
          </a:graphicData>
        </a:graphic>
      </p:graphicFrame>
    </p:spTree>
    <p:extLst>
      <p:ext uri="{BB962C8B-B14F-4D97-AF65-F5344CB8AC3E}">
        <p14:creationId xmlns:p14="http://schemas.microsoft.com/office/powerpoint/2010/main" val="263564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5731">
                                            <p:txEl>
                                              <p:pRg st="0" end="0"/>
                                            </p:txEl>
                                          </p:spTgt>
                                        </p:tgtEl>
                                        <p:attrNameLst>
                                          <p:attrName>style.visibility</p:attrName>
                                        </p:attrNameLst>
                                      </p:cBhvr>
                                      <p:to>
                                        <p:strVal val="visible"/>
                                      </p:to>
                                    </p:set>
                                    <p:anim calcmode="lin" valueType="num">
                                      <p:cBhvr additive="base">
                                        <p:cTn id="7" dur="500" fill="hold"/>
                                        <p:tgtEl>
                                          <p:spTgt spid="5857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573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1"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43F80C5-37E3-2559-2AD6-66797DB9E6B0}"/>
              </a:ext>
            </a:extLst>
          </p:cNvPr>
          <p:cNvSpPr>
            <a:spLocks noGrp="1" noChangeArrowheads="1"/>
          </p:cNvSpPr>
          <p:nvPr>
            <p:ph type="title"/>
          </p:nvPr>
        </p:nvSpPr>
        <p:spPr/>
        <p:txBody>
          <a:bodyPr/>
          <a:lstStyle/>
          <a:p>
            <a:pPr eaLnBrk="1" hangingPunct="1"/>
            <a:r>
              <a:rPr lang="zh-CN" altLang="en-US"/>
              <a:t>指针赋值</a:t>
            </a:r>
            <a:r>
              <a:rPr lang="en-US" altLang="zh-CN"/>
              <a:t>/</a:t>
            </a:r>
            <a:r>
              <a:rPr lang="zh-CN" altLang="en-US"/>
              <a:t>初始化</a:t>
            </a:r>
          </a:p>
        </p:txBody>
      </p:sp>
      <p:sp>
        <p:nvSpPr>
          <p:cNvPr id="586755" name="Rectangle 3">
            <a:extLst>
              <a:ext uri="{FF2B5EF4-FFF2-40B4-BE49-F238E27FC236}">
                <a16:creationId xmlns:a16="http://schemas.microsoft.com/office/drawing/2014/main" id="{8B3C9749-4495-6710-6EF0-FB2E5459B9E8}"/>
              </a:ext>
            </a:extLst>
          </p:cNvPr>
          <p:cNvSpPr>
            <a:spLocks noGrp="1" noChangeArrowheads="1"/>
          </p:cNvSpPr>
          <p:nvPr>
            <p:ph type="body" idx="1"/>
          </p:nvPr>
        </p:nvSpPr>
        <p:spPr/>
        <p:txBody>
          <a:bodyPr/>
          <a:lstStyle/>
          <a:p>
            <a:pPr eaLnBrk="1" hangingPunct="1"/>
            <a:r>
              <a:rPr lang="zh-CN" altLang="en-US"/>
              <a:t>例：</a:t>
            </a:r>
            <a:endParaRPr lang="en-US" altLang="zh-CN"/>
          </a:p>
          <a:p>
            <a:pPr marL="0" indent="0" eaLnBrk="1" hangingPunct="1">
              <a:buNone/>
            </a:pPr>
            <a:r>
              <a:rPr lang="en-US" altLang="zh-CN" sz="2000"/>
              <a:t>#include &lt;stdio.h&gt;</a:t>
            </a:r>
            <a:br>
              <a:rPr lang="zh-CN" altLang="en-US" sz="2000"/>
            </a:br>
            <a:r>
              <a:rPr lang="en-US" altLang="zh-CN" sz="2000"/>
              <a:t>int main() {</a:t>
            </a:r>
          </a:p>
          <a:p>
            <a:pPr marL="0" indent="0" eaLnBrk="1" hangingPunct="1">
              <a:buNone/>
            </a:pPr>
            <a:r>
              <a:rPr lang="en-US" altLang="zh-CN" sz="2000"/>
              <a:t>    int i, *ip;</a:t>
            </a:r>
          </a:p>
          <a:p>
            <a:pPr marL="0" indent="0" eaLnBrk="1" hangingPunct="1">
              <a:buNone/>
            </a:pPr>
            <a:r>
              <a:rPr lang="en-US" altLang="zh-CN" sz="2000"/>
              <a:t>    ip=&amp;i;	</a:t>
            </a:r>
            <a:r>
              <a:rPr lang="en-US" altLang="zh-CN" sz="2000">
                <a:solidFill>
                  <a:srgbClr val="00B050"/>
                </a:solidFill>
              </a:rPr>
              <a:t>//</a:t>
            </a:r>
            <a:r>
              <a:rPr lang="zh-CN" altLang="en-US" sz="2000">
                <a:solidFill>
                  <a:srgbClr val="00B050"/>
                </a:solidFill>
              </a:rPr>
              <a:t>对</a:t>
            </a:r>
            <a:r>
              <a:rPr lang="en-US" altLang="zh-CN" sz="2000">
                <a:solidFill>
                  <a:srgbClr val="00B050"/>
                </a:solidFill>
              </a:rPr>
              <a:t>ip</a:t>
            </a:r>
            <a:r>
              <a:rPr lang="zh-CN" altLang="en-US" sz="2000">
                <a:solidFill>
                  <a:srgbClr val="00B050"/>
                </a:solidFill>
              </a:rPr>
              <a:t>赋值，进行初始化</a:t>
            </a:r>
            <a:endParaRPr lang="en-US" altLang="zh-CN" sz="2000">
              <a:solidFill>
                <a:srgbClr val="00B050"/>
              </a:solidFill>
            </a:endParaRPr>
          </a:p>
          <a:p>
            <a:pPr marL="0" indent="0" eaLnBrk="1" hangingPunct="1">
              <a:buNone/>
            </a:pPr>
            <a:r>
              <a:rPr lang="en-US" altLang="zh-CN" sz="2000"/>
              <a:t>    *ip=1;</a:t>
            </a:r>
          </a:p>
          <a:p>
            <a:pPr marL="0" indent="0" eaLnBrk="1" hangingPunct="1">
              <a:buNone/>
            </a:pPr>
            <a:r>
              <a:rPr lang="en-US" altLang="zh-CN" sz="2000"/>
              <a:t>    ip=</a:t>
            </a:r>
            <a:r>
              <a:rPr lang="en-US" altLang="zh-CN" sz="2000">
                <a:solidFill>
                  <a:srgbClr val="0070C0"/>
                </a:solidFill>
              </a:rPr>
              <a:t>NULL</a:t>
            </a:r>
            <a:r>
              <a:rPr lang="en-US" altLang="zh-CN" sz="2000"/>
              <a:t>;</a:t>
            </a:r>
          </a:p>
          <a:p>
            <a:pPr marL="0" indent="0" eaLnBrk="1" hangingPunct="1">
              <a:buNone/>
            </a:pPr>
            <a:r>
              <a:rPr lang="en-US" altLang="zh-CN" sz="2000"/>
              <a:t>    </a:t>
            </a:r>
          </a:p>
          <a:p>
            <a:pPr marL="0" indent="0" eaLnBrk="1" hangingPunct="1">
              <a:buNone/>
            </a:pPr>
            <a:r>
              <a:rPr lang="en-US" altLang="zh-CN" sz="2000"/>
              <a:t>    return 0;</a:t>
            </a:r>
          </a:p>
          <a:p>
            <a:pPr marL="0" indent="0" eaLnBrk="1" hangingPunct="1">
              <a:buNone/>
            </a:pPr>
            <a:r>
              <a:rPr lang="en-US" altLang="zh-CN" sz="2000"/>
              <a:t>}</a:t>
            </a:r>
          </a:p>
        </p:txBody>
      </p:sp>
      <p:pic>
        <p:nvPicPr>
          <p:cNvPr id="2" name="图形 1" descr="教师 纯色填充">
            <a:hlinkClick r:id="rId4"/>
            <a:extLst>
              <a:ext uri="{FF2B5EF4-FFF2-40B4-BE49-F238E27FC236}">
                <a16:creationId xmlns:a16="http://schemas.microsoft.com/office/drawing/2014/main" id="{D9B2546C-4958-5313-5FFF-9062E62A76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16416" y="6064378"/>
            <a:ext cx="579309" cy="579309"/>
          </a:xfrm>
          <a:prstGeom prst="rect">
            <a:avLst/>
          </a:prstGeom>
        </p:spPr>
      </p:pic>
      <p:sp>
        <p:nvSpPr>
          <p:cNvPr id="4" name="文本框 3">
            <a:extLst>
              <a:ext uri="{FF2B5EF4-FFF2-40B4-BE49-F238E27FC236}">
                <a16:creationId xmlns:a16="http://schemas.microsoft.com/office/drawing/2014/main" id="{B08F3A41-982B-7F16-DE40-81332DE49049}"/>
              </a:ext>
            </a:extLst>
          </p:cNvPr>
          <p:cNvSpPr txBox="1"/>
          <p:nvPr/>
        </p:nvSpPr>
        <p:spPr>
          <a:xfrm>
            <a:off x="1208247" y="6064378"/>
            <a:ext cx="6753065" cy="523220"/>
          </a:xfrm>
          <a:prstGeom prst="rect">
            <a:avLst/>
          </a:prstGeom>
          <a:solidFill>
            <a:schemeClr val="accent6">
              <a:lumMod val="60000"/>
              <a:lumOff val="40000"/>
            </a:schemeClr>
          </a:solidFill>
        </p:spPr>
        <p:txBody>
          <a:bodyPr wrap="square">
            <a:spAutoFit/>
          </a:bodyPr>
          <a:lstStyle/>
          <a:p>
            <a:pPr algn="just"/>
            <a:r>
              <a:rPr lang="en-US" altLang="zh-CN" sz="1400" b="1" i="0">
                <a:solidFill>
                  <a:srgbClr val="273239"/>
                </a:solidFill>
                <a:effectLst/>
                <a:latin typeface="Nunito" pitchFamily="2" charset="0"/>
              </a:rPr>
              <a:t>Note:</a:t>
            </a:r>
            <a:r>
              <a:rPr lang="en-US" altLang="zh-CN" sz="1400" b="0" i="0">
                <a:solidFill>
                  <a:srgbClr val="273239"/>
                </a:solidFill>
                <a:effectLst/>
                <a:latin typeface="Nunito" pitchFamily="2" charset="0"/>
              </a:rPr>
              <a:t> It is recommended that the pointers should always be initialized to some value before starting using it. Otherwise, it may lead to number of errors.</a:t>
            </a:r>
            <a:endParaRPr kumimoji="1" lang="zh-CN" altLang="en-US" sz="1400" i="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6755">
                                            <p:txEl>
                                              <p:pRg st="0" end="0"/>
                                            </p:txEl>
                                          </p:spTgt>
                                        </p:tgtEl>
                                        <p:attrNameLst>
                                          <p:attrName>style.visibility</p:attrName>
                                        </p:attrNameLst>
                                      </p:cBhvr>
                                      <p:to>
                                        <p:strVal val="visible"/>
                                      </p:to>
                                    </p:set>
                                    <p:anim calcmode="lin" valueType="num">
                                      <p:cBhvr additive="base">
                                        <p:cTn id="7" dur="500" fill="hold"/>
                                        <p:tgtEl>
                                          <p:spTgt spid="5867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675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6755">
                                            <p:txEl>
                                              <p:pRg st="1" end="1"/>
                                            </p:txEl>
                                          </p:spTgt>
                                        </p:tgtEl>
                                        <p:attrNameLst>
                                          <p:attrName>style.visibility</p:attrName>
                                        </p:attrNameLst>
                                      </p:cBhvr>
                                      <p:to>
                                        <p:strVal val="visible"/>
                                      </p:to>
                                    </p:set>
                                    <p:anim calcmode="lin" valueType="num">
                                      <p:cBhvr additive="base">
                                        <p:cTn id="13" dur="500" fill="hold"/>
                                        <p:tgtEl>
                                          <p:spTgt spid="5867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8675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6755">
                                            <p:txEl>
                                              <p:pRg st="2" end="2"/>
                                            </p:txEl>
                                          </p:spTgt>
                                        </p:tgtEl>
                                        <p:attrNameLst>
                                          <p:attrName>style.visibility</p:attrName>
                                        </p:attrNameLst>
                                      </p:cBhvr>
                                      <p:to>
                                        <p:strVal val="visible"/>
                                      </p:to>
                                    </p:set>
                                    <p:anim calcmode="lin" valueType="num">
                                      <p:cBhvr additive="base">
                                        <p:cTn id="19" dur="500" fill="hold"/>
                                        <p:tgtEl>
                                          <p:spTgt spid="5867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675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86755">
                                            <p:txEl>
                                              <p:pRg st="3" end="3"/>
                                            </p:txEl>
                                          </p:spTgt>
                                        </p:tgtEl>
                                        <p:attrNameLst>
                                          <p:attrName>style.visibility</p:attrName>
                                        </p:attrNameLst>
                                      </p:cBhvr>
                                      <p:to>
                                        <p:strVal val="visible"/>
                                      </p:to>
                                    </p:set>
                                    <p:anim calcmode="lin" valueType="num">
                                      <p:cBhvr additive="base">
                                        <p:cTn id="25" dur="500" fill="hold"/>
                                        <p:tgtEl>
                                          <p:spTgt spid="5867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8675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86755">
                                            <p:txEl>
                                              <p:pRg st="4" end="4"/>
                                            </p:txEl>
                                          </p:spTgt>
                                        </p:tgtEl>
                                        <p:attrNameLst>
                                          <p:attrName>style.visibility</p:attrName>
                                        </p:attrNameLst>
                                      </p:cBhvr>
                                      <p:to>
                                        <p:strVal val="visible"/>
                                      </p:to>
                                    </p:set>
                                    <p:anim calcmode="lin" valueType="num">
                                      <p:cBhvr additive="base">
                                        <p:cTn id="31" dur="500" fill="hold"/>
                                        <p:tgtEl>
                                          <p:spTgt spid="58675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8675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86755">
                                            <p:txEl>
                                              <p:pRg st="5" end="5"/>
                                            </p:txEl>
                                          </p:spTgt>
                                        </p:tgtEl>
                                        <p:attrNameLst>
                                          <p:attrName>style.visibility</p:attrName>
                                        </p:attrNameLst>
                                      </p:cBhvr>
                                      <p:to>
                                        <p:strVal val="visible"/>
                                      </p:to>
                                    </p:set>
                                    <p:anim calcmode="lin" valueType="num">
                                      <p:cBhvr additive="base">
                                        <p:cTn id="37" dur="500" fill="hold"/>
                                        <p:tgtEl>
                                          <p:spTgt spid="58675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86755">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86755">
                                            <p:txEl>
                                              <p:pRg st="6" end="6"/>
                                            </p:txEl>
                                          </p:spTgt>
                                        </p:tgtEl>
                                        <p:attrNameLst>
                                          <p:attrName>style.visibility</p:attrName>
                                        </p:attrNameLst>
                                      </p:cBhvr>
                                      <p:to>
                                        <p:strVal val="visible"/>
                                      </p:to>
                                    </p:set>
                                    <p:anim calcmode="lin" valueType="num">
                                      <p:cBhvr additive="base">
                                        <p:cTn id="43" dur="500" fill="hold"/>
                                        <p:tgtEl>
                                          <p:spTgt spid="58675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86755">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whoosh.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86755">
                                            <p:txEl>
                                              <p:pRg st="7" end="7"/>
                                            </p:txEl>
                                          </p:spTgt>
                                        </p:tgtEl>
                                        <p:attrNameLst>
                                          <p:attrName>style.visibility</p:attrName>
                                        </p:attrNameLst>
                                      </p:cBhvr>
                                      <p:to>
                                        <p:strVal val="visible"/>
                                      </p:to>
                                    </p:set>
                                    <p:anim calcmode="lin" valueType="num">
                                      <p:cBhvr additive="base">
                                        <p:cTn id="49" dur="500" fill="hold"/>
                                        <p:tgtEl>
                                          <p:spTgt spid="58675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586755">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3" name="whoosh.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586755">
                                            <p:txEl>
                                              <p:pRg st="8" end="8"/>
                                            </p:txEl>
                                          </p:spTgt>
                                        </p:tgtEl>
                                        <p:attrNameLst>
                                          <p:attrName>style.visibility</p:attrName>
                                        </p:attrNameLst>
                                      </p:cBhvr>
                                      <p:to>
                                        <p:strVal val="visible"/>
                                      </p:to>
                                    </p:set>
                                    <p:anim calcmode="lin" valueType="num">
                                      <p:cBhvr additive="base">
                                        <p:cTn id="55" dur="500" fill="hold"/>
                                        <p:tgtEl>
                                          <p:spTgt spid="586755">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586755">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55"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FD9AD2-1C8E-E641-7A81-007A091ED9F9}"/>
              </a:ext>
            </a:extLst>
          </p:cNvPr>
          <p:cNvSpPr>
            <a:spLocks noGrp="1" noChangeArrowheads="1"/>
          </p:cNvSpPr>
          <p:nvPr>
            <p:ph type="title"/>
          </p:nvPr>
        </p:nvSpPr>
        <p:spPr/>
        <p:txBody>
          <a:bodyPr/>
          <a:lstStyle/>
          <a:p>
            <a:pPr eaLnBrk="1" hangingPunct="1"/>
            <a:r>
              <a:rPr lang="zh-CN" altLang="en-US"/>
              <a:t>指针图示</a:t>
            </a:r>
          </a:p>
        </p:txBody>
      </p:sp>
      <p:sp>
        <p:nvSpPr>
          <p:cNvPr id="3" name="Rectangle 3">
            <a:extLst>
              <a:ext uri="{FF2B5EF4-FFF2-40B4-BE49-F238E27FC236}">
                <a16:creationId xmlns:a16="http://schemas.microsoft.com/office/drawing/2014/main" id="{482D5C88-A009-9BCE-8F98-756D527FD7AF}"/>
              </a:ext>
            </a:extLst>
          </p:cNvPr>
          <p:cNvSpPr txBox="1">
            <a:spLocks noChangeArrowheads="1"/>
          </p:cNvSpPr>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zh-CN" altLang="en-US" b="0" i="0"/>
              <a:t>例：</a:t>
            </a:r>
            <a:endParaRPr lang="en-US" altLang="zh-CN" b="0" i="0"/>
          </a:p>
          <a:p>
            <a:pPr marL="0" indent="0" eaLnBrk="1" hangingPunct="1">
              <a:buFont typeface="Wingdings" pitchFamily="2" charset="2"/>
              <a:buNone/>
            </a:pPr>
            <a:r>
              <a:rPr lang="en-US" altLang="zh-CN" sz="2000" b="0" i="0"/>
              <a:t>#include &lt;stdio.h&gt;</a:t>
            </a:r>
            <a:br>
              <a:rPr lang="zh-CN" altLang="en-US" sz="2000" b="0" i="0"/>
            </a:br>
            <a:r>
              <a:rPr lang="en-US" altLang="zh-CN" sz="2000" b="0" i="0"/>
              <a:t>int main() {</a:t>
            </a:r>
          </a:p>
          <a:p>
            <a:pPr marL="0" indent="0" eaLnBrk="1" hangingPunct="1">
              <a:buFont typeface="Wingdings" pitchFamily="2" charset="2"/>
              <a:buNone/>
            </a:pPr>
            <a:r>
              <a:rPr lang="en-US" altLang="zh-CN" sz="2000" b="0" i="0"/>
              <a:t>    int i, *ip;</a:t>
            </a:r>
          </a:p>
          <a:p>
            <a:pPr marL="0" indent="0" eaLnBrk="1" hangingPunct="1">
              <a:buFont typeface="Wingdings" pitchFamily="2" charset="2"/>
              <a:buNone/>
            </a:pPr>
            <a:r>
              <a:rPr lang="en-US" altLang="zh-CN" sz="2000" b="0" i="0"/>
              <a:t>    ip=&amp;i;</a:t>
            </a:r>
          </a:p>
          <a:p>
            <a:pPr marL="0" indent="0" eaLnBrk="1" hangingPunct="1">
              <a:buFont typeface="Wingdings" pitchFamily="2" charset="2"/>
              <a:buNone/>
            </a:pPr>
            <a:r>
              <a:rPr lang="en-US" altLang="zh-CN" sz="2000" b="0" i="0"/>
              <a:t>    *ip=1;</a:t>
            </a:r>
          </a:p>
          <a:p>
            <a:pPr marL="0" indent="0" eaLnBrk="1" hangingPunct="1">
              <a:buFont typeface="Wingdings" pitchFamily="2" charset="2"/>
              <a:buNone/>
            </a:pPr>
            <a:r>
              <a:rPr lang="en-US" altLang="zh-CN" sz="2000" b="0" i="0"/>
              <a:t>    ip=NULL;</a:t>
            </a:r>
          </a:p>
          <a:p>
            <a:pPr marL="0" indent="0" eaLnBrk="1" hangingPunct="1">
              <a:buFont typeface="Wingdings" pitchFamily="2" charset="2"/>
              <a:buNone/>
            </a:pPr>
            <a:r>
              <a:rPr lang="en-US" altLang="zh-CN" sz="2000" b="0" i="0"/>
              <a:t>    </a:t>
            </a:r>
          </a:p>
          <a:p>
            <a:pPr marL="0" indent="0" eaLnBrk="1" hangingPunct="1">
              <a:buFont typeface="Wingdings" pitchFamily="2" charset="2"/>
              <a:buNone/>
            </a:pPr>
            <a:r>
              <a:rPr lang="en-US" altLang="zh-CN" sz="2000" b="0" i="0"/>
              <a:t>    return 0;</a:t>
            </a:r>
          </a:p>
          <a:p>
            <a:pPr marL="0" indent="0" eaLnBrk="1" hangingPunct="1">
              <a:buFont typeface="Wingdings" pitchFamily="2" charset="2"/>
              <a:buNone/>
            </a:pPr>
            <a:r>
              <a:rPr lang="en-US" altLang="zh-CN" sz="2000" b="0" i="0"/>
              <a:t>}</a:t>
            </a:r>
          </a:p>
        </p:txBody>
      </p:sp>
      <p:pic>
        <p:nvPicPr>
          <p:cNvPr id="4" name="图片 3">
            <a:extLst>
              <a:ext uri="{FF2B5EF4-FFF2-40B4-BE49-F238E27FC236}">
                <a16:creationId xmlns:a16="http://schemas.microsoft.com/office/drawing/2014/main" id="{762DCBF7-0A48-9C17-D771-159046C1F1E3}"/>
              </a:ext>
            </a:extLst>
          </p:cNvPr>
          <p:cNvPicPr>
            <a:picLocks noChangeAspect="1"/>
          </p:cNvPicPr>
          <p:nvPr/>
        </p:nvPicPr>
        <p:blipFill>
          <a:blip r:embed="rId3"/>
          <a:stretch>
            <a:fillRect/>
          </a:stretch>
        </p:blipFill>
        <p:spPr>
          <a:xfrm>
            <a:off x="4355976" y="2006690"/>
            <a:ext cx="1778000" cy="2032000"/>
          </a:xfrm>
          <a:prstGeom prst="rect">
            <a:avLst/>
          </a:prstGeom>
        </p:spPr>
      </p:pic>
      <p:pic>
        <p:nvPicPr>
          <p:cNvPr id="5" name="图片 4">
            <a:extLst>
              <a:ext uri="{FF2B5EF4-FFF2-40B4-BE49-F238E27FC236}">
                <a16:creationId xmlns:a16="http://schemas.microsoft.com/office/drawing/2014/main" id="{A24A59ED-689B-99FB-853E-F817479966BC}"/>
              </a:ext>
            </a:extLst>
          </p:cNvPr>
          <p:cNvPicPr>
            <a:picLocks noChangeAspect="1"/>
          </p:cNvPicPr>
          <p:nvPr/>
        </p:nvPicPr>
        <p:blipFill>
          <a:blip r:embed="rId4"/>
          <a:stretch>
            <a:fillRect/>
          </a:stretch>
        </p:blipFill>
        <p:spPr>
          <a:xfrm>
            <a:off x="6728370" y="2003318"/>
            <a:ext cx="1739900" cy="2019300"/>
          </a:xfrm>
          <a:prstGeom prst="rect">
            <a:avLst/>
          </a:prstGeom>
        </p:spPr>
      </p:pic>
      <p:pic>
        <p:nvPicPr>
          <p:cNvPr id="6" name="图片 5">
            <a:extLst>
              <a:ext uri="{FF2B5EF4-FFF2-40B4-BE49-F238E27FC236}">
                <a16:creationId xmlns:a16="http://schemas.microsoft.com/office/drawing/2014/main" id="{E0BE17BF-403A-4814-DA37-9C48E869BE8E}"/>
              </a:ext>
            </a:extLst>
          </p:cNvPr>
          <p:cNvPicPr>
            <a:picLocks noChangeAspect="1"/>
          </p:cNvPicPr>
          <p:nvPr/>
        </p:nvPicPr>
        <p:blipFill>
          <a:blip r:embed="rId5"/>
          <a:stretch>
            <a:fillRect/>
          </a:stretch>
        </p:blipFill>
        <p:spPr>
          <a:xfrm>
            <a:off x="4355976" y="4230134"/>
            <a:ext cx="1727200" cy="2019300"/>
          </a:xfrm>
          <a:prstGeom prst="rect">
            <a:avLst/>
          </a:prstGeom>
        </p:spPr>
      </p:pic>
      <p:pic>
        <p:nvPicPr>
          <p:cNvPr id="7" name="图片 6">
            <a:extLst>
              <a:ext uri="{FF2B5EF4-FFF2-40B4-BE49-F238E27FC236}">
                <a16:creationId xmlns:a16="http://schemas.microsoft.com/office/drawing/2014/main" id="{07E3E483-C621-C9F9-0C31-2D1614794E9A}"/>
              </a:ext>
            </a:extLst>
          </p:cNvPr>
          <p:cNvPicPr>
            <a:picLocks noChangeAspect="1"/>
          </p:cNvPicPr>
          <p:nvPr/>
        </p:nvPicPr>
        <p:blipFill>
          <a:blip r:embed="rId6"/>
          <a:stretch>
            <a:fillRect/>
          </a:stretch>
        </p:blipFill>
        <p:spPr>
          <a:xfrm>
            <a:off x="6701701" y="4230134"/>
            <a:ext cx="1765300" cy="2070100"/>
          </a:xfrm>
          <a:prstGeom prst="rect">
            <a:avLst/>
          </a:prstGeom>
        </p:spPr>
      </p:pic>
      <p:sp>
        <p:nvSpPr>
          <p:cNvPr id="9" name="文本框 8">
            <a:extLst>
              <a:ext uri="{FF2B5EF4-FFF2-40B4-BE49-F238E27FC236}">
                <a16:creationId xmlns:a16="http://schemas.microsoft.com/office/drawing/2014/main" id="{15608E06-1F26-6836-E993-4DAFD120E882}"/>
              </a:ext>
            </a:extLst>
          </p:cNvPr>
          <p:cNvSpPr txBox="1"/>
          <p:nvPr/>
        </p:nvSpPr>
        <p:spPr>
          <a:xfrm>
            <a:off x="1043608" y="3255357"/>
            <a:ext cx="504056" cy="369332"/>
          </a:xfrm>
          <a:prstGeom prst="rect">
            <a:avLst/>
          </a:prstGeom>
          <a:noFill/>
        </p:spPr>
        <p:txBody>
          <a:bodyPr wrap="square">
            <a:spAutoFit/>
          </a:bodyPr>
          <a:lstStyle/>
          <a:p>
            <a:r>
              <a:rPr lang="en-US" altLang="zh-CN" sz="1800" b="0" i="0">
                <a:solidFill>
                  <a:srgbClr val="C00000"/>
                </a:solidFill>
              </a:rPr>
              <a:t>①</a:t>
            </a:r>
            <a:endParaRPr lang="zh-CN" altLang="en-US" sz="1800">
              <a:solidFill>
                <a:srgbClr val="C00000"/>
              </a:solidFill>
            </a:endParaRPr>
          </a:p>
        </p:txBody>
      </p:sp>
      <p:sp>
        <p:nvSpPr>
          <p:cNvPr id="10" name="文本框 9">
            <a:extLst>
              <a:ext uri="{FF2B5EF4-FFF2-40B4-BE49-F238E27FC236}">
                <a16:creationId xmlns:a16="http://schemas.microsoft.com/office/drawing/2014/main" id="{92F9BEBF-35A6-555B-42D9-A83BBC0F1855}"/>
              </a:ext>
            </a:extLst>
          </p:cNvPr>
          <p:cNvSpPr txBox="1"/>
          <p:nvPr/>
        </p:nvSpPr>
        <p:spPr>
          <a:xfrm>
            <a:off x="1044242" y="3624689"/>
            <a:ext cx="504056" cy="369332"/>
          </a:xfrm>
          <a:prstGeom prst="rect">
            <a:avLst/>
          </a:prstGeom>
          <a:noFill/>
        </p:spPr>
        <p:txBody>
          <a:bodyPr wrap="square">
            <a:spAutoFit/>
          </a:bodyPr>
          <a:lstStyle/>
          <a:p>
            <a:r>
              <a:rPr lang="en-US" altLang="zh-CN" sz="1800" b="0" i="0">
                <a:solidFill>
                  <a:srgbClr val="C00000"/>
                </a:solidFill>
              </a:rPr>
              <a:t>②</a:t>
            </a:r>
            <a:endParaRPr lang="zh-CN" altLang="en-US" sz="1800">
              <a:solidFill>
                <a:srgbClr val="C00000"/>
              </a:solidFill>
            </a:endParaRPr>
          </a:p>
        </p:txBody>
      </p:sp>
      <p:sp>
        <p:nvSpPr>
          <p:cNvPr id="11" name="文本框 10">
            <a:extLst>
              <a:ext uri="{FF2B5EF4-FFF2-40B4-BE49-F238E27FC236}">
                <a16:creationId xmlns:a16="http://schemas.microsoft.com/office/drawing/2014/main" id="{B6D9E828-30A3-5FDF-B850-C935161565E9}"/>
              </a:ext>
            </a:extLst>
          </p:cNvPr>
          <p:cNvSpPr txBox="1"/>
          <p:nvPr/>
        </p:nvSpPr>
        <p:spPr>
          <a:xfrm>
            <a:off x="1044242" y="4002089"/>
            <a:ext cx="504056" cy="369332"/>
          </a:xfrm>
          <a:prstGeom prst="rect">
            <a:avLst/>
          </a:prstGeom>
          <a:noFill/>
        </p:spPr>
        <p:txBody>
          <a:bodyPr wrap="square">
            <a:spAutoFit/>
          </a:bodyPr>
          <a:lstStyle/>
          <a:p>
            <a:r>
              <a:rPr lang="en-US" altLang="zh-CN" sz="1800" b="0" i="0">
                <a:solidFill>
                  <a:srgbClr val="C00000"/>
                </a:solidFill>
              </a:rPr>
              <a:t>③</a:t>
            </a:r>
            <a:endParaRPr lang="zh-CN" altLang="en-US" sz="1800">
              <a:solidFill>
                <a:srgbClr val="C00000"/>
              </a:solidFill>
            </a:endParaRPr>
          </a:p>
        </p:txBody>
      </p:sp>
      <p:sp>
        <p:nvSpPr>
          <p:cNvPr id="12" name="文本框 11">
            <a:extLst>
              <a:ext uri="{FF2B5EF4-FFF2-40B4-BE49-F238E27FC236}">
                <a16:creationId xmlns:a16="http://schemas.microsoft.com/office/drawing/2014/main" id="{DC7877F4-C30F-9BDD-4E70-341FC794A94C}"/>
              </a:ext>
            </a:extLst>
          </p:cNvPr>
          <p:cNvSpPr txBox="1"/>
          <p:nvPr/>
        </p:nvSpPr>
        <p:spPr>
          <a:xfrm>
            <a:off x="1044242" y="4363353"/>
            <a:ext cx="504056" cy="369332"/>
          </a:xfrm>
          <a:prstGeom prst="rect">
            <a:avLst/>
          </a:prstGeom>
          <a:noFill/>
        </p:spPr>
        <p:txBody>
          <a:bodyPr wrap="square">
            <a:spAutoFit/>
          </a:bodyPr>
          <a:lstStyle/>
          <a:p>
            <a:r>
              <a:rPr lang="en-US" altLang="zh-CN" sz="1800" b="0" i="0">
                <a:solidFill>
                  <a:srgbClr val="C00000"/>
                </a:solidFill>
              </a:rPr>
              <a:t>④</a:t>
            </a:r>
            <a:endParaRPr lang="zh-CN" altLang="en-US" sz="1800">
              <a:solidFill>
                <a:srgbClr val="C00000"/>
              </a:solidFill>
            </a:endParaRPr>
          </a:p>
        </p:txBody>
      </p:sp>
      <p:sp>
        <p:nvSpPr>
          <p:cNvPr id="13" name="文本框 12">
            <a:extLst>
              <a:ext uri="{FF2B5EF4-FFF2-40B4-BE49-F238E27FC236}">
                <a16:creationId xmlns:a16="http://schemas.microsoft.com/office/drawing/2014/main" id="{FE460BF2-EF94-873A-922A-CADD589F19EF}"/>
              </a:ext>
            </a:extLst>
          </p:cNvPr>
          <p:cNvSpPr txBox="1"/>
          <p:nvPr/>
        </p:nvSpPr>
        <p:spPr>
          <a:xfrm>
            <a:off x="4543400" y="1999990"/>
            <a:ext cx="504056" cy="369332"/>
          </a:xfrm>
          <a:prstGeom prst="rect">
            <a:avLst/>
          </a:prstGeom>
          <a:noFill/>
        </p:spPr>
        <p:txBody>
          <a:bodyPr wrap="square">
            <a:spAutoFit/>
          </a:bodyPr>
          <a:lstStyle/>
          <a:p>
            <a:r>
              <a:rPr lang="en-US" altLang="zh-CN" sz="1800" b="0" i="0">
                <a:solidFill>
                  <a:srgbClr val="C00000"/>
                </a:solidFill>
              </a:rPr>
              <a:t>①</a:t>
            </a:r>
            <a:endParaRPr lang="zh-CN" altLang="en-US" sz="1800">
              <a:solidFill>
                <a:srgbClr val="C00000"/>
              </a:solidFill>
            </a:endParaRPr>
          </a:p>
        </p:txBody>
      </p:sp>
      <p:sp>
        <p:nvSpPr>
          <p:cNvPr id="14" name="文本框 13">
            <a:extLst>
              <a:ext uri="{FF2B5EF4-FFF2-40B4-BE49-F238E27FC236}">
                <a16:creationId xmlns:a16="http://schemas.microsoft.com/office/drawing/2014/main" id="{06748EC4-2F43-D6D3-A044-307C1541AC15}"/>
              </a:ext>
            </a:extLst>
          </p:cNvPr>
          <p:cNvSpPr txBox="1"/>
          <p:nvPr/>
        </p:nvSpPr>
        <p:spPr>
          <a:xfrm>
            <a:off x="6948264" y="1999990"/>
            <a:ext cx="504056" cy="369332"/>
          </a:xfrm>
          <a:prstGeom prst="rect">
            <a:avLst/>
          </a:prstGeom>
          <a:noFill/>
        </p:spPr>
        <p:txBody>
          <a:bodyPr wrap="square">
            <a:spAutoFit/>
          </a:bodyPr>
          <a:lstStyle/>
          <a:p>
            <a:r>
              <a:rPr lang="en-US" altLang="zh-CN" sz="1800" b="0" i="0">
                <a:solidFill>
                  <a:srgbClr val="C00000"/>
                </a:solidFill>
              </a:rPr>
              <a:t>②</a:t>
            </a:r>
            <a:endParaRPr lang="zh-CN" altLang="en-US" sz="1800">
              <a:solidFill>
                <a:srgbClr val="C00000"/>
              </a:solidFill>
            </a:endParaRPr>
          </a:p>
        </p:txBody>
      </p:sp>
      <p:sp>
        <p:nvSpPr>
          <p:cNvPr id="15" name="文本框 14">
            <a:extLst>
              <a:ext uri="{FF2B5EF4-FFF2-40B4-BE49-F238E27FC236}">
                <a16:creationId xmlns:a16="http://schemas.microsoft.com/office/drawing/2014/main" id="{AE1F796A-14AC-99C8-AB61-CF28EDDD240C}"/>
              </a:ext>
            </a:extLst>
          </p:cNvPr>
          <p:cNvSpPr txBox="1"/>
          <p:nvPr/>
        </p:nvSpPr>
        <p:spPr>
          <a:xfrm>
            <a:off x="4543400" y="4230134"/>
            <a:ext cx="504056" cy="369332"/>
          </a:xfrm>
          <a:prstGeom prst="rect">
            <a:avLst/>
          </a:prstGeom>
          <a:noFill/>
        </p:spPr>
        <p:txBody>
          <a:bodyPr wrap="square">
            <a:spAutoFit/>
          </a:bodyPr>
          <a:lstStyle/>
          <a:p>
            <a:r>
              <a:rPr lang="en-US" altLang="zh-CN" sz="1800" b="0" i="0">
                <a:solidFill>
                  <a:srgbClr val="C00000"/>
                </a:solidFill>
              </a:rPr>
              <a:t>③</a:t>
            </a:r>
            <a:endParaRPr lang="zh-CN" altLang="en-US" sz="1800">
              <a:solidFill>
                <a:srgbClr val="C00000"/>
              </a:solidFill>
            </a:endParaRPr>
          </a:p>
        </p:txBody>
      </p:sp>
      <p:sp>
        <p:nvSpPr>
          <p:cNvPr id="16" name="文本框 15">
            <a:extLst>
              <a:ext uri="{FF2B5EF4-FFF2-40B4-BE49-F238E27FC236}">
                <a16:creationId xmlns:a16="http://schemas.microsoft.com/office/drawing/2014/main" id="{75387F12-6E1A-F41A-21B7-D15E87A74168}"/>
              </a:ext>
            </a:extLst>
          </p:cNvPr>
          <p:cNvSpPr txBox="1"/>
          <p:nvPr/>
        </p:nvSpPr>
        <p:spPr>
          <a:xfrm>
            <a:off x="6948264" y="4212411"/>
            <a:ext cx="504056" cy="369332"/>
          </a:xfrm>
          <a:prstGeom prst="rect">
            <a:avLst/>
          </a:prstGeom>
          <a:noFill/>
        </p:spPr>
        <p:txBody>
          <a:bodyPr wrap="square">
            <a:spAutoFit/>
          </a:bodyPr>
          <a:lstStyle/>
          <a:p>
            <a:r>
              <a:rPr lang="en-US" altLang="zh-CN" sz="1800" b="0" i="0">
                <a:solidFill>
                  <a:srgbClr val="C00000"/>
                </a:solidFill>
              </a:rPr>
              <a:t>④</a:t>
            </a:r>
            <a:endParaRPr lang="zh-CN" altLang="en-US" sz="18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whoosh.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1DD5392-5E3F-29BF-940D-672C6DB685C5}"/>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8847747A-4AD1-F035-E6AE-691014A8EEE6}"/>
              </a:ext>
            </a:extLst>
          </p:cNvPr>
          <p:cNvSpPr>
            <a:spLocks noGrp="1" noChangeArrowheads="1"/>
          </p:cNvSpPr>
          <p:nvPr>
            <p:ph type="title"/>
          </p:nvPr>
        </p:nvSpPr>
        <p:spPr/>
        <p:txBody>
          <a:bodyPr/>
          <a:lstStyle/>
          <a:p>
            <a:pPr eaLnBrk="1" hangingPunct="1"/>
            <a:r>
              <a:rPr lang="zh-CN" altLang="en-US"/>
              <a:t>引用指针变量所指的变量</a:t>
            </a:r>
          </a:p>
        </p:txBody>
      </p:sp>
      <p:sp>
        <p:nvSpPr>
          <p:cNvPr id="589827" name="Rectangle 3">
            <a:extLst>
              <a:ext uri="{FF2B5EF4-FFF2-40B4-BE49-F238E27FC236}">
                <a16:creationId xmlns:a16="http://schemas.microsoft.com/office/drawing/2014/main" id="{2B5B8BF5-AD77-4421-D171-9E5D172941CD}"/>
              </a:ext>
            </a:extLst>
          </p:cNvPr>
          <p:cNvSpPr>
            <a:spLocks noGrp="1" noChangeArrowheads="1"/>
          </p:cNvSpPr>
          <p:nvPr>
            <p:ph type="body" idx="1"/>
          </p:nvPr>
        </p:nvSpPr>
        <p:spPr/>
        <p:txBody>
          <a:bodyPr/>
          <a:lstStyle/>
          <a:p>
            <a:pPr eaLnBrk="1" hangingPunct="1"/>
            <a:r>
              <a:rPr lang="en-US" altLang="zh-CN" sz="2000">
                <a:solidFill>
                  <a:srgbClr val="0070C0"/>
                </a:solidFill>
              </a:rPr>
              <a:t>Dereferencing</a:t>
            </a:r>
            <a:r>
              <a:rPr lang="en-US" altLang="zh-CN" sz="2000"/>
              <a:t> a pointer is the process of accessing the value stored in the memory address specified in the pointer.</a:t>
            </a:r>
          </a:p>
          <a:p>
            <a:pPr eaLnBrk="1" hangingPunct="1"/>
            <a:r>
              <a:rPr lang="en-US" altLang="zh-CN" sz="2000"/>
              <a:t>We use the same ( </a:t>
            </a:r>
            <a:r>
              <a:rPr lang="en-US" altLang="zh-CN" sz="2000">
                <a:solidFill>
                  <a:srgbClr val="0066FF"/>
                </a:solidFill>
              </a:rPr>
              <a:t>*</a:t>
            </a:r>
            <a:r>
              <a:rPr lang="en-US" altLang="zh-CN" sz="2000"/>
              <a:t> ) dereferencing operator that we used in the pointer declaration.</a:t>
            </a:r>
          </a:p>
          <a:p>
            <a:pPr lvl="1" eaLnBrk="1" hangingPunct="1"/>
            <a:r>
              <a:rPr lang="en-US" altLang="zh-CN" sz="1600"/>
              <a:t>int</a:t>
            </a:r>
            <a:r>
              <a:rPr lang="zh-CN" altLang="en-US" sz="1600"/>
              <a:t> </a:t>
            </a:r>
            <a:r>
              <a:rPr lang="en-US" altLang="zh-CN" sz="1600"/>
              <a:t>Var;</a:t>
            </a:r>
          </a:p>
          <a:p>
            <a:pPr lvl="1" eaLnBrk="1" hangingPunct="1"/>
            <a:r>
              <a:rPr lang="en-US" altLang="zh-CN" sz="1600"/>
              <a:t>int *ptr;</a:t>
            </a:r>
          </a:p>
          <a:p>
            <a:pPr lvl="1" eaLnBrk="1" hangingPunct="1"/>
            <a:r>
              <a:rPr lang="en-US" altLang="zh-CN" sz="1600"/>
              <a:t>prt = &amp;Var;</a:t>
            </a:r>
          </a:p>
          <a:p>
            <a:pPr lvl="1" eaLnBrk="1" hangingPunct="1"/>
            <a:r>
              <a:rPr lang="en-US" altLang="zh-CN" sz="1600">
                <a:solidFill>
                  <a:srgbClr val="0066FF"/>
                </a:solidFill>
              </a:rPr>
              <a:t>*prt </a:t>
            </a:r>
            <a:r>
              <a:rPr lang="en-US" altLang="zh-CN" sz="1600"/>
              <a:t>= 10;</a:t>
            </a:r>
          </a:p>
        </p:txBody>
      </p:sp>
      <p:pic>
        <p:nvPicPr>
          <p:cNvPr id="143364" name="Picture 4" descr="dereferencing a pointer in c">
            <a:extLst>
              <a:ext uri="{FF2B5EF4-FFF2-40B4-BE49-F238E27FC236}">
                <a16:creationId xmlns:a16="http://schemas.microsoft.com/office/drawing/2014/main" id="{F5C704D9-E5E9-2A2B-D017-CE0D572248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1880" y="3512846"/>
            <a:ext cx="5477176" cy="227835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063AA823-F6E9-9BB3-9155-6B9BAAED1806}"/>
              </a:ext>
            </a:extLst>
          </p:cNvPr>
          <p:cNvSpPr txBox="1"/>
          <p:nvPr/>
        </p:nvSpPr>
        <p:spPr>
          <a:xfrm>
            <a:off x="3995936" y="5919502"/>
            <a:ext cx="4572000" cy="307777"/>
          </a:xfrm>
          <a:prstGeom prst="rect">
            <a:avLst/>
          </a:prstGeom>
          <a:noFill/>
        </p:spPr>
        <p:txBody>
          <a:bodyPr wrap="square">
            <a:spAutoFit/>
          </a:bodyPr>
          <a:lstStyle/>
          <a:p>
            <a:pPr algn="ctr"/>
            <a:r>
              <a:rPr lang="en-US" altLang="zh-CN" sz="1400" b="0" i="1">
                <a:solidFill>
                  <a:srgbClr val="666666"/>
                </a:solidFill>
                <a:effectLst/>
                <a:latin typeface="Nunito" pitchFamily="2" charset="0"/>
              </a:rPr>
              <a:t>Dereferencing a Pointer in C</a:t>
            </a:r>
            <a:endParaRPr lang="zh-CN" altLang="en-US" sz="1400"/>
          </a:p>
        </p:txBody>
      </p:sp>
      <p:sp>
        <p:nvSpPr>
          <p:cNvPr id="6" name="文本框 5">
            <a:extLst>
              <a:ext uri="{FF2B5EF4-FFF2-40B4-BE49-F238E27FC236}">
                <a16:creationId xmlns:a16="http://schemas.microsoft.com/office/drawing/2014/main" id="{C60D8C5F-A75D-4305-597A-EF424444B008}"/>
              </a:ext>
            </a:extLst>
          </p:cNvPr>
          <p:cNvSpPr txBox="1"/>
          <p:nvPr/>
        </p:nvSpPr>
        <p:spPr>
          <a:xfrm>
            <a:off x="3248545" y="6528271"/>
            <a:ext cx="4572000" cy="230832"/>
          </a:xfrm>
          <a:prstGeom prst="rect">
            <a:avLst/>
          </a:prstGeom>
          <a:noFill/>
        </p:spPr>
        <p:txBody>
          <a:bodyPr wrap="square">
            <a:spAutoFit/>
          </a:bodyPr>
          <a:lstStyle/>
          <a:p>
            <a:r>
              <a:rPr lang="zh-CN" altLang="en-US" sz="900" b="0" i="0">
                <a:solidFill>
                  <a:schemeClr val="bg1">
                    <a:lumMod val="50000"/>
                  </a:schemeClr>
                </a:solidFill>
              </a:rPr>
              <a:t>https://www.geeksforgeeks.org/c-pointers/?ref=shm</a:t>
            </a:r>
          </a:p>
        </p:txBody>
      </p:sp>
    </p:spTree>
    <p:extLst>
      <p:ext uri="{BB962C8B-B14F-4D97-AF65-F5344CB8AC3E}">
        <p14:creationId xmlns:p14="http://schemas.microsoft.com/office/powerpoint/2010/main" val="1072046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9827">
                                            <p:txEl>
                                              <p:pRg st="0" end="0"/>
                                            </p:txEl>
                                          </p:spTgt>
                                        </p:tgtEl>
                                        <p:attrNameLst>
                                          <p:attrName>style.visibility</p:attrName>
                                        </p:attrNameLst>
                                      </p:cBhvr>
                                      <p:to>
                                        <p:strVal val="visible"/>
                                      </p:to>
                                    </p:set>
                                    <p:anim calcmode="lin" valueType="num">
                                      <p:cBhvr additive="base">
                                        <p:cTn id="7" dur="500" fill="hold"/>
                                        <p:tgtEl>
                                          <p:spTgt spid="5898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982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9827">
                                            <p:txEl>
                                              <p:pRg st="1" end="1"/>
                                            </p:txEl>
                                          </p:spTgt>
                                        </p:tgtEl>
                                        <p:attrNameLst>
                                          <p:attrName>style.visibility</p:attrName>
                                        </p:attrNameLst>
                                      </p:cBhvr>
                                      <p:to>
                                        <p:strVal val="visible"/>
                                      </p:to>
                                    </p:set>
                                    <p:anim calcmode="lin" valueType="num">
                                      <p:cBhvr additive="base">
                                        <p:cTn id="13" dur="500" fill="hold"/>
                                        <p:tgtEl>
                                          <p:spTgt spid="5898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8982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par>
                                <p:cTn id="15" presetID="2" presetClass="entr" presetSubtype="8" fill="hold" grpId="0" nodeType="withEffect">
                                  <p:stCondLst>
                                    <p:cond delay="0"/>
                                  </p:stCondLst>
                                  <p:childTnLst>
                                    <p:set>
                                      <p:cBhvr>
                                        <p:cTn id="16" dur="1" fill="hold">
                                          <p:stCondLst>
                                            <p:cond delay="0"/>
                                          </p:stCondLst>
                                        </p:cTn>
                                        <p:tgtEl>
                                          <p:spTgt spid="589827">
                                            <p:txEl>
                                              <p:pRg st="2" end="2"/>
                                            </p:txEl>
                                          </p:spTgt>
                                        </p:tgtEl>
                                        <p:attrNameLst>
                                          <p:attrName>style.visibility</p:attrName>
                                        </p:attrNameLst>
                                      </p:cBhvr>
                                      <p:to>
                                        <p:strVal val="visible"/>
                                      </p:to>
                                    </p:set>
                                    <p:anim calcmode="lin" valueType="num">
                                      <p:cBhvr additive="base">
                                        <p:cTn id="17" dur="500" fill="hold"/>
                                        <p:tgtEl>
                                          <p:spTgt spid="58982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8982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par>
                                <p:cTn id="19" presetID="2" presetClass="entr" presetSubtype="8" fill="hold" grpId="0" nodeType="withEffect">
                                  <p:stCondLst>
                                    <p:cond delay="0"/>
                                  </p:stCondLst>
                                  <p:childTnLst>
                                    <p:set>
                                      <p:cBhvr>
                                        <p:cTn id="20" dur="1" fill="hold">
                                          <p:stCondLst>
                                            <p:cond delay="0"/>
                                          </p:stCondLst>
                                        </p:cTn>
                                        <p:tgtEl>
                                          <p:spTgt spid="589827">
                                            <p:txEl>
                                              <p:pRg st="3" end="3"/>
                                            </p:txEl>
                                          </p:spTgt>
                                        </p:tgtEl>
                                        <p:attrNameLst>
                                          <p:attrName>style.visibility</p:attrName>
                                        </p:attrNameLst>
                                      </p:cBhvr>
                                      <p:to>
                                        <p:strVal val="visible"/>
                                      </p:to>
                                    </p:set>
                                    <p:anim calcmode="lin" valueType="num">
                                      <p:cBhvr additive="base">
                                        <p:cTn id="21" dur="500" fill="hold"/>
                                        <p:tgtEl>
                                          <p:spTgt spid="589827">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8982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whoosh.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589827">
                                            <p:txEl>
                                              <p:pRg st="4" end="4"/>
                                            </p:txEl>
                                          </p:spTgt>
                                        </p:tgtEl>
                                        <p:attrNameLst>
                                          <p:attrName>style.visibility</p:attrName>
                                        </p:attrNameLst>
                                      </p:cBhvr>
                                      <p:to>
                                        <p:strVal val="visible"/>
                                      </p:to>
                                    </p:set>
                                    <p:anim calcmode="lin" valueType="num">
                                      <p:cBhvr additive="base">
                                        <p:cTn id="25" dur="500" fill="hold"/>
                                        <p:tgtEl>
                                          <p:spTgt spid="58982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8982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par>
                                <p:cTn id="27" presetID="2" presetClass="entr" presetSubtype="8" fill="hold" grpId="0" nodeType="withEffect">
                                  <p:stCondLst>
                                    <p:cond delay="0"/>
                                  </p:stCondLst>
                                  <p:childTnLst>
                                    <p:set>
                                      <p:cBhvr>
                                        <p:cTn id="28" dur="1" fill="hold">
                                          <p:stCondLst>
                                            <p:cond delay="0"/>
                                          </p:stCondLst>
                                        </p:cTn>
                                        <p:tgtEl>
                                          <p:spTgt spid="589827">
                                            <p:txEl>
                                              <p:pRg st="5" end="5"/>
                                            </p:txEl>
                                          </p:spTgt>
                                        </p:tgtEl>
                                        <p:attrNameLst>
                                          <p:attrName>style.visibility</p:attrName>
                                        </p:attrNameLst>
                                      </p:cBhvr>
                                      <p:to>
                                        <p:strVal val="visible"/>
                                      </p:to>
                                    </p:set>
                                    <p:anim calcmode="lin" valueType="num">
                                      <p:cBhvr additive="base">
                                        <p:cTn id="29" dur="500" fill="hold"/>
                                        <p:tgtEl>
                                          <p:spTgt spid="589827">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58982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27"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F4CC4E7-61DE-5E40-8DE5-3646C021F775}"/>
              </a:ext>
            </a:extLst>
          </p:cNvPr>
          <p:cNvSpPr>
            <a:spLocks noGrp="1" noChangeArrowheads="1"/>
          </p:cNvSpPr>
          <p:nvPr>
            <p:ph type="title"/>
          </p:nvPr>
        </p:nvSpPr>
        <p:spPr/>
        <p:txBody>
          <a:bodyPr/>
          <a:lstStyle/>
          <a:p>
            <a:pPr eaLnBrk="1" hangingPunct="1"/>
            <a:r>
              <a:rPr lang="zh-CN" altLang="en-US"/>
              <a:t>引用指针变量所指的变量</a:t>
            </a:r>
          </a:p>
        </p:txBody>
      </p:sp>
      <p:sp>
        <p:nvSpPr>
          <p:cNvPr id="589827" name="Rectangle 3">
            <a:extLst>
              <a:ext uri="{FF2B5EF4-FFF2-40B4-BE49-F238E27FC236}">
                <a16:creationId xmlns:a16="http://schemas.microsoft.com/office/drawing/2014/main" id="{DD77A774-843A-DCB4-B901-CA1DED6C72E6}"/>
              </a:ext>
            </a:extLst>
          </p:cNvPr>
          <p:cNvSpPr>
            <a:spLocks noGrp="1" noChangeArrowheads="1"/>
          </p:cNvSpPr>
          <p:nvPr>
            <p:ph type="body" idx="1"/>
          </p:nvPr>
        </p:nvSpPr>
        <p:spPr/>
        <p:txBody>
          <a:bodyPr/>
          <a:lstStyle/>
          <a:p>
            <a:pPr eaLnBrk="1" hangingPunct="1"/>
            <a:r>
              <a:rPr lang="en-US" altLang="zh-CN" sz="2800"/>
              <a:t>int  i=100, j, *ip, *ip2;</a:t>
            </a:r>
            <a:br>
              <a:rPr lang="en-US" altLang="zh-CN" sz="2800"/>
            </a:br>
            <a:r>
              <a:rPr lang="en-US" altLang="zh-CN" sz="2800"/>
              <a:t>ip=&amp;i;</a:t>
            </a:r>
            <a:br>
              <a:rPr lang="en-US" altLang="zh-CN" sz="2800"/>
            </a:br>
            <a:r>
              <a:rPr lang="zh-CN" altLang="en-US" sz="2800"/>
              <a:t>指出以下语句的功能：</a:t>
            </a:r>
          </a:p>
          <a:p>
            <a:pPr eaLnBrk="1" hangingPunct="1"/>
            <a:r>
              <a:rPr lang="en-US" altLang="zh-CN" sz="2800"/>
              <a:t>j=*ip;</a:t>
            </a:r>
          </a:p>
          <a:p>
            <a:pPr eaLnBrk="1" hangingPunct="1"/>
            <a:r>
              <a:rPr lang="en-US" altLang="zh-CN" sz="2800"/>
              <a:t>*ip=200;</a:t>
            </a:r>
          </a:p>
          <a:p>
            <a:pPr eaLnBrk="1" hangingPunct="1"/>
            <a:r>
              <a:rPr lang="en-US" altLang="zh-CN" sz="2800"/>
              <a:t>ip2=&amp;j;</a:t>
            </a:r>
          </a:p>
          <a:p>
            <a:pPr eaLnBrk="1" hangingPunct="1"/>
            <a:r>
              <a:rPr lang="en-US" altLang="zh-CN" sz="2800"/>
              <a:t>*ip2=*ip;</a:t>
            </a:r>
          </a:p>
          <a:p>
            <a:pPr eaLnBrk="1" hangingPunct="1"/>
            <a:r>
              <a:rPr lang="en-US" altLang="zh-CN" sz="2800"/>
              <a:t>ip2=ip;</a:t>
            </a:r>
          </a:p>
        </p:txBody>
      </p:sp>
      <p:pic>
        <p:nvPicPr>
          <p:cNvPr id="2" name="图形 1" descr="教师 纯色填充">
            <a:hlinkClick r:id="rId4"/>
            <a:extLst>
              <a:ext uri="{FF2B5EF4-FFF2-40B4-BE49-F238E27FC236}">
                <a16:creationId xmlns:a16="http://schemas.microsoft.com/office/drawing/2014/main" id="{998D81F3-6863-A58E-4998-7EECD90352F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16416" y="6064378"/>
            <a:ext cx="579309" cy="5793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9827">
                                            <p:txEl>
                                              <p:pRg st="0" end="0"/>
                                            </p:txEl>
                                          </p:spTgt>
                                        </p:tgtEl>
                                        <p:attrNameLst>
                                          <p:attrName>style.visibility</p:attrName>
                                        </p:attrNameLst>
                                      </p:cBhvr>
                                      <p:to>
                                        <p:strVal val="visible"/>
                                      </p:to>
                                    </p:set>
                                    <p:anim calcmode="lin" valueType="num">
                                      <p:cBhvr additive="base">
                                        <p:cTn id="7" dur="500" fill="hold"/>
                                        <p:tgtEl>
                                          <p:spTgt spid="5898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982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9827">
                                            <p:txEl>
                                              <p:pRg st="1" end="1"/>
                                            </p:txEl>
                                          </p:spTgt>
                                        </p:tgtEl>
                                        <p:attrNameLst>
                                          <p:attrName>style.visibility</p:attrName>
                                        </p:attrNameLst>
                                      </p:cBhvr>
                                      <p:to>
                                        <p:strVal val="visible"/>
                                      </p:to>
                                    </p:set>
                                    <p:anim calcmode="lin" valueType="num">
                                      <p:cBhvr additive="base">
                                        <p:cTn id="13" dur="500" fill="hold"/>
                                        <p:tgtEl>
                                          <p:spTgt spid="5898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8982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9827">
                                            <p:txEl>
                                              <p:pRg st="2" end="2"/>
                                            </p:txEl>
                                          </p:spTgt>
                                        </p:tgtEl>
                                        <p:attrNameLst>
                                          <p:attrName>style.visibility</p:attrName>
                                        </p:attrNameLst>
                                      </p:cBhvr>
                                      <p:to>
                                        <p:strVal val="visible"/>
                                      </p:to>
                                    </p:set>
                                    <p:anim calcmode="lin" valueType="num">
                                      <p:cBhvr additive="base">
                                        <p:cTn id="19" dur="500" fill="hold"/>
                                        <p:tgtEl>
                                          <p:spTgt spid="5898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982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89827">
                                            <p:txEl>
                                              <p:pRg st="3" end="3"/>
                                            </p:txEl>
                                          </p:spTgt>
                                        </p:tgtEl>
                                        <p:attrNameLst>
                                          <p:attrName>style.visibility</p:attrName>
                                        </p:attrNameLst>
                                      </p:cBhvr>
                                      <p:to>
                                        <p:strVal val="visible"/>
                                      </p:to>
                                    </p:set>
                                    <p:anim calcmode="lin" valueType="num">
                                      <p:cBhvr additive="base">
                                        <p:cTn id="25" dur="500" fill="hold"/>
                                        <p:tgtEl>
                                          <p:spTgt spid="58982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8982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89827">
                                            <p:txEl>
                                              <p:pRg st="4" end="4"/>
                                            </p:txEl>
                                          </p:spTgt>
                                        </p:tgtEl>
                                        <p:attrNameLst>
                                          <p:attrName>style.visibility</p:attrName>
                                        </p:attrNameLst>
                                      </p:cBhvr>
                                      <p:to>
                                        <p:strVal val="visible"/>
                                      </p:to>
                                    </p:set>
                                    <p:anim calcmode="lin" valueType="num">
                                      <p:cBhvr additive="base">
                                        <p:cTn id="31" dur="500" fill="hold"/>
                                        <p:tgtEl>
                                          <p:spTgt spid="58982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8982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89827">
                                            <p:txEl>
                                              <p:pRg st="5" end="5"/>
                                            </p:txEl>
                                          </p:spTgt>
                                        </p:tgtEl>
                                        <p:attrNameLst>
                                          <p:attrName>style.visibility</p:attrName>
                                        </p:attrNameLst>
                                      </p:cBhvr>
                                      <p:to>
                                        <p:strVal val="visible"/>
                                      </p:to>
                                    </p:set>
                                    <p:anim calcmode="lin" valueType="num">
                                      <p:cBhvr additive="base">
                                        <p:cTn id="37" dur="500" fill="hold"/>
                                        <p:tgtEl>
                                          <p:spTgt spid="58982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8982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27"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B1DA54E-27BA-3853-C327-3E5AA19020C6}"/>
            </a:ext>
          </a:extLst>
        </p:cNvPr>
        <p:cNvGrpSpPr/>
        <p:nvPr/>
      </p:nvGrpSpPr>
      <p:grpSpPr>
        <a:xfrm>
          <a:off x="0" y="0"/>
          <a:ext cx="0" cy="0"/>
          <a:chOff x="0" y="0"/>
          <a:chExt cx="0" cy="0"/>
        </a:xfrm>
      </p:grpSpPr>
      <p:sp>
        <p:nvSpPr>
          <p:cNvPr id="14338" name="Rectangle 2">
            <a:extLst>
              <a:ext uri="{FF2B5EF4-FFF2-40B4-BE49-F238E27FC236}">
                <a16:creationId xmlns:a16="http://schemas.microsoft.com/office/drawing/2014/main" id="{A6F3108B-3037-0D5D-A883-8F2DC40A1AEF}"/>
              </a:ext>
            </a:extLst>
          </p:cNvPr>
          <p:cNvSpPr>
            <a:spLocks noGrp="1" noChangeArrowheads="1"/>
          </p:cNvSpPr>
          <p:nvPr>
            <p:ph type="title"/>
          </p:nvPr>
        </p:nvSpPr>
        <p:spPr/>
        <p:txBody>
          <a:bodyPr/>
          <a:lstStyle/>
          <a:p>
            <a:pPr eaLnBrk="1" hangingPunct="1"/>
            <a:r>
              <a:rPr lang="zh-CN" altLang="en-US"/>
              <a:t>空指针</a:t>
            </a:r>
          </a:p>
        </p:txBody>
      </p:sp>
      <p:sp>
        <p:nvSpPr>
          <p:cNvPr id="3" name="Rectangle 3">
            <a:extLst>
              <a:ext uri="{FF2B5EF4-FFF2-40B4-BE49-F238E27FC236}">
                <a16:creationId xmlns:a16="http://schemas.microsoft.com/office/drawing/2014/main" id="{81F69B94-6581-0698-8D47-72C648644776}"/>
              </a:ext>
            </a:extLst>
          </p:cNvPr>
          <p:cNvSpPr txBox="1">
            <a:spLocks noChangeArrowheads="1"/>
          </p:cNvSpPr>
          <p:nvPr/>
        </p:nvSpPr>
        <p:spPr bwMode="auto">
          <a:xfrm>
            <a:off x="611560" y="2017713"/>
            <a:ext cx="8064896"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sz="2400" b="0" i="0"/>
              <a:t>在 </a:t>
            </a:r>
            <a:r>
              <a:rPr lang="en-US" altLang="zh-CN" sz="2400" b="0" i="0"/>
              <a:t>C </a:t>
            </a:r>
            <a:r>
              <a:rPr lang="zh-CN" altLang="en-US" sz="2400" b="0" i="0"/>
              <a:t>语言中，</a:t>
            </a:r>
            <a:r>
              <a:rPr lang="en-US" altLang="zh-CN" sz="2400" b="0" i="0">
                <a:latin typeface="Arial" panose="020B0604020202020204" pitchFamily="34" charset="0"/>
                <a:ea typeface="宋体" panose="02010600030101010101" pitchFamily="2" charset="-122"/>
              </a:rPr>
              <a:t>NULL</a:t>
            </a:r>
            <a:r>
              <a:rPr lang="en-US" altLang="zh-CN" sz="2400" b="0" i="0"/>
              <a:t> </a:t>
            </a:r>
            <a:r>
              <a:rPr lang="zh-CN" altLang="en-US" sz="2400" b="0" i="0"/>
              <a:t>是一个宏常量（</a:t>
            </a:r>
            <a:r>
              <a:rPr lang="en-US" altLang="zh-CN" sz="2400" b="0" i="0"/>
              <a:t>macro constant</a:t>
            </a:r>
            <a:r>
              <a:rPr lang="zh-CN" altLang="en-US" sz="2400" b="0" i="0"/>
              <a:t>），定义在头文件</a:t>
            </a:r>
            <a:r>
              <a:rPr lang="en-US" altLang="zh-CN" sz="2400" b="0" i="0">
                <a:latin typeface="Arial" panose="020B0604020202020204" pitchFamily="34" charset="0"/>
                <a:ea typeface="宋体" panose="02010600030101010101" pitchFamily="2" charset="-122"/>
              </a:rPr>
              <a:t>stddef.h</a:t>
            </a:r>
            <a:r>
              <a:rPr lang="zh-CN" altLang="en-US" sz="2400" b="0" i="0"/>
              <a:t>中：</a:t>
            </a:r>
          </a:p>
          <a:p>
            <a:pPr lvl="1">
              <a:lnSpc>
                <a:spcPct val="120000"/>
              </a:lnSpc>
            </a:pPr>
            <a:r>
              <a:rPr lang="en-US" altLang="zh-CN" sz="2000" b="0" i="0">
                <a:latin typeface="Arial" panose="020B0604020202020204" pitchFamily="34" charset="0"/>
                <a:ea typeface="宋体" panose="02010600030101010101" pitchFamily="2" charset="-122"/>
              </a:rPr>
              <a:t>#define NULL ((void *)0)</a:t>
            </a:r>
          </a:p>
          <a:p>
            <a:pPr>
              <a:lnSpc>
                <a:spcPct val="120000"/>
              </a:lnSpc>
            </a:pPr>
            <a:r>
              <a:rPr lang="en-US" altLang="zh-CN" sz="2400" b="0" i="0"/>
              <a:t>NULL </a:t>
            </a:r>
            <a:r>
              <a:rPr lang="zh-CN" altLang="en-US" sz="2400" b="0" i="0"/>
              <a:t>的含义</a:t>
            </a:r>
            <a:r>
              <a:rPr lang="en-US" altLang="zh-CN" sz="2400" b="0" i="0"/>
              <a:t>:</a:t>
            </a:r>
            <a:endParaRPr lang="zh-CN" altLang="en-US" sz="2400" b="0" i="0"/>
          </a:p>
          <a:p>
            <a:pPr marL="571500" lvl="1" indent="-171450">
              <a:lnSpc>
                <a:spcPct val="120000"/>
              </a:lnSpc>
              <a:buFont typeface="Arial" panose="020B0604020202020204" pitchFamily="34" charset="0"/>
              <a:buChar char="•"/>
            </a:pPr>
            <a:r>
              <a:rPr lang="en-US" altLang="zh-CN" sz="1800" b="0" i="0">
                <a:latin typeface="Arial" panose="020B0604020202020204" pitchFamily="34" charset="0"/>
                <a:ea typeface="宋体" panose="02010600030101010101" pitchFamily="2" charset="-122"/>
              </a:rPr>
              <a:t>0</a:t>
            </a:r>
            <a:r>
              <a:rPr lang="zh-CN" altLang="en-US" sz="1800" b="0" i="0"/>
              <a:t> 是一个 整数常量</a:t>
            </a:r>
          </a:p>
          <a:p>
            <a:pPr marL="571500" lvl="1" indent="-171450">
              <a:lnSpc>
                <a:spcPct val="120000"/>
              </a:lnSpc>
              <a:buFont typeface="Arial" panose="020B0604020202020204" pitchFamily="34" charset="0"/>
              <a:buChar char="•"/>
            </a:pPr>
            <a:r>
              <a:rPr lang="en-US" altLang="zh-CN" sz="1800" b="0" i="0">
                <a:latin typeface="Arial" panose="020B0604020202020204" pitchFamily="34" charset="0"/>
                <a:ea typeface="宋体" panose="02010600030101010101" pitchFamily="2" charset="-122"/>
              </a:rPr>
              <a:t>(void*)0</a:t>
            </a:r>
            <a:r>
              <a:rPr lang="en-US" altLang="zh-CN" sz="1800" b="0" i="0"/>
              <a:t> </a:t>
            </a:r>
            <a:r>
              <a:rPr lang="zh-CN" altLang="en-US" sz="1800" b="0" i="0"/>
              <a:t>表示 地址为 </a:t>
            </a:r>
            <a:r>
              <a:rPr lang="en-US" altLang="zh-CN" sz="1800" b="0" i="0"/>
              <a:t>0 </a:t>
            </a:r>
            <a:r>
              <a:rPr lang="zh-CN" altLang="en-US" sz="1800" b="0" i="0"/>
              <a:t>的指针常量</a:t>
            </a:r>
          </a:p>
          <a:p>
            <a:pPr marL="571500" lvl="1" indent="-171450">
              <a:lnSpc>
                <a:spcPct val="120000"/>
              </a:lnSpc>
              <a:buFont typeface="Arial" panose="020B0604020202020204" pitchFamily="34" charset="0"/>
              <a:buChar char="•"/>
            </a:pPr>
            <a:r>
              <a:rPr lang="en-US" altLang="zh-CN" sz="1800" b="0" i="0">
                <a:latin typeface="Arial" panose="020B0604020202020204" pitchFamily="34" charset="0"/>
                <a:ea typeface="宋体" panose="02010600030101010101" pitchFamily="2" charset="-122"/>
              </a:rPr>
              <a:t>NULL</a:t>
            </a:r>
            <a:r>
              <a:rPr lang="en-US" altLang="zh-CN" sz="1800" b="0" i="0"/>
              <a:t> </a:t>
            </a:r>
            <a:r>
              <a:rPr lang="zh-CN" altLang="en-US" sz="1800" b="0" i="0"/>
              <a:t>就代表一个 “空指针（</a:t>
            </a:r>
            <a:r>
              <a:rPr lang="en-US" altLang="zh-CN" sz="1800" b="0" i="0"/>
              <a:t>null pointer</a:t>
            </a:r>
            <a:r>
              <a:rPr lang="zh-CN" altLang="en-US" sz="1800" b="0" i="0"/>
              <a:t>）”</a:t>
            </a:r>
            <a:endParaRPr lang="en-US" altLang="zh-CN" sz="1800" b="0" i="0"/>
          </a:p>
          <a:p>
            <a:pPr>
              <a:lnSpc>
                <a:spcPct val="120000"/>
              </a:lnSpc>
            </a:pPr>
            <a:r>
              <a:rPr lang="zh-CN" altLang="en-US" sz="2400" b="0" i="0"/>
              <a:t>💡 </a:t>
            </a:r>
            <a:r>
              <a:rPr lang="en-US" altLang="zh-CN" sz="2400" b="0" i="0">
                <a:latin typeface="Arial" panose="020B0604020202020204" pitchFamily="34" charset="0"/>
                <a:ea typeface="宋体" panose="02010600030101010101" pitchFamily="2" charset="-122"/>
              </a:rPr>
              <a:t>NULL</a:t>
            </a:r>
            <a:r>
              <a:rPr lang="en-US" altLang="zh-CN" sz="2400" b="0" i="0"/>
              <a:t> </a:t>
            </a:r>
            <a:r>
              <a:rPr lang="zh-CN" altLang="en-US" sz="2400" b="0" i="0"/>
              <a:t>本质上就是一个“被强制转换成 </a:t>
            </a:r>
            <a:r>
              <a:rPr lang="en-US" altLang="zh-CN" sz="2400" b="0" i="0">
                <a:latin typeface="Arial" panose="020B0604020202020204" pitchFamily="34" charset="0"/>
                <a:ea typeface="宋体" panose="02010600030101010101" pitchFamily="2" charset="-122"/>
              </a:rPr>
              <a:t>void*</a:t>
            </a:r>
            <a:r>
              <a:rPr lang="en-US" altLang="zh-CN" sz="2400" b="0" i="0"/>
              <a:t> </a:t>
            </a:r>
            <a:r>
              <a:rPr lang="zh-CN" altLang="en-US" sz="2400" b="0" i="0"/>
              <a:t>类型的 </a:t>
            </a:r>
            <a:r>
              <a:rPr lang="en-US" altLang="zh-CN" sz="2400" b="0" i="0"/>
              <a:t>0 </a:t>
            </a:r>
            <a:r>
              <a:rPr lang="zh-CN" altLang="en-US" sz="2400" b="0" i="0"/>
              <a:t>地址常量”。也就是说：</a:t>
            </a:r>
            <a:r>
              <a:rPr lang="en-US" altLang="zh-CN" sz="2400" b="0" i="0"/>
              <a:t>NULL </a:t>
            </a:r>
            <a:r>
              <a:rPr lang="zh-CN" altLang="en-US" sz="2400" b="0" i="0"/>
              <a:t>不是“没有值”，而是“不指向任何有效内存地址”的特殊指针值。</a:t>
            </a:r>
            <a:endParaRPr lang="en-US" altLang="zh-CN" sz="2400" b="0" i="0"/>
          </a:p>
        </p:txBody>
      </p:sp>
    </p:spTree>
    <p:extLst>
      <p:ext uri="{BB962C8B-B14F-4D97-AF65-F5344CB8AC3E}">
        <p14:creationId xmlns:p14="http://schemas.microsoft.com/office/powerpoint/2010/main" val="3944683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FAE8C25-7F98-D14C-B48D-6654B9D3E227}"/>
              </a:ext>
            </a:extLst>
          </p:cNvPr>
          <p:cNvSpPr>
            <a:spLocks noGrp="1" noChangeArrowheads="1"/>
          </p:cNvSpPr>
          <p:nvPr>
            <p:ph type="title"/>
          </p:nvPr>
        </p:nvSpPr>
        <p:spPr/>
        <p:txBody>
          <a:bodyPr/>
          <a:lstStyle/>
          <a:p>
            <a:pPr eaLnBrk="1" hangingPunct="1"/>
            <a:r>
              <a:rPr lang="zh-CN" altLang="en-US"/>
              <a:t>指针赋值例</a:t>
            </a:r>
          </a:p>
        </p:txBody>
      </p:sp>
      <p:sp>
        <p:nvSpPr>
          <p:cNvPr id="588803" name="Rectangle 3">
            <a:extLst>
              <a:ext uri="{FF2B5EF4-FFF2-40B4-BE49-F238E27FC236}">
                <a16:creationId xmlns:a16="http://schemas.microsoft.com/office/drawing/2014/main" id="{FD6321A0-304E-0F92-1FCA-8BC063612C46}"/>
              </a:ext>
            </a:extLst>
          </p:cNvPr>
          <p:cNvSpPr>
            <a:spLocks noGrp="1" noChangeArrowheads="1"/>
          </p:cNvSpPr>
          <p:nvPr>
            <p:ph type="body" idx="1"/>
          </p:nvPr>
        </p:nvSpPr>
        <p:spPr/>
        <p:txBody>
          <a:bodyPr/>
          <a:lstStyle/>
          <a:p>
            <a:pPr marL="533400" indent="-533400" eaLnBrk="1" hangingPunct="1">
              <a:lnSpc>
                <a:spcPct val="90000"/>
              </a:lnSpc>
            </a:pPr>
            <a:r>
              <a:rPr lang="en-US" altLang="zh-CN" sz="2400"/>
              <a:t>int  i=100, j, *ip, *ip2;</a:t>
            </a:r>
            <a:br>
              <a:rPr lang="en-US" altLang="zh-CN" sz="2400"/>
            </a:br>
            <a:r>
              <a:rPr lang="en-US" altLang="zh-CN" sz="2400"/>
              <a:t>float f, *fp;</a:t>
            </a:r>
            <a:br>
              <a:rPr lang="en-US" altLang="zh-CN" sz="2400"/>
            </a:br>
            <a:r>
              <a:rPr lang="en-US" altLang="zh-CN" sz="2400"/>
              <a:t>ip=&amp;i;</a:t>
            </a:r>
            <a:br>
              <a:rPr lang="en-US" altLang="zh-CN" sz="2400"/>
            </a:br>
            <a:r>
              <a:rPr lang="en-US" altLang="zh-CN" sz="2400"/>
              <a:t>(</a:t>
            </a:r>
            <a:r>
              <a:rPr lang="en-US" altLang="zh-CN" sz="2400">
                <a:solidFill>
                  <a:srgbClr val="CC0000"/>
                </a:solidFill>
              </a:rPr>
              <a:t>int *i;</a:t>
            </a:r>
            <a:r>
              <a:rPr lang="en-US" altLang="zh-CN" sz="2400"/>
              <a:t>)</a:t>
            </a:r>
          </a:p>
          <a:p>
            <a:pPr marL="533400" indent="-533400" eaLnBrk="1" hangingPunct="1">
              <a:lnSpc>
                <a:spcPct val="90000"/>
              </a:lnSpc>
            </a:pPr>
            <a:r>
              <a:rPr lang="zh-CN" altLang="en-US" sz="2400"/>
              <a:t>判断以下赋值合法与否：</a:t>
            </a:r>
          </a:p>
          <a:p>
            <a:pPr marL="533400" indent="-533400" eaLnBrk="1" hangingPunct="1">
              <a:lnSpc>
                <a:spcPct val="90000"/>
              </a:lnSpc>
              <a:buFontTx/>
              <a:buAutoNum type="arabicPeriod"/>
            </a:pPr>
            <a:r>
              <a:rPr lang="en-US" altLang="zh-CN" sz="2000"/>
              <a:t>ip</a:t>
            </a:r>
            <a:r>
              <a:rPr lang="zh-CN" altLang="en-US" sz="2000"/>
              <a:t>＝</a:t>
            </a:r>
            <a:r>
              <a:rPr lang="en-US" altLang="zh-CN" sz="2000"/>
              <a:t>100;</a:t>
            </a:r>
            <a:endParaRPr lang="zh-CN" altLang="en-US" sz="2000"/>
          </a:p>
          <a:p>
            <a:pPr marL="533400" indent="-533400" eaLnBrk="1" hangingPunct="1">
              <a:lnSpc>
                <a:spcPct val="90000"/>
              </a:lnSpc>
              <a:buFontTx/>
              <a:buAutoNum type="arabicPeriod"/>
            </a:pPr>
            <a:r>
              <a:rPr lang="en-US" altLang="zh-CN" sz="2000"/>
              <a:t>ip2=j;</a:t>
            </a:r>
          </a:p>
          <a:p>
            <a:pPr marL="533400" indent="-533400" eaLnBrk="1" hangingPunct="1">
              <a:lnSpc>
                <a:spcPct val="90000"/>
              </a:lnSpc>
              <a:buFontTx/>
              <a:buAutoNum type="arabicPeriod"/>
            </a:pPr>
            <a:r>
              <a:rPr lang="en-US" altLang="zh-CN" sz="2000"/>
              <a:t>fp=&amp;i;</a:t>
            </a:r>
          </a:p>
          <a:p>
            <a:pPr marL="533400" indent="-533400" eaLnBrk="1" hangingPunct="1">
              <a:lnSpc>
                <a:spcPct val="90000"/>
              </a:lnSpc>
              <a:buFontTx/>
              <a:buAutoNum type="arabicPeriod"/>
            </a:pPr>
            <a:r>
              <a:rPr lang="en-US" altLang="zh-CN" sz="2000"/>
              <a:t>fp=ip;</a:t>
            </a:r>
          </a:p>
          <a:p>
            <a:pPr marL="533400" indent="-533400" eaLnBrk="1" hangingPunct="1">
              <a:lnSpc>
                <a:spcPct val="90000"/>
              </a:lnSpc>
              <a:buFontTx/>
              <a:buAutoNum type="arabicPeriod"/>
            </a:pPr>
            <a:r>
              <a:rPr lang="en-US" altLang="zh-CN" sz="2000"/>
              <a:t>ip=&amp;j;</a:t>
            </a:r>
          </a:p>
          <a:p>
            <a:pPr marL="533400" indent="-533400" eaLnBrk="1" hangingPunct="1">
              <a:lnSpc>
                <a:spcPct val="90000"/>
              </a:lnSpc>
              <a:buFontTx/>
              <a:buAutoNum type="arabicPeriod"/>
            </a:pPr>
            <a:r>
              <a:rPr lang="en-US" altLang="zh-CN" sz="2000"/>
              <a:t>ip2=ip;</a:t>
            </a:r>
          </a:p>
          <a:p>
            <a:pPr marL="533400" indent="-533400" eaLnBrk="1" hangingPunct="1">
              <a:lnSpc>
                <a:spcPct val="90000"/>
              </a:lnSpc>
              <a:buFontTx/>
              <a:buAutoNum type="arabicPeriod"/>
            </a:pPr>
            <a:r>
              <a:rPr lang="en-US" altLang="zh-CN" sz="2000"/>
              <a:t>fp=&amp;f;</a:t>
            </a:r>
          </a:p>
          <a:p>
            <a:pPr marL="533400" indent="-533400" eaLnBrk="1" hangingPunct="1">
              <a:lnSpc>
                <a:spcPct val="90000"/>
              </a:lnSpc>
              <a:buFontTx/>
              <a:buAutoNum type="arabicPeriod"/>
            </a:pPr>
            <a:r>
              <a:rPr lang="en-US" altLang="zh-CN" sz="2000"/>
              <a:t>ip=NULL;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8803">
                                            <p:txEl>
                                              <p:pRg st="0" end="0"/>
                                            </p:txEl>
                                          </p:spTgt>
                                        </p:tgtEl>
                                        <p:attrNameLst>
                                          <p:attrName>style.visibility</p:attrName>
                                        </p:attrNameLst>
                                      </p:cBhvr>
                                      <p:to>
                                        <p:strVal val="visible"/>
                                      </p:to>
                                    </p:set>
                                    <p:anim calcmode="lin" valueType="num">
                                      <p:cBhvr additive="base">
                                        <p:cTn id="7" dur="500" fill="hold"/>
                                        <p:tgtEl>
                                          <p:spTgt spid="5888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880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8803">
                                            <p:txEl>
                                              <p:pRg st="1" end="1"/>
                                            </p:txEl>
                                          </p:spTgt>
                                        </p:tgtEl>
                                        <p:attrNameLst>
                                          <p:attrName>style.visibility</p:attrName>
                                        </p:attrNameLst>
                                      </p:cBhvr>
                                      <p:to>
                                        <p:strVal val="visible"/>
                                      </p:to>
                                    </p:set>
                                    <p:anim calcmode="lin" valueType="num">
                                      <p:cBhvr additive="base">
                                        <p:cTn id="13" dur="500" fill="hold"/>
                                        <p:tgtEl>
                                          <p:spTgt spid="5888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8880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8803">
                                            <p:txEl>
                                              <p:pRg st="2" end="2"/>
                                            </p:txEl>
                                          </p:spTgt>
                                        </p:tgtEl>
                                        <p:attrNameLst>
                                          <p:attrName>style.visibility</p:attrName>
                                        </p:attrNameLst>
                                      </p:cBhvr>
                                      <p:to>
                                        <p:strVal val="visible"/>
                                      </p:to>
                                    </p:set>
                                    <p:anim calcmode="lin" valueType="num">
                                      <p:cBhvr additive="base">
                                        <p:cTn id="19" dur="500" fill="hold"/>
                                        <p:tgtEl>
                                          <p:spTgt spid="58880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880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88803">
                                            <p:txEl>
                                              <p:pRg st="3" end="3"/>
                                            </p:txEl>
                                          </p:spTgt>
                                        </p:tgtEl>
                                        <p:attrNameLst>
                                          <p:attrName>style.visibility</p:attrName>
                                        </p:attrNameLst>
                                      </p:cBhvr>
                                      <p:to>
                                        <p:strVal val="visible"/>
                                      </p:to>
                                    </p:set>
                                    <p:anim calcmode="lin" valueType="num">
                                      <p:cBhvr additive="base">
                                        <p:cTn id="25" dur="500" fill="hold"/>
                                        <p:tgtEl>
                                          <p:spTgt spid="58880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8880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88803">
                                            <p:txEl>
                                              <p:pRg st="4" end="4"/>
                                            </p:txEl>
                                          </p:spTgt>
                                        </p:tgtEl>
                                        <p:attrNameLst>
                                          <p:attrName>style.visibility</p:attrName>
                                        </p:attrNameLst>
                                      </p:cBhvr>
                                      <p:to>
                                        <p:strVal val="visible"/>
                                      </p:to>
                                    </p:set>
                                    <p:anim calcmode="lin" valueType="num">
                                      <p:cBhvr additive="base">
                                        <p:cTn id="31" dur="500" fill="hold"/>
                                        <p:tgtEl>
                                          <p:spTgt spid="58880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8880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88803">
                                            <p:txEl>
                                              <p:pRg st="5" end="5"/>
                                            </p:txEl>
                                          </p:spTgt>
                                        </p:tgtEl>
                                        <p:attrNameLst>
                                          <p:attrName>style.visibility</p:attrName>
                                        </p:attrNameLst>
                                      </p:cBhvr>
                                      <p:to>
                                        <p:strVal val="visible"/>
                                      </p:to>
                                    </p:set>
                                    <p:anim calcmode="lin" valueType="num">
                                      <p:cBhvr additive="base">
                                        <p:cTn id="37" dur="500" fill="hold"/>
                                        <p:tgtEl>
                                          <p:spTgt spid="58880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88803">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88803">
                                            <p:txEl>
                                              <p:pRg st="6" end="6"/>
                                            </p:txEl>
                                          </p:spTgt>
                                        </p:tgtEl>
                                        <p:attrNameLst>
                                          <p:attrName>style.visibility</p:attrName>
                                        </p:attrNameLst>
                                      </p:cBhvr>
                                      <p:to>
                                        <p:strVal val="visible"/>
                                      </p:to>
                                    </p:set>
                                    <p:anim calcmode="lin" valueType="num">
                                      <p:cBhvr additive="base">
                                        <p:cTn id="43" dur="500" fill="hold"/>
                                        <p:tgtEl>
                                          <p:spTgt spid="58880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88803">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88803">
                                            <p:txEl>
                                              <p:pRg st="7" end="7"/>
                                            </p:txEl>
                                          </p:spTgt>
                                        </p:tgtEl>
                                        <p:attrNameLst>
                                          <p:attrName>style.visibility</p:attrName>
                                        </p:attrNameLst>
                                      </p:cBhvr>
                                      <p:to>
                                        <p:strVal val="visible"/>
                                      </p:to>
                                    </p:set>
                                    <p:anim calcmode="lin" valueType="num">
                                      <p:cBhvr additive="base">
                                        <p:cTn id="49" dur="500" fill="hold"/>
                                        <p:tgtEl>
                                          <p:spTgt spid="58880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588803">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3" name="whoosh.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588803">
                                            <p:txEl>
                                              <p:pRg st="8" end="8"/>
                                            </p:txEl>
                                          </p:spTgt>
                                        </p:tgtEl>
                                        <p:attrNameLst>
                                          <p:attrName>style.visibility</p:attrName>
                                        </p:attrNameLst>
                                      </p:cBhvr>
                                      <p:to>
                                        <p:strVal val="visible"/>
                                      </p:to>
                                    </p:set>
                                    <p:anim calcmode="lin" valueType="num">
                                      <p:cBhvr additive="base">
                                        <p:cTn id="55" dur="500" fill="hold"/>
                                        <p:tgtEl>
                                          <p:spTgt spid="588803">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588803">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whoosh.wav"/>
                                        </p:tgtEl>
                                      </p:cMediaNode>
                                    </p:audio>
                                  </p:sub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588803">
                                            <p:txEl>
                                              <p:pRg st="9" end="9"/>
                                            </p:txEl>
                                          </p:spTgt>
                                        </p:tgtEl>
                                        <p:attrNameLst>
                                          <p:attrName>style.visibility</p:attrName>
                                        </p:attrNameLst>
                                      </p:cBhvr>
                                      <p:to>
                                        <p:strVal val="visible"/>
                                      </p:to>
                                    </p:set>
                                    <p:anim calcmode="lin" valueType="num">
                                      <p:cBhvr additive="base">
                                        <p:cTn id="61" dur="500" fill="hold"/>
                                        <p:tgtEl>
                                          <p:spTgt spid="588803">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588803">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03"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934B6D6-10FD-9E13-136F-5585AB8E5E5D}"/>
              </a:ext>
            </a:extLst>
          </p:cNvPr>
          <p:cNvSpPr>
            <a:spLocks noGrp="1" noChangeArrowheads="1"/>
          </p:cNvSpPr>
          <p:nvPr>
            <p:ph type="title"/>
          </p:nvPr>
        </p:nvSpPr>
        <p:spPr/>
        <p:txBody>
          <a:bodyPr/>
          <a:lstStyle/>
          <a:p>
            <a:pPr eaLnBrk="1" hangingPunct="1"/>
            <a:r>
              <a:rPr lang="zh-CN" altLang="en-US"/>
              <a:t>指针</a:t>
            </a:r>
            <a:r>
              <a:rPr lang="en-US" altLang="zh-CN"/>
              <a:t>(</a:t>
            </a:r>
            <a:r>
              <a:rPr lang="zh-CN" altLang="en-US"/>
              <a:t>续</a:t>
            </a:r>
            <a:r>
              <a:rPr lang="en-US" altLang="zh-CN"/>
              <a:t>)</a:t>
            </a:r>
          </a:p>
        </p:txBody>
      </p:sp>
      <p:sp>
        <p:nvSpPr>
          <p:cNvPr id="590851" name="Rectangle 3">
            <a:extLst>
              <a:ext uri="{FF2B5EF4-FFF2-40B4-BE49-F238E27FC236}">
                <a16:creationId xmlns:a16="http://schemas.microsoft.com/office/drawing/2014/main" id="{177B043C-679B-6F54-88DE-7EE649DBA71D}"/>
              </a:ext>
            </a:extLst>
          </p:cNvPr>
          <p:cNvSpPr>
            <a:spLocks noGrp="1" noChangeArrowheads="1"/>
          </p:cNvSpPr>
          <p:nvPr>
            <p:ph type="body" idx="1"/>
          </p:nvPr>
        </p:nvSpPr>
        <p:spPr/>
        <p:txBody>
          <a:bodyPr/>
          <a:lstStyle/>
          <a:p>
            <a:pPr marL="533400" indent="-533400" eaLnBrk="1" hangingPunct="1">
              <a:lnSpc>
                <a:spcPct val="90000"/>
              </a:lnSpc>
            </a:pPr>
            <a:r>
              <a:rPr lang="zh-CN" altLang="en-US" sz="2800"/>
              <a:t>讨论一下程序的执行结果</a:t>
            </a:r>
          </a:p>
          <a:p>
            <a:pPr marL="914400" lvl="1" indent="-457200" eaLnBrk="1" hangingPunct="1">
              <a:lnSpc>
                <a:spcPct val="90000"/>
              </a:lnSpc>
              <a:buFontTx/>
              <a:buAutoNum type="arabicPeriod"/>
            </a:pPr>
            <a:r>
              <a:rPr lang="en-US" altLang="zh-CN" sz="2400"/>
              <a:t>//testpointer.cpp</a:t>
            </a:r>
          </a:p>
          <a:p>
            <a:pPr marL="914400" lvl="1" indent="-457200" eaLnBrk="1" hangingPunct="1">
              <a:lnSpc>
                <a:spcPct val="90000"/>
              </a:lnSpc>
              <a:buFontTx/>
              <a:buAutoNum type="arabicPeriod"/>
            </a:pPr>
            <a:r>
              <a:rPr lang="en-US" altLang="zh-CN" sz="2400"/>
              <a:t>#include &lt;stdio.h&gt;</a:t>
            </a:r>
          </a:p>
          <a:p>
            <a:pPr marL="914400" lvl="1" indent="-457200" eaLnBrk="1" hangingPunct="1">
              <a:lnSpc>
                <a:spcPct val="90000"/>
              </a:lnSpc>
              <a:buFontTx/>
              <a:buAutoNum type="arabicPeriod"/>
            </a:pPr>
            <a:r>
              <a:rPr lang="en-US" altLang="zh-CN" sz="2400"/>
              <a:t>void main () {</a:t>
            </a:r>
          </a:p>
          <a:p>
            <a:pPr marL="914400" lvl="1" indent="-457200" eaLnBrk="1" hangingPunct="1">
              <a:lnSpc>
                <a:spcPct val="90000"/>
              </a:lnSpc>
              <a:buFontTx/>
              <a:buAutoNum type="arabicPeriod"/>
            </a:pPr>
            <a:r>
              <a:rPr lang="en-US" altLang="zh-CN" sz="2400"/>
              <a:t>	int * ip,i=1;</a:t>
            </a:r>
          </a:p>
          <a:p>
            <a:pPr marL="914400" lvl="1" indent="-457200" eaLnBrk="1" hangingPunct="1">
              <a:lnSpc>
                <a:spcPct val="90000"/>
              </a:lnSpc>
              <a:buFontTx/>
              <a:buAutoNum type="arabicPeriod"/>
            </a:pPr>
            <a:r>
              <a:rPr lang="en-US" altLang="zh-CN" sz="2400"/>
              <a:t>	char * cp,c=2;</a:t>
            </a:r>
          </a:p>
          <a:p>
            <a:pPr marL="914400" lvl="1" indent="-457200" eaLnBrk="1" hangingPunct="1">
              <a:lnSpc>
                <a:spcPct val="90000"/>
              </a:lnSpc>
              <a:buFontTx/>
              <a:buAutoNum type="arabicPeriod"/>
            </a:pPr>
            <a:r>
              <a:rPr lang="en-US" altLang="zh-CN" sz="2400"/>
              <a:t>	ip=&amp;i;</a:t>
            </a:r>
          </a:p>
          <a:p>
            <a:pPr marL="914400" lvl="1" indent="-457200" eaLnBrk="1" hangingPunct="1">
              <a:lnSpc>
                <a:spcPct val="90000"/>
              </a:lnSpc>
              <a:buFontTx/>
              <a:buAutoNum type="arabicPeriod"/>
            </a:pPr>
            <a:r>
              <a:rPr lang="en-US" altLang="zh-CN" sz="2400"/>
              <a:t>	cp=&amp;c;</a:t>
            </a:r>
          </a:p>
          <a:p>
            <a:pPr marL="914400" lvl="1" indent="-457200" eaLnBrk="1" hangingPunct="1">
              <a:lnSpc>
                <a:spcPct val="90000"/>
              </a:lnSpc>
              <a:buFontTx/>
              <a:buAutoNum type="arabicPeriod"/>
            </a:pPr>
            <a:r>
              <a:rPr lang="en-US" altLang="zh-CN" sz="2400"/>
              <a:t>	ip=(int*)cp;	</a:t>
            </a:r>
            <a:r>
              <a:rPr lang="en-US" altLang="zh-CN" sz="2400">
                <a:solidFill>
                  <a:srgbClr val="C00000"/>
                </a:solidFill>
              </a:rPr>
              <a:t>//"ip=cp;" </a:t>
            </a:r>
            <a:r>
              <a:rPr lang="zh-CN" altLang="en-US" sz="2400">
                <a:solidFill>
                  <a:srgbClr val="C00000"/>
                </a:solidFill>
              </a:rPr>
              <a:t>是非法语句</a:t>
            </a:r>
          </a:p>
          <a:p>
            <a:pPr marL="914400" lvl="1" indent="-457200" eaLnBrk="1" hangingPunct="1">
              <a:lnSpc>
                <a:spcPct val="90000"/>
              </a:lnSpc>
              <a:buFontTx/>
              <a:buAutoNum type="arabicPeriod"/>
            </a:pPr>
            <a:r>
              <a:rPr lang="zh-CN" altLang="en-US" sz="2400"/>
              <a:t>	</a:t>
            </a:r>
            <a:r>
              <a:rPr lang="en-US" altLang="zh-CN" sz="2400"/>
              <a:t>printf("*ip=%d\n*cp=%d\n", *ip, *cp);</a:t>
            </a:r>
          </a:p>
          <a:p>
            <a:pPr marL="914400" lvl="1" indent="-457200" eaLnBrk="1" hangingPunct="1">
              <a:lnSpc>
                <a:spcPct val="90000"/>
              </a:lnSpc>
              <a:buFontTx/>
              <a:buAutoNum type="arabicPeriod"/>
            </a:pPr>
            <a:r>
              <a:rPr lang="en-US" altLang="zh-CN" sz="24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0851">
                                            <p:txEl>
                                              <p:pRg st="0" end="0"/>
                                            </p:txEl>
                                          </p:spTgt>
                                        </p:tgtEl>
                                        <p:attrNameLst>
                                          <p:attrName>style.visibility</p:attrName>
                                        </p:attrNameLst>
                                      </p:cBhvr>
                                      <p:to>
                                        <p:strVal val="visible"/>
                                      </p:to>
                                    </p:set>
                                    <p:anim calcmode="lin" valueType="num">
                                      <p:cBhvr additive="base">
                                        <p:cTn id="7" dur="500" fill="hold"/>
                                        <p:tgtEl>
                                          <p:spTgt spid="5908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08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90851">
                                            <p:txEl>
                                              <p:pRg st="1" end="1"/>
                                            </p:txEl>
                                          </p:spTgt>
                                        </p:tgtEl>
                                        <p:attrNameLst>
                                          <p:attrName>style.visibility</p:attrName>
                                        </p:attrNameLst>
                                      </p:cBhvr>
                                      <p:to>
                                        <p:strVal val="visible"/>
                                      </p:to>
                                    </p:set>
                                    <p:anim calcmode="lin" valueType="num">
                                      <p:cBhvr additive="base">
                                        <p:cTn id="11" dur="500" fill="hold"/>
                                        <p:tgtEl>
                                          <p:spTgt spid="59085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908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90851">
                                            <p:txEl>
                                              <p:pRg st="2" end="2"/>
                                            </p:txEl>
                                          </p:spTgt>
                                        </p:tgtEl>
                                        <p:attrNameLst>
                                          <p:attrName>style.visibility</p:attrName>
                                        </p:attrNameLst>
                                      </p:cBhvr>
                                      <p:to>
                                        <p:strVal val="visible"/>
                                      </p:to>
                                    </p:set>
                                    <p:anim calcmode="lin" valueType="num">
                                      <p:cBhvr additive="base">
                                        <p:cTn id="15" dur="500" fill="hold"/>
                                        <p:tgtEl>
                                          <p:spTgt spid="59085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908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90851">
                                            <p:txEl>
                                              <p:pRg st="3" end="3"/>
                                            </p:txEl>
                                          </p:spTgt>
                                        </p:tgtEl>
                                        <p:attrNameLst>
                                          <p:attrName>style.visibility</p:attrName>
                                        </p:attrNameLst>
                                      </p:cBhvr>
                                      <p:to>
                                        <p:strVal val="visible"/>
                                      </p:to>
                                    </p:set>
                                    <p:anim calcmode="lin" valueType="num">
                                      <p:cBhvr additive="base">
                                        <p:cTn id="19" dur="500" fill="hold"/>
                                        <p:tgtEl>
                                          <p:spTgt spid="59085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908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90851">
                                            <p:txEl>
                                              <p:pRg st="4" end="4"/>
                                            </p:txEl>
                                          </p:spTgt>
                                        </p:tgtEl>
                                        <p:attrNameLst>
                                          <p:attrName>style.visibility</p:attrName>
                                        </p:attrNameLst>
                                      </p:cBhvr>
                                      <p:to>
                                        <p:strVal val="visible"/>
                                      </p:to>
                                    </p:set>
                                    <p:anim calcmode="lin" valueType="num">
                                      <p:cBhvr additive="base">
                                        <p:cTn id="23" dur="500" fill="hold"/>
                                        <p:tgtEl>
                                          <p:spTgt spid="590851">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908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90851">
                                            <p:txEl>
                                              <p:pRg st="5" end="5"/>
                                            </p:txEl>
                                          </p:spTgt>
                                        </p:tgtEl>
                                        <p:attrNameLst>
                                          <p:attrName>style.visibility</p:attrName>
                                        </p:attrNameLst>
                                      </p:cBhvr>
                                      <p:to>
                                        <p:strVal val="visible"/>
                                      </p:to>
                                    </p:set>
                                    <p:anim calcmode="lin" valueType="num">
                                      <p:cBhvr additive="base">
                                        <p:cTn id="27" dur="500" fill="hold"/>
                                        <p:tgtEl>
                                          <p:spTgt spid="590851">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908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90851">
                                            <p:txEl>
                                              <p:pRg st="6" end="6"/>
                                            </p:txEl>
                                          </p:spTgt>
                                        </p:tgtEl>
                                        <p:attrNameLst>
                                          <p:attrName>style.visibility</p:attrName>
                                        </p:attrNameLst>
                                      </p:cBhvr>
                                      <p:to>
                                        <p:strVal val="visible"/>
                                      </p:to>
                                    </p:set>
                                    <p:anim calcmode="lin" valueType="num">
                                      <p:cBhvr additive="base">
                                        <p:cTn id="31" dur="500" fill="hold"/>
                                        <p:tgtEl>
                                          <p:spTgt spid="590851">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9085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590851">
                                            <p:txEl>
                                              <p:pRg st="7" end="7"/>
                                            </p:txEl>
                                          </p:spTgt>
                                        </p:tgtEl>
                                        <p:attrNameLst>
                                          <p:attrName>style.visibility</p:attrName>
                                        </p:attrNameLst>
                                      </p:cBhvr>
                                      <p:to>
                                        <p:strVal val="visible"/>
                                      </p:to>
                                    </p:set>
                                    <p:anim calcmode="lin" valueType="num">
                                      <p:cBhvr additive="base">
                                        <p:cTn id="35" dur="500" fill="hold"/>
                                        <p:tgtEl>
                                          <p:spTgt spid="590851">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90851">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whoosh.wav"/>
                                        </p:tgtEl>
                                      </p:cMediaNode>
                                    </p:audio>
                                  </p:subTnLst>
                                </p:cTn>
                              </p:par>
                              <p:par>
                                <p:cTn id="37" presetID="2" presetClass="entr" presetSubtype="8" fill="hold" grpId="0" nodeType="withEffect">
                                  <p:stCondLst>
                                    <p:cond delay="0"/>
                                  </p:stCondLst>
                                  <p:childTnLst>
                                    <p:set>
                                      <p:cBhvr>
                                        <p:cTn id="38" dur="1" fill="hold">
                                          <p:stCondLst>
                                            <p:cond delay="0"/>
                                          </p:stCondLst>
                                        </p:cTn>
                                        <p:tgtEl>
                                          <p:spTgt spid="590851">
                                            <p:txEl>
                                              <p:pRg st="8" end="8"/>
                                            </p:txEl>
                                          </p:spTgt>
                                        </p:tgtEl>
                                        <p:attrNameLst>
                                          <p:attrName>style.visibility</p:attrName>
                                        </p:attrNameLst>
                                      </p:cBhvr>
                                      <p:to>
                                        <p:strVal val="visible"/>
                                      </p:to>
                                    </p:set>
                                    <p:anim calcmode="lin" valueType="num">
                                      <p:cBhvr additive="base">
                                        <p:cTn id="39" dur="500" fill="hold"/>
                                        <p:tgtEl>
                                          <p:spTgt spid="590851">
                                            <p:txEl>
                                              <p:pRg st="8" end="8"/>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90851">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whoosh.wav"/>
                                        </p:tgtEl>
                                      </p:cMediaNode>
                                    </p:audio>
                                  </p:subTnLst>
                                </p:cTn>
                              </p:par>
                              <p:par>
                                <p:cTn id="41" presetID="2" presetClass="entr" presetSubtype="8" fill="hold" grpId="0" nodeType="withEffect">
                                  <p:stCondLst>
                                    <p:cond delay="0"/>
                                  </p:stCondLst>
                                  <p:childTnLst>
                                    <p:set>
                                      <p:cBhvr>
                                        <p:cTn id="42" dur="1" fill="hold">
                                          <p:stCondLst>
                                            <p:cond delay="0"/>
                                          </p:stCondLst>
                                        </p:cTn>
                                        <p:tgtEl>
                                          <p:spTgt spid="590851">
                                            <p:txEl>
                                              <p:pRg st="9" end="9"/>
                                            </p:txEl>
                                          </p:spTgt>
                                        </p:tgtEl>
                                        <p:attrNameLst>
                                          <p:attrName>style.visibility</p:attrName>
                                        </p:attrNameLst>
                                      </p:cBhvr>
                                      <p:to>
                                        <p:strVal val="visible"/>
                                      </p:to>
                                    </p:set>
                                    <p:anim calcmode="lin" valueType="num">
                                      <p:cBhvr additive="base">
                                        <p:cTn id="43" dur="500" fill="hold"/>
                                        <p:tgtEl>
                                          <p:spTgt spid="590851">
                                            <p:txEl>
                                              <p:pRg st="9" end="9"/>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90851">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whoosh.wav"/>
                                        </p:tgtEl>
                                      </p:cMediaNode>
                                    </p:audio>
                                  </p:subTnLst>
                                </p:cTn>
                              </p:par>
                              <p:par>
                                <p:cTn id="45" presetID="2" presetClass="entr" presetSubtype="8" fill="hold" grpId="0" nodeType="withEffect">
                                  <p:stCondLst>
                                    <p:cond delay="0"/>
                                  </p:stCondLst>
                                  <p:childTnLst>
                                    <p:set>
                                      <p:cBhvr>
                                        <p:cTn id="46" dur="1" fill="hold">
                                          <p:stCondLst>
                                            <p:cond delay="0"/>
                                          </p:stCondLst>
                                        </p:cTn>
                                        <p:tgtEl>
                                          <p:spTgt spid="590851">
                                            <p:txEl>
                                              <p:pRg st="10" end="10"/>
                                            </p:txEl>
                                          </p:spTgt>
                                        </p:tgtEl>
                                        <p:attrNameLst>
                                          <p:attrName>style.visibility</p:attrName>
                                        </p:attrNameLst>
                                      </p:cBhvr>
                                      <p:to>
                                        <p:strVal val="visible"/>
                                      </p:to>
                                    </p:set>
                                    <p:anim calcmode="lin" valueType="num">
                                      <p:cBhvr additive="base">
                                        <p:cTn id="47" dur="500" fill="hold"/>
                                        <p:tgtEl>
                                          <p:spTgt spid="590851">
                                            <p:txEl>
                                              <p:pRg st="10" end="1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90851">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1"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630B39E-94D2-B7D9-0B08-89FFB6C1C310}"/>
              </a:ext>
            </a:extLst>
          </p:cNvPr>
          <p:cNvSpPr>
            <a:spLocks noGrp="1" noChangeArrowheads="1"/>
          </p:cNvSpPr>
          <p:nvPr>
            <p:ph type="ctrTitle"/>
          </p:nvPr>
        </p:nvSpPr>
        <p:spPr/>
        <p:txBody>
          <a:bodyPr/>
          <a:lstStyle/>
          <a:p>
            <a:pPr eaLnBrk="1" hangingPunct="1"/>
            <a:r>
              <a:rPr lang="zh-CN" altLang="en-US"/>
              <a:t>用指针定义数组（动态数组）</a:t>
            </a:r>
          </a:p>
        </p:txBody>
      </p:sp>
      <p:sp>
        <p:nvSpPr>
          <p:cNvPr id="591875" name="Rectangle 3">
            <a:extLst>
              <a:ext uri="{FF2B5EF4-FFF2-40B4-BE49-F238E27FC236}">
                <a16:creationId xmlns:a16="http://schemas.microsoft.com/office/drawing/2014/main" id="{F44FA84F-57B7-4A79-D4CC-7188273249DE}"/>
              </a:ext>
            </a:extLst>
          </p:cNvPr>
          <p:cNvSpPr>
            <a:spLocks noGrp="1" noChangeArrowheads="1"/>
          </p:cNvSpPr>
          <p:nvPr>
            <p:ph type="subTitle" idx="1"/>
          </p:nvPr>
        </p:nvSpPr>
        <p:spPr/>
        <p:txBody>
          <a:body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591875">
                                            <p:txEl>
                                              <p:pRg st="0" end="0"/>
                                            </p:txEl>
                                          </p:spTgt>
                                        </p:tgtEl>
                                        <p:attrNameLst>
                                          <p:attrName>style.visibility</p:attrName>
                                        </p:attrNameLst>
                                      </p:cBhvr>
                                      <p:to>
                                        <p:strVal val="visible"/>
                                      </p:to>
                                    </p:set>
                                    <p:anim calcmode="lin" valueType="num">
                                      <p:cBhvr additive="base">
                                        <p:cTn id="7" dur="500" fill="hold"/>
                                        <p:tgtEl>
                                          <p:spTgt spid="5918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187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875"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0536512-DB75-3504-99C6-930C7F69FB65}"/>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7B0A0E42-E6D6-F05C-41BD-A39BC14F5D16}"/>
              </a:ext>
            </a:extLst>
          </p:cNvPr>
          <p:cNvSpPr>
            <a:spLocks noGrp="1" noChangeArrowheads="1"/>
          </p:cNvSpPr>
          <p:nvPr>
            <p:ph type="title"/>
          </p:nvPr>
        </p:nvSpPr>
        <p:spPr>
          <a:xfrm>
            <a:off x="1150938" y="214313"/>
            <a:ext cx="7983190" cy="1462087"/>
          </a:xfrm>
        </p:spPr>
        <p:txBody>
          <a:bodyPr/>
          <a:lstStyle/>
          <a:p>
            <a:pPr eaLnBrk="1" hangingPunct="1"/>
            <a:r>
              <a:rPr lang="en-US" altLang="zh-CN" sz="4000"/>
              <a:t>Memory Layout of C Programs</a:t>
            </a:r>
          </a:p>
        </p:txBody>
      </p:sp>
      <p:pic>
        <p:nvPicPr>
          <p:cNvPr id="112642" name="Picture 2">
            <a:extLst>
              <a:ext uri="{FF2B5EF4-FFF2-40B4-BE49-F238E27FC236}">
                <a16:creationId xmlns:a16="http://schemas.microsoft.com/office/drawing/2014/main" id="{3517584A-BCE9-6BE9-BB30-79F6C726B6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2132856"/>
            <a:ext cx="5247928" cy="4009556"/>
          </a:xfrm>
          <a:prstGeom prst="rect">
            <a:avLst/>
          </a:prstGeom>
          <a:noFill/>
          <a:extLst>
            <a:ext uri="{909E8E84-426E-40DD-AFC4-6F175D3DCCD1}">
              <a14:hiddenFill xmlns:a14="http://schemas.microsoft.com/office/drawing/2010/main">
                <a:solidFill>
                  <a:srgbClr val="FFFFFF"/>
                </a:solidFill>
              </a14:hiddenFill>
            </a:ext>
          </a:extLst>
        </p:spPr>
      </p:pic>
      <p:sp>
        <p:nvSpPr>
          <p:cNvPr id="592899" name="Rectangle 3">
            <a:extLst>
              <a:ext uri="{FF2B5EF4-FFF2-40B4-BE49-F238E27FC236}">
                <a16:creationId xmlns:a16="http://schemas.microsoft.com/office/drawing/2014/main" id="{BA9D08C3-2C8B-51ED-3FA7-043A641FB3A6}"/>
              </a:ext>
            </a:extLst>
          </p:cNvPr>
          <p:cNvSpPr>
            <a:spLocks noGrp="1" noChangeArrowheads="1"/>
          </p:cNvSpPr>
          <p:nvPr>
            <p:ph type="body" idx="1"/>
          </p:nvPr>
        </p:nvSpPr>
        <p:spPr>
          <a:xfrm>
            <a:off x="251520" y="2346823"/>
            <a:ext cx="7772400" cy="4114800"/>
          </a:xfrm>
        </p:spPr>
        <p:txBody>
          <a:bodyPr/>
          <a:lstStyle/>
          <a:p>
            <a:pPr marL="457200" indent="-457200">
              <a:buFont typeface="+mj-lt"/>
              <a:buAutoNum type="arabicPeriod"/>
            </a:pPr>
            <a:r>
              <a:rPr lang="en-US" altLang="zh-CN" sz="2400"/>
              <a:t>Text segment </a:t>
            </a:r>
          </a:p>
          <a:p>
            <a:pPr lvl="1"/>
            <a:r>
              <a:rPr lang="en-US" altLang="zh-CN" sz="2000"/>
              <a:t>(i.e. instructions)</a:t>
            </a:r>
          </a:p>
          <a:p>
            <a:pPr marL="457200" indent="-457200">
              <a:buFont typeface="+mj-lt"/>
              <a:buAutoNum type="arabicPeriod"/>
            </a:pPr>
            <a:r>
              <a:rPr lang="en-US" altLang="zh-CN" sz="2400"/>
              <a:t>Initialized data segment </a:t>
            </a:r>
          </a:p>
          <a:p>
            <a:pPr marL="457200" indent="-457200">
              <a:buFont typeface="+mj-lt"/>
              <a:buAutoNum type="arabicPeriod"/>
            </a:pPr>
            <a:r>
              <a:rPr lang="en-US" altLang="zh-CN" sz="2400"/>
              <a:t>Uninitialized data segment </a:t>
            </a:r>
          </a:p>
          <a:p>
            <a:pPr lvl="1"/>
            <a:r>
              <a:rPr lang="en-US" altLang="zh-CN" sz="2000"/>
              <a:t>(bss)</a:t>
            </a:r>
          </a:p>
          <a:p>
            <a:pPr marL="457200" indent="-457200">
              <a:buFont typeface="+mj-lt"/>
              <a:buAutoNum type="arabicPeriod"/>
            </a:pPr>
            <a:r>
              <a:rPr lang="en-US" altLang="zh-CN" sz="2400"/>
              <a:t>Heap </a:t>
            </a:r>
          </a:p>
          <a:p>
            <a:pPr marL="457200" indent="-457200">
              <a:buFont typeface="+mj-lt"/>
              <a:buAutoNum type="arabicPeriod"/>
            </a:pPr>
            <a:r>
              <a:rPr lang="en-US" altLang="zh-CN" sz="2400"/>
              <a:t>Stack </a:t>
            </a:r>
          </a:p>
        </p:txBody>
      </p:sp>
      <p:sp>
        <p:nvSpPr>
          <p:cNvPr id="3" name="文本框 2">
            <a:extLst>
              <a:ext uri="{FF2B5EF4-FFF2-40B4-BE49-F238E27FC236}">
                <a16:creationId xmlns:a16="http://schemas.microsoft.com/office/drawing/2014/main" id="{9D5A96B4-A7D4-13BC-9ECE-F8514475789A}"/>
              </a:ext>
            </a:extLst>
          </p:cNvPr>
          <p:cNvSpPr txBox="1"/>
          <p:nvPr/>
        </p:nvSpPr>
        <p:spPr>
          <a:xfrm>
            <a:off x="4220989" y="6496151"/>
            <a:ext cx="4578350" cy="230832"/>
          </a:xfrm>
          <a:prstGeom prst="rect">
            <a:avLst/>
          </a:prstGeom>
          <a:noFill/>
        </p:spPr>
        <p:txBody>
          <a:bodyPr wrap="square">
            <a:spAutoFit/>
          </a:bodyPr>
          <a:lstStyle/>
          <a:p>
            <a:r>
              <a:rPr lang="zh-CN" altLang="en-US" sz="900" b="0" i="0">
                <a:solidFill>
                  <a:schemeClr val="bg1">
                    <a:lumMod val="50000"/>
                  </a:schemeClr>
                </a:solidFill>
              </a:rPr>
              <a:t>https://www.geeksforgeeks.org/memory-layout-of-c-program/?ref=oin_asr11</a:t>
            </a:r>
          </a:p>
        </p:txBody>
      </p:sp>
    </p:spTree>
    <p:extLst>
      <p:ext uri="{BB962C8B-B14F-4D97-AF65-F5344CB8AC3E}">
        <p14:creationId xmlns:p14="http://schemas.microsoft.com/office/powerpoint/2010/main" val="302871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2899">
                                            <p:txEl>
                                              <p:pRg st="0" end="0"/>
                                            </p:txEl>
                                          </p:spTgt>
                                        </p:tgtEl>
                                        <p:attrNameLst>
                                          <p:attrName>style.visibility</p:attrName>
                                        </p:attrNameLst>
                                      </p:cBhvr>
                                      <p:to>
                                        <p:strVal val="visible"/>
                                      </p:to>
                                    </p:set>
                                    <p:anim calcmode="lin" valueType="num">
                                      <p:cBhvr additive="base">
                                        <p:cTn id="7" dur="500" fill="hold"/>
                                        <p:tgtEl>
                                          <p:spTgt spid="5928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289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92899">
                                            <p:txEl>
                                              <p:pRg st="1" end="1"/>
                                            </p:txEl>
                                          </p:spTgt>
                                        </p:tgtEl>
                                        <p:attrNameLst>
                                          <p:attrName>style.visibility</p:attrName>
                                        </p:attrNameLst>
                                      </p:cBhvr>
                                      <p:to>
                                        <p:strVal val="visible"/>
                                      </p:to>
                                    </p:set>
                                    <p:anim calcmode="lin" valueType="num">
                                      <p:cBhvr additive="base">
                                        <p:cTn id="11" dur="500" fill="hold"/>
                                        <p:tgtEl>
                                          <p:spTgt spid="59289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9289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92899">
                                            <p:txEl>
                                              <p:pRg st="2" end="2"/>
                                            </p:txEl>
                                          </p:spTgt>
                                        </p:tgtEl>
                                        <p:attrNameLst>
                                          <p:attrName>style.visibility</p:attrName>
                                        </p:attrNameLst>
                                      </p:cBhvr>
                                      <p:to>
                                        <p:strVal val="visible"/>
                                      </p:to>
                                    </p:set>
                                    <p:anim calcmode="lin" valueType="num">
                                      <p:cBhvr additive="base">
                                        <p:cTn id="17" dur="500" fill="hold"/>
                                        <p:tgtEl>
                                          <p:spTgt spid="59289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9289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92899">
                                            <p:txEl>
                                              <p:pRg st="3" end="3"/>
                                            </p:txEl>
                                          </p:spTgt>
                                        </p:tgtEl>
                                        <p:attrNameLst>
                                          <p:attrName>style.visibility</p:attrName>
                                        </p:attrNameLst>
                                      </p:cBhvr>
                                      <p:to>
                                        <p:strVal val="visible"/>
                                      </p:to>
                                    </p:set>
                                    <p:anim calcmode="lin" valueType="num">
                                      <p:cBhvr additive="base">
                                        <p:cTn id="23" dur="500" fill="hold"/>
                                        <p:tgtEl>
                                          <p:spTgt spid="592899">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9289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92899">
                                            <p:txEl>
                                              <p:pRg st="4" end="4"/>
                                            </p:txEl>
                                          </p:spTgt>
                                        </p:tgtEl>
                                        <p:attrNameLst>
                                          <p:attrName>style.visibility</p:attrName>
                                        </p:attrNameLst>
                                      </p:cBhvr>
                                      <p:to>
                                        <p:strVal val="visible"/>
                                      </p:to>
                                    </p:set>
                                    <p:anim calcmode="lin" valueType="num">
                                      <p:cBhvr additive="base">
                                        <p:cTn id="27" dur="500" fill="hold"/>
                                        <p:tgtEl>
                                          <p:spTgt spid="592899">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9289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592899">
                                            <p:txEl>
                                              <p:pRg st="5" end="5"/>
                                            </p:txEl>
                                          </p:spTgt>
                                        </p:tgtEl>
                                        <p:attrNameLst>
                                          <p:attrName>style.visibility</p:attrName>
                                        </p:attrNameLst>
                                      </p:cBhvr>
                                      <p:to>
                                        <p:strVal val="visible"/>
                                      </p:to>
                                    </p:set>
                                    <p:anim calcmode="lin" valueType="num">
                                      <p:cBhvr additive="base">
                                        <p:cTn id="33" dur="500" fill="hold"/>
                                        <p:tgtEl>
                                          <p:spTgt spid="592899">
                                            <p:txEl>
                                              <p:pRg st="5" end="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59289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whoosh.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592899">
                                            <p:txEl>
                                              <p:pRg st="6" end="6"/>
                                            </p:txEl>
                                          </p:spTgt>
                                        </p:tgtEl>
                                        <p:attrNameLst>
                                          <p:attrName>style.visibility</p:attrName>
                                        </p:attrNameLst>
                                      </p:cBhvr>
                                      <p:to>
                                        <p:strVal val="visible"/>
                                      </p:to>
                                    </p:set>
                                    <p:anim calcmode="lin" valueType="num">
                                      <p:cBhvr additive="base">
                                        <p:cTn id="39" dur="500" fill="hold"/>
                                        <p:tgtEl>
                                          <p:spTgt spid="592899">
                                            <p:txEl>
                                              <p:pRg st="6" end="6"/>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92899">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899"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2EF785C-A30E-C277-3B07-7BC206D03E92}"/>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0A5657F4-9E67-0E46-E586-C74F23BFE0D1}"/>
              </a:ext>
            </a:extLst>
          </p:cNvPr>
          <p:cNvSpPr>
            <a:spLocks noGrp="1" noChangeArrowheads="1"/>
          </p:cNvSpPr>
          <p:nvPr>
            <p:ph type="title"/>
          </p:nvPr>
        </p:nvSpPr>
        <p:spPr>
          <a:xfrm>
            <a:off x="1150938" y="214313"/>
            <a:ext cx="7983190" cy="1462087"/>
          </a:xfrm>
        </p:spPr>
        <p:txBody>
          <a:bodyPr/>
          <a:lstStyle/>
          <a:p>
            <a:pPr eaLnBrk="1" hangingPunct="1"/>
            <a:r>
              <a:rPr lang="en-US" altLang="zh-CN" sz="4000"/>
              <a:t>Memory Layout of C Programs</a:t>
            </a:r>
          </a:p>
        </p:txBody>
      </p:sp>
      <p:sp>
        <p:nvSpPr>
          <p:cNvPr id="3" name="文本框 2">
            <a:extLst>
              <a:ext uri="{FF2B5EF4-FFF2-40B4-BE49-F238E27FC236}">
                <a16:creationId xmlns:a16="http://schemas.microsoft.com/office/drawing/2014/main" id="{F418CAF7-D781-8F3E-12C5-0097E628D6F3}"/>
              </a:ext>
            </a:extLst>
          </p:cNvPr>
          <p:cNvSpPr txBox="1"/>
          <p:nvPr/>
        </p:nvSpPr>
        <p:spPr>
          <a:xfrm>
            <a:off x="4220989" y="6496151"/>
            <a:ext cx="4578350" cy="230832"/>
          </a:xfrm>
          <a:prstGeom prst="rect">
            <a:avLst/>
          </a:prstGeom>
          <a:noFill/>
        </p:spPr>
        <p:txBody>
          <a:bodyPr wrap="square">
            <a:spAutoFit/>
          </a:bodyPr>
          <a:lstStyle/>
          <a:p>
            <a:r>
              <a:rPr lang="zh-CN" altLang="en-US" sz="900" b="0" i="0">
                <a:solidFill>
                  <a:schemeClr val="bg1">
                    <a:lumMod val="50000"/>
                  </a:schemeClr>
                </a:solidFill>
              </a:rPr>
              <a:t>https://www.geeksforgeeks.org/memory-layout-of-c-program/?ref=oin_asr11</a:t>
            </a:r>
          </a:p>
        </p:txBody>
      </p:sp>
      <p:sp>
        <p:nvSpPr>
          <p:cNvPr id="4" name="Rectangle 3">
            <a:extLst>
              <a:ext uri="{FF2B5EF4-FFF2-40B4-BE49-F238E27FC236}">
                <a16:creationId xmlns:a16="http://schemas.microsoft.com/office/drawing/2014/main" id="{39BE0B62-0F94-4B08-C05A-351A62C568A7}"/>
              </a:ext>
            </a:extLst>
          </p:cNvPr>
          <p:cNvSpPr txBox="1">
            <a:spLocks noChangeArrowheads="1"/>
          </p:cNvSpPr>
          <p:nvPr/>
        </p:nvSpPr>
        <p:spPr bwMode="auto">
          <a:xfrm>
            <a:off x="1182688" y="2017713"/>
            <a:ext cx="734975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Aft>
                <a:spcPts val="600"/>
              </a:spcAft>
            </a:pPr>
            <a:r>
              <a:rPr lang="en-US" altLang="zh-CN" sz="2800" i="0"/>
              <a:t>1. Text Segment:</a:t>
            </a:r>
            <a:r>
              <a:rPr lang="en-US" altLang="zh-CN" sz="2800" b="0" i="0"/>
              <a:t> </a:t>
            </a:r>
          </a:p>
          <a:p>
            <a:pPr lvl="1" algn="just" eaLnBrk="1" hangingPunct="1">
              <a:spcAft>
                <a:spcPts val="600"/>
              </a:spcAft>
            </a:pPr>
            <a:r>
              <a:rPr lang="en-US" altLang="zh-CN" sz="2400" b="0" i="0"/>
              <a:t>A text segment, also known as a </a:t>
            </a:r>
            <a:r>
              <a:rPr lang="en-US" altLang="zh-CN" sz="2400" b="0" i="0">
                <a:solidFill>
                  <a:srgbClr val="0070C0"/>
                </a:solidFill>
              </a:rPr>
              <a:t>code segment </a:t>
            </a:r>
            <a:r>
              <a:rPr lang="en-US" altLang="zh-CN" sz="2400" b="0" i="0"/>
              <a:t>or simply as </a:t>
            </a:r>
            <a:r>
              <a:rPr lang="en-US" altLang="zh-CN" sz="2400" b="0" i="0">
                <a:solidFill>
                  <a:srgbClr val="0070C0"/>
                </a:solidFill>
              </a:rPr>
              <a:t>text</a:t>
            </a:r>
            <a:r>
              <a:rPr lang="en-US" altLang="zh-CN" sz="2400" b="0" i="0"/>
              <a:t>, is one of the sections of a program in an object file or in memory, which </a:t>
            </a:r>
            <a:r>
              <a:rPr lang="en-US" altLang="zh-CN" sz="2400" b="0" i="0" u="sng"/>
              <a:t>contains executable instructions</a:t>
            </a:r>
            <a:r>
              <a:rPr lang="en-US" altLang="zh-CN" sz="2400" b="0" i="0"/>
              <a:t>.</a:t>
            </a:r>
          </a:p>
          <a:p>
            <a:pPr lvl="1" algn="just" eaLnBrk="1" hangingPunct="1">
              <a:spcAft>
                <a:spcPts val="600"/>
              </a:spcAft>
            </a:pPr>
            <a:r>
              <a:rPr lang="en-US" altLang="zh-CN" sz="2400" b="0" i="0"/>
              <a:t>As a memory region, a text segment may be placed below the heap or stack in order to prevent heaps and stack overflows from overwriting it. </a:t>
            </a:r>
          </a:p>
        </p:txBody>
      </p:sp>
      <p:pic>
        <p:nvPicPr>
          <p:cNvPr id="2" name="图片 1">
            <a:extLst>
              <a:ext uri="{FF2B5EF4-FFF2-40B4-BE49-F238E27FC236}">
                <a16:creationId xmlns:a16="http://schemas.microsoft.com/office/drawing/2014/main" id="{62C1BE74-853B-7724-F7F0-80CE3ECC042E}"/>
              </a:ext>
            </a:extLst>
          </p:cNvPr>
          <p:cNvPicPr>
            <a:picLocks noChangeAspect="1"/>
          </p:cNvPicPr>
          <p:nvPr/>
        </p:nvPicPr>
        <p:blipFill>
          <a:blip r:embed="rId4"/>
          <a:stretch>
            <a:fillRect/>
          </a:stretch>
        </p:blipFill>
        <p:spPr>
          <a:xfrm>
            <a:off x="179512" y="3337370"/>
            <a:ext cx="1228485" cy="3182117"/>
          </a:xfrm>
          <a:prstGeom prst="rect">
            <a:avLst/>
          </a:prstGeom>
        </p:spPr>
      </p:pic>
      <p:sp>
        <p:nvSpPr>
          <p:cNvPr id="5" name="矩形 4">
            <a:extLst>
              <a:ext uri="{FF2B5EF4-FFF2-40B4-BE49-F238E27FC236}">
                <a16:creationId xmlns:a16="http://schemas.microsoft.com/office/drawing/2014/main" id="{FAEEF191-4BB0-03F0-7E1E-AD453E1A852A}"/>
              </a:ext>
            </a:extLst>
          </p:cNvPr>
          <p:cNvSpPr/>
          <p:nvPr/>
        </p:nvSpPr>
        <p:spPr bwMode="auto">
          <a:xfrm>
            <a:off x="175164" y="6173244"/>
            <a:ext cx="1228484" cy="346243"/>
          </a:xfrm>
          <a:prstGeom prst="rect">
            <a:avLst/>
          </a:prstGeom>
          <a:solidFill>
            <a:srgbClr val="FFC000">
              <a:alpha val="50000"/>
            </a:srgbClr>
          </a:solidFill>
          <a:ln>
            <a:noFill/>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u"/>
              <a:tabLst/>
            </a:pPr>
            <a:endParaRPr kumimoji="0" lang="zh-CN" altLang="en-US" sz="3200" b="1" i="1" u="none" strike="noStrike" cap="none" normalizeH="0" baseline="0">
              <a:ln>
                <a:noFill/>
              </a:ln>
              <a:solidFill>
                <a:schemeClr val="tx1"/>
              </a:solidFill>
              <a:effectLst/>
              <a:latin typeface="Arial Unicode MS" panose="020B0604020202020204" pitchFamily="34" charset="-128"/>
              <a:ea typeface="楷体_GB2312" pitchFamily="49" charset="-122"/>
            </a:endParaRPr>
          </a:p>
        </p:txBody>
      </p:sp>
    </p:spTree>
    <p:extLst>
      <p:ext uri="{BB962C8B-B14F-4D97-AF65-F5344CB8AC3E}">
        <p14:creationId xmlns:p14="http://schemas.microsoft.com/office/powerpoint/2010/main" val="2847976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DC7BDC3-4240-AE42-1720-79202F6E8F93}"/>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58B85D38-4115-84CC-F922-AACF22A050D8}"/>
              </a:ext>
            </a:extLst>
          </p:cNvPr>
          <p:cNvSpPr>
            <a:spLocks noGrp="1" noChangeArrowheads="1"/>
          </p:cNvSpPr>
          <p:nvPr>
            <p:ph type="title"/>
          </p:nvPr>
        </p:nvSpPr>
        <p:spPr>
          <a:xfrm>
            <a:off x="1150938" y="214313"/>
            <a:ext cx="7983190" cy="1462087"/>
          </a:xfrm>
        </p:spPr>
        <p:txBody>
          <a:bodyPr/>
          <a:lstStyle/>
          <a:p>
            <a:pPr eaLnBrk="1" hangingPunct="1"/>
            <a:r>
              <a:rPr lang="en-US" altLang="zh-CN" sz="4000"/>
              <a:t>Memory Layout of C Programs</a:t>
            </a:r>
          </a:p>
        </p:txBody>
      </p:sp>
      <p:sp>
        <p:nvSpPr>
          <p:cNvPr id="3" name="文本框 2">
            <a:extLst>
              <a:ext uri="{FF2B5EF4-FFF2-40B4-BE49-F238E27FC236}">
                <a16:creationId xmlns:a16="http://schemas.microsoft.com/office/drawing/2014/main" id="{491137D4-3917-ADD6-3139-9B42CF0BC445}"/>
              </a:ext>
            </a:extLst>
          </p:cNvPr>
          <p:cNvSpPr txBox="1"/>
          <p:nvPr/>
        </p:nvSpPr>
        <p:spPr>
          <a:xfrm>
            <a:off x="4220989" y="6496151"/>
            <a:ext cx="4578350" cy="230832"/>
          </a:xfrm>
          <a:prstGeom prst="rect">
            <a:avLst/>
          </a:prstGeom>
          <a:noFill/>
        </p:spPr>
        <p:txBody>
          <a:bodyPr wrap="square">
            <a:spAutoFit/>
          </a:bodyPr>
          <a:lstStyle/>
          <a:p>
            <a:r>
              <a:rPr lang="zh-CN" altLang="en-US" sz="900" b="0" i="0">
                <a:solidFill>
                  <a:schemeClr val="bg1">
                    <a:lumMod val="50000"/>
                  </a:schemeClr>
                </a:solidFill>
              </a:rPr>
              <a:t>https://www.geeksforgeeks.org/memory-layout-of-c-program/?ref=oin_asr11</a:t>
            </a:r>
          </a:p>
        </p:txBody>
      </p:sp>
      <p:sp>
        <p:nvSpPr>
          <p:cNvPr id="4" name="Rectangle 3">
            <a:extLst>
              <a:ext uri="{FF2B5EF4-FFF2-40B4-BE49-F238E27FC236}">
                <a16:creationId xmlns:a16="http://schemas.microsoft.com/office/drawing/2014/main" id="{899D2B97-678B-5B5B-DE55-B8B17DA94F90}"/>
              </a:ext>
            </a:extLst>
          </p:cNvPr>
          <p:cNvSpPr txBox="1">
            <a:spLocks noChangeArrowheads="1"/>
          </p:cNvSpPr>
          <p:nvPr/>
        </p:nvSpPr>
        <p:spPr bwMode="auto">
          <a:xfrm>
            <a:off x="1182688" y="2017713"/>
            <a:ext cx="734975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Aft>
                <a:spcPts val="600"/>
              </a:spcAft>
            </a:pPr>
            <a:r>
              <a:rPr lang="en-US" altLang="zh-CN" sz="2800" i="0"/>
              <a:t>2. Initialized Data Segment:</a:t>
            </a:r>
            <a:endParaRPr lang="en-US" altLang="zh-CN" sz="2800" b="0" i="0"/>
          </a:p>
          <a:p>
            <a:pPr lvl="1" algn="just" eaLnBrk="1" hangingPunct="1">
              <a:spcAft>
                <a:spcPts val="600"/>
              </a:spcAft>
            </a:pPr>
            <a:r>
              <a:rPr lang="en-US" altLang="zh-CN" sz="2400" b="0" i="0"/>
              <a:t>Initialized data segment, usually called simply the </a:t>
            </a:r>
            <a:r>
              <a:rPr lang="en-US" altLang="zh-CN" sz="2400" b="0" i="0">
                <a:solidFill>
                  <a:srgbClr val="0070C0"/>
                </a:solidFill>
              </a:rPr>
              <a:t>Data Segment</a:t>
            </a:r>
            <a:r>
              <a:rPr lang="en-US" altLang="zh-CN" sz="2400" b="0" i="0"/>
              <a:t>.</a:t>
            </a:r>
          </a:p>
          <a:p>
            <a:pPr lvl="1" algn="just" eaLnBrk="1" hangingPunct="1">
              <a:spcAft>
                <a:spcPts val="600"/>
              </a:spcAft>
            </a:pPr>
            <a:r>
              <a:rPr lang="en-US" altLang="zh-CN" sz="2400" b="0" i="0"/>
              <a:t>A data segment is a portion of the virtual address space of a program, which </a:t>
            </a:r>
            <a:r>
              <a:rPr lang="en-US" altLang="zh-CN" sz="2400" b="0" i="0" u="sng"/>
              <a:t>contains the global variables and static variables that are initialized by the programmer</a:t>
            </a:r>
            <a:r>
              <a:rPr lang="en-US" altLang="zh-CN" sz="2400" b="0" i="0"/>
              <a:t>.</a:t>
            </a:r>
          </a:p>
          <a:p>
            <a:pPr lvl="1" algn="just" eaLnBrk="1" hangingPunct="1">
              <a:spcAft>
                <a:spcPts val="600"/>
              </a:spcAft>
            </a:pPr>
            <a:r>
              <a:rPr lang="en-US" altLang="zh-CN" sz="2400" b="0" i="0"/>
              <a:t>This segment can be further classified into the </a:t>
            </a:r>
            <a:r>
              <a:rPr lang="en-US" altLang="zh-CN" sz="2400" b="0" i="0">
                <a:solidFill>
                  <a:srgbClr val="0070C0"/>
                </a:solidFill>
              </a:rPr>
              <a:t>initialized read-only area </a:t>
            </a:r>
            <a:r>
              <a:rPr lang="en-US" altLang="zh-CN" sz="2400" b="0" i="0"/>
              <a:t>and the </a:t>
            </a:r>
            <a:r>
              <a:rPr lang="en-US" altLang="zh-CN" sz="2400" b="0" i="0">
                <a:solidFill>
                  <a:srgbClr val="0070C0"/>
                </a:solidFill>
              </a:rPr>
              <a:t>initialized read-write area</a:t>
            </a:r>
            <a:r>
              <a:rPr lang="en-US" altLang="zh-CN" sz="2400" b="0" i="0"/>
              <a:t>.</a:t>
            </a:r>
          </a:p>
        </p:txBody>
      </p:sp>
      <p:pic>
        <p:nvPicPr>
          <p:cNvPr id="2" name="图片 1">
            <a:extLst>
              <a:ext uri="{FF2B5EF4-FFF2-40B4-BE49-F238E27FC236}">
                <a16:creationId xmlns:a16="http://schemas.microsoft.com/office/drawing/2014/main" id="{12BCE0EC-B0A0-F703-589C-8BBF95511751}"/>
              </a:ext>
            </a:extLst>
          </p:cNvPr>
          <p:cNvPicPr>
            <a:picLocks noChangeAspect="1"/>
          </p:cNvPicPr>
          <p:nvPr/>
        </p:nvPicPr>
        <p:blipFill>
          <a:blip r:embed="rId4"/>
          <a:stretch>
            <a:fillRect/>
          </a:stretch>
        </p:blipFill>
        <p:spPr>
          <a:xfrm>
            <a:off x="179512" y="3337370"/>
            <a:ext cx="1228485" cy="3182117"/>
          </a:xfrm>
          <a:prstGeom prst="rect">
            <a:avLst/>
          </a:prstGeom>
        </p:spPr>
      </p:pic>
      <p:sp>
        <p:nvSpPr>
          <p:cNvPr id="5" name="矩形 4">
            <a:extLst>
              <a:ext uri="{FF2B5EF4-FFF2-40B4-BE49-F238E27FC236}">
                <a16:creationId xmlns:a16="http://schemas.microsoft.com/office/drawing/2014/main" id="{3C2DC88E-1D15-85E3-1F62-718EDC135FBD}"/>
              </a:ext>
            </a:extLst>
          </p:cNvPr>
          <p:cNvSpPr/>
          <p:nvPr/>
        </p:nvSpPr>
        <p:spPr bwMode="auto">
          <a:xfrm>
            <a:off x="165592" y="5891069"/>
            <a:ext cx="1228484" cy="346243"/>
          </a:xfrm>
          <a:prstGeom prst="rect">
            <a:avLst/>
          </a:prstGeom>
          <a:solidFill>
            <a:srgbClr val="FFC000">
              <a:alpha val="50000"/>
            </a:srgbClr>
          </a:solidFill>
          <a:ln>
            <a:noFill/>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u"/>
              <a:tabLst/>
            </a:pPr>
            <a:endParaRPr kumimoji="0" lang="zh-CN" altLang="en-US" sz="3200" b="1" i="1" u="none" strike="noStrike" cap="none" normalizeH="0" baseline="0">
              <a:ln>
                <a:noFill/>
              </a:ln>
              <a:solidFill>
                <a:schemeClr val="tx1"/>
              </a:solidFill>
              <a:effectLst/>
              <a:latin typeface="Arial Unicode MS" panose="020B0604020202020204" pitchFamily="34" charset="-128"/>
              <a:ea typeface="楷体_GB2312" pitchFamily="49" charset="-122"/>
            </a:endParaRPr>
          </a:p>
        </p:txBody>
      </p:sp>
    </p:spTree>
    <p:extLst>
      <p:ext uri="{BB962C8B-B14F-4D97-AF65-F5344CB8AC3E}">
        <p14:creationId xmlns:p14="http://schemas.microsoft.com/office/powerpoint/2010/main" val="3529316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BDBFE1C-BBD5-E799-1B0D-9E7D4C753707}"/>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BF1D7A09-0582-1C10-5944-F3C60678D5B0}"/>
              </a:ext>
            </a:extLst>
          </p:cNvPr>
          <p:cNvSpPr>
            <a:spLocks noGrp="1" noChangeArrowheads="1"/>
          </p:cNvSpPr>
          <p:nvPr>
            <p:ph type="title"/>
          </p:nvPr>
        </p:nvSpPr>
        <p:spPr>
          <a:xfrm>
            <a:off x="1150938" y="214313"/>
            <a:ext cx="7983190" cy="1462087"/>
          </a:xfrm>
        </p:spPr>
        <p:txBody>
          <a:bodyPr/>
          <a:lstStyle/>
          <a:p>
            <a:pPr eaLnBrk="1" hangingPunct="1"/>
            <a:r>
              <a:rPr lang="en-US" altLang="zh-CN" sz="4000"/>
              <a:t>Memory Layout of C Programs</a:t>
            </a:r>
          </a:p>
        </p:txBody>
      </p:sp>
      <p:sp>
        <p:nvSpPr>
          <p:cNvPr id="3" name="文本框 2">
            <a:extLst>
              <a:ext uri="{FF2B5EF4-FFF2-40B4-BE49-F238E27FC236}">
                <a16:creationId xmlns:a16="http://schemas.microsoft.com/office/drawing/2014/main" id="{78A695AD-145E-130E-3B4A-B954CE1EC2A9}"/>
              </a:ext>
            </a:extLst>
          </p:cNvPr>
          <p:cNvSpPr txBox="1"/>
          <p:nvPr/>
        </p:nvSpPr>
        <p:spPr>
          <a:xfrm>
            <a:off x="4220989" y="6496151"/>
            <a:ext cx="4578350" cy="230832"/>
          </a:xfrm>
          <a:prstGeom prst="rect">
            <a:avLst/>
          </a:prstGeom>
          <a:noFill/>
        </p:spPr>
        <p:txBody>
          <a:bodyPr wrap="square">
            <a:spAutoFit/>
          </a:bodyPr>
          <a:lstStyle/>
          <a:p>
            <a:r>
              <a:rPr lang="zh-CN" altLang="en-US" sz="900" b="0" i="0">
                <a:solidFill>
                  <a:schemeClr val="bg1">
                    <a:lumMod val="50000"/>
                  </a:schemeClr>
                </a:solidFill>
              </a:rPr>
              <a:t>https://www.geeksforgeeks.org/memory-layout-of-c-program/?ref=oin_asr11</a:t>
            </a:r>
          </a:p>
        </p:txBody>
      </p:sp>
      <p:sp>
        <p:nvSpPr>
          <p:cNvPr id="4" name="Rectangle 3">
            <a:extLst>
              <a:ext uri="{FF2B5EF4-FFF2-40B4-BE49-F238E27FC236}">
                <a16:creationId xmlns:a16="http://schemas.microsoft.com/office/drawing/2014/main" id="{1D726B82-0D49-40A0-AE40-6E0E5BD66DD8}"/>
              </a:ext>
            </a:extLst>
          </p:cNvPr>
          <p:cNvSpPr txBox="1">
            <a:spLocks noChangeArrowheads="1"/>
          </p:cNvSpPr>
          <p:nvPr/>
        </p:nvSpPr>
        <p:spPr bwMode="auto">
          <a:xfrm>
            <a:off x="1182688" y="2017713"/>
            <a:ext cx="734975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Aft>
                <a:spcPts val="600"/>
              </a:spcAft>
            </a:pPr>
            <a:r>
              <a:rPr lang="en-US" altLang="zh-CN" sz="2800" i="0"/>
              <a:t>3. Uninitialized Data Segment:</a:t>
            </a:r>
            <a:endParaRPr lang="en-US" altLang="zh-CN" sz="2800" b="0" i="0"/>
          </a:p>
          <a:p>
            <a:pPr lvl="1" algn="just" eaLnBrk="1" hangingPunct="1">
              <a:spcAft>
                <a:spcPts val="600"/>
              </a:spcAft>
            </a:pPr>
            <a:r>
              <a:rPr lang="en-US" altLang="zh-CN" sz="2000" b="0" i="0"/>
              <a:t>Uninitialized data segment often called the “</a:t>
            </a:r>
            <a:r>
              <a:rPr lang="en-US" altLang="zh-CN" sz="2000" i="0">
                <a:solidFill>
                  <a:srgbClr val="0070C0"/>
                </a:solidFill>
              </a:rPr>
              <a:t>bss</a:t>
            </a:r>
            <a:r>
              <a:rPr lang="en-US" altLang="zh-CN" sz="2000" b="0" i="0"/>
              <a:t>” segment, named after an ancient assembler operator that stood for “</a:t>
            </a:r>
            <a:r>
              <a:rPr lang="en-US" altLang="zh-CN" sz="2000" i="0"/>
              <a:t>block started by symbol</a:t>
            </a:r>
            <a:r>
              <a:rPr lang="en-US" altLang="zh-CN" sz="2000" b="0" i="0"/>
              <a:t>.”</a:t>
            </a:r>
          </a:p>
          <a:p>
            <a:pPr lvl="1" algn="just" eaLnBrk="1" hangingPunct="1">
              <a:spcAft>
                <a:spcPts val="600"/>
              </a:spcAft>
            </a:pPr>
            <a:r>
              <a:rPr lang="en-US" altLang="zh-CN" sz="2000" b="0" i="0"/>
              <a:t>Data in this segment is </a:t>
            </a:r>
            <a:r>
              <a:rPr lang="en-US" altLang="zh-CN" sz="2000" b="0" i="0" u="sng"/>
              <a:t>initialized by the compiler to arithmetic 0</a:t>
            </a:r>
            <a:r>
              <a:rPr lang="en-US" altLang="zh-CN" sz="2000" b="0" i="0"/>
              <a:t> before the program starts executing uninitialized data starts at the end of the data segment and </a:t>
            </a:r>
            <a:r>
              <a:rPr lang="en-US" altLang="zh-CN" sz="2000" b="0" i="0" u="sng"/>
              <a:t>contains all global variables and static variables</a:t>
            </a:r>
            <a:r>
              <a:rPr lang="en-US" altLang="zh-CN" sz="2000" b="0" i="0"/>
              <a:t> that are initialized to zero or </a:t>
            </a:r>
            <a:r>
              <a:rPr lang="en-US" altLang="zh-CN" sz="2000" b="0" i="0" u="sng">
                <a:solidFill>
                  <a:srgbClr val="0070C0"/>
                </a:solidFill>
              </a:rPr>
              <a:t>do not have explicit initialization in source code</a:t>
            </a:r>
            <a:r>
              <a:rPr lang="en-US" altLang="zh-CN" sz="2000" b="0" i="0"/>
              <a:t>.</a:t>
            </a:r>
            <a:endParaRPr lang="en-US" altLang="zh-CN" sz="1800" b="0" i="0"/>
          </a:p>
        </p:txBody>
      </p:sp>
      <p:pic>
        <p:nvPicPr>
          <p:cNvPr id="2" name="图片 1">
            <a:extLst>
              <a:ext uri="{FF2B5EF4-FFF2-40B4-BE49-F238E27FC236}">
                <a16:creationId xmlns:a16="http://schemas.microsoft.com/office/drawing/2014/main" id="{622A697F-2F61-5499-B3D7-925ED7A0674E}"/>
              </a:ext>
            </a:extLst>
          </p:cNvPr>
          <p:cNvPicPr>
            <a:picLocks noChangeAspect="1"/>
          </p:cNvPicPr>
          <p:nvPr/>
        </p:nvPicPr>
        <p:blipFill>
          <a:blip r:embed="rId4"/>
          <a:stretch>
            <a:fillRect/>
          </a:stretch>
        </p:blipFill>
        <p:spPr>
          <a:xfrm>
            <a:off x="179512" y="3337370"/>
            <a:ext cx="1228485" cy="3182117"/>
          </a:xfrm>
          <a:prstGeom prst="rect">
            <a:avLst/>
          </a:prstGeom>
        </p:spPr>
      </p:pic>
      <p:sp>
        <p:nvSpPr>
          <p:cNvPr id="5" name="矩形 4">
            <a:extLst>
              <a:ext uri="{FF2B5EF4-FFF2-40B4-BE49-F238E27FC236}">
                <a16:creationId xmlns:a16="http://schemas.microsoft.com/office/drawing/2014/main" id="{39882ED1-596C-ACA8-97D3-77E012EA8E3F}"/>
              </a:ext>
            </a:extLst>
          </p:cNvPr>
          <p:cNvSpPr/>
          <p:nvPr/>
        </p:nvSpPr>
        <p:spPr bwMode="auto">
          <a:xfrm>
            <a:off x="179512" y="5517232"/>
            <a:ext cx="1228484" cy="432048"/>
          </a:xfrm>
          <a:prstGeom prst="rect">
            <a:avLst/>
          </a:prstGeom>
          <a:solidFill>
            <a:srgbClr val="FFC000">
              <a:alpha val="50000"/>
            </a:srgbClr>
          </a:solidFill>
          <a:ln>
            <a:noFill/>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u"/>
              <a:tabLst/>
            </a:pPr>
            <a:endParaRPr kumimoji="0" lang="zh-CN" altLang="en-US" sz="3200" b="1" i="1" u="none" strike="noStrike" cap="none" normalizeH="0" baseline="0">
              <a:ln>
                <a:noFill/>
              </a:ln>
              <a:solidFill>
                <a:schemeClr val="tx1"/>
              </a:solidFill>
              <a:effectLst/>
              <a:latin typeface="Arial Unicode MS" panose="020B0604020202020204" pitchFamily="34" charset="-128"/>
              <a:ea typeface="楷体_GB2312" pitchFamily="49" charset="-122"/>
            </a:endParaRPr>
          </a:p>
        </p:txBody>
      </p:sp>
    </p:spTree>
    <p:extLst>
      <p:ext uri="{BB962C8B-B14F-4D97-AF65-F5344CB8AC3E}">
        <p14:creationId xmlns:p14="http://schemas.microsoft.com/office/powerpoint/2010/main" val="1851075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02BF77F-6E9D-F3E2-2C7B-091E67EAEC20}"/>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C023F65F-F58B-1E82-7966-EA913DB09BB3}"/>
              </a:ext>
            </a:extLst>
          </p:cNvPr>
          <p:cNvSpPr>
            <a:spLocks noGrp="1" noChangeArrowheads="1"/>
          </p:cNvSpPr>
          <p:nvPr>
            <p:ph type="title"/>
          </p:nvPr>
        </p:nvSpPr>
        <p:spPr>
          <a:xfrm>
            <a:off x="1150938" y="214313"/>
            <a:ext cx="7983190" cy="1462087"/>
          </a:xfrm>
        </p:spPr>
        <p:txBody>
          <a:bodyPr/>
          <a:lstStyle/>
          <a:p>
            <a:pPr eaLnBrk="1" hangingPunct="1"/>
            <a:r>
              <a:rPr lang="en-US" altLang="zh-CN" sz="4000"/>
              <a:t>Memory Layout of C Programs</a:t>
            </a:r>
          </a:p>
        </p:txBody>
      </p:sp>
      <p:sp>
        <p:nvSpPr>
          <p:cNvPr id="3" name="文本框 2">
            <a:extLst>
              <a:ext uri="{FF2B5EF4-FFF2-40B4-BE49-F238E27FC236}">
                <a16:creationId xmlns:a16="http://schemas.microsoft.com/office/drawing/2014/main" id="{1E4E0508-CDB3-A4E3-8409-8B95A9C274EF}"/>
              </a:ext>
            </a:extLst>
          </p:cNvPr>
          <p:cNvSpPr txBox="1"/>
          <p:nvPr/>
        </p:nvSpPr>
        <p:spPr>
          <a:xfrm>
            <a:off x="4220989" y="6496151"/>
            <a:ext cx="4578350" cy="230832"/>
          </a:xfrm>
          <a:prstGeom prst="rect">
            <a:avLst/>
          </a:prstGeom>
          <a:noFill/>
        </p:spPr>
        <p:txBody>
          <a:bodyPr wrap="square">
            <a:spAutoFit/>
          </a:bodyPr>
          <a:lstStyle/>
          <a:p>
            <a:r>
              <a:rPr lang="zh-CN" altLang="en-US" sz="900" b="0" i="0">
                <a:solidFill>
                  <a:schemeClr val="bg1">
                    <a:lumMod val="50000"/>
                  </a:schemeClr>
                </a:solidFill>
              </a:rPr>
              <a:t>https://www.geeksforgeeks.org/memory-layout-of-c-program/?ref=oin_asr11</a:t>
            </a:r>
          </a:p>
        </p:txBody>
      </p:sp>
      <p:sp>
        <p:nvSpPr>
          <p:cNvPr id="4" name="Rectangle 3">
            <a:extLst>
              <a:ext uri="{FF2B5EF4-FFF2-40B4-BE49-F238E27FC236}">
                <a16:creationId xmlns:a16="http://schemas.microsoft.com/office/drawing/2014/main" id="{B652728C-C565-10AA-4ACC-16C2F7FB8FA4}"/>
              </a:ext>
            </a:extLst>
          </p:cNvPr>
          <p:cNvSpPr txBox="1">
            <a:spLocks noChangeArrowheads="1"/>
          </p:cNvSpPr>
          <p:nvPr/>
        </p:nvSpPr>
        <p:spPr bwMode="auto">
          <a:xfrm>
            <a:off x="827584" y="2017713"/>
            <a:ext cx="797175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Aft>
                <a:spcPts val="600"/>
              </a:spcAft>
            </a:pPr>
            <a:r>
              <a:rPr lang="en-US" altLang="zh-CN" sz="2800" i="0"/>
              <a:t>4. Heap:</a:t>
            </a:r>
            <a:r>
              <a:rPr lang="en-US" altLang="zh-CN" sz="2800" b="0" i="0"/>
              <a:t> </a:t>
            </a:r>
          </a:p>
          <a:p>
            <a:pPr lvl="1" eaLnBrk="1" hangingPunct="1">
              <a:spcAft>
                <a:spcPts val="600"/>
              </a:spcAft>
            </a:pPr>
            <a:r>
              <a:rPr lang="en-US" altLang="zh-CN" sz="2400" b="0" i="0"/>
              <a:t>Heap is the segment where </a:t>
            </a:r>
            <a:r>
              <a:rPr lang="en-US" altLang="zh-CN" sz="2400" b="0" i="0">
                <a:solidFill>
                  <a:srgbClr val="0070C0"/>
                </a:solidFill>
              </a:rPr>
              <a:t>dynamic memory allocation</a:t>
            </a:r>
            <a:r>
              <a:rPr lang="en-US" altLang="zh-CN" sz="2400" b="0" i="0"/>
              <a:t> usually takes place.</a:t>
            </a:r>
            <a:r>
              <a:rPr lang="zh-CN" altLang="en-US" sz="1800"/>
              <a:t> </a:t>
            </a:r>
            <a:r>
              <a:rPr lang="en-US" altLang="zh-CN" sz="1800"/>
              <a:t> </a:t>
            </a:r>
            <a:r>
              <a:rPr lang="en-US" altLang="zh-CN" sz="2400" b="0" i="0"/>
              <a:t>The heap area begins at the end of the BSS segment and grows to larger addresses from there.</a:t>
            </a:r>
          </a:p>
          <a:p>
            <a:pPr lvl="1" eaLnBrk="1" hangingPunct="1">
              <a:spcAft>
                <a:spcPts val="600"/>
              </a:spcAft>
            </a:pPr>
            <a:r>
              <a:rPr lang="en-US" altLang="zh-CN" sz="2400" b="0" i="0"/>
              <a:t>The Heap area is managed by </a:t>
            </a:r>
            <a:r>
              <a:rPr lang="en-US" altLang="zh-CN" sz="2400" b="0" i="0">
                <a:solidFill>
                  <a:srgbClr val="0070C0"/>
                </a:solidFill>
              </a:rPr>
              <a:t>malloc</a:t>
            </a:r>
            <a:r>
              <a:rPr lang="en-US" altLang="zh-CN" sz="2400" b="0" i="0"/>
              <a:t>, </a:t>
            </a:r>
            <a:r>
              <a:rPr lang="en-US" altLang="zh-CN" sz="2400" b="0" i="0">
                <a:solidFill>
                  <a:srgbClr val="0070C0"/>
                </a:solidFill>
              </a:rPr>
              <a:t>realloc</a:t>
            </a:r>
            <a:r>
              <a:rPr lang="en-US" altLang="zh-CN" sz="2400" b="0" i="0"/>
              <a:t>, and </a:t>
            </a:r>
            <a:r>
              <a:rPr lang="en-US" altLang="zh-CN" sz="2400" b="0" i="0">
                <a:solidFill>
                  <a:srgbClr val="0070C0"/>
                </a:solidFill>
              </a:rPr>
              <a:t>free </a:t>
            </a:r>
            <a:r>
              <a:rPr lang="en-US" altLang="zh-CN" sz="2400" b="0" i="0"/>
              <a:t>(defined under </a:t>
            </a:r>
            <a:r>
              <a:rPr lang="en-US" altLang="zh-CN" sz="2400" b="0" i="0">
                <a:solidFill>
                  <a:srgbClr val="0070C0"/>
                </a:solidFill>
              </a:rPr>
              <a:t>&lt;stdlib.h&gt;</a:t>
            </a:r>
            <a:r>
              <a:rPr lang="en-US" altLang="zh-CN" sz="2400" b="0" i="0"/>
              <a:t>), which may use the brk and sbrk system calls to adjust its size.</a:t>
            </a:r>
          </a:p>
          <a:p>
            <a:pPr lvl="1" eaLnBrk="1" hangingPunct="1">
              <a:spcAft>
                <a:spcPts val="600"/>
              </a:spcAft>
            </a:pPr>
            <a:r>
              <a:rPr lang="en-US" altLang="zh-CN" sz="2400" b="0" i="0"/>
              <a:t>The Heap area is </a:t>
            </a:r>
            <a:r>
              <a:rPr lang="en-US" altLang="zh-CN" sz="2400" b="0" i="0">
                <a:solidFill>
                  <a:srgbClr val="0070C0"/>
                </a:solidFill>
              </a:rPr>
              <a:t>shared by all shared libraries</a:t>
            </a:r>
            <a:r>
              <a:rPr lang="en-US" altLang="zh-CN" sz="2400" b="0" i="0"/>
              <a:t> and dynamically loaded modules in a process.</a:t>
            </a:r>
            <a:endParaRPr lang="en-US" altLang="zh-CN" sz="1800" b="0" i="0"/>
          </a:p>
        </p:txBody>
      </p:sp>
      <p:pic>
        <p:nvPicPr>
          <p:cNvPr id="2" name="图片 1">
            <a:extLst>
              <a:ext uri="{FF2B5EF4-FFF2-40B4-BE49-F238E27FC236}">
                <a16:creationId xmlns:a16="http://schemas.microsoft.com/office/drawing/2014/main" id="{8316F565-6B6B-D8AC-B263-8E1E094357DF}"/>
              </a:ext>
            </a:extLst>
          </p:cNvPr>
          <p:cNvPicPr>
            <a:picLocks noChangeAspect="1"/>
          </p:cNvPicPr>
          <p:nvPr/>
        </p:nvPicPr>
        <p:blipFill>
          <a:blip r:embed="rId4"/>
          <a:stretch>
            <a:fillRect/>
          </a:stretch>
        </p:blipFill>
        <p:spPr>
          <a:xfrm>
            <a:off x="107504" y="3513354"/>
            <a:ext cx="1228485" cy="3182117"/>
          </a:xfrm>
          <a:prstGeom prst="rect">
            <a:avLst/>
          </a:prstGeom>
        </p:spPr>
      </p:pic>
      <p:sp>
        <p:nvSpPr>
          <p:cNvPr id="5" name="矩形 4">
            <a:extLst>
              <a:ext uri="{FF2B5EF4-FFF2-40B4-BE49-F238E27FC236}">
                <a16:creationId xmlns:a16="http://schemas.microsoft.com/office/drawing/2014/main" id="{4F992087-E485-E3A7-C95B-22B78FBC0915}"/>
              </a:ext>
            </a:extLst>
          </p:cNvPr>
          <p:cNvSpPr/>
          <p:nvPr/>
        </p:nvSpPr>
        <p:spPr bwMode="auto">
          <a:xfrm>
            <a:off x="102856" y="5229200"/>
            <a:ext cx="1228484" cy="504056"/>
          </a:xfrm>
          <a:prstGeom prst="rect">
            <a:avLst/>
          </a:prstGeom>
          <a:solidFill>
            <a:srgbClr val="FFC000">
              <a:alpha val="50000"/>
            </a:srgbClr>
          </a:solidFill>
          <a:ln>
            <a:noFill/>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u"/>
              <a:tabLst/>
            </a:pPr>
            <a:endParaRPr kumimoji="0" lang="zh-CN" altLang="en-US" sz="3200" b="1" i="1" u="none" strike="noStrike" cap="none" normalizeH="0" baseline="0">
              <a:ln>
                <a:noFill/>
              </a:ln>
              <a:solidFill>
                <a:schemeClr val="tx1"/>
              </a:solidFill>
              <a:effectLst/>
              <a:latin typeface="Arial Unicode MS" panose="020B0604020202020204" pitchFamily="34" charset="-128"/>
              <a:ea typeface="楷体_GB2312" pitchFamily="49" charset="-122"/>
            </a:endParaRPr>
          </a:p>
        </p:txBody>
      </p:sp>
    </p:spTree>
    <p:extLst>
      <p:ext uri="{BB962C8B-B14F-4D97-AF65-F5344CB8AC3E}">
        <p14:creationId xmlns:p14="http://schemas.microsoft.com/office/powerpoint/2010/main" val="338088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57F755B-D619-F1E1-9298-F9A5C4CF86F4}"/>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BAA7B05E-E716-5E15-1820-8661A9DB5D94}"/>
              </a:ext>
            </a:extLst>
          </p:cNvPr>
          <p:cNvSpPr>
            <a:spLocks noGrp="1" noChangeArrowheads="1"/>
          </p:cNvSpPr>
          <p:nvPr>
            <p:ph type="title"/>
          </p:nvPr>
        </p:nvSpPr>
        <p:spPr>
          <a:xfrm>
            <a:off x="1150938" y="214313"/>
            <a:ext cx="7983190" cy="1462087"/>
          </a:xfrm>
        </p:spPr>
        <p:txBody>
          <a:bodyPr/>
          <a:lstStyle/>
          <a:p>
            <a:pPr eaLnBrk="1" hangingPunct="1"/>
            <a:r>
              <a:rPr lang="en-US" altLang="zh-CN" sz="4000"/>
              <a:t>Memory Layout of C Programs</a:t>
            </a:r>
          </a:p>
        </p:txBody>
      </p:sp>
      <p:sp>
        <p:nvSpPr>
          <p:cNvPr id="3" name="文本框 2">
            <a:extLst>
              <a:ext uri="{FF2B5EF4-FFF2-40B4-BE49-F238E27FC236}">
                <a16:creationId xmlns:a16="http://schemas.microsoft.com/office/drawing/2014/main" id="{C9F48597-E7F7-1406-01F1-E58F11DF30E9}"/>
              </a:ext>
            </a:extLst>
          </p:cNvPr>
          <p:cNvSpPr txBox="1"/>
          <p:nvPr/>
        </p:nvSpPr>
        <p:spPr>
          <a:xfrm>
            <a:off x="5002950" y="6627168"/>
            <a:ext cx="4578350" cy="230832"/>
          </a:xfrm>
          <a:prstGeom prst="rect">
            <a:avLst/>
          </a:prstGeom>
          <a:noFill/>
        </p:spPr>
        <p:txBody>
          <a:bodyPr wrap="square">
            <a:spAutoFit/>
          </a:bodyPr>
          <a:lstStyle/>
          <a:p>
            <a:r>
              <a:rPr lang="zh-CN" altLang="en-US" sz="900" b="0" i="0">
                <a:solidFill>
                  <a:schemeClr val="bg1">
                    <a:lumMod val="50000"/>
                  </a:schemeClr>
                </a:solidFill>
              </a:rPr>
              <a:t>https://www.geeksforgeeks.org/memory-layout-of-c-program/?ref=oin_asr11</a:t>
            </a:r>
          </a:p>
        </p:txBody>
      </p:sp>
      <p:sp>
        <p:nvSpPr>
          <p:cNvPr id="4" name="Rectangle 3">
            <a:extLst>
              <a:ext uri="{FF2B5EF4-FFF2-40B4-BE49-F238E27FC236}">
                <a16:creationId xmlns:a16="http://schemas.microsoft.com/office/drawing/2014/main" id="{5FD1EFDB-DBC0-B815-841A-3CA659D4E188}"/>
              </a:ext>
            </a:extLst>
          </p:cNvPr>
          <p:cNvSpPr txBox="1">
            <a:spLocks noChangeArrowheads="1"/>
          </p:cNvSpPr>
          <p:nvPr/>
        </p:nvSpPr>
        <p:spPr bwMode="auto">
          <a:xfrm>
            <a:off x="1182688" y="2017713"/>
            <a:ext cx="734975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Aft>
                <a:spcPts val="600"/>
              </a:spcAft>
            </a:pPr>
            <a:r>
              <a:rPr lang="en-US" altLang="zh-CN" sz="2400" i="0"/>
              <a:t>5. Stack:</a:t>
            </a:r>
            <a:r>
              <a:rPr lang="en-US" altLang="zh-CN" sz="2400" b="0" i="0"/>
              <a:t> </a:t>
            </a:r>
          </a:p>
          <a:p>
            <a:pPr lvl="1" algn="just" eaLnBrk="1" hangingPunct="1">
              <a:spcAft>
                <a:spcPts val="600"/>
              </a:spcAft>
            </a:pPr>
            <a:r>
              <a:rPr lang="en-US" altLang="zh-CN" sz="2000" b="0" i="0"/>
              <a:t>The stack area traditionally adjoined the heap area and grew in the opposite direction; </a:t>
            </a:r>
            <a:r>
              <a:rPr lang="en-US" altLang="zh-CN" sz="2000" b="0" i="0" u="sng"/>
              <a:t>when the stack pointer met the heap pointer, free memory was exhausted</a:t>
            </a:r>
            <a:r>
              <a:rPr lang="en-US" altLang="zh-CN" sz="2000" b="0" i="0"/>
              <a:t>.</a:t>
            </a:r>
          </a:p>
          <a:p>
            <a:pPr lvl="1" algn="just" eaLnBrk="1" hangingPunct="1">
              <a:spcAft>
                <a:spcPts val="600"/>
              </a:spcAft>
            </a:pPr>
            <a:r>
              <a:rPr lang="en-US" altLang="zh-CN" sz="2000" b="0" i="0"/>
              <a:t>Stack, where </a:t>
            </a:r>
            <a:r>
              <a:rPr lang="en-US" altLang="zh-CN" sz="2000" b="0" i="0">
                <a:solidFill>
                  <a:srgbClr val="0070C0"/>
                </a:solidFill>
              </a:rPr>
              <a:t>automatic variables </a:t>
            </a:r>
            <a:r>
              <a:rPr lang="en-US" altLang="zh-CN" sz="2000" b="0" i="0"/>
              <a:t>are stored, along with information that is saved each time a function is called. Each time a function is called, </a:t>
            </a:r>
            <a:r>
              <a:rPr lang="en-US" altLang="zh-CN" sz="2000" b="0" i="0">
                <a:solidFill>
                  <a:srgbClr val="0070C0"/>
                </a:solidFill>
              </a:rPr>
              <a:t>the address of where to return</a:t>
            </a:r>
            <a:r>
              <a:rPr lang="en-US" altLang="zh-CN" sz="2000" b="0" i="0"/>
              <a:t> to and certain information about the caller’s environment, such as some of the machine registers, are saved on the stack.</a:t>
            </a:r>
          </a:p>
          <a:p>
            <a:pPr lvl="1" algn="just" eaLnBrk="1" hangingPunct="1">
              <a:spcAft>
                <a:spcPts val="600"/>
              </a:spcAft>
            </a:pPr>
            <a:r>
              <a:rPr lang="en-US" altLang="zh-CN" sz="1600" b="0" i="0"/>
              <a:t>32 </a:t>
            </a:r>
            <a:r>
              <a:rPr lang="zh-CN" altLang="en-US" sz="1600" b="0" i="0"/>
              <a:t>位系统：栈的大小通常在 </a:t>
            </a:r>
            <a:r>
              <a:rPr lang="en-US" altLang="zh-CN" sz="1600" b="0" i="0"/>
              <a:t>1MB </a:t>
            </a:r>
            <a:r>
              <a:rPr lang="zh-CN" altLang="en-US" sz="1600" b="0" i="0"/>
              <a:t>～ </a:t>
            </a:r>
            <a:r>
              <a:rPr lang="en-US" altLang="zh-CN" sz="1600" b="0" i="0"/>
              <a:t>8MB</a:t>
            </a:r>
          </a:p>
          <a:p>
            <a:pPr lvl="1" algn="just" eaLnBrk="1" hangingPunct="1">
              <a:spcAft>
                <a:spcPts val="600"/>
              </a:spcAft>
            </a:pPr>
            <a:r>
              <a:rPr lang="en-US" altLang="zh-CN" sz="1600" b="0" i="0"/>
              <a:t>64 </a:t>
            </a:r>
            <a:r>
              <a:rPr lang="zh-CN" altLang="en-US" sz="1600" b="0" i="0"/>
              <a:t>位系统：栈的大小通常在 </a:t>
            </a:r>
            <a:r>
              <a:rPr lang="en-US" altLang="zh-CN" sz="1600" b="0" i="0"/>
              <a:t>8MB </a:t>
            </a:r>
            <a:r>
              <a:rPr lang="zh-CN" altLang="en-US" sz="1600" b="0" i="0"/>
              <a:t>～ </a:t>
            </a:r>
            <a:r>
              <a:rPr lang="en-US" altLang="zh-CN" sz="1600" b="0" i="0"/>
              <a:t>16MB</a:t>
            </a:r>
          </a:p>
        </p:txBody>
      </p:sp>
      <p:pic>
        <p:nvPicPr>
          <p:cNvPr id="2" name="图片 1">
            <a:extLst>
              <a:ext uri="{FF2B5EF4-FFF2-40B4-BE49-F238E27FC236}">
                <a16:creationId xmlns:a16="http://schemas.microsoft.com/office/drawing/2014/main" id="{E180F751-1485-5A4C-7CF4-CFBDE4F15A12}"/>
              </a:ext>
            </a:extLst>
          </p:cNvPr>
          <p:cNvPicPr>
            <a:picLocks noChangeAspect="1"/>
          </p:cNvPicPr>
          <p:nvPr/>
        </p:nvPicPr>
        <p:blipFill>
          <a:blip r:embed="rId4"/>
          <a:stretch>
            <a:fillRect/>
          </a:stretch>
        </p:blipFill>
        <p:spPr>
          <a:xfrm>
            <a:off x="179512" y="3337370"/>
            <a:ext cx="1228485" cy="3182117"/>
          </a:xfrm>
          <a:prstGeom prst="rect">
            <a:avLst/>
          </a:prstGeom>
        </p:spPr>
      </p:pic>
      <p:sp>
        <p:nvSpPr>
          <p:cNvPr id="5" name="矩形 4">
            <a:extLst>
              <a:ext uri="{FF2B5EF4-FFF2-40B4-BE49-F238E27FC236}">
                <a16:creationId xmlns:a16="http://schemas.microsoft.com/office/drawing/2014/main" id="{DDE07822-F499-56F4-F15C-A10264F07242}"/>
              </a:ext>
            </a:extLst>
          </p:cNvPr>
          <p:cNvSpPr/>
          <p:nvPr/>
        </p:nvSpPr>
        <p:spPr bwMode="auto">
          <a:xfrm>
            <a:off x="184137" y="3643065"/>
            <a:ext cx="1228484" cy="361999"/>
          </a:xfrm>
          <a:prstGeom prst="rect">
            <a:avLst/>
          </a:prstGeom>
          <a:solidFill>
            <a:srgbClr val="FFC000">
              <a:alpha val="50000"/>
            </a:srgbClr>
          </a:solidFill>
          <a:ln>
            <a:noFill/>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u"/>
              <a:tabLst/>
            </a:pPr>
            <a:endParaRPr kumimoji="0" lang="zh-CN" altLang="en-US" sz="3200" b="1" i="1" u="none" strike="noStrike" cap="none" normalizeH="0" baseline="0">
              <a:ln>
                <a:noFill/>
              </a:ln>
              <a:solidFill>
                <a:schemeClr val="tx1"/>
              </a:solidFill>
              <a:effectLst/>
              <a:latin typeface="Arial Unicode MS" panose="020B0604020202020204" pitchFamily="34" charset="-128"/>
              <a:ea typeface="楷体_GB2312" pitchFamily="49" charset="-122"/>
            </a:endParaRPr>
          </a:p>
        </p:txBody>
      </p:sp>
      <p:sp>
        <p:nvSpPr>
          <p:cNvPr id="7" name="文本框 6">
            <a:extLst>
              <a:ext uri="{FF2B5EF4-FFF2-40B4-BE49-F238E27FC236}">
                <a16:creationId xmlns:a16="http://schemas.microsoft.com/office/drawing/2014/main" id="{CCED2B56-EACC-87AA-F4E4-BF86FCB5120C}"/>
              </a:ext>
            </a:extLst>
          </p:cNvPr>
          <p:cNvSpPr txBox="1"/>
          <p:nvPr/>
        </p:nvSpPr>
        <p:spPr>
          <a:xfrm>
            <a:off x="1898289" y="6282323"/>
            <a:ext cx="7057882" cy="369332"/>
          </a:xfrm>
          <a:prstGeom prst="rect">
            <a:avLst/>
          </a:prstGeom>
          <a:noFill/>
        </p:spPr>
        <p:txBody>
          <a:bodyPr wrap="square">
            <a:spAutoFit/>
          </a:bodyPr>
          <a:lstStyle/>
          <a:p>
            <a:r>
              <a:rPr lang="zh-CN" altLang="en-US" sz="1800">
                <a:solidFill>
                  <a:srgbClr val="00B0F0"/>
                </a:solidFill>
              </a:rPr>
              <a:t>一个有趣的问题：“</a:t>
            </a:r>
            <a:r>
              <a:rPr lang="zh-CN" altLang="en-US" sz="1800" b="1">
                <a:solidFill>
                  <a:srgbClr val="00B0F0"/>
                </a:solidFill>
              </a:rPr>
              <a:t>一个局部 </a:t>
            </a:r>
            <a:r>
              <a:rPr lang="en-US" altLang="zh-CN" sz="1800" b="1">
                <a:solidFill>
                  <a:srgbClr val="00B0F0"/>
                </a:solidFill>
              </a:rPr>
              <a:t>int </a:t>
            </a:r>
            <a:r>
              <a:rPr lang="zh-CN" altLang="en-US" sz="1800" b="1">
                <a:solidFill>
                  <a:srgbClr val="00B0F0"/>
                </a:solidFill>
              </a:rPr>
              <a:t>数组最大能申请多大？</a:t>
            </a:r>
            <a:r>
              <a:rPr lang="zh-CN" altLang="en-US" sz="1800">
                <a:solidFill>
                  <a:srgbClr val="00B0F0"/>
                </a:solidFill>
              </a:rPr>
              <a:t>”</a:t>
            </a:r>
          </a:p>
        </p:txBody>
      </p:sp>
    </p:spTree>
    <p:extLst>
      <p:ext uri="{BB962C8B-B14F-4D97-AF65-F5344CB8AC3E}">
        <p14:creationId xmlns:p14="http://schemas.microsoft.com/office/powerpoint/2010/main" val="2068375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72E25B99-444B-7E1E-59C1-F0C8A4FC3B83}"/>
              </a:ext>
            </a:extLst>
          </p:cNvPr>
          <p:cNvSpPr>
            <a:spLocks noGrp="1" noChangeArrowheads="1"/>
          </p:cNvSpPr>
          <p:nvPr>
            <p:ph type="title"/>
          </p:nvPr>
        </p:nvSpPr>
        <p:spPr/>
        <p:txBody>
          <a:bodyPr/>
          <a:lstStyle/>
          <a:p>
            <a:pPr eaLnBrk="1" hangingPunct="1"/>
            <a:r>
              <a:rPr lang="en-US" altLang="zh-CN"/>
              <a:t>Simple arrays</a:t>
            </a:r>
          </a:p>
        </p:txBody>
      </p:sp>
      <p:sp>
        <p:nvSpPr>
          <p:cNvPr id="592899" name="Rectangle 3">
            <a:extLst>
              <a:ext uri="{FF2B5EF4-FFF2-40B4-BE49-F238E27FC236}">
                <a16:creationId xmlns:a16="http://schemas.microsoft.com/office/drawing/2014/main" id="{AE27809B-6D09-FB56-21DC-45BC4938D5A9}"/>
              </a:ext>
            </a:extLst>
          </p:cNvPr>
          <p:cNvSpPr>
            <a:spLocks noGrp="1" noChangeArrowheads="1"/>
          </p:cNvSpPr>
          <p:nvPr>
            <p:ph type="body" idx="1"/>
          </p:nvPr>
        </p:nvSpPr>
        <p:spPr/>
        <p:txBody>
          <a:bodyPr/>
          <a:lstStyle/>
          <a:p>
            <a:pPr eaLnBrk="1" hangingPunct="1"/>
            <a:r>
              <a:rPr lang="en-US" altLang="zh-CN"/>
              <a:t>How do we declare?</a:t>
            </a:r>
          </a:p>
          <a:p>
            <a:pPr lvl="1" eaLnBrk="1" hangingPunct="1"/>
            <a:r>
              <a:rPr lang="en-US" altLang="zh-CN"/>
              <a:t>Static declaration</a:t>
            </a:r>
          </a:p>
          <a:p>
            <a:pPr lvl="2" eaLnBrk="1" hangingPunct="1"/>
            <a:r>
              <a:rPr lang="en-US" altLang="zh-CN"/>
              <a:t> int a[10];</a:t>
            </a:r>
          </a:p>
          <a:p>
            <a:pPr lvl="1" eaLnBrk="1" hangingPunct="1"/>
            <a:r>
              <a:rPr lang="en-US" altLang="zh-CN"/>
              <a:t>Dynamic declaration (</a:t>
            </a:r>
            <a:r>
              <a:rPr lang="zh-CN" altLang="en-US"/>
              <a:t>动态数组</a:t>
            </a:r>
            <a:r>
              <a:rPr lang="en-US" altLang="zh-CN"/>
              <a:t>)</a:t>
            </a:r>
          </a:p>
          <a:p>
            <a:pPr lvl="2" eaLnBrk="1" hangingPunct="1"/>
            <a:r>
              <a:rPr lang="en-US" altLang="zh-CN"/>
              <a:t> int *a;</a:t>
            </a:r>
          </a:p>
          <a:p>
            <a:pPr lvl="2" eaLnBrk="1" hangingPunct="1"/>
            <a:r>
              <a:rPr lang="zh-CN" altLang="en-US"/>
              <a:t> </a:t>
            </a:r>
            <a:r>
              <a:rPr lang="en-US" altLang="zh-CN"/>
              <a:t>int</a:t>
            </a:r>
            <a:r>
              <a:rPr lang="zh-CN" altLang="en-US"/>
              <a:t> </a:t>
            </a:r>
            <a:r>
              <a:rPr lang="en-US" altLang="zh-CN"/>
              <a:t>n=10;	</a:t>
            </a:r>
            <a:r>
              <a:rPr lang="en-US" altLang="zh-CN">
                <a:solidFill>
                  <a:srgbClr val="00B050"/>
                </a:solidFill>
              </a:rPr>
              <a:t>//</a:t>
            </a:r>
            <a:r>
              <a:rPr lang="zh-CN" altLang="en-US">
                <a:solidFill>
                  <a:srgbClr val="00B050"/>
                </a:solidFill>
              </a:rPr>
              <a:t>可运行时动态变化</a:t>
            </a:r>
            <a:endParaRPr lang="en-US" altLang="zh-CN">
              <a:solidFill>
                <a:srgbClr val="00B050"/>
              </a:solidFill>
            </a:endParaRPr>
          </a:p>
          <a:p>
            <a:pPr lvl="2" eaLnBrk="1" hangingPunct="1"/>
            <a:r>
              <a:rPr lang="en-US" altLang="zh-CN"/>
              <a:t> a = (int *) malloc (sizeof (int) * 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2899">
                                            <p:txEl>
                                              <p:pRg st="0" end="0"/>
                                            </p:txEl>
                                          </p:spTgt>
                                        </p:tgtEl>
                                        <p:attrNameLst>
                                          <p:attrName>style.visibility</p:attrName>
                                        </p:attrNameLst>
                                      </p:cBhvr>
                                      <p:to>
                                        <p:strVal val="visible"/>
                                      </p:to>
                                    </p:set>
                                    <p:anim calcmode="lin" valueType="num">
                                      <p:cBhvr additive="base">
                                        <p:cTn id="7" dur="500" fill="hold"/>
                                        <p:tgtEl>
                                          <p:spTgt spid="5928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289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92899">
                                            <p:txEl>
                                              <p:pRg st="1" end="1"/>
                                            </p:txEl>
                                          </p:spTgt>
                                        </p:tgtEl>
                                        <p:attrNameLst>
                                          <p:attrName>style.visibility</p:attrName>
                                        </p:attrNameLst>
                                      </p:cBhvr>
                                      <p:to>
                                        <p:strVal val="visible"/>
                                      </p:to>
                                    </p:set>
                                    <p:anim calcmode="lin" valueType="num">
                                      <p:cBhvr additive="base">
                                        <p:cTn id="11" dur="500" fill="hold"/>
                                        <p:tgtEl>
                                          <p:spTgt spid="59289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9289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92899">
                                            <p:txEl>
                                              <p:pRg st="2" end="2"/>
                                            </p:txEl>
                                          </p:spTgt>
                                        </p:tgtEl>
                                        <p:attrNameLst>
                                          <p:attrName>style.visibility</p:attrName>
                                        </p:attrNameLst>
                                      </p:cBhvr>
                                      <p:to>
                                        <p:strVal val="visible"/>
                                      </p:to>
                                    </p:set>
                                    <p:anim calcmode="lin" valueType="num">
                                      <p:cBhvr additive="base">
                                        <p:cTn id="15" dur="500" fill="hold"/>
                                        <p:tgtEl>
                                          <p:spTgt spid="59289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9289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92899">
                                            <p:txEl>
                                              <p:pRg st="3" end="3"/>
                                            </p:txEl>
                                          </p:spTgt>
                                        </p:tgtEl>
                                        <p:attrNameLst>
                                          <p:attrName>style.visibility</p:attrName>
                                        </p:attrNameLst>
                                      </p:cBhvr>
                                      <p:to>
                                        <p:strVal val="visible"/>
                                      </p:to>
                                    </p:set>
                                    <p:anim calcmode="lin" valueType="num">
                                      <p:cBhvr additive="base">
                                        <p:cTn id="19" dur="500" fill="hold"/>
                                        <p:tgtEl>
                                          <p:spTgt spid="59289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9289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92899">
                                            <p:txEl>
                                              <p:pRg st="4" end="4"/>
                                            </p:txEl>
                                          </p:spTgt>
                                        </p:tgtEl>
                                        <p:attrNameLst>
                                          <p:attrName>style.visibility</p:attrName>
                                        </p:attrNameLst>
                                      </p:cBhvr>
                                      <p:to>
                                        <p:strVal val="visible"/>
                                      </p:to>
                                    </p:set>
                                    <p:anim calcmode="lin" valueType="num">
                                      <p:cBhvr additive="base">
                                        <p:cTn id="23" dur="500" fill="hold"/>
                                        <p:tgtEl>
                                          <p:spTgt spid="59289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9289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92899">
                                            <p:txEl>
                                              <p:pRg st="5" end="5"/>
                                            </p:txEl>
                                          </p:spTgt>
                                        </p:tgtEl>
                                        <p:attrNameLst>
                                          <p:attrName>style.visibility</p:attrName>
                                        </p:attrNameLst>
                                      </p:cBhvr>
                                      <p:to>
                                        <p:strVal val="visible"/>
                                      </p:to>
                                    </p:set>
                                    <p:anim calcmode="lin" valueType="num">
                                      <p:cBhvr additive="base">
                                        <p:cTn id="27" dur="500" fill="hold"/>
                                        <p:tgtEl>
                                          <p:spTgt spid="59289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9289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92899">
                                            <p:txEl>
                                              <p:pRg st="6" end="6"/>
                                            </p:txEl>
                                          </p:spTgt>
                                        </p:tgtEl>
                                        <p:attrNameLst>
                                          <p:attrName>style.visibility</p:attrName>
                                        </p:attrNameLst>
                                      </p:cBhvr>
                                      <p:to>
                                        <p:strVal val="visible"/>
                                      </p:to>
                                    </p:set>
                                    <p:anim calcmode="lin" valueType="num">
                                      <p:cBhvr additive="base">
                                        <p:cTn id="31" dur="500" fill="hold"/>
                                        <p:tgtEl>
                                          <p:spTgt spid="592899">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92899">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899"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682FA45-78BF-1CB6-8678-58D90F2188BB}"/>
              </a:ext>
            </a:extLst>
          </p:cNvPr>
          <p:cNvSpPr>
            <a:spLocks noGrp="1" noChangeArrowheads="1"/>
          </p:cNvSpPr>
          <p:nvPr>
            <p:ph type="title"/>
          </p:nvPr>
        </p:nvSpPr>
        <p:spPr/>
        <p:txBody>
          <a:bodyPr/>
          <a:lstStyle/>
          <a:p>
            <a:pPr eaLnBrk="1" hangingPunct="1"/>
            <a:r>
              <a:rPr lang="en-US" altLang="zh-CN"/>
              <a:t>Example 1</a:t>
            </a:r>
          </a:p>
        </p:txBody>
      </p:sp>
      <p:sp>
        <p:nvSpPr>
          <p:cNvPr id="593923" name="Rectangle 3">
            <a:extLst>
              <a:ext uri="{FF2B5EF4-FFF2-40B4-BE49-F238E27FC236}">
                <a16:creationId xmlns:a16="http://schemas.microsoft.com/office/drawing/2014/main" id="{40FC1FB8-B271-402E-B4E6-51B52E7ED166}"/>
              </a:ext>
            </a:extLst>
          </p:cNvPr>
          <p:cNvSpPr>
            <a:spLocks noGrp="1" noChangeArrowheads="1"/>
          </p:cNvSpPr>
          <p:nvPr>
            <p:ph type="body" idx="1"/>
          </p:nvPr>
        </p:nvSpPr>
        <p:spPr/>
        <p:txBody>
          <a:bodyPr/>
          <a:lstStyle/>
          <a:p>
            <a:pPr marL="990600" lvl="1" indent="-533400" eaLnBrk="1" hangingPunct="1">
              <a:buFont typeface="Wingdings" pitchFamily="2" charset="2"/>
              <a:buAutoNum type="arabicPeriod"/>
            </a:pPr>
            <a:r>
              <a:rPr lang="en-US" altLang="zh-CN"/>
              <a:t>void main () {</a:t>
            </a:r>
          </a:p>
          <a:p>
            <a:pPr marL="990600" lvl="1" indent="-533400" eaLnBrk="1" hangingPunct="1">
              <a:buFont typeface="Wingdings" pitchFamily="2" charset="2"/>
              <a:buAutoNum type="arabicPeriod"/>
            </a:pPr>
            <a:r>
              <a:rPr lang="en-US" altLang="zh-CN"/>
              <a:t>	int a[10], i;</a:t>
            </a:r>
          </a:p>
          <a:p>
            <a:pPr marL="990600" lvl="1" indent="-533400" eaLnBrk="1" hangingPunct="1">
              <a:buFont typeface="Wingdings" pitchFamily="2" charset="2"/>
              <a:buAutoNum type="arabicPeriod"/>
            </a:pPr>
            <a:r>
              <a:rPr lang="en-US" altLang="zh-CN"/>
              <a:t>	</a:t>
            </a:r>
            <a:r>
              <a:rPr lang="en-US" altLang="zh-CN">
                <a:solidFill>
                  <a:srgbClr val="00B050"/>
                </a:solidFill>
              </a:rPr>
              <a:t>/* initialize the array to zero */</a:t>
            </a:r>
          </a:p>
          <a:p>
            <a:pPr marL="990600" lvl="1" indent="-533400" eaLnBrk="1" hangingPunct="1">
              <a:buFont typeface="Wingdings" pitchFamily="2" charset="2"/>
              <a:buAutoNum type="arabicPeriod"/>
            </a:pPr>
            <a:r>
              <a:rPr lang="en-US" altLang="zh-CN"/>
              <a:t>	for (i = 0; i&lt; 10; i++)</a:t>
            </a:r>
          </a:p>
          <a:p>
            <a:pPr marL="990600" lvl="1" indent="-533400" eaLnBrk="1" hangingPunct="1">
              <a:buFont typeface="Wingdings" pitchFamily="2" charset="2"/>
              <a:buAutoNum type="arabicPeriod"/>
            </a:pPr>
            <a:r>
              <a:rPr lang="en-US" altLang="zh-CN"/>
              <a:t>		a[i] = 0;</a:t>
            </a:r>
          </a:p>
          <a:p>
            <a:pPr marL="990600" lvl="1" indent="-533400" eaLnBrk="1" hangingPunct="1">
              <a:buFont typeface="Wingdings" pitchFamily="2" charset="2"/>
              <a:buAutoNum type="arabicPeriod"/>
            </a:pPr>
            <a:r>
              <a:rPr lang="en-US" altLang="zh-CN"/>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23">
                                            <p:txEl>
                                              <p:pRg st="0" end="0"/>
                                            </p:txEl>
                                          </p:spTgt>
                                        </p:tgtEl>
                                        <p:attrNameLst>
                                          <p:attrName>style.visibility</p:attrName>
                                        </p:attrNameLst>
                                      </p:cBhvr>
                                      <p:to>
                                        <p:strVal val="visible"/>
                                      </p:to>
                                    </p:set>
                                    <p:anim calcmode="lin" valueType="num">
                                      <p:cBhvr additive="base">
                                        <p:cTn id="7" dur="500" fill="hold"/>
                                        <p:tgtEl>
                                          <p:spTgt spid="5939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392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93923">
                                            <p:txEl>
                                              <p:pRg st="1" end="1"/>
                                            </p:txEl>
                                          </p:spTgt>
                                        </p:tgtEl>
                                        <p:attrNameLst>
                                          <p:attrName>style.visibility</p:attrName>
                                        </p:attrNameLst>
                                      </p:cBhvr>
                                      <p:to>
                                        <p:strVal val="visible"/>
                                      </p:to>
                                    </p:set>
                                    <p:anim calcmode="lin" valueType="num">
                                      <p:cBhvr additive="base">
                                        <p:cTn id="11" dur="500" fill="hold"/>
                                        <p:tgtEl>
                                          <p:spTgt spid="59392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9392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93923">
                                            <p:txEl>
                                              <p:pRg st="2" end="2"/>
                                            </p:txEl>
                                          </p:spTgt>
                                        </p:tgtEl>
                                        <p:attrNameLst>
                                          <p:attrName>style.visibility</p:attrName>
                                        </p:attrNameLst>
                                      </p:cBhvr>
                                      <p:to>
                                        <p:strVal val="visible"/>
                                      </p:to>
                                    </p:set>
                                    <p:anim calcmode="lin" valueType="num">
                                      <p:cBhvr additive="base">
                                        <p:cTn id="15" dur="500" fill="hold"/>
                                        <p:tgtEl>
                                          <p:spTgt spid="59392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9392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93923">
                                            <p:txEl>
                                              <p:pRg st="3" end="3"/>
                                            </p:txEl>
                                          </p:spTgt>
                                        </p:tgtEl>
                                        <p:attrNameLst>
                                          <p:attrName>style.visibility</p:attrName>
                                        </p:attrNameLst>
                                      </p:cBhvr>
                                      <p:to>
                                        <p:strVal val="visible"/>
                                      </p:to>
                                    </p:set>
                                    <p:anim calcmode="lin" valueType="num">
                                      <p:cBhvr additive="base">
                                        <p:cTn id="19" dur="500" fill="hold"/>
                                        <p:tgtEl>
                                          <p:spTgt spid="59392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9392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93923">
                                            <p:txEl>
                                              <p:pRg st="4" end="4"/>
                                            </p:txEl>
                                          </p:spTgt>
                                        </p:tgtEl>
                                        <p:attrNameLst>
                                          <p:attrName>style.visibility</p:attrName>
                                        </p:attrNameLst>
                                      </p:cBhvr>
                                      <p:to>
                                        <p:strVal val="visible"/>
                                      </p:to>
                                    </p:set>
                                    <p:anim calcmode="lin" valueType="num">
                                      <p:cBhvr additive="base">
                                        <p:cTn id="23" dur="500" fill="hold"/>
                                        <p:tgtEl>
                                          <p:spTgt spid="59392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9392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93923">
                                            <p:txEl>
                                              <p:pRg st="5" end="5"/>
                                            </p:txEl>
                                          </p:spTgt>
                                        </p:tgtEl>
                                        <p:attrNameLst>
                                          <p:attrName>style.visibility</p:attrName>
                                        </p:attrNameLst>
                                      </p:cBhvr>
                                      <p:to>
                                        <p:strVal val="visible"/>
                                      </p:to>
                                    </p:set>
                                    <p:anim calcmode="lin" valueType="num">
                                      <p:cBhvr additive="base">
                                        <p:cTn id="27" dur="500" fill="hold"/>
                                        <p:tgtEl>
                                          <p:spTgt spid="593923">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93923">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3"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B13FB018-74F4-6433-F7B4-294611F20D57}"/>
              </a:ext>
            </a:extLst>
          </p:cNvPr>
          <p:cNvSpPr>
            <a:spLocks noGrp="1" noChangeArrowheads="1"/>
          </p:cNvSpPr>
          <p:nvPr>
            <p:ph type="title"/>
          </p:nvPr>
        </p:nvSpPr>
        <p:spPr/>
        <p:txBody>
          <a:bodyPr/>
          <a:lstStyle/>
          <a:p>
            <a:pPr eaLnBrk="1" hangingPunct="1"/>
            <a:r>
              <a:rPr lang="en-US" altLang="zh-CN"/>
              <a:t>Example 2</a:t>
            </a:r>
          </a:p>
        </p:txBody>
      </p:sp>
      <p:sp>
        <p:nvSpPr>
          <p:cNvPr id="594947" name="Rectangle 3">
            <a:extLst>
              <a:ext uri="{FF2B5EF4-FFF2-40B4-BE49-F238E27FC236}">
                <a16:creationId xmlns:a16="http://schemas.microsoft.com/office/drawing/2014/main" id="{44A798D6-3BFF-63BB-6A1D-5AE628A08578}"/>
              </a:ext>
            </a:extLst>
          </p:cNvPr>
          <p:cNvSpPr>
            <a:spLocks noGrp="1" noChangeArrowheads="1"/>
          </p:cNvSpPr>
          <p:nvPr>
            <p:ph type="body" idx="1"/>
          </p:nvPr>
        </p:nvSpPr>
        <p:spPr/>
        <p:txBody>
          <a:bodyPr/>
          <a:lstStyle/>
          <a:p>
            <a:pPr marL="914400" lvl="1" indent="-457200" eaLnBrk="1" hangingPunct="1">
              <a:buFont typeface="Wingdings" pitchFamily="2" charset="2"/>
              <a:buAutoNum type="arabicPeriod"/>
            </a:pPr>
            <a:r>
              <a:rPr lang="en-US" altLang="zh-CN" sz="2000"/>
              <a:t>#include &lt;stdlib.h&gt;</a:t>
            </a:r>
          </a:p>
          <a:p>
            <a:pPr marL="914400" lvl="1" indent="-457200" eaLnBrk="1" hangingPunct="1">
              <a:buFont typeface="Wingdings" pitchFamily="2" charset="2"/>
              <a:buAutoNum type="arabicPeriod"/>
            </a:pPr>
            <a:r>
              <a:rPr lang="en-US" altLang="zh-CN" sz="2000"/>
              <a:t> void main () {</a:t>
            </a:r>
          </a:p>
          <a:p>
            <a:pPr marL="914400" lvl="1" indent="-457200" eaLnBrk="1" hangingPunct="1">
              <a:buFont typeface="Wingdings" pitchFamily="2" charset="2"/>
              <a:buAutoNum type="arabicPeriod"/>
            </a:pPr>
            <a:r>
              <a:rPr lang="en-US" altLang="zh-CN" sz="2000"/>
              <a:t>	int *a, i;</a:t>
            </a:r>
          </a:p>
          <a:p>
            <a:pPr marL="914400" lvl="1" indent="-457200" eaLnBrk="1" hangingPunct="1">
              <a:buFont typeface="Wingdings" pitchFamily="2" charset="2"/>
              <a:buAutoNum type="arabicPeriod"/>
            </a:pPr>
            <a:r>
              <a:rPr lang="zh-CN" altLang="en-US" sz="2000"/>
              <a:t>           </a:t>
            </a:r>
            <a:r>
              <a:rPr lang="en-US" altLang="zh-CN" sz="2000"/>
              <a:t>int</a:t>
            </a:r>
            <a:r>
              <a:rPr lang="zh-CN" altLang="en-US" sz="2000"/>
              <a:t> </a:t>
            </a:r>
            <a:r>
              <a:rPr lang="en-US" altLang="zh-CN" sz="2000"/>
              <a:t>n</a:t>
            </a:r>
            <a:r>
              <a:rPr lang="zh-CN" altLang="en-US" sz="2000"/>
              <a:t> </a:t>
            </a:r>
            <a:r>
              <a:rPr lang="en-US" altLang="zh-CN" sz="2000"/>
              <a:t>=</a:t>
            </a:r>
            <a:r>
              <a:rPr lang="zh-CN" altLang="en-US" sz="2000"/>
              <a:t> </a:t>
            </a:r>
            <a:r>
              <a:rPr lang="en-US" altLang="zh-CN" sz="2000"/>
              <a:t>10;</a:t>
            </a:r>
          </a:p>
          <a:p>
            <a:pPr marL="914400" lvl="1" indent="-457200" eaLnBrk="1" hangingPunct="1">
              <a:buFont typeface="Wingdings" pitchFamily="2" charset="2"/>
              <a:buAutoNum type="arabicPeriod"/>
            </a:pPr>
            <a:r>
              <a:rPr lang="en-US" altLang="zh-CN" sz="2000">
                <a:solidFill>
                  <a:schemeClr val="hlink"/>
                </a:solidFill>
              </a:rPr>
              <a:t>	</a:t>
            </a:r>
            <a:r>
              <a:rPr lang="en-US" altLang="zh-CN" sz="2000">
                <a:solidFill>
                  <a:srgbClr val="00B050"/>
                </a:solidFill>
              </a:rPr>
              <a:t>/* allocate the memory */</a:t>
            </a:r>
          </a:p>
          <a:p>
            <a:pPr marL="914400" lvl="1" indent="-457200" eaLnBrk="1" hangingPunct="1">
              <a:buFont typeface="Wingdings" pitchFamily="2" charset="2"/>
              <a:buAutoNum type="arabicPeriod"/>
            </a:pPr>
            <a:r>
              <a:rPr lang="en-US" altLang="zh-CN" sz="2000"/>
              <a:t>	a = (int *) malloc (sizeof (int) * n);</a:t>
            </a:r>
          </a:p>
          <a:p>
            <a:pPr marL="914400" lvl="1" indent="-457200" eaLnBrk="1" hangingPunct="1">
              <a:buFont typeface="Wingdings" pitchFamily="2" charset="2"/>
              <a:buAutoNum type="arabicPeriod"/>
            </a:pPr>
            <a:r>
              <a:rPr lang="en-US" altLang="zh-CN" sz="2000"/>
              <a:t>	</a:t>
            </a:r>
            <a:r>
              <a:rPr lang="en-US" altLang="zh-CN" sz="2000">
                <a:solidFill>
                  <a:srgbClr val="00B050"/>
                </a:solidFill>
              </a:rPr>
              <a:t>/* initialize the array to zero */</a:t>
            </a:r>
          </a:p>
          <a:p>
            <a:pPr marL="914400" lvl="1" indent="-457200" eaLnBrk="1" hangingPunct="1">
              <a:buFont typeface="Wingdings" pitchFamily="2" charset="2"/>
              <a:buAutoNum type="arabicPeriod"/>
            </a:pPr>
            <a:r>
              <a:rPr lang="en-US" altLang="zh-CN" sz="2000"/>
              <a:t>	for (i = 0; i &lt; n; i++)</a:t>
            </a:r>
          </a:p>
          <a:p>
            <a:pPr marL="914400" lvl="1" indent="-457200" eaLnBrk="1" hangingPunct="1">
              <a:buFont typeface="Wingdings" pitchFamily="2" charset="2"/>
              <a:buAutoNum type="arabicPeriod"/>
            </a:pPr>
            <a:r>
              <a:rPr lang="en-US" altLang="zh-CN" sz="2000"/>
              <a:t>		a[i] = 0;</a:t>
            </a:r>
          </a:p>
          <a:p>
            <a:pPr marL="914400" lvl="1" indent="-457200" eaLnBrk="1" hangingPunct="1">
              <a:buFont typeface="Wingdings" pitchFamily="2" charset="2"/>
              <a:buAutoNum type="arabicPeriod"/>
            </a:pPr>
            <a:r>
              <a:rPr lang="en-US" altLang="zh-CN" sz="2000">
                <a:solidFill>
                  <a:srgbClr val="00B0F0"/>
                </a:solidFill>
              </a:rPr>
              <a:t>          free(a);</a:t>
            </a:r>
            <a:endParaRPr lang="en-US" altLang="zh-CN" sz="1100">
              <a:solidFill>
                <a:srgbClr val="00B0F0"/>
              </a:solidFill>
            </a:endParaRPr>
          </a:p>
          <a:p>
            <a:pPr marL="914400" lvl="1" indent="-457200" eaLnBrk="1" hangingPunct="1">
              <a:buFont typeface="+mj-lt"/>
              <a:buAutoNum type="arabicPeriod"/>
            </a:pPr>
            <a:r>
              <a:rPr lang="en-US" altLang="zh-CN" sz="20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947">
                                            <p:txEl>
                                              <p:pRg st="0" end="0"/>
                                            </p:txEl>
                                          </p:spTgt>
                                        </p:tgtEl>
                                        <p:attrNameLst>
                                          <p:attrName>style.visibility</p:attrName>
                                        </p:attrNameLst>
                                      </p:cBhvr>
                                      <p:to>
                                        <p:strVal val="visible"/>
                                      </p:to>
                                    </p:set>
                                    <p:anim calcmode="lin" valueType="num">
                                      <p:cBhvr additive="base">
                                        <p:cTn id="7" dur="500" fill="hold"/>
                                        <p:tgtEl>
                                          <p:spTgt spid="5949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494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94947">
                                            <p:txEl>
                                              <p:pRg st="1" end="1"/>
                                            </p:txEl>
                                          </p:spTgt>
                                        </p:tgtEl>
                                        <p:attrNameLst>
                                          <p:attrName>style.visibility</p:attrName>
                                        </p:attrNameLst>
                                      </p:cBhvr>
                                      <p:to>
                                        <p:strVal val="visible"/>
                                      </p:to>
                                    </p:set>
                                    <p:anim calcmode="lin" valueType="num">
                                      <p:cBhvr additive="base">
                                        <p:cTn id="11" dur="500" fill="hold"/>
                                        <p:tgtEl>
                                          <p:spTgt spid="59494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9494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94947">
                                            <p:txEl>
                                              <p:pRg st="2" end="2"/>
                                            </p:txEl>
                                          </p:spTgt>
                                        </p:tgtEl>
                                        <p:attrNameLst>
                                          <p:attrName>style.visibility</p:attrName>
                                        </p:attrNameLst>
                                      </p:cBhvr>
                                      <p:to>
                                        <p:strVal val="visible"/>
                                      </p:to>
                                    </p:set>
                                    <p:anim calcmode="lin" valueType="num">
                                      <p:cBhvr additive="base">
                                        <p:cTn id="15" dur="500" fill="hold"/>
                                        <p:tgtEl>
                                          <p:spTgt spid="594947">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9494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94947">
                                            <p:txEl>
                                              <p:pRg st="3" end="3"/>
                                            </p:txEl>
                                          </p:spTgt>
                                        </p:tgtEl>
                                        <p:attrNameLst>
                                          <p:attrName>style.visibility</p:attrName>
                                        </p:attrNameLst>
                                      </p:cBhvr>
                                      <p:to>
                                        <p:strVal val="visible"/>
                                      </p:to>
                                    </p:set>
                                    <p:anim calcmode="lin" valueType="num">
                                      <p:cBhvr additive="base">
                                        <p:cTn id="19" dur="500" fill="hold"/>
                                        <p:tgtEl>
                                          <p:spTgt spid="59494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9494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94947">
                                            <p:txEl>
                                              <p:pRg st="4" end="4"/>
                                            </p:txEl>
                                          </p:spTgt>
                                        </p:tgtEl>
                                        <p:attrNameLst>
                                          <p:attrName>style.visibility</p:attrName>
                                        </p:attrNameLst>
                                      </p:cBhvr>
                                      <p:to>
                                        <p:strVal val="visible"/>
                                      </p:to>
                                    </p:set>
                                    <p:anim calcmode="lin" valueType="num">
                                      <p:cBhvr additive="base">
                                        <p:cTn id="23" dur="500" fill="hold"/>
                                        <p:tgtEl>
                                          <p:spTgt spid="594947">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9494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94947">
                                            <p:txEl>
                                              <p:pRg st="5" end="5"/>
                                            </p:txEl>
                                          </p:spTgt>
                                        </p:tgtEl>
                                        <p:attrNameLst>
                                          <p:attrName>style.visibility</p:attrName>
                                        </p:attrNameLst>
                                      </p:cBhvr>
                                      <p:to>
                                        <p:strVal val="visible"/>
                                      </p:to>
                                    </p:set>
                                    <p:anim calcmode="lin" valueType="num">
                                      <p:cBhvr additive="base">
                                        <p:cTn id="27" dur="500" fill="hold"/>
                                        <p:tgtEl>
                                          <p:spTgt spid="594947">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9494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94947">
                                            <p:txEl>
                                              <p:pRg st="6" end="6"/>
                                            </p:txEl>
                                          </p:spTgt>
                                        </p:tgtEl>
                                        <p:attrNameLst>
                                          <p:attrName>style.visibility</p:attrName>
                                        </p:attrNameLst>
                                      </p:cBhvr>
                                      <p:to>
                                        <p:strVal val="visible"/>
                                      </p:to>
                                    </p:set>
                                    <p:anim calcmode="lin" valueType="num">
                                      <p:cBhvr additive="base">
                                        <p:cTn id="31" dur="500" fill="hold"/>
                                        <p:tgtEl>
                                          <p:spTgt spid="594947">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94947">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594947">
                                            <p:txEl>
                                              <p:pRg st="7" end="7"/>
                                            </p:txEl>
                                          </p:spTgt>
                                        </p:tgtEl>
                                        <p:attrNameLst>
                                          <p:attrName>style.visibility</p:attrName>
                                        </p:attrNameLst>
                                      </p:cBhvr>
                                      <p:to>
                                        <p:strVal val="visible"/>
                                      </p:to>
                                    </p:set>
                                    <p:anim calcmode="lin" valueType="num">
                                      <p:cBhvr additive="base">
                                        <p:cTn id="35" dur="500" fill="hold"/>
                                        <p:tgtEl>
                                          <p:spTgt spid="594947">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94947">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whoosh.wav"/>
                                        </p:tgtEl>
                                      </p:cMediaNode>
                                    </p:audio>
                                  </p:subTnLst>
                                </p:cTn>
                              </p:par>
                              <p:par>
                                <p:cTn id="37" presetID="2" presetClass="entr" presetSubtype="8" fill="hold" grpId="0" nodeType="withEffect">
                                  <p:stCondLst>
                                    <p:cond delay="0"/>
                                  </p:stCondLst>
                                  <p:childTnLst>
                                    <p:set>
                                      <p:cBhvr>
                                        <p:cTn id="38" dur="1" fill="hold">
                                          <p:stCondLst>
                                            <p:cond delay="0"/>
                                          </p:stCondLst>
                                        </p:cTn>
                                        <p:tgtEl>
                                          <p:spTgt spid="594947">
                                            <p:txEl>
                                              <p:pRg st="8" end="8"/>
                                            </p:txEl>
                                          </p:spTgt>
                                        </p:tgtEl>
                                        <p:attrNameLst>
                                          <p:attrName>style.visibility</p:attrName>
                                        </p:attrNameLst>
                                      </p:cBhvr>
                                      <p:to>
                                        <p:strVal val="visible"/>
                                      </p:to>
                                    </p:set>
                                    <p:anim calcmode="lin" valueType="num">
                                      <p:cBhvr additive="base">
                                        <p:cTn id="39" dur="500" fill="hold"/>
                                        <p:tgtEl>
                                          <p:spTgt spid="594947">
                                            <p:txEl>
                                              <p:pRg st="8" end="8"/>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94947">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whoosh.wav"/>
                                        </p:tgtEl>
                                      </p:cMediaNode>
                                    </p:audio>
                                  </p:subTnLst>
                                </p:cTn>
                              </p:par>
                              <p:par>
                                <p:cTn id="41" presetID="2" presetClass="entr" presetSubtype="8" fill="hold" grpId="0" nodeType="withEffect">
                                  <p:stCondLst>
                                    <p:cond delay="0"/>
                                  </p:stCondLst>
                                  <p:childTnLst>
                                    <p:set>
                                      <p:cBhvr>
                                        <p:cTn id="42" dur="1" fill="hold">
                                          <p:stCondLst>
                                            <p:cond delay="0"/>
                                          </p:stCondLst>
                                        </p:cTn>
                                        <p:tgtEl>
                                          <p:spTgt spid="594947">
                                            <p:txEl>
                                              <p:pRg st="9" end="9"/>
                                            </p:txEl>
                                          </p:spTgt>
                                        </p:tgtEl>
                                        <p:attrNameLst>
                                          <p:attrName>style.visibility</p:attrName>
                                        </p:attrNameLst>
                                      </p:cBhvr>
                                      <p:to>
                                        <p:strVal val="visible"/>
                                      </p:to>
                                    </p:set>
                                    <p:anim calcmode="lin" valueType="num">
                                      <p:cBhvr additive="base">
                                        <p:cTn id="43" dur="500" fill="hold"/>
                                        <p:tgtEl>
                                          <p:spTgt spid="594947">
                                            <p:txEl>
                                              <p:pRg st="9" end="9"/>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94947">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whoosh.wav"/>
                                        </p:tgtEl>
                                      </p:cMediaNode>
                                    </p:audio>
                                  </p:subTnLst>
                                </p:cTn>
                              </p:par>
                              <p:par>
                                <p:cTn id="45" presetID="2" presetClass="entr" presetSubtype="8" fill="hold" grpId="0" nodeType="withEffect">
                                  <p:stCondLst>
                                    <p:cond delay="0"/>
                                  </p:stCondLst>
                                  <p:childTnLst>
                                    <p:set>
                                      <p:cBhvr>
                                        <p:cTn id="46" dur="1" fill="hold">
                                          <p:stCondLst>
                                            <p:cond delay="0"/>
                                          </p:stCondLst>
                                        </p:cTn>
                                        <p:tgtEl>
                                          <p:spTgt spid="594947">
                                            <p:txEl>
                                              <p:pRg st="10" end="10"/>
                                            </p:txEl>
                                          </p:spTgt>
                                        </p:tgtEl>
                                        <p:attrNameLst>
                                          <p:attrName>style.visibility</p:attrName>
                                        </p:attrNameLst>
                                      </p:cBhvr>
                                      <p:to>
                                        <p:strVal val="visible"/>
                                      </p:to>
                                    </p:set>
                                    <p:anim calcmode="lin" valueType="num">
                                      <p:cBhvr additive="base">
                                        <p:cTn id="47" dur="500" fill="hold"/>
                                        <p:tgtEl>
                                          <p:spTgt spid="594947">
                                            <p:txEl>
                                              <p:pRg st="10" end="1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94947">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47"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E578FBF-9B45-0308-14F5-B19CA06FA625}"/>
              </a:ext>
            </a:extLst>
          </p:cNvPr>
          <p:cNvSpPr>
            <a:spLocks noGrp="1" noChangeArrowheads="1"/>
          </p:cNvSpPr>
          <p:nvPr>
            <p:ph type="title"/>
          </p:nvPr>
        </p:nvSpPr>
        <p:spPr/>
        <p:txBody>
          <a:bodyPr/>
          <a:lstStyle/>
          <a:p>
            <a:pPr eaLnBrk="1" hangingPunct="1"/>
            <a:r>
              <a:rPr lang="en-US" altLang="zh-CN"/>
              <a:t>Table</a:t>
            </a:r>
          </a:p>
        </p:txBody>
      </p:sp>
      <p:sp>
        <p:nvSpPr>
          <p:cNvPr id="595971" name="Rectangle 3">
            <a:extLst>
              <a:ext uri="{FF2B5EF4-FFF2-40B4-BE49-F238E27FC236}">
                <a16:creationId xmlns:a16="http://schemas.microsoft.com/office/drawing/2014/main" id="{5D9AD96B-4E7D-0FF2-0154-45DBABE06A4F}"/>
              </a:ext>
            </a:extLst>
          </p:cNvPr>
          <p:cNvSpPr>
            <a:spLocks noGrp="1" noChangeArrowheads="1"/>
          </p:cNvSpPr>
          <p:nvPr>
            <p:ph type="body" idx="1"/>
          </p:nvPr>
        </p:nvSpPr>
        <p:spPr/>
        <p:txBody>
          <a:bodyPr/>
          <a:lstStyle/>
          <a:p>
            <a:pPr marL="609600" indent="-609600" eaLnBrk="1" hangingPunct="1"/>
            <a:r>
              <a:rPr lang="en-US" altLang="zh-CN"/>
              <a:t>How do we to declare a table?</a:t>
            </a:r>
          </a:p>
          <a:p>
            <a:pPr marL="990600" lvl="1" indent="-533400" eaLnBrk="1" hangingPunct="1"/>
            <a:r>
              <a:rPr lang="en-US" altLang="zh-CN"/>
              <a:t>Static declaration</a:t>
            </a:r>
          </a:p>
          <a:p>
            <a:pPr marL="1371600" lvl="2" indent="-457200" eaLnBrk="1" hangingPunct="1"/>
            <a:r>
              <a:rPr lang="en-US" altLang="zh-CN"/>
              <a:t> int A[5][5];</a:t>
            </a:r>
          </a:p>
          <a:p>
            <a:pPr marL="990600" lvl="1" indent="-533400" eaLnBrk="1" hangingPunct="1"/>
            <a:r>
              <a:rPr lang="en-US" altLang="zh-CN"/>
              <a:t>Dynamic declaration</a:t>
            </a:r>
          </a:p>
          <a:p>
            <a:pPr marL="1371600" lvl="2" indent="-457200" eaLnBrk="1" hangingPunct="1"/>
            <a:r>
              <a:rPr lang="en-US" altLang="zh-CN"/>
              <a:t>int **A;</a:t>
            </a:r>
          </a:p>
          <a:p>
            <a:pPr marL="1752600" lvl="3" indent="-381000" eaLnBrk="1" hangingPunct="1">
              <a:buFontTx/>
              <a:buNone/>
            </a:pPr>
            <a:r>
              <a:rPr lang="en-US" altLang="zh-CN" sz="2400"/>
              <a:t>A = (int **) malloc (sizeof (int *) * 5);</a:t>
            </a:r>
          </a:p>
          <a:p>
            <a:pPr marL="1752600" lvl="3" indent="-381000" eaLnBrk="1" hangingPunct="1">
              <a:buFontTx/>
              <a:buNone/>
            </a:pPr>
            <a:r>
              <a:rPr lang="en-US" altLang="zh-CN" sz="2400"/>
              <a:t>for (i = 0; i&lt; 5; i++)</a:t>
            </a:r>
          </a:p>
          <a:p>
            <a:pPr marL="1752600" lvl="3" indent="-381000" eaLnBrk="1" hangingPunct="1">
              <a:buFontTx/>
              <a:buNone/>
            </a:pPr>
            <a:r>
              <a:rPr lang="en-US" altLang="zh-CN" sz="2400"/>
              <a:t>	A[i] = (int *) malloc (sizeof (int) * 5); </a:t>
            </a:r>
          </a:p>
        </p:txBody>
      </p:sp>
      <p:pic>
        <p:nvPicPr>
          <p:cNvPr id="2" name="图形 1" descr="教师 纯色填充">
            <a:hlinkClick r:id="rId3"/>
            <a:extLst>
              <a:ext uri="{FF2B5EF4-FFF2-40B4-BE49-F238E27FC236}">
                <a16:creationId xmlns:a16="http://schemas.microsoft.com/office/drawing/2014/main" id="{F8972715-734A-6536-D6BC-9DB7279AF9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16416" y="6064378"/>
            <a:ext cx="579309" cy="5793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5971">
                                            <p:txEl>
                                              <p:pRg st="0" end="0"/>
                                            </p:txEl>
                                          </p:spTgt>
                                        </p:tgtEl>
                                        <p:attrNameLst>
                                          <p:attrName>style.visibility</p:attrName>
                                        </p:attrNameLst>
                                      </p:cBhvr>
                                      <p:to>
                                        <p:strVal val="visible"/>
                                      </p:to>
                                    </p:set>
                                    <p:anim calcmode="lin" valueType="num">
                                      <p:cBhvr additive="base">
                                        <p:cTn id="7" dur="500" fill="hold"/>
                                        <p:tgtEl>
                                          <p:spTgt spid="5959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597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95971">
                                            <p:txEl>
                                              <p:pRg st="1" end="1"/>
                                            </p:txEl>
                                          </p:spTgt>
                                        </p:tgtEl>
                                        <p:attrNameLst>
                                          <p:attrName>style.visibility</p:attrName>
                                        </p:attrNameLst>
                                      </p:cBhvr>
                                      <p:to>
                                        <p:strVal val="visible"/>
                                      </p:to>
                                    </p:set>
                                    <p:anim calcmode="lin" valueType="num">
                                      <p:cBhvr additive="base">
                                        <p:cTn id="11" dur="500" fill="hold"/>
                                        <p:tgtEl>
                                          <p:spTgt spid="59597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9597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95971">
                                            <p:txEl>
                                              <p:pRg st="2" end="2"/>
                                            </p:txEl>
                                          </p:spTgt>
                                        </p:tgtEl>
                                        <p:attrNameLst>
                                          <p:attrName>style.visibility</p:attrName>
                                        </p:attrNameLst>
                                      </p:cBhvr>
                                      <p:to>
                                        <p:strVal val="visible"/>
                                      </p:to>
                                    </p:set>
                                    <p:anim calcmode="lin" valueType="num">
                                      <p:cBhvr additive="base">
                                        <p:cTn id="15" dur="500" fill="hold"/>
                                        <p:tgtEl>
                                          <p:spTgt spid="59597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9597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95971">
                                            <p:txEl>
                                              <p:pRg st="3" end="3"/>
                                            </p:txEl>
                                          </p:spTgt>
                                        </p:tgtEl>
                                        <p:attrNameLst>
                                          <p:attrName>style.visibility</p:attrName>
                                        </p:attrNameLst>
                                      </p:cBhvr>
                                      <p:to>
                                        <p:strVal val="visible"/>
                                      </p:to>
                                    </p:set>
                                    <p:anim calcmode="lin" valueType="num">
                                      <p:cBhvr additive="base">
                                        <p:cTn id="19" dur="500" fill="hold"/>
                                        <p:tgtEl>
                                          <p:spTgt spid="59597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9597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95971">
                                            <p:txEl>
                                              <p:pRg st="4" end="4"/>
                                            </p:txEl>
                                          </p:spTgt>
                                        </p:tgtEl>
                                        <p:attrNameLst>
                                          <p:attrName>style.visibility</p:attrName>
                                        </p:attrNameLst>
                                      </p:cBhvr>
                                      <p:to>
                                        <p:strVal val="visible"/>
                                      </p:to>
                                    </p:set>
                                    <p:anim calcmode="lin" valueType="num">
                                      <p:cBhvr additive="base">
                                        <p:cTn id="23" dur="500" fill="hold"/>
                                        <p:tgtEl>
                                          <p:spTgt spid="595971">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9597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95971">
                                            <p:txEl>
                                              <p:pRg st="5" end="5"/>
                                            </p:txEl>
                                          </p:spTgt>
                                        </p:tgtEl>
                                        <p:attrNameLst>
                                          <p:attrName>style.visibility</p:attrName>
                                        </p:attrNameLst>
                                      </p:cBhvr>
                                      <p:to>
                                        <p:strVal val="visible"/>
                                      </p:to>
                                    </p:set>
                                    <p:anim calcmode="lin" valueType="num">
                                      <p:cBhvr additive="base">
                                        <p:cTn id="27" dur="500" fill="hold"/>
                                        <p:tgtEl>
                                          <p:spTgt spid="595971">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9597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95971">
                                            <p:txEl>
                                              <p:pRg st="6" end="6"/>
                                            </p:txEl>
                                          </p:spTgt>
                                        </p:tgtEl>
                                        <p:attrNameLst>
                                          <p:attrName>style.visibility</p:attrName>
                                        </p:attrNameLst>
                                      </p:cBhvr>
                                      <p:to>
                                        <p:strVal val="visible"/>
                                      </p:to>
                                    </p:set>
                                    <p:anim calcmode="lin" valueType="num">
                                      <p:cBhvr additive="base">
                                        <p:cTn id="31" dur="500" fill="hold"/>
                                        <p:tgtEl>
                                          <p:spTgt spid="595971">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9597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595971">
                                            <p:txEl>
                                              <p:pRg st="7" end="7"/>
                                            </p:txEl>
                                          </p:spTgt>
                                        </p:tgtEl>
                                        <p:attrNameLst>
                                          <p:attrName>style.visibility</p:attrName>
                                        </p:attrNameLst>
                                      </p:cBhvr>
                                      <p:to>
                                        <p:strVal val="visible"/>
                                      </p:to>
                                    </p:set>
                                    <p:anim calcmode="lin" valueType="num">
                                      <p:cBhvr additive="base">
                                        <p:cTn id="35" dur="500" fill="hold"/>
                                        <p:tgtEl>
                                          <p:spTgt spid="595971">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95971">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1"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32FA5C6-261A-728E-70D0-D62DF89FC7DD}"/>
              </a:ext>
            </a:extLst>
          </p:cNvPr>
          <p:cNvSpPr>
            <a:spLocks noGrp="1" noChangeArrowheads="1"/>
          </p:cNvSpPr>
          <p:nvPr>
            <p:ph type="title"/>
          </p:nvPr>
        </p:nvSpPr>
        <p:spPr/>
        <p:txBody>
          <a:bodyPr/>
          <a:lstStyle/>
          <a:p>
            <a:pPr eaLnBrk="1" hangingPunct="1"/>
            <a:r>
              <a:rPr lang="en-US" altLang="zh-CN"/>
              <a:t>Dynamic declaration</a:t>
            </a:r>
          </a:p>
        </p:txBody>
      </p:sp>
      <p:sp>
        <p:nvSpPr>
          <p:cNvPr id="23555" name="Rectangle 3">
            <a:extLst>
              <a:ext uri="{FF2B5EF4-FFF2-40B4-BE49-F238E27FC236}">
                <a16:creationId xmlns:a16="http://schemas.microsoft.com/office/drawing/2014/main" id="{97665FA2-A66C-D0EC-37E0-3FA431921D28}"/>
              </a:ext>
            </a:extLst>
          </p:cNvPr>
          <p:cNvSpPr>
            <a:spLocks noChangeArrowheads="1"/>
          </p:cNvSpPr>
          <p:nvPr/>
        </p:nvSpPr>
        <p:spPr bwMode="auto">
          <a:xfrm>
            <a:off x="8260" y="2420888"/>
            <a:ext cx="5943600"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lvl="2" eaLnBrk="1" hangingPunct="1">
              <a:spcBef>
                <a:spcPct val="50000"/>
              </a:spcBef>
              <a:buClrTx/>
              <a:buSzTx/>
              <a:buFontTx/>
              <a:buNone/>
            </a:pPr>
            <a:r>
              <a:rPr lang="en-US" altLang="zh-CN" b="0" i="0">
                <a:latin typeface="Arial Narrow" panose="020B0604020202020204" pitchFamily="34" charset="0"/>
                <a:ea typeface="宋体" panose="02010600030101010101" pitchFamily="2" charset="-122"/>
              </a:rPr>
              <a:t>      int **A;</a:t>
            </a:r>
          </a:p>
          <a:p>
            <a:pPr lvl="2" eaLnBrk="1" hangingPunct="1">
              <a:spcBef>
                <a:spcPct val="50000"/>
              </a:spcBef>
              <a:buClrTx/>
              <a:buSzTx/>
              <a:buFontTx/>
              <a:buNone/>
            </a:pPr>
            <a:endParaRPr lang="en-US" altLang="zh-CN" b="0" i="0">
              <a:latin typeface="Arial Narrow" panose="020B0604020202020204" pitchFamily="34" charset="0"/>
              <a:ea typeface="宋体" panose="02010600030101010101" pitchFamily="2" charset="-122"/>
            </a:endParaRPr>
          </a:p>
          <a:p>
            <a:pPr lvl="3" eaLnBrk="1" hangingPunct="1">
              <a:spcBef>
                <a:spcPct val="50000"/>
              </a:spcBef>
              <a:buClrTx/>
              <a:buSzTx/>
              <a:buFontTx/>
              <a:buNone/>
            </a:pPr>
            <a:r>
              <a:rPr lang="en-US" altLang="zh-CN" sz="2400" b="0" i="0">
                <a:latin typeface="Arial Narrow" panose="020B0604020202020204" pitchFamily="34" charset="0"/>
                <a:ea typeface="宋体" panose="02010600030101010101" pitchFamily="2" charset="-122"/>
              </a:rPr>
              <a:t>A = (int **) malloc (sizeof (int *) * 5);</a:t>
            </a:r>
          </a:p>
          <a:p>
            <a:pPr lvl="3" eaLnBrk="1" hangingPunct="1">
              <a:spcBef>
                <a:spcPct val="50000"/>
              </a:spcBef>
              <a:buClrTx/>
              <a:buSzTx/>
              <a:buFontTx/>
              <a:buNone/>
            </a:pPr>
            <a:endParaRPr lang="en-US" altLang="zh-CN" sz="2400" b="0" i="0">
              <a:latin typeface="Arial Narrow" panose="020B0604020202020204" pitchFamily="34" charset="0"/>
              <a:ea typeface="宋体" panose="02010600030101010101" pitchFamily="2" charset="-122"/>
            </a:endParaRPr>
          </a:p>
          <a:p>
            <a:pPr lvl="3" eaLnBrk="1" hangingPunct="1">
              <a:spcBef>
                <a:spcPct val="50000"/>
              </a:spcBef>
              <a:buClrTx/>
              <a:buSzTx/>
              <a:buFontTx/>
              <a:buNone/>
            </a:pPr>
            <a:r>
              <a:rPr lang="en-US" altLang="zh-CN" sz="2400" b="0" i="0">
                <a:latin typeface="Arial Narrow" panose="020B0604020202020204" pitchFamily="34" charset="0"/>
                <a:ea typeface="宋体" panose="02010600030101010101" pitchFamily="2" charset="-122"/>
              </a:rPr>
              <a:t>for (i = 0; i&lt; 5; i++)</a:t>
            </a:r>
          </a:p>
          <a:p>
            <a:pPr lvl="3" eaLnBrk="1" hangingPunct="1">
              <a:spcBef>
                <a:spcPct val="50000"/>
              </a:spcBef>
              <a:buClrTx/>
              <a:buSzTx/>
              <a:buFontTx/>
              <a:buNone/>
            </a:pPr>
            <a:r>
              <a:rPr lang="en-US" altLang="zh-CN" sz="2400" b="0" i="0">
                <a:latin typeface="Arial Narrow" panose="020B0604020202020204" pitchFamily="34" charset="0"/>
                <a:ea typeface="宋体" panose="02010600030101010101" pitchFamily="2" charset="-122"/>
              </a:rPr>
              <a:t>	A[i] = (int *) malloc (sizeof (int) * 5);</a:t>
            </a:r>
          </a:p>
        </p:txBody>
      </p:sp>
      <p:sp>
        <p:nvSpPr>
          <p:cNvPr id="23556" name="Text Box 4">
            <a:extLst>
              <a:ext uri="{FF2B5EF4-FFF2-40B4-BE49-F238E27FC236}">
                <a16:creationId xmlns:a16="http://schemas.microsoft.com/office/drawing/2014/main" id="{D30DC8BA-80C8-90FE-AF78-C7C29211A97F}"/>
              </a:ext>
            </a:extLst>
          </p:cNvPr>
          <p:cNvSpPr txBox="1">
            <a:spLocks noChangeArrowheads="1"/>
          </p:cNvSpPr>
          <p:nvPr/>
        </p:nvSpPr>
        <p:spPr bwMode="auto">
          <a:xfrm>
            <a:off x="6316985" y="2385963"/>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spcBef>
                <a:spcPct val="0"/>
              </a:spcBef>
              <a:buClrTx/>
              <a:buSzTx/>
              <a:buFontTx/>
              <a:buNone/>
            </a:pPr>
            <a:r>
              <a:rPr lang="en-US" altLang="zh-CN" sz="2400" b="0" i="0">
                <a:latin typeface="Times New Roman" panose="02020603050405020304" pitchFamily="18" charset="0"/>
                <a:ea typeface="宋体" panose="02010600030101010101" pitchFamily="2" charset="-122"/>
              </a:rPr>
              <a:t>A</a:t>
            </a:r>
          </a:p>
        </p:txBody>
      </p:sp>
      <p:sp>
        <p:nvSpPr>
          <p:cNvPr id="23557" name="Line 5">
            <a:extLst>
              <a:ext uri="{FF2B5EF4-FFF2-40B4-BE49-F238E27FC236}">
                <a16:creationId xmlns:a16="http://schemas.microsoft.com/office/drawing/2014/main" id="{98F434AA-8FDD-E81D-2436-BBBF3C9B799E}"/>
              </a:ext>
            </a:extLst>
          </p:cNvPr>
          <p:cNvSpPr>
            <a:spLocks noChangeShapeType="1"/>
          </p:cNvSpPr>
          <p:nvPr/>
        </p:nvSpPr>
        <p:spPr bwMode="auto">
          <a:xfrm>
            <a:off x="6637660" y="2725688"/>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58" name="Line 6">
            <a:extLst>
              <a:ext uri="{FF2B5EF4-FFF2-40B4-BE49-F238E27FC236}">
                <a16:creationId xmlns:a16="http://schemas.microsoft.com/office/drawing/2014/main" id="{658EB2AB-35C8-BE54-4D38-E772E7B05AFC}"/>
              </a:ext>
            </a:extLst>
          </p:cNvPr>
          <p:cNvSpPr>
            <a:spLocks noChangeShapeType="1"/>
          </p:cNvSpPr>
          <p:nvPr/>
        </p:nvSpPr>
        <p:spPr bwMode="auto">
          <a:xfrm>
            <a:off x="1379860" y="3182888"/>
            <a:ext cx="6553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59" name="Line 7">
            <a:extLst>
              <a:ext uri="{FF2B5EF4-FFF2-40B4-BE49-F238E27FC236}">
                <a16:creationId xmlns:a16="http://schemas.microsoft.com/office/drawing/2014/main" id="{3437D2DD-CD36-64AC-1C5A-E1407F173EEB}"/>
              </a:ext>
            </a:extLst>
          </p:cNvPr>
          <p:cNvSpPr>
            <a:spLocks noChangeShapeType="1"/>
          </p:cNvSpPr>
          <p:nvPr/>
        </p:nvSpPr>
        <p:spPr bwMode="auto">
          <a:xfrm>
            <a:off x="1379860" y="4325888"/>
            <a:ext cx="6553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60" name="Text Box 8">
            <a:extLst>
              <a:ext uri="{FF2B5EF4-FFF2-40B4-BE49-F238E27FC236}">
                <a16:creationId xmlns:a16="http://schemas.microsoft.com/office/drawing/2014/main" id="{4B99874D-4DC7-ED77-2537-11DF43B7A0AC}"/>
              </a:ext>
            </a:extLst>
          </p:cNvPr>
          <p:cNvSpPr txBox="1">
            <a:spLocks noChangeArrowheads="1"/>
          </p:cNvSpPr>
          <p:nvPr/>
        </p:nvSpPr>
        <p:spPr bwMode="auto">
          <a:xfrm>
            <a:off x="6332860" y="3147963"/>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spcBef>
                <a:spcPct val="0"/>
              </a:spcBef>
              <a:buClrTx/>
              <a:buSzTx/>
              <a:buFontTx/>
              <a:buNone/>
            </a:pPr>
            <a:r>
              <a:rPr lang="en-US" altLang="zh-CN" sz="2400" b="0" i="0">
                <a:latin typeface="Times New Roman" panose="02020603050405020304" pitchFamily="18" charset="0"/>
                <a:ea typeface="宋体" panose="02010600030101010101" pitchFamily="2" charset="-122"/>
              </a:rPr>
              <a:t>A</a:t>
            </a:r>
          </a:p>
        </p:txBody>
      </p:sp>
      <p:sp>
        <p:nvSpPr>
          <p:cNvPr id="23561" name="Line 9">
            <a:extLst>
              <a:ext uri="{FF2B5EF4-FFF2-40B4-BE49-F238E27FC236}">
                <a16:creationId xmlns:a16="http://schemas.microsoft.com/office/drawing/2014/main" id="{45E168DB-F96A-194E-108C-5990CF744E3E}"/>
              </a:ext>
            </a:extLst>
          </p:cNvPr>
          <p:cNvSpPr>
            <a:spLocks noChangeShapeType="1"/>
          </p:cNvSpPr>
          <p:nvPr/>
        </p:nvSpPr>
        <p:spPr bwMode="auto">
          <a:xfrm>
            <a:off x="6653535" y="3487688"/>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62" name="Text Box 10">
            <a:extLst>
              <a:ext uri="{FF2B5EF4-FFF2-40B4-BE49-F238E27FC236}">
                <a16:creationId xmlns:a16="http://schemas.microsoft.com/office/drawing/2014/main" id="{019B0D38-7775-121A-E833-96EFFF2742E3}"/>
              </a:ext>
            </a:extLst>
          </p:cNvPr>
          <p:cNvSpPr txBox="1">
            <a:spLocks noChangeArrowheads="1"/>
          </p:cNvSpPr>
          <p:nvPr/>
        </p:nvSpPr>
        <p:spPr bwMode="auto">
          <a:xfrm>
            <a:off x="6028060" y="4748163"/>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spcBef>
                <a:spcPct val="0"/>
              </a:spcBef>
              <a:buClrTx/>
              <a:buSzTx/>
              <a:buFontTx/>
              <a:buNone/>
            </a:pPr>
            <a:r>
              <a:rPr lang="en-US" altLang="zh-CN" sz="2400" b="0" i="0">
                <a:latin typeface="Times New Roman" panose="02020603050405020304" pitchFamily="18" charset="0"/>
                <a:ea typeface="宋体" panose="02010600030101010101" pitchFamily="2" charset="-122"/>
              </a:rPr>
              <a:t>A</a:t>
            </a:r>
          </a:p>
        </p:txBody>
      </p:sp>
      <p:sp>
        <p:nvSpPr>
          <p:cNvPr id="23563" name="Line 11">
            <a:extLst>
              <a:ext uri="{FF2B5EF4-FFF2-40B4-BE49-F238E27FC236}">
                <a16:creationId xmlns:a16="http://schemas.microsoft.com/office/drawing/2014/main" id="{F311C81D-3B67-9C42-1700-07ABADA6CAF6}"/>
              </a:ext>
            </a:extLst>
          </p:cNvPr>
          <p:cNvSpPr>
            <a:spLocks noChangeShapeType="1"/>
          </p:cNvSpPr>
          <p:nvPr/>
        </p:nvSpPr>
        <p:spPr bwMode="auto">
          <a:xfrm>
            <a:off x="6348735" y="5087888"/>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64" name="Rectangle 12">
            <a:extLst>
              <a:ext uri="{FF2B5EF4-FFF2-40B4-BE49-F238E27FC236}">
                <a16:creationId xmlns:a16="http://schemas.microsoft.com/office/drawing/2014/main" id="{352A30AD-F7AC-5328-E4C1-C60FD67F56EA}"/>
              </a:ext>
            </a:extLst>
          </p:cNvPr>
          <p:cNvSpPr>
            <a:spLocks noChangeArrowheads="1"/>
          </p:cNvSpPr>
          <p:nvPr/>
        </p:nvSpPr>
        <p:spPr bwMode="auto">
          <a:xfrm>
            <a:off x="6942460" y="3640088"/>
            <a:ext cx="7620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buFont typeface="Wingdings" pitchFamily="2" charset="2"/>
              <a:buChar char="u"/>
            </a:pPr>
            <a:endParaRPr lang="en-US" altLang="zh-CN">
              <a:latin typeface="Arial Unicode MS" panose="020B0604020202020204" pitchFamily="34" charset="-128"/>
            </a:endParaRPr>
          </a:p>
        </p:txBody>
      </p:sp>
      <p:sp>
        <p:nvSpPr>
          <p:cNvPr id="23565" name="Line 13">
            <a:extLst>
              <a:ext uri="{FF2B5EF4-FFF2-40B4-BE49-F238E27FC236}">
                <a16:creationId xmlns:a16="http://schemas.microsoft.com/office/drawing/2014/main" id="{47601D40-9F14-A0CF-5A2C-AA66FB911E8B}"/>
              </a:ext>
            </a:extLst>
          </p:cNvPr>
          <p:cNvSpPr>
            <a:spLocks noChangeShapeType="1"/>
          </p:cNvSpPr>
          <p:nvPr/>
        </p:nvSpPr>
        <p:spPr bwMode="auto">
          <a:xfrm>
            <a:off x="7094860" y="364008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66" name="Line 14">
            <a:extLst>
              <a:ext uri="{FF2B5EF4-FFF2-40B4-BE49-F238E27FC236}">
                <a16:creationId xmlns:a16="http://schemas.microsoft.com/office/drawing/2014/main" id="{DB18A66E-0F9B-8D80-0A08-81826379903C}"/>
              </a:ext>
            </a:extLst>
          </p:cNvPr>
          <p:cNvSpPr>
            <a:spLocks noChangeShapeType="1"/>
          </p:cNvSpPr>
          <p:nvPr/>
        </p:nvSpPr>
        <p:spPr bwMode="auto">
          <a:xfrm>
            <a:off x="7247260" y="364008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67" name="Line 15">
            <a:extLst>
              <a:ext uri="{FF2B5EF4-FFF2-40B4-BE49-F238E27FC236}">
                <a16:creationId xmlns:a16="http://schemas.microsoft.com/office/drawing/2014/main" id="{3001AF7C-644B-DBDE-75D3-48F1F5DCF2E8}"/>
              </a:ext>
            </a:extLst>
          </p:cNvPr>
          <p:cNvSpPr>
            <a:spLocks noChangeShapeType="1"/>
          </p:cNvSpPr>
          <p:nvPr/>
        </p:nvSpPr>
        <p:spPr bwMode="auto">
          <a:xfrm>
            <a:off x="7399660" y="364008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68" name="Line 16">
            <a:extLst>
              <a:ext uri="{FF2B5EF4-FFF2-40B4-BE49-F238E27FC236}">
                <a16:creationId xmlns:a16="http://schemas.microsoft.com/office/drawing/2014/main" id="{93000899-813E-52B0-A24C-38C82F7062C1}"/>
              </a:ext>
            </a:extLst>
          </p:cNvPr>
          <p:cNvSpPr>
            <a:spLocks noChangeShapeType="1"/>
          </p:cNvSpPr>
          <p:nvPr/>
        </p:nvSpPr>
        <p:spPr bwMode="auto">
          <a:xfrm>
            <a:off x="7552060" y="364008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69" name="Line 17">
            <a:extLst>
              <a:ext uri="{FF2B5EF4-FFF2-40B4-BE49-F238E27FC236}">
                <a16:creationId xmlns:a16="http://schemas.microsoft.com/office/drawing/2014/main" id="{20F13C20-FD2A-DBBB-3D1D-77404EE4FF80}"/>
              </a:ext>
            </a:extLst>
          </p:cNvPr>
          <p:cNvSpPr>
            <a:spLocks noChangeShapeType="1"/>
          </p:cNvSpPr>
          <p:nvPr/>
        </p:nvSpPr>
        <p:spPr bwMode="auto">
          <a:xfrm>
            <a:off x="7704460" y="364008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70" name="Rectangle 18">
            <a:extLst>
              <a:ext uri="{FF2B5EF4-FFF2-40B4-BE49-F238E27FC236}">
                <a16:creationId xmlns:a16="http://schemas.microsoft.com/office/drawing/2014/main" id="{211FCB7A-36B3-2BD2-B80A-3FC4423F7A69}"/>
              </a:ext>
            </a:extLst>
          </p:cNvPr>
          <p:cNvSpPr>
            <a:spLocks noChangeArrowheads="1"/>
          </p:cNvSpPr>
          <p:nvPr/>
        </p:nvSpPr>
        <p:spPr bwMode="auto">
          <a:xfrm>
            <a:off x="6942460" y="5316488"/>
            <a:ext cx="762000" cy="152400"/>
          </a:xfrm>
          <a:prstGeom prst="rect">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buFont typeface="Wingdings" pitchFamily="2" charset="2"/>
              <a:buChar char="u"/>
            </a:pPr>
            <a:endParaRPr lang="en-US" altLang="zh-CN">
              <a:latin typeface="Arial Unicode MS" panose="020B0604020202020204" pitchFamily="34" charset="-128"/>
            </a:endParaRPr>
          </a:p>
        </p:txBody>
      </p:sp>
      <p:sp>
        <p:nvSpPr>
          <p:cNvPr id="23571" name="Line 19">
            <a:extLst>
              <a:ext uri="{FF2B5EF4-FFF2-40B4-BE49-F238E27FC236}">
                <a16:creationId xmlns:a16="http://schemas.microsoft.com/office/drawing/2014/main" id="{C51C4569-860D-7444-8D7A-F64E4DEC8984}"/>
              </a:ext>
            </a:extLst>
          </p:cNvPr>
          <p:cNvSpPr>
            <a:spLocks noChangeShapeType="1"/>
          </p:cNvSpPr>
          <p:nvPr/>
        </p:nvSpPr>
        <p:spPr bwMode="auto">
          <a:xfrm>
            <a:off x="7094860" y="53164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72" name="Line 20">
            <a:extLst>
              <a:ext uri="{FF2B5EF4-FFF2-40B4-BE49-F238E27FC236}">
                <a16:creationId xmlns:a16="http://schemas.microsoft.com/office/drawing/2014/main" id="{9A6688B2-CE28-4B9C-4F19-CE48423313FA}"/>
              </a:ext>
            </a:extLst>
          </p:cNvPr>
          <p:cNvSpPr>
            <a:spLocks noChangeShapeType="1"/>
          </p:cNvSpPr>
          <p:nvPr/>
        </p:nvSpPr>
        <p:spPr bwMode="auto">
          <a:xfrm>
            <a:off x="7247260" y="53164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73" name="Line 21">
            <a:extLst>
              <a:ext uri="{FF2B5EF4-FFF2-40B4-BE49-F238E27FC236}">
                <a16:creationId xmlns:a16="http://schemas.microsoft.com/office/drawing/2014/main" id="{F597116F-1165-E081-9B44-44345F5CF4F0}"/>
              </a:ext>
            </a:extLst>
          </p:cNvPr>
          <p:cNvSpPr>
            <a:spLocks noChangeShapeType="1"/>
          </p:cNvSpPr>
          <p:nvPr/>
        </p:nvSpPr>
        <p:spPr bwMode="auto">
          <a:xfrm>
            <a:off x="7399660" y="53164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74" name="Line 22">
            <a:extLst>
              <a:ext uri="{FF2B5EF4-FFF2-40B4-BE49-F238E27FC236}">
                <a16:creationId xmlns:a16="http://schemas.microsoft.com/office/drawing/2014/main" id="{14685675-3367-A33F-CA10-648DF28BCC48}"/>
              </a:ext>
            </a:extLst>
          </p:cNvPr>
          <p:cNvSpPr>
            <a:spLocks noChangeShapeType="1"/>
          </p:cNvSpPr>
          <p:nvPr/>
        </p:nvSpPr>
        <p:spPr bwMode="auto">
          <a:xfrm>
            <a:off x="7552060" y="53164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75" name="Line 23">
            <a:extLst>
              <a:ext uri="{FF2B5EF4-FFF2-40B4-BE49-F238E27FC236}">
                <a16:creationId xmlns:a16="http://schemas.microsoft.com/office/drawing/2014/main" id="{0B27E031-E9A2-9A9A-CB3B-6E23C5B9E65A}"/>
              </a:ext>
            </a:extLst>
          </p:cNvPr>
          <p:cNvSpPr>
            <a:spLocks noChangeShapeType="1"/>
          </p:cNvSpPr>
          <p:nvPr/>
        </p:nvSpPr>
        <p:spPr bwMode="auto">
          <a:xfrm>
            <a:off x="7704460" y="53164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76" name="Rectangle 24">
            <a:extLst>
              <a:ext uri="{FF2B5EF4-FFF2-40B4-BE49-F238E27FC236}">
                <a16:creationId xmlns:a16="http://schemas.microsoft.com/office/drawing/2014/main" id="{899B3744-EC8E-5D75-24DA-94AAABBF3A72}"/>
              </a:ext>
            </a:extLst>
          </p:cNvPr>
          <p:cNvSpPr>
            <a:spLocks noChangeArrowheads="1"/>
          </p:cNvSpPr>
          <p:nvPr/>
        </p:nvSpPr>
        <p:spPr bwMode="auto">
          <a:xfrm>
            <a:off x="6942460" y="5468888"/>
            <a:ext cx="762000" cy="152400"/>
          </a:xfrm>
          <a:prstGeom prst="rect">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buFont typeface="Wingdings" pitchFamily="2" charset="2"/>
              <a:buChar char="u"/>
            </a:pPr>
            <a:endParaRPr lang="en-US" altLang="zh-CN">
              <a:latin typeface="Arial Unicode MS" panose="020B0604020202020204" pitchFamily="34" charset="-128"/>
            </a:endParaRPr>
          </a:p>
        </p:txBody>
      </p:sp>
      <p:sp>
        <p:nvSpPr>
          <p:cNvPr id="23577" name="Line 25">
            <a:extLst>
              <a:ext uri="{FF2B5EF4-FFF2-40B4-BE49-F238E27FC236}">
                <a16:creationId xmlns:a16="http://schemas.microsoft.com/office/drawing/2014/main" id="{F1C2B209-E08A-C7AB-63CF-768C821C1551}"/>
              </a:ext>
            </a:extLst>
          </p:cNvPr>
          <p:cNvSpPr>
            <a:spLocks noChangeShapeType="1"/>
          </p:cNvSpPr>
          <p:nvPr/>
        </p:nvSpPr>
        <p:spPr bwMode="auto">
          <a:xfrm>
            <a:off x="7094860" y="54688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78" name="Line 26">
            <a:extLst>
              <a:ext uri="{FF2B5EF4-FFF2-40B4-BE49-F238E27FC236}">
                <a16:creationId xmlns:a16="http://schemas.microsoft.com/office/drawing/2014/main" id="{E4CB029D-F319-C1E1-081D-CC23CA12A9F1}"/>
              </a:ext>
            </a:extLst>
          </p:cNvPr>
          <p:cNvSpPr>
            <a:spLocks noChangeShapeType="1"/>
          </p:cNvSpPr>
          <p:nvPr/>
        </p:nvSpPr>
        <p:spPr bwMode="auto">
          <a:xfrm>
            <a:off x="7247260" y="54688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79" name="Line 27">
            <a:extLst>
              <a:ext uri="{FF2B5EF4-FFF2-40B4-BE49-F238E27FC236}">
                <a16:creationId xmlns:a16="http://schemas.microsoft.com/office/drawing/2014/main" id="{33BBE503-CDDB-608A-A5FB-4E476A37520C}"/>
              </a:ext>
            </a:extLst>
          </p:cNvPr>
          <p:cNvSpPr>
            <a:spLocks noChangeShapeType="1"/>
          </p:cNvSpPr>
          <p:nvPr/>
        </p:nvSpPr>
        <p:spPr bwMode="auto">
          <a:xfrm>
            <a:off x="7399660" y="54688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80" name="Line 28">
            <a:extLst>
              <a:ext uri="{FF2B5EF4-FFF2-40B4-BE49-F238E27FC236}">
                <a16:creationId xmlns:a16="http://schemas.microsoft.com/office/drawing/2014/main" id="{E2D74DEC-9EEC-FC00-0788-E3A91C160B77}"/>
              </a:ext>
            </a:extLst>
          </p:cNvPr>
          <p:cNvSpPr>
            <a:spLocks noChangeShapeType="1"/>
          </p:cNvSpPr>
          <p:nvPr/>
        </p:nvSpPr>
        <p:spPr bwMode="auto">
          <a:xfrm>
            <a:off x="7552060" y="54688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81" name="Line 29">
            <a:extLst>
              <a:ext uri="{FF2B5EF4-FFF2-40B4-BE49-F238E27FC236}">
                <a16:creationId xmlns:a16="http://schemas.microsoft.com/office/drawing/2014/main" id="{03DF84C1-01FA-FEBA-E819-3F55AC64B295}"/>
              </a:ext>
            </a:extLst>
          </p:cNvPr>
          <p:cNvSpPr>
            <a:spLocks noChangeShapeType="1"/>
          </p:cNvSpPr>
          <p:nvPr/>
        </p:nvSpPr>
        <p:spPr bwMode="auto">
          <a:xfrm>
            <a:off x="7704460" y="54688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82" name="Rectangle 30">
            <a:extLst>
              <a:ext uri="{FF2B5EF4-FFF2-40B4-BE49-F238E27FC236}">
                <a16:creationId xmlns:a16="http://schemas.microsoft.com/office/drawing/2014/main" id="{530AF3A4-3B3E-6AD1-2A06-8BD75D599FBE}"/>
              </a:ext>
            </a:extLst>
          </p:cNvPr>
          <p:cNvSpPr>
            <a:spLocks noChangeArrowheads="1"/>
          </p:cNvSpPr>
          <p:nvPr/>
        </p:nvSpPr>
        <p:spPr bwMode="auto">
          <a:xfrm>
            <a:off x="6942460" y="5621288"/>
            <a:ext cx="762000" cy="152400"/>
          </a:xfrm>
          <a:prstGeom prst="rect">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buFont typeface="Wingdings" pitchFamily="2" charset="2"/>
              <a:buChar char="u"/>
            </a:pPr>
            <a:endParaRPr lang="en-US" altLang="zh-CN">
              <a:latin typeface="Arial Unicode MS" panose="020B0604020202020204" pitchFamily="34" charset="-128"/>
            </a:endParaRPr>
          </a:p>
        </p:txBody>
      </p:sp>
      <p:sp>
        <p:nvSpPr>
          <p:cNvPr id="23583" name="Line 31">
            <a:extLst>
              <a:ext uri="{FF2B5EF4-FFF2-40B4-BE49-F238E27FC236}">
                <a16:creationId xmlns:a16="http://schemas.microsoft.com/office/drawing/2014/main" id="{93B91CDA-5F11-66C1-D976-FFE45E085A14}"/>
              </a:ext>
            </a:extLst>
          </p:cNvPr>
          <p:cNvSpPr>
            <a:spLocks noChangeShapeType="1"/>
          </p:cNvSpPr>
          <p:nvPr/>
        </p:nvSpPr>
        <p:spPr bwMode="auto">
          <a:xfrm>
            <a:off x="7094860" y="56212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84" name="Line 32">
            <a:extLst>
              <a:ext uri="{FF2B5EF4-FFF2-40B4-BE49-F238E27FC236}">
                <a16:creationId xmlns:a16="http://schemas.microsoft.com/office/drawing/2014/main" id="{3E96327D-7CB8-895F-C3E7-1ACF3B8C21B0}"/>
              </a:ext>
            </a:extLst>
          </p:cNvPr>
          <p:cNvSpPr>
            <a:spLocks noChangeShapeType="1"/>
          </p:cNvSpPr>
          <p:nvPr/>
        </p:nvSpPr>
        <p:spPr bwMode="auto">
          <a:xfrm>
            <a:off x="7247260" y="56212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85" name="Line 33">
            <a:extLst>
              <a:ext uri="{FF2B5EF4-FFF2-40B4-BE49-F238E27FC236}">
                <a16:creationId xmlns:a16="http://schemas.microsoft.com/office/drawing/2014/main" id="{3B541FD3-09CA-45F1-C759-C9C717AC6B61}"/>
              </a:ext>
            </a:extLst>
          </p:cNvPr>
          <p:cNvSpPr>
            <a:spLocks noChangeShapeType="1"/>
          </p:cNvSpPr>
          <p:nvPr/>
        </p:nvSpPr>
        <p:spPr bwMode="auto">
          <a:xfrm>
            <a:off x="7399660" y="56212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86" name="Line 34">
            <a:extLst>
              <a:ext uri="{FF2B5EF4-FFF2-40B4-BE49-F238E27FC236}">
                <a16:creationId xmlns:a16="http://schemas.microsoft.com/office/drawing/2014/main" id="{780C6AC5-15D0-CF0F-0E90-8E00B05318BD}"/>
              </a:ext>
            </a:extLst>
          </p:cNvPr>
          <p:cNvSpPr>
            <a:spLocks noChangeShapeType="1"/>
          </p:cNvSpPr>
          <p:nvPr/>
        </p:nvSpPr>
        <p:spPr bwMode="auto">
          <a:xfrm>
            <a:off x="7552060" y="56212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87" name="Line 35">
            <a:extLst>
              <a:ext uri="{FF2B5EF4-FFF2-40B4-BE49-F238E27FC236}">
                <a16:creationId xmlns:a16="http://schemas.microsoft.com/office/drawing/2014/main" id="{FCE75275-D87B-5ADE-42B8-0C142DD8C1F9}"/>
              </a:ext>
            </a:extLst>
          </p:cNvPr>
          <p:cNvSpPr>
            <a:spLocks noChangeShapeType="1"/>
          </p:cNvSpPr>
          <p:nvPr/>
        </p:nvSpPr>
        <p:spPr bwMode="auto">
          <a:xfrm>
            <a:off x="7704460" y="56212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88" name="Rectangle 36">
            <a:extLst>
              <a:ext uri="{FF2B5EF4-FFF2-40B4-BE49-F238E27FC236}">
                <a16:creationId xmlns:a16="http://schemas.microsoft.com/office/drawing/2014/main" id="{04C74515-9920-DAF4-2C23-9786B8537AD3}"/>
              </a:ext>
            </a:extLst>
          </p:cNvPr>
          <p:cNvSpPr>
            <a:spLocks noChangeArrowheads="1"/>
          </p:cNvSpPr>
          <p:nvPr/>
        </p:nvSpPr>
        <p:spPr bwMode="auto">
          <a:xfrm>
            <a:off x="6942460" y="5773688"/>
            <a:ext cx="762000" cy="152400"/>
          </a:xfrm>
          <a:prstGeom prst="rect">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buFont typeface="Wingdings" pitchFamily="2" charset="2"/>
              <a:buChar char="u"/>
            </a:pPr>
            <a:endParaRPr lang="en-US" altLang="zh-CN">
              <a:latin typeface="Arial Unicode MS" panose="020B0604020202020204" pitchFamily="34" charset="-128"/>
            </a:endParaRPr>
          </a:p>
        </p:txBody>
      </p:sp>
      <p:sp>
        <p:nvSpPr>
          <p:cNvPr id="23589" name="Line 37">
            <a:extLst>
              <a:ext uri="{FF2B5EF4-FFF2-40B4-BE49-F238E27FC236}">
                <a16:creationId xmlns:a16="http://schemas.microsoft.com/office/drawing/2014/main" id="{9E97C517-293A-DF14-E259-4925B02AFCF8}"/>
              </a:ext>
            </a:extLst>
          </p:cNvPr>
          <p:cNvSpPr>
            <a:spLocks noChangeShapeType="1"/>
          </p:cNvSpPr>
          <p:nvPr/>
        </p:nvSpPr>
        <p:spPr bwMode="auto">
          <a:xfrm>
            <a:off x="7094860" y="57736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90" name="Line 38">
            <a:extLst>
              <a:ext uri="{FF2B5EF4-FFF2-40B4-BE49-F238E27FC236}">
                <a16:creationId xmlns:a16="http://schemas.microsoft.com/office/drawing/2014/main" id="{4B4DFD47-CAD7-0FBC-C94D-90C3FA82F209}"/>
              </a:ext>
            </a:extLst>
          </p:cNvPr>
          <p:cNvSpPr>
            <a:spLocks noChangeShapeType="1"/>
          </p:cNvSpPr>
          <p:nvPr/>
        </p:nvSpPr>
        <p:spPr bwMode="auto">
          <a:xfrm>
            <a:off x="7247260" y="57736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91" name="Line 39">
            <a:extLst>
              <a:ext uri="{FF2B5EF4-FFF2-40B4-BE49-F238E27FC236}">
                <a16:creationId xmlns:a16="http://schemas.microsoft.com/office/drawing/2014/main" id="{7BC24B6F-FF12-3F25-65F7-526D2953B74B}"/>
              </a:ext>
            </a:extLst>
          </p:cNvPr>
          <p:cNvSpPr>
            <a:spLocks noChangeShapeType="1"/>
          </p:cNvSpPr>
          <p:nvPr/>
        </p:nvSpPr>
        <p:spPr bwMode="auto">
          <a:xfrm>
            <a:off x="7399660" y="57736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92" name="Line 40">
            <a:extLst>
              <a:ext uri="{FF2B5EF4-FFF2-40B4-BE49-F238E27FC236}">
                <a16:creationId xmlns:a16="http://schemas.microsoft.com/office/drawing/2014/main" id="{DABA6632-3785-059F-993F-9B0C63DFD9EE}"/>
              </a:ext>
            </a:extLst>
          </p:cNvPr>
          <p:cNvSpPr>
            <a:spLocks noChangeShapeType="1"/>
          </p:cNvSpPr>
          <p:nvPr/>
        </p:nvSpPr>
        <p:spPr bwMode="auto">
          <a:xfrm>
            <a:off x="7552060" y="57736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93" name="Line 41">
            <a:extLst>
              <a:ext uri="{FF2B5EF4-FFF2-40B4-BE49-F238E27FC236}">
                <a16:creationId xmlns:a16="http://schemas.microsoft.com/office/drawing/2014/main" id="{D8F7538A-0C6E-26B8-8368-8B41F5671710}"/>
              </a:ext>
            </a:extLst>
          </p:cNvPr>
          <p:cNvSpPr>
            <a:spLocks noChangeShapeType="1"/>
          </p:cNvSpPr>
          <p:nvPr/>
        </p:nvSpPr>
        <p:spPr bwMode="auto">
          <a:xfrm>
            <a:off x="7704460" y="57736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94" name="Rectangle 42">
            <a:extLst>
              <a:ext uri="{FF2B5EF4-FFF2-40B4-BE49-F238E27FC236}">
                <a16:creationId xmlns:a16="http://schemas.microsoft.com/office/drawing/2014/main" id="{B3FE77B9-4B21-EA0B-392A-9084AD265F00}"/>
              </a:ext>
            </a:extLst>
          </p:cNvPr>
          <p:cNvSpPr>
            <a:spLocks noChangeArrowheads="1"/>
          </p:cNvSpPr>
          <p:nvPr/>
        </p:nvSpPr>
        <p:spPr bwMode="auto">
          <a:xfrm>
            <a:off x="6942460" y="5926088"/>
            <a:ext cx="762000" cy="152400"/>
          </a:xfrm>
          <a:prstGeom prst="rect">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buFont typeface="Wingdings" pitchFamily="2" charset="2"/>
              <a:buChar char="u"/>
            </a:pPr>
            <a:endParaRPr lang="en-US" altLang="zh-CN">
              <a:latin typeface="Arial Unicode MS" panose="020B0604020202020204" pitchFamily="34" charset="-128"/>
            </a:endParaRPr>
          </a:p>
        </p:txBody>
      </p:sp>
      <p:sp>
        <p:nvSpPr>
          <p:cNvPr id="23595" name="Line 43">
            <a:extLst>
              <a:ext uri="{FF2B5EF4-FFF2-40B4-BE49-F238E27FC236}">
                <a16:creationId xmlns:a16="http://schemas.microsoft.com/office/drawing/2014/main" id="{AEFE8B3C-E8D9-3BCE-5321-ACC41E795B29}"/>
              </a:ext>
            </a:extLst>
          </p:cNvPr>
          <p:cNvSpPr>
            <a:spLocks noChangeShapeType="1"/>
          </p:cNvSpPr>
          <p:nvPr/>
        </p:nvSpPr>
        <p:spPr bwMode="auto">
          <a:xfrm>
            <a:off x="7094860" y="59260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96" name="Line 44">
            <a:extLst>
              <a:ext uri="{FF2B5EF4-FFF2-40B4-BE49-F238E27FC236}">
                <a16:creationId xmlns:a16="http://schemas.microsoft.com/office/drawing/2014/main" id="{F5361A07-16C9-F8F5-160B-04C554DC7E2B}"/>
              </a:ext>
            </a:extLst>
          </p:cNvPr>
          <p:cNvSpPr>
            <a:spLocks noChangeShapeType="1"/>
          </p:cNvSpPr>
          <p:nvPr/>
        </p:nvSpPr>
        <p:spPr bwMode="auto">
          <a:xfrm>
            <a:off x="7247260" y="59260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97" name="Line 45">
            <a:extLst>
              <a:ext uri="{FF2B5EF4-FFF2-40B4-BE49-F238E27FC236}">
                <a16:creationId xmlns:a16="http://schemas.microsoft.com/office/drawing/2014/main" id="{43367150-00E2-77A4-091D-21D3363CFE2D}"/>
              </a:ext>
            </a:extLst>
          </p:cNvPr>
          <p:cNvSpPr>
            <a:spLocks noChangeShapeType="1"/>
          </p:cNvSpPr>
          <p:nvPr/>
        </p:nvSpPr>
        <p:spPr bwMode="auto">
          <a:xfrm>
            <a:off x="7399660" y="59260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98" name="Line 46">
            <a:extLst>
              <a:ext uri="{FF2B5EF4-FFF2-40B4-BE49-F238E27FC236}">
                <a16:creationId xmlns:a16="http://schemas.microsoft.com/office/drawing/2014/main" id="{9E7F81D8-CD2A-7B17-F4E8-6611561FBE7A}"/>
              </a:ext>
            </a:extLst>
          </p:cNvPr>
          <p:cNvSpPr>
            <a:spLocks noChangeShapeType="1"/>
          </p:cNvSpPr>
          <p:nvPr/>
        </p:nvSpPr>
        <p:spPr bwMode="auto">
          <a:xfrm>
            <a:off x="7552060" y="59260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99" name="Line 47">
            <a:extLst>
              <a:ext uri="{FF2B5EF4-FFF2-40B4-BE49-F238E27FC236}">
                <a16:creationId xmlns:a16="http://schemas.microsoft.com/office/drawing/2014/main" id="{008EF626-34A6-CFA8-3751-DAC2D658D820}"/>
              </a:ext>
            </a:extLst>
          </p:cNvPr>
          <p:cNvSpPr>
            <a:spLocks noChangeShapeType="1"/>
          </p:cNvSpPr>
          <p:nvPr/>
        </p:nvSpPr>
        <p:spPr bwMode="auto">
          <a:xfrm>
            <a:off x="7704460" y="5926088"/>
            <a:ext cx="1588"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23600" name="Group 48">
            <a:extLst>
              <a:ext uri="{FF2B5EF4-FFF2-40B4-BE49-F238E27FC236}">
                <a16:creationId xmlns:a16="http://schemas.microsoft.com/office/drawing/2014/main" id="{3A051082-648F-7848-F7BA-04C5E7FAA8F4}"/>
              </a:ext>
            </a:extLst>
          </p:cNvPr>
          <p:cNvGrpSpPr>
            <a:grpSpLocks/>
          </p:cNvGrpSpPr>
          <p:nvPr/>
        </p:nvGrpSpPr>
        <p:grpSpPr bwMode="auto">
          <a:xfrm>
            <a:off x="6485260" y="5316488"/>
            <a:ext cx="457200" cy="762000"/>
            <a:chOff x="5280" y="3024"/>
            <a:chExt cx="288" cy="480"/>
          </a:xfrm>
        </p:grpSpPr>
        <p:sp>
          <p:nvSpPr>
            <p:cNvPr id="23601" name="Rectangle 49">
              <a:extLst>
                <a:ext uri="{FF2B5EF4-FFF2-40B4-BE49-F238E27FC236}">
                  <a16:creationId xmlns:a16="http://schemas.microsoft.com/office/drawing/2014/main" id="{24C597FD-DD3D-FE7F-17FF-0598E6409EA6}"/>
                </a:ext>
              </a:extLst>
            </p:cNvPr>
            <p:cNvSpPr>
              <a:spLocks noChangeArrowheads="1"/>
            </p:cNvSpPr>
            <p:nvPr/>
          </p:nvSpPr>
          <p:spPr bwMode="auto">
            <a:xfrm>
              <a:off x="5280" y="3024"/>
              <a:ext cx="144" cy="48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buFont typeface="Wingdings" pitchFamily="2" charset="2"/>
                <a:buChar char="u"/>
              </a:pPr>
              <a:endParaRPr lang="en-US" altLang="zh-CN">
                <a:latin typeface="Arial Unicode MS" panose="020B0604020202020204" pitchFamily="34" charset="-128"/>
              </a:endParaRPr>
            </a:p>
          </p:txBody>
        </p:sp>
        <p:sp>
          <p:nvSpPr>
            <p:cNvPr id="23602" name="Line 50">
              <a:extLst>
                <a:ext uri="{FF2B5EF4-FFF2-40B4-BE49-F238E27FC236}">
                  <a16:creationId xmlns:a16="http://schemas.microsoft.com/office/drawing/2014/main" id="{1CC30402-D148-465C-3F84-1ACC8883BD57}"/>
                </a:ext>
              </a:extLst>
            </p:cNvPr>
            <p:cNvSpPr>
              <a:spLocks noChangeShapeType="1"/>
            </p:cNvSpPr>
            <p:nvPr/>
          </p:nvSpPr>
          <p:spPr bwMode="auto">
            <a:xfrm>
              <a:off x="5280" y="312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603" name="Line 51">
              <a:extLst>
                <a:ext uri="{FF2B5EF4-FFF2-40B4-BE49-F238E27FC236}">
                  <a16:creationId xmlns:a16="http://schemas.microsoft.com/office/drawing/2014/main" id="{579A2243-C9D3-CBC1-250E-49CEBD0ED462}"/>
                </a:ext>
              </a:extLst>
            </p:cNvPr>
            <p:cNvSpPr>
              <a:spLocks noChangeShapeType="1"/>
            </p:cNvSpPr>
            <p:nvPr/>
          </p:nvSpPr>
          <p:spPr bwMode="auto">
            <a:xfrm>
              <a:off x="5376" y="3072"/>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604" name="Line 52">
              <a:extLst>
                <a:ext uri="{FF2B5EF4-FFF2-40B4-BE49-F238E27FC236}">
                  <a16:creationId xmlns:a16="http://schemas.microsoft.com/office/drawing/2014/main" id="{66242FD1-43F3-DEC3-1BE0-863C19AD12A3}"/>
                </a:ext>
              </a:extLst>
            </p:cNvPr>
            <p:cNvSpPr>
              <a:spLocks noChangeShapeType="1"/>
            </p:cNvSpPr>
            <p:nvPr/>
          </p:nvSpPr>
          <p:spPr bwMode="auto">
            <a:xfrm>
              <a:off x="5280" y="321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605" name="Line 53">
              <a:extLst>
                <a:ext uri="{FF2B5EF4-FFF2-40B4-BE49-F238E27FC236}">
                  <a16:creationId xmlns:a16="http://schemas.microsoft.com/office/drawing/2014/main" id="{1A9B5524-C386-9B3A-4F4B-087411914E16}"/>
                </a:ext>
              </a:extLst>
            </p:cNvPr>
            <p:cNvSpPr>
              <a:spLocks noChangeShapeType="1"/>
            </p:cNvSpPr>
            <p:nvPr/>
          </p:nvSpPr>
          <p:spPr bwMode="auto">
            <a:xfrm>
              <a:off x="5280" y="331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606" name="Line 54">
              <a:extLst>
                <a:ext uri="{FF2B5EF4-FFF2-40B4-BE49-F238E27FC236}">
                  <a16:creationId xmlns:a16="http://schemas.microsoft.com/office/drawing/2014/main" id="{3C8D6F5E-555F-56F5-A077-7F04F14F793B}"/>
                </a:ext>
              </a:extLst>
            </p:cNvPr>
            <p:cNvSpPr>
              <a:spLocks noChangeShapeType="1"/>
            </p:cNvSpPr>
            <p:nvPr/>
          </p:nvSpPr>
          <p:spPr bwMode="auto">
            <a:xfrm>
              <a:off x="5280" y="340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607" name="Line 55">
              <a:extLst>
                <a:ext uri="{FF2B5EF4-FFF2-40B4-BE49-F238E27FC236}">
                  <a16:creationId xmlns:a16="http://schemas.microsoft.com/office/drawing/2014/main" id="{83841442-A2E7-2B32-90B5-A27FD7E21055}"/>
                </a:ext>
              </a:extLst>
            </p:cNvPr>
            <p:cNvSpPr>
              <a:spLocks noChangeShapeType="1"/>
            </p:cNvSpPr>
            <p:nvPr/>
          </p:nvSpPr>
          <p:spPr bwMode="auto">
            <a:xfrm>
              <a:off x="5376" y="316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608" name="Line 56">
              <a:extLst>
                <a:ext uri="{FF2B5EF4-FFF2-40B4-BE49-F238E27FC236}">
                  <a16:creationId xmlns:a16="http://schemas.microsoft.com/office/drawing/2014/main" id="{648B20D0-9880-6007-1CCE-40B4A229D4F6}"/>
                </a:ext>
              </a:extLst>
            </p:cNvPr>
            <p:cNvSpPr>
              <a:spLocks noChangeShapeType="1"/>
            </p:cNvSpPr>
            <p:nvPr/>
          </p:nvSpPr>
          <p:spPr bwMode="auto">
            <a:xfrm>
              <a:off x="5376" y="3264"/>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609" name="Line 57">
              <a:extLst>
                <a:ext uri="{FF2B5EF4-FFF2-40B4-BE49-F238E27FC236}">
                  <a16:creationId xmlns:a16="http://schemas.microsoft.com/office/drawing/2014/main" id="{CB341DC1-99AD-7773-57D0-38F0E1488018}"/>
                </a:ext>
              </a:extLst>
            </p:cNvPr>
            <p:cNvSpPr>
              <a:spLocks noChangeShapeType="1"/>
            </p:cNvSpPr>
            <p:nvPr/>
          </p:nvSpPr>
          <p:spPr bwMode="auto">
            <a:xfrm>
              <a:off x="5376" y="3360"/>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610" name="Line 58">
              <a:extLst>
                <a:ext uri="{FF2B5EF4-FFF2-40B4-BE49-F238E27FC236}">
                  <a16:creationId xmlns:a16="http://schemas.microsoft.com/office/drawing/2014/main" id="{81F8DF1E-2855-C78F-A9EA-77DB13D56155}"/>
                </a:ext>
              </a:extLst>
            </p:cNvPr>
            <p:cNvSpPr>
              <a:spLocks noChangeShapeType="1"/>
            </p:cNvSpPr>
            <p:nvPr/>
          </p:nvSpPr>
          <p:spPr bwMode="auto">
            <a:xfrm>
              <a:off x="5376" y="3456"/>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8C3BC-DA1A-E1DE-F29A-2125A29D6DB8}"/>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964E7D3D-0C5D-E0FB-EAA7-08747755CD6C}"/>
              </a:ext>
            </a:extLst>
          </p:cNvPr>
          <p:cNvSpPr>
            <a:spLocks noGrp="1" noChangeArrowheads="1"/>
          </p:cNvSpPr>
          <p:nvPr>
            <p:ph type="title"/>
          </p:nvPr>
        </p:nvSpPr>
        <p:spPr/>
        <p:txBody>
          <a:bodyPr/>
          <a:lstStyle/>
          <a:p>
            <a:pPr eaLnBrk="1" hangingPunct="1"/>
            <a:r>
              <a:rPr lang="en-US" altLang="zh-CN"/>
              <a:t>Dynamic declaration</a:t>
            </a:r>
          </a:p>
        </p:txBody>
      </p:sp>
      <p:pic>
        <p:nvPicPr>
          <p:cNvPr id="3" name="图片 2">
            <a:extLst>
              <a:ext uri="{FF2B5EF4-FFF2-40B4-BE49-F238E27FC236}">
                <a16:creationId xmlns:a16="http://schemas.microsoft.com/office/drawing/2014/main" id="{A8D15AED-4A37-1611-589E-489F8ADB8F5F}"/>
              </a:ext>
            </a:extLst>
          </p:cNvPr>
          <p:cNvPicPr>
            <a:picLocks noChangeAspect="1"/>
          </p:cNvPicPr>
          <p:nvPr/>
        </p:nvPicPr>
        <p:blipFill>
          <a:blip r:embed="rId2"/>
          <a:stretch>
            <a:fillRect/>
          </a:stretch>
        </p:blipFill>
        <p:spPr>
          <a:xfrm>
            <a:off x="3491880" y="1926000"/>
            <a:ext cx="5272207" cy="4717687"/>
          </a:xfrm>
          <a:prstGeom prst="rect">
            <a:avLst/>
          </a:prstGeom>
        </p:spPr>
      </p:pic>
      <p:sp>
        <p:nvSpPr>
          <p:cNvPr id="5" name="文本框 4">
            <a:extLst>
              <a:ext uri="{FF2B5EF4-FFF2-40B4-BE49-F238E27FC236}">
                <a16:creationId xmlns:a16="http://schemas.microsoft.com/office/drawing/2014/main" id="{F6A68433-AA6E-D7A0-4A09-5DA500ED198A}"/>
              </a:ext>
            </a:extLst>
          </p:cNvPr>
          <p:cNvSpPr txBox="1"/>
          <p:nvPr/>
        </p:nvSpPr>
        <p:spPr>
          <a:xfrm>
            <a:off x="379913" y="3933056"/>
            <a:ext cx="4572000" cy="2246769"/>
          </a:xfrm>
          <a:prstGeom prst="rect">
            <a:avLst/>
          </a:prstGeom>
          <a:noFill/>
          <a:ln>
            <a:solidFill>
              <a:srgbClr val="0070C0"/>
            </a:solidFill>
          </a:ln>
        </p:spPr>
        <p:txBody>
          <a:bodyPr wrap="square">
            <a:spAutoFit/>
          </a:bodyPr>
          <a:lstStyle/>
          <a:p>
            <a:r>
              <a:rPr lang="zh-CN" altLang="en-US" sz="2000" b="0" i="0"/>
              <a:t>#include &lt;stdio.h&gt;</a:t>
            </a:r>
          </a:p>
          <a:p>
            <a:r>
              <a:rPr lang="zh-CN" altLang="en-US" sz="2000" b="0" i="0"/>
              <a:t>void main () {</a:t>
            </a:r>
          </a:p>
          <a:p>
            <a:r>
              <a:rPr lang="zh-CN" altLang="en-US" sz="2000" b="0" i="0"/>
              <a:t>  int **A;</a:t>
            </a:r>
          </a:p>
          <a:p>
            <a:r>
              <a:rPr lang="zh-CN" altLang="en-US" sz="2000" b="0" i="0"/>
              <a:t>  A = (int **) malloc (sizeof (int *) * 5);</a:t>
            </a:r>
          </a:p>
          <a:p>
            <a:r>
              <a:rPr lang="zh-CN" altLang="en-US" sz="2000" b="0" i="0"/>
              <a:t>  for (int i = 0; i&lt; 5; i++)</a:t>
            </a:r>
          </a:p>
          <a:p>
            <a:r>
              <a:rPr lang="zh-CN" altLang="en-US" sz="2000" b="0" i="0"/>
              <a:t>    A[i] = (int *) malloc (sizeof (int) * 5); </a:t>
            </a:r>
          </a:p>
          <a:p>
            <a:r>
              <a:rPr lang="zh-CN" altLang="en-US" sz="2000" b="0" i="0"/>
              <a:t>}</a:t>
            </a:r>
          </a:p>
        </p:txBody>
      </p:sp>
      <p:pic>
        <p:nvPicPr>
          <p:cNvPr id="2" name="图形 1" descr="教师 纯色填充">
            <a:hlinkClick r:id="rId3"/>
            <a:extLst>
              <a:ext uri="{FF2B5EF4-FFF2-40B4-BE49-F238E27FC236}">
                <a16:creationId xmlns:a16="http://schemas.microsoft.com/office/drawing/2014/main" id="{8A48A26C-5958-8C0B-AC84-B22EDD4BD4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16416" y="6064378"/>
            <a:ext cx="579309" cy="579309"/>
          </a:xfrm>
          <a:prstGeom prst="rect">
            <a:avLst/>
          </a:prstGeom>
        </p:spPr>
      </p:pic>
    </p:spTree>
    <p:extLst>
      <p:ext uri="{BB962C8B-B14F-4D97-AF65-F5344CB8AC3E}">
        <p14:creationId xmlns:p14="http://schemas.microsoft.com/office/powerpoint/2010/main" val="755981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40811ED-65A1-C524-D9A6-D2386EC36591}"/>
              </a:ext>
            </a:extLst>
          </p:cNvPr>
          <p:cNvSpPr>
            <a:spLocks noGrp="1" noChangeArrowheads="1"/>
          </p:cNvSpPr>
          <p:nvPr>
            <p:ph type="title"/>
          </p:nvPr>
        </p:nvSpPr>
        <p:spPr/>
        <p:txBody>
          <a:bodyPr/>
          <a:lstStyle/>
          <a:p>
            <a:pPr eaLnBrk="1" hangingPunct="1"/>
            <a:r>
              <a:rPr lang="en-US" altLang="zh-CN"/>
              <a:t>Question</a:t>
            </a:r>
          </a:p>
        </p:txBody>
      </p:sp>
      <p:graphicFrame>
        <p:nvGraphicFramePr>
          <p:cNvPr id="598019" name="Group 3">
            <a:extLst>
              <a:ext uri="{FF2B5EF4-FFF2-40B4-BE49-F238E27FC236}">
                <a16:creationId xmlns:a16="http://schemas.microsoft.com/office/drawing/2014/main" id="{FD92D5BF-7820-330C-A37A-39D5402DBD2C}"/>
              </a:ext>
            </a:extLst>
          </p:cNvPr>
          <p:cNvGraphicFramePr>
            <a:graphicFrameLocks noGrp="1"/>
          </p:cNvGraphicFramePr>
          <p:nvPr>
            <p:extLst>
              <p:ext uri="{D42A27DB-BD31-4B8C-83A1-F6EECF244321}">
                <p14:modId xmlns:p14="http://schemas.microsoft.com/office/powerpoint/2010/main" val="3778696457"/>
              </p:ext>
            </p:extLst>
          </p:nvPr>
        </p:nvGraphicFramePr>
        <p:xfrm>
          <a:off x="2380456" y="2341339"/>
          <a:ext cx="5334000" cy="4104456"/>
        </p:xfrm>
        <a:graphic>
          <a:graphicData uri="http://schemas.openxmlformats.org/drawingml/2006/table">
            <a:tbl>
              <a:tblPr/>
              <a:tblGrid>
                <a:gridCol w="762596">
                  <a:extLst>
                    <a:ext uri="{9D8B030D-6E8A-4147-A177-3AD203B41FA5}">
                      <a16:colId xmlns:a16="http://schemas.microsoft.com/office/drawing/2014/main" val="20000"/>
                    </a:ext>
                  </a:extLst>
                </a:gridCol>
                <a:gridCol w="761206">
                  <a:extLst>
                    <a:ext uri="{9D8B030D-6E8A-4147-A177-3AD203B41FA5}">
                      <a16:colId xmlns:a16="http://schemas.microsoft.com/office/drawing/2014/main" val="20001"/>
                    </a:ext>
                  </a:extLst>
                </a:gridCol>
                <a:gridCol w="762595">
                  <a:extLst>
                    <a:ext uri="{9D8B030D-6E8A-4147-A177-3AD203B41FA5}">
                      <a16:colId xmlns:a16="http://schemas.microsoft.com/office/drawing/2014/main" val="20002"/>
                    </a:ext>
                  </a:extLst>
                </a:gridCol>
                <a:gridCol w="761206">
                  <a:extLst>
                    <a:ext uri="{9D8B030D-6E8A-4147-A177-3AD203B41FA5}">
                      <a16:colId xmlns:a16="http://schemas.microsoft.com/office/drawing/2014/main" val="20003"/>
                    </a:ext>
                  </a:extLst>
                </a:gridCol>
                <a:gridCol w="762596">
                  <a:extLst>
                    <a:ext uri="{9D8B030D-6E8A-4147-A177-3AD203B41FA5}">
                      <a16:colId xmlns:a16="http://schemas.microsoft.com/office/drawing/2014/main" val="20004"/>
                    </a:ext>
                  </a:extLst>
                </a:gridCol>
                <a:gridCol w="761206">
                  <a:extLst>
                    <a:ext uri="{9D8B030D-6E8A-4147-A177-3AD203B41FA5}">
                      <a16:colId xmlns:a16="http://schemas.microsoft.com/office/drawing/2014/main" val="20005"/>
                    </a:ext>
                  </a:extLst>
                </a:gridCol>
                <a:gridCol w="762595">
                  <a:extLst>
                    <a:ext uri="{9D8B030D-6E8A-4147-A177-3AD203B41FA5}">
                      <a16:colId xmlns:a16="http://schemas.microsoft.com/office/drawing/2014/main" val="20006"/>
                    </a:ext>
                  </a:extLst>
                </a:gridCol>
              </a:tblGrid>
              <a:tr h="586542">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a:noFill/>
                    </a:lnR>
                    <a:lnT cap="flat">
                      <a:noFill/>
                    </a:lnT>
                    <a:lnB>
                      <a:noFill/>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a:noFill/>
                    </a:lnR>
                    <a:lnT cap="flat">
                      <a:noFill/>
                    </a:lnT>
                    <a:lnB>
                      <a:noFill/>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a:noFill/>
                    </a:lnR>
                    <a:lnT cap="flat">
                      <a:noFill/>
                    </a:lnT>
                    <a:lnB>
                      <a:noFill/>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a:noFill/>
                    </a:lnR>
                    <a:lnT cap="flat">
                      <a:noFill/>
                    </a:lnT>
                    <a:lnB>
                      <a:noFill/>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85205">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a:noFill/>
                    </a:lnR>
                    <a:lnT>
                      <a:noFill/>
                    </a:lnT>
                    <a:lnB>
                      <a:noFill/>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a:noFill/>
                    </a:lnR>
                    <a:lnT>
                      <a:noFill/>
                    </a:lnT>
                    <a:lnB>
                      <a:noFill/>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a:noFill/>
                    </a:lnR>
                    <a:lnT>
                      <a:noFill/>
                    </a:lnT>
                    <a:lnB>
                      <a:noFill/>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86542">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a:noFill/>
                    </a:lnR>
                    <a:lnT>
                      <a:noFill/>
                    </a:lnT>
                    <a:lnB>
                      <a:noFill/>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a:noFill/>
                    </a:lnR>
                    <a:lnT>
                      <a:noFill/>
                    </a:lnT>
                    <a:lnB>
                      <a:noFill/>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87878">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a:noFill/>
                    </a:lnR>
                    <a:lnT>
                      <a:noFill/>
                    </a:lnT>
                    <a:lnB>
                      <a:noFill/>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86542">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85205">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6542">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defRPr sz="2800">
                          <a:solidFill>
                            <a:schemeClr val="tx1"/>
                          </a:solidFill>
                          <a:latin typeface="Tahoma" panose="020B0604030504040204" pitchFamily="34" charset="0"/>
                          <a:ea typeface="楷体_GB2312" pitchFamily="49" charset="-122"/>
                        </a:defRPr>
                      </a:lvl1pPr>
                      <a:lvl2pPr>
                        <a:buClr>
                          <a:schemeClr val="hlink"/>
                        </a:buClr>
                        <a:buSzPct val="55000"/>
                        <a:defRPr sz="2400">
                          <a:solidFill>
                            <a:schemeClr val="tx1"/>
                          </a:solidFill>
                          <a:latin typeface="Tahoma" panose="020B0604030504040204" pitchFamily="34" charset="0"/>
                          <a:ea typeface="楷体_GB2312" pitchFamily="49" charset="-122"/>
                        </a:defRPr>
                      </a:lvl2pPr>
                      <a:lvl3pPr>
                        <a:buSzPct val="50000"/>
                        <a:defRPr sz="2000">
                          <a:solidFill>
                            <a:schemeClr val="tx1"/>
                          </a:solidFill>
                          <a:latin typeface="Tahoma" panose="020B0604030504040204" pitchFamily="34" charset="0"/>
                          <a:ea typeface="楷体_GB2312" pitchFamily="49" charset="-122"/>
                        </a:defRPr>
                      </a:lvl3pPr>
                      <a:lvl4pPr>
                        <a:buClr>
                          <a:schemeClr val="accent2"/>
                        </a:buClr>
                        <a:buSzPct val="55000"/>
                        <a:defRPr>
                          <a:solidFill>
                            <a:schemeClr val="tx1"/>
                          </a:solidFill>
                          <a:latin typeface="Tahoma" panose="020B0604030504040204" pitchFamily="34" charset="0"/>
                          <a:ea typeface="楷体_GB2312" pitchFamily="49" charset="-122"/>
                        </a:defRPr>
                      </a:lvl4pPr>
                      <a:lvl5pPr>
                        <a:buClr>
                          <a:schemeClr val="accent1"/>
                        </a:buClr>
                        <a:buSzPct val="50000"/>
                        <a:defRPr>
                          <a:solidFill>
                            <a:schemeClr val="tx1"/>
                          </a:solidFill>
                          <a:latin typeface="Tahoma" panose="020B060403050404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6"/>
                  </a:ext>
                </a:extLst>
              </a:tr>
            </a:tbl>
          </a:graphicData>
        </a:graphic>
      </p:graphicFrame>
      <p:sp>
        <p:nvSpPr>
          <p:cNvPr id="24645" name="Text Box 81">
            <a:extLst>
              <a:ext uri="{FF2B5EF4-FFF2-40B4-BE49-F238E27FC236}">
                <a16:creationId xmlns:a16="http://schemas.microsoft.com/office/drawing/2014/main" id="{D1E20A93-583F-A2D8-AFBC-D22FFE24EFBD}"/>
              </a:ext>
            </a:extLst>
          </p:cNvPr>
          <p:cNvSpPr txBox="1">
            <a:spLocks noChangeArrowheads="1"/>
          </p:cNvSpPr>
          <p:nvPr/>
        </p:nvSpPr>
        <p:spPr bwMode="auto">
          <a:xfrm>
            <a:off x="5546725" y="2110507"/>
            <a:ext cx="28511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spcBef>
                <a:spcPct val="0"/>
              </a:spcBef>
              <a:buClrTx/>
              <a:buSzTx/>
              <a:buFontTx/>
              <a:buNone/>
            </a:pPr>
            <a:r>
              <a:rPr lang="en-US" altLang="zh-CN" sz="2400" i="0">
                <a:solidFill>
                  <a:srgbClr val="FF3300"/>
                </a:solidFill>
                <a:latin typeface="Times New Roman" panose="02020603050405020304" pitchFamily="18" charset="0"/>
                <a:ea typeface="宋体" panose="02010600030101010101" pitchFamily="2" charset="-122"/>
              </a:rPr>
              <a:t>How do we declare </a:t>
            </a:r>
          </a:p>
          <a:p>
            <a:pPr eaLnBrk="1" hangingPunct="1">
              <a:spcBef>
                <a:spcPct val="0"/>
              </a:spcBef>
              <a:buClrTx/>
              <a:buSzTx/>
              <a:buFontTx/>
              <a:buNone/>
            </a:pPr>
            <a:r>
              <a:rPr lang="en-US" altLang="zh-CN" sz="2400" i="0">
                <a:solidFill>
                  <a:srgbClr val="FF3300"/>
                </a:solidFill>
                <a:latin typeface="Times New Roman" panose="02020603050405020304" pitchFamily="18" charset="0"/>
                <a:ea typeface="宋体" panose="02010600030101010101" pitchFamily="2" charset="-122"/>
              </a:rPr>
              <a:t>something like this ?</a:t>
            </a:r>
          </a:p>
        </p:txBody>
      </p:sp>
      <p:sp>
        <p:nvSpPr>
          <p:cNvPr id="24646" name="Text Box 82">
            <a:extLst>
              <a:ext uri="{FF2B5EF4-FFF2-40B4-BE49-F238E27FC236}">
                <a16:creationId xmlns:a16="http://schemas.microsoft.com/office/drawing/2014/main" id="{842D0A84-22AA-1829-E186-EB4E898BB8D0}"/>
              </a:ext>
            </a:extLst>
          </p:cNvPr>
          <p:cNvSpPr txBox="1">
            <a:spLocks noChangeArrowheads="1"/>
          </p:cNvSpPr>
          <p:nvPr/>
        </p:nvSpPr>
        <p:spPr bwMode="auto">
          <a:xfrm>
            <a:off x="1289553" y="2035672"/>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楷体_GB2312" pitchFamily="49" charset="-122"/>
              </a:defRPr>
            </a:lvl9pPr>
          </a:lstStyle>
          <a:p>
            <a:pPr eaLnBrk="1" hangingPunct="1">
              <a:spcBef>
                <a:spcPct val="0"/>
              </a:spcBef>
              <a:buClrTx/>
              <a:buSzTx/>
              <a:buFontTx/>
              <a:buNone/>
            </a:pPr>
            <a:r>
              <a:rPr lang="en-US" altLang="zh-CN" sz="2400" b="0" i="0">
                <a:latin typeface="Times New Roman" panose="02020603050405020304" pitchFamily="18" charset="0"/>
                <a:ea typeface="宋体" panose="02010600030101010101" pitchFamily="2" charset="-122"/>
              </a:rPr>
              <a:t>A</a:t>
            </a:r>
          </a:p>
        </p:txBody>
      </p:sp>
      <p:sp>
        <p:nvSpPr>
          <p:cNvPr id="24647" name="Line 83">
            <a:extLst>
              <a:ext uri="{FF2B5EF4-FFF2-40B4-BE49-F238E27FC236}">
                <a16:creationId xmlns:a16="http://schemas.microsoft.com/office/drawing/2014/main" id="{E2019061-392A-8212-BB5C-AC40D5B17A30}"/>
              </a:ext>
            </a:extLst>
          </p:cNvPr>
          <p:cNvSpPr>
            <a:spLocks noChangeShapeType="1"/>
          </p:cNvSpPr>
          <p:nvPr/>
        </p:nvSpPr>
        <p:spPr bwMode="auto">
          <a:xfrm>
            <a:off x="1600200" y="2297831"/>
            <a:ext cx="780256" cy="4350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5D2D3D5-83D2-6BAB-24B8-E2D5E06DE95A}"/>
              </a:ext>
            </a:extLst>
          </p:cNvPr>
          <p:cNvSpPr>
            <a:spLocks noGrp="1" noChangeArrowheads="1"/>
          </p:cNvSpPr>
          <p:nvPr>
            <p:ph type="title"/>
          </p:nvPr>
        </p:nvSpPr>
        <p:spPr/>
        <p:txBody>
          <a:bodyPr/>
          <a:lstStyle/>
          <a:p>
            <a:pPr eaLnBrk="1" hangingPunct="1"/>
            <a:r>
              <a:rPr lang="en-US" altLang="zh-CN"/>
              <a:t>Answer</a:t>
            </a:r>
          </a:p>
        </p:txBody>
      </p:sp>
      <p:sp>
        <p:nvSpPr>
          <p:cNvPr id="599043" name="Rectangle 3">
            <a:extLst>
              <a:ext uri="{FF2B5EF4-FFF2-40B4-BE49-F238E27FC236}">
                <a16:creationId xmlns:a16="http://schemas.microsoft.com/office/drawing/2014/main" id="{0450397F-BB60-6AD7-2D06-6B21467DAF43}"/>
              </a:ext>
            </a:extLst>
          </p:cNvPr>
          <p:cNvSpPr>
            <a:spLocks noGrp="1" noChangeArrowheads="1"/>
          </p:cNvSpPr>
          <p:nvPr>
            <p:ph type="body" idx="1"/>
          </p:nvPr>
        </p:nvSpPr>
        <p:spPr>
          <a:xfrm>
            <a:off x="683568" y="2276872"/>
            <a:ext cx="8141840" cy="4114800"/>
          </a:xfrm>
        </p:spPr>
        <p:txBody>
          <a:bodyPr/>
          <a:lstStyle/>
          <a:p>
            <a:pPr marL="609600" indent="-609600" eaLnBrk="1" hangingPunct="1"/>
            <a:r>
              <a:rPr lang="en-US" altLang="zh-CN"/>
              <a:t>We see that: A[k,*] has k + 1 elements.</a:t>
            </a:r>
          </a:p>
          <a:p>
            <a:pPr marL="609600" indent="-609600" eaLnBrk="1" hangingPunct="1">
              <a:buFont typeface="Wingdings" pitchFamily="2" charset="2"/>
              <a:buNone/>
            </a:pPr>
            <a:endParaRPr lang="en-US" altLang="zh-CN"/>
          </a:p>
          <a:p>
            <a:pPr marL="990600" lvl="1" indent="-533400" eaLnBrk="1" hangingPunct="1">
              <a:buFont typeface="Wingdings" pitchFamily="2" charset="2"/>
              <a:buAutoNum type="arabicPeriod"/>
            </a:pPr>
            <a:r>
              <a:rPr lang="en-US" altLang="zh-CN"/>
              <a:t>int **A;</a:t>
            </a:r>
          </a:p>
          <a:p>
            <a:pPr marL="990600" lvl="1" indent="-533400" eaLnBrk="1" hangingPunct="1">
              <a:buFont typeface="Wingdings" pitchFamily="2" charset="2"/>
              <a:buAutoNum type="arabicPeriod"/>
            </a:pPr>
            <a:r>
              <a:rPr lang="en-US" altLang="zh-CN"/>
              <a:t>A = (int **) malloc (sizeof (int *) * 7);</a:t>
            </a:r>
          </a:p>
          <a:p>
            <a:pPr marL="990600" lvl="1" indent="-533400" eaLnBrk="1" hangingPunct="1">
              <a:buFont typeface="Wingdings" pitchFamily="2" charset="2"/>
              <a:buAutoNum type="arabicPeriod"/>
            </a:pPr>
            <a:r>
              <a:rPr lang="en-US" altLang="zh-CN"/>
              <a:t>for (j=0; j&lt;7; j++)</a:t>
            </a:r>
          </a:p>
          <a:p>
            <a:pPr marL="990600" lvl="1" indent="-533400" eaLnBrk="1" hangingPunct="1">
              <a:buFont typeface="Wingdings" pitchFamily="2" charset="2"/>
              <a:buAutoNum type="arabicPeriod"/>
            </a:pPr>
            <a:r>
              <a:rPr lang="en-US" altLang="zh-CN"/>
              <a:t>   A[j] = (int *) malloc(sizeof (int) * (j+1));</a:t>
            </a:r>
          </a:p>
          <a:p>
            <a:pPr marL="609600" indent="-609600" eaLnBrk="1" hangingPunct="1"/>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9043">
                                            <p:txEl>
                                              <p:pRg st="0" end="0"/>
                                            </p:txEl>
                                          </p:spTgt>
                                        </p:tgtEl>
                                        <p:attrNameLst>
                                          <p:attrName>style.visibility</p:attrName>
                                        </p:attrNameLst>
                                      </p:cBhvr>
                                      <p:to>
                                        <p:strVal val="visible"/>
                                      </p:to>
                                    </p:set>
                                    <p:anim calcmode="lin" valueType="num">
                                      <p:cBhvr additive="base">
                                        <p:cTn id="7" dur="500" fill="hold"/>
                                        <p:tgtEl>
                                          <p:spTgt spid="5990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904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99043">
                                            <p:txEl>
                                              <p:pRg st="2" end="2"/>
                                            </p:txEl>
                                          </p:spTgt>
                                        </p:tgtEl>
                                        <p:attrNameLst>
                                          <p:attrName>style.visibility</p:attrName>
                                        </p:attrNameLst>
                                      </p:cBhvr>
                                      <p:to>
                                        <p:strVal val="visible"/>
                                      </p:to>
                                    </p:set>
                                    <p:anim calcmode="lin" valueType="num">
                                      <p:cBhvr additive="base">
                                        <p:cTn id="11" dur="500" fill="hold"/>
                                        <p:tgtEl>
                                          <p:spTgt spid="599043">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9904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99043">
                                            <p:txEl>
                                              <p:pRg st="3" end="3"/>
                                            </p:txEl>
                                          </p:spTgt>
                                        </p:tgtEl>
                                        <p:attrNameLst>
                                          <p:attrName>style.visibility</p:attrName>
                                        </p:attrNameLst>
                                      </p:cBhvr>
                                      <p:to>
                                        <p:strVal val="visible"/>
                                      </p:to>
                                    </p:set>
                                    <p:anim calcmode="lin" valueType="num">
                                      <p:cBhvr additive="base">
                                        <p:cTn id="15" dur="500" fill="hold"/>
                                        <p:tgtEl>
                                          <p:spTgt spid="599043">
                                            <p:txEl>
                                              <p:pRg st="3" end="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9904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99043">
                                            <p:txEl>
                                              <p:pRg st="4" end="4"/>
                                            </p:txEl>
                                          </p:spTgt>
                                        </p:tgtEl>
                                        <p:attrNameLst>
                                          <p:attrName>style.visibility</p:attrName>
                                        </p:attrNameLst>
                                      </p:cBhvr>
                                      <p:to>
                                        <p:strVal val="visible"/>
                                      </p:to>
                                    </p:set>
                                    <p:anim calcmode="lin" valueType="num">
                                      <p:cBhvr additive="base">
                                        <p:cTn id="19" dur="500" fill="hold"/>
                                        <p:tgtEl>
                                          <p:spTgt spid="599043">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9904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99043">
                                            <p:txEl>
                                              <p:pRg st="5" end="5"/>
                                            </p:txEl>
                                          </p:spTgt>
                                        </p:tgtEl>
                                        <p:attrNameLst>
                                          <p:attrName>style.visibility</p:attrName>
                                        </p:attrNameLst>
                                      </p:cBhvr>
                                      <p:to>
                                        <p:strVal val="visible"/>
                                      </p:to>
                                    </p:set>
                                    <p:anim calcmode="lin" valueType="num">
                                      <p:cBhvr additive="base">
                                        <p:cTn id="23" dur="500" fill="hold"/>
                                        <p:tgtEl>
                                          <p:spTgt spid="599043">
                                            <p:txEl>
                                              <p:pRg st="5" end="5"/>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99043">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043"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41888EB-B8DC-9ECC-E403-02BC42159988}"/>
              </a:ext>
            </a:extLst>
          </p:cNvPr>
          <p:cNvSpPr>
            <a:spLocks noGrp="1" noChangeArrowheads="1"/>
          </p:cNvSpPr>
          <p:nvPr>
            <p:ph type="title"/>
          </p:nvPr>
        </p:nvSpPr>
        <p:spPr/>
        <p:txBody>
          <a:bodyPr/>
          <a:lstStyle/>
          <a:p>
            <a:pPr eaLnBrk="1" hangingPunct="1"/>
            <a:r>
              <a:rPr lang="zh-CN" altLang="en-US"/>
              <a:t>静态方法和动态方法比较</a:t>
            </a:r>
          </a:p>
        </p:txBody>
      </p:sp>
      <p:sp>
        <p:nvSpPr>
          <p:cNvPr id="600067" name="Rectangle 3">
            <a:extLst>
              <a:ext uri="{FF2B5EF4-FFF2-40B4-BE49-F238E27FC236}">
                <a16:creationId xmlns:a16="http://schemas.microsoft.com/office/drawing/2014/main" id="{1DAC6343-AE82-28DD-0729-A84C75E2D5B7}"/>
              </a:ext>
            </a:extLst>
          </p:cNvPr>
          <p:cNvSpPr>
            <a:spLocks noGrp="1" noChangeArrowheads="1"/>
          </p:cNvSpPr>
          <p:nvPr>
            <p:ph type="body" idx="1"/>
          </p:nvPr>
        </p:nvSpPr>
        <p:spPr>
          <a:xfrm>
            <a:off x="1182688" y="2017713"/>
            <a:ext cx="7349752" cy="4114800"/>
          </a:xfrm>
        </p:spPr>
        <p:txBody>
          <a:bodyPr/>
          <a:lstStyle/>
          <a:p>
            <a:pPr eaLnBrk="1" hangingPunct="1">
              <a:lnSpc>
                <a:spcPct val="150000"/>
              </a:lnSpc>
              <a:spcAft>
                <a:spcPts val="600"/>
              </a:spcAft>
            </a:pPr>
            <a:r>
              <a:rPr lang="zh-CN" altLang="en-US" sz="2400"/>
              <a:t>动态方法定义的数组可以</a:t>
            </a:r>
            <a:r>
              <a:rPr lang="zh-CN" altLang="en-US" sz="2400">
                <a:solidFill>
                  <a:srgbClr val="0070C0"/>
                </a:solidFill>
              </a:rPr>
              <a:t>通过下标访问元素</a:t>
            </a:r>
            <a:r>
              <a:rPr lang="zh-CN" altLang="en-US" sz="2400"/>
              <a:t>，和使用静态方法定义的数组一样</a:t>
            </a:r>
          </a:p>
          <a:p>
            <a:pPr eaLnBrk="1" hangingPunct="1">
              <a:lnSpc>
                <a:spcPct val="150000"/>
              </a:lnSpc>
              <a:spcAft>
                <a:spcPts val="600"/>
              </a:spcAft>
            </a:pPr>
            <a:r>
              <a:rPr lang="zh-CN" altLang="en-US" sz="2400"/>
              <a:t>静态方法定义的数组，在内存中占一个</a:t>
            </a:r>
            <a:r>
              <a:rPr lang="zh-CN" altLang="en-US" sz="2400">
                <a:solidFill>
                  <a:srgbClr val="0070C0"/>
                </a:solidFill>
              </a:rPr>
              <a:t>连续的内存块</a:t>
            </a:r>
            <a:r>
              <a:rPr lang="zh-CN" altLang="en-US" sz="2400"/>
              <a:t>；动态方法定义的数组，在内存中</a:t>
            </a:r>
            <a:r>
              <a:rPr lang="zh-CN" altLang="en-US" sz="2400">
                <a:solidFill>
                  <a:srgbClr val="0070C0"/>
                </a:solidFill>
              </a:rPr>
              <a:t>“不一定”连续存放</a:t>
            </a:r>
            <a:endParaRPr lang="en-US" altLang="zh-CN" sz="2400">
              <a:solidFill>
                <a:srgbClr val="0070C0"/>
              </a:solidFill>
            </a:endParaRPr>
          </a:p>
          <a:p>
            <a:pPr lvl="1" eaLnBrk="1" hangingPunct="1">
              <a:lnSpc>
                <a:spcPct val="150000"/>
              </a:lnSpc>
              <a:spcAft>
                <a:spcPts val="600"/>
              </a:spcAft>
            </a:pPr>
            <a:r>
              <a:rPr lang="en-US" altLang="zh-CN" sz="2000"/>
              <a:t>malloc() </a:t>
            </a:r>
            <a:r>
              <a:rPr lang="zh-CN" altLang="en-US" sz="2000"/>
              <a:t>总是返回一段连续的堆内存；</a:t>
            </a:r>
            <a:endParaRPr lang="en-US" altLang="zh-CN" sz="2000"/>
          </a:p>
          <a:p>
            <a:pPr lvl="1" eaLnBrk="1" hangingPunct="1">
              <a:lnSpc>
                <a:spcPct val="150000"/>
              </a:lnSpc>
              <a:spcAft>
                <a:spcPts val="600"/>
              </a:spcAft>
            </a:pPr>
            <a:r>
              <a:rPr lang="zh-CN" altLang="en-US" sz="2000"/>
              <a:t>但前面定义的</a:t>
            </a:r>
            <a:r>
              <a:rPr lang="en-US" altLang="zh-CN" sz="2000"/>
              <a:t>Table</a:t>
            </a:r>
            <a:r>
              <a:rPr lang="zh-CN" altLang="en-US" sz="2000"/>
              <a:t> </a:t>
            </a:r>
            <a:r>
              <a:rPr lang="en-US" altLang="zh-CN" sz="2000"/>
              <a:t>int **A</a:t>
            </a:r>
            <a:r>
              <a:rPr lang="zh-CN" altLang="en-US" sz="2000"/>
              <a:t>，内存不一定连续</a:t>
            </a:r>
            <a:endParaRPr lang="en-US" altLang="zh-CN"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0067">
                                            <p:txEl>
                                              <p:pRg st="0" end="0"/>
                                            </p:txEl>
                                          </p:spTgt>
                                        </p:tgtEl>
                                        <p:attrNameLst>
                                          <p:attrName>style.visibility</p:attrName>
                                        </p:attrNameLst>
                                      </p:cBhvr>
                                      <p:to>
                                        <p:strVal val="visible"/>
                                      </p:to>
                                    </p:set>
                                    <p:anim calcmode="lin" valueType="num">
                                      <p:cBhvr additive="base">
                                        <p:cTn id="7" dur="500" fill="hold"/>
                                        <p:tgtEl>
                                          <p:spTgt spid="6000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006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00067">
                                            <p:txEl>
                                              <p:pRg st="1" end="1"/>
                                            </p:txEl>
                                          </p:spTgt>
                                        </p:tgtEl>
                                        <p:attrNameLst>
                                          <p:attrName>style.visibility</p:attrName>
                                        </p:attrNameLst>
                                      </p:cBhvr>
                                      <p:to>
                                        <p:strVal val="visible"/>
                                      </p:to>
                                    </p:set>
                                    <p:anim calcmode="lin" valueType="num">
                                      <p:cBhvr additive="base">
                                        <p:cTn id="13" dur="500" fill="hold"/>
                                        <p:tgtEl>
                                          <p:spTgt spid="6000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0006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par>
                                <p:cTn id="15" presetID="2" presetClass="entr" presetSubtype="8" fill="hold" grpId="0" nodeType="withEffect">
                                  <p:stCondLst>
                                    <p:cond delay="0"/>
                                  </p:stCondLst>
                                  <p:childTnLst>
                                    <p:set>
                                      <p:cBhvr>
                                        <p:cTn id="16" dur="1" fill="hold">
                                          <p:stCondLst>
                                            <p:cond delay="0"/>
                                          </p:stCondLst>
                                        </p:cTn>
                                        <p:tgtEl>
                                          <p:spTgt spid="600067">
                                            <p:txEl>
                                              <p:pRg st="2" end="2"/>
                                            </p:txEl>
                                          </p:spTgt>
                                        </p:tgtEl>
                                        <p:attrNameLst>
                                          <p:attrName>style.visibility</p:attrName>
                                        </p:attrNameLst>
                                      </p:cBhvr>
                                      <p:to>
                                        <p:strVal val="visible"/>
                                      </p:to>
                                    </p:set>
                                    <p:anim calcmode="lin" valueType="num">
                                      <p:cBhvr additive="base">
                                        <p:cTn id="17" dur="500" fill="hold"/>
                                        <p:tgtEl>
                                          <p:spTgt spid="60006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0006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par>
                                <p:cTn id="19" presetID="2" presetClass="entr" presetSubtype="8" fill="hold" grpId="0" nodeType="withEffect">
                                  <p:stCondLst>
                                    <p:cond delay="0"/>
                                  </p:stCondLst>
                                  <p:childTnLst>
                                    <p:set>
                                      <p:cBhvr>
                                        <p:cTn id="20" dur="1" fill="hold">
                                          <p:stCondLst>
                                            <p:cond delay="0"/>
                                          </p:stCondLst>
                                        </p:cTn>
                                        <p:tgtEl>
                                          <p:spTgt spid="600067">
                                            <p:txEl>
                                              <p:pRg st="3" end="3"/>
                                            </p:txEl>
                                          </p:spTgt>
                                        </p:tgtEl>
                                        <p:attrNameLst>
                                          <p:attrName>style.visibility</p:attrName>
                                        </p:attrNameLst>
                                      </p:cBhvr>
                                      <p:to>
                                        <p:strVal val="visible"/>
                                      </p:to>
                                    </p:set>
                                    <p:anim calcmode="lin" valueType="num">
                                      <p:cBhvr additive="base">
                                        <p:cTn id="21" dur="500" fill="hold"/>
                                        <p:tgtEl>
                                          <p:spTgt spid="600067">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0006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067"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62" name="Rectangle 2">
            <a:extLst>
              <a:ext uri="{FF2B5EF4-FFF2-40B4-BE49-F238E27FC236}">
                <a16:creationId xmlns:a16="http://schemas.microsoft.com/office/drawing/2014/main" id="{C749BC45-735B-9BAB-0290-84A51DD57B0D}"/>
              </a:ext>
            </a:extLst>
          </p:cNvPr>
          <p:cNvSpPr>
            <a:spLocks noGrp="1" noChangeArrowheads="1"/>
          </p:cNvSpPr>
          <p:nvPr>
            <p:ph type="ctrTitle"/>
          </p:nvPr>
        </p:nvSpPr>
        <p:spPr/>
        <p:txBody>
          <a:bodyPr/>
          <a:lstStyle/>
          <a:p>
            <a:pPr eaLnBrk="1" hangingPunct="1"/>
            <a:r>
              <a:rPr lang="zh-CN" altLang="en-US"/>
              <a:t>指针和数组</a:t>
            </a:r>
            <a:endParaRPr lang="zh-CN" altLang="en-US" sz="3600" b="1">
              <a:solidFill>
                <a:srgbClr val="FF0000"/>
              </a:solidFill>
              <a:effectLst>
                <a:outerShdw blurRad="38100" dist="38100" dir="2700000" algn="tl">
                  <a:srgbClr val="C0C0C0"/>
                </a:outerShdw>
              </a:effectLst>
              <a:latin typeface="宋体" panose="02010600030101010101" pitchFamily="2" charset="-122"/>
            </a:endParaRPr>
          </a:p>
        </p:txBody>
      </p:sp>
      <p:sp>
        <p:nvSpPr>
          <p:cNvPr id="552963" name="Rectangle 3">
            <a:extLst>
              <a:ext uri="{FF2B5EF4-FFF2-40B4-BE49-F238E27FC236}">
                <a16:creationId xmlns:a16="http://schemas.microsoft.com/office/drawing/2014/main" id="{A4DEA6B6-C1E1-58B4-9D6F-3DE02201D19E}"/>
              </a:ext>
            </a:extLst>
          </p:cNvPr>
          <p:cNvSpPr>
            <a:spLocks noGrp="1" noChangeArrowheads="1"/>
          </p:cNvSpPr>
          <p:nvPr>
            <p:ph type="subTitle" idx="1"/>
          </p:nvPr>
        </p:nvSpPr>
        <p:spPr/>
        <p:txBody>
          <a:body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552963">
                                            <p:txEl>
                                              <p:pRg st="0" end="0"/>
                                            </p:txEl>
                                          </p:spTgt>
                                        </p:tgtEl>
                                        <p:attrNameLst>
                                          <p:attrName>style.visibility</p:attrName>
                                        </p:attrNameLst>
                                      </p:cBhvr>
                                      <p:to>
                                        <p:strVal val="visible"/>
                                      </p:to>
                                    </p:set>
                                    <p:anim calcmode="lin" valueType="num">
                                      <p:cBhvr additive="base">
                                        <p:cTn id="7" dur="500" fill="hold"/>
                                        <p:tgtEl>
                                          <p:spTgt spid="552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296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3B27A79-2939-34BB-B784-D5070DE00C32}"/>
              </a:ext>
            </a:extLst>
          </p:cNvPr>
          <p:cNvSpPr>
            <a:spLocks noGrp="1" noChangeArrowheads="1"/>
          </p:cNvSpPr>
          <p:nvPr>
            <p:ph type="title"/>
          </p:nvPr>
        </p:nvSpPr>
        <p:spPr/>
        <p:txBody>
          <a:bodyPr/>
          <a:lstStyle/>
          <a:p>
            <a:pPr eaLnBrk="1" hangingPunct="1"/>
            <a:r>
              <a:rPr lang="zh-CN" altLang="en-US"/>
              <a:t>指向数组元素的指针</a:t>
            </a:r>
          </a:p>
        </p:txBody>
      </p:sp>
      <p:sp>
        <p:nvSpPr>
          <p:cNvPr id="553987" name="Rectangle 3">
            <a:extLst>
              <a:ext uri="{FF2B5EF4-FFF2-40B4-BE49-F238E27FC236}">
                <a16:creationId xmlns:a16="http://schemas.microsoft.com/office/drawing/2014/main" id="{513D04D1-0D5E-B226-98C5-8823449EA986}"/>
              </a:ext>
            </a:extLst>
          </p:cNvPr>
          <p:cNvSpPr>
            <a:spLocks noGrp="1" noChangeArrowheads="1"/>
          </p:cNvSpPr>
          <p:nvPr>
            <p:ph type="body" idx="1"/>
          </p:nvPr>
        </p:nvSpPr>
        <p:spPr>
          <a:xfrm>
            <a:off x="1182688" y="2017713"/>
            <a:ext cx="7493768" cy="4114800"/>
          </a:xfrm>
        </p:spPr>
        <p:txBody>
          <a:bodyPr/>
          <a:lstStyle/>
          <a:p>
            <a:pPr eaLnBrk="1" hangingPunct="1">
              <a:spcAft>
                <a:spcPts val="600"/>
              </a:spcAft>
            </a:pPr>
            <a:r>
              <a:rPr lang="zh-CN" altLang="en-US" sz="2800"/>
              <a:t>当指针变量指向数组的元素时，就可用指针引用数组的元素</a:t>
            </a:r>
          </a:p>
          <a:p>
            <a:pPr eaLnBrk="1" hangingPunct="1">
              <a:spcAft>
                <a:spcPts val="600"/>
              </a:spcAft>
            </a:pPr>
            <a:r>
              <a:rPr lang="zh-CN" altLang="en-US" sz="2800"/>
              <a:t>设有以下变量定义：</a:t>
            </a:r>
          </a:p>
          <a:p>
            <a:pPr lvl="1" algn="just" eaLnBrk="1" hangingPunct="1">
              <a:spcAft>
                <a:spcPts val="600"/>
              </a:spcAft>
            </a:pPr>
            <a:r>
              <a:rPr lang="zh-CN" altLang="en-US" sz="2400"/>
              <a:t>    </a:t>
            </a:r>
            <a:r>
              <a:rPr lang="en-US" altLang="zh-CN" sz="2400"/>
              <a:t>int  a[100], *p;</a:t>
            </a:r>
          </a:p>
          <a:p>
            <a:pPr lvl="1" algn="just" eaLnBrk="1" hangingPunct="1">
              <a:spcAft>
                <a:spcPts val="600"/>
              </a:spcAft>
            </a:pPr>
            <a:r>
              <a:rPr lang="zh-CN" altLang="en-US" sz="2400"/>
              <a:t>赋值运算 </a:t>
            </a:r>
            <a:r>
              <a:rPr lang="en-US" altLang="zh-CN" sz="2400"/>
              <a:t>p = &amp;a[0]</a:t>
            </a:r>
            <a:r>
              <a:rPr lang="zh-CN" altLang="en-US" sz="2400"/>
              <a:t>使</a:t>
            </a:r>
            <a:r>
              <a:rPr lang="en-US" altLang="zh-CN" sz="2400"/>
              <a:t>p</a:t>
            </a:r>
            <a:r>
              <a:rPr lang="zh-CN" altLang="en-US" sz="2400"/>
              <a:t>指向</a:t>
            </a:r>
            <a:r>
              <a:rPr lang="en-US" altLang="zh-CN" sz="2400"/>
              <a:t>a[0]</a:t>
            </a:r>
            <a:r>
              <a:rPr lang="zh-CN" altLang="en-US" sz="2400"/>
              <a:t>。</a:t>
            </a:r>
            <a:r>
              <a:rPr lang="en-US" altLang="zh-CN" sz="2400"/>
              <a:t>&amp;a[0]</a:t>
            </a:r>
            <a:r>
              <a:rPr lang="zh-CN" altLang="en-US" sz="2400"/>
              <a:t>还有更简洁的表示方法，即数组名</a:t>
            </a:r>
            <a:r>
              <a:rPr lang="en-US" altLang="zh-CN" sz="2400"/>
              <a:t>a</a:t>
            </a:r>
            <a:r>
              <a:rPr lang="zh-CN" altLang="en-US" sz="2400"/>
              <a:t>。</a:t>
            </a:r>
          </a:p>
          <a:p>
            <a:pPr algn="just" eaLnBrk="1" hangingPunct="1">
              <a:spcAft>
                <a:spcPts val="600"/>
              </a:spcAft>
            </a:pPr>
            <a:r>
              <a:rPr lang="zh-CN" altLang="en-US" sz="2800"/>
              <a:t>让指针指向数组元素，为</a:t>
            </a:r>
            <a:r>
              <a:rPr lang="zh-CN" altLang="en-US" sz="2800">
                <a:solidFill>
                  <a:srgbClr val="0070C0"/>
                </a:solidFill>
              </a:rPr>
              <a:t>引用数组元素</a:t>
            </a:r>
            <a:r>
              <a:rPr lang="zh-CN" altLang="en-US" sz="2800"/>
              <a:t>提供了一种新的途径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3987">
                                            <p:txEl>
                                              <p:pRg st="0" end="0"/>
                                            </p:txEl>
                                          </p:spTgt>
                                        </p:tgtEl>
                                        <p:attrNameLst>
                                          <p:attrName>style.visibility</p:attrName>
                                        </p:attrNameLst>
                                      </p:cBhvr>
                                      <p:to>
                                        <p:strVal val="visible"/>
                                      </p:to>
                                    </p:set>
                                    <p:anim calcmode="lin" valueType="num">
                                      <p:cBhvr additive="base">
                                        <p:cTn id="7" dur="500" fill="hold"/>
                                        <p:tgtEl>
                                          <p:spTgt spid="5539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398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53987">
                                            <p:txEl>
                                              <p:pRg st="1" end="1"/>
                                            </p:txEl>
                                          </p:spTgt>
                                        </p:tgtEl>
                                        <p:attrNameLst>
                                          <p:attrName>style.visibility</p:attrName>
                                        </p:attrNameLst>
                                      </p:cBhvr>
                                      <p:to>
                                        <p:strVal val="visible"/>
                                      </p:to>
                                    </p:set>
                                    <p:anim calcmode="lin" valueType="num">
                                      <p:cBhvr additive="base">
                                        <p:cTn id="13" dur="500" fill="hold"/>
                                        <p:tgtEl>
                                          <p:spTgt spid="5539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5398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par>
                                <p:cTn id="15" presetID="2" presetClass="entr" presetSubtype="8" fill="hold" grpId="0" nodeType="withEffect">
                                  <p:stCondLst>
                                    <p:cond delay="0"/>
                                  </p:stCondLst>
                                  <p:childTnLst>
                                    <p:set>
                                      <p:cBhvr>
                                        <p:cTn id="16" dur="1" fill="hold">
                                          <p:stCondLst>
                                            <p:cond delay="0"/>
                                          </p:stCondLst>
                                        </p:cTn>
                                        <p:tgtEl>
                                          <p:spTgt spid="553987">
                                            <p:txEl>
                                              <p:pRg st="2" end="2"/>
                                            </p:txEl>
                                          </p:spTgt>
                                        </p:tgtEl>
                                        <p:attrNameLst>
                                          <p:attrName>style.visibility</p:attrName>
                                        </p:attrNameLst>
                                      </p:cBhvr>
                                      <p:to>
                                        <p:strVal val="visible"/>
                                      </p:to>
                                    </p:set>
                                    <p:anim calcmode="lin" valueType="num">
                                      <p:cBhvr additive="base">
                                        <p:cTn id="17" dur="500" fill="hold"/>
                                        <p:tgtEl>
                                          <p:spTgt spid="55398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5398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par>
                                <p:cTn id="19" presetID="2" presetClass="entr" presetSubtype="8" fill="hold" grpId="0" nodeType="withEffect">
                                  <p:stCondLst>
                                    <p:cond delay="0"/>
                                  </p:stCondLst>
                                  <p:childTnLst>
                                    <p:set>
                                      <p:cBhvr>
                                        <p:cTn id="20" dur="1" fill="hold">
                                          <p:stCondLst>
                                            <p:cond delay="0"/>
                                          </p:stCondLst>
                                        </p:cTn>
                                        <p:tgtEl>
                                          <p:spTgt spid="553987">
                                            <p:txEl>
                                              <p:pRg st="3" end="3"/>
                                            </p:txEl>
                                          </p:spTgt>
                                        </p:tgtEl>
                                        <p:attrNameLst>
                                          <p:attrName>style.visibility</p:attrName>
                                        </p:attrNameLst>
                                      </p:cBhvr>
                                      <p:to>
                                        <p:strVal val="visible"/>
                                      </p:to>
                                    </p:set>
                                    <p:anim calcmode="lin" valueType="num">
                                      <p:cBhvr additive="base">
                                        <p:cTn id="21" dur="500" fill="hold"/>
                                        <p:tgtEl>
                                          <p:spTgt spid="553987">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5398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whoosh.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553987">
                                            <p:txEl>
                                              <p:pRg st="4" end="4"/>
                                            </p:txEl>
                                          </p:spTgt>
                                        </p:tgtEl>
                                        <p:attrNameLst>
                                          <p:attrName>style.visibility</p:attrName>
                                        </p:attrNameLst>
                                      </p:cBhvr>
                                      <p:to>
                                        <p:strVal val="visible"/>
                                      </p:to>
                                    </p:set>
                                    <p:anim calcmode="lin" valueType="num">
                                      <p:cBhvr additive="base">
                                        <p:cTn id="27" dur="500" fill="hold"/>
                                        <p:tgtEl>
                                          <p:spTgt spid="553987">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5398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7"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923DBAE1-E892-9AA1-53E5-8BF64D18D77B}"/>
              </a:ext>
            </a:extLst>
          </p:cNvPr>
          <p:cNvSpPr>
            <a:spLocks noGrp="1" noChangeArrowheads="1"/>
          </p:cNvSpPr>
          <p:nvPr>
            <p:ph type="title"/>
          </p:nvPr>
        </p:nvSpPr>
        <p:spPr/>
        <p:txBody>
          <a:bodyPr/>
          <a:lstStyle/>
          <a:p>
            <a:pPr eaLnBrk="1" hangingPunct="1"/>
            <a:r>
              <a:rPr lang="zh-CN" altLang="en-US"/>
              <a:t>指向数组元素的指针运算</a:t>
            </a:r>
          </a:p>
        </p:txBody>
      </p:sp>
      <p:sp>
        <p:nvSpPr>
          <p:cNvPr id="555011" name="Rectangle 3">
            <a:extLst>
              <a:ext uri="{FF2B5EF4-FFF2-40B4-BE49-F238E27FC236}">
                <a16:creationId xmlns:a16="http://schemas.microsoft.com/office/drawing/2014/main" id="{B59011AE-512D-35C7-14DF-2D967FE23E4D}"/>
              </a:ext>
            </a:extLst>
          </p:cNvPr>
          <p:cNvSpPr>
            <a:spLocks noGrp="1" noChangeArrowheads="1"/>
          </p:cNvSpPr>
          <p:nvPr>
            <p:ph type="body" idx="1"/>
          </p:nvPr>
        </p:nvSpPr>
        <p:spPr>
          <a:xfrm>
            <a:off x="1182688" y="2017713"/>
            <a:ext cx="7493768" cy="4114800"/>
          </a:xfrm>
        </p:spPr>
        <p:txBody>
          <a:bodyPr/>
          <a:lstStyle/>
          <a:p>
            <a:pPr marL="533400" indent="-533400" eaLnBrk="1" hangingPunct="1">
              <a:spcAft>
                <a:spcPts val="600"/>
              </a:spcAft>
            </a:pPr>
            <a:r>
              <a:rPr lang="zh-CN" altLang="en-US" sz="2000"/>
              <a:t>对指向数组元素的指针允许作有限的运算</a:t>
            </a:r>
          </a:p>
          <a:p>
            <a:pPr marL="533400" indent="-533400" algn="just" eaLnBrk="1" hangingPunct="1">
              <a:spcAft>
                <a:spcPts val="600"/>
              </a:spcAft>
            </a:pPr>
            <a:r>
              <a:rPr lang="zh-CN" altLang="en-US" sz="2000"/>
              <a:t>设有以下代码：</a:t>
            </a:r>
          </a:p>
          <a:p>
            <a:pPr marL="914400" lvl="1" indent="-457200" algn="just" eaLnBrk="1" hangingPunct="1">
              <a:spcAft>
                <a:spcPts val="600"/>
              </a:spcAft>
              <a:buFont typeface="Wingdings" pitchFamily="2" charset="2"/>
              <a:buAutoNum type="arabicPeriod"/>
            </a:pPr>
            <a:r>
              <a:rPr lang="zh-CN" altLang="en-US" sz="1800"/>
              <a:t> </a:t>
            </a:r>
            <a:r>
              <a:rPr lang="en-US" altLang="zh-CN" sz="1800"/>
              <a:t>int *p, *q, a[100]; </a:t>
            </a:r>
          </a:p>
          <a:p>
            <a:pPr marL="914400" lvl="1" indent="-457200" algn="just" eaLnBrk="1" hangingPunct="1">
              <a:spcAft>
                <a:spcPts val="600"/>
              </a:spcAft>
              <a:buFont typeface="Wingdings" pitchFamily="2" charset="2"/>
              <a:buAutoNum type="arabicPeriod"/>
            </a:pPr>
            <a:r>
              <a:rPr lang="en-US" altLang="zh-CN" sz="1800"/>
              <a:t> p = &amp;a[10]; </a:t>
            </a:r>
          </a:p>
          <a:p>
            <a:pPr marL="914400" lvl="1" indent="-457200" algn="just" eaLnBrk="1" hangingPunct="1">
              <a:spcAft>
                <a:spcPts val="600"/>
              </a:spcAft>
              <a:buFont typeface="Wingdings" pitchFamily="2" charset="2"/>
              <a:buAutoNum type="arabicPeriod"/>
            </a:pPr>
            <a:r>
              <a:rPr lang="en-US" altLang="zh-CN" sz="1800"/>
              <a:t> q = &amp;a[50];</a:t>
            </a:r>
          </a:p>
          <a:p>
            <a:pPr marL="533400" indent="-533400" algn="just" eaLnBrk="1" hangingPunct="1">
              <a:spcAft>
                <a:spcPts val="600"/>
              </a:spcAft>
            </a:pPr>
            <a:r>
              <a:rPr lang="en-US" altLang="zh-CN" sz="2000" b="1"/>
              <a:t>(1)</a:t>
            </a:r>
            <a:r>
              <a:rPr lang="zh-CN" altLang="en-US" sz="2000" b="1"/>
              <a:t>当两个指针指向同一个数组的元素时，这两个指针可以作关系比较</a:t>
            </a:r>
            <a:r>
              <a:rPr lang="en-US" altLang="zh-CN" sz="2000" b="1"/>
              <a:t>(&lt; </a:t>
            </a:r>
            <a:r>
              <a:rPr lang="zh-CN" altLang="en-US" sz="2000" b="1"/>
              <a:t>，</a:t>
            </a:r>
            <a:r>
              <a:rPr lang="en-US" altLang="zh-CN" sz="2000" b="1"/>
              <a:t>&lt;=</a:t>
            </a:r>
            <a:r>
              <a:rPr lang="zh-CN" altLang="en-US" sz="2000" b="1"/>
              <a:t>， </a:t>
            </a:r>
            <a:r>
              <a:rPr lang="en-US" altLang="zh-CN" sz="2000" b="1"/>
              <a:t>==</a:t>
            </a:r>
            <a:r>
              <a:rPr lang="zh-CN" altLang="en-US" sz="2000" b="1"/>
              <a:t>，</a:t>
            </a:r>
            <a:r>
              <a:rPr lang="en-US" altLang="zh-CN" sz="2000" b="1"/>
              <a:t>&gt;</a:t>
            </a:r>
            <a:r>
              <a:rPr lang="zh-CN" altLang="en-US" sz="2000" b="1"/>
              <a:t>， </a:t>
            </a:r>
            <a:r>
              <a:rPr lang="en-US" altLang="zh-CN" sz="2000" b="1"/>
              <a:t>&gt;=</a:t>
            </a:r>
            <a:r>
              <a:rPr lang="zh-CN" altLang="en-US" sz="2000" b="1"/>
              <a:t>， </a:t>
            </a:r>
            <a:r>
              <a:rPr lang="en-US" altLang="zh-CN" sz="2000" b="1"/>
              <a:t>!=)</a:t>
            </a:r>
            <a:r>
              <a:rPr lang="zh-CN" altLang="en-US" sz="2000" b="1"/>
              <a:t>。</a:t>
            </a:r>
          </a:p>
          <a:p>
            <a:pPr marL="914400" lvl="1" indent="-457200" algn="just" eaLnBrk="1" hangingPunct="1">
              <a:spcAft>
                <a:spcPts val="600"/>
              </a:spcAft>
            </a:pPr>
            <a:r>
              <a:rPr lang="zh-CN" altLang="en-US" sz="1800"/>
              <a:t>若两指针</a:t>
            </a:r>
            <a:r>
              <a:rPr lang="en-US" altLang="zh-CN" sz="1800"/>
              <a:t>p</a:t>
            </a:r>
            <a:r>
              <a:rPr lang="zh-CN" altLang="en-US" sz="1800"/>
              <a:t>和</a:t>
            </a:r>
            <a:r>
              <a:rPr lang="en-US" altLang="zh-CN" sz="1800"/>
              <a:t>q</a:t>
            </a:r>
            <a:r>
              <a:rPr lang="zh-CN" altLang="en-US" sz="1800"/>
              <a:t>指向同一个数组的元素，则</a:t>
            </a:r>
            <a:r>
              <a:rPr lang="en-US" altLang="zh-CN" sz="1800"/>
              <a:t>p==q</a:t>
            </a:r>
            <a:r>
              <a:rPr lang="zh-CN" altLang="en-US" sz="1800"/>
              <a:t>为真表示</a:t>
            </a:r>
            <a:r>
              <a:rPr lang="en-US" altLang="zh-CN" sz="1800"/>
              <a:t>p</a:t>
            </a:r>
            <a:r>
              <a:rPr lang="zh-CN" altLang="en-US" sz="1800"/>
              <a:t>，</a:t>
            </a:r>
            <a:r>
              <a:rPr lang="en-US" altLang="zh-CN" sz="1800"/>
              <a:t>q</a:t>
            </a:r>
            <a:r>
              <a:rPr lang="zh-CN" altLang="en-US" sz="1800"/>
              <a:t>指向数组的同一个元素；若</a:t>
            </a:r>
            <a:r>
              <a:rPr lang="en-US" altLang="zh-CN" sz="1800"/>
              <a:t>p&lt;q</a:t>
            </a:r>
            <a:r>
              <a:rPr lang="zh-CN" altLang="en-US" sz="1800"/>
              <a:t>为真，表示</a:t>
            </a:r>
            <a:r>
              <a:rPr lang="en-US" altLang="zh-CN" sz="1800"/>
              <a:t>p</a:t>
            </a:r>
            <a:r>
              <a:rPr lang="zh-CN" altLang="en-US" sz="1800"/>
              <a:t>所指向的数组元素的下标小于</a:t>
            </a:r>
            <a:r>
              <a:rPr lang="en-US" altLang="zh-CN" sz="1800"/>
              <a:t>q</a:t>
            </a:r>
            <a:r>
              <a:rPr lang="zh-CN" altLang="en-US" sz="1800"/>
              <a:t>所指向的数组元素的下标。如对上述代码</a:t>
            </a:r>
            <a:r>
              <a:rPr lang="en-US" altLang="zh-CN" sz="1800"/>
              <a:t>p&lt;q</a:t>
            </a:r>
            <a:r>
              <a:rPr lang="zh-CN" altLang="en-US" sz="1800"/>
              <a:t>为真。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5011">
                                            <p:txEl>
                                              <p:pRg st="0" end="0"/>
                                            </p:txEl>
                                          </p:spTgt>
                                        </p:tgtEl>
                                        <p:attrNameLst>
                                          <p:attrName>style.visibility</p:attrName>
                                        </p:attrNameLst>
                                      </p:cBhvr>
                                      <p:to>
                                        <p:strVal val="visible"/>
                                      </p:to>
                                    </p:set>
                                    <p:anim calcmode="lin" valueType="num">
                                      <p:cBhvr additive="base">
                                        <p:cTn id="7" dur="500" fill="hold"/>
                                        <p:tgtEl>
                                          <p:spTgt spid="5550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501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55011">
                                            <p:txEl>
                                              <p:pRg st="1" end="1"/>
                                            </p:txEl>
                                          </p:spTgt>
                                        </p:tgtEl>
                                        <p:attrNameLst>
                                          <p:attrName>style.visibility</p:attrName>
                                        </p:attrNameLst>
                                      </p:cBhvr>
                                      <p:to>
                                        <p:strVal val="visible"/>
                                      </p:to>
                                    </p:set>
                                    <p:anim calcmode="lin" valueType="num">
                                      <p:cBhvr additive="base">
                                        <p:cTn id="13" dur="500" fill="hold"/>
                                        <p:tgtEl>
                                          <p:spTgt spid="5550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5501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par>
                                <p:cTn id="15" presetID="2" presetClass="entr" presetSubtype="8" fill="hold" grpId="0" nodeType="withEffect">
                                  <p:stCondLst>
                                    <p:cond delay="0"/>
                                  </p:stCondLst>
                                  <p:childTnLst>
                                    <p:set>
                                      <p:cBhvr>
                                        <p:cTn id="16" dur="1" fill="hold">
                                          <p:stCondLst>
                                            <p:cond delay="0"/>
                                          </p:stCondLst>
                                        </p:cTn>
                                        <p:tgtEl>
                                          <p:spTgt spid="555011">
                                            <p:txEl>
                                              <p:pRg st="2" end="2"/>
                                            </p:txEl>
                                          </p:spTgt>
                                        </p:tgtEl>
                                        <p:attrNameLst>
                                          <p:attrName>style.visibility</p:attrName>
                                        </p:attrNameLst>
                                      </p:cBhvr>
                                      <p:to>
                                        <p:strVal val="visible"/>
                                      </p:to>
                                    </p:set>
                                    <p:anim calcmode="lin" valueType="num">
                                      <p:cBhvr additive="base">
                                        <p:cTn id="17" dur="500" fill="hold"/>
                                        <p:tgtEl>
                                          <p:spTgt spid="55501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5501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par>
                                <p:cTn id="19" presetID="2" presetClass="entr" presetSubtype="8" fill="hold" grpId="0" nodeType="withEffect">
                                  <p:stCondLst>
                                    <p:cond delay="0"/>
                                  </p:stCondLst>
                                  <p:childTnLst>
                                    <p:set>
                                      <p:cBhvr>
                                        <p:cTn id="20" dur="1" fill="hold">
                                          <p:stCondLst>
                                            <p:cond delay="0"/>
                                          </p:stCondLst>
                                        </p:cTn>
                                        <p:tgtEl>
                                          <p:spTgt spid="555011">
                                            <p:txEl>
                                              <p:pRg st="3" end="3"/>
                                            </p:txEl>
                                          </p:spTgt>
                                        </p:tgtEl>
                                        <p:attrNameLst>
                                          <p:attrName>style.visibility</p:attrName>
                                        </p:attrNameLst>
                                      </p:cBhvr>
                                      <p:to>
                                        <p:strVal val="visible"/>
                                      </p:to>
                                    </p:set>
                                    <p:anim calcmode="lin" valueType="num">
                                      <p:cBhvr additive="base">
                                        <p:cTn id="21" dur="500" fill="hold"/>
                                        <p:tgtEl>
                                          <p:spTgt spid="555011">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5501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whoosh.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555011">
                                            <p:txEl>
                                              <p:pRg st="4" end="4"/>
                                            </p:txEl>
                                          </p:spTgt>
                                        </p:tgtEl>
                                        <p:attrNameLst>
                                          <p:attrName>style.visibility</p:attrName>
                                        </p:attrNameLst>
                                      </p:cBhvr>
                                      <p:to>
                                        <p:strVal val="visible"/>
                                      </p:to>
                                    </p:set>
                                    <p:anim calcmode="lin" valueType="num">
                                      <p:cBhvr additive="base">
                                        <p:cTn id="25" dur="500" fill="hold"/>
                                        <p:tgtEl>
                                          <p:spTgt spid="55501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5501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55011">
                                            <p:txEl>
                                              <p:pRg st="5" end="5"/>
                                            </p:txEl>
                                          </p:spTgt>
                                        </p:tgtEl>
                                        <p:attrNameLst>
                                          <p:attrName>style.visibility</p:attrName>
                                        </p:attrNameLst>
                                      </p:cBhvr>
                                      <p:to>
                                        <p:strVal val="visible"/>
                                      </p:to>
                                    </p:set>
                                    <p:anim calcmode="lin" valueType="num">
                                      <p:cBhvr additive="base">
                                        <p:cTn id="31" dur="500" fill="hold"/>
                                        <p:tgtEl>
                                          <p:spTgt spid="555011">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5501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555011">
                                            <p:txEl>
                                              <p:pRg st="6" end="6"/>
                                            </p:txEl>
                                          </p:spTgt>
                                        </p:tgtEl>
                                        <p:attrNameLst>
                                          <p:attrName>style.visibility</p:attrName>
                                        </p:attrNameLst>
                                      </p:cBhvr>
                                      <p:to>
                                        <p:strVal val="visible"/>
                                      </p:to>
                                    </p:set>
                                    <p:anim calcmode="lin" valueType="num">
                                      <p:cBhvr additive="base">
                                        <p:cTn id="35" dur="500" fill="hold"/>
                                        <p:tgtEl>
                                          <p:spTgt spid="555011">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5501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1"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3EC56BAD-4E14-F15C-F697-25BE2E8200B4}"/>
              </a:ext>
            </a:extLst>
          </p:cNvPr>
          <p:cNvSpPr>
            <a:spLocks noGrp="1" noChangeArrowheads="1"/>
          </p:cNvSpPr>
          <p:nvPr>
            <p:ph type="title"/>
          </p:nvPr>
        </p:nvSpPr>
        <p:spPr/>
        <p:txBody>
          <a:bodyPr/>
          <a:lstStyle/>
          <a:p>
            <a:pPr eaLnBrk="1" hangingPunct="1"/>
            <a:r>
              <a:rPr lang="zh-CN" altLang="en-US"/>
              <a:t>指向数组元素的指针运算</a:t>
            </a:r>
            <a:r>
              <a:rPr lang="en-US" altLang="zh-CN"/>
              <a:t>(</a:t>
            </a:r>
            <a:r>
              <a:rPr lang="zh-CN" altLang="en-US"/>
              <a:t>续</a:t>
            </a:r>
            <a:r>
              <a:rPr lang="en-US" altLang="zh-CN"/>
              <a:t>)</a:t>
            </a:r>
          </a:p>
        </p:txBody>
      </p:sp>
      <p:sp>
        <p:nvSpPr>
          <p:cNvPr id="556035" name="Rectangle 3">
            <a:extLst>
              <a:ext uri="{FF2B5EF4-FFF2-40B4-BE49-F238E27FC236}">
                <a16:creationId xmlns:a16="http://schemas.microsoft.com/office/drawing/2014/main" id="{37F8D973-D156-EE31-CFB2-E0DFF3A7B92D}"/>
              </a:ext>
            </a:extLst>
          </p:cNvPr>
          <p:cNvSpPr>
            <a:spLocks noGrp="1" noChangeArrowheads="1"/>
          </p:cNvSpPr>
          <p:nvPr>
            <p:ph type="body" idx="1"/>
          </p:nvPr>
        </p:nvSpPr>
        <p:spPr>
          <a:xfrm>
            <a:off x="1182688" y="2017713"/>
            <a:ext cx="7421760" cy="4114800"/>
          </a:xfrm>
        </p:spPr>
        <p:txBody>
          <a:bodyPr/>
          <a:lstStyle/>
          <a:p>
            <a:pPr eaLnBrk="1" hangingPunct="1">
              <a:lnSpc>
                <a:spcPct val="150000"/>
              </a:lnSpc>
              <a:spcAft>
                <a:spcPts val="600"/>
              </a:spcAft>
            </a:pPr>
            <a:r>
              <a:rPr lang="en-US" altLang="zh-CN" sz="2000" b="1"/>
              <a:t>(2)</a:t>
            </a:r>
            <a:r>
              <a:rPr lang="zh-CN" altLang="en-US" sz="2000" b="1"/>
              <a:t>指向数组元素的指针可与整数进行加减运算。</a:t>
            </a:r>
          </a:p>
          <a:p>
            <a:pPr lvl="1" eaLnBrk="1" hangingPunct="1">
              <a:lnSpc>
                <a:spcPct val="150000"/>
              </a:lnSpc>
              <a:spcAft>
                <a:spcPts val="600"/>
              </a:spcAft>
            </a:pPr>
            <a:r>
              <a:rPr lang="zh-CN" altLang="en-US" sz="1600">
                <a:solidFill>
                  <a:srgbClr val="0070C0"/>
                </a:solidFill>
              </a:rPr>
              <a:t>由数组元素在内存中顺序连续存放的规定</a:t>
            </a:r>
            <a:r>
              <a:rPr lang="zh-CN" altLang="en-US" sz="1600"/>
              <a:t>，以及地址运算规则，表达式</a:t>
            </a:r>
            <a:r>
              <a:rPr lang="en-US" altLang="zh-CN" sz="1600"/>
              <a:t>a+1</a:t>
            </a:r>
            <a:r>
              <a:rPr lang="zh-CN" altLang="en-US" sz="1600"/>
              <a:t>为</a:t>
            </a:r>
            <a:r>
              <a:rPr lang="en-US" altLang="zh-CN" sz="1600"/>
              <a:t>a[1] </a:t>
            </a:r>
            <a:r>
              <a:rPr lang="zh-CN" altLang="en-US" sz="1600"/>
              <a:t>的地址，</a:t>
            </a:r>
            <a:r>
              <a:rPr lang="en-US" altLang="zh-CN" sz="1600"/>
              <a:t>a+2</a:t>
            </a:r>
            <a:r>
              <a:rPr lang="zh-CN" altLang="en-US" sz="1600"/>
              <a:t>为</a:t>
            </a:r>
            <a:r>
              <a:rPr lang="en-US" altLang="zh-CN" sz="1600"/>
              <a:t>a[2]</a:t>
            </a:r>
            <a:r>
              <a:rPr lang="zh-CN" altLang="en-US" sz="1600"/>
              <a:t>的地址。一般地，</a:t>
            </a:r>
            <a:r>
              <a:rPr lang="zh-CN" altLang="en-US" sz="1600">
                <a:solidFill>
                  <a:srgbClr val="0070C0"/>
                </a:solidFill>
              </a:rPr>
              <a:t>表达式</a:t>
            </a:r>
            <a:r>
              <a:rPr lang="en-US" altLang="zh-CN" sz="1600">
                <a:solidFill>
                  <a:srgbClr val="0070C0"/>
                </a:solidFill>
              </a:rPr>
              <a:t>a+i</a:t>
            </a:r>
            <a:r>
              <a:rPr lang="zh-CN" altLang="en-US" sz="1600">
                <a:solidFill>
                  <a:srgbClr val="0070C0"/>
                </a:solidFill>
              </a:rPr>
              <a:t>为 </a:t>
            </a:r>
            <a:r>
              <a:rPr lang="en-US" altLang="zh-CN" sz="1600">
                <a:solidFill>
                  <a:srgbClr val="0070C0"/>
                </a:solidFill>
              </a:rPr>
              <a:t>a[i] </a:t>
            </a:r>
            <a:r>
              <a:rPr lang="zh-CN" altLang="en-US" sz="1600">
                <a:solidFill>
                  <a:srgbClr val="0070C0"/>
                </a:solidFill>
              </a:rPr>
              <a:t>的地址</a:t>
            </a:r>
            <a:r>
              <a:rPr lang="zh-CN" altLang="en-US" sz="1600"/>
              <a:t>。把这个结论应用于指向数组元素的指针，同样地成立。</a:t>
            </a:r>
          </a:p>
          <a:p>
            <a:pPr lvl="1" eaLnBrk="1" hangingPunct="1">
              <a:lnSpc>
                <a:spcPct val="150000"/>
              </a:lnSpc>
              <a:spcAft>
                <a:spcPts val="600"/>
              </a:spcAft>
            </a:pPr>
            <a:r>
              <a:rPr lang="zh-CN" altLang="en-US" sz="1600"/>
              <a:t>若</a:t>
            </a:r>
            <a:r>
              <a:rPr lang="en-US" altLang="zh-CN" sz="1600"/>
              <a:t>p</a:t>
            </a:r>
            <a:r>
              <a:rPr lang="zh-CN" altLang="en-US" sz="1600"/>
              <a:t>的值为</a:t>
            </a:r>
            <a:r>
              <a:rPr lang="en-US" altLang="zh-CN" sz="1600"/>
              <a:t>a[0]</a:t>
            </a:r>
            <a:r>
              <a:rPr lang="zh-CN" altLang="en-US" sz="1600"/>
              <a:t>的地址，则</a:t>
            </a:r>
            <a:r>
              <a:rPr lang="zh-CN" altLang="en-US" sz="1600">
                <a:solidFill>
                  <a:srgbClr val="0070C0"/>
                </a:solidFill>
              </a:rPr>
              <a:t>表达式</a:t>
            </a:r>
            <a:r>
              <a:rPr lang="en-US" altLang="zh-CN" sz="1600">
                <a:solidFill>
                  <a:srgbClr val="0070C0"/>
                </a:solidFill>
              </a:rPr>
              <a:t>p+i</a:t>
            </a:r>
            <a:r>
              <a:rPr lang="zh-CN" altLang="en-US" sz="1600"/>
              <a:t>的值为</a:t>
            </a:r>
            <a:r>
              <a:rPr lang="en-US" altLang="zh-CN" sz="1600"/>
              <a:t>a[i]</a:t>
            </a:r>
            <a:r>
              <a:rPr lang="zh-CN" altLang="en-US" sz="1600"/>
              <a:t>的地址。或者说，</a:t>
            </a:r>
            <a:r>
              <a:rPr lang="en-US" altLang="zh-CN" sz="1600"/>
              <a:t>p+i</a:t>
            </a:r>
            <a:r>
              <a:rPr lang="zh-CN" altLang="en-US" sz="1600"/>
              <a:t>的值为指向</a:t>
            </a:r>
            <a:r>
              <a:rPr lang="en-US" altLang="zh-CN" sz="1600"/>
              <a:t>a[i]</a:t>
            </a:r>
            <a:r>
              <a:rPr lang="zh-CN" altLang="en-US" sz="1600"/>
              <a:t>的指针值。若</a:t>
            </a:r>
            <a:r>
              <a:rPr lang="en-US" altLang="zh-CN" sz="1600"/>
              <a:t>p</a:t>
            </a:r>
            <a:r>
              <a:rPr lang="zh-CN" altLang="en-US" sz="1600"/>
              <a:t>指向数组元素</a:t>
            </a:r>
            <a:r>
              <a:rPr lang="en-US" altLang="zh-CN" sz="1600"/>
              <a:t>a[10]</a:t>
            </a:r>
            <a:r>
              <a:rPr lang="zh-CN" altLang="en-US" sz="1600"/>
              <a:t>，则</a:t>
            </a:r>
            <a:r>
              <a:rPr lang="en-US" altLang="zh-CN" sz="1600"/>
              <a:t>p+n</a:t>
            </a:r>
            <a:r>
              <a:rPr lang="zh-CN" altLang="en-US" sz="1600"/>
              <a:t>就表示指向数组元素</a:t>
            </a:r>
            <a:r>
              <a:rPr lang="en-US" altLang="zh-CN" sz="1600"/>
              <a:t>a[10+n],</a:t>
            </a:r>
            <a:r>
              <a:rPr lang="zh-CN" altLang="en-US" sz="1600"/>
              <a:t>这里</a:t>
            </a:r>
            <a:r>
              <a:rPr lang="en-US" altLang="zh-CN" sz="1600"/>
              <a:t>n</a:t>
            </a:r>
            <a:r>
              <a:rPr lang="zh-CN" altLang="en-US" sz="1600"/>
              <a:t>是任意的整数表达式。</a:t>
            </a:r>
          </a:p>
          <a:p>
            <a:pPr lvl="1" eaLnBrk="1" hangingPunct="1">
              <a:lnSpc>
                <a:spcPct val="150000"/>
              </a:lnSpc>
              <a:spcAft>
                <a:spcPts val="600"/>
              </a:spcAft>
            </a:pPr>
            <a:r>
              <a:rPr lang="zh-CN" altLang="en-US" sz="1600"/>
              <a:t>Ｃ语言约定，当指针变量指向数组</a:t>
            </a:r>
            <a:r>
              <a:rPr lang="en-US" altLang="zh-CN" sz="1600"/>
              <a:t>a</a:t>
            </a:r>
            <a:r>
              <a:rPr lang="zh-CN" altLang="en-US" sz="1600"/>
              <a:t>的元素时，</a:t>
            </a:r>
            <a:r>
              <a:rPr lang="zh-CN" altLang="en-US" sz="1600">
                <a:solidFill>
                  <a:srgbClr val="0070C0"/>
                </a:solidFill>
              </a:rPr>
              <a:t>不论数组元素的类型是什么，指针和整数</a:t>
            </a:r>
            <a:r>
              <a:rPr lang="en-US" altLang="zh-CN" sz="1600">
                <a:solidFill>
                  <a:srgbClr val="0070C0"/>
                </a:solidFill>
              </a:rPr>
              <a:t>n</a:t>
            </a:r>
            <a:r>
              <a:rPr lang="zh-CN" altLang="en-US" sz="1600">
                <a:solidFill>
                  <a:srgbClr val="0070C0"/>
                </a:solidFill>
              </a:rPr>
              <a:t>进行加减运算时，总是根据所指元素的数据存储字节长度</a:t>
            </a:r>
            <a:r>
              <a:rPr lang="en-US" altLang="zh-CN" sz="1600">
                <a:solidFill>
                  <a:srgbClr val="0070C0"/>
                </a:solidFill>
              </a:rPr>
              <a:t>sizeof a[0]</a:t>
            </a:r>
            <a:r>
              <a:rPr lang="zh-CN" altLang="en-US" sz="1600">
                <a:solidFill>
                  <a:srgbClr val="0070C0"/>
                </a:solidFill>
              </a:rPr>
              <a:t>，对</a:t>
            </a:r>
            <a:r>
              <a:rPr lang="en-US" altLang="zh-CN" sz="1600">
                <a:solidFill>
                  <a:srgbClr val="0070C0"/>
                </a:solidFill>
              </a:rPr>
              <a:t>n</a:t>
            </a:r>
            <a:r>
              <a:rPr lang="zh-CN" altLang="en-US" sz="1600">
                <a:solidFill>
                  <a:srgbClr val="0070C0"/>
                </a:solidFill>
              </a:rPr>
              <a:t>放大</a:t>
            </a:r>
            <a:r>
              <a:rPr lang="zh-CN" altLang="en-US" sz="1600"/>
              <a:t>；保证加减</a:t>
            </a:r>
            <a:r>
              <a:rPr lang="en-US" altLang="zh-CN" sz="1600"/>
              <a:t>n</a:t>
            </a:r>
            <a:r>
              <a:rPr lang="zh-CN" altLang="en-US" sz="1600"/>
              <a:t>，使指针值向前或向后移动</a:t>
            </a:r>
            <a:r>
              <a:rPr lang="en-US" altLang="zh-CN" sz="1600"/>
              <a:t>n</a:t>
            </a:r>
            <a:r>
              <a:rPr lang="zh-CN" altLang="en-US" sz="1600"/>
              <a:t>个元素位置。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6035">
                                            <p:txEl>
                                              <p:pRg st="0" end="0"/>
                                            </p:txEl>
                                          </p:spTgt>
                                        </p:tgtEl>
                                        <p:attrNameLst>
                                          <p:attrName>style.visibility</p:attrName>
                                        </p:attrNameLst>
                                      </p:cBhvr>
                                      <p:to>
                                        <p:strVal val="visible"/>
                                      </p:to>
                                    </p:set>
                                    <p:anim calcmode="lin" valueType="num">
                                      <p:cBhvr additive="base">
                                        <p:cTn id="7" dur="500" fill="hold"/>
                                        <p:tgtEl>
                                          <p:spTgt spid="5560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603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56035">
                                            <p:txEl>
                                              <p:pRg st="1" end="1"/>
                                            </p:txEl>
                                          </p:spTgt>
                                        </p:tgtEl>
                                        <p:attrNameLst>
                                          <p:attrName>style.visibility</p:attrName>
                                        </p:attrNameLst>
                                      </p:cBhvr>
                                      <p:to>
                                        <p:strVal val="visible"/>
                                      </p:to>
                                    </p:set>
                                    <p:anim calcmode="lin" valueType="num">
                                      <p:cBhvr additive="base">
                                        <p:cTn id="11" dur="500" fill="hold"/>
                                        <p:tgtEl>
                                          <p:spTgt spid="55603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5603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56035">
                                            <p:txEl>
                                              <p:pRg st="2" end="2"/>
                                            </p:txEl>
                                          </p:spTgt>
                                        </p:tgtEl>
                                        <p:attrNameLst>
                                          <p:attrName>style.visibility</p:attrName>
                                        </p:attrNameLst>
                                      </p:cBhvr>
                                      <p:to>
                                        <p:strVal val="visible"/>
                                      </p:to>
                                    </p:set>
                                    <p:anim calcmode="lin" valueType="num">
                                      <p:cBhvr additive="base">
                                        <p:cTn id="15" dur="500" fill="hold"/>
                                        <p:tgtEl>
                                          <p:spTgt spid="55603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5603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56035">
                                            <p:txEl>
                                              <p:pRg st="3" end="3"/>
                                            </p:txEl>
                                          </p:spTgt>
                                        </p:tgtEl>
                                        <p:attrNameLst>
                                          <p:attrName>style.visibility</p:attrName>
                                        </p:attrNameLst>
                                      </p:cBhvr>
                                      <p:to>
                                        <p:strVal val="visible"/>
                                      </p:to>
                                    </p:set>
                                    <p:anim calcmode="lin" valueType="num">
                                      <p:cBhvr additive="base">
                                        <p:cTn id="19" dur="500" fill="hold"/>
                                        <p:tgtEl>
                                          <p:spTgt spid="55603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5603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F2206F9-C0FF-1D63-4606-1DABB70EDD5B}"/>
              </a:ext>
            </a:extLst>
          </p:cNvPr>
          <p:cNvSpPr>
            <a:spLocks noGrp="1" noChangeArrowheads="1"/>
          </p:cNvSpPr>
          <p:nvPr>
            <p:ph type="title"/>
          </p:nvPr>
        </p:nvSpPr>
        <p:spPr/>
        <p:txBody>
          <a:bodyPr/>
          <a:lstStyle/>
          <a:p>
            <a:pPr eaLnBrk="1" hangingPunct="1"/>
            <a:r>
              <a:rPr lang="zh-CN" altLang="en-US"/>
              <a:t>指向数组元素的指针运算</a:t>
            </a:r>
            <a:r>
              <a:rPr lang="en-US" altLang="zh-CN"/>
              <a:t>(</a:t>
            </a:r>
            <a:r>
              <a:rPr lang="zh-CN" altLang="en-US"/>
              <a:t>续</a:t>
            </a:r>
            <a:r>
              <a:rPr lang="en-US" altLang="zh-CN"/>
              <a:t>)</a:t>
            </a:r>
          </a:p>
        </p:txBody>
      </p:sp>
      <p:sp>
        <p:nvSpPr>
          <p:cNvPr id="557059" name="Rectangle 3">
            <a:extLst>
              <a:ext uri="{FF2B5EF4-FFF2-40B4-BE49-F238E27FC236}">
                <a16:creationId xmlns:a16="http://schemas.microsoft.com/office/drawing/2014/main" id="{E97E5253-D557-2F6A-F795-2FC81F34CD37}"/>
              </a:ext>
            </a:extLst>
          </p:cNvPr>
          <p:cNvSpPr>
            <a:spLocks noGrp="1" noChangeArrowheads="1"/>
          </p:cNvSpPr>
          <p:nvPr>
            <p:ph type="body" idx="1"/>
          </p:nvPr>
        </p:nvSpPr>
        <p:spPr>
          <a:xfrm>
            <a:off x="1182688" y="2017713"/>
            <a:ext cx="7565776" cy="4114800"/>
          </a:xfrm>
        </p:spPr>
        <p:txBody>
          <a:bodyPr/>
          <a:lstStyle/>
          <a:p>
            <a:pPr eaLnBrk="1" hangingPunct="1">
              <a:lnSpc>
                <a:spcPct val="150000"/>
              </a:lnSpc>
              <a:spcAft>
                <a:spcPts val="600"/>
              </a:spcAft>
            </a:pPr>
            <a:r>
              <a:rPr lang="en-US" altLang="zh-CN" sz="2000" b="1"/>
              <a:t>(3)</a:t>
            </a:r>
            <a:r>
              <a:rPr lang="zh-CN" altLang="en-US" sz="2000" b="1"/>
              <a:t>当两个指针指向同一个数组的元素时，允许两个指针作减法运算。其绝对值等于两指针所指数组元素之间相差的元素个数。</a:t>
            </a:r>
          </a:p>
          <a:p>
            <a:pPr lvl="1" eaLnBrk="1" hangingPunct="1">
              <a:lnSpc>
                <a:spcPct val="150000"/>
              </a:lnSpc>
              <a:spcAft>
                <a:spcPts val="600"/>
              </a:spcAft>
            </a:pPr>
            <a:r>
              <a:rPr lang="zh-CN" altLang="en-US" sz="1800"/>
              <a:t>利用运算符 * 可引用指针所指对象，</a:t>
            </a:r>
            <a:r>
              <a:rPr lang="zh-CN" altLang="en-US" sz="1800">
                <a:solidFill>
                  <a:srgbClr val="0070C0"/>
                </a:solidFill>
              </a:rPr>
              <a:t>*</a:t>
            </a:r>
            <a:r>
              <a:rPr lang="en-US" altLang="zh-CN" sz="1800">
                <a:solidFill>
                  <a:srgbClr val="0070C0"/>
                </a:solidFill>
              </a:rPr>
              <a:t>(a+i)</a:t>
            </a:r>
            <a:r>
              <a:rPr lang="zh-CN" altLang="en-US" sz="1800"/>
              <a:t>表示引用</a:t>
            </a:r>
            <a:r>
              <a:rPr lang="en-US" altLang="zh-CN" sz="1800"/>
              <a:t>a+i</a:t>
            </a:r>
            <a:r>
              <a:rPr lang="zh-CN" altLang="en-US" sz="1800"/>
              <a:t>所指向的数组元素</a:t>
            </a:r>
            <a:r>
              <a:rPr lang="en-US" altLang="zh-CN" sz="1800"/>
              <a:t>a[i]</a:t>
            </a:r>
            <a:r>
              <a:rPr lang="zh-CN" altLang="en-US" sz="1800"/>
              <a:t>。这样*</a:t>
            </a:r>
            <a:r>
              <a:rPr lang="en-US" altLang="zh-CN" sz="1800"/>
              <a:t>(a+i)</a:t>
            </a:r>
            <a:r>
              <a:rPr lang="zh-CN" altLang="en-US" sz="1800"/>
              <a:t>就是</a:t>
            </a:r>
            <a:r>
              <a:rPr lang="en-US" altLang="zh-CN" sz="1800"/>
              <a:t>a[i]</a:t>
            </a:r>
            <a:r>
              <a:rPr lang="zh-CN" altLang="en-US" sz="1800"/>
              <a:t>。</a:t>
            </a:r>
            <a:endParaRPr lang="en-US" altLang="zh-CN" sz="1800"/>
          </a:p>
          <a:p>
            <a:pPr lvl="1" eaLnBrk="1" hangingPunct="1">
              <a:lnSpc>
                <a:spcPct val="150000"/>
              </a:lnSpc>
              <a:spcAft>
                <a:spcPts val="600"/>
              </a:spcAft>
            </a:pPr>
            <a:r>
              <a:rPr lang="zh-CN" altLang="en-US" sz="1800"/>
              <a:t>对于指向数组元素的指针变量</a:t>
            </a:r>
            <a:r>
              <a:rPr lang="en-US" altLang="zh-CN" sz="1800"/>
              <a:t>p</a:t>
            </a:r>
            <a:r>
              <a:rPr lang="zh-CN" altLang="en-US" sz="1800"/>
              <a:t>，若</a:t>
            </a:r>
            <a:r>
              <a:rPr lang="en-US" altLang="zh-CN" sz="1800"/>
              <a:t>p</a:t>
            </a:r>
            <a:r>
              <a:rPr lang="zh-CN" altLang="en-US" sz="1800"/>
              <a:t>指向</a:t>
            </a:r>
            <a:r>
              <a:rPr lang="en-US" altLang="zh-CN" sz="1800"/>
              <a:t>a[10]</a:t>
            </a:r>
            <a:r>
              <a:rPr lang="zh-CN" altLang="en-US" sz="1800"/>
              <a:t>，</a:t>
            </a:r>
            <a:r>
              <a:rPr lang="zh-CN" altLang="en-US" sz="1800">
                <a:solidFill>
                  <a:srgbClr val="0070C0"/>
                </a:solidFill>
              </a:rPr>
              <a:t>*</a:t>
            </a:r>
            <a:r>
              <a:rPr lang="en-US" altLang="zh-CN" sz="1800">
                <a:solidFill>
                  <a:srgbClr val="0070C0"/>
                </a:solidFill>
              </a:rPr>
              <a:t>(p+i)</a:t>
            </a:r>
            <a:r>
              <a:rPr lang="en-US" altLang="zh-CN" sz="1800"/>
              <a:t> </a:t>
            </a:r>
            <a:r>
              <a:rPr lang="zh-CN" altLang="en-US" sz="1800"/>
              <a:t>表示引用</a:t>
            </a:r>
            <a:r>
              <a:rPr lang="en-US" altLang="zh-CN" sz="1800"/>
              <a:t>p+i</a:t>
            </a:r>
            <a:r>
              <a:rPr lang="zh-CN" altLang="en-US" sz="1800"/>
              <a:t>所指向的数组元素</a:t>
            </a:r>
            <a:r>
              <a:rPr lang="en-US" altLang="zh-CN" sz="1800"/>
              <a:t>a[10+i]</a:t>
            </a:r>
            <a:r>
              <a:rPr lang="zh-CN" altLang="en-US" sz="1800"/>
              <a:t>。</a:t>
            </a:r>
          </a:p>
          <a:p>
            <a:pPr lvl="1" eaLnBrk="1" hangingPunct="1">
              <a:lnSpc>
                <a:spcPct val="150000"/>
              </a:lnSpc>
              <a:spcAft>
                <a:spcPts val="600"/>
              </a:spcAft>
            </a:pPr>
            <a:r>
              <a:rPr lang="zh-CN" altLang="en-US" sz="1800">
                <a:solidFill>
                  <a:srgbClr val="0070C0"/>
                </a:solidFill>
              </a:rPr>
              <a:t>与用数组名和下标引用数组元素的标记法相一致，指向数组元素的指针变量也可带下标引用数组的元素，即*</a:t>
            </a:r>
            <a:r>
              <a:rPr lang="en-US" altLang="zh-CN" sz="1800">
                <a:solidFill>
                  <a:srgbClr val="0070C0"/>
                </a:solidFill>
              </a:rPr>
              <a:t>(p+i)</a:t>
            </a:r>
            <a:r>
              <a:rPr lang="zh-CN" altLang="en-US" sz="1800">
                <a:solidFill>
                  <a:srgbClr val="0070C0"/>
                </a:solidFill>
              </a:rPr>
              <a:t>也可写成</a:t>
            </a:r>
            <a:r>
              <a:rPr lang="en-US" altLang="zh-CN" sz="1800">
                <a:solidFill>
                  <a:srgbClr val="0070C0"/>
                </a:solidFill>
              </a:rPr>
              <a:t>p[i]</a:t>
            </a:r>
            <a:r>
              <a:rPr lang="zh-CN" altLang="en-US" sz="1800">
                <a:solidFill>
                  <a:srgbClr val="0070C0"/>
                </a:solidFill>
              </a:rPr>
              <a:t>。</a:t>
            </a:r>
          </a:p>
          <a:p>
            <a:pPr lvl="1" eaLnBrk="1" hangingPunct="1">
              <a:lnSpc>
                <a:spcPct val="150000"/>
              </a:lnSpc>
              <a:spcAft>
                <a:spcPts val="600"/>
              </a:spcAft>
            </a:pPr>
            <a:r>
              <a:rPr lang="zh-CN" altLang="en-US" sz="1800"/>
              <a:t>若</a:t>
            </a:r>
            <a:r>
              <a:rPr lang="en-US" altLang="zh-CN" sz="1800"/>
              <a:t>p = &amp;a[10]</a:t>
            </a:r>
            <a:r>
              <a:rPr lang="zh-CN" altLang="en-US" sz="1800"/>
              <a:t>，则</a:t>
            </a:r>
            <a:r>
              <a:rPr lang="en-US" altLang="zh-CN" sz="1800"/>
              <a:t>p[i]</a:t>
            </a:r>
            <a:r>
              <a:rPr lang="zh-CN" altLang="en-US" sz="1800"/>
              <a:t>引用的是</a:t>
            </a:r>
            <a:r>
              <a:rPr lang="en-US" altLang="zh-CN" sz="1800"/>
              <a:t>a[10+i]</a:t>
            </a:r>
            <a:r>
              <a:rPr lang="zh-CN" altLang="en-US" sz="1800"/>
              <a:t>， </a:t>
            </a:r>
            <a:r>
              <a:rPr lang="en-US" altLang="zh-CN" sz="1800">
                <a:solidFill>
                  <a:srgbClr val="0070C0"/>
                </a:solidFill>
              </a:rPr>
              <a:t>p[-2]</a:t>
            </a:r>
            <a:r>
              <a:rPr lang="zh-CN" altLang="en-US" sz="1800"/>
              <a:t>引用的是</a:t>
            </a:r>
            <a:r>
              <a:rPr lang="en-US" altLang="zh-CN" sz="1800"/>
              <a:t>a[8]</a:t>
            </a:r>
            <a:r>
              <a:rPr lang="zh-CN" altLang="en-US" sz="18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7059">
                                            <p:txEl>
                                              <p:pRg st="0" end="0"/>
                                            </p:txEl>
                                          </p:spTgt>
                                        </p:tgtEl>
                                        <p:attrNameLst>
                                          <p:attrName>style.visibility</p:attrName>
                                        </p:attrNameLst>
                                      </p:cBhvr>
                                      <p:to>
                                        <p:strVal val="visible"/>
                                      </p:to>
                                    </p:set>
                                    <p:anim calcmode="lin" valueType="num">
                                      <p:cBhvr additive="base">
                                        <p:cTn id="7" dur="500" fill="hold"/>
                                        <p:tgtEl>
                                          <p:spTgt spid="5570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70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57059">
                                            <p:txEl>
                                              <p:pRg st="1" end="1"/>
                                            </p:txEl>
                                          </p:spTgt>
                                        </p:tgtEl>
                                        <p:attrNameLst>
                                          <p:attrName>style.visibility</p:attrName>
                                        </p:attrNameLst>
                                      </p:cBhvr>
                                      <p:to>
                                        <p:strVal val="visible"/>
                                      </p:to>
                                    </p:set>
                                    <p:anim calcmode="lin" valueType="num">
                                      <p:cBhvr additive="base">
                                        <p:cTn id="11" dur="500" fill="hold"/>
                                        <p:tgtEl>
                                          <p:spTgt spid="55705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5705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57059">
                                            <p:txEl>
                                              <p:pRg st="2" end="2"/>
                                            </p:txEl>
                                          </p:spTgt>
                                        </p:tgtEl>
                                        <p:attrNameLst>
                                          <p:attrName>style.visibility</p:attrName>
                                        </p:attrNameLst>
                                      </p:cBhvr>
                                      <p:to>
                                        <p:strVal val="visible"/>
                                      </p:to>
                                    </p:set>
                                    <p:anim calcmode="lin" valueType="num">
                                      <p:cBhvr additive="base">
                                        <p:cTn id="15" dur="500" fill="hold"/>
                                        <p:tgtEl>
                                          <p:spTgt spid="55705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5705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57059">
                                            <p:txEl>
                                              <p:pRg st="3" end="3"/>
                                            </p:txEl>
                                          </p:spTgt>
                                        </p:tgtEl>
                                        <p:attrNameLst>
                                          <p:attrName>style.visibility</p:attrName>
                                        </p:attrNameLst>
                                      </p:cBhvr>
                                      <p:to>
                                        <p:strVal val="visible"/>
                                      </p:to>
                                    </p:set>
                                    <p:anim calcmode="lin" valueType="num">
                                      <p:cBhvr additive="base">
                                        <p:cTn id="19" dur="500" fill="hold"/>
                                        <p:tgtEl>
                                          <p:spTgt spid="55705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5705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57059">
                                            <p:txEl>
                                              <p:pRg st="4" end="4"/>
                                            </p:txEl>
                                          </p:spTgt>
                                        </p:tgtEl>
                                        <p:attrNameLst>
                                          <p:attrName>style.visibility</p:attrName>
                                        </p:attrNameLst>
                                      </p:cBhvr>
                                      <p:to>
                                        <p:strVal val="visible"/>
                                      </p:to>
                                    </p:set>
                                    <p:anim calcmode="lin" valueType="num">
                                      <p:cBhvr additive="base">
                                        <p:cTn id="23" dur="500" fill="hold"/>
                                        <p:tgtEl>
                                          <p:spTgt spid="55705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5705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9"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6B253121-A3EF-B5C2-2C0C-918D0B5B5894}"/>
              </a:ext>
            </a:extLst>
          </p:cNvPr>
          <p:cNvSpPr>
            <a:spLocks noGrp="1" noChangeArrowheads="1"/>
          </p:cNvSpPr>
          <p:nvPr>
            <p:ph type="title"/>
          </p:nvPr>
        </p:nvSpPr>
        <p:spPr/>
        <p:txBody>
          <a:bodyPr/>
          <a:lstStyle/>
          <a:p>
            <a:pPr eaLnBrk="1" hangingPunct="1"/>
            <a:r>
              <a:rPr lang="zh-CN" altLang="en-US" sz="4000" b="1">
                <a:latin typeface="宋体" panose="02010600030101010101" pitchFamily="2" charset="-122"/>
              </a:rPr>
              <a:t>指向数组元素的指针与数组元素位置之间的关系 </a:t>
            </a:r>
            <a:r>
              <a:rPr lang="en-US" altLang="zh-CN" sz="4000">
                <a:solidFill>
                  <a:schemeClr val="tx1"/>
                </a:solidFill>
              </a:rPr>
              <a:t>(P.140)</a:t>
            </a:r>
          </a:p>
        </p:txBody>
      </p:sp>
      <p:sp>
        <p:nvSpPr>
          <p:cNvPr id="32771" name="Rectangle 3">
            <a:extLst>
              <a:ext uri="{FF2B5EF4-FFF2-40B4-BE49-F238E27FC236}">
                <a16:creationId xmlns:a16="http://schemas.microsoft.com/office/drawing/2014/main" id="{51025827-133C-2E8E-D0E7-0B0F22A041AA}"/>
              </a:ext>
            </a:extLst>
          </p:cNvPr>
          <p:cNvSpPr>
            <a:spLocks noGrp="1" noChangeArrowheads="1"/>
          </p:cNvSpPr>
          <p:nvPr>
            <p:ph type="body" idx="1"/>
          </p:nvPr>
        </p:nvSpPr>
        <p:spPr>
          <a:xfrm>
            <a:off x="539750" y="2017713"/>
            <a:ext cx="8415338" cy="4114800"/>
          </a:xfrm>
        </p:spPr>
        <p:txBody>
          <a:bodyPr/>
          <a:lstStyle/>
          <a:p>
            <a:pPr algn="just" eaLnBrk="1" hangingPunct="1">
              <a:lnSpc>
                <a:spcPct val="80000"/>
              </a:lnSpc>
            </a:pPr>
            <a:r>
              <a:rPr lang="zh-CN" altLang="en-US" sz="2400">
                <a:latin typeface="宋体" panose="02010600030101010101" pitchFamily="2" charset="-122"/>
              </a:rPr>
              <a:t>数组名表达式和指向数组元素指针表达式与数组元素的位置关系可用下图来示意：</a:t>
            </a:r>
            <a:endParaRPr lang="zh-CN" altLang="en-US" sz="2000">
              <a:latin typeface="宋体" panose="02010600030101010101" pitchFamily="2" charset="-122"/>
            </a:endParaRPr>
          </a:p>
          <a:p>
            <a:pPr algn="just" eaLnBrk="1" hangingPunct="1">
              <a:lnSpc>
                <a:spcPct val="80000"/>
              </a:lnSpc>
              <a:buFont typeface="Wingdings" pitchFamily="2" charset="2"/>
              <a:buNone/>
            </a:pPr>
            <a:r>
              <a:rPr lang="zh-CN" altLang="en-US" sz="2000" b="1">
                <a:latin typeface="宋体" panose="02010600030101010101" pitchFamily="2" charset="-122"/>
              </a:rPr>
              <a:t>  </a:t>
            </a:r>
            <a:r>
              <a:rPr lang="en-US" altLang="zh-CN" sz="2000" b="1">
                <a:latin typeface="宋体" panose="02010600030101010101" pitchFamily="2" charset="-122"/>
              </a:rPr>
              <a:t>int a[8];</a:t>
            </a:r>
          </a:p>
          <a:p>
            <a:pPr algn="just" eaLnBrk="1" hangingPunct="1">
              <a:lnSpc>
                <a:spcPct val="80000"/>
              </a:lnSpc>
              <a:buFont typeface="Wingdings" pitchFamily="2" charset="2"/>
              <a:buNone/>
            </a:pPr>
            <a:r>
              <a:rPr lang="en-US" altLang="zh-CN" sz="2000" b="1">
                <a:latin typeface="宋体" panose="02010600030101010101" pitchFamily="2" charset="-122"/>
              </a:rPr>
              <a:t>  </a:t>
            </a:r>
            <a:r>
              <a:rPr lang="en-US" altLang="zh-CN" sz="2000" b="1">
                <a:solidFill>
                  <a:srgbClr val="CC0000"/>
                </a:solidFill>
                <a:latin typeface="宋体" panose="02010600030101010101" pitchFamily="2" charset="-122"/>
              </a:rPr>
              <a:t>int *p = a + 1;</a:t>
            </a:r>
            <a:r>
              <a:rPr lang="en-US" altLang="zh-CN" sz="2000" b="1">
                <a:latin typeface="宋体" panose="02010600030101010101" pitchFamily="2" charset="-122"/>
              </a:rPr>
              <a:t> </a:t>
            </a:r>
            <a:r>
              <a:rPr lang="zh-CN" altLang="en-US" sz="2000" b="1">
                <a:latin typeface="宋体" panose="02010600030101010101" pitchFamily="2" charset="-122"/>
              </a:rPr>
              <a:t>等价于 </a:t>
            </a:r>
            <a:r>
              <a:rPr lang="en-US" altLang="zh-CN" sz="2000" b="1">
                <a:latin typeface="宋体" panose="02010600030101010101" pitchFamily="2" charset="-122"/>
              </a:rPr>
              <a:t>int *p; p=a+1;</a:t>
            </a:r>
          </a:p>
          <a:p>
            <a:pPr algn="just" eaLnBrk="1" hangingPunct="1">
              <a:lnSpc>
                <a:spcPct val="80000"/>
              </a:lnSpc>
              <a:buFont typeface="Wingdings" pitchFamily="2" charset="2"/>
              <a:buNone/>
            </a:pPr>
            <a:r>
              <a:rPr lang="en-US" altLang="zh-CN" sz="2000" b="1">
                <a:latin typeface="宋体" panose="02010600030101010101" pitchFamily="2" charset="-122"/>
              </a:rPr>
              <a:t>         </a:t>
            </a:r>
          </a:p>
          <a:p>
            <a:pPr algn="just" eaLnBrk="1" hangingPunct="1">
              <a:lnSpc>
                <a:spcPct val="80000"/>
              </a:lnSpc>
              <a:buFont typeface="Wingdings" pitchFamily="2" charset="2"/>
              <a:buNone/>
            </a:pPr>
            <a:r>
              <a:rPr lang="en-US" altLang="zh-CN" sz="2000" b="1">
                <a:latin typeface="宋体" panose="02010600030101010101" pitchFamily="2" charset="-122"/>
              </a:rPr>
              <a:t>      a                    0</a:t>
            </a:r>
          </a:p>
          <a:p>
            <a:pPr algn="just" eaLnBrk="1" hangingPunct="1">
              <a:lnSpc>
                <a:spcPct val="80000"/>
              </a:lnSpc>
              <a:buFont typeface="Wingdings" pitchFamily="2" charset="2"/>
              <a:buNone/>
            </a:pPr>
            <a:r>
              <a:rPr lang="en-US" altLang="zh-CN" sz="2000" b="1">
                <a:latin typeface="宋体" panose="02010600030101010101" pitchFamily="2" charset="-122"/>
              </a:rPr>
              <a:t>                           1                   p   </a:t>
            </a:r>
          </a:p>
          <a:p>
            <a:pPr algn="just" eaLnBrk="1" hangingPunct="1">
              <a:lnSpc>
                <a:spcPct val="80000"/>
              </a:lnSpc>
              <a:buFont typeface="Wingdings" pitchFamily="2" charset="2"/>
              <a:buNone/>
            </a:pPr>
            <a:endParaRPr lang="en-US" altLang="zh-CN" sz="2000" b="1">
              <a:latin typeface="宋体" panose="02010600030101010101" pitchFamily="2" charset="-122"/>
            </a:endParaRPr>
          </a:p>
          <a:p>
            <a:pPr algn="just" eaLnBrk="1" hangingPunct="1">
              <a:lnSpc>
                <a:spcPct val="80000"/>
              </a:lnSpc>
              <a:buFont typeface="Wingdings" pitchFamily="2" charset="2"/>
              <a:buNone/>
            </a:pPr>
            <a:endParaRPr lang="en-US" altLang="zh-CN" sz="2000" b="1">
              <a:latin typeface="宋体" panose="02010600030101010101" pitchFamily="2" charset="-122"/>
            </a:endParaRPr>
          </a:p>
          <a:p>
            <a:pPr algn="just" eaLnBrk="1" hangingPunct="1">
              <a:lnSpc>
                <a:spcPct val="80000"/>
              </a:lnSpc>
              <a:buFont typeface="Wingdings" pitchFamily="2" charset="2"/>
              <a:buNone/>
            </a:pPr>
            <a:r>
              <a:rPr lang="en-US" altLang="zh-CN" sz="2000" b="1">
                <a:latin typeface="宋体" panose="02010600030101010101" pitchFamily="2" charset="-122"/>
              </a:rPr>
              <a:t>  a + i                    i </a:t>
            </a:r>
          </a:p>
          <a:p>
            <a:pPr algn="just" eaLnBrk="1" hangingPunct="1">
              <a:lnSpc>
                <a:spcPct val="80000"/>
              </a:lnSpc>
              <a:buFont typeface="Wingdings" pitchFamily="2" charset="2"/>
              <a:buNone/>
            </a:pPr>
            <a:r>
              <a:rPr lang="en-US" altLang="zh-CN" sz="2000" b="1">
                <a:latin typeface="宋体" panose="02010600030101010101" pitchFamily="2" charset="-122"/>
              </a:rPr>
              <a:t>                                               p+i</a:t>
            </a:r>
            <a:r>
              <a:rPr lang="zh-CN" altLang="en-US" sz="2000" b="1">
                <a:latin typeface="宋体" panose="02010600030101010101" pitchFamily="2" charset="-122"/>
              </a:rPr>
              <a:t>（</a:t>
            </a:r>
            <a:r>
              <a:rPr lang="en-US" altLang="zh-CN" sz="2000" b="1">
                <a:latin typeface="宋体" panose="02010600030101010101" pitchFamily="2" charset="-122"/>
              </a:rPr>
              <a:t>=a+1+i</a:t>
            </a:r>
            <a:r>
              <a:rPr lang="zh-CN" altLang="en-US" sz="2000" b="1">
                <a:latin typeface="宋体" panose="02010600030101010101" pitchFamily="2" charset="-122"/>
              </a:rPr>
              <a:t>）</a:t>
            </a:r>
          </a:p>
          <a:p>
            <a:pPr algn="just" eaLnBrk="1" hangingPunct="1">
              <a:lnSpc>
                <a:spcPct val="80000"/>
              </a:lnSpc>
              <a:buFont typeface="Wingdings" pitchFamily="2" charset="2"/>
              <a:buNone/>
            </a:pPr>
            <a:r>
              <a:rPr lang="zh-CN" altLang="en-US" sz="2000" b="1">
                <a:latin typeface="宋体" panose="02010600030101010101" pitchFamily="2" charset="-122"/>
              </a:rPr>
              <a:t>                             </a:t>
            </a:r>
          </a:p>
          <a:p>
            <a:pPr algn="ctr" eaLnBrk="1" hangingPunct="1">
              <a:lnSpc>
                <a:spcPct val="80000"/>
              </a:lnSpc>
              <a:buFont typeface="Wingdings" pitchFamily="2" charset="2"/>
              <a:buNone/>
            </a:pPr>
            <a:endParaRPr lang="zh-CN" altLang="en-US" sz="2000" b="1">
              <a:latin typeface="宋体" panose="02010600030101010101" pitchFamily="2" charset="-122"/>
            </a:endParaRPr>
          </a:p>
          <a:p>
            <a:pPr algn="ctr" eaLnBrk="1" hangingPunct="1">
              <a:lnSpc>
                <a:spcPct val="80000"/>
              </a:lnSpc>
              <a:buFont typeface="Wingdings" pitchFamily="2" charset="2"/>
              <a:buNone/>
            </a:pPr>
            <a:endParaRPr lang="zh-CN" altLang="en-US" sz="2000" b="1">
              <a:latin typeface="宋体" panose="02010600030101010101" pitchFamily="2" charset="-122"/>
            </a:endParaRPr>
          </a:p>
          <a:p>
            <a:pPr algn="ctr" eaLnBrk="1" hangingPunct="1">
              <a:lnSpc>
                <a:spcPct val="80000"/>
              </a:lnSpc>
              <a:buFont typeface="Wingdings" pitchFamily="2" charset="2"/>
              <a:buNone/>
            </a:pPr>
            <a:r>
              <a:rPr lang="zh-CN" altLang="en-US" sz="2000">
                <a:latin typeface="宋体" panose="02010600030101010101" pitchFamily="2" charset="-122"/>
              </a:rPr>
              <a:t>指向数组元素的指针与数组元素位置之间的关系</a:t>
            </a:r>
          </a:p>
        </p:txBody>
      </p:sp>
      <p:grpSp>
        <p:nvGrpSpPr>
          <p:cNvPr id="32772" name="Group 4">
            <a:extLst>
              <a:ext uri="{FF2B5EF4-FFF2-40B4-BE49-F238E27FC236}">
                <a16:creationId xmlns:a16="http://schemas.microsoft.com/office/drawing/2014/main" id="{E8FD6F12-6812-BA3D-B388-33B217D9480D}"/>
              </a:ext>
            </a:extLst>
          </p:cNvPr>
          <p:cNvGrpSpPr>
            <a:grpSpLocks/>
          </p:cNvGrpSpPr>
          <p:nvPr/>
        </p:nvGrpSpPr>
        <p:grpSpPr bwMode="auto">
          <a:xfrm>
            <a:off x="1979613" y="3644900"/>
            <a:ext cx="4572000" cy="2133600"/>
            <a:chOff x="1296" y="1632"/>
            <a:chExt cx="2880" cy="1344"/>
          </a:xfrm>
        </p:grpSpPr>
        <p:sp>
          <p:nvSpPr>
            <p:cNvPr id="32773" name="Line 5">
              <a:extLst>
                <a:ext uri="{FF2B5EF4-FFF2-40B4-BE49-F238E27FC236}">
                  <a16:creationId xmlns:a16="http://schemas.microsoft.com/office/drawing/2014/main" id="{2C39771A-E310-D5BA-B1C1-DAD9A288C442}"/>
                </a:ext>
              </a:extLst>
            </p:cNvPr>
            <p:cNvSpPr>
              <a:spLocks noChangeShapeType="1"/>
            </p:cNvSpPr>
            <p:nvPr/>
          </p:nvSpPr>
          <p:spPr bwMode="auto">
            <a:xfrm>
              <a:off x="1296" y="1632"/>
              <a:ext cx="14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74" name="Line 6">
              <a:extLst>
                <a:ext uri="{FF2B5EF4-FFF2-40B4-BE49-F238E27FC236}">
                  <a16:creationId xmlns:a16="http://schemas.microsoft.com/office/drawing/2014/main" id="{DA217D17-953D-6B5B-06BB-D94AE23B85BB}"/>
                </a:ext>
              </a:extLst>
            </p:cNvPr>
            <p:cNvSpPr>
              <a:spLocks noChangeShapeType="1"/>
            </p:cNvSpPr>
            <p:nvPr/>
          </p:nvSpPr>
          <p:spPr bwMode="auto">
            <a:xfrm>
              <a:off x="1296" y="1632"/>
              <a:ext cx="0" cy="13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75" name="Line 7">
              <a:extLst>
                <a:ext uri="{FF2B5EF4-FFF2-40B4-BE49-F238E27FC236}">
                  <a16:creationId xmlns:a16="http://schemas.microsoft.com/office/drawing/2014/main" id="{44B00535-CE95-A32A-3EEB-B7EC9C9BE69C}"/>
                </a:ext>
              </a:extLst>
            </p:cNvPr>
            <p:cNvSpPr>
              <a:spLocks noChangeShapeType="1"/>
            </p:cNvSpPr>
            <p:nvPr/>
          </p:nvSpPr>
          <p:spPr bwMode="auto">
            <a:xfrm>
              <a:off x="1296" y="2976"/>
              <a:ext cx="14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76" name="Line 8">
              <a:extLst>
                <a:ext uri="{FF2B5EF4-FFF2-40B4-BE49-F238E27FC236}">
                  <a16:creationId xmlns:a16="http://schemas.microsoft.com/office/drawing/2014/main" id="{E140334A-A797-D01D-1B87-6BF84DF05D09}"/>
                </a:ext>
              </a:extLst>
            </p:cNvPr>
            <p:cNvSpPr>
              <a:spLocks noChangeShapeType="1"/>
            </p:cNvSpPr>
            <p:nvPr/>
          </p:nvSpPr>
          <p:spPr bwMode="auto">
            <a:xfrm>
              <a:off x="2784" y="1632"/>
              <a:ext cx="0" cy="13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77" name="Line 9">
              <a:extLst>
                <a:ext uri="{FF2B5EF4-FFF2-40B4-BE49-F238E27FC236}">
                  <a16:creationId xmlns:a16="http://schemas.microsoft.com/office/drawing/2014/main" id="{42C23621-ACA0-A48F-5A0E-2DE567923C41}"/>
                </a:ext>
              </a:extLst>
            </p:cNvPr>
            <p:cNvSpPr>
              <a:spLocks noChangeShapeType="1"/>
            </p:cNvSpPr>
            <p:nvPr/>
          </p:nvSpPr>
          <p:spPr bwMode="auto">
            <a:xfrm>
              <a:off x="1296" y="1824"/>
              <a:ext cx="14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78" name="Line 10">
              <a:extLst>
                <a:ext uri="{FF2B5EF4-FFF2-40B4-BE49-F238E27FC236}">
                  <a16:creationId xmlns:a16="http://schemas.microsoft.com/office/drawing/2014/main" id="{75781BED-D558-2582-F4A7-FD9179C74B31}"/>
                </a:ext>
              </a:extLst>
            </p:cNvPr>
            <p:cNvSpPr>
              <a:spLocks noChangeShapeType="1"/>
            </p:cNvSpPr>
            <p:nvPr/>
          </p:nvSpPr>
          <p:spPr bwMode="auto">
            <a:xfrm>
              <a:off x="1296" y="2784"/>
              <a:ext cx="14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79" name="Line 11">
              <a:extLst>
                <a:ext uri="{FF2B5EF4-FFF2-40B4-BE49-F238E27FC236}">
                  <a16:creationId xmlns:a16="http://schemas.microsoft.com/office/drawing/2014/main" id="{EAF38AAD-E3CA-5E1E-DF65-4FF296522BB7}"/>
                </a:ext>
              </a:extLst>
            </p:cNvPr>
            <p:cNvSpPr>
              <a:spLocks noChangeShapeType="1"/>
            </p:cNvSpPr>
            <p:nvPr/>
          </p:nvSpPr>
          <p:spPr bwMode="auto">
            <a:xfrm>
              <a:off x="1296" y="2400"/>
              <a:ext cx="14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80" name="Line 12">
              <a:extLst>
                <a:ext uri="{FF2B5EF4-FFF2-40B4-BE49-F238E27FC236}">
                  <a16:creationId xmlns:a16="http://schemas.microsoft.com/office/drawing/2014/main" id="{006DAE59-39AF-1870-2F6B-C5EE89A9B6FA}"/>
                </a:ext>
              </a:extLst>
            </p:cNvPr>
            <p:cNvSpPr>
              <a:spLocks noChangeShapeType="1"/>
            </p:cNvSpPr>
            <p:nvPr/>
          </p:nvSpPr>
          <p:spPr bwMode="auto">
            <a:xfrm>
              <a:off x="1296" y="2592"/>
              <a:ext cx="14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81" name="Line 13">
              <a:extLst>
                <a:ext uri="{FF2B5EF4-FFF2-40B4-BE49-F238E27FC236}">
                  <a16:creationId xmlns:a16="http://schemas.microsoft.com/office/drawing/2014/main" id="{42DE8B0C-1CDB-77B9-D562-5EBAF7390780}"/>
                </a:ext>
              </a:extLst>
            </p:cNvPr>
            <p:cNvSpPr>
              <a:spLocks noChangeShapeType="1"/>
            </p:cNvSpPr>
            <p:nvPr/>
          </p:nvSpPr>
          <p:spPr bwMode="auto">
            <a:xfrm>
              <a:off x="1296" y="2016"/>
              <a:ext cx="14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82" name="Line 14">
              <a:extLst>
                <a:ext uri="{FF2B5EF4-FFF2-40B4-BE49-F238E27FC236}">
                  <a16:creationId xmlns:a16="http://schemas.microsoft.com/office/drawing/2014/main" id="{F43A730C-0D97-2C66-0423-484F213E8AE5}"/>
                </a:ext>
              </a:extLst>
            </p:cNvPr>
            <p:cNvSpPr>
              <a:spLocks noChangeShapeType="1"/>
            </p:cNvSpPr>
            <p:nvPr/>
          </p:nvSpPr>
          <p:spPr bwMode="auto">
            <a:xfrm>
              <a:off x="1296" y="2208"/>
              <a:ext cx="14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83" name="Line 15">
              <a:extLst>
                <a:ext uri="{FF2B5EF4-FFF2-40B4-BE49-F238E27FC236}">
                  <a16:creationId xmlns:a16="http://schemas.microsoft.com/office/drawing/2014/main" id="{972C46FD-ECFD-C2C7-FE0B-C291F0C10AA7}"/>
                </a:ext>
              </a:extLst>
            </p:cNvPr>
            <p:cNvSpPr>
              <a:spLocks noChangeShapeType="1"/>
            </p:cNvSpPr>
            <p:nvPr/>
          </p:nvSpPr>
          <p:spPr bwMode="auto">
            <a:xfrm flipH="1">
              <a:off x="2832" y="1920"/>
              <a:ext cx="13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84" name="Line 16">
              <a:extLst>
                <a:ext uri="{FF2B5EF4-FFF2-40B4-BE49-F238E27FC236}">
                  <a16:creationId xmlns:a16="http://schemas.microsoft.com/office/drawing/2014/main" id="{11E080E3-9FD1-FAFD-6F59-FD44B9622FC0}"/>
                </a:ext>
              </a:extLst>
            </p:cNvPr>
            <p:cNvSpPr>
              <a:spLocks noChangeShapeType="1"/>
            </p:cNvSpPr>
            <p:nvPr/>
          </p:nvSpPr>
          <p:spPr bwMode="auto">
            <a:xfrm>
              <a:off x="4176" y="1920"/>
              <a:ext cx="0" cy="7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2785" name="Line 17">
              <a:extLst>
                <a:ext uri="{FF2B5EF4-FFF2-40B4-BE49-F238E27FC236}">
                  <a16:creationId xmlns:a16="http://schemas.microsoft.com/office/drawing/2014/main" id="{1B15C7A6-64D4-1782-586F-3ABD772056C3}"/>
                </a:ext>
              </a:extLst>
            </p:cNvPr>
            <p:cNvSpPr>
              <a:spLocks noChangeShapeType="1"/>
            </p:cNvSpPr>
            <p:nvPr/>
          </p:nvSpPr>
          <p:spPr bwMode="auto">
            <a:xfrm flipH="1">
              <a:off x="2832" y="2640"/>
              <a:ext cx="13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815E1CB-5B05-23E7-3447-9A863DC8B2D0}"/>
              </a:ext>
            </a:extLst>
          </p:cNvPr>
          <p:cNvSpPr>
            <a:spLocks noGrp="1" noChangeArrowheads="1"/>
          </p:cNvSpPr>
          <p:nvPr>
            <p:ph type="title"/>
          </p:nvPr>
        </p:nvSpPr>
        <p:spPr/>
        <p:txBody>
          <a:bodyPr/>
          <a:lstStyle/>
          <a:p>
            <a:pPr eaLnBrk="1" hangingPunct="1"/>
            <a:r>
              <a:rPr lang="zh-CN" altLang="en-US"/>
              <a:t>引用数组元素的三种形式</a:t>
            </a:r>
          </a:p>
        </p:txBody>
      </p:sp>
      <p:sp>
        <p:nvSpPr>
          <p:cNvPr id="559107" name="Rectangle 3">
            <a:extLst>
              <a:ext uri="{FF2B5EF4-FFF2-40B4-BE49-F238E27FC236}">
                <a16:creationId xmlns:a16="http://schemas.microsoft.com/office/drawing/2014/main" id="{0755FBD3-2723-167D-25C3-82A188939D1E}"/>
              </a:ext>
            </a:extLst>
          </p:cNvPr>
          <p:cNvSpPr>
            <a:spLocks noGrp="1" noChangeArrowheads="1"/>
          </p:cNvSpPr>
          <p:nvPr>
            <p:ph type="body" idx="1"/>
          </p:nvPr>
        </p:nvSpPr>
        <p:spPr>
          <a:xfrm>
            <a:off x="1182688" y="2017713"/>
            <a:ext cx="7493768" cy="4114800"/>
          </a:xfrm>
        </p:spPr>
        <p:txBody>
          <a:bodyPr/>
          <a:lstStyle/>
          <a:p>
            <a:pPr marL="533400" indent="-533400" algn="just" eaLnBrk="1" hangingPunct="1">
              <a:lnSpc>
                <a:spcPct val="150000"/>
              </a:lnSpc>
              <a:spcAft>
                <a:spcPts val="600"/>
              </a:spcAft>
              <a:buSzPct val="100000"/>
              <a:buFont typeface="+mj-ea"/>
              <a:buAutoNum type="circleNumDbPlain"/>
            </a:pPr>
            <a:r>
              <a:rPr lang="zh-CN" altLang="en-US" sz="1800"/>
              <a:t>用数组元素的</a:t>
            </a:r>
            <a:r>
              <a:rPr lang="zh-CN" altLang="en-US" sz="1800">
                <a:solidFill>
                  <a:srgbClr val="0070C0"/>
                </a:solidFill>
              </a:rPr>
              <a:t>下标</a:t>
            </a:r>
            <a:r>
              <a:rPr lang="zh-CN" altLang="en-US" sz="1800"/>
              <a:t>引用数组元素，如</a:t>
            </a:r>
            <a:r>
              <a:rPr lang="en-US" altLang="zh-CN" sz="1800">
                <a:solidFill>
                  <a:srgbClr val="0070C0"/>
                </a:solidFill>
              </a:rPr>
              <a:t>a[5]</a:t>
            </a:r>
            <a:r>
              <a:rPr lang="zh-CN" altLang="en-US" sz="1800"/>
              <a:t>。</a:t>
            </a:r>
          </a:p>
          <a:p>
            <a:pPr marL="533400" indent="-533400" algn="just" eaLnBrk="1" hangingPunct="1">
              <a:lnSpc>
                <a:spcPct val="150000"/>
              </a:lnSpc>
              <a:spcAft>
                <a:spcPts val="600"/>
              </a:spcAft>
              <a:buSzPct val="100000"/>
              <a:buFont typeface="+mj-ea"/>
              <a:buAutoNum type="circleNumDbPlain"/>
            </a:pPr>
            <a:r>
              <a:rPr lang="zh-CN" altLang="en-US" sz="1800"/>
              <a:t>利用</a:t>
            </a:r>
            <a:r>
              <a:rPr lang="zh-CN" altLang="en-US" sz="1800">
                <a:solidFill>
                  <a:srgbClr val="0070C0"/>
                </a:solidFill>
              </a:rPr>
              <a:t>数组名表达式</a:t>
            </a:r>
            <a:r>
              <a:rPr lang="zh-CN" altLang="en-US" sz="1800"/>
              <a:t>的值是数组首元素指针的约定，以指针表达式引用表达式所指的元素，如</a:t>
            </a:r>
            <a:r>
              <a:rPr lang="zh-CN" altLang="en-US" sz="1800">
                <a:solidFill>
                  <a:srgbClr val="0070C0"/>
                </a:solidFill>
              </a:rPr>
              <a:t>*</a:t>
            </a:r>
            <a:r>
              <a:rPr lang="en-US" altLang="zh-CN" sz="1800">
                <a:solidFill>
                  <a:srgbClr val="0070C0"/>
                </a:solidFill>
              </a:rPr>
              <a:t>(a+i)</a:t>
            </a:r>
            <a:r>
              <a:rPr lang="zh-CN" altLang="en-US" sz="1800"/>
              <a:t>。</a:t>
            </a:r>
          </a:p>
          <a:p>
            <a:pPr marL="533400" indent="-533400" algn="just" eaLnBrk="1" hangingPunct="1">
              <a:lnSpc>
                <a:spcPct val="150000"/>
              </a:lnSpc>
              <a:spcAft>
                <a:spcPts val="600"/>
              </a:spcAft>
              <a:buSzPct val="100000"/>
              <a:buFont typeface="+mj-ea"/>
              <a:buAutoNum type="circleNumDbPlain"/>
            </a:pPr>
            <a:r>
              <a:rPr lang="zh-CN" altLang="en-US" sz="1800"/>
              <a:t>利用指向数组元素的</a:t>
            </a:r>
            <a:r>
              <a:rPr lang="zh-CN" altLang="en-US" sz="1800">
                <a:solidFill>
                  <a:srgbClr val="0070C0"/>
                </a:solidFill>
              </a:rPr>
              <a:t>指针变量</a:t>
            </a:r>
            <a:r>
              <a:rPr lang="zh-CN" altLang="en-US" sz="1800"/>
              <a:t>，用它构成指向数组元素的指针表达式，并用该表达式引用数组元素。如</a:t>
            </a:r>
            <a:r>
              <a:rPr lang="zh-CN" altLang="en-US" sz="1800">
                <a:solidFill>
                  <a:srgbClr val="0070C0"/>
                </a:solidFill>
              </a:rPr>
              <a:t>*</a:t>
            </a:r>
            <a:r>
              <a:rPr lang="en-US" altLang="zh-CN" sz="1800">
                <a:solidFill>
                  <a:srgbClr val="0070C0"/>
                </a:solidFill>
              </a:rPr>
              <a:t>(p+i)</a:t>
            </a:r>
            <a:r>
              <a:rPr lang="zh-CN" altLang="en-US" sz="1800"/>
              <a:t>或</a:t>
            </a:r>
            <a:r>
              <a:rPr lang="en-US" altLang="zh-CN" sz="1800">
                <a:solidFill>
                  <a:srgbClr val="0070C0"/>
                </a:solidFill>
              </a:rPr>
              <a:t>p[i]</a:t>
            </a:r>
            <a:r>
              <a:rPr lang="zh-CN" altLang="en-US" sz="1800"/>
              <a:t>。</a:t>
            </a:r>
          </a:p>
          <a:p>
            <a:pPr marL="533400" indent="-533400" algn="just" eaLnBrk="1" hangingPunct="1">
              <a:lnSpc>
                <a:spcPct val="150000"/>
              </a:lnSpc>
              <a:spcAft>
                <a:spcPts val="600"/>
              </a:spcAft>
            </a:pPr>
            <a:r>
              <a:rPr lang="zh-CN" altLang="en-US" sz="1800">
                <a:solidFill>
                  <a:srgbClr val="C00000"/>
                </a:solidFill>
              </a:rPr>
              <a:t>用数组名</a:t>
            </a:r>
            <a:r>
              <a:rPr lang="en-US" altLang="zh-CN" sz="1800">
                <a:solidFill>
                  <a:srgbClr val="C00000"/>
                </a:solidFill>
              </a:rPr>
              <a:t>a</a:t>
            </a:r>
            <a:r>
              <a:rPr lang="zh-CN" altLang="en-US" sz="1800">
                <a:solidFill>
                  <a:srgbClr val="C00000"/>
                </a:solidFill>
              </a:rPr>
              <a:t>表达数组元素指针与用指向数组元素的指针</a:t>
            </a:r>
            <a:r>
              <a:rPr lang="en-US" altLang="zh-CN" sz="1800">
                <a:solidFill>
                  <a:srgbClr val="C00000"/>
                </a:solidFill>
              </a:rPr>
              <a:t>p</a:t>
            </a:r>
            <a:r>
              <a:rPr lang="zh-CN" altLang="en-US" sz="1800">
                <a:solidFill>
                  <a:srgbClr val="C00000"/>
                </a:solidFill>
              </a:rPr>
              <a:t>来表达，在实际应用上有区别：</a:t>
            </a:r>
          </a:p>
          <a:p>
            <a:pPr marL="914400" lvl="1" indent="-457200" algn="just" eaLnBrk="1" hangingPunct="1">
              <a:lnSpc>
                <a:spcPct val="150000"/>
              </a:lnSpc>
              <a:spcAft>
                <a:spcPts val="600"/>
              </a:spcAft>
            </a:pPr>
            <a:r>
              <a:rPr lang="en-US" altLang="zh-CN" sz="1600"/>
              <a:t>p</a:t>
            </a:r>
            <a:r>
              <a:rPr lang="zh-CN" altLang="en-US" sz="1600"/>
              <a:t> 是</a:t>
            </a:r>
            <a:r>
              <a:rPr lang="zh-CN" altLang="en-US" sz="1600">
                <a:solidFill>
                  <a:srgbClr val="0070C0"/>
                </a:solidFill>
              </a:rPr>
              <a:t>变量</a:t>
            </a:r>
            <a:r>
              <a:rPr lang="zh-CN" altLang="en-US" sz="1600"/>
              <a:t>，其值可改变，如</a:t>
            </a:r>
            <a:r>
              <a:rPr lang="en-US" altLang="zh-CN" sz="1600"/>
              <a:t>p++</a:t>
            </a:r>
            <a:r>
              <a:rPr lang="zh-CN" altLang="en-US" sz="1600"/>
              <a:t>；</a:t>
            </a:r>
          </a:p>
          <a:p>
            <a:pPr marL="914400" lvl="1" indent="-457200" algn="just" eaLnBrk="1" hangingPunct="1">
              <a:lnSpc>
                <a:spcPct val="150000"/>
              </a:lnSpc>
              <a:spcAft>
                <a:spcPts val="600"/>
              </a:spcAft>
            </a:pPr>
            <a:r>
              <a:rPr lang="zh-CN" altLang="en-US" sz="1600">
                <a:solidFill>
                  <a:srgbClr val="0070C0"/>
                </a:solidFill>
              </a:rPr>
              <a:t>数组名 </a:t>
            </a:r>
            <a:r>
              <a:rPr lang="en-US" altLang="zh-CN" sz="1600">
                <a:solidFill>
                  <a:srgbClr val="0070C0"/>
                </a:solidFill>
              </a:rPr>
              <a:t>a</a:t>
            </a:r>
            <a:r>
              <a:rPr lang="zh-CN" altLang="en-US" sz="1600">
                <a:solidFill>
                  <a:srgbClr val="0070C0"/>
                </a:solidFill>
              </a:rPr>
              <a:t> </a:t>
            </a:r>
            <a:r>
              <a:rPr lang="zh-CN" altLang="en-US" sz="1600"/>
              <a:t>只代表数组</a:t>
            </a:r>
            <a:r>
              <a:rPr lang="en-US" altLang="zh-CN" sz="1600"/>
              <a:t>a</a:t>
            </a:r>
            <a:r>
              <a:rPr lang="zh-CN" altLang="en-US" sz="1600"/>
              <a:t>的首元素的指针，是不可改变的，程序</a:t>
            </a:r>
            <a:r>
              <a:rPr lang="zh-CN" altLang="en-US" sz="1600">
                <a:solidFill>
                  <a:srgbClr val="0070C0"/>
                </a:solidFill>
              </a:rPr>
              <a:t>只能把它作为常量使用</a:t>
            </a:r>
            <a:r>
              <a:rPr lang="zh-CN" altLang="en-US" sz="16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9107">
                                            <p:txEl>
                                              <p:pRg st="0" end="0"/>
                                            </p:txEl>
                                          </p:spTgt>
                                        </p:tgtEl>
                                        <p:attrNameLst>
                                          <p:attrName>style.visibility</p:attrName>
                                        </p:attrNameLst>
                                      </p:cBhvr>
                                      <p:to>
                                        <p:strVal val="visible"/>
                                      </p:to>
                                    </p:set>
                                    <p:anim calcmode="lin" valueType="num">
                                      <p:cBhvr additive="base">
                                        <p:cTn id="7" dur="500" fill="hold"/>
                                        <p:tgtEl>
                                          <p:spTgt spid="5591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910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59107">
                                            <p:txEl>
                                              <p:pRg st="1" end="1"/>
                                            </p:txEl>
                                          </p:spTgt>
                                        </p:tgtEl>
                                        <p:attrNameLst>
                                          <p:attrName>style.visibility</p:attrName>
                                        </p:attrNameLst>
                                      </p:cBhvr>
                                      <p:to>
                                        <p:strVal val="visible"/>
                                      </p:to>
                                    </p:set>
                                    <p:anim calcmode="lin" valueType="num">
                                      <p:cBhvr additive="base">
                                        <p:cTn id="13" dur="500" fill="hold"/>
                                        <p:tgtEl>
                                          <p:spTgt spid="5591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5910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59107">
                                            <p:txEl>
                                              <p:pRg st="2" end="2"/>
                                            </p:txEl>
                                          </p:spTgt>
                                        </p:tgtEl>
                                        <p:attrNameLst>
                                          <p:attrName>style.visibility</p:attrName>
                                        </p:attrNameLst>
                                      </p:cBhvr>
                                      <p:to>
                                        <p:strVal val="visible"/>
                                      </p:to>
                                    </p:set>
                                    <p:anim calcmode="lin" valueType="num">
                                      <p:cBhvr additive="base">
                                        <p:cTn id="19" dur="500" fill="hold"/>
                                        <p:tgtEl>
                                          <p:spTgt spid="55910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5910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59107">
                                            <p:txEl>
                                              <p:pRg st="3" end="3"/>
                                            </p:txEl>
                                          </p:spTgt>
                                        </p:tgtEl>
                                        <p:attrNameLst>
                                          <p:attrName>style.visibility</p:attrName>
                                        </p:attrNameLst>
                                      </p:cBhvr>
                                      <p:to>
                                        <p:strVal val="visible"/>
                                      </p:to>
                                    </p:set>
                                    <p:anim calcmode="lin" valueType="num">
                                      <p:cBhvr additive="base">
                                        <p:cTn id="25" dur="500" fill="hold"/>
                                        <p:tgtEl>
                                          <p:spTgt spid="55910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5910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par>
                                <p:cTn id="27" presetID="2" presetClass="entr" presetSubtype="8" fill="hold" grpId="0" nodeType="withEffect">
                                  <p:stCondLst>
                                    <p:cond delay="0"/>
                                  </p:stCondLst>
                                  <p:childTnLst>
                                    <p:set>
                                      <p:cBhvr>
                                        <p:cTn id="28" dur="1" fill="hold">
                                          <p:stCondLst>
                                            <p:cond delay="0"/>
                                          </p:stCondLst>
                                        </p:cTn>
                                        <p:tgtEl>
                                          <p:spTgt spid="559107">
                                            <p:txEl>
                                              <p:pRg st="4" end="4"/>
                                            </p:txEl>
                                          </p:spTgt>
                                        </p:tgtEl>
                                        <p:attrNameLst>
                                          <p:attrName>style.visibility</p:attrName>
                                        </p:attrNameLst>
                                      </p:cBhvr>
                                      <p:to>
                                        <p:strVal val="visible"/>
                                      </p:to>
                                    </p:set>
                                    <p:anim calcmode="lin" valueType="num">
                                      <p:cBhvr additive="base">
                                        <p:cTn id="29" dur="500" fill="hold"/>
                                        <p:tgtEl>
                                          <p:spTgt spid="559107">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55910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whoosh.wav"/>
                                        </p:tgtEl>
                                      </p:cMediaNode>
                                    </p:audio>
                                  </p:subTnLst>
                                </p:cTn>
                              </p:par>
                              <p:par>
                                <p:cTn id="31" presetID="2" presetClass="entr" presetSubtype="8" fill="hold" grpId="0" nodeType="withEffect">
                                  <p:stCondLst>
                                    <p:cond delay="0"/>
                                  </p:stCondLst>
                                  <p:childTnLst>
                                    <p:set>
                                      <p:cBhvr>
                                        <p:cTn id="32" dur="1" fill="hold">
                                          <p:stCondLst>
                                            <p:cond delay="0"/>
                                          </p:stCondLst>
                                        </p:cTn>
                                        <p:tgtEl>
                                          <p:spTgt spid="559107">
                                            <p:txEl>
                                              <p:pRg st="5" end="5"/>
                                            </p:txEl>
                                          </p:spTgt>
                                        </p:tgtEl>
                                        <p:attrNameLst>
                                          <p:attrName>style.visibility</p:attrName>
                                        </p:attrNameLst>
                                      </p:cBhvr>
                                      <p:to>
                                        <p:strVal val="visible"/>
                                      </p:to>
                                    </p:set>
                                    <p:anim calcmode="lin" valueType="num">
                                      <p:cBhvr additive="base">
                                        <p:cTn id="33" dur="500" fill="hold"/>
                                        <p:tgtEl>
                                          <p:spTgt spid="559107">
                                            <p:txEl>
                                              <p:pRg st="5" end="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55910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7"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5175344-A389-E48C-6AFD-BBD4092543FE}"/>
              </a:ext>
            </a:extLst>
          </p:cNvPr>
          <p:cNvSpPr>
            <a:spLocks noGrp="1" noChangeArrowheads="1"/>
          </p:cNvSpPr>
          <p:nvPr>
            <p:ph type="title"/>
          </p:nvPr>
        </p:nvSpPr>
        <p:spPr/>
        <p:txBody>
          <a:bodyPr/>
          <a:lstStyle/>
          <a:p>
            <a:pPr eaLnBrk="1" hangingPunct="1"/>
            <a:r>
              <a:rPr lang="zh-CN" altLang="en-US"/>
              <a:t>例</a:t>
            </a:r>
            <a:r>
              <a:rPr lang="en-US" altLang="zh-CN"/>
              <a:t>19  </a:t>
            </a:r>
            <a:r>
              <a:rPr lang="zh-CN" altLang="en-US"/>
              <a:t>利用指针遍历数组</a:t>
            </a:r>
          </a:p>
        </p:txBody>
      </p:sp>
      <p:sp>
        <p:nvSpPr>
          <p:cNvPr id="560131" name="Rectangle 3">
            <a:extLst>
              <a:ext uri="{FF2B5EF4-FFF2-40B4-BE49-F238E27FC236}">
                <a16:creationId xmlns:a16="http://schemas.microsoft.com/office/drawing/2014/main" id="{18511372-7162-9B33-0EE1-DFF2948016FE}"/>
              </a:ext>
            </a:extLst>
          </p:cNvPr>
          <p:cNvSpPr>
            <a:spLocks noGrp="1" noChangeArrowheads="1"/>
          </p:cNvSpPr>
          <p:nvPr>
            <p:ph type="body" idx="1"/>
          </p:nvPr>
        </p:nvSpPr>
        <p:spPr>
          <a:xfrm>
            <a:off x="1182688" y="2017713"/>
            <a:ext cx="7421760" cy="4114800"/>
          </a:xfrm>
        </p:spPr>
        <p:txBody>
          <a:bodyPr/>
          <a:lstStyle/>
          <a:p>
            <a:pPr marL="609600" indent="-609600" algn="just" eaLnBrk="1" hangingPunct="1"/>
            <a:r>
              <a:rPr lang="zh-CN" altLang="en-US" sz="2800"/>
              <a:t>以下代码利用指针遍历数组，输入生成一个数组，然后将已知数组复制到另一个数组：</a:t>
            </a:r>
          </a:p>
          <a:p>
            <a:pPr marL="990600" lvl="1" indent="-533400" algn="just" eaLnBrk="1" hangingPunct="1">
              <a:buFont typeface="Wingdings" pitchFamily="2" charset="2"/>
              <a:buAutoNum type="arabicPeriod"/>
            </a:pPr>
            <a:r>
              <a:rPr lang="zh-CN" altLang="en-US" sz="2400"/>
              <a:t>     </a:t>
            </a:r>
            <a:r>
              <a:rPr lang="en-US" altLang="zh-CN" sz="2400"/>
              <a:t>int a[100], b[100], *p, *q;</a:t>
            </a:r>
          </a:p>
          <a:p>
            <a:pPr marL="990600" lvl="1" indent="-533400" algn="just" eaLnBrk="1" hangingPunct="1">
              <a:buFont typeface="Wingdings" pitchFamily="2" charset="2"/>
              <a:buAutoNum type="arabicPeriod"/>
            </a:pPr>
            <a:r>
              <a:rPr lang="en-US" altLang="zh-CN" sz="2400"/>
              <a:t>     for(p = a; p &lt; a + 100;)</a:t>
            </a:r>
          </a:p>
          <a:p>
            <a:pPr marL="990600" lvl="1" indent="-533400" algn="just" eaLnBrk="1" hangingPunct="1">
              <a:buFont typeface="Wingdings" pitchFamily="2" charset="2"/>
              <a:buAutoNum type="arabicPeriod"/>
            </a:pPr>
            <a:r>
              <a:rPr lang="en-US" altLang="zh-CN" sz="2400"/>
              <a:t>        scanf("%d", </a:t>
            </a:r>
            <a:r>
              <a:rPr lang="en-US" altLang="zh-CN" sz="2400">
                <a:solidFill>
                  <a:srgbClr val="CC0000"/>
                </a:solidFill>
              </a:rPr>
              <a:t>p++</a:t>
            </a:r>
            <a:r>
              <a:rPr lang="en-US" altLang="zh-CN" sz="2400"/>
              <a:t>);</a:t>
            </a:r>
          </a:p>
          <a:p>
            <a:pPr marL="990600" lvl="1" indent="-533400" algn="just" eaLnBrk="1" hangingPunct="1">
              <a:buFont typeface="Wingdings" pitchFamily="2" charset="2"/>
              <a:buAutoNum type="arabicPeriod"/>
            </a:pPr>
            <a:r>
              <a:rPr lang="en-US" altLang="zh-CN" sz="2400"/>
              <a:t>     for(p = a, q = b; p &lt; a + 100;)</a:t>
            </a:r>
          </a:p>
          <a:p>
            <a:pPr marL="990600" lvl="1" indent="-533400" algn="just" eaLnBrk="1" hangingPunct="1">
              <a:buFont typeface="Wingdings" pitchFamily="2" charset="2"/>
              <a:buAutoNum type="arabicPeriod"/>
            </a:pPr>
            <a:r>
              <a:rPr lang="en-US" altLang="zh-CN" sz="2400"/>
              <a:t>        *q++ = *p++;</a:t>
            </a:r>
          </a:p>
          <a:p>
            <a:pPr marL="990600" lvl="1" indent="-533400" algn="just" eaLnBrk="1" hangingPunct="1">
              <a:buFont typeface="Wingdings" pitchFamily="2" charset="2"/>
              <a:buAutoNum type="arabicPeriod"/>
            </a:pPr>
            <a:r>
              <a:rPr lang="en-US" altLang="zh-CN" sz="2400"/>
              <a:t>        // {*q=*p; p++; q++;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0131">
                                            <p:txEl>
                                              <p:pRg st="0" end="0"/>
                                            </p:txEl>
                                          </p:spTgt>
                                        </p:tgtEl>
                                        <p:attrNameLst>
                                          <p:attrName>style.visibility</p:attrName>
                                        </p:attrNameLst>
                                      </p:cBhvr>
                                      <p:to>
                                        <p:strVal val="visible"/>
                                      </p:to>
                                    </p:set>
                                    <p:anim calcmode="lin" valueType="num">
                                      <p:cBhvr additive="base">
                                        <p:cTn id="7" dur="500" fill="hold"/>
                                        <p:tgtEl>
                                          <p:spTgt spid="5601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013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60131">
                                            <p:txEl>
                                              <p:pRg st="1" end="1"/>
                                            </p:txEl>
                                          </p:spTgt>
                                        </p:tgtEl>
                                        <p:attrNameLst>
                                          <p:attrName>style.visibility</p:attrName>
                                        </p:attrNameLst>
                                      </p:cBhvr>
                                      <p:to>
                                        <p:strVal val="visible"/>
                                      </p:to>
                                    </p:set>
                                    <p:anim calcmode="lin" valueType="num">
                                      <p:cBhvr additive="base">
                                        <p:cTn id="11" dur="500" fill="hold"/>
                                        <p:tgtEl>
                                          <p:spTgt spid="56013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6013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60131">
                                            <p:txEl>
                                              <p:pRg st="2" end="2"/>
                                            </p:txEl>
                                          </p:spTgt>
                                        </p:tgtEl>
                                        <p:attrNameLst>
                                          <p:attrName>style.visibility</p:attrName>
                                        </p:attrNameLst>
                                      </p:cBhvr>
                                      <p:to>
                                        <p:strVal val="visible"/>
                                      </p:to>
                                    </p:set>
                                    <p:anim calcmode="lin" valueType="num">
                                      <p:cBhvr additive="base">
                                        <p:cTn id="15" dur="500" fill="hold"/>
                                        <p:tgtEl>
                                          <p:spTgt spid="56013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6013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60131">
                                            <p:txEl>
                                              <p:pRg st="3" end="3"/>
                                            </p:txEl>
                                          </p:spTgt>
                                        </p:tgtEl>
                                        <p:attrNameLst>
                                          <p:attrName>style.visibility</p:attrName>
                                        </p:attrNameLst>
                                      </p:cBhvr>
                                      <p:to>
                                        <p:strVal val="visible"/>
                                      </p:to>
                                    </p:set>
                                    <p:anim calcmode="lin" valueType="num">
                                      <p:cBhvr additive="base">
                                        <p:cTn id="19" dur="500" fill="hold"/>
                                        <p:tgtEl>
                                          <p:spTgt spid="56013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6013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60131">
                                            <p:txEl>
                                              <p:pRg st="4" end="4"/>
                                            </p:txEl>
                                          </p:spTgt>
                                        </p:tgtEl>
                                        <p:attrNameLst>
                                          <p:attrName>style.visibility</p:attrName>
                                        </p:attrNameLst>
                                      </p:cBhvr>
                                      <p:to>
                                        <p:strVal val="visible"/>
                                      </p:to>
                                    </p:set>
                                    <p:anim calcmode="lin" valueType="num">
                                      <p:cBhvr additive="base">
                                        <p:cTn id="23" dur="500" fill="hold"/>
                                        <p:tgtEl>
                                          <p:spTgt spid="560131">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6013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60131">
                                            <p:txEl>
                                              <p:pRg st="5" end="5"/>
                                            </p:txEl>
                                          </p:spTgt>
                                        </p:tgtEl>
                                        <p:attrNameLst>
                                          <p:attrName>style.visibility</p:attrName>
                                        </p:attrNameLst>
                                      </p:cBhvr>
                                      <p:to>
                                        <p:strVal val="visible"/>
                                      </p:to>
                                    </p:set>
                                    <p:anim calcmode="lin" valueType="num">
                                      <p:cBhvr additive="base">
                                        <p:cTn id="27" dur="500" fill="hold"/>
                                        <p:tgtEl>
                                          <p:spTgt spid="560131">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6013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60131">
                                            <p:txEl>
                                              <p:pRg st="6" end="6"/>
                                            </p:txEl>
                                          </p:spTgt>
                                        </p:tgtEl>
                                        <p:attrNameLst>
                                          <p:attrName>style.visibility</p:attrName>
                                        </p:attrNameLst>
                                      </p:cBhvr>
                                      <p:to>
                                        <p:strVal val="visible"/>
                                      </p:to>
                                    </p:set>
                                    <p:anim calcmode="lin" valueType="num">
                                      <p:cBhvr additive="base">
                                        <p:cTn id="31" dur="500" fill="hold"/>
                                        <p:tgtEl>
                                          <p:spTgt spid="560131">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6013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1"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3E9EB42-3835-4645-4D15-350FBCC96F90}"/>
              </a:ext>
            </a:extLst>
          </p:cNvPr>
          <p:cNvSpPr>
            <a:spLocks noGrp="1" noChangeArrowheads="1"/>
          </p:cNvSpPr>
          <p:nvPr>
            <p:ph type="title"/>
          </p:nvPr>
        </p:nvSpPr>
        <p:spPr/>
        <p:txBody>
          <a:bodyPr/>
          <a:lstStyle/>
          <a:p>
            <a:pPr eaLnBrk="1" hangingPunct="1"/>
            <a:r>
              <a:rPr lang="zh-CN" altLang="en-US" sz="4000"/>
              <a:t>例</a:t>
            </a:r>
            <a:r>
              <a:rPr lang="en-US" altLang="zh-CN" sz="4000"/>
              <a:t>20* </a:t>
            </a:r>
            <a:r>
              <a:rPr lang="zh-CN" altLang="en-US" sz="4000"/>
              <a:t>引用数组元素的不同方法</a:t>
            </a:r>
          </a:p>
        </p:txBody>
      </p:sp>
      <p:sp>
        <p:nvSpPr>
          <p:cNvPr id="561155" name="Rectangle 3">
            <a:extLst>
              <a:ext uri="{FF2B5EF4-FFF2-40B4-BE49-F238E27FC236}">
                <a16:creationId xmlns:a16="http://schemas.microsoft.com/office/drawing/2014/main" id="{5DDE7241-0623-5990-E75E-45526A21361D}"/>
              </a:ext>
            </a:extLst>
          </p:cNvPr>
          <p:cNvSpPr>
            <a:spLocks noGrp="1" noChangeArrowheads="1"/>
          </p:cNvSpPr>
          <p:nvPr>
            <p:ph type="body" idx="1"/>
          </p:nvPr>
        </p:nvSpPr>
        <p:spPr>
          <a:xfrm>
            <a:off x="684213" y="1773238"/>
            <a:ext cx="7772400" cy="4114800"/>
          </a:xfrm>
        </p:spPr>
        <p:txBody>
          <a:bodyPr/>
          <a:lstStyle/>
          <a:p>
            <a:pPr marL="914400" lvl="1" indent="-457200" eaLnBrk="1" hangingPunct="1">
              <a:lnSpc>
                <a:spcPct val="90000"/>
              </a:lnSpc>
              <a:buFont typeface="Wingdings" pitchFamily="2" charset="2"/>
              <a:buAutoNum type="arabicPeriod"/>
            </a:pPr>
            <a:r>
              <a:rPr lang="en-US" altLang="zh-CN" sz="1800"/>
              <a:t>#include  &lt;stdio.h&gt;</a:t>
            </a:r>
          </a:p>
          <a:p>
            <a:pPr marL="914400" lvl="1" indent="-457200" eaLnBrk="1" hangingPunct="1">
              <a:lnSpc>
                <a:spcPct val="90000"/>
              </a:lnSpc>
              <a:buFont typeface="Wingdings" pitchFamily="2" charset="2"/>
              <a:buAutoNum type="arabicPeriod"/>
            </a:pPr>
            <a:r>
              <a:rPr lang="en-US" altLang="zh-CN" sz="1800"/>
              <a:t>void main(){</a:t>
            </a:r>
          </a:p>
          <a:p>
            <a:pPr marL="914400" lvl="1" indent="-457200" eaLnBrk="1" hangingPunct="1">
              <a:lnSpc>
                <a:spcPct val="90000"/>
              </a:lnSpc>
              <a:buFont typeface="Wingdings" pitchFamily="2" charset="2"/>
              <a:buAutoNum type="arabicPeriod"/>
            </a:pPr>
            <a:r>
              <a:rPr lang="zh-CN" altLang="en-US" sz="1800"/>
              <a:t>　</a:t>
            </a:r>
            <a:r>
              <a:rPr lang="en-US" altLang="zh-CN" sz="1800"/>
              <a:t>int  j, *p, a[] = {1, 2, 3, 4};</a:t>
            </a:r>
          </a:p>
          <a:p>
            <a:pPr marL="914400" lvl="1" indent="-457200" eaLnBrk="1" hangingPunct="1">
              <a:lnSpc>
                <a:spcPct val="90000"/>
              </a:lnSpc>
              <a:buFont typeface="Wingdings" pitchFamily="2" charset="2"/>
              <a:buAutoNum type="arabicPeriod"/>
            </a:pPr>
            <a:r>
              <a:rPr lang="zh-CN" altLang="en-US" sz="1800"/>
              <a:t>　</a:t>
            </a:r>
            <a:r>
              <a:rPr lang="en-US" altLang="zh-CN" sz="1800"/>
              <a:t>for(j = 0; j &lt; 4; j++)</a:t>
            </a:r>
            <a:r>
              <a:rPr lang="zh-CN" altLang="en-US" sz="1800"/>
              <a:t>　　</a:t>
            </a:r>
          </a:p>
          <a:p>
            <a:pPr marL="914400" lvl="1" indent="-457200" eaLnBrk="1" hangingPunct="1">
              <a:lnSpc>
                <a:spcPct val="90000"/>
              </a:lnSpc>
              <a:buFont typeface="Wingdings" pitchFamily="2" charset="2"/>
              <a:buAutoNum type="arabicPeriod"/>
            </a:pPr>
            <a:r>
              <a:rPr lang="zh-CN" altLang="en-US" sz="1800"/>
              <a:t>      </a:t>
            </a:r>
            <a:r>
              <a:rPr lang="en-US" altLang="zh-CN" sz="1800"/>
              <a:t>printf("a[%d]\t=%d\t", j, </a:t>
            </a:r>
            <a:r>
              <a:rPr lang="en-US" altLang="zh-CN" sz="1800">
                <a:solidFill>
                  <a:srgbClr val="0066FF"/>
                </a:solidFill>
              </a:rPr>
              <a:t>a[j]</a:t>
            </a:r>
            <a:r>
              <a:rPr lang="en-US" altLang="zh-CN" sz="1800"/>
              <a:t>);</a:t>
            </a:r>
          </a:p>
          <a:p>
            <a:pPr marL="914400" lvl="1" indent="-457200" eaLnBrk="1" hangingPunct="1">
              <a:lnSpc>
                <a:spcPct val="90000"/>
              </a:lnSpc>
              <a:buFont typeface="Wingdings" pitchFamily="2" charset="2"/>
              <a:buAutoNum type="arabicPeriod"/>
            </a:pPr>
            <a:r>
              <a:rPr lang="zh-CN" altLang="en-US" sz="1800"/>
              <a:t>　</a:t>
            </a:r>
            <a:r>
              <a:rPr lang="en-US" altLang="zh-CN" sz="1800"/>
              <a:t>printf("\n");</a:t>
            </a:r>
          </a:p>
          <a:p>
            <a:pPr marL="914400" lvl="1" indent="-457200" eaLnBrk="1" hangingPunct="1">
              <a:lnSpc>
                <a:spcPct val="90000"/>
              </a:lnSpc>
              <a:buFont typeface="Wingdings" pitchFamily="2" charset="2"/>
              <a:buAutoNum type="arabicPeriod"/>
            </a:pPr>
            <a:r>
              <a:rPr lang="zh-CN" altLang="en-US" sz="1800"/>
              <a:t>　</a:t>
            </a:r>
            <a:r>
              <a:rPr lang="en-US" altLang="zh-CN" sz="1800"/>
              <a:t>for(p = a; p &lt;= &amp;a[3]; p++) </a:t>
            </a:r>
            <a:r>
              <a:rPr lang="zh-CN" altLang="en-US" sz="1800"/>
              <a:t>　　</a:t>
            </a:r>
          </a:p>
          <a:p>
            <a:pPr marL="914400" lvl="1" indent="-457200" eaLnBrk="1" hangingPunct="1">
              <a:lnSpc>
                <a:spcPct val="90000"/>
              </a:lnSpc>
              <a:buFont typeface="Wingdings" pitchFamily="2" charset="2"/>
              <a:buAutoNum type="arabicPeriod"/>
            </a:pPr>
            <a:r>
              <a:rPr lang="zh-CN" altLang="en-US" sz="1800"/>
              <a:t>     </a:t>
            </a:r>
            <a:r>
              <a:rPr lang="en-US" altLang="zh-CN" sz="1800"/>
              <a:t>printf("*p\t=%d\t", </a:t>
            </a:r>
            <a:r>
              <a:rPr lang="en-US" altLang="zh-CN" sz="1800">
                <a:solidFill>
                  <a:srgbClr val="0066FF"/>
                </a:solidFill>
              </a:rPr>
              <a:t>*p</a:t>
            </a:r>
            <a:r>
              <a:rPr lang="en-US" altLang="zh-CN" sz="1800"/>
              <a:t>);</a:t>
            </a:r>
          </a:p>
          <a:p>
            <a:pPr marL="914400" lvl="1" indent="-457200" eaLnBrk="1" hangingPunct="1">
              <a:lnSpc>
                <a:spcPct val="90000"/>
              </a:lnSpc>
              <a:buFont typeface="Wingdings" pitchFamily="2" charset="2"/>
              <a:buAutoNum type="arabicPeriod"/>
            </a:pPr>
            <a:r>
              <a:rPr lang="zh-CN" altLang="en-US" sz="1800"/>
              <a:t>　</a:t>
            </a:r>
            <a:r>
              <a:rPr lang="en-US" altLang="zh-CN" sz="1800"/>
              <a:t>printf("\n");</a:t>
            </a:r>
          </a:p>
          <a:p>
            <a:pPr marL="914400" lvl="1" indent="-457200" eaLnBrk="1" hangingPunct="1">
              <a:lnSpc>
                <a:spcPct val="90000"/>
              </a:lnSpc>
              <a:buFont typeface="Wingdings" pitchFamily="2" charset="2"/>
              <a:buAutoNum type="arabicPeriod"/>
            </a:pPr>
            <a:r>
              <a:rPr lang="zh-CN" altLang="en-US" sz="1800"/>
              <a:t>　</a:t>
            </a:r>
            <a:r>
              <a:rPr lang="en-US" altLang="zh-CN" sz="1800"/>
              <a:t>for(p = a, j = 0; p+j &lt; a+4; j++)</a:t>
            </a:r>
            <a:r>
              <a:rPr lang="zh-CN" altLang="en-US" sz="1800"/>
              <a:t>　      </a:t>
            </a:r>
          </a:p>
          <a:p>
            <a:pPr marL="914400" lvl="1" indent="-457200" eaLnBrk="1" hangingPunct="1">
              <a:lnSpc>
                <a:spcPct val="90000"/>
              </a:lnSpc>
              <a:buFont typeface="Wingdings" pitchFamily="2" charset="2"/>
              <a:buAutoNum type="arabicPeriod"/>
            </a:pPr>
            <a:r>
              <a:rPr lang="zh-CN" altLang="en-US" sz="1800"/>
              <a:t>     </a:t>
            </a:r>
            <a:r>
              <a:rPr lang="en-US" altLang="zh-CN" sz="1800"/>
              <a:t>printf("*(p+%d)\t=%d\t", j, </a:t>
            </a:r>
            <a:r>
              <a:rPr lang="en-US" altLang="zh-CN" sz="1800">
                <a:solidFill>
                  <a:srgbClr val="0066FF"/>
                </a:solidFill>
              </a:rPr>
              <a:t>*(p+j)</a:t>
            </a:r>
            <a:r>
              <a:rPr lang="en-US" altLang="zh-CN" sz="1800"/>
              <a:t>);</a:t>
            </a:r>
          </a:p>
          <a:p>
            <a:pPr marL="914400" lvl="1" indent="-457200" eaLnBrk="1" hangingPunct="1">
              <a:lnSpc>
                <a:spcPct val="90000"/>
              </a:lnSpc>
              <a:buFont typeface="Wingdings" pitchFamily="2" charset="2"/>
              <a:buAutoNum type="arabicPeriod"/>
            </a:pPr>
            <a:r>
              <a:rPr lang="zh-CN" altLang="en-US" sz="1800"/>
              <a:t>　</a:t>
            </a:r>
            <a:r>
              <a:rPr lang="en-US" altLang="zh-CN" sz="1800"/>
              <a:t>printf("\n");</a:t>
            </a:r>
          </a:p>
          <a:p>
            <a:pPr marL="914400" lvl="1" indent="-457200" eaLnBrk="1" hangingPunct="1">
              <a:lnSpc>
                <a:spcPct val="90000"/>
              </a:lnSpc>
              <a:buFont typeface="Wingdings" pitchFamily="2" charset="2"/>
              <a:buAutoNum type="arabicPeriod"/>
            </a:pPr>
            <a:r>
              <a:rPr lang="zh-CN" altLang="en-US" sz="1800"/>
              <a:t>　</a:t>
            </a:r>
            <a:r>
              <a:rPr lang="en-US" altLang="zh-CN" sz="1800"/>
              <a:t>for(p = a+3, j = 3; j &gt;= 0; j--)</a:t>
            </a:r>
            <a:r>
              <a:rPr lang="zh-CN" altLang="en-US" sz="1800"/>
              <a:t>　</a:t>
            </a:r>
          </a:p>
          <a:p>
            <a:pPr marL="914400" lvl="1" indent="-457200" eaLnBrk="1" hangingPunct="1">
              <a:lnSpc>
                <a:spcPct val="90000"/>
              </a:lnSpc>
              <a:buFont typeface="Wingdings" pitchFamily="2" charset="2"/>
              <a:buAutoNum type="arabicPeriod"/>
            </a:pPr>
            <a:r>
              <a:rPr lang="zh-CN" altLang="en-US" sz="1800"/>
              <a:t>     </a:t>
            </a:r>
            <a:r>
              <a:rPr lang="en-US" altLang="zh-CN" sz="1800"/>
              <a:t>printf("p[-%d]\t=%d\t", j, </a:t>
            </a:r>
            <a:r>
              <a:rPr lang="en-US" altLang="zh-CN" sz="1800">
                <a:solidFill>
                  <a:srgbClr val="0066FF"/>
                </a:solidFill>
              </a:rPr>
              <a:t>p[-j]</a:t>
            </a:r>
            <a:r>
              <a:rPr lang="en-US" altLang="zh-CN" sz="1800"/>
              <a:t>);</a:t>
            </a:r>
          </a:p>
          <a:p>
            <a:pPr marL="914400" lvl="1" indent="-457200" eaLnBrk="1" hangingPunct="1">
              <a:lnSpc>
                <a:spcPct val="90000"/>
              </a:lnSpc>
              <a:buFont typeface="Wingdings" pitchFamily="2" charset="2"/>
              <a:buAutoNum type="arabicPeriod"/>
            </a:pPr>
            <a:r>
              <a:rPr lang="zh-CN" altLang="en-US" sz="1800"/>
              <a:t>　</a:t>
            </a:r>
            <a:r>
              <a:rPr lang="en-US" altLang="zh-CN" sz="1800"/>
              <a:t>printf("\n");</a:t>
            </a:r>
          </a:p>
          <a:p>
            <a:pPr marL="914400" lvl="1" indent="-457200" eaLnBrk="1" hangingPunct="1">
              <a:lnSpc>
                <a:spcPct val="90000"/>
              </a:lnSpc>
              <a:buFont typeface="Wingdings" pitchFamily="2" charset="2"/>
              <a:buAutoNum type="arabicPeriod"/>
            </a:pPr>
            <a:r>
              <a:rPr lang="en-US" altLang="zh-CN" sz="18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1155">
                                            <p:txEl>
                                              <p:pRg st="0" end="0"/>
                                            </p:txEl>
                                          </p:spTgt>
                                        </p:tgtEl>
                                        <p:attrNameLst>
                                          <p:attrName>style.visibility</p:attrName>
                                        </p:attrNameLst>
                                      </p:cBhvr>
                                      <p:to>
                                        <p:strVal val="visible"/>
                                      </p:to>
                                    </p:set>
                                    <p:anim calcmode="lin" valueType="num">
                                      <p:cBhvr additive="base">
                                        <p:cTn id="7" dur="500" fill="hold"/>
                                        <p:tgtEl>
                                          <p:spTgt spid="5611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115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61155">
                                            <p:txEl>
                                              <p:pRg st="1" end="1"/>
                                            </p:txEl>
                                          </p:spTgt>
                                        </p:tgtEl>
                                        <p:attrNameLst>
                                          <p:attrName>style.visibility</p:attrName>
                                        </p:attrNameLst>
                                      </p:cBhvr>
                                      <p:to>
                                        <p:strVal val="visible"/>
                                      </p:to>
                                    </p:set>
                                    <p:anim calcmode="lin" valueType="num">
                                      <p:cBhvr additive="base">
                                        <p:cTn id="11" dur="500" fill="hold"/>
                                        <p:tgtEl>
                                          <p:spTgt spid="56115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6115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61155">
                                            <p:txEl>
                                              <p:pRg st="2" end="2"/>
                                            </p:txEl>
                                          </p:spTgt>
                                        </p:tgtEl>
                                        <p:attrNameLst>
                                          <p:attrName>style.visibility</p:attrName>
                                        </p:attrNameLst>
                                      </p:cBhvr>
                                      <p:to>
                                        <p:strVal val="visible"/>
                                      </p:to>
                                    </p:set>
                                    <p:anim calcmode="lin" valueType="num">
                                      <p:cBhvr additive="base">
                                        <p:cTn id="15" dur="500" fill="hold"/>
                                        <p:tgtEl>
                                          <p:spTgt spid="56115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6115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61155">
                                            <p:txEl>
                                              <p:pRg st="3" end="3"/>
                                            </p:txEl>
                                          </p:spTgt>
                                        </p:tgtEl>
                                        <p:attrNameLst>
                                          <p:attrName>style.visibility</p:attrName>
                                        </p:attrNameLst>
                                      </p:cBhvr>
                                      <p:to>
                                        <p:strVal val="visible"/>
                                      </p:to>
                                    </p:set>
                                    <p:anim calcmode="lin" valueType="num">
                                      <p:cBhvr additive="base">
                                        <p:cTn id="19" dur="500" fill="hold"/>
                                        <p:tgtEl>
                                          <p:spTgt spid="56115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6115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61155">
                                            <p:txEl>
                                              <p:pRg st="4" end="4"/>
                                            </p:txEl>
                                          </p:spTgt>
                                        </p:tgtEl>
                                        <p:attrNameLst>
                                          <p:attrName>style.visibility</p:attrName>
                                        </p:attrNameLst>
                                      </p:cBhvr>
                                      <p:to>
                                        <p:strVal val="visible"/>
                                      </p:to>
                                    </p:set>
                                    <p:anim calcmode="lin" valueType="num">
                                      <p:cBhvr additive="base">
                                        <p:cTn id="23" dur="500" fill="hold"/>
                                        <p:tgtEl>
                                          <p:spTgt spid="561155">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6115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61155">
                                            <p:txEl>
                                              <p:pRg st="5" end="5"/>
                                            </p:txEl>
                                          </p:spTgt>
                                        </p:tgtEl>
                                        <p:attrNameLst>
                                          <p:attrName>style.visibility</p:attrName>
                                        </p:attrNameLst>
                                      </p:cBhvr>
                                      <p:to>
                                        <p:strVal val="visible"/>
                                      </p:to>
                                    </p:set>
                                    <p:anim calcmode="lin" valueType="num">
                                      <p:cBhvr additive="base">
                                        <p:cTn id="27" dur="500" fill="hold"/>
                                        <p:tgtEl>
                                          <p:spTgt spid="561155">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61155">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61155">
                                            <p:txEl>
                                              <p:pRg st="6" end="6"/>
                                            </p:txEl>
                                          </p:spTgt>
                                        </p:tgtEl>
                                        <p:attrNameLst>
                                          <p:attrName>style.visibility</p:attrName>
                                        </p:attrNameLst>
                                      </p:cBhvr>
                                      <p:to>
                                        <p:strVal val="visible"/>
                                      </p:to>
                                    </p:set>
                                    <p:anim calcmode="lin" valueType="num">
                                      <p:cBhvr additive="base">
                                        <p:cTn id="31" dur="500" fill="hold"/>
                                        <p:tgtEl>
                                          <p:spTgt spid="561155">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61155">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561155">
                                            <p:txEl>
                                              <p:pRg st="7" end="7"/>
                                            </p:txEl>
                                          </p:spTgt>
                                        </p:tgtEl>
                                        <p:attrNameLst>
                                          <p:attrName>style.visibility</p:attrName>
                                        </p:attrNameLst>
                                      </p:cBhvr>
                                      <p:to>
                                        <p:strVal val="visible"/>
                                      </p:to>
                                    </p:set>
                                    <p:anim calcmode="lin" valueType="num">
                                      <p:cBhvr additive="base">
                                        <p:cTn id="35" dur="500" fill="hold"/>
                                        <p:tgtEl>
                                          <p:spTgt spid="561155">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61155">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par>
                                <p:cTn id="37" presetID="2" presetClass="entr" presetSubtype="8" fill="hold" grpId="0" nodeType="withEffect">
                                  <p:stCondLst>
                                    <p:cond delay="0"/>
                                  </p:stCondLst>
                                  <p:childTnLst>
                                    <p:set>
                                      <p:cBhvr>
                                        <p:cTn id="38" dur="1" fill="hold">
                                          <p:stCondLst>
                                            <p:cond delay="0"/>
                                          </p:stCondLst>
                                        </p:cTn>
                                        <p:tgtEl>
                                          <p:spTgt spid="561155">
                                            <p:txEl>
                                              <p:pRg st="8" end="8"/>
                                            </p:txEl>
                                          </p:spTgt>
                                        </p:tgtEl>
                                        <p:attrNameLst>
                                          <p:attrName>style.visibility</p:attrName>
                                        </p:attrNameLst>
                                      </p:cBhvr>
                                      <p:to>
                                        <p:strVal val="visible"/>
                                      </p:to>
                                    </p:set>
                                    <p:anim calcmode="lin" valueType="num">
                                      <p:cBhvr additive="base">
                                        <p:cTn id="39" dur="500" fill="hold"/>
                                        <p:tgtEl>
                                          <p:spTgt spid="561155">
                                            <p:txEl>
                                              <p:pRg st="8" end="8"/>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61155">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par>
                                <p:cTn id="41" presetID="2" presetClass="entr" presetSubtype="8" fill="hold" grpId="0" nodeType="withEffect">
                                  <p:stCondLst>
                                    <p:cond delay="0"/>
                                  </p:stCondLst>
                                  <p:childTnLst>
                                    <p:set>
                                      <p:cBhvr>
                                        <p:cTn id="42" dur="1" fill="hold">
                                          <p:stCondLst>
                                            <p:cond delay="0"/>
                                          </p:stCondLst>
                                        </p:cTn>
                                        <p:tgtEl>
                                          <p:spTgt spid="561155">
                                            <p:txEl>
                                              <p:pRg st="9" end="9"/>
                                            </p:txEl>
                                          </p:spTgt>
                                        </p:tgtEl>
                                        <p:attrNameLst>
                                          <p:attrName>style.visibility</p:attrName>
                                        </p:attrNameLst>
                                      </p:cBhvr>
                                      <p:to>
                                        <p:strVal val="visible"/>
                                      </p:to>
                                    </p:set>
                                    <p:anim calcmode="lin" valueType="num">
                                      <p:cBhvr additive="base">
                                        <p:cTn id="43" dur="500" fill="hold"/>
                                        <p:tgtEl>
                                          <p:spTgt spid="561155">
                                            <p:txEl>
                                              <p:pRg st="9" end="9"/>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61155">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par>
                                <p:cTn id="45" presetID="2" presetClass="entr" presetSubtype="8" fill="hold" grpId="0" nodeType="withEffect">
                                  <p:stCondLst>
                                    <p:cond delay="0"/>
                                  </p:stCondLst>
                                  <p:childTnLst>
                                    <p:set>
                                      <p:cBhvr>
                                        <p:cTn id="46" dur="1" fill="hold">
                                          <p:stCondLst>
                                            <p:cond delay="0"/>
                                          </p:stCondLst>
                                        </p:cTn>
                                        <p:tgtEl>
                                          <p:spTgt spid="561155">
                                            <p:txEl>
                                              <p:pRg st="10" end="10"/>
                                            </p:txEl>
                                          </p:spTgt>
                                        </p:tgtEl>
                                        <p:attrNameLst>
                                          <p:attrName>style.visibility</p:attrName>
                                        </p:attrNameLst>
                                      </p:cBhvr>
                                      <p:to>
                                        <p:strVal val="visible"/>
                                      </p:to>
                                    </p:set>
                                    <p:anim calcmode="lin" valueType="num">
                                      <p:cBhvr additive="base">
                                        <p:cTn id="47" dur="500" fill="hold"/>
                                        <p:tgtEl>
                                          <p:spTgt spid="561155">
                                            <p:txEl>
                                              <p:pRg st="10" end="1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61155">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whoosh.wav"/>
                                        </p:tgtEl>
                                      </p:cMediaNode>
                                    </p:audio>
                                  </p:subTnLst>
                                </p:cTn>
                              </p:par>
                              <p:par>
                                <p:cTn id="49" presetID="2" presetClass="entr" presetSubtype="8" fill="hold" grpId="0" nodeType="withEffect">
                                  <p:stCondLst>
                                    <p:cond delay="0"/>
                                  </p:stCondLst>
                                  <p:childTnLst>
                                    <p:set>
                                      <p:cBhvr>
                                        <p:cTn id="50" dur="1" fill="hold">
                                          <p:stCondLst>
                                            <p:cond delay="0"/>
                                          </p:stCondLst>
                                        </p:cTn>
                                        <p:tgtEl>
                                          <p:spTgt spid="561155">
                                            <p:txEl>
                                              <p:pRg st="11" end="11"/>
                                            </p:txEl>
                                          </p:spTgt>
                                        </p:tgtEl>
                                        <p:attrNameLst>
                                          <p:attrName>style.visibility</p:attrName>
                                        </p:attrNameLst>
                                      </p:cBhvr>
                                      <p:to>
                                        <p:strVal val="visible"/>
                                      </p:to>
                                    </p:set>
                                    <p:anim calcmode="lin" valueType="num">
                                      <p:cBhvr additive="base">
                                        <p:cTn id="51" dur="500" fill="hold"/>
                                        <p:tgtEl>
                                          <p:spTgt spid="561155">
                                            <p:txEl>
                                              <p:pRg st="11" end="11"/>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561155">
                                            <p:txEl>
                                              <p:pRg st="11"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2" name="whoosh.wav"/>
                                        </p:tgtEl>
                                      </p:cMediaNode>
                                    </p:audio>
                                  </p:subTnLst>
                                </p:cTn>
                              </p:par>
                              <p:par>
                                <p:cTn id="53" presetID="2" presetClass="entr" presetSubtype="8" fill="hold" grpId="0" nodeType="withEffect">
                                  <p:stCondLst>
                                    <p:cond delay="0"/>
                                  </p:stCondLst>
                                  <p:childTnLst>
                                    <p:set>
                                      <p:cBhvr>
                                        <p:cTn id="54" dur="1" fill="hold">
                                          <p:stCondLst>
                                            <p:cond delay="0"/>
                                          </p:stCondLst>
                                        </p:cTn>
                                        <p:tgtEl>
                                          <p:spTgt spid="561155">
                                            <p:txEl>
                                              <p:pRg st="12" end="12"/>
                                            </p:txEl>
                                          </p:spTgt>
                                        </p:tgtEl>
                                        <p:attrNameLst>
                                          <p:attrName>style.visibility</p:attrName>
                                        </p:attrNameLst>
                                      </p:cBhvr>
                                      <p:to>
                                        <p:strVal val="visible"/>
                                      </p:to>
                                    </p:set>
                                    <p:anim calcmode="lin" valueType="num">
                                      <p:cBhvr additive="base">
                                        <p:cTn id="55" dur="500" fill="hold"/>
                                        <p:tgtEl>
                                          <p:spTgt spid="561155">
                                            <p:txEl>
                                              <p:pRg st="12" end="12"/>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561155">
                                            <p:txEl>
                                              <p:pRg st="12" end="1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whoosh.wav"/>
                                        </p:tgtEl>
                                      </p:cMediaNode>
                                    </p:audio>
                                  </p:subTnLst>
                                </p:cTn>
                              </p:par>
                              <p:par>
                                <p:cTn id="57" presetID="2" presetClass="entr" presetSubtype="8" fill="hold" grpId="0" nodeType="withEffect">
                                  <p:stCondLst>
                                    <p:cond delay="0"/>
                                  </p:stCondLst>
                                  <p:childTnLst>
                                    <p:set>
                                      <p:cBhvr>
                                        <p:cTn id="58" dur="1" fill="hold">
                                          <p:stCondLst>
                                            <p:cond delay="0"/>
                                          </p:stCondLst>
                                        </p:cTn>
                                        <p:tgtEl>
                                          <p:spTgt spid="561155">
                                            <p:txEl>
                                              <p:pRg st="13" end="13"/>
                                            </p:txEl>
                                          </p:spTgt>
                                        </p:tgtEl>
                                        <p:attrNameLst>
                                          <p:attrName>style.visibility</p:attrName>
                                        </p:attrNameLst>
                                      </p:cBhvr>
                                      <p:to>
                                        <p:strVal val="visible"/>
                                      </p:to>
                                    </p:set>
                                    <p:anim calcmode="lin" valueType="num">
                                      <p:cBhvr additive="base">
                                        <p:cTn id="59" dur="500" fill="hold"/>
                                        <p:tgtEl>
                                          <p:spTgt spid="561155">
                                            <p:txEl>
                                              <p:pRg st="13" end="13"/>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561155">
                                            <p:txEl>
                                              <p:pRg st="13" end="1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whoosh.wav"/>
                                        </p:tgtEl>
                                      </p:cMediaNode>
                                    </p:audio>
                                  </p:subTnLst>
                                </p:cTn>
                              </p:par>
                              <p:par>
                                <p:cTn id="61" presetID="2" presetClass="entr" presetSubtype="8" fill="hold" grpId="0" nodeType="withEffect">
                                  <p:stCondLst>
                                    <p:cond delay="0"/>
                                  </p:stCondLst>
                                  <p:childTnLst>
                                    <p:set>
                                      <p:cBhvr>
                                        <p:cTn id="62" dur="1" fill="hold">
                                          <p:stCondLst>
                                            <p:cond delay="0"/>
                                          </p:stCondLst>
                                        </p:cTn>
                                        <p:tgtEl>
                                          <p:spTgt spid="561155">
                                            <p:txEl>
                                              <p:pRg st="14" end="14"/>
                                            </p:txEl>
                                          </p:spTgt>
                                        </p:tgtEl>
                                        <p:attrNameLst>
                                          <p:attrName>style.visibility</p:attrName>
                                        </p:attrNameLst>
                                      </p:cBhvr>
                                      <p:to>
                                        <p:strVal val="visible"/>
                                      </p:to>
                                    </p:set>
                                    <p:anim calcmode="lin" valueType="num">
                                      <p:cBhvr additive="base">
                                        <p:cTn id="63" dur="500" fill="hold"/>
                                        <p:tgtEl>
                                          <p:spTgt spid="561155">
                                            <p:txEl>
                                              <p:pRg st="14" end="14"/>
                                            </p:tx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561155">
                                            <p:txEl>
                                              <p:pRg st="14"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whoosh.wav"/>
                                        </p:tgtEl>
                                      </p:cMediaNode>
                                    </p:audio>
                                  </p:subTnLst>
                                </p:cTn>
                              </p:par>
                              <p:par>
                                <p:cTn id="65" presetID="2" presetClass="entr" presetSubtype="8" fill="hold" grpId="0" nodeType="withEffect">
                                  <p:stCondLst>
                                    <p:cond delay="0"/>
                                  </p:stCondLst>
                                  <p:childTnLst>
                                    <p:set>
                                      <p:cBhvr>
                                        <p:cTn id="66" dur="1" fill="hold">
                                          <p:stCondLst>
                                            <p:cond delay="0"/>
                                          </p:stCondLst>
                                        </p:cTn>
                                        <p:tgtEl>
                                          <p:spTgt spid="561155">
                                            <p:txEl>
                                              <p:pRg st="15" end="15"/>
                                            </p:txEl>
                                          </p:spTgt>
                                        </p:tgtEl>
                                        <p:attrNameLst>
                                          <p:attrName>style.visibility</p:attrName>
                                        </p:attrNameLst>
                                      </p:cBhvr>
                                      <p:to>
                                        <p:strVal val="visible"/>
                                      </p:to>
                                    </p:set>
                                    <p:anim calcmode="lin" valueType="num">
                                      <p:cBhvr additive="base">
                                        <p:cTn id="67" dur="500" fill="hold"/>
                                        <p:tgtEl>
                                          <p:spTgt spid="561155">
                                            <p:txEl>
                                              <p:pRg st="15" end="15"/>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561155">
                                            <p:txEl>
                                              <p:pRg st="15" end="1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5"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CA19D15-6CB8-F9AF-05D7-F36C78A87AD9}"/>
            </a:ext>
          </a:extLst>
        </p:cNvPr>
        <p:cNvGrpSpPr/>
        <p:nvPr/>
      </p:nvGrpSpPr>
      <p:grpSpPr>
        <a:xfrm>
          <a:off x="0" y="0"/>
          <a:ext cx="0" cy="0"/>
          <a:chOff x="0" y="0"/>
          <a:chExt cx="0" cy="0"/>
        </a:xfrm>
      </p:grpSpPr>
      <p:sp>
        <p:nvSpPr>
          <p:cNvPr id="552962" name="Rectangle 2">
            <a:extLst>
              <a:ext uri="{FF2B5EF4-FFF2-40B4-BE49-F238E27FC236}">
                <a16:creationId xmlns:a16="http://schemas.microsoft.com/office/drawing/2014/main" id="{6CFDB576-A987-66D6-A8D3-04876CBF42E4}"/>
              </a:ext>
            </a:extLst>
          </p:cNvPr>
          <p:cNvSpPr>
            <a:spLocks noGrp="1" noChangeArrowheads="1"/>
          </p:cNvSpPr>
          <p:nvPr>
            <p:ph type="ctrTitle"/>
          </p:nvPr>
        </p:nvSpPr>
        <p:spPr/>
        <p:txBody>
          <a:bodyPr/>
          <a:lstStyle/>
          <a:p>
            <a:pPr eaLnBrk="1" hangingPunct="1"/>
            <a:r>
              <a:rPr lang="zh-CN" altLang="en-US"/>
              <a:t>指针和字符串</a:t>
            </a:r>
            <a:endParaRPr lang="zh-CN" altLang="en-US" sz="3600" b="1">
              <a:solidFill>
                <a:srgbClr val="FF0000"/>
              </a:solidFill>
              <a:effectLst>
                <a:outerShdw blurRad="38100" dist="38100" dir="2700000" algn="tl">
                  <a:srgbClr val="C0C0C0"/>
                </a:outerShdw>
              </a:effectLst>
              <a:latin typeface="宋体" panose="02010600030101010101" pitchFamily="2" charset="-122"/>
            </a:endParaRPr>
          </a:p>
        </p:txBody>
      </p:sp>
      <p:sp>
        <p:nvSpPr>
          <p:cNvPr id="552963" name="Rectangle 3">
            <a:extLst>
              <a:ext uri="{FF2B5EF4-FFF2-40B4-BE49-F238E27FC236}">
                <a16:creationId xmlns:a16="http://schemas.microsoft.com/office/drawing/2014/main" id="{2205C72D-FF42-07B0-A231-940010F89426}"/>
              </a:ext>
            </a:extLst>
          </p:cNvPr>
          <p:cNvSpPr>
            <a:spLocks noGrp="1" noChangeArrowheads="1"/>
          </p:cNvSpPr>
          <p:nvPr>
            <p:ph type="subTitle" idx="1"/>
          </p:nvPr>
        </p:nvSpPr>
        <p:spPr/>
        <p:txBody>
          <a:bodyPr/>
          <a:lstStyle/>
          <a:p>
            <a:pPr eaLnBrk="1" hangingPunct="1"/>
            <a:endParaRPr lang="en-US" altLang="en-US"/>
          </a:p>
        </p:txBody>
      </p:sp>
    </p:spTree>
    <p:extLst>
      <p:ext uri="{BB962C8B-B14F-4D97-AF65-F5344CB8AC3E}">
        <p14:creationId xmlns:p14="http://schemas.microsoft.com/office/powerpoint/2010/main" val="18573112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552963">
                                            <p:txEl>
                                              <p:pRg st="0" end="0"/>
                                            </p:txEl>
                                          </p:spTgt>
                                        </p:tgtEl>
                                        <p:attrNameLst>
                                          <p:attrName>style.visibility</p:attrName>
                                        </p:attrNameLst>
                                      </p:cBhvr>
                                      <p:to>
                                        <p:strVal val="visible"/>
                                      </p:to>
                                    </p:set>
                                    <p:anim calcmode="lin" valueType="num">
                                      <p:cBhvr additive="base">
                                        <p:cTn id="7" dur="500" fill="hold"/>
                                        <p:tgtEl>
                                          <p:spTgt spid="552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296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3"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2178" name="Rectangle 2">
            <a:extLst>
              <a:ext uri="{FF2B5EF4-FFF2-40B4-BE49-F238E27FC236}">
                <a16:creationId xmlns:a16="http://schemas.microsoft.com/office/drawing/2014/main" id="{F2F376F0-1AEC-0FC1-4195-F7AFC71F27EE}"/>
              </a:ext>
            </a:extLst>
          </p:cNvPr>
          <p:cNvSpPr>
            <a:spLocks noGrp="1" noChangeArrowheads="1"/>
          </p:cNvSpPr>
          <p:nvPr>
            <p:ph type="title"/>
          </p:nvPr>
        </p:nvSpPr>
        <p:spPr/>
        <p:txBody>
          <a:bodyPr/>
          <a:lstStyle/>
          <a:p>
            <a:pPr eaLnBrk="1" hangingPunct="1"/>
            <a:r>
              <a:rPr lang="zh-CN" altLang="en-US"/>
              <a:t>指向字符串的指针</a:t>
            </a:r>
            <a:endParaRPr lang="zh-CN" altLang="en-US" sz="3200" b="1">
              <a:solidFill>
                <a:schemeClr val="hlink"/>
              </a:solidFill>
              <a:effectLst>
                <a:outerShdw blurRad="38100" dist="38100" dir="2700000" algn="tl">
                  <a:srgbClr val="C0C0C0"/>
                </a:outerShdw>
              </a:effectLst>
            </a:endParaRPr>
          </a:p>
        </p:txBody>
      </p:sp>
      <p:sp>
        <p:nvSpPr>
          <p:cNvPr id="562179" name="Rectangle 3">
            <a:extLst>
              <a:ext uri="{FF2B5EF4-FFF2-40B4-BE49-F238E27FC236}">
                <a16:creationId xmlns:a16="http://schemas.microsoft.com/office/drawing/2014/main" id="{2363E958-1BB2-2BFF-D74C-576CB8E339E7}"/>
              </a:ext>
            </a:extLst>
          </p:cNvPr>
          <p:cNvSpPr>
            <a:spLocks noGrp="1" noChangeArrowheads="1"/>
          </p:cNvSpPr>
          <p:nvPr>
            <p:ph type="body" idx="1"/>
          </p:nvPr>
        </p:nvSpPr>
        <p:spPr>
          <a:xfrm>
            <a:off x="1182688" y="2017713"/>
            <a:ext cx="7493768" cy="4114800"/>
          </a:xfrm>
        </p:spPr>
        <p:txBody>
          <a:bodyPr/>
          <a:lstStyle/>
          <a:p>
            <a:pPr marL="533400" indent="-533400" algn="just" eaLnBrk="1" hangingPunct="1">
              <a:spcAft>
                <a:spcPts val="600"/>
              </a:spcAft>
            </a:pPr>
            <a:r>
              <a:rPr lang="zh-CN" altLang="en-US" sz="2000"/>
              <a:t>为</a:t>
            </a:r>
            <a:r>
              <a:rPr lang="zh-CN" altLang="en-US" sz="2000">
                <a:solidFill>
                  <a:srgbClr val="0066FF"/>
                </a:solidFill>
              </a:rPr>
              <a:t>字符串常量</a:t>
            </a:r>
            <a:r>
              <a:rPr lang="zh-CN" altLang="en-US" sz="2000"/>
              <a:t>提供存储空间有两种方法</a:t>
            </a:r>
            <a:r>
              <a:rPr lang="en-US" altLang="zh-CN" sz="2000"/>
              <a:t>:</a:t>
            </a:r>
          </a:p>
          <a:p>
            <a:pPr marL="914400" lvl="1" indent="-457200" algn="just" eaLnBrk="1" hangingPunct="1">
              <a:spcAft>
                <a:spcPts val="600"/>
              </a:spcAft>
            </a:pPr>
            <a:r>
              <a:rPr lang="zh-CN" altLang="en-US" sz="1800"/>
              <a:t>一是把字符串常量存放在一个</a:t>
            </a:r>
            <a:r>
              <a:rPr lang="zh-CN" altLang="en-US" sz="1800">
                <a:solidFill>
                  <a:srgbClr val="0066FF"/>
                </a:solidFill>
              </a:rPr>
              <a:t>字符数组</a:t>
            </a:r>
            <a:r>
              <a:rPr lang="zh-CN" altLang="en-US" sz="1800"/>
              <a:t>中。例如：</a:t>
            </a:r>
          </a:p>
          <a:p>
            <a:pPr marL="1295400" lvl="2" indent="-381000" algn="just" eaLnBrk="1" hangingPunct="1">
              <a:spcAft>
                <a:spcPts val="600"/>
              </a:spcAft>
            </a:pPr>
            <a:r>
              <a:rPr lang="en-US" altLang="zh-CN" sz="1600"/>
              <a:t>char s[] = "I am a string.";</a:t>
            </a:r>
          </a:p>
          <a:p>
            <a:pPr marL="914400" lvl="1" indent="-457200" algn="just" eaLnBrk="1" hangingPunct="1">
              <a:spcAft>
                <a:spcPts val="600"/>
              </a:spcAft>
            </a:pPr>
            <a:r>
              <a:rPr lang="zh-CN" altLang="en-US" sz="1800"/>
              <a:t>另一种方法是由编译系统将字符串常量与程序中出现的其他常量一起存放在</a:t>
            </a:r>
            <a:r>
              <a:rPr lang="zh-CN" altLang="en-US" sz="1800">
                <a:solidFill>
                  <a:srgbClr val="0066FF"/>
                </a:solidFill>
              </a:rPr>
              <a:t>常量存储区</a:t>
            </a:r>
            <a:r>
              <a:rPr lang="zh-CN" altLang="en-US" sz="1800"/>
              <a:t>中。例如：</a:t>
            </a:r>
          </a:p>
          <a:p>
            <a:pPr marL="1295400" lvl="2" indent="-381000" eaLnBrk="1" hangingPunct="1">
              <a:spcAft>
                <a:spcPts val="600"/>
              </a:spcAft>
              <a:buFont typeface="Wingdings" pitchFamily="2" charset="2"/>
              <a:buAutoNum type="arabicPeriod"/>
            </a:pPr>
            <a:r>
              <a:rPr lang="en-US" altLang="zh-CN" sz="1600"/>
              <a:t>char *cp1, *cp2 = "I am a string";</a:t>
            </a:r>
          </a:p>
          <a:p>
            <a:pPr marL="1295400" lvl="2" indent="-381000" eaLnBrk="1" hangingPunct="1">
              <a:spcAft>
                <a:spcPts val="600"/>
              </a:spcAft>
              <a:buFont typeface="Wingdings" pitchFamily="2" charset="2"/>
              <a:buAutoNum type="arabicPeriod"/>
            </a:pPr>
            <a:r>
              <a:rPr lang="en-US" altLang="zh-CN" sz="1600"/>
              <a:t>cp1 = "Another string";</a:t>
            </a:r>
          </a:p>
          <a:p>
            <a:pPr marL="533400" indent="-533400" eaLnBrk="1" hangingPunct="1">
              <a:spcAft>
                <a:spcPts val="600"/>
              </a:spcAft>
            </a:pPr>
            <a:r>
              <a:rPr lang="zh-CN" altLang="en-US" sz="1800"/>
              <a:t>程序为了能访问存于常量存储区中的字符串常量，可用一个字符指针指向它的起始位置（第一个字符）。</a:t>
            </a:r>
          </a:p>
          <a:p>
            <a:pPr marL="533400" indent="-533400" eaLnBrk="1" hangingPunct="1">
              <a:spcAft>
                <a:spcPts val="600"/>
              </a:spcAft>
            </a:pPr>
            <a:r>
              <a:rPr lang="zh-CN" altLang="en-US" sz="1800"/>
              <a:t>当字符串常量作为表达式出现时，系统将字符串常量放入常量存储区，而把表达式转换成该字符串常量存储单元的第一个字符的字符指针。</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2179">
                                            <p:txEl>
                                              <p:pRg st="0" end="0"/>
                                            </p:txEl>
                                          </p:spTgt>
                                        </p:tgtEl>
                                        <p:attrNameLst>
                                          <p:attrName>style.visibility</p:attrName>
                                        </p:attrNameLst>
                                      </p:cBhvr>
                                      <p:to>
                                        <p:strVal val="visible"/>
                                      </p:to>
                                    </p:set>
                                    <p:anim calcmode="lin" valueType="num">
                                      <p:cBhvr additive="base">
                                        <p:cTn id="7" dur="500" fill="hold"/>
                                        <p:tgtEl>
                                          <p:spTgt spid="562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217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62179">
                                            <p:txEl>
                                              <p:pRg st="1" end="1"/>
                                            </p:txEl>
                                          </p:spTgt>
                                        </p:tgtEl>
                                        <p:attrNameLst>
                                          <p:attrName>style.visibility</p:attrName>
                                        </p:attrNameLst>
                                      </p:cBhvr>
                                      <p:to>
                                        <p:strVal val="visible"/>
                                      </p:to>
                                    </p:set>
                                    <p:anim calcmode="lin" valueType="num">
                                      <p:cBhvr additive="base">
                                        <p:cTn id="11" dur="500" fill="hold"/>
                                        <p:tgtEl>
                                          <p:spTgt spid="56217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6217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62179">
                                            <p:txEl>
                                              <p:pRg st="2" end="2"/>
                                            </p:txEl>
                                          </p:spTgt>
                                        </p:tgtEl>
                                        <p:attrNameLst>
                                          <p:attrName>style.visibility</p:attrName>
                                        </p:attrNameLst>
                                      </p:cBhvr>
                                      <p:to>
                                        <p:strVal val="visible"/>
                                      </p:to>
                                    </p:set>
                                    <p:anim calcmode="lin" valueType="num">
                                      <p:cBhvr additive="base">
                                        <p:cTn id="15" dur="500" fill="hold"/>
                                        <p:tgtEl>
                                          <p:spTgt spid="56217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6217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62179">
                                            <p:txEl>
                                              <p:pRg st="3" end="3"/>
                                            </p:txEl>
                                          </p:spTgt>
                                        </p:tgtEl>
                                        <p:attrNameLst>
                                          <p:attrName>style.visibility</p:attrName>
                                        </p:attrNameLst>
                                      </p:cBhvr>
                                      <p:to>
                                        <p:strVal val="visible"/>
                                      </p:to>
                                    </p:set>
                                    <p:anim calcmode="lin" valueType="num">
                                      <p:cBhvr additive="base">
                                        <p:cTn id="19" dur="500" fill="hold"/>
                                        <p:tgtEl>
                                          <p:spTgt spid="56217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6217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62179">
                                            <p:txEl>
                                              <p:pRg st="4" end="4"/>
                                            </p:txEl>
                                          </p:spTgt>
                                        </p:tgtEl>
                                        <p:attrNameLst>
                                          <p:attrName>style.visibility</p:attrName>
                                        </p:attrNameLst>
                                      </p:cBhvr>
                                      <p:to>
                                        <p:strVal val="visible"/>
                                      </p:to>
                                    </p:set>
                                    <p:anim calcmode="lin" valueType="num">
                                      <p:cBhvr additive="base">
                                        <p:cTn id="23" dur="500" fill="hold"/>
                                        <p:tgtEl>
                                          <p:spTgt spid="56217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6217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62179">
                                            <p:txEl>
                                              <p:pRg st="5" end="5"/>
                                            </p:txEl>
                                          </p:spTgt>
                                        </p:tgtEl>
                                        <p:attrNameLst>
                                          <p:attrName>style.visibility</p:attrName>
                                        </p:attrNameLst>
                                      </p:cBhvr>
                                      <p:to>
                                        <p:strVal val="visible"/>
                                      </p:to>
                                    </p:set>
                                    <p:anim calcmode="lin" valueType="num">
                                      <p:cBhvr additive="base">
                                        <p:cTn id="27" dur="500" fill="hold"/>
                                        <p:tgtEl>
                                          <p:spTgt spid="56217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6217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562179">
                                            <p:txEl>
                                              <p:pRg st="6" end="6"/>
                                            </p:txEl>
                                          </p:spTgt>
                                        </p:tgtEl>
                                        <p:attrNameLst>
                                          <p:attrName>style.visibility</p:attrName>
                                        </p:attrNameLst>
                                      </p:cBhvr>
                                      <p:to>
                                        <p:strVal val="visible"/>
                                      </p:to>
                                    </p:set>
                                    <p:anim calcmode="lin" valueType="num">
                                      <p:cBhvr additive="base">
                                        <p:cTn id="33" dur="500" fill="hold"/>
                                        <p:tgtEl>
                                          <p:spTgt spid="562179">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562179">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whoosh.wav"/>
                                        </p:tgtEl>
                                      </p:cMediaNode>
                                    </p:audio>
                                  </p:sub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562179">
                                            <p:txEl>
                                              <p:pRg st="7" end="7"/>
                                            </p:txEl>
                                          </p:spTgt>
                                        </p:tgtEl>
                                        <p:attrNameLst>
                                          <p:attrName>style.visibility</p:attrName>
                                        </p:attrNameLst>
                                      </p:cBhvr>
                                      <p:to>
                                        <p:strVal val="visible"/>
                                      </p:to>
                                    </p:set>
                                    <p:anim calcmode="lin" valueType="num">
                                      <p:cBhvr additive="base">
                                        <p:cTn id="39" dur="500" fill="hold"/>
                                        <p:tgtEl>
                                          <p:spTgt spid="562179">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62179">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1C1FF4C-393E-1BA6-628E-DFBDE5DCEB11}"/>
              </a:ext>
            </a:extLst>
          </p:cNvPr>
          <p:cNvSpPr>
            <a:spLocks noGrp="1" noChangeArrowheads="1"/>
          </p:cNvSpPr>
          <p:nvPr>
            <p:ph type="title"/>
          </p:nvPr>
        </p:nvSpPr>
        <p:spPr/>
        <p:txBody>
          <a:bodyPr/>
          <a:lstStyle/>
          <a:p>
            <a:pPr eaLnBrk="1" hangingPunct="1"/>
            <a:r>
              <a:rPr lang="zh-CN" altLang="en-US"/>
              <a:t>指向字符串的指针</a:t>
            </a:r>
            <a:r>
              <a:rPr lang="en-US" altLang="zh-CN"/>
              <a:t>(</a:t>
            </a:r>
            <a:r>
              <a:rPr lang="zh-CN" altLang="en-US"/>
              <a:t>续</a:t>
            </a:r>
            <a:r>
              <a:rPr lang="en-US" altLang="zh-CN"/>
              <a:t>)</a:t>
            </a:r>
          </a:p>
        </p:txBody>
      </p:sp>
      <p:sp>
        <p:nvSpPr>
          <p:cNvPr id="563203" name="Rectangle 3">
            <a:extLst>
              <a:ext uri="{FF2B5EF4-FFF2-40B4-BE49-F238E27FC236}">
                <a16:creationId xmlns:a16="http://schemas.microsoft.com/office/drawing/2014/main" id="{7D7FCE97-79DB-CE9A-9646-4DC4C61EDA08}"/>
              </a:ext>
            </a:extLst>
          </p:cNvPr>
          <p:cNvSpPr>
            <a:spLocks noGrp="1" noChangeArrowheads="1"/>
          </p:cNvSpPr>
          <p:nvPr>
            <p:ph type="body" idx="1"/>
          </p:nvPr>
        </p:nvSpPr>
        <p:spPr>
          <a:xfrm>
            <a:off x="900113" y="2060848"/>
            <a:ext cx="7772400" cy="3827190"/>
          </a:xfrm>
        </p:spPr>
        <p:txBody>
          <a:bodyPr/>
          <a:lstStyle/>
          <a:p>
            <a:pPr eaLnBrk="1" hangingPunct="1">
              <a:spcAft>
                <a:spcPts val="600"/>
              </a:spcAft>
            </a:pPr>
            <a:r>
              <a:rPr lang="zh-CN" altLang="en-US" sz="2000"/>
              <a:t>系统预定义许多用于字符串处理的库函数，程序可以用字符串常量或指向某字符串的指针调用这些库函数。</a:t>
            </a:r>
          </a:p>
          <a:p>
            <a:pPr eaLnBrk="1" hangingPunct="1">
              <a:spcAft>
                <a:spcPts val="600"/>
              </a:spcAft>
            </a:pPr>
            <a:r>
              <a:rPr lang="zh-CN" altLang="en-US" sz="2000"/>
              <a:t>如调用库函数</a:t>
            </a:r>
            <a:r>
              <a:rPr lang="en-US" altLang="zh-CN" sz="2000"/>
              <a:t>strlen() </a:t>
            </a:r>
            <a:r>
              <a:rPr lang="zh-CN" altLang="en-US" sz="2000"/>
              <a:t>求一字符串常量的长度：</a:t>
            </a:r>
          </a:p>
          <a:p>
            <a:pPr lvl="1" eaLnBrk="1" hangingPunct="1">
              <a:spcAft>
                <a:spcPts val="600"/>
              </a:spcAft>
            </a:pPr>
            <a:r>
              <a:rPr lang="en-US" altLang="zh-CN" sz="1800"/>
              <a:t>strlen("I am a string.")</a:t>
            </a:r>
          </a:p>
          <a:p>
            <a:pPr eaLnBrk="1" hangingPunct="1">
              <a:spcAft>
                <a:spcPts val="600"/>
              </a:spcAft>
            </a:pPr>
            <a:r>
              <a:rPr lang="zh-CN" altLang="en-US" sz="2000"/>
              <a:t>该函数调用的结果是</a:t>
            </a:r>
            <a:r>
              <a:rPr lang="en-US" altLang="zh-CN" sz="2000"/>
              <a:t>14</a:t>
            </a:r>
            <a:r>
              <a:rPr lang="zh-CN" altLang="en-US" sz="2000"/>
              <a:t>，表示此字符串常量由</a:t>
            </a:r>
            <a:r>
              <a:rPr lang="en-US" altLang="zh-CN" sz="2000"/>
              <a:t>14</a:t>
            </a:r>
            <a:r>
              <a:rPr lang="zh-CN" altLang="en-US" sz="2000"/>
              <a:t>个有效字符组成。</a:t>
            </a:r>
          </a:p>
          <a:p>
            <a:pPr eaLnBrk="1" hangingPunct="1">
              <a:spcAft>
                <a:spcPts val="600"/>
              </a:spcAft>
            </a:pPr>
            <a:r>
              <a:rPr lang="zh-CN" altLang="en-US" sz="2000"/>
              <a:t>如 </a:t>
            </a:r>
            <a:r>
              <a:rPr lang="en-US" altLang="zh-CN" sz="2000">
                <a:solidFill>
                  <a:srgbClr val="0066FF"/>
                </a:solidFill>
              </a:rPr>
              <a:t>s</a:t>
            </a:r>
            <a:r>
              <a:rPr lang="zh-CN" altLang="en-US" sz="2000"/>
              <a:t> 是一个</a:t>
            </a:r>
            <a:r>
              <a:rPr lang="zh-CN" altLang="en-US" sz="2000">
                <a:solidFill>
                  <a:srgbClr val="0066FF"/>
                </a:solidFill>
              </a:rPr>
              <a:t>字符数组</a:t>
            </a:r>
            <a:r>
              <a:rPr lang="zh-CN" altLang="en-US" sz="2000"/>
              <a:t>，其中已存有字符串；</a:t>
            </a:r>
            <a:r>
              <a:rPr lang="en-US" altLang="zh-CN" sz="2000">
                <a:solidFill>
                  <a:srgbClr val="0066FF"/>
                </a:solidFill>
              </a:rPr>
              <a:t>cp</a:t>
            </a:r>
            <a:r>
              <a:rPr lang="zh-CN" altLang="en-US" sz="2000"/>
              <a:t>是一个</a:t>
            </a:r>
            <a:r>
              <a:rPr lang="zh-CN" altLang="en-US" sz="2000">
                <a:solidFill>
                  <a:srgbClr val="0066FF"/>
                </a:solidFill>
              </a:rPr>
              <a:t>字符指针变量</a:t>
            </a:r>
            <a:r>
              <a:rPr lang="zh-CN" altLang="en-US" sz="2000"/>
              <a:t>，它指向某个字符串的首字符，则代码：</a:t>
            </a:r>
          </a:p>
          <a:p>
            <a:pPr lvl="1" eaLnBrk="1" hangingPunct="1">
              <a:spcAft>
                <a:spcPts val="600"/>
              </a:spcAft>
            </a:pPr>
            <a:r>
              <a:rPr lang="en-US" altLang="zh-CN" sz="1800"/>
              <a:t>printf("%s\n", s);</a:t>
            </a:r>
          </a:p>
          <a:p>
            <a:pPr lvl="1" eaLnBrk="1" hangingPunct="1">
              <a:spcAft>
                <a:spcPts val="600"/>
              </a:spcAft>
              <a:buFont typeface="Wingdings" pitchFamily="2" charset="2"/>
              <a:buNone/>
            </a:pPr>
            <a:r>
              <a:rPr lang="zh-CN" altLang="en-US" sz="1800"/>
              <a:t>输出存于字符数组</a:t>
            </a:r>
            <a:r>
              <a:rPr lang="en-US" altLang="zh-CN" sz="1800"/>
              <a:t>s</a:t>
            </a:r>
            <a:r>
              <a:rPr lang="zh-CN" altLang="en-US" sz="1800"/>
              <a:t>中的字符串，而代码：</a:t>
            </a:r>
          </a:p>
          <a:p>
            <a:pPr lvl="1" eaLnBrk="1" hangingPunct="1">
              <a:spcAft>
                <a:spcPts val="600"/>
              </a:spcAft>
            </a:pPr>
            <a:r>
              <a:rPr lang="en-US" altLang="zh-CN" sz="1800"/>
              <a:t>printf("%s\n", cp);</a:t>
            </a:r>
          </a:p>
          <a:p>
            <a:pPr lvl="1" eaLnBrk="1" hangingPunct="1">
              <a:spcAft>
                <a:spcPts val="600"/>
              </a:spcAft>
              <a:buFont typeface="Wingdings" pitchFamily="2" charset="2"/>
              <a:buNone/>
            </a:pPr>
            <a:r>
              <a:rPr lang="zh-CN" altLang="en-US" sz="1800"/>
              <a:t>输出字符指针变量</a:t>
            </a:r>
            <a:r>
              <a:rPr lang="en-US" altLang="zh-CN" sz="1800"/>
              <a:t>cp</a:t>
            </a:r>
            <a:r>
              <a:rPr lang="zh-CN" altLang="en-US" sz="1800"/>
              <a:t>所指向的字符串。</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203">
                                            <p:txEl>
                                              <p:pRg st="0" end="0"/>
                                            </p:txEl>
                                          </p:spTgt>
                                        </p:tgtEl>
                                        <p:attrNameLst>
                                          <p:attrName>style.visibility</p:attrName>
                                        </p:attrNameLst>
                                      </p:cBhvr>
                                      <p:to>
                                        <p:strVal val="visible"/>
                                      </p:to>
                                    </p:set>
                                    <p:anim calcmode="lin" valueType="num">
                                      <p:cBhvr additive="base">
                                        <p:cTn id="7" dur="500" fill="hold"/>
                                        <p:tgtEl>
                                          <p:spTgt spid="5632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320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3203">
                                            <p:txEl>
                                              <p:pRg st="1" end="1"/>
                                            </p:txEl>
                                          </p:spTgt>
                                        </p:tgtEl>
                                        <p:attrNameLst>
                                          <p:attrName>style.visibility</p:attrName>
                                        </p:attrNameLst>
                                      </p:cBhvr>
                                      <p:to>
                                        <p:strVal val="visible"/>
                                      </p:to>
                                    </p:set>
                                    <p:anim calcmode="lin" valueType="num">
                                      <p:cBhvr additive="base">
                                        <p:cTn id="13" dur="500" fill="hold"/>
                                        <p:tgtEl>
                                          <p:spTgt spid="5632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6320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par>
                                <p:cTn id="15" presetID="2" presetClass="entr" presetSubtype="8" fill="hold" grpId="0" nodeType="withEffect">
                                  <p:stCondLst>
                                    <p:cond delay="0"/>
                                  </p:stCondLst>
                                  <p:childTnLst>
                                    <p:set>
                                      <p:cBhvr>
                                        <p:cTn id="16" dur="1" fill="hold">
                                          <p:stCondLst>
                                            <p:cond delay="0"/>
                                          </p:stCondLst>
                                        </p:cTn>
                                        <p:tgtEl>
                                          <p:spTgt spid="563203">
                                            <p:txEl>
                                              <p:pRg st="2" end="2"/>
                                            </p:txEl>
                                          </p:spTgt>
                                        </p:tgtEl>
                                        <p:attrNameLst>
                                          <p:attrName>style.visibility</p:attrName>
                                        </p:attrNameLst>
                                      </p:cBhvr>
                                      <p:to>
                                        <p:strVal val="visible"/>
                                      </p:to>
                                    </p:set>
                                    <p:anim calcmode="lin" valueType="num">
                                      <p:cBhvr additive="base">
                                        <p:cTn id="17" dur="500" fill="hold"/>
                                        <p:tgtEl>
                                          <p:spTgt spid="56320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6320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63203">
                                            <p:txEl>
                                              <p:pRg st="3" end="3"/>
                                            </p:txEl>
                                          </p:spTgt>
                                        </p:tgtEl>
                                        <p:attrNameLst>
                                          <p:attrName>style.visibility</p:attrName>
                                        </p:attrNameLst>
                                      </p:cBhvr>
                                      <p:to>
                                        <p:strVal val="visible"/>
                                      </p:to>
                                    </p:set>
                                    <p:anim calcmode="lin" valueType="num">
                                      <p:cBhvr additive="base">
                                        <p:cTn id="23" dur="500" fill="hold"/>
                                        <p:tgtEl>
                                          <p:spTgt spid="563203">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6320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63203">
                                            <p:txEl>
                                              <p:pRg st="4" end="4"/>
                                            </p:txEl>
                                          </p:spTgt>
                                        </p:tgtEl>
                                        <p:attrNameLst>
                                          <p:attrName>style.visibility</p:attrName>
                                        </p:attrNameLst>
                                      </p:cBhvr>
                                      <p:to>
                                        <p:strVal val="visible"/>
                                      </p:to>
                                    </p:set>
                                    <p:anim calcmode="lin" valueType="num">
                                      <p:cBhvr additive="base">
                                        <p:cTn id="29" dur="500" fill="hold"/>
                                        <p:tgtEl>
                                          <p:spTgt spid="563203">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56320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whoosh.wav"/>
                                        </p:tgtEl>
                                      </p:cMediaNode>
                                    </p:audio>
                                  </p:subTnLst>
                                </p:cTn>
                              </p:par>
                              <p:par>
                                <p:cTn id="31" presetID="2" presetClass="entr" presetSubtype="8" fill="hold" grpId="0" nodeType="withEffect">
                                  <p:stCondLst>
                                    <p:cond delay="0"/>
                                  </p:stCondLst>
                                  <p:childTnLst>
                                    <p:set>
                                      <p:cBhvr>
                                        <p:cTn id="32" dur="1" fill="hold">
                                          <p:stCondLst>
                                            <p:cond delay="0"/>
                                          </p:stCondLst>
                                        </p:cTn>
                                        <p:tgtEl>
                                          <p:spTgt spid="563203">
                                            <p:txEl>
                                              <p:pRg st="5" end="5"/>
                                            </p:txEl>
                                          </p:spTgt>
                                        </p:tgtEl>
                                        <p:attrNameLst>
                                          <p:attrName>style.visibility</p:attrName>
                                        </p:attrNameLst>
                                      </p:cBhvr>
                                      <p:to>
                                        <p:strVal val="visible"/>
                                      </p:to>
                                    </p:set>
                                    <p:anim calcmode="lin" valueType="num">
                                      <p:cBhvr additive="base">
                                        <p:cTn id="33" dur="500" fill="hold"/>
                                        <p:tgtEl>
                                          <p:spTgt spid="563203">
                                            <p:txEl>
                                              <p:pRg st="5" end="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563203">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whoosh.wav"/>
                                        </p:tgtEl>
                                      </p:cMediaNode>
                                    </p:audio>
                                  </p:subTnLst>
                                </p:cTn>
                              </p:par>
                              <p:par>
                                <p:cTn id="35" presetID="2" presetClass="entr" presetSubtype="8" fill="hold" grpId="0" nodeType="withEffect">
                                  <p:stCondLst>
                                    <p:cond delay="0"/>
                                  </p:stCondLst>
                                  <p:childTnLst>
                                    <p:set>
                                      <p:cBhvr>
                                        <p:cTn id="36" dur="1" fill="hold">
                                          <p:stCondLst>
                                            <p:cond delay="0"/>
                                          </p:stCondLst>
                                        </p:cTn>
                                        <p:tgtEl>
                                          <p:spTgt spid="563203">
                                            <p:txEl>
                                              <p:pRg st="6" end="6"/>
                                            </p:txEl>
                                          </p:spTgt>
                                        </p:tgtEl>
                                        <p:attrNameLst>
                                          <p:attrName>style.visibility</p:attrName>
                                        </p:attrNameLst>
                                      </p:cBhvr>
                                      <p:to>
                                        <p:strVal val="visible"/>
                                      </p:to>
                                    </p:set>
                                    <p:anim calcmode="lin" valueType="num">
                                      <p:cBhvr additive="base">
                                        <p:cTn id="37" dur="500" fill="hold"/>
                                        <p:tgtEl>
                                          <p:spTgt spid="56320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63203">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par>
                                <p:cTn id="39" presetID="2" presetClass="entr" presetSubtype="8" fill="hold" grpId="0" nodeType="withEffect">
                                  <p:stCondLst>
                                    <p:cond delay="0"/>
                                  </p:stCondLst>
                                  <p:childTnLst>
                                    <p:set>
                                      <p:cBhvr>
                                        <p:cTn id="40" dur="1" fill="hold">
                                          <p:stCondLst>
                                            <p:cond delay="0"/>
                                          </p:stCondLst>
                                        </p:cTn>
                                        <p:tgtEl>
                                          <p:spTgt spid="563203">
                                            <p:txEl>
                                              <p:pRg st="7" end="7"/>
                                            </p:txEl>
                                          </p:spTgt>
                                        </p:tgtEl>
                                        <p:attrNameLst>
                                          <p:attrName>style.visibility</p:attrName>
                                        </p:attrNameLst>
                                      </p:cBhvr>
                                      <p:to>
                                        <p:strVal val="visible"/>
                                      </p:to>
                                    </p:set>
                                    <p:anim calcmode="lin" valueType="num">
                                      <p:cBhvr additive="base">
                                        <p:cTn id="41" dur="500" fill="hold"/>
                                        <p:tgtEl>
                                          <p:spTgt spid="563203">
                                            <p:txEl>
                                              <p:pRg st="7" end="7"/>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563203">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whoosh.wav"/>
                                        </p:tgtEl>
                                      </p:cMediaNode>
                                    </p:audio>
                                  </p:subTnLst>
                                </p:cTn>
                              </p:par>
                              <p:par>
                                <p:cTn id="43" presetID="2" presetClass="entr" presetSubtype="8" fill="hold" grpId="0" nodeType="withEffect">
                                  <p:stCondLst>
                                    <p:cond delay="0"/>
                                  </p:stCondLst>
                                  <p:childTnLst>
                                    <p:set>
                                      <p:cBhvr>
                                        <p:cTn id="44" dur="1" fill="hold">
                                          <p:stCondLst>
                                            <p:cond delay="0"/>
                                          </p:stCondLst>
                                        </p:cTn>
                                        <p:tgtEl>
                                          <p:spTgt spid="563203">
                                            <p:txEl>
                                              <p:pRg st="8" end="8"/>
                                            </p:txEl>
                                          </p:spTgt>
                                        </p:tgtEl>
                                        <p:attrNameLst>
                                          <p:attrName>style.visibility</p:attrName>
                                        </p:attrNameLst>
                                      </p:cBhvr>
                                      <p:to>
                                        <p:strVal val="visible"/>
                                      </p:to>
                                    </p:set>
                                    <p:anim calcmode="lin" valueType="num">
                                      <p:cBhvr additive="base">
                                        <p:cTn id="45" dur="500" fill="hold"/>
                                        <p:tgtEl>
                                          <p:spTgt spid="563203">
                                            <p:txEl>
                                              <p:pRg st="8" end="8"/>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563203">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3"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61A54DC-26A6-1F48-BA4D-E74F9473191A}"/>
              </a:ext>
            </a:extLst>
          </p:cNvPr>
          <p:cNvSpPr>
            <a:spLocks noGrp="1" noChangeArrowheads="1"/>
          </p:cNvSpPr>
          <p:nvPr>
            <p:ph type="title"/>
          </p:nvPr>
        </p:nvSpPr>
        <p:spPr/>
        <p:txBody>
          <a:bodyPr/>
          <a:lstStyle/>
          <a:p>
            <a:pPr eaLnBrk="1" hangingPunct="1"/>
            <a:r>
              <a:rPr lang="zh-CN" altLang="en-US"/>
              <a:t>例</a:t>
            </a:r>
            <a:r>
              <a:rPr lang="en-US" altLang="zh-CN"/>
              <a:t>21</a:t>
            </a:r>
          </a:p>
        </p:txBody>
      </p:sp>
      <p:sp>
        <p:nvSpPr>
          <p:cNvPr id="564227" name="Rectangle 3">
            <a:extLst>
              <a:ext uri="{FF2B5EF4-FFF2-40B4-BE49-F238E27FC236}">
                <a16:creationId xmlns:a16="http://schemas.microsoft.com/office/drawing/2014/main" id="{129FF053-5131-2F38-6B0D-B296479D0747}"/>
              </a:ext>
            </a:extLst>
          </p:cNvPr>
          <p:cNvSpPr>
            <a:spLocks noGrp="1" noChangeArrowheads="1"/>
          </p:cNvSpPr>
          <p:nvPr>
            <p:ph type="body" idx="1"/>
          </p:nvPr>
        </p:nvSpPr>
        <p:spPr>
          <a:xfrm>
            <a:off x="1182688" y="2017713"/>
            <a:ext cx="7421760" cy="4114800"/>
          </a:xfrm>
        </p:spPr>
        <p:txBody>
          <a:bodyPr/>
          <a:lstStyle/>
          <a:p>
            <a:pPr marL="533400" indent="-533400" algn="just" eaLnBrk="1" hangingPunct="1">
              <a:spcAft>
                <a:spcPts val="600"/>
              </a:spcAft>
            </a:pPr>
            <a:r>
              <a:rPr lang="zh-CN" altLang="en-US" sz="2400"/>
              <a:t>将一个已知字符串复制到一个</a:t>
            </a:r>
            <a:r>
              <a:rPr lang="zh-CN" altLang="en-US" sz="2400">
                <a:solidFill>
                  <a:srgbClr val="0066FF"/>
                </a:solidFill>
              </a:rPr>
              <a:t>字符数组</a:t>
            </a:r>
          </a:p>
          <a:p>
            <a:pPr marL="533400" indent="-533400" algn="just" eaLnBrk="1" hangingPunct="1">
              <a:spcAft>
                <a:spcPts val="600"/>
              </a:spcAft>
            </a:pPr>
            <a:r>
              <a:rPr lang="zh-CN" altLang="en-US" sz="2400"/>
              <a:t>设</a:t>
            </a:r>
            <a:r>
              <a:rPr lang="en-US" altLang="zh-CN" sz="2400">
                <a:solidFill>
                  <a:srgbClr val="0066FF"/>
                </a:solidFill>
              </a:rPr>
              <a:t>from</a:t>
            </a:r>
            <a:r>
              <a:rPr lang="zh-CN" altLang="en-US" sz="2400"/>
              <a:t>为已知字符串的首字符指针，</a:t>
            </a:r>
            <a:r>
              <a:rPr lang="en-US" altLang="zh-CN" sz="2400">
                <a:solidFill>
                  <a:srgbClr val="0066FF"/>
                </a:solidFill>
              </a:rPr>
              <a:t>to</a:t>
            </a:r>
            <a:r>
              <a:rPr lang="zh-CN" altLang="en-US" sz="2400"/>
              <a:t>为存储复制字符串的字符数组首元素的指针。若用下标引用数组元素标记法，完成复制的代码可写成：</a:t>
            </a:r>
          </a:p>
          <a:p>
            <a:pPr marL="914400" lvl="1" indent="-457200" algn="just" eaLnBrk="1" hangingPunct="1">
              <a:spcAft>
                <a:spcPts val="600"/>
              </a:spcAft>
              <a:buFont typeface="Wingdings" pitchFamily="2" charset="2"/>
              <a:buAutoNum type="arabicPeriod"/>
            </a:pPr>
            <a:r>
              <a:rPr lang="zh-CN" altLang="en-US" sz="2000"/>
              <a:t>  </a:t>
            </a:r>
            <a:r>
              <a:rPr lang="en-US" altLang="zh-CN" sz="2000"/>
              <a:t>k = 0;</a:t>
            </a:r>
          </a:p>
          <a:p>
            <a:pPr marL="914400" lvl="1" indent="-457200" algn="just" eaLnBrk="1" hangingPunct="1">
              <a:spcAft>
                <a:spcPts val="600"/>
              </a:spcAft>
              <a:buFont typeface="Wingdings" pitchFamily="2" charset="2"/>
              <a:buAutoNum type="arabicPeriod"/>
            </a:pPr>
            <a:r>
              <a:rPr lang="en-US" altLang="zh-CN" sz="2000"/>
              <a:t>  while ((to[k] = from[k]) != </a:t>
            </a:r>
            <a:r>
              <a:rPr lang="en-US" altLang="zh-CN" sz="2000">
                <a:latin typeface="Arial" panose="020B0604020202020204" pitchFamily="34" charset="0"/>
              </a:rPr>
              <a:t>‘</a:t>
            </a:r>
            <a:r>
              <a:rPr lang="en-US" altLang="zh-CN" sz="2000"/>
              <a:t>\0</a:t>
            </a:r>
            <a:r>
              <a:rPr lang="en-US" altLang="zh-CN" sz="2000">
                <a:latin typeface="Arial" panose="020B0604020202020204" pitchFamily="34" charset="0"/>
              </a:rPr>
              <a:t>’</a:t>
            </a:r>
            <a:r>
              <a:rPr lang="en-US" altLang="zh-CN" sz="2000"/>
              <a:t>)  k++;</a:t>
            </a:r>
          </a:p>
          <a:p>
            <a:pPr marL="533400" indent="-533400" algn="just" eaLnBrk="1" hangingPunct="1">
              <a:spcAft>
                <a:spcPts val="600"/>
              </a:spcAft>
            </a:pPr>
            <a:r>
              <a:rPr lang="zh-CN" altLang="en-US" sz="2400"/>
              <a:t>如采用字符指针描述有：</a:t>
            </a:r>
          </a:p>
          <a:p>
            <a:pPr marL="914400" lvl="1" indent="-457200" algn="just" eaLnBrk="1" hangingPunct="1">
              <a:spcAft>
                <a:spcPts val="600"/>
              </a:spcAft>
            </a:pPr>
            <a:r>
              <a:rPr lang="zh-CN" altLang="en-US" sz="2000"/>
              <a:t>  </a:t>
            </a:r>
            <a:r>
              <a:rPr lang="en-US" altLang="zh-CN" sz="2000"/>
              <a:t>while ((*to++ = *from++) != </a:t>
            </a:r>
            <a:r>
              <a:rPr lang="en-US" altLang="zh-CN" sz="2000">
                <a:latin typeface="Arial" panose="020B0604020202020204" pitchFamily="34" charset="0"/>
              </a:rPr>
              <a:t>‘</a:t>
            </a:r>
            <a:r>
              <a:rPr lang="en-US" altLang="zh-CN" sz="2000"/>
              <a:t>\0</a:t>
            </a:r>
            <a:r>
              <a:rPr lang="en-US" altLang="zh-CN" sz="2000">
                <a:latin typeface="Arial" panose="020B0604020202020204" pitchFamily="34" charset="0"/>
              </a:rPr>
              <a:t>’</a:t>
            </a:r>
            <a:r>
              <a:rPr lang="en-US" altLang="zh-CN" sz="2000"/>
              <a:t>);</a:t>
            </a:r>
          </a:p>
          <a:p>
            <a:pPr marL="533400" indent="-533400" algn="just" eaLnBrk="1" hangingPunct="1">
              <a:spcAft>
                <a:spcPts val="600"/>
              </a:spcAft>
            </a:pPr>
            <a:r>
              <a:rPr lang="zh-CN" altLang="en-US" sz="2400"/>
              <a:t>字符串复制更简洁的写法是：</a:t>
            </a:r>
          </a:p>
          <a:p>
            <a:pPr marL="914400" lvl="1" indent="-457200" algn="just" eaLnBrk="1" hangingPunct="1">
              <a:spcAft>
                <a:spcPts val="600"/>
              </a:spcAft>
            </a:pPr>
            <a:r>
              <a:rPr lang="zh-CN" altLang="en-US" sz="2000"/>
              <a:t>  </a:t>
            </a:r>
            <a:r>
              <a:rPr lang="en-US" altLang="zh-CN" sz="2000"/>
              <a:t>while (*to++ = *from++);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4227">
                                            <p:txEl>
                                              <p:pRg st="0" end="0"/>
                                            </p:txEl>
                                          </p:spTgt>
                                        </p:tgtEl>
                                        <p:attrNameLst>
                                          <p:attrName>style.visibility</p:attrName>
                                        </p:attrNameLst>
                                      </p:cBhvr>
                                      <p:to>
                                        <p:strVal val="visible"/>
                                      </p:to>
                                    </p:set>
                                    <p:anim calcmode="lin" valueType="num">
                                      <p:cBhvr additive="base">
                                        <p:cTn id="7" dur="500" fill="hold"/>
                                        <p:tgtEl>
                                          <p:spTgt spid="5642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422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4227">
                                            <p:txEl>
                                              <p:pRg st="1" end="1"/>
                                            </p:txEl>
                                          </p:spTgt>
                                        </p:tgtEl>
                                        <p:attrNameLst>
                                          <p:attrName>style.visibility</p:attrName>
                                        </p:attrNameLst>
                                      </p:cBhvr>
                                      <p:to>
                                        <p:strVal val="visible"/>
                                      </p:to>
                                    </p:set>
                                    <p:anim calcmode="lin" valueType="num">
                                      <p:cBhvr additive="base">
                                        <p:cTn id="13" dur="500" fill="hold"/>
                                        <p:tgtEl>
                                          <p:spTgt spid="5642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6422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par>
                                <p:cTn id="15" presetID="2" presetClass="entr" presetSubtype="8" fill="hold" grpId="0" nodeType="withEffect">
                                  <p:stCondLst>
                                    <p:cond delay="0"/>
                                  </p:stCondLst>
                                  <p:childTnLst>
                                    <p:set>
                                      <p:cBhvr>
                                        <p:cTn id="16" dur="1" fill="hold">
                                          <p:stCondLst>
                                            <p:cond delay="0"/>
                                          </p:stCondLst>
                                        </p:cTn>
                                        <p:tgtEl>
                                          <p:spTgt spid="564227">
                                            <p:txEl>
                                              <p:pRg st="2" end="2"/>
                                            </p:txEl>
                                          </p:spTgt>
                                        </p:tgtEl>
                                        <p:attrNameLst>
                                          <p:attrName>style.visibility</p:attrName>
                                        </p:attrNameLst>
                                      </p:cBhvr>
                                      <p:to>
                                        <p:strVal val="visible"/>
                                      </p:to>
                                    </p:set>
                                    <p:anim calcmode="lin" valueType="num">
                                      <p:cBhvr additive="base">
                                        <p:cTn id="17" dur="500" fill="hold"/>
                                        <p:tgtEl>
                                          <p:spTgt spid="56422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6422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par>
                                <p:cTn id="19" presetID="2" presetClass="entr" presetSubtype="8" fill="hold" grpId="0" nodeType="withEffect">
                                  <p:stCondLst>
                                    <p:cond delay="0"/>
                                  </p:stCondLst>
                                  <p:childTnLst>
                                    <p:set>
                                      <p:cBhvr>
                                        <p:cTn id="20" dur="1" fill="hold">
                                          <p:stCondLst>
                                            <p:cond delay="0"/>
                                          </p:stCondLst>
                                        </p:cTn>
                                        <p:tgtEl>
                                          <p:spTgt spid="564227">
                                            <p:txEl>
                                              <p:pRg st="3" end="3"/>
                                            </p:txEl>
                                          </p:spTgt>
                                        </p:tgtEl>
                                        <p:attrNameLst>
                                          <p:attrName>style.visibility</p:attrName>
                                        </p:attrNameLst>
                                      </p:cBhvr>
                                      <p:to>
                                        <p:strVal val="visible"/>
                                      </p:to>
                                    </p:set>
                                    <p:anim calcmode="lin" valueType="num">
                                      <p:cBhvr additive="base">
                                        <p:cTn id="21" dur="500" fill="hold"/>
                                        <p:tgtEl>
                                          <p:spTgt spid="564227">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6422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whoosh.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564227">
                                            <p:txEl>
                                              <p:pRg st="4" end="4"/>
                                            </p:txEl>
                                          </p:spTgt>
                                        </p:tgtEl>
                                        <p:attrNameLst>
                                          <p:attrName>style.visibility</p:attrName>
                                        </p:attrNameLst>
                                      </p:cBhvr>
                                      <p:to>
                                        <p:strVal val="visible"/>
                                      </p:to>
                                    </p:set>
                                    <p:anim calcmode="lin" valueType="num">
                                      <p:cBhvr additive="base">
                                        <p:cTn id="27" dur="500" fill="hold"/>
                                        <p:tgtEl>
                                          <p:spTgt spid="564227">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6422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64227">
                                            <p:txEl>
                                              <p:pRg st="5" end="5"/>
                                            </p:txEl>
                                          </p:spTgt>
                                        </p:tgtEl>
                                        <p:attrNameLst>
                                          <p:attrName>style.visibility</p:attrName>
                                        </p:attrNameLst>
                                      </p:cBhvr>
                                      <p:to>
                                        <p:strVal val="visible"/>
                                      </p:to>
                                    </p:set>
                                    <p:anim calcmode="lin" valueType="num">
                                      <p:cBhvr additive="base">
                                        <p:cTn id="31" dur="500" fill="hold"/>
                                        <p:tgtEl>
                                          <p:spTgt spid="564227">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6422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64227">
                                            <p:txEl>
                                              <p:pRg st="6" end="6"/>
                                            </p:txEl>
                                          </p:spTgt>
                                        </p:tgtEl>
                                        <p:attrNameLst>
                                          <p:attrName>style.visibility</p:attrName>
                                        </p:attrNameLst>
                                      </p:cBhvr>
                                      <p:to>
                                        <p:strVal val="visible"/>
                                      </p:to>
                                    </p:set>
                                    <p:anim calcmode="lin" valueType="num">
                                      <p:cBhvr additive="base">
                                        <p:cTn id="37" dur="500" fill="hold"/>
                                        <p:tgtEl>
                                          <p:spTgt spid="564227">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64227">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par>
                                <p:cTn id="39" presetID="2" presetClass="entr" presetSubtype="8" fill="hold" grpId="0" nodeType="withEffect">
                                  <p:stCondLst>
                                    <p:cond delay="0"/>
                                  </p:stCondLst>
                                  <p:childTnLst>
                                    <p:set>
                                      <p:cBhvr>
                                        <p:cTn id="40" dur="1" fill="hold">
                                          <p:stCondLst>
                                            <p:cond delay="0"/>
                                          </p:stCondLst>
                                        </p:cTn>
                                        <p:tgtEl>
                                          <p:spTgt spid="564227">
                                            <p:txEl>
                                              <p:pRg st="7" end="7"/>
                                            </p:txEl>
                                          </p:spTgt>
                                        </p:tgtEl>
                                        <p:attrNameLst>
                                          <p:attrName>style.visibility</p:attrName>
                                        </p:attrNameLst>
                                      </p:cBhvr>
                                      <p:to>
                                        <p:strVal val="visible"/>
                                      </p:to>
                                    </p:set>
                                    <p:anim calcmode="lin" valueType="num">
                                      <p:cBhvr additive="base">
                                        <p:cTn id="41" dur="500" fill="hold"/>
                                        <p:tgtEl>
                                          <p:spTgt spid="564227">
                                            <p:txEl>
                                              <p:pRg st="7" end="7"/>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564227">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7"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F40ED10-9DD2-3B74-E37C-0BAAECBAA7EE}"/>
              </a:ext>
            </a:extLst>
          </p:cNvPr>
          <p:cNvSpPr>
            <a:spLocks noGrp="1" noChangeArrowheads="1"/>
          </p:cNvSpPr>
          <p:nvPr>
            <p:ph type="title"/>
          </p:nvPr>
        </p:nvSpPr>
        <p:spPr/>
        <p:txBody>
          <a:bodyPr/>
          <a:lstStyle/>
          <a:p>
            <a:pPr eaLnBrk="1" hangingPunct="1"/>
            <a:r>
              <a:rPr lang="zh-CN" altLang="en-US"/>
              <a:t>例</a:t>
            </a:r>
            <a:r>
              <a:rPr lang="en-US" altLang="zh-CN"/>
              <a:t>22</a:t>
            </a:r>
          </a:p>
        </p:txBody>
      </p:sp>
      <p:sp>
        <p:nvSpPr>
          <p:cNvPr id="565251" name="Rectangle 3">
            <a:extLst>
              <a:ext uri="{FF2B5EF4-FFF2-40B4-BE49-F238E27FC236}">
                <a16:creationId xmlns:a16="http://schemas.microsoft.com/office/drawing/2014/main" id="{5C8EDE14-F964-8AF2-F58F-42B11A1383CA}"/>
              </a:ext>
            </a:extLst>
          </p:cNvPr>
          <p:cNvSpPr>
            <a:spLocks noGrp="1" noChangeArrowheads="1"/>
          </p:cNvSpPr>
          <p:nvPr>
            <p:ph type="body" idx="1"/>
          </p:nvPr>
        </p:nvSpPr>
        <p:spPr>
          <a:xfrm>
            <a:off x="1182688" y="2017713"/>
            <a:ext cx="7493768" cy="4114800"/>
          </a:xfrm>
        </p:spPr>
        <p:txBody>
          <a:bodyPr/>
          <a:lstStyle/>
          <a:p>
            <a:pPr marL="0" indent="0" eaLnBrk="1" hangingPunct="1">
              <a:spcAft>
                <a:spcPts val="600"/>
              </a:spcAft>
              <a:buNone/>
            </a:pPr>
            <a:r>
              <a:rPr lang="zh-CN" altLang="en-US" sz="2400"/>
              <a:t>要求：</a:t>
            </a:r>
            <a:r>
              <a:rPr lang="zh-CN" altLang="en-US" sz="2400" i="1"/>
              <a:t>将字符串</a:t>
            </a:r>
            <a:r>
              <a:rPr lang="en-US" altLang="zh-CN" sz="2400" i="1"/>
              <a:t>s</a:t>
            </a:r>
            <a:r>
              <a:rPr lang="zh-CN" altLang="en-US" sz="2400" i="1"/>
              <a:t>中的某种字符去掉，设要去掉的字符与字符变量</a:t>
            </a:r>
            <a:r>
              <a:rPr lang="en-US" altLang="zh-CN" sz="2400" i="1"/>
              <a:t>c</a:t>
            </a:r>
            <a:r>
              <a:rPr lang="zh-CN" altLang="en-US" sz="2400" i="1"/>
              <a:t>中的字符相同。</a:t>
            </a:r>
          </a:p>
          <a:p>
            <a:pPr marL="533400" indent="-533400" eaLnBrk="1" hangingPunct="1">
              <a:spcAft>
                <a:spcPts val="600"/>
              </a:spcAft>
            </a:pPr>
            <a:r>
              <a:rPr lang="zh-CN" altLang="en-US" sz="2400"/>
              <a:t>思路：采用一边考察字符一边复制的方法。</a:t>
            </a:r>
          </a:p>
          <a:p>
            <a:pPr marL="533400" indent="-533400" eaLnBrk="1" hangingPunct="1">
              <a:spcAft>
                <a:spcPts val="600"/>
              </a:spcAft>
            </a:pPr>
            <a:r>
              <a:rPr lang="zh-CN" altLang="en-US" sz="2400"/>
              <a:t>引入两个字符指针</a:t>
            </a:r>
            <a:r>
              <a:rPr lang="en-US" altLang="zh-CN" sz="2400"/>
              <a:t>p</a:t>
            </a:r>
            <a:r>
              <a:rPr lang="zh-CN" altLang="en-US" sz="2400"/>
              <a:t>和</a:t>
            </a:r>
            <a:r>
              <a:rPr lang="en-US" altLang="zh-CN" sz="2400"/>
              <a:t>q</a:t>
            </a:r>
            <a:r>
              <a:rPr lang="zh-CN" altLang="en-US" sz="2400"/>
              <a:t>，</a:t>
            </a:r>
            <a:r>
              <a:rPr lang="en-US" altLang="zh-CN" sz="2400"/>
              <a:t>p</a:t>
            </a:r>
            <a:r>
              <a:rPr lang="zh-CN" altLang="en-US" sz="2400"/>
              <a:t>指向当前正考察的字符，</a:t>
            </a:r>
            <a:r>
              <a:rPr lang="en-US" altLang="zh-CN" sz="2400"/>
              <a:t>q</a:t>
            </a:r>
            <a:r>
              <a:rPr lang="zh-CN" altLang="en-US" sz="2400"/>
              <a:t>指向下一个用于存储复制字符的位置。若</a:t>
            </a:r>
            <a:r>
              <a:rPr lang="en-US" altLang="zh-CN" sz="2400"/>
              <a:t>p</a:t>
            </a:r>
            <a:r>
              <a:rPr lang="zh-CN" altLang="en-US" sz="2400"/>
              <a:t>所指字符与</a:t>
            </a:r>
            <a:r>
              <a:rPr lang="en-US" altLang="zh-CN" sz="2400"/>
              <a:t>c</a:t>
            </a:r>
            <a:r>
              <a:rPr lang="zh-CN" altLang="en-US" sz="2400"/>
              <a:t>不相同，则将它复制到新字符串；否则，该字符不被复制。每复制一个字符</a:t>
            </a:r>
            <a:r>
              <a:rPr lang="en-US" altLang="zh-CN" sz="2400"/>
              <a:t>q</a:t>
            </a:r>
            <a:r>
              <a:rPr lang="zh-CN" altLang="en-US" sz="2400"/>
              <a:t>才增</a:t>
            </a:r>
            <a:r>
              <a:rPr lang="en-US" altLang="zh-CN" sz="2400"/>
              <a:t>1</a:t>
            </a:r>
            <a:r>
              <a:rPr lang="zh-CN" altLang="en-US" sz="2400"/>
              <a:t>，</a:t>
            </a:r>
            <a:r>
              <a:rPr lang="en-US" altLang="zh-CN" sz="2400"/>
              <a:t>p</a:t>
            </a:r>
            <a:r>
              <a:rPr lang="zh-CN" altLang="en-US" sz="2400"/>
              <a:t>是每考察一个字符就增</a:t>
            </a:r>
            <a:r>
              <a:rPr lang="en-US" altLang="zh-CN" sz="2400"/>
              <a:t>1</a:t>
            </a:r>
            <a:r>
              <a:rPr lang="zh-CN" altLang="en-US" sz="2400"/>
              <a:t>。</a:t>
            </a:r>
          </a:p>
          <a:p>
            <a:pPr marL="914400" lvl="1" indent="-457200" eaLnBrk="1" hangingPunct="1">
              <a:spcAft>
                <a:spcPts val="600"/>
              </a:spcAft>
              <a:buFont typeface="Wingdings" pitchFamily="2" charset="2"/>
              <a:buAutoNum type="arabicPeriod"/>
            </a:pPr>
            <a:r>
              <a:rPr lang="zh-CN" altLang="en-US" sz="2000"/>
              <a:t>  </a:t>
            </a:r>
            <a:r>
              <a:rPr lang="en-US" altLang="zh-CN" sz="2000"/>
              <a:t>for(p = q = s;*p; p++) </a:t>
            </a:r>
          </a:p>
          <a:p>
            <a:pPr marL="914400" lvl="1" indent="-457200" eaLnBrk="1" hangingPunct="1">
              <a:spcAft>
                <a:spcPts val="600"/>
              </a:spcAft>
              <a:buFont typeface="Wingdings" pitchFamily="2" charset="2"/>
              <a:buAutoNum type="arabicPeriod"/>
            </a:pPr>
            <a:r>
              <a:rPr lang="en-US" altLang="zh-CN" sz="2000"/>
              <a:t>     if (*p != c)  *q++ = *p; /* </a:t>
            </a:r>
            <a:r>
              <a:rPr lang="zh-CN" altLang="en-US" sz="2000"/>
              <a:t>复制 *</a:t>
            </a:r>
            <a:r>
              <a:rPr lang="en-US" altLang="zh-CN" sz="2000"/>
              <a:t>/</a:t>
            </a:r>
          </a:p>
          <a:p>
            <a:pPr marL="914400" lvl="1" indent="-457200" eaLnBrk="1" hangingPunct="1">
              <a:spcAft>
                <a:spcPts val="600"/>
              </a:spcAft>
              <a:buFont typeface="Wingdings" pitchFamily="2" charset="2"/>
              <a:buAutoNum type="arabicPeriod"/>
            </a:pPr>
            <a:r>
              <a:rPr lang="en-US" altLang="zh-CN" sz="2000"/>
              <a:t>  *q= </a:t>
            </a:r>
            <a:r>
              <a:rPr lang="en-US" altLang="zh-CN" sz="2000">
                <a:latin typeface="Arial" panose="020B0604020202020204" pitchFamily="34" charset="0"/>
              </a:rPr>
              <a:t>’</a:t>
            </a:r>
            <a:r>
              <a:rPr lang="en-US" altLang="zh-CN" sz="2000"/>
              <a:t>\0</a:t>
            </a:r>
            <a:r>
              <a:rPr lang="en-US" altLang="zh-CN" sz="2000">
                <a:latin typeface="Arial" panose="020B0604020202020204" pitchFamily="34" charset="0"/>
              </a:rPr>
              <a:t>’</a:t>
            </a:r>
            <a:r>
              <a:rPr lang="en-US" altLang="zh-CN" sz="2000"/>
              <a:t>;    /* </a:t>
            </a:r>
            <a:r>
              <a:rPr lang="zh-CN" altLang="en-US" sz="2000"/>
              <a:t>重新构成字符串 *</a:t>
            </a:r>
            <a:r>
              <a:rPr lang="en-US" altLang="zh-CN" sz="20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5251">
                                            <p:txEl>
                                              <p:pRg st="0" end="0"/>
                                            </p:txEl>
                                          </p:spTgt>
                                        </p:tgtEl>
                                        <p:attrNameLst>
                                          <p:attrName>style.visibility</p:attrName>
                                        </p:attrNameLst>
                                      </p:cBhvr>
                                      <p:to>
                                        <p:strVal val="visible"/>
                                      </p:to>
                                    </p:set>
                                    <p:anim calcmode="lin" valueType="num">
                                      <p:cBhvr additive="base">
                                        <p:cTn id="7" dur="500" fill="hold"/>
                                        <p:tgtEl>
                                          <p:spTgt spid="5652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52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5251">
                                            <p:txEl>
                                              <p:pRg st="1" end="1"/>
                                            </p:txEl>
                                          </p:spTgt>
                                        </p:tgtEl>
                                        <p:attrNameLst>
                                          <p:attrName>style.visibility</p:attrName>
                                        </p:attrNameLst>
                                      </p:cBhvr>
                                      <p:to>
                                        <p:strVal val="visible"/>
                                      </p:to>
                                    </p:set>
                                    <p:anim calcmode="lin" valueType="num">
                                      <p:cBhvr additive="base">
                                        <p:cTn id="13" dur="500" fill="hold"/>
                                        <p:tgtEl>
                                          <p:spTgt spid="5652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652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65251">
                                            <p:txEl>
                                              <p:pRg st="2" end="2"/>
                                            </p:txEl>
                                          </p:spTgt>
                                        </p:tgtEl>
                                        <p:attrNameLst>
                                          <p:attrName>style.visibility</p:attrName>
                                        </p:attrNameLst>
                                      </p:cBhvr>
                                      <p:to>
                                        <p:strVal val="visible"/>
                                      </p:to>
                                    </p:set>
                                    <p:anim calcmode="lin" valueType="num">
                                      <p:cBhvr additive="base">
                                        <p:cTn id="19" dur="500" fill="hold"/>
                                        <p:tgtEl>
                                          <p:spTgt spid="5652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652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65251">
                                            <p:txEl>
                                              <p:pRg st="3" end="3"/>
                                            </p:txEl>
                                          </p:spTgt>
                                        </p:tgtEl>
                                        <p:attrNameLst>
                                          <p:attrName>style.visibility</p:attrName>
                                        </p:attrNameLst>
                                      </p:cBhvr>
                                      <p:to>
                                        <p:strVal val="visible"/>
                                      </p:to>
                                    </p:set>
                                    <p:anim calcmode="lin" valueType="num">
                                      <p:cBhvr additive="base">
                                        <p:cTn id="23" dur="500" fill="hold"/>
                                        <p:tgtEl>
                                          <p:spTgt spid="565251">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652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65251">
                                            <p:txEl>
                                              <p:pRg st="4" end="4"/>
                                            </p:txEl>
                                          </p:spTgt>
                                        </p:tgtEl>
                                        <p:attrNameLst>
                                          <p:attrName>style.visibility</p:attrName>
                                        </p:attrNameLst>
                                      </p:cBhvr>
                                      <p:to>
                                        <p:strVal val="visible"/>
                                      </p:to>
                                    </p:set>
                                    <p:anim calcmode="lin" valueType="num">
                                      <p:cBhvr additive="base">
                                        <p:cTn id="27" dur="500" fill="hold"/>
                                        <p:tgtEl>
                                          <p:spTgt spid="565251">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652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65251">
                                            <p:txEl>
                                              <p:pRg st="5" end="5"/>
                                            </p:txEl>
                                          </p:spTgt>
                                        </p:tgtEl>
                                        <p:attrNameLst>
                                          <p:attrName>style.visibility</p:attrName>
                                        </p:attrNameLst>
                                      </p:cBhvr>
                                      <p:to>
                                        <p:strVal val="visible"/>
                                      </p:to>
                                    </p:set>
                                    <p:anim calcmode="lin" valueType="num">
                                      <p:cBhvr additive="base">
                                        <p:cTn id="31" dur="500" fill="hold"/>
                                        <p:tgtEl>
                                          <p:spTgt spid="565251">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652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1"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C0C1829-A561-CF94-51CD-B337F49DD50B}"/>
            </a:ext>
          </a:extLst>
        </p:cNvPr>
        <p:cNvGrpSpPr/>
        <p:nvPr/>
      </p:nvGrpSpPr>
      <p:grpSpPr>
        <a:xfrm>
          <a:off x="0" y="0"/>
          <a:ext cx="0" cy="0"/>
          <a:chOff x="0" y="0"/>
          <a:chExt cx="0" cy="0"/>
        </a:xfrm>
      </p:grpSpPr>
      <p:sp>
        <p:nvSpPr>
          <p:cNvPr id="552962" name="Rectangle 2">
            <a:extLst>
              <a:ext uri="{FF2B5EF4-FFF2-40B4-BE49-F238E27FC236}">
                <a16:creationId xmlns:a16="http://schemas.microsoft.com/office/drawing/2014/main" id="{57C525FA-10C1-805B-AE2F-B7940BB1FB5B}"/>
              </a:ext>
            </a:extLst>
          </p:cNvPr>
          <p:cNvSpPr>
            <a:spLocks noGrp="1" noChangeArrowheads="1"/>
          </p:cNvSpPr>
          <p:nvPr>
            <p:ph type="ctrTitle"/>
          </p:nvPr>
        </p:nvSpPr>
        <p:spPr/>
        <p:txBody>
          <a:bodyPr/>
          <a:lstStyle/>
          <a:p>
            <a:pPr eaLnBrk="1" hangingPunct="1"/>
            <a:r>
              <a:rPr lang="zh-CN" altLang="en-US"/>
              <a:t>指针和函数传参</a:t>
            </a:r>
            <a:endParaRPr lang="zh-CN" altLang="en-US" sz="3600" b="1">
              <a:solidFill>
                <a:srgbClr val="FF0000"/>
              </a:solidFill>
              <a:effectLst>
                <a:outerShdw blurRad="38100" dist="38100" dir="2700000" algn="tl">
                  <a:srgbClr val="C0C0C0"/>
                </a:outerShdw>
              </a:effectLst>
              <a:latin typeface="宋体" panose="02010600030101010101" pitchFamily="2" charset="-122"/>
            </a:endParaRPr>
          </a:p>
        </p:txBody>
      </p:sp>
      <p:sp>
        <p:nvSpPr>
          <p:cNvPr id="552963" name="Rectangle 3">
            <a:extLst>
              <a:ext uri="{FF2B5EF4-FFF2-40B4-BE49-F238E27FC236}">
                <a16:creationId xmlns:a16="http://schemas.microsoft.com/office/drawing/2014/main" id="{382CA4CA-D355-CB30-EC35-1A4F7ADB0772}"/>
              </a:ext>
            </a:extLst>
          </p:cNvPr>
          <p:cNvSpPr>
            <a:spLocks noGrp="1" noChangeArrowheads="1"/>
          </p:cNvSpPr>
          <p:nvPr>
            <p:ph type="subTitle" idx="1"/>
          </p:nvPr>
        </p:nvSpPr>
        <p:spPr/>
        <p:txBody>
          <a:bodyPr/>
          <a:lstStyle/>
          <a:p>
            <a:pPr eaLnBrk="1" hangingPunct="1"/>
            <a:endParaRPr lang="en-US" altLang="en-US"/>
          </a:p>
        </p:txBody>
      </p:sp>
    </p:spTree>
    <p:extLst>
      <p:ext uri="{BB962C8B-B14F-4D97-AF65-F5344CB8AC3E}">
        <p14:creationId xmlns:p14="http://schemas.microsoft.com/office/powerpoint/2010/main" val="35302597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552963">
                                            <p:txEl>
                                              <p:pRg st="0" end="0"/>
                                            </p:txEl>
                                          </p:spTgt>
                                        </p:tgtEl>
                                        <p:attrNameLst>
                                          <p:attrName>style.visibility</p:attrName>
                                        </p:attrNameLst>
                                      </p:cBhvr>
                                      <p:to>
                                        <p:strVal val="visible"/>
                                      </p:to>
                                    </p:set>
                                    <p:anim calcmode="lin" valueType="num">
                                      <p:cBhvr additive="base">
                                        <p:cTn id="7" dur="500" fill="hold"/>
                                        <p:tgtEl>
                                          <p:spTgt spid="552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296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3"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6FCEE1E-E52C-E168-F935-4C43A5142BA8}"/>
              </a:ext>
            </a:extLst>
          </p:cNvPr>
          <p:cNvSpPr>
            <a:spLocks noGrp="1" noChangeArrowheads="1"/>
          </p:cNvSpPr>
          <p:nvPr>
            <p:ph type="title"/>
          </p:nvPr>
        </p:nvSpPr>
        <p:spPr/>
        <p:txBody>
          <a:bodyPr/>
          <a:lstStyle/>
          <a:p>
            <a:pPr eaLnBrk="1" hangingPunct="1"/>
            <a:r>
              <a:rPr lang="zh-CN" altLang="en-US"/>
              <a:t>例</a:t>
            </a:r>
            <a:r>
              <a:rPr lang="en-US" altLang="zh-CN"/>
              <a:t>1  </a:t>
            </a:r>
            <a:r>
              <a:rPr lang="zh-CN" altLang="en-US"/>
              <a:t>基本类型形参</a:t>
            </a:r>
          </a:p>
        </p:txBody>
      </p:sp>
      <p:sp>
        <p:nvSpPr>
          <p:cNvPr id="622595" name="Rectangle 3">
            <a:extLst>
              <a:ext uri="{FF2B5EF4-FFF2-40B4-BE49-F238E27FC236}">
                <a16:creationId xmlns:a16="http://schemas.microsoft.com/office/drawing/2014/main" id="{D5EFABA7-0862-6752-66A3-4036EBDFBDED}"/>
              </a:ext>
            </a:extLst>
          </p:cNvPr>
          <p:cNvSpPr>
            <a:spLocks noGrp="1" noChangeArrowheads="1"/>
          </p:cNvSpPr>
          <p:nvPr>
            <p:ph type="body" idx="1"/>
          </p:nvPr>
        </p:nvSpPr>
        <p:spPr>
          <a:xfrm>
            <a:off x="1042987" y="1988840"/>
            <a:ext cx="7900987" cy="4320480"/>
          </a:xfrm>
        </p:spPr>
        <p:txBody>
          <a:bodyPr/>
          <a:lstStyle/>
          <a:p>
            <a:pPr marL="533400" indent="-533400" algn="just" eaLnBrk="1" hangingPunct="1"/>
            <a:r>
              <a:rPr lang="zh-CN" altLang="en-US" sz="1600" b="1"/>
              <a:t>试图通过函数交换两个变量的值</a:t>
            </a:r>
          </a:p>
          <a:p>
            <a:pPr marL="914400" lvl="1" indent="-457200" algn="just" eaLnBrk="1" hangingPunct="1">
              <a:buFont typeface="Wingdings" pitchFamily="2" charset="2"/>
              <a:buAutoNum type="arabicPeriod"/>
            </a:pPr>
            <a:r>
              <a:rPr lang="en-US" altLang="zh-CN" sz="1600"/>
              <a:t>#include  &lt;stdio.h&gt;</a:t>
            </a:r>
          </a:p>
          <a:p>
            <a:pPr marL="914400" lvl="1" indent="-457200" algn="just" eaLnBrk="1" hangingPunct="1">
              <a:buFont typeface="Wingdings" pitchFamily="2" charset="2"/>
              <a:buAutoNum type="arabicPeriod"/>
            </a:pPr>
            <a:r>
              <a:rPr lang="en-US" altLang="zh-CN" sz="1600"/>
              <a:t>void swap(int u, int v){</a:t>
            </a:r>
          </a:p>
          <a:p>
            <a:pPr marL="914400" lvl="1" indent="-457200" algn="just" eaLnBrk="1" hangingPunct="1">
              <a:buFont typeface="Wingdings" pitchFamily="2" charset="2"/>
              <a:buAutoNum type="arabicPeriod"/>
            </a:pPr>
            <a:r>
              <a:rPr lang="en-US" altLang="zh-CN" sz="1600"/>
              <a:t>   int t = u;  u = v;   v = t;</a:t>
            </a:r>
          </a:p>
          <a:p>
            <a:pPr marL="914400" lvl="1" indent="-457200" algn="just" eaLnBrk="1" hangingPunct="1">
              <a:buFont typeface="Wingdings" pitchFamily="2" charset="2"/>
              <a:buAutoNum type="arabicPeriod"/>
            </a:pPr>
            <a:r>
              <a:rPr lang="en-US" altLang="zh-CN" sz="1600"/>
              <a:t>   printf("In swap: u = %d, v = %d\n", u, v);</a:t>
            </a:r>
          </a:p>
          <a:p>
            <a:pPr marL="914400" lvl="1" indent="-457200" algn="just" eaLnBrk="1" hangingPunct="1">
              <a:buFont typeface="Wingdings" pitchFamily="2" charset="2"/>
              <a:buAutoNum type="arabicPeriod"/>
            </a:pPr>
            <a:r>
              <a:rPr lang="en-US" altLang="zh-CN" sz="1600"/>
              <a:t>}</a:t>
            </a:r>
          </a:p>
          <a:p>
            <a:pPr marL="914400" lvl="1" indent="-457200" algn="just" eaLnBrk="1" hangingPunct="1">
              <a:buFont typeface="Wingdings" pitchFamily="2" charset="2"/>
              <a:buAutoNum type="arabicPeriod"/>
            </a:pPr>
            <a:r>
              <a:rPr lang="en-US" altLang="zh-CN" sz="1600"/>
              <a:t>void main() {</a:t>
            </a:r>
          </a:p>
          <a:p>
            <a:pPr marL="914400" lvl="1" indent="-457200" algn="just" eaLnBrk="1" hangingPunct="1">
              <a:buFont typeface="Wingdings" pitchFamily="2" charset="2"/>
              <a:buAutoNum type="arabicPeriod"/>
            </a:pPr>
            <a:r>
              <a:rPr lang="en-US" altLang="zh-CN" sz="1600"/>
              <a:t>   int x = 1, y = 2;</a:t>
            </a:r>
          </a:p>
          <a:p>
            <a:pPr marL="914400" lvl="1" indent="-457200" algn="just" eaLnBrk="1" hangingPunct="1">
              <a:buFont typeface="Wingdings" pitchFamily="2" charset="2"/>
              <a:buAutoNum type="arabicPeriod"/>
            </a:pPr>
            <a:r>
              <a:rPr lang="en-US" altLang="zh-CN" sz="1600"/>
              <a:t>   swap(x, y);</a:t>
            </a:r>
          </a:p>
          <a:p>
            <a:pPr marL="914400" lvl="1" indent="-457200" algn="just" eaLnBrk="1" hangingPunct="1">
              <a:buFont typeface="Wingdings" pitchFamily="2" charset="2"/>
              <a:buAutoNum type="arabicPeriod"/>
            </a:pPr>
            <a:r>
              <a:rPr lang="en-US" altLang="zh-CN" sz="1600"/>
              <a:t>   printf("In main: x = %d, y = %d\n", x, y);</a:t>
            </a:r>
          </a:p>
          <a:p>
            <a:pPr marL="914400" lvl="1" indent="-457200" algn="just" eaLnBrk="1" hangingPunct="1">
              <a:buFont typeface="Wingdings" pitchFamily="2" charset="2"/>
              <a:buAutoNum type="arabicPeriod"/>
            </a:pPr>
            <a:r>
              <a:rPr lang="en-US" altLang="zh-CN" sz="1600"/>
              <a:t>}</a:t>
            </a:r>
          </a:p>
          <a:p>
            <a:pPr marL="533400" indent="-533400" algn="just" eaLnBrk="1" hangingPunct="1"/>
            <a:r>
              <a:rPr lang="zh-CN" altLang="en-US" sz="1600"/>
              <a:t>请回答程序的输出结果</a:t>
            </a:r>
          </a:p>
          <a:p>
            <a:pPr marL="533400" indent="-533400" algn="just" eaLnBrk="1" hangingPunct="1">
              <a:buFont typeface="Wingdings" pitchFamily="2" charset="2"/>
              <a:buNone/>
            </a:pPr>
            <a:r>
              <a:rPr lang="en-US" altLang="zh-CN" sz="1600"/>
              <a:t>	In swap: u = 2, v = 1</a:t>
            </a:r>
          </a:p>
          <a:p>
            <a:pPr marL="533400" indent="-533400" algn="just" eaLnBrk="1" hangingPunct="1">
              <a:buFont typeface="Wingdings" pitchFamily="2" charset="2"/>
              <a:buNone/>
            </a:pPr>
            <a:r>
              <a:rPr lang="en-US" altLang="zh-CN" sz="1600"/>
              <a:t>	In main: x = 1, y = 2</a:t>
            </a:r>
          </a:p>
          <a:p>
            <a:pPr marL="533400" indent="-533400" algn="just" eaLnBrk="1" hangingPunct="1"/>
            <a:r>
              <a:rPr lang="zh-CN" altLang="en-US" sz="1600">
                <a:solidFill>
                  <a:srgbClr val="0070C0"/>
                </a:solidFill>
              </a:rPr>
              <a:t>原因：对于基本类型形参，实参向形参传值，函数不能改变实参变量值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2595">
                                            <p:txEl>
                                              <p:pRg st="0" end="0"/>
                                            </p:txEl>
                                          </p:spTgt>
                                        </p:tgtEl>
                                        <p:attrNameLst>
                                          <p:attrName>style.visibility</p:attrName>
                                        </p:attrNameLst>
                                      </p:cBhvr>
                                      <p:to>
                                        <p:strVal val="visible"/>
                                      </p:to>
                                    </p:set>
                                    <p:animEffect transition="in" filter="wipe(left)">
                                      <p:cBhvr>
                                        <p:cTn id="7" dur="500"/>
                                        <p:tgtEl>
                                          <p:spTgt spid="62259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22595">
                                            <p:txEl>
                                              <p:pRg st="1" end="1"/>
                                            </p:txEl>
                                          </p:spTgt>
                                        </p:tgtEl>
                                        <p:attrNameLst>
                                          <p:attrName>style.visibility</p:attrName>
                                        </p:attrNameLst>
                                      </p:cBhvr>
                                      <p:to>
                                        <p:strVal val="visible"/>
                                      </p:to>
                                    </p:set>
                                    <p:animEffect transition="in" filter="wipe(left)">
                                      <p:cBhvr>
                                        <p:cTn id="10" dur="500"/>
                                        <p:tgtEl>
                                          <p:spTgt spid="62259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22595">
                                            <p:txEl>
                                              <p:pRg st="2" end="2"/>
                                            </p:txEl>
                                          </p:spTgt>
                                        </p:tgtEl>
                                        <p:attrNameLst>
                                          <p:attrName>style.visibility</p:attrName>
                                        </p:attrNameLst>
                                      </p:cBhvr>
                                      <p:to>
                                        <p:strVal val="visible"/>
                                      </p:to>
                                    </p:set>
                                    <p:animEffect transition="in" filter="wipe(left)">
                                      <p:cBhvr>
                                        <p:cTn id="13" dur="500"/>
                                        <p:tgtEl>
                                          <p:spTgt spid="622595">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22595">
                                            <p:txEl>
                                              <p:pRg st="3" end="3"/>
                                            </p:txEl>
                                          </p:spTgt>
                                        </p:tgtEl>
                                        <p:attrNameLst>
                                          <p:attrName>style.visibility</p:attrName>
                                        </p:attrNameLst>
                                      </p:cBhvr>
                                      <p:to>
                                        <p:strVal val="visible"/>
                                      </p:to>
                                    </p:set>
                                    <p:animEffect transition="in" filter="wipe(left)">
                                      <p:cBhvr>
                                        <p:cTn id="16" dur="500"/>
                                        <p:tgtEl>
                                          <p:spTgt spid="622595">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22595">
                                            <p:txEl>
                                              <p:pRg st="4" end="4"/>
                                            </p:txEl>
                                          </p:spTgt>
                                        </p:tgtEl>
                                        <p:attrNameLst>
                                          <p:attrName>style.visibility</p:attrName>
                                        </p:attrNameLst>
                                      </p:cBhvr>
                                      <p:to>
                                        <p:strVal val="visible"/>
                                      </p:to>
                                    </p:set>
                                    <p:animEffect transition="in" filter="wipe(left)">
                                      <p:cBhvr>
                                        <p:cTn id="19" dur="500"/>
                                        <p:tgtEl>
                                          <p:spTgt spid="622595">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622595">
                                            <p:txEl>
                                              <p:pRg st="5" end="5"/>
                                            </p:txEl>
                                          </p:spTgt>
                                        </p:tgtEl>
                                        <p:attrNameLst>
                                          <p:attrName>style.visibility</p:attrName>
                                        </p:attrNameLst>
                                      </p:cBhvr>
                                      <p:to>
                                        <p:strVal val="visible"/>
                                      </p:to>
                                    </p:set>
                                    <p:animEffect transition="in" filter="wipe(left)">
                                      <p:cBhvr>
                                        <p:cTn id="22" dur="500"/>
                                        <p:tgtEl>
                                          <p:spTgt spid="622595">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622595">
                                            <p:txEl>
                                              <p:pRg st="6" end="6"/>
                                            </p:txEl>
                                          </p:spTgt>
                                        </p:tgtEl>
                                        <p:attrNameLst>
                                          <p:attrName>style.visibility</p:attrName>
                                        </p:attrNameLst>
                                      </p:cBhvr>
                                      <p:to>
                                        <p:strVal val="visible"/>
                                      </p:to>
                                    </p:set>
                                    <p:animEffect transition="in" filter="wipe(left)">
                                      <p:cBhvr>
                                        <p:cTn id="25" dur="500"/>
                                        <p:tgtEl>
                                          <p:spTgt spid="622595">
                                            <p:txEl>
                                              <p:pRg st="6" end="6"/>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622595">
                                            <p:txEl>
                                              <p:pRg st="7" end="7"/>
                                            </p:txEl>
                                          </p:spTgt>
                                        </p:tgtEl>
                                        <p:attrNameLst>
                                          <p:attrName>style.visibility</p:attrName>
                                        </p:attrNameLst>
                                      </p:cBhvr>
                                      <p:to>
                                        <p:strVal val="visible"/>
                                      </p:to>
                                    </p:set>
                                    <p:animEffect transition="in" filter="wipe(left)">
                                      <p:cBhvr>
                                        <p:cTn id="28" dur="500"/>
                                        <p:tgtEl>
                                          <p:spTgt spid="622595">
                                            <p:txEl>
                                              <p:pRg st="7" end="7"/>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622595">
                                            <p:txEl>
                                              <p:pRg st="8" end="8"/>
                                            </p:txEl>
                                          </p:spTgt>
                                        </p:tgtEl>
                                        <p:attrNameLst>
                                          <p:attrName>style.visibility</p:attrName>
                                        </p:attrNameLst>
                                      </p:cBhvr>
                                      <p:to>
                                        <p:strVal val="visible"/>
                                      </p:to>
                                    </p:set>
                                    <p:animEffect transition="in" filter="wipe(left)">
                                      <p:cBhvr>
                                        <p:cTn id="31" dur="500"/>
                                        <p:tgtEl>
                                          <p:spTgt spid="622595">
                                            <p:txEl>
                                              <p:pRg st="8" end="8"/>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622595">
                                            <p:txEl>
                                              <p:pRg st="9" end="9"/>
                                            </p:txEl>
                                          </p:spTgt>
                                        </p:tgtEl>
                                        <p:attrNameLst>
                                          <p:attrName>style.visibility</p:attrName>
                                        </p:attrNameLst>
                                      </p:cBhvr>
                                      <p:to>
                                        <p:strVal val="visible"/>
                                      </p:to>
                                    </p:set>
                                    <p:animEffect transition="in" filter="wipe(left)">
                                      <p:cBhvr>
                                        <p:cTn id="34" dur="500"/>
                                        <p:tgtEl>
                                          <p:spTgt spid="622595">
                                            <p:txEl>
                                              <p:pRg st="9" end="9"/>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622595">
                                            <p:txEl>
                                              <p:pRg st="10" end="10"/>
                                            </p:txEl>
                                          </p:spTgt>
                                        </p:tgtEl>
                                        <p:attrNameLst>
                                          <p:attrName>style.visibility</p:attrName>
                                        </p:attrNameLst>
                                      </p:cBhvr>
                                      <p:to>
                                        <p:strVal val="visible"/>
                                      </p:to>
                                    </p:set>
                                    <p:animEffect transition="in" filter="wipe(left)">
                                      <p:cBhvr>
                                        <p:cTn id="37" dur="500"/>
                                        <p:tgtEl>
                                          <p:spTgt spid="622595">
                                            <p:txEl>
                                              <p:pRg st="10" end="1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22595">
                                            <p:txEl>
                                              <p:pRg st="11" end="11"/>
                                            </p:txEl>
                                          </p:spTgt>
                                        </p:tgtEl>
                                        <p:attrNameLst>
                                          <p:attrName>style.visibility</p:attrName>
                                        </p:attrNameLst>
                                      </p:cBhvr>
                                      <p:to>
                                        <p:strVal val="visible"/>
                                      </p:to>
                                    </p:set>
                                    <p:animEffect transition="in" filter="wipe(left)">
                                      <p:cBhvr>
                                        <p:cTn id="42" dur="500"/>
                                        <p:tgtEl>
                                          <p:spTgt spid="622595">
                                            <p:txEl>
                                              <p:pRg st="11" end="1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22595">
                                            <p:txEl>
                                              <p:pRg st="12" end="12"/>
                                            </p:txEl>
                                          </p:spTgt>
                                        </p:tgtEl>
                                        <p:attrNameLst>
                                          <p:attrName>style.visibility</p:attrName>
                                        </p:attrNameLst>
                                      </p:cBhvr>
                                      <p:to>
                                        <p:strVal val="visible"/>
                                      </p:to>
                                    </p:set>
                                    <p:animEffect transition="in" filter="wipe(left)">
                                      <p:cBhvr>
                                        <p:cTn id="47" dur="500"/>
                                        <p:tgtEl>
                                          <p:spTgt spid="622595">
                                            <p:txEl>
                                              <p:pRg st="12" end="1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22595">
                                            <p:txEl>
                                              <p:pRg st="13" end="13"/>
                                            </p:txEl>
                                          </p:spTgt>
                                        </p:tgtEl>
                                        <p:attrNameLst>
                                          <p:attrName>style.visibility</p:attrName>
                                        </p:attrNameLst>
                                      </p:cBhvr>
                                      <p:to>
                                        <p:strVal val="visible"/>
                                      </p:to>
                                    </p:set>
                                    <p:animEffect transition="in" filter="wipe(left)">
                                      <p:cBhvr>
                                        <p:cTn id="52" dur="500"/>
                                        <p:tgtEl>
                                          <p:spTgt spid="622595">
                                            <p:txEl>
                                              <p:pRg st="13" end="13"/>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22595">
                                            <p:txEl>
                                              <p:pRg st="14" end="14"/>
                                            </p:txEl>
                                          </p:spTgt>
                                        </p:tgtEl>
                                        <p:attrNameLst>
                                          <p:attrName>style.visibility</p:attrName>
                                        </p:attrNameLst>
                                      </p:cBhvr>
                                      <p:to>
                                        <p:strVal val="visible"/>
                                      </p:to>
                                    </p:set>
                                    <p:animEffect transition="in" filter="wipe(left)">
                                      <p:cBhvr>
                                        <p:cTn id="57" dur="500"/>
                                        <p:tgtEl>
                                          <p:spTgt spid="62259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2595"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8FE4CD-630C-1571-79BF-381B4209FCDC}"/>
              </a:ext>
            </a:extLst>
          </p:cNvPr>
          <p:cNvSpPr>
            <a:spLocks noGrp="1" noChangeArrowheads="1"/>
          </p:cNvSpPr>
          <p:nvPr>
            <p:ph type="title"/>
          </p:nvPr>
        </p:nvSpPr>
        <p:spPr/>
        <p:txBody>
          <a:bodyPr/>
          <a:lstStyle/>
          <a:p>
            <a:pPr eaLnBrk="1" hangingPunct="1"/>
            <a:r>
              <a:rPr lang="zh-CN" altLang="en-US"/>
              <a:t>如何使函数能修改变量的值？</a:t>
            </a:r>
          </a:p>
        </p:txBody>
      </p:sp>
      <p:sp>
        <p:nvSpPr>
          <p:cNvPr id="623619" name="Rectangle 3">
            <a:extLst>
              <a:ext uri="{FF2B5EF4-FFF2-40B4-BE49-F238E27FC236}">
                <a16:creationId xmlns:a16="http://schemas.microsoft.com/office/drawing/2014/main" id="{115C652F-743C-0E92-D7A2-D6EB8B91BB28}"/>
              </a:ext>
            </a:extLst>
          </p:cNvPr>
          <p:cNvSpPr>
            <a:spLocks noGrp="1" noChangeArrowheads="1"/>
          </p:cNvSpPr>
          <p:nvPr>
            <p:ph type="body" idx="1"/>
          </p:nvPr>
        </p:nvSpPr>
        <p:spPr>
          <a:xfrm>
            <a:off x="971600" y="2017713"/>
            <a:ext cx="7632848" cy="4114800"/>
          </a:xfrm>
        </p:spPr>
        <p:txBody>
          <a:bodyPr/>
          <a:lstStyle/>
          <a:p>
            <a:pPr marL="609600" indent="-609600" algn="just" eaLnBrk="1" hangingPunct="1">
              <a:spcAft>
                <a:spcPts val="600"/>
              </a:spcAft>
            </a:pPr>
            <a:r>
              <a:rPr lang="zh-CN" altLang="en-US"/>
              <a:t>如希望函数能按需要任意引用或修改指定的变量的值，需要：</a:t>
            </a:r>
          </a:p>
          <a:p>
            <a:pPr marL="990600" lvl="1" indent="-533400" algn="just" eaLnBrk="1" hangingPunct="1">
              <a:spcAft>
                <a:spcPts val="600"/>
              </a:spcAft>
              <a:buFont typeface="Wingdings" pitchFamily="2" charset="2"/>
              <a:buAutoNum type="arabicPeriod"/>
            </a:pPr>
            <a:r>
              <a:rPr lang="zh-CN" altLang="en-US">
                <a:solidFill>
                  <a:srgbClr val="0070C0"/>
                </a:solidFill>
              </a:rPr>
              <a:t>函数应设置指针类型的形参；</a:t>
            </a:r>
          </a:p>
          <a:p>
            <a:pPr marL="990600" lvl="1" indent="-533400" algn="just" eaLnBrk="1" hangingPunct="1">
              <a:spcAft>
                <a:spcPts val="600"/>
              </a:spcAft>
              <a:buFont typeface="Wingdings" pitchFamily="2" charset="2"/>
              <a:buAutoNum type="arabicPeriod"/>
            </a:pPr>
            <a:r>
              <a:rPr lang="zh-CN" altLang="en-US">
                <a:solidFill>
                  <a:srgbClr val="0070C0"/>
                </a:solidFill>
              </a:rPr>
              <a:t>函数体必须通过指针形参间接访问变量，或引用其值或修改其值；</a:t>
            </a:r>
          </a:p>
          <a:p>
            <a:pPr marL="990600" lvl="1" indent="-533400" algn="just" eaLnBrk="1" hangingPunct="1">
              <a:spcAft>
                <a:spcPts val="600"/>
              </a:spcAft>
              <a:buFont typeface="Wingdings" pitchFamily="2" charset="2"/>
              <a:buAutoNum type="arabicPeriod"/>
            </a:pPr>
            <a:r>
              <a:rPr lang="zh-CN" altLang="en-US">
                <a:solidFill>
                  <a:srgbClr val="0070C0"/>
                </a:solidFill>
              </a:rPr>
              <a:t>调用函数时，要以欲改变值的变量的指针（即地址）为实参调用函数。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3619">
                                            <p:txEl>
                                              <p:pRg st="0" end="0"/>
                                            </p:txEl>
                                          </p:spTgt>
                                        </p:tgtEl>
                                        <p:attrNameLst>
                                          <p:attrName>style.visibility</p:attrName>
                                        </p:attrNameLst>
                                      </p:cBhvr>
                                      <p:to>
                                        <p:strVal val="visible"/>
                                      </p:to>
                                    </p:set>
                                    <p:animEffect transition="in" filter="wipe(left)">
                                      <p:cBhvr>
                                        <p:cTn id="7" dur="500"/>
                                        <p:tgtEl>
                                          <p:spTgt spid="62361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23619">
                                            <p:txEl>
                                              <p:pRg st="1" end="1"/>
                                            </p:txEl>
                                          </p:spTgt>
                                        </p:tgtEl>
                                        <p:attrNameLst>
                                          <p:attrName>style.visibility</p:attrName>
                                        </p:attrNameLst>
                                      </p:cBhvr>
                                      <p:to>
                                        <p:strVal val="visible"/>
                                      </p:to>
                                    </p:set>
                                    <p:animEffect transition="in" filter="wipe(left)">
                                      <p:cBhvr>
                                        <p:cTn id="10" dur="500"/>
                                        <p:tgtEl>
                                          <p:spTgt spid="62361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23619">
                                            <p:txEl>
                                              <p:pRg st="2" end="2"/>
                                            </p:txEl>
                                          </p:spTgt>
                                        </p:tgtEl>
                                        <p:attrNameLst>
                                          <p:attrName>style.visibility</p:attrName>
                                        </p:attrNameLst>
                                      </p:cBhvr>
                                      <p:to>
                                        <p:strVal val="visible"/>
                                      </p:to>
                                    </p:set>
                                    <p:animEffect transition="in" filter="wipe(left)">
                                      <p:cBhvr>
                                        <p:cTn id="13" dur="500"/>
                                        <p:tgtEl>
                                          <p:spTgt spid="623619">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23619">
                                            <p:txEl>
                                              <p:pRg st="3" end="3"/>
                                            </p:txEl>
                                          </p:spTgt>
                                        </p:tgtEl>
                                        <p:attrNameLst>
                                          <p:attrName>style.visibility</p:attrName>
                                        </p:attrNameLst>
                                      </p:cBhvr>
                                      <p:to>
                                        <p:strVal val="visible"/>
                                      </p:to>
                                    </p:set>
                                    <p:animEffect transition="in" filter="wipe(left)">
                                      <p:cBhvr>
                                        <p:cTn id="16" dur="500"/>
                                        <p:tgtEl>
                                          <p:spTgt spid="6236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19"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1B35B22-D7CD-0B6F-8408-8204245E9915}"/>
              </a:ext>
            </a:extLst>
          </p:cNvPr>
          <p:cNvSpPr>
            <a:spLocks noGrp="1" noChangeArrowheads="1"/>
          </p:cNvSpPr>
          <p:nvPr>
            <p:ph type="title"/>
          </p:nvPr>
        </p:nvSpPr>
        <p:spPr/>
        <p:txBody>
          <a:bodyPr/>
          <a:lstStyle/>
          <a:p>
            <a:pPr eaLnBrk="1" hangingPunct="1"/>
            <a:r>
              <a:rPr lang="zh-CN" altLang="en-US"/>
              <a:t>例</a:t>
            </a:r>
            <a:r>
              <a:rPr lang="en-US" altLang="zh-CN"/>
              <a:t>2  </a:t>
            </a:r>
            <a:r>
              <a:rPr lang="zh-CN" altLang="en-US"/>
              <a:t>使用指针类型形参</a:t>
            </a:r>
          </a:p>
        </p:txBody>
      </p:sp>
      <p:sp>
        <p:nvSpPr>
          <p:cNvPr id="624643" name="Rectangle 3">
            <a:extLst>
              <a:ext uri="{FF2B5EF4-FFF2-40B4-BE49-F238E27FC236}">
                <a16:creationId xmlns:a16="http://schemas.microsoft.com/office/drawing/2014/main" id="{71F7AB9A-4564-9598-26C4-1FED5F60648E}"/>
              </a:ext>
            </a:extLst>
          </p:cNvPr>
          <p:cNvSpPr>
            <a:spLocks noGrp="1" noChangeArrowheads="1"/>
          </p:cNvSpPr>
          <p:nvPr>
            <p:ph type="body" idx="1"/>
          </p:nvPr>
        </p:nvSpPr>
        <p:spPr>
          <a:xfrm>
            <a:off x="1066800" y="2051050"/>
            <a:ext cx="7772400" cy="4114800"/>
          </a:xfrm>
        </p:spPr>
        <p:txBody>
          <a:bodyPr/>
          <a:lstStyle/>
          <a:p>
            <a:pPr marL="533400" indent="-533400" algn="just" eaLnBrk="1" hangingPunct="1">
              <a:lnSpc>
                <a:spcPct val="80000"/>
              </a:lnSpc>
            </a:pPr>
            <a:r>
              <a:rPr lang="zh-CN" altLang="en-US" sz="2000" b="1"/>
              <a:t>使用函数交换两个变量的值</a:t>
            </a:r>
          </a:p>
          <a:p>
            <a:pPr marL="914400" lvl="1" indent="-457200" algn="just" eaLnBrk="1" hangingPunct="1">
              <a:lnSpc>
                <a:spcPct val="80000"/>
              </a:lnSpc>
              <a:buFont typeface="Wingdings" pitchFamily="2" charset="2"/>
              <a:buAutoNum type="arabicPeriod"/>
            </a:pPr>
            <a:r>
              <a:rPr lang="en-US" altLang="zh-CN" sz="1800"/>
              <a:t>#include  &lt;stdio.h&gt;</a:t>
            </a:r>
          </a:p>
          <a:p>
            <a:pPr marL="914400" lvl="1" indent="-457200" algn="just" eaLnBrk="1" hangingPunct="1">
              <a:lnSpc>
                <a:spcPct val="80000"/>
              </a:lnSpc>
              <a:buFont typeface="Wingdings" pitchFamily="2" charset="2"/>
              <a:buAutoNum type="arabicPeriod"/>
            </a:pPr>
            <a:r>
              <a:rPr lang="en-US" altLang="zh-CN" sz="1800"/>
              <a:t>void swap(</a:t>
            </a:r>
            <a:r>
              <a:rPr lang="en-US" altLang="zh-CN" sz="1800">
                <a:solidFill>
                  <a:srgbClr val="0066FF"/>
                </a:solidFill>
              </a:rPr>
              <a:t>int * pu, int * pv</a:t>
            </a:r>
            <a:r>
              <a:rPr lang="en-US" altLang="zh-CN" sz="1800"/>
              <a:t>) {</a:t>
            </a:r>
          </a:p>
          <a:p>
            <a:pPr marL="914400" lvl="1" indent="-457200" algn="just" eaLnBrk="1" hangingPunct="1">
              <a:lnSpc>
                <a:spcPct val="80000"/>
              </a:lnSpc>
              <a:buFont typeface="Wingdings" pitchFamily="2" charset="2"/>
              <a:buAutoNum type="arabicPeriod"/>
            </a:pPr>
            <a:r>
              <a:rPr lang="en-US" altLang="zh-CN" sz="1800"/>
              <a:t>   int t = *pu;  *pu = *pv;   *pv = t;</a:t>
            </a:r>
          </a:p>
          <a:p>
            <a:pPr marL="914400" lvl="1" indent="-457200" algn="just" eaLnBrk="1" hangingPunct="1">
              <a:lnSpc>
                <a:spcPct val="80000"/>
              </a:lnSpc>
              <a:buFont typeface="Wingdings" pitchFamily="2" charset="2"/>
              <a:buAutoNum type="arabicPeriod"/>
            </a:pPr>
            <a:r>
              <a:rPr lang="en-US" altLang="zh-CN" sz="1800"/>
              <a:t>   printf("In swap: *pu = %d, *pv = %d\n", *pu, *pv);</a:t>
            </a:r>
          </a:p>
          <a:p>
            <a:pPr marL="914400" lvl="1" indent="-457200" algn="just" eaLnBrk="1" hangingPunct="1">
              <a:lnSpc>
                <a:spcPct val="80000"/>
              </a:lnSpc>
              <a:buFont typeface="Wingdings" pitchFamily="2" charset="2"/>
              <a:buAutoNum type="arabicPeriod"/>
            </a:pPr>
            <a:r>
              <a:rPr lang="en-US" altLang="zh-CN" sz="1800"/>
              <a:t>}</a:t>
            </a:r>
          </a:p>
          <a:p>
            <a:pPr marL="914400" lvl="1" indent="-457200" algn="just" eaLnBrk="1" hangingPunct="1">
              <a:lnSpc>
                <a:spcPct val="80000"/>
              </a:lnSpc>
              <a:buFont typeface="Wingdings" pitchFamily="2" charset="2"/>
              <a:buAutoNum type="arabicPeriod"/>
            </a:pPr>
            <a:r>
              <a:rPr lang="en-US" altLang="zh-CN" sz="1800"/>
              <a:t>void main() {</a:t>
            </a:r>
          </a:p>
          <a:p>
            <a:pPr marL="914400" lvl="1" indent="-457200" algn="just" eaLnBrk="1" hangingPunct="1">
              <a:lnSpc>
                <a:spcPct val="80000"/>
              </a:lnSpc>
              <a:buFont typeface="Wingdings" pitchFamily="2" charset="2"/>
              <a:buAutoNum type="arabicPeriod"/>
            </a:pPr>
            <a:r>
              <a:rPr lang="en-US" altLang="zh-CN" sz="1800"/>
              <a:t>   int x = 1, y = 2;</a:t>
            </a:r>
          </a:p>
          <a:p>
            <a:pPr marL="914400" lvl="1" indent="-457200" algn="just" eaLnBrk="1" hangingPunct="1">
              <a:lnSpc>
                <a:spcPct val="80000"/>
              </a:lnSpc>
              <a:buFont typeface="Wingdings" pitchFamily="2" charset="2"/>
              <a:buAutoNum type="arabicPeriod"/>
            </a:pPr>
            <a:r>
              <a:rPr lang="en-US" altLang="zh-CN" sz="1800"/>
              <a:t>   swap(</a:t>
            </a:r>
            <a:r>
              <a:rPr lang="en-US" altLang="zh-CN" sz="1800">
                <a:solidFill>
                  <a:srgbClr val="0066FF"/>
                </a:solidFill>
              </a:rPr>
              <a:t>&amp;x, &amp;y</a:t>
            </a:r>
            <a:r>
              <a:rPr lang="en-US" altLang="zh-CN" sz="1800"/>
              <a:t>);</a:t>
            </a:r>
          </a:p>
          <a:p>
            <a:pPr marL="914400" lvl="1" indent="-457200" algn="just" eaLnBrk="1" hangingPunct="1">
              <a:lnSpc>
                <a:spcPct val="80000"/>
              </a:lnSpc>
              <a:buFont typeface="Wingdings" pitchFamily="2" charset="2"/>
              <a:buAutoNum type="arabicPeriod"/>
            </a:pPr>
            <a:r>
              <a:rPr lang="en-US" altLang="zh-CN" sz="1800"/>
              <a:t>   printf("In main: x = %d, y = %d\n", x, y);</a:t>
            </a:r>
          </a:p>
          <a:p>
            <a:pPr marL="914400" lvl="1" indent="-457200" algn="just" eaLnBrk="1" hangingPunct="1">
              <a:lnSpc>
                <a:spcPct val="80000"/>
              </a:lnSpc>
              <a:buFont typeface="Wingdings" pitchFamily="2" charset="2"/>
              <a:buAutoNum type="arabicPeriod"/>
            </a:pPr>
            <a:r>
              <a:rPr lang="en-US" altLang="zh-CN" sz="1800"/>
              <a:t>}</a:t>
            </a:r>
          </a:p>
          <a:p>
            <a:pPr marL="533400" indent="-533400" algn="just" eaLnBrk="1" hangingPunct="1"/>
            <a:r>
              <a:rPr lang="zh-CN" altLang="en-US" sz="2000"/>
              <a:t>请回答程序的输出结果</a:t>
            </a:r>
          </a:p>
          <a:p>
            <a:pPr marL="533400" indent="-533400" algn="just" eaLnBrk="1" hangingPunct="1">
              <a:buFont typeface="Wingdings" pitchFamily="2" charset="2"/>
              <a:buNone/>
            </a:pPr>
            <a:r>
              <a:rPr lang="en-US" altLang="zh-CN" sz="2000"/>
              <a:t>	In swap: *pu = 2, *pv = 1</a:t>
            </a:r>
          </a:p>
          <a:p>
            <a:pPr marL="533400" indent="-533400" algn="just" eaLnBrk="1" hangingPunct="1">
              <a:buFont typeface="Wingdings" pitchFamily="2" charset="2"/>
              <a:buNone/>
            </a:pPr>
            <a:r>
              <a:rPr lang="en-US" altLang="zh-CN" sz="2000"/>
              <a:t>	In main: x = 2, y = 1</a:t>
            </a:r>
          </a:p>
          <a:p>
            <a:pPr marL="533400" indent="-533400" algn="just" eaLnBrk="1" hangingPunct="1"/>
            <a:r>
              <a:rPr lang="zh-CN" altLang="en-US" sz="2000">
                <a:solidFill>
                  <a:srgbClr val="0070C0"/>
                </a:solidFill>
                <a:effectLst>
                  <a:outerShdw blurRad="38100" dist="38100" dir="2700000" algn="tl">
                    <a:srgbClr val="C0C0C0"/>
                  </a:outerShdw>
                </a:effectLst>
              </a:rPr>
              <a:t>原因：通过指针修改了对应实参变量的值</a:t>
            </a:r>
          </a:p>
          <a:p>
            <a:pPr marL="533400" indent="-533400" algn="just" eaLnBrk="1" hangingPunct="1">
              <a:lnSpc>
                <a:spcPct val="80000"/>
              </a:lnSpc>
            </a:pPr>
            <a:endParaRPr lang="zh-CN" altLang="en-US" sz="1800">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43">
                                            <p:txEl>
                                              <p:pRg st="0" end="0"/>
                                            </p:txEl>
                                          </p:spTgt>
                                        </p:tgtEl>
                                        <p:attrNameLst>
                                          <p:attrName>style.visibility</p:attrName>
                                        </p:attrNameLst>
                                      </p:cBhvr>
                                      <p:to>
                                        <p:strVal val="visible"/>
                                      </p:to>
                                    </p:set>
                                    <p:animEffect transition="in" filter="wipe(left)">
                                      <p:cBhvr>
                                        <p:cTn id="7" dur="500"/>
                                        <p:tgtEl>
                                          <p:spTgt spid="62464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24643">
                                            <p:txEl>
                                              <p:pRg st="1" end="1"/>
                                            </p:txEl>
                                          </p:spTgt>
                                        </p:tgtEl>
                                        <p:attrNameLst>
                                          <p:attrName>style.visibility</p:attrName>
                                        </p:attrNameLst>
                                      </p:cBhvr>
                                      <p:to>
                                        <p:strVal val="visible"/>
                                      </p:to>
                                    </p:set>
                                    <p:animEffect transition="in" filter="wipe(left)">
                                      <p:cBhvr>
                                        <p:cTn id="10" dur="500"/>
                                        <p:tgtEl>
                                          <p:spTgt spid="62464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24643">
                                            <p:txEl>
                                              <p:pRg st="2" end="2"/>
                                            </p:txEl>
                                          </p:spTgt>
                                        </p:tgtEl>
                                        <p:attrNameLst>
                                          <p:attrName>style.visibility</p:attrName>
                                        </p:attrNameLst>
                                      </p:cBhvr>
                                      <p:to>
                                        <p:strVal val="visible"/>
                                      </p:to>
                                    </p:set>
                                    <p:animEffect transition="in" filter="wipe(left)">
                                      <p:cBhvr>
                                        <p:cTn id="13" dur="500"/>
                                        <p:tgtEl>
                                          <p:spTgt spid="62464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24643">
                                            <p:txEl>
                                              <p:pRg st="3" end="3"/>
                                            </p:txEl>
                                          </p:spTgt>
                                        </p:tgtEl>
                                        <p:attrNameLst>
                                          <p:attrName>style.visibility</p:attrName>
                                        </p:attrNameLst>
                                      </p:cBhvr>
                                      <p:to>
                                        <p:strVal val="visible"/>
                                      </p:to>
                                    </p:set>
                                    <p:animEffect transition="in" filter="wipe(left)">
                                      <p:cBhvr>
                                        <p:cTn id="16" dur="500"/>
                                        <p:tgtEl>
                                          <p:spTgt spid="62464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24643">
                                            <p:txEl>
                                              <p:pRg st="4" end="4"/>
                                            </p:txEl>
                                          </p:spTgt>
                                        </p:tgtEl>
                                        <p:attrNameLst>
                                          <p:attrName>style.visibility</p:attrName>
                                        </p:attrNameLst>
                                      </p:cBhvr>
                                      <p:to>
                                        <p:strVal val="visible"/>
                                      </p:to>
                                    </p:set>
                                    <p:animEffect transition="in" filter="wipe(left)">
                                      <p:cBhvr>
                                        <p:cTn id="19" dur="500"/>
                                        <p:tgtEl>
                                          <p:spTgt spid="624643">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624643">
                                            <p:txEl>
                                              <p:pRg st="5" end="5"/>
                                            </p:txEl>
                                          </p:spTgt>
                                        </p:tgtEl>
                                        <p:attrNameLst>
                                          <p:attrName>style.visibility</p:attrName>
                                        </p:attrNameLst>
                                      </p:cBhvr>
                                      <p:to>
                                        <p:strVal val="visible"/>
                                      </p:to>
                                    </p:set>
                                    <p:animEffect transition="in" filter="wipe(left)">
                                      <p:cBhvr>
                                        <p:cTn id="22" dur="500"/>
                                        <p:tgtEl>
                                          <p:spTgt spid="624643">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624643">
                                            <p:txEl>
                                              <p:pRg st="6" end="6"/>
                                            </p:txEl>
                                          </p:spTgt>
                                        </p:tgtEl>
                                        <p:attrNameLst>
                                          <p:attrName>style.visibility</p:attrName>
                                        </p:attrNameLst>
                                      </p:cBhvr>
                                      <p:to>
                                        <p:strVal val="visible"/>
                                      </p:to>
                                    </p:set>
                                    <p:animEffect transition="in" filter="wipe(left)">
                                      <p:cBhvr>
                                        <p:cTn id="25" dur="500"/>
                                        <p:tgtEl>
                                          <p:spTgt spid="624643">
                                            <p:txEl>
                                              <p:pRg st="6" end="6"/>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624643">
                                            <p:txEl>
                                              <p:pRg st="7" end="7"/>
                                            </p:txEl>
                                          </p:spTgt>
                                        </p:tgtEl>
                                        <p:attrNameLst>
                                          <p:attrName>style.visibility</p:attrName>
                                        </p:attrNameLst>
                                      </p:cBhvr>
                                      <p:to>
                                        <p:strVal val="visible"/>
                                      </p:to>
                                    </p:set>
                                    <p:animEffect transition="in" filter="wipe(left)">
                                      <p:cBhvr>
                                        <p:cTn id="28" dur="500"/>
                                        <p:tgtEl>
                                          <p:spTgt spid="624643">
                                            <p:txEl>
                                              <p:pRg st="7" end="7"/>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624643">
                                            <p:txEl>
                                              <p:pRg st="8" end="8"/>
                                            </p:txEl>
                                          </p:spTgt>
                                        </p:tgtEl>
                                        <p:attrNameLst>
                                          <p:attrName>style.visibility</p:attrName>
                                        </p:attrNameLst>
                                      </p:cBhvr>
                                      <p:to>
                                        <p:strVal val="visible"/>
                                      </p:to>
                                    </p:set>
                                    <p:animEffect transition="in" filter="wipe(left)">
                                      <p:cBhvr>
                                        <p:cTn id="31" dur="500"/>
                                        <p:tgtEl>
                                          <p:spTgt spid="624643">
                                            <p:txEl>
                                              <p:pRg st="8" end="8"/>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624643">
                                            <p:txEl>
                                              <p:pRg st="9" end="9"/>
                                            </p:txEl>
                                          </p:spTgt>
                                        </p:tgtEl>
                                        <p:attrNameLst>
                                          <p:attrName>style.visibility</p:attrName>
                                        </p:attrNameLst>
                                      </p:cBhvr>
                                      <p:to>
                                        <p:strVal val="visible"/>
                                      </p:to>
                                    </p:set>
                                    <p:animEffect transition="in" filter="wipe(left)">
                                      <p:cBhvr>
                                        <p:cTn id="34" dur="500"/>
                                        <p:tgtEl>
                                          <p:spTgt spid="624643">
                                            <p:txEl>
                                              <p:pRg st="9" end="9"/>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624643">
                                            <p:txEl>
                                              <p:pRg st="10" end="10"/>
                                            </p:txEl>
                                          </p:spTgt>
                                        </p:tgtEl>
                                        <p:attrNameLst>
                                          <p:attrName>style.visibility</p:attrName>
                                        </p:attrNameLst>
                                      </p:cBhvr>
                                      <p:to>
                                        <p:strVal val="visible"/>
                                      </p:to>
                                    </p:set>
                                    <p:animEffect transition="in" filter="wipe(left)">
                                      <p:cBhvr>
                                        <p:cTn id="37" dur="500"/>
                                        <p:tgtEl>
                                          <p:spTgt spid="624643">
                                            <p:txEl>
                                              <p:pRg st="10" end="1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24643">
                                            <p:txEl>
                                              <p:pRg st="11" end="11"/>
                                            </p:txEl>
                                          </p:spTgt>
                                        </p:tgtEl>
                                        <p:attrNameLst>
                                          <p:attrName>style.visibility</p:attrName>
                                        </p:attrNameLst>
                                      </p:cBhvr>
                                      <p:to>
                                        <p:strVal val="visible"/>
                                      </p:to>
                                    </p:set>
                                    <p:animEffect transition="in" filter="wipe(left)">
                                      <p:cBhvr>
                                        <p:cTn id="42" dur="500"/>
                                        <p:tgtEl>
                                          <p:spTgt spid="624643">
                                            <p:txEl>
                                              <p:pRg st="11" end="1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24643">
                                            <p:txEl>
                                              <p:pRg st="12" end="12"/>
                                            </p:txEl>
                                          </p:spTgt>
                                        </p:tgtEl>
                                        <p:attrNameLst>
                                          <p:attrName>style.visibility</p:attrName>
                                        </p:attrNameLst>
                                      </p:cBhvr>
                                      <p:to>
                                        <p:strVal val="visible"/>
                                      </p:to>
                                    </p:set>
                                    <p:animEffect transition="in" filter="wipe(left)">
                                      <p:cBhvr>
                                        <p:cTn id="47" dur="500"/>
                                        <p:tgtEl>
                                          <p:spTgt spid="624643">
                                            <p:txEl>
                                              <p:pRg st="12" end="1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24643">
                                            <p:txEl>
                                              <p:pRg st="13" end="13"/>
                                            </p:txEl>
                                          </p:spTgt>
                                        </p:tgtEl>
                                        <p:attrNameLst>
                                          <p:attrName>style.visibility</p:attrName>
                                        </p:attrNameLst>
                                      </p:cBhvr>
                                      <p:to>
                                        <p:strVal val="visible"/>
                                      </p:to>
                                    </p:set>
                                    <p:animEffect transition="in" filter="wipe(left)">
                                      <p:cBhvr>
                                        <p:cTn id="52" dur="500"/>
                                        <p:tgtEl>
                                          <p:spTgt spid="624643">
                                            <p:txEl>
                                              <p:pRg st="13" end="13"/>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24643">
                                            <p:txEl>
                                              <p:pRg st="14" end="14"/>
                                            </p:txEl>
                                          </p:spTgt>
                                        </p:tgtEl>
                                        <p:attrNameLst>
                                          <p:attrName>style.visibility</p:attrName>
                                        </p:attrNameLst>
                                      </p:cBhvr>
                                      <p:to>
                                        <p:strVal val="visible"/>
                                      </p:to>
                                    </p:set>
                                    <p:animEffect transition="in" filter="wipe(left)">
                                      <p:cBhvr>
                                        <p:cTn id="57" dur="500"/>
                                        <p:tgtEl>
                                          <p:spTgt spid="62464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3"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8A89CDA-B650-984C-843B-6F051FA51249}"/>
              </a:ext>
            </a:extLst>
          </p:cNvPr>
          <p:cNvSpPr>
            <a:spLocks noGrp="1" noChangeArrowheads="1"/>
          </p:cNvSpPr>
          <p:nvPr>
            <p:ph type="title"/>
          </p:nvPr>
        </p:nvSpPr>
        <p:spPr>
          <a:xfrm>
            <a:off x="1066800" y="414338"/>
            <a:ext cx="7772400" cy="1143000"/>
          </a:xfrm>
        </p:spPr>
        <p:txBody>
          <a:bodyPr/>
          <a:lstStyle/>
          <a:p>
            <a:pPr eaLnBrk="1" hangingPunct="1"/>
            <a:r>
              <a:rPr lang="zh-CN" altLang="en-US"/>
              <a:t>例</a:t>
            </a:r>
            <a:r>
              <a:rPr lang="en-US" altLang="zh-CN"/>
              <a:t>3  </a:t>
            </a:r>
            <a:r>
              <a:rPr lang="zh-CN" altLang="en-US"/>
              <a:t>使用指针类型形参</a:t>
            </a:r>
          </a:p>
        </p:txBody>
      </p:sp>
      <p:sp>
        <p:nvSpPr>
          <p:cNvPr id="625667" name="Rectangle 3">
            <a:extLst>
              <a:ext uri="{FF2B5EF4-FFF2-40B4-BE49-F238E27FC236}">
                <a16:creationId xmlns:a16="http://schemas.microsoft.com/office/drawing/2014/main" id="{60517987-98AC-359A-869A-3DD2D3F246F3}"/>
              </a:ext>
            </a:extLst>
          </p:cNvPr>
          <p:cNvSpPr>
            <a:spLocks noGrp="1" noChangeArrowheads="1"/>
          </p:cNvSpPr>
          <p:nvPr>
            <p:ph type="body" idx="1"/>
          </p:nvPr>
        </p:nvSpPr>
        <p:spPr>
          <a:xfrm>
            <a:off x="1066800" y="1978025"/>
            <a:ext cx="7772400" cy="4114800"/>
          </a:xfrm>
        </p:spPr>
        <p:txBody>
          <a:bodyPr/>
          <a:lstStyle/>
          <a:p>
            <a:pPr marL="533400" indent="-533400" algn="just" eaLnBrk="1" hangingPunct="1">
              <a:lnSpc>
                <a:spcPct val="80000"/>
              </a:lnSpc>
            </a:pPr>
            <a:r>
              <a:rPr lang="zh-CN" altLang="en-US" sz="1800" b="1"/>
              <a:t>试图使用函数交换两个变量的值</a:t>
            </a:r>
          </a:p>
          <a:p>
            <a:pPr marL="914400" lvl="1" indent="-457200" algn="just" eaLnBrk="1" hangingPunct="1">
              <a:lnSpc>
                <a:spcPct val="80000"/>
              </a:lnSpc>
              <a:buFont typeface="Wingdings" pitchFamily="2" charset="2"/>
              <a:buAutoNum type="arabicPeriod"/>
            </a:pPr>
            <a:r>
              <a:rPr lang="en-US" altLang="zh-CN" sz="1800"/>
              <a:t>#include  &lt;stdio.h&gt;</a:t>
            </a:r>
          </a:p>
          <a:p>
            <a:pPr marL="914400" lvl="1" indent="-457200" algn="just" eaLnBrk="1" hangingPunct="1">
              <a:lnSpc>
                <a:spcPct val="80000"/>
              </a:lnSpc>
              <a:buFont typeface="Wingdings" pitchFamily="2" charset="2"/>
              <a:buAutoNum type="arabicPeriod"/>
            </a:pPr>
            <a:r>
              <a:rPr lang="en-US" altLang="zh-CN" sz="1800"/>
              <a:t>void swap(int * pu, int * pv) {</a:t>
            </a:r>
          </a:p>
          <a:p>
            <a:pPr marL="914400" lvl="1" indent="-457200" algn="just" eaLnBrk="1" hangingPunct="1">
              <a:lnSpc>
                <a:spcPct val="80000"/>
              </a:lnSpc>
              <a:buFont typeface="Wingdings" pitchFamily="2" charset="2"/>
              <a:buAutoNum type="arabicPeriod"/>
            </a:pPr>
            <a:r>
              <a:rPr lang="zh-CN" altLang="en-US" sz="1800">
                <a:solidFill>
                  <a:srgbClr val="C00000"/>
                </a:solidFill>
              </a:rPr>
              <a:t>   </a:t>
            </a:r>
            <a:r>
              <a:rPr lang="en-US" altLang="zh-CN" sz="1800">
                <a:solidFill>
                  <a:srgbClr val="C00000"/>
                </a:solidFill>
              </a:rPr>
              <a:t>int *pt;</a:t>
            </a:r>
          </a:p>
          <a:p>
            <a:pPr marL="914400" lvl="1" indent="-457200" algn="just" eaLnBrk="1" hangingPunct="1">
              <a:lnSpc>
                <a:spcPct val="80000"/>
              </a:lnSpc>
              <a:buFont typeface="Wingdings" pitchFamily="2" charset="2"/>
              <a:buAutoNum type="arabicPeriod"/>
            </a:pPr>
            <a:r>
              <a:rPr lang="en-US" altLang="zh-CN" sz="1800">
                <a:solidFill>
                  <a:srgbClr val="C00000"/>
                </a:solidFill>
              </a:rPr>
              <a:t>   pt = pu;  pu = pv;   pv = pt;</a:t>
            </a:r>
          </a:p>
          <a:p>
            <a:pPr marL="914400" lvl="1" indent="-457200" algn="just" eaLnBrk="1" hangingPunct="1">
              <a:lnSpc>
                <a:spcPct val="80000"/>
              </a:lnSpc>
              <a:buFont typeface="Wingdings" pitchFamily="2" charset="2"/>
              <a:buAutoNum type="arabicPeriod"/>
            </a:pPr>
            <a:r>
              <a:rPr lang="en-US" altLang="zh-CN" sz="1800"/>
              <a:t>   printf("In swap: *pu = %d, *pv = %d\n", *pu, *pv);</a:t>
            </a:r>
          </a:p>
          <a:p>
            <a:pPr marL="914400" lvl="1" indent="-457200" algn="just" eaLnBrk="1" hangingPunct="1">
              <a:lnSpc>
                <a:spcPct val="80000"/>
              </a:lnSpc>
              <a:buFont typeface="Wingdings" pitchFamily="2" charset="2"/>
              <a:buAutoNum type="arabicPeriod"/>
            </a:pPr>
            <a:r>
              <a:rPr lang="en-US" altLang="zh-CN" sz="1800"/>
              <a:t>}</a:t>
            </a:r>
          </a:p>
          <a:p>
            <a:pPr marL="914400" lvl="1" indent="-457200" algn="just" eaLnBrk="1" hangingPunct="1">
              <a:lnSpc>
                <a:spcPct val="80000"/>
              </a:lnSpc>
              <a:buFont typeface="Wingdings" pitchFamily="2" charset="2"/>
              <a:buAutoNum type="arabicPeriod"/>
            </a:pPr>
            <a:r>
              <a:rPr lang="en-US" altLang="zh-CN" sz="1800"/>
              <a:t>void main() {</a:t>
            </a:r>
          </a:p>
          <a:p>
            <a:pPr marL="914400" lvl="1" indent="-457200" algn="just" eaLnBrk="1" hangingPunct="1">
              <a:lnSpc>
                <a:spcPct val="80000"/>
              </a:lnSpc>
              <a:buFont typeface="Wingdings" pitchFamily="2" charset="2"/>
              <a:buAutoNum type="arabicPeriod"/>
            </a:pPr>
            <a:r>
              <a:rPr lang="en-US" altLang="zh-CN" sz="1800"/>
              <a:t>   int x = 1, y = 2;</a:t>
            </a:r>
          </a:p>
          <a:p>
            <a:pPr marL="914400" lvl="1" indent="-457200" algn="just" eaLnBrk="1" hangingPunct="1">
              <a:lnSpc>
                <a:spcPct val="80000"/>
              </a:lnSpc>
              <a:buFont typeface="Wingdings" pitchFamily="2" charset="2"/>
              <a:buAutoNum type="arabicPeriod"/>
            </a:pPr>
            <a:r>
              <a:rPr lang="en-US" altLang="zh-CN" sz="1800"/>
              <a:t>   swap(&amp;x, &amp;y);</a:t>
            </a:r>
          </a:p>
          <a:p>
            <a:pPr marL="914400" lvl="1" indent="-457200" algn="just" eaLnBrk="1" hangingPunct="1">
              <a:lnSpc>
                <a:spcPct val="80000"/>
              </a:lnSpc>
              <a:buFont typeface="Wingdings" pitchFamily="2" charset="2"/>
              <a:buAutoNum type="arabicPeriod"/>
            </a:pPr>
            <a:r>
              <a:rPr lang="en-US" altLang="zh-CN" sz="1800"/>
              <a:t>   printf("In main: x = %d, y = %d\n", x, y);</a:t>
            </a:r>
          </a:p>
          <a:p>
            <a:pPr marL="914400" lvl="1" indent="-457200" algn="just" eaLnBrk="1" hangingPunct="1">
              <a:lnSpc>
                <a:spcPct val="80000"/>
              </a:lnSpc>
              <a:buFont typeface="Wingdings" pitchFamily="2" charset="2"/>
              <a:buAutoNum type="arabicPeriod"/>
            </a:pPr>
            <a:r>
              <a:rPr lang="en-US" altLang="zh-CN" sz="1800"/>
              <a:t>}</a:t>
            </a:r>
          </a:p>
          <a:p>
            <a:pPr marL="533400" indent="-533400" algn="just" eaLnBrk="1" hangingPunct="1">
              <a:lnSpc>
                <a:spcPct val="80000"/>
              </a:lnSpc>
            </a:pPr>
            <a:r>
              <a:rPr lang="zh-CN" altLang="en-US" sz="1800"/>
              <a:t>请回答程序的输出结果</a:t>
            </a:r>
          </a:p>
          <a:p>
            <a:pPr marL="533400" indent="-533400" algn="just" eaLnBrk="1" hangingPunct="1">
              <a:lnSpc>
                <a:spcPct val="80000"/>
              </a:lnSpc>
              <a:buFont typeface="Wingdings" pitchFamily="2" charset="2"/>
              <a:buNone/>
            </a:pPr>
            <a:r>
              <a:rPr lang="en-US" altLang="zh-CN" sz="1800"/>
              <a:t>	In swap: *pu = 2, *pv = 1</a:t>
            </a:r>
          </a:p>
          <a:p>
            <a:pPr marL="533400" indent="-533400" algn="just" eaLnBrk="1" hangingPunct="1">
              <a:lnSpc>
                <a:spcPct val="80000"/>
              </a:lnSpc>
              <a:buFont typeface="Wingdings" pitchFamily="2" charset="2"/>
              <a:buNone/>
            </a:pPr>
            <a:r>
              <a:rPr lang="en-US" altLang="zh-CN" sz="1800"/>
              <a:t>	In main: x = 1, y = 2</a:t>
            </a:r>
          </a:p>
          <a:p>
            <a:pPr marL="533400" indent="-533400" algn="just" eaLnBrk="1" hangingPunct="1"/>
            <a:r>
              <a:rPr lang="zh-CN" altLang="en-US" sz="1800">
                <a:solidFill>
                  <a:srgbClr val="C00000"/>
                </a:solidFill>
              </a:rPr>
              <a:t>原因：形参</a:t>
            </a:r>
            <a:r>
              <a:rPr lang="en-US" altLang="zh-CN" sz="1800">
                <a:solidFill>
                  <a:srgbClr val="C00000"/>
                </a:solidFill>
              </a:rPr>
              <a:t>pu</a:t>
            </a:r>
            <a:r>
              <a:rPr lang="zh-CN" altLang="en-US" sz="1800">
                <a:solidFill>
                  <a:srgbClr val="C00000"/>
                </a:solidFill>
              </a:rPr>
              <a:t>和</a:t>
            </a:r>
            <a:r>
              <a:rPr lang="en-US" altLang="zh-CN" sz="1800">
                <a:solidFill>
                  <a:srgbClr val="C00000"/>
                </a:solidFill>
              </a:rPr>
              <a:t>pv</a:t>
            </a:r>
            <a:r>
              <a:rPr lang="zh-CN" altLang="en-US" sz="1800">
                <a:solidFill>
                  <a:srgbClr val="C00000"/>
                </a:solidFill>
              </a:rPr>
              <a:t>的值发生了改变，但是函数实参</a:t>
            </a:r>
            <a:r>
              <a:rPr lang="en-US" altLang="zh-CN" sz="1800">
                <a:solidFill>
                  <a:srgbClr val="C00000"/>
                </a:solidFill>
              </a:rPr>
              <a:t>&amp;x</a:t>
            </a:r>
            <a:r>
              <a:rPr lang="zh-CN" altLang="en-US" sz="1800">
                <a:solidFill>
                  <a:srgbClr val="C00000"/>
                </a:solidFill>
              </a:rPr>
              <a:t>和</a:t>
            </a:r>
            <a:r>
              <a:rPr lang="en-US" altLang="zh-CN" sz="1800">
                <a:solidFill>
                  <a:srgbClr val="C00000"/>
                </a:solidFill>
              </a:rPr>
              <a:t>&amp;y</a:t>
            </a:r>
            <a:r>
              <a:rPr lang="zh-CN" altLang="en-US" sz="1800">
                <a:solidFill>
                  <a:srgbClr val="C00000"/>
                </a:solidFill>
              </a:rPr>
              <a:t>所指向内存变量的值并没有发生改变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5667">
                                            <p:txEl>
                                              <p:pRg st="0" end="0"/>
                                            </p:txEl>
                                          </p:spTgt>
                                        </p:tgtEl>
                                        <p:attrNameLst>
                                          <p:attrName>style.visibility</p:attrName>
                                        </p:attrNameLst>
                                      </p:cBhvr>
                                      <p:to>
                                        <p:strVal val="visible"/>
                                      </p:to>
                                    </p:set>
                                    <p:animEffect transition="in" filter="wipe(left)">
                                      <p:cBhvr>
                                        <p:cTn id="7" dur="500"/>
                                        <p:tgtEl>
                                          <p:spTgt spid="62566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25667">
                                            <p:txEl>
                                              <p:pRg st="1" end="1"/>
                                            </p:txEl>
                                          </p:spTgt>
                                        </p:tgtEl>
                                        <p:attrNameLst>
                                          <p:attrName>style.visibility</p:attrName>
                                        </p:attrNameLst>
                                      </p:cBhvr>
                                      <p:to>
                                        <p:strVal val="visible"/>
                                      </p:to>
                                    </p:set>
                                    <p:animEffect transition="in" filter="wipe(left)">
                                      <p:cBhvr>
                                        <p:cTn id="10" dur="500"/>
                                        <p:tgtEl>
                                          <p:spTgt spid="62566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25667">
                                            <p:txEl>
                                              <p:pRg st="2" end="2"/>
                                            </p:txEl>
                                          </p:spTgt>
                                        </p:tgtEl>
                                        <p:attrNameLst>
                                          <p:attrName>style.visibility</p:attrName>
                                        </p:attrNameLst>
                                      </p:cBhvr>
                                      <p:to>
                                        <p:strVal val="visible"/>
                                      </p:to>
                                    </p:set>
                                    <p:animEffect transition="in" filter="wipe(left)">
                                      <p:cBhvr>
                                        <p:cTn id="13" dur="500"/>
                                        <p:tgtEl>
                                          <p:spTgt spid="625667">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25667">
                                            <p:txEl>
                                              <p:pRg st="3" end="3"/>
                                            </p:txEl>
                                          </p:spTgt>
                                        </p:tgtEl>
                                        <p:attrNameLst>
                                          <p:attrName>style.visibility</p:attrName>
                                        </p:attrNameLst>
                                      </p:cBhvr>
                                      <p:to>
                                        <p:strVal val="visible"/>
                                      </p:to>
                                    </p:set>
                                    <p:animEffect transition="in" filter="wipe(left)">
                                      <p:cBhvr>
                                        <p:cTn id="16" dur="500"/>
                                        <p:tgtEl>
                                          <p:spTgt spid="625667">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25667">
                                            <p:txEl>
                                              <p:pRg st="4" end="4"/>
                                            </p:txEl>
                                          </p:spTgt>
                                        </p:tgtEl>
                                        <p:attrNameLst>
                                          <p:attrName>style.visibility</p:attrName>
                                        </p:attrNameLst>
                                      </p:cBhvr>
                                      <p:to>
                                        <p:strVal val="visible"/>
                                      </p:to>
                                    </p:set>
                                    <p:animEffect transition="in" filter="wipe(left)">
                                      <p:cBhvr>
                                        <p:cTn id="19" dur="500"/>
                                        <p:tgtEl>
                                          <p:spTgt spid="625667">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625667">
                                            <p:txEl>
                                              <p:pRg st="5" end="5"/>
                                            </p:txEl>
                                          </p:spTgt>
                                        </p:tgtEl>
                                        <p:attrNameLst>
                                          <p:attrName>style.visibility</p:attrName>
                                        </p:attrNameLst>
                                      </p:cBhvr>
                                      <p:to>
                                        <p:strVal val="visible"/>
                                      </p:to>
                                    </p:set>
                                    <p:animEffect transition="in" filter="wipe(left)">
                                      <p:cBhvr>
                                        <p:cTn id="22" dur="500"/>
                                        <p:tgtEl>
                                          <p:spTgt spid="625667">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625667">
                                            <p:txEl>
                                              <p:pRg st="6" end="6"/>
                                            </p:txEl>
                                          </p:spTgt>
                                        </p:tgtEl>
                                        <p:attrNameLst>
                                          <p:attrName>style.visibility</p:attrName>
                                        </p:attrNameLst>
                                      </p:cBhvr>
                                      <p:to>
                                        <p:strVal val="visible"/>
                                      </p:to>
                                    </p:set>
                                    <p:animEffect transition="in" filter="wipe(left)">
                                      <p:cBhvr>
                                        <p:cTn id="25" dur="500"/>
                                        <p:tgtEl>
                                          <p:spTgt spid="625667">
                                            <p:txEl>
                                              <p:pRg st="6" end="6"/>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625667">
                                            <p:txEl>
                                              <p:pRg st="7" end="7"/>
                                            </p:txEl>
                                          </p:spTgt>
                                        </p:tgtEl>
                                        <p:attrNameLst>
                                          <p:attrName>style.visibility</p:attrName>
                                        </p:attrNameLst>
                                      </p:cBhvr>
                                      <p:to>
                                        <p:strVal val="visible"/>
                                      </p:to>
                                    </p:set>
                                    <p:animEffect transition="in" filter="wipe(left)">
                                      <p:cBhvr>
                                        <p:cTn id="28" dur="500"/>
                                        <p:tgtEl>
                                          <p:spTgt spid="625667">
                                            <p:txEl>
                                              <p:pRg st="7" end="7"/>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625667">
                                            <p:txEl>
                                              <p:pRg st="8" end="8"/>
                                            </p:txEl>
                                          </p:spTgt>
                                        </p:tgtEl>
                                        <p:attrNameLst>
                                          <p:attrName>style.visibility</p:attrName>
                                        </p:attrNameLst>
                                      </p:cBhvr>
                                      <p:to>
                                        <p:strVal val="visible"/>
                                      </p:to>
                                    </p:set>
                                    <p:animEffect transition="in" filter="wipe(left)">
                                      <p:cBhvr>
                                        <p:cTn id="31" dur="500"/>
                                        <p:tgtEl>
                                          <p:spTgt spid="625667">
                                            <p:txEl>
                                              <p:pRg st="8" end="8"/>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625667">
                                            <p:txEl>
                                              <p:pRg st="9" end="9"/>
                                            </p:txEl>
                                          </p:spTgt>
                                        </p:tgtEl>
                                        <p:attrNameLst>
                                          <p:attrName>style.visibility</p:attrName>
                                        </p:attrNameLst>
                                      </p:cBhvr>
                                      <p:to>
                                        <p:strVal val="visible"/>
                                      </p:to>
                                    </p:set>
                                    <p:animEffect transition="in" filter="wipe(left)">
                                      <p:cBhvr>
                                        <p:cTn id="34" dur="500"/>
                                        <p:tgtEl>
                                          <p:spTgt spid="625667">
                                            <p:txEl>
                                              <p:pRg st="9" end="9"/>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625667">
                                            <p:txEl>
                                              <p:pRg st="10" end="10"/>
                                            </p:txEl>
                                          </p:spTgt>
                                        </p:tgtEl>
                                        <p:attrNameLst>
                                          <p:attrName>style.visibility</p:attrName>
                                        </p:attrNameLst>
                                      </p:cBhvr>
                                      <p:to>
                                        <p:strVal val="visible"/>
                                      </p:to>
                                    </p:set>
                                    <p:animEffect transition="in" filter="wipe(left)">
                                      <p:cBhvr>
                                        <p:cTn id="37" dur="500"/>
                                        <p:tgtEl>
                                          <p:spTgt spid="625667">
                                            <p:txEl>
                                              <p:pRg st="10" end="10"/>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625667">
                                            <p:txEl>
                                              <p:pRg st="11" end="11"/>
                                            </p:txEl>
                                          </p:spTgt>
                                        </p:tgtEl>
                                        <p:attrNameLst>
                                          <p:attrName>style.visibility</p:attrName>
                                        </p:attrNameLst>
                                      </p:cBhvr>
                                      <p:to>
                                        <p:strVal val="visible"/>
                                      </p:to>
                                    </p:set>
                                    <p:animEffect transition="in" filter="wipe(left)">
                                      <p:cBhvr>
                                        <p:cTn id="40" dur="500"/>
                                        <p:tgtEl>
                                          <p:spTgt spid="625667">
                                            <p:txEl>
                                              <p:pRg st="11" end="11"/>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25667">
                                            <p:txEl>
                                              <p:pRg st="12" end="12"/>
                                            </p:txEl>
                                          </p:spTgt>
                                        </p:tgtEl>
                                        <p:attrNameLst>
                                          <p:attrName>style.visibility</p:attrName>
                                        </p:attrNameLst>
                                      </p:cBhvr>
                                      <p:to>
                                        <p:strVal val="visible"/>
                                      </p:to>
                                    </p:set>
                                    <p:animEffect transition="in" filter="wipe(left)">
                                      <p:cBhvr>
                                        <p:cTn id="45" dur="500"/>
                                        <p:tgtEl>
                                          <p:spTgt spid="625667">
                                            <p:txEl>
                                              <p:pRg st="12" end="12"/>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25667">
                                            <p:txEl>
                                              <p:pRg st="13" end="13"/>
                                            </p:txEl>
                                          </p:spTgt>
                                        </p:tgtEl>
                                        <p:attrNameLst>
                                          <p:attrName>style.visibility</p:attrName>
                                        </p:attrNameLst>
                                      </p:cBhvr>
                                      <p:to>
                                        <p:strVal val="visible"/>
                                      </p:to>
                                    </p:set>
                                    <p:animEffect transition="in" filter="wipe(left)">
                                      <p:cBhvr>
                                        <p:cTn id="50" dur="500"/>
                                        <p:tgtEl>
                                          <p:spTgt spid="625667">
                                            <p:txEl>
                                              <p:pRg st="13" end="13"/>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625667">
                                            <p:txEl>
                                              <p:pRg st="14" end="14"/>
                                            </p:txEl>
                                          </p:spTgt>
                                        </p:tgtEl>
                                        <p:attrNameLst>
                                          <p:attrName>style.visibility</p:attrName>
                                        </p:attrNameLst>
                                      </p:cBhvr>
                                      <p:to>
                                        <p:strVal val="visible"/>
                                      </p:to>
                                    </p:set>
                                    <p:animEffect transition="in" filter="wipe(left)">
                                      <p:cBhvr>
                                        <p:cTn id="55" dur="500"/>
                                        <p:tgtEl>
                                          <p:spTgt spid="625667">
                                            <p:txEl>
                                              <p:pRg st="14" end="14"/>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625667">
                                            <p:txEl>
                                              <p:pRg st="15" end="15"/>
                                            </p:txEl>
                                          </p:spTgt>
                                        </p:tgtEl>
                                        <p:attrNameLst>
                                          <p:attrName>style.visibility</p:attrName>
                                        </p:attrNameLst>
                                      </p:cBhvr>
                                      <p:to>
                                        <p:strVal val="visible"/>
                                      </p:to>
                                    </p:set>
                                    <p:animEffect transition="in" filter="wipe(left)">
                                      <p:cBhvr>
                                        <p:cTn id="60" dur="500"/>
                                        <p:tgtEl>
                                          <p:spTgt spid="625667">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67"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AAEEA0F1-3F07-C18D-FE27-6137F022313B}"/>
              </a:ext>
            </a:extLst>
          </p:cNvPr>
          <p:cNvSpPr>
            <a:spLocks noGrp="1" noChangeArrowheads="1"/>
          </p:cNvSpPr>
          <p:nvPr>
            <p:ph type="title"/>
          </p:nvPr>
        </p:nvSpPr>
        <p:spPr/>
        <p:txBody>
          <a:bodyPr/>
          <a:lstStyle/>
          <a:p>
            <a:pPr eaLnBrk="1" hangingPunct="1"/>
            <a:r>
              <a:rPr lang="zh-CN" altLang="en-US"/>
              <a:t>一维数组类型形参</a:t>
            </a:r>
            <a:endParaRPr lang="zh-CN" altLang="en-US" sz="2400">
              <a:solidFill>
                <a:schemeClr val="tx1"/>
              </a:solidFill>
            </a:endParaRPr>
          </a:p>
        </p:txBody>
      </p:sp>
      <p:sp>
        <p:nvSpPr>
          <p:cNvPr id="50179" name="Rectangle 3">
            <a:extLst>
              <a:ext uri="{FF2B5EF4-FFF2-40B4-BE49-F238E27FC236}">
                <a16:creationId xmlns:a16="http://schemas.microsoft.com/office/drawing/2014/main" id="{9DB36BE5-C5F3-7879-F41F-CB8307379E8F}"/>
              </a:ext>
            </a:extLst>
          </p:cNvPr>
          <p:cNvSpPr>
            <a:spLocks noGrp="1" noChangeArrowheads="1"/>
          </p:cNvSpPr>
          <p:nvPr>
            <p:ph type="body" idx="1"/>
          </p:nvPr>
        </p:nvSpPr>
        <p:spPr>
          <a:xfrm>
            <a:off x="1150938" y="1988840"/>
            <a:ext cx="7493768" cy="4114800"/>
          </a:xfrm>
        </p:spPr>
        <p:txBody>
          <a:bodyPr/>
          <a:lstStyle/>
          <a:p>
            <a:pPr marL="533400" indent="-533400" algn="just" eaLnBrk="1" hangingPunct="1">
              <a:spcAft>
                <a:spcPts val="600"/>
              </a:spcAft>
            </a:pPr>
            <a:r>
              <a:rPr lang="zh-CN" altLang="en-US" sz="1800">
                <a:solidFill>
                  <a:srgbClr val="0070C0"/>
                </a:solidFill>
              </a:rPr>
              <a:t>作用</a:t>
            </a:r>
            <a:r>
              <a:rPr lang="zh-CN" altLang="en-US" sz="1800"/>
              <a:t>：使函数能处理不同的成组变量。</a:t>
            </a:r>
          </a:p>
          <a:p>
            <a:pPr marL="533400" indent="-533400" algn="just" eaLnBrk="1" hangingPunct="1">
              <a:spcAft>
                <a:spcPts val="600"/>
              </a:spcAft>
            </a:pPr>
            <a:r>
              <a:rPr lang="zh-CN" altLang="en-US" sz="1800"/>
              <a:t>对应数组形参的</a:t>
            </a:r>
            <a:r>
              <a:rPr lang="zh-CN" altLang="en-US" sz="1800">
                <a:solidFill>
                  <a:srgbClr val="0070C0"/>
                </a:solidFill>
              </a:rPr>
              <a:t>实参</a:t>
            </a:r>
            <a:r>
              <a:rPr lang="zh-CN" altLang="en-US" sz="1800"/>
              <a:t>是数组某元素的地址，最通常的情况是数组首元素的地址。</a:t>
            </a:r>
          </a:p>
          <a:p>
            <a:pPr marL="533400" indent="-533400" algn="just" eaLnBrk="1" hangingPunct="1">
              <a:spcAft>
                <a:spcPts val="600"/>
              </a:spcAft>
            </a:pPr>
            <a:r>
              <a:rPr lang="zh-CN" altLang="en-US" sz="1800"/>
              <a:t>由于数组名能代表数组首元素的地址，所以常用数组名实参对应数组形参。</a:t>
            </a:r>
          </a:p>
          <a:p>
            <a:pPr marL="533400" indent="-533400" algn="just" eaLnBrk="1" hangingPunct="1">
              <a:spcAft>
                <a:spcPts val="600"/>
              </a:spcAft>
            </a:pPr>
            <a:r>
              <a:rPr lang="zh-CN" altLang="en-US" sz="1800"/>
              <a:t>例如，下面定义的函数</a:t>
            </a:r>
            <a:r>
              <a:rPr lang="en-US" altLang="zh-CN" sz="1800"/>
              <a:t>sum()</a:t>
            </a:r>
            <a:r>
              <a:rPr lang="zh-CN" altLang="en-US" sz="1800"/>
              <a:t>用于求数组的前</a:t>
            </a:r>
            <a:r>
              <a:rPr lang="en-US" altLang="zh-CN" sz="1800"/>
              <a:t>n</a:t>
            </a:r>
            <a:r>
              <a:rPr lang="zh-CN" altLang="en-US" sz="1800"/>
              <a:t>个数之和：</a:t>
            </a:r>
          </a:p>
          <a:p>
            <a:pPr marL="914400" lvl="1" indent="-457200" algn="just" eaLnBrk="1" hangingPunct="1">
              <a:spcAft>
                <a:spcPts val="600"/>
              </a:spcAft>
              <a:buFont typeface="Wingdings" pitchFamily="2" charset="2"/>
              <a:buAutoNum type="arabicPeriod"/>
            </a:pPr>
            <a:r>
              <a:rPr lang="zh-CN" altLang="en-US" sz="1600"/>
              <a:t>   </a:t>
            </a:r>
            <a:r>
              <a:rPr lang="en-US" altLang="zh-CN" sz="1600"/>
              <a:t>int sum(</a:t>
            </a:r>
            <a:r>
              <a:rPr lang="en-US" altLang="zh-CN" sz="1600">
                <a:solidFill>
                  <a:srgbClr val="0066FF"/>
                </a:solidFill>
              </a:rPr>
              <a:t>int a[ ]</a:t>
            </a:r>
            <a:r>
              <a:rPr lang="en-US" altLang="zh-CN" sz="1600"/>
              <a:t>, int n) {</a:t>
            </a:r>
          </a:p>
          <a:p>
            <a:pPr marL="914400" lvl="1" indent="-457200" algn="just" eaLnBrk="1" hangingPunct="1">
              <a:spcAft>
                <a:spcPts val="600"/>
              </a:spcAft>
              <a:buFont typeface="Wingdings" pitchFamily="2" charset="2"/>
              <a:buAutoNum type="arabicPeriod"/>
            </a:pPr>
            <a:r>
              <a:rPr lang="en-US" altLang="zh-CN" sz="1600"/>
              <a:t>      int i, s;</a:t>
            </a:r>
          </a:p>
          <a:p>
            <a:pPr marL="914400" lvl="1" indent="-457200" algn="just" eaLnBrk="1" hangingPunct="1">
              <a:spcAft>
                <a:spcPts val="600"/>
              </a:spcAft>
              <a:buFont typeface="Wingdings" pitchFamily="2" charset="2"/>
              <a:buAutoNum type="arabicPeriod"/>
            </a:pPr>
            <a:r>
              <a:rPr lang="en-US" altLang="zh-CN" sz="1600"/>
              <a:t>      for(s = 0, i = 0; i &lt; n; i++)       s += a[i];</a:t>
            </a:r>
          </a:p>
          <a:p>
            <a:pPr marL="914400" lvl="1" indent="-457200" algn="just" eaLnBrk="1" hangingPunct="1">
              <a:spcAft>
                <a:spcPts val="600"/>
              </a:spcAft>
              <a:buFont typeface="Wingdings" pitchFamily="2" charset="2"/>
              <a:buAutoNum type="arabicPeriod"/>
            </a:pPr>
            <a:r>
              <a:rPr lang="en-US" altLang="zh-CN" sz="1600"/>
              <a:t>      return s;</a:t>
            </a:r>
          </a:p>
          <a:p>
            <a:pPr marL="914400" lvl="1" indent="-457200" algn="just" eaLnBrk="1" hangingPunct="1">
              <a:spcAft>
                <a:spcPts val="600"/>
              </a:spcAft>
              <a:buFont typeface="Wingdings" pitchFamily="2" charset="2"/>
              <a:buAutoNum type="arabicPeriod"/>
            </a:pPr>
            <a:r>
              <a:rPr lang="en-US" altLang="zh-CN" sz="1600"/>
              <a:t>  }</a:t>
            </a:r>
          </a:p>
          <a:p>
            <a:pPr marL="533400" indent="-533400" eaLnBrk="1" hangingPunct="1">
              <a:spcAft>
                <a:spcPts val="600"/>
              </a:spcAft>
            </a:pPr>
            <a:r>
              <a:rPr lang="zh-CN" altLang="en-US" sz="1800"/>
              <a:t>前述函数</a:t>
            </a:r>
            <a:r>
              <a:rPr lang="en-US" altLang="zh-CN" sz="1800"/>
              <a:t>sum()</a:t>
            </a:r>
            <a:r>
              <a:rPr lang="zh-CN" altLang="en-US" sz="1800"/>
              <a:t>有两个形参，一个形参是数组类型的，用于对应可变的实参数组；另一个形参是整型的，用于指定求和数组的元素个数。</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5EC25FCB-E877-E47E-2873-CFF8B65DC6E5}"/>
              </a:ext>
            </a:extLst>
          </p:cNvPr>
          <p:cNvSpPr>
            <a:spLocks noGrp="1" noChangeArrowheads="1"/>
          </p:cNvSpPr>
          <p:nvPr>
            <p:ph type="title"/>
          </p:nvPr>
        </p:nvSpPr>
        <p:spPr/>
        <p:txBody>
          <a:bodyPr/>
          <a:lstStyle/>
          <a:p>
            <a:pPr eaLnBrk="1" hangingPunct="1"/>
            <a:r>
              <a:rPr lang="zh-CN" altLang="en-US"/>
              <a:t>一维数组类型形参</a:t>
            </a:r>
            <a:r>
              <a:rPr lang="en-US" altLang="zh-CN"/>
              <a:t>(</a:t>
            </a:r>
            <a:r>
              <a:rPr lang="zh-CN" altLang="en-US"/>
              <a:t>续</a:t>
            </a:r>
            <a:r>
              <a:rPr lang="en-US" altLang="zh-CN"/>
              <a:t>)</a:t>
            </a:r>
          </a:p>
        </p:txBody>
      </p:sp>
      <p:sp>
        <p:nvSpPr>
          <p:cNvPr id="51203" name="Rectangle 3">
            <a:extLst>
              <a:ext uri="{FF2B5EF4-FFF2-40B4-BE49-F238E27FC236}">
                <a16:creationId xmlns:a16="http://schemas.microsoft.com/office/drawing/2014/main" id="{B7AABC67-F80C-E7D0-F746-186B0D41E90E}"/>
              </a:ext>
            </a:extLst>
          </p:cNvPr>
          <p:cNvSpPr>
            <a:spLocks noGrp="1" noChangeArrowheads="1"/>
          </p:cNvSpPr>
          <p:nvPr>
            <p:ph type="body" idx="1"/>
          </p:nvPr>
        </p:nvSpPr>
        <p:spPr/>
        <p:txBody>
          <a:bodyPr/>
          <a:lstStyle/>
          <a:p>
            <a:pPr marL="533400" indent="-533400" eaLnBrk="1" hangingPunct="1"/>
            <a:r>
              <a:rPr lang="zh-CN" altLang="en-US" sz="2800"/>
              <a:t>例如：</a:t>
            </a:r>
          </a:p>
          <a:p>
            <a:pPr marL="914400" lvl="1" indent="-457200" eaLnBrk="1" hangingPunct="1">
              <a:buFont typeface="Wingdings" pitchFamily="2" charset="2"/>
              <a:buAutoNum type="arabicPeriod"/>
            </a:pPr>
            <a:r>
              <a:rPr lang="en-US" altLang="zh-CN" sz="2400"/>
              <a:t>int  x[] = {1, 2, 3, 4, 5};</a:t>
            </a:r>
          </a:p>
          <a:p>
            <a:pPr marL="914400" lvl="1" indent="-457200" eaLnBrk="1" hangingPunct="1">
              <a:buFont typeface="Wingdings" pitchFamily="2" charset="2"/>
              <a:buAutoNum type="arabicPeriod"/>
            </a:pPr>
            <a:r>
              <a:rPr lang="en-US" altLang="zh-CN" sz="2400"/>
              <a:t>int  i, j;</a:t>
            </a:r>
          </a:p>
          <a:p>
            <a:pPr marL="914400" lvl="1" indent="-457200" algn="just" eaLnBrk="1" hangingPunct="1">
              <a:buFont typeface="Wingdings" pitchFamily="2" charset="2"/>
              <a:buAutoNum type="arabicPeriod"/>
            </a:pPr>
            <a:r>
              <a:rPr lang="en-US" altLang="zh-CN" sz="2400"/>
              <a:t>i = sum(</a:t>
            </a:r>
            <a:r>
              <a:rPr lang="en-US" altLang="zh-CN" sz="2400">
                <a:solidFill>
                  <a:srgbClr val="0066FF"/>
                </a:solidFill>
              </a:rPr>
              <a:t>x</a:t>
            </a:r>
            <a:r>
              <a:rPr lang="en-US" altLang="zh-CN" sz="2400"/>
              <a:t>, 5);  </a:t>
            </a:r>
          </a:p>
          <a:p>
            <a:pPr marL="914400" lvl="1" indent="-457200" algn="just" eaLnBrk="1" hangingPunct="1">
              <a:buFont typeface="Wingdings" pitchFamily="2" charset="2"/>
              <a:buAutoNum type="arabicPeriod"/>
            </a:pPr>
            <a:r>
              <a:rPr lang="en-US" altLang="zh-CN" sz="2400"/>
              <a:t>j = sum(</a:t>
            </a:r>
            <a:r>
              <a:rPr lang="en-US" altLang="zh-CN" sz="2400">
                <a:solidFill>
                  <a:srgbClr val="0066FF"/>
                </a:solidFill>
              </a:rPr>
              <a:t>&amp;x[2]</a:t>
            </a:r>
            <a:r>
              <a:rPr lang="en-US" altLang="zh-CN" sz="2400"/>
              <a:t>, 3);</a:t>
            </a:r>
          </a:p>
          <a:p>
            <a:pPr marL="914400" lvl="1" indent="-457200" algn="just" eaLnBrk="1" hangingPunct="1">
              <a:buFont typeface="Wingdings" pitchFamily="2" charset="2"/>
              <a:buAutoNum type="arabicPeriod"/>
            </a:pPr>
            <a:r>
              <a:rPr lang="en-US" altLang="zh-CN" sz="2400"/>
              <a:t>printf("i = %d\nj = %d\n", i, j);</a:t>
            </a:r>
          </a:p>
          <a:p>
            <a:pPr marL="533400" indent="-533400" algn="just" eaLnBrk="1" hangingPunct="1"/>
            <a:r>
              <a:rPr lang="zh-CN" altLang="en-US" sz="2800"/>
              <a:t>将输出</a:t>
            </a:r>
          </a:p>
          <a:p>
            <a:pPr marL="914400" lvl="1" indent="-457200" algn="just" eaLnBrk="1" hangingPunct="1"/>
            <a:r>
              <a:rPr lang="zh-CN" altLang="en-US" sz="2400"/>
              <a:t>      </a:t>
            </a:r>
            <a:r>
              <a:rPr lang="en-US" altLang="zh-CN" sz="2400"/>
              <a:t>i = 15</a:t>
            </a:r>
          </a:p>
          <a:p>
            <a:pPr marL="914400" lvl="1" indent="-457200" algn="just" eaLnBrk="1" hangingPunct="1"/>
            <a:r>
              <a:rPr lang="en-US" altLang="zh-CN" sz="2400"/>
              <a:t>      j = 12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A34D4E55-23D4-C1CE-3B20-71AF3B1EF906}"/>
              </a:ext>
            </a:extLst>
          </p:cNvPr>
          <p:cNvSpPr>
            <a:spLocks noGrp="1" noChangeArrowheads="1"/>
          </p:cNvSpPr>
          <p:nvPr>
            <p:ph type="title"/>
          </p:nvPr>
        </p:nvSpPr>
        <p:spPr/>
        <p:txBody>
          <a:bodyPr/>
          <a:lstStyle/>
          <a:p>
            <a:pPr eaLnBrk="1" hangingPunct="1"/>
            <a:r>
              <a:rPr lang="zh-CN" altLang="en-US"/>
              <a:t>一维数组类型形参</a:t>
            </a:r>
            <a:r>
              <a:rPr lang="en-US" altLang="zh-CN"/>
              <a:t>(</a:t>
            </a:r>
            <a:r>
              <a:rPr lang="zh-CN" altLang="en-US"/>
              <a:t>续</a:t>
            </a:r>
            <a:r>
              <a:rPr lang="en-US" altLang="zh-CN"/>
              <a:t>)</a:t>
            </a:r>
          </a:p>
        </p:txBody>
      </p:sp>
      <p:sp>
        <p:nvSpPr>
          <p:cNvPr id="52227" name="Rectangle 3">
            <a:extLst>
              <a:ext uri="{FF2B5EF4-FFF2-40B4-BE49-F238E27FC236}">
                <a16:creationId xmlns:a16="http://schemas.microsoft.com/office/drawing/2014/main" id="{F8183A0B-A852-47CE-0EEC-3120263D7699}"/>
              </a:ext>
            </a:extLst>
          </p:cNvPr>
          <p:cNvSpPr>
            <a:spLocks noGrp="1" noChangeArrowheads="1"/>
          </p:cNvSpPr>
          <p:nvPr>
            <p:ph type="body" idx="1"/>
          </p:nvPr>
        </p:nvSpPr>
        <p:spPr>
          <a:xfrm>
            <a:off x="1150938" y="2017713"/>
            <a:ext cx="7525518" cy="4114800"/>
          </a:xfrm>
        </p:spPr>
        <p:txBody>
          <a:bodyPr/>
          <a:lstStyle/>
          <a:p>
            <a:pPr algn="just" eaLnBrk="1" hangingPunct="1">
              <a:lnSpc>
                <a:spcPct val="150000"/>
              </a:lnSpc>
              <a:spcAft>
                <a:spcPts val="600"/>
              </a:spcAft>
            </a:pPr>
            <a:r>
              <a:rPr lang="zh-CN" altLang="en-US" sz="2000"/>
              <a:t>函数调用</a:t>
            </a:r>
            <a:r>
              <a:rPr lang="en-US" altLang="zh-CN" sz="2000"/>
              <a:t>sum(x,5)</a:t>
            </a:r>
            <a:r>
              <a:rPr lang="zh-CN" altLang="en-US" sz="2000"/>
              <a:t>将数组</a:t>
            </a:r>
            <a:r>
              <a:rPr lang="en-US" altLang="zh-CN" sz="2000"/>
              <a:t>x</a:t>
            </a:r>
            <a:r>
              <a:rPr lang="zh-CN" altLang="en-US" sz="2000"/>
              <a:t>的地址</a:t>
            </a:r>
            <a:r>
              <a:rPr lang="en-US" altLang="zh-CN" sz="2000"/>
              <a:t>(&amp;x[0])</a:t>
            </a:r>
            <a:r>
              <a:rPr lang="zh-CN" altLang="en-US" sz="2000"/>
              <a:t>传送给形参</a:t>
            </a:r>
            <a:r>
              <a:rPr lang="en-US" altLang="zh-CN" sz="2000"/>
              <a:t>a</a:t>
            </a:r>
            <a:r>
              <a:rPr lang="zh-CN" altLang="en-US" sz="2000"/>
              <a:t>；</a:t>
            </a:r>
            <a:endParaRPr lang="en-US" altLang="zh-CN" sz="2000"/>
          </a:p>
          <a:p>
            <a:pPr algn="just" eaLnBrk="1" hangingPunct="1">
              <a:lnSpc>
                <a:spcPct val="150000"/>
              </a:lnSpc>
              <a:spcAft>
                <a:spcPts val="600"/>
              </a:spcAft>
            </a:pPr>
            <a:r>
              <a:rPr lang="zh-CN" altLang="en-US" sz="2000"/>
              <a:t>函数调用</a:t>
            </a:r>
            <a:r>
              <a:rPr lang="en-US" altLang="zh-CN" sz="2000"/>
              <a:t>sum(&amp;x[2], 3)</a:t>
            </a:r>
            <a:r>
              <a:rPr lang="zh-CN" altLang="en-US" sz="2000"/>
              <a:t>将数组</a:t>
            </a:r>
            <a:r>
              <a:rPr lang="en-US" altLang="zh-CN" sz="2000"/>
              <a:t>x</a:t>
            </a:r>
            <a:r>
              <a:rPr lang="zh-CN" altLang="en-US" sz="2000"/>
              <a:t>中的</a:t>
            </a:r>
            <a:r>
              <a:rPr lang="en-US" altLang="zh-CN" sz="2000"/>
              <a:t>x[2]</a:t>
            </a:r>
            <a:r>
              <a:rPr lang="zh-CN" altLang="en-US" sz="2000"/>
              <a:t>的地址</a:t>
            </a:r>
            <a:r>
              <a:rPr lang="en-US" altLang="zh-CN" sz="2000"/>
              <a:t>(&amp;x[2])</a:t>
            </a:r>
            <a:r>
              <a:rPr lang="zh-CN" altLang="en-US" sz="2000"/>
              <a:t>传送给形参</a:t>
            </a:r>
            <a:r>
              <a:rPr lang="en-US" altLang="zh-CN" sz="2000"/>
              <a:t>a</a:t>
            </a:r>
            <a:r>
              <a:rPr lang="zh-CN" altLang="en-US" sz="2000"/>
              <a:t>，而</a:t>
            </a:r>
            <a:r>
              <a:rPr lang="en-US" altLang="zh-CN" sz="2000"/>
              <a:t>x[2]</a:t>
            </a:r>
            <a:r>
              <a:rPr lang="zh-CN" altLang="en-US" sz="2000"/>
              <a:t>的地址就是数组元素段</a:t>
            </a:r>
            <a:r>
              <a:rPr lang="en-US" altLang="zh-CN" sz="2000"/>
              <a:t>x[2]</a:t>
            </a:r>
            <a:r>
              <a:rPr lang="zh-CN" altLang="en-US" sz="2000"/>
              <a:t>、 </a:t>
            </a:r>
            <a:r>
              <a:rPr lang="en-US" altLang="zh-CN" sz="2000"/>
              <a:t>x[3]</a:t>
            </a:r>
            <a:r>
              <a:rPr lang="zh-CN" altLang="en-US" sz="2000"/>
              <a:t>、 </a:t>
            </a:r>
            <a:r>
              <a:rPr lang="en-US" altLang="zh-CN" sz="2000"/>
              <a:t>x[4]</a:t>
            </a:r>
            <a:r>
              <a:rPr lang="zh-CN" altLang="en-US" sz="2000"/>
              <a:t>的开始地址。</a:t>
            </a:r>
          </a:p>
          <a:p>
            <a:pPr algn="just" eaLnBrk="1" hangingPunct="1">
              <a:lnSpc>
                <a:spcPct val="150000"/>
              </a:lnSpc>
              <a:spcAft>
                <a:spcPts val="600"/>
              </a:spcAft>
            </a:pPr>
            <a:r>
              <a:rPr lang="zh-CN" altLang="en-US" sz="2000"/>
              <a:t>与数组类型形参对应的</a:t>
            </a:r>
            <a:r>
              <a:rPr lang="zh-CN" altLang="en-US" sz="2000">
                <a:solidFill>
                  <a:srgbClr val="C00000"/>
                </a:solidFill>
              </a:rPr>
              <a:t>实参数组有多少个元素是不确定的</a:t>
            </a:r>
            <a:r>
              <a:rPr lang="zh-CN" altLang="en-US" sz="2000"/>
              <a:t>，可能会对应一个大数组，也可能会对应一个小数组，甚至会对应数组中的某一段。所以在数组形参说明中，形参数组不必指定数组元素的个数。为了正确指明某次函数调用实际参与计算的元素个数，</a:t>
            </a:r>
            <a:r>
              <a:rPr lang="zh-CN" altLang="en-US" sz="2000">
                <a:solidFill>
                  <a:srgbClr val="0066FF"/>
                </a:solidFill>
              </a:rPr>
              <a:t>应另引入一个整型形参来指定</a:t>
            </a:r>
            <a:r>
              <a:rPr lang="zh-CN" altLang="en-US" sz="2000"/>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9BE0A9B-4F4E-8F85-4664-A3C3B6D2C36A}"/>
              </a:ext>
            </a:extLst>
          </p:cNvPr>
          <p:cNvSpPr>
            <a:spLocks noGrp="1" noChangeArrowheads="1"/>
          </p:cNvSpPr>
          <p:nvPr>
            <p:ph type="title"/>
          </p:nvPr>
        </p:nvSpPr>
        <p:spPr/>
        <p:txBody>
          <a:bodyPr/>
          <a:lstStyle/>
          <a:p>
            <a:pPr eaLnBrk="1" hangingPunct="1"/>
            <a:r>
              <a:rPr lang="zh-CN" altLang="en-US" sz="4000"/>
              <a:t>一维数组类型形参</a:t>
            </a:r>
            <a:br>
              <a:rPr lang="en-US" altLang="zh-CN" sz="4000"/>
            </a:br>
            <a:r>
              <a:rPr lang="en-US" altLang="zh-CN" sz="3200"/>
              <a:t>——</a:t>
            </a:r>
            <a:r>
              <a:rPr lang="zh-CN" altLang="en-US" sz="3200"/>
              <a:t>改变实参所指数组元素的值</a:t>
            </a:r>
            <a:endParaRPr lang="zh-CN" altLang="en-US" sz="4000"/>
          </a:p>
        </p:txBody>
      </p:sp>
      <p:sp>
        <p:nvSpPr>
          <p:cNvPr id="53251" name="Rectangle 3">
            <a:extLst>
              <a:ext uri="{FF2B5EF4-FFF2-40B4-BE49-F238E27FC236}">
                <a16:creationId xmlns:a16="http://schemas.microsoft.com/office/drawing/2014/main" id="{559AC1E4-77BE-62A5-0C15-7D9FF0290913}"/>
              </a:ext>
            </a:extLst>
          </p:cNvPr>
          <p:cNvSpPr>
            <a:spLocks noGrp="1" noChangeArrowheads="1"/>
          </p:cNvSpPr>
          <p:nvPr>
            <p:ph type="body" idx="1"/>
          </p:nvPr>
        </p:nvSpPr>
        <p:spPr>
          <a:xfrm>
            <a:off x="1043608" y="2017713"/>
            <a:ext cx="7632848" cy="4114800"/>
          </a:xfrm>
        </p:spPr>
        <p:txBody>
          <a:bodyPr/>
          <a:lstStyle/>
          <a:p>
            <a:pPr marL="533400" indent="-533400" algn="just" eaLnBrk="1" hangingPunct="1"/>
            <a:r>
              <a:rPr lang="zh-CN" altLang="en-US" sz="2000"/>
              <a:t>因传递给数组形参的实参是数组段的开始地址，函数内对数组形参的访问就是对实参所指数组的访问。</a:t>
            </a:r>
            <a:r>
              <a:rPr lang="zh-CN" altLang="en-US" sz="2000">
                <a:solidFill>
                  <a:srgbClr val="0066FF"/>
                </a:solidFill>
              </a:rPr>
              <a:t>函数也可以改变实参所指数组元素的值。</a:t>
            </a:r>
          </a:p>
          <a:p>
            <a:pPr marL="533400" indent="-533400" algn="just" eaLnBrk="1" hangingPunct="1"/>
            <a:r>
              <a:rPr lang="zh-CN" altLang="en-US" sz="2000"/>
              <a:t>例如：函数 </a:t>
            </a:r>
            <a:r>
              <a:rPr lang="en-US" altLang="zh-CN" sz="2000"/>
              <a:t>initArray()</a:t>
            </a:r>
            <a:r>
              <a:rPr lang="zh-CN" altLang="en-US" sz="2000"/>
              <a:t>给数组元素赋指定的值</a:t>
            </a:r>
          </a:p>
          <a:p>
            <a:pPr marL="914400" lvl="1" indent="-457200" algn="just" eaLnBrk="1" hangingPunct="1">
              <a:buFont typeface="Wingdings" pitchFamily="2" charset="2"/>
              <a:buAutoNum type="arabicPeriod"/>
            </a:pPr>
            <a:r>
              <a:rPr lang="en-US" altLang="zh-CN" sz="1800"/>
              <a:t>void initArray(int x[], int n, int val){</a:t>
            </a:r>
          </a:p>
          <a:p>
            <a:pPr marL="914400" lvl="1" indent="-457200" algn="just" eaLnBrk="1" hangingPunct="1">
              <a:buFont typeface="Wingdings" pitchFamily="2" charset="2"/>
              <a:buAutoNum type="arabicPeriod"/>
            </a:pPr>
            <a:r>
              <a:rPr lang="en-US" altLang="zh-CN" sz="1800"/>
              <a:t>  int  i;</a:t>
            </a:r>
          </a:p>
          <a:p>
            <a:pPr marL="914400" lvl="1" indent="-457200" algn="just" eaLnBrk="1" hangingPunct="1">
              <a:buFont typeface="Wingdings" pitchFamily="2" charset="2"/>
              <a:buAutoNum type="arabicPeriod"/>
            </a:pPr>
            <a:r>
              <a:rPr lang="en-US" altLang="zh-CN" sz="1800"/>
              <a:t>  for(i = 0; i &lt; n; i++)</a:t>
            </a:r>
          </a:p>
          <a:p>
            <a:pPr marL="914400" lvl="1" indent="-457200" algn="just" eaLnBrk="1" hangingPunct="1">
              <a:buFont typeface="Wingdings" pitchFamily="2" charset="2"/>
              <a:buAutoNum type="arabicPeriod"/>
            </a:pPr>
            <a:r>
              <a:rPr lang="en-US" altLang="zh-CN" sz="1800"/>
              <a:t>      x[i] = val;</a:t>
            </a:r>
          </a:p>
          <a:p>
            <a:pPr marL="914400" lvl="1" indent="-457200" algn="just" eaLnBrk="1" hangingPunct="1">
              <a:buFont typeface="Wingdings" pitchFamily="2" charset="2"/>
              <a:buAutoNum type="arabicPeriod"/>
            </a:pPr>
            <a:r>
              <a:rPr lang="en-US" altLang="zh-CN" sz="1800"/>
              <a:t>}</a:t>
            </a:r>
          </a:p>
          <a:p>
            <a:pPr marL="533400" indent="-533400" algn="just" eaLnBrk="1" hangingPunct="1"/>
            <a:r>
              <a:rPr lang="zh-CN" altLang="en-US" sz="2000"/>
              <a:t>如另有数组定义  </a:t>
            </a:r>
            <a:r>
              <a:rPr lang="en-US" altLang="zh-CN" sz="2000"/>
              <a:t>int a[10], b[100];</a:t>
            </a:r>
            <a:r>
              <a:rPr lang="zh-CN" altLang="en-US" sz="2000"/>
              <a:t>则</a:t>
            </a:r>
          </a:p>
          <a:p>
            <a:pPr marL="914400" lvl="1" indent="-457200" algn="just" eaLnBrk="1" hangingPunct="1"/>
            <a:r>
              <a:rPr lang="en-US" altLang="zh-CN" sz="1800"/>
              <a:t>initArray(a, 10, 1);    	//</a:t>
            </a:r>
            <a:r>
              <a:rPr lang="zh-CN" altLang="en-US" sz="1800"/>
              <a:t>数组</a:t>
            </a:r>
            <a:r>
              <a:rPr lang="en-US" altLang="zh-CN" sz="1800"/>
              <a:t>a</a:t>
            </a:r>
            <a:r>
              <a:rPr lang="zh-CN" altLang="en-US" sz="1800"/>
              <a:t>的所有元素置值</a:t>
            </a:r>
            <a:r>
              <a:rPr lang="en-US" altLang="zh-CN" sz="1800"/>
              <a:t>1</a:t>
            </a:r>
          </a:p>
          <a:p>
            <a:pPr marL="914400" lvl="1" indent="-457200" algn="just" eaLnBrk="1" hangingPunct="1"/>
            <a:r>
              <a:rPr lang="en-US" altLang="zh-CN" sz="1800"/>
              <a:t>initArray(b, 50, 2);    	//</a:t>
            </a:r>
            <a:r>
              <a:rPr lang="zh-CN" altLang="en-US" sz="1800"/>
              <a:t>数组</a:t>
            </a:r>
            <a:r>
              <a:rPr lang="en-US" altLang="zh-CN" sz="1800"/>
              <a:t>b</a:t>
            </a:r>
            <a:r>
              <a:rPr lang="zh-CN" altLang="en-US" sz="1800"/>
              <a:t>的前</a:t>
            </a:r>
            <a:r>
              <a:rPr lang="en-US" altLang="zh-CN" sz="1800"/>
              <a:t>50</a:t>
            </a:r>
            <a:r>
              <a:rPr lang="zh-CN" altLang="en-US" sz="1800"/>
              <a:t>个元素置值</a:t>
            </a:r>
            <a:r>
              <a:rPr lang="en-US" altLang="zh-CN" sz="1800"/>
              <a:t>2</a:t>
            </a:r>
          </a:p>
          <a:p>
            <a:pPr marL="914400" lvl="1" indent="-457200" eaLnBrk="1" hangingPunct="1"/>
            <a:r>
              <a:rPr lang="en-US" altLang="zh-CN" sz="1800"/>
              <a:t>initArray(&amp;b[50], 50, 4);   //</a:t>
            </a:r>
            <a:r>
              <a:rPr lang="zh-CN" altLang="en-US" sz="1800"/>
              <a:t>数组</a:t>
            </a:r>
            <a:r>
              <a:rPr lang="en-US" altLang="zh-CN" sz="1800"/>
              <a:t>b</a:t>
            </a:r>
            <a:r>
              <a:rPr lang="zh-CN" altLang="en-US" sz="1800"/>
              <a:t>的后</a:t>
            </a:r>
            <a:r>
              <a:rPr lang="en-US" altLang="zh-CN" sz="1800"/>
              <a:t>50</a:t>
            </a:r>
            <a:r>
              <a:rPr lang="zh-CN" altLang="en-US" sz="1800"/>
              <a:t>个元素置值</a:t>
            </a:r>
            <a:r>
              <a:rPr lang="en-US" altLang="zh-CN" sz="1800"/>
              <a:t>4</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A3D90C38-B6A8-E98C-AB0F-A138A73CDBAA}"/>
              </a:ext>
            </a:extLst>
          </p:cNvPr>
          <p:cNvSpPr>
            <a:spLocks noGrp="1" noChangeArrowheads="1"/>
          </p:cNvSpPr>
          <p:nvPr>
            <p:ph type="title"/>
          </p:nvPr>
        </p:nvSpPr>
        <p:spPr/>
        <p:txBody>
          <a:bodyPr/>
          <a:lstStyle/>
          <a:p>
            <a:pPr eaLnBrk="1" hangingPunct="1"/>
            <a:r>
              <a:rPr lang="zh-CN" altLang="en-US" sz="4000"/>
              <a:t>一维数组类型形参（例子）</a:t>
            </a:r>
          </a:p>
        </p:txBody>
      </p:sp>
      <p:sp>
        <p:nvSpPr>
          <p:cNvPr id="632835" name="Rectangle 3">
            <a:extLst>
              <a:ext uri="{FF2B5EF4-FFF2-40B4-BE49-F238E27FC236}">
                <a16:creationId xmlns:a16="http://schemas.microsoft.com/office/drawing/2014/main" id="{55B46834-8440-ED77-7775-E252733900CD}"/>
              </a:ext>
            </a:extLst>
          </p:cNvPr>
          <p:cNvSpPr>
            <a:spLocks noGrp="1" noChangeArrowheads="1"/>
          </p:cNvSpPr>
          <p:nvPr>
            <p:ph type="body" idx="1"/>
          </p:nvPr>
        </p:nvSpPr>
        <p:spPr>
          <a:xfrm>
            <a:off x="1150938" y="2017713"/>
            <a:ext cx="7804150" cy="4114800"/>
          </a:xfrm>
        </p:spPr>
        <p:txBody>
          <a:bodyPr/>
          <a:lstStyle/>
          <a:p>
            <a:pPr marL="533400" indent="-533400" algn="just" eaLnBrk="1" hangingPunct="1">
              <a:lnSpc>
                <a:spcPct val="80000"/>
              </a:lnSpc>
            </a:pPr>
            <a:r>
              <a:rPr lang="en-US" altLang="zh-CN" sz="1800"/>
              <a:t>【</a:t>
            </a:r>
            <a:r>
              <a:rPr lang="zh-CN" altLang="en-US" sz="1800"/>
              <a:t>例</a:t>
            </a:r>
            <a:r>
              <a:rPr lang="en-US" altLang="zh-CN" sz="1800"/>
              <a:t>5.3】</a:t>
            </a:r>
            <a:r>
              <a:rPr lang="zh-CN" altLang="en-US" sz="1800"/>
              <a:t>为数组输入值的函数。</a:t>
            </a:r>
          </a:p>
          <a:p>
            <a:pPr marL="914400" lvl="1" indent="-457200" algn="just" eaLnBrk="1" hangingPunct="1">
              <a:lnSpc>
                <a:spcPct val="80000"/>
              </a:lnSpc>
              <a:buFont typeface="Wingdings" pitchFamily="2" charset="2"/>
              <a:buAutoNum type="arabicPeriod"/>
            </a:pPr>
            <a:r>
              <a:rPr lang="en-US" altLang="zh-CN" sz="1600"/>
              <a:t>void readArray(</a:t>
            </a:r>
            <a:r>
              <a:rPr lang="en-US" altLang="zh-CN" sz="1600">
                <a:solidFill>
                  <a:srgbClr val="0066FF"/>
                </a:solidFill>
              </a:rPr>
              <a:t>int a[]</a:t>
            </a:r>
            <a:r>
              <a:rPr lang="en-US" altLang="zh-CN" sz="1600"/>
              <a:t>, int n) {</a:t>
            </a:r>
          </a:p>
          <a:p>
            <a:pPr marL="914400" lvl="1" indent="-457200" algn="just" eaLnBrk="1" hangingPunct="1">
              <a:lnSpc>
                <a:spcPct val="80000"/>
              </a:lnSpc>
              <a:buFont typeface="Wingdings" pitchFamily="2" charset="2"/>
              <a:buAutoNum type="arabicPeriod"/>
            </a:pPr>
            <a:r>
              <a:rPr lang="en-US" altLang="zh-CN" sz="1600"/>
              <a:t>   int i;</a:t>
            </a:r>
          </a:p>
          <a:p>
            <a:pPr marL="914400" lvl="1" indent="-457200" algn="just" eaLnBrk="1" hangingPunct="1">
              <a:lnSpc>
                <a:spcPct val="80000"/>
              </a:lnSpc>
              <a:buFont typeface="Wingdings" pitchFamily="2" charset="2"/>
              <a:buAutoNum type="arabicPeriod"/>
            </a:pPr>
            <a:r>
              <a:rPr lang="en-US" altLang="zh-CN" sz="1600"/>
              <a:t>   for(i = 0; i &lt; n; i++)   { </a:t>
            </a:r>
          </a:p>
          <a:p>
            <a:pPr marL="914400" lvl="1" indent="-457200" algn="just" eaLnBrk="1" hangingPunct="1">
              <a:lnSpc>
                <a:spcPct val="80000"/>
              </a:lnSpc>
              <a:buFont typeface="Wingdings" pitchFamily="2" charset="2"/>
              <a:buAutoNum type="arabicPeriod"/>
            </a:pPr>
            <a:r>
              <a:rPr lang="en-US" altLang="zh-CN" sz="1600"/>
              <a:t>      printf("Enter a[%d]   ", i);</a:t>
            </a:r>
          </a:p>
          <a:p>
            <a:pPr marL="914400" lvl="1" indent="-457200" algn="just" eaLnBrk="1" hangingPunct="1">
              <a:lnSpc>
                <a:spcPct val="80000"/>
              </a:lnSpc>
              <a:buFont typeface="Wingdings" pitchFamily="2" charset="2"/>
              <a:buAutoNum type="arabicPeriod"/>
            </a:pPr>
            <a:r>
              <a:rPr lang="en-US" altLang="zh-CN" sz="1600"/>
              <a:t>      scanf("%d", </a:t>
            </a:r>
            <a:r>
              <a:rPr lang="en-US" altLang="zh-CN" sz="1600">
                <a:solidFill>
                  <a:srgbClr val="0066FF"/>
                </a:solidFill>
              </a:rPr>
              <a:t>&amp;a[i]</a:t>
            </a:r>
            <a:r>
              <a:rPr lang="en-US" altLang="zh-CN" sz="1600"/>
              <a:t>);</a:t>
            </a:r>
          </a:p>
          <a:p>
            <a:pPr marL="914400" lvl="1" indent="-457200" algn="just" eaLnBrk="1" hangingPunct="1">
              <a:lnSpc>
                <a:spcPct val="80000"/>
              </a:lnSpc>
              <a:buFont typeface="Wingdings" pitchFamily="2" charset="2"/>
              <a:buAutoNum type="arabicPeriod"/>
            </a:pPr>
            <a:r>
              <a:rPr lang="en-US" altLang="zh-CN" sz="1600"/>
              <a:t>   }</a:t>
            </a:r>
          </a:p>
          <a:p>
            <a:pPr marL="914400" lvl="1" indent="-457200" algn="just" eaLnBrk="1" hangingPunct="1">
              <a:lnSpc>
                <a:spcPct val="80000"/>
              </a:lnSpc>
              <a:buFont typeface="Wingdings" pitchFamily="2" charset="2"/>
              <a:buAutoNum type="arabicPeriod"/>
            </a:pPr>
            <a:r>
              <a:rPr lang="en-US" altLang="zh-CN" sz="1600"/>
              <a:t>}</a:t>
            </a:r>
          </a:p>
          <a:p>
            <a:pPr marL="533400" indent="-533400" algn="just" eaLnBrk="1" hangingPunct="1">
              <a:lnSpc>
                <a:spcPct val="80000"/>
              </a:lnSpc>
            </a:pPr>
            <a:r>
              <a:rPr lang="en-US" altLang="zh-CN" sz="1800"/>
              <a:t>【</a:t>
            </a:r>
            <a:r>
              <a:rPr lang="zh-CN" altLang="en-US" sz="1800"/>
              <a:t>例</a:t>
            </a:r>
            <a:r>
              <a:rPr lang="en-US" altLang="zh-CN" sz="1800"/>
              <a:t>5.4】</a:t>
            </a:r>
            <a:r>
              <a:rPr lang="zh-CN" altLang="en-US" sz="1800"/>
              <a:t>求数组元素和的函数的定义</a:t>
            </a:r>
          </a:p>
          <a:p>
            <a:pPr marL="914400" lvl="1" indent="-457200" algn="just" eaLnBrk="1" hangingPunct="1">
              <a:lnSpc>
                <a:spcPct val="80000"/>
              </a:lnSpc>
              <a:buFont typeface="Wingdings" pitchFamily="2" charset="2"/>
              <a:buAutoNum type="arabicPeriod"/>
            </a:pPr>
            <a:r>
              <a:rPr lang="en-US" altLang="zh-CN" sz="1600"/>
              <a:t>int sum(</a:t>
            </a:r>
            <a:r>
              <a:rPr lang="en-US" altLang="zh-CN" sz="1600">
                <a:solidFill>
                  <a:srgbClr val="0066FF"/>
                </a:solidFill>
              </a:rPr>
              <a:t>int a[]</a:t>
            </a:r>
            <a:r>
              <a:rPr lang="en-US" altLang="zh-CN" sz="1600"/>
              <a:t>, int n) {</a:t>
            </a:r>
          </a:p>
          <a:p>
            <a:pPr marL="914400" lvl="1" indent="-457200" algn="just" eaLnBrk="1" hangingPunct="1">
              <a:lnSpc>
                <a:spcPct val="80000"/>
              </a:lnSpc>
              <a:buFont typeface="Wingdings" pitchFamily="2" charset="2"/>
              <a:buAutoNum type="arabicPeriod"/>
            </a:pPr>
            <a:r>
              <a:rPr lang="en-US" altLang="zh-CN" sz="1600"/>
              <a:t>   int i, s;</a:t>
            </a:r>
          </a:p>
          <a:p>
            <a:pPr marL="914400" lvl="1" indent="-457200" algn="just" eaLnBrk="1" hangingPunct="1">
              <a:lnSpc>
                <a:spcPct val="80000"/>
              </a:lnSpc>
              <a:buFont typeface="Wingdings" pitchFamily="2" charset="2"/>
              <a:buAutoNum type="arabicPeriod"/>
            </a:pPr>
            <a:r>
              <a:rPr lang="en-US" altLang="zh-CN" sz="1600"/>
              <a:t>   for(s = 0, i = 0; i &lt; n; i++)</a:t>
            </a:r>
          </a:p>
          <a:p>
            <a:pPr marL="914400" lvl="1" indent="-457200" algn="just" eaLnBrk="1" hangingPunct="1">
              <a:lnSpc>
                <a:spcPct val="80000"/>
              </a:lnSpc>
              <a:buFont typeface="Wingdings" pitchFamily="2" charset="2"/>
              <a:buAutoNum type="arabicPeriod"/>
            </a:pPr>
            <a:r>
              <a:rPr lang="en-US" altLang="zh-CN" sz="1600"/>
              <a:t>      s += a[i];</a:t>
            </a:r>
          </a:p>
          <a:p>
            <a:pPr marL="914400" lvl="1" indent="-457200" algn="just" eaLnBrk="1" hangingPunct="1">
              <a:lnSpc>
                <a:spcPct val="80000"/>
              </a:lnSpc>
              <a:buFont typeface="Wingdings" pitchFamily="2" charset="2"/>
              <a:buAutoNum type="arabicPeriod"/>
            </a:pPr>
            <a:r>
              <a:rPr lang="en-US" altLang="zh-CN" sz="1600"/>
              <a:t>   return s;</a:t>
            </a:r>
          </a:p>
          <a:p>
            <a:pPr marL="914400" lvl="1" indent="-457200" algn="just" eaLnBrk="1" hangingPunct="1">
              <a:lnSpc>
                <a:spcPct val="80000"/>
              </a:lnSpc>
              <a:buFont typeface="Wingdings" pitchFamily="2" charset="2"/>
              <a:buAutoNum type="arabicPeriod"/>
            </a:pPr>
            <a:r>
              <a:rPr lang="en-US" altLang="zh-CN" sz="16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32835">
                                            <p:txEl>
                                              <p:pRg st="0" end="0"/>
                                            </p:txEl>
                                          </p:spTgt>
                                        </p:tgtEl>
                                        <p:attrNameLst>
                                          <p:attrName>style.visibility</p:attrName>
                                        </p:attrNameLst>
                                      </p:cBhvr>
                                      <p:to>
                                        <p:strVal val="visible"/>
                                      </p:to>
                                    </p:set>
                                    <p:animEffect transition="in" filter="dissolve">
                                      <p:cBhvr>
                                        <p:cTn id="7" dur="500"/>
                                        <p:tgtEl>
                                          <p:spTgt spid="632835">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32835">
                                            <p:txEl>
                                              <p:pRg st="1" end="1"/>
                                            </p:txEl>
                                          </p:spTgt>
                                        </p:tgtEl>
                                        <p:attrNameLst>
                                          <p:attrName>style.visibility</p:attrName>
                                        </p:attrNameLst>
                                      </p:cBhvr>
                                      <p:to>
                                        <p:strVal val="visible"/>
                                      </p:to>
                                    </p:set>
                                    <p:animEffect transition="in" filter="dissolve">
                                      <p:cBhvr>
                                        <p:cTn id="10" dur="500"/>
                                        <p:tgtEl>
                                          <p:spTgt spid="632835">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32835">
                                            <p:txEl>
                                              <p:pRg st="2" end="2"/>
                                            </p:txEl>
                                          </p:spTgt>
                                        </p:tgtEl>
                                        <p:attrNameLst>
                                          <p:attrName>style.visibility</p:attrName>
                                        </p:attrNameLst>
                                      </p:cBhvr>
                                      <p:to>
                                        <p:strVal val="visible"/>
                                      </p:to>
                                    </p:set>
                                    <p:animEffect transition="in" filter="dissolve">
                                      <p:cBhvr>
                                        <p:cTn id="13" dur="500"/>
                                        <p:tgtEl>
                                          <p:spTgt spid="632835">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32835">
                                            <p:txEl>
                                              <p:pRg st="3" end="3"/>
                                            </p:txEl>
                                          </p:spTgt>
                                        </p:tgtEl>
                                        <p:attrNameLst>
                                          <p:attrName>style.visibility</p:attrName>
                                        </p:attrNameLst>
                                      </p:cBhvr>
                                      <p:to>
                                        <p:strVal val="visible"/>
                                      </p:to>
                                    </p:set>
                                    <p:animEffect transition="in" filter="dissolve">
                                      <p:cBhvr>
                                        <p:cTn id="16" dur="500"/>
                                        <p:tgtEl>
                                          <p:spTgt spid="632835">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632835">
                                            <p:txEl>
                                              <p:pRg st="4" end="4"/>
                                            </p:txEl>
                                          </p:spTgt>
                                        </p:tgtEl>
                                        <p:attrNameLst>
                                          <p:attrName>style.visibility</p:attrName>
                                        </p:attrNameLst>
                                      </p:cBhvr>
                                      <p:to>
                                        <p:strVal val="visible"/>
                                      </p:to>
                                    </p:set>
                                    <p:animEffect transition="in" filter="dissolve">
                                      <p:cBhvr>
                                        <p:cTn id="19" dur="500"/>
                                        <p:tgtEl>
                                          <p:spTgt spid="632835">
                                            <p:txEl>
                                              <p:pRg st="4" end="4"/>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632835">
                                            <p:txEl>
                                              <p:pRg st="5" end="5"/>
                                            </p:txEl>
                                          </p:spTgt>
                                        </p:tgtEl>
                                        <p:attrNameLst>
                                          <p:attrName>style.visibility</p:attrName>
                                        </p:attrNameLst>
                                      </p:cBhvr>
                                      <p:to>
                                        <p:strVal val="visible"/>
                                      </p:to>
                                    </p:set>
                                    <p:animEffect transition="in" filter="dissolve">
                                      <p:cBhvr>
                                        <p:cTn id="22" dur="500"/>
                                        <p:tgtEl>
                                          <p:spTgt spid="632835">
                                            <p:txEl>
                                              <p:pRg st="5" end="5"/>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632835">
                                            <p:txEl>
                                              <p:pRg st="6" end="6"/>
                                            </p:txEl>
                                          </p:spTgt>
                                        </p:tgtEl>
                                        <p:attrNameLst>
                                          <p:attrName>style.visibility</p:attrName>
                                        </p:attrNameLst>
                                      </p:cBhvr>
                                      <p:to>
                                        <p:strVal val="visible"/>
                                      </p:to>
                                    </p:set>
                                    <p:animEffect transition="in" filter="dissolve">
                                      <p:cBhvr>
                                        <p:cTn id="25" dur="500"/>
                                        <p:tgtEl>
                                          <p:spTgt spid="632835">
                                            <p:txEl>
                                              <p:pRg st="6" end="6"/>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32835">
                                            <p:txEl>
                                              <p:pRg st="7" end="7"/>
                                            </p:txEl>
                                          </p:spTgt>
                                        </p:tgtEl>
                                        <p:attrNameLst>
                                          <p:attrName>style.visibility</p:attrName>
                                        </p:attrNameLst>
                                      </p:cBhvr>
                                      <p:to>
                                        <p:strVal val="visible"/>
                                      </p:to>
                                    </p:set>
                                    <p:animEffect transition="in" filter="dissolve">
                                      <p:cBhvr>
                                        <p:cTn id="28" dur="500"/>
                                        <p:tgtEl>
                                          <p:spTgt spid="632835">
                                            <p:txEl>
                                              <p:pRg st="7" end="7"/>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632835">
                                            <p:txEl>
                                              <p:pRg st="8" end="8"/>
                                            </p:txEl>
                                          </p:spTgt>
                                        </p:tgtEl>
                                        <p:attrNameLst>
                                          <p:attrName>style.visibility</p:attrName>
                                        </p:attrNameLst>
                                      </p:cBhvr>
                                      <p:to>
                                        <p:strVal val="visible"/>
                                      </p:to>
                                    </p:set>
                                    <p:animEffect transition="in" filter="dissolve">
                                      <p:cBhvr>
                                        <p:cTn id="33" dur="500"/>
                                        <p:tgtEl>
                                          <p:spTgt spid="632835">
                                            <p:txEl>
                                              <p:pRg st="8" end="8"/>
                                            </p:txEl>
                                          </p:spTgt>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632835">
                                            <p:txEl>
                                              <p:pRg st="9" end="9"/>
                                            </p:txEl>
                                          </p:spTgt>
                                        </p:tgtEl>
                                        <p:attrNameLst>
                                          <p:attrName>style.visibility</p:attrName>
                                        </p:attrNameLst>
                                      </p:cBhvr>
                                      <p:to>
                                        <p:strVal val="visible"/>
                                      </p:to>
                                    </p:set>
                                    <p:animEffect transition="in" filter="dissolve">
                                      <p:cBhvr>
                                        <p:cTn id="36" dur="500"/>
                                        <p:tgtEl>
                                          <p:spTgt spid="632835">
                                            <p:txEl>
                                              <p:pRg st="9" end="9"/>
                                            </p:txEl>
                                          </p:spTgt>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632835">
                                            <p:txEl>
                                              <p:pRg st="10" end="10"/>
                                            </p:txEl>
                                          </p:spTgt>
                                        </p:tgtEl>
                                        <p:attrNameLst>
                                          <p:attrName>style.visibility</p:attrName>
                                        </p:attrNameLst>
                                      </p:cBhvr>
                                      <p:to>
                                        <p:strVal val="visible"/>
                                      </p:to>
                                    </p:set>
                                    <p:animEffect transition="in" filter="dissolve">
                                      <p:cBhvr>
                                        <p:cTn id="39" dur="500"/>
                                        <p:tgtEl>
                                          <p:spTgt spid="632835">
                                            <p:txEl>
                                              <p:pRg st="10" end="10"/>
                                            </p:txEl>
                                          </p:spTgt>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632835">
                                            <p:txEl>
                                              <p:pRg st="11" end="11"/>
                                            </p:txEl>
                                          </p:spTgt>
                                        </p:tgtEl>
                                        <p:attrNameLst>
                                          <p:attrName>style.visibility</p:attrName>
                                        </p:attrNameLst>
                                      </p:cBhvr>
                                      <p:to>
                                        <p:strVal val="visible"/>
                                      </p:to>
                                    </p:set>
                                    <p:animEffect transition="in" filter="dissolve">
                                      <p:cBhvr>
                                        <p:cTn id="42" dur="500"/>
                                        <p:tgtEl>
                                          <p:spTgt spid="632835">
                                            <p:txEl>
                                              <p:pRg st="11" end="11"/>
                                            </p:txEl>
                                          </p:spTgt>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632835">
                                            <p:txEl>
                                              <p:pRg st="12" end="12"/>
                                            </p:txEl>
                                          </p:spTgt>
                                        </p:tgtEl>
                                        <p:attrNameLst>
                                          <p:attrName>style.visibility</p:attrName>
                                        </p:attrNameLst>
                                      </p:cBhvr>
                                      <p:to>
                                        <p:strVal val="visible"/>
                                      </p:to>
                                    </p:set>
                                    <p:animEffect transition="in" filter="dissolve">
                                      <p:cBhvr>
                                        <p:cTn id="45" dur="500"/>
                                        <p:tgtEl>
                                          <p:spTgt spid="632835">
                                            <p:txEl>
                                              <p:pRg st="12" end="12"/>
                                            </p:txEl>
                                          </p:spTgt>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632835">
                                            <p:txEl>
                                              <p:pRg st="13" end="13"/>
                                            </p:txEl>
                                          </p:spTgt>
                                        </p:tgtEl>
                                        <p:attrNameLst>
                                          <p:attrName>style.visibility</p:attrName>
                                        </p:attrNameLst>
                                      </p:cBhvr>
                                      <p:to>
                                        <p:strVal val="visible"/>
                                      </p:to>
                                    </p:set>
                                    <p:animEffect transition="in" filter="dissolve">
                                      <p:cBhvr>
                                        <p:cTn id="48" dur="500"/>
                                        <p:tgtEl>
                                          <p:spTgt spid="632835">
                                            <p:txEl>
                                              <p:pRg st="13" end="13"/>
                                            </p:txEl>
                                          </p:spTgt>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632835">
                                            <p:txEl>
                                              <p:pRg st="14" end="14"/>
                                            </p:txEl>
                                          </p:spTgt>
                                        </p:tgtEl>
                                        <p:attrNameLst>
                                          <p:attrName>style.visibility</p:attrName>
                                        </p:attrNameLst>
                                      </p:cBhvr>
                                      <p:to>
                                        <p:strVal val="visible"/>
                                      </p:to>
                                    </p:set>
                                    <p:animEffect transition="in" filter="dissolve">
                                      <p:cBhvr>
                                        <p:cTn id="51" dur="500"/>
                                        <p:tgtEl>
                                          <p:spTgt spid="63283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835"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F947C0C7-28A4-2A21-00D8-9965B341A76F}"/>
              </a:ext>
            </a:extLst>
          </p:cNvPr>
          <p:cNvSpPr>
            <a:spLocks noGrp="1" noChangeArrowheads="1"/>
          </p:cNvSpPr>
          <p:nvPr>
            <p:ph type="title"/>
          </p:nvPr>
        </p:nvSpPr>
        <p:spPr/>
        <p:txBody>
          <a:bodyPr/>
          <a:lstStyle/>
          <a:p>
            <a:pPr eaLnBrk="1" hangingPunct="1"/>
            <a:r>
              <a:rPr lang="zh-CN" altLang="en-US" sz="4000"/>
              <a:t>一维数组类型形参（例子）</a:t>
            </a:r>
            <a:r>
              <a:rPr lang="en-US" altLang="zh-CN" sz="4000"/>
              <a:t>(</a:t>
            </a:r>
            <a:r>
              <a:rPr lang="zh-CN" altLang="en-US" sz="4000"/>
              <a:t>续</a:t>
            </a:r>
            <a:r>
              <a:rPr lang="en-US" altLang="zh-CN" sz="4000"/>
              <a:t>)</a:t>
            </a:r>
          </a:p>
        </p:txBody>
      </p:sp>
      <p:sp>
        <p:nvSpPr>
          <p:cNvPr id="633859" name="Rectangle 3">
            <a:extLst>
              <a:ext uri="{FF2B5EF4-FFF2-40B4-BE49-F238E27FC236}">
                <a16:creationId xmlns:a16="http://schemas.microsoft.com/office/drawing/2014/main" id="{F7E5B517-83D7-187E-6596-0A6B212758FF}"/>
              </a:ext>
            </a:extLst>
          </p:cNvPr>
          <p:cNvSpPr>
            <a:spLocks noGrp="1" noChangeArrowheads="1"/>
          </p:cNvSpPr>
          <p:nvPr>
            <p:ph type="body" idx="1"/>
          </p:nvPr>
        </p:nvSpPr>
        <p:spPr/>
        <p:txBody>
          <a:bodyPr/>
          <a:lstStyle/>
          <a:p>
            <a:pPr marL="457200" indent="-457200" eaLnBrk="1" hangingPunct="1">
              <a:lnSpc>
                <a:spcPct val="80000"/>
              </a:lnSpc>
            </a:pPr>
            <a:r>
              <a:rPr lang="zh-CN" altLang="en-US" sz="1800"/>
              <a:t>例  求数组中最大元素值的函数。</a:t>
            </a:r>
          </a:p>
          <a:p>
            <a:pPr marL="838200" lvl="1" indent="-381000" algn="just" eaLnBrk="1" hangingPunct="1">
              <a:lnSpc>
                <a:spcPct val="80000"/>
              </a:lnSpc>
              <a:buFont typeface="Wingdings" pitchFamily="2" charset="2"/>
              <a:buAutoNum type="arabicPeriod"/>
            </a:pPr>
            <a:r>
              <a:rPr lang="en-US" altLang="zh-CN" sz="1600"/>
              <a:t>int max(</a:t>
            </a:r>
            <a:r>
              <a:rPr lang="en-US" altLang="zh-CN" sz="1600">
                <a:solidFill>
                  <a:srgbClr val="0066FF"/>
                </a:solidFill>
              </a:rPr>
              <a:t>int a[]</a:t>
            </a:r>
            <a:r>
              <a:rPr lang="en-US" altLang="zh-CN" sz="1600"/>
              <a:t>, int n) {</a:t>
            </a:r>
          </a:p>
          <a:p>
            <a:pPr marL="838200" lvl="1" indent="-381000" algn="just" eaLnBrk="1" hangingPunct="1">
              <a:lnSpc>
                <a:spcPct val="80000"/>
              </a:lnSpc>
              <a:buFont typeface="Wingdings" pitchFamily="2" charset="2"/>
              <a:buAutoNum type="arabicPeriod"/>
            </a:pPr>
            <a:r>
              <a:rPr lang="en-US" altLang="zh-CN" sz="1600"/>
              <a:t>   int i, m;</a:t>
            </a:r>
          </a:p>
          <a:p>
            <a:pPr marL="838200" lvl="1" indent="-381000" algn="just" eaLnBrk="1" hangingPunct="1">
              <a:lnSpc>
                <a:spcPct val="80000"/>
              </a:lnSpc>
              <a:buFont typeface="Wingdings" pitchFamily="2" charset="2"/>
              <a:buAutoNum type="arabicPeriod"/>
            </a:pPr>
            <a:r>
              <a:rPr lang="en-US" altLang="zh-CN" sz="1600"/>
              <a:t>   for(m = 0, i = 1; i &lt; n ; i++) </a:t>
            </a:r>
          </a:p>
          <a:p>
            <a:pPr marL="838200" lvl="1" indent="-381000" algn="just" eaLnBrk="1" hangingPunct="1">
              <a:lnSpc>
                <a:spcPct val="80000"/>
              </a:lnSpc>
              <a:buFont typeface="Wingdings" pitchFamily="2" charset="2"/>
              <a:buAutoNum type="arabicPeriod"/>
            </a:pPr>
            <a:r>
              <a:rPr lang="en-US" altLang="zh-CN" sz="1600"/>
              <a:t>       if (a[m] &lt; a[i]) </a:t>
            </a:r>
          </a:p>
          <a:p>
            <a:pPr marL="838200" lvl="1" indent="-381000" algn="just" eaLnBrk="1" hangingPunct="1">
              <a:lnSpc>
                <a:spcPct val="80000"/>
              </a:lnSpc>
              <a:buFont typeface="Wingdings" pitchFamily="2" charset="2"/>
              <a:buAutoNum type="arabicPeriod"/>
            </a:pPr>
            <a:r>
              <a:rPr lang="en-US" altLang="zh-CN" sz="1600"/>
              <a:t>             m = i;</a:t>
            </a:r>
          </a:p>
          <a:p>
            <a:pPr marL="838200" lvl="1" indent="-381000" algn="just" eaLnBrk="1" hangingPunct="1">
              <a:lnSpc>
                <a:spcPct val="80000"/>
              </a:lnSpc>
              <a:buFont typeface="Wingdings" pitchFamily="2" charset="2"/>
              <a:buAutoNum type="arabicPeriod"/>
            </a:pPr>
            <a:r>
              <a:rPr lang="en-US" altLang="zh-CN" sz="1600"/>
              <a:t>   return a[m];</a:t>
            </a:r>
          </a:p>
          <a:p>
            <a:pPr marL="838200" lvl="1" indent="-381000" algn="just" eaLnBrk="1" hangingPunct="1">
              <a:lnSpc>
                <a:spcPct val="80000"/>
              </a:lnSpc>
              <a:buFont typeface="Wingdings" pitchFamily="2" charset="2"/>
              <a:buAutoNum type="arabicPeriod"/>
            </a:pPr>
            <a:r>
              <a:rPr lang="en-US" altLang="zh-CN" sz="1600"/>
              <a:t>}</a:t>
            </a:r>
          </a:p>
          <a:p>
            <a:pPr marL="457200" indent="-457200" eaLnBrk="1" hangingPunct="1">
              <a:lnSpc>
                <a:spcPct val="80000"/>
              </a:lnSpc>
            </a:pPr>
            <a:r>
              <a:rPr lang="zh-CN" altLang="en-US" sz="1800"/>
              <a:t>例  求数组中元素平均值的函数。</a:t>
            </a:r>
          </a:p>
          <a:p>
            <a:pPr marL="838200" lvl="1" indent="-381000" algn="just" eaLnBrk="1" hangingPunct="1">
              <a:lnSpc>
                <a:spcPct val="80000"/>
              </a:lnSpc>
              <a:buFont typeface="Wingdings" pitchFamily="2" charset="2"/>
              <a:buAutoNum type="arabicPeriod"/>
            </a:pPr>
            <a:r>
              <a:rPr lang="en-US" altLang="zh-CN" sz="1600"/>
              <a:t>double average(</a:t>
            </a:r>
            <a:r>
              <a:rPr lang="en-US" altLang="zh-CN" sz="1600">
                <a:solidFill>
                  <a:srgbClr val="0066FF"/>
                </a:solidFill>
              </a:rPr>
              <a:t>int a[]</a:t>
            </a:r>
            <a:r>
              <a:rPr lang="en-US" altLang="zh-CN" sz="1600"/>
              <a:t>, int n) {</a:t>
            </a:r>
          </a:p>
          <a:p>
            <a:pPr marL="838200" lvl="1" indent="-381000" algn="just" eaLnBrk="1" hangingPunct="1">
              <a:lnSpc>
                <a:spcPct val="80000"/>
              </a:lnSpc>
              <a:buFont typeface="Wingdings" pitchFamily="2" charset="2"/>
              <a:buAutoNum type="arabicPeriod"/>
            </a:pPr>
            <a:r>
              <a:rPr lang="en-US" altLang="zh-CN" sz="1600"/>
              <a:t>    return  1.0*sum(a, n)/n;</a:t>
            </a:r>
          </a:p>
          <a:p>
            <a:pPr marL="838200" lvl="1" indent="-381000" algn="just" eaLnBrk="1" hangingPunct="1">
              <a:lnSpc>
                <a:spcPct val="80000"/>
              </a:lnSpc>
              <a:buFont typeface="Wingdings" pitchFamily="2" charset="2"/>
              <a:buAutoNum type="arabicPeriod"/>
            </a:pPr>
            <a:r>
              <a:rPr lang="en-US" altLang="zh-CN" sz="1600"/>
              <a:t>}</a:t>
            </a:r>
          </a:p>
          <a:p>
            <a:pPr marL="457200" indent="-457200" eaLnBrk="1" hangingPunct="1">
              <a:lnSpc>
                <a:spcPct val="80000"/>
              </a:lnSpc>
            </a:pPr>
            <a:r>
              <a:rPr lang="zh-CN" altLang="en-US" sz="1800"/>
              <a:t>例  求数组中元素平均值的函数。</a:t>
            </a:r>
          </a:p>
          <a:p>
            <a:pPr marL="838200" lvl="1" indent="-381000" algn="just" eaLnBrk="1" hangingPunct="1">
              <a:lnSpc>
                <a:spcPct val="80000"/>
              </a:lnSpc>
              <a:buFont typeface="Wingdings" pitchFamily="2" charset="2"/>
              <a:buAutoNum type="arabicPeriod"/>
            </a:pPr>
            <a:r>
              <a:rPr lang="en-US" altLang="zh-CN" sz="1600"/>
              <a:t>double average(</a:t>
            </a:r>
            <a:r>
              <a:rPr lang="en-US" altLang="zh-CN" sz="1600">
                <a:solidFill>
                  <a:srgbClr val="0066FF"/>
                </a:solidFill>
              </a:rPr>
              <a:t>int a[]</a:t>
            </a:r>
            <a:r>
              <a:rPr lang="en-US" altLang="zh-CN" sz="1600"/>
              <a:t>, int n) {</a:t>
            </a:r>
          </a:p>
          <a:p>
            <a:pPr marL="838200" lvl="1" indent="-381000" algn="just" eaLnBrk="1" hangingPunct="1">
              <a:lnSpc>
                <a:spcPct val="80000"/>
              </a:lnSpc>
              <a:buFont typeface="Wingdings" pitchFamily="2" charset="2"/>
              <a:buAutoNum type="arabicPeriod"/>
            </a:pPr>
            <a:r>
              <a:rPr lang="en-US" altLang="zh-CN" sz="1600"/>
              <a:t>    </a:t>
            </a:r>
            <a:r>
              <a:rPr lang="en-US" altLang="zh-CN" sz="1600">
                <a:solidFill>
                  <a:srgbClr val="0066FF"/>
                </a:solidFill>
              </a:rPr>
              <a:t>if (n&gt;0)</a:t>
            </a:r>
            <a:r>
              <a:rPr lang="en-US" altLang="zh-CN" sz="1600"/>
              <a:t> return  1.0*sum(a, n)/n;</a:t>
            </a:r>
          </a:p>
          <a:p>
            <a:pPr marL="838200" lvl="1" indent="-381000" algn="just" eaLnBrk="1" hangingPunct="1">
              <a:lnSpc>
                <a:spcPct val="80000"/>
              </a:lnSpc>
              <a:buFont typeface="Wingdings" pitchFamily="2" charset="2"/>
              <a:buAutoNum type="arabicPeriod"/>
            </a:pPr>
            <a:r>
              <a:rPr lang="en-US" altLang="zh-CN" sz="1600"/>
              <a:t>    else exit(1);</a:t>
            </a:r>
          </a:p>
          <a:p>
            <a:pPr marL="838200" lvl="1" indent="-381000" algn="just" eaLnBrk="1" hangingPunct="1">
              <a:lnSpc>
                <a:spcPct val="80000"/>
              </a:lnSpc>
              <a:buFont typeface="Wingdings" pitchFamily="2" charset="2"/>
              <a:buAutoNum type="arabicPeriod"/>
            </a:pPr>
            <a:r>
              <a:rPr lang="en-US" altLang="zh-CN" sz="16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38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38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385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385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385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385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385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3859">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3859">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33859">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3859">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33859">
                                            <p:txEl>
                                              <p:pRg st="11" end="11"/>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33859">
                                            <p:txEl>
                                              <p:pRg st="12" end="1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33859">
                                            <p:txEl>
                                              <p:pRg st="13" end="1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33859">
                                            <p:txEl>
                                              <p:pRg st="14" end="1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3859">
                                            <p:txEl>
                                              <p:pRg st="15" end="15"/>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33859">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9"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6E8986C7-CE48-173F-75A4-FD2497AD6ACB}"/>
              </a:ext>
            </a:extLst>
          </p:cNvPr>
          <p:cNvSpPr>
            <a:spLocks noGrp="1" noChangeArrowheads="1"/>
          </p:cNvSpPr>
          <p:nvPr>
            <p:ph type="title"/>
          </p:nvPr>
        </p:nvSpPr>
        <p:spPr/>
        <p:txBody>
          <a:bodyPr/>
          <a:lstStyle/>
          <a:p>
            <a:pPr eaLnBrk="1" hangingPunct="1"/>
            <a:r>
              <a:rPr lang="zh-CN" altLang="en-US" sz="4000"/>
              <a:t>一维数组类型形参</a:t>
            </a:r>
            <a:br>
              <a:rPr lang="en-US" altLang="zh-CN" sz="4000"/>
            </a:br>
            <a:r>
              <a:rPr lang="en-US" altLang="zh-CN" sz="3200"/>
              <a:t>——</a:t>
            </a:r>
            <a:r>
              <a:rPr lang="zh-CN" altLang="en-US" sz="3200"/>
              <a:t>把数组形参看作指针形参</a:t>
            </a:r>
            <a:endParaRPr lang="zh-CN" altLang="en-US" sz="4000"/>
          </a:p>
        </p:txBody>
      </p:sp>
      <p:sp>
        <p:nvSpPr>
          <p:cNvPr id="634883" name="Rectangle 3">
            <a:extLst>
              <a:ext uri="{FF2B5EF4-FFF2-40B4-BE49-F238E27FC236}">
                <a16:creationId xmlns:a16="http://schemas.microsoft.com/office/drawing/2014/main" id="{870B16E6-10E8-D17E-0D36-E5F3878361D4}"/>
              </a:ext>
            </a:extLst>
          </p:cNvPr>
          <p:cNvSpPr>
            <a:spLocks noGrp="1" noChangeArrowheads="1"/>
          </p:cNvSpPr>
          <p:nvPr>
            <p:ph type="body" idx="1"/>
          </p:nvPr>
        </p:nvSpPr>
        <p:spPr>
          <a:xfrm>
            <a:off x="1150938" y="2017713"/>
            <a:ext cx="7381502" cy="4114800"/>
          </a:xfrm>
        </p:spPr>
        <p:txBody>
          <a:bodyPr/>
          <a:lstStyle/>
          <a:p>
            <a:pPr marL="533400" indent="-533400" eaLnBrk="1" hangingPunct="1">
              <a:spcAft>
                <a:spcPts val="600"/>
              </a:spcAft>
            </a:pPr>
            <a:r>
              <a:rPr lang="zh-CN" altLang="en-US" sz="2400"/>
              <a:t>数组形参对应的实参也可以是数组某元素的地址，即指向数组某元素的指针，所以</a:t>
            </a:r>
            <a:r>
              <a:rPr lang="zh-CN" altLang="en-US" sz="2400">
                <a:solidFill>
                  <a:srgbClr val="0066FF"/>
                </a:solidFill>
              </a:rPr>
              <a:t>数组形参也是一种指针形参</a:t>
            </a:r>
            <a:r>
              <a:rPr lang="zh-CN" altLang="en-US" sz="2400"/>
              <a:t>。所以任何数组形参说明：</a:t>
            </a:r>
            <a:br>
              <a:rPr lang="zh-CN" altLang="en-US" sz="2400"/>
            </a:br>
            <a:r>
              <a:rPr lang="zh-CN" altLang="en-US" sz="2400"/>
              <a:t>       </a:t>
            </a:r>
            <a:r>
              <a:rPr lang="zh-CN" altLang="en-US" sz="2400">
                <a:solidFill>
                  <a:srgbClr val="0070C0"/>
                </a:solidFill>
              </a:rPr>
              <a:t>类型  形参名</a:t>
            </a:r>
            <a:r>
              <a:rPr lang="en-US" altLang="zh-CN" sz="2400">
                <a:solidFill>
                  <a:srgbClr val="0070C0"/>
                </a:solidFill>
              </a:rPr>
              <a:t>[]</a:t>
            </a:r>
            <a:br>
              <a:rPr lang="en-US" altLang="zh-CN" sz="2400"/>
            </a:br>
            <a:r>
              <a:rPr lang="zh-CN" altLang="en-US" sz="2400"/>
              <a:t>都可改写成：</a:t>
            </a:r>
            <a:br>
              <a:rPr lang="zh-CN" altLang="en-US" sz="2400"/>
            </a:br>
            <a:r>
              <a:rPr lang="zh-CN" altLang="en-US" sz="2400"/>
              <a:t>       </a:t>
            </a:r>
            <a:r>
              <a:rPr lang="zh-CN" altLang="en-US" sz="2400">
                <a:solidFill>
                  <a:srgbClr val="0070C0"/>
                </a:solidFill>
              </a:rPr>
              <a:t>类型  *形参名</a:t>
            </a:r>
          </a:p>
          <a:p>
            <a:pPr marL="533400" indent="-533400" algn="just" eaLnBrk="1" hangingPunct="1">
              <a:spcAft>
                <a:spcPts val="600"/>
              </a:spcAft>
            </a:pPr>
            <a:r>
              <a:rPr lang="zh-CN" altLang="en-US" sz="2400"/>
              <a:t>如前面的函数</a:t>
            </a:r>
            <a:r>
              <a:rPr lang="en-US" altLang="zh-CN" sz="2400"/>
              <a:t>sum()</a:t>
            </a:r>
            <a:r>
              <a:rPr lang="zh-CN" altLang="en-US" sz="2400"/>
              <a:t>的定义可改写成如下形式：</a:t>
            </a:r>
          </a:p>
          <a:p>
            <a:pPr marL="914400" lvl="1" indent="-457200" algn="just" eaLnBrk="1" hangingPunct="1">
              <a:spcAft>
                <a:spcPts val="600"/>
              </a:spcAft>
              <a:buFont typeface="Wingdings" pitchFamily="2" charset="2"/>
              <a:buAutoNum type="arabicPeriod"/>
            </a:pPr>
            <a:r>
              <a:rPr lang="en-US" altLang="zh-CN" sz="2000"/>
              <a:t>int sum(int *a, int n) {</a:t>
            </a:r>
          </a:p>
          <a:p>
            <a:pPr marL="914400" lvl="1" indent="-457200" algn="just" eaLnBrk="1" hangingPunct="1">
              <a:spcAft>
                <a:spcPts val="600"/>
              </a:spcAft>
              <a:buFont typeface="Wingdings" pitchFamily="2" charset="2"/>
              <a:buAutoNum type="arabicPeriod"/>
            </a:pPr>
            <a:r>
              <a:rPr lang="en-US" altLang="zh-CN" sz="2000"/>
              <a:t>   //</a:t>
            </a:r>
            <a:r>
              <a:rPr lang="zh-CN" altLang="en-US" sz="2000"/>
              <a:t>函数体同前</a:t>
            </a:r>
          </a:p>
          <a:p>
            <a:pPr marL="914400" lvl="1" indent="-457200" algn="just" eaLnBrk="1" hangingPunct="1">
              <a:spcAft>
                <a:spcPts val="600"/>
              </a:spcAft>
              <a:buFont typeface="Wingdings" pitchFamily="2" charset="2"/>
              <a:buAutoNum type="arabicPeriod"/>
            </a:pPr>
            <a:r>
              <a:rPr lang="en-US" altLang="zh-CN" sz="2000"/>
              <a:t>}</a:t>
            </a:r>
          </a:p>
          <a:p>
            <a:pPr marL="533400" indent="-533400" eaLnBrk="1" hangingPunct="1">
              <a:spcAft>
                <a:spcPts val="600"/>
              </a:spcAft>
            </a:pPr>
            <a:endParaRPr lang="en-US" altLang="zh-CN" sz="2400"/>
          </a:p>
        </p:txBody>
      </p:sp>
    </p:spTree>
    <p:extLst>
      <p:ext uri="{BB962C8B-B14F-4D97-AF65-F5344CB8AC3E}">
        <p14:creationId xmlns:p14="http://schemas.microsoft.com/office/powerpoint/2010/main" val="33133583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634883">
                                            <p:txEl>
                                              <p:pRg st="0" end="0"/>
                                            </p:txEl>
                                          </p:spTgt>
                                        </p:tgtEl>
                                        <p:attrNameLst>
                                          <p:attrName>style.visibility</p:attrName>
                                        </p:attrNameLst>
                                      </p:cBhvr>
                                      <p:to>
                                        <p:strVal val="visible"/>
                                      </p:to>
                                    </p:set>
                                    <p:animEffect transition="in" filter="barn(outVertical)">
                                      <p:cBhvr>
                                        <p:cTn id="7" dur="500"/>
                                        <p:tgtEl>
                                          <p:spTgt spid="6348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634883">
                                            <p:txEl>
                                              <p:pRg st="1" end="1"/>
                                            </p:txEl>
                                          </p:spTgt>
                                        </p:tgtEl>
                                        <p:attrNameLst>
                                          <p:attrName>style.visibility</p:attrName>
                                        </p:attrNameLst>
                                      </p:cBhvr>
                                      <p:to>
                                        <p:strVal val="visible"/>
                                      </p:to>
                                    </p:set>
                                    <p:animEffect transition="in" filter="barn(outVertical)">
                                      <p:cBhvr>
                                        <p:cTn id="12" dur="500"/>
                                        <p:tgtEl>
                                          <p:spTgt spid="634883">
                                            <p:txEl>
                                              <p:pRg st="1" end="1"/>
                                            </p:txEl>
                                          </p:spTgt>
                                        </p:tgtEl>
                                      </p:cBhvr>
                                    </p:animEffect>
                                  </p:childTnLst>
                                </p:cTn>
                              </p:par>
                              <p:par>
                                <p:cTn id="13" presetID="16" presetClass="entr" presetSubtype="37" fill="hold" grpId="0" nodeType="withEffect">
                                  <p:stCondLst>
                                    <p:cond delay="0"/>
                                  </p:stCondLst>
                                  <p:childTnLst>
                                    <p:set>
                                      <p:cBhvr>
                                        <p:cTn id="14" dur="1" fill="hold">
                                          <p:stCondLst>
                                            <p:cond delay="0"/>
                                          </p:stCondLst>
                                        </p:cTn>
                                        <p:tgtEl>
                                          <p:spTgt spid="634883">
                                            <p:txEl>
                                              <p:pRg st="2" end="2"/>
                                            </p:txEl>
                                          </p:spTgt>
                                        </p:tgtEl>
                                        <p:attrNameLst>
                                          <p:attrName>style.visibility</p:attrName>
                                        </p:attrNameLst>
                                      </p:cBhvr>
                                      <p:to>
                                        <p:strVal val="visible"/>
                                      </p:to>
                                    </p:set>
                                    <p:animEffect transition="in" filter="barn(outVertical)">
                                      <p:cBhvr>
                                        <p:cTn id="15" dur="500"/>
                                        <p:tgtEl>
                                          <p:spTgt spid="634883">
                                            <p:txEl>
                                              <p:pRg st="2" end="2"/>
                                            </p:txEl>
                                          </p:spTgt>
                                        </p:tgtEl>
                                      </p:cBhvr>
                                    </p:animEffect>
                                  </p:childTnLst>
                                </p:cTn>
                              </p:par>
                              <p:par>
                                <p:cTn id="16" presetID="16" presetClass="entr" presetSubtype="37" fill="hold" grpId="0" nodeType="withEffect">
                                  <p:stCondLst>
                                    <p:cond delay="0"/>
                                  </p:stCondLst>
                                  <p:childTnLst>
                                    <p:set>
                                      <p:cBhvr>
                                        <p:cTn id="17" dur="1" fill="hold">
                                          <p:stCondLst>
                                            <p:cond delay="0"/>
                                          </p:stCondLst>
                                        </p:cTn>
                                        <p:tgtEl>
                                          <p:spTgt spid="634883">
                                            <p:txEl>
                                              <p:pRg st="3" end="3"/>
                                            </p:txEl>
                                          </p:spTgt>
                                        </p:tgtEl>
                                        <p:attrNameLst>
                                          <p:attrName>style.visibility</p:attrName>
                                        </p:attrNameLst>
                                      </p:cBhvr>
                                      <p:to>
                                        <p:strVal val="visible"/>
                                      </p:to>
                                    </p:set>
                                    <p:animEffect transition="in" filter="barn(outVertical)">
                                      <p:cBhvr>
                                        <p:cTn id="18" dur="500"/>
                                        <p:tgtEl>
                                          <p:spTgt spid="634883">
                                            <p:txEl>
                                              <p:pRg st="3" end="3"/>
                                            </p:txEl>
                                          </p:spTgt>
                                        </p:tgtEl>
                                      </p:cBhvr>
                                    </p:animEffect>
                                  </p:childTnLst>
                                </p:cTn>
                              </p:par>
                              <p:par>
                                <p:cTn id="19" presetID="16" presetClass="entr" presetSubtype="37" fill="hold" grpId="0" nodeType="withEffect">
                                  <p:stCondLst>
                                    <p:cond delay="0"/>
                                  </p:stCondLst>
                                  <p:childTnLst>
                                    <p:set>
                                      <p:cBhvr>
                                        <p:cTn id="20" dur="1" fill="hold">
                                          <p:stCondLst>
                                            <p:cond delay="0"/>
                                          </p:stCondLst>
                                        </p:cTn>
                                        <p:tgtEl>
                                          <p:spTgt spid="634883">
                                            <p:txEl>
                                              <p:pRg st="4" end="4"/>
                                            </p:txEl>
                                          </p:spTgt>
                                        </p:tgtEl>
                                        <p:attrNameLst>
                                          <p:attrName>style.visibility</p:attrName>
                                        </p:attrNameLst>
                                      </p:cBhvr>
                                      <p:to>
                                        <p:strVal val="visible"/>
                                      </p:to>
                                    </p:set>
                                    <p:animEffect transition="in" filter="barn(outVertical)">
                                      <p:cBhvr>
                                        <p:cTn id="21" dur="500"/>
                                        <p:tgtEl>
                                          <p:spTgt spid="6348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883"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20FB59D8-F5D4-792A-293E-7AA712AA42BC}"/>
              </a:ext>
            </a:extLst>
          </p:cNvPr>
          <p:cNvSpPr>
            <a:spLocks noGrp="1" noChangeArrowheads="1"/>
          </p:cNvSpPr>
          <p:nvPr>
            <p:ph type="title"/>
          </p:nvPr>
        </p:nvSpPr>
        <p:spPr/>
        <p:txBody>
          <a:bodyPr/>
          <a:lstStyle/>
          <a:p>
            <a:pPr eaLnBrk="1" hangingPunct="1"/>
            <a:r>
              <a:rPr lang="zh-CN" altLang="en-US" sz="4000"/>
              <a:t>一维数组类型形参</a:t>
            </a:r>
            <a:br>
              <a:rPr lang="en-US" altLang="zh-CN" sz="4000"/>
            </a:br>
            <a:r>
              <a:rPr lang="en-US" altLang="zh-CN" sz="3200"/>
              <a:t>——</a:t>
            </a:r>
            <a:r>
              <a:rPr lang="zh-CN" altLang="en-US" sz="3200"/>
              <a:t>把数组形参看作指针形参（续）</a:t>
            </a:r>
            <a:endParaRPr lang="en-US" altLang="zh-CN" sz="3200"/>
          </a:p>
        </p:txBody>
      </p:sp>
      <p:sp>
        <p:nvSpPr>
          <p:cNvPr id="59395" name="Rectangle 3">
            <a:extLst>
              <a:ext uri="{FF2B5EF4-FFF2-40B4-BE49-F238E27FC236}">
                <a16:creationId xmlns:a16="http://schemas.microsoft.com/office/drawing/2014/main" id="{346F82A8-58D0-92D4-F083-E531F3BB13F0}"/>
              </a:ext>
            </a:extLst>
          </p:cNvPr>
          <p:cNvSpPr>
            <a:spLocks noGrp="1" noChangeArrowheads="1"/>
          </p:cNvSpPr>
          <p:nvPr>
            <p:ph type="body" idx="1"/>
          </p:nvPr>
        </p:nvSpPr>
        <p:spPr>
          <a:xfrm>
            <a:off x="395288" y="2017713"/>
            <a:ext cx="8353176" cy="4114800"/>
          </a:xfrm>
        </p:spPr>
        <p:txBody>
          <a:bodyPr/>
          <a:lstStyle/>
          <a:p>
            <a:pPr marL="533400" indent="-533400" eaLnBrk="1" hangingPunct="1"/>
            <a:r>
              <a:rPr lang="zh-CN" altLang="en-US" sz="2800"/>
              <a:t>函数形参也是函数的</a:t>
            </a:r>
            <a:r>
              <a:rPr lang="zh-CN" altLang="en-US" sz="2800">
                <a:solidFill>
                  <a:srgbClr val="0066FF"/>
                </a:solidFill>
              </a:rPr>
              <a:t>局部变量</a:t>
            </a:r>
            <a:r>
              <a:rPr lang="zh-CN" altLang="en-US" sz="2800"/>
              <a:t>，指针形参就是函数的指针变量，函数</a:t>
            </a:r>
            <a:r>
              <a:rPr lang="en-US" altLang="zh-CN" sz="2800"/>
              <a:t>sum()</a:t>
            </a:r>
            <a:r>
              <a:rPr lang="zh-CN" altLang="en-US" sz="2800"/>
              <a:t>的定义又可改写成如下形式</a:t>
            </a:r>
            <a:r>
              <a:rPr lang="en-US" altLang="zh-CN" sz="2800"/>
              <a:t>(*)</a:t>
            </a:r>
            <a:r>
              <a:rPr lang="zh-CN" altLang="en-US" sz="2800"/>
              <a:t>：</a:t>
            </a:r>
          </a:p>
          <a:p>
            <a:pPr marL="914400" lvl="1" indent="-457200" eaLnBrk="1" hangingPunct="1">
              <a:buFont typeface="Wingdings" pitchFamily="2" charset="2"/>
              <a:buAutoNum type="arabicPeriod"/>
            </a:pPr>
            <a:r>
              <a:rPr lang="zh-CN" altLang="en-US" sz="2400"/>
              <a:t> </a:t>
            </a:r>
            <a:r>
              <a:rPr lang="en-US" altLang="zh-CN" sz="2400"/>
              <a:t>int sum(int *a, int n){</a:t>
            </a:r>
          </a:p>
          <a:p>
            <a:pPr marL="914400" lvl="1" indent="-457200" eaLnBrk="1" hangingPunct="1">
              <a:buFont typeface="Wingdings" pitchFamily="2" charset="2"/>
              <a:buAutoNum type="arabicPeriod"/>
            </a:pPr>
            <a:r>
              <a:rPr lang="en-US" altLang="zh-CN" sz="2400"/>
              <a:t>    int s;</a:t>
            </a:r>
          </a:p>
          <a:p>
            <a:pPr marL="914400" lvl="1" indent="-457200" eaLnBrk="1" hangingPunct="1">
              <a:buFont typeface="Wingdings" pitchFamily="2" charset="2"/>
              <a:buAutoNum type="arabicPeriod"/>
            </a:pPr>
            <a:r>
              <a:rPr lang="en-US" altLang="zh-CN" sz="2400"/>
              <a:t>    for(s=0; n&gt;0; n--, a++) </a:t>
            </a:r>
            <a:r>
              <a:rPr lang="en-US" altLang="zh-CN" sz="2000">
                <a:solidFill>
                  <a:srgbClr val="FF0000"/>
                </a:solidFill>
              </a:rPr>
              <a:t>//</a:t>
            </a:r>
            <a:r>
              <a:rPr lang="zh-CN" altLang="en-US" sz="2000">
                <a:solidFill>
                  <a:srgbClr val="FF0000"/>
                </a:solidFill>
              </a:rPr>
              <a:t>注意循环执行完，指针位置</a:t>
            </a:r>
            <a:endParaRPr lang="en-US" altLang="zh-CN" sz="2400">
              <a:solidFill>
                <a:srgbClr val="FF0000"/>
              </a:solidFill>
            </a:endParaRPr>
          </a:p>
          <a:p>
            <a:pPr marL="914400" lvl="1" indent="-457200" eaLnBrk="1" hangingPunct="1">
              <a:buFont typeface="Wingdings" pitchFamily="2" charset="2"/>
              <a:buAutoNum type="arabicPeriod"/>
            </a:pPr>
            <a:r>
              <a:rPr lang="en-US" altLang="zh-CN" sz="2400"/>
              <a:t>        s += *a;</a:t>
            </a:r>
          </a:p>
          <a:p>
            <a:pPr marL="914400" lvl="1" indent="-457200" eaLnBrk="1" hangingPunct="1">
              <a:buFont typeface="Wingdings" pitchFamily="2" charset="2"/>
              <a:buAutoNum type="arabicPeriod"/>
            </a:pPr>
            <a:r>
              <a:rPr lang="en-US" altLang="zh-CN" sz="2400"/>
              <a:t>    return s;</a:t>
            </a:r>
          </a:p>
          <a:p>
            <a:pPr marL="914400" lvl="1" indent="-457200" eaLnBrk="1" hangingPunct="1">
              <a:buFont typeface="Wingdings" pitchFamily="2" charset="2"/>
              <a:buAutoNum type="arabicPeriod"/>
            </a:pPr>
            <a:r>
              <a:rPr lang="en-US" altLang="zh-CN" sz="2400"/>
              <a:t>  }</a:t>
            </a:r>
          </a:p>
        </p:txBody>
      </p:sp>
      <p:pic>
        <p:nvPicPr>
          <p:cNvPr id="2" name="图形 1" descr="教师 纯色填充">
            <a:hlinkClick r:id="rId3"/>
            <a:extLst>
              <a:ext uri="{FF2B5EF4-FFF2-40B4-BE49-F238E27FC236}">
                <a16:creationId xmlns:a16="http://schemas.microsoft.com/office/drawing/2014/main" id="{BE603FDE-3B56-4574-B54B-0F72D7AF607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16416" y="6064378"/>
            <a:ext cx="579309" cy="579309"/>
          </a:xfrm>
          <a:prstGeom prst="rect">
            <a:avLst/>
          </a:prstGeom>
        </p:spPr>
      </p:pic>
    </p:spTree>
    <p:extLst>
      <p:ext uri="{BB962C8B-B14F-4D97-AF65-F5344CB8AC3E}">
        <p14:creationId xmlns:p14="http://schemas.microsoft.com/office/powerpoint/2010/main" val="37854014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83F6A58C-8653-FB1C-53C0-B7F10FFD40C1}"/>
              </a:ext>
            </a:extLst>
          </p:cNvPr>
          <p:cNvSpPr>
            <a:spLocks noGrp="1" noChangeArrowheads="1"/>
          </p:cNvSpPr>
          <p:nvPr>
            <p:ph type="title"/>
          </p:nvPr>
        </p:nvSpPr>
        <p:spPr/>
        <p:txBody>
          <a:bodyPr/>
          <a:lstStyle/>
          <a:p>
            <a:pPr eaLnBrk="1" hangingPunct="1"/>
            <a:r>
              <a:rPr lang="zh-CN" altLang="en-US" sz="4000"/>
              <a:t>一维数组类型形参</a:t>
            </a:r>
            <a:br>
              <a:rPr lang="en-US" altLang="zh-CN" sz="4000"/>
            </a:br>
            <a:r>
              <a:rPr lang="en-US" altLang="zh-CN" sz="3200"/>
              <a:t>——</a:t>
            </a:r>
            <a:r>
              <a:rPr lang="zh-CN" altLang="en-US" sz="3200"/>
              <a:t>把数组形参看作指针形参（续）</a:t>
            </a:r>
            <a:endParaRPr lang="en-US" altLang="zh-CN" sz="3200"/>
          </a:p>
        </p:txBody>
      </p:sp>
      <p:sp>
        <p:nvSpPr>
          <p:cNvPr id="60419" name="Rectangle 3">
            <a:extLst>
              <a:ext uri="{FF2B5EF4-FFF2-40B4-BE49-F238E27FC236}">
                <a16:creationId xmlns:a16="http://schemas.microsoft.com/office/drawing/2014/main" id="{2EB4A053-6CB4-F741-E5D4-33398BB59194}"/>
              </a:ext>
            </a:extLst>
          </p:cNvPr>
          <p:cNvSpPr>
            <a:spLocks noGrp="1" noChangeArrowheads="1"/>
          </p:cNvSpPr>
          <p:nvPr>
            <p:ph type="body" idx="1"/>
          </p:nvPr>
        </p:nvSpPr>
        <p:spPr>
          <a:xfrm>
            <a:off x="1043608" y="1971378"/>
            <a:ext cx="7793037" cy="4625974"/>
          </a:xfrm>
        </p:spPr>
        <p:txBody>
          <a:bodyPr/>
          <a:lstStyle/>
          <a:p>
            <a:pPr marL="533400" indent="-533400" eaLnBrk="1" hangingPunct="1">
              <a:lnSpc>
                <a:spcPct val="150000"/>
              </a:lnSpc>
            </a:pPr>
            <a:r>
              <a:rPr lang="zh-CN" altLang="en-US" sz="2000"/>
              <a:t>为使函数对表进行操作更具一般性，可为函数设置表的首元素指针和元素个数等形参，而</a:t>
            </a:r>
            <a:r>
              <a:rPr lang="zh-CN" altLang="en-US" sz="2000">
                <a:solidFill>
                  <a:srgbClr val="0066FF"/>
                </a:solidFill>
              </a:rPr>
              <a:t>函数体用指向表元素的指针对表作处理</a:t>
            </a:r>
            <a:r>
              <a:rPr lang="zh-CN" altLang="en-US" sz="2000"/>
              <a:t>。如函数</a:t>
            </a:r>
            <a:r>
              <a:rPr lang="en-US" altLang="zh-CN" sz="2000"/>
              <a:t>sum()</a:t>
            </a:r>
            <a:r>
              <a:rPr lang="zh-CN" altLang="en-US" sz="2000"/>
              <a:t>也可改写成以下形式：</a:t>
            </a:r>
          </a:p>
          <a:p>
            <a:pPr marL="914400" lvl="1" indent="-457200" eaLnBrk="1" hangingPunct="1">
              <a:lnSpc>
                <a:spcPct val="150000"/>
              </a:lnSpc>
              <a:buFont typeface="Wingdings" pitchFamily="2" charset="2"/>
              <a:buAutoNum type="arabicPeriod"/>
            </a:pPr>
            <a:r>
              <a:rPr lang="zh-CN" altLang="en-US" sz="2000"/>
              <a:t>     </a:t>
            </a:r>
            <a:r>
              <a:rPr lang="en-US" altLang="zh-CN" sz="2000"/>
              <a:t>int sum(int *a, int n){</a:t>
            </a:r>
          </a:p>
          <a:p>
            <a:pPr marL="914400" lvl="1" indent="-457200" eaLnBrk="1" hangingPunct="1">
              <a:lnSpc>
                <a:spcPct val="150000"/>
              </a:lnSpc>
              <a:buFont typeface="Wingdings" pitchFamily="2" charset="2"/>
              <a:buAutoNum type="arabicPeriod"/>
            </a:pPr>
            <a:r>
              <a:rPr lang="en-US" altLang="zh-CN" sz="2000"/>
              <a:t>        int *ap, s;</a:t>
            </a:r>
          </a:p>
          <a:p>
            <a:pPr marL="914400" lvl="1" indent="-457200" eaLnBrk="1" hangingPunct="1">
              <a:lnSpc>
                <a:spcPct val="150000"/>
              </a:lnSpc>
              <a:buFont typeface="Wingdings" pitchFamily="2" charset="2"/>
              <a:buAutoNum type="arabicPeriod"/>
            </a:pPr>
            <a:r>
              <a:rPr lang="en-US" altLang="zh-CN" sz="2000"/>
              <a:t>        for(s = 0, ap = a; ap &lt; a+n; ap++)</a:t>
            </a:r>
          </a:p>
          <a:p>
            <a:pPr marL="914400" lvl="1" indent="-457200" eaLnBrk="1" hangingPunct="1">
              <a:lnSpc>
                <a:spcPct val="150000"/>
              </a:lnSpc>
              <a:buFont typeface="Wingdings" pitchFamily="2" charset="2"/>
              <a:buAutoNum type="arabicPeriod"/>
            </a:pPr>
            <a:r>
              <a:rPr lang="en-US" altLang="zh-CN" sz="2000"/>
              <a:t>             s += *ap;</a:t>
            </a:r>
          </a:p>
          <a:p>
            <a:pPr marL="914400" lvl="1" indent="-457200" eaLnBrk="1" hangingPunct="1">
              <a:lnSpc>
                <a:spcPct val="150000"/>
              </a:lnSpc>
              <a:buFont typeface="Wingdings" pitchFamily="2" charset="2"/>
              <a:buAutoNum type="arabicPeriod"/>
            </a:pPr>
            <a:r>
              <a:rPr lang="en-US" altLang="zh-CN" sz="2000"/>
              <a:t>        return s;</a:t>
            </a:r>
          </a:p>
          <a:p>
            <a:pPr marL="914400" lvl="1" indent="-457200" eaLnBrk="1" hangingPunct="1">
              <a:lnSpc>
                <a:spcPct val="150000"/>
              </a:lnSpc>
              <a:buFont typeface="Wingdings" pitchFamily="2" charset="2"/>
              <a:buAutoNum type="arabicPeriod"/>
            </a:pPr>
            <a:r>
              <a:rPr lang="en-US" altLang="zh-CN" sz="2000"/>
              <a:t>     }</a:t>
            </a:r>
          </a:p>
        </p:txBody>
      </p:sp>
      <p:pic>
        <p:nvPicPr>
          <p:cNvPr id="2" name="图形 1" descr="教师 纯色填充">
            <a:hlinkClick r:id="rId3"/>
            <a:extLst>
              <a:ext uri="{FF2B5EF4-FFF2-40B4-BE49-F238E27FC236}">
                <a16:creationId xmlns:a16="http://schemas.microsoft.com/office/drawing/2014/main" id="{7BFFEDB0-49D6-9FF2-118C-E1014298158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16416" y="6064378"/>
            <a:ext cx="579309" cy="579309"/>
          </a:xfrm>
          <a:prstGeom prst="rect">
            <a:avLst/>
          </a:prstGeom>
        </p:spPr>
      </p:pic>
    </p:spTree>
    <p:extLst>
      <p:ext uri="{BB962C8B-B14F-4D97-AF65-F5344CB8AC3E}">
        <p14:creationId xmlns:p14="http://schemas.microsoft.com/office/powerpoint/2010/main" val="38458003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9C208BC-6535-CFEC-8C80-1CCFDE5AAEB6}"/>
              </a:ext>
            </a:extLst>
          </p:cNvPr>
          <p:cNvSpPr>
            <a:spLocks noGrp="1" noChangeArrowheads="1"/>
          </p:cNvSpPr>
          <p:nvPr>
            <p:ph type="title"/>
          </p:nvPr>
        </p:nvSpPr>
        <p:spPr/>
        <p:txBody>
          <a:bodyPr/>
          <a:lstStyle/>
          <a:p>
            <a:pPr eaLnBrk="1" hangingPunct="1"/>
            <a:r>
              <a:rPr lang="zh-CN" altLang="en-US" sz="4000"/>
              <a:t>一维数组类型形参</a:t>
            </a:r>
            <a:br>
              <a:rPr lang="en-US" altLang="zh-CN" sz="4000"/>
            </a:br>
            <a:r>
              <a:rPr lang="en-US" altLang="zh-CN" sz="4000"/>
              <a:t>——</a:t>
            </a:r>
            <a:r>
              <a:rPr lang="zh-CN" altLang="en-US" sz="3200"/>
              <a:t>字符指针形参</a:t>
            </a:r>
            <a:endParaRPr lang="zh-CN" altLang="en-US" sz="4000"/>
          </a:p>
        </p:txBody>
      </p:sp>
      <p:sp>
        <p:nvSpPr>
          <p:cNvPr id="64515" name="Rectangle 3">
            <a:extLst>
              <a:ext uri="{FF2B5EF4-FFF2-40B4-BE49-F238E27FC236}">
                <a16:creationId xmlns:a16="http://schemas.microsoft.com/office/drawing/2014/main" id="{BE477864-9220-503F-0250-0D3C65ECFFA4}"/>
              </a:ext>
            </a:extLst>
          </p:cNvPr>
          <p:cNvSpPr>
            <a:spLocks noGrp="1" noChangeArrowheads="1"/>
          </p:cNvSpPr>
          <p:nvPr>
            <p:ph type="body" idx="1"/>
          </p:nvPr>
        </p:nvSpPr>
        <p:spPr>
          <a:xfrm>
            <a:off x="1182688" y="2017713"/>
            <a:ext cx="7493768" cy="4114800"/>
          </a:xfrm>
        </p:spPr>
        <p:txBody>
          <a:bodyPr/>
          <a:lstStyle/>
          <a:p>
            <a:pPr algn="just" eaLnBrk="1" hangingPunct="1">
              <a:spcAft>
                <a:spcPts val="600"/>
              </a:spcAft>
            </a:pPr>
            <a:r>
              <a:rPr lang="zh-CN" altLang="en-US" sz="2800">
                <a:solidFill>
                  <a:srgbClr val="0070C0"/>
                </a:solidFill>
              </a:rPr>
              <a:t>字符指针形参</a:t>
            </a:r>
            <a:r>
              <a:rPr lang="zh-CN" altLang="en-US" sz="2800"/>
              <a:t>，是说它指向字符串的首字符，对应的实参或是字符数组某个元素的指针，或是字符串的首字符指针。</a:t>
            </a:r>
          </a:p>
          <a:p>
            <a:pPr algn="just" eaLnBrk="1" hangingPunct="1">
              <a:spcAft>
                <a:spcPts val="600"/>
              </a:spcAft>
            </a:pPr>
            <a:r>
              <a:rPr lang="zh-CN" altLang="en-US" sz="2800"/>
              <a:t>字符串是元素为字符的一维数组。所以字符指针形参与指向数组元素指针形参有相同的使用方法。</a:t>
            </a:r>
          </a:p>
          <a:p>
            <a:pPr algn="just" eaLnBrk="1" hangingPunct="1">
              <a:spcAft>
                <a:spcPts val="600"/>
              </a:spcAft>
            </a:pPr>
            <a:r>
              <a:rPr lang="zh-CN" altLang="en-US" sz="2800"/>
              <a:t>下面</a:t>
            </a:r>
            <a:r>
              <a:rPr lang="zh-CN" altLang="en-US" sz="2800" u="sng"/>
              <a:t>以常用字符串函数的实现为例</a:t>
            </a:r>
            <a:r>
              <a:rPr lang="zh-CN" altLang="en-US" sz="2800"/>
              <a:t>讨论字符指针形参的用法</a:t>
            </a:r>
          </a:p>
        </p:txBody>
      </p:sp>
    </p:spTree>
    <p:extLst>
      <p:ext uri="{BB962C8B-B14F-4D97-AF65-F5344CB8AC3E}">
        <p14:creationId xmlns:p14="http://schemas.microsoft.com/office/powerpoint/2010/main" val="28774059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A2570B84-1E47-3733-E237-DE4213277842}"/>
              </a:ext>
            </a:extLst>
          </p:cNvPr>
          <p:cNvSpPr>
            <a:spLocks noGrp="1" noChangeArrowheads="1"/>
          </p:cNvSpPr>
          <p:nvPr>
            <p:ph type="title"/>
          </p:nvPr>
        </p:nvSpPr>
        <p:spPr/>
        <p:txBody>
          <a:bodyPr/>
          <a:lstStyle/>
          <a:p>
            <a:pPr eaLnBrk="1" hangingPunct="1"/>
            <a:r>
              <a:rPr lang="zh-CN" altLang="en-US" sz="4000"/>
              <a:t>一维数组类型形参</a:t>
            </a:r>
            <a:br>
              <a:rPr lang="en-US" altLang="zh-CN" sz="4000"/>
            </a:br>
            <a:r>
              <a:rPr lang="zh-CN" altLang="en-US" sz="3200"/>
              <a:t>例</a:t>
            </a:r>
            <a:r>
              <a:rPr lang="en-US" altLang="zh-CN" sz="3200"/>
              <a:t>5.6  </a:t>
            </a:r>
            <a:r>
              <a:rPr lang="zh-CN" altLang="en-US" sz="3200"/>
              <a:t>字符串拷贝函数 </a:t>
            </a:r>
            <a:r>
              <a:rPr lang="en-US" altLang="zh-CN" sz="3200"/>
              <a:t>strcpy()</a:t>
            </a:r>
            <a:endParaRPr lang="en-US" altLang="zh-CN" sz="4000"/>
          </a:p>
        </p:txBody>
      </p:sp>
      <p:sp>
        <p:nvSpPr>
          <p:cNvPr id="642051" name="Rectangle 3">
            <a:extLst>
              <a:ext uri="{FF2B5EF4-FFF2-40B4-BE49-F238E27FC236}">
                <a16:creationId xmlns:a16="http://schemas.microsoft.com/office/drawing/2014/main" id="{90B931E0-42F6-E547-7E1C-50CCE39E88C7}"/>
              </a:ext>
            </a:extLst>
          </p:cNvPr>
          <p:cNvSpPr>
            <a:spLocks noGrp="1" noChangeArrowheads="1"/>
          </p:cNvSpPr>
          <p:nvPr>
            <p:ph type="body" idx="1"/>
          </p:nvPr>
        </p:nvSpPr>
        <p:spPr>
          <a:xfrm>
            <a:off x="1182688" y="2017713"/>
            <a:ext cx="7565776" cy="4114800"/>
          </a:xfrm>
        </p:spPr>
        <p:txBody>
          <a:bodyPr/>
          <a:lstStyle/>
          <a:p>
            <a:pPr marL="533400" indent="-533400" algn="just" eaLnBrk="1" hangingPunct="1"/>
            <a:r>
              <a:rPr lang="en-US" altLang="zh-CN" sz="2000"/>
              <a:t>strcpy()</a:t>
            </a:r>
            <a:r>
              <a:rPr lang="zh-CN" altLang="en-US" sz="2000"/>
              <a:t>：将一个已知字符串的内容复制到另一字符数组中。有两个形参</a:t>
            </a:r>
            <a:r>
              <a:rPr lang="en-US" altLang="zh-CN" sz="2000"/>
              <a:t>from</a:t>
            </a:r>
            <a:r>
              <a:rPr lang="zh-CN" altLang="en-US" sz="2000"/>
              <a:t>，</a:t>
            </a:r>
            <a:r>
              <a:rPr lang="en-US" altLang="zh-CN" sz="2000"/>
              <a:t>to</a:t>
            </a:r>
          </a:p>
          <a:p>
            <a:pPr marL="914400" lvl="1" indent="-457200" algn="just" eaLnBrk="1" hangingPunct="1"/>
            <a:r>
              <a:rPr lang="en-US" altLang="zh-CN" sz="1800"/>
              <a:t>from</a:t>
            </a:r>
            <a:r>
              <a:rPr lang="zh-CN" altLang="en-US" sz="1800"/>
              <a:t>为已知字符串的首字符指针</a:t>
            </a:r>
          </a:p>
          <a:p>
            <a:pPr marL="914400" lvl="1" indent="-457200" algn="just" eaLnBrk="1" hangingPunct="1"/>
            <a:r>
              <a:rPr lang="en-US" altLang="zh-CN" sz="1800"/>
              <a:t>to</a:t>
            </a:r>
            <a:r>
              <a:rPr lang="zh-CN" altLang="en-US" sz="1800"/>
              <a:t>为存储复制的字符串首字符指针</a:t>
            </a:r>
          </a:p>
          <a:p>
            <a:pPr marL="533400" indent="-533400" eaLnBrk="1" hangingPunct="1"/>
            <a:r>
              <a:rPr lang="zh-CN" altLang="en-US" sz="2000"/>
              <a:t>函数代码</a:t>
            </a:r>
          </a:p>
          <a:p>
            <a:pPr marL="914400" lvl="1" indent="-457200" eaLnBrk="1" hangingPunct="1">
              <a:buFont typeface="Wingdings" pitchFamily="2" charset="2"/>
              <a:buAutoNum type="arabicPeriod"/>
            </a:pPr>
            <a:r>
              <a:rPr lang="en-US" altLang="zh-CN" sz="1800"/>
              <a:t>void strcpy(char *to, char *from) {</a:t>
            </a:r>
          </a:p>
          <a:p>
            <a:pPr marL="914400" lvl="1" indent="-457200" eaLnBrk="1" hangingPunct="1">
              <a:buFont typeface="Wingdings" pitchFamily="2" charset="2"/>
              <a:buAutoNum type="arabicPeriod"/>
            </a:pPr>
            <a:r>
              <a:rPr lang="en-US" altLang="zh-CN" sz="1800"/>
              <a:t>    while ((*to++ = *from++) != </a:t>
            </a:r>
            <a:r>
              <a:rPr lang="en-US" altLang="zh-CN" sz="1800">
                <a:latin typeface="Arial" panose="020B0604020202020204" pitchFamily="34" charset="0"/>
              </a:rPr>
              <a:t>’</a:t>
            </a:r>
            <a:r>
              <a:rPr lang="en-US" altLang="zh-CN" sz="1800"/>
              <a:t>\0</a:t>
            </a:r>
            <a:r>
              <a:rPr lang="en-US" altLang="zh-CN" sz="1800">
                <a:latin typeface="Arial" panose="020B0604020202020204" pitchFamily="34" charset="0"/>
              </a:rPr>
              <a:t>’</a:t>
            </a:r>
            <a:r>
              <a:rPr lang="en-US" altLang="zh-CN" sz="1800"/>
              <a:t>);</a:t>
            </a:r>
          </a:p>
          <a:p>
            <a:pPr marL="914400" lvl="1" indent="-457200" eaLnBrk="1" hangingPunct="1">
              <a:buFont typeface="Wingdings" pitchFamily="2" charset="2"/>
              <a:buAutoNum type="arabicPeriod"/>
            </a:pPr>
            <a:r>
              <a:rPr lang="en-US" altLang="zh-CN" sz="1800"/>
              <a:t>}</a:t>
            </a:r>
          </a:p>
          <a:p>
            <a:pPr marL="533400" indent="-533400" eaLnBrk="1" hangingPunct="1"/>
            <a:r>
              <a:rPr lang="zh-CN" altLang="en-US" sz="2000"/>
              <a:t>由于字符串结束符 </a:t>
            </a:r>
            <a:r>
              <a:rPr lang="en-US" altLang="zh-CN" sz="2000">
                <a:latin typeface="Arial" panose="020B0604020202020204" pitchFamily="34" charset="0"/>
                <a:cs typeface="Arial" panose="020B0604020202020204" pitchFamily="34" charset="0"/>
              </a:rPr>
              <a:t>’</a:t>
            </a:r>
            <a:r>
              <a:rPr lang="en-US" altLang="zh-CN" sz="2000"/>
              <a:t>\0</a:t>
            </a:r>
            <a:r>
              <a:rPr lang="en-US" altLang="zh-CN" sz="2000">
                <a:latin typeface="Arial" panose="020B0604020202020204" pitchFamily="34" charset="0"/>
              </a:rPr>
              <a:t>’</a:t>
            </a:r>
            <a:r>
              <a:rPr lang="zh-CN" altLang="en-US" sz="2000"/>
              <a:t>的</a:t>
            </a:r>
            <a:r>
              <a:rPr lang="en-US" altLang="zh-CN" sz="2000"/>
              <a:t>ASCII</a:t>
            </a:r>
            <a:r>
              <a:rPr lang="zh-CN" altLang="en-US" sz="2000"/>
              <a:t>码值为</a:t>
            </a:r>
            <a:r>
              <a:rPr lang="en-US" altLang="zh-CN" sz="2000"/>
              <a:t>0</a:t>
            </a:r>
            <a:r>
              <a:rPr lang="zh-CN" altLang="en-US" sz="2000"/>
              <a:t>，因此函数体可简写为：</a:t>
            </a:r>
          </a:p>
          <a:p>
            <a:pPr marL="914400" lvl="1" indent="-457200" eaLnBrk="1" hangingPunct="1">
              <a:buFont typeface="Wingdings" pitchFamily="2" charset="2"/>
              <a:buAutoNum type="arabicPeriod"/>
            </a:pPr>
            <a:r>
              <a:rPr lang="en-US" altLang="zh-CN" sz="1800"/>
              <a:t>void strcpy(char *to, char *from) {</a:t>
            </a:r>
          </a:p>
          <a:p>
            <a:pPr marL="914400" lvl="1" indent="-457200" eaLnBrk="1" hangingPunct="1">
              <a:buFont typeface="Wingdings" pitchFamily="2" charset="2"/>
              <a:buAutoNum type="arabicPeriod"/>
            </a:pPr>
            <a:r>
              <a:rPr lang="en-US" altLang="zh-CN" sz="1800"/>
              <a:t>    while (*to++ = *from++); </a:t>
            </a:r>
          </a:p>
          <a:p>
            <a:pPr marL="914400" lvl="1" indent="-457200" eaLnBrk="1" hangingPunct="1">
              <a:buFont typeface="Wingdings" pitchFamily="2" charset="2"/>
              <a:buAutoNum type="arabicPeriod"/>
            </a:pPr>
            <a:r>
              <a:rPr lang="en-US" altLang="zh-CN" sz="1800"/>
              <a:t>}</a:t>
            </a:r>
          </a:p>
        </p:txBody>
      </p:sp>
    </p:spTree>
    <p:extLst>
      <p:ext uri="{BB962C8B-B14F-4D97-AF65-F5344CB8AC3E}">
        <p14:creationId xmlns:p14="http://schemas.microsoft.com/office/powerpoint/2010/main" val="8606599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2051">
                                            <p:txEl>
                                              <p:pRg st="0" end="0"/>
                                            </p:txEl>
                                          </p:spTgt>
                                        </p:tgtEl>
                                        <p:attrNameLst>
                                          <p:attrName>style.visibility</p:attrName>
                                        </p:attrNameLst>
                                      </p:cBhvr>
                                      <p:to>
                                        <p:strVal val="visible"/>
                                      </p:to>
                                    </p:set>
                                    <p:anim calcmode="lin" valueType="num">
                                      <p:cBhvr additive="base">
                                        <p:cTn id="7" dur="500" fill="hold"/>
                                        <p:tgtEl>
                                          <p:spTgt spid="6420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420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642051">
                                            <p:txEl>
                                              <p:pRg st="1" end="1"/>
                                            </p:txEl>
                                          </p:spTgt>
                                        </p:tgtEl>
                                        <p:attrNameLst>
                                          <p:attrName>style.visibility</p:attrName>
                                        </p:attrNameLst>
                                      </p:cBhvr>
                                      <p:to>
                                        <p:strVal val="visible"/>
                                      </p:to>
                                    </p:set>
                                    <p:anim calcmode="lin" valueType="num">
                                      <p:cBhvr additive="base">
                                        <p:cTn id="11" dur="500" fill="hold"/>
                                        <p:tgtEl>
                                          <p:spTgt spid="64205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420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642051">
                                            <p:txEl>
                                              <p:pRg st="2" end="2"/>
                                            </p:txEl>
                                          </p:spTgt>
                                        </p:tgtEl>
                                        <p:attrNameLst>
                                          <p:attrName>style.visibility</p:attrName>
                                        </p:attrNameLst>
                                      </p:cBhvr>
                                      <p:to>
                                        <p:strVal val="visible"/>
                                      </p:to>
                                    </p:set>
                                    <p:anim calcmode="lin" valueType="num">
                                      <p:cBhvr additive="base">
                                        <p:cTn id="15" dur="500" fill="hold"/>
                                        <p:tgtEl>
                                          <p:spTgt spid="64205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420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642051">
                                            <p:txEl>
                                              <p:pRg st="3" end="3"/>
                                            </p:txEl>
                                          </p:spTgt>
                                        </p:tgtEl>
                                        <p:attrNameLst>
                                          <p:attrName>style.visibility</p:attrName>
                                        </p:attrNameLst>
                                      </p:cBhvr>
                                      <p:to>
                                        <p:strVal val="visible"/>
                                      </p:to>
                                    </p:set>
                                    <p:anim calcmode="lin" valueType="num">
                                      <p:cBhvr additive="base">
                                        <p:cTn id="21" dur="500" fill="hold"/>
                                        <p:tgtEl>
                                          <p:spTgt spid="642051">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420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whoosh.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642051">
                                            <p:txEl>
                                              <p:pRg st="4" end="4"/>
                                            </p:txEl>
                                          </p:spTgt>
                                        </p:tgtEl>
                                        <p:attrNameLst>
                                          <p:attrName>style.visibility</p:attrName>
                                        </p:attrNameLst>
                                      </p:cBhvr>
                                      <p:to>
                                        <p:strVal val="visible"/>
                                      </p:to>
                                    </p:set>
                                    <p:anim calcmode="lin" valueType="num">
                                      <p:cBhvr additive="base">
                                        <p:cTn id="25" dur="500" fill="hold"/>
                                        <p:tgtEl>
                                          <p:spTgt spid="64205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420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par>
                                <p:cTn id="27" presetID="2" presetClass="entr" presetSubtype="8" fill="hold" grpId="0" nodeType="withEffect">
                                  <p:stCondLst>
                                    <p:cond delay="0"/>
                                  </p:stCondLst>
                                  <p:childTnLst>
                                    <p:set>
                                      <p:cBhvr>
                                        <p:cTn id="28" dur="1" fill="hold">
                                          <p:stCondLst>
                                            <p:cond delay="0"/>
                                          </p:stCondLst>
                                        </p:cTn>
                                        <p:tgtEl>
                                          <p:spTgt spid="642051">
                                            <p:txEl>
                                              <p:pRg st="5" end="5"/>
                                            </p:txEl>
                                          </p:spTgt>
                                        </p:tgtEl>
                                        <p:attrNameLst>
                                          <p:attrName>style.visibility</p:attrName>
                                        </p:attrNameLst>
                                      </p:cBhvr>
                                      <p:to>
                                        <p:strVal val="visible"/>
                                      </p:to>
                                    </p:set>
                                    <p:anim calcmode="lin" valueType="num">
                                      <p:cBhvr additive="base">
                                        <p:cTn id="29" dur="500" fill="hold"/>
                                        <p:tgtEl>
                                          <p:spTgt spid="642051">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6420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par>
                                <p:cTn id="31" presetID="2" presetClass="entr" presetSubtype="8" fill="hold" grpId="0" nodeType="withEffect">
                                  <p:stCondLst>
                                    <p:cond delay="0"/>
                                  </p:stCondLst>
                                  <p:childTnLst>
                                    <p:set>
                                      <p:cBhvr>
                                        <p:cTn id="32" dur="1" fill="hold">
                                          <p:stCondLst>
                                            <p:cond delay="0"/>
                                          </p:stCondLst>
                                        </p:cTn>
                                        <p:tgtEl>
                                          <p:spTgt spid="642051">
                                            <p:txEl>
                                              <p:pRg st="6" end="6"/>
                                            </p:txEl>
                                          </p:spTgt>
                                        </p:tgtEl>
                                        <p:attrNameLst>
                                          <p:attrName>style.visibility</p:attrName>
                                        </p:attrNameLst>
                                      </p:cBhvr>
                                      <p:to>
                                        <p:strVal val="visible"/>
                                      </p:to>
                                    </p:set>
                                    <p:anim calcmode="lin" valueType="num">
                                      <p:cBhvr additive="base">
                                        <p:cTn id="33" dur="500" fill="hold"/>
                                        <p:tgtEl>
                                          <p:spTgt spid="642051">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64205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whoosh.wav"/>
                                        </p:tgtEl>
                                      </p:cMediaNode>
                                    </p:audio>
                                  </p:sub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642051">
                                            <p:txEl>
                                              <p:pRg st="7" end="7"/>
                                            </p:txEl>
                                          </p:spTgt>
                                        </p:tgtEl>
                                        <p:attrNameLst>
                                          <p:attrName>style.visibility</p:attrName>
                                        </p:attrNameLst>
                                      </p:cBhvr>
                                      <p:to>
                                        <p:strVal val="visible"/>
                                      </p:to>
                                    </p:set>
                                    <p:anim calcmode="lin" valueType="num">
                                      <p:cBhvr additive="base">
                                        <p:cTn id="39" dur="500" fill="hold"/>
                                        <p:tgtEl>
                                          <p:spTgt spid="642051">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642051">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whoosh.wav"/>
                                        </p:tgtEl>
                                      </p:cMediaNode>
                                    </p:audio>
                                  </p:subTnLst>
                                </p:cTn>
                              </p:par>
                              <p:par>
                                <p:cTn id="41" presetID="2" presetClass="entr" presetSubtype="8" fill="hold" grpId="0" nodeType="withEffect">
                                  <p:stCondLst>
                                    <p:cond delay="0"/>
                                  </p:stCondLst>
                                  <p:childTnLst>
                                    <p:set>
                                      <p:cBhvr>
                                        <p:cTn id="42" dur="1" fill="hold">
                                          <p:stCondLst>
                                            <p:cond delay="0"/>
                                          </p:stCondLst>
                                        </p:cTn>
                                        <p:tgtEl>
                                          <p:spTgt spid="642051">
                                            <p:txEl>
                                              <p:pRg st="8" end="8"/>
                                            </p:txEl>
                                          </p:spTgt>
                                        </p:tgtEl>
                                        <p:attrNameLst>
                                          <p:attrName>style.visibility</p:attrName>
                                        </p:attrNameLst>
                                      </p:cBhvr>
                                      <p:to>
                                        <p:strVal val="visible"/>
                                      </p:to>
                                    </p:set>
                                    <p:anim calcmode="lin" valueType="num">
                                      <p:cBhvr additive="base">
                                        <p:cTn id="43" dur="500" fill="hold"/>
                                        <p:tgtEl>
                                          <p:spTgt spid="642051">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42051">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whoosh.wav"/>
                                        </p:tgtEl>
                                      </p:cMediaNode>
                                    </p:audio>
                                  </p:subTnLst>
                                </p:cTn>
                              </p:par>
                              <p:par>
                                <p:cTn id="45" presetID="2" presetClass="entr" presetSubtype="8" fill="hold" grpId="0" nodeType="withEffect">
                                  <p:stCondLst>
                                    <p:cond delay="0"/>
                                  </p:stCondLst>
                                  <p:childTnLst>
                                    <p:set>
                                      <p:cBhvr>
                                        <p:cTn id="46" dur="1" fill="hold">
                                          <p:stCondLst>
                                            <p:cond delay="0"/>
                                          </p:stCondLst>
                                        </p:cTn>
                                        <p:tgtEl>
                                          <p:spTgt spid="642051">
                                            <p:txEl>
                                              <p:pRg st="9" end="9"/>
                                            </p:txEl>
                                          </p:spTgt>
                                        </p:tgtEl>
                                        <p:attrNameLst>
                                          <p:attrName>style.visibility</p:attrName>
                                        </p:attrNameLst>
                                      </p:cBhvr>
                                      <p:to>
                                        <p:strVal val="visible"/>
                                      </p:to>
                                    </p:set>
                                    <p:anim calcmode="lin" valueType="num">
                                      <p:cBhvr additive="base">
                                        <p:cTn id="47" dur="500" fill="hold"/>
                                        <p:tgtEl>
                                          <p:spTgt spid="642051">
                                            <p:txEl>
                                              <p:pRg st="9" end="9"/>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642051">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whoosh.wav"/>
                                        </p:tgtEl>
                                      </p:cMediaNode>
                                    </p:audio>
                                  </p:subTnLst>
                                </p:cTn>
                              </p:par>
                              <p:par>
                                <p:cTn id="49" presetID="2" presetClass="entr" presetSubtype="8" fill="hold" grpId="0" nodeType="withEffect">
                                  <p:stCondLst>
                                    <p:cond delay="0"/>
                                  </p:stCondLst>
                                  <p:childTnLst>
                                    <p:set>
                                      <p:cBhvr>
                                        <p:cTn id="50" dur="1" fill="hold">
                                          <p:stCondLst>
                                            <p:cond delay="0"/>
                                          </p:stCondLst>
                                        </p:cTn>
                                        <p:tgtEl>
                                          <p:spTgt spid="642051">
                                            <p:txEl>
                                              <p:pRg st="10" end="10"/>
                                            </p:txEl>
                                          </p:spTgt>
                                        </p:tgtEl>
                                        <p:attrNameLst>
                                          <p:attrName>style.visibility</p:attrName>
                                        </p:attrNameLst>
                                      </p:cBhvr>
                                      <p:to>
                                        <p:strVal val="visible"/>
                                      </p:to>
                                    </p:set>
                                    <p:anim calcmode="lin" valueType="num">
                                      <p:cBhvr additive="base">
                                        <p:cTn id="51" dur="500" fill="hold"/>
                                        <p:tgtEl>
                                          <p:spTgt spid="642051">
                                            <p:txEl>
                                              <p:pRg st="10" end="10"/>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642051">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51"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CFC2674A-934B-D7A1-CF08-DA66D537C749}"/>
              </a:ext>
            </a:extLst>
          </p:cNvPr>
          <p:cNvSpPr>
            <a:spLocks noGrp="1" noChangeArrowheads="1"/>
          </p:cNvSpPr>
          <p:nvPr>
            <p:ph type="title"/>
          </p:nvPr>
        </p:nvSpPr>
        <p:spPr/>
        <p:txBody>
          <a:bodyPr/>
          <a:lstStyle/>
          <a:p>
            <a:pPr eaLnBrk="1" hangingPunct="1"/>
            <a:r>
              <a:rPr lang="zh-CN" altLang="en-US" sz="4400"/>
              <a:t>一维数组类型形参</a:t>
            </a:r>
            <a:br>
              <a:rPr lang="en-US" altLang="zh-CN"/>
            </a:br>
            <a:r>
              <a:rPr lang="zh-CN" altLang="en-US" sz="3200"/>
              <a:t>例</a:t>
            </a:r>
            <a:r>
              <a:rPr lang="en-US" altLang="zh-CN" sz="3200"/>
              <a:t>5.7 </a:t>
            </a:r>
            <a:r>
              <a:rPr lang="zh-CN" altLang="en-US" sz="3200"/>
              <a:t>字符串比较函数 </a:t>
            </a:r>
            <a:r>
              <a:rPr lang="en-US" altLang="zh-CN" sz="3200"/>
              <a:t>strcmp()</a:t>
            </a:r>
          </a:p>
        </p:txBody>
      </p:sp>
      <p:sp>
        <p:nvSpPr>
          <p:cNvPr id="66563" name="Rectangle 3">
            <a:extLst>
              <a:ext uri="{FF2B5EF4-FFF2-40B4-BE49-F238E27FC236}">
                <a16:creationId xmlns:a16="http://schemas.microsoft.com/office/drawing/2014/main" id="{601F371A-712B-4D45-4F6E-257AC3FD3E9F}"/>
              </a:ext>
            </a:extLst>
          </p:cNvPr>
          <p:cNvSpPr>
            <a:spLocks noGrp="1" noChangeArrowheads="1"/>
          </p:cNvSpPr>
          <p:nvPr>
            <p:ph type="body" idx="1"/>
          </p:nvPr>
        </p:nvSpPr>
        <p:spPr>
          <a:xfrm>
            <a:off x="1182688" y="2017713"/>
            <a:ext cx="7565776" cy="4114800"/>
          </a:xfrm>
        </p:spPr>
        <p:txBody>
          <a:bodyPr/>
          <a:lstStyle/>
          <a:p>
            <a:pPr marL="533400" indent="-533400" eaLnBrk="1" hangingPunct="1"/>
            <a:r>
              <a:rPr lang="en-US" altLang="zh-CN" sz="2000"/>
              <a:t>strcmp()</a:t>
            </a:r>
            <a:r>
              <a:rPr lang="zh-CN" altLang="en-US" sz="2000"/>
              <a:t>：比较两字符串大小。有两个形参</a:t>
            </a:r>
            <a:r>
              <a:rPr lang="en-US" altLang="zh-CN" sz="2000"/>
              <a:t>s</a:t>
            </a:r>
            <a:r>
              <a:rPr lang="zh-CN" altLang="en-US" sz="2000"/>
              <a:t>和</a:t>
            </a:r>
            <a:r>
              <a:rPr lang="en-US" altLang="zh-CN" sz="2000"/>
              <a:t>t</a:t>
            </a:r>
            <a:r>
              <a:rPr lang="zh-CN" altLang="en-US" sz="2000"/>
              <a:t>；分别为两个待比较字符串的首字符指针。</a:t>
            </a:r>
          </a:p>
          <a:p>
            <a:pPr marL="533400" indent="-533400" eaLnBrk="1" hangingPunct="1"/>
            <a:r>
              <a:rPr lang="zh-CN" altLang="en-US" sz="2000"/>
              <a:t>如</a:t>
            </a:r>
            <a:r>
              <a:rPr lang="en-US" altLang="zh-CN" sz="2000"/>
              <a:t>s</a:t>
            </a:r>
            <a:r>
              <a:rPr lang="zh-CN" altLang="en-US" sz="2000"/>
              <a:t>所指的字符串小于</a:t>
            </a:r>
            <a:r>
              <a:rPr lang="en-US" altLang="zh-CN" sz="2000"/>
              <a:t>t</a:t>
            </a:r>
            <a:r>
              <a:rPr lang="zh-CN" altLang="en-US" sz="2000"/>
              <a:t>所指的字符串，函数返回值小于零；如</a:t>
            </a:r>
            <a:r>
              <a:rPr lang="en-US" altLang="zh-CN" sz="2000"/>
              <a:t>s</a:t>
            </a:r>
            <a:r>
              <a:rPr lang="zh-CN" altLang="en-US" sz="2000"/>
              <a:t>所指字符串大于</a:t>
            </a:r>
            <a:r>
              <a:rPr lang="en-US" altLang="zh-CN" sz="2000"/>
              <a:t>t</a:t>
            </a:r>
            <a:r>
              <a:rPr lang="zh-CN" altLang="en-US" sz="2000"/>
              <a:t>所指字符串，函数返回值大于零；如两个字符串相同，则函数返回零。</a:t>
            </a:r>
          </a:p>
          <a:p>
            <a:pPr marL="533400" indent="-533400" eaLnBrk="1" hangingPunct="1"/>
            <a:r>
              <a:rPr lang="zh-CN" altLang="en-US" sz="2000"/>
              <a:t>函数代码</a:t>
            </a:r>
          </a:p>
          <a:p>
            <a:pPr marL="914400" lvl="1" indent="-457200" eaLnBrk="1" hangingPunct="1">
              <a:buFont typeface="Wingdings" pitchFamily="2" charset="2"/>
              <a:buAutoNum type="arabicPeriod"/>
            </a:pPr>
            <a:r>
              <a:rPr lang="en-US" altLang="zh-CN" sz="1800"/>
              <a:t>int strcmp(char *s</a:t>
            </a:r>
            <a:r>
              <a:rPr lang="zh-CN" altLang="en-US" sz="1800"/>
              <a:t>，</a:t>
            </a:r>
            <a:r>
              <a:rPr lang="en-US" altLang="zh-CN" sz="1800"/>
              <a:t>char *t) {</a:t>
            </a:r>
          </a:p>
          <a:p>
            <a:pPr marL="914400" lvl="1" indent="-457200" eaLnBrk="1" hangingPunct="1">
              <a:buFont typeface="Wingdings" pitchFamily="2" charset="2"/>
              <a:buAutoNum type="arabicPeriod"/>
            </a:pPr>
            <a:r>
              <a:rPr lang="en-US" altLang="zh-CN" sz="1800"/>
              <a:t>   while (*s == *t) {   /* </a:t>
            </a:r>
            <a:r>
              <a:rPr lang="zh-CN" altLang="en-US" sz="1800"/>
              <a:t>对应字符相等循环 *</a:t>
            </a:r>
            <a:r>
              <a:rPr lang="en-US" altLang="zh-CN" sz="1800"/>
              <a:t>/</a:t>
            </a:r>
          </a:p>
          <a:p>
            <a:pPr marL="914400" lvl="1" indent="-457200" eaLnBrk="1" hangingPunct="1">
              <a:buFont typeface="Wingdings" pitchFamily="2" charset="2"/>
              <a:buAutoNum type="arabicPeriod"/>
            </a:pPr>
            <a:r>
              <a:rPr lang="en-US" altLang="zh-CN" sz="1800"/>
              <a:t>      if (*s == '\0')  return 0;</a:t>
            </a:r>
          </a:p>
          <a:p>
            <a:pPr marL="914400" lvl="1" indent="-457200" eaLnBrk="1" hangingPunct="1">
              <a:buFont typeface="Wingdings" pitchFamily="2" charset="2"/>
              <a:buAutoNum type="arabicPeriod"/>
            </a:pPr>
            <a:r>
              <a:rPr lang="en-US" altLang="zh-CN" sz="1800"/>
              <a:t>      s++; t++;</a:t>
            </a:r>
          </a:p>
          <a:p>
            <a:pPr marL="914400" lvl="1" indent="-457200" eaLnBrk="1" hangingPunct="1">
              <a:buFont typeface="Wingdings" pitchFamily="2" charset="2"/>
              <a:buAutoNum type="arabicPeriod"/>
            </a:pPr>
            <a:r>
              <a:rPr lang="en-US" altLang="zh-CN" sz="1800"/>
              <a:t>   }</a:t>
            </a:r>
          </a:p>
          <a:p>
            <a:pPr marL="914400" lvl="1" indent="-457200" eaLnBrk="1" hangingPunct="1">
              <a:buFont typeface="Wingdings" pitchFamily="2" charset="2"/>
              <a:buAutoNum type="arabicPeriod"/>
            </a:pPr>
            <a:r>
              <a:rPr lang="en-US" altLang="zh-CN" sz="1800"/>
              <a:t>   return *s - *t; /* </a:t>
            </a:r>
            <a:r>
              <a:rPr lang="zh-CN" altLang="en-US" sz="1800"/>
              <a:t>返回比较结果 *</a:t>
            </a:r>
            <a:r>
              <a:rPr lang="en-US" altLang="zh-CN" sz="1800"/>
              <a:t>/</a:t>
            </a:r>
          </a:p>
          <a:p>
            <a:pPr marL="914400" lvl="1" indent="-457200" eaLnBrk="1" hangingPunct="1">
              <a:buFont typeface="Wingdings" pitchFamily="2" charset="2"/>
              <a:buAutoNum type="arabicPeriod"/>
            </a:pPr>
            <a:r>
              <a:rPr lang="en-US" altLang="zh-CN" sz="1800"/>
              <a:t>}</a:t>
            </a:r>
          </a:p>
        </p:txBody>
      </p:sp>
    </p:spTree>
    <p:extLst>
      <p:ext uri="{BB962C8B-B14F-4D97-AF65-F5344CB8AC3E}">
        <p14:creationId xmlns:p14="http://schemas.microsoft.com/office/powerpoint/2010/main" val="6906382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BD029019-96E3-0593-B7DF-C07ADCCAF277}"/>
              </a:ext>
            </a:extLst>
          </p:cNvPr>
          <p:cNvSpPr>
            <a:spLocks noGrp="1" noChangeArrowheads="1"/>
          </p:cNvSpPr>
          <p:nvPr>
            <p:ph type="title"/>
          </p:nvPr>
        </p:nvSpPr>
        <p:spPr/>
        <p:txBody>
          <a:bodyPr/>
          <a:lstStyle/>
          <a:p>
            <a:pPr eaLnBrk="1" hangingPunct="1"/>
            <a:r>
              <a:rPr lang="zh-CN" altLang="en-US" sz="4400"/>
              <a:t>一维数组类型形参</a:t>
            </a:r>
            <a:br>
              <a:rPr lang="en-US" altLang="zh-CN"/>
            </a:br>
            <a:r>
              <a:rPr lang="zh-CN" altLang="en-US" sz="3200"/>
              <a:t>例</a:t>
            </a:r>
            <a:r>
              <a:rPr lang="en-US" altLang="zh-CN" sz="3200"/>
              <a:t>5.8 </a:t>
            </a:r>
            <a:r>
              <a:rPr lang="zh-CN" altLang="en-US" sz="3200"/>
              <a:t>输入字符行函数</a:t>
            </a:r>
            <a:r>
              <a:rPr lang="en-US" altLang="zh-CN" sz="3200"/>
              <a:t>(*)</a:t>
            </a:r>
          </a:p>
        </p:txBody>
      </p:sp>
      <p:sp>
        <p:nvSpPr>
          <p:cNvPr id="67587" name="Rectangle 3">
            <a:extLst>
              <a:ext uri="{FF2B5EF4-FFF2-40B4-BE49-F238E27FC236}">
                <a16:creationId xmlns:a16="http://schemas.microsoft.com/office/drawing/2014/main" id="{3A76D624-B3F3-6775-FC04-63D3CFF16FC4}"/>
              </a:ext>
            </a:extLst>
          </p:cNvPr>
          <p:cNvSpPr>
            <a:spLocks noGrp="1" noChangeArrowheads="1"/>
          </p:cNvSpPr>
          <p:nvPr>
            <p:ph type="body" idx="1"/>
          </p:nvPr>
        </p:nvSpPr>
        <p:spPr>
          <a:xfrm>
            <a:off x="1182688" y="2017713"/>
            <a:ext cx="7493768" cy="4114800"/>
          </a:xfrm>
        </p:spPr>
        <p:txBody>
          <a:bodyPr/>
          <a:lstStyle/>
          <a:p>
            <a:pPr marL="457200" indent="-457200" eaLnBrk="1" hangingPunct="1"/>
            <a:r>
              <a:rPr lang="en-US" altLang="zh-CN" sz="2000"/>
              <a:t>getnch()</a:t>
            </a:r>
            <a:r>
              <a:rPr lang="zh-CN" altLang="en-US" sz="2000"/>
              <a:t>：输入字符行，以字符串形式存于由指针形参指定的字符数组中。</a:t>
            </a:r>
            <a:r>
              <a:rPr lang="en-US" altLang="zh-CN" sz="2000"/>
              <a:t>(</a:t>
            </a:r>
            <a:r>
              <a:rPr lang="zh-CN" altLang="en-US" sz="2000"/>
              <a:t>末尾的回车替换为</a:t>
            </a:r>
            <a:r>
              <a:rPr lang="zh-CN" altLang="en-US" sz="2000">
                <a:latin typeface="Arial" panose="020B0604020202020204" pitchFamily="34" charset="0"/>
              </a:rPr>
              <a:t>’</a:t>
            </a:r>
            <a:r>
              <a:rPr lang="en-US" altLang="zh-CN" sz="2000"/>
              <a:t>\0</a:t>
            </a:r>
            <a:r>
              <a:rPr lang="en-US" altLang="zh-CN" sz="2000">
                <a:latin typeface="Arial" panose="020B0604020202020204" pitchFamily="34" charset="0"/>
              </a:rPr>
              <a:t>’</a:t>
            </a:r>
            <a:r>
              <a:rPr lang="en-US" altLang="zh-CN" sz="2000"/>
              <a:t>)</a:t>
            </a:r>
          </a:p>
          <a:p>
            <a:pPr marL="457200" indent="-457200" eaLnBrk="1" hangingPunct="1"/>
            <a:r>
              <a:rPr lang="zh-CN" altLang="en-US" sz="2000"/>
              <a:t>返回所读入字符串的长度</a:t>
            </a:r>
          </a:p>
          <a:p>
            <a:pPr marL="457200" indent="-457200" eaLnBrk="1" hangingPunct="1"/>
            <a:r>
              <a:rPr lang="zh-CN" altLang="en-US" sz="2000"/>
              <a:t>为避免输入过多的字符，函数</a:t>
            </a:r>
            <a:r>
              <a:rPr lang="en-US" altLang="zh-CN" sz="2000"/>
              <a:t>getnch() </a:t>
            </a:r>
            <a:r>
              <a:rPr lang="zh-CN" altLang="en-US" sz="2000"/>
              <a:t>另设一个</a:t>
            </a:r>
            <a:r>
              <a:rPr lang="en-US" altLang="zh-CN" sz="2000"/>
              <a:t>int </a:t>
            </a:r>
            <a:r>
              <a:rPr lang="zh-CN" altLang="en-US" sz="2000"/>
              <a:t>型形参，它给出最多能存储的字符数。</a:t>
            </a:r>
          </a:p>
          <a:p>
            <a:pPr marL="457200" indent="-457200" eaLnBrk="1" hangingPunct="1"/>
            <a:r>
              <a:rPr lang="zh-CN" altLang="en-US" sz="2000"/>
              <a:t>函数代码</a:t>
            </a:r>
          </a:p>
          <a:p>
            <a:pPr marL="838200" lvl="1" indent="-381000" eaLnBrk="1" hangingPunct="1">
              <a:buFontTx/>
              <a:buAutoNum type="arabicPeriod"/>
            </a:pPr>
            <a:r>
              <a:rPr lang="en-US" altLang="zh-CN" sz="1800"/>
              <a:t>#include  &lt;stdio.h&gt;</a:t>
            </a:r>
          </a:p>
          <a:p>
            <a:pPr marL="838200" lvl="1" indent="-381000" eaLnBrk="1" hangingPunct="1">
              <a:buFontTx/>
              <a:buAutoNum type="arabicPeriod"/>
            </a:pPr>
            <a:r>
              <a:rPr lang="en-US" altLang="zh-CN" sz="1800"/>
              <a:t>int getnch(char *s, int lim) {</a:t>
            </a:r>
          </a:p>
          <a:p>
            <a:pPr marL="838200" lvl="1" indent="-381000" eaLnBrk="1" hangingPunct="1">
              <a:buFontTx/>
              <a:buAutoNum type="arabicPeriod"/>
            </a:pPr>
            <a:r>
              <a:rPr lang="en-US" altLang="zh-CN" sz="1800"/>
              <a:t>  char   *ps = s;</a:t>
            </a:r>
          </a:p>
          <a:p>
            <a:pPr marL="838200" lvl="1" indent="-381000" eaLnBrk="1" hangingPunct="1">
              <a:buFontTx/>
              <a:buAutoNum type="arabicPeriod"/>
            </a:pPr>
            <a:r>
              <a:rPr lang="en-US" altLang="zh-CN" sz="1800"/>
              <a:t>  while (ps &lt; s+lim &amp;&amp; (*ps++ = getchar()) !='\n');</a:t>
            </a:r>
          </a:p>
          <a:p>
            <a:pPr marL="838200" lvl="1" indent="-381000" eaLnBrk="1" hangingPunct="1">
              <a:buFontTx/>
              <a:buAutoNum type="arabicPeriod"/>
            </a:pPr>
            <a:r>
              <a:rPr lang="en-US" altLang="zh-CN" sz="1800"/>
              <a:t>  *--ps =</a:t>
            </a:r>
            <a:r>
              <a:rPr lang="en-US" altLang="zh-CN" sz="1800">
                <a:latin typeface="Arial" panose="020B0604020202020204" pitchFamily="34" charset="0"/>
              </a:rPr>
              <a:t>‘</a:t>
            </a:r>
            <a:r>
              <a:rPr lang="en-US" altLang="zh-CN" sz="1800"/>
              <a:t>\0</a:t>
            </a:r>
            <a:r>
              <a:rPr lang="en-US" altLang="zh-CN" sz="1800">
                <a:latin typeface="Arial" panose="020B0604020202020204" pitchFamily="34" charset="0"/>
              </a:rPr>
              <a:t>’</a:t>
            </a:r>
            <a:r>
              <a:rPr lang="en-US" altLang="zh-CN" sz="1800"/>
              <a:t>;  //</a:t>
            </a:r>
            <a:r>
              <a:rPr lang="zh-CN" altLang="en-US" sz="1800"/>
              <a:t>不保存末尾的回车</a:t>
            </a:r>
          </a:p>
          <a:p>
            <a:pPr marL="838200" lvl="1" indent="-381000" eaLnBrk="1" hangingPunct="1">
              <a:buFontTx/>
              <a:buAutoNum type="arabicPeriod"/>
            </a:pPr>
            <a:r>
              <a:rPr lang="zh-CN" altLang="en-US" sz="1800"/>
              <a:t>  </a:t>
            </a:r>
            <a:r>
              <a:rPr lang="en-US" altLang="zh-CN" sz="1800"/>
              <a:t>return ps - s;//</a:t>
            </a:r>
            <a:r>
              <a:rPr lang="zh-CN" altLang="en-US" sz="1800"/>
              <a:t>返回读入并保存的字符个数，即字符串长度</a:t>
            </a:r>
          </a:p>
          <a:p>
            <a:pPr marL="838200" lvl="1" indent="-381000" eaLnBrk="1" hangingPunct="1">
              <a:buFontTx/>
              <a:buAutoNum type="arabicPeriod"/>
            </a:pPr>
            <a:r>
              <a:rPr lang="en-US" altLang="zh-CN" sz="1800"/>
              <a:t>}</a:t>
            </a:r>
          </a:p>
          <a:p>
            <a:pPr marL="457200" indent="-457200" eaLnBrk="1" hangingPunct="1"/>
            <a:endParaRPr lang="en-US" altLang="zh-CN" sz="2000"/>
          </a:p>
        </p:txBody>
      </p:sp>
    </p:spTree>
    <p:extLst>
      <p:ext uri="{BB962C8B-B14F-4D97-AF65-F5344CB8AC3E}">
        <p14:creationId xmlns:p14="http://schemas.microsoft.com/office/powerpoint/2010/main" val="21307395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E4CA734C-B932-D527-F848-07F59BE1C7EB}"/>
              </a:ext>
            </a:extLst>
          </p:cNvPr>
          <p:cNvSpPr>
            <a:spLocks noGrp="1" noChangeArrowheads="1"/>
          </p:cNvSpPr>
          <p:nvPr>
            <p:ph type="title"/>
          </p:nvPr>
        </p:nvSpPr>
        <p:spPr/>
        <p:txBody>
          <a:bodyPr/>
          <a:lstStyle/>
          <a:p>
            <a:pPr eaLnBrk="1" hangingPunct="1"/>
            <a:r>
              <a:rPr lang="zh-CN" altLang="en-US"/>
              <a:t>多维数组作为形参</a:t>
            </a:r>
          </a:p>
        </p:txBody>
      </p:sp>
      <p:sp>
        <p:nvSpPr>
          <p:cNvPr id="630787" name="Rectangle 3">
            <a:extLst>
              <a:ext uri="{FF2B5EF4-FFF2-40B4-BE49-F238E27FC236}">
                <a16:creationId xmlns:a16="http://schemas.microsoft.com/office/drawing/2014/main" id="{B9900F16-4FBC-284F-34E5-DC19C47F8114}"/>
              </a:ext>
            </a:extLst>
          </p:cNvPr>
          <p:cNvSpPr>
            <a:spLocks noGrp="1" noChangeArrowheads="1"/>
          </p:cNvSpPr>
          <p:nvPr>
            <p:ph type="body" idx="1"/>
          </p:nvPr>
        </p:nvSpPr>
        <p:spPr>
          <a:xfrm>
            <a:off x="1150938" y="2017713"/>
            <a:ext cx="7525518" cy="4114800"/>
          </a:xfrm>
        </p:spPr>
        <p:txBody>
          <a:bodyPr/>
          <a:lstStyle/>
          <a:p>
            <a:pPr marL="533400" indent="-533400" algn="just" eaLnBrk="1" hangingPunct="1"/>
            <a:r>
              <a:rPr lang="zh-CN" altLang="en-US" sz="2000"/>
              <a:t>例：下面的函数</a:t>
            </a:r>
            <a:r>
              <a:rPr lang="en-US" altLang="zh-CN" sz="2000"/>
              <a:t>sumAToB()</a:t>
            </a:r>
            <a:r>
              <a:rPr lang="zh-CN" altLang="en-US" sz="2000"/>
              <a:t>，用于将一个</a:t>
            </a:r>
            <a:r>
              <a:rPr lang="en-US" altLang="zh-CN" sz="2000"/>
              <a:t>n</a:t>
            </a:r>
            <a:r>
              <a:rPr lang="zh-CN" altLang="en-US" sz="2000"/>
              <a:t>行</a:t>
            </a:r>
            <a:r>
              <a:rPr lang="en-US" altLang="zh-CN" sz="2000"/>
              <a:t>10</a:t>
            </a:r>
            <a:r>
              <a:rPr lang="zh-CN" altLang="en-US" sz="2000"/>
              <a:t>列的二维数组各行的</a:t>
            </a:r>
            <a:r>
              <a:rPr lang="en-US" altLang="zh-CN" sz="2000"/>
              <a:t>10</a:t>
            </a:r>
            <a:r>
              <a:rPr lang="zh-CN" altLang="en-US" sz="2000"/>
              <a:t>个元素之和存于另一个数组中。</a:t>
            </a:r>
          </a:p>
          <a:p>
            <a:pPr marL="914400" lvl="1" indent="-457200" algn="just" eaLnBrk="1" hangingPunct="1">
              <a:buFont typeface="Wingdings" pitchFamily="2" charset="2"/>
              <a:buAutoNum type="arabicPeriod"/>
            </a:pPr>
            <a:r>
              <a:rPr lang="zh-CN" altLang="en-US" sz="1800"/>
              <a:t>    </a:t>
            </a:r>
            <a:r>
              <a:rPr lang="en-US" altLang="zh-CN" sz="1800"/>
              <a:t>void  sumAToB(</a:t>
            </a:r>
            <a:r>
              <a:rPr lang="en-US" altLang="zh-CN" sz="1800">
                <a:solidFill>
                  <a:srgbClr val="0066FF"/>
                </a:solidFill>
              </a:rPr>
              <a:t>int a[][10]</a:t>
            </a:r>
            <a:r>
              <a:rPr lang="en-US" altLang="zh-CN" sz="1800"/>
              <a:t>, int b[], int n){</a:t>
            </a:r>
          </a:p>
          <a:p>
            <a:pPr marL="914400" lvl="1" indent="-457200" algn="just" eaLnBrk="1" hangingPunct="1">
              <a:buFont typeface="Wingdings" pitchFamily="2" charset="2"/>
              <a:buAutoNum type="arabicPeriod"/>
            </a:pPr>
            <a:r>
              <a:rPr lang="en-US" altLang="zh-CN" sz="1800"/>
              <a:t>      int  i, j;</a:t>
            </a:r>
          </a:p>
          <a:p>
            <a:pPr marL="914400" lvl="1" indent="-457200" algn="just" eaLnBrk="1" hangingPunct="1">
              <a:buFont typeface="Wingdings" pitchFamily="2" charset="2"/>
              <a:buAutoNum type="arabicPeriod"/>
            </a:pPr>
            <a:r>
              <a:rPr lang="en-US" altLang="zh-CN" sz="1800"/>
              <a:t>      for(i = 0; i &lt; n; i++)</a:t>
            </a:r>
          </a:p>
          <a:p>
            <a:pPr marL="914400" lvl="1" indent="-457200" algn="just" eaLnBrk="1" hangingPunct="1">
              <a:buFont typeface="Wingdings" pitchFamily="2" charset="2"/>
              <a:buAutoNum type="arabicPeriod"/>
            </a:pPr>
            <a:r>
              <a:rPr lang="en-US" altLang="zh-CN" sz="1800"/>
              <a:t>        for(b[i] = 0, j = 0; j &lt; 10; j++)</a:t>
            </a:r>
          </a:p>
          <a:p>
            <a:pPr marL="914400" lvl="1" indent="-457200" algn="just" eaLnBrk="1" hangingPunct="1">
              <a:buFont typeface="Wingdings" pitchFamily="2" charset="2"/>
              <a:buAutoNum type="arabicPeriod"/>
            </a:pPr>
            <a:r>
              <a:rPr lang="en-US" altLang="zh-CN" sz="1800"/>
              <a:t>            b[i] += a[i][j];</a:t>
            </a:r>
          </a:p>
          <a:p>
            <a:pPr marL="914400" lvl="1" indent="-457200" algn="just" eaLnBrk="1" hangingPunct="1">
              <a:buFont typeface="Wingdings" pitchFamily="2" charset="2"/>
              <a:buAutoNum type="arabicPeriod"/>
            </a:pPr>
            <a:r>
              <a:rPr lang="en-US" altLang="zh-CN" sz="1800"/>
              <a:t>     }</a:t>
            </a:r>
          </a:p>
          <a:p>
            <a:pPr marL="533400" indent="-533400" algn="just" eaLnBrk="1" hangingPunct="1"/>
            <a:r>
              <a:rPr lang="zh-CN" altLang="en-US" sz="2000"/>
              <a:t>在函数</a:t>
            </a:r>
            <a:r>
              <a:rPr lang="en-US" altLang="zh-CN" sz="2000"/>
              <a:t>sumAToB()</a:t>
            </a:r>
            <a:r>
              <a:rPr lang="zh-CN" altLang="en-US" sz="2000"/>
              <a:t>的定义中，对形参</a:t>
            </a:r>
            <a:r>
              <a:rPr lang="en-US" altLang="zh-CN" sz="2000"/>
              <a:t>a</a:t>
            </a:r>
            <a:r>
              <a:rPr lang="zh-CN" altLang="en-US" sz="2000"/>
              <a:t>的说明如写成</a:t>
            </a:r>
            <a:r>
              <a:rPr lang="en-US" altLang="zh-CN" sz="2000">
                <a:solidFill>
                  <a:srgbClr val="FF0000"/>
                </a:solidFill>
              </a:rPr>
              <a:t>int a[][]</a:t>
            </a:r>
            <a:r>
              <a:rPr lang="zh-CN" altLang="en-US" sz="2000"/>
              <a:t>是错误的。</a:t>
            </a:r>
          </a:p>
          <a:p>
            <a:pPr marL="533400" indent="-533400" algn="just" eaLnBrk="1" hangingPunct="1"/>
            <a:r>
              <a:rPr lang="zh-CN" altLang="en-US" sz="2000"/>
              <a:t>因二维数组的元素只是按行存放，并不自动说明数组的列数（即每行元素个数）。如在数组形参中不说明它的列数，就无法确定数组元素</a:t>
            </a:r>
            <a:r>
              <a:rPr lang="en-US" altLang="zh-CN" sz="2000"/>
              <a:t>a[i][j]</a:t>
            </a:r>
            <a:r>
              <a:rPr lang="zh-CN" altLang="en-US" sz="2000"/>
              <a:t>的实际地址。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0787">
                                            <p:txEl>
                                              <p:pRg st="0" end="0"/>
                                            </p:txEl>
                                          </p:spTgt>
                                        </p:tgtEl>
                                        <p:attrNameLst>
                                          <p:attrName>style.visibility</p:attrName>
                                        </p:attrNameLst>
                                      </p:cBhvr>
                                      <p:to>
                                        <p:strVal val="visible"/>
                                      </p:to>
                                    </p:set>
                                    <p:anim calcmode="lin" valueType="num">
                                      <p:cBhvr additive="base">
                                        <p:cTn id="7" dur="500" fill="hold"/>
                                        <p:tgtEl>
                                          <p:spTgt spid="6307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3078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630787">
                                            <p:txEl>
                                              <p:pRg st="1" end="1"/>
                                            </p:txEl>
                                          </p:spTgt>
                                        </p:tgtEl>
                                        <p:attrNameLst>
                                          <p:attrName>style.visibility</p:attrName>
                                        </p:attrNameLst>
                                      </p:cBhvr>
                                      <p:to>
                                        <p:strVal val="visible"/>
                                      </p:to>
                                    </p:set>
                                    <p:anim calcmode="lin" valueType="num">
                                      <p:cBhvr additive="base">
                                        <p:cTn id="11" dur="500" fill="hold"/>
                                        <p:tgtEl>
                                          <p:spTgt spid="63078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3078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630787">
                                            <p:txEl>
                                              <p:pRg st="2" end="2"/>
                                            </p:txEl>
                                          </p:spTgt>
                                        </p:tgtEl>
                                        <p:attrNameLst>
                                          <p:attrName>style.visibility</p:attrName>
                                        </p:attrNameLst>
                                      </p:cBhvr>
                                      <p:to>
                                        <p:strVal val="visible"/>
                                      </p:to>
                                    </p:set>
                                    <p:anim calcmode="lin" valueType="num">
                                      <p:cBhvr additive="base">
                                        <p:cTn id="15" dur="500" fill="hold"/>
                                        <p:tgtEl>
                                          <p:spTgt spid="630787">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3078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630787">
                                            <p:txEl>
                                              <p:pRg st="3" end="3"/>
                                            </p:txEl>
                                          </p:spTgt>
                                        </p:tgtEl>
                                        <p:attrNameLst>
                                          <p:attrName>style.visibility</p:attrName>
                                        </p:attrNameLst>
                                      </p:cBhvr>
                                      <p:to>
                                        <p:strVal val="visible"/>
                                      </p:to>
                                    </p:set>
                                    <p:anim calcmode="lin" valueType="num">
                                      <p:cBhvr additive="base">
                                        <p:cTn id="19" dur="500" fill="hold"/>
                                        <p:tgtEl>
                                          <p:spTgt spid="63078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3078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630787">
                                            <p:txEl>
                                              <p:pRg st="4" end="4"/>
                                            </p:txEl>
                                          </p:spTgt>
                                        </p:tgtEl>
                                        <p:attrNameLst>
                                          <p:attrName>style.visibility</p:attrName>
                                        </p:attrNameLst>
                                      </p:cBhvr>
                                      <p:to>
                                        <p:strVal val="visible"/>
                                      </p:to>
                                    </p:set>
                                    <p:anim calcmode="lin" valueType="num">
                                      <p:cBhvr additive="base">
                                        <p:cTn id="23" dur="500" fill="hold"/>
                                        <p:tgtEl>
                                          <p:spTgt spid="630787">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3078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630787">
                                            <p:txEl>
                                              <p:pRg st="5" end="5"/>
                                            </p:txEl>
                                          </p:spTgt>
                                        </p:tgtEl>
                                        <p:attrNameLst>
                                          <p:attrName>style.visibility</p:attrName>
                                        </p:attrNameLst>
                                      </p:cBhvr>
                                      <p:to>
                                        <p:strVal val="visible"/>
                                      </p:to>
                                    </p:set>
                                    <p:anim calcmode="lin" valueType="num">
                                      <p:cBhvr additive="base">
                                        <p:cTn id="27" dur="500" fill="hold"/>
                                        <p:tgtEl>
                                          <p:spTgt spid="630787">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3078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630787">
                                            <p:txEl>
                                              <p:pRg st="6" end="6"/>
                                            </p:txEl>
                                          </p:spTgt>
                                        </p:tgtEl>
                                        <p:attrNameLst>
                                          <p:attrName>style.visibility</p:attrName>
                                        </p:attrNameLst>
                                      </p:cBhvr>
                                      <p:to>
                                        <p:strVal val="visible"/>
                                      </p:to>
                                    </p:set>
                                    <p:anim calcmode="lin" valueType="num">
                                      <p:cBhvr additive="base">
                                        <p:cTn id="31" dur="500" fill="hold"/>
                                        <p:tgtEl>
                                          <p:spTgt spid="630787">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30787">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30787">
                                            <p:txEl>
                                              <p:pRg st="7" end="7"/>
                                            </p:txEl>
                                          </p:spTgt>
                                        </p:tgtEl>
                                        <p:attrNameLst>
                                          <p:attrName>style.visibility</p:attrName>
                                        </p:attrNameLst>
                                      </p:cBhvr>
                                      <p:to>
                                        <p:strVal val="visible"/>
                                      </p:to>
                                    </p:set>
                                    <p:anim calcmode="lin" valueType="num">
                                      <p:cBhvr additive="base">
                                        <p:cTn id="37" dur="500" fill="hold"/>
                                        <p:tgtEl>
                                          <p:spTgt spid="630787">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30787">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30787">
                                            <p:txEl>
                                              <p:pRg st="8" end="8"/>
                                            </p:txEl>
                                          </p:spTgt>
                                        </p:tgtEl>
                                        <p:attrNameLst>
                                          <p:attrName>style.visibility</p:attrName>
                                        </p:attrNameLst>
                                      </p:cBhvr>
                                      <p:to>
                                        <p:strVal val="visible"/>
                                      </p:to>
                                    </p:set>
                                    <p:anim calcmode="lin" valueType="num">
                                      <p:cBhvr additive="base">
                                        <p:cTn id="43" dur="500" fill="hold"/>
                                        <p:tgtEl>
                                          <p:spTgt spid="630787">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30787">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7"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48FB471-E361-3F0C-C1CD-657970C0B835}"/>
              </a:ext>
            </a:extLst>
          </p:cNvPr>
          <p:cNvSpPr>
            <a:spLocks noGrp="1" noChangeArrowheads="1"/>
          </p:cNvSpPr>
          <p:nvPr>
            <p:ph type="title"/>
          </p:nvPr>
        </p:nvSpPr>
        <p:spPr/>
        <p:txBody>
          <a:bodyPr/>
          <a:lstStyle/>
          <a:p>
            <a:pPr eaLnBrk="1" hangingPunct="1"/>
            <a:r>
              <a:rPr lang="zh-CN" altLang="en-US" sz="4000"/>
              <a:t>多维数组作为形参</a:t>
            </a:r>
            <a:br>
              <a:rPr lang="en-US" altLang="zh-CN" sz="4000"/>
            </a:br>
            <a:r>
              <a:rPr lang="en-US" altLang="zh-CN" sz="3200"/>
              <a:t>——</a:t>
            </a:r>
            <a:r>
              <a:rPr lang="zh-CN" altLang="en-US" sz="3200"/>
              <a:t>二维数组和指针</a:t>
            </a:r>
          </a:p>
        </p:txBody>
      </p:sp>
      <p:sp>
        <p:nvSpPr>
          <p:cNvPr id="612355" name="Rectangle 3">
            <a:extLst>
              <a:ext uri="{FF2B5EF4-FFF2-40B4-BE49-F238E27FC236}">
                <a16:creationId xmlns:a16="http://schemas.microsoft.com/office/drawing/2014/main" id="{915C3ABC-B2A3-DBF4-142E-3F9DD19420AF}"/>
              </a:ext>
            </a:extLst>
          </p:cNvPr>
          <p:cNvSpPr>
            <a:spLocks noGrp="1" noChangeArrowheads="1"/>
          </p:cNvSpPr>
          <p:nvPr>
            <p:ph type="body" idx="1"/>
          </p:nvPr>
        </p:nvSpPr>
        <p:spPr>
          <a:xfrm>
            <a:off x="1182688" y="2017713"/>
            <a:ext cx="7565776" cy="4114800"/>
          </a:xfrm>
        </p:spPr>
        <p:txBody>
          <a:bodyPr/>
          <a:lstStyle/>
          <a:p>
            <a:pPr algn="just" eaLnBrk="1" hangingPunct="1"/>
            <a:r>
              <a:rPr lang="zh-CN" altLang="en-US" sz="2400"/>
              <a:t>如果有一个二维数组，且指针变量所指的是二维数组中的一整行，则指针变量另有一些很有意义的性质。</a:t>
            </a:r>
          </a:p>
          <a:p>
            <a:pPr algn="just" eaLnBrk="1" hangingPunct="1"/>
            <a:r>
              <a:rPr lang="zh-CN" altLang="en-US" sz="2400"/>
              <a:t>设二维数组为</a:t>
            </a:r>
          </a:p>
          <a:p>
            <a:pPr lvl="1" algn="just" eaLnBrk="1" hangingPunct="1"/>
            <a:r>
              <a:rPr lang="en-US" altLang="zh-CN" sz="2000"/>
              <a:t>int a[3][4] = { {1,  2,  3,  4},</a:t>
            </a:r>
          </a:p>
          <a:p>
            <a:pPr lvl="1" algn="just" eaLnBrk="1" hangingPunct="1"/>
            <a:r>
              <a:rPr lang="en-US" altLang="zh-CN" sz="2000"/>
              <a:t>                     {5,  6,  7,  8},</a:t>
            </a:r>
          </a:p>
          <a:p>
            <a:pPr lvl="1" algn="just" eaLnBrk="1" hangingPunct="1"/>
            <a:r>
              <a:rPr lang="en-US" altLang="zh-CN" sz="2000"/>
              <a:t>                     {9, 10, 11, 12} };</a:t>
            </a:r>
          </a:p>
          <a:p>
            <a:pPr algn="just" eaLnBrk="1" hangingPunct="1"/>
            <a:r>
              <a:rPr lang="zh-CN" altLang="en-US" sz="2400"/>
              <a:t>按行来看数组</a:t>
            </a:r>
            <a:r>
              <a:rPr lang="en-US" altLang="zh-CN" sz="2400"/>
              <a:t>a</a:t>
            </a:r>
            <a:r>
              <a:rPr lang="zh-CN" altLang="en-US" sz="2400"/>
              <a:t>，数组</a:t>
            </a:r>
            <a:r>
              <a:rPr lang="en-US" altLang="zh-CN" sz="2400"/>
              <a:t>a</a:t>
            </a:r>
            <a:r>
              <a:rPr lang="zh-CN" altLang="en-US" sz="2400"/>
              <a:t>有三个元素，分别为</a:t>
            </a:r>
            <a:r>
              <a:rPr lang="en-US" altLang="zh-CN" sz="2400"/>
              <a:t>a[0]</a:t>
            </a:r>
            <a:r>
              <a:rPr lang="zh-CN" altLang="en-US" sz="2400"/>
              <a:t>，</a:t>
            </a:r>
            <a:r>
              <a:rPr lang="en-US" altLang="zh-CN" sz="2400"/>
              <a:t>a[1]</a:t>
            </a:r>
            <a:r>
              <a:rPr lang="zh-CN" altLang="en-US" sz="2400"/>
              <a:t>，</a:t>
            </a:r>
            <a:r>
              <a:rPr lang="en-US" altLang="zh-CN" sz="2400"/>
              <a:t>a[2]</a:t>
            </a:r>
            <a:r>
              <a:rPr lang="zh-CN" altLang="en-US" sz="2400"/>
              <a:t>。它们又分别是一个一维数组，各有</a:t>
            </a:r>
            <a:r>
              <a:rPr lang="en-US" altLang="zh-CN" sz="2400"/>
              <a:t>4</a:t>
            </a:r>
            <a:r>
              <a:rPr lang="zh-CN" altLang="en-US" sz="2400"/>
              <a:t>个元素。</a:t>
            </a:r>
            <a:endParaRPr lang="en-US" altLang="zh-CN" sz="2400"/>
          </a:p>
          <a:p>
            <a:pPr lvl="1" algn="just" eaLnBrk="1" hangingPunct="1"/>
            <a:r>
              <a:rPr lang="zh-CN" altLang="en-US" sz="2000"/>
              <a:t>例如，</a:t>
            </a:r>
            <a:r>
              <a:rPr lang="en-US" altLang="zh-CN" sz="2000"/>
              <a:t>a[0]</a:t>
            </a:r>
            <a:r>
              <a:rPr lang="zh-CN" altLang="en-US" sz="2000"/>
              <a:t>所代表的一维数组为</a:t>
            </a:r>
          </a:p>
          <a:p>
            <a:pPr lvl="2" algn="just" eaLnBrk="1" hangingPunct="1"/>
            <a:r>
              <a:rPr lang="en-US" altLang="zh-CN" sz="1600"/>
              <a:t>a[0][0]</a:t>
            </a:r>
            <a:r>
              <a:rPr lang="zh-CN" altLang="en-US" sz="1600"/>
              <a:t>、</a:t>
            </a:r>
            <a:r>
              <a:rPr lang="en-US" altLang="zh-CN" sz="1600"/>
              <a:t>a[0][1]</a:t>
            </a:r>
            <a:r>
              <a:rPr lang="zh-CN" altLang="en-US" sz="1600"/>
              <a:t>、</a:t>
            </a:r>
            <a:r>
              <a:rPr lang="en-US" altLang="zh-CN" sz="1600"/>
              <a:t>a[0][2]</a:t>
            </a:r>
            <a:r>
              <a:rPr lang="zh-CN" altLang="en-US" sz="1600"/>
              <a:t>、</a:t>
            </a:r>
            <a:r>
              <a:rPr lang="en-US" altLang="zh-CN" sz="1600"/>
              <a:t>a[0][3]</a:t>
            </a:r>
          </a:p>
        </p:txBody>
      </p:sp>
    </p:spTree>
    <p:extLst>
      <p:ext uri="{BB962C8B-B14F-4D97-AF65-F5344CB8AC3E}">
        <p14:creationId xmlns:p14="http://schemas.microsoft.com/office/powerpoint/2010/main" val="606410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2355">
                                            <p:txEl>
                                              <p:pRg st="0" end="0"/>
                                            </p:txEl>
                                          </p:spTgt>
                                        </p:tgtEl>
                                        <p:attrNameLst>
                                          <p:attrName>style.visibility</p:attrName>
                                        </p:attrNameLst>
                                      </p:cBhvr>
                                      <p:to>
                                        <p:strVal val="visible"/>
                                      </p:to>
                                    </p:set>
                                    <p:anim calcmode="lin" valueType="num">
                                      <p:cBhvr additive="base">
                                        <p:cTn id="7" dur="500" fill="hold"/>
                                        <p:tgtEl>
                                          <p:spTgt spid="6123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235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2355">
                                            <p:txEl>
                                              <p:pRg st="1" end="1"/>
                                            </p:txEl>
                                          </p:spTgt>
                                        </p:tgtEl>
                                        <p:attrNameLst>
                                          <p:attrName>style.visibility</p:attrName>
                                        </p:attrNameLst>
                                      </p:cBhvr>
                                      <p:to>
                                        <p:strVal val="visible"/>
                                      </p:to>
                                    </p:set>
                                    <p:anim calcmode="lin" valueType="num">
                                      <p:cBhvr additive="base">
                                        <p:cTn id="13" dur="500" fill="hold"/>
                                        <p:tgtEl>
                                          <p:spTgt spid="6123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235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par>
                                <p:cTn id="15" presetID="2" presetClass="entr" presetSubtype="8" fill="hold" grpId="0" nodeType="withEffect">
                                  <p:stCondLst>
                                    <p:cond delay="0"/>
                                  </p:stCondLst>
                                  <p:childTnLst>
                                    <p:set>
                                      <p:cBhvr>
                                        <p:cTn id="16" dur="1" fill="hold">
                                          <p:stCondLst>
                                            <p:cond delay="0"/>
                                          </p:stCondLst>
                                        </p:cTn>
                                        <p:tgtEl>
                                          <p:spTgt spid="612355">
                                            <p:txEl>
                                              <p:pRg st="2" end="2"/>
                                            </p:txEl>
                                          </p:spTgt>
                                        </p:tgtEl>
                                        <p:attrNameLst>
                                          <p:attrName>style.visibility</p:attrName>
                                        </p:attrNameLst>
                                      </p:cBhvr>
                                      <p:to>
                                        <p:strVal val="visible"/>
                                      </p:to>
                                    </p:set>
                                    <p:anim calcmode="lin" valueType="num">
                                      <p:cBhvr additive="base">
                                        <p:cTn id="17" dur="500" fill="hold"/>
                                        <p:tgtEl>
                                          <p:spTgt spid="61235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1235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par>
                                <p:cTn id="19" presetID="2" presetClass="entr" presetSubtype="8" fill="hold" grpId="0" nodeType="withEffect">
                                  <p:stCondLst>
                                    <p:cond delay="0"/>
                                  </p:stCondLst>
                                  <p:childTnLst>
                                    <p:set>
                                      <p:cBhvr>
                                        <p:cTn id="20" dur="1" fill="hold">
                                          <p:stCondLst>
                                            <p:cond delay="0"/>
                                          </p:stCondLst>
                                        </p:cTn>
                                        <p:tgtEl>
                                          <p:spTgt spid="612355">
                                            <p:txEl>
                                              <p:pRg st="3" end="3"/>
                                            </p:txEl>
                                          </p:spTgt>
                                        </p:tgtEl>
                                        <p:attrNameLst>
                                          <p:attrName>style.visibility</p:attrName>
                                        </p:attrNameLst>
                                      </p:cBhvr>
                                      <p:to>
                                        <p:strVal val="visible"/>
                                      </p:to>
                                    </p:set>
                                    <p:anim calcmode="lin" valueType="num">
                                      <p:cBhvr additive="base">
                                        <p:cTn id="21" dur="500" fill="hold"/>
                                        <p:tgtEl>
                                          <p:spTgt spid="612355">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1235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whoosh.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612355">
                                            <p:txEl>
                                              <p:pRg st="4" end="4"/>
                                            </p:txEl>
                                          </p:spTgt>
                                        </p:tgtEl>
                                        <p:attrNameLst>
                                          <p:attrName>style.visibility</p:attrName>
                                        </p:attrNameLst>
                                      </p:cBhvr>
                                      <p:to>
                                        <p:strVal val="visible"/>
                                      </p:to>
                                    </p:set>
                                    <p:anim calcmode="lin" valueType="num">
                                      <p:cBhvr additive="base">
                                        <p:cTn id="25" dur="500" fill="hold"/>
                                        <p:tgtEl>
                                          <p:spTgt spid="61235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235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12355">
                                            <p:txEl>
                                              <p:pRg st="5" end="5"/>
                                            </p:txEl>
                                          </p:spTgt>
                                        </p:tgtEl>
                                        <p:attrNameLst>
                                          <p:attrName>style.visibility</p:attrName>
                                        </p:attrNameLst>
                                      </p:cBhvr>
                                      <p:to>
                                        <p:strVal val="visible"/>
                                      </p:to>
                                    </p:set>
                                    <p:anim calcmode="lin" valueType="num">
                                      <p:cBhvr additive="base">
                                        <p:cTn id="31" dur="500" fill="hold"/>
                                        <p:tgtEl>
                                          <p:spTgt spid="61235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12355">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612355">
                                            <p:txEl>
                                              <p:pRg st="6" end="6"/>
                                            </p:txEl>
                                          </p:spTgt>
                                        </p:tgtEl>
                                        <p:attrNameLst>
                                          <p:attrName>style.visibility</p:attrName>
                                        </p:attrNameLst>
                                      </p:cBhvr>
                                      <p:to>
                                        <p:strVal val="visible"/>
                                      </p:to>
                                    </p:set>
                                    <p:anim calcmode="lin" valueType="num">
                                      <p:cBhvr additive="base">
                                        <p:cTn id="35" dur="500" fill="hold"/>
                                        <p:tgtEl>
                                          <p:spTgt spid="612355">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612355">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par>
                                <p:cTn id="37" presetID="2" presetClass="entr" presetSubtype="8" fill="hold" grpId="0" nodeType="withEffect">
                                  <p:stCondLst>
                                    <p:cond delay="0"/>
                                  </p:stCondLst>
                                  <p:childTnLst>
                                    <p:set>
                                      <p:cBhvr>
                                        <p:cTn id="38" dur="1" fill="hold">
                                          <p:stCondLst>
                                            <p:cond delay="0"/>
                                          </p:stCondLst>
                                        </p:cTn>
                                        <p:tgtEl>
                                          <p:spTgt spid="612355">
                                            <p:txEl>
                                              <p:pRg st="7" end="7"/>
                                            </p:txEl>
                                          </p:spTgt>
                                        </p:tgtEl>
                                        <p:attrNameLst>
                                          <p:attrName>style.visibility</p:attrName>
                                        </p:attrNameLst>
                                      </p:cBhvr>
                                      <p:to>
                                        <p:strVal val="visible"/>
                                      </p:to>
                                    </p:set>
                                    <p:anim calcmode="lin" valueType="num">
                                      <p:cBhvr additive="base">
                                        <p:cTn id="39" dur="500" fill="hold"/>
                                        <p:tgtEl>
                                          <p:spTgt spid="612355">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612355">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55"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3379" name="Rectangle 3">
            <a:extLst>
              <a:ext uri="{FF2B5EF4-FFF2-40B4-BE49-F238E27FC236}">
                <a16:creationId xmlns:a16="http://schemas.microsoft.com/office/drawing/2014/main" id="{246CF222-A682-099C-A4CB-7798953D4672}"/>
              </a:ext>
            </a:extLst>
          </p:cNvPr>
          <p:cNvSpPr>
            <a:spLocks noGrp="1" noChangeArrowheads="1"/>
          </p:cNvSpPr>
          <p:nvPr>
            <p:ph type="body" idx="1"/>
          </p:nvPr>
        </p:nvSpPr>
        <p:spPr>
          <a:xfrm>
            <a:off x="1182688" y="2017713"/>
            <a:ext cx="7349752" cy="4114800"/>
          </a:xfrm>
        </p:spPr>
        <p:txBody>
          <a:bodyPr/>
          <a:lstStyle/>
          <a:p>
            <a:pPr algn="just" eaLnBrk="1" hangingPunct="1">
              <a:lnSpc>
                <a:spcPct val="150000"/>
              </a:lnSpc>
              <a:spcAft>
                <a:spcPts val="600"/>
              </a:spcAft>
            </a:pPr>
            <a:r>
              <a:rPr lang="zh-CN" altLang="en-US" sz="2000"/>
              <a:t>二维数组名</a:t>
            </a:r>
            <a:r>
              <a:rPr lang="en-US" altLang="zh-CN" sz="2000">
                <a:solidFill>
                  <a:srgbClr val="0066FF"/>
                </a:solidFill>
              </a:rPr>
              <a:t>a</a:t>
            </a:r>
            <a:r>
              <a:rPr lang="zh-CN" altLang="en-US" sz="2000"/>
              <a:t>可以看作</a:t>
            </a:r>
            <a:r>
              <a:rPr lang="en-US" altLang="zh-CN" sz="2000"/>
              <a:t>a</a:t>
            </a:r>
            <a:r>
              <a:rPr lang="zh-CN" altLang="en-US" sz="2000"/>
              <a:t>的首元素</a:t>
            </a:r>
            <a:r>
              <a:rPr lang="en-US" altLang="zh-CN" sz="2000"/>
              <a:t>a[0]</a:t>
            </a:r>
            <a:r>
              <a:rPr lang="zh-CN" altLang="en-US" sz="2000"/>
              <a:t>的地址，即表示二维数组第一行的首地址。一般地，</a:t>
            </a:r>
            <a:r>
              <a:rPr lang="en-US" altLang="zh-CN" sz="2000">
                <a:solidFill>
                  <a:srgbClr val="0066FF"/>
                </a:solidFill>
              </a:rPr>
              <a:t>a+i</a:t>
            </a:r>
            <a:r>
              <a:rPr lang="zh-CN" altLang="en-US" sz="2000"/>
              <a:t>可以看作数组</a:t>
            </a:r>
            <a:r>
              <a:rPr lang="en-US" altLang="zh-CN" sz="2000"/>
              <a:t>a</a:t>
            </a:r>
            <a:r>
              <a:rPr lang="zh-CN" altLang="en-US" sz="2000"/>
              <a:t>的元素</a:t>
            </a:r>
            <a:r>
              <a:rPr lang="en-US" altLang="zh-CN" sz="2000"/>
              <a:t>a[i]</a:t>
            </a:r>
            <a:r>
              <a:rPr lang="zh-CN" altLang="en-US" sz="2000"/>
              <a:t>的地址，即二维数组第</a:t>
            </a:r>
            <a:r>
              <a:rPr lang="en-US" altLang="zh-CN" sz="2000"/>
              <a:t>i+1</a:t>
            </a:r>
            <a:r>
              <a:rPr lang="zh-CN" altLang="en-US" sz="2000"/>
              <a:t>行的首地址。</a:t>
            </a:r>
          </a:p>
          <a:p>
            <a:pPr algn="just" eaLnBrk="1" hangingPunct="1">
              <a:lnSpc>
                <a:spcPct val="150000"/>
              </a:lnSpc>
              <a:spcAft>
                <a:spcPts val="600"/>
              </a:spcAft>
            </a:pPr>
            <a:r>
              <a:rPr lang="zh-CN" altLang="en-US" sz="2000"/>
              <a:t>因二维数组</a:t>
            </a:r>
            <a:r>
              <a:rPr lang="en-US" altLang="zh-CN" sz="2000"/>
              <a:t>a</a:t>
            </a:r>
            <a:r>
              <a:rPr lang="zh-CN" altLang="en-US" sz="2000"/>
              <a:t>能用</a:t>
            </a:r>
            <a:r>
              <a:rPr lang="en-US" altLang="zh-CN" sz="2000"/>
              <a:t>a[0]</a:t>
            </a:r>
            <a:r>
              <a:rPr lang="zh-CN" altLang="en-US" sz="2000"/>
              <a:t>，</a:t>
            </a:r>
            <a:r>
              <a:rPr lang="en-US" altLang="zh-CN" sz="2000"/>
              <a:t>a[1]</a:t>
            </a:r>
            <a:r>
              <a:rPr lang="zh-CN" altLang="en-US" sz="2000"/>
              <a:t>，</a:t>
            </a:r>
            <a:r>
              <a:rPr lang="en-US" altLang="zh-CN" sz="2000"/>
              <a:t>a[2]</a:t>
            </a:r>
            <a:r>
              <a:rPr lang="zh-CN" altLang="en-US" sz="2000"/>
              <a:t>分别表示其中的一维数组，所以</a:t>
            </a:r>
            <a:r>
              <a:rPr lang="en-US" altLang="zh-CN" sz="2000"/>
              <a:t>a[0]</a:t>
            </a:r>
            <a:r>
              <a:rPr lang="zh-CN" altLang="en-US" sz="2000"/>
              <a:t>能表示以</a:t>
            </a:r>
            <a:r>
              <a:rPr lang="en-US" altLang="zh-CN" sz="2000"/>
              <a:t>a[0]</a:t>
            </a:r>
            <a:r>
              <a:rPr lang="zh-CN" altLang="en-US" sz="2000"/>
              <a:t>表示的一维数组的首元素</a:t>
            </a:r>
            <a:r>
              <a:rPr lang="en-US" altLang="zh-CN" sz="2000"/>
              <a:t>a[0][0]</a:t>
            </a:r>
            <a:r>
              <a:rPr lang="zh-CN" altLang="en-US" sz="2000"/>
              <a:t>的地址；</a:t>
            </a:r>
            <a:r>
              <a:rPr lang="en-US" altLang="zh-CN" sz="2000"/>
              <a:t>a[1]</a:t>
            </a:r>
            <a:r>
              <a:rPr lang="zh-CN" altLang="en-US" sz="2000"/>
              <a:t>能表示以</a:t>
            </a:r>
            <a:r>
              <a:rPr lang="en-US" altLang="zh-CN" sz="2000"/>
              <a:t>a[1]</a:t>
            </a:r>
            <a:r>
              <a:rPr lang="zh-CN" altLang="en-US" sz="2000"/>
              <a:t>表示的一维数组的首元素</a:t>
            </a:r>
            <a:r>
              <a:rPr lang="en-US" altLang="zh-CN" sz="2000"/>
              <a:t>a[1][0]</a:t>
            </a:r>
            <a:r>
              <a:rPr lang="zh-CN" altLang="en-US" sz="2000"/>
              <a:t>的地址。</a:t>
            </a:r>
          </a:p>
          <a:p>
            <a:pPr algn="just" eaLnBrk="1" hangingPunct="1">
              <a:lnSpc>
                <a:spcPct val="150000"/>
              </a:lnSpc>
              <a:spcAft>
                <a:spcPts val="600"/>
              </a:spcAft>
            </a:pPr>
            <a:r>
              <a:rPr lang="zh-CN" altLang="en-US" sz="2000"/>
              <a:t>一般地，</a:t>
            </a:r>
            <a:r>
              <a:rPr lang="en-US" altLang="zh-CN" sz="2000">
                <a:solidFill>
                  <a:srgbClr val="0066FF"/>
                </a:solidFill>
              </a:rPr>
              <a:t>a[i]</a:t>
            </a:r>
            <a:r>
              <a:rPr lang="zh-CN" altLang="en-US" sz="2000"/>
              <a:t>能表示用</a:t>
            </a:r>
            <a:r>
              <a:rPr lang="en-US" altLang="zh-CN" sz="2000"/>
              <a:t>a[i]</a:t>
            </a:r>
            <a:r>
              <a:rPr lang="zh-CN" altLang="en-US" sz="2000"/>
              <a:t>表示的一维数组的首元素</a:t>
            </a:r>
            <a:r>
              <a:rPr lang="en-US" altLang="zh-CN" sz="2000"/>
              <a:t>a[i][0]</a:t>
            </a:r>
            <a:r>
              <a:rPr lang="zh-CN" altLang="en-US" sz="2000"/>
              <a:t>的地址。</a:t>
            </a:r>
          </a:p>
        </p:txBody>
      </p:sp>
      <p:sp>
        <p:nvSpPr>
          <p:cNvPr id="4" name="Rectangle 2">
            <a:extLst>
              <a:ext uri="{FF2B5EF4-FFF2-40B4-BE49-F238E27FC236}">
                <a16:creationId xmlns:a16="http://schemas.microsoft.com/office/drawing/2014/main" id="{3A057A98-76F4-0C22-62D8-EF4E71ECE53E}"/>
              </a:ext>
            </a:extLst>
          </p:cNvPr>
          <p:cNvSpPr>
            <a:spLocks noGrp="1" noChangeArrowheads="1"/>
          </p:cNvSpPr>
          <p:nvPr>
            <p:ph type="title"/>
          </p:nvPr>
        </p:nvSpPr>
        <p:spPr/>
        <p:txBody>
          <a:bodyPr/>
          <a:lstStyle/>
          <a:p>
            <a:pPr eaLnBrk="1" hangingPunct="1"/>
            <a:r>
              <a:rPr lang="zh-CN" altLang="en-US" sz="4000"/>
              <a:t>多维数组作为形参</a:t>
            </a:r>
            <a:br>
              <a:rPr lang="en-US" altLang="zh-CN" sz="4000"/>
            </a:br>
            <a:r>
              <a:rPr lang="en-US" altLang="zh-CN" sz="3200"/>
              <a:t>——</a:t>
            </a:r>
            <a:r>
              <a:rPr lang="zh-CN" altLang="en-US" sz="3200"/>
              <a:t>二维数组和指针</a:t>
            </a:r>
          </a:p>
        </p:txBody>
      </p:sp>
    </p:spTree>
    <p:extLst>
      <p:ext uri="{BB962C8B-B14F-4D97-AF65-F5344CB8AC3E}">
        <p14:creationId xmlns:p14="http://schemas.microsoft.com/office/powerpoint/2010/main" val="5518150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3379">
                                            <p:txEl>
                                              <p:pRg st="0" end="0"/>
                                            </p:txEl>
                                          </p:spTgt>
                                        </p:tgtEl>
                                        <p:attrNameLst>
                                          <p:attrName>style.visibility</p:attrName>
                                        </p:attrNameLst>
                                      </p:cBhvr>
                                      <p:to>
                                        <p:strVal val="visible"/>
                                      </p:to>
                                    </p:set>
                                    <p:anim calcmode="lin" valueType="num">
                                      <p:cBhvr additive="base">
                                        <p:cTn id="7" dur="500" fill="hold"/>
                                        <p:tgtEl>
                                          <p:spTgt spid="6133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337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3379">
                                            <p:txEl>
                                              <p:pRg st="1" end="1"/>
                                            </p:txEl>
                                          </p:spTgt>
                                        </p:tgtEl>
                                        <p:attrNameLst>
                                          <p:attrName>style.visibility</p:attrName>
                                        </p:attrNameLst>
                                      </p:cBhvr>
                                      <p:to>
                                        <p:strVal val="visible"/>
                                      </p:to>
                                    </p:set>
                                    <p:anim calcmode="lin" valueType="num">
                                      <p:cBhvr additive="base">
                                        <p:cTn id="13" dur="500" fill="hold"/>
                                        <p:tgtEl>
                                          <p:spTgt spid="61337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337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3379">
                                            <p:txEl>
                                              <p:pRg st="2" end="2"/>
                                            </p:txEl>
                                          </p:spTgt>
                                        </p:tgtEl>
                                        <p:attrNameLst>
                                          <p:attrName>style.visibility</p:attrName>
                                        </p:attrNameLst>
                                      </p:cBhvr>
                                      <p:to>
                                        <p:strVal val="visible"/>
                                      </p:to>
                                    </p:set>
                                    <p:anim calcmode="lin" valueType="num">
                                      <p:cBhvr additive="base">
                                        <p:cTn id="19" dur="500" fill="hold"/>
                                        <p:tgtEl>
                                          <p:spTgt spid="61337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337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379"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03" name="Rectangle 3">
            <a:extLst>
              <a:ext uri="{FF2B5EF4-FFF2-40B4-BE49-F238E27FC236}">
                <a16:creationId xmlns:a16="http://schemas.microsoft.com/office/drawing/2014/main" id="{B549CC76-2008-8FA2-4CCF-24BD63533310}"/>
              </a:ext>
            </a:extLst>
          </p:cNvPr>
          <p:cNvSpPr>
            <a:spLocks noGrp="1" noChangeArrowheads="1"/>
          </p:cNvSpPr>
          <p:nvPr>
            <p:ph type="body" idx="1"/>
          </p:nvPr>
        </p:nvSpPr>
        <p:spPr>
          <a:xfrm>
            <a:off x="1182688" y="1978496"/>
            <a:ext cx="7637784" cy="4114800"/>
          </a:xfrm>
        </p:spPr>
        <p:txBody>
          <a:bodyPr/>
          <a:lstStyle/>
          <a:p>
            <a:pPr algn="just" eaLnBrk="1" hangingPunct="1">
              <a:lnSpc>
                <a:spcPct val="150000"/>
              </a:lnSpc>
            </a:pPr>
            <a:r>
              <a:rPr lang="zh-CN" altLang="en-US" sz="2000"/>
              <a:t>由于数组的开始地址与数组首元素的地址相同，</a:t>
            </a:r>
            <a:r>
              <a:rPr lang="en-US" altLang="zh-CN" sz="2000">
                <a:solidFill>
                  <a:srgbClr val="0066FF"/>
                </a:solidFill>
              </a:rPr>
              <a:t>a+i</a:t>
            </a:r>
            <a:r>
              <a:rPr lang="zh-CN" altLang="en-US" sz="2000">
                <a:solidFill>
                  <a:srgbClr val="0066FF"/>
                </a:solidFill>
              </a:rPr>
              <a:t>与</a:t>
            </a:r>
            <a:r>
              <a:rPr lang="en-US" altLang="zh-CN" sz="2000">
                <a:solidFill>
                  <a:srgbClr val="0066FF"/>
                </a:solidFill>
              </a:rPr>
              <a:t>a[i]</a:t>
            </a:r>
            <a:r>
              <a:rPr lang="zh-CN" altLang="en-US" sz="2000"/>
              <a:t>应有相同的值，但它们的意义不同。</a:t>
            </a:r>
            <a:endParaRPr lang="en-US" altLang="zh-CN" sz="2000"/>
          </a:p>
          <a:p>
            <a:pPr lvl="1" algn="just" eaLnBrk="1" hangingPunct="1">
              <a:lnSpc>
                <a:spcPct val="150000"/>
              </a:lnSpc>
            </a:pPr>
            <a:r>
              <a:rPr lang="en-US" altLang="zh-CN" sz="1600"/>
              <a:t>a+i</a:t>
            </a:r>
            <a:r>
              <a:rPr lang="zh-CN" altLang="en-US" sz="1600"/>
              <a:t> 表示用</a:t>
            </a:r>
            <a:r>
              <a:rPr lang="en-US" altLang="zh-CN" sz="1600"/>
              <a:t>a[i]</a:t>
            </a:r>
            <a:r>
              <a:rPr lang="zh-CN" altLang="en-US" sz="1600"/>
              <a:t>表示的一维数组的首地址；</a:t>
            </a:r>
            <a:endParaRPr lang="en-US" altLang="zh-CN" sz="1600"/>
          </a:p>
          <a:p>
            <a:pPr lvl="1" algn="just" eaLnBrk="1" hangingPunct="1">
              <a:lnSpc>
                <a:spcPct val="150000"/>
              </a:lnSpc>
            </a:pPr>
            <a:r>
              <a:rPr lang="en-US" altLang="zh-CN" sz="1600"/>
              <a:t>a[i]</a:t>
            </a:r>
            <a:r>
              <a:rPr lang="zh-CN" altLang="en-US" sz="1600"/>
              <a:t> 表示用</a:t>
            </a:r>
            <a:r>
              <a:rPr lang="en-US" altLang="zh-CN" sz="1600"/>
              <a:t>a[i]</a:t>
            </a:r>
            <a:r>
              <a:rPr lang="zh-CN" altLang="en-US" sz="1600"/>
              <a:t>表示的一维数组的首元素</a:t>
            </a:r>
            <a:r>
              <a:rPr lang="en-US" altLang="zh-CN" sz="1600"/>
              <a:t>a[i][0]</a:t>
            </a:r>
            <a:r>
              <a:rPr lang="zh-CN" altLang="en-US" sz="1600"/>
              <a:t>的地址。</a:t>
            </a:r>
            <a:endParaRPr lang="en-US" altLang="zh-CN" sz="1600"/>
          </a:p>
          <a:p>
            <a:pPr algn="just" eaLnBrk="1" hangingPunct="1">
              <a:lnSpc>
                <a:spcPct val="150000"/>
              </a:lnSpc>
            </a:pPr>
            <a:r>
              <a:rPr lang="zh-CN" altLang="en-US" sz="2000"/>
              <a:t>另外，</a:t>
            </a:r>
            <a:r>
              <a:rPr lang="zh-CN" altLang="en-US" sz="2000" u="sng"/>
              <a:t>因</a:t>
            </a:r>
            <a:r>
              <a:rPr lang="en-US" altLang="zh-CN" sz="2000" u="sng"/>
              <a:t>a[i]</a:t>
            </a:r>
            <a:r>
              <a:rPr lang="zh-CN" altLang="en-US" sz="2000" u="sng"/>
              <a:t>可写成*</a:t>
            </a:r>
            <a:r>
              <a:rPr lang="en-US" altLang="zh-CN" sz="2000" u="sng"/>
              <a:t>(a+i)</a:t>
            </a:r>
            <a:r>
              <a:rPr lang="zh-CN" altLang="en-US" sz="2000"/>
              <a:t>，所以</a:t>
            </a:r>
            <a:r>
              <a:rPr lang="en-US" altLang="zh-CN" sz="2000">
                <a:solidFill>
                  <a:srgbClr val="0066FF"/>
                </a:solidFill>
              </a:rPr>
              <a:t>a+i </a:t>
            </a:r>
            <a:r>
              <a:rPr lang="zh-CN" altLang="en-US" sz="2000">
                <a:solidFill>
                  <a:srgbClr val="0066FF"/>
                </a:solidFill>
              </a:rPr>
              <a:t>与*</a:t>
            </a:r>
            <a:r>
              <a:rPr lang="en-US" altLang="zh-CN" sz="2000">
                <a:solidFill>
                  <a:srgbClr val="0066FF"/>
                </a:solidFill>
              </a:rPr>
              <a:t>(a+i) </a:t>
            </a:r>
            <a:r>
              <a:rPr lang="zh-CN" altLang="en-US" sz="2000"/>
              <a:t>也有不同意义，而值相等。</a:t>
            </a:r>
            <a:endParaRPr lang="en-US" altLang="zh-CN" sz="2000"/>
          </a:p>
          <a:p>
            <a:pPr lvl="1" algn="just" eaLnBrk="1" hangingPunct="1">
              <a:lnSpc>
                <a:spcPct val="150000"/>
              </a:lnSpc>
            </a:pPr>
            <a:r>
              <a:rPr lang="en-US" altLang="zh-CN" sz="1600"/>
              <a:t>a[i]</a:t>
            </a:r>
            <a:r>
              <a:rPr lang="zh-CN" altLang="en-US" sz="1600"/>
              <a:t>或*</a:t>
            </a:r>
            <a:r>
              <a:rPr lang="en-US" altLang="zh-CN" sz="1600"/>
              <a:t>(a+i)</a:t>
            </a:r>
            <a:r>
              <a:rPr lang="zh-CN" altLang="en-US" sz="1600"/>
              <a:t>表示二维数组</a:t>
            </a:r>
            <a:r>
              <a:rPr lang="en-US" altLang="zh-CN" sz="1600"/>
              <a:t>a</a:t>
            </a:r>
            <a:r>
              <a:rPr lang="zh-CN" altLang="en-US" sz="1600"/>
              <a:t>的元素</a:t>
            </a:r>
            <a:r>
              <a:rPr lang="en-US" altLang="zh-CN" sz="1600"/>
              <a:t>a[i][0]</a:t>
            </a:r>
            <a:r>
              <a:rPr lang="zh-CN" altLang="en-US" sz="1600"/>
              <a:t>的地址，即</a:t>
            </a:r>
            <a:r>
              <a:rPr lang="en-US" altLang="zh-CN" sz="1600"/>
              <a:t>&amp;a[i][0]</a:t>
            </a:r>
            <a:r>
              <a:rPr lang="zh-CN" altLang="en-US" sz="1600"/>
              <a:t>。</a:t>
            </a:r>
          </a:p>
          <a:p>
            <a:pPr algn="just" eaLnBrk="1" hangingPunct="1">
              <a:lnSpc>
                <a:spcPct val="150000"/>
              </a:lnSpc>
            </a:pPr>
            <a:r>
              <a:rPr lang="en-US" altLang="zh-CN" sz="2000">
                <a:solidFill>
                  <a:srgbClr val="C00000"/>
                </a:solidFill>
              </a:rPr>
              <a:t>a+i</a:t>
            </a:r>
            <a:r>
              <a:rPr lang="zh-CN" altLang="en-US" sz="2000">
                <a:solidFill>
                  <a:srgbClr val="C00000"/>
                </a:solidFill>
              </a:rPr>
              <a:t>与</a:t>
            </a:r>
            <a:r>
              <a:rPr lang="en-US" altLang="zh-CN" sz="2000">
                <a:solidFill>
                  <a:srgbClr val="C00000"/>
                </a:solidFill>
              </a:rPr>
              <a:t>a[i]</a:t>
            </a:r>
            <a:r>
              <a:rPr lang="zh-CN" altLang="en-US" sz="2000">
                <a:solidFill>
                  <a:srgbClr val="C00000"/>
                </a:solidFill>
              </a:rPr>
              <a:t>的数据类型也不同</a:t>
            </a:r>
          </a:p>
          <a:p>
            <a:pPr algn="just" eaLnBrk="1" hangingPunct="1">
              <a:lnSpc>
                <a:spcPct val="150000"/>
              </a:lnSpc>
            </a:pPr>
            <a:r>
              <a:rPr lang="zh-CN" altLang="en-US" sz="2000">
                <a:solidFill>
                  <a:srgbClr val="0070C0"/>
                </a:solidFill>
              </a:rPr>
              <a:t>根据地址运算规则，</a:t>
            </a:r>
            <a:r>
              <a:rPr lang="en-US" altLang="zh-CN" sz="2000">
                <a:solidFill>
                  <a:srgbClr val="0070C0"/>
                </a:solidFill>
              </a:rPr>
              <a:t>a[i]+j</a:t>
            </a:r>
            <a:r>
              <a:rPr lang="zh-CN" altLang="en-US" sz="2000">
                <a:solidFill>
                  <a:srgbClr val="0070C0"/>
                </a:solidFill>
              </a:rPr>
              <a:t>即代表数组</a:t>
            </a:r>
            <a:r>
              <a:rPr lang="en-US" altLang="zh-CN" sz="2000">
                <a:solidFill>
                  <a:srgbClr val="0070C0"/>
                </a:solidFill>
              </a:rPr>
              <a:t>a</a:t>
            </a:r>
            <a:r>
              <a:rPr lang="zh-CN" altLang="en-US" sz="2000">
                <a:solidFill>
                  <a:srgbClr val="0070C0"/>
                </a:solidFill>
              </a:rPr>
              <a:t>的元素</a:t>
            </a:r>
            <a:r>
              <a:rPr lang="en-US" altLang="zh-CN" sz="2000">
                <a:solidFill>
                  <a:srgbClr val="0070C0"/>
                </a:solidFill>
              </a:rPr>
              <a:t>a[i][j]</a:t>
            </a:r>
            <a:r>
              <a:rPr lang="zh-CN" altLang="en-US" sz="2000">
                <a:solidFill>
                  <a:srgbClr val="0070C0"/>
                </a:solidFill>
              </a:rPr>
              <a:t>的地址，即</a:t>
            </a:r>
            <a:r>
              <a:rPr lang="en-US" altLang="zh-CN" sz="2000">
                <a:solidFill>
                  <a:srgbClr val="0070C0"/>
                </a:solidFill>
              </a:rPr>
              <a:t>&amp;a[i][j]</a:t>
            </a:r>
            <a:r>
              <a:rPr lang="zh-CN" altLang="en-US" sz="2000">
                <a:solidFill>
                  <a:srgbClr val="0070C0"/>
                </a:solidFill>
              </a:rPr>
              <a:t>。因</a:t>
            </a:r>
            <a:r>
              <a:rPr lang="en-US" altLang="zh-CN" sz="2000">
                <a:solidFill>
                  <a:srgbClr val="0070C0"/>
                </a:solidFill>
              </a:rPr>
              <a:t>a[i]</a:t>
            </a:r>
            <a:r>
              <a:rPr lang="zh-CN" altLang="en-US" sz="2000">
                <a:solidFill>
                  <a:srgbClr val="0070C0"/>
                </a:solidFill>
              </a:rPr>
              <a:t>与 *</a:t>
            </a:r>
            <a:r>
              <a:rPr lang="en-US" altLang="zh-CN" sz="2000">
                <a:solidFill>
                  <a:srgbClr val="0070C0"/>
                </a:solidFill>
              </a:rPr>
              <a:t>(a+i)</a:t>
            </a:r>
            <a:r>
              <a:rPr lang="zh-CN" altLang="en-US" sz="2000">
                <a:solidFill>
                  <a:srgbClr val="0070C0"/>
                </a:solidFill>
              </a:rPr>
              <a:t>等价，所以*</a:t>
            </a:r>
            <a:r>
              <a:rPr lang="en-US" altLang="zh-CN" sz="2000">
                <a:solidFill>
                  <a:srgbClr val="0070C0"/>
                </a:solidFill>
              </a:rPr>
              <a:t>(a+i)+j</a:t>
            </a:r>
            <a:r>
              <a:rPr lang="zh-CN" altLang="en-US" sz="2000">
                <a:solidFill>
                  <a:srgbClr val="0070C0"/>
                </a:solidFill>
              </a:rPr>
              <a:t>也与</a:t>
            </a:r>
            <a:r>
              <a:rPr lang="en-US" altLang="zh-CN" sz="2000">
                <a:solidFill>
                  <a:srgbClr val="0070C0"/>
                </a:solidFill>
              </a:rPr>
              <a:t>&amp;a[i][j]</a:t>
            </a:r>
            <a:r>
              <a:rPr lang="zh-CN" altLang="en-US" sz="2000">
                <a:solidFill>
                  <a:srgbClr val="0070C0"/>
                </a:solidFill>
              </a:rPr>
              <a:t>等价。</a:t>
            </a:r>
          </a:p>
        </p:txBody>
      </p:sp>
      <p:sp>
        <p:nvSpPr>
          <p:cNvPr id="3" name="Rectangle 2">
            <a:extLst>
              <a:ext uri="{FF2B5EF4-FFF2-40B4-BE49-F238E27FC236}">
                <a16:creationId xmlns:a16="http://schemas.microsoft.com/office/drawing/2014/main" id="{F6505C2E-4967-7BBE-600A-E29720099079}"/>
              </a:ext>
            </a:extLst>
          </p:cNvPr>
          <p:cNvSpPr>
            <a:spLocks noGrp="1" noChangeArrowheads="1"/>
          </p:cNvSpPr>
          <p:nvPr>
            <p:ph type="title"/>
          </p:nvPr>
        </p:nvSpPr>
        <p:spPr/>
        <p:txBody>
          <a:bodyPr/>
          <a:lstStyle/>
          <a:p>
            <a:pPr eaLnBrk="1" hangingPunct="1"/>
            <a:r>
              <a:rPr lang="zh-CN" altLang="en-US" sz="4000"/>
              <a:t>多维数组作为形参</a:t>
            </a:r>
            <a:br>
              <a:rPr lang="en-US" altLang="zh-CN" sz="4000"/>
            </a:br>
            <a:r>
              <a:rPr lang="en-US" altLang="zh-CN" sz="3200"/>
              <a:t>——</a:t>
            </a:r>
            <a:r>
              <a:rPr lang="zh-CN" altLang="en-US" sz="3200"/>
              <a:t>二维数组和指针</a:t>
            </a:r>
          </a:p>
        </p:txBody>
      </p:sp>
    </p:spTree>
    <p:extLst>
      <p:ext uri="{BB962C8B-B14F-4D97-AF65-F5344CB8AC3E}">
        <p14:creationId xmlns:p14="http://schemas.microsoft.com/office/powerpoint/2010/main" val="4788444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403">
                                            <p:txEl>
                                              <p:pRg st="0" end="0"/>
                                            </p:txEl>
                                          </p:spTgt>
                                        </p:tgtEl>
                                        <p:attrNameLst>
                                          <p:attrName>style.visibility</p:attrName>
                                        </p:attrNameLst>
                                      </p:cBhvr>
                                      <p:to>
                                        <p:strVal val="visible"/>
                                      </p:to>
                                    </p:set>
                                    <p:anim calcmode="lin" valueType="num">
                                      <p:cBhvr additive="base">
                                        <p:cTn id="7" dur="500" fill="hold"/>
                                        <p:tgtEl>
                                          <p:spTgt spid="6144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440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614403">
                                            <p:txEl>
                                              <p:pRg st="1" end="1"/>
                                            </p:txEl>
                                          </p:spTgt>
                                        </p:tgtEl>
                                        <p:attrNameLst>
                                          <p:attrName>style.visibility</p:attrName>
                                        </p:attrNameLst>
                                      </p:cBhvr>
                                      <p:to>
                                        <p:strVal val="visible"/>
                                      </p:to>
                                    </p:set>
                                    <p:anim calcmode="lin" valueType="num">
                                      <p:cBhvr additive="base">
                                        <p:cTn id="11" dur="500" fill="hold"/>
                                        <p:tgtEl>
                                          <p:spTgt spid="61440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1440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614403">
                                            <p:txEl>
                                              <p:pRg st="2" end="2"/>
                                            </p:txEl>
                                          </p:spTgt>
                                        </p:tgtEl>
                                        <p:attrNameLst>
                                          <p:attrName>style.visibility</p:attrName>
                                        </p:attrNameLst>
                                      </p:cBhvr>
                                      <p:to>
                                        <p:strVal val="visible"/>
                                      </p:to>
                                    </p:set>
                                    <p:anim calcmode="lin" valueType="num">
                                      <p:cBhvr additive="base">
                                        <p:cTn id="15" dur="500" fill="hold"/>
                                        <p:tgtEl>
                                          <p:spTgt spid="61440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1440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614403">
                                            <p:txEl>
                                              <p:pRg st="3" end="3"/>
                                            </p:txEl>
                                          </p:spTgt>
                                        </p:tgtEl>
                                        <p:attrNameLst>
                                          <p:attrName>style.visibility</p:attrName>
                                        </p:attrNameLst>
                                      </p:cBhvr>
                                      <p:to>
                                        <p:strVal val="visible"/>
                                      </p:to>
                                    </p:set>
                                    <p:anim calcmode="lin" valueType="num">
                                      <p:cBhvr additive="base">
                                        <p:cTn id="21" dur="500" fill="hold"/>
                                        <p:tgtEl>
                                          <p:spTgt spid="61440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1440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whoosh.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614403">
                                            <p:txEl>
                                              <p:pRg st="4" end="4"/>
                                            </p:txEl>
                                          </p:spTgt>
                                        </p:tgtEl>
                                        <p:attrNameLst>
                                          <p:attrName>style.visibility</p:attrName>
                                        </p:attrNameLst>
                                      </p:cBhvr>
                                      <p:to>
                                        <p:strVal val="visible"/>
                                      </p:to>
                                    </p:set>
                                    <p:anim calcmode="lin" valueType="num">
                                      <p:cBhvr additive="base">
                                        <p:cTn id="25" dur="500" fill="hold"/>
                                        <p:tgtEl>
                                          <p:spTgt spid="61440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440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14403">
                                            <p:txEl>
                                              <p:pRg st="5" end="5"/>
                                            </p:txEl>
                                          </p:spTgt>
                                        </p:tgtEl>
                                        <p:attrNameLst>
                                          <p:attrName>style.visibility</p:attrName>
                                        </p:attrNameLst>
                                      </p:cBhvr>
                                      <p:to>
                                        <p:strVal val="visible"/>
                                      </p:to>
                                    </p:set>
                                    <p:anim calcmode="lin" valueType="num">
                                      <p:cBhvr additive="base">
                                        <p:cTn id="31" dur="500" fill="hold"/>
                                        <p:tgtEl>
                                          <p:spTgt spid="61440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14403">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14403">
                                            <p:txEl>
                                              <p:pRg st="6" end="6"/>
                                            </p:txEl>
                                          </p:spTgt>
                                        </p:tgtEl>
                                        <p:attrNameLst>
                                          <p:attrName>style.visibility</p:attrName>
                                        </p:attrNameLst>
                                      </p:cBhvr>
                                      <p:to>
                                        <p:strVal val="visible"/>
                                      </p:to>
                                    </p:set>
                                    <p:anim calcmode="lin" valueType="num">
                                      <p:cBhvr additive="base">
                                        <p:cTn id="37" dur="500" fill="hold"/>
                                        <p:tgtEl>
                                          <p:spTgt spid="61440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14403">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03"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1F435BB0-C9D1-2BE5-DC53-E38142A2382E}"/>
              </a:ext>
            </a:extLst>
          </p:cNvPr>
          <p:cNvSpPr>
            <a:spLocks noGrp="1" noChangeArrowheads="1"/>
          </p:cNvSpPr>
          <p:nvPr>
            <p:ph type="title"/>
          </p:nvPr>
        </p:nvSpPr>
        <p:spPr/>
        <p:txBody>
          <a:bodyPr/>
          <a:lstStyle/>
          <a:p>
            <a:pPr eaLnBrk="1" hangingPunct="1"/>
            <a:r>
              <a:rPr lang="zh-CN" altLang="en-US" sz="4000"/>
              <a:t>多维数组作为形参</a:t>
            </a:r>
            <a:br>
              <a:rPr lang="en-US" altLang="zh-CN" sz="4000"/>
            </a:br>
            <a:r>
              <a:rPr lang="en-US" altLang="zh-CN" sz="4000"/>
              <a:t>——</a:t>
            </a:r>
            <a:r>
              <a:rPr lang="zh-CN" altLang="en-US" sz="3200"/>
              <a:t>二维数组元素的多种表示方法</a:t>
            </a:r>
          </a:p>
        </p:txBody>
      </p:sp>
      <p:sp>
        <p:nvSpPr>
          <p:cNvPr id="615427" name="Rectangle 3">
            <a:extLst>
              <a:ext uri="{FF2B5EF4-FFF2-40B4-BE49-F238E27FC236}">
                <a16:creationId xmlns:a16="http://schemas.microsoft.com/office/drawing/2014/main" id="{67713734-2447-217D-8761-CA52E6F8C22F}"/>
              </a:ext>
            </a:extLst>
          </p:cNvPr>
          <p:cNvSpPr>
            <a:spLocks noGrp="1" noChangeArrowheads="1"/>
          </p:cNvSpPr>
          <p:nvPr>
            <p:ph type="body" idx="1"/>
          </p:nvPr>
        </p:nvSpPr>
        <p:spPr>
          <a:xfrm>
            <a:off x="1182688" y="2017713"/>
            <a:ext cx="7349752" cy="4114800"/>
          </a:xfrm>
        </p:spPr>
        <p:txBody>
          <a:bodyPr/>
          <a:lstStyle/>
          <a:p>
            <a:pPr algn="just" eaLnBrk="1" hangingPunct="1">
              <a:lnSpc>
                <a:spcPct val="150000"/>
              </a:lnSpc>
            </a:pPr>
            <a:r>
              <a:rPr lang="zh-CN" altLang="en-US" sz="2400"/>
              <a:t>数组元素</a:t>
            </a:r>
            <a:r>
              <a:rPr lang="en-US" altLang="zh-CN" sz="2400"/>
              <a:t>a[i][j]</a:t>
            </a:r>
            <a:r>
              <a:rPr lang="zh-CN" altLang="en-US" sz="2400"/>
              <a:t>有以下</a:t>
            </a:r>
            <a:r>
              <a:rPr lang="zh-CN" altLang="en-US" sz="2400">
                <a:solidFill>
                  <a:srgbClr val="0066FF"/>
                </a:solidFill>
              </a:rPr>
              <a:t>三种等价表示形式</a:t>
            </a:r>
            <a:r>
              <a:rPr lang="zh-CN" altLang="en-US" sz="2400"/>
              <a:t>：</a:t>
            </a:r>
          </a:p>
          <a:p>
            <a:pPr lvl="1" algn="just" eaLnBrk="1" hangingPunct="1">
              <a:lnSpc>
                <a:spcPct val="150000"/>
              </a:lnSpc>
            </a:pPr>
            <a:r>
              <a:rPr lang="zh-CN" altLang="en-US" sz="2000"/>
              <a:t>*</a:t>
            </a:r>
            <a:r>
              <a:rPr lang="en-US" altLang="zh-CN" sz="2000"/>
              <a:t>(a[i]+j)</a:t>
            </a:r>
            <a:r>
              <a:rPr lang="zh-CN" altLang="en-US" sz="2000"/>
              <a:t>、  *</a:t>
            </a:r>
            <a:r>
              <a:rPr lang="en-US" altLang="zh-CN" sz="2000"/>
              <a:t>(*(a+i)+j)</a:t>
            </a:r>
            <a:r>
              <a:rPr lang="zh-CN" altLang="en-US" sz="2000"/>
              <a:t>、   </a:t>
            </a:r>
            <a:r>
              <a:rPr lang="en-US" altLang="zh-CN" sz="2000"/>
              <a:t>(*(a+i))[j]</a:t>
            </a:r>
            <a:endParaRPr lang="zh-CN" altLang="en-US" sz="2000"/>
          </a:p>
          <a:p>
            <a:pPr algn="just" eaLnBrk="1" hangingPunct="1">
              <a:lnSpc>
                <a:spcPct val="150000"/>
              </a:lnSpc>
            </a:pPr>
            <a:r>
              <a:rPr lang="en-US" altLang="zh-CN" sz="2400"/>
              <a:t>a[0][0]</a:t>
            </a:r>
            <a:r>
              <a:rPr lang="zh-CN" altLang="en-US" sz="2400"/>
              <a:t>，它的等价表示形式有 *</a:t>
            </a:r>
            <a:r>
              <a:rPr lang="en-US" altLang="zh-CN" sz="2400"/>
              <a:t>a[0] </a:t>
            </a:r>
            <a:r>
              <a:rPr lang="zh-CN" altLang="en-US" sz="2400"/>
              <a:t>和 **</a:t>
            </a:r>
            <a:r>
              <a:rPr lang="en-US" altLang="zh-CN" sz="2400"/>
              <a:t>a </a:t>
            </a:r>
            <a:r>
              <a:rPr lang="zh-CN" altLang="en-US" sz="2400"/>
              <a:t>。</a:t>
            </a:r>
          </a:p>
          <a:p>
            <a:pPr algn="just" eaLnBrk="1" hangingPunct="1">
              <a:lnSpc>
                <a:spcPct val="150000"/>
              </a:lnSpc>
            </a:pPr>
            <a:r>
              <a:rPr lang="zh-CN" altLang="en-US" sz="2400"/>
              <a:t>数组元素</a:t>
            </a:r>
            <a:r>
              <a:rPr lang="en-US" altLang="zh-CN" sz="2400"/>
              <a:t>a[i][j]</a:t>
            </a:r>
            <a:r>
              <a:rPr lang="zh-CN" altLang="en-US" sz="2400" u="sng"/>
              <a:t>的地址</a:t>
            </a:r>
            <a:r>
              <a:rPr lang="zh-CN" altLang="en-US" sz="2400"/>
              <a:t>也有</a:t>
            </a:r>
            <a:r>
              <a:rPr lang="zh-CN" altLang="en-US" sz="2400">
                <a:solidFill>
                  <a:srgbClr val="0066FF"/>
                </a:solidFill>
              </a:rPr>
              <a:t>三种等价表示形式</a:t>
            </a:r>
            <a:r>
              <a:rPr lang="zh-CN" altLang="en-US" sz="2400"/>
              <a:t>：</a:t>
            </a:r>
          </a:p>
          <a:p>
            <a:pPr lvl="1" algn="just" eaLnBrk="1" hangingPunct="1">
              <a:lnSpc>
                <a:spcPct val="150000"/>
              </a:lnSpc>
            </a:pPr>
            <a:r>
              <a:rPr lang="en-US" altLang="zh-CN" sz="2000"/>
              <a:t>a[i]+j</a:t>
            </a:r>
            <a:r>
              <a:rPr lang="zh-CN" altLang="en-US" sz="2000"/>
              <a:t>、*</a:t>
            </a:r>
            <a:r>
              <a:rPr lang="en-US" altLang="zh-CN" sz="2000"/>
              <a:t>(a+i)+j</a:t>
            </a:r>
            <a:r>
              <a:rPr lang="zh-CN" altLang="en-US" sz="2000"/>
              <a:t>、</a:t>
            </a:r>
            <a:r>
              <a:rPr lang="en-US" altLang="zh-CN" sz="2000"/>
              <a:t>&amp;a[i][j]</a:t>
            </a:r>
            <a:endParaRPr lang="zh-CN" altLang="en-US" sz="2000"/>
          </a:p>
        </p:txBody>
      </p:sp>
    </p:spTree>
    <p:extLst>
      <p:ext uri="{BB962C8B-B14F-4D97-AF65-F5344CB8AC3E}">
        <p14:creationId xmlns:p14="http://schemas.microsoft.com/office/powerpoint/2010/main" val="9778180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5427">
                                            <p:txEl>
                                              <p:pRg st="0" end="0"/>
                                            </p:txEl>
                                          </p:spTgt>
                                        </p:tgtEl>
                                        <p:attrNameLst>
                                          <p:attrName>style.visibility</p:attrName>
                                        </p:attrNameLst>
                                      </p:cBhvr>
                                      <p:to>
                                        <p:strVal val="visible"/>
                                      </p:to>
                                    </p:set>
                                    <p:anim calcmode="lin" valueType="num">
                                      <p:cBhvr additive="base">
                                        <p:cTn id="7" dur="500" fill="hold"/>
                                        <p:tgtEl>
                                          <p:spTgt spid="615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542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615427">
                                            <p:txEl>
                                              <p:pRg st="1" end="1"/>
                                            </p:txEl>
                                          </p:spTgt>
                                        </p:tgtEl>
                                        <p:attrNameLst>
                                          <p:attrName>style.visibility</p:attrName>
                                        </p:attrNameLst>
                                      </p:cBhvr>
                                      <p:to>
                                        <p:strVal val="visible"/>
                                      </p:to>
                                    </p:set>
                                    <p:anim calcmode="lin" valueType="num">
                                      <p:cBhvr additive="base">
                                        <p:cTn id="11" dur="500" fill="hold"/>
                                        <p:tgtEl>
                                          <p:spTgt spid="61542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1542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15427">
                                            <p:txEl>
                                              <p:pRg st="2" end="2"/>
                                            </p:txEl>
                                          </p:spTgt>
                                        </p:tgtEl>
                                        <p:attrNameLst>
                                          <p:attrName>style.visibility</p:attrName>
                                        </p:attrNameLst>
                                      </p:cBhvr>
                                      <p:to>
                                        <p:strVal val="visible"/>
                                      </p:to>
                                    </p:set>
                                    <p:anim calcmode="lin" valueType="num">
                                      <p:cBhvr additive="base">
                                        <p:cTn id="17" dur="500" fill="hold"/>
                                        <p:tgtEl>
                                          <p:spTgt spid="61542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1542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15427">
                                            <p:txEl>
                                              <p:pRg st="3" end="3"/>
                                            </p:txEl>
                                          </p:spTgt>
                                        </p:tgtEl>
                                        <p:attrNameLst>
                                          <p:attrName>style.visibility</p:attrName>
                                        </p:attrNameLst>
                                      </p:cBhvr>
                                      <p:to>
                                        <p:strVal val="visible"/>
                                      </p:to>
                                    </p:set>
                                    <p:anim calcmode="lin" valueType="num">
                                      <p:cBhvr additive="base">
                                        <p:cTn id="23" dur="500" fill="hold"/>
                                        <p:tgtEl>
                                          <p:spTgt spid="615427">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1542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615427">
                                            <p:txEl>
                                              <p:pRg st="4" end="4"/>
                                            </p:txEl>
                                          </p:spTgt>
                                        </p:tgtEl>
                                        <p:attrNameLst>
                                          <p:attrName>style.visibility</p:attrName>
                                        </p:attrNameLst>
                                      </p:cBhvr>
                                      <p:to>
                                        <p:strVal val="visible"/>
                                      </p:to>
                                    </p:set>
                                    <p:anim calcmode="lin" valueType="num">
                                      <p:cBhvr additive="base">
                                        <p:cTn id="27" dur="500" fill="hold"/>
                                        <p:tgtEl>
                                          <p:spTgt spid="615427">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1542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27"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9A7CF010-295B-16AC-EE81-17F18B15BF57}"/>
              </a:ext>
            </a:extLst>
          </p:cNvPr>
          <p:cNvSpPr>
            <a:spLocks noGrp="1" noChangeArrowheads="1"/>
          </p:cNvSpPr>
          <p:nvPr>
            <p:ph type="title"/>
          </p:nvPr>
        </p:nvSpPr>
        <p:spPr/>
        <p:txBody>
          <a:bodyPr/>
          <a:lstStyle/>
          <a:p>
            <a:pPr eaLnBrk="1" hangingPunct="1"/>
            <a:r>
              <a:rPr lang="zh-CN" altLang="en-US" sz="4000"/>
              <a:t>多维数组作为形参</a:t>
            </a:r>
            <a:br>
              <a:rPr lang="en-US" altLang="zh-CN"/>
            </a:br>
            <a:r>
              <a:rPr lang="en-US" altLang="zh-CN" sz="3200"/>
              <a:t>——</a:t>
            </a:r>
            <a:r>
              <a:rPr lang="zh-CN" altLang="en-US" sz="3200"/>
              <a:t>指向数组的指针</a:t>
            </a:r>
          </a:p>
        </p:txBody>
      </p:sp>
      <p:sp>
        <p:nvSpPr>
          <p:cNvPr id="616451" name="Rectangle 3">
            <a:extLst>
              <a:ext uri="{FF2B5EF4-FFF2-40B4-BE49-F238E27FC236}">
                <a16:creationId xmlns:a16="http://schemas.microsoft.com/office/drawing/2014/main" id="{9EAAD3C6-8789-D9F0-E580-53CA15AFF2C7}"/>
              </a:ext>
            </a:extLst>
          </p:cNvPr>
          <p:cNvSpPr>
            <a:spLocks noGrp="1" noChangeArrowheads="1"/>
          </p:cNvSpPr>
          <p:nvPr>
            <p:ph type="body" idx="1"/>
          </p:nvPr>
        </p:nvSpPr>
        <p:spPr/>
        <p:txBody>
          <a:bodyPr/>
          <a:lstStyle/>
          <a:p>
            <a:pPr eaLnBrk="1" hangingPunct="1">
              <a:lnSpc>
                <a:spcPct val="130000"/>
              </a:lnSpc>
              <a:spcAft>
                <a:spcPts val="600"/>
              </a:spcAft>
            </a:pPr>
            <a:r>
              <a:rPr lang="zh-CN" altLang="en-US" sz="2000"/>
              <a:t>定义指向数组的指针变量。如代码</a:t>
            </a:r>
          </a:p>
          <a:p>
            <a:pPr lvl="1" eaLnBrk="1" hangingPunct="1">
              <a:lnSpc>
                <a:spcPct val="130000"/>
              </a:lnSpc>
              <a:spcAft>
                <a:spcPts val="600"/>
              </a:spcAft>
            </a:pPr>
            <a:r>
              <a:rPr lang="en-US" altLang="zh-CN" sz="1800"/>
              <a:t>int  (*p)[4];</a:t>
            </a:r>
          </a:p>
          <a:p>
            <a:pPr lvl="1" eaLnBrk="1" hangingPunct="1">
              <a:lnSpc>
                <a:spcPct val="130000"/>
              </a:lnSpc>
              <a:spcAft>
                <a:spcPts val="600"/>
              </a:spcAft>
            </a:pPr>
            <a:r>
              <a:rPr lang="zh-CN" altLang="en-US" sz="1600"/>
              <a:t>定义指针变量</a:t>
            </a:r>
            <a:r>
              <a:rPr lang="en-US" altLang="zh-CN" sz="1600"/>
              <a:t>p</a:t>
            </a:r>
            <a:r>
              <a:rPr lang="zh-CN" altLang="en-US" sz="1600"/>
              <a:t>能指向一个由四个</a:t>
            </a:r>
            <a:r>
              <a:rPr lang="en-US" altLang="zh-CN" sz="1600"/>
              <a:t>int</a:t>
            </a:r>
            <a:r>
              <a:rPr lang="zh-CN" altLang="en-US" sz="1600"/>
              <a:t>型元素组成的数组。</a:t>
            </a:r>
          </a:p>
          <a:p>
            <a:pPr eaLnBrk="1" hangingPunct="1">
              <a:lnSpc>
                <a:spcPct val="130000"/>
              </a:lnSpc>
              <a:spcAft>
                <a:spcPts val="600"/>
              </a:spcAft>
            </a:pPr>
            <a:r>
              <a:rPr lang="zh-CN" altLang="en-US" sz="2000"/>
              <a:t>在以上定义中，</a:t>
            </a:r>
            <a:r>
              <a:rPr lang="zh-CN" altLang="en-US" sz="2000">
                <a:solidFill>
                  <a:srgbClr val="C00000"/>
                </a:solidFill>
              </a:rPr>
              <a:t>圆括号是必需的， 否则</a:t>
            </a:r>
            <a:r>
              <a:rPr lang="zh-CN" altLang="en-US" sz="2000"/>
              <a:t>，</a:t>
            </a:r>
          </a:p>
          <a:p>
            <a:pPr lvl="1" eaLnBrk="1" hangingPunct="1">
              <a:lnSpc>
                <a:spcPct val="130000"/>
              </a:lnSpc>
              <a:spcAft>
                <a:spcPts val="600"/>
              </a:spcAft>
            </a:pPr>
            <a:r>
              <a:rPr lang="en-US" altLang="zh-CN" sz="1800"/>
              <a:t>int *p[4];</a:t>
            </a:r>
          </a:p>
          <a:p>
            <a:pPr lvl="1" eaLnBrk="1" hangingPunct="1">
              <a:lnSpc>
                <a:spcPct val="130000"/>
              </a:lnSpc>
              <a:spcAft>
                <a:spcPts val="600"/>
              </a:spcAft>
            </a:pPr>
            <a:r>
              <a:rPr lang="zh-CN" altLang="en-US" sz="1800"/>
              <a:t>定义为一个指针数组</a:t>
            </a:r>
            <a:r>
              <a:rPr lang="en-US" altLang="zh-CN" sz="1800"/>
              <a:t>p</a:t>
            </a:r>
            <a:r>
              <a:rPr lang="zh-CN" altLang="en-US" sz="1800"/>
              <a:t>，即</a:t>
            </a:r>
            <a:r>
              <a:rPr lang="en-US" altLang="zh-CN" sz="1800"/>
              <a:t>p</a:t>
            </a:r>
            <a:r>
              <a:rPr lang="zh-CN" altLang="en-US" sz="1800"/>
              <a:t>有四个元素，每个元素是一个指向整型变量的指针。</a:t>
            </a:r>
            <a:endParaRPr lang="en-US" altLang="zh-CN" sz="1800"/>
          </a:p>
          <a:p>
            <a:pPr eaLnBrk="1" hangingPunct="1">
              <a:lnSpc>
                <a:spcPct val="130000"/>
              </a:lnSpc>
              <a:spcAft>
                <a:spcPts val="600"/>
              </a:spcAft>
            </a:pPr>
            <a:r>
              <a:rPr lang="zh-CN" altLang="en-US" sz="2000" b="1"/>
              <a:t>多维数组的处理</a:t>
            </a:r>
            <a:r>
              <a:rPr lang="zh-CN" altLang="en-US" sz="2000"/>
              <a:t>：指向数组的指针在处理多维数组时非常有用，特别是当需要传递整个数组到函数时，指向数组的指针可以更明确表达数组的维度。</a:t>
            </a:r>
          </a:p>
        </p:txBody>
      </p:sp>
    </p:spTree>
    <p:extLst>
      <p:ext uri="{BB962C8B-B14F-4D97-AF65-F5344CB8AC3E}">
        <p14:creationId xmlns:p14="http://schemas.microsoft.com/office/powerpoint/2010/main" val="8969613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6451">
                                            <p:txEl>
                                              <p:pRg st="0" end="0"/>
                                            </p:txEl>
                                          </p:spTgt>
                                        </p:tgtEl>
                                        <p:attrNameLst>
                                          <p:attrName>style.visibility</p:attrName>
                                        </p:attrNameLst>
                                      </p:cBhvr>
                                      <p:to>
                                        <p:strVal val="visible"/>
                                      </p:to>
                                    </p:set>
                                    <p:anim calcmode="lin" valueType="num">
                                      <p:cBhvr additive="base">
                                        <p:cTn id="7" dur="500" fill="hold"/>
                                        <p:tgtEl>
                                          <p:spTgt spid="6164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6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616451">
                                            <p:txEl>
                                              <p:pRg st="1" end="1"/>
                                            </p:txEl>
                                          </p:spTgt>
                                        </p:tgtEl>
                                        <p:attrNameLst>
                                          <p:attrName>style.visibility</p:attrName>
                                        </p:attrNameLst>
                                      </p:cBhvr>
                                      <p:to>
                                        <p:strVal val="visible"/>
                                      </p:to>
                                    </p:set>
                                    <p:anim calcmode="lin" valueType="num">
                                      <p:cBhvr additive="base">
                                        <p:cTn id="11" dur="500" fill="hold"/>
                                        <p:tgtEl>
                                          <p:spTgt spid="61645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16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616451">
                                            <p:txEl>
                                              <p:pRg st="2" end="2"/>
                                            </p:txEl>
                                          </p:spTgt>
                                        </p:tgtEl>
                                        <p:attrNameLst>
                                          <p:attrName>style.visibility</p:attrName>
                                        </p:attrNameLst>
                                      </p:cBhvr>
                                      <p:to>
                                        <p:strVal val="visible"/>
                                      </p:to>
                                    </p:set>
                                    <p:anim calcmode="lin" valueType="num">
                                      <p:cBhvr additive="base">
                                        <p:cTn id="15" dur="500" fill="hold"/>
                                        <p:tgtEl>
                                          <p:spTgt spid="61645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164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616451">
                                            <p:txEl>
                                              <p:pRg st="3" end="3"/>
                                            </p:txEl>
                                          </p:spTgt>
                                        </p:tgtEl>
                                        <p:attrNameLst>
                                          <p:attrName>style.visibility</p:attrName>
                                        </p:attrNameLst>
                                      </p:cBhvr>
                                      <p:to>
                                        <p:strVal val="visible"/>
                                      </p:to>
                                    </p:set>
                                    <p:anim calcmode="lin" valueType="num">
                                      <p:cBhvr additive="base">
                                        <p:cTn id="21" dur="500" fill="hold"/>
                                        <p:tgtEl>
                                          <p:spTgt spid="616451">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164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whoosh.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616451">
                                            <p:txEl>
                                              <p:pRg st="4" end="4"/>
                                            </p:txEl>
                                          </p:spTgt>
                                        </p:tgtEl>
                                        <p:attrNameLst>
                                          <p:attrName>style.visibility</p:attrName>
                                        </p:attrNameLst>
                                      </p:cBhvr>
                                      <p:to>
                                        <p:strVal val="visible"/>
                                      </p:to>
                                    </p:set>
                                    <p:anim calcmode="lin" valueType="num">
                                      <p:cBhvr additive="base">
                                        <p:cTn id="25" dur="500" fill="hold"/>
                                        <p:tgtEl>
                                          <p:spTgt spid="61645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64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par>
                                <p:cTn id="27" presetID="2" presetClass="entr" presetSubtype="8" fill="hold" grpId="0" nodeType="withEffect">
                                  <p:stCondLst>
                                    <p:cond delay="0"/>
                                  </p:stCondLst>
                                  <p:childTnLst>
                                    <p:set>
                                      <p:cBhvr>
                                        <p:cTn id="28" dur="1" fill="hold">
                                          <p:stCondLst>
                                            <p:cond delay="0"/>
                                          </p:stCondLst>
                                        </p:cTn>
                                        <p:tgtEl>
                                          <p:spTgt spid="616451">
                                            <p:txEl>
                                              <p:pRg st="5" end="5"/>
                                            </p:txEl>
                                          </p:spTgt>
                                        </p:tgtEl>
                                        <p:attrNameLst>
                                          <p:attrName>style.visibility</p:attrName>
                                        </p:attrNameLst>
                                      </p:cBhvr>
                                      <p:to>
                                        <p:strVal val="visible"/>
                                      </p:to>
                                    </p:set>
                                    <p:anim calcmode="lin" valueType="num">
                                      <p:cBhvr additive="base">
                                        <p:cTn id="29" dur="500" fill="hold"/>
                                        <p:tgtEl>
                                          <p:spTgt spid="616451">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6164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whoosh.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616451">
                                            <p:txEl>
                                              <p:pRg st="6" end="6"/>
                                            </p:txEl>
                                          </p:spTgt>
                                        </p:tgtEl>
                                        <p:attrNameLst>
                                          <p:attrName>style.visibility</p:attrName>
                                        </p:attrNameLst>
                                      </p:cBhvr>
                                      <p:to>
                                        <p:strVal val="visible"/>
                                      </p:to>
                                    </p:set>
                                    <p:anim calcmode="lin" valueType="num">
                                      <p:cBhvr additive="base">
                                        <p:cTn id="35" dur="500" fill="hold"/>
                                        <p:tgtEl>
                                          <p:spTgt spid="616451">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61645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451"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5C82680-4FFB-1A69-F9D0-EC806E66B908}"/>
              </a:ext>
            </a:extLst>
          </p:cNvPr>
          <p:cNvSpPr>
            <a:spLocks noGrp="1" noChangeArrowheads="1"/>
          </p:cNvSpPr>
          <p:nvPr>
            <p:ph type="title"/>
          </p:nvPr>
        </p:nvSpPr>
        <p:spPr/>
        <p:txBody>
          <a:bodyPr/>
          <a:lstStyle/>
          <a:p>
            <a:pPr eaLnBrk="1" hangingPunct="1"/>
            <a:r>
              <a:rPr lang="zh-CN" altLang="en-US" sz="4000"/>
              <a:t>多维数组作为形参</a:t>
            </a:r>
            <a:br>
              <a:rPr lang="en-US" altLang="zh-CN"/>
            </a:br>
            <a:r>
              <a:rPr lang="en-US" altLang="zh-CN" sz="3200"/>
              <a:t>——</a:t>
            </a:r>
            <a:r>
              <a:rPr lang="zh-CN" altLang="en-US" sz="3200"/>
              <a:t>指向数组的指针</a:t>
            </a:r>
            <a:r>
              <a:rPr lang="en-US" altLang="zh-CN" sz="3200"/>
              <a:t>(</a:t>
            </a:r>
            <a:r>
              <a:rPr lang="zh-CN" altLang="en-US" sz="3200"/>
              <a:t>续</a:t>
            </a:r>
            <a:r>
              <a:rPr lang="en-US" altLang="zh-CN" sz="3200"/>
              <a:t>)</a:t>
            </a:r>
          </a:p>
        </p:txBody>
      </p:sp>
      <p:sp>
        <p:nvSpPr>
          <p:cNvPr id="73731" name="Rectangle 3">
            <a:extLst>
              <a:ext uri="{FF2B5EF4-FFF2-40B4-BE49-F238E27FC236}">
                <a16:creationId xmlns:a16="http://schemas.microsoft.com/office/drawing/2014/main" id="{FCD9093E-56E1-49BC-694E-840CFDE17016}"/>
              </a:ext>
            </a:extLst>
          </p:cNvPr>
          <p:cNvSpPr>
            <a:spLocks noGrp="1" noChangeArrowheads="1"/>
          </p:cNvSpPr>
          <p:nvPr>
            <p:ph type="body" idx="1"/>
          </p:nvPr>
        </p:nvSpPr>
        <p:spPr>
          <a:xfrm>
            <a:off x="1182688" y="2017713"/>
            <a:ext cx="7421760" cy="4114800"/>
          </a:xfrm>
        </p:spPr>
        <p:txBody>
          <a:bodyPr/>
          <a:lstStyle/>
          <a:p>
            <a:pPr eaLnBrk="1" hangingPunct="1">
              <a:lnSpc>
                <a:spcPct val="150000"/>
              </a:lnSpc>
            </a:pPr>
            <a:r>
              <a:rPr lang="zh-CN" altLang="en-US" sz="1800"/>
              <a:t>定义    </a:t>
            </a:r>
            <a:r>
              <a:rPr lang="en-US" altLang="zh-CN" sz="1800"/>
              <a:t>int (*p)[4]; </a:t>
            </a:r>
            <a:r>
              <a:rPr lang="zh-CN" altLang="en-US" sz="1800"/>
              <a:t>中的</a:t>
            </a:r>
            <a:r>
              <a:rPr lang="en-US" altLang="zh-CN" sz="1800"/>
              <a:t>p</a:t>
            </a:r>
            <a:r>
              <a:rPr lang="zh-CN" altLang="en-US" sz="1800"/>
              <a:t>不同于指向整型变量的指针。</a:t>
            </a:r>
            <a:r>
              <a:rPr lang="en-US" altLang="zh-CN" sz="1800"/>
              <a:t>p</a:t>
            </a:r>
            <a:r>
              <a:rPr lang="zh-CN" altLang="en-US" sz="1800"/>
              <a:t>是一个</a:t>
            </a:r>
            <a:r>
              <a:rPr lang="zh-CN" altLang="en-US" sz="1800">
                <a:solidFill>
                  <a:srgbClr val="0066FF"/>
                </a:solidFill>
              </a:rPr>
              <a:t>指向由</a:t>
            </a:r>
            <a:r>
              <a:rPr lang="en-US" altLang="zh-CN" sz="1800">
                <a:solidFill>
                  <a:srgbClr val="0066FF"/>
                </a:solidFill>
              </a:rPr>
              <a:t>4</a:t>
            </a:r>
            <a:r>
              <a:rPr lang="zh-CN" altLang="en-US" sz="1800">
                <a:solidFill>
                  <a:srgbClr val="0066FF"/>
                </a:solidFill>
              </a:rPr>
              <a:t>个整型元素组成的数组</a:t>
            </a:r>
            <a:r>
              <a:rPr lang="zh-CN" altLang="en-US" sz="1800"/>
              <a:t>，</a:t>
            </a:r>
            <a:r>
              <a:rPr lang="zh-CN" altLang="en-US" sz="1800" u="sng"/>
              <a:t>对</a:t>
            </a:r>
            <a:r>
              <a:rPr lang="en-US" altLang="zh-CN" sz="1800" u="sng"/>
              <a:t>p</a:t>
            </a:r>
            <a:r>
              <a:rPr lang="zh-CN" altLang="en-US" sz="1800" u="sng"/>
              <a:t>作增减</a:t>
            </a:r>
            <a:r>
              <a:rPr lang="en-US" altLang="zh-CN" sz="1800" u="sng"/>
              <a:t>1</a:t>
            </a:r>
            <a:r>
              <a:rPr lang="zh-CN" altLang="en-US" sz="1800" u="sng"/>
              <a:t>运算</a:t>
            </a:r>
            <a:r>
              <a:rPr lang="zh-CN" altLang="en-US" sz="1800"/>
              <a:t>，就表示向前进或向后退</a:t>
            </a:r>
            <a:r>
              <a:rPr lang="en-US" altLang="zh-CN" sz="1800"/>
              <a:t>4</a:t>
            </a:r>
            <a:r>
              <a:rPr lang="zh-CN" altLang="en-US" sz="1800"/>
              <a:t>个整型元素。即</a:t>
            </a:r>
            <a:r>
              <a:rPr lang="zh-CN" altLang="en-US" sz="1800">
                <a:solidFill>
                  <a:srgbClr val="0066FF"/>
                </a:solidFill>
              </a:rPr>
              <a:t>指向下一个或前一个数组</a:t>
            </a:r>
            <a:r>
              <a:rPr lang="zh-CN" altLang="en-US" sz="1800"/>
              <a:t>。</a:t>
            </a:r>
          </a:p>
          <a:p>
            <a:pPr eaLnBrk="1" hangingPunct="1">
              <a:lnSpc>
                <a:spcPct val="150000"/>
              </a:lnSpc>
            </a:pPr>
            <a:r>
              <a:rPr lang="zh-CN" altLang="en-US" sz="1800"/>
              <a:t>如有变量定义</a:t>
            </a:r>
          </a:p>
          <a:p>
            <a:pPr lvl="1" eaLnBrk="1" hangingPunct="1">
              <a:lnSpc>
                <a:spcPct val="150000"/>
              </a:lnSpc>
            </a:pPr>
            <a:r>
              <a:rPr lang="zh-CN" altLang="en-US" sz="1600"/>
              <a:t>      </a:t>
            </a:r>
            <a:r>
              <a:rPr lang="en-US" altLang="zh-CN" sz="1600"/>
              <a:t>int a[3][4], (*p)[4];</a:t>
            </a:r>
          </a:p>
          <a:p>
            <a:pPr lvl="1" eaLnBrk="1" hangingPunct="1">
              <a:lnSpc>
                <a:spcPct val="150000"/>
              </a:lnSpc>
            </a:pPr>
            <a:r>
              <a:rPr lang="en-US" altLang="zh-CN" sz="1600"/>
              <a:t>p = a ;	//</a:t>
            </a:r>
            <a:r>
              <a:rPr lang="zh-CN" altLang="en-US" sz="1600"/>
              <a:t>使</a:t>
            </a:r>
            <a:r>
              <a:rPr lang="en-US" altLang="zh-CN" sz="1600"/>
              <a:t>p</a:t>
            </a:r>
            <a:r>
              <a:rPr lang="zh-CN" altLang="en-US" sz="1600"/>
              <a:t>指向二维数组</a:t>
            </a:r>
            <a:r>
              <a:rPr lang="en-US" altLang="zh-CN" sz="1600"/>
              <a:t>a</a:t>
            </a:r>
            <a:r>
              <a:rPr lang="zh-CN" altLang="en-US" sz="1600"/>
              <a:t>的第</a:t>
            </a:r>
            <a:r>
              <a:rPr lang="en-US" altLang="zh-CN" sz="1600"/>
              <a:t>1</a:t>
            </a:r>
            <a:r>
              <a:rPr lang="zh-CN" altLang="en-US" sz="1600"/>
              <a:t>行。</a:t>
            </a:r>
          </a:p>
          <a:p>
            <a:pPr lvl="1" eaLnBrk="1" hangingPunct="1">
              <a:lnSpc>
                <a:spcPct val="150000"/>
              </a:lnSpc>
            </a:pPr>
            <a:r>
              <a:rPr lang="en-US" altLang="zh-CN" sz="1600"/>
              <a:t>p+1</a:t>
            </a:r>
            <a:r>
              <a:rPr lang="zh-CN" altLang="en-US" sz="1600"/>
              <a:t>的指针值为指向二维数组</a:t>
            </a:r>
            <a:r>
              <a:rPr lang="en-US" altLang="zh-CN" sz="1600"/>
              <a:t>a</a:t>
            </a:r>
            <a:r>
              <a:rPr lang="zh-CN" altLang="en-US" sz="1600"/>
              <a:t>的第二行。</a:t>
            </a:r>
          </a:p>
          <a:p>
            <a:pPr lvl="1" eaLnBrk="1" hangingPunct="1">
              <a:lnSpc>
                <a:spcPct val="150000"/>
              </a:lnSpc>
            </a:pPr>
            <a:r>
              <a:rPr lang="zh-CN" altLang="en-US" sz="1600"/>
              <a:t>若</a:t>
            </a:r>
            <a:r>
              <a:rPr lang="en-US" altLang="zh-CN" sz="1600"/>
              <a:t>p = a</a:t>
            </a:r>
            <a:r>
              <a:rPr lang="zh-CN" altLang="en-US" sz="1600"/>
              <a:t>，则</a:t>
            </a:r>
            <a:r>
              <a:rPr lang="en-US" altLang="zh-CN" sz="1600"/>
              <a:t>p+i</a:t>
            </a:r>
            <a:r>
              <a:rPr lang="zh-CN" altLang="en-US" sz="1600"/>
              <a:t>指向二维数组</a:t>
            </a:r>
            <a:r>
              <a:rPr lang="en-US" altLang="zh-CN" sz="1600"/>
              <a:t>a</a:t>
            </a:r>
            <a:r>
              <a:rPr lang="zh-CN" altLang="en-US" sz="1600"/>
              <a:t>的第</a:t>
            </a:r>
            <a:r>
              <a:rPr lang="en-US" altLang="zh-CN" sz="1600"/>
              <a:t>i+1</a:t>
            </a:r>
            <a:r>
              <a:rPr lang="zh-CN" altLang="en-US" sz="1600"/>
              <a:t>行，与</a:t>
            </a:r>
            <a:r>
              <a:rPr lang="en-US" altLang="zh-CN" sz="1600"/>
              <a:t>a+i</a:t>
            </a:r>
            <a:r>
              <a:rPr lang="zh-CN" altLang="en-US" sz="1600"/>
              <a:t>一样。</a:t>
            </a:r>
          </a:p>
          <a:p>
            <a:pPr lvl="1" eaLnBrk="1" hangingPunct="1">
              <a:lnSpc>
                <a:spcPct val="150000"/>
              </a:lnSpc>
            </a:pPr>
            <a:r>
              <a:rPr lang="zh-CN" altLang="en-US" sz="1600"/>
              <a:t>同二维数组元素的地址计算规则相对应，*</a:t>
            </a:r>
            <a:r>
              <a:rPr lang="en-US" altLang="zh-CN" sz="1600"/>
              <a:t>p+j</a:t>
            </a:r>
            <a:r>
              <a:rPr lang="zh-CN" altLang="en-US" sz="1600"/>
              <a:t> 指向</a:t>
            </a:r>
            <a:r>
              <a:rPr lang="en-US" altLang="zh-CN" sz="1600"/>
              <a:t>a[0][j]</a:t>
            </a:r>
            <a:r>
              <a:rPr lang="zh-CN" altLang="en-US" sz="1600"/>
              <a:t>；*</a:t>
            </a:r>
            <a:r>
              <a:rPr lang="en-US" altLang="zh-CN" sz="1600"/>
              <a:t>(p+i)+j</a:t>
            </a:r>
            <a:r>
              <a:rPr lang="zh-CN" altLang="en-US" sz="1600"/>
              <a:t>，或者</a:t>
            </a:r>
            <a:r>
              <a:rPr lang="en-US" altLang="zh-CN" sz="1600"/>
              <a:t>p[i]+j</a:t>
            </a:r>
            <a:r>
              <a:rPr lang="zh-CN" altLang="en-US" sz="1600"/>
              <a:t>指向数组</a:t>
            </a:r>
            <a:r>
              <a:rPr lang="en-US" altLang="zh-CN" sz="1600"/>
              <a:t>a</a:t>
            </a:r>
            <a:r>
              <a:rPr lang="zh-CN" altLang="en-US" sz="1600"/>
              <a:t>的元素</a:t>
            </a:r>
            <a:r>
              <a:rPr lang="en-US" altLang="zh-CN" sz="1600"/>
              <a:t>a[i][j]</a:t>
            </a:r>
            <a:r>
              <a:rPr lang="zh-CN" altLang="en-US" sz="1600"/>
              <a:t>。</a:t>
            </a:r>
            <a:endParaRPr lang="zh-CN" altLang="en-US" sz="1800"/>
          </a:p>
        </p:txBody>
      </p:sp>
    </p:spTree>
    <p:extLst>
      <p:ext uri="{BB962C8B-B14F-4D97-AF65-F5344CB8AC3E}">
        <p14:creationId xmlns:p14="http://schemas.microsoft.com/office/powerpoint/2010/main" val="7343576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157E7527-3AE9-BFD6-8E9D-AE39E8D47EE9}"/>
              </a:ext>
            </a:extLst>
          </p:cNvPr>
          <p:cNvSpPr>
            <a:spLocks noGrp="1" noChangeArrowheads="1"/>
          </p:cNvSpPr>
          <p:nvPr>
            <p:ph type="title"/>
          </p:nvPr>
        </p:nvSpPr>
        <p:spPr/>
        <p:txBody>
          <a:bodyPr/>
          <a:lstStyle/>
          <a:p>
            <a:pPr eaLnBrk="1" hangingPunct="1"/>
            <a:r>
              <a:rPr lang="zh-CN" altLang="en-US"/>
              <a:t>例</a:t>
            </a:r>
            <a:r>
              <a:rPr lang="en-US" altLang="zh-CN"/>
              <a:t>23</a:t>
            </a:r>
          </a:p>
        </p:txBody>
      </p:sp>
      <p:sp>
        <p:nvSpPr>
          <p:cNvPr id="618499" name="Rectangle 3">
            <a:extLst>
              <a:ext uri="{FF2B5EF4-FFF2-40B4-BE49-F238E27FC236}">
                <a16:creationId xmlns:a16="http://schemas.microsoft.com/office/drawing/2014/main" id="{987A4013-794D-23C1-AFF4-711B1732764D}"/>
              </a:ext>
            </a:extLst>
          </p:cNvPr>
          <p:cNvSpPr>
            <a:spLocks noGrp="1" noChangeArrowheads="1"/>
          </p:cNvSpPr>
          <p:nvPr>
            <p:ph type="body" idx="1"/>
          </p:nvPr>
        </p:nvSpPr>
        <p:spPr/>
        <p:txBody>
          <a:bodyPr/>
          <a:lstStyle/>
          <a:p>
            <a:pPr marL="533400" indent="-533400" eaLnBrk="1" hangingPunct="1">
              <a:lnSpc>
                <a:spcPct val="80000"/>
              </a:lnSpc>
            </a:pPr>
            <a:r>
              <a:rPr lang="zh-CN" altLang="en-US" sz="1800"/>
              <a:t>指向数组元素的指针和指向数组的指针的区别的示意程序。</a:t>
            </a:r>
          </a:p>
          <a:p>
            <a:pPr marL="914400" lvl="1" indent="-457200" eaLnBrk="1" hangingPunct="1">
              <a:lnSpc>
                <a:spcPct val="80000"/>
              </a:lnSpc>
              <a:buFont typeface="Wingdings" pitchFamily="2" charset="2"/>
              <a:buAutoNum type="arabicPeriod"/>
            </a:pPr>
            <a:r>
              <a:rPr lang="en-US" altLang="zh-CN" sz="1600"/>
              <a:t>#include  &lt;stdio.h&gt;</a:t>
            </a:r>
          </a:p>
          <a:p>
            <a:pPr marL="914400" lvl="1" indent="-457200" eaLnBrk="1" hangingPunct="1">
              <a:lnSpc>
                <a:spcPct val="80000"/>
              </a:lnSpc>
              <a:buFont typeface="Wingdings" pitchFamily="2" charset="2"/>
              <a:buAutoNum type="arabicPeriod"/>
            </a:pPr>
            <a:r>
              <a:rPr lang="en-US" altLang="zh-CN" sz="1600"/>
              <a:t>void main() {</a:t>
            </a:r>
          </a:p>
          <a:p>
            <a:pPr marL="914400" lvl="1" indent="-457200" eaLnBrk="1" hangingPunct="1">
              <a:lnSpc>
                <a:spcPct val="80000"/>
              </a:lnSpc>
              <a:buFont typeface="Wingdings" pitchFamily="2" charset="2"/>
              <a:buAutoNum type="arabicPeriod"/>
            </a:pPr>
            <a:r>
              <a:rPr lang="en-US" altLang="zh-CN" sz="1600"/>
              <a:t> int a[3][4] = { { 1,   3,   5,   7}, </a:t>
            </a:r>
          </a:p>
          <a:p>
            <a:pPr marL="914400" lvl="1" indent="-457200" eaLnBrk="1" hangingPunct="1">
              <a:lnSpc>
                <a:spcPct val="80000"/>
              </a:lnSpc>
              <a:buFont typeface="Wingdings" pitchFamily="2" charset="2"/>
              <a:buAutoNum type="arabicPeriod"/>
            </a:pPr>
            <a:r>
              <a:rPr lang="en-US" altLang="zh-CN" sz="1600"/>
              <a:t>                       { 9, 11, 13, 15},  </a:t>
            </a:r>
          </a:p>
          <a:p>
            <a:pPr marL="914400" lvl="1" indent="-457200" eaLnBrk="1" hangingPunct="1">
              <a:lnSpc>
                <a:spcPct val="80000"/>
              </a:lnSpc>
              <a:buFont typeface="Wingdings" pitchFamily="2" charset="2"/>
              <a:buAutoNum type="arabicPeriod"/>
            </a:pPr>
            <a:r>
              <a:rPr lang="en-US" altLang="zh-CN" sz="1600"/>
              <a:t>                       {17, 19, 21, 23}};</a:t>
            </a:r>
          </a:p>
          <a:p>
            <a:pPr marL="914400" lvl="1" indent="-457200" eaLnBrk="1" hangingPunct="1">
              <a:lnSpc>
                <a:spcPct val="80000"/>
              </a:lnSpc>
              <a:buFont typeface="Wingdings" pitchFamily="2" charset="2"/>
              <a:buAutoNum type="arabicPeriod"/>
            </a:pPr>
            <a:r>
              <a:rPr lang="en-US" altLang="zh-CN" sz="1600"/>
              <a:t>  int i, *ip, (*p)[4];</a:t>
            </a:r>
          </a:p>
          <a:p>
            <a:pPr marL="914400" lvl="1" indent="-457200" eaLnBrk="1" hangingPunct="1">
              <a:lnSpc>
                <a:spcPct val="80000"/>
              </a:lnSpc>
              <a:buFont typeface="Wingdings" pitchFamily="2" charset="2"/>
              <a:buAutoNum type="arabicPeriod"/>
            </a:pPr>
            <a:r>
              <a:rPr lang="en-US" altLang="zh-CN" sz="1600"/>
              <a:t>  p  = a+1;    ip = p[0];</a:t>
            </a:r>
          </a:p>
          <a:p>
            <a:pPr marL="914400" lvl="1" indent="-457200" eaLnBrk="1" hangingPunct="1">
              <a:lnSpc>
                <a:spcPct val="80000"/>
              </a:lnSpc>
              <a:buFont typeface="Wingdings" pitchFamily="2" charset="2"/>
              <a:buAutoNum type="arabicPeriod"/>
            </a:pPr>
            <a:r>
              <a:rPr lang="en-US" altLang="zh-CN" sz="1600"/>
              <a:t>  for(i = 1; i &lt;= 4; ip += 2, i++)   printf("%d\t", *ip);</a:t>
            </a:r>
          </a:p>
          <a:p>
            <a:pPr marL="914400" lvl="1" indent="-457200" eaLnBrk="1" hangingPunct="1">
              <a:lnSpc>
                <a:spcPct val="80000"/>
              </a:lnSpc>
              <a:buFont typeface="Wingdings" pitchFamily="2" charset="2"/>
              <a:buAutoNum type="arabicPeriod"/>
            </a:pPr>
            <a:r>
              <a:rPr lang="en-US" altLang="zh-CN" sz="1600"/>
              <a:t>  printf("\n");</a:t>
            </a:r>
          </a:p>
          <a:p>
            <a:pPr marL="914400" lvl="1" indent="-457200" eaLnBrk="1" hangingPunct="1">
              <a:lnSpc>
                <a:spcPct val="80000"/>
              </a:lnSpc>
              <a:buFont typeface="Wingdings" pitchFamily="2" charset="2"/>
              <a:buAutoNum type="arabicPeriod"/>
            </a:pPr>
            <a:r>
              <a:rPr lang="en-US" altLang="zh-CN" sz="1600"/>
              <a:t>  p = a;</a:t>
            </a:r>
          </a:p>
          <a:p>
            <a:pPr marL="914400" lvl="1" indent="-457200" eaLnBrk="1" hangingPunct="1">
              <a:lnSpc>
                <a:spcPct val="80000"/>
              </a:lnSpc>
              <a:buFont typeface="Wingdings" pitchFamily="2" charset="2"/>
              <a:buAutoNum type="arabicPeriod"/>
            </a:pPr>
            <a:r>
              <a:rPr lang="en-US" altLang="zh-CN" sz="1600"/>
              <a:t>  for (i = 0; i &lt; 2; p++, i++)   printf("%d\t", *(*(p+i)+1));</a:t>
            </a:r>
          </a:p>
          <a:p>
            <a:pPr marL="914400" lvl="1" indent="-457200" eaLnBrk="1" hangingPunct="1">
              <a:lnSpc>
                <a:spcPct val="80000"/>
              </a:lnSpc>
              <a:buFont typeface="Wingdings" pitchFamily="2" charset="2"/>
              <a:buAutoNum type="arabicPeriod"/>
            </a:pPr>
            <a:r>
              <a:rPr lang="en-US" altLang="zh-CN" sz="1600"/>
              <a:t>  printf("\n");</a:t>
            </a:r>
          </a:p>
          <a:p>
            <a:pPr marL="914400" lvl="1" indent="-457200" eaLnBrk="1" hangingPunct="1">
              <a:lnSpc>
                <a:spcPct val="80000"/>
              </a:lnSpc>
              <a:buFont typeface="Wingdings" pitchFamily="2" charset="2"/>
              <a:buAutoNum type="arabicPeriod"/>
            </a:pPr>
            <a:r>
              <a:rPr lang="en-US" altLang="zh-CN" sz="1600"/>
              <a:t>}</a:t>
            </a:r>
          </a:p>
          <a:p>
            <a:pPr marL="533400" indent="-533400" eaLnBrk="1" hangingPunct="1">
              <a:lnSpc>
                <a:spcPct val="80000"/>
              </a:lnSpc>
            </a:pPr>
            <a:r>
              <a:rPr lang="zh-CN" altLang="en-US" sz="1800"/>
              <a:t>程序运行后，将输出</a:t>
            </a:r>
          </a:p>
          <a:p>
            <a:pPr marL="914400" lvl="1" indent="-457200" eaLnBrk="1" hangingPunct="1">
              <a:lnSpc>
                <a:spcPct val="80000"/>
              </a:lnSpc>
              <a:buFont typeface="Wingdings" pitchFamily="2" charset="2"/>
              <a:buNone/>
            </a:pPr>
            <a:r>
              <a:rPr lang="zh-CN" altLang="en-US" sz="1600"/>
              <a:t>    </a:t>
            </a:r>
            <a:r>
              <a:rPr lang="en-US" altLang="zh-CN" sz="1600"/>
              <a:t>9           13         17          21</a:t>
            </a:r>
          </a:p>
          <a:p>
            <a:pPr marL="914400" lvl="1" indent="-457200" eaLnBrk="1" hangingPunct="1">
              <a:lnSpc>
                <a:spcPct val="80000"/>
              </a:lnSpc>
              <a:buFont typeface="Wingdings" pitchFamily="2" charset="2"/>
              <a:buNone/>
            </a:pPr>
            <a:r>
              <a:rPr lang="en-US" altLang="zh-CN" sz="1600"/>
              <a:t>    3           19</a:t>
            </a:r>
          </a:p>
        </p:txBody>
      </p:sp>
      <p:pic>
        <p:nvPicPr>
          <p:cNvPr id="2" name="图形 1" descr="教师 纯色填充">
            <a:hlinkClick r:id="rId4"/>
            <a:extLst>
              <a:ext uri="{FF2B5EF4-FFF2-40B4-BE49-F238E27FC236}">
                <a16:creationId xmlns:a16="http://schemas.microsoft.com/office/drawing/2014/main" id="{D7B584F7-7941-E50D-CDE6-39D25A3D778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16416" y="6064378"/>
            <a:ext cx="579309" cy="579309"/>
          </a:xfrm>
          <a:prstGeom prst="rect">
            <a:avLst/>
          </a:prstGeom>
        </p:spPr>
      </p:pic>
    </p:spTree>
    <p:extLst>
      <p:ext uri="{BB962C8B-B14F-4D97-AF65-F5344CB8AC3E}">
        <p14:creationId xmlns:p14="http://schemas.microsoft.com/office/powerpoint/2010/main" val="23968704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8499">
                                            <p:txEl>
                                              <p:pRg st="0" end="0"/>
                                            </p:txEl>
                                          </p:spTgt>
                                        </p:tgtEl>
                                        <p:attrNameLst>
                                          <p:attrName>style.visibility</p:attrName>
                                        </p:attrNameLst>
                                      </p:cBhvr>
                                      <p:to>
                                        <p:strVal val="visible"/>
                                      </p:to>
                                    </p:set>
                                    <p:anim calcmode="lin" valueType="num">
                                      <p:cBhvr additive="base">
                                        <p:cTn id="7" dur="500" fill="hold"/>
                                        <p:tgtEl>
                                          <p:spTgt spid="6184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849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618499">
                                            <p:txEl>
                                              <p:pRg st="1" end="1"/>
                                            </p:txEl>
                                          </p:spTgt>
                                        </p:tgtEl>
                                        <p:attrNameLst>
                                          <p:attrName>style.visibility</p:attrName>
                                        </p:attrNameLst>
                                      </p:cBhvr>
                                      <p:to>
                                        <p:strVal val="visible"/>
                                      </p:to>
                                    </p:set>
                                    <p:anim calcmode="lin" valueType="num">
                                      <p:cBhvr additive="base">
                                        <p:cTn id="11" dur="500" fill="hold"/>
                                        <p:tgtEl>
                                          <p:spTgt spid="61849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1849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618499">
                                            <p:txEl>
                                              <p:pRg st="2" end="2"/>
                                            </p:txEl>
                                          </p:spTgt>
                                        </p:tgtEl>
                                        <p:attrNameLst>
                                          <p:attrName>style.visibility</p:attrName>
                                        </p:attrNameLst>
                                      </p:cBhvr>
                                      <p:to>
                                        <p:strVal val="visible"/>
                                      </p:to>
                                    </p:set>
                                    <p:anim calcmode="lin" valueType="num">
                                      <p:cBhvr additive="base">
                                        <p:cTn id="15" dur="500" fill="hold"/>
                                        <p:tgtEl>
                                          <p:spTgt spid="61849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1849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618499">
                                            <p:txEl>
                                              <p:pRg st="3" end="3"/>
                                            </p:txEl>
                                          </p:spTgt>
                                        </p:tgtEl>
                                        <p:attrNameLst>
                                          <p:attrName>style.visibility</p:attrName>
                                        </p:attrNameLst>
                                      </p:cBhvr>
                                      <p:to>
                                        <p:strVal val="visible"/>
                                      </p:to>
                                    </p:set>
                                    <p:anim calcmode="lin" valueType="num">
                                      <p:cBhvr additive="base">
                                        <p:cTn id="19" dur="500" fill="hold"/>
                                        <p:tgtEl>
                                          <p:spTgt spid="61849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849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618499">
                                            <p:txEl>
                                              <p:pRg st="4" end="4"/>
                                            </p:txEl>
                                          </p:spTgt>
                                        </p:tgtEl>
                                        <p:attrNameLst>
                                          <p:attrName>style.visibility</p:attrName>
                                        </p:attrNameLst>
                                      </p:cBhvr>
                                      <p:to>
                                        <p:strVal val="visible"/>
                                      </p:to>
                                    </p:set>
                                    <p:anim calcmode="lin" valueType="num">
                                      <p:cBhvr additive="base">
                                        <p:cTn id="23" dur="500" fill="hold"/>
                                        <p:tgtEl>
                                          <p:spTgt spid="61849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1849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618499">
                                            <p:txEl>
                                              <p:pRg st="5" end="5"/>
                                            </p:txEl>
                                          </p:spTgt>
                                        </p:tgtEl>
                                        <p:attrNameLst>
                                          <p:attrName>style.visibility</p:attrName>
                                        </p:attrNameLst>
                                      </p:cBhvr>
                                      <p:to>
                                        <p:strVal val="visible"/>
                                      </p:to>
                                    </p:set>
                                    <p:anim calcmode="lin" valueType="num">
                                      <p:cBhvr additive="base">
                                        <p:cTn id="27" dur="500" fill="hold"/>
                                        <p:tgtEl>
                                          <p:spTgt spid="61849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1849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618499">
                                            <p:txEl>
                                              <p:pRg st="6" end="6"/>
                                            </p:txEl>
                                          </p:spTgt>
                                        </p:tgtEl>
                                        <p:attrNameLst>
                                          <p:attrName>style.visibility</p:attrName>
                                        </p:attrNameLst>
                                      </p:cBhvr>
                                      <p:to>
                                        <p:strVal val="visible"/>
                                      </p:to>
                                    </p:set>
                                    <p:anim calcmode="lin" valueType="num">
                                      <p:cBhvr additive="base">
                                        <p:cTn id="31" dur="500" fill="hold"/>
                                        <p:tgtEl>
                                          <p:spTgt spid="618499">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18499">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618499">
                                            <p:txEl>
                                              <p:pRg st="7" end="7"/>
                                            </p:txEl>
                                          </p:spTgt>
                                        </p:tgtEl>
                                        <p:attrNameLst>
                                          <p:attrName>style.visibility</p:attrName>
                                        </p:attrNameLst>
                                      </p:cBhvr>
                                      <p:to>
                                        <p:strVal val="visible"/>
                                      </p:to>
                                    </p:set>
                                    <p:anim calcmode="lin" valueType="num">
                                      <p:cBhvr additive="base">
                                        <p:cTn id="35" dur="500" fill="hold"/>
                                        <p:tgtEl>
                                          <p:spTgt spid="618499">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618499">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whoosh.wav"/>
                                        </p:tgtEl>
                                      </p:cMediaNode>
                                    </p:audio>
                                  </p:subTnLst>
                                </p:cTn>
                              </p:par>
                              <p:par>
                                <p:cTn id="37" presetID="2" presetClass="entr" presetSubtype="8" fill="hold" grpId="0" nodeType="withEffect">
                                  <p:stCondLst>
                                    <p:cond delay="0"/>
                                  </p:stCondLst>
                                  <p:childTnLst>
                                    <p:set>
                                      <p:cBhvr>
                                        <p:cTn id="38" dur="1" fill="hold">
                                          <p:stCondLst>
                                            <p:cond delay="0"/>
                                          </p:stCondLst>
                                        </p:cTn>
                                        <p:tgtEl>
                                          <p:spTgt spid="618499">
                                            <p:txEl>
                                              <p:pRg st="8" end="8"/>
                                            </p:txEl>
                                          </p:spTgt>
                                        </p:tgtEl>
                                        <p:attrNameLst>
                                          <p:attrName>style.visibility</p:attrName>
                                        </p:attrNameLst>
                                      </p:cBhvr>
                                      <p:to>
                                        <p:strVal val="visible"/>
                                      </p:to>
                                    </p:set>
                                    <p:anim calcmode="lin" valueType="num">
                                      <p:cBhvr additive="base">
                                        <p:cTn id="39" dur="500" fill="hold"/>
                                        <p:tgtEl>
                                          <p:spTgt spid="618499">
                                            <p:txEl>
                                              <p:pRg st="8" end="8"/>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618499">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whoosh.wav"/>
                                        </p:tgtEl>
                                      </p:cMediaNode>
                                    </p:audio>
                                  </p:subTnLst>
                                </p:cTn>
                              </p:par>
                              <p:par>
                                <p:cTn id="41" presetID="2" presetClass="entr" presetSubtype="8" fill="hold" grpId="0" nodeType="withEffect">
                                  <p:stCondLst>
                                    <p:cond delay="0"/>
                                  </p:stCondLst>
                                  <p:childTnLst>
                                    <p:set>
                                      <p:cBhvr>
                                        <p:cTn id="42" dur="1" fill="hold">
                                          <p:stCondLst>
                                            <p:cond delay="0"/>
                                          </p:stCondLst>
                                        </p:cTn>
                                        <p:tgtEl>
                                          <p:spTgt spid="618499">
                                            <p:txEl>
                                              <p:pRg st="9" end="9"/>
                                            </p:txEl>
                                          </p:spTgt>
                                        </p:tgtEl>
                                        <p:attrNameLst>
                                          <p:attrName>style.visibility</p:attrName>
                                        </p:attrNameLst>
                                      </p:cBhvr>
                                      <p:to>
                                        <p:strVal val="visible"/>
                                      </p:to>
                                    </p:set>
                                    <p:anim calcmode="lin" valueType="num">
                                      <p:cBhvr additive="base">
                                        <p:cTn id="43" dur="500" fill="hold"/>
                                        <p:tgtEl>
                                          <p:spTgt spid="618499">
                                            <p:txEl>
                                              <p:pRg st="9" end="9"/>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18499">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whoosh.wav"/>
                                        </p:tgtEl>
                                      </p:cMediaNode>
                                    </p:audio>
                                  </p:subTnLst>
                                </p:cTn>
                              </p:par>
                              <p:par>
                                <p:cTn id="45" presetID="2" presetClass="entr" presetSubtype="8" fill="hold" grpId="0" nodeType="withEffect">
                                  <p:stCondLst>
                                    <p:cond delay="0"/>
                                  </p:stCondLst>
                                  <p:childTnLst>
                                    <p:set>
                                      <p:cBhvr>
                                        <p:cTn id="46" dur="1" fill="hold">
                                          <p:stCondLst>
                                            <p:cond delay="0"/>
                                          </p:stCondLst>
                                        </p:cTn>
                                        <p:tgtEl>
                                          <p:spTgt spid="618499">
                                            <p:txEl>
                                              <p:pRg st="10" end="10"/>
                                            </p:txEl>
                                          </p:spTgt>
                                        </p:tgtEl>
                                        <p:attrNameLst>
                                          <p:attrName>style.visibility</p:attrName>
                                        </p:attrNameLst>
                                      </p:cBhvr>
                                      <p:to>
                                        <p:strVal val="visible"/>
                                      </p:to>
                                    </p:set>
                                    <p:anim calcmode="lin" valueType="num">
                                      <p:cBhvr additive="base">
                                        <p:cTn id="47" dur="500" fill="hold"/>
                                        <p:tgtEl>
                                          <p:spTgt spid="618499">
                                            <p:txEl>
                                              <p:pRg st="10" end="1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618499">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whoosh.wav"/>
                                        </p:tgtEl>
                                      </p:cMediaNode>
                                    </p:audio>
                                  </p:subTnLst>
                                </p:cTn>
                              </p:par>
                              <p:par>
                                <p:cTn id="49" presetID="2" presetClass="entr" presetSubtype="8" fill="hold" grpId="0" nodeType="withEffect">
                                  <p:stCondLst>
                                    <p:cond delay="0"/>
                                  </p:stCondLst>
                                  <p:childTnLst>
                                    <p:set>
                                      <p:cBhvr>
                                        <p:cTn id="50" dur="1" fill="hold">
                                          <p:stCondLst>
                                            <p:cond delay="0"/>
                                          </p:stCondLst>
                                        </p:cTn>
                                        <p:tgtEl>
                                          <p:spTgt spid="618499">
                                            <p:txEl>
                                              <p:pRg st="11" end="11"/>
                                            </p:txEl>
                                          </p:spTgt>
                                        </p:tgtEl>
                                        <p:attrNameLst>
                                          <p:attrName>style.visibility</p:attrName>
                                        </p:attrNameLst>
                                      </p:cBhvr>
                                      <p:to>
                                        <p:strVal val="visible"/>
                                      </p:to>
                                    </p:set>
                                    <p:anim calcmode="lin" valueType="num">
                                      <p:cBhvr additive="base">
                                        <p:cTn id="51" dur="500" fill="hold"/>
                                        <p:tgtEl>
                                          <p:spTgt spid="618499">
                                            <p:txEl>
                                              <p:pRg st="11" end="11"/>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618499">
                                            <p:txEl>
                                              <p:pRg st="11"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whoosh.wav"/>
                                        </p:tgtEl>
                                      </p:cMediaNode>
                                    </p:audio>
                                  </p:subTnLst>
                                </p:cTn>
                              </p:par>
                              <p:par>
                                <p:cTn id="53" presetID="2" presetClass="entr" presetSubtype="8" fill="hold" grpId="0" nodeType="withEffect">
                                  <p:stCondLst>
                                    <p:cond delay="0"/>
                                  </p:stCondLst>
                                  <p:childTnLst>
                                    <p:set>
                                      <p:cBhvr>
                                        <p:cTn id="54" dur="1" fill="hold">
                                          <p:stCondLst>
                                            <p:cond delay="0"/>
                                          </p:stCondLst>
                                        </p:cTn>
                                        <p:tgtEl>
                                          <p:spTgt spid="618499">
                                            <p:txEl>
                                              <p:pRg st="12" end="12"/>
                                            </p:txEl>
                                          </p:spTgt>
                                        </p:tgtEl>
                                        <p:attrNameLst>
                                          <p:attrName>style.visibility</p:attrName>
                                        </p:attrNameLst>
                                      </p:cBhvr>
                                      <p:to>
                                        <p:strVal val="visible"/>
                                      </p:to>
                                    </p:set>
                                    <p:anim calcmode="lin" valueType="num">
                                      <p:cBhvr additive="base">
                                        <p:cTn id="55" dur="500" fill="hold"/>
                                        <p:tgtEl>
                                          <p:spTgt spid="618499">
                                            <p:txEl>
                                              <p:pRg st="12" end="12"/>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618499">
                                            <p:txEl>
                                              <p:pRg st="12" end="1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whoosh.wav"/>
                                        </p:tgtEl>
                                      </p:cMediaNode>
                                    </p:audio>
                                  </p:subTnLst>
                                </p:cTn>
                              </p:par>
                              <p:par>
                                <p:cTn id="57" presetID="2" presetClass="entr" presetSubtype="8" fill="hold" grpId="0" nodeType="withEffect">
                                  <p:stCondLst>
                                    <p:cond delay="0"/>
                                  </p:stCondLst>
                                  <p:childTnLst>
                                    <p:set>
                                      <p:cBhvr>
                                        <p:cTn id="58" dur="1" fill="hold">
                                          <p:stCondLst>
                                            <p:cond delay="0"/>
                                          </p:stCondLst>
                                        </p:cTn>
                                        <p:tgtEl>
                                          <p:spTgt spid="618499">
                                            <p:txEl>
                                              <p:pRg st="13" end="13"/>
                                            </p:txEl>
                                          </p:spTgt>
                                        </p:tgtEl>
                                        <p:attrNameLst>
                                          <p:attrName>style.visibility</p:attrName>
                                        </p:attrNameLst>
                                      </p:cBhvr>
                                      <p:to>
                                        <p:strVal val="visible"/>
                                      </p:to>
                                    </p:set>
                                    <p:anim calcmode="lin" valueType="num">
                                      <p:cBhvr additive="base">
                                        <p:cTn id="59" dur="500" fill="hold"/>
                                        <p:tgtEl>
                                          <p:spTgt spid="618499">
                                            <p:txEl>
                                              <p:pRg st="13" end="13"/>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618499">
                                            <p:txEl>
                                              <p:pRg st="13" end="1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3" name="whoosh.wav"/>
                                        </p:tgtEl>
                                      </p:cMediaNode>
                                    </p:audio>
                                  </p:sub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618499">
                                            <p:txEl>
                                              <p:pRg st="14" end="14"/>
                                            </p:txEl>
                                          </p:spTgt>
                                        </p:tgtEl>
                                        <p:attrNameLst>
                                          <p:attrName>style.visibility</p:attrName>
                                        </p:attrNameLst>
                                      </p:cBhvr>
                                      <p:to>
                                        <p:strVal val="visible"/>
                                      </p:to>
                                    </p:set>
                                    <p:anim calcmode="lin" valueType="num">
                                      <p:cBhvr additive="base">
                                        <p:cTn id="65" dur="500" fill="hold"/>
                                        <p:tgtEl>
                                          <p:spTgt spid="618499">
                                            <p:txEl>
                                              <p:pRg st="14" end="14"/>
                                            </p:tx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618499">
                                            <p:txEl>
                                              <p:pRg st="14"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3"/>
                                            </p:cond>
                                          </p:stCondLst>
                                          <p:endCondLst>
                                            <p:cond evt="onStopAudio" delay="0">
                                              <p:tgtEl>
                                                <p:sldTgt/>
                                              </p:tgtEl>
                                            </p:cond>
                                          </p:endCondLst>
                                        </p:cTn>
                                        <p:tgtEl>
                                          <p:sndTgt r:embed="rId3" name="whoosh.wav"/>
                                        </p:tgtEl>
                                      </p:cMediaNode>
                                    </p:audio>
                                  </p:subTnLst>
                                </p:cTn>
                              </p:par>
                              <p:par>
                                <p:cTn id="67" presetID="2" presetClass="entr" presetSubtype="8" fill="hold" grpId="0" nodeType="withEffect">
                                  <p:stCondLst>
                                    <p:cond delay="0"/>
                                  </p:stCondLst>
                                  <p:childTnLst>
                                    <p:set>
                                      <p:cBhvr>
                                        <p:cTn id="68" dur="1" fill="hold">
                                          <p:stCondLst>
                                            <p:cond delay="0"/>
                                          </p:stCondLst>
                                        </p:cTn>
                                        <p:tgtEl>
                                          <p:spTgt spid="618499">
                                            <p:txEl>
                                              <p:pRg st="15" end="15"/>
                                            </p:txEl>
                                          </p:spTgt>
                                        </p:tgtEl>
                                        <p:attrNameLst>
                                          <p:attrName>style.visibility</p:attrName>
                                        </p:attrNameLst>
                                      </p:cBhvr>
                                      <p:to>
                                        <p:strVal val="visible"/>
                                      </p:to>
                                    </p:set>
                                    <p:anim calcmode="lin" valueType="num">
                                      <p:cBhvr additive="base">
                                        <p:cTn id="69" dur="500" fill="hold"/>
                                        <p:tgtEl>
                                          <p:spTgt spid="618499">
                                            <p:txEl>
                                              <p:pRg st="15" end="15"/>
                                            </p:txEl>
                                          </p:spTgt>
                                        </p:tgtEl>
                                        <p:attrNameLst>
                                          <p:attrName>ppt_x</p:attrName>
                                        </p:attrNameLst>
                                      </p:cBhvr>
                                      <p:tavLst>
                                        <p:tav tm="0">
                                          <p:val>
                                            <p:strVal val="0-#ppt_w/2"/>
                                          </p:val>
                                        </p:tav>
                                        <p:tav tm="100000">
                                          <p:val>
                                            <p:strVal val="#ppt_x"/>
                                          </p:val>
                                        </p:tav>
                                      </p:tavLst>
                                    </p:anim>
                                    <p:anim calcmode="lin" valueType="num">
                                      <p:cBhvr additive="base">
                                        <p:cTn id="70" dur="500" fill="hold"/>
                                        <p:tgtEl>
                                          <p:spTgt spid="618499">
                                            <p:txEl>
                                              <p:pRg st="15" end="1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whoosh.wav"/>
                                        </p:tgtEl>
                                      </p:cMediaNode>
                                    </p:audio>
                                  </p:subTnLst>
                                </p:cTn>
                              </p:par>
                              <p:par>
                                <p:cTn id="71" presetID="2" presetClass="entr" presetSubtype="8" fill="hold" grpId="0" nodeType="withEffect">
                                  <p:stCondLst>
                                    <p:cond delay="0"/>
                                  </p:stCondLst>
                                  <p:childTnLst>
                                    <p:set>
                                      <p:cBhvr>
                                        <p:cTn id="72" dur="1" fill="hold">
                                          <p:stCondLst>
                                            <p:cond delay="0"/>
                                          </p:stCondLst>
                                        </p:cTn>
                                        <p:tgtEl>
                                          <p:spTgt spid="618499">
                                            <p:txEl>
                                              <p:pRg st="16" end="16"/>
                                            </p:txEl>
                                          </p:spTgt>
                                        </p:tgtEl>
                                        <p:attrNameLst>
                                          <p:attrName>style.visibility</p:attrName>
                                        </p:attrNameLst>
                                      </p:cBhvr>
                                      <p:to>
                                        <p:strVal val="visible"/>
                                      </p:to>
                                    </p:set>
                                    <p:anim calcmode="lin" valueType="num">
                                      <p:cBhvr additive="base">
                                        <p:cTn id="73" dur="500" fill="hold"/>
                                        <p:tgtEl>
                                          <p:spTgt spid="618499">
                                            <p:txEl>
                                              <p:pRg st="16" end="16"/>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618499">
                                            <p:txEl>
                                              <p:pRg st="16" end="1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8499"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436617A4-3049-25A3-630E-3C33C01740C1}"/>
              </a:ext>
            </a:extLst>
          </p:cNvPr>
          <p:cNvSpPr>
            <a:spLocks noGrp="1" noChangeArrowheads="1"/>
          </p:cNvSpPr>
          <p:nvPr>
            <p:ph type="title"/>
          </p:nvPr>
        </p:nvSpPr>
        <p:spPr/>
        <p:txBody>
          <a:bodyPr/>
          <a:lstStyle/>
          <a:p>
            <a:pPr eaLnBrk="1" hangingPunct="1"/>
            <a:r>
              <a:rPr lang="zh-CN" altLang="en-US"/>
              <a:t>例</a:t>
            </a:r>
            <a:r>
              <a:rPr lang="en-US" altLang="zh-CN"/>
              <a:t>5.5</a:t>
            </a:r>
          </a:p>
        </p:txBody>
      </p:sp>
      <p:sp>
        <p:nvSpPr>
          <p:cNvPr id="61443" name="Rectangle 3">
            <a:extLst>
              <a:ext uri="{FF2B5EF4-FFF2-40B4-BE49-F238E27FC236}">
                <a16:creationId xmlns:a16="http://schemas.microsoft.com/office/drawing/2014/main" id="{F1AF4BE1-88EF-81E2-78CA-55FC7A05A9AE}"/>
              </a:ext>
            </a:extLst>
          </p:cNvPr>
          <p:cNvSpPr>
            <a:spLocks noGrp="1" noChangeArrowheads="1"/>
          </p:cNvSpPr>
          <p:nvPr>
            <p:ph type="body" idx="1"/>
          </p:nvPr>
        </p:nvSpPr>
        <p:spPr>
          <a:xfrm>
            <a:off x="1043608" y="1916832"/>
            <a:ext cx="7704856" cy="4215681"/>
          </a:xfrm>
        </p:spPr>
        <p:txBody>
          <a:bodyPr/>
          <a:lstStyle/>
          <a:p>
            <a:pPr algn="just" eaLnBrk="1" hangingPunct="1">
              <a:lnSpc>
                <a:spcPct val="150000"/>
              </a:lnSpc>
            </a:pPr>
            <a:r>
              <a:rPr lang="en-US" altLang="zh-CN" sz="1800"/>
              <a:t>【</a:t>
            </a:r>
            <a:r>
              <a:rPr lang="zh-CN" altLang="en-US" sz="1800"/>
              <a:t>例</a:t>
            </a:r>
            <a:r>
              <a:rPr lang="en-US" altLang="zh-CN" sz="1800"/>
              <a:t>5.5 】</a:t>
            </a:r>
            <a:r>
              <a:rPr lang="zh-CN" altLang="en-US" sz="1800"/>
              <a:t>设某个班有若干位学生，共学</a:t>
            </a:r>
            <a:r>
              <a:rPr lang="en-US" altLang="zh-CN" sz="1800"/>
              <a:t>5</a:t>
            </a:r>
            <a:r>
              <a:rPr lang="zh-CN" altLang="en-US" sz="1800"/>
              <a:t>门功课。学生成绩单的学号和各门功课成绩存放在二维数组</a:t>
            </a:r>
            <a:r>
              <a:rPr lang="en-US" altLang="zh-CN" sz="1800"/>
              <a:t>s[][]</a:t>
            </a:r>
            <a:r>
              <a:rPr lang="zh-CN" altLang="en-US" sz="1800"/>
              <a:t>中，</a:t>
            </a:r>
            <a:r>
              <a:rPr lang="en-US" altLang="zh-CN" sz="1800"/>
              <a:t>s</a:t>
            </a:r>
            <a:r>
              <a:rPr lang="zh-CN" altLang="en-US" sz="1800"/>
              <a:t>的每一行存储一位学生的有关信息，其中每行的第一列存放学生的学号。</a:t>
            </a:r>
          </a:p>
          <a:p>
            <a:pPr algn="just" eaLnBrk="1" hangingPunct="1">
              <a:lnSpc>
                <a:spcPct val="150000"/>
              </a:lnSpc>
            </a:pPr>
            <a:r>
              <a:rPr lang="zh-CN" altLang="en-US" sz="1800"/>
              <a:t>设计函数</a:t>
            </a:r>
            <a:r>
              <a:rPr lang="en-US" altLang="zh-CN" sz="1800">
                <a:solidFill>
                  <a:srgbClr val="0070C0"/>
                </a:solidFill>
              </a:rPr>
              <a:t>search(int (*p)[6], int m, int no)</a:t>
            </a:r>
            <a:r>
              <a:rPr lang="zh-CN" altLang="en-US" sz="1800"/>
              <a:t>，用于寻找指定学号为</a:t>
            </a:r>
            <a:r>
              <a:rPr lang="en-US" altLang="zh-CN" sz="1800"/>
              <a:t>no</a:t>
            </a:r>
            <a:r>
              <a:rPr lang="zh-CN" altLang="en-US" sz="1800"/>
              <a:t>的学生，并输出该生的各门功课成绩。其中，</a:t>
            </a:r>
            <a:endParaRPr lang="en-US" altLang="zh-CN" sz="1800"/>
          </a:p>
          <a:p>
            <a:pPr lvl="1" algn="just" eaLnBrk="1" hangingPunct="1">
              <a:lnSpc>
                <a:spcPct val="150000"/>
              </a:lnSpc>
            </a:pPr>
            <a:r>
              <a:rPr lang="zh-CN" altLang="en-US" sz="1400"/>
              <a:t>形参</a:t>
            </a:r>
            <a:r>
              <a:rPr lang="en-US" altLang="zh-CN" sz="1400"/>
              <a:t>p</a:t>
            </a:r>
            <a:r>
              <a:rPr lang="zh-CN" altLang="en-US" sz="1400"/>
              <a:t>是指向数组的指针，它所指数组有</a:t>
            </a:r>
            <a:r>
              <a:rPr lang="en-US" altLang="zh-CN" sz="1400"/>
              <a:t>6</a:t>
            </a:r>
            <a:r>
              <a:rPr lang="zh-CN" altLang="en-US" sz="1400"/>
              <a:t>个</a:t>
            </a:r>
            <a:r>
              <a:rPr lang="en-US" altLang="zh-CN" sz="1400"/>
              <a:t>int </a:t>
            </a:r>
            <a:r>
              <a:rPr lang="zh-CN" altLang="en-US" sz="1400"/>
              <a:t>型元素；</a:t>
            </a:r>
            <a:endParaRPr lang="en-US" altLang="zh-CN" sz="1400"/>
          </a:p>
          <a:p>
            <a:pPr lvl="1" algn="just" eaLnBrk="1" hangingPunct="1">
              <a:lnSpc>
                <a:spcPct val="150000"/>
              </a:lnSpc>
            </a:pPr>
            <a:r>
              <a:rPr lang="zh-CN" altLang="en-US" sz="1400"/>
              <a:t>形参</a:t>
            </a:r>
            <a:r>
              <a:rPr lang="en-US" altLang="zh-CN" sz="1400"/>
              <a:t>m</a:t>
            </a:r>
            <a:r>
              <a:rPr lang="zh-CN" altLang="en-US" sz="1400"/>
              <a:t>是学生数；</a:t>
            </a:r>
            <a:endParaRPr lang="en-US" altLang="zh-CN" sz="1400"/>
          </a:p>
          <a:p>
            <a:pPr lvl="1" algn="just" eaLnBrk="1" hangingPunct="1">
              <a:lnSpc>
                <a:spcPct val="150000"/>
              </a:lnSpc>
            </a:pPr>
            <a:r>
              <a:rPr lang="zh-CN" altLang="en-US" sz="1400"/>
              <a:t>形参</a:t>
            </a:r>
            <a:r>
              <a:rPr lang="en-US" altLang="zh-CN" sz="1400"/>
              <a:t>no</a:t>
            </a:r>
            <a:r>
              <a:rPr lang="zh-CN" altLang="en-US" sz="1400"/>
              <a:t>是待寻找学生的学号。</a:t>
            </a:r>
            <a:endParaRPr lang="en-US" altLang="zh-CN" sz="1400"/>
          </a:p>
          <a:p>
            <a:pPr algn="just" eaLnBrk="1" hangingPunct="1">
              <a:lnSpc>
                <a:spcPct val="150000"/>
              </a:lnSpc>
            </a:pPr>
            <a:r>
              <a:rPr lang="zh-CN" altLang="en-US" sz="1800"/>
              <a:t>主函数按以下格式调用：</a:t>
            </a:r>
          </a:p>
          <a:p>
            <a:pPr lvl="1" algn="just" eaLnBrk="1" hangingPunct="1">
              <a:lnSpc>
                <a:spcPct val="150000"/>
              </a:lnSpc>
            </a:pPr>
            <a:r>
              <a:rPr lang="en-US" altLang="zh-CN" sz="1600"/>
              <a:t>search(s, m, n);</a:t>
            </a:r>
          </a:p>
          <a:p>
            <a:pPr lvl="2" algn="just" eaLnBrk="1" hangingPunct="1">
              <a:lnSpc>
                <a:spcPct val="150000"/>
              </a:lnSpc>
            </a:pPr>
            <a:r>
              <a:rPr lang="zh-CN" altLang="en-US" sz="1200"/>
              <a:t>其中</a:t>
            </a:r>
            <a:r>
              <a:rPr lang="en-US" altLang="zh-CN" sz="1200"/>
              <a:t>s</a:t>
            </a:r>
            <a:r>
              <a:rPr lang="zh-CN" altLang="en-US" sz="1200"/>
              <a:t>为成绩单首行数组的指针；</a:t>
            </a:r>
            <a:r>
              <a:rPr lang="en-US" altLang="zh-CN" sz="1200"/>
              <a:t>m</a:t>
            </a:r>
            <a:r>
              <a:rPr lang="zh-CN" altLang="en-US" sz="1200"/>
              <a:t>为成绩单行数，即学生人数；</a:t>
            </a:r>
            <a:r>
              <a:rPr lang="en-US" altLang="zh-CN" sz="1200"/>
              <a:t>n</a:t>
            </a:r>
            <a:r>
              <a:rPr lang="zh-CN" altLang="en-US" sz="1200"/>
              <a:t>为某学生的学号。</a:t>
            </a:r>
          </a:p>
        </p:txBody>
      </p:sp>
    </p:spTree>
    <p:extLst>
      <p:ext uri="{BB962C8B-B14F-4D97-AF65-F5344CB8AC3E}">
        <p14:creationId xmlns:p14="http://schemas.microsoft.com/office/powerpoint/2010/main" val="2315882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32F41AD-8728-87F7-2366-C2CB49ABCA1C}"/>
              </a:ext>
            </a:extLst>
          </p:cNvPr>
          <p:cNvSpPr>
            <a:spLocks noGrp="1" noChangeArrowheads="1"/>
          </p:cNvSpPr>
          <p:nvPr>
            <p:ph type="title"/>
          </p:nvPr>
        </p:nvSpPr>
        <p:spPr/>
        <p:txBody>
          <a:bodyPr/>
          <a:lstStyle/>
          <a:p>
            <a:pPr eaLnBrk="1" hangingPunct="1"/>
            <a:r>
              <a:rPr lang="zh-CN" altLang="en-US"/>
              <a:t>例</a:t>
            </a:r>
            <a:r>
              <a:rPr lang="en-US" altLang="zh-CN"/>
              <a:t>5.5(</a:t>
            </a:r>
            <a:r>
              <a:rPr lang="zh-CN" altLang="en-US"/>
              <a:t>续</a:t>
            </a:r>
            <a:r>
              <a:rPr lang="en-US" altLang="zh-CN"/>
              <a:t>)</a:t>
            </a:r>
          </a:p>
        </p:txBody>
      </p:sp>
      <p:sp>
        <p:nvSpPr>
          <p:cNvPr id="62467" name="Rectangle 3">
            <a:extLst>
              <a:ext uri="{FF2B5EF4-FFF2-40B4-BE49-F238E27FC236}">
                <a16:creationId xmlns:a16="http://schemas.microsoft.com/office/drawing/2014/main" id="{072F5B14-036A-5306-59F6-D19412D6F233}"/>
              </a:ext>
            </a:extLst>
          </p:cNvPr>
          <p:cNvSpPr>
            <a:spLocks noGrp="1" noChangeArrowheads="1"/>
          </p:cNvSpPr>
          <p:nvPr>
            <p:ph type="body" idx="1"/>
          </p:nvPr>
        </p:nvSpPr>
        <p:spPr>
          <a:xfrm>
            <a:off x="827584" y="2017713"/>
            <a:ext cx="8127504" cy="4114800"/>
          </a:xfrm>
        </p:spPr>
        <p:txBody>
          <a:bodyPr/>
          <a:lstStyle/>
          <a:p>
            <a:pPr marL="914400" lvl="1" indent="-457200" eaLnBrk="1" hangingPunct="1">
              <a:lnSpc>
                <a:spcPct val="90000"/>
              </a:lnSpc>
              <a:buFont typeface="Wingdings" pitchFamily="2" charset="2"/>
              <a:buAutoNum type="arabicPeriod"/>
            </a:pPr>
            <a:r>
              <a:rPr lang="en-US" altLang="zh-CN" sz="2000"/>
              <a:t>#include  &lt;stdio.h&gt;</a:t>
            </a:r>
          </a:p>
          <a:p>
            <a:pPr marL="914400" lvl="1" indent="-457200" eaLnBrk="1" hangingPunct="1">
              <a:lnSpc>
                <a:spcPct val="90000"/>
              </a:lnSpc>
              <a:buFont typeface="Wingdings" pitchFamily="2" charset="2"/>
              <a:buAutoNum type="arabicPeriod"/>
            </a:pPr>
            <a:r>
              <a:rPr lang="en-US" altLang="zh-CN" sz="2000">
                <a:solidFill>
                  <a:srgbClr val="0070C0"/>
                </a:solidFill>
              </a:rPr>
              <a:t>#define MAXN 3</a:t>
            </a:r>
          </a:p>
          <a:p>
            <a:pPr marL="914400" lvl="1" indent="-457200" eaLnBrk="1" hangingPunct="1">
              <a:lnSpc>
                <a:spcPct val="90000"/>
              </a:lnSpc>
              <a:buFont typeface="Wingdings" pitchFamily="2" charset="2"/>
              <a:buAutoNum type="arabicPeriod"/>
            </a:pPr>
            <a:r>
              <a:rPr lang="en-US" altLang="zh-CN" sz="2000"/>
              <a:t>int s[MAXN][6] = {{5, 70, 80, 96, 70, 90},</a:t>
            </a:r>
          </a:p>
          <a:p>
            <a:pPr marL="914400" lvl="1" indent="-457200" eaLnBrk="1" hangingPunct="1">
              <a:lnSpc>
                <a:spcPct val="90000"/>
              </a:lnSpc>
              <a:buFont typeface="Wingdings" pitchFamily="2" charset="2"/>
              <a:buAutoNum type="arabicPeriod"/>
            </a:pPr>
            <a:r>
              <a:rPr lang="en-US" altLang="zh-CN" sz="2000"/>
              <a:t>                           {7, 40, 80, 50, 60, 80},</a:t>
            </a:r>
          </a:p>
          <a:p>
            <a:pPr marL="914400" lvl="1" indent="-457200" eaLnBrk="1" hangingPunct="1">
              <a:lnSpc>
                <a:spcPct val="90000"/>
              </a:lnSpc>
              <a:buFont typeface="Wingdings" pitchFamily="2" charset="2"/>
              <a:buAutoNum type="arabicPeriod"/>
            </a:pPr>
            <a:r>
              <a:rPr lang="en-US" altLang="zh-CN" sz="2000"/>
              <a:t>                           {8, 50, 70, 40, 50, 75}};</a:t>
            </a:r>
          </a:p>
          <a:p>
            <a:pPr marL="914400" lvl="1" indent="-457200" eaLnBrk="1" hangingPunct="1">
              <a:lnSpc>
                <a:spcPct val="90000"/>
              </a:lnSpc>
              <a:buFont typeface="Wingdings" pitchFamily="2" charset="2"/>
              <a:buAutoNum type="arabicPeriod"/>
            </a:pPr>
            <a:r>
              <a:rPr lang="en-US" altLang="zh-CN" sz="2000">
                <a:solidFill>
                  <a:srgbClr val="0070C0"/>
                </a:solidFill>
              </a:rPr>
              <a:t>void search(int (*)[6], int, int);</a:t>
            </a:r>
          </a:p>
          <a:p>
            <a:pPr marL="914400" lvl="1" indent="-457200" eaLnBrk="1" hangingPunct="1">
              <a:lnSpc>
                <a:spcPct val="90000"/>
              </a:lnSpc>
              <a:buFont typeface="Wingdings" pitchFamily="2" charset="2"/>
              <a:buAutoNum type="arabicPeriod"/>
            </a:pPr>
            <a:r>
              <a:rPr lang="en-US" altLang="zh-CN" sz="2000"/>
              <a:t>void main(){</a:t>
            </a:r>
          </a:p>
          <a:p>
            <a:pPr marL="914400" lvl="1" indent="-457200" eaLnBrk="1" hangingPunct="1">
              <a:lnSpc>
                <a:spcPct val="90000"/>
              </a:lnSpc>
              <a:buFont typeface="Wingdings" pitchFamily="2" charset="2"/>
              <a:buAutoNum type="arabicPeriod"/>
            </a:pPr>
            <a:r>
              <a:rPr lang="en-US" altLang="zh-CN" sz="2000"/>
              <a:t>  search(s, MAXN, 7);</a:t>
            </a:r>
          </a:p>
          <a:p>
            <a:pPr marL="914400" lvl="1" indent="-457200" eaLnBrk="1" hangingPunct="1">
              <a:lnSpc>
                <a:spcPct val="90000"/>
              </a:lnSpc>
              <a:buFont typeface="Wingdings" pitchFamily="2" charset="2"/>
              <a:buAutoNum type="arabicPeriod"/>
            </a:pPr>
            <a:r>
              <a:rPr lang="en-US" altLang="zh-CN" sz="2000"/>
              <a:t>  search(s, MAXN, 5);</a:t>
            </a:r>
          </a:p>
          <a:p>
            <a:pPr marL="914400" lvl="1" indent="-457200" eaLnBrk="1" hangingPunct="1">
              <a:lnSpc>
                <a:spcPct val="90000"/>
              </a:lnSpc>
              <a:buFont typeface="Wingdings" pitchFamily="2" charset="2"/>
              <a:buAutoNum type="arabicPeriod"/>
            </a:pPr>
            <a:r>
              <a:rPr lang="en-US" altLang="zh-CN" sz="2000"/>
              <a:t>  search(s, MAXN, 8);</a:t>
            </a:r>
          </a:p>
          <a:p>
            <a:pPr marL="914400" lvl="1" indent="-457200" eaLnBrk="1" hangingPunct="1">
              <a:lnSpc>
                <a:spcPct val="90000"/>
              </a:lnSpc>
              <a:buFont typeface="Wingdings" pitchFamily="2" charset="2"/>
              <a:buAutoNum type="arabicPeriod"/>
            </a:pPr>
            <a:r>
              <a:rPr lang="en-US" altLang="zh-CN" sz="2000"/>
              <a:t>  search(s, MAXN, 2);</a:t>
            </a:r>
          </a:p>
          <a:p>
            <a:pPr marL="914400" lvl="1" indent="-457200" eaLnBrk="1" hangingPunct="1">
              <a:lnSpc>
                <a:spcPct val="90000"/>
              </a:lnSpc>
              <a:buFont typeface="Wingdings" pitchFamily="2" charset="2"/>
              <a:buAutoNum type="arabicPeriod"/>
            </a:pPr>
            <a:r>
              <a:rPr lang="en-US" altLang="zh-CN" sz="2000"/>
              <a:t>}    //Continues.</a:t>
            </a:r>
          </a:p>
        </p:txBody>
      </p:sp>
    </p:spTree>
    <p:extLst>
      <p:ext uri="{BB962C8B-B14F-4D97-AF65-F5344CB8AC3E}">
        <p14:creationId xmlns:p14="http://schemas.microsoft.com/office/powerpoint/2010/main" val="14204053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D040E68-2DE0-4B84-A214-972605CE37C4}"/>
              </a:ext>
            </a:extLst>
          </p:cNvPr>
          <p:cNvSpPr>
            <a:spLocks noGrp="1" noChangeArrowheads="1"/>
          </p:cNvSpPr>
          <p:nvPr>
            <p:ph type="title"/>
          </p:nvPr>
        </p:nvSpPr>
        <p:spPr/>
        <p:txBody>
          <a:bodyPr/>
          <a:lstStyle/>
          <a:p>
            <a:pPr eaLnBrk="1" hangingPunct="1"/>
            <a:r>
              <a:rPr lang="zh-CN" altLang="en-US"/>
              <a:t>例</a:t>
            </a:r>
            <a:r>
              <a:rPr lang="en-US" altLang="zh-CN"/>
              <a:t>5.5(</a:t>
            </a:r>
            <a:r>
              <a:rPr lang="zh-CN" altLang="en-US"/>
              <a:t>续</a:t>
            </a:r>
            <a:r>
              <a:rPr lang="en-US" altLang="zh-CN"/>
              <a:t>)(*)</a:t>
            </a:r>
          </a:p>
        </p:txBody>
      </p:sp>
      <p:sp>
        <p:nvSpPr>
          <p:cNvPr id="63491" name="Rectangle 3">
            <a:extLst>
              <a:ext uri="{FF2B5EF4-FFF2-40B4-BE49-F238E27FC236}">
                <a16:creationId xmlns:a16="http://schemas.microsoft.com/office/drawing/2014/main" id="{19F001E9-ED71-4774-5C70-17C66F46987B}"/>
              </a:ext>
            </a:extLst>
          </p:cNvPr>
          <p:cNvSpPr>
            <a:spLocks noGrp="1" noChangeArrowheads="1"/>
          </p:cNvSpPr>
          <p:nvPr>
            <p:ph type="body" idx="1"/>
          </p:nvPr>
        </p:nvSpPr>
        <p:spPr>
          <a:xfrm>
            <a:off x="755576" y="2017713"/>
            <a:ext cx="8199512" cy="4114800"/>
          </a:xfrm>
        </p:spPr>
        <p:txBody>
          <a:bodyPr/>
          <a:lstStyle/>
          <a:p>
            <a:pPr marL="914400" lvl="1" indent="-457200" eaLnBrk="1" hangingPunct="1">
              <a:lnSpc>
                <a:spcPct val="90000"/>
              </a:lnSpc>
              <a:buFont typeface="Wingdings" pitchFamily="2" charset="2"/>
              <a:buAutoNum type="arabicPeriod" startAt="13"/>
            </a:pPr>
            <a:r>
              <a:rPr lang="en-US" altLang="zh-CN" sz="2000"/>
              <a:t>void search(int (*p)[6], int m, int no){</a:t>
            </a:r>
          </a:p>
          <a:p>
            <a:pPr marL="914400" lvl="1" indent="-457200" eaLnBrk="1" hangingPunct="1">
              <a:lnSpc>
                <a:spcPct val="90000"/>
              </a:lnSpc>
              <a:buFont typeface="Wingdings" pitchFamily="2" charset="2"/>
              <a:buAutoNum type="arabicPeriod" startAt="13"/>
            </a:pPr>
            <a:r>
              <a:rPr lang="en-US" altLang="zh-CN" sz="2000"/>
              <a:t>  int (*ap)[6], *pp; </a:t>
            </a:r>
          </a:p>
          <a:p>
            <a:pPr marL="914400" lvl="1" indent="-457200" eaLnBrk="1" hangingPunct="1">
              <a:lnSpc>
                <a:spcPct val="90000"/>
              </a:lnSpc>
              <a:buFont typeface="Wingdings" pitchFamily="2" charset="2"/>
              <a:buAutoNum type="arabicPeriod" startAt="13"/>
            </a:pPr>
            <a:r>
              <a:rPr lang="en-US" altLang="zh-CN" sz="2000"/>
              <a:t>  for(ap = p; ap &lt; p+m; ap++)</a:t>
            </a:r>
          </a:p>
          <a:p>
            <a:pPr marL="914400" lvl="1" indent="-457200" eaLnBrk="1" hangingPunct="1">
              <a:lnSpc>
                <a:spcPct val="90000"/>
              </a:lnSpc>
              <a:buFont typeface="Wingdings" pitchFamily="2" charset="2"/>
              <a:buAutoNum type="arabicPeriod" startAt="13"/>
            </a:pPr>
            <a:r>
              <a:rPr lang="en-US" altLang="zh-CN" sz="2000"/>
              <a:t>   if ( (*ap)[0] == no)  {</a:t>
            </a:r>
            <a:r>
              <a:rPr lang="en-US" altLang="zh-CN" sz="2000">
                <a:solidFill>
                  <a:srgbClr val="00B050"/>
                </a:solidFill>
              </a:rPr>
              <a:t>//**ap</a:t>
            </a:r>
            <a:r>
              <a:rPr lang="zh-CN" altLang="en-US" sz="2000">
                <a:solidFill>
                  <a:srgbClr val="00B050"/>
                </a:solidFill>
              </a:rPr>
              <a:t>和</a:t>
            </a:r>
            <a:r>
              <a:rPr lang="en-US" altLang="zh-CN" sz="2000">
                <a:solidFill>
                  <a:srgbClr val="00B050"/>
                </a:solidFill>
              </a:rPr>
              <a:t>(*ap)[0]</a:t>
            </a:r>
            <a:r>
              <a:rPr lang="zh-CN" altLang="en-US" sz="2000">
                <a:solidFill>
                  <a:srgbClr val="00B050"/>
                </a:solidFill>
              </a:rPr>
              <a:t>等价</a:t>
            </a:r>
            <a:r>
              <a:rPr lang="en-US" altLang="zh-CN" sz="2000">
                <a:solidFill>
                  <a:srgbClr val="00B050"/>
                </a:solidFill>
              </a:rPr>
              <a:t>,</a:t>
            </a:r>
            <a:r>
              <a:rPr lang="zh-CN" altLang="en-US" sz="2000">
                <a:solidFill>
                  <a:srgbClr val="00B050"/>
                </a:solidFill>
              </a:rPr>
              <a:t>教材中用了**</a:t>
            </a:r>
            <a:r>
              <a:rPr lang="en-US" altLang="zh-CN" sz="2000">
                <a:solidFill>
                  <a:srgbClr val="00B050"/>
                </a:solidFill>
              </a:rPr>
              <a:t>ap</a:t>
            </a:r>
          </a:p>
          <a:p>
            <a:pPr marL="914400" lvl="1" indent="-457200" eaLnBrk="1" hangingPunct="1">
              <a:lnSpc>
                <a:spcPct val="90000"/>
              </a:lnSpc>
              <a:buFont typeface="Wingdings" pitchFamily="2" charset="2"/>
              <a:buAutoNum type="arabicPeriod" startAt="13"/>
            </a:pPr>
            <a:r>
              <a:rPr lang="en-US" altLang="zh-CN" sz="2000"/>
              <a:t>     printf("%d </a:t>
            </a:r>
            <a:r>
              <a:rPr lang="zh-CN" altLang="en-US" sz="2000"/>
              <a:t>号学生是 </a:t>
            </a:r>
            <a:r>
              <a:rPr lang="en-US" altLang="zh-CN" sz="2000"/>
              <a:t>:\n", no);</a:t>
            </a:r>
          </a:p>
          <a:p>
            <a:pPr marL="914400" lvl="1" indent="-457200" eaLnBrk="1" hangingPunct="1">
              <a:lnSpc>
                <a:spcPct val="90000"/>
              </a:lnSpc>
              <a:buFont typeface="Wingdings" pitchFamily="2" charset="2"/>
              <a:buAutoNum type="arabicPeriod" startAt="13"/>
            </a:pPr>
            <a:r>
              <a:rPr lang="en-US" altLang="zh-CN" sz="2000"/>
              <a:t>     for(pp = *ap+1; pp &lt;*ap+6; pp++)</a:t>
            </a:r>
          </a:p>
          <a:p>
            <a:pPr marL="914400" lvl="1" indent="-457200" eaLnBrk="1" hangingPunct="1">
              <a:lnSpc>
                <a:spcPct val="90000"/>
              </a:lnSpc>
              <a:buFont typeface="Wingdings" pitchFamily="2" charset="2"/>
              <a:buAutoNum type="arabicPeriod" startAt="13"/>
            </a:pPr>
            <a:r>
              <a:rPr lang="en-US" altLang="zh-CN" sz="2000"/>
              <a:t>           printf("%4d\t", *pp);</a:t>
            </a:r>
          </a:p>
          <a:p>
            <a:pPr marL="914400" lvl="1" indent="-457200" eaLnBrk="1" hangingPunct="1">
              <a:lnSpc>
                <a:spcPct val="90000"/>
              </a:lnSpc>
              <a:buFont typeface="Wingdings" pitchFamily="2" charset="2"/>
              <a:buAutoNum type="arabicPeriod" startAt="13"/>
            </a:pPr>
            <a:r>
              <a:rPr lang="en-US" altLang="zh-CN" sz="2000"/>
              <a:t>     printf("\n");</a:t>
            </a:r>
          </a:p>
          <a:p>
            <a:pPr marL="914400" lvl="1" indent="-457200" eaLnBrk="1" hangingPunct="1">
              <a:lnSpc>
                <a:spcPct val="90000"/>
              </a:lnSpc>
              <a:buFont typeface="Wingdings" pitchFamily="2" charset="2"/>
              <a:buAutoNum type="arabicPeriod" startAt="13"/>
            </a:pPr>
            <a:r>
              <a:rPr lang="en-US" altLang="zh-CN" sz="2000"/>
              <a:t>     return;</a:t>
            </a:r>
          </a:p>
          <a:p>
            <a:pPr marL="914400" lvl="1" indent="-457200" eaLnBrk="1" hangingPunct="1">
              <a:lnSpc>
                <a:spcPct val="90000"/>
              </a:lnSpc>
              <a:buFont typeface="Wingdings" pitchFamily="2" charset="2"/>
              <a:buAutoNum type="arabicPeriod" startAt="13"/>
            </a:pPr>
            <a:r>
              <a:rPr lang="en-US" altLang="zh-CN" sz="2000"/>
              <a:t>   }</a:t>
            </a:r>
          </a:p>
          <a:p>
            <a:pPr marL="914400" lvl="1" indent="-457200" eaLnBrk="1" hangingPunct="1">
              <a:lnSpc>
                <a:spcPct val="90000"/>
              </a:lnSpc>
              <a:buFont typeface="Wingdings" pitchFamily="2" charset="2"/>
              <a:buAutoNum type="arabicPeriod" startAt="13"/>
            </a:pPr>
            <a:r>
              <a:rPr lang="en-US" altLang="zh-CN" sz="2000"/>
              <a:t>   printf("</a:t>
            </a:r>
            <a:r>
              <a:rPr lang="zh-CN" altLang="en-US" sz="2000"/>
              <a:t>没有 </a:t>
            </a:r>
            <a:r>
              <a:rPr lang="en-US" altLang="zh-CN" sz="2000"/>
              <a:t>%d </a:t>
            </a:r>
            <a:r>
              <a:rPr lang="zh-CN" altLang="en-US" sz="2000"/>
              <a:t>号的学生</a:t>
            </a:r>
            <a:r>
              <a:rPr lang="en-US" altLang="zh-CN" sz="2000"/>
              <a:t>.\n", no);</a:t>
            </a:r>
          </a:p>
          <a:p>
            <a:pPr marL="914400" lvl="1" indent="-457200" eaLnBrk="1" hangingPunct="1">
              <a:lnSpc>
                <a:spcPct val="90000"/>
              </a:lnSpc>
              <a:buFont typeface="Wingdings" pitchFamily="2" charset="2"/>
              <a:buAutoNum type="arabicPeriod" startAt="13"/>
            </a:pPr>
            <a:r>
              <a:rPr lang="en-US" altLang="zh-CN" sz="2000"/>
              <a:t>}</a:t>
            </a:r>
          </a:p>
        </p:txBody>
      </p:sp>
      <p:pic>
        <p:nvPicPr>
          <p:cNvPr id="2" name="图形 1" descr="教师 纯色填充">
            <a:hlinkClick r:id="rId3"/>
            <a:extLst>
              <a:ext uri="{FF2B5EF4-FFF2-40B4-BE49-F238E27FC236}">
                <a16:creationId xmlns:a16="http://schemas.microsoft.com/office/drawing/2014/main" id="{4298BDE8-2F04-E56E-B29A-99799410AB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16416" y="6064378"/>
            <a:ext cx="579309" cy="579309"/>
          </a:xfrm>
          <a:prstGeom prst="rect">
            <a:avLst/>
          </a:prstGeom>
        </p:spPr>
      </p:pic>
    </p:spTree>
    <p:extLst>
      <p:ext uri="{BB962C8B-B14F-4D97-AF65-F5344CB8AC3E}">
        <p14:creationId xmlns:p14="http://schemas.microsoft.com/office/powerpoint/2010/main" val="17079955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7EAF494B-88F0-D180-48AA-D3844C53FC03}"/>
              </a:ext>
            </a:extLst>
          </p:cNvPr>
          <p:cNvSpPr>
            <a:spLocks noGrp="1" noChangeArrowheads="1"/>
          </p:cNvSpPr>
          <p:nvPr>
            <p:ph type="title"/>
          </p:nvPr>
        </p:nvSpPr>
        <p:spPr/>
        <p:txBody>
          <a:bodyPr/>
          <a:lstStyle/>
          <a:p>
            <a:pPr eaLnBrk="1" hangingPunct="1"/>
            <a:r>
              <a:rPr lang="zh-CN" altLang="en-US"/>
              <a:t>数组作为函数参数</a:t>
            </a:r>
            <a:r>
              <a:rPr lang="en-US" altLang="zh-CN"/>
              <a:t>——</a:t>
            </a:r>
            <a:r>
              <a:rPr lang="zh-CN" altLang="en-US"/>
              <a:t>注意</a:t>
            </a:r>
          </a:p>
        </p:txBody>
      </p:sp>
      <p:sp>
        <p:nvSpPr>
          <p:cNvPr id="631811" name="Rectangle 3">
            <a:extLst>
              <a:ext uri="{FF2B5EF4-FFF2-40B4-BE49-F238E27FC236}">
                <a16:creationId xmlns:a16="http://schemas.microsoft.com/office/drawing/2014/main" id="{A6183624-E4EC-7B6B-93FA-8B77B236A5E9}"/>
              </a:ext>
            </a:extLst>
          </p:cNvPr>
          <p:cNvSpPr>
            <a:spLocks noGrp="1" noChangeArrowheads="1"/>
          </p:cNvSpPr>
          <p:nvPr>
            <p:ph type="body" idx="1"/>
          </p:nvPr>
        </p:nvSpPr>
        <p:spPr>
          <a:xfrm>
            <a:off x="1150939" y="2017713"/>
            <a:ext cx="7381502" cy="4114800"/>
          </a:xfrm>
        </p:spPr>
        <p:txBody>
          <a:bodyPr/>
          <a:lstStyle/>
          <a:p>
            <a:pPr eaLnBrk="1" hangingPunct="1">
              <a:lnSpc>
                <a:spcPct val="150000"/>
              </a:lnSpc>
              <a:spcAft>
                <a:spcPts val="600"/>
              </a:spcAft>
            </a:pPr>
            <a:r>
              <a:rPr lang="zh-CN" altLang="en-US" sz="2400"/>
              <a:t>实参所指数组大小不能小于函数实际要用的数组的大小。</a:t>
            </a:r>
          </a:p>
          <a:p>
            <a:pPr lvl="1" eaLnBrk="1" hangingPunct="1">
              <a:lnSpc>
                <a:spcPct val="150000"/>
              </a:lnSpc>
              <a:spcAft>
                <a:spcPts val="600"/>
              </a:spcAft>
            </a:pPr>
            <a:r>
              <a:rPr lang="zh-CN" altLang="en-US" sz="2000"/>
              <a:t>如实参数组太小，</a:t>
            </a:r>
            <a:r>
              <a:rPr lang="zh-CN" altLang="en-US" sz="2000">
                <a:solidFill>
                  <a:srgbClr val="C00000"/>
                </a:solidFill>
              </a:rPr>
              <a:t>因系统不检查超界情况</a:t>
            </a:r>
            <a:r>
              <a:rPr lang="zh-CN" altLang="en-US" sz="2000"/>
              <a:t>，可能会使用实际数组后面别的变量的空间，这会发生意想不到的错误。</a:t>
            </a:r>
          </a:p>
          <a:p>
            <a:pPr algn="just" eaLnBrk="1" hangingPunct="1">
              <a:lnSpc>
                <a:spcPct val="150000"/>
              </a:lnSpc>
              <a:spcAft>
                <a:spcPts val="600"/>
              </a:spcAft>
            </a:pPr>
            <a:r>
              <a:rPr lang="zh-CN" altLang="en-US" sz="2400"/>
              <a:t>多维数组作为形参时，除数组形参的第一维大小不必指定外，</a:t>
            </a:r>
            <a:r>
              <a:rPr lang="zh-CN" altLang="en-US" sz="2400">
                <a:solidFill>
                  <a:srgbClr val="0066FF"/>
                </a:solidFill>
              </a:rPr>
              <a:t>其他维的大小必须明确指定</a:t>
            </a:r>
            <a:r>
              <a:rPr lang="zh-CN" altLang="en-US" sz="2400"/>
              <a:t>。</a:t>
            </a:r>
          </a:p>
          <a:p>
            <a:pPr lvl="1" algn="just" eaLnBrk="1" hangingPunct="1">
              <a:lnSpc>
                <a:spcPct val="150000"/>
              </a:lnSpc>
              <a:spcAft>
                <a:spcPts val="600"/>
              </a:spcAft>
            </a:pPr>
            <a:r>
              <a:rPr lang="zh-CN" altLang="en-US" sz="2000"/>
              <a:t>一维数组作为形参时，可以不指定维的大小。</a:t>
            </a:r>
          </a:p>
          <a:p>
            <a:pPr eaLnBrk="1" hangingPunct="1">
              <a:lnSpc>
                <a:spcPct val="150000"/>
              </a:lnSpc>
              <a:spcAft>
                <a:spcPts val="600"/>
              </a:spcAft>
            </a:pPr>
            <a:endParaRPr lang="zh-CN" altLang="en-US" sz="2400"/>
          </a:p>
        </p:txBody>
      </p:sp>
    </p:spTree>
    <p:extLst>
      <p:ext uri="{BB962C8B-B14F-4D97-AF65-F5344CB8AC3E}">
        <p14:creationId xmlns:p14="http://schemas.microsoft.com/office/powerpoint/2010/main" val="3783258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31811">
                                            <p:txEl>
                                              <p:pRg st="0" end="0"/>
                                            </p:txEl>
                                          </p:spTgt>
                                        </p:tgtEl>
                                        <p:attrNameLst>
                                          <p:attrName>style.visibility</p:attrName>
                                        </p:attrNameLst>
                                      </p:cBhvr>
                                      <p:to>
                                        <p:strVal val="visible"/>
                                      </p:to>
                                    </p:set>
                                    <p:animEffect transition="in" filter="box(out)">
                                      <p:cBhvr>
                                        <p:cTn id="7" dur="500"/>
                                        <p:tgtEl>
                                          <p:spTgt spid="63181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8" presetID="4" presetClass="entr" presetSubtype="32" fill="hold" grpId="0" nodeType="withEffect">
                                  <p:stCondLst>
                                    <p:cond delay="0"/>
                                  </p:stCondLst>
                                  <p:childTnLst>
                                    <p:set>
                                      <p:cBhvr>
                                        <p:cTn id="9" dur="1" fill="hold">
                                          <p:stCondLst>
                                            <p:cond delay="0"/>
                                          </p:stCondLst>
                                        </p:cTn>
                                        <p:tgtEl>
                                          <p:spTgt spid="631811">
                                            <p:txEl>
                                              <p:pRg st="1" end="1"/>
                                            </p:txEl>
                                          </p:spTgt>
                                        </p:tgtEl>
                                        <p:attrNameLst>
                                          <p:attrName>style.visibility</p:attrName>
                                        </p:attrNameLst>
                                      </p:cBhvr>
                                      <p:to>
                                        <p:strVal val="visible"/>
                                      </p:to>
                                    </p:set>
                                    <p:animEffect transition="in" filter="box(out)">
                                      <p:cBhvr>
                                        <p:cTn id="10" dur="500"/>
                                        <p:tgtEl>
                                          <p:spTgt spid="631811">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3" name="camera.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631811">
                                            <p:txEl>
                                              <p:pRg st="2" end="2"/>
                                            </p:txEl>
                                          </p:spTgt>
                                        </p:tgtEl>
                                        <p:attrNameLst>
                                          <p:attrName>style.visibility</p:attrName>
                                        </p:attrNameLst>
                                      </p:cBhvr>
                                      <p:to>
                                        <p:strVal val="visible"/>
                                      </p:to>
                                    </p:set>
                                    <p:animEffect transition="in" filter="box(out)">
                                      <p:cBhvr>
                                        <p:cTn id="15" dur="500"/>
                                        <p:tgtEl>
                                          <p:spTgt spid="631811">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6" presetID="4" presetClass="entr" presetSubtype="32" fill="hold" grpId="0" nodeType="withEffect">
                                  <p:stCondLst>
                                    <p:cond delay="0"/>
                                  </p:stCondLst>
                                  <p:childTnLst>
                                    <p:set>
                                      <p:cBhvr>
                                        <p:cTn id="17" dur="1" fill="hold">
                                          <p:stCondLst>
                                            <p:cond delay="0"/>
                                          </p:stCondLst>
                                        </p:cTn>
                                        <p:tgtEl>
                                          <p:spTgt spid="631811">
                                            <p:txEl>
                                              <p:pRg st="3" end="3"/>
                                            </p:txEl>
                                          </p:spTgt>
                                        </p:tgtEl>
                                        <p:attrNameLst>
                                          <p:attrName>style.visibility</p:attrName>
                                        </p:attrNameLst>
                                      </p:cBhvr>
                                      <p:to>
                                        <p:strVal val="visible"/>
                                      </p:to>
                                    </p:set>
                                    <p:animEffect transition="in" filter="box(out)">
                                      <p:cBhvr>
                                        <p:cTn id="18" dur="500"/>
                                        <p:tgtEl>
                                          <p:spTgt spid="631811">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1811"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3D2145E-57A4-0727-8516-A3C792C0A15F}"/>
            </a:ext>
          </a:extLst>
        </p:cNvPr>
        <p:cNvGrpSpPr/>
        <p:nvPr/>
      </p:nvGrpSpPr>
      <p:grpSpPr>
        <a:xfrm>
          <a:off x="0" y="0"/>
          <a:ext cx="0" cy="0"/>
          <a:chOff x="0" y="0"/>
          <a:chExt cx="0" cy="0"/>
        </a:xfrm>
      </p:grpSpPr>
      <p:sp>
        <p:nvSpPr>
          <p:cNvPr id="552962" name="Rectangle 2">
            <a:extLst>
              <a:ext uri="{FF2B5EF4-FFF2-40B4-BE49-F238E27FC236}">
                <a16:creationId xmlns:a16="http://schemas.microsoft.com/office/drawing/2014/main" id="{1B686A41-4825-F60D-13C6-0503397CC235}"/>
              </a:ext>
            </a:extLst>
          </p:cNvPr>
          <p:cNvSpPr>
            <a:spLocks noGrp="1" noChangeArrowheads="1"/>
          </p:cNvSpPr>
          <p:nvPr>
            <p:ph type="ctrTitle"/>
          </p:nvPr>
        </p:nvSpPr>
        <p:spPr/>
        <p:txBody>
          <a:bodyPr/>
          <a:lstStyle/>
          <a:p>
            <a:pPr eaLnBrk="1" hangingPunct="1"/>
            <a:r>
              <a:rPr lang="zh-CN" altLang="en-US"/>
              <a:t>指针数组</a:t>
            </a:r>
            <a:endParaRPr lang="zh-CN" altLang="en-US" sz="3600" b="1">
              <a:solidFill>
                <a:srgbClr val="FF0000"/>
              </a:solidFill>
              <a:effectLst>
                <a:outerShdw blurRad="38100" dist="38100" dir="2700000" algn="tl">
                  <a:srgbClr val="C0C0C0"/>
                </a:outerShdw>
              </a:effectLst>
              <a:latin typeface="宋体" panose="02010600030101010101" pitchFamily="2" charset="-122"/>
            </a:endParaRPr>
          </a:p>
        </p:txBody>
      </p:sp>
      <p:sp>
        <p:nvSpPr>
          <p:cNvPr id="552963" name="Rectangle 3">
            <a:extLst>
              <a:ext uri="{FF2B5EF4-FFF2-40B4-BE49-F238E27FC236}">
                <a16:creationId xmlns:a16="http://schemas.microsoft.com/office/drawing/2014/main" id="{81179062-20FE-090C-B7EF-106F02D5EA35}"/>
              </a:ext>
            </a:extLst>
          </p:cNvPr>
          <p:cNvSpPr>
            <a:spLocks noGrp="1" noChangeArrowheads="1"/>
          </p:cNvSpPr>
          <p:nvPr>
            <p:ph type="subTitle" idx="1"/>
          </p:nvPr>
        </p:nvSpPr>
        <p:spPr/>
        <p:txBody>
          <a:bodyPr/>
          <a:lstStyle/>
          <a:p>
            <a:pPr eaLnBrk="1" hangingPunct="1"/>
            <a:endParaRPr lang="en-US" altLang="en-US"/>
          </a:p>
        </p:txBody>
      </p:sp>
    </p:spTree>
    <p:extLst>
      <p:ext uri="{BB962C8B-B14F-4D97-AF65-F5344CB8AC3E}">
        <p14:creationId xmlns:p14="http://schemas.microsoft.com/office/powerpoint/2010/main" val="14802592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552963">
                                            <p:txEl>
                                              <p:pRg st="0" end="0"/>
                                            </p:txEl>
                                          </p:spTgt>
                                        </p:tgtEl>
                                        <p:attrNameLst>
                                          <p:attrName>style.visibility</p:attrName>
                                        </p:attrNameLst>
                                      </p:cBhvr>
                                      <p:to>
                                        <p:strVal val="visible"/>
                                      </p:to>
                                    </p:set>
                                    <p:anim calcmode="lin" valueType="num">
                                      <p:cBhvr additive="base">
                                        <p:cTn id="7" dur="500" fill="hold"/>
                                        <p:tgtEl>
                                          <p:spTgt spid="552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296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3" grpId="0" build="p"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C694A12A-0FBE-A45E-D74B-14010EF4DF47}"/>
              </a:ext>
            </a:extLst>
          </p:cNvPr>
          <p:cNvSpPr>
            <a:spLocks noGrp="1" noChangeArrowheads="1"/>
          </p:cNvSpPr>
          <p:nvPr>
            <p:ph type="title"/>
          </p:nvPr>
        </p:nvSpPr>
        <p:spPr/>
        <p:txBody>
          <a:bodyPr/>
          <a:lstStyle/>
          <a:p>
            <a:pPr eaLnBrk="1" hangingPunct="1"/>
            <a:r>
              <a:rPr lang="zh-CN" altLang="en-US"/>
              <a:t>指针数组</a:t>
            </a:r>
          </a:p>
        </p:txBody>
      </p:sp>
      <p:sp>
        <p:nvSpPr>
          <p:cNvPr id="573443" name="Rectangle 3">
            <a:extLst>
              <a:ext uri="{FF2B5EF4-FFF2-40B4-BE49-F238E27FC236}">
                <a16:creationId xmlns:a16="http://schemas.microsoft.com/office/drawing/2014/main" id="{D5CED577-0AF6-0D08-1B27-5BB40A149CDA}"/>
              </a:ext>
            </a:extLst>
          </p:cNvPr>
          <p:cNvSpPr>
            <a:spLocks noGrp="1" noChangeArrowheads="1"/>
          </p:cNvSpPr>
          <p:nvPr>
            <p:ph type="body" idx="1"/>
          </p:nvPr>
        </p:nvSpPr>
        <p:spPr>
          <a:xfrm>
            <a:off x="1182688" y="2017713"/>
            <a:ext cx="7772400" cy="4625974"/>
          </a:xfrm>
        </p:spPr>
        <p:txBody>
          <a:bodyPr/>
          <a:lstStyle/>
          <a:p>
            <a:pPr eaLnBrk="1" hangingPunct="1">
              <a:lnSpc>
                <a:spcPct val="150000"/>
              </a:lnSpc>
            </a:pPr>
            <a:r>
              <a:rPr lang="zh-CN" altLang="en-US" sz="2400"/>
              <a:t>当数组的元素类型为某种指针类型时，该数组就称为</a:t>
            </a:r>
            <a:r>
              <a:rPr lang="zh-CN" altLang="en-US" sz="2400">
                <a:solidFill>
                  <a:srgbClr val="0070C0"/>
                </a:solidFill>
              </a:rPr>
              <a:t>指针数组</a:t>
            </a:r>
            <a:r>
              <a:rPr lang="zh-CN" altLang="en-US" sz="2400"/>
              <a:t>。</a:t>
            </a:r>
          </a:p>
          <a:p>
            <a:pPr eaLnBrk="1" hangingPunct="1">
              <a:lnSpc>
                <a:spcPct val="150000"/>
              </a:lnSpc>
            </a:pPr>
            <a:r>
              <a:rPr lang="zh-CN" altLang="en-US" sz="2400"/>
              <a:t>指针数组的定义形式</a:t>
            </a:r>
          </a:p>
          <a:p>
            <a:pPr lvl="1" eaLnBrk="1" hangingPunct="1">
              <a:lnSpc>
                <a:spcPct val="150000"/>
              </a:lnSpc>
            </a:pPr>
            <a:r>
              <a:rPr lang="zh-CN" altLang="en-US" sz="2000"/>
              <a:t>类型说明符  * 数组名</a:t>
            </a:r>
            <a:r>
              <a:rPr lang="en-US" altLang="zh-CN" sz="2000"/>
              <a:t>[</a:t>
            </a:r>
            <a:r>
              <a:rPr lang="zh-CN" altLang="en-US" sz="2000"/>
              <a:t>常量表达式</a:t>
            </a:r>
            <a:r>
              <a:rPr lang="en-US" altLang="zh-CN" sz="2000"/>
              <a:t>] </a:t>
            </a:r>
            <a:r>
              <a:rPr lang="zh-CN" altLang="en-US" sz="2000"/>
              <a:t>；</a:t>
            </a:r>
          </a:p>
          <a:p>
            <a:pPr lvl="1" eaLnBrk="1" hangingPunct="1">
              <a:lnSpc>
                <a:spcPct val="150000"/>
              </a:lnSpc>
            </a:pPr>
            <a:r>
              <a:rPr lang="zh-CN" altLang="en-US" sz="2000"/>
              <a:t>例如      </a:t>
            </a:r>
            <a:r>
              <a:rPr lang="en-US" altLang="zh-CN" sz="2000"/>
              <a:t>int  *p[10];</a:t>
            </a:r>
            <a:br>
              <a:rPr lang="en-US" altLang="zh-CN" sz="2000"/>
            </a:br>
            <a:r>
              <a:rPr lang="zh-CN" altLang="en-US" sz="2000"/>
              <a:t>定义指针数组</a:t>
            </a:r>
            <a:r>
              <a:rPr lang="en-US" altLang="zh-CN" sz="2000"/>
              <a:t>p</a:t>
            </a:r>
            <a:r>
              <a:rPr lang="zh-CN" altLang="en-US" sz="2000"/>
              <a:t>的每个元素都能指向</a:t>
            </a:r>
            <a:r>
              <a:rPr lang="en-US" altLang="zh-CN" sz="2000"/>
              <a:t>int</a:t>
            </a:r>
            <a:r>
              <a:rPr lang="zh-CN" altLang="en-US" sz="2000"/>
              <a:t>型数据的指针变量，有十个元素：</a:t>
            </a:r>
            <a:r>
              <a:rPr lang="en-US" altLang="zh-CN" sz="2000"/>
              <a:t>p[0]</a:t>
            </a:r>
            <a:r>
              <a:rPr lang="zh-CN" altLang="en-US" sz="2000"/>
              <a:t>、</a:t>
            </a:r>
            <a:r>
              <a:rPr lang="en-US" altLang="zh-CN" sz="2000"/>
              <a:t>p[1]</a:t>
            </a:r>
            <a:r>
              <a:rPr lang="zh-CN" altLang="en-US" sz="2000"/>
              <a:t>、</a:t>
            </a:r>
            <a:r>
              <a:rPr lang="en-US" altLang="zh-CN" sz="2000">
                <a:latin typeface="Arial" panose="020B0604020202020204" pitchFamily="34" charset="0"/>
              </a:rPr>
              <a:t>…</a:t>
            </a:r>
            <a:r>
              <a:rPr lang="zh-CN" altLang="en-US" sz="2000"/>
              <a:t>、</a:t>
            </a:r>
            <a:r>
              <a:rPr lang="en-US" altLang="zh-CN" sz="2000"/>
              <a:t>p[9]</a:t>
            </a:r>
            <a:r>
              <a:rPr lang="zh-CN" altLang="en-US" sz="2000"/>
              <a:t>。</a:t>
            </a:r>
          </a:p>
          <a:p>
            <a:pPr eaLnBrk="1" hangingPunct="1">
              <a:lnSpc>
                <a:spcPct val="150000"/>
              </a:lnSpc>
            </a:pPr>
            <a:r>
              <a:rPr lang="zh-CN" altLang="en-US" sz="2400"/>
              <a:t>和一般的数组定义一样，数组名</a:t>
            </a:r>
            <a:r>
              <a:rPr lang="en-US" altLang="zh-CN" sz="2400"/>
              <a:t>p</a:t>
            </a:r>
            <a:r>
              <a:rPr lang="zh-CN" altLang="en-US" sz="2400"/>
              <a:t>也可作为</a:t>
            </a:r>
            <a:r>
              <a:rPr lang="en-US" altLang="zh-CN" sz="2400"/>
              <a:t>p[0]</a:t>
            </a:r>
            <a:r>
              <a:rPr lang="zh-CN" altLang="en-US" sz="2400"/>
              <a:t>的地址。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3443">
                                            <p:txEl>
                                              <p:pRg st="0" end="0"/>
                                            </p:txEl>
                                          </p:spTgt>
                                        </p:tgtEl>
                                        <p:attrNameLst>
                                          <p:attrName>style.visibility</p:attrName>
                                        </p:attrNameLst>
                                      </p:cBhvr>
                                      <p:to>
                                        <p:strVal val="visible"/>
                                      </p:to>
                                    </p:set>
                                    <p:anim calcmode="lin" valueType="num">
                                      <p:cBhvr additive="base">
                                        <p:cTn id="7" dur="500" fill="hold"/>
                                        <p:tgtEl>
                                          <p:spTgt spid="5734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344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73443">
                                            <p:txEl>
                                              <p:pRg st="1" end="1"/>
                                            </p:txEl>
                                          </p:spTgt>
                                        </p:tgtEl>
                                        <p:attrNameLst>
                                          <p:attrName>style.visibility</p:attrName>
                                        </p:attrNameLst>
                                      </p:cBhvr>
                                      <p:to>
                                        <p:strVal val="visible"/>
                                      </p:to>
                                    </p:set>
                                    <p:anim calcmode="lin" valueType="num">
                                      <p:cBhvr additive="base">
                                        <p:cTn id="13" dur="500" fill="hold"/>
                                        <p:tgtEl>
                                          <p:spTgt spid="5734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7344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par>
                                <p:cTn id="15" presetID="2" presetClass="entr" presetSubtype="8" fill="hold" grpId="0" nodeType="withEffect">
                                  <p:stCondLst>
                                    <p:cond delay="0"/>
                                  </p:stCondLst>
                                  <p:childTnLst>
                                    <p:set>
                                      <p:cBhvr>
                                        <p:cTn id="16" dur="1" fill="hold">
                                          <p:stCondLst>
                                            <p:cond delay="0"/>
                                          </p:stCondLst>
                                        </p:cTn>
                                        <p:tgtEl>
                                          <p:spTgt spid="573443">
                                            <p:txEl>
                                              <p:pRg st="2" end="2"/>
                                            </p:txEl>
                                          </p:spTgt>
                                        </p:tgtEl>
                                        <p:attrNameLst>
                                          <p:attrName>style.visibility</p:attrName>
                                        </p:attrNameLst>
                                      </p:cBhvr>
                                      <p:to>
                                        <p:strVal val="visible"/>
                                      </p:to>
                                    </p:set>
                                    <p:anim calcmode="lin" valueType="num">
                                      <p:cBhvr additive="base">
                                        <p:cTn id="17" dur="500" fill="hold"/>
                                        <p:tgtEl>
                                          <p:spTgt spid="57344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7344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par>
                                <p:cTn id="19" presetID="2" presetClass="entr" presetSubtype="8" fill="hold" grpId="0" nodeType="withEffect">
                                  <p:stCondLst>
                                    <p:cond delay="0"/>
                                  </p:stCondLst>
                                  <p:childTnLst>
                                    <p:set>
                                      <p:cBhvr>
                                        <p:cTn id="20" dur="1" fill="hold">
                                          <p:stCondLst>
                                            <p:cond delay="0"/>
                                          </p:stCondLst>
                                        </p:cTn>
                                        <p:tgtEl>
                                          <p:spTgt spid="573443">
                                            <p:txEl>
                                              <p:pRg st="3" end="3"/>
                                            </p:txEl>
                                          </p:spTgt>
                                        </p:tgtEl>
                                        <p:attrNameLst>
                                          <p:attrName>style.visibility</p:attrName>
                                        </p:attrNameLst>
                                      </p:cBhvr>
                                      <p:to>
                                        <p:strVal val="visible"/>
                                      </p:to>
                                    </p:set>
                                    <p:anim calcmode="lin" valueType="num">
                                      <p:cBhvr additive="base">
                                        <p:cTn id="21" dur="500" fill="hold"/>
                                        <p:tgtEl>
                                          <p:spTgt spid="57344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7344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whoosh.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573443">
                                            <p:txEl>
                                              <p:pRg st="4" end="4"/>
                                            </p:txEl>
                                          </p:spTgt>
                                        </p:tgtEl>
                                        <p:attrNameLst>
                                          <p:attrName>style.visibility</p:attrName>
                                        </p:attrNameLst>
                                      </p:cBhvr>
                                      <p:to>
                                        <p:strVal val="visible"/>
                                      </p:to>
                                    </p:set>
                                    <p:anim calcmode="lin" valueType="num">
                                      <p:cBhvr additive="base">
                                        <p:cTn id="27" dur="500" fill="hold"/>
                                        <p:tgtEl>
                                          <p:spTgt spid="57344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7344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3"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0F285AD5-A2CF-34E2-A0B2-08B2858FCC60}"/>
              </a:ext>
            </a:extLst>
          </p:cNvPr>
          <p:cNvSpPr>
            <a:spLocks noGrp="1" noChangeArrowheads="1"/>
          </p:cNvSpPr>
          <p:nvPr>
            <p:ph type="title"/>
          </p:nvPr>
        </p:nvSpPr>
        <p:spPr/>
        <p:txBody>
          <a:bodyPr/>
          <a:lstStyle/>
          <a:p>
            <a:pPr eaLnBrk="1" hangingPunct="1"/>
            <a:r>
              <a:rPr lang="zh-CN" altLang="en-US"/>
              <a:t>指针数组</a:t>
            </a:r>
            <a:r>
              <a:rPr lang="en-US" altLang="zh-CN"/>
              <a:t>(</a:t>
            </a:r>
            <a:r>
              <a:rPr lang="zh-CN" altLang="en-US"/>
              <a:t>续</a:t>
            </a:r>
            <a:r>
              <a:rPr lang="en-US" altLang="zh-CN"/>
              <a:t>)</a:t>
            </a:r>
          </a:p>
        </p:txBody>
      </p:sp>
      <p:sp>
        <p:nvSpPr>
          <p:cNvPr id="574467" name="Rectangle 3">
            <a:extLst>
              <a:ext uri="{FF2B5EF4-FFF2-40B4-BE49-F238E27FC236}">
                <a16:creationId xmlns:a16="http://schemas.microsoft.com/office/drawing/2014/main" id="{07E824B0-A139-4E32-0425-0AAEBAA645D5}"/>
              </a:ext>
            </a:extLst>
          </p:cNvPr>
          <p:cNvSpPr>
            <a:spLocks noGrp="1" noChangeArrowheads="1"/>
          </p:cNvSpPr>
          <p:nvPr>
            <p:ph type="body" idx="1"/>
          </p:nvPr>
        </p:nvSpPr>
        <p:spPr>
          <a:xfrm>
            <a:off x="1182688" y="2017713"/>
            <a:ext cx="7565776" cy="4114800"/>
          </a:xfrm>
        </p:spPr>
        <p:txBody>
          <a:bodyPr/>
          <a:lstStyle/>
          <a:p>
            <a:pPr marL="533400" indent="-533400" eaLnBrk="1" hangingPunct="1">
              <a:lnSpc>
                <a:spcPct val="150000"/>
              </a:lnSpc>
            </a:pPr>
            <a:r>
              <a:rPr lang="zh-CN" altLang="en-US" sz="2000"/>
              <a:t>在指针数组的定义形式中，</a:t>
            </a:r>
            <a:r>
              <a:rPr lang="zh-CN" altLang="en-US" sz="2000">
                <a:solidFill>
                  <a:srgbClr val="0070C0"/>
                </a:solidFill>
              </a:rPr>
              <a:t>由于</a:t>
            </a:r>
            <a:r>
              <a:rPr lang="zh-CN" altLang="en-US" sz="2000">
                <a:solidFill>
                  <a:srgbClr val="0070C0"/>
                </a:solidFill>
                <a:latin typeface="Arial" panose="020B0604020202020204" pitchFamily="34" charset="0"/>
              </a:rPr>
              <a:t>“</a:t>
            </a:r>
            <a:r>
              <a:rPr lang="en-US" altLang="zh-CN" sz="2000">
                <a:solidFill>
                  <a:srgbClr val="0070C0"/>
                </a:solidFill>
              </a:rPr>
              <a:t>[ ]</a:t>
            </a:r>
            <a:r>
              <a:rPr lang="en-US" altLang="zh-CN" sz="2000">
                <a:solidFill>
                  <a:srgbClr val="0070C0"/>
                </a:solidFill>
                <a:latin typeface="Arial" panose="020B0604020202020204" pitchFamily="34" charset="0"/>
              </a:rPr>
              <a:t>”</a:t>
            </a:r>
            <a:r>
              <a:rPr lang="zh-CN" altLang="en-US" sz="2000">
                <a:solidFill>
                  <a:srgbClr val="0070C0"/>
                </a:solidFill>
              </a:rPr>
              <a:t>比</a:t>
            </a:r>
            <a:r>
              <a:rPr lang="zh-CN" altLang="en-US" sz="2000">
                <a:solidFill>
                  <a:srgbClr val="0070C0"/>
                </a:solidFill>
                <a:latin typeface="Arial" panose="020B0604020202020204" pitchFamily="34" charset="0"/>
              </a:rPr>
              <a:t>“</a:t>
            </a:r>
            <a:r>
              <a:rPr lang="zh-CN" altLang="en-US" sz="2000">
                <a:solidFill>
                  <a:srgbClr val="0070C0"/>
                </a:solidFill>
              </a:rPr>
              <a:t>*</a:t>
            </a:r>
            <a:r>
              <a:rPr lang="zh-CN" altLang="en-US" sz="2000">
                <a:solidFill>
                  <a:srgbClr val="0070C0"/>
                </a:solidFill>
                <a:latin typeface="Arial" panose="020B0604020202020204" pitchFamily="34" charset="0"/>
              </a:rPr>
              <a:t>”</a:t>
            </a:r>
            <a:r>
              <a:rPr lang="zh-CN" altLang="en-US" sz="2000">
                <a:solidFill>
                  <a:srgbClr val="0070C0"/>
                </a:solidFill>
              </a:rPr>
              <a:t>的优先级高</a:t>
            </a:r>
            <a:r>
              <a:rPr lang="zh-CN" altLang="en-US" sz="2000"/>
              <a:t>，使数组名先与</a:t>
            </a:r>
            <a:r>
              <a:rPr lang="zh-CN" altLang="en-US" sz="2000">
                <a:latin typeface="Arial" panose="020B0604020202020204" pitchFamily="34" charset="0"/>
              </a:rPr>
              <a:t>“</a:t>
            </a:r>
            <a:r>
              <a:rPr lang="en-US" altLang="zh-CN" sz="2000"/>
              <a:t>[ ]</a:t>
            </a:r>
            <a:r>
              <a:rPr lang="en-US" altLang="zh-CN" sz="2000">
                <a:latin typeface="Arial" panose="020B0604020202020204" pitchFamily="34" charset="0"/>
              </a:rPr>
              <a:t>”</a:t>
            </a:r>
            <a:r>
              <a:rPr lang="zh-CN" altLang="en-US" sz="2000"/>
              <a:t>结合，形成数组，然后再与数组名之前的</a:t>
            </a:r>
            <a:r>
              <a:rPr lang="zh-CN" altLang="en-US" sz="2000">
                <a:latin typeface="Arial" panose="020B0604020202020204" pitchFamily="34" charset="0"/>
              </a:rPr>
              <a:t>“</a:t>
            </a:r>
            <a:r>
              <a:rPr lang="zh-CN" altLang="en-US" sz="2000"/>
              <a:t>*</a:t>
            </a:r>
            <a:r>
              <a:rPr lang="zh-CN" altLang="en-US" sz="2000">
                <a:latin typeface="Arial" panose="020B0604020202020204" pitchFamily="34" charset="0"/>
              </a:rPr>
              <a:t>”</a:t>
            </a:r>
            <a:r>
              <a:rPr lang="zh-CN" altLang="en-US" sz="2000"/>
              <a:t>结合，</a:t>
            </a:r>
            <a:r>
              <a:rPr lang="zh-CN" altLang="en-US" sz="2000">
                <a:solidFill>
                  <a:srgbClr val="0070C0"/>
                </a:solidFill>
              </a:rPr>
              <a:t>表示数组元素是指针类型</a:t>
            </a:r>
            <a:r>
              <a:rPr lang="zh-CN" altLang="en-US" sz="2000"/>
              <a:t>。</a:t>
            </a:r>
            <a:r>
              <a:rPr lang="zh-CN" altLang="en-US" sz="2000">
                <a:solidFill>
                  <a:srgbClr val="C00000"/>
                </a:solidFill>
              </a:rPr>
              <a:t>注意，在</a:t>
            </a:r>
            <a:r>
              <a:rPr lang="zh-CN" altLang="en-US" sz="2000">
                <a:solidFill>
                  <a:srgbClr val="C00000"/>
                </a:solidFill>
                <a:latin typeface="Arial" panose="020B0604020202020204" pitchFamily="34" charset="0"/>
              </a:rPr>
              <a:t>“</a:t>
            </a:r>
            <a:r>
              <a:rPr lang="zh-CN" altLang="en-US" sz="2000">
                <a:solidFill>
                  <a:srgbClr val="C00000"/>
                </a:solidFill>
              </a:rPr>
              <a:t>*</a:t>
            </a:r>
            <a:r>
              <a:rPr lang="zh-CN" altLang="en-US" sz="2000">
                <a:solidFill>
                  <a:srgbClr val="C00000"/>
                </a:solidFill>
                <a:latin typeface="Arial" panose="020B0604020202020204" pitchFamily="34" charset="0"/>
              </a:rPr>
              <a:t>”</a:t>
            </a:r>
            <a:r>
              <a:rPr lang="zh-CN" altLang="en-US" sz="2000">
                <a:solidFill>
                  <a:srgbClr val="C00000"/>
                </a:solidFill>
              </a:rPr>
              <a:t>与数组名之外不能加上圆括号，否则变成指向数组的指针变量。</a:t>
            </a:r>
            <a:r>
              <a:rPr lang="zh-CN" altLang="en-US" sz="2000"/>
              <a:t>如</a:t>
            </a:r>
          </a:p>
          <a:p>
            <a:pPr marL="914400" lvl="1" indent="-457200" eaLnBrk="1" hangingPunct="1">
              <a:lnSpc>
                <a:spcPct val="150000"/>
              </a:lnSpc>
            </a:pPr>
            <a:r>
              <a:rPr lang="en-US" altLang="zh-CN" sz="1800"/>
              <a:t>int  (*q)[10];</a:t>
            </a:r>
            <a:r>
              <a:rPr lang="zh-CN" altLang="en-US" sz="1800"/>
              <a:t> </a:t>
            </a:r>
            <a:r>
              <a:rPr lang="en-US" altLang="zh-CN" sz="1800">
                <a:solidFill>
                  <a:srgbClr val="00B050"/>
                </a:solidFill>
              </a:rPr>
              <a:t>//</a:t>
            </a:r>
            <a:r>
              <a:rPr lang="zh-CN" altLang="en-US" sz="1800">
                <a:solidFill>
                  <a:srgbClr val="00B050"/>
                </a:solidFill>
              </a:rPr>
              <a:t>定义指向由</a:t>
            </a:r>
            <a:r>
              <a:rPr lang="en-US" altLang="zh-CN" sz="1800">
                <a:solidFill>
                  <a:srgbClr val="00B050"/>
                </a:solidFill>
              </a:rPr>
              <a:t>10</a:t>
            </a:r>
            <a:r>
              <a:rPr lang="zh-CN" altLang="en-US" sz="1800">
                <a:solidFill>
                  <a:srgbClr val="00B050"/>
                </a:solidFill>
              </a:rPr>
              <a:t>个</a:t>
            </a:r>
            <a:r>
              <a:rPr lang="en-US" altLang="zh-CN" sz="1800">
                <a:solidFill>
                  <a:srgbClr val="00B050"/>
                </a:solidFill>
              </a:rPr>
              <a:t>int</a:t>
            </a:r>
            <a:r>
              <a:rPr lang="zh-CN" altLang="en-US" sz="1800">
                <a:solidFill>
                  <a:srgbClr val="00B050"/>
                </a:solidFill>
              </a:rPr>
              <a:t>型元素组成的数组的指针</a:t>
            </a:r>
            <a:endParaRPr lang="zh-CN" altLang="en-US" sz="1800"/>
          </a:p>
          <a:p>
            <a:pPr marL="533400" indent="-533400" eaLnBrk="1" hangingPunct="1">
              <a:lnSpc>
                <a:spcPct val="150000"/>
              </a:lnSpc>
            </a:pPr>
            <a:r>
              <a:rPr lang="zh-CN" altLang="en-US" sz="2000"/>
              <a:t>引入指针数组的主要目的是便于统一管理同类的指针。如利用指针数组能实现对一组独立的变量以数组的形式对它们作统一处理。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4467">
                                            <p:txEl>
                                              <p:pRg st="0" end="0"/>
                                            </p:txEl>
                                          </p:spTgt>
                                        </p:tgtEl>
                                        <p:attrNameLst>
                                          <p:attrName>style.visibility</p:attrName>
                                        </p:attrNameLst>
                                      </p:cBhvr>
                                      <p:to>
                                        <p:strVal val="visible"/>
                                      </p:to>
                                    </p:set>
                                    <p:anim calcmode="lin" valueType="num">
                                      <p:cBhvr additive="base">
                                        <p:cTn id="7" dur="500" fill="hold"/>
                                        <p:tgtEl>
                                          <p:spTgt spid="5744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446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74467">
                                            <p:txEl>
                                              <p:pRg st="1" end="1"/>
                                            </p:txEl>
                                          </p:spTgt>
                                        </p:tgtEl>
                                        <p:attrNameLst>
                                          <p:attrName>style.visibility</p:attrName>
                                        </p:attrNameLst>
                                      </p:cBhvr>
                                      <p:to>
                                        <p:strVal val="visible"/>
                                      </p:to>
                                    </p:set>
                                    <p:anim calcmode="lin" valueType="num">
                                      <p:cBhvr additive="base">
                                        <p:cTn id="11" dur="500" fill="hold"/>
                                        <p:tgtEl>
                                          <p:spTgt spid="57446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7446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74467">
                                            <p:txEl>
                                              <p:pRg st="2" end="2"/>
                                            </p:txEl>
                                          </p:spTgt>
                                        </p:tgtEl>
                                        <p:attrNameLst>
                                          <p:attrName>style.visibility</p:attrName>
                                        </p:attrNameLst>
                                      </p:cBhvr>
                                      <p:to>
                                        <p:strVal val="visible"/>
                                      </p:to>
                                    </p:set>
                                    <p:anim calcmode="lin" valueType="num">
                                      <p:cBhvr additive="base">
                                        <p:cTn id="17" dur="500" fill="hold"/>
                                        <p:tgtEl>
                                          <p:spTgt spid="57446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7446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7"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EC2C3D83-1320-EEF7-1E4C-6AC4A5CD7434}"/>
              </a:ext>
            </a:extLst>
          </p:cNvPr>
          <p:cNvSpPr>
            <a:spLocks noGrp="1" noChangeArrowheads="1"/>
          </p:cNvSpPr>
          <p:nvPr>
            <p:ph type="title"/>
          </p:nvPr>
        </p:nvSpPr>
        <p:spPr/>
        <p:txBody>
          <a:bodyPr/>
          <a:lstStyle/>
          <a:p>
            <a:pPr eaLnBrk="1" hangingPunct="1"/>
            <a:r>
              <a:rPr lang="zh-CN" altLang="en-US"/>
              <a:t>指针数组</a:t>
            </a:r>
            <a:r>
              <a:rPr lang="en-US" altLang="zh-CN"/>
              <a:t>(</a:t>
            </a:r>
            <a:r>
              <a:rPr lang="zh-CN" altLang="en-US"/>
              <a:t>例</a:t>
            </a:r>
            <a:r>
              <a:rPr lang="en-US" altLang="zh-CN"/>
              <a:t>)</a:t>
            </a:r>
            <a:endParaRPr lang="zh-CN" altLang="en-US"/>
          </a:p>
        </p:txBody>
      </p:sp>
      <p:sp>
        <p:nvSpPr>
          <p:cNvPr id="575491" name="Rectangle 3">
            <a:extLst>
              <a:ext uri="{FF2B5EF4-FFF2-40B4-BE49-F238E27FC236}">
                <a16:creationId xmlns:a16="http://schemas.microsoft.com/office/drawing/2014/main" id="{362AE8A7-B43B-A415-8068-C514FDA6B3E1}"/>
              </a:ext>
            </a:extLst>
          </p:cNvPr>
          <p:cNvSpPr>
            <a:spLocks noGrp="1" noChangeArrowheads="1"/>
          </p:cNvSpPr>
          <p:nvPr>
            <p:ph type="body" idx="1"/>
          </p:nvPr>
        </p:nvSpPr>
        <p:spPr>
          <a:xfrm>
            <a:off x="1182688" y="2017713"/>
            <a:ext cx="7421760" cy="4114800"/>
          </a:xfrm>
        </p:spPr>
        <p:txBody>
          <a:bodyPr/>
          <a:lstStyle/>
          <a:p>
            <a:pPr eaLnBrk="1" hangingPunct="1">
              <a:lnSpc>
                <a:spcPct val="150000"/>
              </a:lnSpc>
            </a:pPr>
            <a:r>
              <a:rPr lang="zh-CN" altLang="en-US" sz="1800"/>
              <a:t>如有以下定义：</a:t>
            </a:r>
          </a:p>
          <a:p>
            <a:pPr lvl="1" eaLnBrk="1" hangingPunct="1">
              <a:lnSpc>
                <a:spcPct val="150000"/>
              </a:lnSpc>
              <a:buFont typeface="Wingdings" pitchFamily="2" charset="2"/>
              <a:buAutoNum type="arabicPeriod"/>
            </a:pPr>
            <a:r>
              <a:rPr lang="en-US" altLang="zh-CN" sz="1600"/>
              <a:t>int a, b, c, d, e, f;</a:t>
            </a:r>
          </a:p>
          <a:p>
            <a:pPr lvl="1" eaLnBrk="1" hangingPunct="1">
              <a:lnSpc>
                <a:spcPct val="150000"/>
              </a:lnSpc>
              <a:buFont typeface="Wingdings" pitchFamily="2" charset="2"/>
              <a:buAutoNum type="arabicPeriod"/>
            </a:pPr>
            <a:r>
              <a:rPr lang="en-US" altLang="zh-CN" sz="1600"/>
              <a:t>int *apt[] = {&amp;a, &amp;b, &amp;c, &amp;d, &amp;e, &amp;f};</a:t>
            </a:r>
          </a:p>
          <a:p>
            <a:pPr eaLnBrk="1" hangingPunct="1">
              <a:lnSpc>
                <a:spcPct val="150000"/>
              </a:lnSpc>
            </a:pPr>
            <a:r>
              <a:rPr lang="zh-CN" altLang="en-US" sz="1800"/>
              <a:t>下面的循环语句能顺序访问变量</a:t>
            </a:r>
            <a:r>
              <a:rPr lang="en-US" altLang="zh-CN" sz="1800"/>
              <a:t>a</a:t>
            </a:r>
            <a:r>
              <a:rPr lang="zh-CN" altLang="en-US" sz="1800"/>
              <a:t>、</a:t>
            </a:r>
            <a:r>
              <a:rPr lang="en-US" altLang="zh-CN" sz="1800"/>
              <a:t>b</a:t>
            </a:r>
            <a:r>
              <a:rPr lang="zh-CN" altLang="en-US" sz="1800"/>
              <a:t>、</a:t>
            </a:r>
            <a:r>
              <a:rPr lang="en-US" altLang="zh-CN" sz="1800"/>
              <a:t>c</a:t>
            </a:r>
            <a:r>
              <a:rPr lang="zh-CN" altLang="en-US" sz="1800"/>
              <a:t>、</a:t>
            </a:r>
            <a:r>
              <a:rPr lang="en-US" altLang="zh-CN" sz="1800"/>
              <a:t>d</a:t>
            </a:r>
            <a:r>
              <a:rPr lang="zh-CN" altLang="en-US" sz="1800"/>
              <a:t>、</a:t>
            </a:r>
            <a:r>
              <a:rPr lang="en-US" altLang="zh-CN" sz="1800"/>
              <a:t>e</a:t>
            </a:r>
            <a:r>
              <a:rPr lang="zh-CN" altLang="en-US" sz="1800"/>
              <a:t>、</a:t>
            </a:r>
            <a:r>
              <a:rPr lang="en-US" altLang="zh-CN" sz="1800"/>
              <a:t>f</a:t>
            </a:r>
            <a:r>
              <a:rPr lang="zh-CN" altLang="en-US" sz="1800"/>
              <a:t>：</a:t>
            </a:r>
          </a:p>
          <a:p>
            <a:pPr lvl="1" eaLnBrk="1" hangingPunct="1">
              <a:lnSpc>
                <a:spcPct val="150000"/>
              </a:lnSpc>
              <a:buFont typeface="Wingdings" pitchFamily="2" charset="2"/>
              <a:buAutoNum type="arabicPeriod"/>
            </a:pPr>
            <a:r>
              <a:rPr lang="en-US" altLang="zh-CN" sz="1600"/>
              <a:t>for(k = 0; k &lt; 6; k++)</a:t>
            </a:r>
          </a:p>
          <a:p>
            <a:pPr lvl="1" eaLnBrk="1" hangingPunct="1">
              <a:lnSpc>
                <a:spcPct val="150000"/>
              </a:lnSpc>
              <a:buFont typeface="Wingdings" pitchFamily="2" charset="2"/>
              <a:buAutoNum type="arabicPeriod"/>
            </a:pPr>
            <a:r>
              <a:rPr lang="en-US" altLang="zh-CN" sz="1600"/>
              <a:t>    printf(</a:t>
            </a:r>
            <a:r>
              <a:rPr lang="en-US" altLang="zh-CN" sz="1600">
                <a:latin typeface="Arial" panose="020B0604020202020204" pitchFamily="34" charset="0"/>
              </a:rPr>
              <a:t>“</a:t>
            </a:r>
            <a:r>
              <a:rPr lang="en-US" altLang="zh-CN" sz="1600"/>
              <a:t>%d\t</a:t>
            </a:r>
            <a:r>
              <a:rPr lang="en-US" altLang="zh-CN" sz="1600">
                <a:latin typeface="Arial" panose="020B0604020202020204" pitchFamily="34" charset="0"/>
              </a:rPr>
              <a:t>”</a:t>
            </a:r>
            <a:r>
              <a:rPr lang="en-US" altLang="zh-CN" sz="1600"/>
              <a:t>, *apt[k]); </a:t>
            </a:r>
            <a:br>
              <a:rPr lang="en-US" altLang="zh-CN" sz="1600"/>
            </a:br>
            <a:r>
              <a:rPr lang="en-US" altLang="zh-CN" sz="1600"/>
              <a:t>  /* </a:t>
            </a:r>
            <a:r>
              <a:rPr lang="zh-CN" altLang="en-US" sz="1600"/>
              <a:t>其中</a:t>
            </a:r>
            <a:r>
              <a:rPr lang="zh-CN" altLang="en-US" sz="1600">
                <a:solidFill>
                  <a:srgbClr val="0066FF"/>
                </a:solidFill>
              </a:rPr>
              <a:t>*</a:t>
            </a:r>
            <a:r>
              <a:rPr lang="en-US" altLang="zh-CN" sz="1600">
                <a:solidFill>
                  <a:srgbClr val="0066FF"/>
                </a:solidFill>
              </a:rPr>
              <a:t>apt[k]</a:t>
            </a:r>
            <a:r>
              <a:rPr lang="zh-CN" altLang="en-US" sz="1600"/>
              <a:t>可写成</a:t>
            </a:r>
            <a:r>
              <a:rPr lang="zh-CN" altLang="en-US" sz="1600">
                <a:solidFill>
                  <a:srgbClr val="0066FF"/>
                </a:solidFill>
              </a:rPr>
              <a:t>**</a:t>
            </a:r>
            <a:r>
              <a:rPr lang="en-US" altLang="zh-CN" sz="1600">
                <a:solidFill>
                  <a:srgbClr val="0066FF"/>
                </a:solidFill>
              </a:rPr>
              <a:t>(apt+k) </a:t>
            </a:r>
            <a:r>
              <a:rPr lang="en-US" altLang="zh-CN" sz="1600"/>
              <a:t>*/</a:t>
            </a:r>
          </a:p>
          <a:p>
            <a:pPr eaLnBrk="1" hangingPunct="1">
              <a:lnSpc>
                <a:spcPct val="150000"/>
              </a:lnSpc>
            </a:pPr>
            <a:r>
              <a:rPr lang="zh-CN" altLang="en-US" sz="1800"/>
              <a:t>下面的两个程序</a:t>
            </a:r>
            <a:r>
              <a:rPr lang="en-US" altLang="zh-CN" sz="1800"/>
              <a:t>(</a:t>
            </a:r>
            <a:r>
              <a:rPr lang="zh-CN" altLang="en-US" sz="1800"/>
              <a:t>例</a:t>
            </a:r>
            <a:r>
              <a:rPr lang="en-US" altLang="zh-CN" sz="1800"/>
              <a:t>4.24</a:t>
            </a:r>
            <a:r>
              <a:rPr lang="zh-CN" altLang="en-US" sz="1800"/>
              <a:t>和例</a:t>
            </a:r>
            <a:r>
              <a:rPr lang="en-US" altLang="zh-CN" sz="1800"/>
              <a:t>4.25)</a:t>
            </a:r>
            <a:r>
              <a:rPr lang="zh-CN" altLang="en-US" sz="1800"/>
              <a:t>实现将一组独立的变量输入它们的值，排序后输出。前一个程序排序时交换变量的值，后一个程序排序时交换它们的指针。</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5491">
                                            <p:txEl>
                                              <p:pRg st="0" end="0"/>
                                            </p:txEl>
                                          </p:spTgt>
                                        </p:tgtEl>
                                        <p:attrNameLst>
                                          <p:attrName>style.visibility</p:attrName>
                                        </p:attrNameLst>
                                      </p:cBhvr>
                                      <p:to>
                                        <p:strVal val="visible"/>
                                      </p:to>
                                    </p:set>
                                    <p:anim calcmode="lin" valueType="num">
                                      <p:cBhvr additive="base">
                                        <p:cTn id="7" dur="500" fill="hold"/>
                                        <p:tgtEl>
                                          <p:spTgt spid="5754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549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75491">
                                            <p:txEl>
                                              <p:pRg st="1" end="1"/>
                                            </p:txEl>
                                          </p:spTgt>
                                        </p:tgtEl>
                                        <p:attrNameLst>
                                          <p:attrName>style.visibility</p:attrName>
                                        </p:attrNameLst>
                                      </p:cBhvr>
                                      <p:to>
                                        <p:strVal val="visible"/>
                                      </p:to>
                                    </p:set>
                                    <p:anim calcmode="lin" valueType="num">
                                      <p:cBhvr additive="base">
                                        <p:cTn id="11" dur="500" fill="hold"/>
                                        <p:tgtEl>
                                          <p:spTgt spid="57549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7549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75491">
                                            <p:txEl>
                                              <p:pRg st="2" end="2"/>
                                            </p:txEl>
                                          </p:spTgt>
                                        </p:tgtEl>
                                        <p:attrNameLst>
                                          <p:attrName>style.visibility</p:attrName>
                                        </p:attrNameLst>
                                      </p:cBhvr>
                                      <p:to>
                                        <p:strVal val="visible"/>
                                      </p:to>
                                    </p:set>
                                    <p:anim calcmode="lin" valueType="num">
                                      <p:cBhvr additive="base">
                                        <p:cTn id="15" dur="500" fill="hold"/>
                                        <p:tgtEl>
                                          <p:spTgt spid="57549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7549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575491">
                                            <p:txEl>
                                              <p:pRg st="3" end="3"/>
                                            </p:txEl>
                                          </p:spTgt>
                                        </p:tgtEl>
                                        <p:attrNameLst>
                                          <p:attrName>style.visibility</p:attrName>
                                        </p:attrNameLst>
                                      </p:cBhvr>
                                      <p:to>
                                        <p:strVal val="visible"/>
                                      </p:to>
                                    </p:set>
                                    <p:anim calcmode="lin" valueType="num">
                                      <p:cBhvr additive="base">
                                        <p:cTn id="21" dur="500" fill="hold"/>
                                        <p:tgtEl>
                                          <p:spTgt spid="575491">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7549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whoosh.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575491">
                                            <p:txEl>
                                              <p:pRg st="4" end="4"/>
                                            </p:txEl>
                                          </p:spTgt>
                                        </p:tgtEl>
                                        <p:attrNameLst>
                                          <p:attrName>style.visibility</p:attrName>
                                        </p:attrNameLst>
                                      </p:cBhvr>
                                      <p:to>
                                        <p:strVal val="visible"/>
                                      </p:to>
                                    </p:set>
                                    <p:anim calcmode="lin" valueType="num">
                                      <p:cBhvr additive="base">
                                        <p:cTn id="25" dur="500" fill="hold"/>
                                        <p:tgtEl>
                                          <p:spTgt spid="57549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7549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par>
                                <p:cTn id="27" presetID="2" presetClass="entr" presetSubtype="8" fill="hold" grpId="0" nodeType="withEffect">
                                  <p:stCondLst>
                                    <p:cond delay="0"/>
                                  </p:stCondLst>
                                  <p:childTnLst>
                                    <p:set>
                                      <p:cBhvr>
                                        <p:cTn id="28" dur="1" fill="hold">
                                          <p:stCondLst>
                                            <p:cond delay="0"/>
                                          </p:stCondLst>
                                        </p:cTn>
                                        <p:tgtEl>
                                          <p:spTgt spid="575491">
                                            <p:txEl>
                                              <p:pRg st="5" end="5"/>
                                            </p:txEl>
                                          </p:spTgt>
                                        </p:tgtEl>
                                        <p:attrNameLst>
                                          <p:attrName>style.visibility</p:attrName>
                                        </p:attrNameLst>
                                      </p:cBhvr>
                                      <p:to>
                                        <p:strVal val="visible"/>
                                      </p:to>
                                    </p:set>
                                    <p:anim calcmode="lin" valueType="num">
                                      <p:cBhvr additive="base">
                                        <p:cTn id="29" dur="500" fill="hold"/>
                                        <p:tgtEl>
                                          <p:spTgt spid="575491">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57549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575491">
                                            <p:txEl>
                                              <p:pRg st="6" end="6"/>
                                            </p:txEl>
                                          </p:spTgt>
                                        </p:tgtEl>
                                        <p:attrNameLst>
                                          <p:attrName>style.visibility</p:attrName>
                                        </p:attrNameLst>
                                      </p:cBhvr>
                                      <p:to>
                                        <p:strVal val="visible"/>
                                      </p:to>
                                    </p:set>
                                    <p:anim calcmode="lin" valueType="num">
                                      <p:cBhvr additive="base">
                                        <p:cTn id="35" dur="500" fill="hold"/>
                                        <p:tgtEl>
                                          <p:spTgt spid="575491">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7549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1" grpId="0" build="p"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8392488E-04CB-48B4-EF7B-19CA39F9622C}"/>
              </a:ext>
            </a:extLst>
          </p:cNvPr>
          <p:cNvSpPr>
            <a:spLocks noGrp="1" noChangeArrowheads="1"/>
          </p:cNvSpPr>
          <p:nvPr>
            <p:ph type="title"/>
          </p:nvPr>
        </p:nvSpPr>
        <p:spPr/>
        <p:txBody>
          <a:bodyPr/>
          <a:lstStyle/>
          <a:p>
            <a:pPr eaLnBrk="1" hangingPunct="1"/>
            <a:r>
              <a:rPr lang="zh-CN" altLang="en-US"/>
              <a:t>例</a:t>
            </a:r>
            <a:r>
              <a:rPr lang="en-US" altLang="zh-CN"/>
              <a:t>24*  </a:t>
            </a:r>
            <a:r>
              <a:rPr lang="zh-CN" altLang="en-US"/>
              <a:t>排序时交换变量值</a:t>
            </a:r>
          </a:p>
        </p:txBody>
      </p:sp>
      <p:sp>
        <p:nvSpPr>
          <p:cNvPr id="576515" name="Rectangle 3">
            <a:extLst>
              <a:ext uri="{FF2B5EF4-FFF2-40B4-BE49-F238E27FC236}">
                <a16:creationId xmlns:a16="http://schemas.microsoft.com/office/drawing/2014/main" id="{4D62A844-8E75-FA1E-4CE3-1459B9305420}"/>
              </a:ext>
            </a:extLst>
          </p:cNvPr>
          <p:cNvSpPr>
            <a:spLocks noGrp="1" noChangeArrowheads="1"/>
          </p:cNvSpPr>
          <p:nvPr>
            <p:ph type="body" idx="1"/>
          </p:nvPr>
        </p:nvSpPr>
        <p:spPr/>
        <p:txBody>
          <a:bodyPr/>
          <a:lstStyle/>
          <a:p>
            <a:pPr marL="990600" lvl="1" indent="-533400" eaLnBrk="1" hangingPunct="1">
              <a:lnSpc>
                <a:spcPct val="80000"/>
              </a:lnSpc>
              <a:buFont typeface="Wingdings" pitchFamily="2" charset="2"/>
              <a:buAutoNum type="arabicPeriod"/>
            </a:pPr>
            <a:r>
              <a:rPr lang="en-US" altLang="zh-CN" sz="1400"/>
              <a:t>#include  &lt;stdio.h&gt;</a:t>
            </a:r>
          </a:p>
          <a:p>
            <a:pPr marL="990600" lvl="1" indent="-533400" eaLnBrk="1" hangingPunct="1">
              <a:lnSpc>
                <a:spcPct val="80000"/>
              </a:lnSpc>
              <a:buFont typeface="Wingdings" pitchFamily="2" charset="2"/>
              <a:buAutoNum type="arabicPeriod"/>
            </a:pPr>
            <a:r>
              <a:rPr lang="en-US" altLang="zh-CN" sz="1400"/>
              <a:t>#define  N  (sizeof ap/sizeof ap[0])</a:t>
            </a:r>
          </a:p>
          <a:p>
            <a:pPr marL="990600" lvl="1" indent="-533400" eaLnBrk="1" hangingPunct="1">
              <a:lnSpc>
                <a:spcPct val="80000"/>
              </a:lnSpc>
              <a:buFont typeface="Wingdings" pitchFamily="2" charset="2"/>
              <a:buAutoNum type="arabicPeriod"/>
            </a:pPr>
            <a:r>
              <a:rPr lang="en-US" altLang="zh-CN" sz="1400"/>
              <a:t>void main(){</a:t>
            </a:r>
          </a:p>
          <a:p>
            <a:pPr marL="990600" lvl="1" indent="-533400" eaLnBrk="1" hangingPunct="1">
              <a:lnSpc>
                <a:spcPct val="80000"/>
              </a:lnSpc>
              <a:buFont typeface="Wingdings" pitchFamily="2" charset="2"/>
              <a:buAutoNum type="arabicPeriod"/>
            </a:pPr>
            <a:r>
              <a:rPr lang="zh-CN" altLang="en-US" sz="1400"/>
              <a:t>　</a:t>
            </a:r>
            <a:r>
              <a:rPr lang="en-US" altLang="zh-CN" sz="1400"/>
              <a:t>int a, b, c, d, e, f;</a:t>
            </a:r>
          </a:p>
          <a:p>
            <a:pPr marL="990600" lvl="1" indent="-533400" eaLnBrk="1" hangingPunct="1">
              <a:lnSpc>
                <a:spcPct val="80000"/>
              </a:lnSpc>
              <a:buFont typeface="Wingdings" pitchFamily="2" charset="2"/>
              <a:buAutoNum type="arabicPeriod"/>
            </a:pPr>
            <a:r>
              <a:rPr lang="zh-CN" altLang="en-US" sz="1400"/>
              <a:t>　</a:t>
            </a:r>
            <a:r>
              <a:rPr lang="en-US" altLang="zh-CN" sz="1400"/>
              <a:t>int *ap[]={&amp;a, &amp;b, &amp;c, &amp;d, &amp;e, &amp;f};</a:t>
            </a:r>
          </a:p>
          <a:p>
            <a:pPr marL="990600" lvl="1" indent="-533400" eaLnBrk="1" hangingPunct="1">
              <a:lnSpc>
                <a:spcPct val="80000"/>
              </a:lnSpc>
              <a:buFont typeface="Wingdings" pitchFamily="2" charset="2"/>
              <a:buAutoNum type="arabicPeriod"/>
            </a:pPr>
            <a:r>
              <a:rPr lang="zh-CN" altLang="en-US" sz="1400"/>
              <a:t>　</a:t>
            </a:r>
            <a:r>
              <a:rPr lang="en-US" altLang="zh-CN" sz="1400"/>
              <a:t>int k, j, t;</a:t>
            </a:r>
          </a:p>
          <a:p>
            <a:pPr marL="990600" lvl="1" indent="-533400" eaLnBrk="1" hangingPunct="1">
              <a:lnSpc>
                <a:spcPct val="80000"/>
              </a:lnSpc>
              <a:buFont typeface="Wingdings" pitchFamily="2" charset="2"/>
              <a:buAutoNum type="arabicPeriod"/>
            </a:pPr>
            <a:r>
              <a:rPr lang="zh-CN" altLang="en-US" sz="1400"/>
              <a:t>　</a:t>
            </a:r>
            <a:r>
              <a:rPr lang="en-US" altLang="zh-CN" sz="1400"/>
              <a:t>printf("Enter a, b, c, d, e, f.\n");</a:t>
            </a:r>
          </a:p>
          <a:p>
            <a:pPr marL="990600" lvl="1" indent="-533400" eaLnBrk="1" hangingPunct="1">
              <a:lnSpc>
                <a:spcPct val="80000"/>
              </a:lnSpc>
              <a:buFont typeface="Wingdings" pitchFamily="2" charset="2"/>
              <a:buAutoNum type="arabicPeriod"/>
            </a:pPr>
            <a:r>
              <a:rPr lang="zh-CN" altLang="en-US" sz="1400"/>
              <a:t>　</a:t>
            </a:r>
            <a:r>
              <a:rPr lang="en-US" altLang="zh-CN" sz="1400"/>
              <a:t>for(k = 0; k &lt; N; k++)  scanf("%d",ap[k]);</a:t>
            </a:r>
            <a:br>
              <a:rPr lang="en-US" altLang="zh-CN" sz="1400"/>
            </a:br>
            <a:endParaRPr lang="en-US" altLang="zh-CN" sz="1400"/>
          </a:p>
          <a:p>
            <a:pPr marL="990600" lvl="1" indent="-533400" eaLnBrk="1" hangingPunct="1">
              <a:lnSpc>
                <a:spcPct val="80000"/>
              </a:lnSpc>
              <a:buFont typeface="Wingdings" pitchFamily="2" charset="2"/>
              <a:buAutoNum type="arabicPeriod"/>
            </a:pPr>
            <a:r>
              <a:rPr lang="en-US" altLang="zh-CN" sz="1400"/>
              <a:t>    //</a:t>
            </a:r>
            <a:r>
              <a:rPr lang="zh-CN" altLang="en-US" sz="1400"/>
              <a:t>冒泡排序</a:t>
            </a:r>
          </a:p>
          <a:p>
            <a:pPr marL="990600" lvl="1" indent="-533400" eaLnBrk="1" hangingPunct="1">
              <a:lnSpc>
                <a:spcPct val="80000"/>
              </a:lnSpc>
              <a:buFont typeface="Wingdings" pitchFamily="2" charset="2"/>
              <a:buAutoNum type="arabicPeriod"/>
            </a:pPr>
            <a:r>
              <a:rPr lang="zh-CN" altLang="en-US" sz="1400"/>
              <a:t>　</a:t>
            </a:r>
            <a:r>
              <a:rPr lang="en-US" altLang="zh-CN" sz="1400"/>
              <a:t>for(k = 1; k &lt; N; k++)</a:t>
            </a:r>
          </a:p>
          <a:p>
            <a:pPr marL="990600" lvl="1" indent="-533400" eaLnBrk="1" hangingPunct="1">
              <a:lnSpc>
                <a:spcPct val="80000"/>
              </a:lnSpc>
              <a:buFont typeface="Wingdings" pitchFamily="2" charset="2"/>
              <a:buAutoNum type="arabicPeriod"/>
            </a:pPr>
            <a:r>
              <a:rPr lang="zh-CN" altLang="en-US" sz="1400"/>
              <a:t>　　</a:t>
            </a:r>
            <a:r>
              <a:rPr lang="en-US" altLang="zh-CN" sz="1400"/>
              <a:t>for(j = 0; j &lt; N-k; j++)</a:t>
            </a:r>
          </a:p>
          <a:p>
            <a:pPr marL="990600" lvl="1" indent="-533400" eaLnBrk="1" hangingPunct="1">
              <a:lnSpc>
                <a:spcPct val="80000"/>
              </a:lnSpc>
              <a:buFont typeface="Wingdings" pitchFamily="2" charset="2"/>
              <a:buAutoNum type="arabicPeriod"/>
            </a:pPr>
            <a:r>
              <a:rPr lang="zh-CN" altLang="en-US" sz="1400"/>
              <a:t>　　　</a:t>
            </a:r>
            <a:r>
              <a:rPr lang="en-US" altLang="zh-CN" sz="1400"/>
              <a:t>if (*ap[j] &gt; *ap[j+1])  {</a:t>
            </a:r>
            <a:r>
              <a:rPr lang="en-US" altLang="zh-CN" sz="1400">
                <a:solidFill>
                  <a:srgbClr val="00B050"/>
                </a:solidFill>
              </a:rPr>
              <a:t>//</a:t>
            </a:r>
            <a:r>
              <a:rPr lang="zh-CN" altLang="en-US" sz="1400">
                <a:solidFill>
                  <a:srgbClr val="00B050"/>
                </a:solidFill>
              </a:rPr>
              <a:t>交换变量的值</a:t>
            </a:r>
          </a:p>
          <a:p>
            <a:pPr marL="990600" lvl="1" indent="-533400" eaLnBrk="1" hangingPunct="1">
              <a:lnSpc>
                <a:spcPct val="80000"/>
              </a:lnSpc>
              <a:buFont typeface="Wingdings" pitchFamily="2" charset="2"/>
              <a:buAutoNum type="arabicPeriod"/>
            </a:pPr>
            <a:r>
              <a:rPr lang="zh-CN" altLang="en-US" sz="1400"/>
              <a:t>　　　　</a:t>
            </a:r>
            <a:r>
              <a:rPr lang="en-US" altLang="zh-CN" sz="1400"/>
              <a:t>t = *ap[j];      *ap[j] = *ap[j+1];      *ap[j+1] = t;  </a:t>
            </a:r>
          </a:p>
          <a:p>
            <a:pPr marL="990600" lvl="1" indent="-533400" eaLnBrk="1" hangingPunct="1">
              <a:lnSpc>
                <a:spcPct val="80000"/>
              </a:lnSpc>
              <a:buFont typeface="Wingdings" pitchFamily="2" charset="2"/>
              <a:buAutoNum type="arabicPeriod"/>
            </a:pPr>
            <a:r>
              <a:rPr lang="zh-CN" altLang="en-US" sz="1400"/>
              <a:t>　　　</a:t>
            </a:r>
            <a:r>
              <a:rPr lang="en-US" altLang="zh-CN" sz="1400"/>
              <a:t>}</a:t>
            </a:r>
            <a:br>
              <a:rPr lang="en-US" altLang="zh-CN" sz="1400"/>
            </a:br>
            <a:endParaRPr lang="en-US" altLang="zh-CN" sz="1400"/>
          </a:p>
          <a:p>
            <a:pPr marL="990600" lvl="1" indent="-533400" eaLnBrk="1" hangingPunct="1">
              <a:lnSpc>
                <a:spcPct val="80000"/>
              </a:lnSpc>
              <a:buFont typeface="Wingdings" pitchFamily="2" charset="2"/>
              <a:buAutoNum type="arabicPeriod"/>
            </a:pPr>
            <a:r>
              <a:rPr lang="zh-CN" altLang="en-US" sz="1400"/>
              <a:t>　</a:t>
            </a:r>
            <a:r>
              <a:rPr lang="en-US" altLang="zh-CN" sz="1400"/>
              <a:t>for(k = 0; k &lt; N; k++)    printf("%d\t", *ap[k]);</a:t>
            </a:r>
          </a:p>
          <a:p>
            <a:pPr marL="990600" lvl="1" indent="-533400" eaLnBrk="1" hangingPunct="1">
              <a:lnSpc>
                <a:spcPct val="80000"/>
              </a:lnSpc>
              <a:buFont typeface="Wingdings" pitchFamily="2" charset="2"/>
              <a:buAutoNum type="arabicPeriod"/>
            </a:pPr>
            <a:r>
              <a:rPr lang="zh-CN" altLang="en-US" sz="1400"/>
              <a:t>　</a:t>
            </a:r>
            <a:r>
              <a:rPr lang="en-US" altLang="zh-CN" sz="1400"/>
              <a:t>printf("\n\n");</a:t>
            </a:r>
          </a:p>
          <a:p>
            <a:pPr marL="990600" lvl="1" indent="-533400" eaLnBrk="1" hangingPunct="1">
              <a:lnSpc>
                <a:spcPct val="80000"/>
              </a:lnSpc>
              <a:buFont typeface="Wingdings" pitchFamily="2" charset="2"/>
              <a:buAutoNum type="arabicPeriod"/>
            </a:pPr>
            <a:r>
              <a:rPr lang="en-US" altLang="zh-CN" sz="14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6515">
                                            <p:txEl>
                                              <p:pRg st="0" end="0"/>
                                            </p:txEl>
                                          </p:spTgt>
                                        </p:tgtEl>
                                        <p:attrNameLst>
                                          <p:attrName>style.visibility</p:attrName>
                                        </p:attrNameLst>
                                      </p:cBhvr>
                                      <p:to>
                                        <p:strVal val="visible"/>
                                      </p:to>
                                    </p:set>
                                    <p:anim calcmode="lin" valueType="num">
                                      <p:cBhvr additive="base">
                                        <p:cTn id="7" dur="500" fill="hold"/>
                                        <p:tgtEl>
                                          <p:spTgt spid="5765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651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76515">
                                            <p:txEl>
                                              <p:pRg st="1" end="1"/>
                                            </p:txEl>
                                          </p:spTgt>
                                        </p:tgtEl>
                                        <p:attrNameLst>
                                          <p:attrName>style.visibility</p:attrName>
                                        </p:attrNameLst>
                                      </p:cBhvr>
                                      <p:to>
                                        <p:strVal val="visible"/>
                                      </p:to>
                                    </p:set>
                                    <p:anim calcmode="lin" valueType="num">
                                      <p:cBhvr additive="base">
                                        <p:cTn id="11" dur="500" fill="hold"/>
                                        <p:tgtEl>
                                          <p:spTgt spid="57651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7651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76515">
                                            <p:txEl>
                                              <p:pRg st="2" end="2"/>
                                            </p:txEl>
                                          </p:spTgt>
                                        </p:tgtEl>
                                        <p:attrNameLst>
                                          <p:attrName>style.visibility</p:attrName>
                                        </p:attrNameLst>
                                      </p:cBhvr>
                                      <p:to>
                                        <p:strVal val="visible"/>
                                      </p:to>
                                    </p:set>
                                    <p:anim calcmode="lin" valueType="num">
                                      <p:cBhvr additive="base">
                                        <p:cTn id="15" dur="500" fill="hold"/>
                                        <p:tgtEl>
                                          <p:spTgt spid="57651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7651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76515">
                                            <p:txEl>
                                              <p:pRg st="3" end="3"/>
                                            </p:txEl>
                                          </p:spTgt>
                                        </p:tgtEl>
                                        <p:attrNameLst>
                                          <p:attrName>style.visibility</p:attrName>
                                        </p:attrNameLst>
                                      </p:cBhvr>
                                      <p:to>
                                        <p:strVal val="visible"/>
                                      </p:to>
                                    </p:set>
                                    <p:anim calcmode="lin" valueType="num">
                                      <p:cBhvr additive="base">
                                        <p:cTn id="19" dur="500" fill="hold"/>
                                        <p:tgtEl>
                                          <p:spTgt spid="57651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7651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76515">
                                            <p:txEl>
                                              <p:pRg st="4" end="4"/>
                                            </p:txEl>
                                          </p:spTgt>
                                        </p:tgtEl>
                                        <p:attrNameLst>
                                          <p:attrName>style.visibility</p:attrName>
                                        </p:attrNameLst>
                                      </p:cBhvr>
                                      <p:to>
                                        <p:strVal val="visible"/>
                                      </p:to>
                                    </p:set>
                                    <p:anim calcmode="lin" valueType="num">
                                      <p:cBhvr additive="base">
                                        <p:cTn id="23" dur="500" fill="hold"/>
                                        <p:tgtEl>
                                          <p:spTgt spid="576515">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7651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76515">
                                            <p:txEl>
                                              <p:pRg st="5" end="5"/>
                                            </p:txEl>
                                          </p:spTgt>
                                        </p:tgtEl>
                                        <p:attrNameLst>
                                          <p:attrName>style.visibility</p:attrName>
                                        </p:attrNameLst>
                                      </p:cBhvr>
                                      <p:to>
                                        <p:strVal val="visible"/>
                                      </p:to>
                                    </p:set>
                                    <p:anim calcmode="lin" valueType="num">
                                      <p:cBhvr additive="base">
                                        <p:cTn id="27" dur="500" fill="hold"/>
                                        <p:tgtEl>
                                          <p:spTgt spid="576515">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76515">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76515">
                                            <p:txEl>
                                              <p:pRg st="6" end="6"/>
                                            </p:txEl>
                                          </p:spTgt>
                                        </p:tgtEl>
                                        <p:attrNameLst>
                                          <p:attrName>style.visibility</p:attrName>
                                        </p:attrNameLst>
                                      </p:cBhvr>
                                      <p:to>
                                        <p:strVal val="visible"/>
                                      </p:to>
                                    </p:set>
                                    <p:anim calcmode="lin" valueType="num">
                                      <p:cBhvr additive="base">
                                        <p:cTn id="31" dur="500" fill="hold"/>
                                        <p:tgtEl>
                                          <p:spTgt spid="576515">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76515">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576515">
                                            <p:txEl>
                                              <p:pRg st="7" end="7"/>
                                            </p:txEl>
                                          </p:spTgt>
                                        </p:tgtEl>
                                        <p:attrNameLst>
                                          <p:attrName>style.visibility</p:attrName>
                                        </p:attrNameLst>
                                      </p:cBhvr>
                                      <p:to>
                                        <p:strVal val="visible"/>
                                      </p:to>
                                    </p:set>
                                    <p:anim calcmode="lin" valueType="num">
                                      <p:cBhvr additive="base">
                                        <p:cTn id="35" dur="500" fill="hold"/>
                                        <p:tgtEl>
                                          <p:spTgt spid="576515">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76515">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par>
                                <p:cTn id="37" presetID="2" presetClass="entr" presetSubtype="8" fill="hold" grpId="0" nodeType="withEffect">
                                  <p:stCondLst>
                                    <p:cond delay="0"/>
                                  </p:stCondLst>
                                  <p:childTnLst>
                                    <p:set>
                                      <p:cBhvr>
                                        <p:cTn id="38" dur="1" fill="hold">
                                          <p:stCondLst>
                                            <p:cond delay="0"/>
                                          </p:stCondLst>
                                        </p:cTn>
                                        <p:tgtEl>
                                          <p:spTgt spid="576515">
                                            <p:txEl>
                                              <p:pRg st="8" end="8"/>
                                            </p:txEl>
                                          </p:spTgt>
                                        </p:tgtEl>
                                        <p:attrNameLst>
                                          <p:attrName>style.visibility</p:attrName>
                                        </p:attrNameLst>
                                      </p:cBhvr>
                                      <p:to>
                                        <p:strVal val="visible"/>
                                      </p:to>
                                    </p:set>
                                    <p:anim calcmode="lin" valueType="num">
                                      <p:cBhvr additive="base">
                                        <p:cTn id="39" dur="500" fill="hold"/>
                                        <p:tgtEl>
                                          <p:spTgt spid="576515">
                                            <p:txEl>
                                              <p:pRg st="8" end="8"/>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76515">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par>
                                <p:cTn id="41" presetID="2" presetClass="entr" presetSubtype="8" fill="hold" grpId="0" nodeType="withEffect">
                                  <p:stCondLst>
                                    <p:cond delay="0"/>
                                  </p:stCondLst>
                                  <p:childTnLst>
                                    <p:set>
                                      <p:cBhvr>
                                        <p:cTn id="42" dur="1" fill="hold">
                                          <p:stCondLst>
                                            <p:cond delay="0"/>
                                          </p:stCondLst>
                                        </p:cTn>
                                        <p:tgtEl>
                                          <p:spTgt spid="576515">
                                            <p:txEl>
                                              <p:pRg st="9" end="9"/>
                                            </p:txEl>
                                          </p:spTgt>
                                        </p:tgtEl>
                                        <p:attrNameLst>
                                          <p:attrName>style.visibility</p:attrName>
                                        </p:attrNameLst>
                                      </p:cBhvr>
                                      <p:to>
                                        <p:strVal val="visible"/>
                                      </p:to>
                                    </p:set>
                                    <p:anim calcmode="lin" valueType="num">
                                      <p:cBhvr additive="base">
                                        <p:cTn id="43" dur="500" fill="hold"/>
                                        <p:tgtEl>
                                          <p:spTgt spid="576515">
                                            <p:txEl>
                                              <p:pRg st="9" end="9"/>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76515">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par>
                                <p:cTn id="45" presetID="2" presetClass="entr" presetSubtype="8" fill="hold" grpId="0" nodeType="withEffect">
                                  <p:stCondLst>
                                    <p:cond delay="0"/>
                                  </p:stCondLst>
                                  <p:childTnLst>
                                    <p:set>
                                      <p:cBhvr>
                                        <p:cTn id="46" dur="1" fill="hold">
                                          <p:stCondLst>
                                            <p:cond delay="0"/>
                                          </p:stCondLst>
                                        </p:cTn>
                                        <p:tgtEl>
                                          <p:spTgt spid="576515">
                                            <p:txEl>
                                              <p:pRg st="10" end="10"/>
                                            </p:txEl>
                                          </p:spTgt>
                                        </p:tgtEl>
                                        <p:attrNameLst>
                                          <p:attrName>style.visibility</p:attrName>
                                        </p:attrNameLst>
                                      </p:cBhvr>
                                      <p:to>
                                        <p:strVal val="visible"/>
                                      </p:to>
                                    </p:set>
                                    <p:anim calcmode="lin" valueType="num">
                                      <p:cBhvr additive="base">
                                        <p:cTn id="47" dur="500" fill="hold"/>
                                        <p:tgtEl>
                                          <p:spTgt spid="576515">
                                            <p:txEl>
                                              <p:pRg st="10" end="1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76515">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whoosh.wav"/>
                                        </p:tgtEl>
                                      </p:cMediaNode>
                                    </p:audio>
                                  </p:subTnLst>
                                </p:cTn>
                              </p:par>
                              <p:par>
                                <p:cTn id="49" presetID="2" presetClass="entr" presetSubtype="8" fill="hold" grpId="0" nodeType="withEffect">
                                  <p:stCondLst>
                                    <p:cond delay="0"/>
                                  </p:stCondLst>
                                  <p:childTnLst>
                                    <p:set>
                                      <p:cBhvr>
                                        <p:cTn id="50" dur="1" fill="hold">
                                          <p:stCondLst>
                                            <p:cond delay="0"/>
                                          </p:stCondLst>
                                        </p:cTn>
                                        <p:tgtEl>
                                          <p:spTgt spid="576515">
                                            <p:txEl>
                                              <p:pRg st="11" end="11"/>
                                            </p:txEl>
                                          </p:spTgt>
                                        </p:tgtEl>
                                        <p:attrNameLst>
                                          <p:attrName>style.visibility</p:attrName>
                                        </p:attrNameLst>
                                      </p:cBhvr>
                                      <p:to>
                                        <p:strVal val="visible"/>
                                      </p:to>
                                    </p:set>
                                    <p:anim calcmode="lin" valueType="num">
                                      <p:cBhvr additive="base">
                                        <p:cTn id="51" dur="500" fill="hold"/>
                                        <p:tgtEl>
                                          <p:spTgt spid="576515">
                                            <p:txEl>
                                              <p:pRg st="11" end="11"/>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576515">
                                            <p:txEl>
                                              <p:pRg st="11"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2" name="whoosh.wav"/>
                                        </p:tgtEl>
                                      </p:cMediaNode>
                                    </p:audio>
                                  </p:subTnLst>
                                </p:cTn>
                              </p:par>
                              <p:par>
                                <p:cTn id="53" presetID="2" presetClass="entr" presetSubtype="8" fill="hold" grpId="0" nodeType="withEffect">
                                  <p:stCondLst>
                                    <p:cond delay="0"/>
                                  </p:stCondLst>
                                  <p:childTnLst>
                                    <p:set>
                                      <p:cBhvr>
                                        <p:cTn id="54" dur="1" fill="hold">
                                          <p:stCondLst>
                                            <p:cond delay="0"/>
                                          </p:stCondLst>
                                        </p:cTn>
                                        <p:tgtEl>
                                          <p:spTgt spid="576515">
                                            <p:txEl>
                                              <p:pRg st="12" end="12"/>
                                            </p:txEl>
                                          </p:spTgt>
                                        </p:tgtEl>
                                        <p:attrNameLst>
                                          <p:attrName>style.visibility</p:attrName>
                                        </p:attrNameLst>
                                      </p:cBhvr>
                                      <p:to>
                                        <p:strVal val="visible"/>
                                      </p:to>
                                    </p:set>
                                    <p:anim calcmode="lin" valueType="num">
                                      <p:cBhvr additive="base">
                                        <p:cTn id="55" dur="500" fill="hold"/>
                                        <p:tgtEl>
                                          <p:spTgt spid="576515">
                                            <p:txEl>
                                              <p:pRg st="12" end="12"/>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576515">
                                            <p:txEl>
                                              <p:pRg st="12" end="1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whoosh.wav"/>
                                        </p:tgtEl>
                                      </p:cMediaNode>
                                    </p:audio>
                                  </p:subTnLst>
                                </p:cTn>
                              </p:par>
                              <p:par>
                                <p:cTn id="57" presetID="2" presetClass="entr" presetSubtype="8" fill="hold" grpId="0" nodeType="withEffect">
                                  <p:stCondLst>
                                    <p:cond delay="0"/>
                                  </p:stCondLst>
                                  <p:childTnLst>
                                    <p:set>
                                      <p:cBhvr>
                                        <p:cTn id="58" dur="1" fill="hold">
                                          <p:stCondLst>
                                            <p:cond delay="0"/>
                                          </p:stCondLst>
                                        </p:cTn>
                                        <p:tgtEl>
                                          <p:spTgt spid="576515">
                                            <p:txEl>
                                              <p:pRg st="13" end="13"/>
                                            </p:txEl>
                                          </p:spTgt>
                                        </p:tgtEl>
                                        <p:attrNameLst>
                                          <p:attrName>style.visibility</p:attrName>
                                        </p:attrNameLst>
                                      </p:cBhvr>
                                      <p:to>
                                        <p:strVal val="visible"/>
                                      </p:to>
                                    </p:set>
                                    <p:anim calcmode="lin" valueType="num">
                                      <p:cBhvr additive="base">
                                        <p:cTn id="59" dur="500" fill="hold"/>
                                        <p:tgtEl>
                                          <p:spTgt spid="576515">
                                            <p:txEl>
                                              <p:pRg st="13" end="13"/>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576515">
                                            <p:txEl>
                                              <p:pRg st="13" end="1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whoosh.wav"/>
                                        </p:tgtEl>
                                      </p:cMediaNode>
                                    </p:audio>
                                  </p:subTnLst>
                                </p:cTn>
                              </p:par>
                              <p:par>
                                <p:cTn id="61" presetID="2" presetClass="entr" presetSubtype="8" fill="hold" grpId="0" nodeType="withEffect">
                                  <p:stCondLst>
                                    <p:cond delay="0"/>
                                  </p:stCondLst>
                                  <p:childTnLst>
                                    <p:set>
                                      <p:cBhvr>
                                        <p:cTn id="62" dur="1" fill="hold">
                                          <p:stCondLst>
                                            <p:cond delay="0"/>
                                          </p:stCondLst>
                                        </p:cTn>
                                        <p:tgtEl>
                                          <p:spTgt spid="576515">
                                            <p:txEl>
                                              <p:pRg st="14" end="14"/>
                                            </p:txEl>
                                          </p:spTgt>
                                        </p:tgtEl>
                                        <p:attrNameLst>
                                          <p:attrName>style.visibility</p:attrName>
                                        </p:attrNameLst>
                                      </p:cBhvr>
                                      <p:to>
                                        <p:strVal val="visible"/>
                                      </p:to>
                                    </p:set>
                                    <p:anim calcmode="lin" valueType="num">
                                      <p:cBhvr additive="base">
                                        <p:cTn id="63" dur="500" fill="hold"/>
                                        <p:tgtEl>
                                          <p:spTgt spid="576515">
                                            <p:txEl>
                                              <p:pRg st="14" end="14"/>
                                            </p:tx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576515">
                                            <p:txEl>
                                              <p:pRg st="14"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whoosh.wav"/>
                                        </p:tgtEl>
                                      </p:cMediaNode>
                                    </p:audio>
                                  </p:subTnLst>
                                </p:cTn>
                              </p:par>
                              <p:par>
                                <p:cTn id="65" presetID="2" presetClass="entr" presetSubtype="8" fill="hold" grpId="0" nodeType="withEffect">
                                  <p:stCondLst>
                                    <p:cond delay="0"/>
                                  </p:stCondLst>
                                  <p:childTnLst>
                                    <p:set>
                                      <p:cBhvr>
                                        <p:cTn id="66" dur="1" fill="hold">
                                          <p:stCondLst>
                                            <p:cond delay="0"/>
                                          </p:stCondLst>
                                        </p:cTn>
                                        <p:tgtEl>
                                          <p:spTgt spid="576515">
                                            <p:txEl>
                                              <p:pRg st="15" end="15"/>
                                            </p:txEl>
                                          </p:spTgt>
                                        </p:tgtEl>
                                        <p:attrNameLst>
                                          <p:attrName>style.visibility</p:attrName>
                                        </p:attrNameLst>
                                      </p:cBhvr>
                                      <p:to>
                                        <p:strVal val="visible"/>
                                      </p:to>
                                    </p:set>
                                    <p:anim calcmode="lin" valueType="num">
                                      <p:cBhvr additive="base">
                                        <p:cTn id="67" dur="500" fill="hold"/>
                                        <p:tgtEl>
                                          <p:spTgt spid="576515">
                                            <p:txEl>
                                              <p:pRg st="15" end="15"/>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576515">
                                            <p:txEl>
                                              <p:pRg st="15" end="1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2" name="whoosh.wav"/>
                                        </p:tgtEl>
                                      </p:cMediaNode>
                                    </p:audio>
                                  </p:subTnLst>
                                </p:cTn>
                              </p:par>
                              <p:par>
                                <p:cTn id="69" presetID="2" presetClass="entr" presetSubtype="8" fill="hold" grpId="0" nodeType="withEffect">
                                  <p:stCondLst>
                                    <p:cond delay="0"/>
                                  </p:stCondLst>
                                  <p:childTnLst>
                                    <p:set>
                                      <p:cBhvr>
                                        <p:cTn id="70" dur="1" fill="hold">
                                          <p:stCondLst>
                                            <p:cond delay="0"/>
                                          </p:stCondLst>
                                        </p:cTn>
                                        <p:tgtEl>
                                          <p:spTgt spid="576515">
                                            <p:txEl>
                                              <p:pRg st="16" end="16"/>
                                            </p:txEl>
                                          </p:spTgt>
                                        </p:tgtEl>
                                        <p:attrNameLst>
                                          <p:attrName>style.visibility</p:attrName>
                                        </p:attrNameLst>
                                      </p:cBhvr>
                                      <p:to>
                                        <p:strVal val="visible"/>
                                      </p:to>
                                    </p:set>
                                    <p:anim calcmode="lin" valueType="num">
                                      <p:cBhvr additive="base">
                                        <p:cTn id="71" dur="500" fill="hold"/>
                                        <p:tgtEl>
                                          <p:spTgt spid="576515">
                                            <p:txEl>
                                              <p:pRg st="16" end="16"/>
                                            </p:tx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576515">
                                            <p:txEl>
                                              <p:pRg st="16" end="1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15" grpId="0" build="p"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7FC069D7-6420-5138-BB70-D02C6A871683}"/>
              </a:ext>
            </a:extLst>
          </p:cNvPr>
          <p:cNvSpPr>
            <a:spLocks noGrp="1" noChangeArrowheads="1"/>
          </p:cNvSpPr>
          <p:nvPr>
            <p:ph type="title"/>
          </p:nvPr>
        </p:nvSpPr>
        <p:spPr/>
        <p:txBody>
          <a:bodyPr/>
          <a:lstStyle/>
          <a:p>
            <a:pPr eaLnBrk="1" hangingPunct="1"/>
            <a:r>
              <a:rPr lang="zh-CN" altLang="en-US" sz="4000"/>
              <a:t>例</a:t>
            </a:r>
            <a:r>
              <a:rPr lang="en-US" altLang="zh-CN" sz="4000"/>
              <a:t>25*  </a:t>
            </a:r>
            <a:r>
              <a:rPr lang="zh-CN" altLang="en-US" sz="4000"/>
              <a:t>排序时交换变量的指针</a:t>
            </a:r>
            <a:endParaRPr lang="zh-CN" altLang="en-US" sz="2400" b="1">
              <a:solidFill>
                <a:schemeClr val="tx1"/>
              </a:solidFill>
              <a:latin typeface="宋体" panose="02010600030101010101" pitchFamily="2" charset="-122"/>
            </a:endParaRPr>
          </a:p>
        </p:txBody>
      </p:sp>
      <p:sp>
        <p:nvSpPr>
          <p:cNvPr id="577539" name="Rectangle 3">
            <a:extLst>
              <a:ext uri="{FF2B5EF4-FFF2-40B4-BE49-F238E27FC236}">
                <a16:creationId xmlns:a16="http://schemas.microsoft.com/office/drawing/2014/main" id="{C6F302D2-1142-1B70-33CE-38DDE011DC4D}"/>
              </a:ext>
            </a:extLst>
          </p:cNvPr>
          <p:cNvSpPr>
            <a:spLocks noGrp="1" noChangeArrowheads="1"/>
          </p:cNvSpPr>
          <p:nvPr>
            <p:ph type="body" idx="1"/>
          </p:nvPr>
        </p:nvSpPr>
        <p:spPr/>
        <p:txBody>
          <a:bodyPr/>
          <a:lstStyle/>
          <a:p>
            <a:pPr marL="914400" lvl="1" indent="-457200" eaLnBrk="1" hangingPunct="1">
              <a:lnSpc>
                <a:spcPct val="80000"/>
              </a:lnSpc>
              <a:buFont typeface="Wingdings" pitchFamily="2" charset="2"/>
              <a:buAutoNum type="arabicPeriod"/>
            </a:pPr>
            <a:r>
              <a:rPr lang="en-US" altLang="zh-CN" sz="1400"/>
              <a:t>  #include  &lt;stdio.h&gt;</a:t>
            </a:r>
          </a:p>
          <a:p>
            <a:pPr marL="914400" lvl="1" indent="-457200" eaLnBrk="1" hangingPunct="1">
              <a:lnSpc>
                <a:spcPct val="80000"/>
              </a:lnSpc>
              <a:buFont typeface="Wingdings" pitchFamily="2" charset="2"/>
              <a:buAutoNum type="arabicPeriod"/>
            </a:pPr>
            <a:r>
              <a:rPr lang="en-US" altLang="zh-CN" sz="1400"/>
              <a:t>  #define  N sizeof ap/sizeof ap[0]</a:t>
            </a:r>
          </a:p>
          <a:p>
            <a:pPr marL="914400" lvl="1" indent="-457200" eaLnBrk="1" hangingPunct="1">
              <a:lnSpc>
                <a:spcPct val="80000"/>
              </a:lnSpc>
              <a:buFont typeface="Wingdings" pitchFamily="2" charset="2"/>
              <a:buAutoNum type="arabicPeriod"/>
            </a:pPr>
            <a:r>
              <a:rPr lang="en-US" altLang="zh-CN" sz="1400"/>
              <a:t>  void main() {</a:t>
            </a:r>
          </a:p>
          <a:p>
            <a:pPr marL="914400" lvl="1" indent="-457200" eaLnBrk="1" hangingPunct="1">
              <a:lnSpc>
                <a:spcPct val="80000"/>
              </a:lnSpc>
              <a:buFont typeface="Wingdings" pitchFamily="2" charset="2"/>
              <a:buAutoNum type="arabicPeriod"/>
            </a:pPr>
            <a:r>
              <a:rPr lang="zh-CN" altLang="en-US" sz="1400"/>
              <a:t>　 </a:t>
            </a:r>
            <a:r>
              <a:rPr lang="en-US" altLang="zh-CN" sz="1400"/>
              <a:t>int a, b, c, d, e, f;</a:t>
            </a:r>
          </a:p>
          <a:p>
            <a:pPr marL="914400" lvl="1" indent="-457200" eaLnBrk="1" hangingPunct="1">
              <a:lnSpc>
                <a:spcPct val="80000"/>
              </a:lnSpc>
              <a:buFont typeface="Wingdings" pitchFamily="2" charset="2"/>
              <a:buAutoNum type="arabicPeriod"/>
            </a:pPr>
            <a:r>
              <a:rPr lang="en-US" altLang="zh-CN" sz="1400"/>
              <a:t>     int *ap[ ] = {&amp;a, &amp;b, &amp;c, &amp;d, &amp;e, &amp;f};</a:t>
            </a:r>
          </a:p>
          <a:p>
            <a:pPr marL="914400" lvl="1" indent="-457200" eaLnBrk="1" hangingPunct="1">
              <a:lnSpc>
                <a:spcPct val="80000"/>
              </a:lnSpc>
              <a:buFont typeface="Wingdings" pitchFamily="2" charset="2"/>
              <a:buAutoNum type="arabicPeriod"/>
            </a:pPr>
            <a:r>
              <a:rPr lang="en-US" altLang="zh-CN" sz="1400"/>
              <a:t>     int k, j, *t;</a:t>
            </a:r>
          </a:p>
          <a:p>
            <a:pPr marL="914400" lvl="1" indent="-457200" eaLnBrk="1" hangingPunct="1">
              <a:lnSpc>
                <a:spcPct val="80000"/>
              </a:lnSpc>
              <a:buFont typeface="Wingdings" pitchFamily="2" charset="2"/>
              <a:buAutoNum type="arabicPeriod"/>
            </a:pPr>
            <a:r>
              <a:rPr lang="en-US" altLang="zh-CN" sz="1400"/>
              <a:t>     printf("Enter a, b, c, d, e, f.\n");</a:t>
            </a:r>
          </a:p>
          <a:p>
            <a:pPr marL="914400" lvl="1" indent="-457200" eaLnBrk="1" hangingPunct="1">
              <a:lnSpc>
                <a:spcPct val="80000"/>
              </a:lnSpc>
              <a:buFont typeface="Wingdings" pitchFamily="2" charset="2"/>
              <a:buAutoNum type="arabicPeriod"/>
            </a:pPr>
            <a:r>
              <a:rPr lang="en-US" altLang="zh-CN" sz="1400"/>
              <a:t>     for(k = 0; k &lt; N; k++)  scanf("%d", ap[k]);</a:t>
            </a:r>
            <a:br>
              <a:rPr lang="en-US" altLang="zh-CN" sz="1400"/>
            </a:br>
            <a:endParaRPr lang="en-US" altLang="zh-CN" sz="1400"/>
          </a:p>
          <a:p>
            <a:pPr marL="914400" lvl="1" indent="-457200" eaLnBrk="1" hangingPunct="1">
              <a:lnSpc>
                <a:spcPct val="80000"/>
              </a:lnSpc>
              <a:buFont typeface="Wingdings" pitchFamily="2" charset="2"/>
              <a:buAutoNum type="arabicPeriod"/>
            </a:pPr>
            <a:r>
              <a:rPr lang="en-US" altLang="zh-CN" sz="1400"/>
              <a:t>     //</a:t>
            </a:r>
            <a:r>
              <a:rPr lang="zh-CN" altLang="en-US" sz="1400"/>
              <a:t>冒泡排序</a:t>
            </a:r>
          </a:p>
          <a:p>
            <a:pPr marL="914400" lvl="1" indent="-457200" eaLnBrk="1" hangingPunct="1">
              <a:lnSpc>
                <a:spcPct val="80000"/>
              </a:lnSpc>
              <a:buFont typeface="Wingdings" pitchFamily="2" charset="2"/>
              <a:buAutoNum type="arabicPeriod"/>
            </a:pPr>
            <a:r>
              <a:rPr lang="zh-CN" altLang="en-US" sz="1400"/>
              <a:t>     </a:t>
            </a:r>
            <a:r>
              <a:rPr lang="en-US" altLang="zh-CN" sz="1400"/>
              <a:t>for(k = 1; k &lt; N; k++)</a:t>
            </a:r>
          </a:p>
          <a:p>
            <a:pPr marL="914400" lvl="1" indent="-457200" eaLnBrk="1" hangingPunct="1">
              <a:lnSpc>
                <a:spcPct val="80000"/>
              </a:lnSpc>
              <a:buFont typeface="Wingdings" pitchFamily="2" charset="2"/>
              <a:buAutoNum type="arabicPeriod"/>
            </a:pPr>
            <a:r>
              <a:rPr lang="en-US" altLang="zh-CN" sz="1400"/>
              <a:t>        for(j = 0; j &lt; N-k; j++)</a:t>
            </a:r>
          </a:p>
          <a:p>
            <a:pPr marL="914400" lvl="1" indent="-457200" eaLnBrk="1" hangingPunct="1">
              <a:lnSpc>
                <a:spcPct val="80000"/>
              </a:lnSpc>
              <a:buFont typeface="Wingdings" pitchFamily="2" charset="2"/>
              <a:buAutoNum type="arabicPeriod"/>
            </a:pPr>
            <a:r>
              <a:rPr lang="en-US" altLang="zh-CN" sz="1400"/>
              <a:t>           if (*ap[j] &gt; *ap[j+1])  {</a:t>
            </a:r>
            <a:r>
              <a:rPr lang="en-US" altLang="zh-CN" sz="1400">
                <a:solidFill>
                  <a:srgbClr val="00B050"/>
                </a:solidFill>
              </a:rPr>
              <a:t>//</a:t>
            </a:r>
            <a:r>
              <a:rPr lang="zh-CN" altLang="en-US" sz="1400">
                <a:solidFill>
                  <a:srgbClr val="00B050"/>
                </a:solidFill>
              </a:rPr>
              <a:t>交换变量的指针</a:t>
            </a:r>
          </a:p>
          <a:p>
            <a:pPr marL="914400" lvl="1" indent="-457200" eaLnBrk="1" hangingPunct="1">
              <a:lnSpc>
                <a:spcPct val="80000"/>
              </a:lnSpc>
              <a:buFont typeface="Wingdings" pitchFamily="2" charset="2"/>
              <a:buAutoNum type="arabicPeriod"/>
            </a:pPr>
            <a:r>
              <a:rPr lang="zh-CN" altLang="en-US" sz="1400"/>
              <a:t>               </a:t>
            </a:r>
            <a:r>
              <a:rPr lang="en-US" altLang="zh-CN" sz="1400"/>
              <a:t>t = ap[j];   ap[j] = ap[j+1];    ap[j+1] = t;   </a:t>
            </a:r>
          </a:p>
          <a:p>
            <a:pPr marL="914400" lvl="1" indent="-457200" eaLnBrk="1" hangingPunct="1">
              <a:lnSpc>
                <a:spcPct val="80000"/>
              </a:lnSpc>
              <a:buFont typeface="Wingdings" pitchFamily="2" charset="2"/>
              <a:buAutoNum type="arabicPeriod"/>
            </a:pPr>
            <a:r>
              <a:rPr lang="en-US" altLang="zh-CN" sz="1400"/>
              <a:t>           }</a:t>
            </a:r>
            <a:br>
              <a:rPr lang="en-US" altLang="zh-CN" sz="1400"/>
            </a:br>
            <a:endParaRPr lang="en-US" altLang="zh-CN" sz="1400"/>
          </a:p>
          <a:p>
            <a:pPr marL="914400" lvl="1" indent="-457200" eaLnBrk="1" hangingPunct="1">
              <a:lnSpc>
                <a:spcPct val="80000"/>
              </a:lnSpc>
              <a:buFont typeface="Wingdings" pitchFamily="2" charset="2"/>
              <a:buAutoNum type="arabicPeriod"/>
            </a:pPr>
            <a:r>
              <a:rPr lang="en-US" altLang="zh-CN" sz="1400"/>
              <a:t>     for(k = 0; k &lt; N; k++)     printf("%d\t", *ap[k]);</a:t>
            </a:r>
          </a:p>
          <a:p>
            <a:pPr marL="914400" lvl="1" indent="-457200" eaLnBrk="1" hangingPunct="1">
              <a:lnSpc>
                <a:spcPct val="80000"/>
              </a:lnSpc>
              <a:buFont typeface="Wingdings" pitchFamily="2" charset="2"/>
              <a:buAutoNum type="arabicPeriod"/>
            </a:pPr>
            <a:r>
              <a:rPr lang="en-US" altLang="zh-CN" sz="1400"/>
              <a:t>     printf("\n\n");</a:t>
            </a:r>
          </a:p>
          <a:p>
            <a:pPr marL="914400" lvl="1" indent="-457200" eaLnBrk="1" hangingPunct="1">
              <a:lnSpc>
                <a:spcPct val="80000"/>
              </a:lnSpc>
              <a:buFont typeface="Wingdings" pitchFamily="2" charset="2"/>
              <a:buAutoNum type="arabicPeriod"/>
            </a:pPr>
            <a:r>
              <a:rPr lang="en-US" altLang="zh-CN" sz="14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7539">
                                            <p:txEl>
                                              <p:pRg st="0" end="0"/>
                                            </p:txEl>
                                          </p:spTgt>
                                        </p:tgtEl>
                                        <p:attrNameLst>
                                          <p:attrName>style.visibility</p:attrName>
                                        </p:attrNameLst>
                                      </p:cBhvr>
                                      <p:to>
                                        <p:strVal val="visible"/>
                                      </p:to>
                                    </p:set>
                                    <p:anim calcmode="lin" valueType="num">
                                      <p:cBhvr additive="base">
                                        <p:cTn id="7" dur="500" fill="hold"/>
                                        <p:tgtEl>
                                          <p:spTgt spid="5775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753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77539">
                                            <p:txEl>
                                              <p:pRg st="1" end="1"/>
                                            </p:txEl>
                                          </p:spTgt>
                                        </p:tgtEl>
                                        <p:attrNameLst>
                                          <p:attrName>style.visibility</p:attrName>
                                        </p:attrNameLst>
                                      </p:cBhvr>
                                      <p:to>
                                        <p:strVal val="visible"/>
                                      </p:to>
                                    </p:set>
                                    <p:anim calcmode="lin" valueType="num">
                                      <p:cBhvr additive="base">
                                        <p:cTn id="11" dur="500" fill="hold"/>
                                        <p:tgtEl>
                                          <p:spTgt spid="57753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7753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77539">
                                            <p:txEl>
                                              <p:pRg st="2" end="2"/>
                                            </p:txEl>
                                          </p:spTgt>
                                        </p:tgtEl>
                                        <p:attrNameLst>
                                          <p:attrName>style.visibility</p:attrName>
                                        </p:attrNameLst>
                                      </p:cBhvr>
                                      <p:to>
                                        <p:strVal val="visible"/>
                                      </p:to>
                                    </p:set>
                                    <p:anim calcmode="lin" valueType="num">
                                      <p:cBhvr additive="base">
                                        <p:cTn id="15" dur="500" fill="hold"/>
                                        <p:tgtEl>
                                          <p:spTgt spid="57753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7753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77539">
                                            <p:txEl>
                                              <p:pRg st="3" end="3"/>
                                            </p:txEl>
                                          </p:spTgt>
                                        </p:tgtEl>
                                        <p:attrNameLst>
                                          <p:attrName>style.visibility</p:attrName>
                                        </p:attrNameLst>
                                      </p:cBhvr>
                                      <p:to>
                                        <p:strVal val="visible"/>
                                      </p:to>
                                    </p:set>
                                    <p:anim calcmode="lin" valueType="num">
                                      <p:cBhvr additive="base">
                                        <p:cTn id="19" dur="500" fill="hold"/>
                                        <p:tgtEl>
                                          <p:spTgt spid="57753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7753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77539">
                                            <p:txEl>
                                              <p:pRg st="4" end="4"/>
                                            </p:txEl>
                                          </p:spTgt>
                                        </p:tgtEl>
                                        <p:attrNameLst>
                                          <p:attrName>style.visibility</p:attrName>
                                        </p:attrNameLst>
                                      </p:cBhvr>
                                      <p:to>
                                        <p:strVal val="visible"/>
                                      </p:to>
                                    </p:set>
                                    <p:anim calcmode="lin" valueType="num">
                                      <p:cBhvr additive="base">
                                        <p:cTn id="23" dur="500" fill="hold"/>
                                        <p:tgtEl>
                                          <p:spTgt spid="57753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7753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77539">
                                            <p:txEl>
                                              <p:pRg st="5" end="5"/>
                                            </p:txEl>
                                          </p:spTgt>
                                        </p:tgtEl>
                                        <p:attrNameLst>
                                          <p:attrName>style.visibility</p:attrName>
                                        </p:attrNameLst>
                                      </p:cBhvr>
                                      <p:to>
                                        <p:strVal val="visible"/>
                                      </p:to>
                                    </p:set>
                                    <p:anim calcmode="lin" valueType="num">
                                      <p:cBhvr additive="base">
                                        <p:cTn id="27" dur="500" fill="hold"/>
                                        <p:tgtEl>
                                          <p:spTgt spid="57753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7753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77539">
                                            <p:txEl>
                                              <p:pRg st="6" end="6"/>
                                            </p:txEl>
                                          </p:spTgt>
                                        </p:tgtEl>
                                        <p:attrNameLst>
                                          <p:attrName>style.visibility</p:attrName>
                                        </p:attrNameLst>
                                      </p:cBhvr>
                                      <p:to>
                                        <p:strVal val="visible"/>
                                      </p:to>
                                    </p:set>
                                    <p:anim calcmode="lin" valueType="num">
                                      <p:cBhvr additive="base">
                                        <p:cTn id="31" dur="500" fill="hold"/>
                                        <p:tgtEl>
                                          <p:spTgt spid="577539">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77539">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577539">
                                            <p:txEl>
                                              <p:pRg st="7" end="7"/>
                                            </p:txEl>
                                          </p:spTgt>
                                        </p:tgtEl>
                                        <p:attrNameLst>
                                          <p:attrName>style.visibility</p:attrName>
                                        </p:attrNameLst>
                                      </p:cBhvr>
                                      <p:to>
                                        <p:strVal val="visible"/>
                                      </p:to>
                                    </p:set>
                                    <p:anim calcmode="lin" valueType="num">
                                      <p:cBhvr additive="base">
                                        <p:cTn id="35" dur="500" fill="hold"/>
                                        <p:tgtEl>
                                          <p:spTgt spid="577539">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77539">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par>
                                <p:cTn id="37" presetID="2" presetClass="entr" presetSubtype="8" fill="hold" grpId="0" nodeType="withEffect">
                                  <p:stCondLst>
                                    <p:cond delay="0"/>
                                  </p:stCondLst>
                                  <p:childTnLst>
                                    <p:set>
                                      <p:cBhvr>
                                        <p:cTn id="38" dur="1" fill="hold">
                                          <p:stCondLst>
                                            <p:cond delay="0"/>
                                          </p:stCondLst>
                                        </p:cTn>
                                        <p:tgtEl>
                                          <p:spTgt spid="577539">
                                            <p:txEl>
                                              <p:pRg st="8" end="8"/>
                                            </p:txEl>
                                          </p:spTgt>
                                        </p:tgtEl>
                                        <p:attrNameLst>
                                          <p:attrName>style.visibility</p:attrName>
                                        </p:attrNameLst>
                                      </p:cBhvr>
                                      <p:to>
                                        <p:strVal val="visible"/>
                                      </p:to>
                                    </p:set>
                                    <p:anim calcmode="lin" valueType="num">
                                      <p:cBhvr additive="base">
                                        <p:cTn id="39" dur="500" fill="hold"/>
                                        <p:tgtEl>
                                          <p:spTgt spid="577539">
                                            <p:txEl>
                                              <p:pRg st="8" end="8"/>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77539">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par>
                                <p:cTn id="41" presetID="2" presetClass="entr" presetSubtype="8" fill="hold" grpId="0" nodeType="withEffect">
                                  <p:stCondLst>
                                    <p:cond delay="0"/>
                                  </p:stCondLst>
                                  <p:childTnLst>
                                    <p:set>
                                      <p:cBhvr>
                                        <p:cTn id="42" dur="1" fill="hold">
                                          <p:stCondLst>
                                            <p:cond delay="0"/>
                                          </p:stCondLst>
                                        </p:cTn>
                                        <p:tgtEl>
                                          <p:spTgt spid="577539">
                                            <p:txEl>
                                              <p:pRg st="9" end="9"/>
                                            </p:txEl>
                                          </p:spTgt>
                                        </p:tgtEl>
                                        <p:attrNameLst>
                                          <p:attrName>style.visibility</p:attrName>
                                        </p:attrNameLst>
                                      </p:cBhvr>
                                      <p:to>
                                        <p:strVal val="visible"/>
                                      </p:to>
                                    </p:set>
                                    <p:anim calcmode="lin" valueType="num">
                                      <p:cBhvr additive="base">
                                        <p:cTn id="43" dur="500" fill="hold"/>
                                        <p:tgtEl>
                                          <p:spTgt spid="577539">
                                            <p:txEl>
                                              <p:pRg st="9" end="9"/>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77539">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par>
                                <p:cTn id="45" presetID="2" presetClass="entr" presetSubtype="8" fill="hold" grpId="0" nodeType="withEffect">
                                  <p:stCondLst>
                                    <p:cond delay="0"/>
                                  </p:stCondLst>
                                  <p:childTnLst>
                                    <p:set>
                                      <p:cBhvr>
                                        <p:cTn id="46" dur="1" fill="hold">
                                          <p:stCondLst>
                                            <p:cond delay="0"/>
                                          </p:stCondLst>
                                        </p:cTn>
                                        <p:tgtEl>
                                          <p:spTgt spid="577539">
                                            <p:txEl>
                                              <p:pRg st="10" end="10"/>
                                            </p:txEl>
                                          </p:spTgt>
                                        </p:tgtEl>
                                        <p:attrNameLst>
                                          <p:attrName>style.visibility</p:attrName>
                                        </p:attrNameLst>
                                      </p:cBhvr>
                                      <p:to>
                                        <p:strVal val="visible"/>
                                      </p:to>
                                    </p:set>
                                    <p:anim calcmode="lin" valueType="num">
                                      <p:cBhvr additive="base">
                                        <p:cTn id="47" dur="500" fill="hold"/>
                                        <p:tgtEl>
                                          <p:spTgt spid="577539">
                                            <p:txEl>
                                              <p:pRg st="10" end="1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77539">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whoosh.wav"/>
                                        </p:tgtEl>
                                      </p:cMediaNode>
                                    </p:audio>
                                  </p:subTnLst>
                                </p:cTn>
                              </p:par>
                              <p:par>
                                <p:cTn id="49" presetID="2" presetClass="entr" presetSubtype="8" fill="hold" grpId="0" nodeType="withEffect">
                                  <p:stCondLst>
                                    <p:cond delay="0"/>
                                  </p:stCondLst>
                                  <p:childTnLst>
                                    <p:set>
                                      <p:cBhvr>
                                        <p:cTn id="50" dur="1" fill="hold">
                                          <p:stCondLst>
                                            <p:cond delay="0"/>
                                          </p:stCondLst>
                                        </p:cTn>
                                        <p:tgtEl>
                                          <p:spTgt spid="577539">
                                            <p:txEl>
                                              <p:pRg st="11" end="11"/>
                                            </p:txEl>
                                          </p:spTgt>
                                        </p:tgtEl>
                                        <p:attrNameLst>
                                          <p:attrName>style.visibility</p:attrName>
                                        </p:attrNameLst>
                                      </p:cBhvr>
                                      <p:to>
                                        <p:strVal val="visible"/>
                                      </p:to>
                                    </p:set>
                                    <p:anim calcmode="lin" valueType="num">
                                      <p:cBhvr additive="base">
                                        <p:cTn id="51" dur="500" fill="hold"/>
                                        <p:tgtEl>
                                          <p:spTgt spid="577539">
                                            <p:txEl>
                                              <p:pRg st="11" end="11"/>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577539">
                                            <p:txEl>
                                              <p:pRg st="11"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2" name="whoosh.wav"/>
                                        </p:tgtEl>
                                      </p:cMediaNode>
                                    </p:audio>
                                  </p:subTnLst>
                                </p:cTn>
                              </p:par>
                              <p:par>
                                <p:cTn id="53" presetID="2" presetClass="entr" presetSubtype="8" fill="hold" grpId="0" nodeType="withEffect">
                                  <p:stCondLst>
                                    <p:cond delay="0"/>
                                  </p:stCondLst>
                                  <p:childTnLst>
                                    <p:set>
                                      <p:cBhvr>
                                        <p:cTn id="54" dur="1" fill="hold">
                                          <p:stCondLst>
                                            <p:cond delay="0"/>
                                          </p:stCondLst>
                                        </p:cTn>
                                        <p:tgtEl>
                                          <p:spTgt spid="577539">
                                            <p:txEl>
                                              <p:pRg st="12" end="12"/>
                                            </p:txEl>
                                          </p:spTgt>
                                        </p:tgtEl>
                                        <p:attrNameLst>
                                          <p:attrName>style.visibility</p:attrName>
                                        </p:attrNameLst>
                                      </p:cBhvr>
                                      <p:to>
                                        <p:strVal val="visible"/>
                                      </p:to>
                                    </p:set>
                                    <p:anim calcmode="lin" valueType="num">
                                      <p:cBhvr additive="base">
                                        <p:cTn id="55" dur="500" fill="hold"/>
                                        <p:tgtEl>
                                          <p:spTgt spid="577539">
                                            <p:txEl>
                                              <p:pRg st="12" end="12"/>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577539">
                                            <p:txEl>
                                              <p:pRg st="12" end="1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whoosh.wav"/>
                                        </p:tgtEl>
                                      </p:cMediaNode>
                                    </p:audio>
                                  </p:subTnLst>
                                </p:cTn>
                              </p:par>
                              <p:par>
                                <p:cTn id="57" presetID="2" presetClass="entr" presetSubtype="8" fill="hold" grpId="0" nodeType="withEffect">
                                  <p:stCondLst>
                                    <p:cond delay="0"/>
                                  </p:stCondLst>
                                  <p:childTnLst>
                                    <p:set>
                                      <p:cBhvr>
                                        <p:cTn id="58" dur="1" fill="hold">
                                          <p:stCondLst>
                                            <p:cond delay="0"/>
                                          </p:stCondLst>
                                        </p:cTn>
                                        <p:tgtEl>
                                          <p:spTgt spid="577539">
                                            <p:txEl>
                                              <p:pRg st="13" end="13"/>
                                            </p:txEl>
                                          </p:spTgt>
                                        </p:tgtEl>
                                        <p:attrNameLst>
                                          <p:attrName>style.visibility</p:attrName>
                                        </p:attrNameLst>
                                      </p:cBhvr>
                                      <p:to>
                                        <p:strVal val="visible"/>
                                      </p:to>
                                    </p:set>
                                    <p:anim calcmode="lin" valueType="num">
                                      <p:cBhvr additive="base">
                                        <p:cTn id="59" dur="500" fill="hold"/>
                                        <p:tgtEl>
                                          <p:spTgt spid="577539">
                                            <p:txEl>
                                              <p:pRg st="13" end="13"/>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577539">
                                            <p:txEl>
                                              <p:pRg st="13" end="1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whoosh.wav"/>
                                        </p:tgtEl>
                                      </p:cMediaNode>
                                    </p:audio>
                                  </p:subTnLst>
                                </p:cTn>
                              </p:par>
                              <p:par>
                                <p:cTn id="61" presetID="2" presetClass="entr" presetSubtype="8" fill="hold" grpId="0" nodeType="withEffect">
                                  <p:stCondLst>
                                    <p:cond delay="0"/>
                                  </p:stCondLst>
                                  <p:childTnLst>
                                    <p:set>
                                      <p:cBhvr>
                                        <p:cTn id="62" dur="1" fill="hold">
                                          <p:stCondLst>
                                            <p:cond delay="0"/>
                                          </p:stCondLst>
                                        </p:cTn>
                                        <p:tgtEl>
                                          <p:spTgt spid="577539">
                                            <p:txEl>
                                              <p:pRg st="14" end="14"/>
                                            </p:txEl>
                                          </p:spTgt>
                                        </p:tgtEl>
                                        <p:attrNameLst>
                                          <p:attrName>style.visibility</p:attrName>
                                        </p:attrNameLst>
                                      </p:cBhvr>
                                      <p:to>
                                        <p:strVal val="visible"/>
                                      </p:to>
                                    </p:set>
                                    <p:anim calcmode="lin" valueType="num">
                                      <p:cBhvr additive="base">
                                        <p:cTn id="63" dur="500" fill="hold"/>
                                        <p:tgtEl>
                                          <p:spTgt spid="577539">
                                            <p:txEl>
                                              <p:pRg st="14" end="14"/>
                                            </p:tx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577539">
                                            <p:txEl>
                                              <p:pRg st="14"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whoosh.wav"/>
                                        </p:tgtEl>
                                      </p:cMediaNode>
                                    </p:audio>
                                  </p:subTnLst>
                                </p:cTn>
                              </p:par>
                              <p:par>
                                <p:cTn id="65" presetID="2" presetClass="entr" presetSubtype="8" fill="hold" grpId="0" nodeType="withEffect">
                                  <p:stCondLst>
                                    <p:cond delay="0"/>
                                  </p:stCondLst>
                                  <p:childTnLst>
                                    <p:set>
                                      <p:cBhvr>
                                        <p:cTn id="66" dur="1" fill="hold">
                                          <p:stCondLst>
                                            <p:cond delay="0"/>
                                          </p:stCondLst>
                                        </p:cTn>
                                        <p:tgtEl>
                                          <p:spTgt spid="577539">
                                            <p:txEl>
                                              <p:pRg st="15" end="15"/>
                                            </p:txEl>
                                          </p:spTgt>
                                        </p:tgtEl>
                                        <p:attrNameLst>
                                          <p:attrName>style.visibility</p:attrName>
                                        </p:attrNameLst>
                                      </p:cBhvr>
                                      <p:to>
                                        <p:strVal val="visible"/>
                                      </p:to>
                                    </p:set>
                                    <p:anim calcmode="lin" valueType="num">
                                      <p:cBhvr additive="base">
                                        <p:cTn id="67" dur="500" fill="hold"/>
                                        <p:tgtEl>
                                          <p:spTgt spid="577539">
                                            <p:txEl>
                                              <p:pRg st="15" end="15"/>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577539">
                                            <p:txEl>
                                              <p:pRg st="15" end="1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2" name="whoosh.wav"/>
                                        </p:tgtEl>
                                      </p:cMediaNode>
                                    </p:audio>
                                  </p:subTnLst>
                                </p:cTn>
                              </p:par>
                              <p:par>
                                <p:cTn id="69" presetID="2" presetClass="entr" presetSubtype="8" fill="hold" grpId="0" nodeType="withEffect">
                                  <p:stCondLst>
                                    <p:cond delay="0"/>
                                  </p:stCondLst>
                                  <p:childTnLst>
                                    <p:set>
                                      <p:cBhvr>
                                        <p:cTn id="70" dur="1" fill="hold">
                                          <p:stCondLst>
                                            <p:cond delay="0"/>
                                          </p:stCondLst>
                                        </p:cTn>
                                        <p:tgtEl>
                                          <p:spTgt spid="577539">
                                            <p:txEl>
                                              <p:pRg st="16" end="16"/>
                                            </p:txEl>
                                          </p:spTgt>
                                        </p:tgtEl>
                                        <p:attrNameLst>
                                          <p:attrName>style.visibility</p:attrName>
                                        </p:attrNameLst>
                                      </p:cBhvr>
                                      <p:to>
                                        <p:strVal val="visible"/>
                                      </p:to>
                                    </p:set>
                                    <p:anim calcmode="lin" valueType="num">
                                      <p:cBhvr additive="base">
                                        <p:cTn id="71" dur="500" fill="hold"/>
                                        <p:tgtEl>
                                          <p:spTgt spid="577539">
                                            <p:txEl>
                                              <p:pRg st="16" end="16"/>
                                            </p:tx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577539">
                                            <p:txEl>
                                              <p:pRg st="16" end="1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39" grpId="0" build="p"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E02101F0-6411-9A2C-8D22-AC121049C88B}"/>
              </a:ext>
            </a:extLst>
          </p:cNvPr>
          <p:cNvSpPr>
            <a:spLocks noGrp="1" noChangeArrowheads="1"/>
          </p:cNvSpPr>
          <p:nvPr>
            <p:ph type="title"/>
          </p:nvPr>
        </p:nvSpPr>
        <p:spPr/>
        <p:txBody>
          <a:bodyPr/>
          <a:lstStyle/>
          <a:p>
            <a:pPr eaLnBrk="1" hangingPunct="1"/>
            <a:r>
              <a:rPr lang="zh-CN" altLang="en-US"/>
              <a:t>使用指针数组例</a:t>
            </a:r>
            <a:r>
              <a:rPr lang="en-US" altLang="zh-CN" sz="3600"/>
              <a:t>(P.126~127)</a:t>
            </a:r>
          </a:p>
        </p:txBody>
      </p:sp>
      <p:sp>
        <p:nvSpPr>
          <p:cNvPr id="578563" name="Rectangle 3">
            <a:extLst>
              <a:ext uri="{FF2B5EF4-FFF2-40B4-BE49-F238E27FC236}">
                <a16:creationId xmlns:a16="http://schemas.microsoft.com/office/drawing/2014/main" id="{957D3097-1A87-BAD9-DE02-5A50D528ACE3}"/>
              </a:ext>
            </a:extLst>
          </p:cNvPr>
          <p:cNvSpPr>
            <a:spLocks noGrp="1" noChangeArrowheads="1"/>
          </p:cNvSpPr>
          <p:nvPr>
            <p:ph type="body" idx="1"/>
          </p:nvPr>
        </p:nvSpPr>
        <p:spPr>
          <a:xfrm>
            <a:off x="1182688" y="2017713"/>
            <a:ext cx="7565776" cy="4114800"/>
          </a:xfrm>
        </p:spPr>
        <p:txBody>
          <a:bodyPr/>
          <a:lstStyle/>
          <a:p>
            <a:pPr marL="533400" indent="-533400" algn="just" eaLnBrk="1" hangingPunct="1">
              <a:lnSpc>
                <a:spcPct val="150000"/>
              </a:lnSpc>
            </a:pPr>
            <a:r>
              <a:rPr lang="zh-CN" altLang="en-US" sz="2000"/>
              <a:t>当指针数组的元素分别指向两维数组各行首元素时，也</a:t>
            </a:r>
            <a:r>
              <a:rPr lang="zh-CN" altLang="en-US" sz="2000">
                <a:solidFill>
                  <a:srgbClr val="0070C0"/>
                </a:solidFill>
              </a:rPr>
              <a:t>可用指针数组引用两维数组的元素</a:t>
            </a:r>
            <a:r>
              <a:rPr lang="zh-CN" altLang="en-US" sz="2000"/>
              <a:t>。</a:t>
            </a:r>
          </a:p>
          <a:p>
            <a:pPr marL="533400" indent="-533400" algn="just" eaLnBrk="1" hangingPunct="1">
              <a:lnSpc>
                <a:spcPct val="150000"/>
              </a:lnSpc>
            </a:pPr>
            <a:r>
              <a:rPr lang="zh-CN" altLang="en-US" sz="2000"/>
              <a:t>以下代码说明指针数组引用两维数组元素的方法：</a:t>
            </a:r>
          </a:p>
          <a:p>
            <a:pPr marL="914400" lvl="1" indent="-457200" algn="just" eaLnBrk="1" hangingPunct="1">
              <a:lnSpc>
                <a:spcPct val="150000"/>
              </a:lnSpc>
              <a:buFont typeface="Wingdings" pitchFamily="2" charset="2"/>
              <a:buAutoNum type="arabicPeriod"/>
            </a:pPr>
            <a:r>
              <a:rPr lang="zh-CN" altLang="en-US" sz="1800"/>
              <a:t>  </a:t>
            </a:r>
            <a:r>
              <a:rPr lang="en-US" altLang="zh-CN" sz="1800"/>
              <a:t>int a[10][20], i;   int *b[10];</a:t>
            </a:r>
          </a:p>
          <a:p>
            <a:pPr marL="914400" lvl="1" indent="-457200" algn="just" eaLnBrk="1" hangingPunct="1">
              <a:lnSpc>
                <a:spcPct val="150000"/>
              </a:lnSpc>
              <a:buFont typeface="Wingdings" pitchFamily="2" charset="2"/>
              <a:buAutoNum type="arabicPeriod"/>
            </a:pPr>
            <a:r>
              <a:rPr lang="en-US" altLang="zh-CN" sz="1800"/>
              <a:t>  for(i = 0; i &lt; 10; i++) </a:t>
            </a:r>
          </a:p>
          <a:p>
            <a:pPr marL="914400" lvl="1" indent="-457200" algn="just" eaLnBrk="1" hangingPunct="1">
              <a:lnSpc>
                <a:spcPct val="150000"/>
              </a:lnSpc>
              <a:buFont typeface="Wingdings" pitchFamily="2" charset="2"/>
              <a:buAutoNum type="arabicPeriod"/>
            </a:pPr>
            <a:r>
              <a:rPr lang="en-US" altLang="zh-CN" sz="1800"/>
              <a:t>     b[i] = &amp;a[i][0]; </a:t>
            </a:r>
            <a:r>
              <a:rPr lang="en-US" altLang="zh-CN" sz="1800">
                <a:solidFill>
                  <a:srgbClr val="00B050"/>
                </a:solidFill>
              </a:rPr>
              <a:t>/* b[i]</a:t>
            </a:r>
            <a:r>
              <a:rPr lang="zh-CN" altLang="en-US" sz="1800">
                <a:solidFill>
                  <a:srgbClr val="00B050"/>
                </a:solidFill>
              </a:rPr>
              <a:t>指向数组元素</a:t>
            </a:r>
            <a:r>
              <a:rPr lang="en-US" altLang="zh-CN" sz="1800">
                <a:solidFill>
                  <a:srgbClr val="00B050"/>
                </a:solidFill>
              </a:rPr>
              <a:t>a[i][0] */</a:t>
            </a:r>
          </a:p>
          <a:p>
            <a:pPr marL="533400" indent="-533400" algn="just" eaLnBrk="1" hangingPunct="1">
              <a:lnSpc>
                <a:spcPct val="150000"/>
              </a:lnSpc>
            </a:pPr>
            <a:r>
              <a:rPr lang="zh-CN" altLang="en-US" sz="2000"/>
              <a:t>则表达式</a:t>
            </a:r>
            <a:r>
              <a:rPr lang="en-US" altLang="zh-CN" sz="2000"/>
              <a:t>a[i][j]</a:t>
            </a:r>
            <a:r>
              <a:rPr lang="zh-CN" altLang="en-US" sz="2000"/>
              <a:t>与表达式</a:t>
            </a:r>
            <a:r>
              <a:rPr lang="en-US" altLang="zh-CN" sz="2000"/>
              <a:t>b[i][j]</a:t>
            </a:r>
            <a:r>
              <a:rPr lang="zh-CN" altLang="en-US" sz="2000"/>
              <a:t>引用同一个元素，即从指针数组方向来看，因</a:t>
            </a:r>
            <a:r>
              <a:rPr lang="en-US" altLang="zh-CN" sz="2000"/>
              <a:t>b[i]</a:t>
            </a:r>
            <a:r>
              <a:rPr lang="zh-CN" altLang="en-US" sz="2000"/>
              <a:t>指向元素</a:t>
            </a:r>
            <a:r>
              <a:rPr lang="en-US" altLang="zh-CN" sz="2000"/>
              <a:t>a[i][0]</a:t>
            </a:r>
            <a:r>
              <a:rPr lang="zh-CN" altLang="en-US" sz="2000"/>
              <a:t>，*</a:t>
            </a:r>
            <a:r>
              <a:rPr lang="en-US" altLang="zh-CN" sz="2000"/>
              <a:t>(b[i]+j)</a:t>
            </a:r>
            <a:r>
              <a:rPr lang="zh-CN" altLang="en-US" sz="2000"/>
              <a:t>或</a:t>
            </a:r>
            <a:r>
              <a:rPr lang="en-US" altLang="zh-CN" sz="2000"/>
              <a:t>b[i][j]</a:t>
            </a:r>
            <a:r>
              <a:rPr lang="zh-CN" altLang="en-US" sz="2000"/>
              <a:t>引用元素</a:t>
            </a:r>
            <a:r>
              <a:rPr lang="en-US" altLang="zh-CN" sz="2000"/>
              <a:t>a[i][j]</a:t>
            </a:r>
            <a:r>
              <a:rPr lang="zh-CN" altLang="en-US" sz="20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8563">
                                            <p:txEl>
                                              <p:pRg st="0" end="0"/>
                                            </p:txEl>
                                          </p:spTgt>
                                        </p:tgtEl>
                                        <p:attrNameLst>
                                          <p:attrName>style.visibility</p:attrName>
                                        </p:attrNameLst>
                                      </p:cBhvr>
                                      <p:to>
                                        <p:strVal val="visible"/>
                                      </p:to>
                                    </p:set>
                                    <p:anim calcmode="lin" valueType="num">
                                      <p:cBhvr additive="base">
                                        <p:cTn id="7" dur="500" fill="hold"/>
                                        <p:tgtEl>
                                          <p:spTgt spid="5785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856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78563">
                                            <p:txEl>
                                              <p:pRg st="1" end="1"/>
                                            </p:txEl>
                                          </p:spTgt>
                                        </p:tgtEl>
                                        <p:attrNameLst>
                                          <p:attrName>style.visibility</p:attrName>
                                        </p:attrNameLst>
                                      </p:cBhvr>
                                      <p:to>
                                        <p:strVal val="visible"/>
                                      </p:to>
                                    </p:set>
                                    <p:anim calcmode="lin" valueType="num">
                                      <p:cBhvr additive="base">
                                        <p:cTn id="13" dur="500" fill="hold"/>
                                        <p:tgtEl>
                                          <p:spTgt spid="5785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7856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par>
                                <p:cTn id="15" presetID="2" presetClass="entr" presetSubtype="8" fill="hold" grpId="0" nodeType="withEffect">
                                  <p:stCondLst>
                                    <p:cond delay="0"/>
                                  </p:stCondLst>
                                  <p:childTnLst>
                                    <p:set>
                                      <p:cBhvr>
                                        <p:cTn id="16" dur="1" fill="hold">
                                          <p:stCondLst>
                                            <p:cond delay="0"/>
                                          </p:stCondLst>
                                        </p:cTn>
                                        <p:tgtEl>
                                          <p:spTgt spid="578563">
                                            <p:txEl>
                                              <p:pRg st="2" end="2"/>
                                            </p:txEl>
                                          </p:spTgt>
                                        </p:tgtEl>
                                        <p:attrNameLst>
                                          <p:attrName>style.visibility</p:attrName>
                                        </p:attrNameLst>
                                      </p:cBhvr>
                                      <p:to>
                                        <p:strVal val="visible"/>
                                      </p:to>
                                    </p:set>
                                    <p:anim calcmode="lin" valueType="num">
                                      <p:cBhvr additive="base">
                                        <p:cTn id="17" dur="500" fill="hold"/>
                                        <p:tgtEl>
                                          <p:spTgt spid="57856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7856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par>
                                <p:cTn id="19" presetID="2" presetClass="entr" presetSubtype="8" fill="hold" grpId="0" nodeType="withEffect">
                                  <p:stCondLst>
                                    <p:cond delay="0"/>
                                  </p:stCondLst>
                                  <p:childTnLst>
                                    <p:set>
                                      <p:cBhvr>
                                        <p:cTn id="20" dur="1" fill="hold">
                                          <p:stCondLst>
                                            <p:cond delay="0"/>
                                          </p:stCondLst>
                                        </p:cTn>
                                        <p:tgtEl>
                                          <p:spTgt spid="578563">
                                            <p:txEl>
                                              <p:pRg st="3" end="3"/>
                                            </p:txEl>
                                          </p:spTgt>
                                        </p:tgtEl>
                                        <p:attrNameLst>
                                          <p:attrName>style.visibility</p:attrName>
                                        </p:attrNameLst>
                                      </p:cBhvr>
                                      <p:to>
                                        <p:strVal val="visible"/>
                                      </p:to>
                                    </p:set>
                                    <p:anim calcmode="lin" valueType="num">
                                      <p:cBhvr additive="base">
                                        <p:cTn id="21" dur="500" fill="hold"/>
                                        <p:tgtEl>
                                          <p:spTgt spid="57856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7856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whoosh.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578563">
                                            <p:txEl>
                                              <p:pRg st="4" end="4"/>
                                            </p:txEl>
                                          </p:spTgt>
                                        </p:tgtEl>
                                        <p:attrNameLst>
                                          <p:attrName>style.visibility</p:attrName>
                                        </p:attrNameLst>
                                      </p:cBhvr>
                                      <p:to>
                                        <p:strVal val="visible"/>
                                      </p:to>
                                    </p:set>
                                    <p:anim calcmode="lin" valueType="num">
                                      <p:cBhvr additive="base">
                                        <p:cTn id="25" dur="500" fill="hold"/>
                                        <p:tgtEl>
                                          <p:spTgt spid="57856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7856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78563">
                                            <p:txEl>
                                              <p:pRg st="5" end="5"/>
                                            </p:txEl>
                                          </p:spTgt>
                                        </p:tgtEl>
                                        <p:attrNameLst>
                                          <p:attrName>style.visibility</p:attrName>
                                        </p:attrNameLst>
                                      </p:cBhvr>
                                      <p:to>
                                        <p:strVal val="visible"/>
                                      </p:to>
                                    </p:set>
                                    <p:anim calcmode="lin" valueType="num">
                                      <p:cBhvr additive="base">
                                        <p:cTn id="31" dur="500" fill="hold"/>
                                        <p:tgtEl>
                                          <p:spTgt spid="57856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78563">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3" grpId="0"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87013055-AF4B-6BDD-2C37-ABC5F69D82AC}"/>
              </a:ext>
            </a:extLst>
          </p:cNvPr>
          <p:cNvSpPr>
            <a:spLocks noGrp="1" noChangeArrowheads="1"/>
          </p:cNvSpPr>
          <p:nvPr>
            <p:ph type="title"/>
          </p:nvPr>
        </p:nvSpPr>
        <p:spPr/>
        <p:txBody>
          <a:bodyPr/>
          <a:lstStyle/>
          <a:p>
            <a:pPr eaLnBrk="1" hangingPunct="1"/>
            <a:r>
              <a:rPr lang="zh-CN" altLang="en-US"/>
              <a:t>使用指针数组例</a:t>
            </a:r>
            <a:r>
              <a:rPr lang="en-US" altLang="zh-CN"/>
              <a:t>(</a:t>
            </a:r>
            <a:r>
              <a:rPr lang="zh-CN" altLang="en-US"/>
              <a:t>续</a:t>
            </a:r>
            <a:r>
              <a:rPr lang="en-US" altLang="zh-CN"/>
              <a:t>)</a:t>
            </a:r>
          </a:p>
        </p:txBody>
      </p:sp>
      <p:sp>
        <p:nvSpPr>
          <p:cNvPr id="579587" name="Rectangle 3">
            <a:extLst>
              <a:ext uri="{FF2B5EF4-FFF2-40B4-BE49-F238E27FC236}">
                <a16:creationId xmlns:a16="http://schemas.microsoft.com/office/drawing/2014/main" id="{470D85B8-A461-8E52-6F5B-D0706248F79B}"/>
              </a:ext>
            </a:extLst>
          </p:cNvPr>
          <p:cNvSpPr>
            <a:spLocks noGrp="1" noChangeArrowheads="1"/>
          </p:cNvSpPr>
          <p:nvPr>
            <p:ph type="body" idx="1"/>
          </p:nvPr>
        </p:nvSpPr>
        <p:spPr/>
        <p:txBody>
          <a:bodyPr/>
          <a:lstStyle/>
          <a:p>
            <a:pPr marL="533400" indent="-533400" eaLnBrk="1" hangingPunct="1">
              <a:spcAft>
                <a:spcPts val="600"/>
              </a:spcAft>
            </a:pPr>
            <a:r>
              <a:rPr lang="zh-CN" altLang="en-US" sz="1800"/>
              <a:t>当指针数组的元素指向不同的一维持数组的元素时，也可通过指针数组，把它们当作两维数组那样来引用。如以下代码所示：</a:t>
            </a:r>
          </a:p>
          <a:p>
            <a:pPr marL="914400" lvl="1" indent="-457200" eaLnBrk="1" hangingPunct="1">
              <a:spcAft>
                <a:spcPts val="600"/>
              </a:spcAft>
              <a:buFont typeface="Wingdings" pitchFamily="2" charset="2"/>
              <a:buAutoNum type="arabicPeriod"/>
            </a:pPr>
            <a:r>
              <a:rPr lang="zh-CN" altLang="en-US" sz="1600"/>
              <a:t>    </a:t>
            </a:r>
            <a:r>
              <a:rPr lang="en-US" altLang="zh-CN" sz="1600"/>
              <a:t>char w0[] = </a:t>
            </a:r>
            <a:r>
              <a:rPr lang="en-US" altLang="zh-CN" sz="1600">
                <a:latin typeface="Arial" panose="020B0604020202020204" pitchFamily="34" charset="0"/>
              </a:rPr>
              <a:t>“</a:t>
            </a:r>
            <a:r>
              <a:rPr lang="en-US" altLang="zh-CN" sz="1600"/>
              <a:t>Sunday</a:t>
            </a:r>
            <a:r>
              <a:rPr lang="en-US" altLang="zh-CN" sz="1600">
                <a:latin typeface="Arial" panose="020B0604020202020204" pitchFamily="34" charset="0"/>
              </a:rPr>
              <a:t>”</a:t>
            </a:r>
            <a:r>
              <a:rPr lang="en-US" altLang="zh-CN" sz="1600"/>
              <a:t>,       w1[] = </a:t>
            </a:r>
            <a:r>
              <a:rPr lang="en-US" altLang="zh-CN" sz="1600">
                <a:latin typeface="Arial" panose="020B0604020202020204" pitchFamily="34" charset="0"/>
              </a:rPr>
              <a:t>“</a:t>
            </a:r>
            <a:r>
              <a:rPr lang="en-US" altLang="zh-CN" sz="1600"/>
              <a:t>Monday</a:t>
            </a:r>
            <a:r>
              <a:rPr lang="en-US" altLang="zh-CN" sz="1600">
                <a:latin typeface="Arial" panose="020B0604020202020204" pitchFamily="34" charset="0"/>
              </a:rPr>
              <a:t>”</a:t>
            </a:r>
            <a:r>
              <a:rPr lang="en-US" altLang="zh-CN" sz="1600"/>
              <a:t>,</a:t>
            </a:r>
          </a:p>
          <a:p>
            <a:pPr marL="914400" lvl="1" indent="-457200" eaLnBrk="1" hangingPunct="1">
              <a:spcAft>
                <a:spcPts val="600"/>
              </a:spcAft>
              <a:buFont typeface="Wingdings" pitchFamily="2" charset="2"/>
              <a:buAutoNum type="arabicPeriod"/>
            </a:pPr>
            <a:r>
              <a:rPr lang="en-US" altLang="zh-CN" sz="1600"/>
              <a:t>            w2[] = </a:t>
            </a:r>
            <a:r>
              <a:rPr lang="en-US" altLang="zh-CN" sz="1600">
                <a:latin typeface="Arial" panose="020B0604020202020204" pitchFamily="34" charset="0"/>
              </a:rPr>
              <a:t>“</a:t>
            </a:r>
            <a:r>
              <a:rPr lang="en-US" altLang="zh-CN" sz="1600"/>
              <a:t>Tuesday</a:t>
            </a:r>
            <a:r>
              <a:rPr lang="en-US" altLang="zh-CN" sz="1600">
                <a:latin typeface="Arial" panose="020B0604020202020204" pitchFamily="34" charset="0"/>
              </a:rPr>
              <a:t>”</a:t>
            </a:r>
            <a:r>
              <a:rPr lang="en-US" altLang="zh-CN" sz="1600"/>
              <a:t>,     w3[] = </a:t>
            </a:r>
            <a:r>
              <a:rPr lang="en-US" altLang="zh-CN" sz="1600">
                <a:latin typeface="Arial" panose="020B0604020202020204" pitchFamily="34" charset="0"/>
              </a:rPr>
              <a:t>“</a:t>
            </a:r>
            <a:r>
              <a:rPr lang="en-US" altLang="zh-CN" sz="1600"/>
              <a:t>Wednesday</a:t>
            </a:r>
            <a:r>
              <a:rPr lang="en-US" altLang="zh-CN" sz="1600">
                <a:latin typeface="Arial" panose="020B0604020202020204" pitchFamily="34" charset="0"/>
              </a:rPr>
              <a:t>”</a:t>
            </a:r>
            <a:r>
              <a:rPr lang="en-US" altLang="zh-CN" sz="1600"/>
              <a:t>,</a:t>
            </a:r>
          </a:p>
          <a:p>
            <a:pPr marL="914400" lvl="1" indent="-457200" eaLnBrk="1" hangingPunct="1">
              <a:spcAft>
                <a:spcPts val="600"/>
              </a:spcAft>
              <a:buFont typeface="Wingdings" pitchFamily="2" charset="2"/>
              <a:buAutoNum type="arabicPeriod"/>
            </a:pPr>
            <a:r>
              <a:rPr lang="en-US" altLang="zh-CN" sz="1600"/>
              <a:t>            w4[] = </a:t>
            </a:r>
            <a:r>
              <a:rPr lang="en-US" altLang="zh-CN" sz="1600">
                <a:latin typeface="Arial" panose="020B0604020202020204" pitchFamily="34" charset="0"/>
              </a:rPr>
              <a:t>“</a:t>
            </a:r>
            <a:r>
              <a:rPr lang="en-US" altLang="zh-CN" sz="1600"/>
              <a:t>Thursday</a:t>
            </a:r>
            <a:r>
              <a:rPr lang="en-US" altLang="zh-CN" sz="1600">
                <a:latin typeface="Arial" panose="020B0604020202020204" pitchFamily="34" charset="0"/>
              </a:rPr>
              <a:t>”</a:t>
            </a:r>
            <a:r>
              <a:rPr lang="en-US" altLang="zh-CN" sz="1600"/>
              <a:t>,    w5[] = </a:t>
            </a:r>
            <a:r>
              <a:rPr lang="en-US" altLang="zh-CN" sz="1600">
                <a:latin typeface="Arial" panose="020B0604020202020204" pitchFamily="34" charset="0"/>
              </a:rPr>
              <a:t>“</a:t>
            </a:r>
            <a:r>
              <a:rPr lang="en-US" altLang="zh-CN" sz="1600"/>
              <a:t>Friday</a:t>
            </a:r>
            <a:r>
              <a:rPr lang="en-US" altLang="zh-CN" sz="1600">
                <a:latin typeface="Arial" panose="020B0604020202020204" pitchFamily="34" charset="0"/>
              </a:rPr>
              <a:t>”</a:t>
            </a:r>
            <a:r>
              <a:rPr lang="en-US" altLang="zh-CN" sz="1600"/>
              <a:t>,</a:t>
            </a:r>
          </a:p>
          <a:p>
            <a:pPr marL="914400" lvl="1" indent="-457200" eaLnBrk="1" hangingPunct="1">
              <a:spcAft>
                <a:spcPts val="600"/>
              </a:spcAft>
              <a:buFont typeface="Wingdings" pitchFamily="2" charset="2"/>
              <a:buAutoNum type="arabicPeriod"/>
            </a:pPr>
            <a:r>
              <a:rPr lang="en-US" altLang="zh-CN" sz="1600"/>
              <a:t>            w6[] = </a:t>
            </a:r>
            <a:r>
              <a:rPr lang="en-US" altLang="zh-CN" sz="1600">
                <a:latin typeface="Arial" panose="020B0604020202020204" pitchFamily="34" charset="0"/>
              </a:rPr>
              <a:t>“</a:t>
            </a:r>
            <a:r>
              <a:rPr lang="en-US" altLang="zh-CN" sz="1600"/>
              <a:t>Saturday</a:t>
            </a:r>
            <a:r>
              <a:rPr lang="en-US" altLang="zh-CN" sz="1600">
                <a:latin typeface="Arial" panose="020B0604020202020204" pitchFamily="34" charset="0"/>
              </a:rPr>
              <a:t>”</a:t>
            </a:r>
            <a:r>
              <a:rPr lang="en-US" altLang="zh-CN" sz="1600"/>
              <a:t>;</a:t>
            </a:r>
          </a:p>
          <a:p>
            <a:pPr marL="914400" lvl="1" indent="-457200" eaLnBrk="1" hangingPunct="1">
              <a:spcAft>
                <a:spcPts val="600"/>
              </a:spcAft>
              <a:buFont typeface="Wingdings" pitchFamily="2" charset="2"/>
              <a:buAutoNum type="arabicPeriod"/>
            </a:pPr>
            <a:r>
              <a:rPr lang="en-US" altLang="zh-CN" sz="1600"/>
              <a:t>   char *wName[] = {w0,w1, w2, w3, w4, w5, w6};</a:t>
            </a:r>
          </a:p>
          <a:p>
            <a:pPr marL="533400" indent="-533400" eaLnBrk="1" hangingPunct="1">
              <a:spcAft>
                <a:spcPts val="600"/>
              </a:spcAft>
            </a:pPr>
            <a:r>
              <a:rPr lang="zh-CN" altLang="en-US" sz="1800"/>
              <a:t>则</a:t>
            </a:r>
          </a:p>
          <a:p>
            <a:pPr marL="914400" lvl="1" indent="-457200" eaLnBrk="1" hangingPunct="1">
              <a:spcAft>
                <a:spcPts val="600"/>
              </a:spcAft>
            </a:pPr>
            <a:r>
              <a:rPr lang="zh-CN" altLang="en-US" sz="1600"/>
              <a:t>语句 </a:t>
            </a:r>
          </a:p>
          <a:p>
            <a:pPr marL="1295400" lvl="2" indent="-381000" eaLnBrk="1" hangingPunct="1">
              <a:spcAft>
                <a:spcPts val="600"/>
              </a:spcAft>
              <a:buFont typeface="Wingdings" pitchFamily="2" charset="2"/>
              <a:buAutoNum type="arabicPeriod"/>
            </a:pPr>
            <a:r>
              <a:rPr lang="en-US" altLang="zh-CN" sz="1400"/>
              <a:t>for(i = 0; i &lt;= 6; i++) </a:t>
            </a:r>
          </a:p>
          <a:p>
            <a:pPr marL="1295400" lvl="2" indent="-381000" eaLnBrk="1" hangingPunct="1">
              <a:spcAft>
                <a:spcPts val="600"/>
              </a:spcAft>
              <a:buFont typeface="Wingdings" pitchFamily="2" charset="2"/>
              <a:buAutoNum type="arabicPeriod"/>
            </a:pPr>
            <a:r>
              <a:rPr lang="en-US" altLang="zh-CN" sz="1400"/>
              <a:t>   printf(</a:t>
            </a:r>
            <a:r>
              <a:rPr lang="en-US" altLang="zh-CN" sz="1400">
                <a:latin typeface="Arial" panose="020B0604020202020204" pitchFamily="34" charset="0"/>
              </a:rPr>
              <a:t>“</a:t>
            </a:r>
            <a:r>
              <a:rPr lang="en-US" altLang="zh-CN" sz="1400"/>
              <a:t>%s\n</a:t>
            </a:r>
            <a:r>
              <a:rPr lang="en-US" altLang="zh-CN" sz="1400">
                <a:latin typeface="Arial" panose="020B0604020202020204" pitchFamily="34" charset="0"/>
              </a:rPr>
              <a:t>”</a:t>
            </a:r>
            <a:r>
              <a:rPr lang="en-US" altLang="zh-CN" sz="1400"/>
              <a:t>, wName[i]);</a:t>
            </a:r>
          </a:p>
          <a:p>
            <a:pPr marL="914400" lvl="1" indent="-457200" eaLnBrk="1" hangingPunct="1">
              <a:spcAft>
                <a:spcPts val="600"/>
              </a:spcAft>
              <a:buFont typeface="Wingdings" pitchFamily="2" charset="2"/>
              <a:buNone/>
            </a:pPr>
            <a:r>
              <a:rPr lang="zh-CN" altLang="en-US" sz="1600"/>
              <a:t>输出星期英文名称。</a:t>
            </a:r>
          </a:p>
          <a:p>
            <a:pPr marL="914400" lvl="1" indent="-457200" eaLnBrk="1" hangingPunct="1">
              <a:spcAft>
                <a:spcPts val="600"/>
              </a:spcAft>
            </a:pPr>
            <a:r>
              <a:rPr lang="en-US" altLang="zh-CN" sz="1600"/>
              <a:t>wName[2][4]</a:t>
            </a:r>
            <a:r>
              <a:rPr lang="zh-CN" altLang="en-US" sz="1600"/>
              <a:t>引用字符</a:t>
            </a:r>
            <a:r>
              <a:rPr lang="en-US" altLang="zh-CN" sz="1600"/>
              <a:t>w2[4]</a:t>
            </a:r>
            <a:r>
              <a:rPr lang="zh-CN" altLang="en-US" sz="1600"/>
              <a:t>，其值为</a:t>
            </a:r>
            <a:r>
              <a:rPr lang="zh-CN" altLang="en-US" sz="1600">
                <a:latin typeface="Arial" panose="020B0604020202020204" pitchFamily="34" charset="0"/>
              </a:rPr>
              <a:t>’</a:t>
            </a:r>
            <a:r>
              <a:rPr lang="en-US" altLang="zh-CN" sz="1600"/>
              <a:t>d</a:t>
            </a:r>
            <a:r>
              <a:rPr lang="en-US" altLang="zh-CN" sz="1600">
                <a:latin typeface="Arial" panose="020B0604020202020204" pitchFamily="34" charset="0"/>
              </a:rPr>
              <a:t>’</a:t>
            </a:r>
            <a:r>
              <a:rPr lang="zh-CN" altLang="en-US" sz="16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9587">
                                            <p:txEl>
                                              <p:pRg st="0" end="0"/>
                                            </p:txEl>
                                          </p:spTgt>
                                        </p:tgtEl>
                                        <p:attrNameLst>
                                          <p:attrName>style.visibility</p:attrName>
                                        </p:attrNameLst>
                                      </p:cBhvr>
                                      <p:to>
                                        <p:strVal val="visible"/>
                                      </p:to>
                                    </p:set>
                                    <p:anim calcmode="lin" valueType="num">
                                      <p:cBhvr additive="base">
                                        <p:cTn id="7" dur="500" fill="hold"/>
                                        <p:tgtEl>
                                          <p:spTgt spid="5795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958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79587">
                                            <p:txEl>
                                              <p:pRg st="1" end="1"/>
                                            </p:txEl>
                                          </p:spTgt>
                                        </p:tgtEl>
                                        <p:attrNameLst>
                                          <p:attrName>style.visibility</p:attrName>
                                        </p:attrNameLst>
                                      </p:cBhvr>
                                      <p:to>
                                        <p:strVal val="visible"/>
                                      </p:to>
                                    </p:set>
                                    <p:anim calcmode="lin" valueType="num">
                                      <p:cBhvr additive="base">
                                        <p:cTn id="11" dur="500" fill="hold"/>
                                        <p:tgtEl>
                                          <p:spTgt spid="57958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7958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79587">
                                            <p:txEl>
                                              <p:pRg st="2" end="2"/>
                                            </p:txEl>
                                          </p:spTgt>
                                        </p:tgtEl>
                                        <p:attrNameLst>
                                          <p:attrName>style.visibility</p:attrName>
                                        </p:attrNameLst>
                                      </p:cBhvr>
                                      <p:to>
                                        <p:strVal val="visible"/>
                                      </p:to>
                                    </p:set>
                                    <p:anim calcmode="lin" valueType="num">
                                      <p:cBhvr additive="base">
                                        <p:cTn id="15" dur="500" fill="hold"/>
                                        <p:tgtEl>
                                          <p:spTgt spid="579587">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7958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79587">
                                            <p:txEl>
                                              <p:pRg st="3" end="3"/>
                                            </p:txEl>
                                          </p:spTgt>
                                        </p:tgtEl>
                                        <p:attrNameLst>
                                          <p:attrName>style.visibility</p:attrName>
                                        </p:attrNameLst>
                                      </p:cBhvr>
                                      <p:to>
                                        <p:strVal val="visible"/>
                                      </p:to>
                                    </p:set>
                                    <p:anim calcmode="lin" valueType="num">
                                      <p:cBhvr additive="base">
                                        <p:cTn id="19" dur="500" fill="hold"/>
                                        <p:tgtEl>
                                          <p:spTgt spid="57958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7958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79587">
                                            <p:txEl>
                                              <p:pRg st="4" end="4"/>
                                            </p:txEl>
                                          </p:spTgt>
                                        </p:tgtEl>
                                        <p:attrNameLst>
                                          <p:attrName>style.visibility</p:attrName>
                                        </p:attrNameLst>
                                      </p:cBhvr>
                                      <p:to>
                                        <p:strVal val="visible"/>
                                      </p:to>
                                    </p:set>
                                    <p:anim calcmode="lin" valueType="num">
                                      <p:cBhvr additive="base">
                                        <p:cTn id="23" dur="500" fill="hold"/>
                                        <p:tgtEl>
                                          <p:spTgt spid="579587">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7958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79587">
                                            <p:txEl>
                                              <p:pRg st="5" end="5"/>
                                            </p:txEl>
                                          </p:spTgt>
                                        </p:tgtEl>
                                        <p:attrNameLst>
                                          <p:attrName>style.visibility</p:attrName>
                                        </p:attrNameLst>
                                      </p:cBhvr>
                                      <p:to>
                                        <p:strVal val="visible"/>
                                      </p:to>
                                    </p:set>
                                    <p:anim calcmode="lin" valueType="num">
                                      <p:cBhvr additive="base">
                                        <p:cTn id="27" dur="500" fill="hold"/>
                                        <p:tgtEl>
                                          <p:spTgt spid="579587">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7958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579587">
                                            <p:txEl>
                                              <p:pRg st="6" end="6"/>
                                            </p:txEl>
                                          </p:spTgt>
                                        </p:tgtEl>
                                        <p:attrNameLst>
                                          <p:attrName>style.visibility</p:attrName>
                                        </p:attrNameLst>
                                      </p:cBhvr>
                                      <p:to>
                                        <p:strVal val="visible"/>
                                      </p:to>
                                    </p:set>
                                    <p:anim calcmode="lin" valueType="num">
                                      <p:cBhvr additive="base">
                                        <p:cTn id="33" dur="500" fill="hold"/>
                                        <p:tgtEl>
                                          <p:spTgt spid="579587">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579587">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whoosh.wav"/>
                                        </p:tgtEl>
                                      </p:cMediaNode>
                                    </p:audio>
                                  </p:subTnLst>
                                </p:cTn>
                              </p:par>
                              <p:par>
                                <p:cTn id="35" presetID="2" presetClass="entr" presetSubtype="8" fill="hold" grpId="0" nodeType="withEffect">
                                  <p:stCondLst>
                                    <p:cond delay="0"/>
                                  </p:stCondLst>
                                  <p:childTnLst>
                                    <p:set>
                                      <p:cBhvr>
                                        <p:cTn id="36" dur="1" fill="hold">
                                          <p:stCondLst>
                                            <p:cond delay="0"/>
                                          </p:stCondLst>
                                        </p:cTn>
                                        <p:tgtEl>
                                          <p:spTgt spid="579587">
                                            <p:txEl>
                                              <p:pRg st="7" end="7"/>
                                            </p:txEl>
                                          </p:spTgt>
                                        </p:tgtEl>
                                        <p:attrNameLst>
                                          <p:attrName>style.visibility</p:attrName>
                                        </p:attrNameLst>
                                      </p:cBhvr>
                                      <p:to>
                                        <p:strVal val="visible"/>
                                      </p:to>
                                    </p:set>
                                    <p:anim calcmode="lin" valueType="num">
                                      <p:cBhvr additive="base">
                                        <p:cTn id="37" dur="500" fill="hold"/>
                                        <p:tgtEl>
                                          <p:spTgt spid="579587">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79587">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par>
                                <p:cTn id="39" presetID="2" presetClass="entr" presetSubtype="8" fill="hold" grpId="0" nodeType="withEffect">
                                  <p:stCondLst>
                                    <p:cond delay="0"/>
                                  </p:stCondLst>
                                  <p:childTnLst>
                                    <p:set>
                                      <p:cBhvr>
                                        <p:cTn id="40" dur="1" fill="hold">
                                          <p:stCondLst>
                                            <p:cond delay="0"/>
                                          </p:stCondLst>
                                        </p:cTn>
                                        <p:tgtEl>
                                          <p:spTgt spid="579587">
                                            <p:txEl>
                                              <p:pRg st="8" end="8"/>
                                            </p:txEl>
                                          </p:spTgt>
                                        </p:tgtEl>
                                        <p:attrNameLst>
                                          <p:attrName>style.visibility</p:attrName>
                                        </p:attrNameLst>
                                      </p:cBhvr>
                                      <p:to>
                                        <p:strVal val="visible"/>
                                      </p:to>
                                    </p:set>
                                    <p:anim calcmode="lin" valueType="num">
                                      <p:cBhvr additive="base">
                                        <p:cTn id="41" dur="500" fill="hold"/>
                                        <p:tgtEl>
                                          <p:spTgt spid="579587">
                                            <p:txEl>
                                              <p:pRg st="8" end="8"/>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579587">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whoosh.wav"/>
                                        </p:tgtEl>
                                      </p:cMediaNode>
                                    </p:audio>
                                  </p:subTnLst>
                                </p:cTn>
                              </p:par>
                              <p:par>
                                <p:cTn id="43" presetID="2" presetClass="entr" presetSubtype="8" fill="hold" grpId="0" nodeType="withEffect">
                                  <p:stCondLst>
                                    <p:cond delay="0"/>
                                  </p:stCondLst>
                                  <p:childTnLst>
                                    <p:set>
                                      <p:cBhvr>
                                        <p:cTn id="44" dur="1" fill="hold">
                                          <p:stCondLst>
                                            <p:cond delay="0"/>
                                          </p:stCondLst>
                                        </p:cTn>
                                        <p:tgtEl>
                                          <p:spTgt spid="579587">
                                            <p:txEl>
                                              <p:pRg st="9" end="9"/>
                                            </p:txEl>
                                          </p:spTgt>
                                        </p:tgtEl>
                                        <p:attrNameLst>
                                          <p:attrName>style.visibility</p:attrName>
                                        </p:attrNameLst>
                                      </p:cBhvr>
                                      <p:to>
                                        <p:strVal val="visible"/>
                                      </p:to>
                                    </p:set>
                                    <p:anim calcmode="lin" valueType="num">
                                      <p:cBhvr additive="base">
                                        <p:cTn id="45" dur="500" fill="hold"/>
                                        <p:tgtEl>
                                          <p:spTgt spid="579587">
                                            <p:txEl>
                                              <p:pRg st="9" end="9"/>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579587">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3" name="whoosh.wav"/>
                                        </p:tgtEl>
                                      </p:cMediaNode>
                                    </p:audio>
                                  </p:subTnLst>
                                </p:cTn>
                              </p:par>
                              <p:par>
                                <p:cTn id="47" presetID="2" presetClass="entr" presetSubtype="8" fill="hold" grpId="0" nodeType="withEffect">
                                  <p:stCondLst>
                                    <p:cond delay="0"/>
                                  </p:stCondLst>
                                  <p:childTnLst>
                                    <p:set>
                                      <p:cBhvr>
                                        <p:cTn id="48" dur="1" fill="hold">
                                          <p:stCondLst>
                                            <p:cond delay="0"/>
                                          </p:stCondLst>
                                        </p:cTn>
                                        <p:tgtEl>
                                          <p:spTgt spid="579587">
                                            <p:txEl>
                                              <p:pRg st="10" end="10"/>
                                            </p:txEl>
                                          </p:spTgt>
                                        </p:tgtEl>
                                        <p:attrNameLst>
                                          <p:attrName>style.visibility</p:attrName>
                                        </p:attrNameLst>
                                      </p:cBhvr>
                                      <p:to>
                                        <p:strVal val="visible"/>
                                      </p:to>
                                    </p:set>
                                    <p:anim calcmode="lin" valueType="num">
                                      <p:cBhvr additive="base">
                                        <p:cTn id="49" dur="500" fill="hold"/>
                                        <p:tgtEl>
                                          <p:spTgt spid="579587">
                                            <p:txEl>
                                              <p:pRg st="10" end="10"/>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579587">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3" name="whoosh.wav"/>
                                        </p:tgtEl>
                                      </p:cMediaNode>
                                    </p:audio>
                                  </p:subTnLst>
                                </p:cTn>
                              </p:par>
                              <p:par>
                                <p:cTn id="51" presetID="2" presetClass="entr" presetSubtype="8" fill="hold" grpId="0" nodeType="withEffect">
                                  <p:stCondLst>
                                    <p:cond delay="0"/>
                                  </p:stCondLst>
                                  <p:childTnLst>
                                    <p:set>
                                      <p:cBhvr>
                                        <p:cTn id="52" dur="1" fill="hold">
                                          <p:stCondLst>
                                            <p:cond delay="0"/>
                                          </p:stCondLst>
                                        </p:cTn>
                                        <p:tgtEl>
                                          <p:spTgt spid="579587">
                                            <p:txEl>
                                              <p:pRg st="11" end="11"/>
                                            </p:txEl>
                                          </p:spTgt>
                                        </p:tgtEl>
                                        <p:attrNameLst>
                                          <p:attrName>style.visibility</p:attrName>
                                        </p:attrNameLst>
                                      </p:cBhvr>
                                      <p:to>
                                        <p:strVal val="visible"/>
                                      </p:to>
                                    </p:set>
                                    <p:anim calcmode="lin" valueType="num">
                                      <p:cBhvr additive="base">
                                        <p:cTn id="53" dur="500" fill="hold"/>
                                        <p:tgtEl>
                                          <p:spTgt spid="579587">
                                            <p:txEl>
                                              <p:pRg st="11" end="11"/>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579587">
                                            <p:txEl>
                                              <p:pRg st="11"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7" grpId="0" build="p"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952E03D3-B726-6F35-3A86-76E41BBC4670}"/>
              </a:ext>
            </a:extLst>
          </p:cNvPr>
          <p:cNvSpPr>
            <a:spLocks noGrp="1" noChangeArrowheads="1"/>
          </p:cNvSpPr>
          <p:nvPr>
            <p:ph type="title"/>
          </p:nvPr>
        </p:nvSpPr>
        <p:spPr/>
        <p:txBody>
          <a:bodyPr/>
          <a:lstStyle/>
          <a:p>
            <a:pPr eaLnBrk="1" hangingPunct="1"/>
            <a:r>
              <a:rPr lang="zh-CN" altLang="en-US"/>
              <a:t>使用指针数组例</a:t>
            </a:r>
            <a:r>
              <a:rPr lang="en-US" altLang="zh-CN"/>
              <a:t>(</a:t>
            </a:r>
            <a:r>
              <a:rPr lang="zh-CN" altLang="en-US"/>
              <a:t>续</a:t>
            </a:r>
            <a:r>
              <a:rPr lang="en-US" altLang="zh-CN"/>
              <a:t>)</a:t>
            </a:r>
          </a:p>
        </p:txBody>
      </p:sp>
      <p:sp>
        <p:nvSpPr>
          <p:cNvPr id="580611" name="Rectangle 3">
            <a:extLst>
              <a:ext uri="{FF2B5EF4-FFF2-40B4-BE49-F238E27FC236}">
                <a16:creationId xmlns:a16="http://schemas.microsoft.com/office/drawing/2014/main" id="{5E362862-1681-CABE-42BE-826997BA7383}"/>
              </a:ext>
            </a:extLst>
          </p:cNvPr>
          <p:cNvSpPr>
            <a:spLocks noGrp="1" noChangeArrowheads="1"/>
          </p:cNvSpPr>
          <p:nvPr>
            <p:ph type="body" idx="1"/>
          </p:nvPr>
        </p:nvSpPr>
        <p:spPr>
          <a:xfrm>
            <a:off x="1182688" y="2017713"/>
            <a:ext cx="7565776" cy="4114800"/>
          </a:xfrm>
        </p:spPr>
        <p:txBody>
          <a:bodyPr/>
          <a:lstStyle/>
          <a:p>
            <a:pPr marL="533400" indent="-533400" eaLnBrk="1" hangingPunct="1">
              <a:spcAft>
                <a:spcPts val="600"/>
              </a:spcAft>
            </a:pPr>
            <a:r>
              <a:rPr lang="zh-CN" altLang="en-US" sz="2400"/>
              <a:t>编写程序产生如下形式的二项式的系数三角形：</a:t>
            </a:r>
          </a:p>
          <a:p>
            <a:pPr marL="533400" indent="-533400" eaLnBrk="1" hangingPunct="1">
              <a:spcAft>
                <a:spcPts val="600"/>
              </a:spcAft>
              <a:buFont typeface="Wingdings" pitchFamily="2" charset="2"/>
              <a:buNone/>
            </a:pPr>
            <a:r>
              <a:rPr lang="zh-CN" altLang="en-US" sz="2000" b="1">
                <a:latin typeface="宋体" panose="02010600030101010101" pitchFamily="2" charset="-122"/>
              </a:rPr>
              <a:t>                             </a:t>
            </a:r>
            <a:r>
              <a:rPr lang="en-US" altLang="zh-CN" sz="2000" b="1">
                <a:latin typeface="宋体" panose="02010600030101010101" pitchFamily="2" charset="-122"/>
              </a:rPr>
              <a:t>1</a:t>
            </a:r>
          </a:p>
          <a:p>
            <a:pPr marL="533400" indent="-533400" eaLnBrk="1" hangingPunct="1">
              <a:spcBef>
                <a:spcPct val="0"/>
              </a:spcBef>
              <a:spcAft>
                <a:spcPts val="600"/>
              </a:spcAft>
              <a:buClr>
                <a:schemeClr val="bg1"/>
              </a:buClr>
              <a:buFont typeface="Wingdings" pitchFamily="2" charset="2"/>
              <a:buNone/>
            </a:pPr>
            <a:r>
              <a:rPr lang="en-US" altLang="zh-CN" sz="2000" b="1">
                <a:latin typeface="宋体" panose="02010600030101010101" pitchFamily="2" charset="-122"/>
              </a:rPr>
              <a:t>                          1     1</a:t>
            </a:r>
          </a:p>
          <a:p>
            <a:pPr marL="533400" indent="-533400" eaLnBrk="1" hangingPunct="1">
              <a:spcBef>
                <a:spcPct val="0"/>
              </a:spcBef>
              <a:spcAft>
                <a:spcPts val="600"/>
              </a:spcAft>
              <a:buClr>
                <a:schemeClr val="bg1"/>
              </a:buClr>
              <a:buFont typeface="Wingdings" pitchFamily="2" charset="2"/>
              <a:buNone/>
            </a:pPr>
            <a:r>
              <a:rPr lang="en-US" altLang="zh-CN" sz="2000" b="1">
                <a:latin typeface="宋体" panose="02010600030101010101" pitchFamily="2" charset="-122"/>
              </a:rPr>
              <a:t>                       1     2     1 </a:t>
            </a:r>
          </a:p>
          <a:p>
            <a:pPr marL="533400" indent="-533400" eaLnBrk="1" hangingPunct="1">
              <a:spcBef>
                <a:spcPct val="0"/>
              </a:spcBef>
              <a:spcAft>
                <a:spcPts val="600"/>
              </a:spcAft>
              <a:buClr>
                <a:schemeClr val="bg1"/>
              </a:buClr>
              <a:buFont typeface="Wingdings" pitchFamily="2" charset="2"/>
              <a:buNone/>
            </a:pPr>
            <a:r>
              <a:rPr lang="en-US" altLang="zh-CN" sz="2000" b="1">
                <a:latin typeface="宋体" panose="02010600030101010101" pitchFamily="2" charset="-122"/>
              </a:rPr>
              <a:t>                    1     3     3     1</a:t>
            </a:r>
          </a:p>
          <a:p>
            <a:pPr marL="533400" indent="-533400" eaLnBrk="1" hangingPunct="1">
              <a:spcBef>
                <a:spcPct val="0"/>
              </a:spcBef>
              <a:spcAft>
                <a:spcPts val="600"/>
              </a:spcAft>
              <a:buClr>
                <a:schemeClr val="bg1"/>
              </a:buClr>
              <a:buFont typeface="Wingdings" pitchFamily="2" charset="2"/>
              <a:buNone/>
            </a:pPr>
            <a:r>
              <a:rPr lang="en-US" altLang="zh-CN" sz="2000" b="1">
                <a:latin typeface="宋体" panose="02010600030101010101" pitchFamily="2" charset="-122"/>
              </a:rPr>
              <a:t>                 1     4     6     4     1</a:t>
            </a:r>
          </a:p>
          <a:p>
            <a:pPr marL="533400" indent="-533400" eaLnBrk="1" hangingPunct="1">
              <a:spcBef>
                <a:spcPct val="0"/>
              </a:spcBef>
              <a:spcAft>
                <a:spcPts val="600"/>
              </a:spcAft>
              <a:buClr>
                <a:schemeClr val="bg1"/>
              </a:buClr>
              <a:buFont typeface="Wingdings" pitchFamily="2" charset="2"/>
              <a:buNone/>
            </a:pPr>
            <a:r>
              <a:rPr lang="en-US" altLang="zh-CN" sz="2000" b="1">
                <a:latin typeface="宋体" panose="02010600030101010101" pitchFamily="2" charset="-122"/>
              </a:rPr>
              <a:t>              1     5    10    10     5     1</a:t>
            </a:r>
          </a:p>
          <a:p>
            <a:pPr marL="533400" indent="-533400" eaLnBrk="1" hangingPunct="1">
              <a:spcBef>
                <a:spcPct val="0"/>
              </a:spcBef>
              <a:spcAft>
                <a:spcPts val="600"/>
              </a:spcAft>
              <a:buClr>
                <a:schemeClr val="bg1"/>
              </a:buClr>
              <a:buFont typeface="Wingdings" pitchFamily="2" charset="2"/>
              <a:buNone/>
            </a:pPr>
            <a:r>
              <a:rPr lang="en-US" altLang="zh-CN" sz="2000" b="1">
                <a:latin typeface="宋体" panose="02010600030101010101" pitchFamily="2" charset="-122"/>
              </a:rPr>
              <a:t>           1     6    15    20    15     6     1</a:t>
            </a:r>
          </a:p>
          <a:p>
            <a:pPr marL="533400" indent="-533400" eaLnBrk="1" hangingPunct="1">
              <a:spcBef>
                <a:spcPct val="0"/>
              </a:spcBef>
              <a:spcAft>
                <a:spcPts val="600"/>
              </a:spcAft>
              <a:buClr>
                <a:schemeClr val="bg1"/>
              </a:buClr>
              <a:buFont typeface="Wingdings" pitchFamily="2" charset="2"/>
              <a:buNone/>
            </a:pPr>
            <a:r>
              <a:rPr lang="en-US" altLang="zh-CN" sz="2000" b="1">
                <a:latin typeface="宋体" panose="02010600030101010101" pitchFamily="2" charset="-122"/>
              </a:rPr>
              <a:t>        1     7    21    35    35    21     7    1 </a:t>
            </a:r>
          </a:p>
          <a:p>
            <a:pPr marL="533400" indent="-533400" eaLnBrk="1" hangingPunct="1">
              <a:spcAft>
                <a:spcPts val="600"/>
              </a:spcAft>
            </a:pPr>
            <a:r>
              <a:rPr lang="zh-CN" altLang="en-US" sz="2400"/>
              <a:t>解法：把一维数组分割成不等长的段，从指针数组方向来看，把它当作两维数组来处理。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0611">
                                            <p:txEl>
                                              <p:pRg st="0" end="0"/>
                                            </p:txEl>
                                          </p:spTgt>
                                        </p:tgtEl>
                                        <p:attrNameLst>
                                          <p:attrName>style.visibility</p:attrName>
                                        </p:attrNameLst>
                                      </p:cBhvr>
                                      <p:to>
                                        <p:strVal val="visible"/>
                                      </p:to>
                                    </p:set>
                                    <p:anim calcmode="lin" valueType="num">
                                      <p:cBhvr additive="base">
                                        <p:cTn id="7" dur="500" fill="hold"/>
                                        <p:tgtEl>
                                          <p:spTgt spid="5806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061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0611">
                                            <p:txEl>
                                              <p:pRg st="1" end="1"/>
                                            </p:txEl>
                                          </p:spTgt>
                                        </p:tgtEl>
                                        <p:attrNameLst>
                                          <p:attrName>style.visibility</p:attrName>
                                        </p:attrNameLst>
                                      </p:cBhvr>
                                      <p:to>
                                        <p:strVal val="visible"/>
                                      </p:to>
                                    </p:set>
                                    <p:anim calcmode="lin" valueType="num">
                                      <p:cBhvr additive="base">
                                        <p:cTn id="13" dur="500" fill="hold"/>
                                        <p:tgtEl>
                                          <p:spTgt spid="5806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8061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0611">
                                            <p:txEl>
                                              <p:pRg st="2" end="2"/>
                                            </p:txEl>
                                          </p:spTgt>
                                        </p:tgtEl>
                                        <p:attrNameLst>
                                          <p:attrName>style.visibility</p:attrName>
                                        </p:attrNameLst>
                                      </p:cBhvr>
                                      <p:to>
                                        <p:strVal val="visible"/>
                                      </p:to>
                                    </p:set>
                                    <p:anim calcmode="lin" valueType="num">
                                      <p:cBhvr additive="base">
                                        <p:cTn id="19" dur="500" fill="hold"/>
                                        <p:tgtEl>
                                          <p:spTgt spid="5806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061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80611">
                                            <p:txEl>
                                              <p:pRg st="3" end="3"/>
                                            </p:txEl>
                                          </p:spTgt>
                                        </p:tgtEl>
                                        <p:attrNameLst>
                                          <p:attrName>style.visibility</p:attrName>
                                        </p:attrNameLst>
                                      </p:cBhvr>
                                      <p:to>
                                        <p:strVal val="visible"/>
                                      </p:to>
                                    </p:set>
                                    <p:anim calcmode="lin" valueType="num">
                                      <p:cBhvr additive="base">
                                        <p:cTn id="25" dur="500" fill="hold"/>
                                        <p:tgtEl>
                                          <p:spTgt spid="5806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8061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80611">
                                            <p:txEl>
                                              <p:pRg st="4" end="4"/>
                                            </p:txEl>
                                          </p:spTgt>
                                        </p:tgtEl>
                                        <p:attrNameLst>
                                          <p:attrName>style.visibility</p:attrName>
                                        </p:attrNameLst>
                                      </p:cBhvr>
                                      <p:to>
                                        <p:strVal val="visible"/>
                                      </p:to>
                                    </p:set>
                                    <p:anim calcmode="lin" valueType="num">
                                      <p:cBhvr additive="base">
                                        <p:cTn id="31" dur="500" fill="hold"/>
                                        <p:tgtEl>
                                          <p:spTgt spid="5806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8061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80611">
                                            <p:txEl>
                                              <p:pRg st="5" end="5"/>
                                            </p:txEl>
                                          </p:spTgt>
                                        </p:tgtEl>
                                        <p:attrNameLst>
                                          <p:attrName>style.visibility</p:attrName>
                                        </p:attrNameLst>
                                      </p:cBhvr>
                                      <p:to>
                                        <p:strVal val="visible"/>
                                      </p:to>
                                    </p:set>
                                    <p:anim calcmode="lin" valueType="num">
                                      <p:cBhvr additive="base">
                                        <p:cTn id="37" dur="500" fill="hold"/>
                                        <p:tgtEl>
                                          <p:spTgt spid="58061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8061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80611">
                                            <p:txEl>
                                              <p:pRg st="6" end="6"/>
                                            </p:txEl>
                                          </p:spTgt>
                                        </p:tgtEl>
                                        <p:attrNameLst>
                                          <p:attrName>style.visibility</p:attrName>
                                        </p:attrNameLst>
                                      </p:cBhvr>
                                      <p:to>
                                        <p:strVal val="visible"/>
                                      </p:to>
                                    </p:set>
                                    <p:anim calcmode="lin" valueType="num">
                                      <p:cBhvr additive="base">
                                        <p:cTn id="43" dur="500" fill="hold"/>
                                        <p:tgtEl>
                                          <p:spTgt spid="58061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8061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80611">
                                            <p:txEl>
                                              <p:pRg st="7" end="7"/>
                                            </p:txEl>
                                          </p:spTgt>
                                        </p:tgtEl>
                                        <p:attrNameLst>
                                          <p:attrName>style.visibility</p:attrName>
                                        </p:attrNameLst>
                                      </p:cBhvr>
                                      <p:to>
                                        <p:strVal val="visible"/>
                                      </p:to>
                                    </p:set>
                                    <p:anim calcmode="lin" valueType="num">
                                      <p:cBhvr additive="base">
                                        <p:cTn id="49" dur="500" fill="hold"/>
                                        <p:tgtEl>
                                          <p:spTgt spid="58061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580611">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whoosh.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580611">
                                            <p:txEl>
                                              <p:pRg st="8" end="8"/>
                                            </p:txEl>
                                          </p:spTgt>
                                        </p:tgtEl>
                                        <p:attrNameLst>
                                          <p:attrName>style.visibility</p:attrName>
                                        </p:attrNameLst>
                                      </p:cBhvr>
                                      <p:to>
                                        <p:strVal val="visible"/>
                                      </p:to>
                                    </p:set>
                                    <p:anim calcmode="lin" valueType="num">
                                      <p:cBhvr additive="base">
                                        <p:cTn id="55" dur="500" fill="hold"/>
                                        <p:tgtEl>
                                          <p:spTgt spid="580611">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580611">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whoosh.wav"/>
                                        </p:tgtEl>
                                      </p:cMediaNode>
                                    </p:audio>
                                  </p:sub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580611">
                                            <p:txEl>
                                              <p:pRg st="9" end="9"/>
                                            </p:txEl>
                                          </p:spTgt>
                                        </p:tgtEl>
                                        <p:attrNameLst>
                                          <p:attrName>style.visibility</p:attrName>
                                        </p:attrNameLst>
                                      </p:cBhvr>
                                      <p:to>
                                        <p:strVal val="visible"/>
                                      </p:to>
                                    </p:set>
                                    <p:anim calcmode="lin" valueType="num">
                                      <p:cBhvr additive="base">
                                        <p:cTn id="61" dur="500" fill="hold"/>
                                        <p:tgtEl>
                                          <p:spTgt spid="580611">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580611">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1"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6BE807B7-6967-FD13-9AC6-B87C4C2D86D2}"/>
              </a:ext>
            </a:extLst>
          </p:cNvPr>
          <p:cNvSpPr>
            <a:spLocks noGrp="1" noChangeArrowheads="1"/>
          </p:cNvSpPr>
          <p:nvPr>
            <p:ph type="title"/>
          </p:nvPr>
        </p:nvSpPr>
        <p:spPr/>
        <p:txBody>
          <a:bodyPr/>
          <a:lstStyle/>
          <a:p>
            <a:pPr eaLnBrk="1" hangingPunct="1"/>
            <a:r>
              <a:rPr lang="zh-CN" altLang="en-US"/>
              <a:t>使用指针数组例</a:t>
            </a:r>
            <a:r>
              <a:rPr lang="en-US" altLang="zh-CN"/>
              <a:t>(</a:t>
            </a:r>
            <a:r>
              <a:rPr lang="zh-CN" altLang="en-US"/>
              <a:t>续</a:t>
            </a:r>
            <a:r>
              <a:rPr lang="en-US" altLang="zh-CN"/>
              <a:t>)</a:t>
            </a:r>
          </a:p>
        </p:txBody>
      </p:sp>
      <p:sp>
        <p:nvSpPr>
          <p:cNvPr id="581635" name="Rectangle 3">
            <a:extLst>
              <a:ext uri="{FF2B5EF4-FFF2-40B4-BE49-F238E27FC236}">
                <a16:creationId xmlns:a16="http://schemas.microsoft.com/office/drawing/2014/main" id="{6B5DBC2F-1817-3684-5B2D-1A3C806CFE3D}"/>
              </a:ext>
            </a:extLst>
          </p:cNvPr>
          <p:cNvSpPr>
            <a:spLocks noGrp="1" noChangeArrowheads="1"/>
          </p:cNvSpPr>
          <p:nvPr>
            <p:ph type="body" idx="1"/>
          </p:nvPr>
        </p:nvSpPr>
        <p:spPr/>
        <p:txBody>
          <a:bodyPr/>
          <a:lstStyle/>
          <a:p>
            <a:pPr marL="533400" indent="-533400" eaLnBrk="1" hangingPunct="1"/>
            <a:r>
              <a:rPr lang="zh-CN" altLang="en-US" sz="1800"/>
              <a:t>程序*</a:t>
            </a:r>
          </a:p>
          <a:p>
            <a:pPr marL="914400" lvl="1" indent="-457200" eaLnBrk="1" hangingPunct="1">
              <a:buFont typeface="Wingdings" pitchFamily="2" charset="2"/>
              <a:buAutoNum type="arabicPeriod"/>
            </a:pPr>
            <a:r>
              <a:rPr lang="zh-CN" altLang="en-US" sz="1600"/>
              <a:t> </a:t>
            </a:r>
            <a:r>
              <a:rPr lang="en-US" altLang="zh-CN" sz="1600"/>
              <a:t>#include &lt;stdio.h&gt;</a:t>
            </a:r>
          </a:p>
          <a:p>
            <a:pPr marL="914400" lvl="1" indent="-457200" eaLnBrk="1" hangingPunct="1">
              <a:buFont typeface="Wingdings" pitchFamily="2" charset="2"/>
              <a:buAutoNum type="arabicPeriod"/>
            </a:pPr>
            <a:r>
              <a:rPr lang="en-US" altLang="zh-CN" sz="1600"/>
              <a:t> #define  N  8</a:t>
            </a:r>
          </a:p>
          <a:p>
            <a:pPr marL="914400" lvl="1" indent="-457200" eaLnBrk="1" hangingPunct="1">
              <a:buFont typeface="Wingdings" pitchFamily="2" charset="2"/>
              <a:buAutoNum type="arabicPeriod"/>
            </a:pPr>
            <a:r>
              <a:rPr lang="en-US" altLang="zh-CN" sz="1600"/>
              <a:t> void main(){</a:t>
            </a:r>
          </a:p>
          <a:p>
            <a:pPr marL="914400" lvl="1" indent="-457200" eaLnBrk="1" hangingPunct="1">
              <a:buFont typeface="Wingdings" pitchFamily="2" charset="2"/>
              <a:buAutoNum type="arabicPeriod"/>
            </a:pPr>
            <a:r>
              <a:rPr lang="en-US" altLang="zh-CN" sz="1600"/>
              <a:t>       int p[N*(N+1)/2], i, j, *pt[N];</a:t>
            </a:r>
          </a:p>
          <a:p>
            <a:pPr marL="914400" lvl="1" indent="-457200" eaLnBrk="1" hangingPunct="1">
              <a:buFont typeface="Wingdings" pitchFamily="2" charset="2"/>
              <a:buAutoNum type="arabicPeriod"/>
            </a:pPr>
            <a:r>
              <a:rPr lang="en-US" altLang="zh-CN" sz="1600"/>
              <a:t>       for(pt[0]=p, i=1; i&lt;N; i++) pt[i] = pt[i-1] + i;</a:t>
            </a:r>
          </a:p>
          <a:p>
            <a:pPr marL="914400" lvl="1" indent="-457200" eaLnBrk="1" hangingPunct="1">
              <a:buFont typeface="Wingdings" pitchFamily="2" charset="2"/>
              <a:buAutoNum type="arabicPeriod"/>
            </a:pPr>
            <a:r>
              <a:rPr lang="en-US" altLang="zh-CN" sz="1600"/>
              <a:t>       for(i = 0; i &lt; N; i++) {</a:t>
            </a:r>
          </a:p>
          <a:p>
            <a:pPr marL="914400" lvl="1" indent="-457200" eaLnBrk="1" hangingPunct="1">
              <a:buFont typeface="Wingdings" pitchFamily="2" charset="2"/>
              <a:buAutoNum type="arabicPeriod"/>
            </a:pPr>
            <a:r>
              <a:rPr lang="en-US" altLang="zh-CN" sz="1600"/>
              <a:t>          pt[i][0] = pt[i][i] = 1;</a:t>
            </a:r>
          </a:p>
          <a:p>
            <a:pPr marL="914400" lvl="1" indent="-457200" eaLnBrk="1" hangingPunct="1">
              <a:buFont typeface="Wingdings" pitchFamily="2" charset="2"/>
              <a:buAutoNum type="arabicPeriod"/>
            </a:pPr>
            <a:r>
              <a:rPr lang="en-US" altLang="zh-CN" sz="1600"/>
              <a:t>          for(j=1; j&lt;i; j++) pt[i][j]=pt[i-1][j-1]+pt[i-1][j];</a:t>
            </a:r>
          </a:p>
          <a:p>
            <a:pPr marL="914400" lvl="1" indent="-457200" eaLnBrk="1" hangingPunct="1">
              <a:buFont typeface="Wingdings" pitchFamily="2" charset="2"/>
              <a:buAutoNum type="arabicPeriod"/>
            </a:pPr>
            <a:r>
              <a:rPr lang="en-US" altLang="zh-CN" sz="1600"/>
              <a:t>       }</a:t>
            </a:r>
          </a:p>
          <a:p>
            <a:pPr marL="914400" lvl="1" indent="-457200" eaLnBrk="1" hangingPunct="1">
              <a:buFont typeface="Wingdings" pitchFamily="2" charset="2"/>
              <a:buAutoNum type="arabicPeriod"/>
            </a:pPr>
            <a:r>
              <a:rPr lang="en-US" altLang="zh-CN" sz="1600"/>
              <a:t>       for(i = 0; i &lt; N; i++)  {</a:t>
            </a:r>
          </a:p>
          <a:p>
            <a:pPr marL="914400" lvl="1" indent="-457200" eaLnBrk="1" hangingPunct="1">
              <a:buFont typeface="Wingdings" pitchFamily="2" charset="2"/>
              <a:buAutoNum type="arabicPeriod"/>
            </a:pPr>
            <a:r>
              <a:rPr lang="en-US" altLang="zh-CN" sz="1600"/>
              <a:t>           printf("%*c", 40-2*i, ' ');</a:t>
            </a:r>
          </a:p>
          <a:p>
            <a:pPr marL="914400" lvl="1" indent="-457200" eaLnBrk="1" hangingPunct="1">
              <a:buFont typeface="Wingdings" pitchFamily="2" charset="2"/>
              <a:buAutoNum type="arabicPeriod"/>
            </a:pPr>
            <a:r>
              <a:rPr lang="en-US" altLang="zh-CN" sz="1600"/>
              <a:t>           for(j = 0; j &lt;= i; j++) printf("%4d", pt[i][j]);</a:t>
            </a:r>
          </a:p>
          <a:p>
            <a:pPr marL="914400" lvl="1" indent="-457200" eaLnBrk="1" hangingPunct="1">
              <a:buFont typeface="Wingdings" pitchFamily="2" charset="2"/>
              <a:buAutoNum type="arabicPeriod"/>
            </a:pPr>
            <a:r>
              <a:rPr lang="en-US" altLang="zh-CN" sz="1600"/>
              <a:t>           printf("\n");</a:t>
            </a:r>
          </a:p>
          <a:p>
            <a:pPr marL="914400" lvl="1" indent="-457200" eaLnBrk="1" hangingPunct="1">
              <a:buFont typeface="Wingdings" pitchFamily="2" charset="2"/>
              <a:buAutoNum type="arabicPeriod"/>
            </a:pPr>
            <a:r>
              <a:rPr lang="en-US" altLang="zh-CN" sz="1600"/>
              <a:t>      }  </a:t>
            </a:r>
          </a:p>
          <a:p>
            <a:pPr marL="914400" lvl="1" indent="-457200" eaLnBrk="1" hangingPunct="1">
              <a:buFont typeface="Wingdings" pitchFamily="2" charset="2"/>
              <a:buAutoNum type="arabicPeriod"/>
            </a:pPr>
            <a:r>
              <a:rPr lang="en-US" altLang="zh-CN" sz="1600"/>
              <a:t>}</a:t>
            </a:r>
          </a:p>
        </p:txBody>
      </p:sp>
      <p:pic>
        <p:nvPicPr>
          <p:cNvPr id="2" name="图形 1" descr="教师 纯色填充">
            <a:hlinkClick r:id="rId3"/>
            <a:extLst>
              <a:ext uri="{FF2B5EF4-FFF2-40B4-BE49-F238E27FC236}">
                <a16:creationId xmlns:a16="http://schemas.microsoft.com/office/drawing/2014/main" id="{FB65E696-F9B5-6ABD-739B-D02F9E4DD7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35533" y="6184171"/>
            <a:ext cx="579309" cy="5793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anim calcmode="lin" valueType="num">
                                      <p:cBhvr additive="base">
                                        <p:cTn id="7" dur="500" fill="hold"/>
                                        <p:tgtEl>
                                          <p:spTgt spid="5816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163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81635">
                                            <p:txEl>
                                              <p:pRg st="1" end="1"/>
                                            </p:txEl>
                                          </p:spTgt>
                                        </p:tgtEl>
                                        <p:attrNameLst>
                                          <p:attrName>style.visibility</p:attrName>
                                        </p:attrNameLst>
                                      </p:cBhvr>
                                      <p:to>
                                        <p:strVal val="visible"/>
                                      </p:to>
                                    </p:set>
                                    <p:anim calcmode="lin" valueType="num">
                                      <p:cBhvr additive="base">
                                        <p:cTn id="11" dur="500" fill="hold"/>
                                        <p:tgtEl>
                                          <p:spTgt spid="58163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8163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81635">
                                            <p:txEl>
                                              <p:pRg st="2" end="2"/>
                                            </p:txEl>
                                          </p:spTgt>
                                        </p:tgtEl>
                                        <p:attrNameLst>
                                          <p:attrName>style.visibility</p:attrName>
                                        </p:attrNameLst>
                                      </p:cBhvr>
                                      <p:to>
                                        <p:strVal val="visible"/>
                                      </p:to>
                                    </p:set>
                                    <p:anim calcmode="lin" valueType="num">
                                      <p:cBhvr additive="base">
                                        <p:cTn id="15" dur="500" fill="hold"/>
                                        <p:tgtEl>
                                          <p:spTgt spid="58163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8163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81635">
                                            <p:txEl>
                                              <p:pRg st="3" end="3"/>
                                            </p:txEl>
                                          </p:spTgt>
                                        </p:tgtEl>
                                        <p:attrNameLst>
                                          <p:attrName>style.visibility</p:attrName>
                                        </p:attrNameLst>
                                      </p:cBhvr>
                                      <p:to>
                                        <p:strVal val="visible"/>
                                      </p:to>
                                    </p:set>
                                    <p:anim calcmode="lin" valueType="num">
                                      <p:cBhvr additive="base">
                                        <p:cTn id="19" dur="500" fill="hold"/>
                                        <p:tgtEl>
                                          <p:spTgt spid="58163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163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81635">
                                            <p:txEl>
                                              <p:pRg st="4" end="4"/>
                                            </p:txEl>
                                          </p:spTgt>
                                        </p:tgtEl>
                                        <p:attrNameLst>
                                          <p:attrName>style.visibility</p:attrName>
                                        </p:attrNameLst>
                                      </p:cBhvr>
                                      <p:to>
                                        <p:strVal val="visible"/>
                                      </p:to>
                                    </p:set>
                                    <p:anim calcmode="lin" valueType="num">
                                      <p:cBhvr additive="base">
                                        <p:cTn id="23" dur="500" fill="hold"/>
                                        <p:tgtEl>
                                          <p:spTgt spid="581635">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8163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81635">
                                            <p:txEl>
                                              <p:pRg st="5" end="5"/>
                                            </p:txEl>
                                          </p:spTgt>
                                        </p:tgtEl>
                                        <p:attrNameLst>
                                          <p:attrName>style.visibility</p:attrName>
                                        </p:attrNameLst>
                                      </p:cBhvr>
                                      <p:to>
                                        <p:strVal val="visible"/>
                                      </p:to>
                                    </p:set>
                                    <p:anim calcmode="lin" valueType="num">
                                      <p:cBhvr additive="base">
                                        <p:cTn id="27" dur="500" fill="hold"/>
                                        <p:tgtEl>
                                          <p:spTgt spid="581635">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81635">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81635">
                                            <p:txEl>
                                              <p:pRg st="6" end="6"/>
                                            </p:txEl>
                                          </p:spTgt>
                                        </p:tgtEl>
                                        <p:attrNameLst>
                                          <p:attrName>style.visibility</p:attrName>
                                        </p:attrNameLst>
                                      </p:cBhvr>
                                      <p:to>
                                        <p:strVal val="visible"/>
                                      </p:to>
                                    </p:set>
                                    <p:anim calcmode="lin" valueType="num">
                                      <p:cBhvr additive="base">
                                        <p:cTn id="31" dur="500" fill="hold"/>
                                        <p:tgtEl>
                                          <p:spTgt spid="581635">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81635">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581635">
                                            <p:txEl>
                                              <p:pRg st="7" end="7"/>
                                            </p:txEl>
                                          </p:spTgt>
                                        </p:tgtEl>
                                        <p:attrNameLst>
                                          <p:attrName>style.visibility</p:attrName>
                                        </p:attrNameLst>
                                      </p:cBhvr>
                                      <p:to>
                                        <p:strVal val="visible"/>
                                      </p:to>
                                    </p:set>
                                    <p:anim calcmode="lin" valueType="num">
                                      <p:cBhvr additive="base">
                                        <p:cTn id="35" dur="500" fill="hold"/>
                                        <p:tgtEl>
                                          <p:spTgt spid="581635">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81635">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par>
                                <p:cTn id="37" presetID="2" presetClass="entr" presetSubtype="8" fill="hold" grpId="0" nodeType="withEffect">
                                  <p:stCondLst>
                                    <p:cond delay="0"/>
                                  </p:stCondLst>
                                  <p:childTnLst>
                                    <p:set>
                                      <p:cBhvr>
                                        <p:cTn id="38" dur="1" fill="hold">
                                          <p:stCondLst>
                                            <p:cond delay="0"/>
                                          </p:stCondLst>
                                        </p:cTn>
                                        <p:tgtEl>
                                          <p:spTgt spid="581635">
                                            <p:txEl>
                                              <p:pRg st="8" end="8"/>
                                            </p:txEl>
                                          </p:spTgt>
                                        </p:tgtEl>
                                        <p:attrNameLst>
                                          <p:attrName>style.visibility</p:attrName>
                                        </p:attrNameLst>
                                      </p:cBhvr>
                                      <p:to>
                                        <p:strVal val="visible"/>
                                      </p:to>
                                    </p:set>
                                    <p:anim calcmode="lin" valueType="num">
                                      <p:cBhvr additive="base">
                                        <p:cTn id="39" dur="500" fill="hold"/>
                                        <p:tgtEl>
                                          <p:spTgt spid="581635">
                                            <p:txEl>
                                              <p:pRg st="8" end="8"/>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81635">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par>
                                <p:cTn id="41" presetID="2" presetClass="entr" presetSubtype="8" fill="hold" grpId="0" nodeType="withEffect">
                                  <p:stCondLst>
                                    <p:cond delay="0"/>
                                  </p:stCondLst>
                                  <p:childTnLst>
                                    <p:set>
                                      <p:cBhvr>
                                        <p:cTn id="42" dur="1" fill="hold">
                                          <p:stCondLst>
                                            <p:cond delay="0"/>
                                          </p:stCondLst>
                                        </p:cTn>
                                        <p:tgtEl>
                                          <p:spTgt spid="581635">
                                            <p:txEl>
                                              <p:pRg st="9" end="9"/>
                                            </p:txEl>
                                          </p:spTgt>
                                        </p:tgtEl>
                                        <p:attrNameLst>
                                          <p:attrName>style.visibility</p:attrName>
                                        </p:attrNameLst>
                                      </p:cBhvr>
                                      <p:to>
                                        <p:strVal val="visible"/>
                                      </p:to>
                                    </p:set>
                                    <p:anim calcmode="lin" valueType="num">
                                      <p:cBhvr additive="base">
                                        <p:cTn id="43" dur="500" fill="hold"/>
                                        <p:tgtEl>
                                          <p:spTgt spid="581635">
                                            <p:txEl>
                                              <p:pRg st="9" end="9"/>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81635">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par>
                                <p:cTn id="45" presetID="2" presetClass="entr" presetSubtype="8" fill="hold" grpId="0" nodeType="withEffect">
                                  <p:stCondLst>
                                    <p:cond delay="0"/>
                                  </p:stCondLst>
                                  <p:childTnLst>
                                    <p:set>
                                      <p:cBhvr>
                                        <p:cTn id="46" dur="1" fill="hold">
                                          <p:stCondLst>
                                            <p:cond delay="0"/>
                                          </p:stCondLst>
                                        </p:cTn>
                                        <p:tgtEl>
                                          <p:spTgt spid="581635">
                                            <p:txEl>
                                              <p:pRg st="10" end="10"/>
                                            </p:txEl>
                                          </p:spTgt>
                                        </p:tgtEl>
                                        <p:attrNameLst>
                                          <p:attrName>style.visibility</p:attrName>
                                        </p:attrNameLst>
                                      </p:cBhvr>
                                      <p:to>
                                        <p:strVal val="visible"/>
                                      </p:to>
                                    </p:set>
                                    <p:anim calcmode="lin" valueType="num">
                                      <p:cBhvr additive="base">
                                        <p:cTn id="47" dur="500" fill="hold"/>
                                        <p:tgtEl>
                                          <p:spTgt spid="581635">
                                            <p:txEl>
                                              <p:pRg st="10" end="1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81635">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whoosh.wav"/>
                                        </p:tgtEl>
                                      </p:cMediaNode>
                                    </p:audio>
                                  </p:subTnLst>
                                </p:cTn>
                              </p:par>
                              <p:par>
                                <p:cTn id="49" presetID="2" presetClass="entr" presetSubtype="8" fill="hold" grpId="0" nodeType="withEffect">
                                  <p:stCondLst>
                                    <p:cond delay="0"/>
                                  </p:stCondLst>
                                  <p:childTnLst>
                                    <p:set>
                                      <p:cBhvr>
                                        <p:cTn id="50" dur="1" fill="hold">
                                          <p:stCondLst>
                                            <p:cond delay="0"/>
                                          </p:stCondLst>
                                        </p:cTn>
                                        <p:tgtEl>
                                          <p:spTgt spid="581635">
                                            <p:txEl>
                                              <p:pRg st="11" end="11"/>
                                            </p:txEl>
                                          </p:spTgt>
                                        </p:tgtEl>
                                        <p:attrNameLst>
                                          <p:attrName>style.visibility</p:attrName>
                                        </p:attrNameLst>
                                      </p:cBhvr>
                                      <p:to>
                                        <p:strVal val="visible"/>
                                      </p:to>
                                    </p:set>
                                    <p:anim calcmode="lin" valueType="num">
                                      <p:cBhvr additive="base">
                                        <p:cTn id="51" dur="500" fill="hold"/>
                                        <p:tgtEl>
                                          <p:spTgt spid="581635">
                                            <p:txEl>
                                              <p:pRg st="11" end="11"/>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581635">
                                            <p:txEl>
                                              <p:pRg st="11"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2" name="whoosh.wav"/>
                                        </p:tgtEl>
                                      </p:cMediaNode>
                                    </p:audio>
                                  </p:subTnLst>
                                </p:cTn>
                              </p:par>
                              <p:par>
                                <p:cTn id="53" presetID="2" presetClass="entr" presetSubtype="8" fill="hold" grpId="0" nodeType="withEffect">
                                  <p:stCondLst>
                                    <p:cond delay="0"/>
                                  </p:stCondLst>
                                  <p:childTnLst>
                                    <p:set>
                                      <p:cBhvr>
                                        <p:cTn id="54" dur="1" fill="hold">
                                          <p:stCondLst>
                                            <p:cond delay="0"/>
                                          </p:stCondLst>
                                        </p:cTn>
                                        <p:tgtEl>
                                          <p:spTgt spid="581635">
                                            <p:txEl>
                                              <p:pRg st="12" end="12"/>
                                            </p:txEl>
                                          </p:spTgt>
                                        </p:tgtEl>
                                        <p:attrNameLst>
                                          <p:attrName>style.visibility</p:attrName>
                                        </p:attrNameLst>
                                      </p:cBhvr>
                                      <p:to>
                                        <p:strVal val="visible"/>
                                      </p:to>
                                    </p:set>
                                    <p:anim calcmode="lin" valueType="num">
                                      <p:cBhvr additive="base">
                                        <p:cTn id="55" dur="500" fill="hold"/>
                                        <p:tgtEl>
                                          <p:spTgt spid="581635">
                                            <p:txEl>
                                              <p:pRg st="12" end="12"/>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581635">
                                            <p:txEl>
                                              <p:pRg st="12" end="1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whoosh.wav"/>
                                        </p:tgtEl>
                                      </p:cMediaNode>
                                    </p:audio>
                                  </p:subTnLst>
                                </p:cTn>
                              </p:par>
                              <p:par>
                                <p:cTn id="57" presetID="2" presetClass="entr" presetSubtype="8" fill="hold" grpId="0" nodeType="withEffect">
                                  <p:stCondLst>
                                    <p:cond delay="0"/>
                                  </p:stCondLst>
                                  <p:childTnLst>
                                    <p:set>
                                      <p:cBhvr>
                                        <p:cTn id="58" dur="1" fill="hold">
                                          <p:stCondLst>
                                            <p:cond delay="0"/>
                                          </p:stCondLst>
                                        </p:cTn>
                                        <p:tgtEl>
                                          <p:spTgt spid="581635">
                                            <p:txEl>
                                              <p:pRg st="13" end="13"/>
                                            </p:txEl>
                                          </p:spTgt>
                                        </p:tgtEl>
                                        <p:attrNameLst>
                                          <p:attrName>style.visibility</p:attrName>
                                        </p:attrNameLst>
                                      </p:cBhvr>
                                      <p:to>
                                        <p:strVal val="visible"/>
                                      </p:to>
                                    </p:set>
                                    <p:anim calcmode="lin" valueType="num">
                                      <p:cBhvr additive="base">
                                        <p:cTn id="59" dur="500" fill="hold"/>
                                        <p:tgtEl>
                                          <p:spTgt spid="581635">
                                            <p:txEl>
                                              <p:pRg st="13" end="13"/>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581635">
                                            <p:txEl>
                                              <p:pRg st="13" end="1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whoosh.wav"/>
                                        </p:tgtEl>
                                      </p:cMediaNode>
                                    </p:audio>
                                  </p:subTnLst>
                                </p:cTn>
                              </p:par>
                              <p:par>
                                <p:cTn id="61" presetID="2" presetClass="entr" presetSubtype="8" fill="hold" grpId="0" nodeType="withEffect">
                                  <p:stCondLst>
                                    <p:cond delay="0"/>
                                  </p:stCondLst>
                                  <p:childTnLst>
                                    <p:set>
                                      <p:cBhvr>
                                        <p:cTn id="62" dur="1" fill="hold">
                                          <p:stCondLst>
                                            <p:cond delay="0"/>
                                          </p:stCondLst>
                                        </p:cTn>
                                        <p:tgtEl>
                                          <p:spTgt spid="581635">
                                            <p:txEl>
                                              <p:pRg st="14" end="14"/>
                                            </p:txEl>
                                          </p:spTgt>
                                        </p:tgtEl>
                                        <p:attrNameLst>
                                          <p:attrName>style.visibility</p:attrName>
                                        </p:attrNameLst>
                                      </p:cBhvr>
                                      <p:to>
                                        <p:strVal val="visible"/>
                                      </p:to>
                                    </p:set>
                                    <p:anim calcmode="lin" valueType="num">
                                      <p:cBhvr additive="base">
                                        <p:cTn id="63" dur="500" fill="hold"/>
                                        <p:tgtEl>
                                          <p:spTgt spid="581635">
                                            <p:txEl>
                                              <p:pRg st="14" end="14"/>
                                            </p:tx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581635">
                                            <p:txEl>
                                              <p:pRg st="14"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whoosh.wav"/>
                                        </p:tgtEl>
                                      </p:cMediaNode>
                                    </p:audio>
                                  </p:subTnLst>
                                </p:cTn>
                              </p:par>
                              <p:par>
                                <p:cTn id="65" presetID="2" presetClass="entr" presetSubtype="8" fill="hold" grpId="0" nodeType="withEffect">
                                  <p:stCondLst>
                                    <p:cond delay="0"/>
                                  </p:stCondLst>
                                  <p:childTnLst>
                                    <p:set>
                                      <p:cBhvr>
                                        <p:cTn id="66" dur="1" fill="hold">
                                          <p:stCondLst>
                                            <p:cond delay="0"/>
                                          </p:stCondLst>
                                        </p:cTn>
                                        <p:tgtEl>
                                          <p:spTgt spid="581635">
                                            <p:txEl>
                                              <p:pRg st="15" end="15"/>
                                            </p:txEl>
                                          </p:spTgt>
                                        </p:tgtEl>
                                        <p:attrNameLst>
                                          <p:attrName>style.visibility</p:attrName>
                                        </p:attrNameLst>
                                      </p:cBhvr>
                                      <p:to>
                                        <p:strVal val="visible"/>
                                      </p:to>
                                    </p:set>
                                    <p:anim calcmode="lin" valueType="num">
                                      <p:cBhvr additive="base">
                                        <p:cTn id="67" dur="500" fill="hold"/>
                                        <p:tgtEl>
                                          <p:spTgt spid="581635">
                                            <p:txEl>
                                              <p:pRg st="15" end="15"/>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581635">
                                            <p:txEl>
                                              <p:pRg st="15" end="1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D5685F5A-2477-BE49-0B44-D828D30AD10F}"/>
              </a:ext>
            </a:extLst>
          </p:cNvPr>
          <p:cNvSpPr>
            <a:spLocks noGrp="1" noChangeArrowheads="1"/>
          </p:cNvSpPr>
          <p:nvPr>
            <p:ph type="title"/>
          </p:nvPr>
        </p:nvSpPr>
        <p:spPr/>
        <p:txBody>
          <a:bodyPr/>
          <a:lstStyle/>
          <a:p>
            <a:pPr eaLnBrk="1" hangingPunct="1"/>
            <a:r>
              <a:rPr lang="zh-CN" altLang="en-US"/>
              <a:t>多级指针*</a:t>
            </a:r>
            <a:endParaRPr lang="zh-CN" altLang="en-US" sz="2400">
              <a:solidFill>
                <a:schemeClr val="tx1"/>
              </a:solidFill>
            </a:endParaRPr>
          </a:p>
        </p:txBody>
      </p:sp>
      <p:sp>
        <p:nvSpPr>
          <p:cNvPr id="582659" name="Rectangle 3">
            <a:extLst>
              <a:ext uri="{FF2B5EF4-FFF2-40B4-BE49-F238E27FC236}">
                <a16:creationId xmlns:a16="http://schemas.microsoft.com/office/drawing/2014/main" id="{FBABB7F6-A851-CAEC-2BC8-8CBCED928A45}"/>
              </a:ext>
            </a:extLst>
          </p:cNvPr>
          <p:cNvSpPr>
            <a:spLocks noGrp="1" noChangeArrowheads="1"/>
          </p:cNvSpPr>
          <p:nvPr>
            <p:ph type="body" idx="1"/>
          </p:nvPr>
        </p:nvSpPr>
        <p:spPr>
          <a:xfrm>
            <a:off x="1182688" y="2017713"/>
            <a:ext cx="7565776" cy="4114800"/>
          </a:xfrm>
        </p:spPr>
        <p:txBody>
          <a:bodyPr/>
          <a:lstStyle/>
          <a:p>
            <a:pPr marL="533400" indent="-533400" eaLnBrk="1" hangingPunct="1">
              <a:lnSpc>
                <a:spcPct val="150000"/>
              </a:lnSpc>
            </a:pPr>
            <a:r>
              <a:rPr lang="zh-CN" altLang="en-US" sz="1800"/>
              <a:t>多级指针（例）</a:t>
            </a:r>
          </a:p>
          <a:p>
            <a:pPr marL="914400" lvl="1" indent="-457200" eaLnBrk="1" hangingPunct="1">
              <a:lnSpc>
                <a:spcPct val="150000"/>
              </a:lnSpc>
              <a:buFont typeface="Wingdings" pitchFamily="2" charset="2"/>
              <a:buAutoNum type="arabicPeriod"/>
            </a:pPr>
            <a:r>
              <a:rPr lang="zh-CN" altLang="en-US" sz="1600"/>
              <a:t>      </a:t>
            </a:r>
            <a:r>
              <a:rPr lang="en-US" altLang="zh-CN" sz="1600"/>
              <a:t>int **pp, *ip, i</a:t>
            </a:r>
            <a:r>
              <a:rPr lang="zh-CN" altLang="en-US" sz="1600"/>
              <a:t>；</a:t>
            </a:r>
          </a:p>
          <a:p>
            <a:pPr marL="914400" lvl="1" indent="-457200" eaLnBrk="1" hangingPunct="1">
              <a:lnSpc>
                <a:spcPct val="150000"/>
              </a:lnSpc>
              <a:buFont typeface="Wingdings" pitchFamily="2" charset="2"/>
              <a:buAutoNum type="arabicPeriod"/>
            </a:pPr>
            <a:r>
              <a:rPr lang="zh-CN" altLang="en-US" sz="1600"/>
              <a:t>      </a:t>
            </a:r>
            <a:r>
              <a:rPr lang="en-US" altLang="zh-CN" sz="1600"/>
              <a:t>ip = &amp;i;</a:t>
            </a:r>
          </a:p>
          <a:p>
            <a:pPr marL="914400" lvl="1" indent="-457200" eaLnBrk="1" hangingPunct="1">
              <a:lnSpc>
                <a:spcPct val="150000"/>
              </a:lnSpc>
              <a:buFont typeface="Wingdings" pitchFamily="2" charset="2"/>
              <a:buAutoNum type="arabicPeriod"/>
            </a:pPr>
            <a:r>
              <a:rPr lang="en-US" altLang="zh-CN" sz="1600"/>
              <a:t>      pp = &amp;ip;</a:t>
            </a:r>
          </a:p>
          <a:p>
            <a:pPr marL="533400" indent="-533400" eaLnBrk="1" hangingPunct="1">
              <a:lnSpc>
                <a:spcPct val="150000"/>
              </a:lnSpc>
            </a:pPr>
            <a:r>
              <a:rPr lang="zh-CN" altLang="en-US" sz="1800"/>
              <a:t>当指针变量</a:t>
            </a:r>
            <a:r>
              <a:rPr lang="en-US" altLang="zh-CN" sz="1800"/>
              <a:t>pp</a:t>
            </a:r>
            <a:r>
              <a:rPr lang="zh-CN" altLang="en-US" sz="1800"/>
              <a:t>所指的变量</a:t>
            </a:r>
            <a:r>
              <a:rPr lang="en-US" altLang="zh-CN" sz="1800"/>
              <a:t>ip</a:t>
            </a:r>
            <a:r>
              <a:rPr lang="zh-CN" altLang="en-US" sz="1800"/>
              <a:t>又是一种指针时，</a:t>
            </a:r>
            <a:r>
              <a:rPr lang="en-US" altLang="zh-CN" sz="1800"/>
              <a:t>pp</a:t>
            </a:r>
            <a:r>
              <a:rPr lang="zh-CN" altLang="en-US" sz="1800"/>
              <a:t>是一种</a:t>
            </a:r>
            <a:r>
              <a:rPr lang="zh-CN" altLang="en-US" sz="1800">
                <a:solidFill>
                  <a:srgbClr val="0066FF"/>
                </a:solidFill>
              </a:rPr>
              <a:t>指向指针的指针</a:t>
            </a:r>
            <a:r>
              <a:rPr lang="zh-CN" altLang="en-US" sz="1800"/>
              <a:t>，就称指针变量</a:t>
            </a:r>
            <a:r>
              <a:rPr lang="en-US" altLang="zh-CN" sz="1800"/>
              <a:t>pp</a:t>
            </a:r>
            <a:r>
              <a:rPr lang="zh-CN" altLang="en-US" sz="1800"/>
              <a:t>是一种</a:t>
            </a:r>
            <a:r>
              <a:rPr lang="zh-CN" altLang="en-US" sz="1800">
                <a:solidFill>
                  <a:srgbClr val="0066FF"/>
                </a:solidFill>
              </a:rPr>
              <a:t>多级指针</a:t>
            </a:r>
            <a:r>
              <a:rPr lang="zh-CN" altLang="en-US" sz="1800"/>
              <a:t>。</a:t>
            </a:r>
          </a:p>
          <a:p>
            <a:pPr marL="533400" indent="-533400" eaLnBrk="1" hangingPunct="1">
              <a:lnSpc>
                <a:spcPct val="150000"/>
              </a:lnSpc>
            </a:pPr>
            <a:r>
              <a:rPr lang="zh-CN" altLang="en-US" sz="1800"/>
              <a:t>定义指向指针变量的指针变量的一般形式为：</a:t>
            </a:r>
          </a:p>
          <a:p>
            <a:pPr marL="914400" lvl="1" indent="-457200" eaLnBrk="1" hangingPunct="1">
              <a:lnSpc>
                <a:spcPct val="150000"/>
              </a:lnSpc>
            </a:pPr>
            <a:r>
              <a:rPr lang="zh-CN" altLang="en-US" sz="1600"/>
              <a:t>    </a:t>
            </a:r>
            <a:r>
              <a:rPr lang="zh-CN" altLang="en-US" sz="1600">
                <a:solidFill>
                  <a:srgbClr val="0070C0"/>
                </a:solidFill>
              </a:rPr>
              <a:t>类型说明符   ** 变量名；</a:t>
            </a:r>
          </a:p>
          <a:p>
            <a:pPr marL="533400" indent="-533400" eaLnBrk="1" hangingPunct="1">
              <a:lnSpc>
                <a:spcPct val="150000"/>
              </a:lnSpc>
            </a:pPr>
            <a:r>
              <a:rPr lang="zh-CN" altLang="en-US" sz="1800"/>
              <a:t>多级指针与指针数组有密切的关系</a:t>
            </a:r>
          </a:p>
          <a:p>
            <a:pPr marL="533400" indent="-533400" eaLnBrk="1" hangingPunct="1">
              <a:lnSpc>
                <a:spcPct val="150000"/>
              </a:lnSpc>
            </a:pPr>
            <a:r>
              <a:rPr lang="zh-CN" altLang="en-US" sz="1800"/>
              <a:t>更详细内容请自习</a:t>
            </a:r>
            <a:r>
              <a:rPr lang="en-US" altLang="zh-CN" sz="1800"/>
              <a:t>4.5.5</a:t>
            </a:r>
            <a:r>
              <a:rPr lang="zh-CN" altLang="en-US" sz="1800"/>
              <a:t>节</a:t>
            </a:r>
            <a:r>
              <a:rPr lang="en-US" altLang="zh-CN" sz="1800"/>
              <a:t>(</a:t>
            </a:r>
            <a:r>
              <a:rPr lang="zh-CN" altLang="en-US" sz="1800"/>
              <a:t>非大纲内容</a:t>
            </a:r>
            <a:r>
              <a:rPr lang="en-US" altLang="zh-CN" sz="1800"/>
              <a:t>)</a:t>
            </a:r>
            <a:endParaRPr lang="en-US" altLang="zh-CN" sz="2000" b="1">
              <a:effectLst>
                <a:outerShdw blurRad="38100" dist="38100" dir="2700000" algn="tl">
                  <a:srgbClr val="C0C0C0"/>
                </a:outerShdw>
              </a:effectLst>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2659">
                                            <p:txEl>
                                              <p:pRg st="0" end="0"/>
                                            </p:txEl>
                                          </p:spTgt>
                                        </p:tgtEl>
                                        <p:attrNameLst>
                                          <p:attrName>style.visibility</p:attrName>
                                        </p:attrNameLst>
                                      </p:cBhvr>
                                      <p:to>
                                        <p:strVal val="visible"/>
                                      </p:to>
                                    </p:set>
                                    <p:anim calcmode="lin" valueType="num">
                                      <p:cBhvr additive="base">
                                        <p:cTn id="7" dur="500" fill="hold"/>
                                        <p:tgtEl>
                                          <p:spTgt spid="582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26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82659">
                                            <p:txEl>
                                              <p:pRg st="1" end="1"/>
                                            </p:txEl>
                                          </p:spTgt>
                                        </p:tgtEl>
                                        <p:attrNameLst>
                                          <p:attrName>style.visibility</p:attrName>
                                        </p:attrNameLst>
                                      </p:cBhvr>
                                      <p:to>
                                        <p:strVal val="visible"/>
                                      </p:to>
                                    </p:set>
                                    <p:anim calcmode="lin" valueType="num">
                                      <p:cBhvr additive="base">
                                        <p:cTn id="11" dur="500" fill="hold"/>
                                        <p:tgtEl>
                                          <p:spTgt spid="58265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8265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82659">
                                            <p:txEl>
                                              <p:pRg st="2" end="2"/>
                                            </p:txEl>
                                          </p:spTgt>
                                        </p:tgtEl>
                                        <p:attrNameLst>
                                          <p:attrName>style.visibility</p:attrName>
                                        </p:attrNameLst>
                                      </p:cBhvr>
                                      <p:to>
                                        <p:strVal val="visible"/>
                                      </p:to>
                                    </p:set>
                                    <p:anim calcmode="lin" valueType="num">
                                      <p:cBhvr additive="base">
                                        <p:cTn id="15" dur="500" fill="hold"/>
                                        <p:tgtEl>
                                          <p:spTgt spid="58265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8265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82659">
                                            <p:txEl>
                                              <p:pRg st="3" end="3"/>
                                            </p:txEl>
                                          </p:spTgt>
                                        </p:tgtEl>
                                        <p:attrNameLst>
                                          <p:attrName>style.visibility</p:attrName>
                                        </p:attrNameLst>
                                      </p:cBhvr>
                                      <p:to>
                                        <p:strVal val="visible"/>
                                      </p:to>
                                    </p:set>
                                    <p:anim calcmode="lin" valueType="num">
                                      <p:cBhvr additive="base">
                                        <p:cTn id="19" dur="500" fill="hold"/>
                                        <p:tgtEl>
                                          <p:spTgt spid="58265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265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82659">
                                            <p:txEl>
                                              <p:pRg st="4" end="4"/>
                                            </p:txEl>
                                          </p:spTgt>
                                        </p:tgtEl>
                                        <p:attrNameLst>
                                          <p:attrName>style.visibility</p:attrName>
                                        </p:attrNameLst>
                                      </p:cBhvr>
                                      <p:to>
                                        <p:strVal val="visible"/>
                                      </p:to>
                                    </p:set>
                                    <p:anim calcmode="lin" valueType="num">
                                      <p:cBhvr additive="base">
                                        <p:cTn id="25" dur="500" fill="hold"/>
                                        <p:tgtEl>
                                          <p:spTgt spid="582659">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8265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82659">
                                            <p:txEl>
                                              <p:pRg st="5" end="5"/>
                                            </p:txEl>
                                          </p:spTgt>
                                        </p:tgtEl>
                                        <p:attrNameLst>
                                          <p:attrName>style.visibility</p:attrName>
                                        </p:attrNameLst>
                                      </p:cBhvr>
                                      <p:to>
                                        <p:strVal val="visible"/>
                                      </p:to>
                                    </p:set>
                                    <p:anim calcmode="lin" valueType="num">
                                      <p:cBhvr additive="base">
                                        <p:cTn id="31" dur="500" fill="hold"/>
                                        <p:tgtEl>
                                          <p:spTgt spid="582659">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8265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582659">
                                            <p:txEl>
                                              <p:pRg st="6" end="6"/>
                                            </p:txEl>
                                          </p:spTgt>
                                        </p:tgtEl>
                                        <p:attrNameLst>
                                          <p:attrName>style.visibility</p:attrName>
                                        </p:attrNameLst>
                                      </p:cBhvr>
                                      <p:to>
                                        <p:strVal val="visible"/>
                                      </p:to>
                                    </p:set>
                                    <p:anim calcmode="lin" valueType="num">
                                      <p:cBhvr additive="base">
                                        <p:cTn id="35" dur="500" fill="hold"/>
                                        <p:tgtEl>
                                          <p:spTgt spid="582659">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82659">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582659">
                                            <p:txEl>
                                              <p:pRg st="7" end="7"/>
                                            </p:txEl>
                                          </p:spTgt>
                                        </p:tgtEl>
                                        <p:attrNameLst>
                                          <p:attrName>style.visibility</p:attrName>
                                        </p:attrNameLst>
                                      </p:cBhvr>
                                      <p:to>
                                        <p:strVal val="visible"/>
                                      </p:to>
                                    </p:set>
                                    <p:anim calcmode="lin" valueType="num">
                                      <p:cBhvr additive="base">
                                        <p:cTn id="41" dur="500" fill="hold"/>
                                        <p:tgtEl>
                                          <p:spTgt spid="582659">
                                            <p:txEl>
                                              <p:pRg st="7" end="7"/>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582659">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whoosh.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582659">
                                            <p:txEl>
                                              <p:pRg st="8" end="8"/>
                                            </p:txEl>
                                          </p:spTgt>
                                        </p:tgtEl>
                                        <p:attrNameLst>
                                          <p:attrName>style.visibility</p:attrName>
                                        </p:attrNameLst>
                                      </p:cBhvr>
                                      <p:to>
                                        <p:strVal val="visible"/>
                                      </p:to>
                                    </p:set>
                                    <p:anim calcmode="lin" valueType="num">
                                      <p:cBhvr additive="base">
                                        <p:cTn id="47" dur="500" fill="hold"/>
                                        <p:tgtEl>
                                          <p:spTgt spid="582659">
                                            <p:txEl>
                                              <p:pRg st="8" end="8"/>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82659">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B4FF434-8F38-F905-6B09-0AF24CB636B7}"/>
            </a:ext>
          </a:extLst>
        </p:cNvPr>
        <p:cNvGrpSpPr/>
        <p:nvPr/>
      </p:nvGrpSpPr>
      <p:grpSpPr>
        <a:xfrm>
          <a:off x="0" y="0"/>
          <a:ext cx="0" cy="0"/>
          <a:chOff x="0" y="0"/>
          <a:chExt cx="0" cy="0"/>
        </a:xfrm>
      </p:grpSpPr>
      <p:sp>
        <p:nvSpPr>
          <p:cNvPr id="552962" name="Rectangle 2">
            <a:extLst>
              <a:ext uri="{FF2B5EF4-FFF2-40B4-BE49-F238E27FC236}">
                <a16:creationId xmlns:a16="http://schemas.microsoft.com/office/drawing/2014/main" id="{2A77C34A-7058-758B-D7D1-1F4E1F98FC09}"/>
              </a:ext>
            </a:extLst>
          </p:cNvPr>
          <p:cNvSpPr>
            <a:spLocks noGrp="1" noChangeArrowheads="1"/>
          </p:cNvSpPr>
          <p:nvPr>
            <p:ph type="ctrTitle"/>
          </p:nvPr>
        </p:nvSpPr>
        <p:spPr/>
        <p:txBody>
          <a:bodyPr/>
          <a:lstStyle/>
          <a:p>
            <a:pPr eaLnBrk="1" hangingPunct="1"/>
            <a:r>
              <a:rPr lang="zh-CN" altLang="en-US"/>
              <a:t>函数指针</a:t>
            </a:r>
            <a:endParaRPr lang="zh-CN" altLang="en-US" sz="3600" b="1">
              <a:solidFill>
                <a:srgbClr val="FF0000"/>
              </a:solidFill>
              <a:effectLst>
                <a:outerShdw blurRad="38100" dist="38100" dir="2700000" algn="tl">
                  <a:srgbClr val="C0C0C0"/>
                </a:outerShdw>
              </a:effectLst>
              <a:latin typeface="宋体" panose="02010600030101010101" pitchFamily="2" charset="-122"/>
            </a:endParaRPr>
          </a:p>
        </p:txBody>
      </p:sp>
      <p:sp>
        <p:nvSpPr>
          <p:cNvPr id="552963" name="Rectangle 3">
            <a:extLst>
              <a:ext uri="{FF2B5EF4-FFF2-40B4-BE49-F238E27FC236}">
                <a16:creationId xmlns:a16="http://schemas.microsoft.com/office/drawing/2014/main" id="{388CC06E-FE52-330A-9495-E7B96039CF33}"/>
              </a:ext>
            </a:extLst>
          </p:cNvPr>
          <p:cNvSpPr>
            <a:spLocks noGrp="1" noChangeArrowheads="1"/>
          </p:cNvSpPr>
          <p:nvPr>
            <p:ph type="subTitle" idx="1"/>
          </p:nvPr>
        </p:nvSpPr>
        <p:spPr/>
        <p:txBody>
          <a:bodyPr/>
          <a:lstStyle/>
          <a:p>
            <a:pPr eaLnBrk="1" hangingPunct="1"/>
            <a:endParaRPr lang="en-US" altLang="en-US"/>
          </a:p>
        </p:txBody>
      </p:sp>
    </p:spTree>
    <p:extLst>
      <p:ext uri="{BB962C8B-B14F-4D97-AF65-F5344CB8AC3E}">
        <p14:creationId xmlns:p14="http://schemas.microsoft.com/office/powerpoint/2010/main" val="330002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552963">
                                            <p:txEl>
                                              <p:pRg st="0" end="0"/>
                                            </p:txEl>
                                          </p:spTgt>
                                        </p:tgtEl>
                                        <p:attrNameLst>
                                          <p:attrName>style.visibility</p:attrName>
                                        </p:attrNameLst>
                                      </p:cBhvr>
                                      <p:to>
                                        <p:strVal val="visible"/>
                                      </p:to>
                                    </p:set>
                                    <p:anim calcmode="lin" valueType="num">
                                      <p:cBhvr additive="base">
                                        <p:cTn id="7" dur="500" fill="hold"/>
                                        <p:tgtEl>
                                          <p:spTgt spid="552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296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3"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3E1D83B-3CCF-A65D-5822-FE53CA07E11E}"/>
            </a:ext>
          </a:extLst>
        </p:cNvPr>
        <p:cNvGrpSpPr/>
        <p:nvPr/>
      </p:nvGrpSpPr>
      <p:grpSpPr>
        <a:xfrm>
          <a:off x="0" y="0"/>
          <a:ext cx="0" cy="0"/>
          <a:chOff x="0" y="0"/>
          <a:chExt cx="0" cy="0"/>
        </a:xfrm>
      </p:grpSpPr>
      <p:sp>
        <p:nvSpPr>
          <p:cNvPr id="86018" name="Rectangle 2">
            <a:extLst>
              <a:ext uri="{FF2B5EF4-FFF2-40B4-BE49-F238E27FC236}">
                <a16:creationId xmlns:a16="http://schemas.microsoft.com/office/drawing/2014/main" id="{57F45545-5BAB-F613-4D24-62982D980B25}"/>
              </a:ext>
            </a:extLst>
          </p:cNvPr>
          <p:cNvSpPr>
            <a:spLocks noGrp="1" noChangeArrowheads="1"/>
          </p:cNvSpPr>
          <p:nvPr>
            <p:ph type="title"/>
          </p:nvPr>
        </p:nvSpPr>
        <p:spPr/>
        <p:txBody>
          <a:bodyPr/>
          <a:lstStyle/>
          <a:p>
            <a:pPr eaLnBrk="1" hangingPunct="1"/>
            <a:r>
              <a:rPr lang="zh-CN" altLang="en-US"/>
              <a:t>函数指针*</a:t>
            </a:r>
            <a:endParaRPr lang="zh-CN" altLang="en-US" sz="2400">
              <a:solidFill>
                <a:schemeClr val="tx1"/>
              </a:solidFill>
            </a:endParaRPr>
          </a:p>
        </p:txBody>
      </p:sp>
      <p:sp>
        <p:nvSpPr>
          <p:cNvPr id="582659" name="Rectangle 3">
            <a:extLst>
              <a:ext uri="{FF2B5EF4-FFF2-40B4-BE49-F238E27FC236}">
                <a16:creationId xmlns:a16="http://schemas.microsoft.com/office/drawing/2014/main" id="{70B4180A-BED1-A9EC-2C0C-64D500D49DDF}"/>
              </a:ext>
            </a:extLst>
          </p:cNvPr>
          <p:cNvSpPr>
            <a:spLocks noGrp="1" noChangeArrowheads="1"/>
          </p:cNvSpPr>
          <p:nvPr>
            <p:ph type="body" idx="1"/>
          </p:nvPr>
        </p:nvSpPr>
        <p:spPr>
          <a:xfrm>
            <a:off x="1182688" y="2017713"/>
            <a:ext cx="7565776" cy="4114800"/>
          </a:xfrm>
        </p:spPr>
        <p:txBody>
          <a:bodyPr/>
          <a:lstStyle/>
          <a:p>
            <a:pPr marL="533400" indent="-533400" eaLnBrk="1" hangingPunct="1">
              <a:lnSpc>
                <a:spcPct val="150000"/>
              </a:lnSpc>
            </a:pPr>
            <a:r>
              <a:rPr lang="zh-CN" altLang="en-US" sz="2400" b="1">
                <a:solidFill>
                  <a:srgbClr val="0070C0"/>
                </a:solidFill>
              </a:rPr>
              <a:t>函数指针</a:t>
            </a:r>
            <a:r>
              <a:rPr lang="zh-CN" altLang="en-US" sz="2400"/>
              <a:t>是指向函数的指针，它可以指向一个具有特定参数列表和返回值类型的函数。</a:t>
            </a:r>
            <a:endParaRPr lang="en-US" altLang="zh-CN" sz="2400"/>
          </a:p>
          <a:p>
            <a:pPr marL="533400" indent="-533400" eaLnBrk="1" hangingPunct="1">
              <a:lnSpc>
                <a:spcPct val="150000"/>
              </a:lnSpc>
            </a:pPr>
            <a:r>
              <a:rPr lang="zh-CN" altLang="en-US" sz="2400"/>
              <a:t>这使得函数指针可以用于动态调用不同的函数，尤其在需要实现回调函数、函数作为参数传递等场景时非常有用。</a:t>
            </a:r>
            <a:endParaRPr lang="en-US" altLang="zh-CN" sz="2400"/>
          </a:p>
          <a:p>
            <a:pPr marL="533400" indent="-533400" eaLnBrk="1" hangingPunct="1">
              <a:lnSpc>
                <a:spcPct val="150000"/>
              </a:lnSpc>
            </a:pPr>
            <a:r>
              <a:rPr lang="zh-CN" altLang="en-US" sz="2400"/>
              <a:t>定义</a:t>
            </a:r>
            <a:endParaRPr lang="en-US" altLang="zh-CN" sz="2400"/>
          </a:p>
          <a:p>
            <a:pPr marL="933450" lvl="1" indent="-533400" eaLnBrk="1" hangingPunct="1">
              <a:lnSpc>
                <a:spcPct val="150000"/>
              </a:lnSpc>
            </a:pPr>
            <a:r>
              <a:rPr lang="zh-CN" altLang="en-US" sz="1800">
                <a:solidFill>
                  <a:srgbClr val="0070C0"/>
                </a:solidFill>
              </a:rPr>
              <a:t>返回类型 </a:t>
            </a:r>
            <a:r>
              <a:rPr lang="en-US" altLang="zh-CN" sz="1800">
                <a:solidFill>
                  <a:srgbClr val="0070C0"/>
                </a:solidFill>
              </a:rPr>
              <a:t>(*</a:t>
            </a:r>
            <a:r>
              <a:rPr lang="zh-CN" altLang="en-US" sz="1800">
                <a:solidFill>
                  <a:srgbClr val="0070C0"/>
                </a:solidFill>
              </a:rPr>
              <a:t>指针名</a:t>
            </a:r>
            <a:r>
              <a:rPr lang="en-US" altLang="zh-CN" sz="1800">
                <a:solidFill>
                  <a:srgbClr val="0070C0"/>
                </a:solidFill>
              </a:rPr>
              <a:t>)(</a:t>
            </a:r>
            <a:r>
              <a:rPr lang="zh-CN" altLang="en-US" sz="1800">
                <a:solidFill>
                  <a:srgbClr val="0070C0"/>
                </a:solidFill>
              </a:rPr>
              <a:t>参数列表</a:t>
            </a:r>
            <a:r>
              <a:rPr lang="en-US" altLang="zh-CN" sz="1800">
                <a:solidFill>
                  <a:srgbClr val="0070C0"/>
                </a:solidFill>
              </a:rPr>
              <a:t>);</a:t>
            </a:r>
          </a:p>
        </p:txBody>
      </p:sp>
    </p:spTree>
    <p:extLst>
      <p:ext uri="{BB962C8B-B14F-4D97-AF65-F5344CB8AC3E}">
        <p14:creationId xmlns:p14="http://schemas.microsoft.com/office/powerpoint/2010/main" val="26250699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2659">
                                            <p:txEl>
                                              <p:pRg st="0" end="0"/>
                                            </p:txEl>
                                          </p:spTgt>
                                        </p:tgtEl>
                                        <p:attrNameLst>
                                          <p:attrName>style.visibility</p:attrName>
                                        </p:attrNameLst>
                                      </p:cBhvr>
                                      <p:to>
                                        <p:strVal val="visible"/>
                                      </p:to>
                                    </p:set>
                                    <p:anim calcmode="lin" valueType="num">
                                      <p:cBhvr additive="base">
                                        <p:cTn id="7" dur="500" fill="hold"/>
                                        <p:tgtEl>
                                          <p:spTgt spid="582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26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2659">
                                            <p:txEl>
                                              <p:pRg st="1" end="1"/>
                                            </p:txEl>
                                          </p:spTgt>
                                        </p:tgtEl>
                                        <p:attrNameLst>
                                          <p:attrName>style.visibility</p:attrName>
                                        </p:attrNameLst>
                                      </p:cBhvr>
                                      <p:to>
                                        <p:strVal val="visible"/>
                                      </p:to>
                                    </p:set>
                                    <p:anim calcmode="lin" valueType="num">
                                      <p:cBhvr additive="base">
                                        <p:cTn id="13" dur="500" fill="hold"/>
                                        <p:tgtEl>
                                          <p:spTgt spid="5826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8265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2659">
                                            <p:txEl>
                                              <p:pRg st="2" end="2"/>
                                            </p:txEl>
                                          </p:spTgt>
                                        </p:tgtEl>
                                        <p:attrNameLst>
                                          <p:attrName>style.visibility</p:attrName>
                                        </p:attrNameLst>
                                      </p:cBhvr>
                                      <p:to>
                                        <p:strVal val="visible"/>
                                      </p:to>
                                    </p:set>
                                    <p:anim calcmode="lin" valueType="num">
                                      <p:cBhvr additive="base">
                                        <p:cTn id="19" dur="500" fill="hold"/>
                                        <p:tgtEl>
                                          <p:spTgt spid="5826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265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82659">
                                            <p:txEl>
                                              <p:pRg st="3" end="3"/>
                                            </p:txEl>
                                          </p:spTgt>
                                        </p:tgtEl>
                                        <p:attrNameLst>
                                          <p:attrName>style.visibility</p:attrName>
                                        </p:attrNameLst>
                                      </p:cBhvr>
                                      <p:to>
                                        <p:strVal val="visible"/>
                                      </p:to>
                                    </p:set>
                                    <p:anim calcmode="lin" valueType="num">
                                      <p:cBhvr additive="base">
                                        <p:cTn id="23" dur="500" fill="hold"/>
                                        <p:tgtEl>
                                          <p:spTgt spid="582659">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8265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build="p"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32E6AB1-D61B-FEB4-9885-C7E3C8F7BF6C}"/>
            </a:ext>
          </a:extLst>
        </p:cNvPr>
        <p:cNvGrpSpPr/>
        <p:nvPr/>
      </p:nvGrpSpPr>
      <p:grpSpPr>
        <a:xfrm>
          <a:off x="0" y="0"/>
          <a:ext cx="0" cy="0"/>
          <a:chOff x="0" y="0"/>
          <a:chExt cx="0" cy="0"/>
        </a:xfrm>
      </p:grpSpPr>
      <p:sp>
        <p:nvSpPr>
          <p:cNvPr id="86018" name="Rectangle 2">
            <a:extLst>
              <a:ext uri="{FF2B5EF4-FFF2-40B4-BE49-F238E27FC236}">
                <a16:creationId xmlns:a16="http://schemas.microsoft.com/office/drawing/2014/main" id="{E3A31561-59E3-5E11-549C-F6F3C78F7989}"/>
              </a:ext>
            </a:extLst>
          </p:cNvPr>
          <p:cNvSpPr>
            <a:spLocks noGrp="1" noChangeArrowheads="1"/>
          </p:cNvSpPr>
          <p:nvPr>
            <p:ph type="title"/>
          </p:nvPr>
        </p:nvSpPr>
        <p:spPr/>
        <p:txBody>
          <a:bodyPr/>
          <a:lstStyle/>
          <a:p>
            <a:pPr eaLnBrk="1" hangingPunct="1"/>
            <a:r>
              <a:rPr lang="zh-CN" altLang="en-US"/>
              <a:t>函数指针*</a:t>
            </a:r>
            <a:endParaRPr lang="zh-CN" altLang="en-US" sz="2400">
              <a:solidFill>
                <a:schemeClr val="tx1"/>
              </a:solidFill>
            </a:endParaRPr>
          </a:p>
        </p:txBody>
      </p:sp>
      <p:sp>
        <p:nvSpPr>
          <p:cNvPr id="582659" name="Rectangle 3">
            <a:extLst>
              <a:ext uri="{FF2B5EF4-FFF2-40B4-BE49-F238E27FC236}">
                <a16:creationId xmlns:a16="http://schemas.microsoft.com/office/drawing/2014/main" id="{AB5DC7DB-E872-7F21-2725-886CE10E7A5F}"/>
              </a:ext>
            </a:extLst>
          </p:cNvPr>
          <p:cNvSpPr>
            <a:spLocks noGrp="1" noChangeArrowheads="1"/>
          </p:cNvSpPr>
          <p:nvPr>
            <p:ph type="body" idx="1"/>
          </p:nvPr>
        </p:nvSpPr>
        <p:spPr>
          <a:xfrm>
            <a:off x="1182688" y="2017713"/>
            <a:ext cx="7565776" cy="4114800"/>
          </a:xfrm>
        </p:spPr>
        <p:txBody>
          <a:bodyPr/>
          <a:lstStyle/>
          <a:p>
            <a:pPr marL="533400" indent="-533400" eaLnBrk="1" hangingPunct="1">
              <a:lnSpc>
                <a:spcPct val="120000"/>
              </a:lnSpc>
            </a:pPr>
            <a:r>
              <a:rPr lang="zh-CN" altLang="en-US" sz="2400" b="1"/>
              <a:t>示例</a:t>
            </a:r>
            <a:endParaRPr lang="en-US" altLang="zh-CN" sz="2400" b="1"/>
          </a:p>
          <a:p>
            <a:pPr marL="933450" lvl="1" indent="-533400" eaLnBrk="1" hangingPunct="1"/>
            <a:r>
              <a:rPr lang="en-US" altLang="zh-CN" sz="1800"/>
              <a:t>int add(int a, int b) {</a:t>
            </a:r>
          </a:p>
          <a:p>
            <a:pPr marL="933450" lvl="1" indent="-533400" eaLnBrk="1" hangingPunct="1"/>
            <a:r>
              <a:rPr lang="en-US" altLang="zh-CN" sz="1800"/>
              <a:t>  return a + b;</a:t>
            </a:r>
          </a:p>
          <a:p>
            <a:pPr marL="933450" lvl="1" indent="-533400" eaLnBrk="1" hangingPunct="1"/>
            <a:r>
              <a:rPr lang="en-US" altLang="zh-CN" sz="1800"/>
              <a:t>}</a:t>
            </a:r>
          </a:p>
          <a:p>
            <a:pPr marL="933450" lvl="1" indent="-533400" eaLnBrk="1" hangingPunct="1"/>
            <a:endParaRPr lang="en-US" altLang="zh-CN" sz="1800"/>
          </a:p>
          <a:p>
            <a:pPr marL="933450" lvl="1" indent="-533400" eaLnBrk="1" hangingPunct="1"/>
            <a:r>
              <a:rPr lang="en-US" altLang="zh-CN" sz="1800"/>
              <a:t>void main() {</a:t>
            </a:r>
          </a:p>
          <a:p>
            <a:pPr marL="933450" lvl="1" indent="-533400" eaLnBrk="1" hangingPunct="1"/>
            <a:r>
              <a:rPr lang="en-US" altLang="zh-CN" sz="1800"/>
              <a:t>  </a:t>
            </a:r>
            <a:r>
              <a:rPr lang="en-US" altLang="zh-CN" sz="1800">
                <a:solidFill>
                  <a:srgbClr val="0066FF"/>
                </a:solidFill>
              </a:rPr>
              <a:t>int (*fp)(int, int);</a:t>
            </a:r>
          </a:p>
          <a:p>
            <a:pPr marL="933450" lvl="1" indent="-533400" eaLnBrk="1" hangingPunct="1"/>
            <a:r>
              <a:rPr lang="en-US" altLang="zh-CN" sz="1800"/>
              <a:t>  </a:t>
            </a:r>
          </a:p>
          <a:p>
            <a:pPr marL="933450" lvl="1" indent="-533400" eaLnBrk="1" hangingPunct="1"/>
            <a:r>
              <a:rPr lang="en-US" altLang="zh-CN" sz="1800"/>
              <a:t>  fp = &amp;add;   // </a:t>
            </a:r>
            <a:r>
              <a:rPr lang="zh-CN" altLang="en-US" sz="1800"/>
              <a:t>将函数指针指向函数 </a:t>
            </a:r>
            <a:r>
              <a:rPr lang="en-US" altLang="zh-CN" sz="1800"/>
              <a:t>add</a:t>
            </a:r>
            <a:r>
              <a:rPr lang="zh-CN" altLang="en-US" sz="1800"/>
              <a:t>，</a:t>
            </a:r>
            <a:r>
              <a:rPr lang="en-US" altLang="zh-CN" sz="1800">
                <a:solidFill>
                  <a:srgbClr val="0070C0"/>
                </a:solidFill>
              </a:rPr>
              <a:t>&amp;</a:t>
            </a:r>
            <a:r>
              <a:rPr lang="zh-CN" altLang="en-US" sz="1800">
                <a:solidFill>
                  <a:srgbClr val="0070C0"/>
                </a:solidFill>
              </a:rPr>
              <a:t>可以省略</a:t>
            </a:r>
            <a:endParaRPr lang="en-US" altLang="zh-CN" sz="1800">
              <a:solidFill>
                <a:srgbClr val="0070C0"/>
              </a:solidFill>
            </a:endParaRPr>
          </a:p>
          <a:p>
            <a:pPr marL="933450" lvl="1" indent="-533400" eaLnBrk="1" hangingPunct="1"/>
            <a:r>
              <a:rPr lang="en-US" altLang="zh-CN" sz="1800"/>
              <a:t>  int result = </a:t>
            </a:r>
            <a:r>
              <a:rPr lang="en-US" altLang="zh-CN" sz="1800">
                <a:solidFill>
                  <a:srgbClr val="0066FF"/>
                </a:solidFill>
              </a:rPr>
              <a:t>fp(2, 3)</a:t>
            </a:r>
            <a:r>
              <a:rPr lang="en-US" altLang="zh-CN" sz="1800"/>
              <a:t>;  // </a:t>
            </a:r>
            <a:r>
              <a:rPr lang="zh-CN" altLang="en-US" sz="1800"/>
              <a:t>使用函数指针调用函数，或</a:t>
            </a:r>
            <a:r>
              <a:rPr lang="en-US" altLang="zh-CN" sz="1800"/>
              <a:t> </a:t>
            </a:r>
            <a:r>
              <a:rPr lang="en-US" altLang="zh-CN" sz="1800">
                <a:solidFill>
                  <a:srgbClr val="0066FF"/>
                </a:solidFill>
              </a:rPr>
              <a:t>(*fp)(2, 3)</a:t>
            </a:r>
            <a:endParaRPr lang="zh-CN" altLang="en-US" sz="1800">
              <a:solidFill>
                <a:srgbClr val="0066FF"/>
              </a:solidFill>
            </a:endParaRPr>
          </a:p>
          <a:p>
            <a:pPr marL="933450" lvl="1" indent="-533400" eaLnBrk="1" hangingPunct="1"/>
            <a:r>
              <a:rPr lang="zh-CN" altLang="en-US" sz="1800"/>
              <a:t>  </a:t>
            </a:r>
            <a:r>
              <a:rPr lang="en-US" altLang="zh-CN" sz="1800"/>
              <a:t>printf("Result: %d\n", result);  // </a:t>
            </a:r>
            <a:r>
              <a:rPr lang="zh-CN" altLang="en-US" sz="1800"/>
              <a:t>输出</a:t>
            </a:r>
            <a:r>
              <a:rPr lang="en-US" altLang="zh-CN" sz="1800"/>
              <a:t>: Result: 5</a:t>
            </a:r>
          </a:p>
          <a:p>
            <a:pPr marL="933450" lvl="1" indent="-533400" eaLnBrk="1" hangingPunct="1"/>
            <a:r>
              <a:rPr lang="en-US" altLang="zh-CN" sz="1800"/>
              <a:t>}</a:t>
            </a:r>
          </a:p>
        </p:txBody>
      </p:sp>
    </p:spTree>
    <p:extLst>
      <p:ext uri="{BB962C8B-B14F-4D97-AF65-F5344CB8AC3E}">
        <p14:creationId xmlns:p14="http://schemas.microsoft.com/office/powerpoint/2010/main" val="3577787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2659">
                                            <p:txEl>
                                              <p:pRg st="0" end="0"/>
                                            </p:txEl>
                                          </p:spTgt>
                                        </p:tgtEl>
                                        <p:attrNameLst>
                                          <p:attrName>style.visibility</p:attrName>
                                        </p:attrNameLst>
                                      </p:cBhvr>
                                      <p:to>
                                        <p:strVal val="visible"/>
                                      </p:to>
                                    </p:set>
                                    <p:anim calcmode="lin" valueType="num">
                                      <p:cBhvr additive="base">
                                        <p:cTn id="7" dur="500" fill="hold"/>
                                        <p:tgtEl>
                                          <p:spTgt spid="582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26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48502E2-24E3-280C-098B-16E361399BA2}"/>
            </a:ext>
          </a:extLst>
        </p:cNvPr>
        <p:cNvGrpSpPr/>
        <p:nvPr/>
      </p:nvGrpSpPr>
      <p:grpSpPr>
        <a:xfrm>
          <a:off x="0" y="0"/>
          <a:ext cx="0" cy="0"/>
          <a:chOff x="0" y="0"/>
          <a:chExt cx="0" cy="0"/>
        </a:xfrm>
      </p:grpSpPr>
      <p:sp>
        <p:nvSpPr>
          <p:cNvPr id="86018" name="Rectangle 2">
            <a:extLst>
              <a:ext uri="{FF2B5EF4-FFF2-40B4-BE49-F238E27FC236}">
                <a16:creationId xmlns:a16="http://schemas.microsoft.com/office/drawing/2014/main" id="{B5141C2F-5508-EECB-A0EC-8693F2408918}"/>
              </a:ext>
            </a:extLst>
          </p:cNvPr>
          <p:cNvSpPr>
            <a:spLocks noGrp="1" noChangeArrowheads="1"/>
          </p:cNvSpPr>
          <p:nvPr>
            <p:ph type="title"/>
          </p:nvPr>
        </p:nvSpPr>
        <p:spPr/>
        <p:txBody>
          <a:bodyPr/>
          <a:lstStyle/>
          <a:p>
            <a:pPr eaLnBrk="1" hangingPunct="1"/>
            <a:r>
              <a:rPr lang="zh-CN" altLang="en-US"/>
              <a:t>函数指针*</a:t>
            </a:r>
            <a:endParaRPr lang="zh-CN" altLang="en-US" sz="2400">
              <a:solidFill>
                <a:schemeClr val="tx1"/>
              </a:solidFill>
            </a:endParaRPr>
          </a:p>
        </p:txBody>
      </p:sp>
      <p:sp>
        <p:nvSpPr>
          <p:cNvPr id="582659" name="Rectangle 3">
            <a:extLst>
              <a:ext uri="{FF2B5EF4-FFF2-40B4-BE49-F238E27FC236}">
                <a16:creationId xmlns:a16="http://schemas.microsoft.com/office/drawing/2014/main" id="{125AECF0-7FDC-A093-40C0-DA298B240C7D}"/>
              </a:ext>
            </a:extLst>
          </p:cNvPr>
          <p:cNvSpPr>
            <a:spLocks noGrp="1" noChangeArrowheads="1"/>
          </p:cNvSpPr>
          <p:nvPr>
            <p:ph type="body" idx="1"/>
          </p:nvPr>
        </p:nvSpPr>
        <p:spPr>
          <a:xfrm>
            <a:off x="1182688" y="2017713"/>
            <a:ext cx="7565776" cy="4114800"/>
          </a:xfrm>
        </p:spPr>
        <p:txBody>
          <a:bodyPr/>
          <a:lstStyle/>
          <a:p>
            <a:pPr marL="533400" indent="-533400" eaLnBrk="1" hangingPunct="1">
              <a:lnSpc>
                <a:spcPct val="120000"/>
              </a:lnSpc>
            </a:pPr>
            <a:r>
              <a:rPr lang="zh-CN" altLang="en-US" sz="2400" b="1"/>
              <a:t>应用场景</a:t>
            </a:r>
            <a:endParaRPr lang="en-US" altLang="zh-CN" sz="2400" b="1"/>
          </a:p>
          <a:p>
            <a:pPr marL="933450" lvl="1" indent="-533400" eaLnBrk="1" hangingPunct="1">
              <a:lnSpc>
                <a:spcPct val="120000"/>
              </a:lnSpc>
            </a:pPr>
            <a:r>
              <a:rPr lang="zh-CN" altLang="en-US" sz="1800" b="1"/>
              <a:t>回调函数</a:t>
            </a:r>
            <a:r>
              <a:rPr lang="zh-CN" altLang="en-US" sz="1800"/>
              <a:t>：在某些库或框架中，可以将函数指针作为回调函数使用。例如，在事件驱动的程序中，函数指针可以指向特定的处理函数，当事件发生时调用。</a:t>
            </a:r>
            <a:endParaRPr lang="en-US" altLang="zh-CN" sz="1800"/>
          </a:p>
          <a:p>
            <a:pPr marL="933450" lvl="1" indent="-533400" eaLnBrk="1" hangingPunct="1">
              <a:lnSpc>
                <a:spcPct val="120000"/>
              </a:lnSpc>
            </a:pPr>
            <a:r>
              <a:rPr lang="zh-CN" altLang="en-US" sz="1800" b="1"/>
              <a:t>函数作为参数传递</a:t>
            </a:r>
            <a:r>
              <a:rPr lang="zh-CN" altLang="en-US" sz="1800"/>
              <a:t>：函数指针可以作为参数传递给其他函数，从而在不同的上下文中执行不同的功能。例如：</a:t>
            </a:r>
            <a:endParaRPr lang="en-US" altLang="zh-CN" sz="1800"/>
          </a:p>
          <a:p>
            <a:pPr marL="1333500" lvl="2" indent="-533400" eaLnBrk="1" hangingPunct="1">
              <a:lnSpc>
                <a:spcPct val="120000"/>
              </a:lnSpc>
            </a:pPr>
            <a:r>
              <a:rPr lang="en-US" altLang="zh-CN" sz="1400"/>
              <a:t>void execute(int (*func)(int, int)) {</a:t>
            </a:r>
          </a:p>
          <a:p>
            <a:pPr marL="1333500" lvl="2" indent="-533400" eaLnBrk="1" hangingPunct="1">
              <a:lnSpc>
                <a:spcPct val="120000"/>
              </a:lnSpc>
            </a:pPr>
            <a:r>
              <a:rPr lang="en-US" altLang="zh-CN" sz="1400"/>
              <a:t>    int res = func(10, 20);</a:t>
            </a:r>
          </a:p>
          <a:p>
            <a:pPr marL="1333500" lvl="2" indent="-533400" eaLnBrk="1" hangingPunct="1">
              <a:lnSpc>
                <a:spcPct val="120000"/>
              </a:lnSpc>
            </a:pPr>
            <a:r>
              <a:rPr lang="en-US" altLang="zh-CN" sz="1400"/>
              <a:t>    printf("Result: %d\n", res);</a:t>
            </a:r>
          </a:p>
          <a:p>
            <a:pPr marL="1333500" lvl="2" indent="-533400" eaLnBrk="1" hangingPunct="1">
              <a:lnSpc>
                <a:spcPct val="120000"/>
              </a:lnSpc>
            </a:pPr>
            <a:r>
              <a:rPr lang="en-US" altLang="zh-CN" sz="1400"/>
              <a:t>}</a:t>
            </a:r>
          </a:p>
          <a:p>
            <a:pPr marL="933450" lvl="1" indent="-533400" eaLnBrk="1" hangingPunct="1">
              <a:lnSpc>
                <a:spcPct val="120000"/>
              </a:lnSpc>
            </a:pPr>
            <a:r>
              <a:rPr lang="zh-CN" altLang="en-US" sz="1800" b="1"/>
              <a:t>动态调用函数</a:t>
            </a:r>
            <a:r>
              <a:rPr lang="zh-CN" altLang="en-US" sz="1800"/>
              <a:t>：函数指针允许根据运行时的情况动态调用不同的函数，增加程序的灵活性。</a:t>
            </a:r>
            <a:endParaRPr lang="en-US" altLang="zh-CN" sz="1800"/>
          </a:p>
        </p:txBody>
      </p:sp>
    </p:spTree>
    <p:extLst>
      <p:ext uri="{BB962C8B-B14F-4D97-AF65-F5344CB8AC3E}">
        <p14:creationId xmlns:p14="http://schemas.microsoft.com/office/powerpoint/2010/main" val="4252669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2659">
                                            <p:txEl>
                                              <p:pRg st="0" end="0"/>
                                            </p:txEl>
                                          </p:spTgt>
                                        </p:tgtEl>
                                        <p:attrNameLst>
                                          <p:attrName>style.visibility</p:attrName>
                                        </p:attrNameLst>
                                      </p:cBhvr>
                                      <p:to>
                                        <p:strVal val="visible"/>
                                      </p:to>
                                    </p:set>
                                    <p:anim calcmode="lin" valueType="num">
                                      <p:cBhvr additive="base">
                                        <p:cTn id="7" dur="500" fill="hold"/>
                                        <p:tgtEl>
                                          <p:spTgt spid="582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26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82659">
                                            <p:txEl>
                                              <p:pRg st="1" end="1"/>
                                            </p:txEl>
                                          </p:spTgt>
                                        </p:tgtEl>
                                        <p:attrNameLst>
                                          <p:attrName>style.visibility</p:attrName>
                                        </p:attrNameLst>
                                      </p:cBhvr>
                                      <p:to>
                                        <p:strVal val="visible"/>
                                      </p:to>
                                    </p:set>
                                    <p:anim calcmode="lin" valueType="num">
                                      <p:cBhvr additive="base">
                                        <p:cTn id="11" dur="500" fill="hold"/>
                                        <p:tgtEl>
                                          <p:spTgt spid="58265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8265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82659">
                                            <p:txEl>
                                              <p:pRg st="2" end="2"/>
                                            </p:txEl>
                                          </p:spTgt>
                                        </p:tgtEl>
                                        <p:attrNameLst>
                                          <p:attrName>style.visibility</p:attrName>
                                        </p:attrNameLst>
                                      </p:cBhvr>
                                      <p:to>
                                        <p:strVal val="visible"/>
                                      </p:to>
                                    </p:set>
                                    <p:anim calcmode="lin" valueType="num">
                                      <p:cBhvr additive="base">
                                        <p:cTn id="15" dur="500" fill="hold"/>
                                        <p:tgtEl>
                                          <p:spTgt spid="58265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8265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82659">
                                            <p:txEl>
                                              <p:pRg st="3" end="3"/>
                                            </p:txEl>
                                          </p:spTgt>
                                        </p:tgtEl>
                                        <p:attrNameLst>
                                          <p:attrName>style.visibility</p:attrName>
                                        </p:attrNameLst>
                                      </p:cBhvr>
                                      <p:to>
                                        <p:strVal val="visible"/>
                                      </p:to>
                                    </p:set>
                                    <p:anim calcmode="lin" valueType="num">
                                      <p:cBhvr additive="base">
                                        <p:cTn id="19" dur="500" fill="hold"/>
                                        <p:tgtEl>
                                          <p:spTgt spid="58265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265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82659">
                                            <p:txEl>
                                              <p:pRg st="4" end="4"/>
                                            </p:txEl>
                                          </p:spTgt>
                                        </p:tgtEl>
                                        <p:attrNameLst>
                                          <p:attrName>style.visibility</p:attrName>
                                        </p:attrNameLst>
                                      </p:cBhvr>
                                      <p:to>
                                        <p:strVal val="visible"/>
                                      </p:to>
                                    </p:set>
                                    <p:anim calcmode="lin" valueType="num">
                                      <p:cBhvr additive="base">
                                        <p:cTn id="23" dur="500" fill="hold"/>
                                        <p:tgtEl>
                                          <p:spTgt spid="58265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8265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82659">
                                            <p:txEl>
                                              <p:pRg st="5" end="5"/>
                                            </p:txEl>
                                          </p:spTgt>
                                        </p:tgtEl>
                                        <p:attrNameLst>
                                          <p:attrName>style.visibility</p:attrName>
                                        </p:attrNameLst>
                                      </p:cBhvr>
                                      <p:to>
                                        <p:strVal val="visible"/>
                                      </p:to>
                                    </p:set>
                                    <p:anim calcmode="lin" valueType="num">
                                      <p:cBhvr additive="base">
                                        <p:cTn id="27" dur="500" fill="hold"/>
                                        <p:tgtEl>
                                          <p:spTgt spid="58265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8265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9" presetID="2" presetClass="entr" presetSubtype="8" fill="hold" grpId="0" nodeType="withEffect">
                                  <p:stCondLst>
                                    <p:cond delay="0"/>
                                  </p:stCondLst>
                                  <p:childTnLst>
                                    <p:set>
                                      <p:cBhvr>
                                        <p:cTn id="30" dur="1" fill="hold">
                                          <p:stCondLst>
                                            <p:cond delay="0"/>
                                          </p:stCondLst>
                                        </p:cTn>
                                        <p:tgtEl>
                                          <p:spTgt spid="582659">
                                            <p:txEl>
                                              <p:pRg st="6" end="6"/>
                                            </p:txEl>
                                          </p:spTgt>
                                        </p:tgtEl>
                                        <p:attrNameLst>
                                          <p:attrName>style.visibility</p:attrName>
                                        </p:attrNameLst>
                                      </p:cBhvr>
                                      <p:to>
                                        <p:strVal val="visible"/>
                                      </p:to>
                                    </p:set>
                                    <p:anim calcmode="lin" valueType="num">
                                      <p:cBhvr additive="base">
                                        <p:cTn id="31" dur="500" fill="hold"/>
                                        <p:tgtEl>
                                          <p:spTgt spid="582659">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82659">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build="p"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209E22E-85F6-B9A0-9D99-CB3FBEF41B1C}"/>
            </a:ext>
          </a:extLst>
        </p:cNvPr>
        <p:cNvGrpSpPr/>
        <p:nvPr/>
      </p:nvGrpSpPr>
      <p:grpSpPr>
        <a:xfrm>
          <a:off x="0" y="0"/>
          <a:ext cx="0" cy="0"/>
          <a:chOff x="0" y="0"/>
          <a:chExt cx="0" cy="0"/>
        </a:xfrm>
      </p:grpSpPr>
      <p:sp>
        <p:nvSpPr>
          <p:cNvPr id="86018" name="Rectangle 2">
            <a:extLst>
              <a:ext uri="{FF2B5EF4-FFF2-40B4-BE49-F238E27FC236}">
                <a16:creationId xmlns:a16="http://schemas.microsoft.com/office/drawing/2014/main" id="{1C3F957A-CDF9-F03E-4306-DD186EE91483}"/>
              </a:ext>
            </a:extLst>
          </p:cNvPr>
          <p:cNvSpPr>
            <a:spLocks noGrp="1" noChangeArrowheads="1"/>
          </p:cNvSpPr>
          <p:nvPr>
            <p:ph type="title"/>
          </p:nvPr>
        </p:nvSpPr>
        <p:spPr/>
        <p:txBody>
          <a:bodyPr/>
          <a:lstStyle/>
          <a:p>
            <a:pPr eaLnBrk="1" hangingPunct="1"/>
            <a:r>
              <a:rPr lang="zh-CN" altLang="en-US"/>
              <a:t>函数指针*</a:t>
            </a:r>
            <a:endParaRPr lang="zh-CN" altLang="en-US" sz="2400">
              <a:solidFill>
                <a:schemeClr val="tx1"/>
              </a:solidFill>
            </a:endParaRPr>
          </a:p>
        </p:txBody>
      </p:sp>
      <p:sp>
        <p:nvSpPr>
          <p:cNvPr id="582659" name="Rectangle 3">
            <a:extLst>
              <a:ext uri="{FF2B5EF4-FFF2-40B4-BE49-F238E27FC236}">
                <a16:creationId xmlns:a16="http://schemas.microsoft.com/office/drawing/2014/main" id="{680B7973-876B-6795-8DB6-4354D59F7C81}"/>
              </a:ext>
            </a:extLst>
          </p:cNvPr>
          <p:cNvSpPr>
            <a:spLocks noGrp="1" noChangeArrowheads="1"/>
          </p:cNvSpPr>
          <p:nvPr>
            <p:ph type="body" idx="1"/>
          </p:nvPr>
        </p:nvSpPr>
        <p:spPr>
          <a:xfrm>
            <a:off x="1182688" y="2017713"/>
            <a:ext cx="7565776" cy="4114800"/>
          </a:xfrm>
        </p:spPr>
        <p:txBody>
          <a:bodyPr/>
          <a:lstStyle/>
          <a:p>
            <a:pPr marL="533400" indent="-533400" eaLnBrk="1" hangingPunct="1">
              <a:lnSpc>
                <a:spcPct val="150000"/>
              </a:lnSpc>
            </a:pPr>
            <a:r>
              <a:rPr lang="zh-CN" altLang="en-US" sz="2400" b="1"/>
              <a:t>注意事项</a:t>
            </a:r>
            <a:endParaRPr lang="en-US" altLang="zh-CN" sz="2400" b="1"/>
          </a:p>
          <a:p>
            <a:pPr marL="933450" lvl="1" indent="-533400" eaLnBrk="1" hangingPunct="1">
              <a:lnSpc>
                <a:spcPct val="150000"/>
              </a:lnSpc>
            </a:pPr>
            <a:r>
              <a:rPr lang="zh-CN" altLang="en-US" sz="1800"/>
              <a:t>函数指针的类型必须与它所指向的函数类型匹配（包括返回类型和参数列表）。</a:t>
            </a:r>
            <a:endParaRPr lang="en-US" altLang="zh-CN" sz="1800"/>
          </a:p>
          <a:p>
            <a:pPr marL="933450" lvl="1" indent="-533400" eaLnBrk="1" hangingPunct="1">
              <a:lnSpc>
                <a:spcPct val="150000"/>
              </a:lnSpc>
            </a:pPr>
            <a:r>
              <a:rPr lang="zh-CN" altLang="en-US" sz="1800"/>
              <a:t>使用函数指针时需要特别注意指针的初始化和调用，否则可能会导致崩溃或未定义行为。</a:t>
            </a:r>
            <a:endParaRPr lang="en-US" altLang="zh-CN" sz="1800"/>
          </a:p>
        </p:txBody>
      </p:sp>
    </p:spTree>
    <p:extLst>
      <p:ext uri="{BB962C8B-B14F-4D97-AF65-F5344CB8AC3E}">
        <p14:creationId xmlns:p14="http://schemas.microsoft.com/office/powerpoint/2010/main" val="1280252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2659">
                                            <p:txEl>
                                              <p:pRg st="0" end="0"/>
                                            </p:txEl>
                                          </p:spTgt>
                                        </p:tgtEl>
                                        <p:attrNameLst>
                                          <p:attrName>style.visibility</p:attrName>
                                        </p:attrNameLst>
                                      </p:cBhvr>
                                      <p:to>
                                        <p:strVal val="visible"/>
                                      </p:to>
                                    </p:set>
                                    <p:anim calcmode="lin" valueType="num">
                                      <p:cBhvr additive="base">
                                        <p:cTn id="7" dur="500" fill="hold"/>
                                        <p:tgtEl>
                                          <p:spTgt spid="582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26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82659">
                                            <p:txEl>
                                              <p:pRg st="1" end="1"/>
                                            </p:txEl>
                                          </p:spTgt>
                                        </p:tgtEl>
                                        <p:attrNameLst>
                                          <p:attrName>style.visibility</p:attrName>
                                        </p:attrNameLst>
                                      </p:cBhvr>
                                      <p:to>
                                        <p:strVal val="visible"/>
                                      </p:to>
                                    </p:set>
                                    <p:anim calcmode="lin" valueType="num">
                                      <p:cBhvr additive="base">
                                        <p:cTn id="11" dur="500" fill="hold"/>
                                        <p:tgtEl>
                                          <p:spTgt spid="58265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8265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82659">
                                            <p:txEl>
                                              <p:pRg st="2" end="2"/>
                                            </p:txEl>
                                          </p:spTgt>
                                        </p:tgtEl>
                                        <p:attrNameLst>
                                          <p:attrName>style.visibility</p:attrName>
                                        </p:attrNameLst>
                                      </p:cBhvr>
                                      <p:to>
                                        <p:strVal val="visible"/>
                                      </p:to>
                                    </p:set>
                                    <p:anim calcmode="lin" valueType="num">
                                      <p:cBhvr additive="base">
                                        <p:cTn id="15" dur="500" fill="hold"/>
                                        <p:tgtEl>
                                          <p:spTgt spid="58265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8265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build="p"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5C31D5B-C78B-D720-A188-6DB320861ED8}"/>
            </a:ext>
          </a:extLst>
        </p:cNvPr>
        <p:cNvGrpSpPr/>
        <p:nvPr/>
      </p:nvGrpSpPr>
      <p:grpSpPr>
        <a:xfrm>
          <a:off x="0" y="0"/>
          <a:ext cx="0" cy="0"/>
          <a:chOff x="0" y="0"/>
          <a:chExt cx="0" cy="0"/>
        </a:xfrm>
      </p:grpSpPr>
      <p:sp>
        <p:nvSpPr>
          <p:cNvPr id="86018" name="Rectangle 2">
            <a:extLst>
              <a:ext uri="{FF2B5EF4-FFF2-40B4-BE49-F238E27FC236}">
                <a16:creationId xmlns:a16="http://schemas.microsoft.com/office/drawing/2014/main" id="{73E20715-13B3-62AD-556E-A0750DD287FD}"/>
              </a:ext>
            </a:extLst>
          </p:cNvPr>
          <p:cNvSpPr>
            <a:spLocks noGrp="1" noChangeArrowheads="1"/>
          </p:cNvSpPr>
          <p:nvPr>
            <p:ph type="title"/>
          </p:nvPr>
        </p:nvSpPr>
        <p:spPr/>
        <p:txBody>
          <a:bodyPr/>
          <a:lstStyle/>
          <a:p>
            <a:pPr eaLnBrk="1" hangingPunct="1"/>
            <a:r>
              <a:rPr lang="zh-CN" altLang="en-US"/>
              <a:t>小结</a:t>
            </a:r>
            <a:endParaRPr lang="zh-CN" altLang="en-US" sz="2400">
              <a:solidFill>
                <a:schemeClr val="tx1"/>
              </a:solidFill>
            </a:endParaRPr>
          </a:p>
        </p:txBody>
      </p:sp>
      <p:sp>
        <p:nvSpPr>
          <p:cNvPr id="582659" name="Rectangle 3">
            <a:extLst>
              <a:ext uri="{FF2B5EF4-FFF2-40B4-BE49-F238E27FC236}">
                <a16:creationId xmlns:a16="http://schemas.microsoft.com/office/drawing/2014/main" id="{AF7DCAB2-85E7-9D3E-FE97-4DE4FBB9281D}"/>
              </a:ext>
            </a:extLst>
          </p:cNvPr>
          <p:cNvSpPr>
            <a:spLocks noGrp="1" noChangeArrowheads="1"/>
          </p:cNvSpPr>
          <p:nvPr>
            <p:ph type="body" idx="1"/>
          </p:nvPr>
        </p:nvSpPr>
        <p:spPr>
          <a:xfrm>
            <a:off x="1182688" y="2017713"/>
            <a:ext cx="7565776" cy="4114800"/>
          </a:xfrm>
        </p:spPr>
        <p:txBody>
          <a:bodyPr/>
          <a:lstStyle/>
          <a:p>
            <a:pPr marL="533400" indent="-533400" eaLnBrk="1" hangingPunct="1">
              <a:lnSpc>
                <a:spcPct val="150000"/>
              </a:lnSpc>
            </a:pPr>
            <a:r>
              <a:rPr lang="en-US" altLang="zh-CN" sz="2400" b="1"/>
              <a:t>Advantages of Pointers</a:t>
            </a:r>
          </a:p>
          <a:p>
            <a:pPr lvl="1"/>
            <a:r>
              <a:rPr lang="en-US" altLang="zh-CN" sz="2000"/>
              <a:t>Pointers are used for dynamic memory allocation and deallocation.</a:t>
            </a:r>
          </a:p>
          <a:p>
            <a:pPr lvl="1"/>
            <a:r>
              <a:rPr lang="en-US" altLang="zh-CN" sz="2000"/>
              <a:t>An Array or a structure can be accessed efficiently with pointers</a:t>
            </a:r>
          </a:p>
          <a:p>
            <a:pPr lvl="1"/>
            <a:r>
              <a:rPr lang="en-US" altLang="zh-CN" sz="2000"/>
              <a:t>Pointers are useful for accessing memory locations.</a:t>
            </a:r>
          </a:p>
          <a:p>
            <a:pPr lvl="1"/>
            <a:r>
              <a:rPr lang="en-US" altLang="zh-CN" sz="2000"/>
              <a:t>Pointers are used to form complex data structures such as linked lists, graphs, trees, etc.</a:t>
            </a:r>
          </a:p>
          <a:p>
            <a:pPr lvl="1"/>
            <a:r>
              <a:rPr lang="en-US" altLang="zh-CN" sz="2000"/>
              <a:t>Pointers reduce the length of the program and its execution time as well.</a:t>
            </a:r>
          </a:p>
          <a:p>
            <a:pPr marL="933450" lvl="1" indent="-533400" eaLnBrk="1" hangingPunct="1">
              <a:lnSpc>
                <a:spcPct val="150000"/>
              </a:lnSpc>
            </a:pPr>
            <a:endParaRPr lang="en-US" altLang="zh-CN" sz="1800"/>
          </a:p>
        </p:txBody>
      </p:sp>
      <p:sp>
        <p:nvSpPr>
          <p:cNvPr id="3" name="文本框 2">
            <a:extLst>
              <a:ext uri="{FF2B5EF4-FFF2-40B4-BE49-F238E27FC236}">
                <a16:creationId xmlns:a16="http://schemas.microsoft.com/office/drawing/2014/main" id="{3CD72192-3E3A-02BF-514E-DCA3243EE55C}"/>
              </a:ext>
            </a:extLst>
          </p:cNvPr>
          <p:cNvSpPr txBox="1"/>
          <p:nvPr/>
        </p:nvSpPr>
        <p:spPr>
          <a:xfrm>
            <a:off x="3275856" y="6528271"/>
            <a:ext cx="4572000" cy="230832"/>
          </a:xfrm>
          <a:prstGeom prst="rect">
            <a:avLst/>
          </a:prstGeom>
          <a:noFill/>
        </p:spPr>
        <p:txBody>
          <a:bodyPr wrap="square">
            <a:spAutoFit/>
          </a:bodyPr>
          <a:lstStyle/>
          <a:p>
            <a:r>
              <a:rPr lang="zh-CN" altLang="en-US" sz="900" b="0" i="0">
                <a:solidFill>
                  <a:schemeClr val="bg1">
                    <a:lumMod val="50000"/>
                  </a:schemeClr>
                </a:solidFill>
              </a:rPr>
              <a:t>https://www.geeksforgeeks.org/c-pointers/?ref=shm</a:t>
            </a:r>
          </a:p>
        </p:txBody>
      </p:sp>
    </p:spTree>
    <p:extLst>
      <p:ext uri="{BB962C8B-B14F-4D97-AF65-F5344CB8AC3E}">
        <p14:creationId xmlns:p14="http://schemas.microsoft.com/office/powerpoint/2010/main" val="3300589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2659">
                                            <p:txEl>
                                              <p:pRg st="0" end="0"/>
                                            </p:txEl>
                                          </p:spTgt>
                                        </p:tgtEl>
                                        <p:attrNameLst>
                                          <p:attrName>style.visibility</p:attrName>
                                        </p:attrNameLst>
                                      </p:cBhvr>
                                      <p:to>
                                        <p:strVal val="visible"/>
                                      </p:to>
                                    </p:set>
                                    <p:anim calcmode="lin" valueType="num">
                                      <p:cBhvr additive="base">
                                        <p:cTn id="7" dur="500" fill="hold"/>
                                        <p:tgtEl>
                                          <p:spTgt spid="582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26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82659">
                                            <p:txEl>
                                              <p:pRg st="1" end="1"/>
                                            </p:txEl>
                                          </p:spTgt>
                                        </p:tgtEl>
                                        <p:attrNameLst>
                                          <p:attrName>style.visibility</p:attrName>
                                        </p:attrNameLst>
                                      </p:cBhvr>
                                      <p:to>
                                        <p:strVal val="visible"/>
                                      </p:to>
                                    </p:set>
                                    <p:anim calcmode="lin" valueType="num">
                                      <p:cBhvr additive="base">
                                        <p:cTn id="11" dur="500" fill="hold"/>
                                        <p:tgtEl>
                                          <p:spTgt spid="58265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8265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82659">
                                            <p:txEl>
                                              <p:pRg st="2" end="2"/>
                                            </p:txEl>
                                          </p:spTgt>
                                        </p:tgtEl>
                                        <p:attrNameLst>
                                          <p:attrName>style.visibility</p:attrName>
                                        </p:attrNameLst>
                                      </p:cBhvr>
                                      <p:to>
                                        <p:strVal val="visible"/>
                                      </p:to>
                                    </p:set>
                                    <p:anim calcmode="lin" valueType="num">
                                      <p:cBhvr additive="base">
                                        <p:cTn id="15" dur="500" fill="hold"/>
                                        <p:tgtEl>
                                          <p:spTgt spid="58265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8265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82659">
                                            <p:txEl>
                                              <p:pRg st="3" end="3"/>
                                            </p:txEl>
                                          </p:spTgt>
                                        </p:tgtEl>
                                        <p:attrNameLst>
                                          <p:attrName>style.visibility</p:attrName>
                                        </p:attrNameLst>
                                      </p:cBhvr>
                                      <p:to>
                                        <p:strVal val="visible"/>
                                      </p:to>
                                    </p:set>
                                    <p:anim calcmode="lin" valueType="num">
                                      <p:cBhvr additive="base">
                                        <p:cTn id="19" dur="500" fill="hold"/>
                                        <p:tgtEl>
                                          <p:spTgt spid="58265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265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82659">
                                            <p:txEl>
                                              <p:pRg st="4" end="4"/>
                                            </p:txEl>
                                          </p:spTgt>
                                        </p:tgtEl>
                                        <p:attrNameLst>
                                          <p:attrName>style.visibility</p:attrName>
                                        </p:attrNameLst>
                                      </p:cBhvr>
                                      <p:to>
                                        <p:strVal val="visible"/>
                                      </p:to>
                                    </p:set>
                                    <p:anim calcmode="lin" valueType="num">
                                      <p:cBhvr additive="base">
                                        <p:cTn id="23" dur="500" fill="hold"/>
                                        <p:tgtEl>
                                          <p:spTgt spid="58265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8265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82659">
                                            <p:txEl>
                                              <p:pRg st="5" end="5"/>
                                            </p:txEl>
                                          </p:spTgt>
                                        </p:tgtEl>
                                        <p:attrNameLst>
                                          <p:attrName>style.visibility</p:attrName>
                                        </p:attrNameLst>
                                      </p:cBhvr>
                                      <p:to>
                                        <p:strVal val="visible"/>
                                      </p:to>
                                    </p:set>
                                    <p:anim calcmode="lin" valueType="num">
                                      <p:cBhvr additive="base">
                                        <p:cTn id="27" dur="500" fill="hold"/>
                                        <p:tgtEl>
                                          <p:spTgt spid="58265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8265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build="p"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685F076-6DA5-2699-F957-289226294A46}"/>
            </a:ext>
          </a:extLst>
        </p:cNvPr>
        <p:cNvGrpSpPr/>
        <p:nvPr/>
      </p:nvGrpSpPr>
      <p:grpSpPr>
        <a:xfrm>
          <a:off x="0" y="0"/>
          <a:ext cx="0" cy="0"/>
          <a:chOff x="0" y="0"/>
          <a:chExt cx="0" cy="0"/>
        </a:xfrm>
      </p:grpSpPr>
      <p:sp>
        <p:nvSpPr>
          <p:cNvPr id="86018" name="Rectangle 2">
            <a:extLst>
              <a:ext uri="{FF2B5EF4-FFF2-40B4-BE49-F238E27FC236}">
                <a16:creationId xmlns:a16="http://schemas.microsoft.com/office/drawing/2014/main" id="{E0A03249-5580-2748-441E-BC1AA66FA429}"/>
              </a:ext>
            </a:extLst>
          </p:cNvPr>
          <p:cNvSpPr>
            <a:spLocks noGrp="1" noChangeArrowheads="1"/>
          </p:cNvSpPr>
          <p:nvPr>
            <p:ph type="title"/>
          </p:nvPr>
        </p:nvSpPr>
        <p:spPr/>
        <p:txBody>
          <a:bodyPr/>
          <a:lstStyle/>
          <a:p>
            <a:pPr eaLnBrk="1" hangingPunct="1"/>
            <a:r>
              <a:rPr lang="zh-CN" altLang="en-US"/>
              <a:t>小结</a:t>
            </a:r>
            <a:endParaRPr lang="zh-CN" altLang="en-US" sz="2400">
              <a:solidFill>
                <a:schemeClr val="tx1"/>
              </a:solidFill>
            </a:endParaRPr>
          </a:p>
        </p:txBody>
      </p:sp>
      <p:sp>
        <p:nvSpPr>
          <p:cNvPr id="582659" name="Rectangle 3">
            <a:extLst>
              <a:ext uri="{FF2B5EF4-FFF2-40B4-BE49-F238E27FC236}">
                <a16:creationId xmlns:a16="http://schemas.microsoft.com/office/drawing/2014/main" id="{7A237382-570E-C68C-6D6B-38A853CCA9FE}"/>
              </a:ext>
            </a:extLst>
          </p:cNvPr>
          <p:cNvSpPr>
            <a:spLocks noGrp="1" noChangeArrowheads="1"/>
          </p:cNvSpPr>
          <p:nvPr>
            <p:ph type="body" idx="1"/>
          </p:nvPr>
        </p:nvSpPr>
        <p:spPr>
          <a:xfrm>
            <a:off x="1182688" y="2017713"/>
            <a:ext cx="7565776" cy="4114800"/>
          </a:xfrm>
        </p:spPr>
        <p:txBody>
          <a:bodyPr/>
          <a:lstStyle/>
          <a:p>
            <a:pPr marL="533400" indent="-533400" eaLnBrk="1" hangingPunct="1">
              <a:lnSpc>
                <a:spcPct val="150000"/>
              </a:lnSpc>
            </a:pPr>
            <a:r>
              <a:rPr lang="en-US" altLang="zh-CN" sz="2400" b="1"/>
              <a:t>Disadvantages of Pointers</a:t>
            </a:r>
          </a:p>
          <a:p>
            <a:pPr lvl="1"/>
            <a:r>
              <a:rPr lang="en-US" altLang="zh-CN" sz="2000"/>
              <a:t>Memory corruption can occur if an incorrect value is provided to pointers.</a:t>
            </a:r>
          </a:p>
          <a:p>
            <a:pPr lvl="1"/>
            <a:r>
              <a:rPr lang="en-US" altLang="zh-CN" sz="2000"/>
              <a:t>Pointers are a little bit complex to understand.</a:t>
            </a:r>
          </a:p>
          <a:p>
            <a:pPr lvl="1"/>
            <a:r>
              <a:rPr lang="en-US" altLang="zh-CN" sz="2000"/>
              <a:t>Pointers are majorly responsible for memory leaks in C.</a:t>
            </a:r>
          </a:p>
          <a:p>
            <a:pPr lvl="1"/>
            <a:r>
              <a:rPr lang="en-US" altLang="zh-CN" sz="2000"/>
              <a:t>Pointers are comparatively slower than variables in C.</a:t>
            </a:r>
          </a:p>
          <a:p>
            <a:pPr lvl="1"/>
            <a:r>
              <a:rPr lang="en-US" altLang="zh-CN" sz="2000"/>
              <a:t>Uninitialized pointers might cause a segmentation fault.</a:t>
            </a:r>
          </a:p>
        </p:txBody>
      </p:sp>
      <p:sp>
        <p:nvSpPr>
          <p:cNvPr id="3" name="文本框 2">
            <a:extLst>
              <a:ext uri="{FF2B5EF4-FFF2-40B4-BE49-F238E27FC236}">
                <a16:creationId xmlns:a16="http://schemas.microsoft.com/office/drawing/2014/main" id="{97755FA8-3A6E-4EE6-1AB0-00E838B7C56A}"/>
              </a:ext>
            </a:extLst>
          </p:cNvPr>
          <p:cNvSpPr txBox="1"/>
          <p:nvPr/>
        </p:nvSpPr>
        <p:spPr>
          <a:xfrm>
            <a:off x="3275856" y="6528271"/>
            <a:ext cx="4572000" cy="230832"/>
          </a:xfrm>
          <a:prstGeom prst="rect">
            <a:avLst/>
          </a:prstGeom>
          <a:noFill/>
        </p:spPr>
        <p:txBody>
          <a:bodyPr wrap="square">
            <a:spAutoFit/>
          </a:bodyPr>
          <a:lstStyle/>
          <a:p>
            <a:r>
              <a:rPr lang="zh-CN" altLang="en-US" sz="900" b="0" i="0">
                <a:solidFill>
                  <a:schemeClr val="bg1">
                    <a:lumMod val="50000"/>
                  </a:schemeClr>
                </a:solidFill>
              </a:rPr>
              <a:t>https://www.geeksforgeeks.org/c-pointers/?ref=shm</a:t>
            </a:r>
          </a:p>
        </p:txBody>
      </p:sp>
    </p:spTree>
    <p:extLst>
      <p:ext uri="{BB962C8B-B14F-4D97-AF65-F5344CB8AC3E}">
        <p14:creationId xmlns:p14="http://schemas.microsoft.com/office/powerpoint/2010/main" val="511528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2659">
                                            <p:txEl>
                                              <p:pRg st="0" end="0"/>
                                            </p:txEl>
                                          </p:spTgt>
                                        </p:tgtEl>
                                        <p:attrNameLst>
                                          <p:attrName>style.visibility</p:attrName>
                                        </p:attrNameLst>
                                      </p:cBhvr>
                                      <p:to>
                                        <p:strVal val="visible"/>
                                      </p:to>
                                    </p:set>
                                    <p:anim calcmode="lin" valueType="num">
                                      <p:cBhvr additive="base">
                                        <p:cTn id="7" dur="500" fill="hold"/>
                                        <p:tgtEl>
                                          <p:spTgt spid="582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26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582659">
                                            <p:txEl>
                                              <p:pRg st="1" end="1"/>
                                            </p:txEl>
                                          </p:spTgt>
                                        </p:tgtEl>
                                        <p:attrNameLst>
                                          <p:attrName>style.visibility</p:attrName>
                                        </p:attrNameLst>
                                      </p:cBhvr>
                                      <p:to>
                                        <p:strVal val="visible"/>
                                      </p:to>
                                    </p:set>
                                    <p:anim calcmode="lin" valueType="num">
                                      <p:cBhvr additive="base">
                                        <p:cTn id="11" dur="500" fill="hold"/>
                                        <p:tgtEl>
                                          <p:spTgt spid="58265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8265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582659">
                                            <p:txEl>
                                              <p:pRg st="2" end="2"/>
                                            </p:txEl>
                                          </p:spTgt>
                                        </p:tgtEl>
                                        <p:attrNameLst>
                                          <p:attrName>style.visibility</p:attrName>
                                        </p:attrNameLst>
                                      </p:cBhvr>
                                      <p:to>
                                        <p:strVal val="visible"/>
                                      </p:to>
                                    </p:set>
                                    <p:anim calcmode="lin" valueType="num">
                                      <p:cBhvr additive="base">
                                        <p:cTn id="15" dur="500" fill="hold"/>
                                        <p:tgtEl>
                                          <p:spTgt spid="58265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8265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582659">
                                            <p:txEl>
                                              <p:pRg st="3" end="3"/>
                                            </p:txEl>
                                          </p:spTgt>
                                        </p:tgtEl>
                                        <p:attrNameLst>
                                          <p:attrName>style.visibility</p:attrName>
                                        </p:attrNameLst>
                                      </p:cBhvr>
                                      <p:to>
                                        <p:strVal val="visible"/>
                                      </p:to>
                                    </p:set>
                                    <p:anim calcmode="lin" valueType="num">
                                      <p:cBhvr additive="base">
                                        <p:cTn id="19" dur="500" fill="hold"/>
                                        <p:tgtEl>
                                          <p:spTgt spid="58265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265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8" fill="hold" grpId="0" nodeType="withEffect">
                                  <p:stCondLst>
                                    <p:cond delay="0"/>
                                  </p:stCondLst>
                                  <p:childTnLst>
                                    <p:set>
                                      <p:cBhvr>
                                        <p:cTn id="22" dur="1" fill="hold">
                                          <p:stCondLst>
                                            <p:cond delay="0"/>
                                          </p:stCondLst>
                                        </p:cTn>
                                        <p:tgtEl>
                                          <p:spTgt spid="582659">
                                            <p:txEl>
                                              <p:pRg st="4" end="4"/>
                                            </p:txEl>
                                          </p:spTgt>
                                        </p:tgtEl>
                                        <p:attrNameLst>
                                          <p:attrName>style.visibility</p:attrName>
                                        </p:attrNameLst>
                                      </p:cBhvr>
                                      <p:to>
                                        <p:strVal val="visible"/>
                                      </p:to>
                                    </p:set>
                                    <p:anim calcmode="lin" valueType="num">
                                      <p:cBhvr additive="base">
                                        <p:cTn id="23" dur="500" fill="hold"/>
                                        <p:tgtEl>
                                          <p:spTgt spid="58265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8265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8" fill="hold" grpId="0" nodeType="withEffect">
                                  <p:stCondLst>
                                    <p:cond delay="0"/>
                                  </p:stCondLst>
                                  <p:childTnLst>
                                    <p:set>
                                      <p:cBhvr>
                                        <p:cTn id="26" dur="1" fill="hold">
                                          <p:stCondLst>
                                            <p:cond delay="0"/>
                                          </p:stCondLst>
                                        </p:cTn>
                                        <p:tgtEl>
                                          <p:spTgt spid="582659">
                                            <p:txEl>
                                              <p:pRg st="5" end="5"/>
                                            </p:txEl>
                                          </p:spTgt>
                                        </p:tgtEl>
                                        <p:attrNameLst>
                                          <p:attrName>style.visibility</p:attrName>
                                        </p:attrNameLst>
                                      </p:cBhvr>
                                      <p:to>
                                        <p:strVal val="visible"/>
                                      </p:to>
                                    </p:set>
                                    <p:anim calcmode="lin" valueType="num">
                                      <p:cBhvr additive="base">
                                        <p:cTn id="27" dur="500" fill="hold"/>
                                        <p:tgtEl>
                                          <p:spTgt spid="58265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8265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AB3F38AC-3FCC-682F-F190-D11B53A11025}"/>
              </a:ext>
            </a:extLst>
          </p:cNvPr>
          <p:cNvSpPr>
            <a:spLocks noGrp="1" noChangeArrowheads="1"/>
          </p:cNvSpPr>
          <p:nvPr>
            <p:ph type="ctrTitle"/>
          </p:nvPr>
        </p:nvSpPr>
        <p:spPr/>
        <p:txBody>
          <a:bodyPr/>
          <a:lstStyle/>
          <a:p>
            <a:pPr eaLnBrk="1" hangingPunct="1"/>
            <a:r>
              <a:rPr lang="en-US" altLang="zh-CN" sz="6000">
                <a:latin typeface="Comic Sans MS" panose="030F0902030302020204" pitchFamily="66" charset="0"/>
              </a:rPr>
              <a:t>That’s the end</a:t>
            </a:r>
          </a:p>
        </p:txBody>
      </p:sp>
      <p:sp>
        <p:nvSpPr>
          <p:cNvPr id="567299" name="Rectangle 3">
            <a:extLst>
              <a:ext uri="{FF2B5EF4-FFF2-40B4-BE49-F238E27FC236}">
                <a16:creationId xmlns:a16="http://schemas.microsoft.com/office/drawing/2014/main" id="{5ECEA320-0DA5-D63B-3916-A0BDEE1B8151}"/>
              </a:ext>
            </a:extLst>
          </p:cNvPr>
          <p:cNvSpPr>
            <a:spLocks noGrp="1" noChangeArrowheads="1"/>
          </p:cNvSpPr>
          <p:nvPr>
            <p:ph type="subTitle" idx="1"/>
          </p:nvPr>
        </p:nvSpPr>
        <p:spPr/>
        <p:txBody>
          <a:bodyPr/>
          <a:lstStyle/>
          <a:p>
            <a:pPr eaLnBrk="1" hangingPunct="1"/>
            <a:r>
              <a:rPr lang="en-US" altLang="zh-CN" sz="4400">
                <a:latin typeface="Comic Sans MS" panose="030F0902030302020204" pitchFamily="66" charset="0"/>
              </a:rPr>
              <a:t>Thanks!</a:t>
            </a:r>
          </a:p>
        </p:txBody>
      </p:sp>
      <p:pic>
        <p:nvPicPr>
          <p:cNvPr id="2" name="Picture 2" descr="BS00559_">
            <a:hlinkClick r:id="rId3" action="ppaction://hlinkpres?slideindex=1&amp;slidetitle=PowerPoint 演示文稿"/>
            <a:extLst>
              <a:ext uri="{FF2B5EF4-FFF2-40B4-BE49-F238E27FC236}">
                <a16:creationId xmlns:a16="http://schemas.microsoft.com/office/drawing/2014/main" id="{AB0DF580-5457-6134-A7B2-4824B9C374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8667" y="404664"/>
            <a:ext cx="25146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7299">
                                            <p:txEl>
                                              <p:pRg st="0" end="0"/>
                                            </p:txEl>
                                          </p:spTgt>
                                        </p:tgtEl>
                                        <p:attrNameLst>
                                          <p:attrName>style.visibility</p:attrName>
                                        </p:attrNameLst>
                                      </p:cBhvr>
                                      <p:to>
                                        <p:strVal val="visible"/>
                                      </p:to>
                                    </p:set>
                                    <p:anim calcmode="lin" valueType="num">
                                      <p:cBhvr additive="base">
                                        <p:cTn id="7" dur="500" fill="hold"/>
                                        <p:tgtEl>
                                          <p:spTgt spid="5672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729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299" grpId="0" build="p" autoUpdateAnimBg="0"/>
    </p:bld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Unicode MS"/>
        <a:ea typeface="华文隶书"/>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u"/>
          <a:tabLst/>
          <a:defRPr kumimoji="0" lang="zh-CN" altLang="en-US" sz="3200" b="1" i="1" u="none" strike="noStrike" cap="none" normalizeH="0" baseline="0" smtClean="0">
            <a:ln>
              <a:noFill/>
            </a:ln>
            <a:solidFill>
              <a:schemeClr val="tx1"/>
            </a:solidFill>
            <a:effectLst/>
            <a:latin typeface="Arial Unicode MS" panose="020B0604020202020204" pitchFamily="34" charset="-128"/>
            <a:ea typeface="楷体_GB2312"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u"/>
          <a:tabLst/>
          <a:defRPr kumimoji="0" lang="zh-CN" altLang="en-US" sz="3200" b="1" i="1" u="none" strike="noStrike" cap="none" normalizeH="0" baseline="0" smtClean="0">
            <a:ln>
              <a:noFill/>
            </a:ln>
            <a:solidFill>
              <a:schemeClr val="tx1"/>
            </a:solidFill>
            <a:effectLst/>
            <a:latin typeface="Arial Unicode MS" panose="020B0604020202020204" pitchFamily="34" charset="-128"/>
            <a:ea typeface="楷体_GB2312"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13613</TotalTime>
  <Words>12702</Words>
  <Application>Microsoft Macintosh PowerPoint</Application>
  <PresentationFormat>全屏显示(4:3)</PresentationFormat>
  <Paragraphs>1030</Paragraphs>
  <Slides>93</Slides>
  <Notes>32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93</vt:i4>
      </vt:variant>
    </vt:vector>
  </HeadingPairs>
  <TitlesOfParts>
    <vt:vector size="107" baseType="lpstr">
      <vt:lpstr>SimSun</vt:lpstr>
      <vt:lpstr>Arial Unicode MS</vt:lpstr>
      <vt:lpstr>PingFang SC</vt:lpstr>
      <vt:lpstr>Source Sans 3</vt:lpstr>
      <vt:lpstr>Arial</vt:lpstr>
      <vt:lpstr>Arial Narrow</vt:lpstr>
      <vt:lpstr>Comic Sans MS</vt:lpstr>
      <vt:lpstr>Courier</vt:lpstr>
      <vt:lpstr>Helvetica Neue</vt:lpstr>
      <vt:lpstr>Nunito</vt:lpstr>
      <vt:lpstr>Tahoma</vt:lpstr>
      <vt:lpstr>Times New Roman</vt:lpstr>
      <vt:lpstr>Wingdings</vt:lpstr>
      <vt:lpstr>Blends</vt:lpstr>
      <vt:lpstr>C语言程序设计</vt:lpstr>
      <vt:lpstr>第6章 指针</vt:lpstr>
      <vt:lpstr>本次课程</vt:lpstr>
      <vt:lpstr>指针</vt:lpstr>
      <vt:lpstr>指针——预备知识</vt:lpstr>
      <vt:lpstr>指针变量</vt:lpstr>
      <vt:lpstr>指针变量</vt:lpstr>
      <vt:lpstr>指针赋值/初始化</vt:lpstr>
      <vt:lpstr>指针图示</vt:lpstr>
      <vt:lpstr>引用指针变量所指的变量</vt:lpstr>
      <vt:lpstr>引用指针变量所指的变量</vt:lpstr>
      <vt:lpstr>空指针</vt:lpstr>
      <vt:lpstr>指针赋值例</vt:lpstr>
      <vt:lpstr>指针(续)</vt:lpstr>
      <vt:lpstr>用指针定义数组（动态数组）</vt:lpstr>
      <vt:lpstr>Memory Layout of C Programs</vt:lpstr>
      <vt:lpstr>Memory Layout of C Programs</vt:lpstr>
      <vt:lpstr>Memory Layout of C Programs</vt:lpstr>
      <vt:lpstr>Memory Layout of C Programs</vt:lpstr>
      <vt:lpstr>Memory Layout of C Programs</vt:lpstr>
      <vt:lpstr>Memory Layout of C Programs</vt:lpstr>
      <vt:lpstr>Simple arrays</vt:lpstr>
      <vt:lpstr>Example 1</vt:lpstr>
      <vt:lpstr>Example 2</vt:lpstr>
      <vt:lpstr>Table</vt:lpstr>
      <vt:lpstr>Dynamic declaration</vt:lpstr>
      <vt:lpstr>Dynamic declaration</vt:lpstr>
      <vt:lpstr>Question</vt:lpstr>
      <vt:lpstr>Answer</vt:lpstr>
      <vt:lpstr>静态方法和动态方法比较</vt:lpstr>
      <vt:lpstr>指针和数组</vt:lpstr>
      <vt:lpstr>指向数组元素的指针</vt:lpstr>
      <vt:lpstr>指向数组元素的指针运算</vt:lpstr>
      <vt:lpstr>指向数组元素的指针运算(续)</vt:lpstr>
      <vt:lpstr>指向数组元素的指针运算(续)</vt:lpstr>
      <vt:lpstr>指向数组元素的指针与数组元素位置之间的关系 (P.140)</vt:lpstr>
      <vt:lpstr>引用数组元素的三种形式</vt:lpstr>
      <vt:lpstr>例19  利用指针遍历数组</vt:lpstr>
      <vt:lpstr>例20* 引用数组元素的不同方法</vt:lpstr>
      <vt:lpstr>指针和字符串</vt:lpstr>
      <vt:lpstr>指向字符串的指针</vt:lpstr>
      <vt:lpstr>指向字符串的指针(续)</vt:lpstr>
      <vt:lpstr>例21</vt:lpstr>
      <vt:lpstr>例22</vt:lpstr>
      <vt:lpstr>指针和函数传参</vt:lpstr>
      <vt:lpstr>例1  基本类型形参</vt:lpstr>
      <vt:lpstr>如何使函数能修改变量的值？</vt:lpstr>
      <vt:lpstr>例2  使用指针类型形参</vt:lpstr>
      <vt:lpstr>例3  使用指针类型形参</vt:lpstr>
      <vt:lpstr>一维数组类型形参</vt:lpstr>
      <vt:lpstr>一维数组类型形参(续)</vt:lpstr>
      <vt:lpstr>一维数组类型形参(续)</vt:lpstr>
      <vt:lpstr>一维数组类型形参 ——改变实参所指数组元素的值</vt:lpstr>
      <vt:lpstr>一维数组类型形参（例子）</vt:lpstr>
      <vt:lpstr>一维数组类型形参（例子）(续)</vt:lpstr>
      <vt:lpstr>一维数组类型形参 ——把数组形参看作指针形参</vt:lpstr>
      <vt:lpstr>一维数组类型形参 ——把数组形参看作指针形参（续）</vt:lpstr>
      <vt:lpstr>一维数组类型形参 ——把数组形参看作指针形参（续）</vt:lpstr>
      <vt:lpstr>一维数组类型形参 ——字符指针形参</vt:lpstr>
      <vt:lpstr>一维数组类型形参 例5.6  字符串拷贝函数 strcpy()</vt:lpstr>
      <vt:lpstr>一维数组类型形参 例5.7 字符串比较函数 strcmp()</vt:lpstr>
      <vt:lpstr>一维数组类型形参 例5.8 输入字符行函数(*)</vt:lpstr>
      <vt:lpstr>多维数组作为形参</vt:lpstr>
      <vt:lpstr>多维数组作为形参 ——二维数组和指针</vt:lpstr>
      <vt:lpstr>多维数组作为形参 ——二维数组和指针</vt:lpstr>
      <vt:lpstr>多维数组作为形参 ——二维数组和指针</vt:lpstr>
      <vt:lpstr>多维数组作为形参 ——二维数组元素的多种表示方法</vt:lpstr>
      <vt:lpstr>多维数组作为形参 ——指向数组的指针</vt:lpstr>
      <vt:lpstr>多维数组作为形参 ——指向数组的指针(续)</vt:lpstr>
      <vt:lpstr>例23</vt:lpstr>
      <vt:lpstr>例5.5</vt:lpstr>
      <vt:lpstr>例5.5(续)</vt:lpstr>
      <vt:lpstr>例5.5(续)(*)</vt:lpstr>
      <vt:lpstr>数组作为函数参数——注意</vt:lpstr>
      <vt:lpstr>指针数组</vt:lpstr>
      <vt:lpstr>指针数组</vt:lpstr>
      <vt:lpstr>指针数组(续)</vt:lpstr>
      <vt:lpstr>指针数组(例)</vt:lpstr>
      <vt:lpstr>例24*  排序时交换变量值</vt:lpstr>
      <vt:lpstr>例25*  排序时交换变量的指针</vt:lpstr>
      <vt:lpstr>使用指针数组例(P.126~127)</vt:lpstr>
      <vt:lpstr>使用指针数组例(续)</vt:lpstr>
      <vt:lpstr>使用指针数组例(续)</vt:lpstr>
      <vt:lpstr>使用指针数组例(续)</vt:lpstr>
      <vt:lpstr>多级指针*</vt:lpstr>
      <vt:lpstr>函数指针</vt:lpstr>
      <vt:lpstr>函数指针*</vt:lpstr>
      <vt:lpstr>函数指针*</vt:lpstr>
      <vt:lpstr>函数指针*</vt:lpstr>
      <vt:lpstr>函数指针*</vt:lpstr>
      <vt:lpstr>小结</vt:lpstr>
      <vt:lpstr>小结</vt:lpstr>
      <vt:lpstr>That’s the end</vt:lpstr>
    </vt:vector>
  </TitlesOfParts>
  <Company>fudan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程序设计实习</dc:title>
  <dc:creator>zhenying</dc:creator>
  <cp:lastModifiedBy>Ben</cp:lastModifiedBy>
  <cp:revision>372</cp:revision>
  <dcterms:created xsi:type="dcterms:W3CDTF">2007-01-26T04:19:18Z</dcterms:created>
  <dcterms:modified xsi:type="dcterms:W3CDTF">2025-11-19T14:35:08Z</dcterms:modified>
</cp:coreProperties>
</file>