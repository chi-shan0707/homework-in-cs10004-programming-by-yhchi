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7" r:id="rId2"/>
    <p:sldId id="259" r:id="rId3"/>
    <p:sldId id="260" r:id="rId4"/>
    <p:sldId id="261" r:id="rId5"/>
    <p:sldId id="263" r:id="rId6"/>
    <p:sldId id="262" r:id="rId7"/>
    <p:sldId id="264" r:id="rId8"/>
    <p:sldId id="265" r:id="rId9"/>
    <p:sldId id="346" r:id="rId10"/>
    <p:sldId id="266" r:id="rId11"/>
    <p:sldId id="267" r:id="rId12"/>
    <p:sldId id="348" r:id="rId13"/>
    <p:sldId id="268" r:id="rId14"/>
    <p:sldId id="309" r:id="rId15"/>
    <p:sldId id="310" r:id="rId16"/>
    <p:sldId id="269" r:id="rId17"/>
    <p:sldId id="270" r:id="rId18"/>
    <p:sldId id="271" r:id="rId19"/>
    <p:sldId id="272" r:id="rId20"/>
    <p:sldId id="273" r:id="rId21"/>
    <p:sldId id="274" r:id="rId22"/>
    <p:sldId id="275" r:id="rId23"/>
    <p:sldId id="276" r:id="rId24"/>
    <p:sldId id="349" r:id="rId25"/>
    <p:sldId id="279" r:id="rId26"/>
    <p:sldId id="281" r:id="rId27"/>
    <p:sldId id="282" r:id="rId28"/>
    <p:sldId id="283" r:id="rId29"/>
    <p:sldId id="284" r:id="rId30"/>
    <p:sldId id="285" r:id="rId31"/>
    <p:sldId id="286" r:id="rId32"/>
    <p:sldId id="287" r:id="rId33"/>
    <p:sldId id="288" r:id="rId34"/>
    <p:sldId id="289" r:id="rId35"/>
    <p:sldId id="291" r:id="rId36"/>
    <p:sldId id="293" r:id="rId37"/>
    <p:sldId id="294" r:id="rId38"/>
    <p:sldId id="313" r:id="rId39"/>
    <p:sldId id="297" r:id="rId40"/>
    <p:sldId id="298" r:id="rId41"/>
    <p:sldId id="299" r:id="rId42"/>
    <p:sldId id="300" r:id="rId43"/>
    <p:sldId id="301" r:id="rId44"/>
    <p:sldId id="302" r:id="rId45"/>
    <p:sldId id="312" r:id="rId46"/>
    <p:sldId id="304" r:id="rId47"/>
    <p:sldId id="305" r:id="rId48"/>
    <p:sldId id="30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086" autoAdjust="0"/>
  </p:normalViewPr>
  <p:slideViewPr>
    <p:cSldViewPr>
      <p:cViewPr varScale="1">
        <p:scale>
          <a:sx n="59" d="100"/>
          <a:sy n="59" d="100"/>
        </p:scale>
        <p:origin x="150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E3EA9-0500-4202-9DC3-465C1F8F7182}" type="datetimeFigureOut">
              <a:rPr lang="zh-CN" altLang="en-US" smtClean="0"/>
              <a:t>2025/9/16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28128-CF45-44CA-816A-E9200517FA14}" type="slidenum">
              <a:rPr lang="zh-CN" altLang="en-US" smtClean="0"/>
              <a:t>‹#›</a:t>
            </a:fld>
            <a:endParaRPr lang="zh-CN" altLang="en-US"/>
          </a:p>
        </p:txBody>
      </p:sp>
    </p:spTree>
    <p:extLst>
      <p:ext uri="{BB962C8B-B14F-4D97-AF65-F5344CB8AC3E}">
        <p14:creationId xmlns:p14="http://schemas.microsoft.com/office/powerpoint/2010/main" val="2136796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r>
              <a:rPr lang="en-US" altLang="zh-CN" dirty="0"/>
              <a:t>void main() {</a:t>
            </a:r>
          </a:p>
          <a:p>
            <a:r>
              <a:rPr lang="en-US" altLang="zh-CN" dirty="0"/>
              <a:t>	float x = 111111.111;</a:t>
            </a:r>
          </a:p>
          <a:p>
            <a:r>
              <a:rPr lang="en-US" altLang="zh-CN" dirty="0"/>
              <a:t>	</a:t>
            </a:r>
            <a:r>
              <a:rPr lang="en-US" altLang="zh-CN" dirty="0" err="1"/>
              <a:t>printf</a:t>
            </a:r>
            <a:r>
              <a:rPr lang="en-US" altLang="zh-CN" dirty="0"/>
              <a:t>("%f\</a:t>
            </a:r>
            <a:r>
              <a:rPr lang="en-US" altLang="zh-CN" dirty="0" err="1"/>
              <a:t>n",x</a:t>
            </a:r>
            <a:r>
              <a:rPr lang="en-US" altLang="zh-CN" dirty="0"/>
              <a:t>);</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B9528128-CF45-44CA-816A-E9200517FA14}" type="slidenum">
              <a:rPr lang="zh-CN" altLang="en-US" smtClean="0"/>
              <a:t>17</a:t>
            </a:fld>
            <a:endParaRPr lang="zh-CN" altLang="en-US"/>
          </a:p>
        </p:txBody>
      </p:sp>
    </p:spTree>
    <p:extLst>
      <p:ext uri="{BB962C8B-B14F-4D97-AF65-F5344CB8AC3E}">
        <p14:creationId xmlns:p14="http://schemas.microsoft.com/office/powerpoint/2010/main" val="2500300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a:t>
            </a:r>
            <a:r>
              <a:rPr lang="en-US" altLang="zh-CN" dirty="0" err="1"/>
              <a:t>stdio.h</a:t>
            </a:r>
            <a:r>
              <a:rPr lang="en-US" altLang="zh-CN" dirty="0"/>
              <a:t>"</a:t>
            </a:r>
          </a:p>
          <a:p>
            <a:r>
              <a:rPr lang="en-US" altLang="zh-CN" dirty="0"/>
              <a:t>int main(){</a:t>
            </a:r>
          </a:p>
          <a:p>
            <a:r>
              <a:rPr lang="en-US" altLang="zh-CN" dirty="0"/>
              <a:t>	float </a:t>
            </a:r>
            <a:r>
              <a:rPr lang="en-US" altLang="zh-CN" dirty="0" err="1"/>
              <a:t>i</a:t>
            </a:r>
            <a:r>
              <a:rPr lang="en-US" altLang="zh-CN" dirty="0"/>
              <a:t> = 123.4567;</a:t>
            </a:r>
          </a:p>
          <a:p>
            <a:r>
              <a:rPr lang="en-US" altLang="zh-CN" dirty="0"/>
              <a:t>	</a:t>
            </a:r>
            <a:r>
              <a:rPr lang="en-US" altLang="zh-CN" dirty="0" err="1"/>
              <a:t>printf</a:t>
            </a:r>
            <a:r>
              <a:rPr lang="en-US" altLang="zh-CN" dirty="0"/>
              <a:t>("%f\n",</a:t>
            </a:r>
            <a:r>
              <a:rPr lang="en-US" altLang="zh-CN" dirty="0" err="1"/>
              <a:t>i</a:t>
            </a:r>
            <a:r>
              <a:rPr lang="en-US" altLang="zh-CN" dirty="0"/>
              <a:t>);</a:t>
            </a:r>
          </a:p>
          <a:p>
            <a:endParaRPr lang="en-US" altLang="zh-CN" dirty="0"/>
          </a:p>
          <a:p>
            <a:r>
              <a:rPr lang="en-US" altLang="zh-CN" dirty="0"/>
              <a:t>	</a:t>
            </a:r>
            <a:r>
              <a:rPr lang="en-US" altLang="zh-CN" dirty="0" err="1"/>
              <a:t>i</a:t>
            </a:r>
            <a:r>
              <a:rPr lang="en-US" altLang="zh-CN" dirty="0"/>
              <a:t> = 0.1;</a:t>
            </a:r>
          </a:p>
          <a:p>
            <a:r>
              <a:rPr lang="en-US" altLang="zh-CN" dirty="0"/>
              <a:t>	</a:t>
            </a:r>
            <a:r>
              <a:rPr lang="en-US" altLang="zh-CN" dirty="0" err="1"/>
              <a:t>printf</a:t>
            </a:r>
            <a:r>
              <a:rPr lang="en-US" altLang="zh-CN" dirty="0"/>
              <a:t>("%f\n",</a:t>
            </a:r>
            <a:r>
              <a:rPr lang="en-US" altLang="zh-CN" dirty="0" err="1"/>
              <a:t>i</a:t>
            </a:r>
            <a:r>
              <a:rPr lang="en-US" altLang="zh-CN" dirty="0"/>
              <a:t>);</a:t>
            </a:r>
          </a:p>
          <a:p>
            <a:endParaRPr lang="en-US" altLang="zh-CN" dirty="0"/>
          </a:p>
          <a:p>
            <a:r>
              <a:rPr lang="en-US" altLang="zh-CN" dirty="0"/>
              <a:t>// show the problem	</a:t>
            </a:r>
          </a:p>
          <a:p>
            <a:r>
              <a:rPr lang="en-US" altLang="zh-CN" dirty="0"/>
              <a:t>//	</a:t>
            </a:r>
            <a:r>
              <a:rPr lang="en-US" altLang="zh-CN" dirty="0" err="1"/>
              <a:t>printf</a:t>
            </a:r>
            <a:r>
              <a:rPr lang="en-US" altLang="zh-CN" dirty="0"/>
              <a:t>("%.10f\n",</a:t>
            </a:r>
            <a:r>
              <a:rPr lang="en-US" altLang="zh-CN" dirty="0" err="1"/>
              <a:t>i</a:t>
            </a:r>
            <a:r>
              <a:rPr lang="en-US" altLang="zh-CN" dirty="0"/>
              <a:t>);</a:t>
            </a:r>
          </a:p>
          <a:p>
            <a:r>
              <a:rPr lang="en-US" altLang="zh-CN" dirty="0"/>
              <a:t>	return 0;</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B9528128-CF45-44CA-816A-E9200517FA14}" type="slidenum">
              <a:rPr lang="zh-CN" altLang="en-US" smtClean="0"/>
              <a:t>38</a:t>
            </a:fld>
            <a:endParaRPr lang="zh-CN" altLang="en-US"/>
          </a:p>
        </p:txBody>
      </p:sp>
    </p:spTree>
    <p:extLst>
      <p:ext uri="{BB962C8B-B14F-4D97-AF65-F5344CB8AC3E}">
        <p14:creationId xmlns:p14="http://schemas.microsoft.com/office/powerpoint/2010/main" val="3411676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大写字符</a:t>
            </a:r>
            <a:r>
              <a:rPr lang="en-US" altLang="zh-CN" dirty="0"/>
              <a:t>ascii</a:t>
            </a:r>
            <a:r>
              <a:rPr lang="zh-CN" altLang="en-US" dirty="0"/>
              <a:t>连续，小写字符</a:t>
            </a:r>
            <a:r>
              <a:rPr lang="en-US" altLang="zh-CN" dirty="0"/>
              <a:t>ascii</a:t>
            </a:r>
            <a:r>
              <a:rPr lang="zh-CN" altLang="en-US" dirty="0"/>
              <a:t>连续，字符</a:t>
            </a:r>
            <a:r>
              <a:rPr lang="en-US" altLang="zh-CN" dirty="0"/>
              <a:t>0-9</a:t>
            </a:r>
            <a:r>
              <a:rPr lang="zh-CN" altLang="en-US" dirty="0"/>
              <a:t>连续</a:t>
            </a:r>
            <a:endParaRPr lang="en-US" altLang="zh-CN" dirty="0"/>
          </a:p>
          <a:p>
            <a:endParaRPr lang="en-US" altLang="zh-CN" dirty="0"/>
          </a:p>
          <a:p>
            <a:r>
              <a:rPr lang="zh-CN" altLang="en-US" dirty="0"/>
              <a:t>注意</a:t>
            </a:r>
            <a:r>
              <a:rPr lang="en-US" altLang="zh-CN" dirty="0" err="1"/>
              <a:t>scanf</a:t>
            </a:r>
            <a:r>
              <a:rPr lang="zh-CN" altLang="en-US" dirty="0"/>
              <a:t>中的空格，试试去掉它会怎么样？</a:t>
            </a:r>
          </a:p>
        </p:txBody>
      </p:sp>
      <p:sp>
        <p:nvSpPr>
          <p:cNvPr id="4" name="灯片编号占位符 3"/>
          <p:cNvSpPr>
            <a:spLocks noGrp="1"/>
          </p:cNvSpPr>
          <p:nvPr>
            <p:ph type="sldNum" sz="quarter" idx="5"/>
          </p:nvPr>
        </p:nvSpPr>
        <p:spPr/>
        <p:txBody>
          <a:bodyPr/>
          <a:lstStyle/>
          <a:p>
            <a:fld id="{B9528128-CF45-44CA-816A-E9200517FA14}" type="slidenum">
              <a:rPr lang="zh-CN" altLang="en-US" smtClean="0"/>
              <a:t>45</a:t>
            </a:fld>
            <a:endParaRPr lang="zh-CN" altLang="en-US"/>
          </a:p>
        </p:txBody>
      </p:sp>
    </p:spTree>
    <p:extLst>
      <p:ext uri="{BB962C8B-B14F-4D97-AF65-F5344CB8AC3E}">
        <p14:creationId xmlns:p14="http://schemas.microsoft.com/office/powerpoint/2010/main" val="3209832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a:t>Click to edit Master subtitle style</a:t>
            </a:r>
            <a:endParaRPr kumimoji="0" lang="en-US"/>
          </a:p>
        </p:txBody>
      </p:sp>
      <p:sp>
        <p:nvSpPr>
          <p:cNvPr id="30" name="Date Placeholder 29"/>
          <p:cNvSpPr>
            <a:spLocks noGrp="1"/>
          </p:cNvSpPr>
          <p:nvPr>
            <p:ph type="dt" sz="half" idx="10"/>
          </p:nvPr>
        </p:nvSpPr>
        <p:spPr/>
        <p:txBody>
          <a:bodyPr/>
          <a:lstStyle/>
          <a:p>
            <a:fld id="{47C9B81F-C347-4BEF-BFDF-29C42F48304A}" type="datetimeFigureOut">
              <a:rPr lang="en-US" smtClean="0"/>
              <a:pPr/>
              <a:t>9/16/2025</a:t>
            </a:fld>
            <a:endParaRPr lang="en-US"/>
          </a:p>
        </p:txBody>
      </p:sp>
      <p:sp>
        <p:nvSpPr>
          <p:cNvPr id="19" name="Footer Placeholder 18"/>
          <p:cNvSpPr>
            <a:spLocks noGrp="1"/>
          </p:cNvSpPr>
          <p:nvPr>
            <p:ph type="ftr" sz="quarter" idx="11"/>
          </p:nvPr>
        </p:nvSpPr>
        <p:spPr/>
        <p:txBody>
          <a:bodyPr/>
          <a:lstStyle/>
          <a:p>
            <a:endParaRPr kumimoji="0" lang="en-US"/>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fld id="{47C9B81F-C347-4BEF-BFDF-29C42F48304A}"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ltLang="zh-CN"/>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47C9B81F-C347-4BEF-BFDF-29C42F48304A}"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fld id="{47C9B81F-C347-4BEF-BFDF-29C42F48304A}" type="datetimeFigureOut">
              <a:rPr lang="en-US" smtClean="0"/>
              <a:pPr/>
              <a:t>9/16/2025</a:t>
            </a:fld>
            <a:endParaRPr lang="en-US"/>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Date Placeholder 2"/>
          <p:cNvSpPr>
            <a:spLocks noGrp="1"/>
          </p:cNvSpPr>
          <p:nvPr>
            <p:ph type="dt" sz="half" idx="10"/>
          </p:nvPr>
        </p:nvSpPr>
        <p:spPr/>
        <p:txBody>
          <a:bodyPr/>
          <a:lstStyle/>
          <a:p>
            <a:fld id="{47C9B81F-C347-4BEF-BFDF-29C42F48304A}" type="datetimeFigureOut">
              <a:rPr lang="en-US" smtClean="0"/>
              <a:pPr/>
              <a:t>9/16/2025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C9B81F-C347-4BEF-BFDF-29C42F48304A}" type="datetimeFigureOut">
              <a:rPr lang="en-US" smtClean="0"/>
              <a:pPr/>
              <a:t>9/16/2025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47C9B81F-C347-4BEF-BFDF-29C42F48304A}"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ltLang="zh-CN"/>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ltLang="zh-CN"/>
              <a:t>Click to edit Master text styles</a:t>
            </a:r>
          </a:p>
        </p:txBody>
      </p:sp>
      <p:sp>
        <p:nvSpPr>
          <p:cNvPr id="5" name="Date Placeholder 4"/>
          <p:cNvSpPr>
            <a:spLocks noGrp="1"/>
          </p:cNvSpPr>
          <p:nvPr>
            <p:ph type="dt" sz="half" idx="10"/>
          </p:nvPr>
        </p:nvSpPr>
        <p:spPr/>
        <p:txBody>
          <a:bodyPr/>
          <a:lstStyle/>
          <a:p>
            <a:fld id="{47C9B81F-C347-4BEF-BFDF-29C42F48304A}"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077200" y="6356350"/>
            <a:ext cx="6096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ltLang="zh-CN"/>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76250"/>
            <a:ext cx="7656512"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16013" y="1916113"/>
            <a:ext cx="3667125"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935538" y="1916113"/>
            <a:ext cx="3668712"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935538" y="4049713"/>
            <a:ext cx="3668712"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04800" y="6248400"/>
            <a:ext cx="19050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5814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10400" y="6248400"/>
            <a:ext cx="1905000" cy="457200"/>
          </a:xfrm>
        </p:spPr>
        <p:txBody>
          <a:bodyPr/>
          <a:lstStyle>
            <a:lvl1pPr>
              <a:defRPr/>
            </a:lvl1pPr>
          </a:lstStyle>
          <a:p>
            <a:fld id="{808706CB-7635-45AD-A7DC-7E8D0CB7F20B}" type="slidenum">
              <a:rPr lang="en-US" altLang="zh-CN"/>
              <a:pPr/>
              <a:t>‹#›</a:t>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7C9B81F-C347-4BEF-BFDF-29C42F48304A}" type="datetimeFigureOut">
              <a:rPr lang="en-US" smtClean="0"/>
              <a:pPr/>
              <a:t>9/16/2025</a:t>
            </a:fld>
            <a:endParaRPr lang="en-US" dirty="0">
              <a:solidFill>
                <a:schemeClr val="tx2">
                  <a:shade val="90000"/>
                </a:scheme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l" eaLnBrk="1" latinLnBrk="0" hangingPunct="1"/>
            <a:endParaRPr kumimoji="0" lang="en-US" dirty="0">
              <a:solidFill>
                <a:schemeClr val="tx2">
                  <a:shade val="90000"/>
                </a:scheme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42AED99-7FB4-404E-8A97-64753DCE42EC}" type="slidenum">
              <a:rPr kumimoji="0" lang="en-US" smtClean="0"/>
              <a:pPr/>
              <a:t>‹#›</a:t>
            </a:fld>
            <a:endParaRPr kumimoji="0" lang="en-US" dirty="0">
              <a:solidFill>
                <a:schemeClr val="tx2">
                  <a:shade val="90000"/>
                </a:scheme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304800" y="228600"/>
            <a:ext cx="8610600" cy="1143000"/>
          </a:xfrm>
        </p:spPr>
        <p:txBody>
          <a:bodyPr>
            <a:normAutofit/>
          </a:bodyPr>
          <a:lstStyle/>
          <a:p>
            <a:pPr algn="ctr"/>
            <a:r>
              <a:rPr lang="zh-CN" altLang="en-US" sz="4800" b="1" dirty="0">
                <a:solidFill>
                  <a:schemeClr val="tx1"/>
                </a:solidFill>
                <a:latin typeface="黑体" pitchFamily="2" charset="-122"/>
                <a:ea typeface="黑体" pitchFamily="2" charset="-122"/>
              </a:rPr>
              <a:t>第</a:t>
            </a:r>
            <a:r>
              <a:rPr lang="en-US" altLang="zh-CN" sz="4800" b="1" dirty="0">
                <a:solidFill>
                  <a:schemeClr val="tx1"/>
                </a:solidFill>
                <a:latin typeface="黑体" pitchFamily="2" charset="-122"/>
                <a:ea typeface="黑体" pitchFamily="2" charset="-122"/>
              </a:rPr>
              <a:t>2</a:t>
            </a:r>
            <a:r>
              <a:rPr lang="zh-CN" altLang="en-US" sz="4800" b="1" dirty="0">
                <a:solidFill>
                  <a:schemeClr val="tx1"/>
                </a:solidFill>
                <a:latin typeface="黑体" pitchFamily="2" charset="-122"/>
                <a:ea typeface="黑体" pitchFamily="2" charset="-122"/>
              </a:rPr>
              <a:t>章 基本数据类型及其运算</a:t>
            </a:r>
            <a:r>
              <a:rPr lang="en-US" altLang="zh-CN" sz="4800" b="1" dirty="0">
                <a:solidFill>
                  <a:schemeClr val="tx1"/>
                </a:solidFill>
                <a:latin typeface="黑体" pitchFamily="2" charset="-122"/>
                <a:ea typeface="黑体" pitchFamily="2" charset="-122"/>
              </a:rPr>
              <a:t>(I)</a:t>
            </a:r>
            <a:endParaRPr lang="zh-CN" altLang="en-US" sz="6000" b="1" dirty="0">
              <a:solidFill>
                <a:schemeClr val="tx1"/>
              </a:solidFill>
              <a:latin typeface="黑体" pitchFamily="2" charset="-122"/>
              <a:ea typeface="黑体" pitchFamily="2" charset="-122"/>
            </a:endParaRPr>
          </a:p>
        </p:txBody>
      </p:sp>
      <p:sp>
        <p:nvSpPr>
          <p:cNvPr id="282627" name="Rectangle 3"/>
          <p:cNvSpPr>
            <a:spLocks noGrp="1" noChangeArrowheads="1"/>
          </p:cNvSpPr>
          <p:nvPr>
            <p:ph idx="1"/>
          </p:nvPr>
        </p:nvSpPr>
        <p:spPr>
          <a:xfrm>
            <a:off x="900113" y="1500174"/>
            <a:ext cx="7416800" cy="4881576"/>
          </a:xfrm>
        </p:spPr>
        <p:txBody>
          <a:bodyPr>
            <a:normAutofit/>
          </a:bodyPr>
          <a:lstStyle/>
          <a:p>
            <a:pPr marL="0" indent="0">
              <a:buFont typeface="Monotype Sorts" pitchFamily="2" charset="2"/>
              <a:buNone/>
            </a:pPr>
            <a:r>
              <a:rPr lang="zh-CN" altLang="en-US" sz="2800" b="1" dirty="0"/>
              <a:t>本章学习的目标：</a:t>
            </a:r>
          </a:p>
          <a:p>
            <a:pPr marL="0" indent="0">
              <a:buFont typeface="Monotype Sorts" pitchFamily="2" charset="2"/>
              <a:buNone/>
            </a:pPr>
            <a:r>
              <a:rPr lang="en-US" altLang="zh-CN" sz="2800" b="1" dirty="0"/>
              <a:t>1</a:t>
            </a:r>
            <a:r>
              <a:rPr lang="zh-CN" altLang="en-US" sz="2800" b="1" dirty="0"/>
              <a:t>、掌握基本数据类型的表示，基本数据类型常数的书写方法；</a:t>
            </a:r>
          </a:p>
          <a:p>
            <a:pPr marL="0" indent="0">
              <a:buFont typeface="Monotype Sorts" pitchFamily="2" charset="2"/>
              <a:buNone/>
            </a:pPr>
            <a:r>
              <a:rPr lang="en-US" altLang="zh-CN" sz="2800" b="1" dirty="0"/>
              <a:t>2</a:t>
            </a:r>
            <a:r>
              <a:rPr lang="zh-CN" altLang="en-US" sz="2800" b="1" dirty="0"/>
              <a:t>、掌握算术运算、关系运算、逻辑运算、赋值运算等运算的意义；</a:t>
            </a:r>
          </a:p>
          <a:p>
            <a:pPr marL="0" indent="0">
              <a:buFont typeface="Monotype Sorts" pitchFamily="2" charset="2"/>
              <a:buNone/>
            </a:pPr>
            <a:r>
              <a:rPr lang="en-US" altLang="zh-CN" sz="2800" b="1" dirty="0"/>
              <a:t>3</a:t>
            </a:r>
            <a:r>
              <a:rPr lang="zh-CN" altLang="en-US" sz="2800" b="1" dirty="0"/>
              <a:t>、掌握表达式的书写方法；</a:t>
            </a:r>
          </a:p>
          <a:p>
            <a:pPr marL="0" indent="0">
              <a:buFont typeface="Monotype Sorts" pitchFamily="2" charset="2"/>
              <a:buNone/>
            </a:pPr>
            <a:r>
              <a:rPr lang="en-US" altLang="zh-CN" sz="2800" b="1" dirty="0"/>
              <a:t>4</a:t>
            </a:r>
            <a:r>
              <a:rPr lang="zh-CN" altLang="en-US" sz="2800" b="1" dirty="0"/>
              <a:t>、了解单个字符输入输出方法，掌握整数、浮点数、字符、字符串的格式输入和格式输出方法。</a:t>
            </a:r>
          </a:p>
        </p:txBody>
      </p:sp>
      <p:sp>
        <p:nvSpPr>
          <p:cNvPr id="6" name="灯片编号占位符 5"/>
          <p:cNvSpPr>
            <a:spLocks noGrp="1"/>
          </p:cNvSpPr>
          <p:nvPr>
            <p:ph type="sldNum" sz="quarter" idx="12"/>
          </p:nvPr>
        </p:nvSpPr>
        <p:spPr/>
        <p:txBody>
          <a:bodyPr/>
          <a:lstStyle/>
          <a:p>
            <a:fld id="{54544D4D-F670-4D7C-9E64-FFCCB6555BB1}" type="slidenum">
              <a:rPr lang="en-US" altLang="zh-CN"/>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Rectangle 4"/>
          <p:cNvSpPr>
            <a:spLocks noGrp="1" noChangeArrowheads="1"/>
          </p:cNvSpPr>
          <p:nvPr>
            <p:ph type="title"/>
          </p:nvPr>
        </p:nvSpPr>
        <p:spPr>
          <a:xfrm>
            <a:off x="609600" y="304800"/>
            <a:ext cx="8001000" cy="838200"/>
          </a:xfrm>
        </p:spPr>
        <p:txBody>
          <a:bodyPr>
            <a:normAutofit/>
          </a:bodyPr>
          <a:lstStyle/>
          <a:p>
            <a:r>
              <a:rPr lang="en-US" altLang="zh-CN" sz="3600" dirty="0">
                <a:solidFill>
                  <a:schemeClr val="tx1"/>
                </a:solidFill>
                <a:latin typeface="黑体" pitchFamily="2" charset="-122"/>
                <a:ea typeface="黑体" pitchFamily="2" charset="-122"/>
              </a:rPr>
              <a:t>2.1</a:t>
            </a:r>
            <a:r>
              <a:rPr lang="en-US" altLang="zh-CN" sz="4400" dirty="0">
                <a:solidFill>
                  <a:schemeClr val="tx1"/>
                </a:solidFill>
                <a:latin typeface="黑体" pitchFamily="2" charset="-122"/>
                <a:ea typeface="黑体" pitchFamily="2" charset="-122"/>
              </a:rPr>
              <a:t> </a:t>
            </a:r>
            <a:r>
              <a:rPr lang="zh-CN" altLang="en-US" sz="4400" dirty="0">
                <a:solidFill>
                  <a:schemeClr val="tx1"/>
                </a:solidFill>
                <a:latin typeface="黑体" pitchFamily="2" charset="-122"/>
                <a:ea typeface="黑体" pitchFamily="2" charset="-122"/>
              </a:rPr>
              <a:t>基本数据类型</a:t>
            </a:r>
          </a:p>
        </p:txBody>
      </p:sp>
      <p:sp>
        <p:nvSpPr>
          <p:cNvPr id="162821" name="Rectangle 5"/>
          <p:cNvSpPr>
            <a:spLocks noGrp="1" noChangeArrowheads="1"/>
          </p:cNvSpPr>
          <p:nvPr>
            <p:ph idx="1"/>
          </p:nvPr>
        </p:nvSpPr>
        <p:spPr>
          <a:xfrm>
            <a:off x="457200" y="1219200"/>
            <a:ext cx="8291513" cy="5162550"/>
          </a:xfrm>
        </p:spPr>
        <p:txBody>
          <a:bodyPr>
            <a:noAutofit/>
          </a:bodyPr>
          <a:lstStyle/>
          <a:p>
            <a:pPr marL="0" indent="0" algn="just"/>
            <a:r>
              <a:rPr lang="zh-CN" altLang="en-US" sz="3200" b="1" dirty="0">
                <a:latin typeface="楷体_GB2312" pitchFamily="49" charset="-122"/>
                <a:ea typeface="楷体_GB2312" pitchFamily="49" charset="-122"/>
              </a:rPr>
              <a:t> 基本数据类型有三种：</a:t>
            </a:r>
          </a:p>
          <a:p>
            <a:pPr marL="365760" lvl="1" indent="0" algn="just"/>
            <a:r>
              <a:rPr lang="zh-CN" altLang="en-US" sz="3000" b="1" dirty="0">
                <a:latin typeface="楷体_GB2312" pitchFamily="49" charset="-122"/>
                <a:ea typeface="楷体_GB2312" pitchFamily="49" charset="-122"/>
              </a:rPr>
              <a:t> 整数</a:t>
            </a:r>
            <a:endParaRPr lang="en-US" altLang="zh-CN" sz="3000" b="1" dirty="0">
              <a:latin typeface="楷体_GB2312" pitchFamily="49" charset="-122"/>
              <a:ea typeface="楷体_GB2312" pitchFamily="49" charset="-122"/>
            </a:endParaRPr>
          </a:p>
          <a:p>
            <a:pPr marL="365760" lvl="1" indent="0" algn="just"/>
            <a:r>
              <a:rPr lang="zh-CN" altLang="en-US" sz="3000" b="1" dirty="0">
                <a:latin typeface="楷体_GB2312" pitchFamily="49" charset="-122"/>
                <a:ea typeface="楷体_GB2312" pitchFamily="49" charset="-122"/>
              </a:rPr>
              <a:t> 浮点数 </a:t>
            </a:r>
            <a:r>
              <a:rPr lang="en-US" altLang="zh-CN" sz="3000" b="1" dirty="0">
                <a:latin typeface="楷体_GB2312" pitchFamily="49" charset="-122"/>
                <a:ea typeface="楷体_GB2312" pitchFamily="49" charset="-122"/>
              </a:rPr>
              <a:t>(</a:t>
            </a:r>
            <a:r>
              <a:rPr lang="zh-CN" altLang="en-US" sz="3000" b="1" dirty="0">
                <a:latin typeface="楷体_GB2312" pitchFamily="49" charset="-122"/>
                <a:ea typeface="楷体_GB2312" pitchFamily="49" charset="-122"/>
              </a:rPr>
              <a:t>实数</a:t>
            </a:r>
            <a:r>
              <a:rPr lang="en-US" altLang="zh-CN" sz="3000" b="1" dirty="0">
                <a:latin typeface="楷体_GB2312" pitchFamily="49" charset="-122"/>
                <a:ea typeface="楷体_GB2312" pitchFamily="49" charset="-122"/>
              </a:rPr>
              <a:t>)</a:t>
            </a:r>
          </a:p>
          <a:p>
            <a:pPr marL="365760" lvl="1" indent="0" algn="just"/>
            <a:r>
              <a:rPr lang="zh-CN" altLang="en-US" sz="3000" b="1" dirty="0">
                <a:latin typeface="楷体_GB2312" pitchFamily="49" charset="-122"/>
                <a:ea typeface="楷体_GB2312" pitchFamily="49" charset="-122"/>
              </a:rPr>
              <a:t> 字符</a:t>
            </a:r>
          </a:p>
          <a:p>
            <a:pPr marL="0" indent="0" algn="just">
              <a:buFont typeface="Monotype Sorts" pitchFamily="2" charset="2"/>
              <a:buNone/>
            </a:pPr>
            <a:endParaRPr lang="zh-CN" altLang="en-US" sz="3200" b="1" dirty="0">
              <a:latin typeface="楷体_GB2312" pitchFamily="49" charset="-122"/>
              <a:ea typeface="楷体_GB2312" pitchFamily="49" charset="-122"/>
            </a:endParaRPr>
          </a:p>
          <a:p>
            <a:pPr marL="0" indent="0" algn="just"/>
            <a:r>
              <a:rPr lang="zh-CN" altLang="en-US" sz="3200" b="1" dirty="0">
                <a:latin typeface="楷体_GB2312" pitchFamily="49" charset="-122"/>
                <a:ea typeface="楷体_GB2312" pitchFamily="49" charset="-122"/>
              </a:rPr>
              <a:t> 有无穷多的不同整数、浮点数、字符，但计算机只能用有限的二进位表示不同的数据。所以，</a:t>
            </a:r>
            <a:r>
              <a:rPr lang="zh-CN" altLang="en-US" sz="3200" b="1" dirty="0">
                <a:solidFill>
                  <a:srgbClr val="C00000"/>
                </a:solidFill>
                <a:effectLst>
                  <a:outerShdw blurRad="38100" dist="38100" dir="2700000" algn="tl">
                    <a:srgbClr val="000000"/>
                  </a:outerShdw>
                </a:effectLst>
                <a:latin typeface="楷体_GB2312" pitchFamily="49" charset="-122"/>
                <a:ea typeface="楷体_GB2312" pitchFamily="49" charset="-122"/>
              </a:rPr>
              <a:t>计算机只能表示有限的整数、有限的浮点数和有限的字符 </a:t>
            </a:r>
          </a:p>
        </p:txBody>
      </p:sp>
      <p:sp>
        <p:nvSpPr>
          <p:cNvPr id="6" name="灯片编号占位符 5"/>
          <p:cNvSpPr>
            <a:spLocks noGrp="1"/>
          </p:cNvSpPr>
          <p:nvPr>
            <p:ph type="sldNum" sz="quarter" idx="12"/>
          </p:nvPr>
        </p:nvSpPr>
        <p:spPr/>
        <p:txBody>
          <a:bodyPr/>
          <a:lstStyle/>
          <a:p>
            <a:fld id="{765E8B5B-C74B-48D9-A7E3-DF2A0753620D}" type="slidenum">
              <a:rPr lang="en-US" altLang="zh-CN"/>
              <a:pPr/>
              <a:t>2</a:t>
            </a:fld>
            <a:endParaRPr lang="en-US" altLang="zh-C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a:xfrm>
            <a:off x="611188" y="333375"/>
            <a:ext cx="7999412" cy="809625"/>
          </a:xfrm>
        </p:spPr>
        <p:txBody>
          <a:bodyPr>
            <a:normAutofit/>
          </a:bodyPr>
          <a:lstStyle/>
          <a:p>
            <a:r>
              <a:rPr lang="zh-CN" altLang="en-US" sz="4400" b="1" dirty="0">
                <a:solidFill>
                  <a:schemeClr val="tx1"/>
                </a:solidFill>
                <a:latin typeface="黑体" pitchFamily="2" charset="-122"/>
                <a:ea typeface="黑体" pitchFamily="2" charset="-122"/>
              </a:rPr>
              <a:t>整型数据</a:t>
            </a:r>
          </a:p>
        </p:txBody>
      </p:sp>
      <p:sp>
        <p:nvSpPr>
          <p:cNvPr id="470019" name="Rectangle 3"/>
          <p:cNvSpPr>
            <a:spLocks noGrp="1" noChangeArrowheads="1"/>
          </p:cNvSpPr>
          <p:nvPr>
            <p:ph idx="1"/>
          </p:nvPr>
        </p:nvSpPr>
        <p:spPr>
          <a:xfrm>
            <a:off x="457200" y="1219200"/>
            <a:ext cx="8291513" cy="5162550"/>
          </a:xfrm>
        </p:spPr>
        <p:txBody>
          <a:bodyPr/>
          <a:lstStyle/>
          <a:p>
            <a:pPr marL="457200" indent="-457200" algn="just">
              <a:lnSpc>
                <a:spcPct val="90000"/>
              </a:lnSpc>
            </a:pPr>
            <a:r>
              <a:rPr lang="zh-CN" altLang="en-US" sz="3200" b="1" dirty="0">
                <a:effectLst>
                  <a:outerShdw blurRad="38100" dist="38100" dir="2700000" algn="tl">
                    <a:srgbClr val="000000"/>
                  </a:outerShdw>
                </a:effectLst>
                <a:sym typeface="Wingdings" pitchFamily="2" charset="2"/>
              </a:rPr>
              <a:t> </a:t>
            </a:r>
            <a:r>
              <a:rPr lang="zh-CN" altLang="en-US" sz="3200" b="1" dirty="0">
                <a:sym typeface="Wingdings" pitchFamily="2" charset="2"/>
              </a:rPr>
              <a:t>整数是不带小数点和指数符号的数据</a:t>
            </a:r>
            <a:r>
              <a:rPr lang="zh-CN" altLang="en-US" sz="3200" dirty="0">
                <a:sym typeface="Wingdings" pitchFamily="2" charset="2"/>
              </a:rPr>
              <a:t> </a:t>
            </a:r>
            <a:endParaRPr lang="zh-CN" altLang="en-US" sz="4000" b="1" dirty="0">
              <a:solidFill>
                <a:srgbClr val="CC0000"/>
              </a:solidFill>
              <a:latin typeface="宋体" pitchFamily="2" charset="-122"/>
              <a:sym typeface="Wingdings" pitchFamily="2" charset="2"/>
            </a:endParaRPr>
          </a:p>
          <a:p>
            <a:pPr marL="457200" indent="-457200" algn="just">
              <a:lnSpc>
                <a:spcPct val="90000"/>
              </a:lnSpc>
            </a:pPr>
            <a:r>
              <a:rPr lang="zh-CN" altLang="en-US" sz="3200" b="1" dirty="0">
                <a:latin typeface="宋体" pitchFamily="2" charset="-122"/>
              </a:rPr>
              <a:t>整型数据按其数值范围划分成三种：</a:t>
            </a:r>
          </a:p>
          <a:p>
            <a:pPr marL="457200" indent="-457200" algn="just">
              <a:lnSpc>
                <a:spcPct val="90000"/>
              </a:lnSpc>
              <a:buFont typeface="Monotype Sorts" pitchFamily="2" charset="2"/>
              <a:buNone/>
            </a:pPr>
            <a:r>
              <a:rPr lang="en-US" altLang="zh-CN" b="1" dirty="0">
                <a:latin typeface="宋体" pitchFamily="2" charset="-122"/>
              </a:rPr>
              <a:t>1.</a:t>
            </a:r>
            <a:r>
              <a:rPr lang="zh-CN" altLang="en-US" b="1" dirty="0">
                <a:latin typeface="宋体" pitchFamily="2" charset="-122"/>
              </a:rPr>
              <a:t>基本型：用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a:t>
            </a:r>
          </a:p>
          <a:p>
            <a:pPr marL="457200" indent="-457200" algn="just">
              <a:lnSpc>
                <a:spcPct val="90000"/>
              </a:lnSpc>
              <a:buFont typeface="Monotype Sorts" pitchFamily="2" charset="2"/>
              <a:buNone/>
            </a:pPr>
            <a:r>
              <a:rPr lang="en-US" altLang="zh-CN" b="1" dirty="0">
                <a:latin typeface="宋体" pitchFamily="2" charset="-122"/>
              </a:rPr>
              <a:t>2.</a:t>
            </a:r>
            <a:r>
              <a:rPr lang="zh-CN" altLang="en-US" b="1" dirty="0">
                <a:latin typeface="宋体" pitchFamily="2" charset="-122"/>
              </a:rPr>
              <a:t>短整型：用 </a:t>
            </a:r>
            <a:r>
              <a:rPr lang="en-US" altLang="zh-CN" b="1" dirty="0">
                <a:latin typeface="宋体" pitchFamily="2" charset="-122"/>
              </a:rPr>
              <a:t>short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标记，简写为 </a:t>
            </a:r>
            <a:r>
              <a:rPr lang="en-US" altLang="zh-CN" b="1" dirty="0">
                <a:latin typeface="宋体" pitchFamily="2" charset="-122"/>
              </a:rPr>
              <a:t>short</a:t>
            </a:r>
          </a:p>
          <a:p>
            <a:pPr marL="457200" indent="-457200" algn="just">
              <a:lnSpc>
                <a:spcPct val="90000"/>
              </a:lnSpc>
              <a:buFont typeface="Monotype Sorts" pitchFamily="2" charset="2"/>
              <a:buNone/>
            </a:pPr>
            <a:r>
              <a:rPr lang="en-US" altLang="zh-CN" b="1" dirty="0">
                <a:latin typeface="宋体" pitchFamily="2" charset="-122"/>
              </a:rPr>
              <a:t>3.</a:t>
            </a:r>
            <a:r>
              <a:rPr lang="zh-CN" altLang="en-US" b="1" dirty="0">
                <a:latin typeface="宋体" pitchFamily="2" charset="-122"/>
              </a:rPr>
              <a:t>长整型：用 </a:t>
            </a:r>
            <a:r>
              <a:rPr lang="en-US" altLang="zh-CN" b="1" dirty="0">
                <a:latin typeface="宋体" pitchFamily="2" charset="-122"/>
              </a:rPr>
              <a:t>long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标记，简写为 </a:t>
            </a:r>
            <a:r>
              <a:rPr lang="en-US" altLang="zh-CN" b="1" dirty="0">
                <a:latin typeface="宋体" pitchFamily="2" charset="-122"/>
              </a:rPr>
              <a:t>long</a:t>
            </a:r>
            <a:endParaRPr lang="en-US" altLang="zh-CN" sz="3200" b="1" dirty="0">
              <a:latin typeface="宋体" pitchFamily="2" charset="-122"/>
            </a:endParaRPr>
          </a:p>
          <a:p>
            <a:pPr marL="457200" indent="-457200" algn="just">
              <a:lnSpc>
                <a:spcPct val="90000"/>
              </a:lnSpc>
            </a:pPr>
            <a:r>
              <a:rPr lang="zh-CN" altLang="en-US" sz="3200" b="1" dirty="0">
                <a:latin typeface="宋体" pitchFamily="2" charset="-122"/>
              </a:rPr>
              <a:t>按值内部的最高位不同理解又分两类：</a:t>
            </a:r>
          </a:p>
          <a:p>
            <a:pPr marL="457200" indent="-457200" algn="just">
              <a:lnSpc>
                <a:spcPct val="90000"/>
              </a:lnSpc>
              <a:buFont typeface="Monotype Sorts" pitchFamily="2" charset="2"/>
              <a:buNone/>
            </a:pPr>
            <a:r>
              <a:rPr lang="en-US" altLang="zh-CN" b="1" dirty="0">
                <a:latin typeface="宋体" pitchFamily="2" charset="-122"/>
              </a:rPr>
              <a:t>1.</a:t>
            </a:r>
            <a:r>
              <a:rPr lang="zh-CN" altLang="en-US" b="1" dirty="0">
                <a:latin typeface="宋体" pitchFamily="2" charset="-122"/>
              </a:rPr>
              <a:t>带符号（隐含的）：存储单元最高位作为符号位</a:t>
            </a:r>
          </a:p>
          <a:p>
            <a:pPr marL="457200" indent="-457200" algn="just">
              <a:lnSpc>
                <a:spcPct val="90000"/>
              </a:lnSpc>
              <a:buFont typeface="Monotype Sorts" pitchFamily="2" charset="2"/>
              <a:buNone/>
            </a:pPr>
            <a:r>
              <a:rPr lang="en-US" altLang="zh-CN" b="1" dirty="0">
                <a:latin typeface="宋体" pitchFamily="2" charset="-122"/>
              </a:rPr>
              <a:t>2.</a:t>
            </a:r>
            <a:r>
              <a:rPr lang="zh-CN" altLang="en-US" b="1" dirty="0">
                <a:latin typeface="宋体" pitchFamily="2" charset="-122"/>
              </a:rPr>
              <a:t>不带符号：存储单元中全部二进位用作存放数据本身，而没有符号位。</a:t>
            </a:r>
          </a:p>
          <a:p>
            <a:pPr marL="457200" indent="-457200" algn="just">
              <a:lnSpc>
                <a:spcPct val="90000"/>
              </a:lnSpc>
              <a:buFont typeface="Monotype Sorts" pitchFamily="2" charset="2"/>
              <a:buNone/>
            </a:pPr>
            <a:r>
              <a:rPr lang="zh-CN" altLang="en-US" b="1" dirty="0">
                <a:latin typeface="宋体" pitchFamily="2" charset="-122"/>
              </a:rPr>
              <a:t>  表示方法：</a:t>
            </a:r>
            <a:r>
              <a:rPr lang="zh-CN" altLang="en-US" b="1" dirty="0">
                <a:latin typeface="Times New Roman" pitchFamily="18" charset="0"/>
              </a:rPr>
              <a:t> </a:t>
            </a:r>
            <a:r>
              <a:rPr lang="en-US" altLang="zh-CN" b="1" dirty="0">
                <a:latin typeface="宋体" pitchFamily="2" charset="-122"/>
              </a:rPr>
              <a:t>unsigned </a:t>
            </a:r>
            <a:r>
              <a:rPr lang="en-US" altLang="zh-CN" b="1" dirty="0" err="1">
                <a:latin typeface="宋体" pitchFamily="2" charset="-122"/>
              </a:rPr>
              <a:t>int</a:t>
            </a:r>
            <a:r>
              <a:rPr lang="zh-CN" altLang="en-US" b="1" dirty="0">
                <a:latin typeface="宋体" pitchFamily="2" charset="-122"/>
              </a:rPr>
              <a:t>、 </a:t>
            </a:r>
            <a:r>
              <a:rPr lang="en-US" altLang="zh-CN" b="1" dirty="0">
                <a:latin typeface="宋体" pitchFamily="2" charset="-122"/>
              </a:rPr>
              <a:t>unsigned short</a:t>
            </a:r>
            <a:r>
              <a:rPr lang="zh-CN" altLang="en-US" b="1" dirty="0">
                <a:latin typeface="宋体" pitchFamily="2" charset="-122"/>
              </a:rPr>
              <a:t>、 </a:t>
            </a:r>
            <a:r>
              <a:rPr lang="en-US" altLang="zh-CN" b="1" dirty="0">
                <a:latin typeface="宋体" pitchFamily="2" charset="-122"/>
              </a:rPr>
              <a:t>unsigned long</a:t>
            </a:r>
          </a:p>
        </p:txBody>
      </p:sp>
      <p:sp>
        <p:nvSpPr>
          <p:cNvPr id="6" name="灯片编号占位符 5"/>
          <p:cNvSpPr>
            <a:spLocks noGrp="1"/>
          </p:cNvSpPr>
          <p:nvPr>
            <p:ph type="sldNum" sz="quarter" idx="12"/>
          </p:nvPr>
        </p:nvSpPr>
        <p:spPr/>
        <p:txBody>
          <a:bodyPr/>
          <a:lstStyle/>
          <a:p>
            <a:fld id="{A839A2FE-7806-4E6A-963F-EE182AF20B9C}" type="slidenum">
              <a:rPr lang="en-US" altLang="zh-CN"/>
              <a:pPr/>
              <a:t>3</a:t>
            </a:fld>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Grp="1" noChangeArrowheads="1"/>
          </p:cNvSpPr>
          <p:nvPr>
            <p:ph type="title"/>
          </p:nvPr>
        </p:nvSpPr>
        <p:spPr>
          <a:xfrm>
            <a:off x="395288" y="404813"/>
            <a:ext cx="8448675" cy="915987"/>
          </a:xfrm>
        </p:spPr>
        <p:txBody>
          <a:bodyPr/>
          <a:lstStyle/>
          <a:p>
            <a:r>
              <a:rPr lang="zh-CN" altLang="en-US" sz="3200" b="1" dirty="0">
                <a:solidFill>
                  <a:srgbClr val="CC0000"/>
                </a:solidFill>
                <a:latin typeface="+mn-ea"/>
                <a:ea typeface="+mn-ea"/>
              </a:rPr>
              <a:t>常用整数的数值范围</a:t>
            </a:r>
          </a:p>
        </p:txBody>
      </p:sp>
      <p:sp>
        <p:nvSpPr>
          <p:cNvPr id="164866" name="Rectangle 2"/>
          <p:cNvSpPr>
            <a:spLocks noGrp="1" noChangeArrowheads="1"/>
          </p:cNvSpPr>
          <p:nvPr>
            <p:ph idx="1"/>
          </p:nvPr>
        </p:nvSpPr>
        <p:spPr>
          <a:xfrm>
            <a:off x="395288" y="1412875"/>
            <a:ext cx="8518525" cy="4824413"/>
          </a:xfrm>
        </p:spPr>
        <p:txBody>
          <a:bodyPr/>
          <a:lstStyle/>
          <a:p>
            <a:pPr algn="just"/>
            <a:r>
              <a:rPr lang="en-US" altLang="zh-CN" sz="3200" b="1" dirty="0">
                <a:solidFill>
                  <a:srgbClr val="0000FF"/>
                </a:solidFill>
                <a:latin typeface="Times New Roman" pitchFamily="18" charset="0"/>
                <a:sym typeface="Wingdings" pitchFamily="2" charset="2"/>
              </a:rPr>
              <a:t> </a:t>
            </a:r>
            <a:r>
              <a:rPr lang="zh-CN" altLang="en-US" sz="3200" b="1" dirty="0">
                <a:solidFill>
                  <a:srgbClr val="0000FF"/>
                </a:solidFill>
                <a:latin typeface="Times New Roman" pitchFamily="18" charset="0"/>
              </a:rPr>
              <a:t>用</a:t>
            </a:r>
            <a:r>
              <a:rPr lang="en-US" altLang="zh-CN" sz="3200" b="1" dirty="0">
                <a:solidFill>
                  <a:srgbClr val="0000FF"/>
                </a:solidFill>
                <a:latin typeface="Times New Roman" pitchFamily="18" charset="0"/>
              </a:rPr>
              <a:t>16</a:t>
            </a:r>
            <a:r>
              <a:rPr lang="zh-CN" altLang="en-US" sz="3200" b="1" dirty="0">
                <a:solidFill>
                  <a:srgbClr val="0000FF"/>
                </a:solidFill>
                <a:latin typeface="Times New Roman" pitchFamily="18" charset="0"/>
              </a:rPr>
              <a:t>个二进位存储一个整数</a:t>
            </a:r>
          </a:p>
          <a:p>
            <a:pPr algn="just">
              <a:buFont typeface="Monotype Sorts" pitchFamily="2" charset="2"/>
              <a:buNone/>
            </a:pPr>
            <a:r>
              <a:rPr lang="zh-CN" altLang="en-US" b="1" dirty="0">
                <a:solidFill>
                  <a:schemeClr val="tx2"/>
                </a:solidFill>
                <a:latin typeface="Times New Roman" pitchFamily="18" charset="0"/>
              </a:rPr>
              <a:t>带符号数值范围：</a:t>
            </a:r>
            <a:r>
              <a:rPr lang="en-US" altLang="zh-CN" sz="3200" b="1" dirty="0">
                <a:solidFill>
                  <a:srgbClr val="CC0066"/>
                </a:solidFill>
                <a:latin typeface="Times New Roman" pitchFamily="18" charset="0"/>
              </a:rPr>
              <a:t>- 32768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32767 </a:t>
            </a:r>
            <a:r>
              <a:rPr lang="en-US" altLang="zh-CN" sz="3200" b="1" dirty="0">
                <a:solidFill>
                  <a:srgbClr val="0000FF"/>
                </a:solidFill>
                <a:latin typeface="Times New Roman" pitchFamily="18" charset="0"/>
              </a:rPr>
              <a:t>( -2</a:t>
            </a:r>
            <a:r>
              <a:rPr lang="en-US" altLang="zh-CN" sz="3200" b="1" baseline="30000" dirty="0">
                <a:solidFill>
                  <a:srgbClr val="0000FF"/>
                </a:solidFill>
                <a:latin typeface="Times New Roman" pitchFamily="18" charset="0"/>
              </a:rPr>
              <a:t>15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15</a:t>
            </a:r>
            <a:r>
              <a:rPr lang="en-US" altLang="zh-CN" sz="3200" b="1" dirty="0">
                <a:solidFill>
                  <a:srgbClr val="0000FF"/>
                </a:solidFill>
                <a:latin typeface="Times New Roman" pitchFamily="18" charset="0"/>
              </a:rPr>
              <a:t>-1 )</a:t>
            </a:r>
          </a:p>
          <a:p>
            <a:pPr algn="just">
              <a:buFont typeface="Monotype Sorts" pitchFamily="2" charset="2"/>
              <a:buNone/>
            </a:pPr>
            <a:r>
              <a:rPr lang="zh-CN" altLang="en-US" b="1" dirty="0">
                <a:solidFill>
                  <a:schemeClr val="tx2"/>
                </a:solidFill>
                <a:latin typeface="Times New Roman" pitchFamily="18" charset="0"/>
              </a:rPr>
              <a:t>不带符号数值范围</a:t>
            </a:r>
            <a:r>
              <a:rPr lang="zh-CN" altLang="en-US" sz="3200" b="1" dirty="0">
                <a:solidFill>
                  <a:schemeClr val="tx2"/>
                </a:solidFill>
                <a:latin typeface="Times New Roman" pitchFamily="18" charset="0"/>
              </a:rPr>
              <a:t> </a:t>
            </a:r>
            <a:r>
              <a:rPr lang="en-US" altLang="zh-CN" sz="3200" b="1" dirty="0">
                <a:solidFill>
                  <a:srgbClr val="CC0066"/>
                </a:solidFill>
                <a:latin typeface="Times New Roman" pitchFamily="18" charset="0"/>
              </a:rPr>
              <a:t>0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65535 </a:t>
            </a:r>
            <a:r>
              <a:rPr lang="zh-CN" altLang="en-US" sz="3200" b="1" dirty="0">
                <a:solidFill>
                  <a:srgbClr val="0000FF"/>
                </a:solidFill>
                <a:latin typeface="Times New Roman" pitchFamily="18" charset="0"/>
              </a:rPr>
              <a:t>（</a:t>
            </a:r>
            <a:r>
              <a:rPr lang="en-US" altLang="zh-CN" sz="3200" b="1" dirty="0">
                <a:solidFill>
                  <a:srgbClr val="0000FF"/>
                </a:solidFill>
                <a:latin typeface="Times New Roman" pitchFamily="18" charset="0"/>
              </a:rPr>
              <a:t>0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16 </a:t>
            </a:r>
            <a:r>
              <a:rPr lang="en-US" altLang="zh-CN" sz="3200" b="1" dirty="0">
                <a:solidFill>
                  <a:srgbClr val="0000FF"/>
                </a:solidFill>
                <a:latin typeface="Times New Roman" pitchFamily="18" charset="0"/>
              </a:rPr>
              <a:t>- 1</a:t>
            </a:r>
            <a:r>
              <a:rPr lang="zh-CN" altLang="en-US" sz="3200" b="1" dirty="0">
                <a:solidFill>
                  <a:srgbClr val="0000FF"/>
                </a:solidFill>
                <a:latin typeface="Times New Roman" pitchFamily="18" charset="0"/>
              </a:rPr>
              <a:t>）</a:t>
            </a:r>
            <a:endParaRPr lang="zh-CN" altLang="en-US" sz="3200" b="1" dirty="0">
              <a:latin typeface="Times New Roman" pitchFamily="18" charset="0"/>
            </a:endParaRPr>
          </a:p>
          <a:p>
            <a:pPr algn="just"/>
            <a:r>
              <a:rPr lang="zh-CN" altLang="en-US" sz="3200" b="1" dirty="0">
                <a:solidFill>
                  <a:srgbClr val="0000FF"/>
                </a:solidFill>
                <a:latin typeface="Times New Roman" pitchFamily="18" charset="0"/>
                <a:sym typeface="Wingdings" pitchFamily="2" charset="2"/>
              </a:rPr>
              <a:t> </a:t>
            </a:r>
            <a:r>
              <a:rPr lang="zh-CN" altLang="en-US" sz="3200" b="1" dirty="0">
                <a:solidFill>
                  <a:srgbClr val="0000FF"/>
                </a:solidFill>
                <a:latin typeface="Times New Roman" pitchFamily="18" charset="0"/>
              </a:rPr>
              <a:t>用</a:t>
            </a:r>
            <a:r>
              <a:rPr lang="en-US" altLang="zh-CN" sz="3200" b="1" dirty="0">
                <a:solidFill>
                  <a:srgbClr val="0000FF"/>
                </a:solidFill>
                <a:latin typeface="Times New Roman" pitchFamily="18" charset="0"/>
              </a:rPr>
              <a:t>32</a:t>
            </a:r>
            <a:r>
              <a:rPr lang="zh-CN" altLang="en-US" sz="3200" b="1" dirty="0">
                <a:solidFill>
                  <a:srgbClr val="0000FF"/>
                </a:solidFill>
                <a:latin typeface="Times New Roman" pitchFamily="18" charset="0"/>
              </a:rPr>
              <a:t>个二进位存储一个整数</a:t>
            </a:r>
            <a:endParaRPr lang="zh-CN" altLang="en-US" sz="3200" b="1" dirty="0">
              <a:latin typeface="Times New Roman" pitchFamily="18" charset="0"/>
            </a:endParaRPr>
          </a:p>
          <a:p>
            <a:pPr algn="just">
              <a:buFont typeface="Monotype Sorts" pitchFamily="2" charset="2"/>
              <a:buNone/>
            </a:pPr>
            <a:r>
              <a:rPr lang="zh-CN" altLang="en-US" sz="3200" b="1" dirty="0">
                <a:latin typeface="Times New Roman" pitchFamily="18" charset="0"/>
              </a:rPr>
              <a:t>带符号数值范围是</a:t>
            </a:r>
          </a:p>
          <a:p>
            <a:pPr algn="just">
              <a:buFont typeface="Monotype Sorts" pitchFamily="2" charset="2"/>
              <a:buNone/>
            </a:pPr>
            <a:r>
              <a:rPr lang="zh-CN" altLang="en-US" sz="3200" b="1" dirty="0">
                <a:latin typeface="Times New Roman" pitchFamily="18" charset="0"/>
              </a:rPr>
              <a:t>    </a:t>
            </a:r>
            <a:r>
              <a:rPr lang="en-US" altLang="zh-CN" sz="3200" b="1" dirty="0">
                <a:solidFill>
                  <a:srgbClr val="CC0066"/>
                </a:solidFill>
                <a:latin typeface="Times New Roman" pitchFamily="18" charset="0"/>
              </a:rPr>
              <a:t>- 2147483648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2147483647 </a:t>
            </a:r>
            <a:r>
              <a:rPr lang="en-US" altLang="zh-CN" sz="3200" b="1" dirty="0">
                <a:solidFill>
                  <a:srgbClr val="0000FF"/>
                </a:solidFill>
                <a:latin typeface="Times New Roman" pitchFamily="18" charset="0"/>
              </a:rPr>
              <a:t>( -2</a:t>
            </a:r>
            <a:r>
              <a:rPr lang="en-US" altLang="zh-CN" sz="3200" b="1" baseline="30000" dirty="0">
                <a:solidFill>
                  <a:srgbClr val="0000FF"/>
                </a:solidFill>
                <a:latin typeface="Times New Roman" pitchFamily="18" charset="0"/>
              </a:rPr>
              <a:t>31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31</a:t>
            </a:r>
            <a:r>
              <a:rPr lang="en-US" altLang="zh-CN" sz="3200" b="1" dirty="0">
                <a:solidFill>
                  <a:srgbClr val="0000FF"/>
                </a:solidFill>
                <a:latin typeface="Times New Roman" pitchFamily="18" charset="0"/>
              </a:rPr>
              <a:t>-1 )</a:t>
            </a:r>
            <a:endParaRPr lang="en-US" altLang="zh-CN" sz="3200" b="1" dirty="0">
              <a:latin typeface="Times New Roman" pitchFamily="18" charset="0"/>
            </a:endParaRPr>
          </a:p>
          <a:p>
            <a:pPr>
              <a:buFont typeface="Monotype Sorts" pitchFamily="2" charset="2"/>
              <a:buNone/>
            </a:pPr>
            <a:r>
              <a:rPr lang="zh-CN" altLang="en-US" sz="3200" b="1" dirty="0">
                <a:latin typeface="Times New Roman" pitchFamily="18" charset="0"/>
              </a:rPr>
              <a:t>不带符号数值范围是</a:t>
            </a:r>
          </a:p>
          <a:p>
            <a:pPr>
              <a:buFont typeface="Monotype Sorts" pitchFamily="2" charset="2"/>
              <a:buNone/>
            </a:pPr>
            <a:r>
              <a:rPr lang="zh-CN" altLang="en-US" sz="3200" b="1" dirty="0">
                <a:latin typeface="Times New Roman" pitchFamily="18" charset="0"/>
              </a:rPr>
              <a:t>      </a:t>
            </a:r>
            <a:r>
              <a:rPr lang="en-US" altLang="zh-CN" sz="3200" b="1" dirty="0">
                <a:solidFill>
                  <a:srgbClr val="CC0066"/>
                </a:solidFill>
                <a:latin typeface="Times New Roman" pitchFamily="18" charset="0"/>
              </a:rPr>
              <a:t>0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4294967295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0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32 </a:t>
            </a:r>
            <a:r>
              <a:rPr lang="en-US" altLang="zh-CN" sz="3200" b="1" dirty="0">
                <a:solidFill>
                  <a:srgbClr val="0000FF"/>
                </a:solidFill>
                <a:latin typeface="Times New Roman" pitchFamily="18" charset="0"/>
              </a:rPr>
              <a:t>- 1</a:t>
            </a:r>
            <a:r>
              <a:rPr lang="zh-CN" altLang="en-US" sz="3200" b="1" dirty="0">
                <a:solidFill>
                  <a:srgbClr val="0000FF"/>
                </a:solidFill>
                <a:latin typeface="Times New Roman" pitchFamily="18" charset="0"/>
              </a:rPr>
              <a:t>）</a:t>
            </a:r>
          </a:p>
        </p:txBody>
      </p:sp>
      <p:sp>
        <p:nvSpPr>
          <p:cNvPr id="6" name="灯片编号占位符 5"/>
          <p:cNvSpPr>
            <a:spLocks noGrp="1"/>
          </p:cNvSpPr>
          <p:nvPr>
            <p:ph type="sldNum" sz="quarter" idx="12"/>
          </p:nvPr>
        </p:nvSpPr>
        <p:spPr/>
        <p:txBody>
          <a:bodyPr/>
          <a:lstStyle/>
          <a:p>
            <a:fld id="{6CF56DA8-A04F-48A6-ABC8-B4E5B45A274A}" type="slidenum">
              <a:rPr lang="en-US" altLang="zh-CN"/>
              <a:pPr/>
              <a:t>4</a:t>
            </a:fld>
            <a:endParaRPr lang="en-US" altLang="zh-CN"/>
          </a:p>
        </p:txBody>
      </p:sp>
      <p:sp>
        <p:nvSpPr>
          <p:cNvPr id="5" name="TextBox 4"/>
          <p:cNvSpPr txBox="1"/>
          <p:nvPr/>
        </p:nvSpPr>
        <p:spPr>
          <a:xfrm>
            <a:off x="4786314" y="0"/>
            <a:ext cx="4000528" cy="2031325"/>
          </a:xfrm>
          <a:prstGeom prst="rect">
            <a:avLst/>
          </a:prstGeom>
          <a:solidFill>
            <a:schemeClr val="accent1">
              <a:lumMod val="40000"/>
              <a:lumOff val="60000"/>
            </a:schemeClr>
          </a:solidFill>
        </p:spPr>
        <p:txBody>
          <a:bodyPr wrap="square" rtlCol="0">
            <a:spAutoFit/>
          </a:bodyPr>
          <a:lstStyle/>
          <a:p>
            <a:r>
              <a:rPr lang="en-US" altLang="zh-CN" b="1" dirty="0">
                <a:solidFill>
                  <a:srgbClr val="FF0000"/>
                </a:solidFill>
                <a:effectLst>
                  <a:outerShdw blurRad="38100" dist="38100" dir="2700000" algn="tl">
                    <a:srgbClr val="000000">
                      <a:alpha val="43137"/>
                    </a:srgbClr>
                  </a:outerShdw>
                </a:effectLst>
              </a:rPr>
              <a:t>8</a:t>
            </a:r>
            <a:r>
              <a:rPr lang="zh-CN" altLang="en-US" b="1" dirty="0">
                <a:solidFill>
                  <a:srgbClr val="FF0000"/>
                </a:solidFill>
                <a:effectLst>
                  <a:outerShdw blurRad="38100" dist="38100" dir="2700000" algn="tl">
                    <a:srgbClr val="000000">
                      <a:alpha val="43137"/>
                    </a:srgbClr>
                  </a:outerShdw>
                </a:effectLst>
              </a:rPr>
              <a:t>个</a:t>
            </a:r>
            <a:r>
              <a:rPr lang="en-US" altLang="zh-CN" b="1" dirty="0">
                <a:solidFill>
                  <a:srgbClr val="FF0000"/>
                </a:solidFill>
                <a:effectLst>
                  <a:outerShdw blurRad="38100" dist="38100" dir="2700000" algn="tl">
                    <a:srgbClr val="000000">
                      <a:alpha val="43137"/>
                    </a:srgbClr>
                  </a:outerShdw>
                </a:effectLst>
              </a:rPr>
              <a:t>2</a:t>
            </a:r>
            <a:r>
              <a:rPr lang="zh-CN" altLang="en-US" b="1" dirty="0">
                <a:solidFill>
                  <a:srgbClr val="FF0000"/>
                </a:solidFill>
                <a:effectLst>
                  <a:outerShdw blurRad="38100" dist="38100" dir="2700000" algn="tl">
                    <a:srgbClr val="000000">
                      <a:alpha val="43137"/>
                    </a:srgbClr>
                  </a:outerShdw>
                </a:effectLst>
              </a:rPr>
              <a:t>进制位（</a:t>
            </a:r>
            <a:r>
              <a:rPr lang="en-US" altLang="zh-CN" b="1" dirty="0">
                <a:solidFill>
                  <a:srgbClr val="FF0000"/>
                </a:solidFill>
                <a:effectLst>
                  <a:outerShdw blurRad="38100" dist="38100" dir="2700000" algn="tl">
                    <a:srgbClr val="000000">
                      <a:alpha val="43137"/>
                    </a:srgbClr>
                  </a:outerShdw>
                </a:effectLst>
              </a:rPr>
              <a:t>bit</a:t>
            </a:r>
            <a:r>
              <a:rPr lang="zh-CN" altLang="en-US" b="1" dirty="0">
                <a:solidFill>
                  <a:srgbClr val="FF0000"/>
                </a:solidFill>
                <a:effectLst>
                  <a:outerShdw blurRad="38100" dist="38100" dir="2700000" algn="tl">
                    <a:srgbClr val="000000">
                      <a:alpha val="43137"/>
                    </a:srgbClr>
                  </a:outerShdw>
                </a:effectLst>
              </a:rPr>
              <a:t>）称为一个</a:t>
            </a:r>
            <a:endParaRPr lang="en-US" altLang="zh-CN" b="1" dirty="0">
              <a:solidFill>
                <a:srgbClr val="FF0000"/>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字节（</a:t>
            </a:r>
            <a:r>
              <a:rPr lang="en-US" altLang="zh-CN" b="1" dirty="0">
                <a:solidFill>
                  <a:srgbClr val="FF0000"/>
                </a:solidFill>
                <a:effectLst>
                  <a:outerShdw blurRad="38100" dist="38100" dir="2700000" algn="tl">
                    <a:srgbClr val="000000">
                      <a:alpha val="43137"/>
                    </a:srgbClr>
                  </a:outerShdw>
                </a:effectLst>
              </a:rPr>
              <a:t>byte</a:t>
            </a:r>
            <a:r>
              <a:rPr lang="zh-CN" altLang="en-US" b="1" dirty="0">
                <a:solidFill>
                  <a:srgbClr val="FF0000"/>
                </a:solidFill>
                <a:effectLst>
                  <a:outerShdw blurRad="38100" dist="38100" dir="2700000" algn="tl">
                    <a:srgbClr val="000000">
                      <a:alpha val="43137"/>
                    </a:srgbClr>
                  </a:outerShdw>
                </a:effectLst>
              </a:rPr>
              <a:t>），计算机内存空间</a:t>
            </a:r>
            <a:endParaRPr lang="en-US" altLang="zh-CN" b="1" dirty="0">
              <a:solidFill>
                <a:srgbClr val="FF0000"/>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按字节划分。</a:t>
            </a:r>
            <a:r>
              <a:rPr lang="en-US" altLang="zh-CN" b="1" dirty="0" err="1">
                <a:solidFill>
                  <a:srgbClr val="FF0000"/>
                </a:solidFill>
                <a:effectLst>
                  <a:outerShdw blurRad="38100" dist="38100" dir="2700000" algn="tl">
                    <a:srgbClr val="000000">
                      <a:alpha val="43137"/>
                    </a:srgbClr>
                  </a:outerShdw>
                </a:effectLst>
              </a:rPr>
              <a:t>int</a:t>
            </a:r>
            <a:r>
              <a:rPr lang="zh-CN" altLang="en-US" b="1" dirty="0">
                <a:solidFill>
                  <a:srgbClr val="FF0000"/>
                </a:solidFill>
                <a:effectLst>
                  <a:outerShdw blurRad="38100" dist="38100" dir="2700000" algn="tl">
                    <a:srgbClr val="000000">
                      <a:alpha val="43137"/>
                    </a:srgbClr>
                  </a:outerShdw>
                </a:effectLst>
              </a:rPr>
              <a:t> 型 一般用</a:t>
            </a:r>
            <a:r>
              <a:rPr lang="en-US" altLang="zh-CN" b="1" dirty="0">
                <a:solidFill>
                  <a:srgbClr val="FF0000"/>
                </a:solidFill>
                <a:effectLst>
                  <a:outerShdw blurRad="38100" dist="38100" dir="2700000" algn="tl">
                    <a:srgbClr val="000000">
                      <a:alpha val="43137"/>
                    </a:srgbClr>
                  </a:outerShdw>
                </a:effectLst>
              </a:rPr>
              <a:t>2</a:t>
            </a:r>
            <a:r>
              <a:rPr lang="zh-CN" altLang="en-US" b="1" dirty="0">
                <a:solidFill>
                  <a:srgbClr val="FF0000"/>
                </a:solidFill>
                <a:effectLst>
                  <a:outerShdw blurRad="38100" dist="38100" dir="2700000" algn="tl">
                    <a:srgbClr val="000000">
                      <a:alpha val="43137"/>
                    </a:srgbClr>
                  </a:outerShdw>
                </a:effectLst>
              </a:rPr>
              <a:t>个字节（</a:t>
            </a:r>
            <a:r>
              <a:rPr lang="en-US" altLang="zh-CN" b="1" dirty="0">
                <a:solidFill>
                  <a:srgbClr val="FF0000"/>
                </a:solidFill>
                <a:effectLst>
                  <a:outerShdw blurRad="38100" dist="38100" dir="2700000" algn="tl">
                    <a:srgbClr val="000000">
                      <a:alpha val="43137"/>
                    </a:srgbClr>
                  </a:outerShdw>
                </a:effectLst>
              </a:rPr>
              <a:t>16bit</a:t>
            </a:r>
            <a:r>
              <a:rPr lang="zh-CN" altLang="en-US" b="1" dirty="0">
                <a:solidFill>
                  <a:srgbClr val="FF0000"/>
                </a:solidFill>
                <a:effectLst>
                  <a:outerShdw blurRad="38100" dist="38100" dir="2700000" algn="tl">
                    <a:srgbClr val="000000">
                      <a:alpha val="43137"/>
                    </a:srgbClr>
                  </a:outerShdw>
                </a:effectLst>
              </a:rPr>
              <a:t>）表示，</a:t>
            </a:r>
            <a:r>
              <a:rPr lang="en-US" altLang="zh-CN" b="1" dirty="0">
                <a:solidFill>
                  <a:srgbClr val="FF0000"/>
                </a:solidFill>
                <a:effectLst>
                  <a:outerShdw blurRad="38100" dist="38100" dir="2700000" algn="tl">
                    <a:srgbClr val="000000">
                      <a:alpha val="43137"/>
                    </a:srgbClr>
                  </a:outerShdw>
                </a:effectLst>
              </a:rPr>
              <a:t>short</a:t>
            </a:r>
            <a:r>
              <a:rPr lang="zh-CN" altLang="en-US" b="1" dirty="0">
                <a:solidFill>
                  <a:srgbClr val="FF0000"/>
                </a:solidFill>
                <a:effectLst>
                  <a:outerShdw blurRad="38100" dist="38100" dir="2700000" algn="tl">
                    <a:srgbClr val="000000">
                      <a:alpha val="43137"/>
                    </a:srgbClr>
                  </a:outerShdw>
                </a:effectLst>
              </a:rPr>
              <a:t> 型的字节数不多于</a:t>
            </a:r>
            <a:r>
              <a:rPr lang="en-US" altLang="zh-CN" b="1" dirty="0" err="1">
                <a:solidFill>
                  <a:srgbClr val="FF0000"/>
                </a:solidFill>
                <a:effectLst>
                  <a:outerShdw blurRad="38100" dist="38100" dir="2700000" algn="tl">
                    <a:srgbClr val="000000">
                      <a:alpha val="43137"/>
                    </a:srgbClr>
                  </a:outerShdw>
                </a:effectLst>
              </a:rPr>
              <a:t>int</a:t>
            </a:r>
            <a:r>
              <a:rPr lang="zh-CN" altLang="en-US" b="1" dirty="0">
                <a:solidFill>
                  <a:srgbClr val="FF0000"/>
                </a:solidFill>
                <a:effectLst>
                  <a:outerShdw blurRad="38100" dist="38100" dir="2700000" algn="tl">
                    <a:srgbClr val="000000">
                      <a:alpha val="43137"/>
                    </a:srgbClr>
                  </a:outerShdw>
                </a:effectLst>
              </a:rPr>
              <a:t>，</a:t>
            </a:r>
            <a:r>
              <a:rPr lang="en-US" altLang="zh-CN" b="1" dirty="0">
                <a:solidFill>
                  <a:srgbClr val="FF0000"/>
                </a:solidFill>
                <a:effectLst>
                  <a:outerShdw blurRad="38100" dist="38100" dir="2700000" algn="tl">
                    <a:srgbClr val="000000">
                      <a:alpha val="43137"/>
                    </a:srgbClr>
                  </a:outerShdw>
                </a:effectLst>
              </a:rPr>
              <a:t>long</a:t>
            </a:r>
            <a:r>
              <a:rPr lang="zh-CN" altLang="en-US" b="1" dirty="0">
                <a:solidFill>
                  <a:srgbClr val="FF0000"/>
                </a:solidFill>
                <a:effectLst>
                  <a:outerShdw blurRad="38100" dist="38100" dir="2700000" algn="tl">
                    <a:srgbClr val="000000">
                      <a:alpha val="43137"/>
                    </a:srgbClr>
                  </a:outerShdw>
                </a:effectLst>
              </a:rPr>
              <a:t>的不少于</a:t>
            </a:r>
            <a:r>
              <a:rPr lang="en-US" altLang="zh-CN" b="1" dirty="0" err="1">
                <a:solidFill>
                  <a:srgbClr val="FF0000"/>
                </a:solidFill>
                <a:effectLst>
                  <a:outerShdw blurRad="38100" dist="38100" dir="2700000" algn="tl">
                    <a:srgbClr val="000000">
                      <a:alpha val="43137"/>
                    </a:srgbClr>
                  </a:outerShdw>
                </a:effectLst>
              </a:rPr>
              <a:t>int</a:t>
            </a:r>
            <a:r>
              <a:rPr lang="zh-CN" altLang="en-US" b="1" dirty="0">
                <a:solidFill>
                  <a:srgbClr val="FF0000"/>
                </a:solidFill>
                <a:effectLst>
                  <a:outerShdw blurRad="38100" dist="38100" dir="2700000" algn="tl">
                    <a:srgbClr val="000000">
                      <a:alpha val="43137"/>
                    </a:srgbClr>
                  </a:outerShdw>
                </a:effectLst>
              </a:rPr>
              <a:t>。具体分配与编译系统有关</a:t>
            </a:r>
            <a:endParaRPr lang="en-US" altLang="zh-CN" b="1" dirty="0">
              <a:solidFill>
                <a:srgbClr val="FF0000"/>
              </a:solidFill>
              <a:effectLst>
                <a:outerShdw blurRad="38100" dist="38100" dir="2700000" algn="tl">
                  <a:srgbClr val="000000">
                    <a:alpha val="43137"/>
                  </a:srgbClr>
                </a:outerShdw>
              </a:effectLst>
            </a:endParaRPr>
          </a:p>
          <a:p>
            <a:endParaRPr lang="zh-CN" altLang="en-US" dirty="0">
              <a:solidFill>
                <a:srgbClr val="7030A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idx="1"/>
          </p:nvPr>
        </p:nvSpPr>
        <p:spPr>
          <a:xfrm>
            <a:off x="395288" y="549275"/>
            <a:ext cx="8518525" cy="5688013"/>
          </a:xfrm>
        </p:spPr>
        <p:txBody>
          <a:bodyPr/>
          <a:lstStyle/>
          <a:p>
            <a:pPr marL="0" indent="0">
              <a:buFont typeface="Monotype Sorts" pitchFamily="2" charset="2"/>
              <a:buNone/>
            </a:pPr>
            <a:endPar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在计算机中，负整数用补码表示。</a:t>
            </a:r>
          </a:p>
          <a:p>
            <a:pPr marL="0" indent="0">
              <a:buFont typeface="Monotype Sorts" pitchFamily="2" charset="2"/>
              <a:buNone/>
            </a:pPr>
            <a:endPar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若</a:t>
            </a:r>
            <a:r>
              <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rPr>
              <a:t>x</a:t>
            </a: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是一个正整数，则</a:t>
            </a:r>
            <a:r>
              <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rPr>
              <a:t>-x</a:t>
            </a: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的补码表示是</a:t>
            </a:r>
            <a:r>
              <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rPr>
              <a:t>x</a:t>
            </a: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的反码加上</a:t>
            </a:r>
            <a:r>
              <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rPr>
              <a:t>1</a:t>
            </a: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a:t>
            </a:r>
          </a:p>
          <a:p>
            <a:pPr marL="0" indent="0">
              <a:buFont typeface="Monotype Sorts" pitchFamily="2" charset="2"/>
              <a:buNone/>
            </a:pPr>
            <a:endPar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effectLst>
                  <a:outerShdw blurRad="38100" dist="38100" dir="2700000" algn="tl">
                    <a:srgbClr val="000000"/>
                  </a:outerShdw>
                </a:effectLst>
                <a:latin typeface="楷体_GB2312" pitchFamily="49" charset="-122"/>
                <a:ea typeface="楷体_GB2312" pitchFamily="49" charset="-122"/>
              </a:rPr>
              <a:t>用补码表示负整数是为了简化整数的运算</a:t>
            </a:r>
          </a:p>
        </p:txBody>
      </p:sp>
      <p:sp>
        <p:nvSpPr>
          <p:cNvPr id="5" name="灯片编号占位符 5"/>
          <p:cNvSpPr>
            <a:spLocks noGrp="1"/>
          </p:cNvSpPr>
          <p:nvPr>
            <p:ph type="sldNum" sz="quarter" idx="12"/>
          </p:nvPr>
        </p:nvSpPr>
        <p:spPr/>
        <p:txBody>
          <a:bodyPr/>
          <a:lstStyle/>
          <a:p>
            <a:fld id="{B3162308-78F1-4F7D-8049-F477780E6DB6}" type="slidenum">
              <a:rPr lang="en-US" altLang="zh-CN"/>
              <a:pPr/>
              <a:t>5</a:t>
            </a:fld>
            <a:endParaRPr lang="en-US" altLang="zh-CN"/>
          </a:p>
        </p:txBody>
      </p:sp>
      <p:sp>
        <p:nvSpPr>
          <p:cNvPr id="4" name="Rectangle 3"/>
          <p:cNvSpPr/>
          <p:nvPr/>
        </p:nvSpPr>
        <p:spPr>
          <a:xfrm>
            <a:off x="395536" y="3978930"/>
            <a:ext cx="8358214" cy="1754326"/>
          </a:xfrm>
          <a:prstGeom prst="rect">
            <a:avLst/>
          </a:prstGeom>
        </p:spPr>
        <p:txBody>
          <a:bodyPr wrap="square">
            <a:spAutoFit/>
          </a:bodyPr>
          <a:lstStyle/>
          <a:p>
            <a:r>
              <a:rPr lang="en-US" altLang="zh-CN" b="1" dirty="0"/>
              <a:t>x =1        </a:t>
            </a:r>
            <a:r>
              <a:rPr lang="zh-CN" altLang="en-US" b="1" dirty="0"/>
              <a:t>       </a:t>
            </a:r>
            <a:r>
              <a:rPr lang="en-US" altLang="zh-CN" b="1" dirty="0"/>
              <a:t>0 0 0 0 0 0 0 0 0 0 0 0 0 0 0 1</a:t>
            </a:r>
          </a:p>
          <a:p>
            <a:r>
              <a:rPr lang="en-US" altLang="zh-CN" b="1" dirty="0"/>
              <a:t>       </a:t>
            </a:r>
            <a:r>
              <a:rPr lang="zh-CN" altLang="en-US" b="1" dirty="0"/>
              <a:t> </a:t>
            </a:r>
            <a:r>
              <a:rPr lang="en-US" altLang="zh-CN" b="1" dirty="0"/>
              <a:t> </a:t>
            </a:r>
            <a:r>
              <a:rPr lang="zh-CN" altLang="en-US" sz="3200" b="1" dirty="0"/>
              <a:t>反码</a:t>
            </a:r>
            <a:r>
              <a:rPr lang="zh-CN" altLang="en-US" b="1" dirty="0"/>
              <a:t>      </a:t>
            </a:r>
            <a:r>
              <a:rPr lang="en-US" altLang="zh-CN" b="1" dirty="0"/>
              <a:t>1 1 1 1 1 1 1 1 1 1 1 1 1 1 1 0</a:t>
            </a:r>
          </a:p>
          <a:p>
            <a:r>
              <a:rPr lang="en-US" altLang="zh-CN" b="1" dirty="0"/>
              <a:t> -1     </a:t>
            </a:r>
            <a:r>
              <a:rPr lang="zh-CN" altLang="en-US" sz="3200" b="1" dirty="0"/>
              <a:t>补码</a:t>
            </a:r>
            <a:r>
              <a:rPr lang="zh-CN" altLang="en-US" b="1" dirty="0"/>
              <a:t> </a:t>
            </a:r>
            <a:r>
              <a:rPr lang="en-US" altLang="zh-CN" b="1" dirty="0"/>
              <a:t>     1 1 1 1 1 1 1 1 1 1 1 1 1 1 1 1</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idx="1"/>
          </p:nvPr>
        </p:nvSpPr>
        <p:spPr>
          <a:xfrm>
            <a:off x="285720" y="857232"/>
            <a:ext cx="8628093" cy="5572164"/>
          </a:xfrm>
        </p:spPr>
        <p:txBody>
          <a:bodyPr>
            <a:normAutofit fontScale="92500" lnSpcReduction="10000"/>
          </a:bodyPr>
          <a:lstStyle/>
          <a:p>
            <a:r>
              <a:rPr lang="zh-CN" altLang="en-US" sz="3200" b="1" dirty="0">
                <a:solidFill>
                  <a:srgbClr val="C00000"/>
                </a:solidFill>
              </a:rPr>
              <a:t>带符号整型数据与无符号整型数据的区别</a:t>
            </a:r>
            <a:r>
              <a:rPr lang="en-US" altLang="zh-CN" sz="3200" b="1" dirty="0">
                <a:solidFill>
                  <a:srgbClr val="C00000"/>
                </a:solidFill>
              </a:rPr>
              <a:t>:</a:t>
            </a:r>
            <a:endParaRPr lang="zh-CN" altLang="en-US" sz="2800" b="1" dirty="0">
              <a:solidFill>
                <a:srgbClr val="C00000"/>
              </a:solidFill>
            </a:endParaRPr>
          </a:p>
          <a:p>
            <a:pPr>
              <a:buNone/>
            </a:pPr>
            <a:r>
              <a:rPr lang="zh-CN" altLang="en-US" sz="2800" b="1" dirty="0"/>
              <a:t>设整数用</a:t>
            </a:r>
            <a:r>
              <a:rPr lang="en-US" altLang="zh-CN" sz="2800" b="1" dirty="0"/>
              <a:t>16</a:t>
            </a:r>
            <a:r>
              <a:rPr lang="zh-CN" altLang="en-US" sz="2800" b="1" dirty="0"/>
              <a:t>位二进位表示</a:t>
            </a:r>
          </a:p>
          <a:p>
            <a:r>
              <a:rPr lang="zh-CN" altLang="en-US" sz="2800" b="1" dirty="0"/>
              <a:t>带符号整数，代码：</a:t>
            </a:r>
            <a:r>
              <a:rPr lang="en-US" altLang="zh-CN" sz="2800" b="1" dirty="0"/>
              <a:t>0 1 1 1 1 1 1 1 1 1 1 1 1 1 1 1</a:t>
            </a:r>
          </a:p>
          <a:p>
            <a:pPr>
              <a:buFont typeface="Monotype Sorts" pitchFamily="2" charset="2"/>
              <a:buNone/>
            </a:pPr>
            <a:r>
              <a:rPr lang="en-US" altLang="zh-CN" sz="2800" b="1" dirty="0">
                <a:cs typeface="Arial" charset="0"/>
              </a:rPr>
              <a:t>  </a:t>
            </a:r>
            <a:r>
              <a:rPr lang="zh-CN" altLang="en-US" sz="2800" b="1" dirty="0">
                <a:cs typeface="Arial" charset="0"/>
              </a:rPr>
              <a:t>最高位是</a:t>
            </a:r>
            <a:r>
              <a:rPr lang="zh-CN" altLang="en-US" sz="2800" b="1" dirty="0"/>
              <a:t>符号位：</a:t>
            </a:r>
            <a:r>
              <a:rPr lang="en-US" altLang="zh-CN" sz="2800" b="1" dirty="0">
                <a:solidFill>
                  <a:srgbClr val="C00000"/>
                </a:solidFill>
              </a:rPr>
              <a:t>0</a:t>
            </a:r>
            <a:r>
              <a:rPr lang="zh-CN" altLang="en-US" sz="2800" b="1" dirty="0">
                <a:solidFill>
                  <a:srgbClr val="C00000"/>
                </a:solidFill>
              </a:rPr>
              <a:t>表示正 </a:t>
            </a:r>
            <a:r>
              <a:rPr lang="en-US" altLang="zh-CN" sz="2800" b="1" dirty="0">
                <a:solidFill>
                  <a:srgbClr val="C00000"/>
                </a:solidFill>
              </a:rPr>
              <a:t>/1表示负</a:t>
            </a:r>
            <a:r>
              <a:rPr lang="en-US" altLang="zh-CN" sz="2800" b="1" dirty="0"/>
              <a:t>，</a:t>
            </a:r>
            <a:r>
              <a:rPr lang="zh-CN" altLang="en-US" sz="2800" b="1" dirty="0"/>
              <a:t>其余各位是数据位，最大值为</a:t>
            </a:r>
            <a:r>
              <a:rPr lang="en-US" altLang="zh-CN" sz="2800" b="1" dirty="0"/>
              <a:t>32767</a:t>
            </a:r>
            <a:r>
              <a:rPr lang="zh-CN" altLang="en-US" sz="2800" b="1" dirty="0"/>
              <a:t>（即</a:t>
            </a:r>
            <a:r>
              <a:rPr lang="en-US" altLang="zh-CN" sz="2800" b="1" dirty="0"/>
              <a:t>2</a:t>
            </a:r>
            <a:r>
              <a:rPr lang="en-US" altLang="zh-CN" sz="2800" b="1" baseline="30000" dirty="0"/>
              <a:t>15</a:t>
            </a:r>
            <a:r>
              <a:rPr lang="en-US" altLang="zh-CN" sz="2800" b="1" dirty="0"/>
              <a:t>-1</a:t>
            </a:r>
            <a:r>
              <a:rPr lang="zh-CN" altLang="en-US" sz="2800" b="1" dirty="0"/>
              <a:t>）</a:t>
            </a:r>
            <a:endParaRPr lang="en-US" altLang="zh-CN" sz="2800" b="1" dirty="0"/>
          </a:p>
          <a:p>
            <a:pPr>
              <a:buFont typeface="Monotype Sorts" pitchFamily="2" charset="2"/>
              <a:buNone/>
            </a:pPr>
            <a:endParaRPr lang="zh-CN" altLang="en-US" sz="2800" b="1" dirty="0"/>
          </a:p>
          <a:p>
            <a:r>
              <a:rPr lang="zh-CN" altLang="en-US" sz="2800" b="1" dirty="0"/>
              <a:t>带符号整数，代码： </a:t>
            </a:r>
            <a:r>
              <a:rPr lang="en-US" altLang="zh-CN" sz="2800" b="1" dirty="0"/>
              <a:t>1 1 1 1 1 1 1 1 1 1 1 1 1 1 1 1</a:t>
            </a:r>
          </a:p>
          <a:p>
            <a:pPr>
              <a:buNone/>
            </a:pPr>
            <a:r>
              <a:rPr lang="en-US" altLang="zh-CN" sz="2800" b="1" dirty="0">
                <a:cs typeface="Arial" charset="0"/>
              </a:rPr>
              <a:t> </a:t>
            </a:r>
            <a:r>
              <a:rPr lang="zh-CN" altLang="en-US" sz="2800" b="1" dirty="0">
                <a:cs typeface="Arial" charset="0"/>
              </a:rPr>
              <a:t>最高位是</a:t>
            </a:r>
            <a:r>
              <a:rPr lang="zh-CN" altLang="en-US" sz="2800" b="1" dirty="0"/>
              <a:t>符号位：</a:t>
            </a:r>
            <a:r>
              <a:rPr lang="en-US" altLang="zh-CN" sz="2800" b="1" dirty="0"/>
              <a:t>0</a:t>
            </a:r>
            <a:r>
              <a:rPr lang="zh-CN" altLang="en-US" sz="2800" b="1" dirty="0"/>
              <a:t>表示正</a:t>
            </a:r>
            <a:r>
              <a:rPr lang="en-US" altLang="zh-CN" sz="2800" b="1" dirty="0"/>
              <a:t>/1表示负</a:t>
            </a:r>
            <a:r>
              <a:rPr lang="zh-CN" altLang="en-US" sz="2800" b="1" dirty="0"/>
              <a:t>，其余各位是数据位，一个全</a:t>
            </a:r>
            <a:r>
              <a:rPr lang="en-US" altLang="zh-CN" sz="2800" b="1" dirty="0"/>
              <a:t>1的二进位数，其对应的</a:t>
            </a:r>
            <a:r>
              <a:rPr lang="zh-CN" altLang="en-US" sz="2800" b="1" dirty="0"/>
              <a:t>值为 </a:t>
            </a:r>
            <a:r>
              <a:rPr lang="en-US" altLang="zh-CN" sz="2800" b="1" dirty="0"/>
              <a:t>-1</a:t>
            </a:r>
            <a:r>
              <a:rPr lang="zh-CN" altLang="en-US" sz="2800" b="1" dirty="0"/>
              <a:t>（</a:t>
            </a:r>
            <a:r>
              <a:rPr lang="zh-CN" altLang="en-US" sz="2800" b="1" dirty="0">
                <a:solidFill>
                  <a:srgbClr val="C00000"/>
                </a:solidFill>
              </a:rPr>
              <a:t>负数用补码表示</a:t>
            </a:r>
            <a:r>
              <a:rPr lang="zh-CN" altLang="en-US" sz="2800" b="1" dirty="0"/>
              <a:t>）</a:t>
            </a:r>
            <a:endParaRPr lang="en-US" altLang="zh-CN" sz="2800" b="1" dirty="0"/>
          </a:p>
          <a:p>
            <a:pPr>
              <a:buNone/>
            </a:pPr>
            <a:endParaRPr lang="zh-CN" altLang="en-US" sz="2800" b="1" dirty="0"/>
          </a:p>
          <a:p>
            <a:r>
              <a:rPr lang="zh-CN" altLang="en-US" sz="2800" b="1" dirty="0"/>
              <a:t>无符号整数，代码：</a:t>
            </a:r>
            <a:r>
              <a:rPr lang="en-US" altLang="zh-CN" sz="2800" b="1" dirty="0"/>
              <a:t>1 1 1 1 1 1 1 1 1 1 1 1 1 1 1 1</a:t>
            </a:r>
          </a:p>
          <a:p>
            <a:pPr>
              <a:buFont typeface="Monotype Sorts" pitchFamily="2" charset="2"/>
              <a:buNone/>
            </a:pPr>
            <a:r>
              <a:rPr lang="en-US" altLang="zh-CN" sz="2800" b="1" dirty="0"/>
              <a:t>   16</a:t>
            </a:r>
            <a:r>
              <a:rPr lang="zh-CN" altLang="en-US" sz="2800" b="1" dirty="0"/>
              <a:t>位二进位都是数据位，值为</a:t>
            </a:r>
            <a:r>
              <a:rPr lang="en-US" altLang="zh-CN" sz="2800" b="1" dirty="0"/>
              <a:t>65535</a:t>
            </a:r>
            <a:r>
              <a:rPr lang="zh-CN" altLang="en-US" sz="2800" b="1" dirty="0"/>
              <a:t>（即</a:t>
            </a:r>
            <a:r>
              <a:rPr lang="en-US" altLang="zh-CN" sz="2800" b="1" dirty="0"/>
              <a:t>2</a:t>
            </a:r>
            <a:r>
              <a:rPr lang="en-US" altLang="zh-CN" sz="2800" b="1" baseline="30000" dirty="0"/>
              <a:t>16</a:t>
            </a:r>
            <a:r>
              <a:rPr lang="en-US" altLang="zh-CN" sz="2800" b="1" dirty="0"/>
              <a:t>-1</a:t>
            </a:r>
            <a:r>
              <a:rPr lang="zh-CN" altLang="en-US" sz="2800" b="1" dirty="0"/>
              <a:t>）</a:t>
            </a:r>
          </a:p>
        </p:txBody>
      </p:sp>
      <p:sp>
        <p:nvSpPr>
          <p:cNvPr id="5" name="灯片编号占位符 5"/>
          <p:cNvSpPr>
            <a:spLocks noGrp="1"/>
          </p:cNvSpPr>
          <p:nvPr>
            <p:ph type="sldNum" sz="quarter" idx="12"/>
          </p:nvPr>
        </p:nvSpPr>
        <p:spPr/>
        <p:txBody>
          <a:bodyPr/>
          <a:lstStyle/>
          <a:p>
            <a:fld id="{08956B9F-2723-4C1B-AB97-52C6A62A578B}" type="slidenum">
              <a:rPr lang="en-US" altLang="zh-CN"/>
              <a:pPr/>
              <a:t>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4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42">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104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Rectangle 2051"/>
          <p:cNvSpPr>
            <a:spLocks noGrp="1" noChangeArrowheads="1"/>
          </p:cNvSpPr>
          <p:nvPr>
            <p:ph type="title"/>
          </p:nvPr>
        </p:nvSpPr>
        <p:spPr>
          <a:xfrm>
            <a:off x="395288" y="260350"/>
            <a:ext cx="8064500" cy="936625"/>
          </a:xfrm>
        </p:spPr>
        <p:txBody>
          <a:bodyPr/>
          <a:lstStyle/>
          <a:p>
            <a:r>
              <a:rPr lang="zh-CN" altLang="en-US" sz="3600" b="1" dirty="0">
                <a:solidFill>
                  <a:schemeClr val="tx1"/>
                </a:solidFill>
                <a:latin typeface="黑体" pitchFamily="2" charset="-122"/>
                <a:ea typeface="黑体" pitchFamily="2" charset="-122"/>
              </a:rPr>
              <a:t>整型常量的书写形式</a:t>
            </a:r>
          </a:p>
        </p:txBody>
      </p:sp>
      <p:sp>
        <p:nvSpPr>
          <p:cNvPr id="165890" name="Rectangle 2050"/>
          <p:cNvSpPr>
            <a:spLocks noGrp="1" noChangeArrowheads="1"/>
          </p:cNvSpPr>
          <p:nvPr>
            <p:ph idx="1"/>
          </p:nvPr>
        </p:nvSpPr>
        <p:spPr>
          <a:xfrm>
            <a:off x="611188" y="1268413"/>
            <a:ext cx="8137525" cy="5256212"/>
          </a:xfrm>
        </p:spPr>
        <p:txBody>
          <a:bodyPr>
            <a:normAutofit/>
          </a:bodyPr>
          <a:lstStyle/>
          <a:p>
            <a:pPr marL="0" indent="0" algn="just"/>
            <a:r>
              <a:rPr lang="zh-CN" altLang="en-US" b="1" dirty="0">
                <a:solidFill>
                  <a:srgbClr val="0000FF"/>
                </a:solidFill>
                <a:effectLst>
                  <a:outerShdw blurRad="38100" dist="38100" dir="2700000" algn="tl">
                    <a:srgbClr val="000000"/>
                  </a:outerShdw>
                </a:effectLst>
                <a:latin typeface="宋体" pitchFamily="2" charset="-122"/>
              </a:rPr>
              <a:t> </a:t>
            </a:r>
            <a:r>
              <a:rPr lang="zh-CN" altLang="en-US" b="1" dirty="0">
                <a:solidFill>
                  <a:schemeClr val="tx2"/>
                </a:solidFill>
                <a:latin typeface="黑体" pitchFamily="2" charset="-122"/>
                <a:ea typeface="黑体" pitchFamily="2" charset="-122"/>
              </a:rPr>
              <a:t>十进制整数：</a:t>
            </a:r>
            <a:r>
              <a:rPr lang="zh-CN" altLang="en-US" b="1" dirty="0">
                <a:latin typeface="宋体" pitchFamily="2" charset="-122"/>
              </a:rPr>
              <a:t>如 </a:t>
            </a:r>
            <a:r>
              <a:rPr lang="en-US" altLang="zh-CN" b="1" dirty="0">
                <a:solidFill>
                  <a:srgbClr val="FF3300"/>
                </a:solidFill>
                <a:latin typeface="宋体" pitchFamily="2" charset="-122"/>
              </a:rPr>
              <a:t>0</a:t>
            </a:r>
            <a:r>
              <a:rPr lang="zh-CN" altLang="en-US" b="1" dirty="0">
                <a:latin typeface="宋体" pitchFamily="2" charset="-122"/>
              </a:rPr>
              <a:t>，</a:t>
            </a:r>
            <a:r>
              <a:rPr lang="en-US" altLang="zh-CN" b="1" dirty="0">
                <a:solidFill>
                  <a:srgbClr val="FF3300"/>
                </a:solidFill>
                <a:latin typeface="宋体" pitchFamily="2" charset="-122"/>
              </a:rPr>
              <a:t>123</a:t>
            </a:r>
            <a:r>
              <a:rPr lang="zh-CN" altLang="en-US" b="1" dirty="0">
                <a:latin typeface="宋体" pitchFamily="2" charset="-122"/>
              </a:rPr>
              <a:t>，</a:t>
            </a:r>
            <a:r>
              <a:rPr lang="en-US" altLang="zh-CN" b="1" dirty="0">
                <a:solidFill>
                  <a:srgbClr val="FF3300"/>
                </a:solidFill>
                <a:latin typeface="宋体" pitchFamily="2" charset="-122"/>
              </a:rPr>
              <a:t>-45</a:t>
            </a:r>
            <a:r>
              <a:rPr lang="zh-CN" altLang="en-US" b="1" dirty="0">
                <a:latin typeface="宋体" pitchFamily="2" charset="-122"/>
              </a:rPr>
              <a:t>。</a:t>
            </a:r>
            <a:endParaRPr lang="en-US" altLang="zh-CN" b="1" dirty="0">
              <a:latin typeface="宋体" pitchFamily="2" charset="-122"/>
            </a:endParaRPr>
          </a:p>
          <a:p>
            <a:pPr marL="0" indent="0" algn="just"/>
            <a:r>
              <a:rPr lang="zh-CN" altLang="en-US" b="1" dirty="0">
                <a:solidFill>
                  <a:schemeClr val="tx2"/>
                </a:solidFill>
                <a:latin typeface="黑体" pitchFamily="2" charset="-122"/>
                <a:ea typeface="黑体" pitchFamily="2" charset="-122"/>
              </a:rPr>
              <a:t> 八进制整数：</a:t>
            </a:r>
            <a:r>
              <a:rPr lang="zh-CN" altLang="en-US" b="1" dirty="0">
                <a:solidFill>
                  <a:srgbClr val="FF3300"/>
                </a:solidFill>
                <a:latin typeface="宋体" pitchFamily="2" charset="-122"/>
              </a:rPr>
              <a:t>以数字</a:t>
            </a:r>
            <a:r>
              <a:rPr lang="en-US" altLang="zh-CN" b="1" dirty="0">
                <a:solidFill>
                  <a:srgbClr val="FF3300"/>
                </a:solidFill>
                <a:latin typeface="宋体" pitchFamily="2" charset="-122"/>
              </a:rPr>
              <a:t>0</a:t>
            </a:r>
            <a:r>
              <a:rPr lang="zh-CN" altLang="en-US" b="1" dirty="0">
                <a:solidFill>
                  <a:srgbClr val="FF3300"/>
                </a:solidFill>
                <a:latin typeface="宋体" pitchFamily="2" charset="-122"/>
              </a:rPr>
              <a:t>开头</a:t>
            </a:r>
            <a:r>
              <a:rPr lang="zh-CN" altLang="en-US" b="1" dirty="0">
                <a:latin typeface="宋体" pitchFamily="2" charset="-122"/>
              </a:rPr>
              <a:t>，并由</a:t>
            </a:r>
            <a:r>
              <a:rPr lang="en-US" altLang="zh-CN" b="1" dirty="0">
                <a:latin typeface="宋体" pitchFamily="2" charset="-122"/>
              </a:rPr>
              <a:t>0</a:t>
            </a:r>
            <a:r>
              <a:rPr lang="zh-CN" altLang="en-US" b="1" dirty="0">
                <a:latin typeface="宋体" pitchFamily="2" charset="-122"/>
              </a:rPr>
              <a:t>～</a:t>
            </a:r>
            <a:r>
              <a:rPr lang="en-US" altLang="zh-CN" b="1" dirty="0">
                <a:latin typeface="宋体" pitchFamily="2" charset="-122"/>
              </a:rPr>
              <a:t>7</a:t>
            </a:r>
            <a:r>
              <a:rPr lang="zh-CN" altLang="en-US" b="1" dirty="0">
                <a:latin typeface="宋体" pitchFamily="2" charset="-122"/>
              </a:rPr>
              <a:t>组成的数字符序列。如：</a:t>
            </a:r>
            <a:r>
              <a:rPr lang="en-US" altLang="zh-CN" b="1" dirty="0">
                <a:solidFill>
                  <a:srgbClr val="FF3300"/>
                </a:solidFill>
                <a:latin typeface="宋体" pitchFamily="2" charset="-122"/>
              </a:rPr>
              <a:t>0123</a:t>
            </a:r>
            <a:r>
              <a:rPr lang="zh-CN" altLang="en-US" b="1" dirty="0">
                <a:latin typeface="宋体" pitchFamily="2" charset="-122"/>
              </a:rPr>
              <a:t>表示八进制整数，其值等于十进制整数为：</a:t>
            </a:r>
            <a:r>
              <a:rPr lang="en-US" altLang="zh-CN" sz="2800" b="1" dirty="0">
                <a:solidFill>
                  <a:srgbClr val="C00000"/>
                </a:solidFill>
                <a:latin typeface="宋体" pitchFamily="2" charset="-122"/>
              </a:rPr>
              <a:t>1*8</a:t>
            </a:r>
            <a:r>
              <a:rPr lang="en-US" altLang="zh-CN" sz="2800" b="1" baseline="30000" dirty="0">
                <a:solidFill>
                  <a:srgbClr val="C00000"/>
                </a:solidFill>
                <a:latin typeface="宋体" pitchFamily="2" charset="-122"/>
              </a:rPr>
              <a:t>2</a:t>
            </a:r>
            <a:r>
              <a:rPr lang="en-US" altLang="zh-CN" sz="2800" b="1" dirty="0">
                <a:solidFill>
                  <a:srgbClr val="C00000"/>
                </a:solidFill>
                <a:latin typeface="宋体" pitchFamily="2" charset="-122"/>
              </a:rPr>
              <a:t> + 2*8</a:t>
            </a:r>
            <a:r>
              <a:rPr lang="en-US" altLang="zh-CN" sz="2800" b="1" baseline="30000" dirty="0">
                <a:solidFill>
                  <a:srgbClr val="C00000"/>
                </a:solidFill>
                <a:latin typeface="宋体" pitchFamily="2" charset="-122"/>
              </a:rPr>
              <a:t>1 </a:t>
            </a:r>
            <a:r>
              <a:rPr lang="en-US" altLang="zh-CN" sz="2800" b="1" dirty="0">
                <a:solidFill>
                  <a:srgbClr val="C00000"/>
                </a:solidFill>
                <a:latin typeface="宋体" pitchFamily="2" charset="-122"/>
              </a:rPr>
              <a:t>+ 3 = 83</a:t>
            </a:r>
            <a:endParaRPr lang="en-US" altLang="zh-CN" b="1" dirty="0">
              <a:solidFill>
                <a:srgbClr val="C00000"/>
              </a:solidFill>
              <a:latin typeface="宋体" pitchFamily="2" charset="-122"/>
            </a:endParaRPr>
          </a:p>
          <a:p>
            <a:pPr marL="0" indent="0" algn="just"/>
            <a:r>
              <a:rPr lang="zh-CN" b="1" dirty="0">
                <a:solidFill>
                  <a:srgbClr val="0000FF"/>
                </a:solidFill>
                <a:latin typeface="宋体" pitchFamily="2" charset="-122"/>
              </a:rPr>
              <a:t> </a:t>
            </a:r>
            <a:r>
              <a:rPr lang="zh-CN" altLang="en-US" b="1" dirty="0">
                <a:solidFill>
                  <a:schemeClr val="tx2"/>
                </a:solidFill>
                <a:latin typeface="黑体" pitchFamily="2" charset="-122"/>
                <a:ea typeface="黑体" pitchFamily="2" charset="-122"/>
              </a:rPr>
              <a:t>十六进制整数：</a:t>
            </a:r>
            <a:r>
              <a:rPr lang="zh-CN" altLang="en-US" b="1" dirty="0">
                <a:solidFill>
                  <a:srgbClr val="FF3300"/>
                </a:solidFill>
                <a:latin typeface="宋体" pitchFamily="2" charset="-122"/>
              </a:rPr>
              <a:t>以</a:t>
            </a:r>
            <a:r>
              <a:rPr lang="en-US" altLang="zh-CN" b="1" dirty="0">
                <a:solidFill>
                  <a:srgbClr val="FF3300"/>
                </a:solidFill>
                <a:latin typeface="宋体" pitchFamily="2" charset="-122"/>
              </a:rPr>
              <a:t>0x(</a:t>
            </a:r>
            <a:r>
              <a:rPr lang="zh-CN" altLang="en-US" b="1" dirty="0">
                <a:solidFill>
                  <a:srgbClr val="FF3300"/>
                </a:solidFill>
                <a:latin typeface="宋体" pitchFamily="2" charset="-122"/>
              </a:rPr>
              <a:t>或</a:t>
            </a:r>
            <a:r>
              <a:rPr lang="en-US" altLang="zh-CN" b="1" dirty="0">
                <a:solidFill>
                  <a:srgbClr val="FF3300"/>
                </a:solidFill>
                <a:latin typeface="宋体" pitchFamily="2" charset="-122"/>
              </a:rPr>
              <a:t>0X)</a:t>
            </a:r>
            <a:r>
              <a:rPr lang="zh-CN" altLang="en-US" b="1" dirty="0">
                <a:solidFill>
                  <a:srgbClr val="FF3300"/>
                </a:solidFill>
                <a:latin typeface="宋体" pitchFamily="2" charset="-122"/>
              </a:rPr>
              <a:t>开头</a:t>
            </a:r>
            <a:r>
              <a:rPr lang="zh-CN" altLang="en-US" b="1" dirty="0">
                <a:latin typeface="宋体" pitchFamily="2" charset="-122"/>
              </a:rPr>
              <a:t>，并由十六进制数的数字符组成的数字符序列。表示十六进制数的数字符有 </a:t>
            </a:r>
            <a:r>
              <a:rPr lang="en-US" altLang="zh-CN" b="1" dirty="0">
                <a:latin typeface="宋体" pitchFamily="2" charset="-122"/>
              </a:rPr>
              <a:t>16 </a:t>
            </a:r>
            <a:r>
              <a:rPr lang="zh-CN" altLang="en-US" b="1" dirty="0">
                <a:latin typeface="宋体" pitchFamily="2" charset="-122"/>
              </a:rPr>
              <a:t>个：</a:t>
            </a:r>
            <a:r>
              <a:rPr lang="en-US" altLang="zh-CN" b="1" dirty="0">
                <a:latin typeface="宋体" pitchFamily="2" charset="-122"/>
              </a:rPr>
              <a:t>0</a:t>
            </a:r>
            <a:r>
              <a:rPr lang="zh-CN" altLang="en-US" b="1" dirty="0">
                <a:latin typeface="宋体" pitchFamily="2" charset="-122"/>
              </a:rPr>
              <a:t>～</a:t>
            </a:r>
            <a:r>
              <a:rPr lang="en-US" altLang="zh-CN" b="1" dirty="0">
                <a:latin typeface="宋体" pitchFamily="2" charset="-122"/>
              </a:rPr>
              <a:t>9 </a:t>
            </a:r>
            <a:r>
              <a:rPr lang="zh-CN" altLang="en-US" b="1" dirty="0">
                <a:latin typeface="宋体" pitchFamily="2" charset="-122"/>
              </a:rPr>
              <a:t>和 </a:t>
            </a:r>
            <a:r>
              <a:rPr lang="en-US" altLang="zh-CN" b="1" dirty="0">
                <a:latin typeface="宋体" pitchFamily="2" charset="-122"/>
              </a:rPr>
              <a:t>A</a:t>
            </a:r>
            <a:r>
              <a:rPr lang="zh-CN" altLang="en-US" b="1" dirty="0">
                <a:latin typeface="宋体" pitchFamily="2" charset="-122"/>
              </a:rPr>
              <a:t>、</a:t>
            </a:r>
            <a:r>
              <a:rPr lang="en-US" altLang="zh-CN" b="1" dirty="0">
                <a:latin typeface="宋体" pitchFamily="2" charset="-122"/>
              </a:rPr>
              <a:t>B</a:t>
            </a:r>
            <a:r>
              <a:rPr lang="zh-CN" altLang="en-US" b="1" dirty="0">
                <a:latin typeface="宋体" pitchFamily="2" charset="-122"/>
              </a:rPr>
              <a:t>、</a:t>
            </a:r>
            <a:r>
              <a:rPr lang="en-US" altLang="zh-CN" b="1" dirty="0">
                <a:latin typeface="宋体" pitchFamily="2" charset="-122"/>
              </a:rPr>
              <a:t>C</a:t>
            </a:r>
            <a:r>
              <a:rPr lang="zh-CN" altLang="en-US" b="1" dirty="0">
                <a:latin typeface="宋体" pitchFamily="2" charset="-122"/>
              </a:rPr>
              <a:t>、</a:t>
            </a:r>
            <a:r>
              <a:rPr lang="en-US" altLang="zh-CN" b="1" dirty="0">
                <a:latin typeface="宋体" pitchFamily="2" charset="-122"/>
              </a:rPr>
              <a:t>D</a:t>
            </a:r>
            <a:r>
              <a:rPr lang="zh-CN" altLang="en-US" b="1" dirty="0">
                <a:latin typeface="宋体" pitchFamily="2" charset="-122"/>
              </a:rPr>
              <a:t>、</a:t>
            </a:r>
            <a:r>
              <a:rPr lang="en-US" altLang="zh-CN" b="1" dirty="0">
                <a:latin typeface="宋体" pitchFamily="2" charset="-122"/>
              </a:rPr>
              <a:t>E</a:t>
            </a:r>
            <a:r>
              <a:rPr lang="zh-CN" altLang="en-US" b="1" dirty="0">
                <a:latin typeface="宋体" pitchFamily="2" charset="-122"/>
              </a:rPr>
              <a:t>、</a:t>
            </a:r>
            <a:r>
              <a:rPr lang="en-US" altLang="zh-CN" b="1" dirty="0">
                <a:latin typeface="宋体" pitchFamily="2" charset="-122"/>
              </a:rPr>
              <a:t>F</a:t>
            </a:r>
            <a:r>
              <a:rPr lang="zh-CN" altLang="en-US" b="1" dirty="0">
                <a:latin typeface="宋体" pitchFamily="2" charset="-122"/>
              </a:rPr>
              <a:t>，其中六个字母也可以小写</a:t>
            </a:r>
          </a:p>
          <a:p>
            <a:pPr marL="0" indent="0" algn="just">
              <a:buFont typeface="Monotype Sorts" pitchFamily="2" charset="2"/>
              <a:buNone/>
            </a:pPr>
            <a:r>
              <a:rPr lang="zh-CN" altLang="en-US" b="1" dirty="0">
                <a:latin typeface="宋体" pitchFamily="2" charset="-122"/>
              </a:rPr>
              <a:t>如：</a:t>
            </a:r>
            <a:r>
              <a:rPr lang="en-US" altLang="zh-CN" b="1" dirty="0">
                <a:solidFill>
                  <a:srgbClr val="FF3300"/>
                </a:solidFill>
                <a:latin typeface="宋体" pitchFamily="2" charset="-122"/>
              </a:rPr>
              <a:t>0x123</a:t>
            </a:r>
            <a:r>
              <a:rPr lang="zh-CN" altLang="en-US" b="1" dirty="0">
                <a:latin typeface="宋体" pitchFamily="2" charset="-122"/>
              </a:rPr>
              <a:t>表示十六进制整数，其值等于十进制整数为：</a:t>
            </a:r>
            <a:r>
              <a:rPr lang="en-US" altLang="zh-CN" b="1" dirty="0">
                <a:solidFill>
                  <a:srgbClr val="C00000"/>
                </a:solidFill>
                <a:latin typeface="宋体" pitchFamily="2" charset="-122"/>
              </a:rPr>
              <a:t>1*16</a:t>
            </a:r>
            <a:r>
              <a:rPr lang="en-US" altLang="zh-CN" b="1" baseline="30000" dirty="0">
                <a:solidFill>
                  <a:srgbClr val="C00000"/>
                </a:solidFill>
                <a:latin typeface="宋体" pitchFamily="2" charset="-122"/>
              </a:rPr>
              <a:t>2</a:t>
            </a:r>
            <a:r>
              <a:rPr lang="en-US" altLang="zh-CN" b="1" dirty="0">
                <a:solidFill>
                  <a:srgbClr val="C00000"/>
                </a:solidFill>
                <a:latin typeface="宋体" pitchFamily="2" charset="-122"/>
              </a:rPr>
              <a:t> + 2*16</a:t>
            </a:r>
            <a:r>
              <a:rPr lang="en-US" altLang="zh-CN" b="1" baseline="30000" dirty="0">
                <a:solidFill>
                  <a:srgbClr val="C00000"/>
                </a:solidFill>
                <a:latin typeface="宋体" pitchFamily="2" charset="-122"/>
              </a:rPr>
              <a:t>1</a:t>
            </a:r>
            <a:r>
              <a:rPr lang="en-US" altLang="zh-CN" b="1" dirty="0">
                <a:solidFill>
                  <a:srgbClr val="C00000"/>
                </a:solidFill>
                <a:latin typeface="宋体" pitchFamily="2" charset="-122"/>
              </a:rPr>
              <a:t> + 3 = 291</a:t>
            </a:r>
            <a:endParaRPr lang="en-US" altLang="zh-CN" b="1" dirty="0">
              <a:latin typeface="宋体" pitchFamily="2" charset="-122"/>
            </a:endParaRPr>
          </a:p>
          <a:p>
            <a:pPr marL="0" indent="0" algn="just">
              <a:buFont typeface="Monotype Sorts" pitchFamily="2" charset="2"/>
              <a:buNone/>
            </a:pPr>
            <a:r>
              <a:rPr lang="en-US" altLang="zh-CN" b="1" dirty="0">
                <a:solidFill>
                  <a:srgbClr val="FF3300"/>
                </a:solidFill>
                <a:latin typeface="宋体" pitchFamily="2" charset="-122"/>
              </a:rPr>
              <a:t>0xabc</a:t>
            </a:r>
            <a:r>
              <a:rPr lang="zh-CN" altLang="en-US" b="1" dirty="0">
                <a:latin typeface="宋体" pitchFamily="2" charset="-122"/>
              </a:rPr>
              <a:t>，其值等于</a:t>
            </a:r>
            <a:r>
              <a:rPr lang="en-US" altLang="zh-CN" b="1" dirty="0">
                <a:solidFill>
                  <a:srgbClr val="C00000"/>
                </a:solidFill>
                <a:latin typeface="宋体" pitchFamily="2" charset="-122"/>
              </a:rPr>
              <a:t>10*16</a:t>
            </a:r>
            <a:r>
              <a:rPr lang="en-US" altLang="zh-CN" b="1" baseline="30000" dirty="0">
                <a:solidFill>
                  <a:srgbClr val="C00000"/>
                </a:solidFill>
                <a:latin typeface="宋体" pitchFamily="2" charset="-122"/>
              </a:rPr>
              <a:t>2</a:t>
            </a:r>
            <a:r>
              <a:rPr lang="en-US" altLang="zh-CN" b="1" dirty="0">
                <a:solidFill>
                  <a:srgbClr val="C00000"/>
                </a:solidFill>
                <a:latin typeface="宋体" pitchFamily="2" charset="-122"/>
              </a:rPr>
              <a:t> + 11*16</a:t>
            </a:r>
            <a:r>
              <a:rPr lang="en-US" altLang="zh-CN" b="1" baseline="30000" dirty="0">
                <a:solidFill>
                  <a:srgbClr val="C00000"/>
                </a:solidFill>
                <a:latin typeface="宋体" pitchFamily="2" charset="-122"/>
              </a:rPr>
              <a:t>1</a:t>
            </a:r>
            <a:r>
              <a:rPr lang="en-US" altLang="zh-CN" b="1" dirty="0">
                <a:solidFill>
                  <a:srgbClr val="C00000"/>
                </a:solidFill>
                <a:latin typeface="宋体" pitchFamily="2" charset="-122"/>
              </a:rPr>
              <a:t> + 12 = 2748</a:t>
            </a:r>
          </a:p>
          <a:p>
            <a:pPr marL="0" indent="0" algn="just"/>
            <a:endParaRPr lang="zh-CN" altLang="en-US" b="1" dirty="0">
              <a:latin typeface="宋体" pitchFamily="2" charset="-122"/>
            </a:endParaRPr>
          </a:p>
        </p:txBody>
      </p:sp>
      <p:sp>
        <p:nvSpPr>
          <p:cNvPr id="6" name="灯片编号占位符 5"/>
          <p:cNvSpPr>
            <a:spLocks noGrp="1"/>
          </p:cNvSpPr>
          <p:nvPr>
            <p:ph type="sldNum" sz="quarter" idx="12"/>
          </p:nvPr>
        </p:nvSpPr>
        <p:spPr/>
        <p:txBody>
          <a:bodyPr/>
          <a:lstStyle/>
          <a:p>
            <a:fld id="{38365DA8-86BB-4148-B13E-5E76F969448D}" type="slidenum">
              <a:rPr lang="en-US" altLang="zh-CN"/>
              <a:pPr/>
              <a:t>7</a:t>
            </a:fld>
            <a:endParaRPr lang="en-US" altLang="zh-CN"/>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title"/>
          </p:nvPr>
        </p:nvSpPr>
        <p:spPr>
          <a:xfrm>
            <a:off x="714348" y="214290"/>
            <a:ext cx="8088313" cy="1143000"/>
          </a:xfrm>
        </p:spPr>
        <p:txBody>
          <a:bodyPr>
            <a:normAutofit/>
          </a:bodyPr>
          <a:lstStyle/>
          <a:p>
            <a:r>
              <a:rPr lang="zh-CN" altLang="en-US" sz="4000" b="1" dirty="0">
                <a:solidFill>
                  <a:schemeClr val="tx1"/>
                </a:solidFill>
                <a:latin typeface="黑体" pitchFamily="2" charset="-122"/>
                <a:ea typeface="黑体" pitchFamily="2" charset="-122"/>
              </a:rPr>
              <a:t>长整型整数和无符号整数的表示</a:t>
            </a:r>
          </a:p>
        </p:txBody>
      </p:sp>
      <p:sp>
        <p:nvSpPr>
          <p:cNvPr id="166914" name="Rectangle 2"/>
          <p:cNvSpPr>
            <a:spLocks noGrp="1" noChangeArrowheads="1"/>
          </p:cNvSpPr>
          <p:nvPr>
            <p:ph idx="1"/>
          </p:nvPr>
        </p:nvSpPr>
        <p:spPr>
          <a:xfrm>
            <a:off x="611188" y="1341438"/>
            <a:ext cx="7935912" cy="4967287"/>
          </a:xfrm>
        </p:spPr>
        <p:txBody>
          <a:bodyPr/>
          <a:lstStyle/>
          <a:p>
            <a:pPr marL="623888" indent="-623888" algn="just">
              <a:lnSpc>
                <a:spcPct val="90000"/>
              </a:lnSpc>
            </a:pPr>
            <a:r>
              <a:rPr lang="en-US" altLang="zh-CN" sz="3200" b="1" dirty="0">
                <a:latin typeface="宋体" pitchFamily="2" charset="-122"/>
              </a:rPr>
              <a:t>long </a:t>
            </a:r>
            <a:r>
              <a:rPr lang="zh-CN" altLang="en-US" sz="3200" b="1" dirty="0">
                <a:latin typeface="宋体" pitchFamily="2" charset="-122"/>
              </a:rPr>
              <a:t>型整数：在整型常数后加字母 </a:t>
            </a:r>
            <a:r>
              <a:rPr lang="en-US" altLang="zh-CN" sz="3200" b="1" dirty="0">
                <a:latin typeface="宋体" pitchFamily="2" charset="-122"/>
              </a:rPr>
              <a:t>L </a:t>
            </a:r>
            <a:r>
              <a:rPr lang="zh-CN" altLang="en-US" sz="3200" b="1" dirty="0">
                <a:latin typeface="宋体" pitchFamily="2" charset="-122"/>
              </a:rPr>
              <a:t>或 </a:t>
            </a:r>
            <a:r>
              <a:rPr lang="en-US" altLang="zh-CN" sz="3200" b="1" dirty="0">
                <a:latin typeface="宋体" pitchFamily="2" charset="-122"/>
              </a:rPr>
              <a:t>l</a:t>
            </a:r>
            <a:r>
              <a:rPr lang="zh-CN" altLang="en-US" sz="3200" b="1" dirty="0">
                <a:latin typeface="宋体" pitchFamily="2" charset="-122"/>
              </a:rPr>
              <a:t>，即为</a:t>
            </a:r>
            <a:r>
              <a:rPr lang="en-US" altLang="zh-CN" sz="3200" b="1" dirty="0">
                <a:latin typeface="宋体" pitchFamily="2" charset="-122"/>
              </a:rPr>
              <a:t>long </a:t>
            </a:r>
            <a:r>
              <a:rPr lang="zh-CN" altLang="en-US" sz="3200" b="1" dirty="0">
                <a:latin typeface="宋体" pitchFamily="2" charset="-122"/>
              </a:rPr>
              <a:t>型整型常数。</a:t>
            </a:r>
          </a:p>
          <a:p>
            <a:pPr marL="623888" indent="-623888" algn="just">
              <a:lnSpc>
                <a:spcPct val="90000"/>
              </a:lnSpc>
              <a:buNone/>
            </a:pPr>
            <a:r>
              <a:rPr lang="zh-CN" altLang="en-US" sz="3200" b="1" dirty="0">
                <a:latin typeface="宋体" pitchFamily="2" charset="-122"/>
              </a:rPr>
              <a:t>   例如：</a:t>
            </a:r>
            <a:r>
              <a:rPr lang="en-US" altLang="zh-CN" sz="3200" b="1" dirty="0">
                <a:solidFill>
                  <a:srgbClr val="FF3300"/>
                </a:solidFill>
                <a:latin typeface="宋体" pitchFamily="2" charset="-122"/>
              </a:rPr>
              <a:t>0L</a:t>
            </a:r>
            <a:r>
              <a:rPr lang="zh-CN" altLang="en-US" sz="3200" b="1" dirty="0">
                <a:latin typeface="宋体" pitchFamily="2" charset="-122"/>
              </a:rPr>
              <a:t>、</a:t>
            </a:r>
            <a:r>
              <a:rPr lang="en-US" altLang="zh-CN" sz="3200" b="1" dirty="0">
                <a:solidFill>
                  <a:srgbClr val="FF3300"/>
                </a:solidFill>
                <a:latin typeface="宋体" pitchFamily="2" charset="-122"/>
              </a:rPr>
              <a:t>132L </a:t>
            </a:r>
            <a:r>
              <a:rPr lang="zh-CN" altLang="en-US" sz="3200" b="1" dirty="0">
                <a:latin typeface="宋体" pitchFamily="2" charset="-122"/>
              </a:rPr>
              <a:t>等。</a:t>
            </a:r>
            <a:r>
              <a:rPr lang="zh-CN" altLang="en-US" sz="3200" dirty="0">
                <a:solidFill>
                  <a:srgbClr val="FF0000"/>
                </a:solidFill>
                <a:latin typeface="宋体" pitchFamily="2" charset="-122"/>
              </a:rPr>
              <a:t> </a:t>
            </a:r>
          </a:p>
          <a:p>
            <a:pPr marL="623888" indent="-623888" algn="just">
              <a:lnSpc>
                <a:spcPct val="90000"/>
              </a:lnSpc>
            </a:pPr>
            <a:r>
              <a:rPr lang="zh-CN" altLang="en-US" sz="3200" b="1" dirty="0">
                <a:latin typeface="宋体" pitchFamily="2" charset="-122"/>
              </a:rPr>
              <a:t>无符号的整型：在整型常数后加字母 </a:t>
            </a:r>
            <a:r>
              <a:rPr lang="en-US" altLang="zh-CN" sz="3200" b="1" dirty="0">
                <a:latin typeface="宋体" pitchFamily="2" charset="-122"/>
              </a:rPr>
              <a:t>U </a:t>
            </a:r>
            <a:r>
              <a:rPr lang="zh-CN" altLang="en-US" sz="3200" b="1" dirty="0">
                <a:latin typeface="宋体" pitchFamily="2" charset="-122"/>
              </a:rPr>
              <a:t>或 </a:t>
            </a:r>
            <a:r>
              <a:rPr lang="en-US" altLang="zh-CN" sz="3200" b="1" dirty="0">
                <a:latin typeface="宋体" pitchFamily="2" charset="-122"/>
              </a:rPr>
              <a:t>u</a:t>
            </a:r>
            <a:r>
              <a:rPr lang="zh-CN" altLang="en-US" sz="3200" b="1" dirty="0">
                <a:latin typeface="宋体" pitchFamily="2" charset="-122"/>
              </a:rPr>
              <a:t>，即为</a:t>
            </a:r>
            <a:r>
              <a:rPr lang="zh-CN" altLang="en-US" sz="3200" b="1" dirty="0">
                <a:solidFill>
                  <a:srgbClr val="0000FF"/>
                </a:solidFill>
                <a:latin typeface="宋体" pitchFamily="2" charset="-122"/>
              </a:rPr>
              <a:t> </a:t>
            </a:r>
            <a:r>
              <a:rPr lang="en-US" altLang="zh-CN" sz="3200" b="1" dirty="0">
                <a:solidFill>
                  <a:srgbClr val="CC0066"/>
                </a:solidFill>
                <a:latin typeface="宋体" pitchFamily="2" charset="-122"/>
              </a:rPr>
              <a:t>unsigned</a:t>
            </a:r>
            <a:r>
              <a:rPr lang="en-US" altLang="zh-CN" sz="3200" b="1" dirty="0">
                <a:solidFill>
                  <a:srgbClr val="0000FF"/>
                </a:solidFill>
                <a:latin typeface="宋体" pitchFamily="2" charset="-122"/>
              </a:rPr>
              <a:t> </a:t>
            </a:r>
            <a:r>
              <a:rPr lang="zh-CN" altLang="en-US" sz="3200" b="1" dirty="0">
                <a:latin typeface="宋体" pitchFamily="2" charset="-122"/>
              </a:rPr>
              <a:t>型整型常数。例如：</a:t>
            </a:r>
            <a:r>
              <a:rPr lang="en-US" altLang="zh-CN" sz="3200" b="1" dirty="0">
                <a:solidFill>
                  <a:srgbClr val="FF3300"/>
                </a:solidFill>
                <a:latin typeface="宋体" pitchFamily="2" charset="-122"/>
              </a:rPr>
              <a:t>1U</a:t>
            </a:r>
            <a:r>
              <a:rPr lang="zh-CN" altLang="en-US" sz="3200" b="1" dirty="0">
                <a:latin typeface="宋体" pitchFamily="2" charset="-122"/>
              </a:rPr>
              <a:t>、</a:t>
            </a:r>
            <a:r>
              <a:rPr lang="en-US" altLang="zh-CN" sz="3200" b="1" dirty="0">
                <a:solidFill>
                  <a:srgbClr val="FF3300"/>
                </a:solidFill>
                <a:latin typeface="宋体" pitchFamily="2" charset="-122"/>
              </a:rPr>
              <a:t>122U</a:t>
            </a:r>
            <a:r>
              <a:rPr lang="en-US" altLang="zh-CN" sz="3200" b="1" dirty="0">
                <a:solidFill>
                  <a:srgbClr val="0000FF"/>
                </a:solidFill>
                <a:latin typeface="宋体" pitchFamily="2" charset="-122"/>
              </a:rPr>
              <a:t> </a:t>
            </a:r>
            <a:r>
              <a:rPr lang="zh-CN" altLang="en-US" sz="3200" b="1" dirty="0">
                <a:latin typeface="宋体" pitchFamily="2" charset="-122"/>
              </a:rPr>
              <a:t>等。</a:t>
            </a:r>
          </a:p>
          <a:p>
            <a:pPr marL="623888" indent="-623888" algn="just">
              <a:lnSpc>
                <a:spcPct val="90000"/>
              </a:lnSpc>
            </a:pPr>
            <a:r>
              <a:rPr lang="zh-CN" altLang="en-US" sz="3200" b="1" dirty="0">
                <a:latin typeface="宋体" pitchFamily="2" charset="-122"/>
              </a:rPr>
              <a:t>无符号的 </a:t>
            </a:r>
            <a:r>
              <a:rPr lang="en-US" altLang="zh-CN" sz="3200" b="1" dirty="0">
                <a:latin typeface="宋体" pitchFamily="2" charset="-122"/>
              </a:rPr>
              <a:t>long </a:t>
            </a:r>
            <a:r>
              <a:rPr lang="zh-CN" altLang="en-US" sz="3200" b="1" dirty="0">
                <a:latin typeface="宋体" pitchFamily="2" charset="-122"/>
              </a:rPr>
              <a:t>型整数：在整型常数后同时加上字母 </a:t>
            </a:r>
            <a:r>
              <a:rPr lang="en-US" altLang="zh-CN" sz="3200" b="1" dirty="0">
                <a:latin typeface="宋体" pitchFamily="2" charset="-122"/>
              </a:rPr>
              <a:t>U </a:t>
            </a:r>
            <a:r>
              <a:rPr lang="zh-CN" altLang="en-US" sz="3200" b="1" dirty="0">
                <a:latin typeface="宋体" pitchFamily="2" charset="-122"/>
              </a:rPr>
              <a:t>和 </a:t>
            </a:r>
            <a:r>
              <a:rPr lang="en-US" altLang="zh-CN" sz="3200" b="1" dirty="0">
                <a:latin typeface="宋体" pitchFamily="2" charset="-122"/>
              </a:rPr>
              <a:t>L</a:t>
            </a:r>
            <a:r>
              <a:rPr lang="zh-CN" altLang="en-US" sz="3200" b="1" dirty="0">
                <a:latin typeface="宋体" pitchFamily="2" charset="-122"/>
              </a:rPr>
              <a:t>，表明该整型常数是</a:t>
            </a:r>
            <a:r>
              <a:rPr lang="zh-CN" altLang="en-US" sz="3200" b="1" dirty="0">
                <a:solidFill>
                  <a:srgbClr val="660033"/>
                </a:solidFill>
                <a:latin typeface="宋体" pitchFamily="2" charset="-122"/>
              </a:rPr>
              <a:t> </a:t>
            </a:r>
            <a:r>
              <a:rPr lang="en-US" altLang="zh-CN" sz="3200" b="1" dirty="0">
                <a:solidFill>
                  <a:srgbClr val="CC0066"/>
                </a:solidFill>
                <a:latin typeface="宋体" pitchFamily="2" charset="-122"/>
              </a:rPr>
              <a:t>unsigned long</a:t>
            </a:r>
            <a:r>
              <a:rPr lang="en-US" altLang="zh-CN" sz="3200" b="1" dirty="0">
                <a:solidFill>
                  <a:srgbClr val="660033"/>
                </a:solidFill>
                <a:latin typeface="宋体" pitchFamily="2" charset="-122"/>
              </a:rPr>
              <a:t> </a:t>
            </a:r>
            <a:r>
              <a:rPr lang="zh-CN" altLang="en-US" sz="3200" b="1" dirty="0">
                <a:latin typeface="宋体" pitchFamily="2" charset="-122"/>
              </a:rPr>
              <a:t>型。</a:t>
            </a:r>
            <a:br>
              <a:rPr lang="zh-CN" altLang="en-US" sz="3200" b="1" dirty="0">
                <a:solidFill>
                  <a:srgbClr val="660033"/>
                </a:solidFill>
                <a:latin typeface="宋体" pitchFamily="2" charset="-122"/>
              </a:rPr>
            </a:br>
            <a:r>
              <a:rPr lang="zh-CN" altLang="en-US" sz="3200" b="1" dirty="0">
                <a:latin typeface="宋体" pitchFamily="2" charset="-122"/>
              </a:rPr>
              <a:t>例如</a:t>
            </a:r>
            <a:r>
              <a:rPr lang="zh-CN" altLang="en-US" sz="3200" b="1" dirty="0">
                <a:solidFill>
                  <a:srgbClr val="660033"/>
                </a:solidFill>
                <a:latin typeface="宋体" pitchFamily="2" charset="-122"/>
              </a:rPr>
              <a:t> </a:t>
            </a:r>
            <a:r>
              <a:rPr lang="en-US" altLang="zh-CN" sz="3200" b="1" dirty="0">
                <a:solidFill>
                  <a:srgbClr val="FF3300"/>
                </a:solidFill>
                <a:latin typeface="宋体" pitchFamily="2" charset="-122"/>
              </a:rPr>
              <a:t>22UL</a:t>
            </a:r>
            <a:r>
              <a:rPr lang="zh-CN" altLang="en-US" sz="3200" b="1" dirty="0">
                <a:solidFill>
                  <a:srgbClr val="660033"/>
                </a:solidFill>
                <a:latin typeface="宋体" pitchFamily="2" charset="-122"/>
              </a:rPr>
              <a:t>、</a:t>
            </a:r>
            <a:r>
              <a:rPr lang="en-US" altLang="zh-CN" sz="3200" b="1" dirty="0">
                <a:solidFill>
                  <a:srgbClr val="FF3300"/>
                </a:solidFill>
                <a:latin typeface="宋体" pitchFamily="2" charset="-122"/>
              </a:rPr>
              <a:t>35LU </a:t>
            </a:r>
            <a:r>
              <a:rPr lang="zh-CN" altLang="en-US" sz="3200" b="1" dirty="0">
                <a:latin typeface="宋体" pitchFamily="2" charset="-122"/>
              </a:rPr>
              <a:t>等。</a:t>
            </a:r>
          </a:p>
        </p:txBody>
      </p:sp>
      <p:sp>
        <p:nvSpPr>
          <p:cNvPr id="7" name="灯片编号占位符 5"/>
          <p:cNvSpPr>
            <a:spLocks noGrp="1"/>
          </p:cNvSpPr>
          <p:nvPr>
            <p:ph type="sldNum" sz="quarter" idx="12"/>
          </p:nvPr>
        </p:nvSpPr>
        <p:spPr/>
        <p:txBody>
          <a:bodyPr/>
          <a:lstStyle/>
          <a:p>
            <a:fld id="{C51DF11B-2774-40DB-BFFE-204274905197}" type="slidenum">
              <a:rPr lang="en-US" altLang="zh-CN"/>
              <a:pPr/>
              <a:t>8</a:t>
            </a:fld>
            <a:endParaRPr lang="en-US" altLang="zh-CN"/>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3707" y="727793"/>
            <a:ext cx="5630541" cy="584775"/>
          </a:xfrm>
          <a:prstGeom prst="rect">
            <a:avLst/>
          </a:prstGeom>
          <a:noFill/>
        </p:spPr>
        <p:txBody>
          <a:bodyPr wrap="square" rtlCol="0">
            <a:spAutoFit/>
          </a:bodyPr>
          <a:lstStyle/>
          <a:p>
            <a:r>
              <a:rPr lang="zh-CN" altLang="en-US" sz="3200" dirty="0"/>
              <a:t>部分现代语言的整数类型</a:t>
            </a:r>
          </a:p>
        </p:txBody>
      </p:sp>
      <p:sp>
        <p:nvSpPr>
          <p:cNvPr id="25" name="文本框 24"/>
          <p:cNvSpPr txBox="1"/>
          <p:nvPr/>
        </p:nvSpPr>
        <p:spPr>
          <a:xfrm>
            <a:off x="1173706" y="1599150"/>
            <a:ext cx="6535180" cy="5693866"/>
          </a:xfrm>
          <a:prstGeom prst="rect">
            <a:avLst/>
          </a:prstGeom>
          <a:noFill/>
        </p:spPr>
        <p:txBody>
          <a:bodyPr wrap="square" rtlCol="0">
            <a:spAutoFit/>
          </a:bodyPr>
          <a:lstStyle/>
          <a:p>
            <a:r>
              <a:rPr lang="en-US" altLang="zh-CN" sz="2800" dirty="0"/>
              <a:t>Rust</a:t>
            </a:r>
            <a:r>
              <a:rPr lang="zh-CN" altLang="en-US" sz="2800" dirty="0"/>
              <a:t>：</a:t>
            </a:r>
            <a:endParaRPr lang="en-US" altLang="zh-CN" sz="2800" dirty="0"/>
          </a:p>
          <a:p>
            <a:r>
              <a:rPr lang="zh-CN" altLang="en-US" sz="2800" dirty="0"/>
              <a:t>有符号整数：</a:t>
            </a:r>
            <a:r>
              <a:rPr lang="en-US" altLang="zh-CN" sz="2800" dirty="0"/>
              <a:t>i8</a:t>
            </a:r>
            <a:r>
              <a:rPr lang="zh-CN" altLang="en-US" sz="2800" dirty="0"/>
              <a:t>、</a:t>
            </a:r>
            <a:r>
              <a:rPr lang="en-US" altLang="zh-CN" sz="2800" dirty="0"/>
              <a:t>i16</a:t>
            </a:r>
            <a:r>
              <a:rPr lang="zh-CN" altLang="en-US" sz="2800" dirty="0"/>
              <a:t>、</a:t>
            </a:r>
            <a:r>
              <a:rPr lang="en-US" altLang="zh-CN" sz="2800" dirty="0"/>
              <a:t>i32</a:t>
            </a:r>
            <a:r>
              <a:rPr lang="zh-CN" altLang="en-US" sz="2800" dirty="0"/>
              <a:t>、</a:t>
            </a:r>
            <a:r>
              <a:rPr lang="en-US" altLang="zh-CN" sz="2800" dirty="0"/>
              <a:t>i64</a:t>
            </a:r>
            <a:r>
              <a:rPr lang="zh-CN" altLang="en-US" sz="2800" dirty="0"/>
              <a:t>、</a:t>
            </a:r>
            <a:r>
              <a:rPr lang="en-US" altLang="zh-CN" sz="2800" dirty="0"/>
              <a:t>i128</a:t>
            </a:r>
            <a:r>
              <a:rPr lang="zh-CN" altLang="en-US" sz="2800" dirty="0"/>
              <a:t>、</a:t>
            </a:r>
            <a:r>
              <a:rPr lang="en-US" altLang="zh-CN" sz="2800" dirty="0" err="1">
                <a:solidFill>
                  <a:srgbClr val="FF0000"/>
                </a:solidFill>
              </a:rPr>
              <a:t>isize</a:t>
            </a:r>
            <a:endParaRPr lang="en-US" altLang="zh-CN" sz="2800" dirty="0">
              <a:solidFill>
                <a:srgbClr val="FF0000"/>
              </a:solidFill>
            </a:endParaRPr>
          </a:p>
          <a:p>
            <a:r>
              <a:rPr lang="zh-CN" altLang="en-US" sz="2800" dirty="0"/>
              <a:t>无符号整数：</a:t>
            </a:r>
            <a:r>
              <a:rPr lang="en-US" altLang="zh-CN" sz="2800" dirty="0"/>
              <a:t>u8</a:t>
            </a:r>
            <a:r>
              <a:rPr lang="zh-CN" altLang="en-US" sz="2800" dirty="0"/>
              <a:t>、</a:t>
            </a:r>
            <a:r>
              <a:rPr lang="en-US" altLang="zh-CN" sz="2800" dirty="0"/>
              <a:t>u16</a:t>
            </a:r>
            <a:r>
              <a:rPr lang="zh-CN" altLang="en-US" sz="2800" dirty="0"/>
              <a:t>、</a:t>
            </a:r>
            <a:r>
              <a:rPr lang="en-US" altLang="zh-CN" sz="2800" dirty="0"/>
              <a:t>u32</a:t>
            </a:r>
            <a:r>
              <a:rPr lang="zh-CN" altLang="en-US" sz="2800" dirty="0"/>
              <a:t>、</a:t>
            </a:r>
            <a:r>
              <a:rPr lang="en-US" altLang="zh-CN" sz="2800" dirty="0"/>
              <a:t>u64</a:t>
            </a:r>
            <a:r>
              <a:rPr lang="zh-CN" altLang="en-US" sz="2800" dirty="0"/>
              <a:t>、</a:t>
            </a:r>
            <a:r>
              <a:rPr lang="en-US" altLang="zh-CN" sz="2800" dirty="0"/>
              <a:t>u128</a:t>
            </a:r>
            <a:r>
              <a:rPr lang="zh-CN" altLang="en-US" sz="2800" dirty="0"/>
              <a:t>、</a:t>
            </a:r>
            <a:r>
              <a:rPr lang="en-US" altLang="zh-CN" sz="2800" dirty="0" err="1">
                <a:solidFill>
                  <a:srgbClr val="FF0000"/>
                </a:solidFill>
              </a:rPr>
              <a:t>usize</a:t>
            </a:r>
            <a:endParaRPr lang="en-US" altLang="zh-CN" sz="2800" dirty="0">
              <a:solidFill>
                <a:srgbClr val="FF0000"/>
              </a:solidFill>
            </a:endParaRPr>
          </a:p>
          <a:p>
            <a:endParaRPr lang="en-US" altLang="zh-CN" sz="2800" dirty="0"/>
          </a:p>
          <a:p>
            <a:endParaRPr lang="en-US" altLang="zh-CN" sz="2800" dirty="0"/>
          </a:p>
          <a:p>
            <a:r>
              <a:rPr lang="en-US" altLang="zh-CN" sz="2800" dirty="0"/>
              <a:t>Go</a:t>
            </a:r>
            <a:r>
              <a:rPr lang="zh-CN" altLang="en-US" sz="2800" dirty="0"/>
              <a:t>：</a:t>
            </a:r>
            <a:endParaRPr lang="en-US" altLang="zh-CN" sz="2800" dirty="0"/>
          </a:p>
          <a:p>
            <a:r>
              <a:rPr lang="zh-CN" altLang="en-US" sz="2800" dirty="0"/>
              <a:t> </a:t>
            </a:r>
            <a:r>
              <a:rPr lang="en-US" altLang="zh-CN" sz="2800" dirty="0"/>
              <a:t>int8</a:t>
            </a:r>
            <a:r>
              <a:rPr lang="zh-CN" altLang="en-US" sz="2800" dirty="0"/>
              <a:t>、</a:t>
            </a:r>
            <a:r>
              <a:rPr lang="en-US" altLang="zh-CN" sz="2800" dirty="0"/>
              <a:t>int16</a:t>
            </a:r>
            <a:r>
              <a:rPr lang="zh-CN" altLang="en-US" sz="2800" dirty="0"/>
              <a:t>、</a:t>
            </a:r>
            <a:r>
              <a:rPr lang="en-US" altLang="zh-CN" sz="2800" dirty="0"/>
              <a:t>int32</a:t>
            </a:r>
            <a:r>
              <a:rPr lang="zh-CN" altLang="en-US" sz="2800" dirty="0"/>
              <a:t>、</a:t>
            </a:r>
            <a:r>
              <a:rPr lang="en-US" altLang="zh-CN" sz="2800" dirty="0"/>
              <a:t>int64</a:t>
            </a:r>
            <a:r>
              <a:rPr lang="zh-CN" altLang="en-US" sz="2800" dirty="0"/>
              <a:t>、</a:t>
            </a:r>
            <a:r>
              <a:rPr lang="en-US" altLang="zh-CN" sz="2800" dirty="0" err="1">
                <a:solidFill>
                  <a:srgbClr val="FF0000"/>
                </a:solidFill>
              </a:rPr>
              <a:t>int</a:t>
            </a:r>
            <a:endParaRPr lang="en-US" altLang="zh-CN" sz="2800" dirty="0">
              <a:solidFill>
                <a:srgbClr val="FF0000"/>
              </a:solidFill>
            </a:endParaRPr>
          </a:p>
          <a:p>
            <a:r>
              <a:rPr lang="en-US" altLang="zh-CN" sz="2800" dirty="0"/>
              <a:t> uint8</a:t>
            </a:r>
            <a:r>
              <a:rPr lang="zh-CN" altLang="en-US" sz="2800" dirty="0"/>
              <a:t>、</a:t>
            </a:r>
            <a:r>
              <a:rPr lang="en-US" altLang="zh-CN" sz="2800" dirty="0"/>
              <a:t>uint16</a:t>
            </a:r>
            <a:r>
              <a:rPr lang="zh-CN" altLang="en-US" sz="2800" dirty="0"/>
              <a:t>、</a:t>
            </a:r>
            <a:r>
              <a:rPr lang="en-US" altLang="zh-CN" sz="2800" dirty="0"/>
              <a:t>uint32</a:t>
            </a:r>
            <a:r>
              <a:rPr lang="zh-CN" altLang="en-US" sz="2800" dirty="0"/>
              <a:t>、</a:t>
            </a:r>
            <a:r>
              <a:rPr lang="en-US" altLang="zh-CN" sz="2800" dirty="0"/>
              <a:t>uint64</a:t>
            </a:r>
            <a:r>
              <a:rPr lang="zh-CN" altLang="en-US" sz="2800" dirty="0"/>
              <a:t>、</a:t>
            </a:r>
            <a:r>
              <a:rPr lang="en-US" altLang="zh-CN" sz="2800" dirty="0" err="1">
                <a:solidFill>
                  <a:srgbClr val="FF0000"/>
                </a:solidFill>
              </a:rPr>
              <a:t>uint</a:t>
            </a:r>
            <a:endParaRPr lang="en-US" altLang="zh-CN" sz="2800" dirty="0">
              <a:solidFill>
                <a:srgbClr val="FF0000"/>
              </a:solidFill>
            </a:endParaRPr>
          </a:p>
          <a:p>
            <a:endParaRPr lang="en-US" altLang="zh-CN" sz="2800" dirty="0">
              <a:solidFill>
                <a:srgbClr val="FF0000"/>
              </a:solidFill>
            </a:endParaRPr>
          </a:p>
          <a:p>
            <a:r>
              <a:rPr lang="zh-CN" altLang="en-US" sz="2800" dirty="0">
                <a:solidFill>
                  <a:srgbClr val="FF0000"/>
                </a:solidFill>
              </a:rPr>
              <a:t>由机器字长决定</a:t>
            </a:r>
            <a:br>
              <a:rPr lang="zh-CN" altLang="en-US" sz="2800" dirty="0"/>
            </a:br>
            <a:endParaRPr lang="zh-CN" altLang="en-US" sz="2800" dirty="0"/>
          </a:p>
        </p:txBody>
      </p:sp>
    </p:spTree>
    <p:extLst>
      <p:ext uri="{BB962C8B-B14F-4D97-AF65-F5344CB8AC3E}">
        <p14:creationId xmlns:p14="http://schemas.microsoft.com/office/powerpoint/2010/main" val="290620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p:cNvSpPr>
            <a:spLocks noGrp="1" noChangeArrowheads="1"/>
          </p:cNvSpPr>
          <p:nvPr>
            <p:ph type="title"/>
          </p:nvPr>
        </p:nvSpPr>
        <p:spPr>
          <a:xfrm>
            <a:off x="755650" y="476250"/>
            <a:ext cx="7656513" cy="865188"/>
          </a:xfrm>
        </p:spPr>
        <p:txBody>
          <a:bodyPr/>
          <a:lstStyle/>
          <a:p>
            <a:r>
              <a:rPr lang="zh-CN" altLang="en-US" b="1" dirty="0">
                <a:solidFill>
                  <a:schemeClr val="tx1"/>
                </a:solidFill>
                <a:latin typeface="黑体" pitchFamily="2" charset="-122"/>
                <a:ea typeface="黑体" pitchFamily="2" charset="-122"/>
              </a:rPr>
              <a:t>浮点型数据</a:t>
            </a:r>
          </a:p>
        </p:txBody>
      </p:sp>
      <p:sp>
        <p:nvSpPr>
          <p:cNvPr id="340994" name="Rectangle 2"/>
          <p:cNvSpPr>
            <a:spLocks noGrp="1" noChangeArrowheads="1"/>
          </p:cNvSpPr>
          <p:nvPr>
            <p:ph idx="1"/>
          </p:nvPr>
        </p:nvSpPr>
        <p:spPr>
          <a:xfrm>
            <a:off x="395288" y="1484313"/>
            <a:ext cx="8353425" cy="4824412"/>
          </a:xfrm>
        </p:spPr>
        <p:txBody>
          <a:bodyPr>
            <a:normAutofit fontScale="92500" lnSpcReduction="10000"/>
          </a:bodyPr>
          <a:lstStyle/>
          <a:p>
            <a:pPr marL="0" indent="0" algn="just">
              <a:lnSpc>
                <a:spcPct val="90000"/>
              </a:lnSpc>
              <a:buFont typeface="Monotype Sorts" pitchFamily="2" charset="2"/>
              <a:buNone/>
            </a:pPr>
            <a:r>
              <a:rPr lang="zh-CN" altLang="en-US" sz="2800" b="1" dirty="0"/>
              <a:t>浮点型数据是带小数点或带指数的数值数据。</a:t>
            </a:r>
          </a:p>
          <a:p>
            <a:pPr marL="0" indent="0" algn="just">
              <a:lnSpc>
                <a:spcPct val="90000"/>
              </a:lnSpc>
              <a:buFont typeface="Monotype Sorts" pitchFamily="2" charset="2"/>
              <a:buNone/>
            </a:pPr>
            <a:r>
              <a:rPr lang="zh-CN" altLang="en-US" sz="2800" b="1" dirty="0">
                <a:latin typeface="宋体" pitchFamily="2" charset="-122"/>
              </a:rPr>
              <a:t>浮点型数据应考虑：数值大小（</a:t>
            </a:r>
            <a:r>
              <a:rPr lang="zh-CN" altLang="en-US" sz="2800" b="1" dirty="0">
                <a:solidFill>
                  <a:srgbClr val="CC0066"/>
                </a:solidFill>
                <a:latin typeface="宋体" pitchFamily="2" charset="-122"/>
              </a:rPr>
              <a:t>范围</a:t>
            </a:r>
            <a:r>
              <a:rPr lang="zh-CN" altLang="en-US" sz="2800" b="1" dirty="0">
                <a:latin typeface="宋体" pitchFamily="2" charset="-122"/>
              </a:rPr>
              <a:t>）、有效位数多少（</a:t>
            </a:r>
            <a:r>
              <a:rPr lang="zh-CN" altLang="en-US" sz="2800" b="1" dirty="0">
                <a:solidFill>
                  <a:srgbClr val="CC0066"/>
                </a:solidFill>
                <a:latin typeface="宋体" pitchFamily="2" charset="-122"/>
              </a:rPr>
              <a:t>精度</a:t>
            </a:r>
            <a:r>
              <a:rPr lang="zh-CN" altLang="en-US" sz="2800" b="1" dirty="0">
                <a:latin typeface="宋体" pitchFamily="2" charset="-122"/>
              </a:rPr>
              <a:t>）两个方面。</a:t>
            </a:r>
            <a:endParaRPr lang="en-US" altLang="zh-CN" sz="2800" b="1" dirty="0">
              <a:latin typeface="宋体" pitchFamily="2" charset="-122"/>
            </a:endParaRPr>
          </a:p>
          <a:p>
            <a:pPr marL="0" indent="0" algn="just">
              <a:lnSpc>
                <a:spcPct val="90000"/>
              </a:lnSpc>
              <a:buFont typeface="Monotype Sorts" pitchFamily="2" charset="2"/>
              <a:buNone/>
            </a:pPr>
            <a:endParaRPr lang="en-US" altLang="zh-CN" sz="2800" b="1" dirty="0">
              <a:latin typeface="宋体" pitchFamily="2" charset="-122"/>
            </a:endParaRPr>
          </a:p>
          <a:p>
            <a:pPr marL="0" indent="0">
              <a:buNone/>
            </a:pPr>
            <a:r>
              <a:rPr lang="en-US" altLang="zh-CN" sz="2800" dirty="0"/>
              <a:t>85.125</a:t>
            </a:r>
          </a:p>
          <a:p>
            <a:pPr marL="0" indent="0">
              <a:buNone/>
            </a:pPr>
            <a:r>
              <a:rPr lang="en-US" altLang="zh-CN" sz="2800" dirty="0"/>
              <a:t>85 = 1010101</a:t>
            </a:r>
          </a:p>
          <a:p>
            <a:pPr marL="0" indent="0">
              <a:buNone/>
            </a:pPr>
            <a:r>
              <a:rPr lang="en-US" altLang="zh-CN" sz="2800" dirty="0"/>
              <a:t>0.125 = 001</a:t>
            </a:r>
          </a:p>
          <a:p>
            <a:pPr marL="0" indent="0">
              <a:buNone/>
            </a:pPr>
            <a:r>
              <a:rPr lang="en-US" altLang="zh-CN" sz="2800" dirty="0"/>
              <a:t>85.125 = 1010101.001</a:t>
            </a:r>
          </a:p>
          <a:p>
            <a:pPr marL="0" indent="0">
              <a:buNone/>
            </a:pPr>
            <a:r>
              <a:rPr lang="en-US" altLang="zh-CN" sz="2800" dirty="0"/>
              <a:t>       =1.</a:t>
            </a:r>
            <a:r>
              <a:rPr lang="en-US" altLang="zh-CN" sz="2800" dirty="0">
                <a:solidFill>
                  <a:srgbClr val="FF0000"/>
                </a:solidFill>
              </a:rPr>
              <a:t>010101001</a:t>
            </a:r>
            <a:r>
              <a:rPr lang="en-US" altLang="zh-CN" sz="2800" dirty="0"/>
              <a:t> x 2^</a:t>
            </a:r>
            <a:r>
              <a:rPr lang="en-US" altLang="zh-CN" sz="2800" dirty="0">
                <a:solidFill>
                  <a:srgbClr val="FF0000"/>
                </a:solidFill>
              </a:rPr>
              <a:t>6</a:t>
            </a:r>
            <a:r>
              <a:rPr lang="en-US" altLang="zh-CN" sz="2800" dirty="0"/>
              <a:t>  </a:t>
            </a:r>
            <a:r>
              <a:rPr lang="zh-CN" altLang="en-US" sz="2800" dirty="0">
                <a:solidFill>
                  <a:srgbClr val="FF0000"/>
                </a:solidFill>
              </a:rPr>
              <a:t>（需要存储的）</a:t>
            </a:r>
            <a:endParaRPr lang="en-US" altLang="zh-CN" sz="2800" dirty="0">
              <a:solidFill>
                <a:srgbClr val="FF0000"/>
              </a:solidFill>
            </a:endParaRPr>
          </a:p>
          <a:p>
            <a:pPr marL="0" indent="0">
              <a:buNone/>
            </a:pPr>
            <a:endParaRPr lang="en-US" altLang="zh-CN" sz="2800" dirty="0"/>
          </a:p>
          <a:p>
            <a:pPr marL="0" indent="0">
              <a:buNone/>
            </a:pPr>
            <a:r>
              <a:rPr lang="en-US" altLang="zh-CN" sz="2800" dirty="0"/>
              <a:t>sign = </a:t>
            </a:r>
            <a:r>
              <a:rPr lang="en-US" altLang="zh-CN" sz="2800" dirty="0">
                <a:solidFill>
                  <a:srgbClr val="FF0000"/>
                </a:solidFill>
              </a:rPr>
              <a:t>0</a:t>
            </a:r>
            <a:r>
              <a:rPr lang="en-US" altLang="zh-CN" sz="2800" dirty="0"/>
              <a:t> </a:t>
            </a:r>
            <a:r>
              <a:rPr lang="zh-CN" altLang="en-US" sz="2800" dirty="0"/>
              <a:t>（正数）   </a:t>
            </a:r>
            <a:r>
              <a:rPr lang="zh-CN" altLang="en-US" sz="2800" dirty="0">
                <a:solidFill>
                  <a:srgbClr val="FF0000"/>
                </a:solidFill>
              </a:rPr>
              <a:t>（需要存储的）</a:t>
            </a:r>
            <a:endParaRPr lang="en-US" altLang="zh-CN" sz="2800" dirty="0">
              <a:solidFill>
                <a:srgbClr val="FF0000"/>
              </a:solidFill>
            </a:endParaRPr>
          </a:p>
          <a:p>
            <a:pPr marL="0" indent="0">
              <a:buNone/>
            </a:pPr>
            <a:endParaRPr lang="en-US" altLang="zh-CN" sz="2800" dirty="0"/>
          </a:p>
          <a:p>
            <a:pPr marL="0" indent="0" algn="just">
              <a:lnSpc>
                <a:spcPct val="90000"/>
              </a:lnSpc>
              <a:buFont typeface="Monotype Sorts" pitchFamily="2" charset="2"/>
              <a:buNone/>
            </a:pPr>
            <a:endParaRPr lang="zh-CN" altLang="en-US" sz="2800" b="1" dirty="0">
              <a:latin typeface="宋体" pitchFamily="2" charset="-122"/>
            </a:endParaRPr>
          </a:p>
        </p:txBody>
      </p:sp>
      <p:sp>
        <p:nvSpPr>
          <p:cNvPr id="6" name="灯片编号占位符 5"/>
          <p:cNvSpPr>
            <a:spLocks noGrp="1"/>
          </p:cNvSpPr>
          <p:nvPr>
            <p:ph type="sldNum" sz="quarter" idx="12"/>
          </p:nvPr>
        </p:nvSpPr>
        <p:spPr/>
        <p:txBody>
          <a:bodyPr/>
          <a:lstStyle/>
          <a:p>
            <a:fld id="{16AC26BE-2B0B-4A8F-B634-13E4DDAC86E4}" type="slidenum">
              <a:rPr lang="en-US" altLang="zh-CN"/>
              <a:pPr/>
              <a:t>10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994">
                                            <p:txEl>
                                              <p:pRg st="3" end="3"/>
                                            </p:txEl>
                                          </p:spTgt>
                                        </p:tgtEl>
                                        <p:attrNameLst>
                                          <p:attrName>style.visibility</p:attrName>
                                        </p:attrNameLst>
                                      </p:cBhvr>
                                      <p:to>
                                        <p:strVal val="visible"/>
                                      </p:to>
                                    </p:set>
                                    <p:anim calcmode="lin" valueType="num">
                                      <p:cBhvr additive="base">
                                        <p:cTn id="7" dur="500" fill="hold"/>
                                        <p:tgtEl>
                                          <p:spTgt spid="34099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0994">
                                            <p:txEl>
                                              <p:pRg st="4" end="4"/>
                                            </p:txEl>
                                          </p:spTgt>
                                        </p:tgtEl>
                                        <p:attrNameLst>
                                          <p:attrName>style.visibility</p:attrName>
                                        </p:attrNameLst>
                                      </p:cBhvr>
                                      <p:to>
                                        <p:strVal val="visible"/>
                                      </p:to>
                                    </p:set>
                                    <p:anim calcmode="lin" valueType="num">
                                      <p:cBhvr additive="base">
                                        <p:cTn id="11" dur="500" fill="hold"/>
                                        <p:tgtEl>
                                          <p:spTgt spid="34099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099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0994">
                                            <p:txEl>
                                              <p:pRg st="5" end="5"/>
                                            </p:txEl>
                                          </p:spTgt>
                                        </p:tgtEl>
                                        <p:attrNameLst>
                                          <p:attrName>style.visibility</p:attrName>
                                        </p:attrNameLst>
                                      </p:cBhvr>
                                      <p:to>
                                        <p:strVal val="visible"/>
                                      </p:to>
                                    </p:set>
                                    <p:anim calcmode="lin" valueType="num">
                                      <p:cBhvr additive="base">
                                        <p:cTn id="15" dur="500" fill="hold"/>
                                        <p:tgtEl>
                                          <p:spTgt spid="34099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099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0994">
                                            <p:txEl>
                                              <p:pRg st="6" end="6"/>
                                            </p:txEl>
                                          </p:spTgt>
                                        </p:tgtEl>
                                        <p:attrNameLst>
                                          <p:attrName>style.visibility</p:attrName>
                                        </p:attrNameLst>
                                      </p:cBhvr>
                                      <p:to>
                                        <p:strVal val="visible"/>
                                      </p:to>
                                    </p:set>
                                    <p:anim calcmode="lin" valueType="num">
                                      <p:cBhvr additive="base">
                                        <p:cTn id="19" dur="500" fill="hold"/>
                                        <p:tgtEl>
                                          <p:spTgt spid="34099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0994">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0994">
                                            <p:txEl>
                                              <p:pRg st="7" end="7"/>
                                            </p:txEl>
                                          </p:spTgt>
                                        </p:tgtEl>
                                        <p:attrNameLst>
                                          <p:attrName>style.visibility</p:attrName>
                                        </p:attrNameLst>
                                      </p:cBhvr>
                                      <p:to>
                                        <p:strVal val="visible"/>
                                      </p:to>
                                    </p:set>
                                    <p:anim calcmode="lin" valueType="num">
                                      <p:cBhvr additive="base">
                                        <p:cTn id="23" dur="500" fill="hold"/>
                                        <p:tgtEl>
                                          <p:spTgt spid="340994">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0994">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0994">
                                            <p:txEl>
                                              <p:pRg st="9" end="9"/>
                                            </p:txEl>
                                          </p:spTgt>
                                        </p:tgtEl>
                                        <p:attrNameLst>
                                          <p:attrName>style.visibility</p:attrName>
                                        </p:attrNameLst>
                                      </p:cBhvr>
                                      <p:to>
                                        <p:strVal val="visible"/>
                                      </p:to>
                                    </p:set>
                                    <p:anim calcmode="lin" valueType="num">
                                      <p:cBhvr additive="base">
                                        <p:cTn id="27" dur="500" fill="hold"/>
                                        <p:tgtEl>
                                          <p:spTgt spid="340994">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099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B27F99-712D-4C13-83EA-F271460F102E}" type="slidenum">
              <a:rPr lang="en-US" altLang="zh-CN" smtClean="0"/>
              <a:pPr/>
              <a:t>11</a:t>
            </a:fld>
            <a:endParaRPr lang="en-US" altLang="zh-CN"/>
          </a:p>
        </p:txBody>
      </p:sp>
      <p:sp>
        <p:nvSpPr>
          <p:cNvPr id="24" name="Rectangle 4"/>
          <p:cNvSpPr>
            <a:spLocks noChangeArrowheads="1"/>
          </p:cNvSpPr>
          <p:nvPr/>
        </p:nvSpPr>
        <p:spPr bwMode="auto">
          <a:xfrm>
            <a:off x="1714480" y="2643182"/>
            <a:ext cx="360947" cy="756799"/>
          </a:xfrm>
          <a:prstGeom prst="rect">
            <a:avLst/>
          </a:prstGeom>
          <a:solidFill>
            <a:schemeClr val="accent4"/>
          </a:solidFill>
          <a:ln w="28575">
            <a:solidFill>
              <a:schemeClr val="bg1"/>
            </a:solidFill>
            <a:miter lim="800000"/>
            <a:headEnd/>
            <a:tailEnd/>
          </a:ln>
          <a:effectLst/>
        </p:spPr>
        <p:txBody>
          <a:bodyPr vert="horz" wrap="none" lIns="91440" tIns="45720" rIns="91440" bIns="45720" numCol="1" anchor="ctr" anchorCtr="0" compatLnSpc="1">
            <a:prstTxWarp prst="textNoShape">
              <a:avLst/>
            </a:prstTxWarp>
          </a:bodyPr>
          <a:lstStyle/>
          <a:p>
            <a:endParaRPr lang="zh-CN" altLang="en-US"/>
          </a:p>
        </p:txBody>
      </p:sp>
      <p:sp>
        <p:nvSpPr>
          <p:cNvPr id="25" name="Rectangle 5"/>
          <p:cNvSpPr>
            <a:spLocks noChangeArrowheads="1"/>
          </p:cNvSpPr>
          <p:nvPr/>
        </p:nvSpPr>
        <p:spPr bwMode="auto">
          <a:xfrm>
            <a:off x="2075427" y="2643182"/>
            <a:ext cx="1660358" cy="756799"/>
          </a:xfrm>
          <a:prstGeom prst="rect">
            <a:avLst/>
          </a:prstGeom>
          <a:solidFill>
            <a:schemeClr val="accent4"/>
          </a:solidFill>
          <a:ln w="28575">
            <a:solidFill>
              <a:schemeClr val="bg1"/>
            </a:solidFill>
            <a:miter lim="800000"/>
            <a:headEnd/>
            <a:tailEnd/>
          </a:ln>
          <a:effectLst/>
        </p:spPr>
        <p:txBody>
          <a:bodyPr vert="horz" wrap="none" lIns="91440" tIns="45720" rIns="91440" bIns="45720" numCol="1" anchor="ctr" anchorCtr="0" compatLnSpc="1">
            <a:prstTxWarp prst="textNoShape">
              <a:avLst/>
            </a:prstTxWarp>
          </a:bodyPr>
          <a:lstStyle/>
          <a:p>
            <a:endParaRPr lang="zh-CN" altLang="en-US"/>
          </a:p>
        </p:txBody>
      </p:sp>
      <p:sp>
        <p:nvSpPr>
          <p:cNvPr id="27" name="Rectangle 7"/>
          <p:cNvSpPr>
            <a:spLocks noChangeArrowheads="1"/>
          </p:cNvSpPr>
          <p:nvPr/>
        </p:nvSpPr>
        <p:spPr bwMode="auto">
          <a:xfrm>
            <a:off x="3677922" y="2643182"/>
            <a:ext cx="3537284" cy="756799"/>
          </a:xfrm>
          <a:prstGeom prst="rect">
            <a:avLst/>
          </a:prstGeom>
          <a:solidFill>
            <a:schemeClr val="accent4"/>
          </a:solidFill>
          <a:ln w="28575">
            <a:solidFill>
              <a:schemeClr val="bg1"/>
            </a:solidFill>
            <a:miter lim="800000"/>
            <a:headEnd/>
            <a:tailEnd/>
          </a:ln>
          <a:effectLst/>
        </p:spPr>
        <p:txBody>
          <a:bodyPr vert="horz" wrap="none" lIns="91440" tIns="45720" rIns="91440" bIns="45720" numCol="1" anchor="ctr" anchorCtr="0" compatLnSpc="1">
            <a:prstTxWarp prst="textNoShape">
              <a:avLst/>
            </a:prstTxWarp>
          </a:bodyPr>
          <a:lstStyle/>
          <a:p>
            <a:endParaRPr lang="zh-CN" altLang="en-US"/>
          </a:p>
        </p:txBody>
      </p:sp>
      <p:sp>
        <p:nvSpPr>
          <p:cNvPr id="10" name="Text Box 11"/>
          <p:cNvSpPr txBox="1">
            <a:spLocks noChangeArrowheads="1"/>
          </p:cNvSpPr>
          <p:nvPr/>
        </p:nvSpPr>
        <p:spPr bwMode="auto">
          <a:xfrm>
            <a:off x="2786050" y="2714620"/>
            <a:ext cx="305301" cy="523453"/>
          </a:xfrm>
          <a:prstGeom prst="rect">
            <a:avLst/>
          </a:prstGeom>
          <a:solidFill>
            <a:schemeClr val="accent4"/>
          </a:solidFill>
          <a:ln w="57150">
            <a:noFill/>
            <a:miter lim="800000"/>
            <a:headEnd/>
            <a:tailEnd/>
          </a:ln>
          <a:effec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effectLst/>
                <a:latin typeface="Times New Roman" pitchFamily="18" charset="0"/>
                <a:ea typeface="宋体" pitchFamily="2" charset="-122"/>
              </a:rPr>
              <a:t>j</a:t>
            </a:r>
            <a:endParaRPr kumimoji="0" lang="zh-CN" altLang="zh-CN" sz="1800" b="0" i="0" u="none" strike="noStrike" cap="none" normalizeH="0" baseline="0" dirty="0">
              <a:ln>
                <a:noFill/>
              </a:ln>
              <a:effectLst/>
              <a:latin typeface="Arial" pitchFamily="34" charset="0"/>
              <a:ea typeface="宋体" pitchFamily="2" charset="-122"/>
            </a:endParaRPr>
          </a:p>
        </p:txBody>
      </p:sp>
      <p:sp>
        <p:nvSpPr>
          <p:cNvPr id="11" name="Text Box 12"/>
          <p:cNvSpPr txBox="1">
            <a:spLocks noChangeArrowheads="1"/>
          </p:cNvSpPr>
          <p:nvPr/>
        </p:nvSpPr>
        <p:spPr bwMode="auto">
          <a:xfrm>
            <a:off x="5286380" y="2714620"/>
            <a:ext cx="385011" cy="523453"/>
          </a:xfrm>
          <a:prstGeom prst="rect">
            <a:avLst/>
          </a:prstGeom>
          <a:solidFill>
            <a:schemeClr val="accent4"/>
          </a:solidFill>
          <a:ln w="57150">
            <a:noFill/>
            <a:miter lim="800000"/>
            <a:headEnd/>
            <a:tailEnd/>
          </a:ln>
          <a:effec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effectLst/>
                <a:latin typeface="Times New Roman" pitchFamily="18" charset="0"/>
                <a:ea typeface="宋体" pitchFamily="2" charset="-122"/>
              </a:rPr>
              <a:t>S</a:t>
            </a:r>
            <a:endParaRPr kumimoji="0" lang="zh-CN" altLang="zh-CN" sz="1800" b="0" i="0" u="none" strike="noStrike" cap="none" normalizeH="0" baseline="0" dirty="0">
              <a:ln>
                <a:noFill/>
              </a:ln>
              <a:effectLst/>
              <a:latin typeface="Arial" pitchFamily="34" charset="0"/>
              <a:ea typeface="宋体" pitchFamily="2" charset="-122"/>
            </a:endParaRPr>
          </a:p>
        </p:txBody>
      </p:sp>
      <p:grpSp>
        <p:nvGrpSpPr>
          <p:cNvPr id="2" name="Group 13"/>
          <p:cNvGrpSpPr>
            <a:grpSpLocks/>
          </p:cNvGrpSpPr>
          <p:nvPr/>
        </p:nvGrpSpPr>
        <p:grpSpPr bwMode="auto">
          <a:xfrm>
            <a:off x="1871634" y="2069425"/>
            <a:ext cx="1876926" cy="0"/>
            <a:chOff x="1871634" y="2069425"/>
            <a:chExt cx="1876926" cy="0"/>
          </a:xfrm>
          <a:solidFill>
            <a:schemeClr val="accent4"/>
          </a:solidFill>
        </p:grpSpPr>
        <p:sp>
          <p:nvSpPr>
            <p:cNvPr id="22" name="Line 14"/>
            <p:cNvSpPr>
              <a:spLocks noChangeShapeType="1"/>
            </p:cNvSpPr>
            <p:nvPr/>
          </p:nvSpPr>
          <p:spPr bwMode="auto">
            <a:xfrm>
              <a:off x="1776" y="1935"/>
              <a:ext cx="528" cy="0"/>
            </a:xfrm>
            <a:prstGeom prst="line">
              <a:avLst/>
            </a:prstGeom>
            <a:grpFill/>
            <a:ln w="28575">
              <a:solidFill>
                <a:schemeClr val="bg1"/>
              </a:solidFill>
              <a:round/>
              <a:headEnd/>
              <a:tailEnd type="triangle" w="med" len="med"/>
            </a:ln>
            <a:effectLst/>
          </p:spPr>
          <p:txBody>
            <a:bodyPr vert="horz" wrap="none" lIns="91440" tIns="45720" rIns="91440" bIns="45720" numCol="1" anchor="ctr" anchorCtr="0" compatLnSpc="1">
              <a:prstTxWarp prst="textNoShape">
                <a:avLst/>
              </a:prstTxWarp>
            </a:bodyPr>
            <a:lstStyle/>
            <a:p>
              <a:endParaRPr lang="zh-CN" altLang="en-US"/>
            </a:p>
          </p:txBody>
        </p:sp>
        <p:sp>
          <p:nvSpPr>
            <p:cNvPr id="23" name="Line 15"/>
            <p:cNvSpPr>
              <a:spLocks noChangeShapeType="1"/>
            </p:cNvSpPr>
            <p:nvPr/>
          </p:nvSpPr>
          <p:spPr bwMode="auto">
            <a:xfrm flipH="1">
              <a:off x="1056" y="1935"/>
              <a:ext cx="528" cy="0"/>
            </a:xfrm>
            <a:prstGeom prst="line">
              <a:avLst/>
            </a:prstGeom>
            <a:grpFill/>
            <a:ln w="28575">
              <a:solidFill>
                <a:schemeClr val="bg1"/>
              </a:solidFill>
              <a:round/>
              <a:headEnd/>
              <a:tailEnd type="triangle" w="med" len="med"/>
            </a:ln>
            <a:effectLst/>
          </p:spPr>
          <p:txBody>
            <a:bodyPr vert="horz" wrap="none" lIns="91440" tIns="45720" rIns="91440" bIns="45720" numCol="1" anchor="ctr" anchorCtr="0" compatLnSpc="1">
              <a:prstTxWarp prst="textNoShape">
                <a:avLst/>
              </a:prstTxWarp>
            </a:bodyPr>
            <a:lstStyle/>
            <a:p>
              <a:endParaRPr lang="zh-CN" altLang="en-US"/>
            </a:p>
          </p:txBody>
        </p:sp>
      </p:grpSp>
      <p:sp>
        <p:nvSpPr>
          <p:cNvPr id="14" name="AutoShape 19"/>
          <p:cNvSpPr>
            <a:spLocks noChangeArrowheads="1"/>
          </p:cNvSpPr>
          <p:nvPr/>
        </p:nvSpPr>
        <p:spPr bwMode="auto">
          <a:xfrm>
            <a:off x="714348" y="1000108"/>
            <a:ext cx="1082842" cy="908159"/>
          </a:xfrm>
          <a:prstGeom prst="wedgeRoundRectCallout">
            <a:avLst>
              <a:gd name="adj1" fmla="val 132222"/>
              <a:gd name="adj2" fmla="val 114583"/>
              <a:gd name="adj3" fmla="val 16667"/>
            </a:avLst>
          </a:prstGeom>
          <a:solidFill>
            <a:schemeClr val="accent4"/>
          </a:solidFill>
          <a:ln w="28575">
            <a:solidFill>
              <a:srgbClr val="FF0000"/>
            </a:solid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Times New Roman" pitchFamily="18" charset="0"/>
                <a:ea typeface="宋体" pitchFamily="2" charset="-122"/>
              </a:rPr>
              <a:t>阶码</a:t>
            </a:r>
            <a:endParaRPr kumimoji="0" lang="zh-CN" sz="1800" b="0" i="0" u="none" strike="noStrike" cap="none" normalizeH="0" baseline="0" dirty="0">
              <a:ln>
                <a:noFill/>
              </a:ln>
              <a:solidFill>
                <a:schemeClr val="tx1"/>
              </a:solidFill>
              <a:effectLst/>
              <a:latin typeface="Arial" pitchFamily="34" charset="0"/>
              <a:ea typeface="宋体" pitchFamily="2" charset="-122"/>
            </a:endParaRPr>
          </a:p>
        </p:txBody>
      </p:sp>
      <p:sp>
        <p:nvSpPr>
          <p:cNvPr id="15" name="AutoShape 20"/>
          <p:cNvSpPr>
            <a:spLocks noChangeArrowheads="1"/>
          </p:cNvSpPr>
          <p:nvPr/>
        </p:nvSpPr>
        <p:spPr bwMode="auto">
          <a:xfrm>
            <a:off x="500034" y="3687084"/>
            <a:ext cx="1407670" cy="1059519"/>
          </a:xfrm>
          <a:prstGeom prst="wedgeRoundRectCallout">
            <a:avLst>
              <a:gd name="adj1" fmla="val 46848"/>
              <a:gd name="adj2" fmla="val -109477"/>
              <a:gd name="adj3" fmla="val 16667"/>
            </a:avLst>
          </a:prstGeom>
          <a:solidFill>
            <a:schemeClr val="accent4"/>
          </a:solidFill>
          <a:ln w="28575">
            <a:solidFill>
              <a:srgbClr val="FF0000"/>
            </a:solidFill>
            <a:miter lim="800000"/>
            <a:headEnd/>
            <a:tailEnd/>
          </a:ln>
          <a:effectLst/>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zh-CN" altLang="en-US" sz="2400" b="1" dirty="0">
                <a:latin typeface="Times New Roman" pitchFamily="18" charset="0"/>
                <a:ea typeface="宋体" pitchFamily="2" charset="-122"/>
              </a:rPr>
              <a:t>符号位</a:t>
            </a:r>
          </a:p>
        </p:txBody>
      </p:sp>
      <p:sp>
        <p:nvSpPr>
          <p:cNvPr id="17" name="AutoShape 22"/>
          <p:cNvSpPr>
            <a:spLocks noChangeArrowheads="1"/>
          </p:cNvSpPr>
          <p:nvPr/>
        </p:nvSpPr>
        <p:spPr bwMode="auto">
          <a:xfrm>
            <a:off x="7863360" y="1265325"/>
            <a:ext cx="866274" cy="908159"/>
          </a:xfrm>
          <a:prstGeom prst="wedgeRoundRectCallout">
            <a:avLst>
              <a:gd name="adj1" fmla="val -288657"/>
              <a:gd name="adj2" fmla="val 94484"/>
              <a:gd name="adj3" fmla="val 16667"/>
            </a:avLst>
          </a:prstGeom>
          <a:solidFill>
            <a:schemeClr val="accent4"/>
          </a:solidFill>
          <a:ln w="28575">
            <a:solidFill>
              <a:srgbClr val="FF0000"/>
            </a:solid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a:ln>
                  <a:noFill/>
                </a:ln>
                <a:solidFill>
                  <a:schemeClr val="tx1"/>
                </a:solidFill>
                <a:effectLst/>
                <a:latin typeface="Times New Roman" pitchFamily="18" charset="0"/>
                <a:ea typeface="宋体" pitchFamily="2" charset="-122"/>
              </a:rPr>
              <a:t>尾数</a:t>
            </a:r>
            <a:endParaRPr kumimoji="0" lang="zh-CN" sz="1800" b="0" i="0" u="none" strike="noStrike" cap="none" normalizeH="0" baseline="0">
              <a:ln>
                <a:noFill/>
              </a:ln>
              <a:solidFill>
                <a:schemeClr val="tx1"/>
              </a:solidFill>
              <a:effectLst/>
              <a:latin typeface="Arial" pitchFamily="34" charset="0"/>
              <a:ea typeface="宋体" pitchFamily="2" charset="-122"/>
            </a:endParaRPr>
          </a:p>
        </p:txBody>
      </p:sp>
      <p:sp>
        <p:nvSpPr>
          <p:cNvPr id="2050" name="Text Box 2"/>
          <p:cNvSpPr txBox="1">
            <a:spLocks noChangeArrowheads="1"/>
          </p:cNvSpPr>
          <p:nvPr/>
        </p:nvSpPr>
        <p:spPr bwMode="auto">
          <a:xfrm>
            <a:off x="212153" y="4941168"/>
            <a:ext cx="7298793" cy="1200329"/>
          </a:xfrm>
          <a:prstGeom prst="rect">
            <a:avLst/>
          </a:prstGeom>
          <a:noFill/>
          <a:ln w="57150">
            <a:noFill/>
            <a:miter lim="800000"/>
            <a:headEnd/>
            <a:tailEnd/>
          </a:ln>
          <a:effec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9999FF"/>
                </a:solidFill>
                <a:effectLst/>
                <a:latin typeface="Times New Roman" pitchFamily="18" charset="0"/>
                <a:ea typeface="宋体" pitchFamily="2" charset="-122"/>
              </a:rPr>
              <a:t>    </a:t>
            </a:r>
            <a:r>
              <a:rPr kumimoji="0" lang="zh-CN" sz="2400" b="1" i="0" u="none" strike="noStrike" cap="none" normalizeH="0" baseline="0" dirty="0">
                <a:ln>
                  <a:noFill/>
                </a:ln>
                <a:effectLst/>
                <a:latin typeface="Times New Roman" pitchFamily="18" charset="0"/>
                <a:ea typeface="宋体" pitchFamily="2" charset="-122"/>
              </a:rPr>
              <a:t>阶码是整数，阶码的位数反映浮点数的表数范围；</a:t>
            </a:r>
            <a:endParaRPr kumimoji="0" lang="en-US" altLang="zh-CN" sz="2400" b="1" i="0" u="none" strike="noStrike" cap="none" normalizeH="0" baseline="0" dirty="0">
              <a:ln>
                <a:noFill/>
              </a:ln>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effectLst/>
                <a:latin typeface="Times New Roman" pitchFamily="18" charset="0"/>
                <a:ea typeface="宋体" pitchFamily="2" charset="-122"/>
              </a:rPr>
              <a:t>    </a:t>
            </a:r>
            <a:r>
              <a:rPr kumimoji="0" lang="zh-CN" sz="2400" b="1" i="0" u="none" strike="noStrike" cap="none" normalizeH="0" baseline="0" dirty="0">
                <a:ln>
                  <a:noFill/>
                </a:ln>
                <a:effectLst/>
                <a:latin typeface="Times New Roman" pitchFamily="18" charset="0"/>
                <a:ea typeface="宋体" pitchFamily="2" charset="-122"/>
              </a:rPr>
              <a:t>尾数是小数，其位数反映了浮点数的</a:t>
            </a:r>
            <a:r>
              <a:rPr kumimoji="0" lang="zh-CN" sz="2400" b="1" i="0" u="none" strike="noStrike" cap="none" normalizeH="0" baseline="0" dirty="0">
                <a:ln>
                  <a:noFill/>
                </a:ln>
                <a:effectLst>
                  <a:outerShdw blurRad="38100" dist="38100" dir="2700000" algn="tl">
                    <a:srgbClr val="C0C0C0"/>
                  </a:outerShdw>
                </a:effectLst>
                <a:latin typeface="Times New Roman" pitchFamily="18" charset="0"/>
                <a:ea typeface="宋体" pitchFamily="2" charset="-122"/>
              </a:rPr>
              <a:t>表数精度</a:t>
            </a:r>
            <a:r>
              <a:rPr kumimoji="0" lang="zh-CN" sz="2400" b="1" i="0" u="none" strike="noStrike" cap="none" normalizeH="0" baseline="0" dirty="0">
                <a:ln>
                  <a:noFill/>
                </a:ln>
                <a:effectLst/>
                <a:latin typeface="Times New Roman" pitchFamily="18" charset="0"/>
                <a:ea typeface="宋体"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a:ln>
                  <a:noFill/>
                </a:ln>
                <a:effectLst/>
                <a:latin typeface="Times New Roman" pitchFamily="18" charset="0"/>
                <a:ea typeface="宋体" pitchFamily="2" charset="-122"/>
              </a:rPr>
              <a:t>                         		</a:t>
            </a:r>
            <a:endParaRPr kumimoji="0" lang="zh-CN" altLang="zh-CN" sz="1800" b="0" i="0" u="none" strike="noStrike" cap="none" normalizeH="0" baseline="0" dirty="0">
              <a:ln>
                <a:noFill/>
              </a:ln>
              <a:effectLst/>
              <a:latin typeface="Arial" pitchFamily="34" charset="0"/>
              <a:ea typeface="宋体" pitchFamily="2" charset="-122"/>
            </a:endParaRPr>
          </a:p>
        </p:txBody>
      </p:sp>
      <p:sp>
        <p:nvSpPr>
          <p:cNvPr id="18" name="TextBox 17"/>
          <p:cNvSpPr txBox="1"/>
          <p:nvPr/>
        </p:nvSpPr>
        <p:spPr>
          <a:xfrm>
            <a:off x="2714612" y="928670"/>
            <a:ext cx="3877985" cy="646331"/>
          </a:xfrm>
          <a:prstGeom prst="rect">
            <a:avLst/>
          </a:prstGeom>
          <a:noFill/>
        </p:spPr>
        <p:txBody>
          <a:bodyPr wrap="none" rtlCol="0">
            <a:spAutoFit/>
          </a:bodyPr>
          <a:lstStyle/>
          <a:p>
            <a:r>
              <a:rPr lang="zh-CN" altLang="en-US" dirty="0"/>
              <a:t>浮点数的存储模型</a:t>
            </a:r>
          </a:p>
        </p:txBody>
      </p:sp>
      <p:sp>
        <p:nvSpPr>
          <p:cNvPr id="28" name="TextBox 27"/>
          <p:cNvSpPr txBox="1"/>
          <p:nvPr/>
        </p:nvSpPr>
        <p:spPr>
          <a:xfrm>
            <a:off x="3286116" y="1857364"/>
            <a:ext cx="1172116" cy="461665"/>
          </a:xfrm>
          <a:prstGeom prst="rect">
            <a:avLst/>
          </a:prstGeom>
          <a:noFill/>
        </p:spPr>
        <p:txBody>
          <a:bodyPr wrap="none" rtlCol="0">
            <a:spAutoFit/>
          </a:bodyPr>
          <a:lstStyle/>
          <a:p>
            <a:r>
              <a:rPr kumimoji="0" lang="en-US" altLang="zh-CN" sz="2400" b="1" dirty="0">
                <a:effectLst>
                  <a:outerShdw blurRad="38100" dist="38100" dir="2700000" algn="tl">
                    <a:srgbClr val="C0C0C0"/>
                  </a:outerShdw>
                </a:effectLst>
              </a:rPr>
              <a:t>N= S*2</a:t>
            </a:r>
            <a:r>
              <a:rPr kumimoji="0" lang="en-US" altLang="zh-CN" sz="2400" b="1" baseline="30000" dirty="0">
                <a:effectLst>
                  <a:outerShdw blurRad="38100" dist="38100" dir="2700000" algn="tl">
                    <a:srgbClr val="C0C0C0"/>
                  </a:outerShdw>
                </a:effectLst>
              </a:rPr>
              <a:t>j</a:t>
            </a:r>
            <a:endParaRPr lang="zh-CN" altLang="en-US" sz="24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p:cNvSpPr>
            <a:spLocks noGrp="1" noChangeArrowheads="1"/>
          </p:cNvSpPr>
          <p:nvPr>
            <p:ph type="title"/>
          </p:nvPr>
        </p:nvSpPr>
        <p:spPr>
          <a:xfrm>
            <a:off x="755650" y="476250"/>
            <a:ext cx="7656513" cy="865188"/>
          </a:xfrm>
        </p:spPr>
        <p:txBody>
          <a:bodyPr/>
          <a:lstStyle/>
          <a:p>
            <a:r>
              <a:rPr lang="zh-CN" altLang="en-US" b="1" dirty="0">
                <a:solidFill>
                  <a:schemeClr val="tx1"/>
                </a:solidFill>
                <a:latin typeface="黑体" pitchFamily="2" charset="-122"/>
                <a:ea typeface="黑体" pitchFamily="2" charset="-122"/>
              </a:rPr>
              <a:t>浮点型数据</a:t>
            </a:r>
          </a:p>
        </p:txBody>
      </p:sp>
      <p:sp>
        <p:nvSpPr>
          <p:cNvPr id="340994" name="Rectangle 2"/>
          <p:cNvSpPr>
            <a:spLocks noGrp="1" noChangeArrowheads="1"/>
          </p:cNvSpPr>
          <p:nvPr>
            <p:ph idx="1"/>
          </p:nvPr>
        </p:nvSpPr>
        <p:spPr>
          <a:xfrm>
            <a:off x="395288" y="1484313"/>
            <a:ext cx="8353425" cy="4824412"/>
          </a:xfrm>
        </p:spPr>
        <p:txBody>
          <a:bodyPr>
            <a:normAutofit/>
          </a:bodyPr>
          <a:lstStyle/>
          <a:p>
            <a:pPr marL="0" indent="0" algn="just">
              <a:lnSpc>
                <a:spcPct val="90000"/>
              </a:lnSpc>
              <a:buFont typeface="Monotype Sorts" pitchFamily="2" charset="2"/>
              <a:buNone/>
            </a:pPr>
            <a:r>
              <a:rPr lang="zh-CN" altLang="en-US" sz="2800" b="1" dirty="0">
                <a:solidFill>
                  <a:srgbClr val="0000FF"/>
                </a:solidFill>
                <a:latin typeface="宋体" pitchFamily="2" charset="-122"/>
              </a:rPr>
              <a:t>浮点型有三种：</a:t>
            </a:r>
            <a:endParaRPr lang="zh-CN" altLang="en-US" sz="2800" b="1" dirty="0">
              <a:latin typeface="宋体" pitchFamily="2" charset="-122"/>
            </a:endParaRPr>
          </a:p>
          <a:p>
            <a:pPr marL="0" indent="0" algn="just">
              <a:lnSpc>
                <a:spcPct val="90000"/>
              </a:lnSpc>
              <a:buFont typeface="Monotype Sorts" pitchFamily="2" charset="2"/>
              <a:buNone/>
            </a:pPr>
            <a:r>
              <a:rPr lang="en-US" altLang="zh-CN" sz="2800" b="1" dirty="0">
                <a:solidFill>
                  <a:srgbClr val="FF0000"/>
                </a:solidFill>
                <a:latin typeface="宋体" pitchFamily="2" charset="-122"/>
              </a:rPr>
              <a:t>1. </a:t>
            </a:r>
            <a:r>
              <a:rPr lang="zh-CN" altLang="en-US" sz="2800" b="1" dirty="0">
                <a:solidFill>
                  <a:srgbClr val="FF0000"/>
                </a:solidFill>
                <a:latin typeface="宋体" pitchFamily="2" charset="-122"/>
              </a:rPr>
              <a:t>单精度型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float </a:t>
            </a:r>
            <a:r>
              <a:rPr lang="zh-CN" altLang="en-US" sz="2800" b="1" dirty="0">
                <a:solidFill>
                  <a:srgbClr val="0000FF"/>
                </a:solidFill>
                <a:latin typeface="宋体" pitchFamily="2" charset="-122"/>
              </a:rPr>
              <a:t>标记。</a:t>
            </a:r>
          </a:p>
          <a:p>
            <a:pPr marL="0" indent="0" algn="just">
              <a:lnSpc>
                <a:spcPct val="90000"/>
              </a:lnSpc>
              <a:buFont typeface="Monotype Sorts" pitchFamily="2" charset="2"/>
              <a:buNone/>
            </a:pPr>
            <a:r>
              <a:rPr lang="zh-CN" altLang="en-US" sz="2800" b="1" dirty="0">
                <a:solidFill>
                  <a:srgbClr val="0000FF"/>
                </a:solidFill>
                <a:latin typeface="宋体" pitchFamily="2" charset="-122"/>
              </a:rPr>
              <a:t>   如： </a:t>
            </a:r>
            <a:r>
              <a:rPr lang="en-US" altLang="zh-CN" sz="2800" b="1" dirty="0">
                <a:solidFill>
                  <a:srgbClr val="0000FF"/>
                </a:solidFill>
                <a:latin typeface="宋体" pitchFamily="2" charset="-122"/>
              </a:rPr>
              <a:t>float x, y; </a:t>
            </a:r>
            <a:endParaRPr lang="en-US" altLang="zh-CN" sz="2800" b="1" dirty="0">
              <a:solidFill>
                <a:srgbClr val="FF0000"/>
              </a:solidFill>
              <a:latin typeface="宋体" pitchFamily="2" charset="-122"/>
            </a:endParaRPr>
          </a:p>
          <a:p>
            <a:pPr marL="0" indent="0" algn="just">
              <a:lnSpc>
                <a:spcPct val="90000"/>
              </a:lnSpc>
              <a:buFont typeface="Monotype Sorts" pitchFamily="2" charset="2"/>
              <a:buNone/>
            </a:pPr>
            <a:r>
              <a:rPr lang="en-US" altLang="zh-CN" sz="2800" b="1" dirty="0">
                <a:solidFill>
                  <a:srgbClr val="FF0000"/>
                </a:solidFill>
                <a:latin typeface="宋体" pitchFamily="2" charset="-122"/>
              </a:rPr>
              <a:t>2. </a:t>
            </a:r>
            <a:r>
              <a:rPr lang="zh-CN" altLang="en-US" sz="2800" b="1" dirty="0">
                <a:solidFill>
                  <a:srgbClr val="FF0000"/>
                </a:solidFill>
                <a:latin typeface="宋体" pitchFamily="2" charset="-122"/>
              </a:rPr>
              <a:t>双精度型：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double </a:t>
            </a:r>
            <a:r>
              <a:rPr lang="zh-CN" altLang="en-US" sz="2800" b="1" dirty="0">
                <a:solidFill>
                  <a:srgbClr val="0000FF"/>
                </a:solidFill>
                <a:latin typeface="宋体" pitchFamily="2" charset="-122"/>
              </a:rPr>
              <a:t>标记。</a:t>
            </a:r>
          </a:p>
          <a:p>
            <a:pPr marL="0" indent="0" algn="just">
              <a:lnSpc>
                <a:spcPct val="90000"/>
              </a:lnSpc>
              <a:buFont typeface="Monotype Sorts" pitchFamily="2" charset="2"/>
              <a:buNone/>
            </a:pPr>
            <a:r>
              <a:rPr lang="zh-CN" altLang="en-US" sz="2800" b="1" dirty="0">
                <a:solidFill>
                  <a:srgbClr val="0000FF"/>
                </a:solidFill>
                <a:latin typeface="宋体" pitchFamily="2" charset="-122"/>
              </a:rPr>
              <a:t>   如： </a:t>
            </a:r>
            <a:r>
              <a:rPr lang="en-US" altLang="zh-CN" sz="2800" b="1" dirty="0">
                <a:solidFill>
                  <a:srgbClr val="0000FF"/>
                </a:solidFill>
                <a:latin typeface="宋体" pitchFamily="2" charset="-122"/>
              </a:rPr>
              <a:t>double result;</a:t>
            </a:r>
          </a:p>
          <a:p>
            <a:pPr marL="0" indent="0" algn="just">
              <a:lnSpc>
                <a:spcPct val="90000"/>
              </a:lnSpc>
              <a:buFont typeface="Monotype Sorts" pitchFamily="2" charset="2"/>
              <a:buNone/>
            </a:pPr>
            <a:r>
              <a:rPr lang="en-US" altLang="zh-CN" sz="2800" b="1" dirty="0">
                <a:solidFill>
                  <a:srgbClr val="FF0000"/>
                </a:solidFill>
                <a:latin typeface="宋体" pitchFamily="2" charset="-122"/>
              </a:rPr>
              <a:t>3. </a:t>
            </a:r>
            <a:r>
              <a:rPr lang="zh-CN" altLang="en-US" sz="2800" b="1" dirty="0">
                <a:solidFill>
                  <a:srgbClr val="FF0000"/>
                </a:solidFill>
                <a:latin typeface="宋体" pitchFamily="2" charset="-122"/>
              </a:rPr>
              <a:t>长双精度型：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long double </a:t>
            </a:r>
            <a:r>
              <a:rPr lang="zh-CN" altLang="en-US" sz="2800" b="1" dirty="0">
                <a:solidFill>
                  <a:srgbClr val="0000FF"/>
                </a:solidFill>
                <a:latin typeface="宋体" pitchFamily="2" charset="-122"/>
              </a:rPr>
              <a:t>标记。</a:t>
            </a:r>
            <a:endParaRPr lang="zh-CN" altLang="en-US" sz="2800" b="1" dirty="0">
              <a:solidFill>
                <a:srgbClr val="FF0000"/>
              </a:solidFill>
              <a:latin typeface="宋体" pitchFamily="2" charset="-122"/>
            </a:endParaRPr>
          </a:p>
          <a:p>
            <a:pPr marL="0" indent="0" algn="just">
              <a:lnSpc>
                <a:spcPct val="90000"/>
              </a:lnSpc>
              <a:buFont typeface="Monotype Sorts" pitchFamily="2" charset="2"/>
              <a:buNone/>
            </a:pPr>
            <a:r>
              <a:rPr lang="zh-CN" altLang="en-US" sz="2800" b="1" dirty="0">
                <a:solidFill>
                  <a:srgbClr val="0000FF"/>
                </a:solidFill>
                <a:latin typeface="宋体" pitchFamily="2" charset="-122"/>
              </a:rPr>
              <a:t>   如：</a:t>
            </a:r>
            <a:r>
              <a:rPr lang="en-US" altLang="zh-CN" sz="2800" b="1" dirty="0">
                <a:solidFill>
                  <a:srgbClr val="0000FF"/>
                </a:solidFill>
                <a:latin typeface="宋体" pitchFamily="2" charset="-122"/>
              </a:rPr>
              <a:t>long double z;</a:t>
            </a:r>
          </a:p>
        </p:txBody>
      </p:sp>
      <p:sp>
        <p:nvSpPr>
          <p:cNvPr id="6" name="灯片编号占位符 5"/>
          <p:cNvSpPr>
            <a:spLocks noGrp="1"/>
          </p:cNvSpPr>
          <p:nvPr>
            <p:ph type="sldNum" sz="quarter" idx="12"/>
          </p:nvPr>
        </p:nvSpPr>
        <p:spPr/>
        <p:txBody>
          <a:bodyPr/>
          <a:lstStyle/>
          <a:p>
            <a:fld id="{16AC26BE-2B0B-4A8F-B634-13E4DDAC86E4}" type="slidenum">
              <a:rPr lang="en-US" altLang="zh-CN"/>
              <a:pPr/>
              <a:t>12</a:t>
            </a:fld>
            <a:endParaRPr lang="en-US" altLang="zh-CN"/>
          </a:p>
        </p:txBody>
      </p:sp>
    </p:spTree>
    <p:extLst>
      <p:ext uri="{BB962C8B-B14F-4D97-AF65-F5344CB8AC3E}">
        <p14:creationId xmlns:p14="http://schemas.microsoft.com/office/powerpoint/2010/main" val="10305189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idx="1"/>
          </p:nvPr>
        </p:nvSpPr>
        <p:spPr>
          <a:xfrm>
            <a:off x="395288" y="1268413"/>
            <a:ext cx="8367712" cy="4897437"/>
          </a:xfrm>
        </p:spPr>
        <p:txBody>
          <a:bodyPr/>
          <a:lstStyle/>
          <a:p>
            <a:pPr marL="0" indent="0" algn="just">
              <a:buFont typeface="Monotype Sorts" pitchFamily="2" charset="2"/>
              <a:buNone/>
            </a:pPr>
            <a:r>
              <a:rPr lang="en-US" altLang="zh-CN" b="1" dirty="0">
                <a:solidFill>
                  <a:srgbClr val="0000FF"/>
                </a:solidFill>
                <a:effectLst>
                  <a:outerShdw blurRad="38100" dist="38100" dir="2700000" algn="tl">
                    <a:srgbClr val="000000"/>
                  </a:outerShdw>
                </a:effectLst>
                <a:latin typeface="宋体" pitchFamily="2" charset="-122"/>
              </a:rPr>
              <a:t>1. float </a:t>
            </a:r>
            <a:r>
              <a:rPr lang="zh-CN" altLang="en-US" b="1" dirty="0">
                <a:solidFill>
                  <a:srgbClr val="0000FF"/>
                </a:solidFill>
                <a:effectLst>
                  <a:outerShdw blurRad="38100" dist="38100" dir="2700000" algn="tl">
                    <a:srgbClr val="000000"/>
                  </a:outerShdw>
                </a:effectLst>
                <a:latin typeface="宋体" pitchFamily="2" charset="-122"/>
              </a:rPr>
              <a:t>型</a:t>
            </a:r>
          </a:p>
          <a:p>
            <a:pPr marL="0" indent="0" algn="just">
              <a:buFont typeface="Monotype Sorts" pitchFamily="2" charset="2"/>
              <a:buNone/>
            </a:pPr>
            <a:r>
              <a:rPr lang="zh-CN" altLang="en-US" b="1" dirty="0">
                <a:effectLst>
                  <a:outerShdw blurRad="38100" dist="38100" dir="2700000" algn="tl">
                    <a:srgbClr val="000000"/>
                  </a:outerShdw>
                </a:effectLst>
                <a:latin typeface="宋体" pitchFamily="2" charset="-122"/>
              </a:rPr>
              <a:t>    在内存中占用</a:t>
            </a:r>
            <a:r>
              <a:rPr lang="en-US" altLang="zh-CN" b="1" dirty="0">
                <a:effectLst>
                  <a:outerShdw blurRad="38100" dist="38100" dir="2700000" algn="tl">
                    <a:srgbClr val="000000"/>
                  </a:outerShdw>
                </a:effectLst>
                <a:latin typeface="宋体" pitchFamily="2" charset="-122"/>
              </a:rPr>
              <a:t>4</a:t>
            </a:r>
            <a:r>
              <a:rPr lang="zh-CN" altLang="en-US" b="1" dirty="0">
                <a:effectLst>
                  <a:outerShdw blurRad="38100" dist="38100" dir="2700000" algn="tl">
                    <a:srgbClr val="000000"/>
                  </a:outerShdw>
                </a:effectLst>
                <a:latin typeface="宋体" pitchFamily="2" charset="-122"/>
              </a:rPr>
              <a:t>个字节</a:t>
            </a:r>
            <a:r>
              <a:rPr lang="en-US" altLang="zh-CN" b="1" dirty="0">
                <a:effectLst>
                  <a:outerShdw blurRad="38100" dist="38100" dir="2700000" algn="tl">
                    <a:srgbClr val="000000"/>
                  </a:outerShdw>
                </a:effectLst>
                <a:latin typeface="宋体" pitchFamily="2" charset="-122"/>
              </a:rPr>
              <a:t>(32</a:t>
            </a:r>
            <a:r>
              <a:rPr lang="zh-CN" altLang="en-US" b="1" dirty="0">
                <a:effectLst>
                  <a:outerShdw blurRad="38100" dist="38100" dir="2700000" algn="tl">
                    <a:srgbClr val="000000"/>
                  </a:outerShdw>
                </a:effectLst>
                <a:latin typeface="宋体" pitchFamily="2" charset="-122"/>
              </a:rPr>
              <a:t>个二进位</a:t>
            </a:r>
            <a:r>
              <a:rPr lang="en-US" altLang="zh-CN" b="1" dirty="0">
                <a:effectLst>
                  <a:outerShdw blurRad="38100" dist="38100" dir="2700000" algn="tl">
                    <a:srgbClr val="000000"/>
                  </a:outerShdw>
                </a:effectLst>
                <a:latin typeface="宋体" pitchFamily="2" charset="-122"/>
              </a:rPr>
              <a:t>)</a:t>
            </a:r>
            <a:r>
              <a:rPr lang="zh-CN" altLang="en-US" b="1" dirty="0">
                <a:effectLst>
                  <a:outerShdw blurRad="38100" dist="38100" dir="2700000" algn="tl">
                    <a:srgbClr val="000000"/>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约</a:t>
            </a:r>
            <a:r>
              <a:rPr lang="en-US" altLang="zh-CN" b="1" dirty="0">
                <a:effectLst>
                  <a:outerShdw blurRad="38100" dist="38100" dir="2700000" algn="tl">
                    <a:srgbClr val="000000"/>
                  </a:outerShdw>
                </a:effectLst>
                <a:latin typeface="宋体" pitchFamily="2" charset="-122"/>
              </a:rPr>
              <a:t>7</a:t>
            </a:r>
            <a:r>
              <a:rPr lang="zh-CN" altLang="en-US" b="1" dirty="0">
                <a:effectLst>
                  <a:outerShdw blurRad="38100" dist="38100" dir="2700000" algn="tl">
                    <a:srgbClr val="000000"/>
                  </a:outerShdw>
                </a:effectLst>
                <a:latin typeface="宋体" pitchFamily="2" charset="-122"/>
              </a:rPr>
              <a:t>个十进位有效数字，能表示绝对值约为</a:t>
            </a:r>
            <a:r>
              <a:rPr lang="en-US" altLang="zh-CN" b="1" dirty="0">
                <a:solidFill>
                  <a:srgbClr val="CC0066"/>
                </a:solidFill>
                <a:effectLst>
                  <a:outerShdw blurRad="38100" dist="38100" dir="2700000" algn="tl">
                    <a:srgbClr val="000000"/>
                  </a:outerShdw>
                </a:effectLst>
                <a:latin typeface="宋体" pitchFamily="2" charset="-122"/>
              </a:rPr>
              <a:t>10</a:t>
            </a:r>
            <a:r>
              <a:rPr lang="en-US" altLang="zh-CN" b="1" baseline="30000" dirty="0">
                <a:solidFill>
                  <a:srgbClr val="CC0066"/>
                </a:solidFill>
                <a:effectLst>
                  <a:outerShdw blurRad="38100" dist="38100" dir="2700000" algn="tl">
                    <a:srgbClr val="000000"/>
                  </a:outerShdw>
                </a:effectLst>
                <a:latin typeface="宋体" pitchFamily="2" charset="-122"/>
              </a:rPr>
              <a:t>-38</a:t>
            </a:r>
            <a:r>
              <a:rPr lang="zh-CN" altLang="en-US" b="1" dirty="0">
                <a:effectLst>
                  <a:outerShdw blurRad="38100" dist="38100" dir="2700000" algn="tl">
                    <a:srgbClr val="000000"/>
                  </a:outerShdw>
                </a:effectLst>
                <a:latin typeface="宋体" pitchFamily="2" charset="-122"/>
              </a:rPr>
              <a:t>～</a:t>
            </a:r>
            <a:r>
              <a:rPr lang="en-US" altLang="zh-CN" b="1" dirty="0">
                <a:solidFill>
                  <a:srgbClr val="CC0066"/>
                </a:solidFill>
                <a:effectLst>
                  <a:outerShdw blurRad="38100" dist="38100" dir="2700000" algn="tl">
                    <a:srgbClr val="000000"/>
                  </a:outerShdw>
                </a:effectLst>
                <a:latin typeface="宋体" pitchFamily="2" charset="-122"/>
              </a:rPr>
              <a:t>10</a:t>
            </a:r>
            <a:r>
              <a:rPr lang="en-US" altLang="zh-CN" b="1" baseline="30000" dirty="0">
                <a:solidFill>
                  <a:srgbClr val="CC0066"/>
                </a:solidFill>
                <a:effectLst>
                  <a:outerShdw blurRad="38100" dist="38100" dir="2700000" algn="tl">
                    <a:srgbClr val="000000"/>
                  </a:outerShdw>
                </a:effectLst>
                <a:latin typeface="宋体" pitchFamily="2" charset="-122"/>
              </a:rPr>
              <a:t>38</a:t>
            </a:r>
            <a:r>
              <a:rPr lang="zh-CN" altLang="en-US" b="1" dirty="0">
                <a:effectLst>
                  <a:outerShdw blurRad="38100" dist="38100" dir="2700000" algn="tl">
                    <a:srgbClr val="000000"/>
                  </a:outerShdw>
                </a:effectLst>
                <a:latin typeface="宋体" pitchFamily="2" charset="-122"/>
              </a:rPr>
              <a:t>。</a:t>
            </a:r>
          </a:p>
          <a:p>
            <a:pPr marL="0" indent="0" algn="just">
              <a:buFont typeface="Monotype Sorts" pitchFamily="2" charset="2"/>
              <a:buNone/>
            </a:pPr>
            <a:r>
              <a:rPr lang="en-US" altLang="zh-CN" b="1" dirty="0">
                <a:solidFill>
                  <a:srgbClr val="0000FF"/>
                </a:solidFill>
                <a:effectLst>
                  <a:outerShdw blurRad="38100" dist="38100" dir="2700000" algn="tl">
                    <a:srgbClr val="000000"/>
                  </a:outerShdw>
                </a:effectLst>
                <a:latin typeface="宋体" pitchFamily="2" charset="-122"/>
              </a:rPr>
              <a:t>2. double </a:t>
            </a:r>
            <a:r>
              <a:rPr lang="zh-CN" altLang="en-US" b="1" dirty="0">
                <a:solidFill>
                  <a:srgbClr val="0000FF"/>
                </a:solidFill>
                <a:effectLst>
                  <a:outerShdw blurRad="38100" dist="38100" dir="2700000" algn="tl">
                    <a:srgbClr val="000000"/>
                  </a:outerShdw>
                </a:effectLst>
                <a:latin typeface="宋体" pitchFamily="2" charset="-122"/>
              </a:rPr>
              <a:t>型</a:t>
            </a:r>
          </a:p>
          <a:p>
            <a:pPr marL="0" indent="0" algn="just">
              <a:buFont typeface="Monotype Sorts" pitchFamily="2" charset="2"/>
              <a:buNone/>
            </a:pPr>
            <a:r>
              <a:rPr lang="zh-CN" altLang="en-US" b="1" dirty="0">
                <a:effectLst>
                  <a:outerShdw blurRad="38100" dist="38100" dir="2700000" algn="tl">
                    <a:srgbClr val="000000"/>
                  </a:outerShdw>
                </a:effectLst>
                <a:latin typeface="宋体" pitchFamily="2" charset="-122"/>
              </a:rPr>
              <a:t>    在内存中占用</a:t>
            </a:r>
            <a:r>
              <a:rPr lang="en-US" altLang="zh-CN" b="1" dirty="0">
                <a:effectLst>
                  <a:outerShdw blurRad="38100" dist="38100" dir="2700000" algn="tl">
                    <a:srgbClr val="000000"/>
                  </a:outerShdw>
                </a:effectLst>
                <a:latin typeface="宋体" pitchFamily="2" charset="-122"/>
              </a:rPr>
              <a:t>8</a:t>
            </a:r>
            <a:r>
              <a:rPr lang="zh-CN" altLang="en-US" b="1" dirty="0">
                <a:effectLst>
                  <a:outerShdw blurRad="38100" dist="38100" dir="2700000" algn="tl">
                    <a:srgbClr val="000000"/>
                  </a:outerShdw>
                </a:effectLst>
                <a:latin typeface="宋体" pitchFamily="2" charset="-122"/>
              </a:rPr>
              <a:t>个字节</a:t>
            </a:r>
            <a:r>
              <a:rPr lang="en-US" altLang="zh-CN" b="1" dirty="0">
                <a:effectLst>
                  <a:outerShdw blurRad="38100" dist="38100" dir="2700000" algn="tl">
                    <a:srgbClr val="000000"/>
                  </a:outerShdw>
                </a:effectLst>
                <a:latin typeface="宋体" pitchFamily="2" charset="-122"/>
              </a:rPr>
              <a:t>(64</a:t>
            </a:r>
            <a:r>
              <a:rPr lang="zh-CN" altLang="en-US" b="1" dirty="0">
                <a:effectLst>
                  <a:outerShdw blurRad="38100" dist="38100" dir="2700000" algn="tl">
                    <a:srgbClr val="000000"/>
                  </a:outerShdw>
                </a:effectLst>
                <a:latin typeface="宋体" pitchFamily="2" charset="-122"/>
              </a:rPr>
              <a:t>个二进位</a:t>
            </a:r>
            <a:r>
              <a:rPr lang="en-US" altLang="zh-CN" b="1" dirty="0">
                <a:effectLst>
                  <a:outerShdw blurRad="38100" dist="38100" dir="2700000" algn="tl">
                    <a:srgbClr val="000000"/>
                  </a:outerShdw>
                </a:effectLst>
                <a:latin typeface="宋体" pitchFamily="2" charset="-122"/>
              </a:rPr>
              <a:t>)</a:t>
            </a:r>
            <a:r>
              <a:rPr lang="zh-CN" altLang="en-US" b="1" dirty="0">
                <a:effectLst>
                  <a:outerShdw blurRad="38100" dist="38100" dir="2700000" algn="tl">
                    <a:srgbClr val="000000"/>
                  </a:outerShdw>
                </a:effectLst>
                <a:latin typeface="宋体" pitchFamily="2" charset="-122"/>
              </a:rPr>
              <a:t>，约</a:t>
            </a:r>
            <a:r>
              <a:rPr lang="en-US" altLang="zh-CN" b="1" dirty="0">
                <a:effectLst>
                  <a:outerShdw blurRad="38100" dist="38100" dir="2700000" algn="tl">
                    <a:srgbClr val="000000"/>
                  </a:outerShdw>
                </a:effectLst>
                <a:latin typeface="宋体" pitchFamily="2" charset="-122"/>
              </a:rPr>
              <a:t>15</a:t>
            </a:r>
            <a:r>
              <a:rPr lang="zh-CN" altLang="en-US" b="1" dirty="0">
                <a:effectLst>
                  <a:outerShdw blurRad="38100" dist="38100" dir="2700000" algn="tl">
                    <a:srgbClr val="000000"/>
                  </a:outerShdw>
                </a:effectLst>
                <a:latin typeface="宋体" pitchFamily="2" charset="-122"/>
              </a:rPr>
              <a:t>个十进位有效数字，能表示绝对值约为</a:t>
            </a:r>
            <a:r>
              <a:rPr lang="en-US" altLang="zh-CN" b="1" dirty="0">
                <a:solidFill>
                  <a:srgbClr val="CC0066"/>
                </a:solidFill>
                <a:effectLst>
                  <a:outerShdw blurRad="38100" dist="38100" dir="2700000" algn="tl">
                    <a:srgbClr val="000000"/>
                  </a:outerShdw>
                </a:effectLst>
                <a:latin typeface="宋体" pitchFamily="2" charset="-122"/>
              </a:rPr>
              <a:t>10</a:t>
            </a:r>
            <a:r>
              <a:rPr lang="en-US" altLang="zh-CN" b="1" baseline="30000" dirty="0">
                <a:solidFill>
                  <a:srgbClr val="CC0066"/>
                </a:solidFill>
                <a:effectLst>
                  <a:outerShdw blurRad="38100" dist="38100" dir="2700000" algn="tl">
                    <a:srgbClr val="000000"/>
                  </a:outerShdw>
                </a:effectLst>
                <a:latin typeface="宋体" pitchFamily="2" charset="-122"/>
              </a:rPr>
              <a:t>-308 </a:t>
            </a:r>
            <a:r>
              <a:rPr lang="zh-CN" altLang="en-US" b="1" dirty="0">
                <a:effectLst>
                  <a:outerShdw blurRad="38100" dist="38100" dir="2700000" algn="tl">
                    <a:srgbClr val="000000"/>
                  </a:outerShdw>
                </a:effectLst>
                <a:latin typeface="宋体" pitchFamily="2" charset="-122"/>
              </a:rPr>
              <a:t>～</a:t>
            </a:r>
            <a:r>
              <a:rPr lang="zh-CN" altLang="en-US" b="1" baseline="30000" dirty="0">
                <a:solidFill>
                  <a:srgbClr val="CC0066"/>
                </a:solidFill>
                <a:effectLst>
                  <a:outerShdw blurRad="38100" dist="38100" dir="2700000" algn="tl">
                    <a:srgbClr val="000000"/>
                  </a:outerShdw>
                </a:effectLst>
                <a:latin typeface="宋体" pitchFamily="2" charset="-122"/>
              </a:rPr>
              <a:t> </a:t>
            </a:r>
            <a:r>
              <a:rPr lang="en-US" altLang="zh-CN" b="1" dirty="0">
                <a:solidFill>
                  <a:srgbClr val="CC0066"/>
                </a:solidFill>
                <a:effectLst>
                  <a:outerShdw blurRad="38100" dist="38100" dir="2700000" algn="tl">
                    <a:srgbClr val="000000"/>
                  </a:outerShdw>
                </a:effectLst>
                <a:latin typeface="宋体" pitchFamily="2" charset="-122"/>
              </a:rPr>
              <a:t>10</a:t>
            </a:r>
            <a:r>
              <a:rPr lang="en-US" altLang="zh-CN" b="1" baseline="30000" dirty="0">
                <a:solidFill>
                  <a:srgbClr val="CC0066"/>
                </a:solidFill>
                <a:effectLst>
                  <a:outerShdw blurRad="38100" dist="38100" dir="2700000" algn="tl">
                    <a:srgbClr val="000000"/>
                  </a:outerShdw>
                </a:effectLst>
                <a:latin typeface="宋体" pitchFamily="2" charset="-122"/>
              </a:rPr>
              <a:t>308</a:t>
            </a:r>
            <a:r>
              <a:rPr lang="zh-CN" altLang="en-US" b="1" dirty="0">
                <a:effectLst>
                  <a:outerShdw blurRad="38100" dist="38100" dir="2700000" algn="tl">
                    <a:srgbClr val="000000"/>
                  </a:outerShdw>
                </a:effectLst>
                <a:latin typeface="宋体" pitchFamily="2" charset="-122"/>
              </a:rPr>
              <a:t>。</a:t>
            </a:r>
          </a:p>
          <a:p>
            <a:pPr marL="0" indent="0" algn="just">
              <a:buFont typeface="Monotype Sorts" pitchFamily="2" charset="2"/>
              <a:buNone/>
            </a:pPr>
            <a:r>
              <a:rPr lang="en-US" altLang="zh-CN" b="1" dirty="0">
                <a:solidFill>
                  <a:srgbClr val="0000FF"/>
                </a:solidFill>
                <a:effectLst>
                  <a:outerShdw blurRad="38100" dist="38100" dir="2700000" algn="tl">
                    <a:srgbClr val="000000"/>
                  </a:outerShdw>
                </a:effectLst>
                <a:latin typeface="宋体" pitchFamily="2" charset="-122"/>
              </a:rPr>
              <a:t>3. long double </a:t>
            </a:r>
            <a:r>
              <a:rPr lang="zh-CN" altLang="en-US" b="1" dirty="0">
                <a:solidFill>
                  <a:srgbClr val="0000FF"/>
                </a:solidFill>
                <a:effectLst>
                  <a:outerShdw blurRad="38100" dist="38100" dir="2700000" algn="tl">
                    <a:srgbClr val="000000"/>
                  </a:outerShdw>
                </a:effectLst>
                <a:latin typeface="宋体" pitchFamily="2" charset="-122"/>
              </a:rPr>
              <a:t>型</a:t>
            </a:r>
          </a:p>
          <a:p>
            <a:pPr marL="0" indent="0" algn="just">
              <a:buFont typeface="Monotype Sorts" pitchFamily="2" charset="2"/>
              <a:buNone/>
            </a:pPr>
            <a:r>
              <a:rPr lang="zh-CN" altLang="en-US" b="1" dirty="0">
                <a:effectLst>
                  <a:outerShdw blurRad="38100" dist="38100" dir="2700000" algn="tl">
                    <a:srgbClr val="000000"/>
                  </a:outerShdw>
                </a:effectLst>
                <a:latin typeface="宋体" pitchFamily="2" charset="-122"/>
              </a:rPr>
              <a:t>    在内存中一般占用更多的字节，有更多的有效数字位数。</a:t>
            </a:r>
          </a:p>
        </p:txBody>
      </p:sp>
      <p:sp>
        <p:nvSpPr>
          <p:cNvPr id="5" name="灯片编号占位符 5"/>
          <p:cNvSpPr>
            <a:spLocks noGrp="1"/>
          </p:cNvSpPr>
          <p:nvPr>
            <p:ph type="sldNum" sz="quarter" idx="12"/>
          </p:nvPr>
        </p:nvSpPr>
        <p:spPr/>
        <p:txBody>
          <a:bodyPr/>
          <a:lstStyle/>
          <a:p>
            <a:fld id="{331B8B50-E5C6-4B9E-936C-5AA4CA8EB3B9}" type="slidenum">
              <a:rPr lang="en-US" altLang="zh-CN"/>
              <a:pPr/>
              <a:t>13</a:t>
            </a:fld>
            <a:endParaRPr lang="en-US" altLang="zh-C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            符号位     阶码      尾数     长度</a:t>
            </a:r>
            <a:br>
              <a:rPr lang="zh-CN" altLang="en-US" dirty="0"/>
            </a:br>
            <a:r>
              <a:rPr lang="en-US" altLang="zh-CN" dirty="0"/>
              <a:t>float             1         8            23        32</a:t>
            </a:r>
            <a:br>
              <a:rPr lang="en-US" altLang="zh-CN" dirty="0"/>
            </a:br>
            <a:r>
              <a:rPr lang="en-US" altLang="zh-CN" dirty="0"/>
              <a:t>double          1        11            52        64</a:t>
            </a:r>
          </a:p>
          <a:p>
            <a:endParaRPr lang="en-US" altLang="zh-CN" dirty="0"/>
          </a:p>
          <a:p>
            <a:r>
              <a:rPr lang="zh-CN" altLang="en-US" dirty="0"/>
              <a:t>阶码</a:t>
            </a:r>
            <a:r>
              <a:rPr lang="en-US" altLang="zh-CN" dirty="0"/>
              <a:t>8</a:t>
            </a:r>
            <a:r>
              <a:rPr lang="zh-CN" altLang="en-US" dirty="0"/>
              <a:t>位（</a:t>
            </a:r>
            <a:r>
              <a:rPr lang="en-US" altLang="zh-CN" dirty="0"/>
              <a:t>2</a:t>
            </a:r>
            <a:r>
              <a:rPr lang="zh-CN" altLang="en-US" dirty="0"/>
              <a:t>进制），其中符号位</a:t>
            </a:r>
            <a:r>
              <a:rPr lang="en-US" altLang="zh-CN" dirty="0"/>
              <a:t>1</a:t>
            </a:r>
            <a:r>
              <a:rPr lang="zh-CN" altLang="en-US" dirty="0"/>
              <a:t>位，最大值</a:t>
            </a:r>
            <a:r>
              <a:rPr lang="en-US" altLang="zh-CN" dirty="0"/>
              <a:t>127</a:t>
            </a:r>
          </a:p>
          <a:p>
            <a:r>
              <a:rPr lang="en-US" altLang="zh-CN" dirty="0"/>
              <a:t>2^127 </a:t>
            </a:r>
            <a:r>
              <a:rPr lang="zh-CN" altLang="en-US" dirty="0"/>
              <a:t>大约 </a:t>
            </a:r>
            <a:r>
              <a:rPr lang="en-US" altLang="zh-CN" dirty="0"/>
              <a:t>10^38</a:t>
            </a:r>
          </a:p>
          <a:p>
            <a:endParaRPr lang="en-US" altLang="zh-CN" dirty="0"/>
          </a:p>
          <a:p>
            <a:r>
              <a:rPr lang="zh-CN" altLang="en-US" dirty="0"/>
              <a:t>阶码</a:t>
            </a:r>
            <a:r>
              <a:rPr lang="en-US" altLang="zh-CN" dirty="0"/>
              <a:t>11</a:t>
            </a:r>
            <a:r>
              <a:rPr lang="zh-CN" altLang="en-US" dirty="0"/>
              <a:t>位（</a:t>
            </a:r>
            <a:r>
              <a:rPr lang="en-US" altLang="zh-CN" dirty="0"/>
              <a:t>2</a:t>
            </a:r>
            <a:r>
              <a:rPr lang="zh-CN" altLang="en-US" dirty="0"/>
              <a:t>进制），其中符号位</a:t>
            </a:r>
            <a:r>
              <a:rPr lang="en-US" altLang="zh-CN" dirty="0"/>
              <a:t>1</a:t>
            </a:r>
            <a:r>
              <a:rPr lang="zh-CN" altLang="en-US" dirty="0"/>
              <a:t>位，最大值</a:t>
            </a:r>
            <a:r>
              <a:rPr lang="en-US" altLang="zh-CN" dirty="0"/>
              <a:t>1023</a:t>
            </a:r>
          </a:p>
          <a:p>
            <a:r>
              <a:rPr lang="en-US" altLang="zh-CN" dirty="0"/>
              <a:t>2^1023 </a:t>
            </a:r>
            <a:r>
              <a:rPr lang="zh-CN" altLang="en-US" dirty="0"/>
              <a:t>大约 </a:t>
            </a:r>
            <a:r>
              <a:rPr lang="en-US" altLang="zh-CN" dirty="0"/>
              <a:t>10^308</a:t>
            </a:r>
          </a:p>
          <a:p>
            <a:endParaRPr lang="en-US" altLang="zh-CN"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            符号位     阶码      尾数     长度</a:t>
            </a:r>
            <a:br>
              <a:rPr lang="zh-CN" altLang="en-US" dirty="0"/>
            </a:br>
            <a:r>
              <a:rPr lang="en-US" altLang="zh-CN" dirty="0"/>
              <a:t>float             1         8            23        32</a:t>
            </a:r>
            <a:br>
              <a:rPr lang="en-US" altLang="zh-CN" dirty="0"/>
            </a:br>
            <a:r>
              <a:rPr lang="en-US" altLang="zh-CN" dirty="0"/>
              <a:t>double          1        11            52        64</a:t>
            </a:r>
          </a:p>
          <a:p>
            <a:endParaRPr lang="en-US" altLang="zh-CN" dirty="0"/>
          </a:p>
          <a:p>
            <a:r>
              <a:rPr lang="en-US" altLang="zh-CN" dirty="0"/>
              <a:t>float</a:t>
            </a:r>
            <a:r>
              <a:rPr lang="zh-CN" altLang="en-US" dirty="0"/>
              <a:t>：</a:t>
            </a:r>
            <a:r>
              <a:rPr lang="en-US" altLang="zh-CN" dirty="0"/>
              <a:t>2^23 = 8388608</a:t>
            </a:r>
            <a:r>
              <a:rPr lang="zh-CN" altLang="en-US" dirty="0"/>
              <a:t>，一共</a:t>
            </a:r>
            <a:r>
              <a:rPr lang="en-US" altLang="zh-CN" dirty="0"/>
              <a:t>7</a:t>
            </a:r>
            <a:r>
              <a:rPr lang="zh-CN" altLang="en-US" dirty="0"/>
              <a:t>位，这意味着最多能有</a:t>
            </a:r>
            <a:r>
              <a:rPr lang="en-US" altLang="zh-CN" dirty="0"/>
              <a:t>7</a:t>
            </a:r>
            <a:r>
              <a:rPr lang="zh-CN" altLang="en-US" dirty="0"/>
              <a:t>位有效数字；</a:t>
            </a:r>
          </a:p>
          <a:p>
            <a:r>
              <a:rPr lang="en-US" altLang="zh-CN" dirty="0"/>
              <a:t>double</a:t>
            </a:r>
            <a:r>
              <a:rPr lang="zh-CN" altLang="en-US" dirty="0"/>
              <a:t>：</a:t>
            </a:r>
            <a:r>
              <a:rPr lang="en-US" altLang="zh-CN" dirty="0"/>
              <a:t>2^52 = ……</a:t>
            </a:r>
            <a:endParaRPr lang="zh-CN" altLang="en-US"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title"/>
          </p:nvPr>
        </p:nvSpPr>
        <p:spPr>
          <a:xfrm>
            <a:off x="323850" y="333375"/>
            <a:ext cx="8569325" cy="1143000"/>
          </a:xfrm>
        </p:spPr>
        <p:txBody>
          <a:bodyPr/>
          <a:lstStyle/>
          <a:p>
            <a:r>
              <a:rPr lang="zh-CN" altLang="en-US" sz="2800" b="1" dirty="0">
                <a:latin typeface="黑体" pitchFamily="2" charset="-122"/>
                <a:ea typeface="黑体" pitchFamily="2" charset="-122"/>
              </a:rPr>
              <a:t>浮点型常量的一般书写格式</a:t>
            </a:r>
            <a:br>
              <a:rPr lang="zh-CN" altLang="en-US" sz="2800" dirty="0">
                <a:solidFill>
                  <a:srgbClr val="0000FF"/>
                </a:solidFill>
                <a:latin typeface="宋体" pitchFamily="2" charset="-122"/>
              </a:rPr>
            </a:br>
            <a:r>
              <a:rPr lang="zh-CN" altLang="en-US" sz="2800" dirty="0">
                <a:latin typeface="宋体" pitchFamily="2" charset="-122"/>
              </a:rPr>
              <a:t> 	</a:t>
            </a:r>
            <a:r>
              <a:rPr lang="zh-CN" altLang="en-US" sz="2800" b="1" dirty="0">
                <a:solidFill>
                  <a:srgbClr val="C00000"/>
                </a:solidFill>
                <a:latin typeface="黑体" pitchFamily="2" charset="-122"/>
                <a:ea typeface="黑体" pitchFamily="2" charset="-122"/>
              </a:rPr>
              <a:t>正负号  整数部分</a:t>
            </a:r>
            <a:r>
              <a:rPr lang="en-US" altLang="zh-CN" sz="2800" b="1" dirty="0">
                <a:solidFill>
                  <a:srgbClr val="C00000"/>
                </a:solidFill>
                <a:latin typeface="黑体" pitchFamily="2" charset="-122"/>
                <a:ea typeface="黑体" pitchFamily="2" charset="-122"/>
              </a:rPr>
              <a:t>.</a:t>
            </a:r>
            <a:r>
              <a:rPr lang="zh-CN" altLang="en-US" sz="2800" b="1" dirty="0">
                <a:solidFill>
                  <a:srgbClr val="C00000"/>
                </a:solidFill>
                <a:latin typeface="黑体" pitchFamily="2" charset="-122"/>
                <a:ea typeface="黑体" pitchFamily="2" charset="-122"/>
              </a:rPr>
              <a:t>小数部分 指数部分</a:t>
            </a:r>
          </a:p>
        </p:txBody>
      </p:sp>
      <p:sp>
        <p:nvSpPr>
          <p:cNvPr id="343042" name="Rectangle 2"/>
          <p:cNvSpPr>
            <a:spLocks noGrp="1" noChangeArrowheads="1"/>
          </p:cNvSpPr>
          <p:nvPr>
            <p:ph idx="1"/>
          </p:nvPr>
        </p:nvSpPr>
        <p:spPr>
          <a:xfrm>
            <a:off x="250825" y="1484313"/>
            <a:ext cx="8713788" cy="4784725"/>
          </a:xfrm>
        </p:spPr>
        <p:txBody>
          <a:bodyPr/>
          <a:lstStyle/>
          <a:p>
            <a:pPr marL="623888" indent="-623888" algn="just">
              <a:spcAft>
                <a:spcPts val="1200"/>
              </a:spcAft>
              <a:buFont typeface="Monotype Sorts" pitchFamily="2" charset="2"/>
              <a:buNone/>
            </a:pPr>
            <a:r>
              <a:rPr lang="en-US" altLang="zh-CN" b="1" dirty="0">
                <a:effectLst>
                  <a:outerShdw blurRad="38100" dist="38100" dir="2700000" algn="tl">
                    <a:srgbClr val="000000"/>
                  </a:outerShdw>
                </a:effectLst>
                <a:latin typeface="宋体" pitchFamily="2" charset="-122"/>
              </a:rPr>
              <a:t>(</a:t>
            </a:r>
            <a:r>
              <a:rPr lang="en-US" altLang="zh-CN" b="1" dirty="0">
                <a:latin typeface="宋体" pitchFamily="2" charset="-122"/>
              </a:rPr>
              <a:t>1)</a:t>
            </a:r>
            <a:r>
              <a:rPr lang="zh-CN" altLang="en-US" b="1" dirty="0">
                <a:latin typeface="宋体" pitchFamily="2" charset="-122"/>
              </a:rPr>
              <a:t>指数部分</a:t>
            </a:r>
            <a:r>
              <a:rPr lang="en-US" altLang="zh-CN" b="1" dirty="0">
                <a:latin typeface="宋体" pitchFamily="2" charset="-122"/>
              </a:rPr>
              <a:t>e(</a:t>
            </a:r>
            <a:r>
              <a:rPr lang="zh-CN" altLang="en-US" b="1" dirty="0">
                <a:latin typeface="宋体" pitchFamily="2" charset="-122"/>
              </a:rPr>
              <a:t>或</a:t>
            </a:r>
            <a:r>
              <a:rPr lang="en-US" altLang="zh-CN" b="1" dirty="0">
                <a:latin typeface="宋体" pitchFamily="2" charset="-122"/>
              </a:rPr>
              <a:t>E)</a:t>
            </a:r>
            <a:r>
              <a:rPr lang="zh-CN" altLang="en-US" b="1" dirty="0">
                <a:latin typeface="宋体" pitchFamily="2" charset="-122"/>
              </a:rPr>
              <a:t>之前必须有数字，且</a:t>
            </a:r>
            <a:r>
              <a:rPr lang="en-US" altLang="zh-CN" b="1" dirty="0">
                <a:latin typeface="宋体" pitchFamily="2" charset="-122"/>
              </a:rPr>
              <a:t>e</a:t>
            </a:r>
            <a:r>
              <a:rPr lang="zh-CN" altLang="en-US" b="1" dirty="0">
                <a:latin typeface="宋体" pitchFamily="2" charset="-122"/>
              </a:rPr>
              <a:t>后面必须为整数。</a:t>
            </a:r>
          </a:p>
          <a:p>
            <a:pPr marL="623888" indent="-623888" algn="just">
              <a:spcAft>
                <a:spcPts val="1200"/>
              </a:spcAft>
              <a:buFont typeface="Monotype Sorts" pitchFamily="2" charset="2"/>
              <a:buNone/>
            </a:pPr>
            <a:r>
              <a:rPr lang="en-US" altLang="zh-CN" b="1" dirty="0">
                <a:latin typeface="宋体" pitchFamily="2" charset="-122"/>
              </a:rPr>
              <a:t>(2)</a:t>
            </a:r>
            <a:r>
              <a:rPr lang="zh-CN" altLang="en-US" b="1" dirty="0">
                <a:latin typeface="宋体" pitchFamily="2" charset="-122"/>
              </a:rPr>
              <a:t>整数部分和小数部分可以任选，但不可同时没有。</a:t>
            </a:r>
          </a:p>
          <a:p>
            <a:pPr marL="623888" indent="-623888" algn="just">
              <a:spcAft>
                <a:spcPts val="1200"/>
              </a:spcAft>
              <a:buFont typeface="Monotype Sorts" pitchFamily="2" charset="2"/>
              <a:buNone/>
            </a:pPr>
            <a:r>
              <a:rPr lang="en-US" altLang="zh-CN" b="1" dirty="0">
                <a:latin typeface="宋体" pitchFamily="2" charset="-122"/>
              </a:rPr>
              <a:t>(3)</a:t>
            </a:r>
            <a:r>
              <a:rPr lang="zh-CN" altLang="en-US" b="1" dirty="0">
                <a:latin typeface="宋体" pitchFamily="2" charset="-122"/>
              </a:rPr>
              <a:t>在浮点型常数后加</a:t>
            </a:r>
            <a:r>
              <a:rPr lang="en-US" altLang="zh-CN" b="1" dirty="0">
                <a:solidFill>
                  <a:srgbClr val="CC0000"/>
                </a:solidFill>
                <a:latin typeface="宋体" pitchFamily="2" charset="-122"/>
              </a:rPr>
              <a:t>f</a:t>
            </a:r>
            <a:r>
              <a:rPr lang="zh-CN" altLang="en-US" b="1" dirty="0">
                <a:latin typeface="宋体" pitchFamily="2" charset="-122"/>
              </a:rPr>
              <a:t>标识，表示</a:t>
            </a:r>
            <a:r>
              <a:rPr lang="en-US" altLang="zh-CN" b="1" dirty="0">
                <a:solidFill>
                  <a:srgbClr val="CC0000"/>
                </a:solidFill>
                <a:latin typeface="宋体" pitchFamily="2" charset="-122"/>
              </a:rPr>
              <a:t>float</a:t>
            </a:r>
            <a:r>
              <a:rPr lang="zh-CN" altLang="en-US" b="1" dirty="0">
                <a:latin typeface="宋体" pitchFamily="2" charset="-122"/>
              </a:rPr>
              <a:t>；加</a:t>
            </a:r>
            <a:r>
              <a:rPr lang="en-US" altLang="zh-CN" b="1" dirty="0">
                <a:solidFill>
                  <a:srgbClr val="CC0066"/>
                </a:solidFill>
                <a:latin typeface="宋体" pitchFamily="2" charset="-122"/>
              </a:rPr>
              <a:t>l(</a:t>
            </a:r>
            <a:r>
              <a:rPr lang="zh-CN" altLang="en-US" b="1" dirty="0">
                <a:solidFill>
                  <a:srgbClr val="CC0066"/>
                </a:solidFill>
                <a:latin typeface="宋体" pitchFamily="2" charset="-122"/>
              </a:rPr>
              <a:t>或 </a:t>
            </a:r>
            <a:r>
              <a:rPr lang="en-US" altLang="zh-CN" b="1" dirty="0">
                <a:solidFill>
                  <a:srgbClr val="CC0066"/>
                </a:solidFill>
                <a:latin typeface="宋体" pitchFamily="2" charset="-122"/>
              </a:rPr>
              <a:t>L)</a:t>
            </a:r>
            <a:r>
              <a:rPr lang="zh-CN" altLang="en-US" b="1" dirty="0">
                <a:latin typeface="宋体" pitchFamily="2" charset="-122"/>
              </a:rPr>
              <a:t>表示</a:t>
            </a:r>
            <a:r>
              <a:rPr lang="en-US" altLang="zh-CN" b="1" dirty="0">
                <a:solidFill>
                  <a:srgbClr val="CC0066"/>
                </a:solidFill>
                <a:latin typeface="宋体" pitchFamily="2" charset="-122"/>
              </a:rPr>
              <a:t>long double</a:t>
            </a:r>
            <a:r>
              <a:rPr lang="en-US" altLang="zh-CN" b="1" dirty="0">
                <a:latin typeface="宋体" pitchFamily="2" charset="-122"/>
              </a:rPr>
              <a:t> </a:t>
            </a:r>
            <a:r>
              <a:rPr lang="zh-CN" altLang="en-US" b="1" dirty="0">
                <a:latin typeface="宋体" pitchFamily="2" charset="-122"/>
              </a:rPr>
              <a:t>型，而无后缀符的浮点型常数被认为是 </a:t>
            </a:r>
            <a:r>
              <a:rPr lang="en-US" altLang="zh-CN" b="1" dirty="0">
                <a:solidFill>
                  <a:srgbClr val="CC0066"/>
                </a:solidFill>
                <a:latin typeface="宋体" pitchFamily="2" charset="-122"/>
              </a:rPr>
              <a:t>double</a:t>
            </a:r>
            <a:r>
              <a:rPr lang="en-US" altLang="zh-CN" b="1" dirty="0">
                <a:latin typeface="宋体" pitchFamily="2" charset="-122"/>
              </a:rPr>
              <a:t> </a:t>
            </a:r>
            <a:r>
              <a:rPr lang="zh-CN" altLang="en-US" b="1" dirty="0">
                <a:latin typeface="宋体" pitchFamily="2" charset="-122"/>
              </a:rPr>
              <a:t>型。</a:t>
            </a:r>
          </a:p>
          <a:p>
            <a:pPr marL="623888" indent="-623888" algn="just">
              <a:buFont typeface="Monotype Sorts" pitchFamily="2" charset="2"/>
              <a:buNone/>
            </a:pPr>
            <a:r>
              <a:rPr lang="zh-CN" altLang="en-US" b="1" dirty="0">
                <a:latin typeface="宋体" pitchFamily="2" charset="-122"/>
              </a:rPr>
              <a:t>合法的浮点型常数：</a:t>
            </a:r>
            <a:r>
              <a:rPr lang="en-US" altLang="zh-CN" b="1" dirty="0">
                <a:latin typeface="宋体" pitchFamily="2" charset="-122"/>
              </a:rPr>
              <a:t>7.</a:t>
            </a:r>
            <a:r>
              <a:rPr lang="zh-CN" altLang="en-US" b="1" dirty="0">
                <a:latin typeface="宋体" pitchFamily="2" charset="-122"/>
              </a:rPr>
              <a:t>、</a:t>
            </a:r>
            <a:r>
              <a:rPr lang="en-US" altLang="zh-CN" b="1" dirty="0">
                <a:latin typeface="宋体" pitchFamily="2" charset="-122"/>
              </a:rPr>
              <a:t>.457</a:t>
            </a:r>
            <a:r>
              <a:rPr lang="zh-CN" altLang="en-US" b="1" dirty="0">
                <a:latin typeface="宋体" pitchFamily="2" charset="-122"/>
              </a:rPr>
              <a:t>、</a:t>
            </a:r>
            <a:r>
              <a:rPr lang="en-US" altLang="zh-CN" b="1" dirty="0">
                <a:latin typeface="宋体" pitchFamily="2" charset="-122"/>
              </a:rPr>
              <a:t>1E5</a:t>
            </a:r>
            <a:r>
              <a:rPr lang="zh-CN" altLang="en-US" b="1" dirty="0">
                <a:latin typeface="宋体" pitchFamily="2" charset="-122"/>
              </a:rPr>
              <a:t>、</a:t>
            </a:r>
            <a:r>
              <a:rPr lang="en-US" altLang="zh-CN" b="1" dirty="0">
                <a:latin typeface="宋体" pitchFamily="2" charset="-122"/>
              </a:rPr>
              <a:t>1.5e-6 </a:t>
            </a:r>
          </a:p>
          <a:p>
            <a:pPr marL="623888" indent="-623888" algn="just">
              <a:buFont typeface="Monotype Sorts" pitchFamily="2" charset="2"/>
              <a:buNone/>
            </a:pPr>
            <a:r>
              <a:rPr lang="zh-CN" altLang="en-US" sz="2800" b="1" dirty="0">
                <a:latin typeface="宋体" pitchFamily="2" charset="-122"/>
              </a:rPr>
              <a:t>不正确</a:t>
            </a:r>
            <a:r>
              <a:rPr lang="zh-CN" altLang="en-US" b="1" dirty="0">
                <a:latin typeface="宋体" pitchFamily="2" charset="-122"/>
              </a:rPr>
              <a:t>的浮点型常数： </a:t>
            </a:r>
            <a:r>
              <a:rPr lang="en-US" altLang="zh-CN" b="1" dirty="0">
                <a:latin typeface="宋体" pitchFamily="2" charset="-122"/>
              </a:rPr>
              <a:t>E4</a:t>
            </a:r>
            <a:r>
              <a:rPr lang="zh-CN" altLang="en-US" b="1" dirty="0">
                <a:latin typeface="宋体" pitchFamily="2" charset="-122"/>
              </a:rPr>
              <a:t>、</a:t>
            </a:r>
            <a:r>
              <a:rPr lang="en-US" altLang="zh-CN" b="1" dirty="0">
                <a:latin typeface="宋体" pitchFamily="2" charset="-122"/>
              </a:rPr>
              <a:t>.E5</a:t>
            </a:r>
            <a:r>
              <a:rPr lang="zh-CN" altLang="en-US" b="1" dirty="0">
                <a:latin typeface="宋体" pitchFamily="2" charset="-122"/>
              </a:rPr>
              <a:t>、</a:t>
            </a:r>
            <a:r>
              <a:rPr lang="en-US" altLang="zh-CN" b="1" dirty="0">
                <a:latin typeface="宋体" pitchFamily="2" charset="-122"/>
              </a:rPr>
              <a:t>4.0E</a:t>
            </a:r>
          </a:p>
          <a:p>
            <a:pPr marL="623888" indent="-623888" algn="just">
              <a:buFont typeface="Monotype Sorts" pitchFamily="2" charset="2"/>
              <a:buNone/>
            </a:pPr>
            <a:r>
              <a:rPr lang="en-US" altLang="zh-CN" sz="2800" b="1" dirty="0">
                <a:latin typeface="宋体" pitchFamily="2" charset="-122"/>
              </a:rPr>
              <a:t>1.5</a:t>
            </a:r>
            <a:r>
              <a:rPr lang="zh-CN" altLang="en-US" sz="2800" b="1" dirty="0">
                <a:latin typeface="宋体" pitchFamily="2" charset="-122"/>
              </a:rPr>
              <a:t>、</a:t>
            </a:r>
            <a:r>
              <a:rPr lang="en-US" altLang="zh-CN" sz="2800" b="1" dirty="0">
                <a:latin typeface="宋体" pitchFamily="2" charset="-122"/>
              </a:rPr>
              <a:t>1.5f</a:t>
            </a:r>
            <a:r>
              <a:rPr lang="zh-CN" altLang="en-US" sz="2800" b="1" dirty="0">
                <a:latin typeface="宋体" pitchFamily="2" charset="-122"/>
              </a:rPr>
              <a:t>、</a:t>
            </a:r>
            <a:r>
              <a:rPr lang="en-US" altLang="zh-CN" sz="2800" b="1" dirty="0">
                <a:latin typeface="宋体" pitchFamily="2" charset="-122"/>
              </a:rPr>
              <a:t>1.5L </a:t>
            </a:r>
            <a:r>
              <a:rPr lang="zh-CN" altLang="en-US" b="1" dirty="0">
                <a:latin typeface="宋体" pitchFamily="2" charset="-122"/>
              </a:rPr>
              <a:t>分别表示</a:t>
            </a:r>
          </a:p>
          <a:p>
            <a:pPr marL="623888" indent="-623888" algn="just">
              <a:buFont typeface="Monotype Sorts" pitchFamily="2" charset="2"/>
              <a:buNone/>
            </a:pPr>
            <a:r>
              <a:rPr lang="en-US" altLang="zh-CN" b="1" dirty="0">
                <a:latin typeface="宋体" pitchFamily="2" charset="-122"/>
              </a:rPr>
              <a:t>double</a:t>
            </a:r>
            <a:r>
              <a:rPr lang="zh-CN" altLang="en-US" b="1" dirty="0">
                <a:latin typeface="宋体" pitchFamily="2" charset="-122"/>
              </a:rPr>
              <a:t>型、</a:t>
            </a:r>
            <a:r>
              <a:rPr lang="en-US" altLang="zh-CN" b="1" dirty="0">
                <a:latin typeface="宋体" pitchFamily="2" charset="-122"/>
              </a:rPr>
              <a:t>float</a:t>
            </a:r>
            <a:r>
              <a:rPr lang="zh-CN" altLang="en-US" b="1" dirty="0">
                <a:latin typeface="宋体" pitchFamily="2" charset="-122"/>
              </a:rPr>
              <a:t>型和</a:t>
            </a:r>
            <a:r>
              <a:rPr lang="en-US" altLang="zh-CN" b="1" dirty="0">
                <a:latin typeface="宋体" pitchFamily="2" charset="-122"/>
              </a:rPr>
              <a:t>long double</a:t>
            </a:r>
            <a:r>
              <a:rPr lang="zh-CN" altLang="en-US" b="1" dirty="0">
                <a:latin typeface="宋体" pitchFamily="2" charset="-122"/>
              </a:rPr>
              <a:t>型浮点型常数 </a:t>
            </a:r>
          </a:p>
        </p:txBody>
      </p:sp>
      <p:sp>
        <p:nvSpPr>
          <p:cNvPr id="6" name="灯片编号占位符 5"/>
          <p:cNvSpPr>
            <a:spLocks noGrp="1"/>
          </p:cNvSpPr>
          <p:nvPr>
            <p:ph type="sldNum" sz="quarter" idx="12"/>
          </p:nvPr>
        </p:nvSpPr>
        <p:spPr/>
        <p:txBody>
          <a:bodyPr/>
          <a:lstStyle/>
          <a:p>
            <a:fld id="{816772AF-1F73-49BE-BF7B-141D4B931DF3}" type="slidenum">
              <a:rPr lang="en-US" altLang="zh-CN"/>
              <a:pPr/>
              <a:t>16</a:t>
            </a:fld>
            <a:endParaRPr lang="en-US" altLang="zh-C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idx="1"/>
          </p:nvPr>
        </p:nvSpPr>
        <p:spPr>
          <a:xfrm>
            <a:off x="395288" y="836613"/>
            <a:ext cx="8424862" cy="5427662"/>
          </a:xfrm>
        </p:spPr>
        <p:txBody>
          <a:bodyPr/>
          <a:lstStyle/>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(4)</a:t>
            </a:r>
            <a:r>
              <a:rPr lang="en-US" altLang="zh-CN" b="1" dirty="0" err="1">
                <a:effectLst>
                  <a:outerShdw blurRad="38100" dist="38100" dir="2700000" algn="tl">
                    <a:srgbClr val="000000"/>
                  </a:outerShdw>
                </a:effectLst>
                <a:latin typeface="宋体" pitchFamily="2" charset="-122"/>
              </a:rPr>
              <a:t>计算机存储</a:t>
            </a:r>
            <a:r>
              <a:rPr lang="zh-CN" altLang="en-US" b="1" dirty="0">
                <a:effectLst>
                  <a:outerShdw blurRad="38100" dist="38100" dir="2700000" algn="tl">
                    <a:srgbClr val="000000"/>
                  </a:outerShdw>
                </a:effectLst>
                <a:latin typeface="宋体" pitchFamily="2" charset="-122"/>
              </a:rPr>
              <a:t>的浮点数与书写的浮点数会有误差。</a:t>
            </a: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   例如</a:t>
            </a:r>
            <a:r>
              <a:rPr lang="en-US" altLang="zh-CN" b="1" dirty="0">
                <a:effectLst>
                  <a:outerShdw blurRad="38100" dist="38100" dir="2700000" algn="tl">
                    <a:srgbClr val="000000"/>
                  </a:outerShdw>
                </a:effectLst>
                <a:latin typeface="宋体" pitchFamily="2" charset="-122"/>
              </a:rPr>
              <a:t>:  float x = 111111.111;</a:t>
            </a:r>
          </a:p>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zh-CN" altLang="en-US" b="1" dirty="0">
                <a:effectLst>
                  <a:outerShdw blurRad="38100" dist="38100" dir="2700000" algn="tl">
                    <a:srgbClr val="000000"/>
                  </a:outerShdw>
                </a:effectLst>
                <a:latin typeface="宋体" pitchFamily="2" charset="-122"/>
              </a:rPr>
              <a:t>因</a:t>
            </a:r>
            <a:r>
              <a:rPr lang="en-US" altLang="zh-CN" b="1" dirty="0">
                <a:effectLst>
                  <a:outerShdw blurRad="38100" dist="38100" dir="2700000" algn="tl">
                    <a:srgbClr val="000000"/>
                  </a:outerShdw>
                </a:effectLst>
                <a:latin typeface="宋体" pitchFamily="2" charset="-122"/>
              </a:rPr>
              <a:t>x</a:t>
            </a:r>
            <a:r>
              <a:rPr lang="zh-CN" altLang="en-US" b="1" dirty="0">
                <a:effectLst>
                  <a:outerShdw blurRad="38100" dist="38100" dir="2700000" algn="tl">
                    <a:srgbClr val="000000"/>
                  </a:outerShdw>
                </a:effectLst>
                <a:latin typeface="宋体" pitchFamily="2" charset="-122"/>
              </a:rPr>
              <a:t>只有</a:t>
            </a:r>
            <a:r>
              <a:rPr lang="zh-CN" altLang="en-US" sz="3200" b="1" dirty="0">
                <a:effectLst>
                  <a:outerShdw blurRad="38100" dist="38100" dir="2700000" algn="tl">
                    <a:srgbClr val="000000"/>
                  </a:outerShdw>
                </a:effectLst>
                <a:latin typeface="宋体" pitchFamily="2" charset="-122"/>
              </a:rPr>
              <a:t>约</a:t>
            </a:r>
            <a:r>
              <a:rPr lang="en-US" altLang="zh-CN" b="1" dirty="0">
                <a:solidFill>
                  <a:srgbClr val="CC0000"/>
                </a:solidFill>
                <a:effectLst>
                  <a:outerShdw blurRad="38100" dist="38100" dir="2700000" algn="tl">
                    <a:srgbClr val="000000"/>
                  </a:outerShdw>
                </a:effectLst>
                <a:latin typeface="宋体" pitchFamily="2" charset="-122"/>
              </a:rPr>
              <a:t>7</a:t>
            </a:r>
            <a:r>
              <a:rPr lang="zh-CN" altLang="en-US" b="1" dirty="0">
                <a:solidFill>
                  <a:srgbClr val="CC0000"/>
                </a:solidFill>
                <a:effectLst>
                  <a:outerShdw blurRad="38100" dist="38100" dir="2700000" algn="tl">
                    <a:srgbClr val="000000"/>
                  </a:outerShdw>
                </a:effectLst>
                <a:latin typeface="宋体" pitchFamily="2" charset="-122"/>
              </a:rPr>
              <a:t>位有效数字</a:t>
            </a:r>
            <a:r>
              <a:rPr lang="en-US" altLang="zh-CN" b="1" dirty="0">
                <a:effectLst>
                  <a:outerShdw blurRad="38100" dist="38100" dir="2700000" algn="tl">
                    <a:srgbClr val="000000"/>
                  </a:outerShdw>
                </a:effectLst>
                <a:latin typeface="宋体" pitchFamily="2" charset="-122"/>
              </a:rPr>
              <a:t>,</a:t>
            </a:r>
            <a:r>
              <a:rPr lang="zh-CN" altLang="en-US" b="1" dirty="0">
                <a:effectLst>
                  <a:outerShdw blurRad="38100" dist="38100" dir="2700000" algn="tl">
                    <a:srgbClr val="000000"/>
                  </a:outerShdw>
                </a:effectLst>
                <a:latin typeface="宋体" pitchFamily="2" charset="-122"/>
              </a:rPr>
              <a:t>浮点数</a:t>
            </a:r>
            <a:r>
              <a:rPr lang="en-US" altLang="zh-CN" b="1" dirty="0">
                <a:effectLst>
                  <a:outerShdw blurRad="38100" dist="38100" dir="2700000" algn="tl">
                    <a:srgbClr val="000000"/>
                  </a:outerShdw>
                </a:effectLst>
                <a:latin typeface="宋体" pitchFamily="2" charset="-122"/>
              </a:rPr>
              <a:t>111111.111</a:t>
            </a:r>
            <a:r>
              <a:rPr lang="zh-CN" altLang="en-US" b="1" dirty="0">
                <a:effectLst>
                  <a:outerShdw blurRad="38100" dist="38100" dir="2700000" algn="tl">
                    <a:srgbClr val="000000"/>
                  </a:outerShdw>
                </a:effectLst>
                <a:latin typeface="宋体" pitchFamily="2" charset="-122"/>
              </a:rPr>
              <a:t>所对应的二进制形式中，超出存储位数的那些位就不会被存储。</a:t>
            </a:r>
          </a:p>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(5)</a:t>
            </a:r>
            <a:r>
              <a:rPr lang="zh-CN" altLang="en-US" b="1" dirty="0">
                <a:effectLst>
                  <a:outerShdw blurRad="38100" dist="38100" dir="2700000" algn="tl">
                    <a:srgbClr val="000000"/>
                  </a:outerShdw>
                </a:effectLst>
                <a:latin typeface="宋体" pitchFamily="2" charset="-122"/>
              </a:rPr>
              <a:t>由于浮点数运算的计算误差，两个数学上完全等价的计算公式，会因计算顺序不同，得到的两个结果不能保证相等。</a:t>
            </a:r>
          </a:p>
          <a:p>
            <a:pPr marL="536575" indent="-536575" algn="just">
              <a:buFont typeface="Monotype Sorts" pitchFamily="2" charset="2"/>
              <a:buNone/>
            </a:pPr>
            <a:r>
              <a:rPr lang="zh-CN" altLang="en-US" b="1" dirty="0">
                <a:solidFill>
                  <a:srgbClr val="FF0000"/>
                </a:solidFill>
                <a:effectLst>
                  <a:outerShdw blurRad="38100" dist="38100" dir="2700000" algn="tl">
                    <a:srgbClr val="000000"/>
                  </a:outerShdw>
                </a:effectLst>
                <a:latin typeface="宋体" pitchFamily="2" charset="-122"/>
              </a:rPr>
              <a:t>   常用判别两浮点数非常相近的表达式</a:t>
            </a: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绝对误差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(x-y) &lt; 1e-6</a:t>
            </a:r>
          </a:p>
          <a:p>
            <a:pPr marL="536575" indent="-536575" algn="just">
              <a:buFont typeface="Monotype Sorts" pitchFamily="2" charset="2"/>
              <a:buNone/>
            </a:pPr>
            <a:endParaRPr lang="en-US" altLang="zh-CN" b="1" dirty="0">
              <a:effectLst>
                <a:outerShdw blurRad="38100" dist="38100" dir="2700000" algn="tl">
                  <a:srgbClr val="000000"/>
                </a:outerShdw>
              </a:effectLst>
              <a:latin typeface="宋体" pitchFamily="2" charset="-122"/>
            </a:endParaRP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相对精度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(x-y) &lt;=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(x*1e-6)</a:t>
            </a:r>
          </a:p>
        </p:txBody>
      </p:sp>
      <p:sp>
        <p:nvSpPr>
          <p:cNvPr id="6" name="灯片编号占位符 5"/>
          <p:cNvSpPr>
            <a:spLocks noGrp="1"/>
          </p:cNvSpPr>
          <p:nvPr>
            <p:ph type="sldNum" sz="quarter" idx="12"/>
          </p:nvPr>
        </p:nvSpPr>
        <p:spPr/>
        <p:txBody>
          <a:bodyPr/>
          <a:lstStyle/>
          <a:p>
            <a:fld id="{C91C4A26-784E-4F5F-AC33-BCC6C4956038}" type="slidenum">
              <a:rPr lang="en-US" altLang="zh-CN"/>
              <a:pPr/>
              <a:t>17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0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1" name="Rectangle 3"/>
          <p:cNvSpPr>
            <a:spLocks noGrp="1" noChangeArrowheads="1"/>
          </p:cNvSpPr>
          <p:nvPr>
            <p:ph type="title"/>
          </p:nvPr>
        </p:nvSpPr>
        <p:spPr>
          <a:xfrm>
            <a:off x="539750" y="404813"/>
            <a:ext cx="7656513" cy="863600"/>
          </a:xfrm>
        </p:spPr>
        <p:txBody>
          <a:bodyPr>
            <a:normAutofit/>
          </a:bodyPr>
          <a:lstStyle/>
          <a:p>
            <a:r>
              <a:rPr lang="zh-CN" altLang="en-US" sz="4400" b="1" dirty="0">
                <a:solidFill>
                  <a:schemeClr val="tx1"/>
                </a:solidFill>
                <a:latin typeface="黑体" pitchFamily="2" charset="-122"/>
                <a:ea typeface="黑体" pitchFamily="2" charset="-122"/>
              </a:rPr>
              <a:t>字符型数据</a:t>
            </a:r>
          </a:p>
        </p:txBody>
      </p:sp>
      <p:sp>
        <p:nvSpPr>
          <p:cNvPr id="473090" name="Rectangle 2"/>
          <p:cNvSpPr>
            <a:spLocks noGrp="1" noChangeArrowheads="1"/>
          </p:cNvSpPr>
          <p:nvPr>
            <p:ph idx="1"/>
          </p:nvPr>
        </p:nvSpPr>
        <p:spPr>
          <a:xfrm>
            <a:off x="539750" y="1412875"/>
            <a:ext cx="8135938" cy="4824413"/>
          </a:xfrm>
        </p:spPr>
        <p:txBody>
          <a:bodyPr/>
          <a:lstStyle/>
          <a:p>
            <a:pPr algn="just">
              <a:lnSpc>
                <a:spcPct val="115000"/>
              </a:lnSpc>
              <a:buSzPct val="90000"/>
            </a:pPr>
            <a:r>
              <a:rPr lang="zh-CN" altLang="en-US" sz="3200" b="1" dirty="0">
                <a:latin typeface="宋体" pitchFamily="2" charset="-122"/>
              </a:rPr>
              <a:t>字符型数据用于表示一个字符值。</a:t>
            </a:r>
          </a:p>
          <a:p>
            <a:pPr algn="just">
              <a:lnSpc>
                <a:spcPct val="115000"/>
              </a:lnSpc>
              <a:buSzPct val="90000"/>
            </a:pPr>
            <a:r>
              <a:rPr lang="zh-CN" altLang="en-US" sz="3200" b="1" dirty="0">
                <a:latin typeface="宋体" pitchFamily="2" charset="-122"/>
              </a:rPr>
              <a:t>字符型数据的内部表示是字符的 </a:t>
            </a:r>
            <a:r>
              <a:rPr lang="en-US" altLang="zh-CN" sz="3200" b="1" dirty="0">
                <a:solidFill>
                  <a:srgbClr val="C00000"/>
                </a:solidFill>
                <a:latin typeface="宋体" pitchFamily="2" charset="-122"/>
              </a:rPr>
              <a:t>ASCII</a:t>
            </a:r>
            <a:r>
              <a:rPr lang="en-US" altLang="zh-CN" sz="3200" b="1" dirty="0">
                <a:latin typeface="宋体" pitchFamily="2" charset="-122"/>
              </a:rPr>
              <a:t> </a:t>
            </a:r>
            <a:r>
              <a:rPr lang="zh-CN" altLang="en-US" sz="3200" b="1" dirty="0">
                <a:latin typeface="宋体" pitchFamily="2" charset="-122"/>
              </a:rPr>
              <a:t>代码</a:t>
            </a:r>
            <a:r>
              <a:rPr lang="en-US" altLang="zh-CN" sz="3200" b="1" dirty="0">
                <a:latin typeface="宋体" pitchFamily="2" charset="-122"/>
              </a:rPr>
              <a:t>(</a:t>
            </a:r>
            <a:r>
              <a:rPr lang="zh-CN" altLang="en-US" sz="3200" b="1" dirty="0">
                <a:latin typeface="宋体" pitchFamily="2" charset="-122"/>
              </a:rPr>
              <a:t>二进制形式</a:t>
            </a:r>
            <a:r>
              <a:rPr lang="en-US" altLang="zh-CN" sz="3200" b="1" dirty="0">
                <a:latin typeface="宋体" pitchFamily="2" charset="-122"/>
              </a:rPr>
              <a:t>)</a:t>
            </a:r>
            <a:r>
              <a:rPr lang="zh-CN" altLang="en-US" sz="3200" b="1" dirty="0">
                <a:latin typeface="宋体" pitchFamily="2" charset="-122"/>
              </a:rPr>
              <a:t>。</a:t>
            </a:r>
          </a:p>
          <a:p>
            <a:pPr algn="just">
              <a:lnSpc>
                <a:spcPct val="115000"/>
              </a:lnSpc>
              <a:buSzPct val="90000"/>
            </a:pPr>
            <a:r>
              <a:rPr lang="zh-CN" altLang="en-US" sz="3200" b="1" dirty="0">
                <a:latin typeface="宋体" pitchFamily="2" charset="-122"/>
              </a:rPr>
              <a:t>字符型数据的类型符用 </a:t>
            </a:r>
            <a:r>
              <a:rPr lang="en-US" altLang="zh-CN" sz="3200" b="1" dirty="0">
                <a:latin typeface="宋体" pitchFamily="2" charset="-122"/>
              </a:rPr>
              <a:t>char </a:t>
            </a:r>
            <a:r>
              <a:rPr lang="zh-CN" altLang="en-US" sz="3200" b="1" dirty="0">
                <a:latin typeface="宋体" pitchFamily="2" charset="-122"/>
              </a:rPr>
              <a:t>来标记。</a:t>
            </a:r>
          </a:p>
          <a:p>
            <a:pPr algn="just">
              <a:lnSpc>
                <a:spcPct val="115000"/>
              </a:lnSpc>
              <a:buSzPct val="90000"/>
            </a:pPr>
            <a:r>
              <a:rPr lang="zh-CN" altLang="en-US" sz="3200" b="1" dirty="0">
                <a:latin typeface="宋体" pitchFamily="2" charset="-122"/>
              </a:rPr>
              <a:t>  如：</a:t>
            </a:r>
            <a:r>
              <a:rPr lang="en-US" altLang="zh-CN" sz="3200" b="1" dirty="0">
                <a:solidFill>
                  <a:srgbClr val="0000FF"/>
                </a:solidFill>
                <a:latin typeface="宋体" pitchFamily="2" charset="-122"/>
              </a:rPr>
              <a:t>char c1,c2;</a:t>
            </a:r>
            <a:r>
              <a:rPr lang="en-US" altLang="zh-CN" sz="3200" b="1" dirty="0">
                <a:latin typeface="宋体" pitchFamily="2" charset="-122"/>
              </a:rPr>
              <a:t> </a:t>
            </a:r>
          </a:p>
          <a:p>
            <a:pPr algn="just">
              <a:lnSpc>
                <a:spcPct val="115000"/>
              </a:lnSpc>
              <a:buSzPct val="90000"/>
            </a:pPr>
            <a:r>
              <a:rPr lang="zh-CN" altLang="en-US" sz="3200" b="1" dirty="0">
                <a:latin typeface="Times New Roman" pitchFamily="18" charset="0"/>
              </a:rPr>
              <a:t>字符型数据在内部用一个字节（</a:t>
            </a:r>
            <a:r>
              <a:rPr lang="en-US" altLang="zh-CN" sz="3200" b="1" dirty="0">
                <a:latin typeface="Times New Roman" pitchFamily="18" charset="0"/>
              </a:rPr>
              <a:t>8</a:t>
            </a:r>
            <a:r>
              <a:rPr lang="zh-CN" altLang="en-US" sz="3200" b="1" dirty="0">
                <a:latin typeface="Times New Roman" pitchFamily="18" charset="0"/>
              </a:rPr>
              <a:t>位二进位）表示，</a:t>
            </a:r>
            <a:r>
              <a:rPr lang="zh-CN" altLang="en-US" sz="3200" b="1" dirty="0">
                <a:solidFill>
                  <a:srgbClr val="FF0000"/>
                </a:solidFill>
                <a:latin typeface="Times New Roman" pitchFamily="18" charset="0"/>
              </a:rPr>
              <a:t>也可当作一个</a:t>
            </a:r>
            <a:r>
              <a:rPr lang="en-US" altLang="zh-CN" sz="3200" b="1" dirty="0">
                <a:solidFill>
                  <a:srgbClr val="FF0000"/>
                </a:solidFill>
                <a:latin typeface="Times New Roman" pitchFamily="18" charset="0"/>
              </a:rPr>
              <a:t>8</a:t>
            </a:r>
            <a:r>
              <a:rPr lang="zh-CN" altLang="en-US" sz="3200" b="1" dirty="0">
                <a:solidFill>
                  <a:srgbClr val="FF0000"/>
                </a:solidFill>
                <a:latin typeface="Times New Roman" pitchFamily="18" charset="0"/>
              </a:rPr>
              <a:t>位的整型数据</a:t>
            </a:r>
            <a:r>
              <a:rPr lang="zh-CN" altLang="en-US" sz="3200" b="1" dirty="0">
                <a:latin typeface="Times New Roman" pitchFamily="18" charset="0"/>
              </a:rPr>
              <a:t>。</a:t>
            </a:r>
            <a:endParaRPr lang="zh-CN" altLang="en-US" sz="3200" dirty="0">
              <a:latin typeface="Times New Roman" pitchFamily="18" charset="0"/>
            </a:endParaRPr>
          </a:p>
        </p:txBody>
      </p:sp>
      <p:sp>
        <p:nvSpPr>
          <p:cNvPr id="6" name="灯片编号占位符 5"/>
          <p:cNvSpPr>
            <a:spLocks noGrp="1"/>
          </p:cNvSpPr>
          <p:nvPr>
            <p:ph type="sldNum" sz="quarter" idx="12"/>
          </p:nvPr>
        </p:nvSpPr>
        <p:spPr/>
        <p:txBody>
          <a:bodyPr/>
          <a:lstStyle/>
          <a:p>
            <a:fld id="{119F9C04-4236-439F-BB3E-C4BED24CEC04}" type="slidenum">
              <a:rPr lang="en-US" altLang="zh-CN"/>
              <a:pPr/>
              <a:t>18</a:t>
            </a:fld>
            <a:endParaRPr lang="en-US" altLang="zh-CN"/>
          </a:p>
        </p:txBody>
      </p:sp>
      <p:sp>
        <p:nvSpPr>
          <p:cNvPr id="5" name="TextBox 4"/>
          <p:cNvSpPr txBox="1"/>
          <p:nvPr/>
        </p:nvSpPr>
        <p:spPr>
          <a:xfrm>
            <a:off x="3786182" y="428604"/>
            <a:ext cx="5143536" cy="92333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dirty="0">
                <a:solidFill>
                  <a:srgbClr val="FFFF00"/>
                </a:solidFill>
              </a:rPr>
              <a:t>ASCII</a:t>
            </a:r>
            <a:r>
              <a:rPr lang="zh-CN" altLang="en-US" dirty="0">
                <a:solidFill>
                  <a:srgbClr val="FFFF00"/>
                </a:solidFill>
              </a:rPr>
              <a:t>：</a:t>
            </a:r>
            <a:endParaRPr lang="en-US" altLang="zh-CN" dirty="0">
              <a:solidFill>
                <a:srgbClr val="FFFF00"/>
              </a:solidFill>
            </a:endParaRPr>
          </a:p>
          <a:p>
            <a:r>
              <a:rPr lang="zh-CN" altLang="en-US" dirty="0">
                <a:solidFill>
                  <a:srgbClr val="FFFF00"/>
                </a:solidFill>
              </a:rPr>
              <a:t>美国</a:t>
            </a:r>
            <a:r>
              <a:rPr lang="en-US" altLang="zh-CN" dirty="0">
                <a:solidFill>
                  <a:srgbClr val="FFFF00"/>
                </a:solidFill>
              </a:rPr>
              <a:t>(</a:t>
            </a:r>
            <a:r>
              <a:rPr lang="zh-CN" altLang="en-US" dirty="0">
                <a:solidFill>
                  <a:srgbClr val="FFFF00"/>
                </a:solidFill>
              </a:rPr>
              <a:t>国家</a:t>
            </a:r>
            <a:r>
              <a:rPr lang="en-US" altLang="zh-CN" dirty="0">
                <a:solidFill>
                  <a:srgbClr val="FFFF00"/>
                </a:solidFill>
              </a:rPr>
              <a:t>)</a:t>
            </a:r>
            <a:r>
              <a:rPr lang="zh-CN" altLang="en-US" dirty="0">
                <a:solidFill>
                  <a:srgbClr val="FFFF00"/>
                </a:solidFill>
              </a:rPr>
              <a:t>信息交换标准</a:t>
            </a:r>
            <a:r>
              <a:rPr lang="en-US" altLang="zh-CN" dirty="0">
                <a:solidFill>
                  <a:srgbClr val="FFFF00"/>
                </a:solidFill>
              </a:rPr>
              <a:t>(</a:t>
            </a:r>
            <a:r>
              <a:rPr lang="zh-CN" altLang="en-US" dirty="0">
                <a:solidFill>
                  <a:srgbClr val="FFFF00"/>
                </a:solidFill>
              </a:rPr>
              <a:t>代</a:t>
            </a:r>
            <a:r>
              <a:rPr lang="en-US" altLang="zh-CN" dirty="0">
                <a:solidFill>
                  <a:srgbClr val="FFFF00"/>
                </a:solidFill>
              </a:rPr>
              <a:t>)</a:t>
            </a:r>
            <a:r>
              <a:rPr lang="zh-CN" altLang="en-US" dirty="0">
                <a:solidFill>
                  <a:srgbClr val="FFFF00"/>
                </a:solidFill>
              </a:rPr>
              <a:t>码，</a:t>
            </a:r>
            <a:r>
              <a:rPr lang="en-US" altLang="zh-CN" dirty="0">
                <a:solidFill>
                  <a:srgbClr val="FFFF00"/>
                </a:solidFill>
              </a:rPr>
              <a:t>8</a:t>
            </a:r>
            <a:r>
              <a:rPr lang="zh-CN" altLang="en-US" dirty="0">
                <a:solidFill>
                  <a:srgbClr val="FFFF00"/>
                </a:solidFill>
              </a:rPr>
              <a:t>个二进制位进行编码。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5" name="Rectangle 3"/>
          <p:cNvSpPr>
            <a:spLocks noGrp="1" noChangeArrowheads="1"/>
          </p:cNvSpPr>
          <p:nvPr>
            <p:ph type="title"/>
          </p:nvPr>
        </p:nvSpPr>
        <p:spPr>
          <a:xfrm>
            <a:off x="611188" y="333375"/>
            <a:ext cx="7656512" cy="865188"/>
          </a:xfrm>
        </p:spPr>
        <p:txBody>
          <a:bodyPr>
            <a:normAutofit/>
          </a:bodyPr>
          <a:lstStyle/>
          <a:p>
            <a:r>
              <a:rPr lang="zh-CN" altLang="en-US" sz="4400" b="1" dirty="0">
                <a:solidFill>
                  <a:schemeClr val="tx1"/>
                </a:solidFill>
                <a:latin typeface="黑体" pitchFamily="2" charset="-122"/>
                <a:ea typeface="黑体" pitchFamily="2" charset="-122"/>
              </a:rPr>
              <a:t>字符型常量书写方法</a:t>
            </a:r>
          </a:p>
        </p:txBody>
      </p:sp>
      <p:sp>
        <p:nvSpPr>
          <p:cNvPr id="474114" name="Rectangle 2"/>
          <p:cNvSpPr>
            <a:spLocks noGrp="1" noChangeArrowheads="1"/>
          </p:cNvSpPr>
          <p:nvPr>
            <p:ph idx="1"/>
          </p:nvPr>
        </p:nvSpPr>
        <p:spPr>
          <a:xfrm>
            <a:off x="468313" y="1268413"/>
            <a:ext cx="8280400" cy="5287962"/>
          </a:xfrm>
        </p:spPr>
        <p:txBody>
          <a:bodyPr>
            <a:normAutofit/>
          </a:bodyPr>
          <a:lstStyle/>
          <a:p>
            <a:pPr marL="2511425" indent="-2511425" algn="just">
              <a:buFont typeface="Monotype Sorts" pitchFamily="2" charset="2"/>
              <a:buNone/>
            </a:pPr>
            <a:r>
              <a:rPr lang="zh-CN" altLang="en-US" sz="3200" b="1" dirty="0">
                <a:solidFill>
                  <a:srgbClr val="FF0000"/>
                </a:solidFill>
                <a:effectLst>
                  <a:outerShdw blurRad="38100" dist="38100" dir="2700000" algn="tl">
                    <a:srgbClr val="000000"/>
                  </a:outerShdw>
                </a:effectLst>
                <a:latin typeface="宋体" pitchFamily="2" charset="-122"/>
              </a:rPr>
              <a:t>普通字符：	</a:t>
            </a:r>
            <a:r>
              <a:rPr lang="zh-CN" altLang="en-US" sz="3200" b="1" dirty="0">
                <a:effectLst>
                  <a:outerShdw blurRad="38100" dist="38100" dir="2700000" algn="tl">
                    <a:srgbClr val="000000"/>
                  </a:outerShdw>
                </a:effectLst>
                <a:latin typeface="宋体" pitchFamily="2" charset="-122"/>
              </a:rPr>
              <a:t>用单引号括起一个字符。</a:t>
            </a:r>
            <a:br>
              <a:rPr lang="zh-CN" altLang="en-US" sz="3200" b="1" dirty="0">
                <a:effectLst>
                  <a:outerShdw blurRad="38100" dist="38100" dir="2700000" algn="tl">
                    <a:srgbClr val="000000"/>
                  </a:outerShdw>
                </a:effectLst>
                <a:latin typeface="宋体" pitchFamily="2" charset="-122"/>
              </a:rPr>
            </a:br>
            <a:r>
              <a:rPr lang="zh-CN" altLang="en-US" sz="3200" b="1" dirty="0">
                <a:effectLst>
                  <a:outerShdw blurRad="38100" dist="38100" dir="2700000" algn="tl">
                    <a:srgbClr val="000000"/>
                  </a:outerShdw>
                </a:effectLst>
                <a:latin typeface="宋体" pitchFamily="2" charset="-122"/>
              </a:rPr>
              <a:t>如 </a:t>
            </a:r>
            <a:r>
              <a:rPr lang="en-US" altLang="zh-CN" sz="3200" b="1" dirty="0">
                <a:solidFill>
                  <a:srgbClr val="CC0000"/>
                </a:solidFill>
                <a:effectLst>
                  <a:outerShdw blurRad="38100" dist="38100" dir="2700000" algn="tl">
                    <a:srgbClr val="000000"/>
                  </a:outerShdw>
                </a:effectLst>
                <a:latin typeface="Courier New"/>
              </a:rPr>
              <a:t>’</a:t>
            </a:r>
            <a:r>
              <a:rPr lang="en-US" altLang="zh-CN" sz="3200" b="1" dirty="0">
                <a:solidFill>
                  <a:srgbClr val="CC0000"/>
                </a:solidFill>
                <a:effectLst>
                  <a:outerShdw blurRad="38100" dist="38100" dir="2700000" algn="tl">
                    <a:srgbClr val="000000"/>
                  </a:outerShdw>
                </a:effectLst>
                <a:latin typeface="宋体" pitchFamily="2" charset="-122"/>
              </a:rPr>
              <a:t>a</a:t>
            </a:r>
            <a:r>
              <a:rPr lang="en-US" altLang="zh-CN" sz="3200" b="1" dirty="0">
                <a:solidFill>
                  <a:srgbClr val="CC0000"/>
                </a:solidFill>
                <a:effectLst>
                  <a:outerShdw blurRad="38100" dist="38100" dir="2700000" algn="tl">
                    <a:srgbClr val="000000"/>
                  </a:outerShdw>
                </a:effectLst>
                <a:latin typeface="Courier New"/>
              </a:rPr>
              <a:t>’</a:t>
            </a:r>
            <a:r>
              <a:rPr lang="zh-CN" altLang="en-US" sz="3200" b="1" dirty="0">
                <a:effectLst>
                  <a:outerShdw blurRad="38100" dist="38100" dir="2700000" algn="tl">
                    <a:srgbClr val="000000"/>
                  </a:outerShdw>
                </a:effectLst>
                <a:latin typeface="宋体" pitchFamily="2" charset="-122"/>
              </a:rPr>
              <a:t>。</a:t>
            </a:r>
          </a:p>
          <a:p>
            <a:pPr marL="2511425" indent="-2511425" algn="just">
              <a:buFont typeface="Monotype Sorts" pitchFamily="2" charset="2"/>
              <a:buNone/>
            </a:pPr>
            <a:r>
              <a:rPr lang="zh-CN" altLang="en-US" sz="3200" b="1" dirty="0">
                <a:solidFill>
                  <a:srgbClr val="FF0000"/>
                </a:solidFill>
                <a:effectLst>
                  <a:outerShdw blurRad="38100" dist="38100" dir="2700000" algn="tl">
                    <a:srgbClr val="000000"/>
                  </a:outerShdw>
                </a:effectLst>
                <a:latin typeface="宋体" pitchFamily="2" charset="-122"/>
              </a:rPr>
              <a:t>特殊字符： 	</a:t>
            </a:r>
            <a:r>
              <a:rPr lang="zh-CN" altLang="en-US" sz="3200" b="1" dirty="0">
                <a:effectLst>
                  <a:outerShdw blurRad="38100" dist="38100" dir="2700000" algn="tl">
                    <a:srgbClr val="000000"/>
                  </a:outerShdw>
                </a:effectLst>
                <a:latin typeface="宋体" pitchFamily="2" charset="-122"/>
              </a:rPr>
              <a:t>用</a:t>
            </a:r>
            <a:r>
              <a:rPr lang="en-US" altLang="zh-CN" sz="3200" b="1" dirty="0">
                <a:solidFill>
                  <a:srgbClr val="CC0000"/>
                </a:solidFill>
                <a:effectLst>
                  <a:outerShdw blurRad="38100" dist="38100" dir="2700000" algn="tl">
                    <a:srgbClr val="000000"/>
                  </a:outerShdw>
                </a:effectLst>
                <a:latin typeface="Courier New"/>
              </a:rPr>
              <a:t>’</a:t>
            </a:r>
            <a:r>
              <a:rPr lang="en-US" altLang="zh-CN" sz="3200" b="1" dirty="0">
                <a:solidFill>
                  <a:srgbClr val="CC0000"/>
                </a:solidFill>
                <a:effectLst>
                  <a:outerShdw blurRad="38100" dist="38100" dir="2700000" algn="tl">
                    <a:srgbClr val="000000"/>
                  </a:outerShdw>
                </a:effectLst>
                <a:latin typeface="宋体" pitchFamily="2" charset="-122"/>
              </a:rPr>
              <a:t>\</a:t>
            </a:r>
            <a:r>
              <a:rPr lang="zh-CN" altLang="en-US" sz="3200" b="1" dirty="0">
                <a:solidFill>
                  <a:srgbClr val="CC0000"/>
                </a:solidFill>
                <a:effectLst>
                  <a:outerShdw blurRad="38100" dist="38100" dir="2700000" algn="tl">
                    <a:srgbClr val="000000"/>
                  </a:outerShdw>
                </a:effectLst>
                <a:latin typeface="宋体" pitchFamily="2" charset="-122"/>
              </a:rPr>
              <a:t>字符或字符列</a:t>
            </a:r>
            <a:r>
              <a:rPr lang="en-US" altLang="zh-CN" sz="3200" b="1" dirty="0">
                <a:solidFill>
                  <a:srgbClr val="CC0000"/>
                </a:solidFill>
                <a:effectLst>
                  <a:outerShdw blurRad="38100" dist="38100" dir="2700000" algn="tl">
                    <a:srgbClr val="000000"/>
                  </a:outerShdw>
                </a:effectLst>
                <a:latin typeface="Courier New"/>
              </a:rPr>
              <a:t>’</a:t>
            </a:r>
            <a:r>
              <a:rPr lang="zh-CN" altLang="en-US" sz="3200" b="1" dirty="0">
                <a:effectLst>
                  <a:outerShdw blurRad="38100" dist="38100" dir="2700000" algn="tl">
                    <a:srgbClr val="000000"/>
                  </a:outerShdw>
                </a:effectLst>
                <a:latin typeface="宋体" pitchFamily="2" charset="-122"/>
              </a:rPr>
              <a:t>来标记。 如：</a:t>
            </a:r>
            <a:r>
              <a:rPr lang="en-US" altLang="zh-CN" sz="3200" b="1" dirty="0">
                <a:solidFill>
                  <a:srgbClr val="CC0000"/>
                </a:solidFill>
                <a:effectLst>
                  <a:outerShdw blurRad="38100" dist="38100" dir="2700000" algn="tl">
                    <a:srgbClr val="000000"/>
                  </a:outerShdw>
                </a:effectLst>
                <a:latin typeface="Courier New"/>
              </a:rPr>
              <a:t>’</a:t>
            </a:r>
            <a:r>
              <a:rPr lang="en-US" altLang="zh-CN" sz="3200" b="1" dirty="0">
                <a:solidFill>
                  <a:srgbClr val="CC0000"/>
                </a:solidFill>
                <a:effectLst>
                  <a:outerShdw blurRad="38100" dist="38100" dir="2700000" algn="tl">
                    <a:srgbClr val="000000"/>
                  </a:outerShdw>
                </a:effectLst>
                <a:latin typeface="宋体" pitchFamily="2" charset="-122"/>
              </a:rPr>
              <a:t>\r</a:t>
            </a:r>
            <a:r>
              <a:rPr lang="en-US" altLang="zh-CN" sz="3200" b="1" dirty="0">
                <a:solidFill>
                  <a:srgbClr val="CC0000"/>
                </a:solidFill>
                <a:effectLst>
                  <a:outerShdw blurRad="38100" dist="38100" dir="2700000" algn="tl">
                    <a:srgbClr val="000000"/>
                  </a:outerShdw>
                </a:effectLst>
                <a:latin typeface="Courier New"/>
              </a:rPr>
              <a:t>’</a:t>
            </a:r>
            <a:r>
              <a:rPr lang="zh-CN" altLang="en-US" sz="3200" b="1" dirty="0">
                <a:effectLst>
                  <a:outerShdw blurRad="38100" dist="38100" dir="2700000" algn="tl">
                    <a:srgbClr val="000000"/>
                  </a:outerShdw>
                </a:effectLst>
                <a:latin typeface="宋体" pitchFamily="2" charset="-122"/>
              </a:rPr>
              <a:t>、</a:t>
            </a:r>
            <a:r>
              <a:rPr lang="en-US" altLang="zh-CN" sz="3200" b="1" dirty="0">
                <a:solidFill>
                  <a:srgbClr val="CC0000"/>
                </a:solidFill>
                <a:effectLst>
                  <a:outerShdw blurRad="38100" dist="38100" dir="2700000" algn="tl">
                    <a:srgbClr val="000000"/>
                  </a:outerShdw>
                </a:effectLst>
                <a:latin typeface="Courier New"/>
              </a:rPr>
              <a:t>’</a:t>
            </a:r>
            <a:r>
              <a:rPr lang="en-US" altLang="zh-CN" sz="3200" b="1" dirty="0">
                <a:solidFill>
                  <a:srgbClr val="CC0000"/>
                </a:solidFill>
                <a:effectLst>
                  <a:outerShdw blurRad="38100" dist="38100" dir="2700000" algn="tl">
                    <a:srgbClr val="000000"/>
                  </a:outerShdw>
                </a:effectLst>
                <a:latin typeface="宋体" pitchFamily="2" charset="-122"/>
              </a:rPr>
              <a:t>\n</a:t>
            </a:r>
            <a:r>
              <a:rPr lang="en-US" altLang="zh-CN" sz="3200" b="1" dirty="0">
                <a:solidFill>
                  <a:srgbClr val="CC0000"/>
                </a:solidFill>
                <a:effectLst>
                  <a:outerShdw blurRad="38100" dist="38100" dir="2700000" algn="tl">
                    <a:srgbClr val="000000"/>
                  </a:outerShdw>
                </a:effectLst>
                <a:latin typeface="Courier New"/>
              </a:rPr>
              <a:t>’</a:t>
            </a:r>
            <a:r>
              <a:rPr lang="zh-CN" altLang="en-US" sz="3200" b="1" dirty="0">
                <a:effectLst>
                  <a:outerShdw blurRad="38100" dist="38100" dir="2700000" algn="tl">
                    <a:srgbClr val="000000"/>
                  </a:outerShdw>
                </a:effectLst>
                <a:latin typeface="宋体" pitchFamily="2" charset="-122"/>
              </a:rPr>
              <a:t>、 </a:t>
            </a:r>
            <a:r>
              <a:rPr lang="en-US" altLang="zh-CN" sz="3200" b="1" dirty="0">
                <a:solidFill>
                  <a:srgbClr val="CC0000"/>
                </a:solidFill>
                <a:effectLst>
                  <a:outerShdw blurRad="38100" dist="38100" dir="2700000" algn="tl">
                    <a:srgbClr val="000000"/>
                  </a:outerShdw>
                </a:effectLst>
                <a:latin typeface="Courier New"/>
              </a:rPr>
              <a:t>’</a:t>
            </a:r>
            <a:r>
              <a:rPr lang="en-US" altLang="zh-CN" sz="3200" b="1" dirty="0">
                <a:solidFill>
                  <a:srgbClr val="CC0000"/>
                </a:solidFill>
                <a:effectLst>
                  <a:outerShdw blurRad="38100" dist="38100" dir="2700000" algn="tl">
                    <a:srgbClr val="000000"/>
                  </a:outerShdw>
                </a:effectLst>
                <a:latin typeface="宋体" pitchFamily="2" charset="-122"/>
              </a:rPr>
              <a:t>\t</a:t>
            </a:r>
            <a:r>
              <a:rPr lang="en-US" altLang="zh-CN" sz="3200" b="1" dirty="0">
                <a:solidFill>
                  <a:srgbClr val="CC0000"/>
                </a:solidFill>
                <a:effectLst>
                  <a:outerShdw blurRad="38100" dist="38100" dir="2700000" algn="tl">
                    <a:srgbClr val="000000"/>
                  </a:outerShdw>
                </a:effectLst>
                <a:latin typeface="Courier New"/>
              </a:rPr>
              <a:t>’</a:t>
            </a:r>
            <a:r>
              <a:rPr lang="zh-CN" altLang="en-US" sz="3200" b="1" dirty="0">
                <a:effectLst>
                  <a:outerShdw blurRad="38100" dist="38100" dir="2700000" algn="tl">
                    <a:srgbClr val="000000"/>
                  </a:outerShdw>
                </a:effectLst>
                <a:latin typeface="宋体" pitchFamily="2" charset="-122"/>
              </a:rPr>
              <a:t>。</a:t>
            </a:r>
            <a:br>
              <a:rPr lang="zh-CN" altLang="en-US" sz="3200" b="1" dirty="0">
                <a:effectLst>
                  <a:outerShdw blurRad="38100" dist="38100" dir="2700000" algn="tl">
                    <a:srgbClr val="000000"/>
                  </a:outerShdw>
                </a:effectLst>
                <a:latin typeface="宋体" pitchFamily="2" charset="-122"/>
              </a:rPr>
            </a:br>
            <a:r>
              <a:rPr lang="zh-CN" altLang="en-US" sz="3200" b="1" dirty="0">
                <a:effectLst>
                  <a:outerShdw blurRad="38100" dist="38100" dir="2700000" algn="tl">
                    <a:srgbClr val="000000"/>
                  </a:outerShdw>
                </a:effectLst>
                <a:latin typeface="宋体" pitchFamily="2" charset="-122"/>
              </a:rPr>
              <a:t>见</a:t>
            </a:r>
            <a:r>
              <a:rPr lang="en-US" altLang="zh-CN" sz="3200" b="1">
                <a:effectLst>
                  <a:outerShdw blurRad="38100" dist="38100" dir="2700000" algn="tl">
                    <a:srgbClr val="000000"/>
                  </a:outerShdw>
                </a:effectLst>
                <a:latin typeface="宋体" pitchFamily="2" charset="-122"/>
              </a:rPr>
              <a:t>P.20 </a:t>
            </a:r>
            <a:r>
              <a:rPr lang="zh-CN" altLang="en-US" sz="3200" b="1" dirty="0">
                <a:effectLst>
                  <a:outerShdw blurRad="38100" dist="38100" dir="2700000" algn="tl">
                    <a:srgbClr val="000000"/>
                  </a:outerShdw>
                </a:effectLst>
                <a:latin typeface="宋体" pitchFamily="2" charset="-122"/>
              </a:rPr>
              <a:t>表</a:t>
            </a:r>
            <a:r>
              <a:rPr lang="en-US" altLang="zh-CN" sz="3200" b="1" dirty="0">
                <a:effectLst>
                  <a:outerShdw blurRad="38100" dist="38100" dir="2700000" algn="tl">
                    <a:srgbClr val="000000"/>
                  </a:outerShdw>
                </a:effectLst>
                <a:latin typeface="宋体" pitchFamily="2" charset="-122"/>
              </a:rPr>
              <a:t>2</a:t>
            </a:r>
            <a:r>
              <a:rPr lang="zh-CN" altLang="en-US" sz="3200" b="1" dirty="0">
                <a:effectLst>
                  <a:outerShdw blurRad="38100" dist="38100" dir="2700000" algn="tl">
                    <a:srgbClr val="000000"/>
                  </a:outerShdw>
                </a:effectLst>
                <a:latin typeface="宋体" pitchFamily="2" charset="-122"/>
              </a:rPr>
              <a:t>－</a:t>
            </a:r>
            <a:r>
              <a:rPr lang="en-US" altLang="zh-CN" sz="3200" b="1" dirty="0">
                <a:effectLst>
                  <a:outerShdw blurRad="38100" dist="38100" dir="2700000" algn="tl">
                    <a:srgbClr val="000000"/>
                  </a:outerShdw>
                </a:effectLst>
                <a:latin typeface="宋体" pitchFamily="2" charset="-122"/>
              </a:rPr>
              <a:t>1</a:t>
            </a:r>
            <a:r>
              <a:rPr lang="zh-CN" altLang="en-US" sz="3200" b="1" dirty="0">
                <a:effectLst>
                  <a:outerShdw blurRad="38100" dist="38100" dir="2700000" algn="tl">
                    <a:srgbClr val="000000"/>
                  </a:outerShdw>
                </a:effectLst>
                <a:latin typeface="宋体" pitchFamily="2" charset="-122"/>
              </a:rPr>
              <a:t>。</a:t>
            </a:r>
          </a:p>
          <a:p>
            <a:pPr marL="2511425" indent="-2511425" algn="just">
              <a:buFont typeface="Monotype Sorts" pitchFamily="2" charset="2"/>
              <a:buNone/>
            </a:pPr>
            <a:r>
              <a:rPr lang="en-US" altLang="zh-CN" sz="3200" b="1" dirty="0">
                <a:solidFill>
                  <a:srgbClr val="660033"/>
                </a:solidFill>
                <a:effectLst>
                  <a:outerShdw blurRad="38100" dist="38100" dir="2700000" algn="tl">
                    <a:srgbClr val="000000"/>
                  </a:outerShdw>
                </a:effectLst>
                <a:latin typeface="宋体" pitchFamily="2" charset="-122"/>
              </a:rPr>
              <a:t>Return</a:t>
            </a:r>
            <a:r>
              <a:rPr lang="en-US" altLang="zh-CN" sz="3200" b="1" dirty="0">
                <a:solidFill>
                  <a:srgbClr val="000000"/>
                </a:solidFill>
                <a:effectLst>
                  <a:outerShdw blurRad="38100" dist="38100" dir="2700000" algn="tl">
                    <a:srgbClr val="FFFFFF"/>
                  </a:outerShdw>
                </a:effectLst>
                <a:latin typeface="Courier New"/>
              </a:rPr>
              <a:t> ’</a:t>
            </a:r>
            <a:r>
              <a:rPr lang="en-US" altLang="zh-CN" sz="3200" b="1" dirty="0">
                <a:solidFill>
                  <a:srgbClr val="000000"/>
                </a:solidFill>
                <a:effectLst>
                  <a:outerShdw blurRad="38100" dist="38100" dir="2700000" algn="tl">
                    <a:srgbClr val="FFFFFF"/>
                  </a:outerShdw>
                </a:effectLst>
                <a:latin typeface="宋体" pitchFamily="2" charset="-122"/>
              </a:rPr>
              <a:t>\r</a:t>
            </a:r>
            <a:r>
              <a:rPr lang="en-US" altLang="zh-CN" sz="3200" b="1" dirty="0">
                <a:solidFill>
                  <a:srgbClr val="000000"/>
                </a:solidFill>
                <a:effectLst>
                  <a:outerShdw blurRad="38100" dist="38100" dir="2700000" algn="tl">
                    <a:srgbClr val="FFFFFF"/>
                  </a:outerShdw>
                </a:effectLst>
                <a:latin typeface="Courier New"/>
              </a:rPr>
              <a:t>’</a:t>
            </a:r>
            <a:r>
              <a:rPr lang="en-US" altLang="zh-CN" sz="3200" b="1" dirty="0">
                <a:solidFill>
                  <a:srgbClr val="000000"/>
                </a:solidFill>
                <a:effectLst>
                  <a:outerShdw blurRad="38100" dist="38100" dir="2700000" algn="tl">
                    <a:srgbClr val="FFFFFF"/>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表示对当前行作重叠输出</a:t>
            </a:r>
          </a:p>
          <a:p>
            <a:pPr marL="2511425" indent="-2511425" algn="just">
              <a:buFont typeface="Monotype Sorts" pitchFamily="2" charset="2"/>
              <a:buNone/>
            </a:pPr>
            <a:r>
              <a:rPr lang="en-US" altLang="zh-CN" sz="3200" b="1" dirty="0">
                <a:solidFill>
                  <a:srgbClr val="660033"/>
                </a:solidFill>
                <a:effectLst>
                  <a:outerShdw blurRad="38100" dist="38100" dir="2700000" algn="tl">
                    <a:srgbClr val="000000"/>
                  </a:outerShdw>
                </a:effectLst>
                <a:latin typeface="宋体" pitchFamily="2" charset="-122"/>
              </a:rPr>
              <a:t>Newline </a:t>
            </a:r>
            <a:r>
              <a:rPr lang="en-US" altLang="zh-CN" sz="3200" b="1" dirty="0">
                <a:solidFill>
                  <a:srgbClr val="000000"/>
                </a:solidFill>
                <a:effectLst>
                  <a:outerShdw blurRad="38100" dist="38100" dir="2700000" algn="tl">
                    <a:srgbClr val="FFFFFF"/>
                  </a:outerShdw>
                </a:effectLst>
                <a:latin typeface="Courier New"/>
              </a:rPr>
              <a:t>’</a:t>
            </a:r>
            <a:r>
              <a:rPr lang="en-US" altLang="zh-CN" sz="3200" b="1" dirty="0">
                <a:solidFill>
                  <a:srgbClr val="000000"/>
                </a:solidFill>
                <a:effectLst>
                  <a:outerShdw blurRad="38100" dist="38100" dir="2700000" algn="tl">
                    <a:srgbClr val="FFFFFF"/>
                  </a:outerShdw>
                </a:effectLst>
                <a:latin typeface="宋体" pitchFamily="2" charset="-122"/>
              </a:rPr>
              <a:t>\n</a:t>
            </a:r>
            <a:r>
              <a:rPr lang="en-US" altLang="zh-CN" sz="3200" b="1" dirty="0">
                <a:solidFill>
                  <a:srgbClr val="000000"/>
                </a:solidFill>
                <a:effectLst>
                  <a:outerShdw blurRad="38100" dist="38100" dir="2700000" algn="tl">
                    <a:srgbClr val="FFFFFF"/>
                  </a:outerShdw>
                </a:effectLst>
                <a:latin typeface="Courier New"/>
              </a:rPr>
              <a:t>’</a:t>
            </a:r>
            <a:r>
              <a:rPr lang="en-US" altLang="zh-CN" sz="3200" b="1" dirty="0">
                <a:solidFill>
                  <a:srgbClr val="000000"/>
                </a:solidFill>
                <a:effectLst>
                  <a:outerShdw blurRad="38100" dist="38100" dir="2700000" algn="tl">
                    <a:srgbClr val="FFFFFF"/>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使以后的输出从下一行首开始</a:t>
            </a:r>
          </a:p>
          <a:p>
            <a:pPr marL="2511425" indent="-2511425" algn="just">
              <a:buFont typeface="Monotype Sorts" pitchFamily="2" charset="2"/>
              <a:buNone/>
            </a:pPr>
            <a:r>
              <a:rPr lang="zh-CN" altLang="en-US" sz="3200" b="1" dirty="0">
                <a:solidFill>
                  <a:srgbClr val="660033"/>
                </a:solidFill>
                <a:effectLst>
                  <a:outerShdw blurRad="38100" dist="38100" dir="2700000" algn="tl">
                    <a:srgbClr val="000000"/>
                  </a:outerShdw>
                </a:effectLst>
                <a:latin typeface="宋体" pitchFamily="2" charset="-122"/>
              </a:rPr>
              <a:t>制表符 </a:t>
            </a:r>
            <a:r>
              <a:rPr lang="en-US" altLang="zh-CN" sz="3200" b="1" dirty="0">
                <a:solidFill>
                  <a:srgbClr val="000000"/>
                </a:solidFill>
                <a:effectLst>
                  <a:outerShdw blurRad="38100" dist="38100" dir="2700000" algn="tl">
                    <a:srgbClr val="FFFFFF"/>
                  </a:outerShdw>
                </a:effectLst>
                <a:latin typeface="Courier New"/>
              </a:rPr>
              <a:t>’</a:t>
            </a:r>
            <a:r>
              <a:rPr lang="en-US" altLang="zh-CN" sz="3200" b="1" dirty="0">
                <a:solidFill>
                  <a:srgbClr val="000000"/>
                </a:solidFill>
                <a:effectLst>
                  <a:outerShdw blurRad="38100" dist="38100" dir="2700000" algn="tl">
                    <a:srgbClr val="FFFFFF"/>
                  </a:outerShdw>
                </a:effectLst>
                <a:latin typeface="宋体" pitchFamily="2" charset="-122"/>
              </a:rPr>
              <a:t>\t</a:t>
            </a:r>
            <a:r>
              <a:rPr lang="en-US" altLang="zh-CN" sz="3200" b="1" dirty="0">
                <a:solidFill>
                  <a:srgbClr val="000000"/>
                </a:solidFill>
                <a:effectLst>
                  <a:outerShdw blurRad="38100" dist="38100" dir="2700000" algn="tl">
                    <a:srgbClr val="FFFFFF"/>
                  </a:outerShdw>
                </a:effectLst>
                <a:latin typeface="Courier New"/>
              </a:rPr>
              <a:t>’</a:t>
            </a:r>
            <a:r>
              <a:rPr lang="en-US" altLang="zh-CN" sz="3200" b="1" dirty="0">
                <a:solidFill>
                  <a:srgbClr val="000000"/>
                </a:solidFill>
                <a:effectLst>
                  <a:outerShdw blurRad="38100" dist="38100" dir="2700000" algn="tl">
                    <a:srgbClr val="FFFFFF"/>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使输出位置横向跳至下一个输出区开始列。</a:t>
            </a:r>
          </a:p>
        </p:txBody>
      </p:sp>
      <p:sp>
        <p:nvSpPr>
          <p:cNvPr id="6" name="灯片编号占位符 5"/>
          <p:cNvSpPr>
            <a:spLocks noGrp="1"/>
          </p:cNvSpPr>
          <p:nvPr>
            <p:ph type="sldNum" sz="quarter" idx="12"/>
          </p:nvPr>
        </p:nvSpPr>
        <p:spPr/>
        <p:txBody>
          <a:bodyPr/>
          <a:lstStyle/>
          <a:p>
            <a:fld id="{F384D9F5-551D-4919-9FA6-753665FC88D3}" type="slidenum">
              <a:rPr lang="en-US" altLang="zh-CN"/>
              <a:pPr/>
              <a:t>19</a:t>
            </a:fld>
            <a:endParaRPr lang="en-US" altLang="zh-C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Rectangle 3"/>
          <p:cNvSpPr>
            <a:spLocks noGrp="1" noChangeArrowheads="1"/>
          </p:cNvSpPr>
          <p:nvPr>
            <p:ph type="title"/>
          </p:nvPr>
        </p:nvSpPr>
        <p:spPr>
          <a:xfrm>
            <a:off x="1042988" y="333375"/>
            <a:ext cx="7656512" cy="720725"/>
          </a:xfrm>
        </p:spPr>
        <p:txBody>
          <a:bodyPr/>
          <a:lstStyle/>
          <a:p>
            <a:pPr algn="ctr"/>
            <a:r>
              <a:rPr lang="zh-CN" altLang="en-US" sz="3200" b="1" dirty="0">
                <a:latin typeface="黑体" pitchFamily="2" charset="-122"/>
                <a:ea typeface="黑体" pitchFamily="2" charset="-122"/>
              </a:rPr>
              <a:t>表</a:t>
            </a:r>
            <a:r>
              <a:rPr lang="en-US" altLang="zh-CN" sz="3200" b="1" dirty="0">
                <a:latin typeface="黑体" pitchFamily="2" charset="-122"/>
                <a:ea typeface="黑体" pitchFamily="2" charset="-122"/>
              </a:rPr>
              <a:t>2-1 </a:t>
            </a:r>
            <a:r>
              <a:rPr lang="zh-CN" altLang="en-US" sz="3200" b="1" dirty="0">
                <a:latin typeface="黑体" pitchFamily="2" charset="-122"/>
                <a:ea typeface="黑体" pitchFamily="2" charset="-122"/>
              </a:rPr>
              <a:t>特殊字符表</a:t>
            </a:r>
          </a:p>
        </p:txBody>
      </p:sp>
      <p:sp>
        <p:nvSpPr>
          <p:cNvPr id="476162" name="Rectangle 2"/>
          <p:cNvSpPr>
            <a:spLocks noGrp="1" noChangeArrowheads="1"/>
          </p:cNvSpPr>
          <p:nvPr>
            <p:ph idx="1"/>
          </p:nvPr>
        </p:nvSpPr>
        <p:spPr>
          <a:xfrm>
            <a:off x="381000" y="1196975"/>
            <a:ext cx="8229600" cy="5432425"/>
          </a:xfrm>
        </p:spPr>
        <p:txBody>
          <a:bodyPr/>
          <a:lstStyle/>
          <a:p>
            <a:pPr>
              <a:lnSpc>
                <a:spcPct val="90000"/>
              </a:lnSpc>
              <a:buFont typeface="Monotype Sorts" pitchFamily="2" charset="2"/>
              <a:buNone/>
            </a:pPr>
            <a:r>
              <a:rPr lang="zh-CN" altLang="en-US" sz="2400" b="1">
                <a:solidFill>
                  <a:srgbClr val="0000FF"/>
                </a:solidFill>
                <a:effectLst>
                  <a:outerShdw blurRad="38100" dist="38100" dir="2700000" algn="tl">
                    <a:srgbClr val="000000"/>
                  </a:outerShdw>
                </a:effectLst>
                <a:latin typeface="宋体" pitchFamily="2" charset="-122"/>
              </a:rPr>
              <a:t>标记形式</a:t>
            </a:r>
            <a:r>
              <a:rPr lang="zh-CN" altLang="en-US" sz="2000" b="1">
                <a:solidFill>
                  <a:srgbClr val="0000FF"/>
                </a:solidFill>
                <a:effectLst>
                  <a:outerShdw blurRad="38100" dist="38100" dir="2700000" algn="tl">
                    <a:srgbClr val="000000"/>
                  </a:outerShdw>
                </a:effectLst>
                <a:latin typeface="宋体" pitchFamily="2" charset="-122"/>
              </a:rPr>
              <a:t>	            </a:t>
            </a:r>
            <a:r>
              <a:rPr lang="zh-CN" altLang="en-US" sz="2400" b="1">
                <a:solidFill>
                  <a:srgbClr val="0000FF"/>
                </a:solidFill>
                <a:effectLst>
                  <a:outerShdw blurRad="38100" dist="38100" dir="2700000" algn="tl">
                    <a:srgbClr val="000000"/>
                  </a:outerShdw>
                </a:effectLst>
                <a:latin typeface="宋体" pitchFamily="2" charset="-122"/>
              </a:rPr>
              <a:t>功        能</a:t>
            </a:r>
            <a:r>
              <a:rPr lang="zh-CN" altLang="en-US" sz="2000" b="1">
                <a:solidFill>
                  <a:srgbClr val="0000FF"/>
                </a:solidFill>
                <a:effectLst>
                  <a:outerShdw blurRad="38100" dist="38100" dir="2700000" algn="tl">
                    <a:srgbClr val="000000"/>
                  </a:outerShdw>
                </a:effectLst>
                <a:latin typeface="宋体" pitchFamily="2" charset="-122"/>
              </a:rPr>
              <a:t>	</a:t>
            </a:r>
            <a:endParaRPr lang="zh-CN" altLang="en-US" sz="2000" b="1">
              <a:solidFill>
                <a:srgbClr val="0000FF"/>
              </a:solidFill>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\n     </a:t>
            </a:r>
            <a:r>
              <a:rPr lang="zh-CN" altLang="en-US" sz="2400" b="1">
                <a:solidFill>
                  <a:srgbClr val="000099"/>
                </a:solidFill>
                <a:latin typeface="宋体" pitchFamily="2" charset="-122"/>
              </a:rPr>
              <a:t>换行符</a:t>
            </a:r>
            <a:r>
              <a:rPr lang="en-US" altLang="zh-CN" sz="2400" b="1">
                <a:solidFill>
                  <a:srgbClr val="000099"/>
                </a:solidFill>
                <a:latin typeface="宋体" pitchFamily="2" charset="-122"/>
              </a:rPr>
              <a:t>(</a:t>
            </a:r>
            <a:r>
              <a:rPr lang="zh-CN" altLang="en-US" sz="2400" b="1">
                <a:solidFill>
                  <a:srgbClr val="000099"/>
                </a:solidFill>
                <a:latin typeface="宋体" pitchFamily="2" charset="-122"/>
              </a:rPr>
              <a:t>打印位置移到下一行首</a:t>
            </a:r>
            <a:r>
              <a:rPr lang="en-US" altLang="zh-CN" sz="2400" b="1">
                <a:solidFill>
                  <a:srgbClr val="000099"/>
                </a:solidFill>
                <a:latin typeface="宋体" pitchFamily="2" charset="-122"/>
              </a:rPr>
              <a:t>)	</a:t>
            </a:r>
            <a:endParaRPr lang="en-US" altLang="zh-CN"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\t	     </a:t>
            </a:r>
            <a:r>
              <a:rPr lang="zh-CN" altLang="en-US" sz="2400" b="1">
                <a:solidFill>
                  <a:srgbClr val="000099"/>
                </a:solidFill>
                <a:latin typeface="宋体" pitchFamily="2" charset="-122"/>
              </a:rPr>
              <a:t>制表符，横向跳格到下一个输出区首</a:t>
            </a:r>
          </a:p>
          <a:p>
            <a:pPr>
              <a:lnSpc>
                <a:spcPct val="90000"/>
              </a:lnSpc>
              <a:buFont typeface="Monotype Sorts" pitchFamily="2" charset="2"/>
              <a:buNone/>
            </a:pPr>
            <a:r>
              <a:rPr lang="en-US" altLang="zh-CN" sz="2400" b="1">
                <a:solidFill>
                  <a:srgbClr val="000099"/>
                </a:solidFill>
                <a:latin typeface="宋体" pitchFamily="2" charset="-122"/>
              </a:rPr>
              <a:t>\v	     </a:t>
            </a:r>
            <a:r>
              <a:rPr lang="zh-CN" altLang="en-US" sz="2400" b="1">
                <a:solidFill>
                  <a:srgbClr val="000099"/>
                </a:solidFill>
                <a:latin typeface="宋体" pitchFamily="2" charset="-122"/>
              </a:rPr>
              <a:t>竖向跳格符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\b	     </a:t>
            </a:r>
            <a:r>
              <a:rPr lang="zh-CN" altLang="en-US" sz="2400" b="1">
                <a:solidFill>
                  <a:srgbClr val="000099"/>
                </a:solidFill>
                <a:latin typeface="宋体" pitchFamily="2" charset="-122"/>
              </a:rPr>
              <a:t>退格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\r	     </a:t>
            </a:r>
            <a:r>
              <a:rPr lang="zh-CN" altLang="en-US" sz="2400" b="1">
                <a:solidFill>
                  <a:srgbClr val="000099"/>
                </a:solidFill>
                <a:latin typeface="宋体" pitchFamily="2" charset="-122"/>
              </a:rPr>
              <a:t>回车</a:t>
            </a:r>
            <a:r>
              <a:rPr lang="en-US" altLang="zh-CN" sz="2400" b="1">
                <a:solidFill>
                  <a:srgbClr val="000099"/>
                </a:solidFill>
                <a:latin typeface="宋体" pitchFamily="2" charset="-122"/>
              </a:rPr>
              <a:t>(</a:t>
            </a:r>
            <a:r>
              <a:rPr lang="zh-CN" altLang="en-US" sz="2400" b="1">
                <a:solidFill>
                  <a:srgbClr val="000099"/>
                </a:solidFill>
                <a:latin typeface="宋体" pitchFamily="2" charset="-122"/>
              </a:rPr>
              <a:t>打印位置移到当前行的首</a:t>
            </a:r>
            <a:r>
              <a:rPr lang="en-US" altLang="zh-CN" sz="2400" b="1">
                <a:solidFill>
                  <a:srgbClr val="000099"/>
                </a:solidFill>
                <a:latin typeface="宋体" pitchFamily="2" charset="-122"/>
              </a:rPr>
              <a:t>)	</a:t>
            </a:r>
            <a:endParaRPr lang="en-US" altLang="zh-CN"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\f	     </a:t>
            </a:r>
            <a:r>
              <a:rPr lang="zh-CN" altLang="en-US" sz="2400" b="1">
                <a:solidFill>
                  <a:srgbClr val="000099"/>
                </a:solidFill>
                <a:latin typeface="宋体" pitchFamily="2" charset="-122"/>
              </a:rPr>
              <a:t>走纸换页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\a	     </a:t>
            </a:r>
            <a:r>
              <a:rPr lang="zh-CN" altLang="en-US" sz="2400" b="1">
                <a:solidFill>
                  <a:srgbClr val="000099"/>
                </a:solidFill>
                <a:latin typeface="宋体" pitchFamily="2" charset="-122"/>
              </a:rPr>
              <a:t>产生响铃声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	     </a:t>
            </a:r>
            <a:r>
              <a:rPr lang="zh-CN" altLang="en-US" sz="2400" b="1">
                <a:solidFill>
                  <a:srgbClr val="000099"/>
                </a:solidFill>
                <a:latin typeface="宋体" pitchFamily="2" charset="-122"/>
              </a:rPr>
              <a:t>反斜杠字符 </a:t>
            </a:r>
            <a:r>
              <a:rPr lang="en-US" altLang="zh-CN" sz="2400" b="1">
                <a:solidFill>
                  <a:srgbClr val="000099"/>
                </a:solidFill>
                <a:latin typeface="宋体" pitchFamily="2" charset="-122"/>
              </a:rPr>
              <a:t>\	</a:t>
            </a:r>
            <a:endParaRPr lang="en-US" altLang="zh-CN"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a:t>
            </a:r>
            <a:r>
              <a:rPr lang="en-US" altLang="zh-CN" sz="2400" b="1">
                <a:solidFill>
                  <a:srgbClr val="000099"/>
                </a:solidFill>
                <a:latin typeface="Courier New"/>
              </a:rPr>
              <a:t>’</a:t>
            </a:r>
            <a:r>
              <a:rPr lang="en-US" altLang="zh-CN" sz="2400" b="1">
                <a:solidFill>
                  <a:srgbClr val="000099"/>
                </a:solidFill>
                <a:latin typeface="宋体" pitchFamily="2" charset="-122"/>
              </a:rPr>
              <a:t>	     </a:t>
            </a:r>
            <a:r>
              <a:rPr lang="zh-CN" altLang="en-US" sz="2400" b="1">
                <a:solidFill>
                  <a:srgbClr val="000099"/>
                </a:solidFill>
                <a:latin typeface="宋体" pitchFamily="2" charset="-122"/>
              </a:rPr>
              <a:t>单引号符 </a:t>
            </a:r>
            <a:r>
              <a:rPr lang="zh-CN" altLang="en-US" sz="2400" b="1">
                <a:solidFill>
                  <a:srgbClr val="000099"/>
                </a:solidFill>
                <a:latin typeface="Courier New"/>
              </a:rPr>
              <a:t>’</a:t>
            </a:r>
            <a:r>
              <a:rPr lang="zh-CN" altLang="en-US" sz="2400" b="1">
                <a:solidFill>
                  <a:srgbClr val="000099"/>
                </a:solidFill>
                <a:latin typeface="宋体" pitchFamily="2" charset="-122"/>
              </a:rPr>
              <a:t>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a:t>
            </a:r>
            <a:r>
              <a:rPr lang="en-US" altLang="zh-CN" sz="2400" b="1">
                <a:solidFill>
                  <a:srgbClr val="000099"/>
                </a:solidFill>
                <a:latin typeface="Courier New"/>
              </a:rPr>
              <a:t>”</a:t>
            </a:r>
            <a:r>
              <a:rPr lang="en-US" altLang="zh-CN" sz="2400" b="1">
                <a:solidFill>
                  <a:srgbClr val="000099"/>
                </a:solidFill>
                <a:latin typeface="宋体" pitchFamily="2" charset="-122"/>
              </a:rPr>
              <a:t>	     </a:t>
            </a:r>
            <a:r>
              <a:rPr lang="zh-CN" altLang="en-US" sz="2400" b="1">
                <a:solidFill>
                  <a:srgbClr val="000099"/>
                </a:solidFill>
                <a:latin typeface="宋体" pitchFamily="2" charset="-122"/>
              </a:rPr>
              <a:t>双引号符 </a:t>
            </a:r>
            <a:r>
              <a:rPr lang="zh-CN" altLang="en-US" sz="2400" b="1">
                <a:solidFill>
                  <a:srgbClr val="000099"/>
                </a:solidFill>
                <a:latin typeface="Courier New"/>
              </a:rPr>
              <a:t>”</a:t>
            </a:r>
            <a:r>
              <a:rPr lang="zh-CN" altLang="en-US" sz="2400" b="1">
                <a:solidFill>
                  <a:srgbClr val="000099"/>
                </a:solidFill>
                <a:latin typeface="宋体" pitchFamily="2" charset="-122"/>
              </a:rPr>
              <a:t>	</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\ddd	 ddd</a:t>
            </a:r>
            <a:r>
              <a:rPr lang="zh-CN" altLang="en-US" sz="2400" b="1">
                <a:solidFill>
                  <a:srgbClr val="000099"/>
                </a:solidFill>
                <a:latin typeface="宋体" pitchFamily="2" charset="-122"/>
              </a:rPr>
              <a:t>为</a:t>
            </a:r>
            <a:r>
              <a:rPr lang="en-US" altLang="zh-CN" sz="2400" b="1">
                <a:solidFill>
                  <a:srgbClr val="000099"/>
                </a:solidFill>
                <a:latin typeface="宋体" pitchFamily="2" charset="-122"/>
              </a:rPr>
              <a:t>1</a:t>
            </a:r>
            <a:r>
              <a:rPr lang="zh-CN" altLang="en-US" sz="2400" b="1">
                <a:solidFill>
                  <a:srgbClr val="000099"/>
                </a:solidFill>
                <a:latin typeface="宋体" pitchFamily="2" charset="-122"/>
              </a:rPr>
              <a:t>至</a:t>
            </a:r>
            <a:r>
              <a:rPr lang="en-US" altLang="zh-CN" sz="2400" b="1">
                <a:solidFill>
                  <a:srgbClr val="000099"/>
                </a:solidFill>
                <a:latin typeface="宋体" pitchFamily="2" charset="-122"/>
              </a:rPr>
              <a:t>3</a:t>
            </a:r>
            <a:r>
              <a:rPr lang="zh-CN" altLang="en-US" sz="2400" b="1">
                <a:solidFill>
                  <a:srgbClr val="000099"/>
                </a:solidFill>
                <a:latin typeface="宋体" pitchFamily="2" charset="-122"/>
              </a:rPr>
              <a:t>个</a:t>
            </a:r>
            <a:r>
              <a:rPr lang="en-US" altLang="zh-CN" sz="2400" b="1">
                <a:solidFill>
                  <a:srgbClr val="000099"/>
                </a:solidFill>
                <a:latin typeface="宋体" pitchFamily="2" charset="-122"/>
              </a:rPr>
              <a:t>8</a:t>
            </a:r>
            <a:r>
              <a:rPr lang="zh-CN" altLang="en-US" sz="2400" b="1">
                <a:solidFill>
                  <a:srgbClr val="000099"/>
                </a:solidFill>
                <a:latin typeface="宋体" pitchFamily="2" charset="-122"/>
              </a:rPr>
              <a:t>进制数字</a:t>
            </a:r>
            <a:r>
              <a:rPr lang="en-US" altLang="zh-CN" sz="2400" b="1">
                <a:solidFill>
                  <a:srgbClr val="000099"/>
                </a:solidFill>
                <a:latin typeface="宋体" pitchFamily="2" charset="-122"/>
              </a:rPr>
              <a:t>,</a:t>
            </a:r>
            <a:r>
              <a:rPr lang="zh-CN" altLang="en-US" sz="2400" b="1">
                <a:solidFill>
                  <a:srgbClr val="000099"/>
                </a:solidFill>
                <a:latin typeface="宋体" pitchFamily="2" charset="-122"/>
              </a:rPr>
              <a:t>以该值为</a:t>
            </a:r>
            <a:r>
              <a:rPr lang="en-US" altLang="zh-CN" sz="2400" b="1">
                <a:solidFill>
                  <a:srgbClr val="000099"/>
                </a:solidFill>
                <a:latin typeface="宋体" pitchFamily="2" charset="-122"/>
              </a:rPr>
              <a:t>ASCII</a:t>
            </a:r>
            <a:r>
              <a:rPr lang="zh-CN" altLang="en-US" sz="2400" b="1">
                <a:solidFill>
                  <a:srgbClr val="000099"/>
                </a:solidFill>
                <a:latin typeface="宋体" pitchFamily="2" charset="-122"/>
              </a:rPr>
              <a:t>码的字符</a:t>
            </a:r>
            <a:endParaRPr lang="zh-CN" altLang="en-US" sz="2400" b="1">
              <a:solidFill>
                <a:srgbClr val="000099"/>
              </a:solidFill>
              <a:latin typeface="Times New Roman" pitchFamily="18" charset="0"/>
            </a:endParaRPr>
          </a:p>
          <a:p>
            <a:pPr>
              <a:lnSpc>
                <a:spcPct val="90000"/>
              </a:lnSpc>
              <a:buFont typeface="Monotype Sorts" pitchFamily="2" charset="2"/>
              <a:buNone/>
            </a:pPr>
            <a:r>
              <a:rPr lang="en-US" altLang="zh-CN" sz="2400" b="1">
                <a:solidFill>
                  <a:srgbClr val="000099"/>
                </a:solidFill>
                <a:latin typeface="宋体" pitchFamily="2" charset="-122"/>
              </a:rPr>
              <a:t>\xhh	 hh</a:t>
            </a:r>
            <a:r>
              <a:rPr lang="zh-CN" altLang="en-US" sz="2400" b="1">
                <a:solidFill>
                  <a:srgbClr val="000099"/>
                </a:solidFill>
                <a:latin typeface="宋体" pitchFamily="2" charset="-122"/>
              </a:rPr>
              <a:t>为</a:t>
            </a:r>
            <a:r>
              <a:rPr lang="en-US" altLang="zh-CN" sz="2400" b="1">
                <a:solidFill>
                  <a:srgbClr val="000099"/>
                </a:solidFill>
                <a:latin typeface="宋体" pitchFamily="2" charset="-122"/>
              </a:rPr>
              <a:t>1</a:t>
            </a:r>
            <a:r>
              <a:rPr lang="zh-CN" altLang="en-US" sz="2400" b="1">
                <a:solidFill>
                  <a:srgbClr val="000099"/>
                </a:solidFill>
                <a:latin typeface="宋体" pitchFamily="2" charset="-122"/>
              </a:rPr>
              <a:t>至</a:t>
            </a:r>
            <a:r>
              <a:rPr lang="en-US" altLang="zh-CN" sz="2400" b="1">
                <a:solidFill>
                  <a:srgbClr val="000099"/>
                </a:solidFill>
                <a:latin typeface="宋体" pitchFamily="2" charset="-122"/>
              </a:rPr>
              <a:t>2</a:t>
            </a:r>
            <a:r>
              <a:rPr lang="zh-CN" altLang="en-US" sz="2400" b="1">
                <a:solidFill>
                  <a:srgbClr val="000099"/>
                </a:solidFill>
                <a:latin typeface="宋体" pitchFamily="2" charset="-122"/>
              </a:rPr>
              <a:t>个</a:t>
            </a:r>
            <a:r>
              <a:rPr lang="en-US" altLang="zh-CN" sz="2400" b="1">
                <a:solidFill>
                  <a:srgbClr val="000099"/>
                </a:solidFill>
                <a:latin typeface="宋体" pitchFamily="2" charset="-122"/>
              </a:rPr>
              <a:t>16</a:t>
            </a:r>
            <a:r>
              <a:rPr lang="zh-CN" altLang="en-US" sz="2400" b="1">
                <a:solidFill>
                  <a:srgbClr val="000099"/>
                </a:solidFill>
                <a:latin typeface="宋体" pitchFamily="2" charset="-122"/>
              </a:rPr>
              <a:t>进制数字</a:t>
            </a:r>
            <a:r>
              <a:rPr lang="en-US" altLang="zh-CN" sz="2400" b="1">
                <a:solidFill>
                  <a:srgbClr val="000099"/>
                </a:solidFill>
                <a:latin typeface="宋体" pitchFamily="2" charset="-122"/>
              </a:rPr>
              <a:t>,</a:t>
            </a:r>
            <a:r>
              <a:rPr lang="zh-CN" altLang="en-US" sz="2400" b="1">
                <a:solidFill>
                  <a:srgbClr val="000099"/>
                </a:solidFill>
                <a:latin typeface="宋体" pitchFamily="2" charset="-122"/>
              </a:rPr>
              <a:t>以该值为</a:t>
            </a:r>
            <a:r>
              <a:rPr lang="en-US" altLang="zh-CN" sz="2400" b="1">
                <a:solidFill>
                  <a:srgbClr val="000099"/>
                </a:solidFill>
                <a:latin typeface="宋体" pitchFamily="2" charset="-122"/>
              </a:rPr>
              <a:t>ASCII</a:t>
            </a:r>
            <a:r>
              <a:rPr lang="zh-CN" altLang="en-US" sz="2400" b="1">
                <a:solidFill>
                  <a:srgbClr val="000099"/>
                </a:solidFill>
                <a:latin typeface="宋体" pitchFamily="2" charset="-122"/>
              </a:rPr>
              <a:t>码的字符</a:t>
            </a:r>
          </a:p>
        </p:txBody>
      </p:sp>
      <p:sp>
        <p:nvSpPr>
          <p:cNvPr id="6" name="灯片编号占位符 5"/>
          <p:cNvSpPr>
            <a:spLocks noGrp="1"/>
          </p:cNvSpPr>
          <p:nvPr>
            <p:ph type="sldNum" sz="quarter" idx="12"/>
          </p:nvPr>
        </p:nvSpPr>
        <p:spPr/>
        <p:txBody>
          <a:bodyPr/>
          <a:lstStyle/>
          <a:p>
            <a:fld id="{8D70EF20-540A-4DE5-BB03-BFE6665B88A7}" type="slidenum">
              <a:rPr lang="en-US" altLang="zh-CN"/>
              <a:pPr/>
              <a:t>20</a:t>
            </a:fld>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7186" name="Rectangle 2"/>
          <p:cNvSpPr>
            <a:spLocks noGrp="1" noChangeArrowheads="1"/>
          </p:cNvSpPr>
          <p:nvPr>
            <p:ph idx="1"/>
          </p:nvPr>
        </p:nvSpPr>
        <p:spPr>
          <a:xfrm>
            <a:off x="381000" y="1052513"/>
            <a:ext cx="8229600" cy="5576887"/>
          </a:xfrm>
        </p:spPr>
        <p:txBody>
          <a:bodyPr>
            <a:normAutofit/>
          </a:bodyPr>
          <a:lstStyle/>
          <a:p>
            <a:pPr marL="1887538" indent="-1887538" algn="just">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注意：</a:t>
            </a:r>
            <a:r>
              <a:rPr lang="zh-CN" altLang="en-US" sz="3600" b="1" dirty="0">
                <a:effectLst>
                  <a:outerShdw blurRad="38100" dist="38100" dir="2700000" algn="tl">
                    <a:srgbClr val="000000"/>
                  </a:outerShdw>
                </a:effectLst>
                <a:latin typeface="宋体" pitchFamily="2" charset="-122"/>
              </a:rPr>
              <a:t>打印机与显示屏输出的组织方法稍有不同</a:t>
            </a:r>
            <a:endParaRPr lang="zh-CN" altLang="en-US" sz="3200" b="1" dirty="0">
              <a:effectLst>
                <a:outerShdw blurRad="38100" dist="38100" dir="2700000" algn="tl">
                  <a:srgbClr val="000000"/>
                </a:outerShdw>
              </a:effectLst>
              <a:latin typeface="宋体" pitchFamily="2" charset="-122"/>
            </a:endParaRPr>
          </a:p>
          <a:p>
            <a:pPr marL="1887538" indent="-1887538">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打印机：</a:t>
            </a:r>
            <a:r>
              <a:rPr lang="zh-CN" altLang="en-US" sz="3200" b="1" dirty="0">
                <a:solidFill>
                  <a:srgbClr val="0000FF"/>
                </a:solidFill>
                <a:effectLst>
                  <a:outerShdw blurRad="38100" dist="38100" dir="2700000" algn="tl">
                    <a:srgbClr val="000000"/>
                  </a:outerShdw>
                </a:effectLst>
                <a:latin typeface="宋体" pitchFamily="2" charset="-122"/>
              </a:rPr>
              <a:t>	</a:t>
            </a:r>
            <a:r>
              <a:rPr lang="zh-CN" altLang="en-US" sz="3200" b="1" dirty="0">
                <a:effectLst>
                  <a:outerShdw blurRad="38100" dist="38100" dir="2700000" algn="tl">
                    <a:srgbClr val="FFFFFF"/>
                  </a:outerShdw>
                </a:effectLst>
                <a:latin typeface="宋体" pitchFamily="2" charset="-122"/>
              </a:rPr>
              <a:t>仅当一行字符填满或遇换行符时才输出，即整行一次性输出。当输出空格符或制表符时，作跳格处理，不用空格符填充。</a:t>
            </a:r>
            <a:endParaRPr lang="zh-CN" altLang="en-US" sz="3200" b="1" dirty="0">
              <a:effectLst>
                <a:outerShdw blurRad="38100" dist="38100" dir="2700000" algn="tl">
                  <a:srgbClr val="000000"/>
                </a:outerShdw>
              </a:effectLst>
              <a:latin typeface="宋体" pitchFamily="2" charset="-122"/>
            </a:endParaRPr>
          </a:p>
          <a:p>
            <a:pPr marL="1887538" indent="-1887538">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显示器</a:t>
            </a:r>
            <a:r>
              <a:rPr lang="zh-CN" altLang="en-US" sz="3200" b="1" dirty="0">
                <a:solidFill>
                  <a:schemeClr val="hlink"/>
                </a:solidFill>
                <a:effectLst>
                  <a:outerShdw blurRad="38100" dist="38100" dir="2700000" algn="tl">
                    <a:srgbClr val="000000"/>
                  </a:outerShdw>
                </a:effectLst>
                <a:latin typeface="宋体" pitchFamily="2" charset="-122"/>
              </a:rPr>
              <a:t> </a:t>
            </a:r>
            <a:r>
              <a:rPr lang="zh-CN" altLang="en-US" sz="3200" b="1" dirty="0">
                <a:effectLst>
                  <a:outerShdw blurRad="38100" dist="38100" dir="2700000" algn="tl">
                    <a:srgbClr val="000000"/>
                  </a:outerShdw>
                </a:effectLst>
                <a:latin typeface="宋体" pitchFamily="2" charset="-122"/>
              </a:rPr>
              <a:t> 	逐个字符输出，空格符及制表符经过位置都用空格符输出。</a:t>
            </a:r>
          </a:p>
        </p:txBody>
      </p:sp>
      <p:sp>
        <p:nvSpPr>
          <p:cNvPr id="22" name="灯片编号占位符 5"/>
          <p:cNvSpPr>
            <a:spLocks noGrp="1"/>
          </p:cNvSpPr>
          <p:nvPr>
            <p:ph type="sldNum" sz="quarter" idx="12"/>
          </p:nvPr>
        </p:nvSpPr>
        <p:spPr/>
        <p:txBody>
          <a:bodyPr/>
          <a:lstStyle/>
          <a:p>
            <a:fld id="{7B368CC9-3BCC-4C04-80B9-33DA8BE53268}" type="slidenum">
              <a:rPr lang="en-US" altLang="zh-CN"/>
              <a:pPr/>
              <a:t>21</a:t>
            </a:fld>
            <a:endParaRPr lang="en-US" altLang="zh-C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p:cNvSpPr>
            <a:spLocks noGrp="1" noChangeArrowheads="1"/>
          </p:cNvSpPr>
          <p:nvPr>
            <p:ph type="title"/>
          </p:nvPr>
        </p:nvSpPr>
        <p:spPr>
          <a:xfrm>
            <a:off x="395288" y="260350"/>
            <a:ext cx="8532812" cy="649288"/>
          </a:xfrm>
        </p:spPr>
        <p:txBody>
          <a:bodyPr>
            <a:noAutofit/>
          </a:bodyPr>
          <a:lstStyle/>
          <a:p>
            <a:r>
              <a:rPr lang="zh-CN" altLang="en-US" sz="3600" b="1" dirty="0">
                <a:solidFill>
                  <a:schemeClr val="tx1"/>
                </a:solidFill>
                <a:latin typeface="黑体" pitchFamily="2" charset="-122"/>
                <a:ea typeface="黑体" pitchFamily="2" charset="-122"/>
              </a:rPr>
              <a:t>字符型常量与字符串常量的区别</a:t>
            </a:r>
          </a:p>
        </p:txBody>
      </p:sp>
      <p:sp>
        <p:nvSpPr>
          <p:cNvPr id="477186" name="Rectangle 2"/>
          <p:cNvSpPr>
            <a:spLocks noGrp="1" noChangeArrowheads="1"/>
          </p:cNvSpPr>
          <p:nvPr>
            <p:ph idx="1"/>
          </p:nvPr>
        </p:nvSpPr>
        <p:spPr>
          <a:xfrm>
            <a:off x="381000" y="1052513"/>
            <a:ext cx="8229600" cy="5576887"/>
          </a:xfrm>
        </p:spPr>
        <p:txBody>
          <a:bodyPr/>
          <a:lstStyle/>
          <a:p>
            <a:pPr marL="0" indent="0" algn="just">
              <a:buSzTx/>
            </a:pPr>
            <a:r>
              <a:rPr lang="en-US" altLang="zh-CN" b="1" dirty="0">
                <a:effectLst>
                  <a:outerShdw blurRad="38100" dist="38100" dir="2700000" algn="tl">
                    <a:srgbClr val="000000"/>
                  </a:outerShdw>
                </a:effectLst>
                <a:latin typeface="宋体" pitchFamily="2" charset="-122"/>
              </a:rPr>
              <a:t> </a:t>
            </a:r>
            <a:r>
              <a:rPr lang="zh-CN" altLang="en-US" sz="3200" b="1" dirty="0">
                <a:latin typeface="宋体" pitchFamily="2" charset="-122"/>
              </a:rPr>
              <a:t>字符串常量用双引号括起来的字符序列。</a:t>
            </a:r>
          </a:p>
          <a:p>
            <a:pPr marL="0" indent="0" algn="just">
              <a:buNone/>
            </a:pPr>
            <a:r>
              <a:rPr lang="zh-CN" altLang="en-US" sz="3200" b="1" dirty="0">
                <a:latin typeface="宋体" pitchFamily="2" charset="-122"/>
              </a:rPr>
              <a:t>    如：</a:t>
            </a:r>
            <a:r>
              <a:rPr lang="en-US" altLang="zh-CN" sz="3200" b="1" dirty="0">
                <a:latin typeface="宋体" pitchFamily="2" charset="-122"/>
              </a:rPr>
              <a:t> </a:t>
            </a:r>
            <a:r>
              <a:rPr lang="en-US" altLang="zh-CN" sz="3200" b="1" dirty="0">
                <a:latin typeface="Times New Roman" pitchFamily="18" charset="0"/>
                <a:cs typeface="Times New Roman" pitchFamily="18" charset="0"/>
              </a:rPr>
              <a:t>”China0” ,</a:t>
            </a:r>
            <a:r>
              <a:rPr lang="zh-CN" altLang="en-US" sz="3200" b="1" dirty="0">
                <a:latin typeface="宋体" pitchFamily="2" charset="-122"/>
              </a:rPr>
              <a:t>存储形式</a:t>
            </a:r>
            <a:r>
              <a:rPr lang="en-US" altLang="zh-CN" sz="3200" b="1" dirty="0">
                <a:latin typeface="宋体" pitchFamily="2" charset="-122"/>
              </a:rPr>
              <a:t>: </a:t>
            </a:r>
          </a:p>
          <a:p>
            <a:pPr marL="0" indent="0" algn="just">
              <a:buNone/>
            </a:pPr>
            <a:r>
              <a:rPr lang="zh-CN" altLang="en-US" sz="3200" b="1" dirty="0">
                <a:solidFill>
                  <a:srgbClr val="CC0066"/>
                </a:solidFill>
                <a:latin typeface="宋体" pitchFamily="2" charset="-122"/>
              </a:rPr>
              <a:t>  注意：</a:t>
            </a:r>
            <a:r>
              <a:rPr lang="zh-CN" altLang="en-US" sz="3200" b="1" dirty="0">
                <a:latin typeface="宋体" pitchFamily="2" charset="-122"/>
              </a:rPr>
              <a:t>字符型常量</a:t>
            </a:r>
            <a:r>
              <a:rPr lang="en-US" altLang="zh-CN" sz="3200" b="1" dirty="0">
                <a:latin typeface="Courier New"/>
              </a:rPr>
              <a:t>’</a:t>
            </a:r>
            <a:r>
              <a:rPr lang="en-US" altLang="zh-CN" sz="3200" b="1" dirty="0">
                <a:latin typeface="宋体" pitchFamily="2" charset="-122"/>
              </a:rPr>
              <a:t>a</a:t>
            </a:r>
            <a:r>
              <a:rPr lang="en-US" altLang="zh-CN" sz="3200" b="1" dirty="0">
                <a:latin typeface="Courier New"/>
              </a:rPr>
              <a:t>’</a:t>
            </a:r>
            <a:r>
              <a:rPr lang="zh-CN" altLang="en-US" sz="3200" b="1" dirty="0">
                <a:latin typeface="宋体" pitchFamily="2" charset="-122"/>
              </a:rPr>
              <a:t>与字符串常量</a:t>
            </a:r>
            <a:r>
              <a:rPr lang="en-US" altLang="zh-CN" sz="3200" b="1" dirty="0">
                <a:latin typeface="Times New Roman" pitchFamily="18" charset="0"/>
                <a:cs typeface="Times New Roman" pitchFamily="18" charset="0"/>
              </a:rPr>
              <a:t>”a”</a:t>
            </a:r>
            <a:r>
              <a:rPr lang="zh-CN" altLang="en-US" sz="3200" b="1" dirty="0">
                <a:latin typeface="宋体" pitchFamily="2" charset="-122"/>
              </a:rPr>
              <a:t>不同，如代码：</a:t>
            </a:r>
            <a:r>
              <a:rPr lang="en-US" altLang="zh-CN" sz="3200" b="1" dirty="0">
                <a:latin typeface="宋体" pitchFamily="2" charset="-122"/>
              </a:rPr>
              <a:t>char c=”</a:t>
            </a:r>
            <a:r>
              <a:rPr lang="en-US" altLang="zh-CN" sz="3200" b="1" dirty="0" err="1">
                <a:latin typeface="宋体" pitchFamily="2" charset="-122"/>
              </a:rPr>
              <a:t>a”是</a:t>
            </a:r>
            <a:r>
              <a:rPr lang="zh-CN" altLang="en-US" sz="3200" b="1" dirty="0">
                <a:latin typeface="宋体" pitchFamily="2" charset="-122"/>
              </a:rPr>
              <a:t>错误的。</a:t>
            </a:r>
          </a:p>
          <a:p>
            <a:pPr marL="0" indent="0" algn="just"/>
            <a:r>
              <a:rPr lang="zh-CN" altLang="en-US" sz="3200" b="1" dirty="0">
                <a:latin typeface="宋体" pitchFamily="2" charset="-122"/>
              </a:rPr>
              <a:t>字符型数据可与整型数据混合运算</a:t>
            </a:r>
            <a:endParaRPr lang="en-US" altLang="zh-CN" sz="3200" b="1" dirty="0">
              <a:latin typeface="宋体" pitchFamily="2" charset="-122"/>
            </a:endParaRPr>
          </a:p>
          <a:p>
            <a:pPr marL="0" indent="0" algn="just">
              <a:buNone/>
            </a:pPr>
            <a:r>
              <a:rPr lang="en-US" altLang="zh-CN" sz="3600" b="1" dirty="0">
                <a:solidFill>
                  <a:srgbClr val="0000FF"/>
                </a:solidFill>
                <a:latin typeface="宋体" pitchFamily="2" charset="-122"/>
              </a:rPr>
              <a:t> </a:t>
            </a:r>
            <a:r>
              <a:rPr lang="zh-CN" altLang="en-US" sz="3200" b="1" dirty="0">
                <a:latin typeface="宋体" pitchFamily="2" charset="-122"/>
              </a:rPr>
              <a:t>字符型数据以 </a:t>
            </a:r>
            <a:r>
              <a:rPr lang="en-US" altLang="zh-CN" sz="3200" b="1" dirty="0">
                <a:latin typeface="宋体" pitchFamily="2" charset="-122"/>
              </a:rPr>
              <a:t>ASCII </a:t>
            </a:r>
            <a:r>
              <a:rPr lang="zh-CN" altLang="en-US" sz="3200" b="1" dirty="0">
                <a:latin typeface="宋体" pitchFamily="2" charset="-122"/>
              </a:rPr>
              <a:t>代码的二进制形式存储，与整数的存储形式相类似。因此，在Ｃ程序中，字符型数据和整型数据之间可以通用，字符型数据与整型数据可混合运算</a:t>
            </a:r>
            <a:endParaRPr lang="zh-CN" altLang="en-US" sz="3600" b="1" dirty="0">
              <a:latin typeface="宋体" pitchFamily="2" charset="-122"/>
            </a:endParaRPr>
          </a:p>
        </p:txBody>
      </p:sp>
      <p:sp>
        <p:nvSpPr>
          <p:cNvPr id="22" name="灯片编号占位符 5"/>
          <p:cNvSpPr>
            <a:spLocks noGrp="1"/>
          </p:cNvSpPr>
          <p:nvPr>
            <p:ph type="sldNum" sz="quarter" idx="12"/>
          </p:nvPr>
        </p:nvSpPr>
        <p:spPr/>
        <p:txBody>
          <a:bodyPr/>
          <a:lstStyle/>
          <a:p>
            <a:fld id="{7B368CC9-3BCC-4C04-80B9-33DA8BE53268}" type="slidenum">
              <a:rPr lang="en-US" altLang="zh-CN"/>
              <a:pPr/>
              <a:t>22</a:t>
            </a:fld>
            <a:endParaRPr lang="en-US" altLang="zh-CN"/>
          </a:p>
        </p:txBody>
      </p:sp>
      <p:graphicFrame>
        <p:nvGraphicFramePr>
          <p:cNvPr id="477188" name="Group 4"/>
          <p:cNvGraphicFramePr>
            <a:graphicFrameLocks noGrp="1"/>
          </p:cNvGraphicFramePr>
          <p:nvPr>
            <p:extLst>
              <p:ext uri="{D42A27DB-BD31-4B8C-83A1-F6EECF244321}">
                <p14:modId xmlns:p14="http://schemas.microsoft.com/office/powerpoint/2010/main" val="15494210"/>
              </p:ext>
            </p:extLst>
          </p:nvPr>
        </p:nvGraphicFramePr>
        <p:xfrm>
          <a:off x="5004048" y="764704"/>
          <a:ext cx="3960438" cy="457200"/>
        </p:xfrm>
        <a:graphic>
          <a:graphicData uri="http://schemas.openxmlformats.org/drawingml/2006/table">
            <a:tbl>
              <a:tblPr/>
              <a:tblGrid>
                <a:gridCol w="661952">
                  <a:extLst>
                    <a:ext uri="{9D8B030D-6E8A-4147-A177-3AD203B41FA5}">
                      <a16:colId xmlns:a16="http://schemas.microsoft.com/office/drawing/2014/main" val="20000"/>
                    </a:ext>
                  </a:extLst>
                </a:gridCol>
                <a:gridCol w="695752">
                  <a:extLst>
                    <a:ext uri="{9D8B030D-6E8A-4147-A177-3AD203B41FA5}">
                      <a16:colId xmlns:a16="http://schemas.microsoft.com/office/drawing/2014/main" val="20001"/>
                    </a:ext>
                  </a:extLst>
                </a:gridCol>
                <a:gridCol w="566179">
                  <a:extLst>
                    <a:ext uri="{9D8B030D-6E8A-4147-A177-3AD203B41FA5}">
                      <a16:colId xmlns:a16="http://schemas.microsoft.com/office/drawing/2014/main" val="20002"/>
                    </a:ext>
                  </a:extLst>
                </a:gridCol>
                <a:gridCol w="566178">
                  <a:extLst>
                    <a:ext uri="{9D8B030D-6E8A-4147-A177-3AD203B41FA5}">
                      <a16:colId xmlns:a16="http://schemas.microsoft.com/office/drawing/2014/main" val="20003"/>
                    </a:ext>
                  </a:extLst>
                </a:gridCol>
                <a:gridCol w="676035">
                  <a:extLst>
                    <a:ext uri="{9D8B030D-6E8A-4147-A177-3AD203B41FA5}">
                      <a16:colId xmlns:a16="http://schemas.microsoft.com/office/drawing/2014/main" val="20004"/>
                    </a:ext>
                  </a:extLst>
                </a:gridCol>
                <a:gridCol w="794342">
                  <a:extLst>
                    <a:ext uri="{9D8B030D-6E8A-4147-A177-3AD203B41FA5}">
                      <a16:colId xmlns:a16="http://schemas.microsoft.com/office/drawing/2014/main" val="20005"/>
                    </a:ext>
                  </a:extLst>
                </a:gridCol>
              </a:tblGrid>
              <a:tr h="3851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Grp="1" noChangeArrowheads="1"/>
          </p:cNvSpPr>
          <p:nvPr>
            <p:ph type="title"/>
          </p:nvPr>
        </p:nvSpPr>
        <p:spPr>
          <a:xfrm>
            <a:off x="395288" y="404813"/>
            <a:ext cx="8532812" cy="792162"/>
          </a:xfrm>
        </p:spPr>
        <p:txBody>
          <a:bodyPr/>
          <a:lstStyle/>
          <a:p>
            <a:r>
              <a:rPr lang="en-US" altLang="zh-CN" sz="3600" b="0" dirty="0">
                <a:solidFill>
                  <a:schemeClr val="tx1"/>
                </a:solidFill>
                <a:latin typeface="黑体" pitchFamily="2" charset="-122"/>
                <a:ea typeface="黑体" pitchFamily="2" charset="-122"/>
              </a:rPr>
              <a:t>【</a:t>
            </a:r>
            <a:r>
              <a:rPr lang="zh-CN" altLang="en-US" sz="3600" b="0" dirty="0">
                <a:solidFill>
                  <a:schemeClr val="tx1"/>
                </a:solidFill>
                <a:latin typeface="黑体" pitchFamily="2" charset="-122"/>
                <a:ea typeface="黑体" pitchFamily="2" charset="-122"/>
              </a:rPr>
              <a:t>例</a:t>
            </a:r>
            <a:r>
              <a:rPr lang="en-US" altLang="zh-CN" sz="3600" b="0" dirty="0">
                <a:solidFill>
                  <a:schemeClr val="tx1"/>
                </a:solidFill>
                <a:latin typeface="黑体" pitchFamily="2" charset="-122"/>
                <a:ea typeface="黑体" pitchFamily="2" charset="-122"/>
              </a:rPr>
              <a:t>2.1】</a:t>
            </a:r>
            <a:r>
              <a:rPr lang="zh-CN" altLang="en-US" sz="3600" b="0" dirty="0">
                <a:solidFill>
                  <a:schemeClr val="tx1"/>
                </a:solidFill>
                <a:latin typeface="黑体" pitchFamily="2" charset="-122"/>
                <a:ea typeface="黑体" pitchFamily="2" charset="-122"/>
              </a:rPr>
              <a:t>字符型数据与整型数据通用</a:t>
            </a:r>
            <a:r>
              <a:rPr lang="zh-CN" altLang="en-US" sz="3600" b="0" dirty="0">
                <a:solidFill>
                  <a:schemeClr val="tx1"/>
                </a:solidFill>
                <a:latin typeface="宋体" pitchFamily="2" charset="-122"/>
              </a:rPr>
              <a:t>。</a:t>
            </a:r>
          </a:p>
        </p:txBody>
      </p:sp>
      <p:sp>
        <p:nvSpPr>
          <p:cNvPr id="478210" name="Rectangle 2"/>
          <p:cNvSpPr>
            <a:spLocks noGrp="1" noChangeArrowheads="1"/>
          </p:cNvSpPr>
          <p:nvPr>
            <p:ph idx="1"/>
          </p:nvPr>
        </p:nvSpPr>
        <p:spPr>
          <a:xfrm>
            <a:off x="468313" y="1125538"/>
            <a:ext cx="8229600" cy="5400675"/>
          </a:xfrm>
        </p:spPr>
        <p:txBody>
          <a:bodyPr/>
          <a:lstStyle/>
          <a:p>
            <a:pPr algn="just">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b="1" dirty="0">
                <a:effectLst>
                  <a:outerShdw blurRad="38100" dist="38100" dir="2700000" algn="tl">
                    <a:srgbClr val="000000"/>
                  </a:outerShdw>
                </a:effectLst>
                <a:latin typeface="宋体" pitchFamily="2" charset="-122"/>
              </a:rPr>
              <a:t>&gt;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char c1, c2; /* </a:t>
            </a:r>
            <a:r>
              <a:rPr lang="zh-CN" altLang="en-US" b="1" dirty="0">
                <a:effectLst>
                  <a:outerShdw blurRad="38100" dist="38100" dir="2700000" algn="tl">
                    <a:srgbClr val="000000"/>
                  </a:outerShdw>
                </a:effectLst>
                <a:latin typeface="宋体" pitchFamily="2" charset="-122"/>
              </a:rPr>
              <a:t>定义两个字符型变量    *</a:t>
            </a:r>
            <a:r>
              <a:rPr lang="en-US" altLang="zh-CN" b="1" dirty="0">
                <a:effectLst>
                  <a:outerShdw blurRad="38100" dist="38100" dir="2700000" algn="tl">
                    <a:srgbClr val="000000"/>
                  </a:outerShdw>
                </a:effectLst>
                <a:latin typeface="宋体" pitchFamily="2" charset="-122"/>
              </a:rPr>
              <a: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c1 = 97;    /* </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a</a:t>
            </a:r>
            <a:r>
              <a:rPr lang="en-US" altLang="zh-CN" b="1" dirty="0">
                <a:effectLst>
                  <a:outerShdw blurRad="38100" dist="38100" dir="2700000" algn="tl">
                    <a:srgbClr val="000000"/>
                  </a:outerShdw>
                </a:effectLst>
                <a:latin typeface="Courier New"/>
              </a:rPr>
              <a:t>’</a:t>
            </a:r>
            <a:r>
              <a:rPr lang="zh-CN" altLang="en-US" b="1" dirty="0">
                <a:effectLst>
                  <a:outerShdw blurRad="38100" dist="38100" dir="2700000" algn="tl">
                    <a:srgbClr val="000000"/>
                  </a:outerShdw>
                </a:effectLst>
                <a:latin typeface="宋体" pitchFamily="2" charset="-122"/>
              </a:rPr>
              <a:t>的 </a:t>
            </a:r>
            <a:r>
              <a:rPr lang="en-US" altLang="zh-CN" b="1" dirty="0">
                <a:effectLst>
                  <a:outerShdw blurRad="38100" dist="38100" dir="2700000" algn="tl">
                    <a:srgbClr val="000000"/>
                  </a:outerShdw>
                </a:effectLst>
                <a:latin typeface="宋体" pitchFamily="2" charset="-122"/>
              </a:rPr>
              <a:t>ASCII </a:t>
            </a:r>
            <a:r>
              <a:rPr lang="zh-CN" altLang="en-US" b="1" dirty="0">
                <a:effectLst>
                  <a:outerShdw blurRad="38100" dist="38100" dir="2700000" algn="tl">
                    <a:srgbClr val="000000"/>
                  </a:outerShdw>
                </a:effectLst>
                <a:latin typeface="宋体" pitchFamily="2" charset="-122"/>
              </a:rPr>
              <a:t>码值为 </a:t>
            </a:r>
            <a:r>
              <a:rPr lang="en-US" altLang="zh-CN" b="1" dirty="0">
                <a:effectLst>
                  <a:outerShdw blurRad="38100" dist="38100" dir="2700000" algn="tl">
                    <a:srgbClr val="000000"/>
                  </a:outerShdw>
                </a:effectLst>
                <a:latin typeface="宋体" pitchFamily="2" charset="-122"/>
              </a:rPr>
              <a:t>97  */</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c2 = c1+1; /* </a:t>
            </a:r>
            <a:r>
              <a:rPr lang="zh-CN" altLang="en-US" b="1" dirty="0">
                <a:effectLst>
                  <a:outerShdw blurRad="38100" dist="38100" dir="2700000" algn="tl">
                    <a:srgbClr val="000000"/>
                  </a:outerShdw>
                </a:effectLst>
                <a:latin typeface="宋体" pitchFamily="2" charset="-122"/>
              </a:rPr>
              <a:t>字符型与整型数据混合运算 *</a:t>
            </a:r>
            <a:r>
              <a:rPr lang="en-US" altLang="zh-CN" b="1" dirty="0">
                <a:effectLst>
                  <a:outerShdw blurRad="38100" dist="38100" dir="2700000" algn="tl">
                    <a:srgbClr val="000000"/>
                  </a:outerShdw>
                </a:effectLst>
                <a:latin typeface="宋体" pitchFamily="2" charset="-122"/>
              </a:rPr>
              <a: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printf</a:t>
            </a:r>
            <a:r>
              <a:rPr lang="en-US" altLang="zh-CN" b="1" dirty="0">
                <a:effectLst>
                  <a:outerShdw blurRad="38100" dist="38100" dir="2700000" algn="tl">
                    <a:srgbClr val="000000"/>
                  </a:outerShdw>
                </a:effectLst>
                <a:latin typeface="宋体" pitchFamily="2" charset="-122"/>
              </a:rPr>
              <a:t>("c1 = %c, c2 = %c\n", c1, c2);</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printf</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c's</a:t>
            </a:r>
            <a:r>
              <a:rPr lang="en-US" altLang="zh-CN" b="1" dirty="0">
                <a:effectLst>
                  <a:outerShdw blurRad="38100" dist="38100" dir="2700000" algn="tl">
                    <a:srgbClr val="000000"/>
                  </a:outerShdw>
                </a:effectLst>
                <a:latin typeface="宋体" pitchFamily="2" charset="-122"/>
              </a:rPr>
              <a:t> ASCII code = %d\n", c2, c2);</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p>
          <a:p>
            <a:pPr algn="just">
              <a:spcBef>
                <a:spcPct val="10000"/>
              </a:spcBef>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程序输出：</a:t>
            </a:r>
          </a:p>
          <a:p>
            <a:pPr algn="just">
              <a:spcBef>
                <a:spcPct val="10000"/>
              </a:spcBef>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c1 = a, c2 = b</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b's</a:t>
            </a:r>
            <a:r>
              <a:rPr lang="en-US" altLang="zh-CN" b="1" dirty="0">
                <a:effectLst>
                  <a:outerShdw blurRad="38100" dist="38100" dir="2700000" algn="tl">
                    <a:srgbClr val="000000"/>
                  </a:outerShdw>
                </a:effectLst>
                <a:latin typeface="宋体" pitchFamily="2" charset="-122"/>
              </a:rPr>
              <a:t> ASCII code = 98</a:t>
            </a:r>
          </a:p>
        </p:txBody>
      </p:sp>
      <p:sp>
        <p:nvSpPr>
          <p:cNvPr id="7" name="灯片编号占位符 5"/>
          <p:cNvSpPr>
            <a:spLocks noGrp="1"/>
          </p:cNvSpPr>
          <p:nvPr>
            <p:ph type="sldNum" sz="quarter" idx="12"/>
          </p:nvPr>
        </p:nvSpPr>
        <p:spPr/>
        <p:txBody>
          <a:bodyPr/>
          <a:lstStyle/>
          <a:p>
            <a:fld id="{5C64737C-6A14-4D06-9917-76838D304F02}" type="slidenum">
              <a:rPr lang="en-US" altLang="zh-CN"/>
              <a:pPr/>
              <a:t>23</a:t>
            </a:fld>
            <a:endParaRPr lang="en-US" altLang="zh-C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BBF1BA-36D2-2CF5-5F84-009F6B92FB49}"/>
              </a:ext>
            </a:extLst>
          </p:cNvPr>
          <p:cNvSpPr>
            <a:spLocks noGrp="1"/>
          </p:cNvSpPr>
          <p:nvPr>
            <p:ph type="title"/>
          </p:nvPr>
        </p:nvSpPr>
        <p:spPr/>
        <p:txBody>
          <a:bodyPr>
            <a:normAutofit/>
          </a:bodyPr>
          <a:lstStyle/>
          <a:p>
            <a:r>
              <a:rPr lang="en-US" altLang="zh-CN" dirty="0"/>
              <a:t>C</a:t>
            </a:r>
            <a:r>
              <a:rPr lang="zh-CN" altLang="en-US" dirty="0"/>
              <a:t>语言标准中数据类型的引入</a:t>
            </a:r>
          </a:p>
        </p:txBody>
      </p:sp>
      <p:sp>
        <p:nvSpPr>
          <p:cNvPr id="3" name="内容占位符 2">
            <a:extLst>
              <a:ext uri="{FF2B5EF4-FFF2-40B4-BE49-F238E27FC236}">
                <a16:creationId xmlns:a16="http://schemas.microsoft.com/office/drawing/2014/main" id="{45D24857-4783-FEB4-EAFD-431A29D6EAE2}"/>
              </a:ext>
            </a:extLst>
          </p:cNvPr>
          <p:cNvSpPr>
            <a:spLocks noGrp="1"/>
          </p:cNvSpPr>
          <p:nvPr>
            <p:ph idx="1"/>
          </p:nvPr>
        </p:nvSpPr>
        <p:spPr/>
        <p:txBody>
          <a:bodyPr/>
          <a:lstStyle/>
          <a:p>
            <a:r>
              <a:rPr lang="zh-CN" altLang="en-US" dirty="0"/>
              <a:t>本教材基于</a:t>
            </a:r>
            <a:r>
              <a:rPr lang="en-US" altLang="zh-CN" dirty="0"/>
              <a:t>C90</a:t>
            </a:r>
            <a:r>
              <a:rPr lang="zh-CN" altLang="en-US" dirty="0"/>
              <a:t>，而后续</a:t>
            </a:r>
            <a:r>
              <a:rPr lang="en-US" altLang="zh-CN" dirty="0"/>
              <a:t>C</a:t>
            </a:r>
            <a:r>
              <a:rPr lang="zh-CN" altLang="en-US" dirty="0"/>
              <a:t>语言的规范还包括</a:t>
            </a:r>
            <a:r>
              <a:rPr lang="en-US" altLang="zh-CN" dirty="0"/>
              <a:t>C99</a:t>
            </a:r>
            <a:r>
              <a:rPr lang="zh-CN" altLang="en-US" dirty="0"/>
              <a:t>，</a:t>
            </a:r>
            <a:r>
              <a:rPr lang="en-US" altLang="zh-CN" dirty="0"/>
              <a:t>C11</a:t>
            </a:r>
            <a:r>
              <a:rPr lang="zh-CN" altLang="en-US" dirty="0"/>
              <a:t>，</a:t>
            </a:r>
            <a:r>
              <a:rPr lang="en-US" altLang="zh-CN" dirty="0"/>
              <a:t>C18</a:t>
            </a:r>
            <a:r>
              <a:rPr lang="zh-CN" altLang="en-US" dirty="0"/>
              <a:t>，</a:t>
            </a:r>
            <a:r>
              <a:rPr lang="en-US" altLang="zh-CN" dirty="0"/>
              <a:t>C23</a:t>
            </a:r>
          </a:p>
          <a:p>
            <a:endParaRPr lang="en-US" altLang="zh-CN" dirty="0"/>
          </a:p>
          <a:p>
            <a:r>
              <a:rPr lang="zh-CN" altLang="en-US" dirty="0"/>
              <a:t>后续版本中还引入了比如更长的整数类型（</a:t>
            </a:r>
            <a:r>
              <a:rPr lang="en-US" altLang="zh-CN" dirty="0"/>
              <a:t>long </a:t>
            </a:r>
            <a:r>
              <a:rPr lang="en-US" altLang="zh-CN" dirty="0" err="1"/>
              <a:t>long</a:t>
            </a:r>
            <a:r>
              <a:rPr lang="zh-CN" altLang="en-US" dirty="0"/>
              <a:t>），精确字节数的整数类型（</a:t>
            </a:r>
            <a:r>
              <a:rPr lang="en-US" altLang="zh-CN" dirty="0"/>
              <a:t>uint64_t,…</a:t>
            </a:r>
            <a:r>
              <a:rPr lang="zh-CN" altLang="en-US" dirty="0"/>
              <a:t>），布尔类型（</a:t>
            </a:r>
            <a:r>
              <a:rPr lang="en-US" altLang="zh-CN" dirty="0"/>
              <a:t>bool</a:t>
            </a:r>
            <a:r>
              <a:rPr lang="zh-CN" altLang="en-US" dirty="0"/>
              <a:t>），复数类型等</a:t>
            </a:r>
            <a:endParaRPr lang="en-US" altLang="zh-CN" dirty="0"/>
          </a:p>
          <a:p>
            <a:endParaRPr lang="en-US" altLang="zh-CN" dirty="0"/>
          </a:p>
          <a:p>
            <a:r>
              <a:rPr lang="zh-CN" altLang="en-US" dirty="0"/>
              <a:t>由于编译器的不同，支持的类型会有所区别</a:t>
            </a:r>
          </a:p>
        </p:txBody>
      </p:sp>
    </p:spTree>
    <p:extLst>
      <p:ext uri="{BB962C8B-B14F-4D97-AF65-F5344CB8AC3E}">
        <p14:creationId xmlns:p14="http://schemas.microsoft.com/office/powerpoint/2010/main" val="3984895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304800" y="228600"/>
            <a:ext cx="8610600" cy="685800"/>
          </a:xfrm>
        </p:spPr>
        <p:txBody>
          <a:bodyPr/>
          <a:lstStyle/>
          <a:p>
            <a:r>
              <a:rPr lang="en-US" altLang="zh-CN" sz="3600" dirty="0">
                <a:solidFill>
                  <a:schemeClr val="tx1"/>
                </a:solidFill>
                <a:latin typeface="黑体" pitchFamily="2" charset="-122"/>
                <a:ea typeface="黑体" pitchFamily="2" charset="-122"/>
              </a:rPr>
              <a:t>2.2 </a:t>
            </a:r>
            <a:r>
              <a:rPr lang="zh-CN" altLang="en-US" sz="3600" dirty="0">
                <a:solidFill>
                  <a:schemeClr val="tx1"/>
                </a:solidFill>
                <a:latin typeface="黑体" pitchFamily="2" charset="-122"/>
                <a:ea typeface="黑体" pitchFamily="2" charset="-122"/>
              </a:rPr>
              <a:t>输入和输出基础</a:t>
            </a:r>
            <a:endParaRPr lang="zh-CN" altLang="en-US" sz="4800" dirty="0">
              <a:solidFill>
                <a:schemeClr val="tx1"/>
              </a:solidFill>
              <a:latin typeface="黑体" pitchFamily="2" charset="-122"/>
              <a:ea typeface="黑体" pitchFamily="2" charset="-122"/>
            </a:endParaRPr>
          </a:p>
        </p:txBody>
      </p:sp>
      <p:sp>
        <p:nvSpPr>
          <p:cNvPr id="480259" name="Rectangle 3"/>
          <p:cNvSpPr>
            <a:spLocks noGrp="1" noChangeArrowheads="1"/>
          </p:cNvSpPr>
          <p:nvPr>
            <p:ph idx="1"/>
          </p:nvPr>
        </p:nvSpPr>
        <p:spPr>
          <a:xfrm>
            <a:off x="539750" y="1125538"/>
            <a:ext cx="8137525" cy="5327650"/>
          </a:xfrm>
        </p:spPr>
        <p:txBody>
          <a:bodyPr>
            <a:normAutofit/>
          </a:bodyPr>
          <a:lstStyle/>
          <a:p>
            <a:pPr marL="533400" indent="-533400" algn="just">
              <a:buFont typeface="Monotype Sorts" pitchFamily="2" charset="2"/>
              <a:buNone/>
            </a:pPr>
            <a:r>
              <a:rPr lang="zh-CN" altLang="en-US" sz="4000" b="1" dirty="0">
                <a:effectLst>
                  <a:outerShdw blurRad="38100" dist="38100" dir="2700000" algn="tl">
                    <a:srgbClr val="000000"/>
                  </a:outerShdw>
                </a:effectLst>
                <a:latin typeface="宋体" pitchFamily="2" charset="-122"/>
              </a:rPr>
              <a:t>单个字符输出函数</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格式：  </a:t>
            </a:r>
            <a:r>
              <a:rPr lang="en-US" altLang="zh-CN" sz="3600" b="1" dirty="0" err="1">
                <a:effectLst>
                  <a:outerShdw blurRad="38100" dist="38100" dir="2700000" algn="tl">
                    <a:srgbClr val="000000"/>
                  </a:outerShdw>
                </a:effectLst>
                <a:latin typeface="宋体" pitchFamily="2" charset="-122"/>
              </a:rPr>
              <a:t>putchar</a:t>
            </a:r>
            <a:r>
              <a:rPr lang="en-US" altLang="zh-CN" sz="3600" b="1" dirty="0">
                <a:effectLst>
                  <a:outerShdw blurRad="38100" dist="38100" dir="2700000" algn="tl">
                    <a:srgbClr val="000000"/>
                  </a:outerShdw>
                </a:effectLst>
                <a:latin typeface="宋体" pitchFamily="2" charset="-122"/>
              </a:rPr>
              <a:t>(</a:t>
            </a:r>
            <a:r>
              <a:rPr lang="en-US" altLang="zh-CN" sz="3600" b="1" dirty="0" err="1">
                <a:effectLst>
                  <a:outerShdw blurRad="38100" dist="38100" dir="2700000" algn="tl">
                    <a:srgbClr val="000000"/>
                  </a:outerShdw>
                </a:effectLst>
                <a:latin typeface="宋体" pitchFamily="2" charset="-122"/>
              </a:rPr>
              <a:t>ch</a:t>
            </a:r>
            <a:r>
              <a:rPr lang="en-US" altLang="zh-CN" sz="3600" b="1" dirty="0">
                <a:effectLst>
                  <a:outerShdw blurRad="38100" dist="38100" dir="2700000" algn="tl">
                    <a:srgbClr val="000000"/>
                  </a:outerShdw>
                </a:effectLst>
                <a:latin typeface="宋体" pitchFamily="2" charset="-122"/>
              </a:rPr>
              <a:t>)</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功能：</a:t>
            </a:r>
            <a:r>
              <a:rPr lang="zh-CN" altLang="en-US" sz="2800" b="1" dirty="0">
                <a:effectLst>
                  <a:outerShdw blurRad="38100" dist="38100" dir="2700000" algn="tl">
                    <a:srgbClr val="000000"/>
                  </a:outerShdw>
                </a:effectLst>
              </a:rPr>
              <a:t>将一个字符输出到标准输出设备</a:t>
            </a:r>
            <a:r>
              <a:rPr lang="en-US" altLang="zh-CN" sz="2800" b="1" dirty="0">
                <a:effectLst>
                  <a:outerShdw blurRad="38100" dist="38100" dir="2700000" algn="tl">
                    <a:srgbClr val="000000"/>
                  </a:outerShdw>
                </a:effectLst>
              </a:rPr>
              <a:t>(</a:t>
            </a:r>
            <a:r>
              <a:rPr lang="zh-CN" altLang="en-US" sz="2800" b="1" dirty="0">
                <a:effectLst>
                  <a:outerShdw blurRad="38100" dist="38100" dir="2700000" algn="tl">
                    <a:srgbClr val="000000"/>
                  </a:outerShdw>
                </a:effectLst>
                <a:latin typeface="宋体" pitchFamily="2" charset="-122"/>
              </a:rPr>
              <a:t>显示器</a:t>
            </a:r>
            <a:r>
              <a:rPr lang="en-US" altLang="zh-CN" sz="2800" b="1" dirty="0">
                <a:effectLst>
                  <a:outerShdw blurRad="38100" dist="38100" dir="2700000" algn="tl">
                    <a:srgbClr val="000000"/>
                  </a:outerShdw>
                </a:effectLst>
                <a:latin typeface="宋体" pitchFamily="2" charset="-122"/>
              </a:rPr>
              <a:t>)</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      </a:t>
            </a:r>
            <a:r>
              <a:rPr lang="zh-CN" altLang="en-US" sz="2800" b="1" dirty="0">
                <a:effectLst>
                  <a:outerShdw blurRad="38100" dist="38100" dir="2700000" algn="tl">
                    <a:srgbClr val="000000"/>
                  </a:outerShdw>
                </a:effectLst>
                <a:latin typeface="宋体" pitchFamily="2" charset="-122"/>
              </a:rPr>
              <a:t>输出</a:t>
            </a:r>
            <a:r>
              <a:rPr lang="en-US" altLang="zh-CN" sz="2800" b="1" dirty="0">
                <a:effectLst>
                  <a:outerShdw blurRad="38100" dist="38100" dir="2700000" algn="tl">
                    <a:srgbClr val="000000"/>
                  </a:outerShdw>
                </a:effectLst>
                <a:latin typeface="宋体" pitchFamily="2" charset="-122"/>
              </a:rPr>
              <a:t>ASCII</a:t>
            </a:r>
            <a:r>
              <a:rPr lang="zh-CN" altLang="en-US" sz="2800" b="1" dirty="0">
                <a:effectLst>
                  <a:outerShdw blurRad="38100" dist="38100" dir="2700000" algn="tl">
                    <a:srgbClr val="000000"/>
                  </a:outerShdw>
                </a:effectLst>
                <a:latin typeface="宋体" pitchFamily="2" charset="-122"/>
              </a:rPr>
              <a:t>代码为</a:t>
            </a:r>
            <a:r>
              <a:rPr lang="en-US" altLang="zh-CN" sz="2800" b="1" dirty="0" err="1">
                <a:effectLst>
                  <a:outerShdw blurRad="38100" dist="38100" dir="2700000" algn="tl">
                    <a:srgbClr val="000000"/>
                  </a:outerShdw>
                </a:effectLst>
                <a:latin typeface="宋体" pitchFamily="2" charset="-122"/>
              </a:rPr>
              <a:t>ch</a:t>
            </a:r>
            <a:r>
              <a:rPr lang="zh-CN" altLang="en-US" sz="2800" b="1" dirty="0">
                <a:effectLst>
                  <a:outerShdw blurRad="38100" dist="38100" dir="2700000" algn="tl">
                    <a:srgbClr val="000000"/>
                  </a:outerShdw>
                </a:effectLst>
                <a:latin typeface="宋体" pitchFamily="2" charset="-122"/>
              </a:rPr>
              <a:t>值的字符。</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说明：</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1. </a:t>
            </a:r>
            <a:r>
              <a:rPr lang="en-US" altLang="zh-CN" sz="2800" b="1" dirty="0" err="1">
                <a:effectLst>
                  <a:outerShdw blurRad="38100" dist="38100" dir="2700000" algn="tl">
                    <a:srgbClr val="000000"/>
                  </a:outerShdw>
                </a:effectLst>
                <a:latin typeface="宋体" pitchFamily="2" charset="-122"/>
              </a:rPr>
              <a:t>ch</a:t>
            </a:r>
            <a:r>
              <a:rPr lang="en-US" altLang="zh-CN" sz="2800" b="1" dirty="0">
                <a:effectLst>
                  <a:outerShdw blurRad="38100" dist="38100" dir="2700000" algn="tl">
                    <a:srgbClr val="000000"/>
                  </a:outerShdw>
                </a:effectLst>
                <a:latin typeface="宋体" pitchFamily="2" charset="-122"/>
              </a:rPr>
              <a:t> </a:t>
            </a:r>
            <a:r>
              <a:rPr lang="zh-CN" altLang="en-US" sz="2800" b="1" dirty="0">
                <a:effectLst>
                  <a:outerShdw blurRad="38100" dist="38100" dir="2700000" algn="tl">
                    <a:srgbClr val="000000"/>
                  </a:outerShdw>
                </a:effectLst>
                <a:latin typeface="宋体" pitchFamily="2" charset="-122"/>
              </a:rPr>
              <a:t>是</a:t>
            </a:r>
            <a:r>
              <a:rPr lang="zh-CN" altLang="en-US" sz="2800" b="1" dirty="0">
                <a:solidFill>
                  <a:srgbClr val="C00000"/>
                </a:solidFill>
                <a:effectLst>
                  <a:outerShdw blurRad="38100" dist="38100" dir="2700000" algn="tl">
                    <a:srgbClr val="000000"/>
                  </a:outerShdw>
                </a:effectLst>
                <a:latin typeface="宋体" pitchFamily="2" charset="-122"/>
              </a:rPr>
              <a:t>形参</a:t>
            </a:r>
            <a:r>
              <a:rPr lang="zh-CN" altLang="en-US" sz="2800" b="1" dirty="0">
                <a:effectLst>
                  <a:outerShdw blurRad="38100" dist="38100" dir="2700000" algn="tl">
                    <a:srgbClr val="000000"/>
                  </a:outerShdw>
                </a:effectLst>
                <a:latin typeface="宋体" pitchFamily="2" charset="-122"/>
              </a:rPr>
              <a:t>，可以是字符型常量、整型常量</a:t>
            </a:r>
            <a:r>
              <a:rPr lang="en-US" altLang="zh-CN" sz="2800" b="1" dirty="0">
                <a:effectLst>
                  <a:outerShdw blurRad="38100" dist="38100" dir="2700000" algn="tl">
                    <a:srgbClr val="000000"/>
                  </a:outerShdw>
                </a:effectLst>
                <a:latin typeface="宋体" pitchFamily="2" charset="-122"/>
              </a:rPr>
              <a:t>(</a:t>
            </a:r>
            <a:r>
              <a:rPr lang="zh-CN" altLang="en-US" sz="2800" b="1" dirty="0">
                <a:effectLst>
                  <a:outerShdw blurRad="38100" dist="38100" dir="2700000" algn="tl">
                    <a:srgbClr val="000000"/>
                  </a:outerShdw>
                </a:effectLst>
                <a:latin typeface="宋体" pitchFamily="2" charset="-122"/>
              </a:rPr>
              <a:t>包括控制字符和转义字符</a:t>
            </a:r>
            <a:r>
              <a:rPr lang="en-US" altLang="zh-CN" sz="2800" b="1" dirty="0">
                <a:effectLst>
                  <a:outerShdw blurRad="38100" dist="38100" dir="2700000" algn="tl">
                    <a:srgbClr val="000000"/>
                  </a:outerShdw>
                </a:effectLst>
                <a:latin typeface="宋体" pitchFamily="2" charset="-122"/>
              </a:rPr>
              <a:t>)</a:t>
            </a:r>
            <a:r>
              <a:rPr lang="zh-CN" altLang="en-US" sz="2800" b="1" dirty="0">
                <a:effectLst>
                  <a:outerShdw blurRad="38100" dist="38100" dir="2700000" algn="tl">
                    <a:srgbClr val="000000"/>
                  </a:outerShdw>
                </a:effectLst>
                <a:latin typeface="宋体" pitchFamily="2" charset="-122"/>
              </a:rPr>
              <a:t>、字符型变量、整型变量等。</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2. </a:t>
            </a:r>
            <a:r>
              <a:rPr lang="zh-CN" altLang="en-US" sz="2800" b="1" dirty="0">
                <a:effectLst>
                  <a:outerShdw blurRad="38100" dist="38100" dir="2700000" algn="tl">
                    <a:srgbClr val="000000"/>
                  </a:outerShdw>
                </a:effectLst>
                <a:latin typeface="宋体" pitchFamily="2" charset="-122"/>
              </a:rPr>
              <a:t>使用字符输入输出函数，在程序首必须书写</a:t>
            </a:r>
            <a:br>
              <a:rPr lang="zh-CN" altLang="en-US" sz="2800" b="1" dirty="0">
                <a:effectLst>
                  <a:outerShdw blurRad="38100" dist="38100" dir="2700000" algn="tl">
                    <a:srgbClr val="000000"/>
                  </a:outerShdw>
                </a:effectLst>
                <a:latin typeface="宋体" pitchFamily="2" charset="-122"/>
              </a:rPr>
            </a:br>
            <a:r>
              <a:rPr lang="en-US" altLang="zh-CN" sz="2800" b="1" dirty="0">
                <a:solidFill>
                  <a:srgbClr val="CC0000"/>
                </a:solidFill>
                <a:effectLst>
                  <a:outerShdw blurRad="38100" dist="38100" dir="2700000" algn="tl">
                    <a:srgbClr val="000000"/>
                  </a:outerShdw>
                </a:effectLst>
                <a:latin typeface="宋体" pitchFamily="2" charset="-122"/>
              </a:rPr>
              <a:t>#include &lt;</a:t>
            </a:r>
            <a:r>
              <a:rPr lang="en-US" altLang="zh-CN" sz="2800" b="1" dirty="0" err="1">
                <a:solidFill>
                  <a:srgbClr val="CC0000"/>
                </a:solidFill>
                <a:effectLst>
                  <a:outerShdw blurRad="38100" dist="38100" dir="2700000" algn="tl">
                    <a:srgbClr val="000000"/>
                  </a:outerShdw>
                </a:effectLst>
                <a:latin typeface="宋体" pitchFamily="2" charset="-122"/>
              </a:rPr>
              <a:t>stdio.h</a:t>
            </a:r>
            <a:r>
              <a:rPr lang="en-US" altLang="zh-CN" sz="2800" b="1" dirty="0">
                <a:solidFill>
                  <a:srgbClr val="CC0000"/>
                </a:solidFill>
                <a:effectLst>
                  <a:outerShdw blurRad="38100" dist="38100" dir="2700000" algn="tl">
                    <a:srgbClr val="000000"/>
                  </a:outerShdw>
                </a:effectLst>
                <a:latin typeface="宋体" pitchFamily="2" charset="-122"/>
              </a:rPr>
              <a:t>&gt;</a:t>
            </a:r>
            <a:r>
              <a:rPr lang="en-US" altLang="zh-CN" sz="2800" b="1" dirty="0">
                <a:effectLst>
                  <a:outerShdw blurRad="38100" dist="38100" dir="2700000" algn="tl">
                    <a:srgbClr val="000000"/>
                  </a:outerShdw>
                </a:effectLst>
                <a:latin typeface="宋体" pitchFamily="2" charset="-122"/>
              </a:rPr>
              <a:t> </a:t>
            </a:r>
          </a:p>
          <a:p>
            <a:pPr marL="0" indent="0" algn="just">
              <a:lnSpc>
                <a:spcPct val="90000"/>
              </a:lnSpc>
              <a:buFont typeface="Monotype Sorts" pitchFamily="2" charset="2"/>
              <a:buNone/>
            </a:pPr>
            <a:endParaRPr lang="zh-CN" altLang="en-US" sz="2800" b="1" dirty="0">
              <a:effectLst>
                <a:outerShdw blurRad="38100" dist="38100" dir="2700000" algn="tl">
                  <a:srgbClr val="000000"/>
                </a:outerShdw>
              </a:effectLst>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fld id="{01B93E9B-E705-4861-87F9-1006786E329C}" type="slidenum">
              <a:rPr lang="en-US" altLang="zh-CN"/>
              <a:pPr/>
              <a:t>25</a:t>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a:xfrm>
            <a:off x="395288" y="333375"/>
            <a:ext cx="8228012" cy="685800"/>
          </a:xfrm>
        </p:spPr>
        <p:txBody>
          <a:bodyPr/>
          <a:lstStyle/>
          <a:p>
            <a:r>
              <a:rPr lang="en-US" altLang="zh-CN" sz="3600" dirty="0">
                <a:latin typeface="Times New Roman" pitchFamily="18" charset="0"/>
              </a:rPr>
              <a:t>【</a:t>
            </a:r>
            <a:r>
              <a:rPr lang="zh-CN" altLang="en-US" sz="3600" dirty="0">
                <a:latin typeface="Times New Roman" pitchFamily="18" charset="0"/>
              </a:rPr>
              <a:t>例</a:t>
            </a:r>
            <a:r>
              <a:rPr lang="en-US" altLang="zh-CN" sz="3600" dirty="0">
                <a:latin typeface="Times New Roman" pitchFamily="18" charset="0"/>
              </a:rPr>
              <a:t>2.2】</a:t>
            </a:r>
            <a:r>
              <a:rPr lang="zh-CN" altLang="en-US" sz="3600" dirty="0">
                <a:latin typeface="Times New Roman" pitchFamily="18" charset="0"/>
              </a:rPr>
              <a:t>使用</a:t>
            </a:r>
            <a:r>
              <a:rPr lang="en-US" altLang="zh-CN" sz="3600" dirty="0" err="1">
                <a:latin typeface="Times New Roman" pitchFamily="18" charset="0"/>
              </a:rPr>
              <a:t>putchar函数的</a:t>
            </a:r>
            <a:r>
              <a:rPr lang="zh-CN" altLang="en-US" sz="3600" dirty="0">
                <a:latin typeface="Times New Roman" pitchFamily="18" charset="0"/>
              </a:rPr>
              <a:t>示例</a:t>
            </a:r>
            <a:endParaRPr lang="zh-CN" altLang="en-US" sz="3600" dirty="0">
              <a:solidFill>
                <a:srgbClr val="0000FF"/>
              </a:solidFill>
              <a:effectLst/>
              <a:latin typeface="Times New Roman" pitchFamily="18" charset="0"/>
            </a:endParaRPr>
          </a:p>
        </p:txBody>
      </p:sp>
      <p:sp>
        <p:nvSpPr>
          <p:cNvPr id="481283" name="Rectangle 3"/>
          <p:cNvSpPr>
            <a:spLocks noGrp="1" noChangeArrowheads="1"/>
          </p:cNvSpPr>
          <p:nvPr>
            <p:ph idx="1"/>
          </p:nvPr>
        </p:nvSpPr>
        <p:spPr>
          <a:xfrm>
            <a:off x="304800" y="1125538"/>
            <a:ext cx="8610600" cy="5256212"/>
          </a:xfrm>
        </p:spPr>
        <p:txBody>
          <a:bodyPr/>
          <a:lstStyle/>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#include &lt;stdio.h&gt;</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void main()</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char ch;  int  i;</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ch = </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h</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  i = </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i</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C</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输出字符 </a:t>
            </a:r>
            <a:r>
              <a:rPr lang="en-US" altLang="zh-CN" sz="2400" b="1">
                <a:solidFill>
                  <a:srgbClr val="0000FF"/>
                </a:solidFill>
                <a:latin typeface="宋体" pitchFamily="2" charset="-122"/>
              </a:rPr>
              <a:t>C */</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putchar(ch);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输出字符 </a:t>
            </a:r>
            <a:r>
              <a:rPr lang="en-US" altLang="zh-CN" sz="2400" b="1">
                <a:solidFill>
                  <a:srgbClr val="0000FF"/>
                </a:solidFill>
                <a:latin typeface="宋体" pitchFamily="2" charset="-122"/>
              </a:rPr>
              <a:t>h */</a:t>
            </a:r>
            <a:endParaRPr lang="en-US" altLang="zh-CN" b="1">
              <a:solidFill>
                <a:srgbClr val="0000FF"/>
              </a:solidFill>
              <a:latin typeface="宋体" pitchFamily="2" charset="-122"/>
            </a:endParaRP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putchar(i);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输出字符 </a:t>
            </a:r>
            <a:r>
              <a:rPr lang="en-US" altLang="zh-CN" sz="2400" b="1">
                <a:solidFill>
                  <a:srgbClr val="0000FF"/>
                </a:solidFill>
                <a:latin typeface="宋体" pitchFamily="2" charset="-122"/>
              </a:rPr>
              <a:t>i */</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n</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输出字符 </a:t>
            </a:r>
            <a:r>
              <a:rPr lang="en-US" altLang="zh-CN" sz="2400" b="1">
                <a:solidFill>
                  <a:srgbClr val="0000FF"/>
                </a:solidFill>
                <a:latin typeface="宋体" pitchFamily="2" charset="-122"/>
              </a:rPr>
              <a:t>n */</a:t>
            </a:r>
            <a:endParaRPr lang="en-US" altLang="zh-CN" b="1">
              <a:effectLst>
                <a:outerShdw blurRad="38100" dist="38100" dir="2700000" algn="tl">
                  <a:srgbClr val="000000"/>
                </a:outerShdw>
              </a:effectLst>
              <a:latin typeface="宋体" pitchFamily="2" charset="-122"/>
            </a:endParaRP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\141</a:t>
            </a:r>
            <a:r>
              <a:rPr lang="en-US" altLang="zh-CN" b="1">
                <a:effectLst>
                  <a:outerShdw blurRad="38100" dist="38100" dir="2700000" algn="tl">
                    <a:srgbClr val="000000"/>
                  </a:outerShdw>
                </a:effectLst>
                <a:latin typeface="Courier New"/>
              </a:rPr>
              <a:t>’</a:t>
            </a:r>
            <a:r>
              <a:rPr lang="en-US" altLang="zh-CN" sz="2400" b="1">
                <a:effectLst>
                  <a:outerShdw blurRad="38100" dist="38100" dir="2700000" algn="tl">
                    <a:srgbClr val="000000"/>
                  </a:outerShdw>
                </a:effectLst>
                <a:latin typeface="宋体" pitchFamily="2" charset="-122"/>
              </a:rPr>
              <a:t>);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输出字符 </a:t>
            </a:r>
            <a:r>
              <a:rPr lang="en-US" altLang="zh-CN" sz="2400" b="1">
                <a:solidFill>
                  <a:srgbClr val="0000FF"/>
                </a:solidFill>
                <a:latin typeface="宋体" pitchFamily="2" charset="-122"/>
              </a:rPr>
              <a:t>a </a:t>
            </a:r>
            <a:r>
              <a:rPr lang="zh-CN" altLang="en-US" sz="2400" b="1">
                <a:solidFill>
                  <a:srgbClr val="0000FF"/>
                </a:solidFill>
                <a:latin typeface="宋体" pitchFamily="2" charset="-122"/>
              </a:rPr>
              <a:t>（</a:t>
            </a:r>
            <a:r>
              <a:rPr lang="en-US" altLang="zh-CN" sz="2400" b="1">
                <a:solidFill>
                  <a:srgbClr val="0000FF"/>
                </a:solidFill>
                <a:latin typeface="宋体" pitchFamily="2" charset="-122"/>
              </a:rPr>
              <a:t>141</a:t>
            </a:r>
            <a:r>
              <a:rPr lang="zh-CN" altLang="en-US" sz="2400" b="1">
                <a:solidFill>
                  <a:srgbClr val="0000FF"/>
                </a:solidFill>
                <a:latin typeface="宋体" pitchFamily="2" charset="-122"/>
              </a:rPr>
              <a:t>为八进制）*</a:t>
            </a:r>
            <a:r>
              <a:rPr lang="en-US" altLang="zh-CN" sz="2400" b="1">
                <a:solidFill>
                  <a:srgbClr val="0000FF"/>
                </a:solidFill>
                <a:latin typeface="宋体" pitchFamily="2" charset="-122"/>
              </a:rPr>
              <a:t>/</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putchar(</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\n</a:t>
            </a:r>
            <a:r>
              <a:rPr lang="en-US" altLang="zh-CN" b="1">
                <a:effectLst>
                  <a:outerShdw blurRad="38100" dist="38100" dir="2700000" algn="tl">
                    <a:srgbClr val="000000"/>
                  </a:outerShdw>
                </a:effectLst>
                <a:latin typeface="Courier New"/>
              </a:rPr>
              <a:t>’</a:t>
            </a:r>
            <a:r>
              <a:rPr lang="en-US" altLang="zh-CN" b="1">
                <a:effectLst>
                  <a:outerShdw blurRad="38100" dist="38100" dir="2700000" algn="tl">
                    <a:srgbClr val="000000"/>
                  </a:outerShdw>
                </a:effectLst>
                <a:latin typeface="宋体" pitchFamily="2" charset="-122"/>
              </a:rPr>
              <a:t>);  </a:t>
            </a:r>
            <a:r>
              <a:rPr lang="en-US" altLang="zh-CN" sz="2400" b="1">
                <a:solidFill>
                  <a:srgbClr val="0000FF"/>
                </a:solidFill>
                <a:latin typeface="宋体" pitchFamily="2" charset="-122"/>
              </a:rPr>
              <a:t>/* </a:t>
            </a:r>
            <a:r>
              <a:rPr lang="zh-CN" altLang="en-US" sz="2400" b="1">
                <a:solidFill>
                  <a:srgbClr val="0000FF"/>
                </a:solidFill>
                <a:latin typeface="宋体" pitchFamily="2" charset="-122"/>
              </a:rPr>
              <a:t>输出一个回车符 *</a:t>
            </a:r>
            <a:r>
              <a:rPr lang="en-US" altLang="zh-CN" sz="2400" b="1">
                <a:solidFill>
                  <a:srgbClr val="0000FF"/>
                </a:solidFill>
                <a:latin typeface="宋体" pitchFamily="2" charset="-122"/>
              </a:rPr>
              <a:t>/</a:t>
            </a:r>
          </a:p>
          <a:p>
            <a:pPr>
              <a:lnSpc>
                <a:spcPct val="90000"/>
              </a:lnSpc>
              <a:spcBef>
                <a:spcPct val="10000"/>
              </a:spcBef>
              <a:buFont typeface="Monotype Sorts" pitchFamily="2" charset="2"/>
              <a:buNone/>
            </a:pPr>
            <a:r>
              <a:rPr lang="en-US" altLang="zh-CN" b="1">
                <a:effectLst>
                  <a:outerShdw blurRad="38100" dist="38100" dir="2700000" algn="tl">
                    <a:srgbClr val="000000"/>
                  </a:outerShdw>
                </a:effectLst>
                <a:latin typeface="宋体" pitchFamily="2" charset="-122"/>
              </a:rPr>
              <a:t>}       </a:t>
            </a:r>
          </a:p>
          <a:p>
            <a:pPr>
              <a:lnSpc>
                <a:spcPct val="90000"/>
              </a:lnSpc>
              <a:spcBef>
                <a:spcPct val="10000"/>
              </a:spcBef>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运行该程序将输出  </a:t>
            </a:r>
            <a:r>
              <a:rPr lang="en-US" altLang="zh-CN" b="1">
                <a:solidFill>
                  <a:srgbClr val="0000FF"/>
                </a:solidFill>
                <a:effectLst>
                  <a:outerShdw blurRad="38100" dist="38100" dir="2700000" algn="tl">
                    <a:srgbClr val="000000"/>
                  </a:outerShdw>
                </a:effectLst>
                <a:latin typeface="宋体" pitchFamily="2" charset="-122"/>
              </a:rPr>
              <a:t>China</a:t>
            </a:r>
            <a:r>
              <a:rPr lang="en-US" altLang="zh-CN" b="1">
                <a:effectLst>
                  <a:outerShdw blurRad="38100" dist="38100" dir="2700000" algn="tl">
                    <a:srgbClr val="000000"/>
                  </a:outerShdw>
                </a:effectLst>
                <a:latin typeface="宋体" pitchFamily="2" charset="-122"/>
              </a:rPr>
              <a:t>    </a:t>
            </a:r>
          </a:p>
        </p:txBody>
      </p:sp>
      <p:sp>
        <p:nvSpPr>
          <p:cNvPr id="6" name="灯片编号占位符 5"/>
          <p:cNvSpPr>
            <a:spLocks noGrp="1"/>
          </p:cNvSpPr>
          <p:nvPr>
            <p:ph type="sldNum" sz="quarter" idx="12"/>
          </p:nvPr>
        </p:nvSpPr>
        <p:spPr/>
        <p:txBody>
          <a:bodyPr/>
          <a:lstStyle/>
          <a:p>
            <a:fld id="{5F8BEFCA-98B2-4FD3-A980-4F68BE9AE303}" type="slidenum">
              <a:rPr lang="en-US" altLang="zh-CN"/>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468313" y="228600"/>
            <a:ext cx="8447087" cy="685800"/>
          </a:xfrm>
        </p:spPr>
        <p:txBody>
          <a:bodyPr>
            <a:normAutofit/>
          </a:bodyPr>
          <a:lstStyle/>
          <a:p>
            <a:r>
              <a:rPr lang="zh-CN" altLang="en-US" sz="4000" dirty="0">
                <a:solidFill>
                  <a:schemeClr val="tx1"/>
                </a:solidFill>
                <a:latin typeface="黑体" pitchFamily="2" charset="-122"/>
                <a:ea typeface="黑体" pitchFamily="2" charset="-122"/>
              </a:rPr>
              <a:t>单个字符输入函数</a:t>
            </a:r>
            <a:endParaRPr lang="zh-CN" altLang="en-US" sz="3200" dirty="0">
              <a:solidFill>
                <a:schemeClr val="tx1"/>
              </a:solidFill>
              <a:latin typeface="黑体" pitchFamily="2" charset="-122"/>
              <a:ea typeface="黑体" pitchFamily="2" charset="-122"/>
            </a:endParaRPr>
          </a:p>
        </p:txBody>
      </p:sp>
      <p:sp>
        <p:nvSpPr>
          <p:cNvPr id="482307" name="Rectangle 3"/>
          <p:cNvSpPr>
            <a:spLocks noGrp="1" noChangeArrowheads="1"/>
          </p:cNvSpPr>
          <p:nvPr>
            <p:ph idx="1"/>
          </p:nvPr>
        </p:nvSpPr>
        <p:spPr>
          <a:xfrm>
            <a:off x="395288" y="1143000"/>
            <a:ext cx="8208962" cy="4949825"/>
          </a:xfrm>
        </p:spPr>
        <p:txBody>
          <a:bodyPr/>
          <a:lstStyle/>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格式：</a:t>
            </a:r>
            <a:r>
              <a:rPr lang="en-US" altLang="zh-CN" sz="3200" b="1" dirty="0" err="1">
                <a:effectLst>
                  <a:outerShdw blurRad="38100" dist="38100" dir="2700000" algn="tl">
                    <a:srgbClr val="000000"/>
                  </a:outerShdw>
                </a:effectLst>
                <a:latin typeface="宋体" pitchFamily="2" charset="-122"/>
              </a:rPr>
              <a:t>getchar</a:t>
            </a:r>
            <a:r>
              <a:rPr lang="en-US" altLang="zh-CN" sz="3200" b="1" dirty="0">
                <a:effectLst>
                  <a:outerShdw blurRad="38100" dist="38100" dir="2700000" algn="tl">
                    <a:srgbClr val="000000"/>
                  </a:outerShdw>
                </a:effectLst>
                <a:latin typeface="宋体" pitchFamily="2" charset="-122"/>
              </a:rPr>
              <a:t>( )</a:t>
            </a:r>
          </a:p>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功能：</a:t>
            </a:r>
            <a:r>
              <a:rPr lang="zh-CN" altLang="en-US" b="1" dirty="0">
                <a:effectLst>
                  <a:outerShdw blurRad="38100" dist="38100" dir="2700000" algn="tl">
                    <a:srgbClr val="000000"/>
                  </a:outerShdw>
                </a:effectLst>
                <a:latin typeface="宋体" pitchFamily="2" charset="-122"/>
              </a:rPr>
              <a:t>从标准输入设备上（通常为键盘）读取</a:t>
            </a:r>
            <a:br>
              <a:rPr lang="zh-CN" altLang="en-US" b="1" dirty="0">
                <a:effectLst>
                  <a:outerShdw blurRad="38100" dist="38100" dir="2700000" algn="tl">
                    <a:srgbClr val="000000"/>
                  </a:outerShdw>
                </a:effectLst>
                <a:latin typeface="宋体" pitchFamily="2" charset="-122"/>
              </a:rPr>
            </a:br>
            <a:r>
              <a:rPr lang="zh-CN" altLang="en-US" b="1" dirty="0">
                <a:effectLst>
                  <a:outerShdw blurRad="38100" dist="38100" dir="2700000" algn="tl">
                    <a:srgbClr val="000000"/>
                  </a:outerShdw>
                </a:effectLst>
                <a:latin typeface="宋体" pitchFamily="2" charset="-122"/>
              </a:rPr>
              <a:t>     一个字符的</a:t>
            </a:r>
            <a:r>
              <a:rPr lang="en-US" altLang="zh-CN" b="1" dirty="0">
                <a:effectLst>
                  <a:outerShdw blurRad="38100" dist="38100" dir="2700000" algn="tl">
                    <a:srgbClr val="000000"/>
                  </a:outerShdw>
                </a:effectLst>
                <a:latin typeface="宋体" pitchFamily="2" charset="-122"/>
              </a:rPr>
              <a:t>ASCII</a:t>
            </a:r>
            <a:r>
              <a:rPr lang="zh-CN" altLang="en-US" b="1" dirty="0">
                <a:effectLst>
                  <a:outerShdw blurRad="38100" dist="38100" dir="2700000" algn="tl">
                    <a:srgbClr val="000000"/>
                  </a:outerShdw>
                </a:effectLst>
                <a:latin typeface="宋体" pitchFamily="2" charset="-122"/>
              </a:rPr>
              <a:t>代码。</a:t>
            </a:r>
          </a:p>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说明：</a:t>
            </a:r>
          </a:p>
          <a:p>
            <a:pPr marL="533400" indent="-533400" algn="just">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1. </a:t>
            </a:r>
            <a:r>
              <a:rPr lang="zh-CN" altLang="en-US" sz="3200" b="1" dirty="0">
                <a:effectLst>
                  <a:outerShdw blurRad="38100" dist="38100" dir="2700000" algn="tl">
                    <a:srgbClr val="000000"/>
                  </a:outerShdw>
                </a:effectLst>
                <a:latin typeface="宋体" pitchFamily="2" charset="-122"/>
              </a:rPr>
              <a:t>该函数没有参数，它只能接受一个输入字符。</a:t>
            </a:r>
          </a:p>
          <a:p>
            <a:pPr marL="533400" indent="-533400" algn="just">
              <a:lnSpc>
                <a:spcPct val="90000"/>
              </a:lnSpc>
              <a:buFont typeface="Monotype Sorts" pitchFamily="2" charset="2"/>
              <a:buNone/>
            </a:pPr>
            <a:r>
              <a:rPr lang="en-US" altLang="zh-CN" sz="3200" b="1" dirty="0">
                <a:effectLst>
                  <a:outerShdw blurRad="38100" dist="38100" dir="2700000" algn="tl">
                    <a:srgbClr val="000000"/>
                  </a:outerShdw>
                </a:effectLst>
                <a:latin typeface="宋体" pitchFamily="2" charset="-122"/>
              </a:rPr>
              <a:t>2. </a:t>
            </a:r>
            <a:r>
              <a:rPr lang="en-US" altLang="zh-CN" sz="3200" b="1" dirty="0" err="1">
                <a:effectLst>
                  <a:outerShdw blurRad="38100" dist="38100" dir="2700000" algn="tl">
                    <a:srgbClr val="000000"/>
                  </a:outerShdw>
                </a:effectLst>
                <a:latin typeface="宋体" pitchFamily="2" charset="-122"/>
              </a:rPr>
              <a:t>getchar</a:t>
            </a:r>
            <a:r>
              <a:rPr lang="en-US" altLang="zh-CN" sz="3200" b="1" dirty="0">
                <a:effectLst>
                  <a:outerShdw blurRad="38100" dist="38100" dir="2700000" algn="tl">
                    <a:srgbClr val="000000"/>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得到的字符可以赋给一个字符变量或整型变量，也可以不赋给任何变量。</a:t>
            </a:r>
          </a:p>
          <a:p>
            <a:pPr marL="533400" indent="-533400" algn="just">
              <a:lnSpc>
                <a:spcPct val="90000"/>
              </a:lnSpc>
              <a:buFont typeface="Monotype Sorts" pitchFamily="2" charset="2"/>
              <a:buNone/>
            </a:pPr>
            <a:r>
              <a:rPr lang="zh-CN" altLang="en-US" sz="3200" b="1" dirty="0">
                <a:effectLst>
                  <a:outerShdw blurRad="38100" dist="38100" dir="2700000" algn="tl">
                    <a:srgbClr val="000000"/>
                  </a:outerShdw>
                </a:effectLst>
                <a:latin typeface="宋体" pitchFamily="2" charset="-122"/>
              </a:rPr>
              <a:t>   </a:t>
            </a:r>
            <a:r>
              <a:rPr lang="zh-CN" altLang="en-US" sz="3200" b="1" dirty="0">
                <a:solidFill>
                  <a:srgbClr val="0000FF"/>
                </a:solidFill>
                <a:effectLst>
                  <a:outerShdw blurRad="38100" dist="38100" dir="2700000" algn="tl">
                    <a:srgbClr val="000000"/>
                  </a:outerShdw>
                </a:effectLst>
                <a:latin typeface="宋体" pitchFamily="2" charset="-122"/>
              </a:rPr>
              <a:t>例如： </a:t>
            </a:r>
            <a:r>
              <a:rPr lang="en-US" altLang="zh-CN" sz="3200" b="1" dirty="0" err="1">
                <a:solidFill>
                  <a:srgbClr val="0000FF"/>
                </a:solidFill>
                <a:effectLst>
                  <a:outerShdw blurRad="38100" dist="38100" dir="2700000" algn="tl">
                    <a:srgbClr val="000000"/>
                  </a:outerShdw>
                </a:effectLst>
                <a:latin typeface="宋体" pitchFamily="2" charset="-122"/>
              </a:rPr>
              <a:t>putchar</a:t>
            </a:r>
            <a:r>
              <a:rPr lang="en-US" altLang="zh-CN" sz="3200" b="1" dirty="0">
                <a:solidFill>
                  <a:srgbClr val="0000FF"/>
                </a:solidFill>
                <a:effectLst>
                  <a:outerShdw blurRad="38100" dist="38100" dir="2700000" algn="tl">
                    <a:srgbClr val="000000"/>
                  </a:outerShdw>
                </a:effectLst>
                <a:latin typeface="宋体" pitchFamily="2" charset="-122"/>
              </a:rPr>
              <a:t>(</a:t>
            </a:r>
            <a:r>
              <a:rPr lang="en-US" altLang="zh-CN" sz="3200" b="1" dirty="0" err="1">
                <a:solidFill>
                  <a:srgbClr val="0000FF"/>
                </a:solidFill>
                <a:effectLst>
                  <a:outerShdw blurRad="38100" dist="38100" dir="2700000" algn="tl">
                    <a:srgbClr val="000000"/>
                  </a:outerShdw>
                </a:effectLst>
                <a:latin typeface="宋体" pitchFamily="2" charset="-122"/>
              </a:rPr>
              <a:t>getchar</a:t>
            </a:r>
            <a:r>
              <a:rPr lang="en-US" altLang="zh-CN" sz="3200" b="1" dirty="0">
                <a:solidFill>
                  <a:srgbClr val="0000FF"/>
                </a:solidFill>
                <a:effectLst>
                  <a:outerShdw blurRad="38100" dist="38100" dir="2700000" algn="tl">
                    <a:srgbClr val="000000"/>
                  </a:outerShdw>
                </a:effectLst>
                <a:latin typeface="宋体" pitchFamily="2" charset="-122"/>
              </a:rPr>
              <a:t>())</a:t>
            </a:r>
          </a:p>
        </p:txBody>
      </p:sp>
      <p:sp>
        <p:nvSpPr>
          <p:cNvPr id="6" name="灯片编号占位符 5"/>
          <p:cNvSpPr>
            <a:spLocks noGrp="1"/>
          </p:cNvSpPr>
          <p:nvPr>
            <p:ph type="sldNum" sz="quarter" idx="12"/>
          </p:nvPr>
        </p:nvSpPr>
        <p:spPr/>
        <p:txBody>
          <a:bodyPr/>
          <a:lstStyle/>
          <a:p>
            <a:fld id="{C7B97931-91AD-4728-9146-D96D719BC57C}" type="slidenum">
              <a:rPr lang="en-US" altLang="zh-CN"/>
              <a:pPr/>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304800" y="228600"/>
            <a:ext cx="8610600" cy="685800"/>
          </a:xfrm>
        </p:spPr>
        <p:txBody>
          <a:bodyPr/>
          <a:lstStyle/>
          <a:p>
            <a:r>
              <a:rPr lang="en-US" altLang="zh-CN" sz="3600" dirty="0">
                <a:latin typeface="Times New Roman" pitchFamily="18" charset="0"/>
              </a:rPr>
              <a:t>【</a:t>
            </a:r>
            <a:r>
              <a:rPr lang="zh-CN" altLang="en-US" sz="3600" dirty="0">
                <a:latin typeface="Times New Roman" pitchFamily="18" charset="0"/>
              </a:rPr>
              <a:t>例</a:t>
            </a:r>
            <a:r>
              <a:rPr lang="en-US" altLang="zh-CN" sz="3600" dirty="0">
                <a:latin typeface="Times New Roman" pitchFamily="18" charset="0"/>
              </a:rPr>
              <a:t>2.3】</a:t>
            </a:r>
            <a:r>
              <a:rPr lang="zh-CN" altLang="en-US" sz="3600" dirty="0">
                <a:latin typeface="Times New Roman" pitchFamily="18" charset="0"/>
              </a:rPr>
              <a:t>使用</a:t>
            </a:r>
            <a:r>
              <a:rPr lang="en-US" altLang="zh-CN" sz="3600" dirty="0" err="1">
                <a:latin typeface="Times New Roman" pitchFamily="18" charset="0"/>
              </a:rPr>
              <a:t>putchar函数的</a:t>
            </a:r>
            <a:r>
              <a:rPr lang="zh-CN" altLang="en-US" sz="3600" dirty="0">
                <a:latin typeface="Times New Roman" pitchFamily="18" charset="0"/>
              </a:rPr>
              <a:t>示例</a:t>
            </a:r>
            <a:endParaRPr lang="zh-CN" altLang="en-US" sz="3600" dirty="0">
              <a:solidFill>
                <a:srgbClr val="0000FF"/>
              </a:solidFill>
              <a:effectLst/>
              <a:latin typeface="Times New Roman" pitchFamily="18" charset="0"/>
            </a:endParaRPr>
          </a:p>
        </p:txBody>
      </p:sp>
      <p:sp>
        <p:nvSpPr>
          <p:cNvPr id="483331" name="Rectangle 3"/>
          <p:cNvSpPr>
            <a:spLocks noGrp="1" noChangeArrowheads="1"/>
          </p:cNvSpPr>
          <p:nvPr>
            <p:ph idx="1"/>
          </p:nvPr>
        </p:nvSpPr>
        <p:spPr>
          <a:xfrm>
            <a:off x="323850" y="1143000"/>
            <a:ext cx="8610600" cy="5165725"/>
          </a:xfrm>
        </p:spPr>
        <p:txBody>
          <a:bodyPr/>
          <a:lstStyle/>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b="1" dirty="0">
                <a:effectLst>
                  <a:outerShdw blurRad="38100" dist="38100" dir="2700000" algn="tl">
                    <a:srgbClr val="000000"/>
                  </a:outerShdw>
                </a:effectLst>
                <a:latin typeface="宋体" pitchFamily="2" charset="-122"/>
              </a:rPr>
              <a:t>&gt;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char c ;</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c = </a:t>
            </a:r>
            <a:r>
              <a:rPr lang="en-US" altLang="zh-CN" b="1" dirty="0" err="1">
                <a:effectLst>
                  <a:outerShdw blurRad="38100" dist="38100" dir="2700000" algn="tl">
                    <a:srgbClr val="000000"/>
                  </a:outerShdw>
                </a:effectLst>
                <a:latin typeface="宋体" pitchFamily="2" charset="-122"/>
              </a:rPr>
              <a:t>getchar</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调用</a:t>
            </a:r>
            <a:r>
              <a:rPr lang="en-US" altLang="zh-CN" b="1" dirty="0" err="1">
                <a:solidFill>
                  <a:srgbClr val="0000FF"/>
                </a:solidFill>
                <a:latin typeface="宋体" pitchFamily="2" charset="-122"/>
              </a:rPr>
              <a:t>getchar</a:t>
            </a:r>
            <a:r>
              <a:rPr lang="en-US" altLang="zh-CN" b="1" dirty="0">
                <a:solidFill>
                  <a:srgbClr val="0000FF"/>
                </a:solidFill>
                <a:latin typeface="宋体" pitchFamily="2" charset="-122"/>
              </a:rPr>
              <a:t>()</a:t>
            </a:r>
            <a:r>
              <a:rPr lang="zh-CN" altLang="en-US" b="1" dirty="0">
                <a:solidFill>
                  <a:srgbClr val="0000FF"/>
                </a:solidFill>
                <a:latin typeface="宋体" pitchFamily="2" charset="-122"/>
              </a:rPr>
              <a:t>，无参数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(c);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输出读入的字符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\n</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输出一个回车符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a:t>
            </a:r>
          </a:p>
          <a:p>
            <a:pPr>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a:t>
            </a:r>
            <a:r>
              <a:rPr lang="zh-CN" altLang="en-US" b="1" dirty="0">
                <a:effectLst>
                  <a:outerShdw blurRad="38100" dist="38100" dir="2700000" algn="tl">
                    <a:srgbClr val="000000"/>
                  </a:outerShdw>
                </a:effectLst>
                <a:latin typeface="宋体" pitchFamily="2" charset="-122"/>
              </a:rPr>
              <a:t>程序运行时从键盘键入字符 </a:t>
            </a:r>
            <a:r>
              <a:rPr lang="en-US" altLang="zh-CN" b="1" dirty="0">
                <a:effectLst>
                  <a:outerShdw blurRad="38100" dist="38100" dir="2700000" algn="tl">
                    <a:srgbClr val="000000"/>
                  </a:outerShdw>
                </a:effectLst>
                <a:latin typeface="宋体" pitchFamily="2" charset="-122"/>
              </a:rPr>
              <a:t>Z</a:t>
            </a:r>
            <a:endParaRPr lang="zh-CN" altLang="en-US" b="1" dirty="0">
              <a:effectLst>
                <a:outerShdw blurRad="38100" dist="38100" dir="2700000" algn="tl">
                  <a:srgbClr val="000000"/>
                </a:outerShdw>
              </a:effectLst>
              <a:latin typeface="宋体" pitchFamily="2" charset="-122"/>
            </a:endParaRPr>
          </a:p>
          <a:p>
            <a:pPr>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程序输出</a:t>
            </a: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Z     </a:t>
            </a:r>
            <a:r>
              <a:rPr lang="zh-CN" altLang="en-US" b="1" dirty="0">
                <a:effectLst>
                  <a:outerShdw blurRad="38100" dist="38100" dir="2700000" algn="tl">
                    <a:srgbClr val="000000"/>
                  </a:outerShdw>
                </a:effectLst>
                <a:latin typeface="宋体" pitchFamily="2" charset="-122"/>
              </a:rPr>
              <a:t>（ 其中变量 </a:t>
            </a:r>
            <a:r>
              <a:rPr lang="en-US" altLang="zh-CN" b="1" dirty="0">
                <a:effectLst>
                  <a:outerShdw blurRad="38100" dist="38100" dir="2700000" algn="tl">
                    <a:srgbClr val="000000"/>
                  </a:outerShdw>
                </a:effectLst>
                <a:latin typeface="宋体" pitchFamily="2" charset="-122"/>
              </a:rPr>
              <a:t>c </a:t>
            </a:r>
            <a:r>
              <a:rPr lang="zh-CN" altLang="en-US" b="1" dirty="0">
                <a:effectLst>
                  <a:outerShdw blurRad="38100" dist="38100" dir="2700000" algn="tl">
                    <a:srgbClr val="000000"/>
                  </a:outerShdw>
                </a:effectLst>
                <a:latin typeface="宋体" pitchFamily="2" charset="-122"/>
              </a:rPr>
              <a:t>的值为 </a:t>
            </a:r>
            <a:r>
              <a:rPr lang="zh-CN" altLang="en-US"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Z</a:t>
            </a:r>
            <a:r>
              <a:rPr lang="en-US" altLang="zh-CN" b="1" dirty="0">
                <a:effectLst>
                  <a:outerShdw blurRad="38100" dist="38100" dir="2700000" algn="tl">
                    <a:srgbClr val="000000"/>
                  </a:outerShdw>
                </a:effectLst>
                <a:latin typeface="Courier New"/>
              </a:rPr>
              <a:t>’</a:t>
            </a:r>
            <a:r>
              <a:rPr lang="zh-CN" altLang="en-US" b="1" dirty="0">
                <a:effectLst>
                  <a:outerShdw blurRad="38100" dist="38100" dir="2700000" algn="tl">
                    <a:srgbClr val="000000"/>
                  </a:outerShdw>
                </a:effectLst>
                <a:latin typeface="宋体" pitchFamily="2" charset="-122"/>
              </a:rPr>
              <a:t>）</a:t>
            </a:r>
          </a:p>
        </p:txBody>
      </p:sp>
      <p:sp>
        <p:nvSpPr>
          <p:cNvPr id="6" name="灯片编号占位符 5"/>
          <p:cNvSpPr>
            <a:spLocks noGrp="1"/>
          </p:cNvSpPr>
          <p:nvPr>
            <p:ph type="sldNum" sz="quarter" idx="12"/>
          </p:nvPr>
        </p:nvSpPr>
        <p:spPr/>
        <p:txBody>
          <a:bodyPr/>
          <a:lstStyle/>
          <a:p>
            <a:fld id="{1730EBDE-6EC1-4A48-940E-B8C0625F0845}" type="slidenum">
              <a:rPr lang="en-US" altLang="zh-CN"/>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5" name="Rectangle 3"/>
          <p:cNvSpPr>
            <a:spLocks noGrp="1" noChangeArrowheads="1"/>
          </p:cNvSpPr>
          <p:nvPr>
            <p:ph idx="1"/>
          </p:nvPr>
        </p:nvSpPr>
        <p:spPr>
          <a:xfrm>
            <a:off x="468313" y="1052785"/>
            <a:ext cx="8154987" cy="5616575"/>
          </a:xfrm>
        </p:spPr>
        <p:txBody>
          <a:bodyPr/>
          <a:lstStyle/>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sz="2400" b="1" dirty="0">
                <a:effectLst>
                  <a:outerShdw blurRad="38100" dist="38100" dir="2700000" algn="tl">
                    <a:srgbClr val="000000"/>
                  </a:outerShdw>
                </a:effectLst>
                <a:latin typeface="宋体" pitchFamily="2" charset="-122"/>
              </a:rPr>
              <a:t>&gt;</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 char c1, c2;</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  c1 = </a:t>
            </a:r>
            <a:r>
              <a:rPr lang="en-US" altLang="zh-CN" b="1" dirty="0" err="1">
                <a:effectLst>
                  <a:outerShdw blurRad="38100" dist="38100" dir="2700000" algn="tl">
                    <a:srgbClr val="000000"/>
                  </a:outerShdw>
                </a:effectLst>
                <a:latin typeface="宋体" pitchFamily="2" charset="-122"/>
              </a:rPr>
              <a:t>getchar</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输入一个字符   *</a:t>
            </a:r>
            <a:r>
              <a:rPr lang="en-US" altLang="zh-CN" b="1" dirty="0">
                <a:solidFill>
                  <a:srgbClr val="0000FF"/>
                </a:solidFill>
                <a:latin typeface="宋体" pitchFamily="2" charset="-122"/>
              </a:rPr>
              <a:t>/</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  c2 = </a:t>
            </a:r>
            <a:r>
              <a:rPr lang="en-US" altLang="zh-CN" b="1" dirty="0" err="1">
                <a:effectLst>
                  <a:outerShdw blurRad="38100" dist="38100" dir="2700000" algn="tl">
                    <a:srgbClr val="000000"/>
                  </a:outerShdw>
                </a:effectLst>
                <a:latin typeface="宋体" pitchFamily="2" charset="-122"/>
              </a:rPr>
              <a:t>getchar</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再输入一个字符 *</a:t>
            </a:r>
            <a:r>
              <a:rPr lang="en-US" altLang="zh-CN" b="1" dirty="0">
                <a:solidFill>
                  <a:srgbClr val="0000FF"/>
                </a:solidFill>
                <a:latin typeface="宋体" pitchFamily="2" charset="-122"/>
              </a:rPr>
              <a:t>/</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(c1);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(c2);</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printf</a:t>
            </a:r>
            <a:r>
              <a:rPr lang="en-US" altLang="zh-CN" b="1" dirty="0">
                <a:effectLst>
                  <a:outerShdw blurRad="38100" dist="38100" dir="2700000" algn="tl">
                    <a:srgbClr val="000000"/>
                  </a:outerShdw>
                </a:effectLst>
                <a:latin typeface="宋体" pitchFamily="2" charset="-122"/>
              </a:rPr>
              <a:t>("code1 = %d  code2 = %d\n", c1, c2);</a:t>
            </a:r>
          </a:p>
          <a:p>
            <a:pPr marL="0" indent="0">
              <a:lnSpc>
                <a:spcPct val="90000"/>
              </a:lnSpc>
              <a:spcBef>
                <a:spcPct val="0"/>
              </a:spcBef>
              <a:buFont typeface="Monotype Sorts" pitchFamily="2" charset="2"/>
              <a:buNone/>
            </a:pPr>
            <a:r>
              <a:rPr lang="en-US" altLang="zh-CN" b="1" dirty="0">
                <a:effectLst>
                  <a:outerShdw blurRad="38100" dist="38100" dir="2700000" algn="tl">
                    <a:srgbClr val="000000"/>
                  </a:outerShdw>
                </a:effectLst>
                <a:latin typeface="宋体" pitchFamily="2" charset="-122"/>
              </a:rPr>
              <a:t>}</a:t>
            </a:r>
          </a:p>
          <a:p>
            <a:pPr marL="0" indent="0">
              <a:lnSpc>
                <a:spcPct val="90000"/>
              </a:lnSpc>
              <a:spcBef>
                <a:spcPct val="0"/>
              </a:spcBef>
              <a:buFont typeface="Monotype Sorts" pitchFamily="2" charset="2"/>
              <a:buNone/>
            </a:pPr>
            <a:endParaRPr lang="en-US" altLang="zh-CN" b="1" dirty="0">
              <a:solidFill>
                <a:srgbClr val="0000FF"/>
              </a:solidFill>
              <a:effectLst>
                <a:outerShdw blurRad="38100" dist="38100" dir="2700000" algn="tl">
                  <a:srgbClr val="000000"/>
                </a:outerShdw>
              </a:effectLst>
              <a:latin typeface="宋体" pitchFamily="2" charset="-122"/>
            </a:endParaRPr>
          </a:p>
          <a:p>
            <a:pPr marL="0" indent="0">
              <a:lnSpc>
                <a:spcPct val="90000"/>
              </a:lnSpc>
              <a:spcBef>
                <a:spcPct val="0"/>
              </a:spcBef>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a:t>
            </a:r>
            <a:r>
              <a:rPr lang="zh-CN" altLang="en-US" b="1" dirty="0">
                <a:effectLst>
                  <a:outerShdw blurRad="38100" dist="38100" dir="2700000" algn="tl">
                    <a:srgbClr val="000000"/>
                  </a:outerShdw>
                </a:effectLst>
                <a:latin typeface="宋体" pitchFamily="2" charset="-122"/>
              </a:rPr>
              <a:t>程序运行时从键盘键入字符 </a:t>
            </a:r>
            <a:r>
              <a:rPr lang="en-US" altLang="zh-CN" b="1" dirty="0">
                <a:effectLst>
                  <a:outerShdw blurRad="38100" dist="38100" dir="2700000" algn="tl">
                    <a:srgbClr val="000000"/>
                  </a:outerShdw>
                </a:effectLst>
                <a:latin typeface="宋体" pitchFamily="2" charset="-122"/>
              </a:rPr>
              <a:t>Z </a:t>
            </a:r>
            <a:r>
              <a:rPr lang="zh-CN" altLang="en-US" b="1" dirty="0">
                <a:effectLst>
                  <a:outerShdw blurRad="38100" dist="38100" dir="2700000" algn="tl">
                    <a:srgbClr val="000000"/>
                  </a:outerShdw>
                </a:effectLst>
                <a:latin typeface="宋体" pitchFamily="2" charset="-122"/>
              </a:rPr>
              <a:t>和回车</a:t>
            </a:r>
          </a:p>
          <a:p>
            <a:pPr marL="0" indent="0">
              <a:lnSpc>
                <a:spcPct val="90000"/>
              </a:lnSpc>
              <a:spcBef>
                <a:spcPct val="0"/>
              </a:spcBef>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程序输出</a:t>
            </a:r>
          </a:p>
          <a:p>
            <a:pPr marL="0" indent="0">
              <a:lnSpc>
                <a:spcPct val="90000"/>
              </a:lnSpc>
              <a:spcBef>
                <a:spcPct val="0"/>
              </a:spcBef>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solidFill>
                  <a:srgbClr val="0000FF"/>
                </a:solidFill>
                <a:effectLst>
                  <a:outerShdw blurRad="38100" dist="38100" dir="2700000" algn="tl">
                    <a:srgbClr val="000000"/>
                  </a:outerShdw>
                </a:effectLst>
                <a:latin typeface="宋体" pitchFamily="2" charset="-122"/>
              </a:rPr>
              <a:t>Z</a:t>
            </a:r>
          </a:p>
          <a:p>
            <a:pPr marL="0" indent="0">
              <a:lnSpc>
                <a:spcPct val="90000"/>
              </a:lnSpc>
              <a:spcBef>
                <a:spcPct val="0"/>
              </a:spcBef>
              <a:buFont typeface="Monotype Sorts" pitchFamily="2" charset="2"/>
              <a:buNone/>
            </a:pPr>
            <a:r>
              <a:rPr lang="en-US" altLang="zh-CN" b="1" dirty="0">
                <a:solidFill>
                  <a:srgbClr val="0000FF"/>
                </a:solidFill>
                <a:effectLst>
                  <a:outerShdw blurRad="38100" dist="38100" dir="2700000" algn="tl">
                    <a:srgbClr val="000000"/>
                  </a:outerShdw>
                </a:effectLst>
                <a:latin typeface="宋体" pitchFamily="2" charset="-122"/>
              </a:rPr>
              <a:t>    code1 = 90  code2 = 10</a:t>
            </a:r>
            <a:r>
              <a:rPr lang="en-US" altLang="zh-CN" b="1" dirty="0">
                <a:effectLst>
                  <a:outerShdw blurRad="38100" dist="38100" dir="2700000" algn="tl">
                    <a:srgbClr val="000000"/>
                  </a:outerShdw>
                </a:effectLst>
                <a:latin typeface="宋体" pitchFamily="2" charset="-122"/>
              </a:rPr>
              <a:t> </a:t>
            </a:r>
          </a:p>
          <a:p>
            <a:pPr marL="0" indent="0">
              <a:lnSpc>
                <a:spcPct val="90000"/>
              </a:lnSpc>
              <a:spcBef>
                <a:spcPct val="0"/>
              </a:spcBef>
              <a:buFont typeface="Monotype Sorts" pitchFamily="2" charset="2"/>
              <a:buNone/>
            </a:pPr>
            <a:r>
              <a:rPr lang="zh-CN" altLang="en-US"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宋体" pitchFamily="2" charset="-122"/>
              </a:rPr>
              <a:t>90</a:t>
            </a:r>
            <a:r>
              <a:rPr lang="zh-CN" altLang="en-US" b="1" dirty="0">
                <a:effectLst>
                  <a:outerShdw blurRad="38100" dist="38100" dir="2700000" algn="tl">
                    <a:srgbClr val="000000"/>
                  </a:outerShdw>
                </a:effectLst>
                <a:latin typeface="宋体" pitchFamily="2" charset="-122"/>
              </a:rPr>
              <a:t>和</a:t>
            </a:r>
            <a:r>
              <a:rPr lang="en-US" altLang="zh-CN" b="1" dirty="0">
                <a:effectLst>
                  <a:outerShdw blurRad="38100" dist="38100" dir="2700000" algn="tl">
                    <a:srgbClr val="000000"/>
                  </a:outerShdw>
                </a:effectLst>
                <a:latin typeface="宋体" pitchFamily="2" charset="-122"/>
              </a:rPr>
              <a:t>10</a:t>
            </a:r>
            <a:r>
              <a:rPr lang="zh-CN" altLang="en-US" b="1" dirty="0">
                <a:effectLst>
                  <a:outerShdw blurRad="38100" dist="38100" dir="2700000" algn="tl">
                    <a:srgbClr val="000000"/>
                  </a:outerShdw>
                </a:effectLst>
                <a:latin typeface="宋体" pitchFamily="2" charset="-122"/>
              </a:rPr>
              <a:t>分别是</a:t>
            </a:r>
            <a:r>
              <a:rPr lang="en-US" altLang="zh-CN" b="1" dirty="0">
                <a:effectLst>
                  <a:outerShdw blurRad="38100" dist="38100" dir="2700000" algn="tl">
                    <a:srgbClr val="000000"/>
                  </a:outerShdw>
                </a:effectLst>
                <a:latin typeface="宋体" pitchFamily="2" charset="-122"/>
              </a:rPr>
              <a:t>'Z'</a:t>
            </a:r>
            <a:r>
              <a:rPr lang="zh-CN" altLang="en-US" b="1" dirty="0">
                <a:effectLst>
                  <a:outerShdw blurRad="38100" dist="38100" dir="2700000" algn="tl">
                    <a:srgbClr val="000000"/>
                  </a:outerShdw>
                </a:effectLst>
                <a:latin typeface="宋体" pitchFamily="2" charset="-122"/>
              </a:rPr>
              <a:t>和回车的</a:t>
            </a:r>
            <a:r>
              <a:rPr lang="en-US" altLang="zh-CN" b="1" dirty="0">
                <a:effectLst>
                  <a:outerShdw blurRad="38100" dist="38100" dir="2700000" algn="tl">
                    <a:srgbClr val="000000"/>
                  </a:outerShdw>
                </a:effectLst>
                <a:latin typeface="宋体" pitchFamily="2" charset="-122"/>
              </a:rPr>
              <a:t>ASCII</a:t>
            </a:r>
            <a:r>
              <a:rPr lang="zh-CN" altLang="en-US" b="1" dirty="0">
                <a:effectLst>
                  <a:outerShdw blurRad="38100" dist="38100" dir="2700000" algn="tl">
                    <a:srgbClr val="000000"/>
                  </a:outerShdw>
                </a:effectLst>
                <a:latin typeface="宋体" pitchFamily="2" charset="-122"/>
              </a:rPr>
              <a:t>码值）</a:t>
            </a:r>
          </a:p>
        </p:txBody>
      </p:sp>
      <p:sp>
        <p:nvSpPr>
          <p:cNvPr id="5" name="灯片编号占位符 5"/>
          <p:cNvSpPr>
            <a:spLocks noGrp="1"/>
          </p:cNvSpPr>
          <p:nvPr>
            <p:ph type="sldNum" sz="quarter" idx="12"/>
          </p:nvPr>
        </p:nvSpPr>
        <p:spPr/>
        <p:txBody>
          <a:bodyPr/>
          <a:lstStyle/>
          <a:p>
            <a:fld id="{6BEB5EB7-5E9A-40DA-8256-5AB23C727EEE}" type="slidenum">
              <a:rPr lang="en-US" altLang="zh-CN"/>
              <a:pPr/>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a:xfrm>
            <a:off x="304800" y="228600"/>
            <a:ext cx="8610600" cy="685800"/>
          </a:xfrm>
        </p:spPr>
        <p:txBody>
          <a:bodyPr/>
          <a:lstStyle/>
          <a:p>
            <a:r>
              <a:rPr lang="zh-CN" altLang="en-US" sz="3600" b="1" dirty="0">
                <a:solidFill>
                  <a:schemeClr val="tx1"/>
                </a:solidFill>
                <a:latin typeface="黑体" pitchFamily="2" charset="-122"/>
                <a:ea typeface="黑体" pitchFamily="2" charset="-122"/>
              </a:rPr>
              <a:t>格式输出函数</a:t>
            </a:r>
            <a:endParaRPr lang="zh-CN" altLang="en-US" sz="4800" b="1" dirty="0">
              <a:solidFill>
                <a:schemeClr val="tx1"/>
              </a:solidFill>
              <a:latin typeface="黑体" pitchFamily="2" charset="-122"/>
              <a:ea typeface="黑体" pitchFamily="2" charset="-122"/>
            </a:endParaRPr>
          </a:p>
        </p:txBody>
      </p:sp>
      <p:sp>
        <p:nvSpPr>
          <p:cNvPr id="485379" name="Rectangle 3"/>
          <p:cNvSpPr>
            <a:spLocks noGrp="1" noChangeArrowheads="1"/>
          </p:cNvSpPr>
          <p:nvPr>
            <p:ph idx="1"/>
          </p:nvPr>
        </p:nvSpPr>
        <p:spPr>
          <a:xfrm>
            <a:off x="395288" y="981075"/>
            <a:ext cx="8424862" cy="5400675"/>
          </a:xfrm>
        </p:spPr>
        <p:txBody>
          <a:bodyPr>
            <a:noAutofit/>
          </a:bodyPr>
          <a:lstStyle/>
          <a:p>
            <a:pPr marL="536575" indent="-536575" algn="just">
              <a:lnSpc>
                <a:spcPct val="90000"/>
              </a:lnSpc>
              <a:buFont typeface="Monotype Sorts" pitchFamily="2" charset="2"/>
              <a:buNone/>
            </a:pPr>
            <a:r>
              <a:rPr lang="zh-CN" altLang="en-US" sz="2800" b="1" dirty="0">
                <a:latin typeface="宋体" pitchFamily="2" charset="-122"/>
              </a:rPr>
              <a:t>格式：</a:t>
            </a:r>
            <a:r>
              <a:rPr lang="en-US" altLang="zh-CN" sz="3600" b="1" dirty="0" err="1">
                <a:latin typeface="宋体" pitchFamily="2" charset="-122"/>
              </a:rPr>
              <a:t>printf</a:t>
            </a:r>
            <a:r>
              <a:rPr lang="en-US" altLang="zh-CN" sz="2800" b="1" dirty="0">
                <a:latin typeface="宋体" pitchFamily="2" charset="-122"/>
              </a:rPr>
              <a:t>(</a:t>
            </a:r>
            <a:r>
              <a:rPr lang="zh-CN" altLang="en-US" sz="3200" b="1" dirty="0">
                <a:latin typeface="黑体" pitchFamily="2" charset="-122"/>
                <a:ea typeface="黑体" pitchFamily="2" charset="-122"/>
              </a:rPr>
              <a:t>格式控制字符串</a:t>
            </a:r>
            <a:r>
              <a:rPr lang="zh-CN" altLang="en-US" sz="2800" b="1" dirty="0">
                <a:latin typeface="宋体" pitchFamily="2" charset="-122"/>
              </a:rPr>
              <a:t>，输出项，输出项，</a:t>
            </a:r>
            <a:r>
              <a:rPr lang="en-US" altLang="zh-CN" sz="2800" b="1" dirty="0">
                <a:latin typeface="宋体" pitchFamily="2" charset="-122"/>
              </a:rPr>
              <a:t>…)</a:t>
            </a:r>
          </a:p>
          <a:p>
            <a:pPr marL="536575" indent="-536575" algn="just">
              <a:lnSpc>
                <a:spcPct val="90000"/>
              </a:lnSpc>
              <a:buFont typeface="Monotype Sorts" pitchFamily="2" charset="2"/>
              <a:buNone/>
            </a:pPr>
            <a:r>
              <a:rPr lang="zh-CN" altLang="en-US" sz="2800" b="1" dirty="0">
                <a:latin typeface="宋体" pitchFamily="2" charset="-122"/>
              </a:rPr>
              <a:t>功能：将输出项按指定格式排版输出到标准设备上。</a:t>
            </a:r>
          </a:p>
          <a:p>
            <a:pPr marL="536575" indent="-536575" algn="just">
              <a:lnSpc>
                <a:spcPct val="90000"/>
              </a:lnSpc>
              <a:buFont typeface="Monotype Sorts" pitchFamily="2" charset="2"/>
              <a:buNone/>
            </a:pPr>
            <a:r>
              <a:rPr lang="zh-CN" altLang="en-US" sz="2800" b="1" dirty="0">
                <a:latin typeface="宋体" pitchFamily="2" charset="-122"/>
              </a:rPr>
              <a:t>其中：格式控制字符串是用双引号括起来的字符串</a:t>
            </a:r>
          </a:p>
          <a:p>
            <a:pPr marL="536575" indent="-536575" algn="just">
              <a:lnSpc>
                <a:spcPct val="90000"/>
              </a:lnSpc>
              <a:buFont typeface="Monotype Sorts" pitchFamily="2" charset="2"/>
              <a:buNone/>
            </a:pPr>
            <a:r>
              <a:rPr lang="zh-CN" altLang="en-US" sz="3200" b="1" dirty="0">
                <a:latin typeface="黑体" pitchFamily="2" charset="-122"/>
                <a:ea typeface="黑体" pitchFamily="2" charset="-122"/>
              </a:rPr>
              <a:t>格式控制字符串</a:t>
            </a:r>
            <a:r>
              <a:rPr lang="zh-CN" altLang="en-US" sz="2800" b="1" dirty="0">
                <a:solidFill>
                  <a:srgbClr val="000099"/>
                </a:solidFill>
                <a:latin typeface="宋体" pitchFamily="2" charset="-122"/>
              </a:rPr>
              <a:t>包含三类字符：</a:t>
            </a:r>
          </a:p>
          <a:p>
            <a:pPr marL="536575" indent="-536575" algn="just">
              <a:lnSpc>
                <a:spcPct val="90000"/>
              </a:lnSpc>
              <a:buFont typeface="Monotype Sorts" pitchFamily="2" charset="2"/>
              <a:buNone/>
            </a:pPr>
            <a:r>
              <a:rPr lang="en-US" altLang="zh-CN" sz="2800" b="1" dirty="0">
                <a:latin typeface="宋体" pitchFamily="2" charset="-122"/>
              </a:rPr>
              <a:t>1. </a:t>
            </a:r>
            <a:r>
              <a:rPr lang="zh-CN" altLang="en-US" sz="2800" b="1" dirty="0">
                <a:solidFill>
                  <a:srgbClr val="C00000"/>
                </a:solidFill>
                <a:latin typeface="宋体" pitchFamily="2" charset="-122"/>
              </a:rPr>
              <a:t>普通字符：</a:t>
            </a:r>
            <a:r>
              <a:rPr lang="zh-CN" altLang="en-US" sz="2800" b="1" dirty="0">
                <a:latin typeface="宋体" pitchFamily="2" charset="-122"/>
              </a:rPr>
              <a:t>要求按原样输出的字符。</a:t>
            </a:r>
          </a:p>
          <a:p>
            <a:pPr marL="536575" indent="-536575" algn="just">
              <a:lnSpc>
                <a:spcPct val="90000"/>
              </a:lnSpc>
              <a:buFont typeface="Monotype Sorts" pitchFamily="2" charset="2"/>
              <a:buNone/>
            </a:pPr>
            <a:r>
              <a:rPr lang="en-US" altLang="zh-CN" sz="2800" b="1" dirty="0">
                <a:latin typeface="宋体" pitchFamily="2" charset="-122"/>
              </a:rPr>
              <a:t>2. </a:t>
            </a:r>
            <a:r>
              <a:rPr lang="zh-CN" altLang="en-US" sz="2800" b="1" dirty="0">
                <a:solidFill>
                  <a:srgbClr val="C00000"/>
                </a:solidFill>
                <a:latin typeface="宋体" pitchFamily="2" charset="-122"/>
              </a:rPr>
              <a:t>转义字符：</a:t>
            </a:r>
            <a:r>
              <a:rPr lang="zh-CN" altLang="en-US" sz="2800" b="1" dirty="0">
                <a:latin typeface="宋体" pitchFamily="2" charset="-122"/>
              </a:rPr>
              <a:t>要求按转义字符的意义输出。如</a:t>
            </a:r>
            <a:r>
              <a:rPr lang="zh-CN" altLang="en-US" sz="2800" b="1" dirty="0">
                <a:latin typeface="Courier New"/>
              </a:rPr>
              <a:t>’</a:t>
            </a:r>
            <a:r>
              <a:rPr lang="en-US" altLang="zh-CN" sz="2800" b="1" dirty="0">
                <a:latin typeface="宋体" pitchFamily="2" charset="-122"/>
              </a:rPr>
              <a:t>\n</a:t>
            </a:r>
            <a:r>
              <a:rPr lang="en-US" altLang="zh-CN" sz="2800" b="1" dirty="0">
                <a:latin typeface="Courier New"/>
              </a:rPr>
              <a:t>’</a:t>
            </a:r>
            <a:r>
              <a:rPr lang="zh-CN" altLang="en-US" sz="2800" b="1" dirty="0">
                <a:latin typeface="宋体" pitchFamily="2" charset="-122"/>
              </a:rPr>
              <a:t>表示输出时回车换行，</a:t>
            </a:r>
            <a:r>
              <a:rPr lang="zh-CN" altLang="en-US" sz="2800" b="1" dirty="0">
                <a:latin typeface="Courier New"/>
              </a:rPr>
              <a:t>’</a:t>
            </a:r>
            <a:r>
              <a:rPr lang="en-US" altLang="zh-CN" sz="2800" b="1" dirty="0">
                <a:latin typeface="宋体" pitchFamily="2" charset="-122"/>
              </a:rPr>
              <a:t>\b</a:t>
            </a:r>
            <a:r>
              <a:rPr lang="en-US" altLang="zh-CN" sz="2800" b="1" dirty="0">
                <a:latin typeface="Courier New"/>
              </a:rPr>
              <a:t>’</a:t>
            </a:r>
            <a:r>
              <a:rPr lang="zh-CN" altLang="en-US" sz="2800" b="1" dirty="0">
                <a:latin typeface="宋体" pitchFamily="2" charset="-122"/>
              </a:rPr>
              <a:t>表示退格等。</a:t>
            </a:r>
          </a:p>
          <a:p>
            <a:pPr marL="536575" indent="-536575" algn="just">
              <a:lnSpc>
                <a:spcPct val="90000"/>
              </a:lnSpc>
              <a:buFont typeface="Monotype Sorts" pitchFamily="2" charset="2"/>
              <a:buNone/>
            </a:pPr>
            <a:r>
              <a:rPr lang="en-US" altLang="zh-CN" sz="2800" b="1" dirty="0">
                <a:latin typeface="宋体" pitchFamily="2" charset="-122"/>
              </a:rPr>
              <a:t>3. </a:t>
            </a:r>
            <a:r>
              <a:rPr lang="zh-CN" altLang="en-US" sz="2800" b="1" dirty="0">
                <a:solidFill>
                  <a:srgbClr val="C00000"/>
                </a:solidFill>
                <a:latin typeface="宋体" pitchFamily="2" charset="-122"/>
              </a:rPr>
              <a:t>格式转换说明：</a:t>
            </a:r>
            <a:r>
              <a:rPr lang="zh-CN" altLang="en-US" sz="2800" b="1" dirty="0">
                <a:latin typeface="宋体" pitchFamily="2" charset="-122"/>
              </a:rPr>
              <a:t>由“</a:t>
            </a:r>
            <a:r>
              <a:rPr lang="en-US" altLang="zh-CN" sz="2800" b="1" dirty="0">
                <a:latin typeface="宋体" pitchFamily="2" charset="-122"/>
              </a:rPr>
              <a:t>%”</a:t>
            </a:r>
            <a:r>
              <a:rPr lang="zh-CN" altLang="en-US" sz="2800" b="1" dirty="0">
                <a:latin typeface="宋体" pitchFamily="2" charset="-122"/>
              </a:rPr>
              <a:t>和格式字符组成，如</a:t>
            </a:r>
            <a:r>
              <a:rPr lang="en-US" altLang="zh-CN" sz="2800" b="1" dirty="0">
                <a:latin typeface="宋体" pitchFamily="2" charset="-122"/>
              </a:rPr>
              <a:t>%d</a:t>
            </a:r>
            <a:r>
              <a:rPr lang="zh-CN" altLang="en-US" sz="2800" b="1" dirty="0">
                <a:latin typeface="宋体" pitchFamily="2" charset="-122"/>
              </a:rPr>
              <a:t>、</a:t>
            </a:r>
            <a:r>
              <a:rPr lang="en-US" altLang="zh-CN" sz="2800" b="1" dirty="0">
                <a:latin typeface="宋体" pitchFamily="2" charset="-122"/>
              </a:rPr>
              <a:t>%f</a:t>
            </a:r>
            <a:r>
              <a:rPr lang="zh-CN" altLang="en-US" sz="2800" b="1" dirty="0">
                <a:latin typeface="宋体" pitchFamily="2" charset="-122"/>
              </a:rPr>
              <a:t>、</a:t>
            </a:r>
            <a:r>
              <a:rPr lang="en-US" altLang="zh-CN" sz="2800" b="1" dirty="0">
                <a:latin typeface="宋体" pitchFamily="2" charset="-122"/>
              </a:rPr>
              <a:t>%c</a:t>
            </a:r>
            <a:r>
              <a:rPr lang="zh-CN" altLang="en-US" sz="2800" b="1" dirty="0">
                <a:latin typeface="宋体" pitchFamily="2" charset="-122"/>
              </a:rPr>
              <a:t>、</a:t>
            </a:r>
            <a:r>
              <a:rPr lang="en-US" altLang="zh-CN" sz="2800" b="1" dirty="0">
                <a:latin typeface="宋体" pitchFamily="2" charset="-122"/>
              </a:rPr>
              <a:t>%s</a:t>
            </a:r>
            <a:r>
              <a:rPr lang="zh-CN" altLang="en-US" sz="2800" b="1" dirty="0">
                <a:latin typeface="宋体" pitchFamily="2" charset="-122"/>
              </a:rPr>
              <a:t>等。</a:t>
            </a:r>
          </a:p>
          <a:p>
            <a:pPr marL="536575" indent="-536575" algn="just">
              <a:lnSpc>
                <a:spcPct val="90000"/>
              </a:lnSpc>
              <a:spcBef>
                <a:spcPct val="0"/>
              </a:spcBef>
              <a:buFont typeface="Monotype Sorts" pitchFamily="2" charset="2"/>
              <a:buNone/>
            </a:pPr>
            <a:r>
              <a:rPr lang="zh-CN" altLang="en-US" sz="2800" b="1" dirty="0">
                <a:latin typeface="宋体" pitchFamily="2" charset="-122"/>
              </a:rPr>
              <a:t>例： </a:t>
            </a:r>
            <a:r>
              <a:rPr lang="en-US" altLang="zh-CN" sz="2800" b="1" dirty="0" err="1">
                <a:latin typeface="宋体" pitchFamily="2" charset="-122"/>
              </a:rPr>
              <a:t>int</a:t>
            </a:r>
            <a:r>
              <a:rPr lang="en-US" altLang="zh-CN" sz="2800" b="1" dirty="0">
                <a:latin typeface="宋体" pitchFamily="2" charset="-122"/>
              </a:rPr>
              <a:t> a=3, b=5;</a:t>
            </a:r>
          </a:p>
          <a:p>
            <a:pPr marL="536575" indent="-536575" algn="just">
              <a:lnSpc>
                <a:spcPct val="90000"/>
              </a:lnSpc>
              <a:spcBef>
                <a:spcPct val="0"/>
              </a:spcBef>
              <a:buFont typeface="Monotype Sorts" pitchFamily="2" charset="2"/>
              <a:buNone/>
            </a:pPr>
            <a:r>
              <a:rPr lang="en-US" altLang="zh-CN" sz="2800" b="1" dirty="0">
                <a:latin typeface="宋体" pitchFamily="2" charset="-122"/>
              </a:rPr>
              <a:t>   </a:t>
            </a:r>
            <a:r>
              <a:rPr lang="en-US" altLang="zh-CN" sz="3200" b="1" dirty="0" err="1">
                <a:latin typeface="宋体" pitchFamily="2" charset="-122"/>
              </a:rPr>
              <a:t>printf</a:t>
            </a:r>
            <a:r>
              <a:rPr lang="en-US" altLang="zh-CN" sz="3200" b="1" dirty="0">
                <a:latin typeface="宋体" pitchFamily="2" charset="-122"/>
              </a:rPr>
              <a:t>("a=%</a:t>
            </a:r>
            <a:r>
              <a:rPr lang="en-US" altLang="zh-CN" sz="3200" b="1" dirty="0" err="1">
                <a:latin typeface="宋体" pitchFamily="2" charset="-122"/>
              </a:rPr>
              <a:t>d,b</a:t>
            </a:r>
            <a:r>
              <a:rPr lang="en-US" altLang="zh-CN" sz="3200" b="1" dirty="0">
                <a:latin typeface="宋体" pitchFamily="2" charset="-122"/>
              </a:rPr>
              <a:t>=%</a:t>
            </a:r>
            <a:r>
              <a:rPr lang="en-US" altLang="zh-CN" sz="3200" b="1" dirty="0" err="1">
                <a:latin typeface="宋体" pitchFamily="2" charset="-122"/>
              </a:rPr>
              <a:t>d,a+b</a:t>
            </a:r>
            <a:r>
              <a:rPr lang="en-US" altLang="zh-CN" sz="3200" b="1" dirty="0">
                <a:latin typeface="宋体" pitchFamily="2" charset="-122"/>
              </a:rPr>
              <a:t>=%d\</a:t>
            </a:r>
            <a:r>
              <a:rPr lang="en-US" altLang="zh-CN" sz="3200" b="1" dirty="0" err="1">
                <a:latin typeface="宋体" pitchFamily="2" charset="-122"/>
              </a:rPr>
              <a:t>n",a,b,a+b</a:t>
            </a:r>
            <a:r>
              <a:rPr lang="en-US" altLang="zh-CN" sz="3200" b="1" dirty="0">
                <a:latin typeface="宋体" pitchFamily="2" charset="-122"/>
              </a:rPr>
              <a:t>);</a:t>
            </a:r>
            <a:endParaRPr lang="en-US" altLang="zh-CN" sz="2800" b="1" dirty="0">
              <a:latin typeface="宋体" pitchFamily="2" charset="-122"/>
            </a:endParaRPr>
          </a:p>
          <a:p>
            <a:pPr marL="536575" indent="-536575" algn="just">
              <a:lnSpc>
                <a:spcPct val="90000"/>
              </a:lnSpc>
              <a:spcBef>
                <a:spcPct val="0"/>
              </a:spcBef>
              <a:buFont typeface="Monotype Sorts" pitchFamily="2" charset="2"/>
              <a:buNone/>
            </a:pPr>
            <a:r>
              <a:rPr lang="zh-CN" altLang="en-US" sz="2800" b="1" dirty="0">
                <a:latin typeface="宋体" pitchFamily="2" charset="-122"/>
              </a:rPr>
              <a:t>结果：</a:t>
            </a:r>
            <a:r>
              <a:rPr lang="en-US" altLang="zh-CN" sz="2800" b="1" dirty="0">
                <a:latin typeface="宋体" pitchFamily="2" charset="-122"/>
              </a:rPr>
              <a:t>a=3,b=5,a+b=8</a:t>
            </a:r>
          </a:p>
        </p:txBody>
      </p:sp>
      <p:sp>
        <p:nvSpPr>
          <p:cNvPr id="6" name="灯片编号占位符 5"/>
          <p:cNvSpPr>
            <a:spLocks noGrp="1"/>
          </p:cNvSpPr>
          <p:nvPr>
            <p:ph type="sldNum" sz="quarter" idx="12"/>
          </p:nvPr>
        </p:nvSpPr>
        <p:spPr/>
        <p:txBody>
          <a:bodyPr/>
          <a:lstStyle/>
          <a:p>
            <a:fld id="{068F13F6-8BCC-484B-A8B4-7C4A49920BEF}" type="slidenum">
              <a:rPr lang="en-US" altLang="zh-CN"/>
              <a:pPr/>
              <a:t>30</a:t>
            </a:fld>
            <a:endParaRPr lang="en-US" altLang="zh-CN"/>
          </a:p>
        </p:txBody>
      </p:sp>
      <p:sp useBgFill="1">
        <p:nvSpPr>
          <p:cNvPr id="3" name="文本框 2">
            <a:extLst>
              <a:ext uri="{FF2B5EF4-FFF2-40B4-BE49-F238E27FC236}">
                <a16:creationId xmlns:a16="http://schemas.microsoft.com/office/drawing/2014/main" id="{37AD2749-7632-39AB-8595-B4FCDDA1344C}"/>
              </a:ext>
            </a:extLst>
          </p:cNvPr>
          <p:cNvSpPr txBox="1"/>
          <p:nvPr/>
        </p:nvSpPr>
        <p:spPr>
          <a:xfrm>
            <a:off x="6012160" y="116632"/>
            <a:ext cx="2460822" cy="954107"/>
          </a:xfrm>
          <a:prstGeom prst="rect">
            <a:avLst/>
          </a:prstGeom>
        </p:spPr>
        <p:txBody>
          <a:bodyPr wrap="square" rtlCol="0">
            <a:spAutoFit/>
          </a:bodyPr>
          <a:lstStyle/>
          <a:p>
            <a:r>
              <a:rPr lang="zh-CN" altLang="en-US" sz="2800" b="1" dirty="0"/>
              <a:t>如何输出</a:t>
            </a:r>
            <a:r>
              <a:rPr lang="en-US" altLang="zh-CN" sz="2800" b="1" dirty="0"/>
              <a:t>%</a:t>
            </a:r>
          </a:p>
          <a:p>
            <a:r>
              <a:rPr lang="zh-CN" altLang="en-US" sz="2800" b="1" dirty="0"/>
              <a:t>连续两个</a:t>
            </a:r>
            <a:r>
              <a:rPr lang="en-US" altLang="zh-CN" sz="2800" b="1" dirty="0"/>
              <a:t>%%</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3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537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537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5379">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537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537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5379">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a:xfrm>
            <a:off x="357159" y="857232"/>
            <a:ext cx="8501122" cy="614363"/>
          </a:xfrm>
        </p:spPr>
        <p:txBody>
          <a:bodyPr>
            <a:noAutofit/>
          </a:bodyPr>
          <a:lstStyle/>
          <a:p>
            <a:r>
              <a:rPr lang="zh-CN" altLang="en-US" sz="4000" dirty="0">
                <a:solidFill>
                  <a:schemeClr val="tx1"/>
                </a:solidFill>
                <a:latin typeface="黑体" pitchFamily="2" charset="-122"/>
                <a:ea typeface="黑体" pitchFamily="2" charset="-122"/>
              </a:rPr>
              <a:t>格式转换说明</a:t>
            </a:r>
          </a:p>
        </p:txBody>
      </p:sp>
      <p:sp>
        <p:nvSpPr>
          <p:cNvPr id="504835" name="Rectangle 3"/>
          <p:cNvSpPr>
            <a:spLocks noGrp="1" noChangeArrowheads="1"/>
          </p:cNvSpPr>
          <p:nvPr>
            <p:ph idx="1"/>
          </p:nvPr>
        </p:nvSpPr>
        <p:spPr>
          <a:xfrm>
            <a:off x="357158" y="1457325"/>
            <a:ext cx="8424862" cy="5400675"/>
          </a:xfrm>
        </p:spPr>
        <p:txBody>
          <a:bodyPr/>
          <a:lstStyle/>
          <a:p>
            <a:pPr marL="536575" indent="-536575">
              <a:buFont typeface="Monotype Sorts" pitchFamily="2" charset="2"/>
              <a:buNone/>
            </a:pPr>
            <a:endParaRPr lang="en-US" altLang="zh-CN" sz="3200" b="1" dirty="0">
              <a:effectLst>
                <a:outerShdw blurRad="38100" dist="38100" dir="2700000" algn="tl">
                  <a:srgbClr val="000000"/>
                </a:outerShdw>
              </a:effectLst>
              <a:latin typeface="宋体" pitchFamily="2" charset="-122"/>
            </a:endParaRPr>
          </a:p>
          <a:p>
            <a:pPr marL="536575" indent="-536575">
              <a:buFont typeface="Monotype Sorts" pitchFamily="2" charset="2"/>
              <a:buNone/>
            </a:pPr>
            <a:r>
              <a:rPr lang="zh-CN" altLang="en-US" sz="3200" b="1" dirty="0">
                <a:effectLst>
                  <a:outerShdw blurRad="38100" dist="38100" dir="2700000" algn="tl">
                    <a:srgbClr val="000000"/>
                  </a:outerShdw>
                </a:effectLst>
                <a:latin typeface="宋体" pitchFamily="2" charset="-122"/>
              </a:rPr>
              <a:t>一般形式：</a:t>
            </a:r>
            <a:r>
              <a:rPr lang="zh-CN" altLang="en-US" sz="2000" b="1" dirty="0">
                <a:effectLst>
                  <a:outerShdw blurRad="38100" dist="38100" dir="2700000" algn="tl">
                    <a:srgbClr val="000000"/>
                  </a:outerShdw>
                </a:effectLst>
                <a:latin typeface="宋体" pitchFamily="2" charset="-122"/>
              </a:rPr>
              <a:t> </a:t>
            </a:r>
          </a:p>
          <a:p>
            <a:pPr marL="536575" indent="-536575">
              <a:buFont typeface="Monotype Sorts" pitchFamily="2" charset="2"/>
              <a:buNone/>
            </a:pPr>
            <a:r>
              <a:rPr lang="zh-CN" altLang="en-US" sz="2000" b="1" dirty="0">
                <a:effectLst>
                  <a:outerShdw blurRad="38100" dist="38100" dir="2700000" algn="tl">
                    <a:srgbClr val="000000"/>
                  </a:outerShdw>
                </a:effectLst>
                <a:latin typeface="宋体" pitchFamily="2" charset="-122"/>
              </a:rPr>
              <a:t> </a:t>
            </a:r>
            <a:r>
              <a:rPr lang="en-US" altLang="zh-CN" sz="3200" b="1" dirty="0">
                <a:solidFill>
                  <a:srgbClr val="CC0000"/>
                </a:solidFill>
                <a:effectLst>
                  <a:outerShdw blurRad="38100" dist="38100" dir="2700000" algn="tl">
                    <a:srgbClr val="000000"/>
                  </a:outerShdw>
                </a:effectLst>
                <a:latin typeface="宋体" pitchFamily="2" charset="-122"/>
              </a:rPr>
              <a:t>%</a:t>
            </a:r>
            <a:r>
              <a:rPr lang="en-US" altLang="zh-CN" sz="3200" b="1" dirty="0">
                <a:solidFill>
                  <a:srgbClr val="0000FF"/>
                </a:solidFill>
                <a:effectLst>
                  <a:outerShdw blurRad="38100" dist="38100" dir="2700000" algn="tl">
                    <a:srgbClr val="000000"/>
                  </a:outerShdw>
                </a:effectLst>
                <a:latin typeface="宋体" pitchFamily="2" charset="-122"/>
              </a:rPr>
              <a:t>[-][+][#][w][.p][h/l/L]</a:t>
            </a:r>
            <a:r>
              <a:rPr lang="zh-CN" altLang="en-US" sz="3200" b="1" dirty="0">
                <a:effectLst>
                  <a:outerShdw blurRad="38100" dist="38100" dir="2700000" algn="tl">
                    <a:srgbClr val="000000"/>
                  </a:outerShdw>
                </a:effectLst>
                <a:latin typeface="黑体" pitchFamily="2" charset="-122"/>
                <a:ea typeface="黑体" pitchFamily="2" charset="-122"/>
              </a:rPr>
              <a:t>输出格式符</a:t>
            </a:r>
          </a:p>
        </p:txBody>
      </p:sp>
      <p:sp>
        <p:nvSpPr>
          <p:cNvPr id="6" name="灯片编号占位符 5"/>
          <p:cNvSpPr>
            <a:spLocks noGrp="1"/>
          </p:cNvSpPr>
          <p:nvPr>
            <p:ph type="sldNum" sz="quarter" idx="12"/>
          </p:nvPr>
        </p:nvSpPr>
        <p:spPr/>
        <p:txBody>
          <a:bodyPr/>
          <a:lstStyle/>
          <a:p>
            <a:fld id="{1E0DB9BF-C824-4F3B-B2E5-A2B1706D5AA4}" type="slidenum">
              <a:rPr lang="en-US" altLang="zh-CN"/>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a:xfrm>
            <a:off x="500034" y="285728"/>
            <a:ext cx="8142287" cy="685800"/>
          </a:xfrm>
        </p:spPr>
        <p:txBody>
          <a:bodyPr/>
          <a:lstStyle/>
          <a:p>
            <a:r>
              <a:rPr lang="zh-CN" altLang="en-US" sz="3600" b="1" dirty="0">
                <a:solidFill>
                  <a:schemeClr val="tx1"/>
                </a:solidFill>
                <a:latin typeface="黑体" pitchFamily="2" charset="-122"/>
                <a:ea typeface="黑体" pitchFamily="2" charset="-122"/>
              </a:rPr>
              <a:t>输出格式符表</a:t>
            </a:r>
          </a:p>
        </p:txBody>
      </p:sp>
      <p:sp>
        <p:nvSpPr>
          <p:cNvPr id="505859" name="Rectangle 3"/>
          <p:cNvSpPr>
            <a:spLocks noGrp="1" noChangeArrowheads="1"/>
          </p:cNvSpPr>
          <p:nvPr>
            <p:ph idx="1"/>
          </p:nvPr>
        </p:nvSpPr>
        <p:spPr>
          <a:xfrm>
            <a:off x="533400" y="1209675"/>
            <a:ext cx="8610600" cy="5648325"/>
          </a:xfrm>
        </p:spPr>
        <p:txBody>
          <a:bodyPr>
            <a:normAutofit/>
          </a:bodyPr>
          <a:lstStyle/>
          <a:p>
            <a:pPr algn="just">
              <a:lnSpc>
                <a:spcPct val="8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zh-CN" altLang="en-US" sz="3600" b="1" dirty="0">
                <a:latin typeface="宋体" pitchFamily="2" charset="-122"/>
              </a:rPr>
              <a:t>格式符	      意            义</a:t>
            </a:r>
            <a:r>
              <a:rPr lang="zh-CN" altLang="en-US" b="1" dirty="0">
                <a:latin typeface="宋体" pitchFamily="2" charset="-122"/>
              </a:rPr>
              <a:t>	</a:t>
            </a:r>
            <a:endParaRPr lang="zh-CN" altLang="en-US" b="1" dirty="0">
              <a:latin typeface="Times New Roman" pitchFamily="18" charset="0"/>
            </a:endParaRPr>
          </a:p>
          <a:p>
            <a:pPr>
              <a:lnSpc>
                <a:spcPct val="80000"/>
              </a:lnSpc>
              <a:buFont typeface="Monotype Sorts" pitchFamily="2" charset="2"/>
              <a:buNone/>
            </a:pPr>
            <a:r>
              <a:rPr lang="zh-CN" altLang="en-US" b="1" dirty="0">
                <a:latin typeface="宋体" pitchFamily="2" charset="-122"/>
              </a:rPr>
              <a:t> </a:t>
            </a:r>
            <a:r>
              <a:rPr lang="en-US" altLang="zh-CN" sz="3200" b="1" dirty="0">
                <a:solidFill>
                  <a:srgbClr val="C00000"/>
                </a:solidFill>
                <a:latin typeface="宋体" pitchFamily="2" charset="-122"/>
              </a:rPr>
              <a:t>%d	  </a:t>
            </a:r>
            <a:r>
              <a:rPr lang="zh-CN" altLang="en-US" sz="3200" b="1" dirty="0">
                <a:latin typeface="宋体" pitchFamily="2" charset="-122"/>
              </a:rPr>
              <a:t>整型数据以十进制形式输出	</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(“%d”,16);         16</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%o</a:t>
            </a:r>
            <a:r>
              <a:rPr lang="en-US" altLang="zh-CN" sz="3200" b="1" dirty="0">
                <a:latin typeface="宋体" pitchFamily="2" charset="-122"/>
              </a:rPr>
              <a:t>	   </a:t>
            </a:r>
            <a:r>
              <a:rPr lang="zh-CN" altLang="en-US" sz="3200" b="1" dirty="0">
                <a:latin typeface="宋体" pitchFamily="2" charset="-122"/>
              </a:rPr>
              <a:t>整型数据以八进制形式输出</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(“%o”,16);</a:t>
            </a:r>
            <a:r>
              <a:rPr lang="zh-CN" altLang="en-US" sz="3200" b="1" dirty="0">
                <a:solidFill>
                  <a:schemeClr val="accent1"/>
                </a:solidFill>
                <a:latin typeface="宋体" pitchFamily="2" charset="-122"/>
              </a:rPr>
              <a:t>	     </a:t>
            </a:r>
            <a:r>
              <a:rPr lang="en-US" altLang="zh-CN" sz="3200" b="1" dirty="0">
                <a:solidFill>
                  <a:schemeClr val="accent1"/>
                </a:solidFill>
                <a:latin typeface="宋体" pitchFamily="2" charset="-122"/>
              </a:rPr>
              <a:t>20</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%x</a:t>
            </a:r>
            <a:r>
              <a:rPr lang="zh-CN" altLang="en-US" sz="3200" b="1" dirty="0">
                <a:solidFill>
                  <a:srgbClr val="C00000"/>
                </a:solidFill>
                <a:latin typeface="宋体" pitchFamily="2" charset="-122"/>
              </a:rPr>
              <a:t>或</a:t>
            </a:r>
            <a:r>
              <a:rPr lang="en-US" altLang="zh-CN" sz="3200" b="1" dirty="0">
                <a:solidFill>
                  <a:srgbClr val="C00000"/>
                </a:solidFill>
                <a:latin typeface="宋体" pitchFamily="2" charset="-122"/>
              </a:rPr>
              <a:t>X  </a:t>
            </a:r>
            <a:r>
              <a:rPr lang="zh-CN" altLang="en-US" sz="3200" b="1" dirty="0">
                <a:latin typeface="宋体" pitchFamily="2" charset="-122"/>
              </a:rPr>
              <a:t>整型数据以十六进制形式输出</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(“%x”,16);         10   </a:t>
            </a:r>
            <a:r>
              <a:rPr lang="zh-CN" altLang="en-US" sz="3200" b="1" dirty="0">
                <a:solidFill>
                  <a:schemeClr val="accent1"/>
                </a:solidFill>
                <a:latin typeface="宋体" pitchFamily="2" charset="-122"/>
              </a:rPr>
              <a:t>	</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%U</a:t>
            </a:r>
            <a:r>
              <a:rPr lang="en-US" altLang="zh-CN" sz="3200" b="1" dirty="0">
                <a:latin typeface="宋体" pitchFamily="2" charset="-122"/>
              </a:rPr>
              <a:t>	  </a:t>
            </a:r>
            <a:r>
              <a:rPr lang="zh-CN" altLang="en-US" sz="3200" b="1" dirty="0">
                <a:latin typeface="宋体" pitchFamily="2" charset="-122"/>
              </a:rPr>
              <a:t>无符号整型数据以十进制形式输出	</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(“%u”,-1);         4294967295</a:t>
            </a:r>
            <a:endParaRPr lang="zh-CN" altLang="en-US" b="1" dirty="0">
              <a:solidFill>
                <a:schemeClr val="accent1"/>
              </a:solidFill>
              <a:latin typeface="Times New Roman" pitchFamily="18" charset="0"/>
            </a:endParaRPr>
          </a:p>
          <a:p>
            <a:pPr>
              <a:lnSpc>
                <a:spcPct val="80000"/>
              </a:lnSpc>
              <a:buFont typeface="Monotype Sorts" pitchFamily="2" charset="2"/>
              <a:buNone/>
            </a:pPr>
            <a:endParaRPr lang="en-US" altLang="zh-CN" b="1" dirty="0">
              <a:latin typeface="Times New Roman" pitchFamily="18" charset="0"/>
            </a:endParaRPr>
          </a:p>
        </p:txBody>
      </p:sp>
      <p:sp>
        <p:nvSpPr>
          <p:cNvPr id="6" name="灯片编号占位符 5"/>
          <p:cNvSpPr>
            <a:spLocks noGrp="1"/>
          </p:cNvSpPr>
          <p:nvPr>
            <p:ph type="sldNum" sz="quarter" idx="12"/>
          </p:nvPr>
        </p:nvSpPr>
        <p:spPr/>
        <p:txBody>
          <a:bodyPr/>
          <a:lstStyle/>
          <a:p>
            <a:fld id="{D8ED1F59-6772-4B0B-A950-998220AB877D}" type="slidenum">
              <a:rPr lang="en-US" altLang="zh-CN"/>
              <a:pPr/>
              <a:t>32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5859">
                                            <p:txEl>
                                              <p:pRg st="3" end="3"/>
                                            </p:txEl>
                                          </p:spTgt>
                                        </p:tgtEl>
                                        <p:attrNameLst>
                                          <p:attrName>style.visibility</p:attrName>
                                        </p:attrNameLst>
                                      </p:cBhvr>
                                      <p:to>
                                        <p:strVal val="visible"/>
                                      </p:to>
                                    </p:set>
                                    <p:anim calcmode="lin" valueType="num">
                                      <p:cBhvr additive="base">
                                        <p:cTn id="7" dur="500" fill="hold"/>
                                        <p:tgtEl>
                                          <p:spTgt spid="50585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5859">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5859">
                                            <p:txEl>
                                              <p:pRg st="4" end="4"/>
                                            </p:txEl>
                                          </p:spTgt>
                                        </p:tgtEl>
                                        <p:attrNameLst>
                                          <p:attrName>style.visibility</p:attrName>
                                        </p:attrNameLst>
                                      </p:cBhvr>
                                      <p:to>
                                        <p:strVal val="visible"/>
                                      </p:to>
                                    </p:set>
                                    <p:anim calcmode="lin" valueType="num">
                                      <p:cBhvr additive="base">
                                        <p:cTn id="11" dur="500" fill="hold"/>
                                        <p:tgtEl>
                                          <p:spTgt spid="505859">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58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5859">
                                            <p:txEl>
                                              <p:pRg st="5" end="5"/>
                                            </p:txEl>
                                          </p:spTgt>
                                        </p:tgtEl>
                                        <p:attrNameLst>
                                          <p:attrName>style.visibility</p:attrName>
                                        </p:attrNameLst>
                                      </p:cBhvr>
                                      <p:to>
                                        <p:strVal val="visible"/>
                                      </p:to>
                                    </p:set>
                                    <p:anim calcmode="lin" valueType="num">
                                      <p:cBhvr additive="base">
                                        <p:cTn id="17" dur="500" fill="hold"/>
                                        <p:tgtEl>
                                          <p:spTgt spid="505859">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5859">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5859">
                                            <p:txEl>
                                              <p:pRg st="6" end="6"/>
                                            </p:txEl>
                                          </p:spTgt>
                                        </p:tgtEl>
                                        <p:attrNameLst>
                                          <p:attrName>style.visibility</p:attrName>
                                        </p:attrNameLst>
                                      </p:cBhvr>
                                      <p:to>
                                        <p:strVal val="visible"/>
                                      </p:to>
                                    </p:set>
                                    <p:anim calcmode="lin" valueType="num">
                                      <p:cBhvr additive="base">
                                        <p:cTn id="21" dur="500" fill="hold"/>
                                        <p:tgtEl>
                                          <p:spTgt spid="505859">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58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05859">
                                            <p:txEl>
                                              <p:pRg st="7" end="7"/>
                                            </p:txEl>
                                          </p:spTgt>
                                        </p:tgtEl>
                                        <p:attrNameLst>
                                          <p:attrName>style.visibility</p:attrName>
                                        </p:attrNameLst>
                                      </p:cBhvr>
                                      <p:to>
                                        <p:strVal val="visible"/>
                                      </p:to>
                                    </p:set>
                                    <p:anim calcmode="lin" valueType="num">
                                      <p:cBhvr additive="base">
                                        <p:cTn id="27" dur="500" fill="hold"/>
                                        <p:tgtEl>
                                          <p:spTgt spid="50585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05859">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5859">
                                            <p:txEl>
                                              <p:pRg st="8" end="8"/>
                                            </p:txEl>
                                          </p:spTgt>
                                        </p:tgtEl>
                                        <p:attrNameLst>
                                          <p:attrName>style.visibility</p:attrName>
                                        </p:attrNameLst>
                                      </p:cBhvr>
                                      <p:to>
                                        <p:strVal val="visible"/>
                                      </p:to>
                                    </p:set>
                                    <p:anim calcmode="lin" valueType="num">
                                      <p:cBhvr additive="base">
                                        <p:cTn id="31" dur="500" fill="hold"/>
                                        <p:tgtEl>
                                          <p:spTgt spid="505859">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58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idx="1"/>
          </p:nvPr>
        </p:nvSpPr>
        <p:spPr/>
        <p:txBody>
          <a:bodyPr/>
          <a:lstStyle/>
          <a:p>
            <a:pPr>
              <a:lnSpc>
                <a:spcPct val="80000"/>
              </a:lnSpc>
            </a:pPr>
            <a:r>
              <a:rPr lang="en-US" altLang="zh-CN" sz="3600" b="1" dirty="0">
                <a:solidFill>
                  <a:srgbClr val="C00000"/>
                </a:solidFill>
                <a:latin typeface="宋体" pitchFamily="2" charset="-122"/>
              </a:rPr>
              <a:t>%c	</a:t>
            </a:r>
            <a:r>
              <a:rPr lang="en-US" altLang="zh-CN" sz="3600" b="1" dirty="0">
                <a:latin typeface="宋体" pitchFamily="2" charset="-122"/>
              </a:rPr>
              <a:t>   </a:t>
            </a:r>
            <a:r>
              <a:rPr lang="zh-CN" altLang="en-US" sz="3600" b="1" dirty="0">
                <a:latin typeface="宋体" pitchFamily="2" charset="-122"/>
              </a:rPr>
              <a:t>以单个字符形式输出</a:t>
            </a:r>
            <a:endParaRPr lang="en-US" altLang="zh-CN" sz="3600" b="1" dirty="0">
              <a:latin typeface="宋体" pitchFamily="2" charset="-122"/>
            </a:endParaRPr>
          </a:p>
          <a:p>
            <a:pPr>
              <a:lnSpc>
                <a:spcPct val="80000"/>
              </a:lnSpc>
              <a:buNone/>
            </a:pPr>
            <a:r>
              <a:rPr lang="en-US" altLang="zh-CN" sz="3600" b="1" dirty="0" err="1">
                <a:solidFill>
                  <a:schemeClr val="accent1"/>
                </a:solidFill>
                <a:latin typeface="宋体" pitchFamily="2" charset="-122"/>
              </a:rPr>
              <a:t>printf</a:t>
            </a:r>
            <a:r>
              <a:rPr lang="en-US" altLang="zh-CN" sz="3600" b="1" dirty="0">
                <a:solidFill>
                  <a:schemeClr val="accent1"/>
                </a:solidFill>
                <a:latin typeface="宋体" pitchFamily="2" charset="-122"/>
              </a:rPr>
              <a:t>(“%c”, ’c’);      c</a:t>
            </a:r>
            <a:r>
              <a:rPr lang="zh-CN" altLang="en-US" sz="3600" b="1" dirty="0">
                <a:latin typeface="宋体" pitchFamily="2" charset="-122"/>
              </a:rPr>
              <a:t>	</a:t>
            </a:r>
            <a:endParaRPr lang="zh-CN" altLang="en-US" sz="3600" b="1" dirty="0">
              <a:latin typeface="Times New Roman" pitchFamily="18" charset="0"/>
            </a:endParaRPr>
          </a:p>
          <a:p>
            <a:pPr>
              <a:lnSpc>
                <a:spcPct val="80000"/>
              </a:lnSpc>
            </a:pPr>
            <a:r>
              <a:rPr lang="en-US" altLang="zh-CN" sz="3600" b="1" dirty="0">
                <a:solidFill>
                  <a:srgbClr val="C00000"/>
                </a:solidFill>
                <a:latin typeface="宋体" pitchFamily="2" charset="-122"/>
              </a:rPr>
              <a:t>%s</a:t>
            </a:r>
            <a:r>
              <a:rPr lang="en-US" altLang="zh-CN" sz="3600" b="1" dirty="0">
                <a:latin typeface="宋体" pitchFamily="2" charset="-122"/>
              </a:rPr>
              <a:t>	   </a:t>
            </a:r>
            <a:r>
              <a:rPr lang="zh-CN" altLang="en-US" sz="3600" b="1" dirty="0">
                <a:latin typeface="宋体" pitchFamily="2" charset="-122"/>
              </a:rPr>
              <a:t>以字符串形式输出</a:t>
            </a:r>
            <a:endParaRPr lang="en-US" altLang="zh-CN" sz="3600" b="1" dirty="0">
              <a:latin typeface="宋体" pitchFamily="2" charset="-122"/>
            </a:endParaRPr>
          </a:p>
          <a:p>
            <a:pPr>
              <a:lnSpc>
                <a:spcPct val="80000"/>
              </a:lnSpc>
              <a:buNone/>
            </a:pPr>
            <a:r>
              <a:rPr lang="en-US" altLang="zh-CN" sz="3600" b="1" dirty="0" err="1">
                <a:solidFill>
                  <a:schemeClr val="accent1"/>
                </a:solidFill>
                <a:latin typeface="宋体" pitchFamily="2" charset="-122"/>
              </a:rPr>
              <a:t>printf</a:t>
            </a:r>
            <a:r>
              <a:rPr lang="en-US" altLang="zh-CN" sz="3600" b="1" dirty="0">
                <a:solidFill>
                  <a:schemeClr val="accent1"/>
                </a:solidFill>
                <a:latin typeface="宋体" pitchFamily="2" charset="-122"/>
              </a:rPr>
              <a:t>(“%</a:t>
            </a:r>
            <a:r>
              <a:rPr lang="en-US" altLang="zh-CN" sz="3600" b="1" dirty="0" err="1">
                <a:solidFill>
                  <a:schemeClr val="accent1"/>
                </a:solidFill>
                <a:latin typeface="宋体" pitchFamily="2" charset="-122"/>
              </a:rPr>
              <a:t>s”,”string</a:t>
            </a:r>
            <a:r>
              <a:rPr lang="en-US" altLang="zh-CN" sz="3600" b="1" dirty="0">
                <a:solidFill>
                  <a:schemeClr val="accent1"/>
                </a:solidFill>
                <a:latin typeface="宋体" pitchFamily="2" charset="-122"/>
              </a:rPr>
              <a:t>”);  string</a:t>
            </a:r>
            <a:r>
              <a:rPr lang="zh-CN" altLang="en-US" sz="3600" b="1" dirty="0">
                <a:latin typeface="宋体" pitchFamily="2" charset="-122"/>
              </a:rPr>
              <a:t>	</a:t>
            </a:r>
            <a:endParaRPr lang="zh-CN" altLang="en-US" sz="3600" b="1" dirty="0">
              <a:latin typeface="Times New Roman" pitchFamily="18" charset="0"/>
            </a:endParaRPr>
          </a:p>
          <a:p>
            <a:endParaRPr lang="zh-CN" altLang="en-US" sz="3600" dirty="0"/>
          </a:p>
        </p:txBody>
      </p:sp>
      <p:sp>
        <p:nvSpPr>
          <p:cNvPr id="4" name="Slide Number Placeholder 3"/>
          <p:cNvSpPr>
            <a:spLocks noGrp="1"/>
          </p:cNvSpPr>
          <p:nvPr>
            <p:ph type="sldNum" sz="quarter" idx="12"/>
          </p:nvPr>
        </p:nvSpPr>
        <p:spPr/>
        <p:txBody>
          <a:bodyPr/>
          <a:lstStyle/>
          <a:p>
            <a:fld id="{08B27F99-712D-4C13-83EA-F271460F102E}" type="slidenum">
              <a:rPr lang="en-US" altLang="zh-CN" smtClean="0"/>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714356"/>
            <a:ext cx="8229600" cy="5324492"/>
          </a:xfrm>
        </p:spPr>
        <p:txBody>
          <a:bodyPr>
            <a:noAutofit/>
          </a:bodyPr>
          <a:lstStyle/>
          <a:p>
            <a:pPr>
              <a:lnSpc>
                <a:spcPct val="80000"/>
              </a:lnSpc>
            </a:pPr>
            <a:r>
              <a:rPr lang="en-US" altLang="zh-CN" sz="3600" b="1" dirty="0">
                <a:solidFill>
                  <a:srgbClr val="C00000"/>
                </a:solidFill>
                <a:latin typeface="宋体" pitchFamily="2" charset="-122"/>
              </a:rPr>
              <a:t>%f</a:t>
            </a:r>
            <a:r>
              <a:rPr lang="en-US" altLang="zh-CN" sz="3600" b="1" dirty="0">
                <a:latin typeface="宋体" pitchFamily="2" charset="-122"/>
              </a:rPr>
              <a:t>	   </a:t>
            </a:r>
            <a:r>
              <a:rPr lang="zh-CN" altLang="en-US" sz="3600" b="1" dirty="0">
                <a:latin typeface="宋体" pitchFamily="2" charset="-122"/>
              </a:rPr>
              <a:t>以浮点形式输出实型数据</a:t>
            </a:r>
            <a:endParaRPr lang="en-US" altLang="zh-CN" sz="3600" b="1" dirty="0">
              <a:latin typeface="宋体" pitchFamily="2" charset="-122"/>
            </a:endParaRPr>
          </a:p>
          <a:p>
            <a:pPr>
              <a:lnSpc>
                <a:spcPct val="80000"/>
              </a:lnSpc>
              <a:buNone/>
            </a:pPr>
            <a:r>
              <a:rPr lang="en-US" altLang="zh-CN" sz="3600" b="1" dirty="0" err="1">
                <a:solidFill>
                  <a:schemeClr val="tx2"/>
                </a:solidFill>
                <a:latin typeface="宋体" pitchFamily="2" charset="-122"/>
              </a:rPr>
              <a:t>printf</a:t>
            </a:r>
            <a:r>
              <a:rPr lang="en-US" altLang="zh-CN" sz="3600" b="1" dirty="0">
                <a:solidFill>
                  <a:schemeClr val="tx2"/>
                </a:solidFill>
                <a:latin typeface="宋体" pitchFamily="2" charset="-122"/>
              </a:rPr>
              <a:t>(“%f”, 1.0);       1.000000</a:t>
            </a:r>
            <a:r>
              <a:rPr lang="zh-CN" altLang="en-US" sz="3600" b="1" dirty="0">
                <a:solidFill>
                  <a:schemeClr val="accent1"/>
                </a:solidFill>
                <a:latin typeface="宋体" pitchFamily="2" charset="-122"/>
              </a:rPr>
              <a:t>	</a:t>
            </a:r>
            <a:endParaRPr lang="zh-CN" altLang="en-US" sz="3600" b="1" dirty="0">
              <a:solidFill>
                <a:schemeClr val="accent1"/>
              </a:solidFill>
              <a:latin typeface="Times New Roman" pitchFamily="18" charset="0"/>
            </a:endParaRPr>
          </a:p>
          <a:p>
            <a:pPr>
              <a:lnSpc>
                <a:spcPct val="80000"/>
              </a:lnSpc>
            </a:pPr>
            <a:endParaRPr lang="en-US" altLang="zh-CN" sz="3600" b="1" dirty="0">
              <a:latin typeface="宋体" pitchFamily="2" charset="-122"/>
            </a:endParaRPr>
          </a:p>
          <a:p>
            <a:pPr>
              <a:lnSpc>
                <a:spcPct val="80000"/>
              </a:lnSpc>
            </a:pPr>
            <a:r>
              <a:rPr lang="en-US" altLang="zh-CN" sz="3600" b="1" dirty="0">
                <a:solidFill>
                  <a:srgbClr val="C00000"/>
                </a:solidFill>
                <a:latin typeface="宋体" pitchFamily="2" charset="-122"/>
              </a:rPr>
              <a:t>%e</a:t>
            </a:r>
            <a:r>
              <a:rPr lang="zh-CN" altLang="en-US" sz="3600" b="1" dirty="0">
                <a:solidFill>
                  <a:srgbClr val="C00000"/>
                </a:solidFill>
                <a:latin typeface="宋体" pitchFamily="2" charset="-122"/>
              </a:rPr>
              <a:t>或</a:t>
            </a:r>
            <a:r>
              <a:rPr lang="en-US" altLang="zh-CN" sz="3600" b="1" dirty="0">
                <a:solidFill>
                  <a:srgbClr val="C00000"/>
                </a:solidFill>
                <a:latin typeface="宋体" pitchFamily="2" charset="-122"/>
              </a:rPr>
              <a:t>E</a:t>
            </a:r>
            <a:r>
              <a:rPr lang="en-US" altLang="zh-CN" sz="3600" b="1" dirty="0">
                <a:latin typeface="宋体" pitchFamily="2" charset="-122"/>
              </a:rPr>
              <a:t>  </a:t>
            </a:r>
            <a:r>
              <a:rPr lang="zh-CN" altLang="en-US" sz="3600" b="1" dirty="0">
                <a:latin typeface="宋体" pitchFamily="2" charset="-122"/>
              </a:rPr>
              <a:t>以标准指数形式输出实型数据	</a:t>
            </a:r>
            <a:endParaRPr lang="en-US" altLang="zh-CN" sz="3600" b="1" dirty="0">
              <a:latin typeface="宋体" pitchFamily="2" charset="-122"/>
            </a:endParaRPr>
          </a:p>
          <a:p>
            <a:pPr>
              <a:lnSpc>
                <a:spcPct val="80000"/>
              </a:lnSpc>
              <a:buNone/>
            </a:pPr>
            <a:r>
              <a:rPr lang="en-US" altLang="zh-CN" sz="3600" b="1" dirty="0" err="1">
                <a:solidFill>
                  <a:schemeClr val="tx2"/>
                </a:solidFill>
                <a:latin typeface="宋体" pitchFamily="2" charset="-122"/>
              </a:rPr>
              <a:t>printf</a:t>
            </a:r>
            <a:r>
              <a:rPr lang="en-US" altLang="zh-CN" sz="3600" b="1" dirty="0">
                <a:solidFill>
                  <a:schemeClr val="tx2"/>
                </a:solidFill>
                <a:latin typeface="宋体" pitchFamily="2" charset="-122"/>
              </a:rPr>
              <a:t>(“%e”, 1.0);   1.000000e+000</a:t>
            </a:r>
            <a:endParaRPr lang="zh-CN" altLang="en-US" sz="3600" b="1" dirty="0">
              <a:solidFill>
                <a:schemeClr val="tx2"/>
              </a:solidFill>
              <a:latin typeface="Times New Roman" pitchFamily="18" charset="0"/>
            </a:endParaRPr>
          </a:p>
          <a:p>
            <a:pPr>
              <a:lnSpc>
                <a:spcPct val="80000"/>
              </a:lnSpc>
            </a:pPr>
            <a:endParaRPr lang="en-US" altLang="zh-CN" sz="3600" b="1" dirty="0">
              <a:latin typeface="宋体" pitchFamily="2" charset="-122"/>
            </a:endParaRPr>
          </a:p>
        </p:txBody>
      </p:sp>
      <p:sp>
        <p:nvSpPr>
          <p:cNvPr id="4" name="Slide Number Placeholder 3"/>
          <p:cNvSpPr>
            <a:spLocks noGrp="1"/>
          </p:cNvSpPr>
          <p:nvPr>
            <p:ph type="sldNum" sz="quarter" idx="12"/>
          </p:nvPr>
        </p:nvSpPr>
        <p:spPr/>
        <p:txBody>
          <a:bodyPr/>
          <a:lstStyle/>
          <a:p>
            <a:fld id="{08B27F99-712D-4C13-83EA-F271460F102E}" type="slidenum">
              <a:rPr lang="en-US" altLang="zh-CN" smtClean="0"/>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8313" y="228600"/>
            <a:ext cx="8447087" cy="685800"/>
          </a:xfrm>
        </p:spPr>
        <p:txBody>
          <a:bodyPr>
            <a:noAutofit/>
          </a:bodyPr>
          <a:lstStyle/>
          <a:p>
            <a:r>
              <a:rPr lang="zh-CN" altLang="en-US" sz="4000" b="1" dirty="0">
                <a:solidFill>
                  <a:schemeClr val="tx1"/>
                </a:solidFill>
                <a:latin typeface="黑体" pitchFamily="2" charset="-122"/>
                <a:ea typeface="黑体" pitchFamily="2" charset="-122"/>
              </a:rPr>
              <a:t>输出格式修饰符 </a:t>
            </a:r>
          </a:p>
        </p:txBody>
      </p:sp>
      <p:sp>
        <p:nvSpPr>
          <p:cNvPr id="486403" name="Rectangle 3"/>
          <p:cNvSpPr>
            <a:spLocks noGrp="1" noChangeArrowheads="1"/>
          </p:cNvSpPr>
          <p:nvPr>
            <p:ph idx="1"/>
          </p:nvPr>
        </p:nvSpPr>
        <p:spPr>
          <a:xfrm>
            <a:off x="323850" y="981075"/>
            <a:ext cx="8515350" cy="5327650"/>
          </a:xfrm>
        </p:spPr>
        <p:txBody>
          <a:bodyPr>
            <a:normAutofit fontScale="92500"/>
          </a:bodyPr>
          <a:lstStyle/>
          <a:p>
            <a:pPr marL="0" indent="0" algn="just">
              <a:buFont typeface="Monotype Sorts" pitchFamily="2" charset="2"/>
              <a:buNone/>
            </a:pPr>
            <a:endParaRPr lang="en-US" altLang="zh-CN" b="1" dirty="0">
              <a:solidFill>
                <a:srgbClr val="CC0066"/>
              </a:solidFill>
              <a:effectLst>
                <a:outerShdw blurRad="38100" dist="38100" dir="2700000" algn="tl">
                  <a:srgbClr val="000000"/>
                </a:outerShdw>
              </a:effectLst>
              <a:latin typeface="宋体" pitchFamily="2" charset="-122"/>
            </a:endParaRPr>
          </a:p>
          <a:p>
            <a:pPr marL="623888" indent="-623888">
              <a:buFont typeface="Monotype Sorts" pitchFamily="2" charset="2"/>
              <a:buNone/>
            </a:pPr>
            <a:r>
              <a:rPr lang="en-US" altLang="zh-CN" sz="4000" b="1" dirty="0">
                <a:solidFill>
                  <a:srgbClr val="CC0000"/>
                </a:solidFill>
                <a:latin typeface="宋体" pitchFamily="2" charset="-122"/>
              </a:rPr>
              <a:t>-</a:t>
            </a:r>
            <a:r>
              <a:rPr lang="en-US" altLang="zh-CN" sz="3600" b="1" dirty="0">
                <a:solidFill>
                  <a:srgbClr val="CC0000"/>
                </a:solidFill>
                <a:latin typeface="宋体" pitchFamily="2" charset="-122"/>
              </a:rPr>
              <a:t> </a:t>
            </a:r>
            <a:r>
              <a:rPr lang="en-US" altLang="zh-CN" sz="3200" b="1" dirty="0">
                <a:solidFill>
                  <a:srgbClr val="CC0000"/>
                </a:solidFill>
                <a:latin typeface="宋体" pitchFamily="2" charset="-122"/>
              </a:rPr>
              <a:t> </a:t>
            </a:r>
            <a:r>
              <a:rPr lang="zh-CN" altLang="en-US" sz="3200" b="1" dirty="0">
                <a:solidFill>
                  <a:srgbClr val="CC0000"/>
                </a:solidFill>
                <a:latin typeface="宋体" pitchFamily="2" charset="-122"/>
              </a:rPr>
              <a:t>左对齐标志。</a:t>
            </a:r>
            <a:r>
              <a:rPr lang="zh-CN" altLang="en-US" sz="3200" b="1" dirty="0">
                <a:latin typeface="宋体" pitchFamily="2" charset="-122"/>
              </a:rPr>
              <a:t>当输出字符个数少于</a:t>
            </a:r>
            <a:r>
              <a:rPr lang="en-US" altLang="zh-CN" sz="3200" b="1" dirty="0">
                <a:latin typeface="宋体" pitchFamily="2" charset="-122"/>
              </a:rPr>
              <a:t>w</a:t>
            </a:r>
            <a:r>
              <a:rPr lang="zh-CN" altLang="en-US" sz="3200" b="1" dirty="0">
                <a:latin typeface="宋体" pitchFamily="2" charset="-122"/>
              </a:rPr>
              <a:t>时，右边补填充符。缺省时右对齐，即左边补填充符。</a:t>
            </a:r>
          </a:p>
          <a:p>
            <a:pPr marL="623888" indent="-623888">
              <a:buFont typeface="Monotype Sorts" pitchFamily="2" charset="2"/>
              <a:buNone/>
            </a:pPr>
            <a:r>
              <a:rPr lang="en-US" altLang="zh-CN" sz="3600" b="1" dirty="0">
                <a:solidFill>
                  <a:srgbClr val="CC0066"/>
                </a:solidFill>
                <a:latin typeface="宋体" pitchFamily="2" charset="-122"/>
              </a:rPr>
              <a:t>+ </a:t>
            </a:r>
            <a:r>
              <a:rPr lang="en-US" altLang="zh-CN" sz="3200" b="1" dirty="0">
                <a:solidFill>
                  <a:srgbClr val="CC0066"/>
                </a:solidFill>
                <a:latin typeface="宋体" pitchFamily="2" charset="-122"/>
              </a:rPr>
              <a:t> </a:t>
            </a:r>
            <a:r>
              <a:rPr lang="zh-CN" altLang="en-US" sz="3200" b="1" dirty="0">
                <a:solidFill>
                  <a:srgbClr val="CC0000"/>
                </a:solidFill>
                <a:latin typeface="宋体" pitchFamily="2" charset="-122"/>
              </a:rPr>
              <a:t>正数也带符号输出。</a:t>
            </a:r>
            <a:r>
              <a:rPr lang="zh-CN" altLang="en-US" sz="3200" b="1" dirty="0">
                <a:latin typeface="宋体" pitchFamily="2" charset="-122"/>
              </a:rPr>
              <a:t>在输出数值前加符号‘</a:t>
            </a:r>
            <a:r>
              <a:rPr lang="en-US" altLang="zh-CN" sz="3200" b="1" dirty="0">
                <a:latin typeface="宋体" pitchFamily="2" charset="-122"/>
              </a:rPr>
              <a:t>+’</a:t>
            </a:r>
            <a:r>
              <a:rPr lang="zh-CN" altLang="en-US" sz="3200" b="1" dirty="0">
                <a:latin typeface="宋体" pitchFamily="2" charset="-122"/>
              </a:rPr>
              <a:t>或‘</a:t>
            </a:r>
            <a:r>
              <a:rPr lang="en-US" altLang="zh-CN" sz="3200" b="1" dirty="0">
                <a:latin typeface="宋体" pitchFamily="2" charset="-122"/>
              </a:rPr>
              <a:t>-’</a:t>
            </a:r>
            <a:r>
              <a:rPr lang="zh-CN" altLang="en-US" sz="3200" b="1" dirty="0">
                <a:latin typeface="宋体" pitchFamily="2" charset="-122"/>
              </a:rPr>
              <a:t>。缺省时，只对负数输出有负号‘</a:t>
            </a:r>
            <a:r>
              <a:rPr lang="en-US" altLang="zh-CN" sz="3200" b="1" dirty="0">
                <a:latin typeface="宋体" pitchFamily="2" charset="-122"/>
              </a:rPr>
              <a:t>-’</a:t>
            </a:r>
            <a:r>
              <a:rPr lang="zh-CN" altLang="en-US" sz="3200" b="1" dirty="0">
                <a:latin typeface="宋体" pitchFamily="2" charset="-122"/>
              </a:rPr>
              <a:t>。</a:t>
            </a:r>
          </a:p>
          <a:p>
            <a:pPr marL="623888" indent="-623888">
              <a:buFont typeface="Monotype Sorts" pitchFamily="2" charset="2"/>
              <a:buNone/>
            </a:pPr>
            <a:r>
              <a:rPr lang="en-US" altLang="zh-CN" sz="3200" b="1" dirty="0">
                <a:solidFill>
                  <a:srgbClr val="CC0066"/>
                </a:solidFill>
                <a:latin typeface="宋体" pitchFamily="2" charset="-122"/>
              </a:rPr>
              <a:t>#</a:t>
            </a:r>
            <a:r>
              <a:rPr lang="en-US" altLang="zh-CN" sz="3200" b="1" dirty="0">
                <a:latin typeface="宋体" pitchFamily="2" charset="-122"/>
              </a:rPr>
              <a:t>  </a:t>
            </a:r>
            <a:r>
              <a:rPr lang="zh-CN" altLang="en-US" sz="3200" b="1" dirty="0">
                <a:latin typeface="宋体" pitchFamily="2" charset="-122"/>
              </a:rPr>
              <a:t>对八进制数前加</a:t>
            </a:r>
            <a:r>
              <a:rPr lang="en-US" altLang="zh-CN" sz="3200" b="1" dirty="0">
                <a:latin typeface="宋体" pitchFamily="2" charset="-122"/>
              </a:rPr>
              <a:t>0</a:t>
            </a:r>
            <a:r>
              <a:rPr lang="zh-CN" altLang="en-US" sz="3200" b="1" dirty="0">
                <a:latin typeface="宋体" pitchFamily="2" charset="-122"/>
              </a:rPr>
              <a:t>；对十六进制数前加</a:t>
            </a:r>
            <a:r>
              <a:rPr lang="en-US" altLang="zh-CN" sz="3200" b="1" dirty="0">
                <a:latin typeface="宋体" pitchFamily="2" charset="-122"/>
              </a:rPr>
              <a:t>0x</a:t>
            </a:r>
            <a:r>
              <a:rPr lang="zh-CN" altLang="en-US" sz="3200" b="1" dirty="0">
                <a:latin typeface="宋体" pitchFamily="2" charset="-122"/>
              </a:rPr>
              <a:t>；对浮点数总显示小数点。</a:t>
            </a:r>
          </a:p>
          <a:p>
            <a:pPr marL="0" indent="0" algn="just">
              <a:buFont typeface="Monotype Sorts" pitchFamily="2" charset="2"/>
              <a:buNone/>
            </a:pPr>
            <a:r>
              <a:rPr lang="en-US" altLang="zh-CN" sz="3200" b="1" dirty="0">
                <a:solidFill>
                  <a:srgbClr val="CC0066"/>
                </a:solidFill>
                <a:latin typeface="宋体" pitchFamily="2" charset="-122"/>
              </a:rPr>
              <a:t>w  </a:t>
            </a:r>
            <a:r>
              <a:rPr lang="zh-CN" altLang="en-US" sz="2800" b="1" dirty="0">
                <a:latin typeface="宋体" pitchFamily="2" charset="-122"/>
              </a:rPr>
              <a:t>指定输出数据的字符数。若输出字符数</a:t>
            </a:r>
            <a:r>
              <a:rPr lang="en-US" altLang="zh-CN" sz="2800" b="1" dirty="0">
                <a:latin typeface="宋体" pitchFamily="2" charset="-122"/>
              </a:rPr>
              <a:t>&gt;w</a:t>
            </a:r>
            <a:r>
              <a:rPr lang="zh-CN" altLang="en-US" sz="2800" b="1" dirty="0">
                <a:latin typeface="宋体" pitchFamily="2" charset="-122"/>
              </a:rPr>
              <a:t>，则输出实际字符数；若输出字符数</a:t>
            </a:r>
            <a:r>
              <a:rPr lang="en-US" altLang="zh-CN" sz="2800" b="1" dirty="0">
                <a:latin typeface="宋体" pitchFamily="2" charset="-122"/>
              </a:rPr>
              <a:t>&lt;w</a:t>
            </a:r>
            <a:r>
              <a:rPr lang="zh-CN" altLang="en-US" sz="2800" b="1" dirty="0">
                <a:latin typeface="宋体" pitchFamily="2" charset="-122"/>
              </a:rPr>
              <a:t>，左边补空格</a:t>
            </a:r>
            <a:r>
              <a:rPr lang="en-US" altLang="zh-CN" sz="2800" b="1" dirty="0">
                <a:latin typeface="宋体" pitchFamily="2" charset="-122"/>
              </a:rPr>
              <a:t>(</a:t>
            </a:r>
            <a:r>
              <a:rPr lang="zh-CN" altLang="en-US" sz="2800" b="1" dirty="0">
                <a:latin typeface="宋体" pitchFamily="2" charset="-122"/>
              </a:rPr>
              <a:t>若有</a:t>
            </a:r>
            <a:r>
              <a:rPr lang="en-US" altLang="zh-CN" sz="2800" b="1" dirty="0">
                <a:latin typeface="宋体" pitchFamily="2" charset="-122"/>
              </a:rPr>
              <a:t>-</a:t>
            </a:r>
            <a:r>
              <a:rPr lang="zh-CN" altLang="en-US" sz="2800" b="1" dirty="0">
                <a:latin typeface="宋体" pitchFamily="2" charset="-122"/>
              </a:rPr>
              <a:t>，则在右边补空格</a:t>
            </a:r>
            <a:r>
              <a:rPr lang="en-US" altLang="zh-CN" sz="2800" b="1" dirty="0">
                <a:latin typeface="宋体" pitchFamily="2" charset="-122"/>
              </a:rPr>
              <a:t>)</a:t>
            </a:r>
            <a:r>
              <a:rPr lang="zh-CN" altLang="en-US" sz="2800" b="1" dirty="0">
                <a:latin typeface="宋体" pitchFamily="2" charset="-122"/>
              </a:rPr>
              <a:t>。</a:t>
            </a:r>
          </a:p>
        </p:txBody>
      </p:sp>
      <p:sp>
        <p:nvSpPr>
          <p:cNvPr id="6" name="灯片编号占位符 5"/>
          <p:cNvSpPr>
            <a:spLocks noGrp="1"/>
          </p:cNvSpPr>
          <p:nvPr>
            <p:ph type="sldNum" sz="quarter" idx="12"/>
          </p:nvPr>
        </p:nvSpPr>
        <p:spPr/>
        <p:txBody>
          <a:bodyPr/>
          <a:lstStyle/>
          <a:p>
            <a:fld id="{99EE45B9-5B77-48EE-BEF0-02CF7B3A339F}" type="slidenum">
              <a:rPr lang="en-US" altLang="zh-CN"/>
              <a:pPr/>
              <a:t>35</a:t>
            </a:fld>
            <a:endParaRPr lang="en-US" altLang="zh-CN"/>
          </a:p>
        </p:txBody>
      </p:sp>
      <p:sp>
        <p:nvSpPr>
          <p:cNvPr id="5" name="矩形 4"/>
          <p:cNvSpPr/>
          <p:nvPr/>
        </p:nvSpPr>
        <p:spPr>
          <a:xfrm>
            <a:off x="5220072" y="908720"/>
            <a:ext cx="2993127" cy="369332"/>
          </a:xfrm>
          <a:prstGeom prst="rect">
            <a:avLst/>
          </a:prstGeom>
        </p:spPr>
        <p:txBody>
          <a:bodyPr wrap="none">
            <a:spAutoFit/>
          </a:bodyPr>
          <a:lstStyle/>
          <a:p>
            <a:r>
              <a:rPr lang="en-US" altLang="zh-CN" b="1" dirty="0">
                <a:solidFill>
                  <a:srgbClr val="CC0000"/>
                </a:solidFill>
                <a:effectLst>
                  <a:outerShdw blurRad="38100" dist="38100" dir="2700000" algn="tl">
                    <a:srgbClr val="000000"/>
                  </a:outerShdw>
                </a:effectLst>
                <a:latin typeface="宋体" pitchFamily="2" charset="-122"/>
              </a:rPr>
              <a:t>%</a:t>
            </a:r>
            <a:r>
              <a:rPr lang="en-US" altLang="zh-CN" b="1" dirty="0">
                <a:solidFill>
                  <a:srgbClr val="0000FF"/>
                </a:solidFill>
                <a:effectLst>
                  <a:outerShdw blurRad="38100" dist="38100" dir="2700000" algn="tl">
                    <a:srgbClr val="000000"/>
                  </a:outerShdw>
                </a:effectLst>
                <a:latin typeface="宋体" pitchFamily="2" charset="-122"/>
              </a:rPr>
              <a:t>[-][+][#][w][.p][h/l/L]</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p:cNvSpPr>
            <a:spLocks noGrp="1" noChangeArrowheads="1"/>
          </p:cNvSpPr>
          <p:nvPr>
            <p:ph idx="1"/>
          </p:nvPr>
        </p:nvSpPr>
        <p:spPr>
          <a:xfrm>
            <a:off x="539750" y="3114697"/>
            <a:ext cx="8135938" cy="3529013"/>
          </a:xfrm>
        </p:spPr>
        <p:txBody>
          <a:bodyPr>
            <a:normAutofit/>
          </a:bodyPr>
          <a:lstStyle/>
          <a:p>
            <a:pPr marL="0" indent="0">
              <a:lnSpc>
                <a:spcPct val="80000"/>
              </a:lnSpc>
              <a:buFont typeface="Monotype Sorts" pitchFamily="2" charset="2"/>
              <a:buNone/>
            </a:pPr>
            <a:r>
              <a:rPr lang="en-US" altLang="zh-CN" sz="2800" b="1" dirty="0">
                <a:solidFill>
                  <a:srgbClr val="CC0066"/>
                </a:solidFill>
                <a:latin typeface="宋体" pitchFamily="2" charset="-122"/>
              </a:rPr>
              <a:t>h/l/L</a:t>
            </a:r>
            <a:r>
              <a:rPr lang="en-US" altLang="zh-CN" sz="2800" b="1" dirty="0">
                <a:solidFill>
                  <a:srgbClr val="0000FF"/>
                </a:solidFill>
                <a:latin typeface="宋体" pitchFamily="2" charset="-122"/>
              </a:rPr>
              <a:t> </a:t>
            </a:r>
            <a:r>
              <a:rPr lang="zh-CN" altLang="en-US" sz="2800" b="1" dirty="0">
                <a:solidFill>
                  <a:srgbClr val="0000FF"/>
                </a:solidFill>
                <a:latin typeface="宋体" pitchFamily="2" charset="-122"/>
              </a:rPr>
              <a:t>指明输出项的类型。</a:t>
            </a:r>
            <a:endParaRPr lang="zh-CN" altLang="en-US" sz="2800" b="1" dirty="0">
              <a:latin typeface="宋体" pitchFamily="2" charset="-122"/>
            </a:endParaRP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h</a:t>
            </a:r>
            <a:r>
              <a:rPr lang="zh-CN" altLang="en-US" sz="2800" b="1" dirty="0">
                <a:latin typeface="宋体" pitchFamily="2" charset="-122"/>
              </a:rPr>
              <a:t>与整型格式符一起使用，表示输出项是</a:t>
            </a:r>
            <a:br>
              <a:rPr lang="zh-CN" altLang="en-US" sz="2800" b="1" dirty="0">
                <a:latin typeface="宋体" pitchFamily="2" charset="-122"/>
              </a:rPr>
            </a:br>
            <a:r>
              <a:rPr lang="en-US" altLang="zh-CN" sz="2800" b="1" dirty="0">
                <a:latin typeface="宋体" pitchFamily="2" charset="-122"/>
              </a:rPr>
              <a:t>short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unsigned short </a:t>
            </a:r>
            <a:r>
              <a:rPr lang="en-US" altLang="zh-CN" sz="2800" b="1" dirty="0" err="1">
                <a:latin typeface="宋体" pitchFamily="2" charset="-122"/>
              </a:rPr>
              <a:t>int</a:t>
            </a:r>
            <a:r>
              <a:rPr lang="zh-CN" altLang="en-US" sz="2800" b="1" dirty="0">
                <a:latin typeface="宋体" pitchFamily="2" charset="-122"/>
              </a:rPr>
              <a:t>。</a:t>
            </a: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l</a:t>
            </a:r>
            <a:r>
              <a:rPr lang="zh-CN" altLang="en-US" sz="2800" b="1" dirty="0">
                <a:latin typeface="宋体" pitchFamily="2" charset="-122"/>
              </a:rPr>
              <a:t>与整型格式符一起使用，表示输出项是</a:t>
            </a:r>
            <a:br>
              <a:rPr lang="zh-CN" altLang="en-US" sz="2800" b="1" dirty="0">
                <a:latin typeface="宋体" pitchFamily="2" charset="-122"/>
              </a:rPr>
            </a:br>
            <a:r>
              <a:rPr lang="en-US" altLang="zh-CN" sz="2800" b="1" dirty="0">
                <a:latin typeface="宋体" pitchFamily="2" charset="-122"/>
              </a:rPr>
              <a:t>long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unsigned long </a:t>
            </a:r>
            <a:r>
              <a:rPr lang="en-US" altLang="zh-CN" sz="2800" b="1" dirty="0" err="1">
                <a:latin typeface="宋体" pitchFamily="2" charset="-122"/>
              </a:rPr>
              <a:t>int</a:t>
            </a:r>
            <a:r>
              <a:rPr lang="zh-CN" altLang="en-US" sz="2800" b="1" dirty="0">
                <a:latin typeface="宋体" pitchFamily="2" charset="-122"/>
              </a:rPr>
              <a:t>。</a:t>
            </a: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L</a:t>
            </a:r>
            <a:r>
              <a:rPr lang="zh-CN" altLang="en-US" sz="2800" b="1" dirty="0">
                <a:latin typeface="宋体" pitchFamily="2" charset="-122"/>
              </a:rPr>
              <a:t>与实型格式符一起使用，表示输出项是</a:t>
            </a:r>
            <a:br>
              <a:rPr lang="zh-CN" altLang="en-US" sz="2800" b="1" dirty="0">
                <a:latin typeface="宋体" pitchFamily="2" charset="-122"/>
              </a:rPr>
            </a:br>
            <a:r>
              <a:rPr lang="en-US" altLang="zh-CN" sz="2800" b="1" dirty="0">
                <a:latin typeface="宋体" pitchFamily="2" charset="-122"/>
              </a:rPr>
              <a:t>long double</a:t>
            </a:r>
            <a:r>
              <a:rPr lang="zh-CN" altLang="en-US" sz="2800" b="1" dirty="0">
                <a:latin typeface="宋体" pitchFamily="2" charset="-122"/>
              </a:rPr>
              <a:t>型。</a:t>
            </a:r>
            <a:r>
              <a:rPr lang="zh-CN" altLang="en-US" sz="2000" b="1" dirty="0">
                <a:latin typeface="宋体" pitchFamily="2" charset="-122"/>
              </a:rPr>
              <a:t>    </a:t>
            </a:r>
          </a:p>
        </p:txBody>
      </p:sp>
      <p:sp>
        <p:nvSpPr>
          <p:cNvPr id="6" name="灯片编号占位符 5"/>
          <p:cNvSpPr>
            <a:spLocks noGrp="1"/>
          </p:cNvSpPr>
          <p:nvPr>
            <p:ph type="sldNum" sz="quarter" idx="12"/>
          </p:nvPr>
        </p:nvSpPr>
        <p:spPr/>
        <p:txBody>
          <a:bodyPr/>
          <a:lstStyle/>
          <a:p>
            <a:fld id="{1A1D7027-9A23-4B2D-BC3A-810A5AFD3776}" type="slidenum">
              <a:rPr lang="en-US" altLang="zh-CN"/>
              <a:pPr/>
              <a:t>36</a:t>
            </a:fld>
            <a:endParaRPr lang="en-US" altLang="zh-CN"/>
          </a:p>
        </p:txBody>
      </p:sp>
      <p:sp>
        <p:nvSpPr>
          <p:cNvPr id="488452" name="Rectangle 4"/>
          <p:cNvSpPr>
            <a:spLocks noChangeArrowheads="1"/>
          </p:cNvSpPr>
          <p:nvPr/>
        </p:nvSpPr>
        <p:spPr bwMode="auto">
          <a:xfrm>
            <a:off x="500034" y="857232"/>
            <a:ext cx="8137525" cy="2062103"/>
          </a:xfrm>
          <a:prstGeom prst="rect">
            <a:avLst/>
          </a:prstGeom>
          <a:noFill/>
          <a:ln w="9525">
            <a:noFill/>
            <a:miter lim="800000"/>
            <a:headEnd/>
            <a:tailEnd/>
          </a:ln>
          <a:effectLst/>
        </p:spPr>
        <p:txBody>
          <a:bodyPr>
            <a:spAutoFit/>
          </a:bodyPr>
          <a:lstStyle/>
          <a:p>
            <a:pPr marL="623888" indent="-623888"/>
            <a:r>
              <a:rPr lang="en-US" altLang="zh-CN" sz="3200" b="1" dirty="0">
                <a:solidFill>
                  <a:srgbClr val="CC0066"/>
                </a:solidFill>
              </a:rPr>
              <a:t>.p</a:t>
            </a:r>
            <a:r>
              <a:rPr lang="en-US" altLang="zh-CN" sz="3200" b="1" dirty="0"/>
              <a:t>    </a:t>
            </a:r>
            <a:r>
              <a:rPr lang="zh-CN" altLang="en-US" sz="3200" b="1" dirty="0">
                <a:solidFill>
                  <a:srgbClr val="0000FF"/>
                </a:solidFill>
              </a:rPr>
              <a:t>对</a:t>
            </a:r>
            <a:r>
              <a:rPr lang="en-US" altLang="zh-CN" sz="3200" b="1" dirty="0">
                <a:solidFill>
                  <a:srgbClr val="0000FF"/>
                </a:solidFill>
              </a:rPr>
              <a:t>e</a:t>
            </a:r>
            <a:r>
              <a:rPr lang="zh-CN" altLang="en-US" sz="3200" b="1" dirty="0">
                <a:solidFill>
                  <a:srgbClr val="0000FF"/>
                </a:solidFill>
              </a:rPr>
              <a:t>、</a:t>
            </a:r>
            <a:r>
              <a:rPr lang="en-US" altLang="zh-CN" sz="3200" b="1" dirty="0">
                <a:solidFill>
                  <a:srgbClr val="0000FF"/>
                </a:solidFill>
              </a:rPr>
              <a:t>f</a:t>
            </a:r>
            <a:r>
              <a:rPr lang="zh-CN" altLang="en-US" sz="3200" b="1" dirty="0">
                <a:solidFill>
                  <a:srgbClr val="0000FF"/>
                </a:solidFill>
              </a:rPr>
              <a:t>格式</a:t>
            </a:r>
            <a:r>
              <a:rPr lang="zh-CN" altLang="en-US" sz="3200" b="1" dirty="0"/>
              <a:t>，指明小数点之后输出的位数，缺省时，</a:t>
            </a:r>
            <a:r>
              <a:rPr lang="en-US" altLang="zh-CN" sz="3200" b="1" dirty="0"/>
              <a:t>p=6</a:t>
            </a:r>
            <a:r>
              <a:rPr lang="zh-CN" altLang="en-US" sz="3200" b="1" dirty="0"/>
              <a:t>。</a:t>
            </a:r>
          </a:p>
          <a:p>
            <a:pPr marL="623888" indent="-623888"/>
            <a:r>
              <a:rPr lang="zh-CN" altLang="en-US" sz="3200" b="1" dirty="0"/>
              <a:t>       </a:t>
            </a:r>
            <a:r>
              <a:rPr lang="zh-CN" altLang="en-US" sz="3200" b="1" dirty="0">
                <a:solidFill>
                  <a:srgbClr val="0000FF"/>
                </a:solidFill>
              </a:rPr>
              <a:t>对</a:t>
            </a:r>
            <a:r>
              <a:rPr lang="en-US" altLang="zh-CN" sz="3200" b="1" dirty="0">
                <a:solidFill>
                  <a:srgbClr val="0000FF"/>
                </a:solidFill>
              </a:rPr>
              <a:t>s</a:t>
            </a:r>
            <a:r>
              <a:rPr lang="zh-CN" altLang="en-US" sz="3200" b="1" dirty="0">
                <a:solidFill>
                  <a:srgbClr val="0000FF"/>
                </a:solidFill>
              </a:rPr>
              <a:t>格式</a:t>
            </a:r>
            <a:r>
              <a:rPr lang="zh-CN" altLang="en-US" sz="3200" b="1" dirty="0"/>
              <a:t>，指明最多输出字符串的前</a:t>
            </a:r>
            <a:r>
              <a:rPr lang="en-US" altLang="zh-CN" sz="3200" b="1" dirty="0"/>
              <a:t>p</a:t>
            </a:r>
            <a:r>
              <a:rPr lang="zh-CN" altLang="en-US" sz="3200" b="1" dirty="0"/>
              <a:t>个字符，多余截断。</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500034" y="0"/>
            <a:ext cx="8135937" cy="576262"/>
          </a:xfrm>
        </p:spPr>
        <p:txBody>
          <a:bodyPr>
            <a:normAutofit/>
          </a:bodyPr>
          <a:lstStyle/>
          <a:p>
            <a:r>
              <a:rPr lang="zh-CN" altLang="en-US" sz="2800" b="1" dirty="0">
                <a:solidFill>
                  <a:schemeClr val="tx1"/>
                </a:solidFill>
                <a:latin typeface="黑体" pitchFamily="2" charset="-122"/>
                <a:ea typeface="黑体" pitchFamily="2" charset="-122"/>
              </a:rPr>
              <a:t>格式输出实例</a:t>
            </a:r>
          </a:p>
        </p:txBody>
      </p:sp>
      <p:sp>
        <p:nvSpPr>
          <p:cNvPr id="490499" name="Rectangle 3"/>
          <p:cNvSpPr>
            <a:spLocks noGrp="1" noChangeArrowheads="1"/>
          </p:cNvSpPr>
          <p:nvPr>
            <p:ph idx="1"/>
          </p:nvPr>
        </p:nvSpPr>
        <p:spPr>
          <a:xfrm>
            <a:off x="285720" y="857232"/>
            <a:ext cx="8443913" cy="5616575"/>
          </a:xfrm>
        </p:spPr>
        <p:txBody>
          <a:bodyPr>
            <a:normAutofit/>
          </a:bodyPr>
          <a:lstStyle/>
          <a:p>
            <a:pPr marL="1074738" indent="-1074738">
              <a:lnSpc>
                <a:spcPct val="90000"/>
              </a:lnSpc>
              <a:buFont typeface="Monotype Sorts" pitchFamily="2" charset="2"/>
              <a:buNone/>
            </a:pPr>
            <a:r>
              <a:rPr lang="en-US" altLang="zh-CN" sz="2400" b="1" dirty="0">
                <a:solidFill>
                  <a:schemeClr val="tx2"/>
                </a:solidFill>
              </a:rPr>
              <a:t>(5)</a:t>
            </a:r>
            <a:r>
              <a:rPr lang="en-US" altLang="zh-CN" sz="2400" b="1" dirty="0" err="1">
                <a:solidFill>
                  <a:schemeClr val="tx2"/>
                </a:solidFill>
              </a:rPr>
              <a:t>printf</a:t>
            </a:r>
            <a:r>
              <a:rPr lang="en-US" altLang="zh-CN" sz="2400" b="1" dirty="0">
                <a:solidFill>
                  <a:schemeClr val="tx2"/>
                </a:solidFill>
              </a:rPr>
              <a:t>("%c,%-3c,%2c\n", 045, ’a’, ’a’);// </a:t>
            </a:r>
            <a:r>
              <a:rPr lang="zh-CN" altLang="en-US" sz="2400" b="1" dirty="0">
                <a:solidFill>
                  <a:schemeClr val="tx2"/>
                </a:solidFill>
              </a:rPr>
              <a:t>八进制</a:t>
            </a:r>
            <a:r>
              <a:rPr lang="en-US" altLang="zh-CN" sz="2400" b="1" dirty="0">
                <a:solidFill>
                  <a:schemeClr val="tx2"/>
                </a:solidFill>
              </a:rPr>
              <a:t>045</a:t>
            </a:r>
            <a:r>
              <a:rPr lang="zh-CN" altLang="en-US" sz="2400" b="1" dirty="0">
                <a:solidFill>
                  <a:schemeClr val="tx2"/>
                </a:solidFill>
              </a:rPr>
              <a:t>对应的字符是</a:t>
            </a:r>
            <a:r>
              <a:rPr lang="en-US" altLang="zh-CN" sz="2400" b="1" dirty="0">
                <a:solidFill>
                  <a:schemeClr val="tx2"/>
                </a:solidFill>
              </a:rPr>
              <a:t>%</a:t>
            </a:r>
          </a:p>
          <a:p>
            <a:pPr marL="1074738" indent="-1074738">
              <a:lnSpc>
                <a:spcPct val="90000"/>
              </a:lnSpc>
              <a:buFont typeface="Monotype Sorts" pitchFamily="2" charset="2"/>
              <a:buNone/>
            </a:pPr>
            <a:r>
              <a:rPr lang="en-US" altLang="zh-CN" sz="2400" b="1" dirty="0">
                <a:solidFill>
                  <a:schemeClr val="tx2"/>
                </a:solidFill>
              </a:rPr>
              <a:t>(6)</a:t>
            </a:r>
            <a:r>
              <a:rPr lang="en-US" altLang="zh-CN" sz="2400" b="1" dirty="0" err="1">
                <a:solidFill>
                  <a:schemeClr val="tx2"/>
                </a:solidFill>
              </a:rPr>
              <a:t>printf</a:t>
            </a:r>
            <a:r>
              <a:rPr lang="en-US" altLang="zh-CN" sz="2400" b="1" dirty="0">
                <a:solidFill>
                  <a:schemeClr val="tx2"/>
                </a:solidFill>
              </a:rPr>
              <a:t>("%f,%8.3f,%-7.2f,%.7f\n", 123.4567f,123.4567f,123.4567f, 123.456789);</a:t>
            </a:r>
          </a:p>
          <a:p>
            <a:pPr marL="1074738" indent="-1074738">
              <a:lnSpc>
                <a:spcPct val="90000"/>
              </a:lnSpc>
              <a:buFont typeface="Monotype Sorts" pitchFamily="2" charset="2"/>
              <a:buNone/>
            </a:pPr>
            <a:endParaRPr lang="en-US" altLang="zh-CN" sz="2400" b="1" dirty="0">
              <a:solidFill>
                <a:schemeClr val="tx2"/>
              </a:solidFill>
            </a:endParaRPr>
          </a:p>
          <a:p>
            <a:pPr marL="1074738" indent="-1074738">
              <a:lnSpc>
                <a:spcPct val="90000"/>
              </a:lnSpc>
              <a:buFont typeface="Monotype Sorts" pitchFamily="2" charset="2"/>
              <a:buNone/>
            </a:pPr>
            <a:endParaRPr lang="en-US" altLang="zh-CN" sz="2400" b="1" dirty="0">
              <a:solidFill>
                <a:schemeClr val="tx2"/>
              </a:solidFill>
            </a:endParaRPr>
          </a:p>
          <a:p>
            <a:pPr marL="1074738" indent="-1074738">
              <a:lnSpc>
                <a:spcPct val="90000"/>
              </a:lnSpc>
              <a:buFont typeface="Monotype Sorts" pitchFamily="2" charset="2"/>
              <a:buNone/>
            </a:pPr>
            <a:r>
              <a:rPr lang="zh-CN" altLang="en-US" sz="2400" b="1" dirty="0">
                <a:solidFill>
                  <a:schemeClr val="tx2"/>
                </a:solidFill>
              </a:rPr>
              <a:t>输出：</a:t>
            </a:r>
          </a:p>
          <a:p>
            <a:pPr marL="1074738" indent="-1074738">
              <a:lnSpc>
                <a:spcPct val="90000"/>
              </a:lnSpc>
              <a:buFont typeface="Monotype Sorts" pitchFamily="2" charset="2"/>
              <a:buNone/>
            </a:pPr>
            <a:endParaRPr lang="en-US" altLang="zh-CN" sz="2400" b="1" dirty="0">
              <a:solidFill>
                <a:schemeClr val="tx2"/>
              </a:solidFill>
            </a:endParaRPr>
          </a:p>
          <a:p>
            <a:pPr marL="1074738" indent="-1074738">
              <a:lnSpc>
                <a:spcPct val="90000"/>
              </a:lnSpc>
              <a:buFont typeface="Monotype Sorts" pitchFamily="2" charset="2"/>
              <a:buNone/>
            </a:pPr>
            <a:r>
              <a:rPr lang="en-US" altLang="zh-CN" sz="2400" b="1" dirty="0">
                <a:solidFill>
                  <a:schemeClr val="tx2"/>
                </a:solidFill>
              </a:rPr>
              <a:t>%,a  , a</a:t>
            </a:r>
          </a:p>
          <a:p>
            <a:pPr marL="1074738" indent="-1074738">
              <a:lnSpc>
                <a:spcPct val="90000"/>
              </a:lnSpc>
              <a:buFont typeface="Monotype Sorts" pitchFamily="2" charset="2"/>
              <a:buNone/>
            </a:pPr>
            <a:r>
              <a:rPr lang="en-US" altLang="zh-CN" sz="2400" b="1" dirty="0">
                <a:solidFill>
                  <a:srgbClr val="FF0000"/>
                </a:solidFill>
              </a:rPr>
              <a:t>123.456703</a:t>
            </a:r>
            <a:r>
              <a:rPr lang="en-US" altLang="zh-CN" sz="2400" b="1" dirty="0">
                <a:solidFill>
                  <a:schemeClr val="tx2"/>
                </a:solidFill>
              </a:rPr>
              <a:t>, 123.457,123.46 ,123.4567890</a:t>
            </a:r>
          </a:p>
        </p:txBody>
      </p:sp>
      <p:sp>
        <p:nvSpPr>
          <p:cNvPr id="6" name="灯片编号占位符 5"/>
          <p:cNvSpPr>
            <a:spLocks noGrp="1"/>
          </p:cNvSpPr>
          <p:nvPr>
            <p:ph type="sldNum" sz="quarter" idx="12"/>
          </p:nvPr>
        </p:nvSpPr>
        <p:spPr/>
        <p:txBody>
          <a:bodyPr/>
          <a:lstStyle/>
          <a:p>
            <a:fld id="{988F2EBB-C2A6-42DF-8B33-BF93461E4D83}" type="slidenum">
              <a:rPr lang="en-US" altLang="zh-CN"/>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0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049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049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04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5400" b="1" dirty="0"/>
              <a:t>123.4567f</a:t>
            </a:r>
            <a:r>
              <a:rPr lang="zh-CN" altLang="en-US" sz="5400" b="1" dirty="0"/>
              <a:t>为什么是</a:t>
            </a:r>
            <a:r>
              <a:rPr lang="en-US" altLang="zh-CN" sz="5400" b="1" dirty="0"/>
              <a:t>123.456703</a:t>
            </a:r>
            <a:endParaRPr lang="zh-CN" altLang="en-US" dirty="0"/>
          </a:p>
        </p:txBody>
      </p:sp>
      <p:sp>
        <p:nvSpPr>
          <p:cNvPr id="3" name="内容占位符 2"/>
          <p:cNvSpPr>
            <a:spLocks noGrp="1"/>
          </p:cNvSpPr>
          <p:nvPr>
            <p:ph idx="1"/>
          </p:nvPr>
        </p:nvSpPr>
        <p:spPr>
          <a:xfrm>
            <a:off x="457200" y="1903596"/>
            <a:ext cx="8229600" cy="4733880"/>
          </a:xfrm>
        </p:spPr>
        <p:txBody>
          <a:bodyPr>
            <a:noAutofit/>
          </a:bodyPr>
          <a:lstStyle/>
          <a:p>
            <a:r>
              <a:rPr lang="en-US" altLang="zh-CN" sz="1800" dirty="0"/>
              <a:t> </a:t>
            </a:r>
            <a:r>
              <a:rPr lang="zh-CN" altLang="en-US" sz="3200" dirty="0"/>
              <a:t>浮点型数据使用</a:t>
            </a:r>
            <a:r>
              <a:rPr lang="en-US" altLang="zh-CN" sz="3200" dirty="0"/>
              <a:t>1.XXXXXX</a:t>
            </a:r>
            <a:r>
              <a:rPr lang="zh-CN" altLang="en-US" sz="3200" dirty="0"/>
              <a:t>* </a:t>
            </a:r>
            <a:r>
              <a:rPr lang="en-US" altLang="zh-CN" sz="3200" dirty="0"/>
              <a:t>2</a:t>
            </a:r>
            <a:r>
              <a:rPr lang="en-US" altLang="zh-CN" sz="3200" baseline="30000" dirty="0"/>
              <a:t>Y</a:t>
            </a:r>
            <a:r>
              <a:rPr lang="zh-CN" altLang="en-US" sz="3200" dirty="0"/>
              <a:t>形式存储。比如</a:t>
            </a:r>
            <a:r>
              <a:rPr lang="en-US" altLang="zh-CN" sz="3200" dirty="0"/>
              <a:t>123.4567f</a:t>
            </a:r>
            <a:r>
              <a:rPr lang="zh-CN" altLang="en-US" sz="3200" dirty="0"/>
              <a:t>，先转换为</a:t>
            </a:r>
            <a:r>
              <a:rPr lang="en-US" altLang="zh-CN" sz="3200" dirty="0"/>
              <a:t>1.929010…*2</a:t>
            </a:r>
            <a:r>
              <a:rPr lang="en-US" altLang="zh-CN" sz="3200" baseline="30000" dirty="0"/>
              <a:t>6</a:t>
            </a:r>
            <a:r>
              <a:rPr lang="zh-CN" altLang="en-US" sz="3200" dirty="0"/>
              <a:t>，再存储。打头的</a:t>
            </a:r>
            <a:r>
              <a:rPr lang="en-US" altLang="zh-CN" sz="3200" dirty="0"/>
              <a:t>1</a:t>
            </a:r>
            <a:r>
              <a:rPr lang="zh-CN" altLang="en-US" sz="3200" dirty="0"/>
              <a:t>无需存储，只需要存储</a:t>
            </a:r>
            <a:r>
              <a:rPr lang="en-US" altLang="zh-CN" sz="3200" dirty="0"/>
              <a:t>XXXXXX</a:t>
            </a:r>
          </a:p>
          <a:p>
            <a:r>
              <a:rPr lang="zh-CN" altLang="en-US" sz="3200" dirty="0"/>
              <a:t>使用</a:t>
            </a:r>
            <a:r>
              <a:rPr lang="en-US" altLang="zh-CN" sz="3200" dirty="0"/>
              <a:t>0.5,0.25,0.125</a:t>
            </a:r>
            <a:r>
              <a:rPr lang="zh-CN" altLang="en-US" sz="3200" dirty="0"/>
              <a:t>。。。。。。的序列逼近，这也可能导致误差</a:t>
            </a:r>
            <a:endParaRPr lang="en-US" altLang="zh-CN" sz="3200" dirty="0"/>
          </a:p>
          <a:p>
            <a:r>
              <a:rPr lang="zh-CN" altLang="en-US" sz="3200" dirty="0"/>
              <a:t>实际上，即使</a:t>
            </a:r>
            <a:r>
              <a:rPr lang="en-US" altLang="zh-CN" sz="3200" dirty="0"/>
              <a:t>0.1</a:t>
            </a:r>
            <a:r>
              <a:rPr lang="zh-CN" altLang="en-US" sz="3200" dirty="0"/>
              <a:t>也没有办法用</a:t>
            </a:r>
            <a:r>
              <a:rPr lang="en-US" altLang="zh-CN" sz="3200" dirty="0"/>
              <a:t>2</a:t>
            </a:r>
            <a:r>
              <a:rPr lang="zh-CN" altLang="en-US" sz="3200" dirty="0"/>
              <a:t>进制精确表示：</a:t>
            </a:r>
            <a:r>
              <a:rPr lang="en-US" altLang="zh-CN" sz="3000" dirty="0"/>
              <a:t>1.6</a:t>
            </a:r>
            <a:r>
              <a:rPr lang="zh-CN" altLang="en-US" sz="3000" dirty="0"/>
              <a:t>*</a:t>
            </a:r>
            <a:r>
              <a:rPr lang="en-US" altLang="zh-CN" sz="3000" dirty="0"/>
              <a:t>2</a:t>
            </a:r>
            <a:r>
              <a:rPr lang="en-US" altLang="zh-CN" sz="3000" baseline="30000" dirty="0"/>
              <a:t>-4</a:t>
            </a:r>
            <a:r>
              <a:rPr lang="zh-CN" altLang="en-US" sz="3000" dirty="0"/>
              <a:t>，而</a:t>
            </a:r>
            <a:r>
              <a:rPr lang="en-US" altLang="zh-CN" sz="3000" dirty="0"/>
              <a:t>.6</a:t>
            </a:r>
            <a:r>
              <a:rPr lang="zh-CN" altLang="en-US" sz="3000" dirty="0"/>
              <a:t>需要一个无限重复的</a:t>
            </a:r>
            <a:r>
              <a:rPr lang="en-US" altLang="zh-CN" sz="3000" dirty="0"/>
              <a:t>2</a:t>
            </a:r>
            <a:r>
              <a:rPr lang="zh-CN" altLang="en-US" sz="3000" dirty="0"/>
              <a:t>进制表示</a:t>
            </a:r>
            <a:r>
              <a:rPr lang="en-US" altLang="zh-CN" sz="3000" dirty="0"/>
              <a:t>.1001100110011001100-----------</a:t>
            </a:r>
            <a:endParaRPr lang="zh-CN" alt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a:xfrm>
            <a:off x="395288" y="260350"/>
            <a:ext cx="8424862" cy="685800"/>
          </a:xfrm>
        </p:spPr>
        <p:txBody>
          <a:bodyPr/>
          <a:lstStyle/>
          <a:p>
            <a:r>
              <a:rPr lang="zh-CN" altLang="en-US" sz="3600" b="1" dirty="0">
                <a:solidFill>
                  <a:schemeClr val="tx1"/>
                </a:solidFill>
                <a:latin typeface="黑体" pitchFamily="2" charset="-122"/>
                <a:ea typeface="黑体" pitchFamily="2" charset="-122"/>
              </a:rPr>
              <a:t>格式输入函数</a:t>
            </a:r>
            <a:endParaRPr lang="zh-CN" altLang="en-US" sz="4800" b="1" dirty="0">
              <a:solidFill>
                <a:schemeClr val="tx1"/>
              </a:solidFill>
              <a:latin typeface="黑体" pitchFamily="2" charset="-122"/>
              <a:ea typeface="黑体" pitchFamily="2" charset="-122"/>
            </a:endParaRPr>
          </a:p>
        </p:txBody>
      </p:sp>
      <p:sp>
        <p:nvSpPr>
          <p:cNvPr id="495619" name="Rectangle 3"/>
          <p:cNvSpPr>
            <a:spLocks noGrp="1" noChangeArrowheads="1"/>
          </p:cNvSpPr>
          <p:nvPr>
            <p:ph idx="1"/>
          </p:nvPr>
        </p:nvSpPr>
        <p:spPr>
          <a:xfrm>
            <a:off x="304800" y="1052513"/>
            <a:ext cx="8299450" cy="5329237"/>
          </a:xfrm>
        </p:spPr>
        <p:txBody>
          <a:bodyPr>
            <a:noAutofit/>
          </a:bodyPr>
          <a:lstStyle/>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格式：</a:t>
            </a:r>
          </a:p>
          <a:p>
            <a:pPr marL="1074738" indent="-1074738" algn="just">
              <a:lnSpc>
                <a:spcPct val="95000"/>
              </a:lnSpc>
              <a:spcBef>
                <a:spcPct val="0"/>
              </a:spcBef>
              <a:buFont typeface="Monotype Sorts" pitchFamily="2" charset="2"/>
              <a:buNone/>
            </a:pPr>
            <a:r>
              <a:rPr lang="en-US" altLang="zh-CN" sz="3600" b="1" dirty="0" err="1">
                <a:latin typeface="宋体" pitchFamily="2" charset="-122"/>
              </a:rPr>
              <a:t>scanf</a:t>
            </a:r>
            <a:r>
              <a:rPr lang="en-US" altLang="zh-CN" sz="2800" b="1" dirty="0">
                <a:latin typeface="宋体" pitchFamily="2" charset="-122"/>
              </a:rPr>
              <a:t>(</a:t>
            </a:r>
            <a:r>
              <a:rPr lang="zh-CN" altLang="en-US" sz="2800" b="1" dirty="0">
                <a:latin typeface="宋体" pitchFamily="2" charset="-122"/>
              </a:rPr>
              <a:t>格式控制字符串，储存地址，存储地址，</a:t>
            </a:r>
            <a:r>
              <a:rPr lang="en-US" altLang="zh-CN" sz="2800" b="1" dirty="0">
                <a:latin typeface="宋体" pitchFamily="2" charset="-122"/>
              </a:rPr>
              <a:t>…)</a:t>
            </a:r>
          </a:p>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功能：</a:t>
            </a:r>
            <a:r>
              <a:rPr lang="zh-CN" altLang="en-US" sz="2800" b="1" dirty="0">
                <a:latin typeface="宋体" pitchFamily="2" charset="-122"/>
              </a:rPr>
              <a:t>从标准设备读入数据，并按格式存储到对应的数据存储地址中。</a:t>
            </a:r>
          </a:p>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其中：</a:t>
            </a:r>
            <a:r>
              <a:rPr lang="zh-CN" altLang="en-US" sz="2800" b="1" dirty="0">
                <a:latin typeface="宋体" pitchFamily="2" charset="-122"/>
              </a:rPr>
              <a:t>格式控制字符串是用双引号括起来的字符串</a:t>
            </a:r>
          </a:p>
          <a:p>
            <a:pPr marL="1074738" indent="-1074738">
              <a:lnSpc>
                <a:spcPct val="95000"/>
              </a:lnSpc>
              <a:spcBef>
                <a:spcPct val="0"/>
              </a:spcBef>
              <a:buFont typeface="Monotype Sorts" pitchFamily="2" charset="2"/>
              <a:buNone/>
            </a:pPr>
            <a:r>
              <a:rPr lang="zh-CN" altLang="en-US" sz="2800" b="1" dirty="0">
                <a:solidFill>
                  <a:srgbClr val="0000FF"/>
                </a:solidFill>
                <a:latin typeface="宋体" pitchFamily="2" charset="-122"/>
              </a:rPr>
              <a:t>格式控制字符串有：</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1. </a:t>
            </a:r>
            <a:r>
              <a:rPr lang="zh-CN" altLang="en-US" sz="2800" b="1" dirty="0">
                <a:solidFill>
                  <a:srgbClr val="CC0066"/>
                </a:solidFill>
                <a:latin typeface="宋体" pitchFamily="2" charset="-122"/>
              </a:rPr>
              <a:t>空白类字符</a:t>
            </a:r>
            <a:r>
              <a:rPr lang="zh-CN" altLang="en-US" sz="2800" b="1" dirty="0">
                <a:solidFill>
                  <a:srgbClr val="CC0000"/>
                </a:solidFill>
                <a:latin typeface="宋体" pitchFamily="2" charset="-122"/>
              </a:rPr>
              <a:t>（空格符或制表符或换行符）</a:t>
            </a:r>
          </a:p>
          <a:p>
            <a:pPr marL="1074738" indent="-1074738">
              <a:lnSpc>
                <a:spcPct val="95000"/>
              </a:lnSpc>
              <a:spcBef>
                <a:spcPct val="0"/>
              </a:spcBef>
              <a:buFont typeface="Monotype Sorts" pitchFamily="2" charset="2"/>
              <a:buNone/>
            </a:pPr>
            <a:r>
              <a:rPr lang="zh-CN" altLang="en-US" sz="2800" b="1" dirty="0">
                <a:latin typeface="宋体" pitchFamily="2" charset="-122"/>
              </a:rPr>
              <a:t>   输入时忽略，直到遇到下一个非空白类字符。</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2. </a:t>
            </a:r>
            <a:r>
              <a:rPr lang="zh-CN" altLang="en-US" sz="2800" b="1" dirty="0">
                <a:solidFill>
                  <a:srgbClr val="CC0066"/>
                </a:solidFill>
                <a:latin typeface="宋体" pitchFamily="2" charset="-122"/>
              </a:rPr>
              <a:t>普通字符</a:t>
            </a:r>
            <a:r>
              <a:rPr lang="zh-CN" altLang="en-US" sz="2800" b="1" dirty="0">
                <a:solidFill>
                  <a:srgbClr val="CC0000"/>
                </a:solidFill>
                <a:latin typeface="宋体" pitchFamily="2" charset="-122"/>
              </a:rPr>
              <a:t>（不包括</a:t>
            </a:r>
            <a:r>
              <a:rPr lang="en-US" altLang="zh-CN" sz="2800" b="1" dirty="0">
                <a:solidFill>
                  <a:srgbClr val="CC0000"/>
                </a:solidFill>
                <a:latin typeface="宋体" pitchFamily="2" charset="-122"/>
              </a:rPr>
              <a:t>%</a:t>
            </a:r>
            <a:r>
              <a:rPr lang="zh-CN" altLang="en-US" sz="2800" b="1" dirty="0">
                <a:solidFill>
                  <a:srgbClr val="CC0000"/>
                </a:solidFill>
                <a:latin typeface="宋体" pitchFamily="2" charset="-122"/>
              </a:rPr>
              <a:t>）</a:t>
            </a:r>
          </a:p>
          <a:p>
            <a:pPr marL="1074738" indent="-1074738">
              <a:lnSpc>
                <a:spcPct val="95000"/>
              </a:lnSpc>
              <a:spcBef>
                <a:spcPct val="0"/>
              </a:spcBef>
              <a:buFont typeface="Monotype Sorts" pitchFamily="2" charset="2"/>
              <a:buNone/>
            </a:pPr>
            <a:r>
              <a:rPr lang="zh-CN" altLang="en-US" sz="2800" b="1" dirty="0">
                <a:solidFill>
                  <a:srgbClr val="CC0000"/>
                </a:solidFill>
                <a:latin typeface="宋体" pitchFamily="2" charset="-122"/>
              </a:rPr>
              <a:t>   </a:t>
            </a:r>
            <a:r>
              <a:rPr lang="zh-CN" altLang="en-US" sz="2800" b="1" dirty="0">
                <a:latin typeface="宋体" pitchFamily="2" charset="-122"/>
              </a:rPr>
              <a:t>输入时，这些字符要求原样输入。</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3. </a:t>
            </a:r>
            <a:r>
              <a:rPr lang="zh-CN" altLang="en-US" sz="2800" b="1" dirty="0">
                <a:solidFill>
                  <a:srgbClr val="CC0066"/>
                </a:solidFill>
                <a:latin typeface="宋体" pitchFamily="2" charset="-122"/>
              </a:rPr>
              <a:t>格式转换说明</a:t>
            </a:r>
            <a:r>
              <a:rPr lang="zh-CN" altLang="en-US" sz="2800" b="1" dirty="0">
                <a:solidFill>
                  <a:srgbClr val="CC0000"/>
                </a:solidFill>
                <a:latin typeface="宋体" pitchFamily="2" charset="-122"/>
              </a:rPr>
              <a:t>（以字符 </a:t>
            </a:r>
            <a:r>
              <a:rPr lang="en-US" altLang="zh-CN" sz="2800" b="1" dirty="0">
                <a:solidFill>
                  <a:srgbClr val="CC0000"/>
                </a:solidFill>
                <a:latin typeface="Courier New"/>
              </a:rPr>
              <a:t>’</a:t>
            </a:r>
            <a:r>
              <a:rPr lang="en-US" altLang="zh-CN" sz="2800" b="1" dirty="0">
                <a:solidFill>
                  <a:srgbClr val="CC0000"/>
                </a:solidFill>
                <a:latin typeface="宋体" pitchFamily="2" charset="-122"/>
              </a:rPr>
              <a:t>%</a:t>
            </a:r>
            <a:r>
              <a:rPr lang="en-US" altLang="zh-CN" sz="2800" b="1" dirty="0">
                <a:solidFill>
                  <a:srgbClr val="CC0000"/>
                </a:solidFill>
                <a:latin typeface="Courier New"/>
              </a:rPr>
              <a:t>’</a:t>
            </a:r>
            <a:r>
              <a:rPr lang="zh-CN" altLang="en-US" sz="2800" b="1" dirty="0">
                <a:solidFill>
                  <a:srgbClr val="CC0000"/>
                </a:solidFill>
                <a:latin typeface="宋体" pitchFamily="2" charset="-122"/>
              </a:rPr>
              <a:t>开头）</a:t>
            </a:r>
          </a:p>
          <a:p>
            <a:pPr marL="1074738" indent="-1074738">
              <a:lnSpc>
                <a:spcPct val="95000"/>
              </a:lnSpc>
              <a:spcBef>
                <a:spcPct val="0"/>
              </a:spcBef>
              <a:buFont typeface="Monotype Sorts" pitchFamily="2" charset="2"/>
              <a:buNone/>
            </a:pPr>
            <a:r>
              <a:rPr lang="zh-CN" altLang="en-US" sz="2800" b="1" dirty="0">
                <a:solidFill>
                  <a:srgbClr val="CC0000"/>
                </a:solidFill>
                <a:latin typeface="宋体" pitchFamily="2" charset="-122"/>
              </a:rPr>
              <a:t>   </a:t>
            </a:r>
            <a:r>
              <a:rPr lang="zh-CN" altLang="en-US" sz="2800" b="1" dirty="0">
                <a:latin typeface="宋体" pitchFamily="2" charset="-122"/>
              </a:rPr>
              <a:t>输入的内容按要求进行格式转换。</a:t>
            </a:r>
          </a:p>
        </p:txBody>
      </p:sp>
      <p:sp>
        <p:nvSpPr>
          <p:cNvPr id="6" name="灯片编号占位符 5"/>
          <p:cNvSpPr>
            <a:spLocks noGrp="1"/>
          </p:cNvSpPr>
          <p:nvPr>
            <p:ph type="sldNum" sz="quarter" idx="12"/>
          </p:nvPr>
        </p:nvSpPr>
        <p:spPr/>
        <p:txBody>
          <a:bodyPr/>
          <a:lstStyle/>
          <a:p>
            <a:fld id="{F440E4D4-016E-42C5-8586-46AC3CD37D74}" type="slidenum">
              <a:rPr lang="en-US" altLang="zh-CN"/>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304800" y="228600"/>
            <a:ext cx="8610600" cy="685800"/>
          </a:xfrm>
        </p:spPr>
        <p:txBody>
          <a:bodyPr/>
          <a:lstStyle/>
          <a:p>
            <a:r>
              <a:rPr lang="zh-CN" altLang="en-US" sz="3600" b="1" dirty="0">
                <a:solidFill>
                  <a:schemeClr val="tx1"/>
                </a:solidFill>
                <a:latin typeface="黑体" pitchFamily="2" charset="-122"/>
                <a:ea typeface="黑体" pitchFamily="2" charset="-122"/>
              </a:rPr>
              <a:t>格式转换说明的形式</a:t>
            </a:r>
          </a:p>
        </p:txBody>
      </p:sp>
      <p:sp>
        <p:nvSpPr>
          <p:cNvPr id="496643" name="Rectangle 3"/>
          <p:cNvSpPr>
            <a:spLocks noGrp="1" noChangeArrowheads="1"/>
          </p:cNvSpPr>
          <p:nvPr>
            <p:ph idx="1"/>
          </p:nvPr>
        </p:nvSpPr>
        <p:spPr>
          <a:xfrm>
            <a:off x="395288" y="981075"/>
            <a:ext cx="8353425" cy="5251450"/>
          </a:xfrm>
        </p:spPr>
        <p:txBody>
          <a:bodyPr/>
          <a:lstStyle/>
          <a:p>
            <a:pPr marL="536575" indent="-536575">
              <a:buFont typeface="Monotype Sorts" pitchFamily="2" charset="2"/>
              <a:buNone/>
            </a:pPr>
            <a:r>
              <a:rPr lang="en-US" altLang="zh-CN" dirty="0">
                <a:latin typeface="宋体" pitchFamily="2" charset="-122"/>
              </a:rPr>
              <a:t>  </a:t>
            </a:r>
            <a:r>
              <a:rPr lang="en-US" altLang="zh-CN" b="1" dirty="0">
                <a:effectLst>
                  <a:outerShdw blurRad="38100" dist="38100" dir="2700000" algn="tl">
                    <a:srgbClr val="000000"/>
                  </a:outerShdw>
                </a:effectLst>
                <a:latin typeface="宋体" pitchFamily="2" charset="-122"/>
              </a:rPr>
              <a:t> </a:t>
            </a:r>
            <a:r>
              <a:rPr lang="en-US" altLang="zh-CN" b="1" dirty="0">
                <a:solidFill>
                  <a:srgbClr val="FF0000"/>
                </a:solidFill>
                <a:effectLst>
                  <a:outerShdw blurRad="38100" dist="38100" dir="2700000" algn="tl">
                    <a:srgbClr val="000000"/>
                  </a:outerShdw>
                </a:effectLst>
                <a:latin typeface="宋体" pitchFamily="2" charset="-122"/>
              </a:rPr>
              <a:t> </a:t>
            </a:r>
            <a:r>
              <a:rPr lang="en-US" altLang="zh-CN" sz="2800" b="1" dirty="0">
                <a:solidFill>
                  <a:srgbClr val="0000FF"/>
                </a:solidFill>
                <a:latin typeface="宋体" pitchFamily="2" charset="-122"/>
              </a:rPr>
              <a:t>%[*][w][h/l/L] </a:t>
            </a:r>
            <a:r>
              <a:rPr lang="zh-CN" altLang="en-US" sz="2800" b="1" dirty="0">
                <a:solidFill>
                  <a:srgbClr val="0000FF"/>
                </a:solidFill>
                <a:latin typeface="宋体" pitchFamily="2" charset="-122"/>
              </a:rPr>
              <a:t>输入格式符</a:t>
            </a:r>
          </a:p>
          <a:p>
            <a:pPr marL="536575" indent="-536575">
              <a:buFont typeface="Monotype Sorts" pitchFamily="2" charset="2"/>
              <a:buNone/>
            </a:pPr>
            <a:r>
              <a:rPr lang="zh-CN" altLang="en-US" sz="2800" b="1" dirty="0">
                <a:solidFill>
                  <a:srgbClr val="CC0000"/>
                </a:solidFill>
                <a:latin typeface="宋体" pitchFamily="2" charset="-122"/>
              </a:rPr>
              <a:t>*</a:t>
            </a:r>
            <a:r>
              <a:rPr lang="zh-CN" altLang="en-US" sz="2800" b="1" dirty="0">
                <a:latin typeface="宋体" pitchFamily="2" charset="-122"/>
              </a:rPr>
              <a:t>  星号</a:t>
            </a:r>
            <a:r>
              <a:rPr lang="en-US" altLang="zh-CN" sz="2800" b="1" dirty="0">
                <a:latin typeface="宋体" pitchFamily="2" charset="-122"/>
              </a:rPr>
              <a:t>(</a:t>
            </a:r>
            <a:r>
              <a:rPr lang="zh-CN" altLang="en-US" sz="2800" b="1" dirty="0">
                <a:latin typeface="宋体" pitchFamily="2" charset="-122"/>
              </a:rPr>
              <a:t>赋值抑制符</a:t>
            </a:r>
            <a:r>
              <a:rPr lang="en-US" altLang="zh-CN" sz="2800" b="1" dirty="0">
                <a:latin typeface="宋体" pitchFamily="2" charset="-122"/>
              </a:rPr>
              <a:t>)</a:t>
            </a:r>
            <a:r>
              <a:rPr lang="zh-CN" altLang="en-US" sz="2800" b="1" dirty="0">
                <a:latin typeface="宋体" pitchFamily="2" charset="-122"/>
              </a:rPr>
              <a:t>，跳过一个输入数据项。</a:t>
            </a:r>
          </a:p>
          <a:p>
            <a:pPr marL="536575" indent="-536575">
              <a:buFont typeface="Monotype Sorts" pitchFamily="2" charset="2"/>
              <a:buNone/>
            </a:pPr>
            <a:r>
              <a:rPr lang="en-US" altLang="zh-CN" sz="2800" b="1" dirty="0">
                <a:solidFill>
                  <a:srgbClr val="CC0000"/>
                </a:solidFill>
                <a:latin typeface="宋体" pitchFamily="2" charset="-122"/>
              </a:rPr>
              <a:t>w</a:t>
            </a:r>
            <a:r>
              <a:rPr lang="en-US" altLang="zh-CN" sz="2800" b="1" dirty="0">
                <a:latin typeface="宋体" pitchFamily="2" charset="-122"/>
              </a:rPr>
              <a:t>  </a:t>
            </a:r>
            <a:r>
              <a:rPr lang="zh-CN" altLang="en-US" sz="2800" b="1" dirty="0">
                <a:latin typeface="宋体" pitchFamily="2" charset="-122"/>
              </a:rPr>
              <a:t>整型常数</a:t>
            </a:r>
            <a:r>
              <a:rPr lang="en-US" altLang="zh-CN" sz="2800" b="1" dirty="0">
                <a:latin typeface="宋体" pitchFamily="2" charset="-122"/>
              </a:rPr>
              <a:t>(</a:t>
            </a:r>
            <a:r>
              <a:rPr lang="zh-CN" altLang="en-US" sz="2800" b="1" dirty="0">
                <a:latin typeface="宋体" pitchFamily="2" charset="-122"/>
              </a:rPr>
              <a:t>域宽说明</a:t>
            </a:r>
            <a:r>
              <a:rPr lang="en-US" altLang="zh-CN" sz="2800" b="1" dirty="0">
                <a:latin typeface="宋体" pitchFamily="2" charset="-122"/>
              </a:rPr>
              <a:t>)</a:t>
            </a:r>
            <a:r>
              <a:rPr lang="zh-CN" altLang="en-US" sz="2800" b="1" dirty="0">
                <a:latin typeface="宋体" pitchFamily="2" charset="-122"/>
              </a:rPr>
              <a:t>，输入数据项的字符宽度。若实际输入字符的宽度</a:t>
            </a:r>
            <a:r>
              <a:rPr lang="en-US" altLang="zh-CN" sz="2800" b="1" dirty="0">
                <a:latin typeface="宋体" pitchFamily="2" charset="-122"/>
              </a:rPr>
              <a:t>&lt;w</a:t>
            </a:r>
            <a:r>
              <a:rPr lang="zh-CN" altLang="en-US" sz="2800" b="1" dirty="0">
                <a:latin typeface="宋体" pitchFamily="2" charset="-122"/>
              </a:rPr>
              <a:t>，以实际宽度为准。</a:t>
            </a:r>
          </a:p>
          <a:p>
            <a:pPr marL="536575" indent="-536575">
              <a:buFont typeface="Monotype Sorts" pitchFamily="2" charset="2"/>
              <a:buNone/>
            </a:pPr>
            <a:r>
              <a:rPr lang="en-US" altLang="zh-CN" sz="2800" b="1" dirty="0">
                <a:solidFill>
                  <a:srgbClr val="CC0000"/>
                </a:solidFill>
                <a:latin typeface="宋体" pitchFamily="2" charset="-122"/>
              </a:rPr>
              <a:t>h/l/L</a:t>
            </a:r>
            <a:r>
              <a:rPr lang="en-US" altLang="zh-CN" sz="2800" b="1" dirty="0">
                <a:solidFill>
                  <a:srgbClr val="0000FF"/>
                </a:solidFill>
                <a:latin typeface="宋体" pitchFamily="2" charset="-122"/>
              </a:rPr>
              <a:t> </a:t>
            </a:r>
            <a:r>
              <a:rPr lang="zh-CN" altLang="en-US" sz="2800" b="1" dirty="0">
                <a:latin typeface="宋体" pitchFamily="2" charset="-122"/>
              </a:rPr>
              <a:t>长度修饰符，指明输入的是</a:t>
            </a:r>
            <a:r>
              <a:rPr lang="en-US" altLang="zh-CN" sz="2800" b="1" dirty="0">
                <a:latin typeface="宋体" pitchFamily="2" charset="-122"/>
              </a:rPr>
              <a:t>short </a:t>
            </a:r>
            <a:r>
              <a:rPr lang="en-US" altLang="zh-CN" sz="2800" b="1" dirty="0" err="1">
                <a:latin typeface="宋体" pitchFamily="2" charset="-122"/>
              </a:rPr>
              <a:t>int</a:t>
            </a:r>
            <a:r>
              <a:rPr lang="zh-CN" altLang="en-US" sz="2800" b="1" dirty="0">
                <a:latin typeface="宋体" pitchFamily="2" charset="-122"/>
              </a:rPr>
              <a:t>、</a:t>
            </a:r>
            <a:r>
              <a:rPr lang="en-US" altLang="zh-CN" sz="2800" b="1" dirty="0">
                <a:latin typeface="宋体" pitchFamily="2" charset="-122"/>
              </a:rPr>
              <a:t>long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long double</a:t>
            </a:r>
            <a:r>
              <a:rPr lang="zh-CN" altLang="en-US" sz="2800" b="1" dirty="0">
                <a:latin typeface="宋体" pitchFamily="2" charset="-122"/>
              </a:rPr>
              <a:t>型。</a:t>
            </a:r>
          </a:p>
          <a:p>
            <a:pPr marL="536575" indent="-536575">
              <a:buFont typeface="Monotype Sorts" pitchFamily="2" charset="2"/>
              <a:buNone/>
            </a:pPr>
            <a:r>
              <a:rPr lang="zh-CN" altLang="en-US" sz="2800" b="1" dirty="0">
                <a:solidFill>
                  <a:srgbClr val="0000FF"/>
                </a:solidFill>
                <a:latin typeface="宋体" pitchFamily="2" charset="-122"/>
              </a:rPr>
              <a:t>例如：</a:t>
            </a:r>
            <a:r>
              <a:rPr lang="en-US" altLang="zh-CN" sz="2800" b="1" dirty="0" err="1">
                <a:latin typeface="宋体" pitchFamily="2" charset="-122"/>
              </a:rPr>
              <a:t>int</a:t>
            </a:r>
            <a:r>
              <a:rPr lang="en-US" altLang="zh-CN" sz="2800" b="1" dirty="0">
                <a:latin typeface="宋体" pitchFamily="2" charset="-122"/>
              </a:rPr>
              <a:t>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p>
          <a:p>
            <a:pPr marL="536575" indent="-536575">
              <a:buFont typeface="Monotype Sorts" pitchFamily="2" charset="2"/>
              <a:buNone/>
            </a:pPr>
            <a:r>
              <a:rPr lang="en-US" altLang="zh-CN" sz="2800" b="1" dirty="0">
                <a:latin typeface="宋体" pitchFamily="2" charset="-122"/>
              </a:rPr>
              <a:t>     </a:t>
            </a:r>
            <a:r>
              <a:rPr lang="en-US" altLang="zh-CN" sz="2800" b="1" dirty="0" err="1">
                <a:latin typeface="宋体" pitchFamily="2" charset="-122"/>
              </a:rPr>
              <a:t>scanf</a:t>
            </a:r>
            <a:r>
              <a:rPr lang="en-US" altLang="zh-CN" sz="2800" b="1" dirty="0">
                <a:latin typeface="宋体" pitchFamily="2" charset="-122"/>
              </a:rPr>
              <a:t>(</a:t>
            </a:r>
            <a:r>
              <a:rPr lang="en-US" altLang="zh-CN" sz="2800" b="1" dirty="0">
                <a:latin typeface="Courier New"/>
              </a:rPr>
              <a:t>”</a:t>
            </a:r>
            <a:r>
              <a:rPr lang="en-US" altLang="zh-CN" sz="2800" b="1" dirty="0">
                <a:latin typeface="宋体" pitchFamily="2" charset="-122"/>
              </a:rPr>
              <a:t>%</a:t>
            </a:r>
            <a:r>
              <a:rPr lang="en-US" altLang="zh-CN" sz="2800" b="1" dirty="0" err="1">
                <a:latin typeface="宋体" pitchFamily="2" charset="-122"/>
              </a:rPr>
              <a:t>d%d%d</a:t>
            </a:r>
            <a:r>
              <a:rPr lang="en-US" altLang="zh-CN" sz="2800" b="1" dirty="0">
                <a:latin typeface="Courier New"/>
              </a:rPr>
              <a:t>”</a:t>
            </a:r>
            <a:r>
              <a:rPr lang="en-US" altLang="zh-CN" sz="2800" b="1" dirty="0">
                <a:latin typeface="宋体" pitchFamily="2" charset="-122"/>
              </a:rPr>
              <a:t>, &amp;</a:t>
            </a:r>
            <a:r>
              <a:rPr lang="en-US" altLang="zh-CN" sz="2800" b="1" dirty="0" err="1">
                <a:latin typeface="宋体" pitchFamily="2" charset="-122"/>
              </a:rPr>
              <a:t>i</a:t>
            </a:r>
            <a:r>
              <a:rPr lang="en-US" altLang="zh-CN" sz="2800" b="1" dirty="0">
                <a:latin typeface="宋体" pitchFamily="2" charset="-122"/>
              </a:rPr>
              <a:t>, &amp;j, &amp;k);</a:t>
            </a:r>
            <a:br>
              <a:rPr lang="en-US" altLang="zh-CN" sz="2800" b="1" dirty="0">
                <a:latin typeface="宋体" pitchFamily="2" charset="-122"/>
              </a:rPr>
            </a:br>
            <a:r>
              <a:rPr lang="en-US" altLang="zh-CN" sz="2800" b="1" dirty="0">
                <a:latin typeface="宋体" pitchFamily="2" charset="-122"/>
              </a:rPr>
              <a:t>    </a:t>
            </a:r>
            <a:r>
              <a:rPr lang="zh-CN" altLang="en-US" sz="2800" b="1" dirty="0">
                <a:latin typeface="宋体" pitchFamily="2" charset="-122"/>
              </a:rPr>
              <a:t>为变量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r>
              <a:rPr lang="zh-CN" altLang="en-US" sz="2800" b="1" dirty="0">
                <a:latin typeface="宋体" pitchFamily="2" charset="-122"/>
              </a:rPr>
              <a:t>输入数据。其中 </a:t>
            </a:r>
            <a:r>
              <a:rPr lang="en-US" altLang="zh-CN" sz="2800" b="1" dirty="0">
                <a:latin typeface="宋体" pitchFamily="2" charset="-122"/>
              </a:rPr>
              <a:t>&amp;</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&amp;j</a:t>
            </a:r>
            <a:r>
              <a:rPr lang="zh-CN" altLang="en-US" sz="2800" b="1" dirty="0">
                <a:latin typeface="宋体" pitchFamily="2" charset="-122"/>
              </a:rPr>
              <a:t>，</a:t>
            </a:r>
            <a:r>
              <a:rPr lang="en-US" altLang="zh-CN" sz="2800" b="1" dirty="0">
                <a:latin typeface="宋体" pitchFamily="2" charset="-122"/>
              </a:rPr>
              <a:t>&amp;k </a:t>
            </a:r>
            <a:r>
              <a:rPr lang="zh-CN" altLang="en-US" sz="2800" b="1" dirty="0">
                <a:latin typeface="宋体" pitchFamily="2" charset="-122"/>
              </a:rPr>
              <a:t>分别表示变量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r>
              <a:rPr lang="zh-CN" altLang="en-US" sz="2800" b="1" dirty="0">
                <a:latin typeface="宋体" pitchFamily="2" charset="-122"/>
              </a:rPr>
              <a:t>的存储地址。</a:t>
            </a:r>
            <a:endParaRPr lang="zh-CN" altLang="en-US" sz="2800" b="1" dirty="0">
              <a:solidFill>
                <a:srgbClr val="000099"/>
              </a:solidFill>
              <a:latin typeface="宋体" pitchFamily="2" charset="-122"/>
            </a:endParaRPr>
          </a:p>
        </p:txBody>
      </p:sp>
      <p:sp>
        <p:nvSpPr>
          <p:cNvPr id="6" name="灯片编号占位符 5"/>
          <p:cNvSpPr>
            <a:spLocks noGrp="1"/>
          </p:cNvSpPr>
          <p:nvPr>
            <p:ph type="sldNum" sz="quarter" idx="12"/>
          </p:nvPr>
        </p:nvSpPr>
        <p:spPr/>
        <p:txBody>
          <a:bodyPr/>
          <a:lstStyle/>
          <a:p>
            <a:fld id="{677600FE-ED11-4672-BBA8-373EA15781A8}" type="slidenum">
              <a:rPr lang="en-US" altLang="zh-CN"/>
              <a:pPr/>
              <a:t>40</a:t>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304800" y="228600"/>
            <a:ext cx="8610600" cy="685800"/>
          </a:xfrm>
        </p:spPr>
        <p:txBody>
          <a:bodyPr/>
          <a:lstStyle/>
          <a:p>
            <a:pPr algn="ctr"/>
            <a:r>
              <a:rPr lang="zh-CN" altLang="en-US" sz="3600">
                <a:latin typeface="宋体" pitchFamily="2" charset="-122"/>
              </a:rPr>
              <a:t>输入格式符表</a:t>
            </a:r>
          </a:p>
        </p:txBody>
      </p:sp>
      <p:sp>
        <p:nvSpPr>
          <p:cNvPr id="497667" name="Rectangle 3"/>
          <p:cNvSpPr>
            <a:spLocks noGrp="1" noChangeArrowheads="1"/>
          </p:cNvSpPr>
          <p:nvPr>
            <p:ph idx="1"/>
          </p:nvPr>
        </p:nvSpPr>
        <p:spPr>
          <a:xfrm>
            <a:off x="304800" y="914400"/>
            <a:ext cx="8610600" cy="5715000"/>
          </a:xfrm>
        </p:spPr>
        <p:txBody>
          <a:bodyPr/>
          <a:lstStyle/>
          <a:p>
            <a:pPr algn="just">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格式符	     意      义	</a:t>
            </a:r>
            <a:endParaRPr lang="zh-CN" altLang="en-US" b="1" dirty="0">
              <a:solidFill>
                <a:srgbClr val="0000FF"/>
              </a:solidFill>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d		</a:t>
            </a:r>
            <a:r>
              <a:rPr lang="zh-CN" altLang="en-US" b="1" dirty="0">
                <a:effectLst>
                  <a:outerShdw blurRad="38100" dist="38100" dir="2700000" algn="tl">
                    <a:srgbClr val="000000"/>
                  </a:outerShdw>
                </a:effectLst>
                <a:latin typeface="宋体" pitchFamily="2" charset="-122"/>
              </a:rPr>
              <a:t>以十进制形式输入整型数据	</a:t>
            </a:r>
            <a:endParaRPr lang="zh-CN" altLang="en-US" b="1" dirty="0">
              <a:effectLst>
                <a:outerShdw blurRad="38100" dist="38100" dir="2700000" algn="tl">
                  <a:srgbClr val="000000"/>
                </a:outerShdw>
              </a:effectLst>
              <a:latin typeface="Times New Roman" pitchFamily="18" charset="0"/>
            </a:endParaRPr>
          </a:p>
          <a:p>
            <a:pPr algn="just">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o		</a:t>
            </a:r>
            <a:r>
              <a:rPr lang="zh-CN" altLang="en-US" b="1" dirty="0">
                <a:effectLst>
                  <a:outerShdw blurRad="38100" dist="38100" dir="2700000" algn="tl">
                    <a:srgbClr val="000000"/>
                  </a:outerShdw>
                </a:effectLst>
                <a:latin typeface="宋体" pitchFamily="2" charset="-122"/>
              </a:rPr>
              <a:t>以八进制形式输入整型数据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x		</a:t>
            </a:r>
            <a:r>
              <a:rPr lang="zh-CN" altLang="en-US" b="1" dirty="0">
                <a:effectLst>
                  <a:outerShdw blurRad="38100" dist="38100" dir="2700000" algn="tl">
                    <a:srgbClr val="000000"/>
                  </a:outerShdw>
                </a:effectLst>
                <a:latin typeface="宋体" pitchFamily="2" charset="-122"/>
              </a:rPr>
              <a:t>以十六进制形式输入整型数据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u		</a:t>
            </a:r>
            <a:r>
              <a:rPr lang="zh-CN" altLang="en-US" b="1" dirty="0">
                <a:effectLst>
                  <a:outerShdw blurRad="38100" dist="38100" dir="2700000" algn="tl">
                    <a:srgbClr val="000000"/>
                  </a:outerShdw>
                </a:effectLst>
                <a:latin typeface="宋体" pitchFamily="2" charset="-122"/>
              </a:rPr>
              <a:t>输入无符号整型数据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c		</a:t>
            </a:r>
            <a:r>
              <a:rPr lang="zh-CN" altLang="en-US" b="1" dirty="0">
                <a:effectLst>
                  <a:outerShdw blurRad="38100" dist="38100" dir="2700000" algn="tl">
                    <a:srgbClr val="000000"/>
                  </a:outerShdw>
                </a:effectLst>
                <a:latin typeface="宋体" pitchFamily="2" charset="-122"/>
              </a:rPr>
              <a:t>输入字符数据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s		</a:t>
            </a:r>
            <a:r>
              <a:rPr lang="zh-CN" altLang="en-US" b="1" dirty="0">
                <a:effectLst>
                  <a:outerShdw blurRad="38100" dist="38100" dir="2700000" algn="tl">
                    <a:srgbClr val="000000"/>
                  </a:outerShdw>
                </a:effectLst>
                <a:latin typeface="宋体" pitchFamily="2" charset="-122"/>
              </a:rPr>
              <a:t>输入字符串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e</a:t>
            </a:r>
            <a:r>
              <a:rPr lang="zh-CN" altLang="en-US"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宋体" pitchFamily="2" charset="-122"/>
              </a:rPr>
              <a:t>f	</a:t>
            </a:r>
            <a:r>
              <a:rPr lang="zh-CN" altLang="en-US" b="1" dirty="0">
                <a:effectLst>
                  <a:outerShdw blurRad="38100" dist="38100" dir="2700000" algn="tl">
                    <a:srgbClr val="000000"/>
                  </a:outerShdw>
                </a:effectLst>
                <a:latin typeface="宋体" pitchFamily="2" charset="-122"/>
              </a:rPr>
              <a:t>输入实型数据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p>
        </p:txBody>
      </p:sp>
      <p:sp>
        <p:nvSpPr>
          <p:cNvPr id="6" name="灯片编号占位符 5"/>
          <p:cNvSpPr>
            <a:spLocks noGrp="1"/>
          </p:cNvSpPr>
          <p:nvPr>
            <p:ph type="sldNum" sz="quarter" idx="12"/>
          </p:nvPr>
        </p:nvSpPr>
        <p:spPr/>
        <p:txBody>
          <a:bodyPr/>
          <a:lstStyle/>
          <a:p>
            <a:fld id="{E0CAE47F-3F2B-4E5E-A5A0-F4C48E233FBE}" type="slidenum">
              <a:rPr lang="en-US" altLang="zh-CN"/>
              <a:pPr/>
              <a:t>41</a:t>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a:xfrm>
            <a:off x="304800" y="228600"/>
            <a:ext cx="8610600" cy="685800"/>
          </a:xfrm>
        </p:spPr>
        <p:txBody>
          <a:bodyPr/>
          <a:lstStyle/>
          <a:p>
            <a:r>
              <a:rPr lang="zh-CN" altLang="en-US" sz="3600">
                <a:solidFill>
                  <a:srgbClr val="0000FF"/>
                </a:solidFill>
                <a:latin typeface="宋体" pitchFamily="2" charset="-122"/>
              </a:rPr>
              <a:t>说明</a:t>
            </a:r>
          </a:p>
        </p:txBody>
      </p:sp>
      <p:sp>
        <p:nvSpPr>
          <p:cNvPr id="498691" name="Rectangle 3"/>
          <p:cNvSpPr>
            <a:spLocks noGrp="1" noChangeArrowheads="1"/>
          </p:cNvSpPr>
          <p:nvPr>
            <p:ph idx="1"/>
          </p:nvPr>
        </p:nvSpPr>
        <p:spPr>
          <a:xfrm>
            <a:off x="539750" y="1125538"/>
            <a:ext cx="8135938" cy="5183187"/>
          </a:xfrm>
        </p:spPr>
        <p:txBody>
          <a:bodyPr/>
          <a:lstStyle/>
          <a:p>
            <a:pPr marL="536575" indent="-536575" algn="just">
              <a:lnSpc>
                <a:spcPct val="90000"/>
              </a:lnSpc>
              <a:buFont typeface="Monotype Sorts" pitchFamily="2" charset="2"/>
              <a:buNone/>
            </a:pPr>
            <a:r>
              <a:rPr lang="en-US" altLang="zh-CN" b="1">
                <a:effectLst>
                  <a:outerShdw blurRad="38100" dist="38100" dir="2700000" algn="tl">
                    <a:srgbClr val="000000"/>
                  </a:outerShdw>
                </a:effectLst>
                <a:latin typeface="宋体" pitchFamily="2" charset="-122"/>
              </a:rPr>
              <a:t>1. </a:t>
            </a:r>
            <a:r>
              <a:rPr lang="zh-CN" altLang="en-US" b="1">
                <a:effectLst>
                  <a:outerShdw blurRad="38100" dist="38100" dir="2700000" algn="tl">
                    <a:srgbClr val="000000"/>
                  </a:outerShdw>
                </a:effectLst>
                <a:latin typeface="宋体" pitchFamily="2" charset="-122"/>
              </a:rPr>
              <a:t>格式控制字符串之后给出的是变量地址，而不是变量名</a:t>
            </a:r>
            <a:r>
              <a:rPr lang="en-US" altLang="zh-CN" b="1">
                <a:effectLst>
                  <a:outerShdw blurRad="38100" dist="38100" dir="2700000" algn="tl">
                    <a:srgbClr val="000000"/>
                  </a:outerShdw>
                </a:effectLst>
                <a:latin typeface="宋体" pitchFamily="2" charset="-122"/>
              </a:rPr>
              <a:t>(</a:t>
            </a:r>
            <a:r>
              <a:rPr lang="zh-CN" altLang="en-US" b="1">
                <a:effectLst>
                  <a:outerShdw blurRad="38100" dist="38100" dir="2700000" algn="tl">
                    <a:srgbClr val="000000"/>
                  </a:outerShdw>
                </a:effectLst>
                <a:latin typeface="宋体" pitchFamily="2" charset="-122"/>
              </a:rPr>
              <a:t>除非是指针</a:t>
            </a:r>
            <a:r>
              <a:rPr lang="en-US" altLang="zh-CN" b="1">
                <a:effectLst>
                  <a:outerShdw blurRad="38100" dist="38100" dir="2700000" algn="tl">
                    <a:srgbClr val="000000"/>
                  </a:outerShdw>
                </a:effectLst>
                <a:latin typeface="宋体" pitchFamily="2" charset="-122"/>
              </a:rPr>
              <a:t>)</a:t>
            </a:r>
            <a:r>
              <a:rPr lang="zh-CN" altLang="en-US" b="1">
                <a:effectLst>
                  <a:outerShdw blurRad="38100" dist="38100" dir="2700000" algn="tl">
                    <a:srgbClr val="000000"/>
                  </a:outerShdw>
                </a:effectLst>
                <a:latin typeface="宋体" pitchFamily="2" charset="-122"/>
              </a:rPr>
              <a:t>。</a:t>
            </a: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例如：</a:t>
            </a:r>
            <a:r>
              <a:rPr lang="zh-CN" altLang="en-US" b="1">
                <a:effectLst>
                  <a:outerShdw blurRad="38100" dist="38100" dir="2700000" algn="tl">
                    <a:srgbClr val="000000"/>
                  </a:outerShdw>
                </a:effectLst>
                <a:latin typeface="宋体" pitchFamily="2" charset="-122"/>
              </a:rPr>
              <a:t>为整型变量 </a:t>
            </a:r>
            <a:r>
              <a:rPr lang="en-US" altLang="zh-CN" b="1">
                <a:effectLst>
                  <a:outerShdw blurRad="38100" dist="38100" dir="2700000" algn="tl">
                    <a:srgbClr val="000000"/>
                  </a:outerShdw>
                </a:effectLst>
                <a:latin typeface="宋体" pitchFamily="2" charset="-122"/>
              </a:rPr>
              <a:t>n </a:t>
            </a:r>
            <a:r>
              <a:rPr lang="zh-CN" altLang="en-US" b="1">
                <a:effectLst>
                  <a:outerShdw blurRad="38100" dist="38100" dir="2700000" algn="tl">
                    <a:srgbClr val="000000"/>
                  </a:outerShdw>
                </a:effectLst>
                <a:latin typeface="宋体" pitchFamily="2" charset="-122"/>
              </a:rPr>
              <a:t>输入数据</a:t>
            </a: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写成</a:t>
            </a:r>
            <a:r>
              <a:rPr lang="en-US" altLang="zh-CN" b="1">
                <a:solidFill>
                  <a:srgbClr val="0000FF"/>
                </a:solidFill>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scanf("%d", n) </a:t>
            </a:r>
            <a:r>
              <a:rPr lang="zh-CN" altLang="en-US" b="1">
                <a:effectLst>
                  <a:outerShdw blurRad="38100" dist="38100" dir="2700000" algn="tl">
                    <a:srgbClr val="000000"/>
                  </a:outerShdw>
                </a:effectLst>
                <a:latin typeface="宋体" pitchFamily="2" charset="-122"/>
              </a:rPr>
              <a:t>是不正确的</a:t>
            </a:r>
            <a:endParaRPr lang="zh-CN" altLang="en-US" b="1">
              <a:solidFill>
                <a:srgbClr val="0000FF"/>
              </a:solidFill>
              <a:effectLst>
                <a:outerShdw blurRad="38100" dist="38100" dir="2700000" algn="tl">
                  <a:srgbClr val="000000"/>
                </a:outerShdw>
              </a:effectLst>
              <a:latin typeface="宋体" pitchFamily="2" charset="-122"/>
            </a:endParaRP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应写成</a:t>
            </a:r>
            <a:r>
              <a:rPr lang="en-US" altLang="zh-CN" b="1">
                <a:solidFill>
                  <a:srgbClr val="0000FF"/>
                </a:solidFill>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scanf("%d", &amp;n)</a:t>
            </a:r>
          </a:p>
          <a:p>
            <a:pPr marL="536575" indent="-536575" algn="just">
              <a:lnSpc>
                <a:spcPct val="90000"/>
              </a:lnSpc>
              <a:buFont typeface="Monotype Sorts" pitchFamily="2" charset="2"/>
              <a:buNone/>
            </a:pPr>
            <a:endParaRPr lang="en-US" altLang="zh-CN" b="1">
              <a:effectLst>
                <a:outerShdw blurRad="38100" dist="38100" dir="2700000" algn="tl">
                  <a:srgbClr val="000000"/>
                </a:outerShdw>
              </a:effectLst>
              <a:latin typeface="宋体" pitchFamily="2" charset="-122"/>
            </a:endParaRPr>
          </a:p>
          <a:p>
            <a:pPr marL="536575" indent="-536575" algn="just">
              <a:lnSpc>
                <a:spcPct val="90000"/>
              </a:lnSpc>
              <a:buFont typeface="Monotype Sorts" pitchFamily="2" charset="2"/>
              <a:buNone/>
            </a:pPr>
            <a:r>
              <a:rPr lang="en-US" altLang="zh-CN" b="1">
                <a:effectLst>
                  <a:outerShdw blurRad="38100" dist="38100" dir="2700000" algn="tl">
                    <a:srgbClr val="000000"/>
                  </a:outerShdw>
                </a:effectLst>
                <a:latin typeface="宋体" pitchFamily="2" charset="-122"/>
              </a:rPr>
              <a:t>2. </a:t>
            </a:r>
            <a:r>
              <a:rPr lang="zh-CN" altLang="en-US" b="1">
                <a:effectLst>
                  <a:outerShdw blurRad="38100" dist="38100" dir="2700000" algn="tl">
                    <a:srgbClr val="000000"/>
                  </a:outerShdw>
                </a:effectLst>
                <a:latin typeface="宋体" pitchFamily="2" charset="-122"/>
              </a:rPr>
              <a:t>在格式控制字符串中，如果有普通字符，则在输入数据时应输入与这些字符相同的字符。</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例如：    </a:t>
            </a:r>
            <a:r>
              <a:rPr lang="en-US" altLang="zh-CN" b="1">
                <a:effectLst>
                  <a:outerShdw blurRad="38100" dist="38100" dir="2700000" algn="tl">
                    <a:srgbClr val="000000"/>
                  </a:outerShdw>
                </a:effectLst>
                <a:latin typeface="宋体" pitchFamily="2" charset="-122"/>
              </a:rPr>
              <a:t>scanf("%d,%d", &amp;i, &amp;j)</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正确输入：</a:t>
            </a:r>
            <a:r>
              <a:rPr lang="zh-CN" altLang="en-US" b="1">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1</a:t>
            </a:r>
            <a:r>
              <a:rPr lang="zh-CN" altLang="en-US" b="1">
                <a:effectLst>
                  <a:outerShdw blurRad="38100" dist="38100" dir="2700000" algn="tl">
                    <a:srgbClr val="000000"/>
                  </a:outerShdw>
                </a:effectLst>
                <a:latin typeface="宋体" pitchFamily="2" charset="-122"/>
              </a:rPr>
              <a:t>，</a:t>
            </a:r>
            <a:r>
              <a:rPr lang="en-US" altLang="zh-CN" b="1">
                <a:effectLst>
                  <a:outerShdw blurRad="38100" dist="38100" dir="2700000" algn="tl">
                    <a:srgbClr val="000000"/>
                  </a:outerShdw>
                </a:effectLst>
                <a:latin typeface="宋体" pitchFamily="2" charset="-122"/>
              </a:rPr>
              <a:t>2</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错误输入：</a:t>
            </a:r>
            <a:r>
              <a:rPr lang="zh-CN" altLang="en-US" b="1">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1  2</a:t>
            </a:r>
          </a:p>
        </p:txBody>
      </p:sp>
      <p:sp>
        <p:nvSpPr>
          <p:cNvPr id="6" name="灯片编号占位符 5"/>
          <p:cNvSpPr>
            <a:spLocks noGrp="1"/>
          </p:cNvSpPr>
          <p:nvPr>
            <p:ph type="sldNum" sz="quarter" idx="12"/>
          </p:nvPr>
        </p:nvSpPr>
        <p:spPr/>
        <p:txBody>
          <a:bodyPr/>
          <a:lstStyle/>
          <a:p>
            <a:fld id="{18B424A4-D52E-4B80-A1E7-DA46A4BCC479}" type="slidenum">
              <a:rPr lang="en-US" altLang="zh-CN"/>
              <a:pPr/>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5" name="Rectangle 3"/>
          <p:cNvSpPr>
            <a:spLocks noGrp="1" noChangeArrowheads="1"/>
          </p:cNvSpPr>
          <p:nvPr>
            <p:ph idx="1"/>
          </p:nvPr>
        </p:nvSpPr>
        <p:spPr>
          <a:xfrm>
            <a:off x="304800" y="1052513"/>
            <a:ext cx="8443913" cy="5576887"/>
          </a:xfrm>
        </p:spPr>
        <p:txBody>
          <a:bodyPr/>
          <a:lstStyle/>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3. </a:t>
            </a:r>
            <a:r>
              <a:rPr lang="zh-CN" altLang="en-US" b="1" dirty="0">
                <a:effectLst>
                  <a:outerShdw blurRad="38100" dist="38100" dir="2700000" algn="tl">
                    <a:srgbClr val="000000"/>
                  </a:outerShdw>
                </a:effectLst>
                <a:latin typeface="宋体" pitchFamily="2" charset="-122"/>
              </a:rPr>
              <a:t>在用</a:t>
            </a:r>
            <a:r>
              <a:rPr lang="en-US" altLang="zh-CN" b="1" dirty="0">
                <a:effectLst>
                  <a:outerShdw blurRad="38100" dist="38100" dir="2700000" algn="tl">
                    <a:srgbClr val="000000"/>
                  </a:outerShdw>
                </a:effectLst>
                <a:latin typeface="宋体" pitchFamily="2" charset="-122"/>
              </a:rPr>
              <a:t>“%c”</a:t>
            </a:r>
            <a:r>
              <a:rPr lang="zh-CN" altLang="en-US" b="1" dirty="0">
                <a:effectLst>
                  <a:outerShdw blurRad="38100" dist="38100" dir="2700000" algn="tl">
                    <a:srgbClr val="000000"/>
                  </a:outerShdw>
                </a:effectLst>
                <a:latin typeface="宋体" pitchFamily="2" charset="-122"/>
              </a:rPr>
              <a:t>格式输入字符时，空白类字符和转义字符都作为有效字符输入。若要取输入的一串空白类字符之后的第一个非空白类字符，可采用格式 </a:t>
            </a:r>
            <a:br>
              <a:rPr lang="zh-CN" altLang="en-US" b="1" dirty="0">
                <a:effectLst>
                  <a:outerShdw blurRad="38100" dist="38100" dir="2700000" algn="tl">
                    <a:srgbClr val="000000"/>
                  </a:outerShdw>
                </a:effectLst>
                <a:latin typeface="宋体" pitchFamily="2" charset="-122"/>
              </a:rPr>
            </a:br>
            <a:r>
              <a:rPr lang="en-US" altLang="zh-CN" b="1" dirty="0">
                <a:effectLst>
                  <a:outerShdw blurRad="38100" dist="38100" dir="2700000" algn="tl">
                    <a:srgbClr val="000000"/>
                  </a:outerShdw>
                </a:effectLst>
                <a:latin typeface="宋体" pitchFamily="2" charset="-122"/>
              </a:rPr>
              <a:t>" %c"</a:t>
            </a:r>
            <a:r>
              <a:rPr lang="zh-CN" altLang="en-US" b="1" dirty="0">
                <a:effectLst>
                  <a:outerShdw blurRad="38100" dist="38100" dir="2700000" algn="tl">
                    <a:srgbClr val="000000"/>
                  </a:outerShdw>
                </a:effectLst>
                <a:latin typeface="宋体" pitchFamily="2" charset="-122"/>
              </a:rPr>
              <a:t>。</a:t>
            </a:r>
          </a:p>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4. </a:t>
            </a:r>
            <a:r>
              <a:rPr lang="zh-CN" altLang="en-US" b="1" dirty="0">
                <a:effectLst>
                  <a:outerShdw blurRad="38100" dist="38100" dir="2700000" algn="tl">
                    <a:srgbClr val="000000"/>
                  </a:outerShdw>
                </a:effectLst>
                <a:latin typeface="宋体" pitchFamily="2" charset="-122"/>
              </a:rPr>
              <a:t>在输入数值数据和字符串时，遇以下情况，就认为该数据结束：</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⑴ 遇空白类字符：</a:t>
            </a:r>
            <a:r>
              <a:rPr lang="zh-CN" altLang="en-US" b="1" dirty="0">
                <a:effectLst>
                  <a:outerShdw blurRad="38100" dist="38100" dir="2700000" algn="tl">
                    <a:srgbClr val="000000"/>
                  </a:outerShdw>
                </a:effectLst>
                <a:latin typeface="宋体" pitchFamily="2" charset="-122"/>
              </a:rPr>
              <a:t>空白符、制表符、换行符。</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⑵ 已读入由宽度所指定的字符数：</a:t>
            </a:r>
            <a:r>
              <a:rPr lang="zh-CN" altLang="en-US" b="1" dirty="0">
                <a:effectLst>
                  <a:outerShdw blurRad="38100" dist="38100" dir="2700000" algn="tl">
                    <a:srgbClr val="000000"/>
                  </a:outerShdw>
                </a:effectLst>
                <a:latin typeface="宋体" pitchFamily="2" charset="-122"/>
              </a:rPr>
              <a:t>如 </a:t>
            </a:r>
            <a:r>
              <a:rPr lang="en-US" altLang="zh-CN" b="1" dirty="0">
                <a:effectLst>
                  <a:outerShdw blurRad="38100" dist="38100" dir="2700000" algn="tl">
                    <a:srgbClr val="000000"/>
                  </a:outerShdw>
                </a:effectLst>
                <a:latin typeface="宋体" pitchFamily="2" charset="-122"/>
              </a:rPr>
              <a:t>"%4d" </a:t>
            </a:r>
            <a:r>
              <a:rPr lang="zh-CN" altLang="en-US" b="1" dirty="0">
                <a:effectLst>
                  <a:outerShdw blurRad="38100" dist="38100" dir="2700000" algn="tl">
                    <a:srgbClr val="000000"/>
                  </a:outerShdw>
                </a:effectLst>
                <a:latin typeface="宋体" pitchFamily="2" charset="-122"/>
              </a:rPr>
              <a:t>多至 </a:t>
            </a:r>
            <a:r>
              <a:rPr lang="en-US" altLang="zh-CN" b="1" dirty="0">
                <a:effectLst>
                  <a:outerShdw blurRad="38100" dist="38100" dir="2700000" algn="tl">
                    <a:srgbClr val="000000"/>
                  </a:outerShdw>
                </a:effectLst>
                <a:latin typeface="宋体" pitchFamily="2" charset="-122"/>
              </a:rPr>
              <a:t>4 </a:t>
            </a:r>
            <a:r>
              <a:rPr lang="zh-CN" altLang="en-US" b="1" dirty="0">
                <a:effectLst>
                  <a:outerShdw blurRad="38100" dist="38100" dir="2700000" algn="tl">
                    <a:srgbClr val="000000"/>
                  </a:outerShdw>
                </a:effectLst>
                <a:latin typeface="宋体" pitchFamily="2" charset="-122"/>
              </a:rPr>
              <a:t>个数字符。</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⑶ 对于输入数值数据，下一个字符不能构成正确的数据格式。</a:t>
            </a:r>
          </a:p>
        </p:txBody>
      </p:sp>
      <p:sp>
        <p:nvSpPr>
          <p:cNvPr id="5" name="灯片编号占位符 5"/>
          <p:cNvSpPr>
            <a:spLocks noGrp="1"/>
          </p:cNvSpPr>
          <p:nvPr>
            <p:ph type="sldNum" sz="quarter" idx="12"/>
          </p:nvPr>
        </p:nvSpPr>
        <p:spPr/>
        <p:txBody>
          <a:bodyPr/>
          <a:lstStyle/>
          <a:p>
            <a:fld id="{F0FCCA0B-2F82-4786-84F0-40051E0C5ABB}" type="slidenum">
              <a:rPr lang="en-US" altLang="zh-CN"/>
              <a:pPr/>
              <a:t>43</a:t>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body" sz="half" idx="1"/>
          </p:nvPr>
        </p:nvSpPr>
        <p:spPr>
          <a:xfrm>
            <a:off x="395288" y="692150"/>
            <a:ext cx="8280400" cy="5338763"/>
          </a:xfrm>
        </p:spPr>
        <p:txBody>
          <a:bodyPr/>
          <a:lstStyle/>
          <a:p>
            <a:pPr marL="536575" indent="-536575">
              <a:lnSpc>
                <a:spcPct val="80000"/>
              </a:lnSpc>
              <a:buFont typeface="Monotype Sorts" pitchFamily="2" charset="2"/>
              <a:buNone/>
            </a:pPr>
            <a:r>
              <a:rPr lang="en-US" altLang="zh-CN" sz="3000" b="1" dirty="0">
                <a:latin typeface="宋体" pitchFamily="2" charset="-122"/>
              </a:rPr>
              <a:t>5. </a:t>
            </a:r>
            <a:r>
              <a:rPr lang="en-US" altLang="zh-CN" sz="3000" b="1" dirty="0">
                <a:solidFill>
                  <a:srgbClr val="CC0000"/>
                </a:solidFill>
                <a:latin typeface="宋体" pitchFamily="2" charset="-122"/>
              </a:rPr>
              <a:t>s</a:t>
            </a:r>
            <a:r>
              <a:rPr lang="en-US" altLang="zh-CN" sz="3000" b="1" dirty="0">
                <a:latin typeface="宋体" pitchFamily="2" charset="-122"/>
              </a:rPr>
              <a:t> </a:t>
            </a:r>
            <a:r>
              <a:rPr lang="zh-CN" altLang="en-US" sz="3000" b="1" dirty="0">
                <a:latin typeface="宋体" pitchFamily="2" charset="-122"/>
              </a:rPr>
              <a:t>格式用来输入字符串，输入的字符序列之后自动添加字符串结束标志符</a:t>
            </a:r>
            <a:r>
              <a:rPr lang="en-US" altLang="zh-CN" sz="3000" b="1" dirty="0">
                <a:latin typeface="宋体" pitchFamily="2" charset="-122"/>
              </a:rPr>
              <a:t>\0</a:t>
            </a:r>
            <a:r>
              <a:rPr lang="zh-CN" altLang="en-US" sz="3000" b="1" dirty="0">
                <a:latin typeface="宋体" pitchFamily="2" charset="-122"/>
              </a:rPr>
              <a:t>（因此，存储输入字符序列的字符数组的长度必须比实际最长字符串的字符数多</a:t>
            </a:r>
            <a:r>
              <a:rPr lang="en-US" altLang="zh-CN" sz="3000" b="1" dirty="0">
                <a:latin typeface="宋体" pitchFamily="2" charset="-122"/>
              </a:rPr>
              <a:t>1</a:t>
            </a:r>
            <a:r>
              <a:rPr lang="zh-CN" altLang="en-US" sz="3000" b="1" dirty="0">
                <a:latin typeface="宋体" pitchFamily="2" charset="-122"/>
              </a:rPr>
              <a:t>）。</a:t>
            </a:r>
          </a:p>
          <a:p>
            <a:pPr marL="536575" indent="-536575">
              <a:lnSpc>
                <a:spcPct val="80000"/>
              </a:lnSpc>
              <a:buFont typeface="Monotype Sorts" pitchFamily="2" charset="2"/>
              <a:buNone/>
            </a:pPr>
            <a:r>
              <a:rPr lang="en-US" altLang="zh-CN" sz="3000" b="1" dirty="0">
                <a:latin typeface="宋体" pitchFamily="2" charset="-122"/>
              </a:rPr>
              <a:t>6. </a:t>
            </a:r>
            <a:r>
              <a:rPr lang="zh-CN" altLang="en-US" sz="3000" b="1" dirty="0">
                <a:latin typeface="宋体" pitchFamily="2" charset="-122"/>
              </a:rPr>
              <a:t>请注意</a:t>
            </a:r>
            <a:r>
              <a:rPr lang="en-US" altLang="zh-CN" sz="3000" b="1" dirty="0">
                <a:latin typeface="宋体" pitchFamily="2" charset="-122"/>
              </a:rPr>
              <a:t>c</a:t>
            </a:r>
            <a:r>
              <a:rPr lang="zh-CN" altLang="en-US" sz="3000" b="1" dirty="0">
                <a:latin typeface="宋体" pitchFamily="2" charset="-122"/>
              </a:rPr>
              <a:t>格式符和</a:t>
            </a:r>
            <a:r>
              <a:rPr lang="en-US" altLang="zh-CN" sz="3000" b="1" dirty="0">
                <a:latin typeface="宋体" pitchFamily="2" charset="-122"/>
              </a:rPr>
              <a:t>s</a:t>
            </a:r>
            <a:r>
              <a:rPr lang="zh-CN" altLang="en-US" sz="3000" b="1" dirty="0">
                <a:latin typeface="宋体" pitchFamily="2" charset="-122"/>
              </a:rPr>
              <a:t>格式符的区别。</a:t>
            </a:r>
          </a:p>
          <a:p>
            <a:pPr marL="536575" indent="-536575">
              <a:lnSpc>
                <a:spcPct val="80000"/>
              </a:lnSpc>
              <a:buFont typeface="Monotype Sorts" pitchFamily="2" charset="2"/>
              <a:buNone/>
            </a:pPr>
            <a:r>
              <a:rPr lang="zh-CN" altLang="en-US" sz="3000" b="1" dirty="0">
                <a:solidFill>
                  <a:srgbClr val="0000FF"/>
                </a:solidFill>
                <a:latin typeface="宋体" pitchFamily="2" charset="-122"/>
              </a:rPr>
              <a:t>例： </a:t>
            </a:r>
            <a:r>
              <a:rPr lang="en-US" altLang="zh-CN" sz="3000" b="1" dirty="0">
                <a:solidFill>
                  <a:srgbClr val="0000FF"/>
                </a:solidFill>
                <a:latin typeface="宋体" pitchFamily="2" charset="-122"/>
              </a:rPr>
              <a:t>char c[100], s[100];</a:t>
            </a:r>
          </a:p>
          <a:p>
            <a:pPr marL="536575" indent="-536575">
              <a:lnSpc>
                <a:spcPct val="80000"/>
              </a:lnSpc>
              <a:buFont typeface="Monotype Sorts" pitchFamily="2" charset="2"/>
              <a:buNone/>
            </a:pPr>
            <a:r>
              <a:rPr lang="en-US" altLang="zh-CN" sz="3000" b="1" dirty="0">
                <a:solidFill>
                  <a:srgbClr val="0000FF"/>
                </a:solidFill>
                <a:latin typeface="宋体" pitchFamily="2" charset="-122"/>
              </a:rPr>
              <a:t>     </a:t>
            </a:r>
            <a:r>
              <a:rPr lang="en-US" altLang="zh-CN" sz="3000" b="1" dirty="0" err="1">
                <a:latin typeface="宋体" pitchFamily="2" charset="-122"/>
              </a:rPr>
              <a:t>scanf</a:t>
            </a:r>
            <a:r>
              <a:rPr lang="en-US" altLang="zh-CN" sz="3000" b="1" dirty="0">
                <a:latin typeface="宋体" pitchFamily="2" charset="-122"/>
              </a:rPr>
              <a:t>("%4c", c); </a:t>
            </a:r>
            <a:r>
              <a:rPr lang="en-US" altLang="zh-CN" sz="3000" b="1" dirty="0">
                <a:solidFill>
                  <a:srgbClr val="CC0066"/>
                </a:solidFill>
                <a:latin typeface="宋体" pitchFamily="2" charset="-122"/>
              </a:rPr>
              <a:t>/* </a:t>
            </a:r>
            <a:r>
              <a:rPr lang="zh-CN" altLang="en-US" sz="3000" b="1" dirty="0">
                <a:solidFill>
                  <a:srgbClr val="CC0066"/>
                </a:solidFill>
                <a:latin typeface="宋体" pitchFamily="2" charset="-122"/>
              </a:rPr>
              <a:t>输入</a:t>
            </a:r>
            <a:r>
              <a:rPr lang="en-US" altLang="zh-CN" sz="3000" b="1" dirty="0">
                <a:solidFill>
                  <a:srgbClr val="CC0066"/>
                </a:solidFill>
                <a:latin typeface="宋体" pitchFamily="2" charset="-122"/>
              </a:rPr>
              <a:t>4</a:t>
            </a:r>
            <a:r>
              <a:rPr lang="zh-CN" altLang="en-US" sz="3000" b="1" dirty="0">
                <a:solidFill>
                  <a:srgbClr val="CC0066"/>
                </a:solidFill>
                <a:latin typeface="宋体" pitchFamily="2" charset="-122"/>
              </a:rPr>
              <a:t>个字符 *</a:t>
            </a:r>
            <a:r>
              <a:rPr lang="en-US" altLang="zh-CN" sz="3000" b="1" dirty="0">
                <a:solidFill>
                  <a:srgbClr val="CC0066"/>
                </a:solidFill>
                <a:latin typeface="宋体" pitchFamily="2" charset="-122"/>
              </a:rPr>
              <a:t>/</a:t>
            </a:r>
          </a:p>
          <a:p>
            <a:pPr marL="536575" indent="-536575">
              <a:lnSpc>
                <a:spcPct val="80000"/>
              </a:lnSpc>
              <a:buFont typeface="Monotype Sorts" pitchFamily="2" charset="2"/>
              <a:buNone/>
            </a:pPr>
            <a:r>
              <a:rPr lang="zh-CN" altLang="en-US" sz="3000" b="1" dirty="0">
                <a:solidFill>
                  <a:srgbClr val="0000FF"/>
                </a:solidFill>
                <a:latin typeface="宋体" pitchFamily="2" charset="-122"/>
              </a:rPr>
              <a:t>输入： </a:t>
            </a:r>
            <a:r>
              <a:rPr lang="en-US" altLang="zh-CN" sz="3000" b="1" dirty="0" err="1">
                <a:solidFill>
                  <a:srgbClr val="0000FF"/>
                </a:solidFill>
                <a:latin typeface="宋体" pitchFamily="2" charset="-122"/>
              </a:rPr>
              <a:t>abcd</a:t>
            </a:r>
            <a:r>
              <a:rPr lang="en-US" altLang="zh-CN" sz="3000" b="1" dirty="0">
                <a:solidFill>
                  <a:srgbClr val="0000FF"/>
                </a:solidFill>
                <a:latin typeface="宋体" pitchFamily="2" charset="-122"/>
              </a:rPr>
              <a:t>		</a:t>
            </a:r>
            <a:r>
              <a:rPr lang="zh-CN" altLang="en-US" sz="3000" b="1" dirty="0">
                <a:solidFill>
                  <a:srgbClr val="0000FF"/>
                </a:solidFill>
                <a:latin typeface="宋体" pitchFamily="2" charset="-122"/>
              </a:rPr>
              <a:t>结果：</a:t>
            </a:r>
          </a:p>
          <a:p>
            <a:pPr marL="536575" indent="-536575">
              <a:lnSpc>
                <a:spcPct val="80000"/>
              </a:lnSpc>
              <a:buFont typeface="Monotype Sorts" pitchFamily="2" charset="2"/>
              <a:buNone/>
            </a:pPr>
            <a:r>
              <a:rPr lang="zh-CN" altLang="en-US" sz="3000" b="1" dirty="0">
                <a:solidFill>
                  <a:srgbClr val="0000FF"/>
                </a:solidFill>
                <a:latin typeface="宋体" pitchFamily="2" charset="-122"/>
              </a:rPr>
              <a:t>     </a:t>
            </a:r>
            <a:r>
              <a:rPr lang="en-US" altLang="zh-CN" sz="3000" b="1" dirty="0" err="1">
                <a:latin typeface="宋体" pitchFamily="2" charset="-122"/>
              </a:rPr>
              <a:t>scanf</a:t>
            </a:r>
            <a:r>
              <a:rPr lang="en-US" altLang="zh-CN" sz="3000" b="1" dirty="0">
                <a:latin typeface="宋体" pitchFamily="2" charset="-122"/>
              </a:rPr>
              <a:t>("%4s", s); </a:t>
            </a:r>
            <a:r>
              <a:rPr lang="en-US" altLang="zh-CN" sz="3000" b="1" dirty="0">
                <a:solidFill>
                  <a:srgbClr val="CC0066"/>
                </a:solidFill>
                <a:latin typeface="宋体" pitchFamily="2" charset="-122"/>
              </a:rPr>
              <a:t>/* </a:t>
            </a:r>
            <a:r>
              <a:rPr lang="zh-CN" altLang="en-US" sz="3000" b="1" dirty="0">
                <a:solidFill>
                  <a:srgbClr val="CC0066"/>
                </a:solidFill>
                <a:latin typeface="宋体" pitchFamily="2" charset="-122"/>
              </a:rPr>
              <a:t>忽略前导空格 *</a:t>
            </a:r>
            <a:r>
              <a:rPr lang="en-US" altLang="zh-CN" sz="3000" b="1" dirty="0">
                <a:solidFill>
                  <a:srgbClr val="CC0066"/>
                </a:solidFill>
                <a:latin typeface="宋体" pitchFamily="2" charset="-122"/>
              </a:rPr>
              <a:t>/</a:t>
            </a:r>
          </a:p>
          <a:p>
            <a:pPr marL="536575" indent="-536575">
              <a:lnSpc>
                <a:spcPct val="80000"/>
              </a:lnSpc>
              <a:buFont typeface="Monotype Sorts" pitchFamily="2" charset="2"/>
              <a:buNone/>
            </a:pPr>
            <a:r>
              <a:rPr lang="zh-CN" altLang="en-US" sz="3000" b="1" dirty="0">
                <a:solidFill>
                  <a:srgbClr val="0000FF"/>
                </a:solidFill>
                <a:effectLst>
                  <a:outerShdw blurRad="38100" dist="38100" dir="2700000" algn="tl">
                    <a:srgbClr val="000000"/>
                  </a:outerShdw>
                </a:effectLst>
                <a:latin typeface="宋体" pitchFamily="2" charset="-122"/>
              </a:rPr>
              <a:t>输入： </a:t>
            </a:r>
            <a:r>
              <a:rPr lang="en-US" altLang="zh-CN" sz="3000" b="1" dirty="0" err="1">
                <a:solidFill>
                  <a:srgbClr val="0000FF"/>
                </a:solidFill>
                <a:effectLst>
                  <a:outerShdw blurRad="38100" dist="38100" dir="2700000" algn="tl">
                    <a:srgbClr val="000000"/>
                  </a:outerShdw>
                </a:effectLst>
                <a:latin typeface="宋体" pitchFamily="2" charset="-122"/>
              </a:rPr>
              <a:t>abcd</a:t>
            </a:r>
            <a:r>
              <a:rPr lang="en-US" altLang="zh-CN" sz="3000" b="1" dirty="0">
                <a:solidFill>
                  <a:srgbClr val="0000FF"/>
                </a:solidFill>
                <a:effectLst>
                  <a:outerShdw blurRad="38100" dist="38100" dir="2700000" algn="tl">
                    <a:srgbClr val="000000"/>
                  </a:outerShdw>
                </a:effectLst>
                <a:latin typeface="宋体" pitchFamily="2" charset="-122"/>
              </a:rPr>
              <a:t>		</a:t>
            </a:r>
            <a:r>
              <a:rPr lang="zh-CN" altLang="en-US" sz="3000" b="1" dirty="0">
                <a:solidFill>
                  <a:srgbClr val="0000FF"/>
                </a:solidFill>
                <a:effectLst>
                  <a:outerShdw blurRad="38100" dist="38100" dir="2700000" algn="tl">
                    <a:srgbClr val="000000"/>
                  </a:outerShdw>
                </a:effectLst>
                <a:latin typeface="宋体" pitchFamily="2" charset="-122"/>
              </a:rPr>
              <a:t>结果：</a:t>
            </a:r>
          </a:p>
          <a:p>
            <a:pPr marL="536575" indent="-536575">
              <a:lnSpc>
                <a:spcPct val="80000"/>
              </a:lnSpc>
              <a:buFont typeface="Monotype Sorts" pitchFamily="2" charset="2"/>
              <a:buNone/>
            </a:pPr>
            <a:endParaRPr lang="en-US" altLang="zh-CN" sz="3000" b="1" dirty="0">
              <a:effectLst>
                <a:outerShdw blurRad="38100" dist="38100" dir="2700000" algn="tl">
                  <a:srgbClr val="000000"/>
                </a:outerShdw>
              </a:effectLst>
              <a:latin typeface="宋体" pitchFamily="2" charset="-122"/>
            </a:endParaRPr>
          </a:p>
        </p:txBody>
      </p:sp>
      <p:graphicFrame>
        <p:nvGraphicFramePr>
          <p:cNvPr id="508931" name="Group 3"/>
          <p:cNvGraphicFramePr>
            <a:graphicFrameLocks noGrp="1"/>
          </p:cNvGraphicFramePr>
          <p:nvPr>
            <p:ph sz="quarter" idx="2"/>
          </p:nvPr>
        </p:nvGraphicFramePr>
        <p:xfrm>
          <a:off x="5435600" y="3536950"/>
          <a:ext cx="2016125" cy="539750"/>
        </p:xfrm>
        <a:graphic>
          <a:graphicData uri="http://schemas.openxmlformats.org/drawingml/2006/table">
            <a:tbl>
              <a:tblPr/>
              <a:tblGrid>
                <a:gridCol w="496888">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522287">
                  <a:extLst>
                    <a:ext uri="{9D8B030D-6E8A-4147-A177-3AD203B41FA5}">
                      <a16:colId xmlns:a16="http://schemas.microsoft.com/office/drawing/2014/main" val="20002"/>
                    </a:ext>
                  </a:extLst>
                </a:gridCol>
                <a:gridCol w="498475">
                  <a:extLst>
                    <a:ext uri="{9D8B030D-6E8A-4147-A177-3AD203B41FA5}">
                      <a16:colId xmlns:a16="http://schemas.microsoft.com/office/drawing/2014/main" val="20003"/>
                    </a:ext>
                  </a:extLst>
                </a:gridCol>
              </a:tblGrid>
              <a:tr h="539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08945" name="Group 17"/>
          <p:cNvGraphicFramePr>
            <a:graphicFrameLocks noGrp="1"/>
          </p:cNvGraphicFramePr>
          <p:nvPr>
            <p:ph sz="quarter" idx="3"/>
          </p:nvPr>
        </p:nvGraphicFramePr>
        <p:xfrm>
          <a:off x="5435600" y="4508500"/>
          <a:ext cx="2592388" cy="504825"/>
        </p:xfrm>
        <a:graphic>
          <a:graphicData uri="http://schemas.openxmlformats.org/drawingml/2006/table">
            <a:tbl>
              <a:tblPr/>
              <a:tblGrid>
                <a:gridCol w="512763">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36575">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5048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1" name="灯片编号占位符 7"/>
          <p:cNvSpPr>
            <a:spLocks noGrp="1"/>
          </p:cNvSpPr>
          <p:nvPr>
            <p:ph type="sldNum" sz="quarter" idx="12"/>
          </p:nvPr>
        </p:nvSpPr>
        <p:spPr/>
        <p:txBody>
          <a:bodyPr/>
          <a:lstStyle/>
          <a:p>
            <a:fld id="{9D5671DC-1909-4B07-BA67-60D0BE4CD977}" type="slidenum">
              <a:rPr lang="en-US" altLang="zh-CN"/>
              <a:pPr/>
              <a:t>44</a:t>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输出用户输入字符的</a:t>
            </a:r>
            <a:r>
              <a:rPr lang="en-US" altLang="zh-CN" dirty="0" err="1"/>
              <a:t>ascii</a:t>
            </a:r>
            <a:r>
              <a:rPr lang="zh-CN" altLang="en-US" dirty="0"/>
              <a:t>码</a:t>
            </a:r>
          </a:p>
        </p:txBody>
      </p:sp>
      <p:sp>
        <p:nvSpPr>
          <p:cNvPr id="3" name="内容占位符 2"/>
          <p:cNvSpPr>
            <a:spLocks noGrp="1"/>
          </p:cNvSpPr>
          <p:nvPr>
            <p:ph idx="1"/>
          </p:nvPr>
        </p:nvSpPr>
        <p:spPr/>
        <p:txBody>
          <a:bodyPr>
            <a:normAutofit fontScale="92500" lnSpcReduction="20000"/>
          </a:bodyPr>
          <a:lstStyle/>
          <a:p>
            <a:pPr>
              <a:buNone/>
            </a:pPr>
            <a:r>
              <a:rPr lang="en-US" altLang="zh-CN" dirty="0"/>
              <a:t>void main()</a:t>
            </a:r>
          </a:p>
          <a:p>
            <a:pPr>
              <a:buNone/>
            </a:pPr>
            <a:r>
              <a:rPr lang="en-US" altLang="zh-CN" dirty="0"/>
              <a:t>{</a:t>
            </a:r>
          </a:p>
          <a:p>
            <a:pPr>
              <a:buNone/>
            </a:pPr>
            <a:r>
              <a:rPr lang="en-US" altLang="zh-CN" dirty="0"/>
              <a:t>	char c1;</a:t>
            </a:r>
          </a:p>
          <a:p>
            <a:pPr>
              <a:buNone/>
            </a:pPr>
            <a:r>
              <a:rPr lang="en-US" altLang="zh-CN" dirty="0"/>
              <a:t>	</a:t>
            </a:r>
            <a:r>
              <a:rPr lang="en-US" altLang="zh-CN" dirty="0" err="1"/>
              <a:t>printf</a:t>
            </a:r>
            <a:r>
              <a:rPr lang="en-US" altLang="zh-CN" dirty="0"/>
              <a:t>("Input a key; press 'a' to terminate\n");</a:t>
            </a:r>
          </a:p>
          <a:p>
            <a:pPr>
              <a:buNone/>
            </a:pPr>
            <a:r>
              <a:rPr lang="en-US" altLang="zh-CN" dirty="0"/>
              <a:t>    while(1)</a:t>
            </a:r>
          </a:p>
          <a:p>
            <a:pPr>
              <a:buNone/>
            </a:pPr>
            <a:r>
              <a:rPr lang="en-US" altLang="zh-CN" dirty="0"/>
              <a:t>	{</a:t>
            </a:r>
          </a:p>
          <a:p>
            <a:pPr>
              <a:buNone/>
            </a:pPr>
            <a:r>
              <a:rPr lang="en-US" altLang="zh-CN" dirty="0"/>
              <a:t>	    	</a:t>
            </a:r>
            <a:r>
              <a:rPr lang="en-US" altLang="zh-CN" dirty="0" err="1"/>
              <a:t>scanf</a:t>
            </a:r>
            <a:r>
              <a:rPr lang="en-US" altLang="zh-CN" dirty="0"/>
              <a:t>(" %c",&amp;c1);</a:t>
            </a:r>
          </a:p>
          <a:p>
            <a:pPr>
              <a:buNone/>
            </a:pPr>
            <a:r>
              <a:rPr lang="en-US" altLang="zh-CN" dirty="0"/>
              <a:t>		if (c1=='a') break;</a:t>
            </a:r>
          </a:p>
          <a:p>
            <a:pPr>
              <a:buNone/>
            </a:pPr>
            <a:r>
              <a:rPr lang="en-US" altLang="zh-CN" dirty="0"/>
              <a:t>		</a:t>
            </a:r>
            <a:r>
              <a:rPr lang="en-US" altLang="zh-CN" dirty="0" err="1"/>
              <a:t>printf</a:t>
            </a:r>
            <a:r>
              <a:rPr lang="en-US" altLang="zh-CN" dirty="0"/>
              <a:t>("The </a:t>
            </a:r>
            <a:r>
              <a:rPr lang="en-US" altLang="zh-CN" dirty="0" err="1"/>
              <a:t>ascii</a:t>
            </a:r>
            <a:r>
              <a:rPr lang="en-US" altLang="zh-CN" dirty="0"/>
              <a:t> code of %c is %d\n", c1,c1);</a:t>
            </a:r>
          </a:p>
          <a:p>
            <a:pPr>
              <a:buNone/>
            </a:pPr>
            <a:r>
              <a:rPr lang="en-US" altLang="zh-CN" dirty="0"/>
              <a:t>	}</a:t>
            </a:r>
          </a:p>
          <a:p>
            <a:pPr>
              <a:buNone/>
            </a:pPr>
            <a:r>
              <a:rPr lang="en-US" altLang="zh-CN" dirty="0"/>
              <a:t>}</a:t>
            </a:r>
            <a:endParaRPr lang="zh-CN" altLang="en-US" dirty="0"/>
          </a:p>
        </p:txBody>
      </p:sp>
    </p:spTree>
    <p:extLst>
      <p:ext uri="{BB962C8B-B14F-4D97-AF65-F5344CB8AC3E}">
        <p14:creationId xmlns:p14="http://schemas.microsoft.com/office/powerpoint/2010/main" val="23526327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noChangeArrowheads="1"/>
          </p:cNvSpPr>
          <p:nvPr>
            <p:ph idx="1"/>
          </p:nvPr>
        </p:nvSpPr>
        <p:spPr>
          <a:xfrm>
            <a:off x="323850" y="476250"/>
            <a:ext cx="8443913" cy="5762625"/>
          </a:xfrm>
        </p:spPr>
        <p:txBody>
          <a:bodyPr>
            <a:noAutofit/>
          </a:bodyPr>
          <a:lstStyle/>
          <a:p>
            <a:pPr marL="0" indent="0">
              <a:buFont typeface="Monotype Sorts" pitchFamily="2" charset="2"/>
              <a:buNone/>
            </a:pPr>
            <a:r>
              <a:rPr lang="zh-CN" altLang="en-US" sz="2800" b="1" dirty="0"/>
              <a:t>对应下列输入代码，要让变量</a:t>
            </a:r>
            <a:r>
              <a:rPr lang="en-US" altLang="zh-CN" sz="2800" b="1" dirty="0" err="1"/>
              <a:t>i</a:t>
            </a:r>
            <a:r>
              <a:rPr lang="zh-CN" altLang="en-US" sz="2800" b="1" dirty="0"/>
              <a:t>和</a:t>
            </a:r>
            <a:r>
              <a:rPr lang="en-US" altLang="zh-CN" sz="2800" b="1" dirty="0"/>
              <a:t>j</a:t>
            </a:r>
            <a:r>
              <a:rPr lang="zh-CN" altLang="en-US" sz="2800" b="1" dirty="0"/>
              <a:t>值分别为</a:t>
            </a:r>
            <a:r>
              <a:rPr lang="en-US" altLang="zh-CN" sz="2800" b="1" dirty="0"/>
              <a:t>12</a:t>
            </a:r>
            <a:r>
              <a:rPr lang="zh-CN" altLang="en-US" sz="2800" b="1" dirty="0"/>
              <a:t>和</a:t>
            </a:r>
            <a:r>
              <a:rPr lang="en-US" altLang="zh-CN" sz="2800" b="1" dirty="0"/>
              <a:t>234</a:t>
            </a:r>
            <a:r>
              <a:rPr lang="zh-CN" altLang="en-US" sz="2800" b="1" dirty="0"/>
              <a:t>，试指出合理的输入。</a:t>
            </a:r>
          </a:p>
          <a:p>
            <a:pPr marL="0" indent="0">
              <a:buFont typeface="Monotype Sorts" pitchFamily="2" charset="2"/>
              <a:buNone/>
            </a:pPr>
            <a:endParaRPr lang="zh-CN" altLang="en-US" sz="2800" b="1" dirty="0"/>
          </a:p>
          <a:p>
            <a:pPr marL="0" indent="0">
              <a:buFont typeface="Monotype Sorts" pitchFamily="2" charset="2"/>
              <a:buNone/>
            </a:pPr>
            <a:r>
              <a:rPr lang="en-US" altLang="zh-CN" sz="2800" b="1" dirty="0"/>
              <a:t>(1)</a:t>
            </a:r>
            <a:r>
              <a:rPr lang="en-US" altLang="zh-CN" sz="2800" b="1" dirty="0" err="1"/>
              <a:t>scanf</a:t>
            </a:r>
            <a:r>
              <a:rPr lang="en-US" altLang="zh-CN" sz="2800" b="1" dirty="0"/>
              <a:t>("%</a:t>
            </a:r>
            <a:r>
              <a:rPr lang="en-US" altLang="zh-CN" sz="2800" b="1" dirty="0" err="1"/>
              <a:t>d,%d”,&amp;i,&amp;j</a:t>
            </a:r>
            <a:r>
              <a:rPr lang="en-US" altLang="zh-CN" sz="2800" b="1" dirty="0"/>
              <a:t>);	</a:t>
            </a:r>
          </a:p>
          <a:p>
            <a:pPr marL="0" indent="0">
              <a:buFont typeface="Monotype Sorts" pitchFamily="2" charset="2"/>
              <a:buNone/>
            </a:pPr>
            <a:endParaRPr lang="en-US" altLang="zh-CN" sz="2800" b="1" dirty="0"/>
          </a:p>
          <a:p>
            <a:pPr marL="0" indent="0">
              <a:buFont typeface="Monotype Sorts" pitchFamily="2" charset="2"/>
              <a:buNone/>
            </a:pPr>
            <a:r>
              <a:rPr lang="en-US" altLang="zh-CN" sz="2800" b="1" dirty="0"/>
              <a:t>(2)</a:t>
            </a:r>
            <a:r>
              <a:rPr lang="en-US" altLang="zh-CN" sz="2800" b="1" dirty="0" err="1"/>
              <a:t>scanf</a:t>
            </a:r>
            <a:r>
              <a:rPr lang="en-US" altLang="zh-CN" sz="2800" b="1" dirty="0"/>
              <a:t>("%</a:t>
            </a:r>
            <a:r>
              <a:rPr lang="en-US" altLang="zh-CN" sz="2800" b="1" dirty="0" err="1"/>
              <a:t>d%d”,&amp;i,&amp;j</a:t>
            </a:r>
            <a:r>
              <a:rPr lang="en-US" altLang="zh-CN" sz="2800" b="1" dirty="0"/>
              <a:t>);</a:t>
            </a:r>
          </a:p>
          <a:p>
            <a:pPr marL="0" indent="0">
              <a:buFont typeface="Monotype Sorts" pitchFamily="2" charset="2"/>
              <a:buNone/>
            </a:pPr>
            <a:r>
              <a:rPr lang="zh-CN" altLang="en-US" sz="2800" b="1" dirty="0"/>
              <a:t>对于</a:t>
            </a:r>
            <a:r>
              <a:rPr lang="en-US" altLang="zh-CN" sz="2800" b="1" dirty="0"/>
              <a:t>(1)</a:t>
            </a:r>
            <a:r>
              <a:rPr lang="zh-CN" altLang="en-US" sz="2800" b="1" dirty="0"/>
              <a:t>，</a:t>
            </a:r>
            <a:r>
              <a:rPr lang="en-US" altLang="zh-CN" sz="2800" b="1" dirty="0"/>
              <a:t>"%</a:t>
            </a:r>
            <a:r>
              <a:rPr lang="en-US" altLang="zh-CN" sz="2800" b="1" dirty="0" err="1"/>
              <a:t>d,%d</a:t>
            </a:r>
            <a:r>
              <a:rPr lang="en-US" altLang="zh-CN" sz="2800" b="1" dirty="0"/>
              <a:t>”</a:t>
            </a:r>
            <a:r>
              <a:rPr lang="zh-CN" altLang="en-US" sz="2800" b="1" dirty="0"/>
              <a:t>中间的逗号是普通字符，必须按原样输入。所以，输入是：</a:t>
            </a:r>
            <a:r>
              <a:rPr lang="en-US" altLang="zh-CN" sz="2800" b="1" dirty="0"/>
              <a:t>12,234</a:t>
            </a:r>
          </a:p>
          <a:p>
            <a:pPr marL="0" indent="0">
              <a:buFont typeface="Monotype Sorts" pitchFamily="2" charset="2"/>
              <a:buNone/>
            </a:pPr>
            <a:r>
              <a:rPr lang="zh-CN" altLang="en-US" sz="2800" b="1" dirty="0"/>
              <a:t>对于</a:t>
            </a:r>
            <a:r>
              <a:rPr lang="en-US" altLang="zh-CN" sz="2800" b="1" dirty="0"/>
              <a:t>(2)</a:t>
            </a:r>
            <a:r>
              <a:rPr lang="zh-CN" altLang="en-US" sz="2800" b="1" dirty="0"/>
              <a:t>，两个输入格式之间没有其它字符，输入时，数据以一个或多个</a:t>
            </a:r>
            <a:r>
              <a:rPr lang="zh-CN" altLang="en-US" sz="2800" b="1" dirty="0">
                <a:solidFill>
                  <a:srgbClr val="C00000"/>
                </a:solidFill>
              </a:rPr>
              <a:t>空格符</a:t>
            </a:r>
            <a:r>
              <a:rPr lang="zh-CN" altLang="en-US" sz="2800" b="1" dirty="0"/>
              <a:t>分隔，也可以用</a:t>
            </a:r>
            <a:r>
              <a:rPr lang="en-US" altLang="zh-CN" sz="2800" b="1" dirty="0">
                <a:solidFill>
                  <a:srgbClr val="C00000"/>
                </a:solidFill>
              </a:rPr>
              <a:t>Tab</a:t>
            </a:r>
            <a:r>
              <a:rPr lang="zh-CN" altLang="en-US" sz="2800" b="1" dirty="0"/>
              <a:t>键、</a:t>
            </a:r>
            <a:r>
              <a:rPr lang="en-US" altLang="zh-CN" sz="2800" b="1" dirty="0">
                <a:solidFill>
                  <a:srgbClr val="C00000"/>
                </a:solidFill>
              </a:rPr>
              <a:t>Enter</a:t>
            </a:r>
            <a:r>
              <a:rPr lang="zh-CN" altLang="en-US" sz="2800" b="1" dirty="0"/>
              <a:t>键分隔。所以，可以输入：</a:t>
            </a:r>
            <a:r>
              <a:rPr lang="en-US" altLang="zh-CN" sz="2800" b="1" dirty="0"/>
              <a:t>12  234</a:t>
            </a:r>
          </a:p>
        </p:txBody>
      </p:sp>
      <p:sp>
        <p:nvSpPr>
          <p:cNvPr id="5" name="灯片编号占位符 5"/>
          <p:cNvSpPr>
            <a:spLocks noGrp="1"/>
          </p:cNvSpPr>
          <p:nvPr>
            <p:ph type="sldNum" sz="quarter" idx="12"/>
          </p:nvPr>
        </p:nvSpPr>
        <p:spPr/>
        <p:txBody>
          <a:bodyPr/>
          <a:lstStyle/>
          <a:p>
            <a:fld id="{335812AC-E2D5-4770-9C4B-2AB0D1ED8458}" type="slidenum">
              <a:rPr lang="en-US" altLang="zh-CN"/>
              <a:pPr/>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0739">
                                            <p:txEl>
                                              <p:pRg st="5" end="5"/>
                                            </p:txEl>
                                          </p:spTgt>
                                        </p:tgtEl>
                                        <p:attrNameLst>
                                          <p:attrName>style.visibility</p:attrName>
                                        </p:attrNameLst>
                                      </p:cBhvr>
                                      <p:to>
                                        <p:strVal val="visible"/>
                                      </p:to>
                                    </p:set>
                                    <p:anim calcmode="lin" valueType="num">
                                      <p:cBhvr additive="base">
                                        <p:cTn id="7" dur="500" fill="hold"/>
                                        <p:tgtEl>
                                          <p:spTgt spid="500739">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07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0739">
                                            <p:txEl>
                                              <p:pRg st="6" end="6"/>
                                            </p:txEl>
                                          </p:spTgt>
                                        </p:tgtEl>
                                        <p:attrNameLst>
                                          <p:attrName>style.visibility</p:attrName>
                                        </p:attrNameLst>
                                      </p:cBhvr>
                                      <p:to>
                                        <p:strVal val="visible"/>
                                      </p:to>
                                    </p:set>
                                    <p:anim calcmode="lin" valueType="num">
                                      <p:cBhvr additive="base">
                                        <p:cTn id="13" dur="500" fill="hold"/>
                                        <p:tgtEl>
                                          <p:spTgt spid="500739">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073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idx="1"/>
          </p:nvPr>
        </p:nvSpPr>
        <p:spPr>
          <a:xfrm>
            <a:off x="323850" y="476250"/>
            <a:ext cx="8443913" cy="5953146"/>
          </a:xfrm>
        </p:spPr>
        <p:txBody>
          <a:bodyPr>
            <a:noAutofit/>
          </a:bodyPr>
          <a:lstStyle/>
          <a:p>
            <a:pPr marL="0" indent="0">
              <a:spcAft>
                <a:spcPts val="1200"/>
              </a:spcAft>
              <a:buFont typeface="Monotype Sorts" pitchFamily="2" charset="2"/>
              <a:buNone/>
            </a:pPr>
            <a:r>
              <a:rPr lang="zh-CN" altLang="en-US" sz="2400" b="1" dirty="0"/>
              <a:t>对应下列输入代码，要让变量</a:t>
            </a:r>
            <a:r>
              <a:rPr lang="en-US" altLang="zh-CN" sz="2400" b="1" dirty="0" err="1"/>
              <a:t>i</a:t>
            </a:r>
            <a:r>
              <a:rPr lang="zh-CN" altLang="en-US" sz="2400" b="1" dirty="0"/>
              <a:t>和</a:t>
            </a:r>
            <a:r>
              <a:rPr lang="en-US" altLang="zh-CN" sz="2400" b="1" dirty="0"/>
              <a:t>j</a:t>
            </a:r>
            <a:r>
              <a:rPr lang="zh-CN" altLang="en-US" sz="2400" b="1" dirty="0"/>
              <a:t>值分别为</a:t>
            </a:r>
            <a:r>
              <a:rPr lang="en-US" altLang="zh-CN" sz="2400" b="1" dirty="0"/>
              <a:t>12</a:t>
            </a:r>
            <a:r>
              <a:rPr lang="zh-CN" altLang="en-US" sz="2400" b="1" dirty="0"/>
              <a:t>和</a:t>
            </a:r>
            <a:r>
              <a:rPr lang="en-US" altLang="zh-CN" sz="2400" b="1" dirty="0"/>
              <a:t>234</a:t>
            </a:r>
            <a:r>
              <a:rPr lang="zh-CN" altLang="en-US" sz="2400" b="1" dirty="0"/>
              <a:t>，试指出合理的输入。</a:t>
            </a:r>
          </a:p>
          <a:p>
            <a:pPr marL="0" indent="0">
              <a:spcAft>
                <a:spcPts val="1200"/>
              </a:spcAft>
              <a:buFont typeface="Monotype Sorts" pitchFamily="2" charset="2"/>
              <a:buNone/>
            </a:pPr>
            <a:r>
              <a:rPr lang="en-US" altLang="zh-CN" sz="3200" b="1" dirty="0"/>
              <a:t>(3)</a:t>
            </a:r>
            <a:r>
              <a:rPr lang="en-US" altLang="zh-CN" sz="3200" b="1" dirty="0" err="1"/>
              <a:t>scanf</a:t>
            </a:r>
            <a:r>
              <a:rPr lang="en-US" altLang="zh-CN" sz="3200" b="1" dirty="0"/>
              <a:t>("%2d%3d”,&amp;i,&amp;j);  // </a:t>
            </a:r>
            <a:r>
              <a:rPr lang="zh-CN" altLang="en-US" sz="3200" b="1" dirty="0"/>
              <a:t>指定数据输入的数字符个数，</a:t>
            </a:r>
            <a:r>
              <a:rPr lang="zh-CN" altLang="en-US" sz="2400" b="1" dirty="0"/>
              <a:t>分别是</a:t>
            </a:r>
            <a:r>
              <a:rPr lang="en-US" altLang="zh-CN" sz="2400" b="1" dirty="0"/>
              <a:t>2</a:t>
            </a:r>
            <a:r>
              <a:rPr lang="zh-CN" altLang="en-US" sz="2400" b="1" dirty="0"/>
              <a:t>个和</a:t>
            </a:r>
            <a:r>
              <a:rPr lang="en-US" altLang="zh-CN" sz="2400" b="1" dirty="0"/>
              <a:t>3</a:t>
            </a:r>
            <a:r>
              <a:rPr lang="zh-CN" altLang="en-US" sz="2400" b="1" dirty="0"/>
              <a:t>个</a:t>
            </a:r>
          </a:p>
          <a:p>
            <a:pPr marL="0" indent="0">
              <a:spcAft>
                <a:spcPts val="1200"/>
              </a:spcAft>
              <a:buFont typeface="Monotype Sorts" pitchFamily="2" charset="2"/>
              <a:buNone/>
            </a:pPr>
            <a:r>
              <a:rPr lang="en-US" altLang="zh-CN" sz="3200" b="1" dirty="0"/>
              <a:t>(4)</a:t>
            </a:r>
            <a:r>
              <a:rPr lang="en-US" altLang="zh-CN" sz="3200" b="1" dirty="0" err="1"/>
              <a:t>scanf</a:t>
            </a:r>
            <a:r>
              <a:rPr lang="en-US" altLang="zh-CN" sz="3200" b="1" dirty="0"/>
              <a:t>("%d%</a:t>
            </a:r>
            <a:r>
              <a:rPr lang="en-US" altLang="zh-CN" sz="4000" b="1" dirty="0"/>
              <a:t>*</a:t>
            </a:r>
            <a:r>
              <a:rPr lang="en-US" altLang="zh-CN" sz="3200" b="1" dirty="0" err="1"/>
              <a:t>d%d”,&amp;i,&amp;j</a:t>
            </a:r>
            <a:r>
              <a:rPr lang="en-US" altLang="zh-CN" sz="3200" b="1" dirty="0"/>
              <a:t>)</a:t>
            </a:r>
          </a:p>
          <a:p>
            <a:pPr marL="0" indent="0">
              <a:spcAft>
                <a:spcPts val="1200"/>
              </a:spcAft>
              <a:buFont typeface="Monotype Sorts" pitchFamily="2" charset="2"/>
              <a:buNone/>
            </a:pPr>
            <a:r>
              <a:rPr lang="zh-CN" altLang="en-US" sz="2400" b="1" dirty="0"/>
              <a:t>对于</a:t>
            </a:r>
            <a:r>
              <a:rPr lang="en-US" altLang="zh-CN" sz="2400" b="1" dirty="0"/>
              <a:t>(3)</a:t>
            </a:r>
            <a:r>
              <a:rPr lang="zh-CN" altLang="en-US" sz="2400" b="1" dirty="0"/>
              <a:t>，格式指定数据输入的数字符个数，分别是</a:t>
            </a:r>
            <a:r>
              <a:rPr lang="en-US" altLang="zh-CN" sz="2400" b="1" dirty="0"/>
              <a:t>2</a:t>
            </a:r>
            <a:r>
              <a:rPr lang="zh-CN" altLang="en-US" sz="2400" b="1" dirty="0"/>
              <a:t>个和</a:t>
            </a:r>
            <a:r>
              <a:rPr lang="en-US" altLang="zh-CN" sz="2400" b="1" dirty="0"/>
              <a:t>3</a:t>
            </a:r>
            <a:r>
              <a:rPr lang="zh-CN" altLang="en-US" sz="2400" b="1" dirty="0"/>
              <a:t>个，输入数据可以用空白符分隔，也可以用前</a:t>
            </a:r>
            <a:r>
              <a:rPr lang="en-US" altLang="zh-CN" sz="2400" b="1" dirty="0"/>
              <a:t>2</a:t>
            </a:r>
            <a:r>
              <a:rPr lang="zh-CN" altLang="en-US" sz="2400" b="1" dirty="0"/>
              <a:t>个数字符为变量</a:t>
            </a:r>
            <a:r>
              <a:rPr lang="en-US" altLang="zh-CN" sz="2400" b="1" dirty="0" err="1"/>
              <a:t>i</a:t>
            </a:r>
            <a:r>
              <a:rPr lang="zh-CN" altLang="en-US" sz="2400" b="1" dirty="0"/>
              <a:t>输入，后</a:t>
            </a:r>
            <a:r>
              <a:rPr lang="en-US" altLang="zh-CN" sz="2400" b="1" dirty="0"/>
              <a:t>3</a:t>
            </a:r>
            <a:r>
              <a:rPr lang="zh-CN" altLang="en-US" sz="2400" b="1" dirty="0"/>
              <a:t>个数字符为变量</a:t>
            </a:r>
            <a:r>
              <a:rPr lang="en-US" altLang="zh-CN" sz="2400" b="1" dirty="0"/>
              <a:t>j</a:t>
            </a:r>
            <a:r>
              <a:rPr lang="zh-CN" altLang="en-US" sz="2400" b="1" dirty="0"/>
              <a:t>输入。例如，输入</a:t>
            </a:r>
            <a:r>
              <a:rPr lang="en-US" altLang="zh-CN" sz="2400" b="1" dirty="0"/>
              <a:t>12234</a:t>
            </a:r>
            <a:r>
              <a:rPr lang="zh-CN" altLang="en-US" sz="2400" b="1" dirty="0"/>
              <a:t>也能满足要求，将</a:t>
            </a:r>
            <a:r>
              <a:rPr lang="en-US" altLang="zh-CN" sz="2400" b="1" dirty="0"/>
              <a:t>12</a:t>
            </a:r>
            <a:r>
              <a:rPr lang="zh-CN" altLang="en-US" sz="2400" b="1" dirty="0"/>
              <a:t>赋值给变量</a:t>
            </a:r>
            <a:r>
              <a:rPr lang="en-US" altLang="zh-CN" sz="2400" b="1" dirty="0" err="1"/>
              <a:t>i</a:t>
            </a:r>
            <a:r>
              <a:rPr lang="zh-CN" altLang="en-US" sz="2400" b="1" dirty="0"/>
              <a:t>，将</a:t>
            </a:r>
            <a:r>
              <a:rPr lang="en-US" altLang="zh-CN" sz="2400" b="1" dirty="0"/>
              <a:t>234</a:t>
            </a:r>
            <a:r>
              <a:rPr lang="zh-CN" altLang="en-US" sz="2400" b="1" dirty="0"/>
              <a:t>赋值给变量</a:t>
            </a:r>
            <a:r>
              <a:rPr lang="en-US" altLang="zh-CN" sz="2400" b="1" dirty="0"/>
              <a:t>j</a:t>
            </a:r>
            <a:r>
              <a:rPr lang="zh-CN" altLang="en-US" sz="2400" b="1" dirty="0"/>
              <a:t>。</a:t>
            </a:r>
          </a:p>
          <a:p>
            <a:pPr marL="0" indent="0">
              <a:spcAft>
                <a:spcPts val="1200"/>
              </a:spcAft>
              <a:buFont typeface="Monotype Sorts" pitchFamily="2" charset="2"/>
              <a:buNone/>
            </a:pPr>
            <a:r>
              <a:rPr lang="zh-CN" altLang="en-US" sz="2400" b="1" dirty="0"/>
              <a:t>对于</a:t>
            </a:r>
            <a:r>
              <a:rPr lang="en-US" altLang="zh-CN" sz="2400" b="1" dirty="0"/>
              <a:t>(4)</a:t>
            </a:r>
            <a:r>
              <a:rPr lang="zh-CN" altLang="en-US" sz="2400" b="1" dirty="0"/>
              <a:t>，格式中的第</a:t>
            </a:r>
            <a:r>
              <a:rPr lang="en-US" altLang="zh-CN" sz="2400" b="1" dirty="0"/>
              <a:t>2</a:t>
            </a:r>
            <a:r>
              <a:rPr lang="zh-CN" altLang="en-US" sz="2400" b="1" dirty="0"/>
              <a:t>个输入格式有赋值抑制符，所以要输入</a:t>
            </a:r>
            <a:r>
              <a:rPr lang="en-US" altLang="zh-CN" sz="2400" b="1" dirty="0"/>
              <a:t>3</a:t>
            </a:r>
            <a:r>
              <a:rPr lang="zh-CN" altLang="en-US" sz="2400" b="1" dirty="0"/>
              <a:t>个整数，其中第二个整数用于输入不赋值的要求。只要</a:t>
            </a:r>
            <a:r>
              <a:rPr lang="en-US" altLang="zh-CN" sz="2400" b="1" dirty="0"/>
              <a:t>3</a:t>
            </a:r>
            <a:r>
              <a:rPr lang="zh-CN" altLang="en-US" sz="2400" b="1" dirty="0"/>
              <a:t>个整数有空白符分隔即可，例如，输入：</a:t>
            </a:r>
            <a:r>
              <a:rPr lang="en-US" altLang="zh-CN" sz="2400" b="1" dirty="0"/>
              <a:t>12  0  234</a:t>
            </a:r>
          </a:p>
        </p:txBody>
      </p:sp>
      <p:sp>
        <p:nvSpPr>
          <p:cNvPr id="5" name="灯片编号占位符 5"/>
          <p:cNvSpPr>
            <a:spLocks noGrp="1"/>
          </p:cNvSpPr>
          <p:nvPr>
            <p:ph type="sldNum" sz="quarter" idx="12"/>
          </p:nvPr>
        </p:nvSpPr>
        <p:spPr/>
        <p:txBody>
          <a:bodyPr/>
          <a:lstStyle/>
          <a:p>
            <a:fld id="{11F26662-6925-44AE-83E0-E1C2C64ED639}" type="slidenum">
              <a:rPr lang="en-US" altLang="zh-CN"/>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7906">
                                            <p:txEl>
                                              <p:pRg st="3" end="3"/>
                                            </p:txEl>
                                          </p:spTgt>
                                        </p:tgtEl>
                                        <p:attrNameLst>
                                          <p:attrName>style.visibility</p:attrName>
                                        </p:attrNameLst>
                                      </p:cBhvr>
                                      <p:to>
                                        <p:strVal val="visible"/>
                                      </p:to>
                                    </p:set>
                                    <p:anim calcmode="lin" valueType="num">
                                      <p:cBhvr additive="base">
                                        <p:cTn id="7" dur="500" fill="hold"/>
                                        <p:tgtEl>
                                          <p:spTgt spid="50790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79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7906">
                                            <p:txEl>
                                              <p:pRg st="4" end="4"/>
                                            </p:txEl>
                                          </p:spTgt>
                                        </p:tgtEl>
                                        <p:attrNameLst>
                                          <p:attrName>style.visibility</p:attrName>
                                        </p:attrNameLst>
                                      </p:cBhvr>
                                      <p:to>
                                        <p:strVal val="visible"/>
                                      </p:to>
                                    </p:set>
                                    <p:anim calcmode="lin" valueType="num">
                                      <p:cBhvr additive="base">
                                        <p:cTn id="13" dur="500" fill="hold"/>
                                        <p:tgtEl>
                                          <p:spTgt spid="50790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790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idx="1"/>
          </p:nvPr>
        </p:nvSpPr>
        <p:spPr>
          <a:xfrm>
            <a:off x="323850" y="549275"/>
            <a:ext cx="8443913" cy="5689600"/>
          </a:xfrm>
        </p:spPr>
        <p:txBody>
          <a:bodyPr/>
          <a:lstStyle/>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进一步的例子：</a:t>
            </a:r>
          </a:p>
          <a:p>
            <a:pPr marL="536575" indent="-536575">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int</a:t>
            </a: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char c; float x; </a:t>
            </a:r>
          </a:p>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scanf</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d%c%f</a:t>
            </a:r>
            <a:r>
              <a:rPr lang="en-US" altLang="zh-CN" b="1" dirty="0">
                <a:effectLst>
                  <a:outerShdw blurRad="38100" dist="38100" dir="2700000" algn="tl">
                    <a:srgbClr val="000000"/>
                  </a:outerShdw>
                </a:effectLst>
                <a:latin typeface="宋体" pitchFamily="2" charset="-122"/>
              </a:rPr>
              <a:t>", &amp;</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&amp;c, &amp;x)</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若输入字符为：</a:t>
            </a:r>
            <a:r>
              <a:rPr lang="en-US" altLang="zh-CN" b="1" dirty="0">
                <a:effectLst>
                  <a:outerShdw blurRad="38100" dist="38100" dir="2700000" algn="tl">
                    <a:srgbClr val="000000"/>
                  </a:outerShdw>
                </a:effectLst>
                <a:latin typeface="宋体" pitchFamily="2" charset="-122"/>
              </a:rPr>
              <a:t>123a123x.26</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变量</a:t>
            </a:r>
            <a:r>
              <a:rPr lang="en-US" altLang="zh-CN" b="1" dirty="0" err="1">
                <a:effectLst>
                  <a:outerShdw blurRad="38100" dist="38100" dir="2700000" algn="tl">
                    <a:srgbClr val="000000"/>
                  </a:outerShdw>
                </a:effectLst>
                <a:latin typeface="宋体" pitchFamily="2" charset="-122"/>
              </a:rPr>
              <a:t>i</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a:t>
            </a:r>
            <a:r>
              <a:rPr lang="zh-CN" altLang="en-US" b="1" dirty="0">
                <a:effectLst>
                  <a:outerShdw blurRad="38100" dist="38100" dir="2700000" algn="tl">
                    <a:srgbClr val="000000"/>
                  </a:outerShdw>
                </a:effectLst>
                <a:latin typeface="宋体" pitchFamily="2" charset="-122"/>
              </a:rPr>
              <a:t>，变量</a:t>
            </a:r>
            <a:r>
              <a:rPr lang="en-US" altLang="zh-CN" b="1" dirty="0">
                <a:effectLst>
                  <a:outerShdw blurRad="38100" dist="38100" dir="2700000" algn="tl">
                    <a:srgbClr val="000000"/>
                  </a:outerShdw>
                </a:effectLst>
                <a:latin typeface="宋体" pitchFamily="2" charset="-122"/>
              </a:rPr>
              <a:t>c</a:t>
            </a:r>
            <a:r>
              <a:rPr lang="zh-CN" altLang="en-US" b="1" dirty="0">
                <a:effectLst>
                  <a:outerShdw blurRad="38100" dist="38100" dir="2700000" algn="tl">
                    <a:srgbClr val="000000"/>
                  </a:outerShdw>
                </a:effectLst>
                <a:latin typeface="宋体" pitchFamily="2" charset="-122"/>
              </a:rPr>
              <a:t>为字符</a:t>
            </a:r>
            <a:r>
              <a:rPr lang="en-US" altLang="zh-CN" b="1" dirty="0">
                <a:effectLst>
                  <a:outerShdw blurRad="38100" dist="38100" dir="2700000" algn="tl">
                    <a:srgbClr val="000000"/>
                  </a:outerShdw>
                </a:effectLst>
                <a:latin typeface="宋体" pitchFamily="2" charset="-122"/>
              </a:rPr>
              <a:t>a</a:t>
            </a:r>
            <a:r>
              <a:rPr lang="zh-CN" altLang="en-US" b="1" dirty="0">
                <a:effectLst>
                  <a:outerShdw blurRad="38100" dist="38100" dir="2700000" algn="tl">
                    <a:srgbClr val="000000"/>
                  </a:outerShdw>
                </a:effectLst>
                <a:latin typeface="宋体" pitchFamily="2" charset="-122"/>
              </a:rPr>
              <a:t>，变量</a:t>
            </a:r>
            <a:r>
              <a:rPr lang="en-US" altLang="zh-CN" b="1" dirty="0">
                <a:effectLst>
                  <a:outerShdw blurRad="38100" dist="38100" dir="2700000" algn="tl">
                    <a:srgbClr val="000000"/>
                  </a:outerShdw>
                </a:effectLst>
                <a:latin typeface="宋体" pitchFamily="2" charset="-122"/>
              </a:rPr>
              <a:t>x</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123.0</a:t>
            </a:r>
            <a:r>
              <a:rPr lang="zh-CN" altLang="en-US" b="1" dirty="0">
                <a:effectLst>
                  <a:outerShdw blurRad="38100" dist="38100" dir="2700000" algn="tl">
                    <a:srgbClr val="000000"/>
                  </a:outerShdw>
                </a:effectLst>
                <a:latin typeface="宋体" pitchFamily="2" charset="-122"/>
              </a:rPr>
              <a:t>。</a:t>
            </a:r>
          </a:p>
          <a:p>
            <a:pPr marL="536575" indent="-536575">
              <a:buFont typeface="Monotype Sorts" pitchFamily="2" charset="2"/>
              <a:buNone/>
            </a:pPr>
            <a:endParaRPr lang="zh-CN" altLang="en-US" b="1" dirty="0">
              <a:effectLst>
                <a:outerShdw blurRad="38100" dist="38100" dir="2700000" algn="tl">
                  <a:srgbClr val="000000"/>
                </a:outerShdw>
              </a:effectLst>
              <a:latin typeface="宋体" pitchFamily="2" charset="-122"/>
            </a:endParaRPr>
          </a:p>
          <a:p>
            <a:pPr marL="536575" indent="-536575">
              <a:buFont typeface="Monotype Sorts" pitchFamily="2" charset="2"/>
              <a:buNone/>
            </a:pPr>
            <a:r>
              <a:rPr lang="en-US" altLang="zh-CN" b="1" dirty="0" err="1">
                <a:effectLst>
                  <a:outerShdw blurRad="38100" dist="38100" dir="2700000" algn="tl">
                    <a:srgbClr val="000000"/>
                  </a:outerShdw>
                </a:effectLst>
                <a:latin typeface="宋体" pitchFamily="2" charset="-122"/>
              </a:rPr>
              <a:t>int</a:t>
            </a: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j;</a:t>
            </a:r>
          </a:p>
          <a:p>
            <a:pPr marL="536575" indent="-536575">
              <a:buFont typeface="Monotype Sorts" pitchFamily="2" charset="2"/>
              <a:buNone/>
            </a:pPr>
            <a:r>
              <a:rPr lang="en-US" altLang="zh-CN" b="1" dirty="0" err="1">
                <a:effectLst>
                  <a:outerShdw blurRad="38100" dist="38100" dir="2700000" algn="tl">
                    <a:srgbClr val="000000"/>
                  </a:outerShdw>
                </a:effectLst>
                <a:latin typeface="宋体" pitchFamily="2" charset="-122"/>
              </a:rPr>
              <a:t>scanf</a:t>
            </a:r>
            <a:r>
              <a:rPr lang="en-US" altLang="zh-CN" b="1" dirty="0">
                <a:effectLst>
                  <a:outerShdw blurRad="38100" dist="38100" dir="2700000" algn="tl">
                    <a:srgbClr val="000000"/>
                  </a:outerShdw>
                </a:effectLst>
                <a:latin typeface="宋体" pitchFamily="2" charset="-122"/>
              </a:rPr>
              <a:t>("%3d%*4d%d", &amp;</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&amp;j)</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若输入字符为：</a:t>
            </a:r>
            <a:r>
              <a:rPr lang="en-US" altLang="zh-CN" b="1" dirty="0">
                <a:effectLst>
                  <a:outerShdw blurRad="38100" dist="38100" dir="2700000" algn="tl">
                    <a:srgbClr val="000000"/>
                  </a:outerShdw>
                </a:effectLst>
                <a:latin typeface="宋体" pitchFamily="2" charset="-122"/>
              </a:rPr>
              <a:t>123</a:t>
            </a:r>
            <a:r>
              <a:rPr lang="en-US" altLang="zh-CN" b="1" dirty="0">
                <a:solidFill>
                  <a:srgbClr val="CC0000"/>
                </a:solidFill>
                <a:effectLst>
                  <a:outerShdw blurRad="38100" dist="38100" dir="2700000" algn="tl">
                    <a:srgbClr val="000000"/>
                  </a:outerShdw>
                </a:effectLst>
                <a:latin typeface="宋体" pitchFamily="2" charset="-122"/>
              </a:rPr>
              <a:t>456</a:t>
            </a:r>
            <a:r>
              <a:rPr lang="en-US" altLang="zh-CN" b="1" dirty="0">
                <a:effectLst>
                  <a:outerShdw blurRad="38100" dist="38100" dir="2700000" algn="tl">
                    <a:srgbClr val="000000"/>
                  </a:outerShdw>
                </a:effectLst>
                <a:latin typeface="宋体" pitchFamily="2" charset="-122"/>
              </a:rPr>
              <a:t>  78</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 变量</a:t>
            </a:r>
            <a:r>
              <a:rPr lang="en-US" altLang="zh-CN" b="1" dirty="0" err="1">
                <a:effectLst>
                  <a:outerShdw blurRad="38100" dist="38100" dir="2700000" algn="tl">
                    <a:srgbClr val="000000"/>
                  </a:outerShdw>
                </a:effectLst>
                <a:latin typeface="宋体" pitchFamily="2" charset="-122"/>
              </a:rPr>
              <a:t>i</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a:t>
            </a:r>
            <a:r>
              <a:rPr lang="zh-CN" altLang="en-US"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宋体" pitchFamily="2" charset="-122"/>
              </a:rPr>
              <a:t>j</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78</a:t>
            </a:r>
            <a:r>
              <a:rPr lang="zh-CN" altLang="en-US" b="1" dirty="0">
                <a:effectLst>
                  <a:outerShdw blurRad="38100" dist="38100" dir="2700000" algn="tl">
                    <a:srgbClr val="000000"/>
                  </a:outerShdw>
                </a:effectLst>
                <a:latin typeface="宋体" pitchFamily="2" charset="-122"/>
              </a:rPr>
              <a:t>。其中数据 </a:t>
            </a:r>
            <a:r>
              <a:rPr lang="en-US" altLang="zh-CN" b="1" dirty="0">
                <a:effectLst>
                  <a:outerShdw blurRad="38100" dist="38100" dir="2700000" algn="tl">
                    <a:srgbClr val="000000"/>
                  </a:outerShdw>
                </a:effectLst>
                <a:latin typeface="宋体" pitchFamily="2" charset="-122"/>
              </a:rPr>
              <a:t>456 </a:t>
            </a:r>
            <a:r>
              <a:rPr lang="zh-CN" altLang="en-US" b="1" dirty="0">
                <a:effectLst>
                  <a:outerShdw blurRad="38100" dist="38100" dir="2700000" algn="tl">
                    <a:srgbClr val="000000"/>
                  </a:outerShdw>
                </a:effectLst>
                <a:latin typeface="宋体" pitchFamily="2" charset="-122"/>
              </a:rPr>
              <a:t>因赋值抑制符*的作用被跳过。</a:t>
            </a:r>
          </a:p>
        </p:txBody>
      </p:sp>
      <p:sp>
        <p:nvSpPr>
          <p:cNvPr id="5" name="灯片编号占位符 5"/>
          <p:cNvSpPr>
            <a:spLocks noGrp="1"/>
          </p:cNvSpPr>
          <p:nvPr>
            <p:ph type="sldNum" sz="quarter" idx="12"/>
          </p:nvPr>
        </p:nvSpPr>
        <p:spPr/>
        <p:txBody>
          <a:bodyPr/>
          <a:lstStyle/>
          <a:p>
            <a:fld id="{FC3DA5E1-629F-4DA0-94D2-45486F285F83}" type="slidenum">
              <a:rPr lang="en-US" altLang="zh-CN"/>
              <a:pPr/>
              <a:t>48</a:t>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fault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1760</TotalTime>
  <Words>4854</Words>
  <Application>Microsoft Office PowerPoint</Application>
  <PresentationFormat>全屏显示(4:3)</PresentationFormat>
  <Paragraphs>475</Paragraphs>
  <Slides>48</Slides>
  <Notes>3</Notes>
  <HiddenSlides>1</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48</vt:i4>
      </vt:variant>
    </vt:vector>
  </HeadingPairs>
  <TitlesOfParts>
    <vt:vector size="61" baseType="lpstr">
      <vt:lpstr>Monotype Sorts</vt:lpstr>
      <vt:lpstr>等线</vt:lpstr>
      <vt:lpstr>黑体</vt:lpstr>
      <vt:lpstr>楷体_GB2312</vt:lpstr>
      <vt:lpstr>宋体</vt:lpstr>
      <vt:lpstr>Arial</vt:lpstr>
      <vt:lpstr>Calibri</vt:lpstr>
      <vt:lpstr>Constantia</vt:lpstr>
      <vt:lpstr>Courier New</vt:lpstr>
      <vt:lpstr>Times New Roman</vt:lpstr>
      <vt:lpstr>Wingdings</vt:lpstr>
      <vt:lpstr>Wingdings 2</vt:lpstr>
      <vt:lpstr>Default Theme</vt:lpstr>
      <vt:lpstr>第2章 基本数据类型及其运算(I)</vt:lpstr>
      <vt:lpstr>2.1 基本数据类型</vt:lpstr>
      <vt:lpstr>整型数据</vt:lpstr>
      <vt:lpstr>常用整数的数值范围</vt:lpstr>
      <vt:lpstr>PowerPoint 演示文稿</vt:lpstr>
      <vt:lpstr>PowerPoint 演示文稿</vt:lpstr>
      <vt:lpstr>整型常量的书写形式</vt:lpstr>
      <vt:lpstr>长整型整数和无符号整数的表示</vt:lpstr>
      <vt:lpstr>PowerPoint 演示文稿</vt:lpstr>
      <vt:lpstr>浮点型数据</vt:lpstr>
      <vt:lpstr>PowerPoint 演示文稿</vt:lpstr>
      <vt:lpstr>浮点型数据</vt:lpstr>
      <vt:lpstr>PowerPoint 演示文稿</vt:lpstr>
      <vt:lpstr>PowerPoint 演示文稿</vt:lpstr>
      <vt:lpstr>PowerPoint 演示文稿</vt:lpstr>
      <vt:lpstr>浮点型常量的一般书写格式   正负号  整数部分.小数部分 指数部分</vt:lpstr>
      <vt:lpstr>PowerPoint 演示文稿</vt:lpstr>
      <vt:lpstr>字符型数据</vt:lpstr>
      <vt:lpstr>字符型常量书写方法</vt:lpstr>
      <vt:lpstr>表2-1 特殊字符表</vt:lpstr>
      <vt:lpstr>PowerPoint 演示文稿</vt:lpstr>
      <vt:lpstr>字符型常量与字符串常量的区别</vt:lpstr>
      <vt:lpstr>【例2.1】字符型数据与整型数据通用。</vt:lpstr>
      <vt:lpstr>C语言标准中数据类型的引入</vt:lpstr>
      <vt:lpstr>2.2 输入和输出基础</vt:lpstr>
      <vt:lpstr>【例2.2】使用putchar函数的示例</vt:lpstr>
      <vt:lpstr>单个字符输入函数</vt:lpstr>
      <vt:lpstr>【例2.3】使用putchar函数的示例</vt:lpstr>
      <vt:lpstr>PowerPoint 演示文稿</vt:lpstr>
      <vt:lpstr>格式输出函数</vt:lpstr>
      <vt:lpstr>格式转换说明</vt:lpstr>
      <vt:lpstr>输出格式符表</vt:lpstr>
      <vt:lpstr>PowerPoint 演示文稿</vt:lpstr>
      <vt:lpstr>PowerPoint 演示文稿</vt:lpstr>
      <vt:lpstr>输出格式修饰符 </vt:lpstr>
      <vt:lpstr>PowerPoint 演示文稿</vt:lpstr>
      <vt:lpstr>格式输出实例</vt:lpstr>
      <vt:lpstr>123.4567f为什么是123.456703</vt:lpstr>
      <vt:lpstr>格式输入函数</vt:lpstr>
      <vt:lpstr>格式转换说明的形式</vt:lpstr>
      <vt:lpstr>输入格式符表</vt:lpstr>
      <vt:lpstr>说明</vt:lpstr>
      <vt:lpstr>PowerPoint 演示文稿</vt:lpstr>
      <vt:lpstr>PowerPoint 演示文稿</vt:lpstr>
      <vt:lpstr>输出用户输入字符的ascii码</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基本数据类型及其运算(I)</dc:title>
  <dc:creator>home</dc:creator>
  <cp:lastModifiedBy>子敬 谈</cp:lastModifiedBy>
  <cp:revision>144</cp:revision>
  <dcterms:created xsi:type="dcterms:W3CDTF">2009-09-22T01:40:49Z</dcterms:created>
  <dcterms:modified xsi:type="dcterms:W3CDTF">2025-09-16T05:27:01Z</dcterms:modified>
</cp:coreProperties>
</file>