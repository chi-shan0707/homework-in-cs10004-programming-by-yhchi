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2" r:id="rId1"/>
  </p:sldMasterIdLst>
  <p:notesMasterIdLst>
    <p:notesMasterId r:id="rId139"/>
  </p:notesMasterIdLst>
  <p:sldIdLst>
    <p:sldId id="256" r:id="rId2"/>
    <p:sldId id="440" r:id="rId3"/>
    <p:sldId id="441" r:id="rId4"/>
    <p:sldId id="442" r:id="rId5"/>
    <p:sldId id="443" r:id="rId6"/>
    <p:sldId id="444" r:id="rId7"/>
    <p:sldId id="445" r:id="rId8"/>
    <p:sldId id="446" r:id="rId9"/>
    <p:sldId id="447" r:id="rId10"/>
    <p:sldId id="655" r:id="rId11"/>
    <p:sldId id="448" r:id="rId12"/>
    <p:sldId id="424" r:id="rId13"/>
    <p:sldId id="449" r:id="rId14"/>
    <p:sldId id="425" r:id="rId15"/>
    <p:sldId id="450" r:id="rId16"/>
    <p:sldId id="428" r:id="rId17"/>
    <p:sldId id="429" r:id="rId18"/>
    <p:sldId id="451" r:id="rId19"/>
    <p:sldId id="452" r:id="rId20"/>
    <p:sldId id="430" r:id="rId21"/>
    <p:sldId id="431" r:id="rId22"/>
    <p:sldId id="453" r:id="rId23"/>
    <p:sldId id="432" r:id="rId24"/>
    <p:sldId id="433" r:id="rId25"/>
    <p:sldId id="454" r:id="rId26"/>
    <p:sldId id="435" r:id="rId27"/>
    <p:sldId id="455" r:id="rId28"/>
    <p:sldId id="436" r:id="rId29"/>
    <p:sldId id="456" r:id="rId30"/>
    <p:sldId id="457" r:id="rId31"/>
    <p:sldId id="458" r:id="rId32"/>
    <p:sldId id="491" r:id="rId33"/>
    <p:sldId id="492" r:id="rId34"/>
    <p:sldId id="437" r:id="rId35"/>
    <p:sldId id="463" r:id="rId36"/>
    <p:sldId id="462" r:id="rId37"/>
    <p:sldId id="493" r:id="rId38"/>
    <p:sldId id="464" r:id="rId39"/>
    <p:sldId id="465" r:id="rId40"/>
    <p:sldId id="466" r:id="rId41"/>
    <p:sldId id="467" r:id="rId42"/>
    <p:sldId id="468" r:id="rId43"/>
    <p:sldId id="656" r:id="rId44"/>
    <p:sldId id="494" r:id="rId45"/>
    <p:sldId id="469" r:id="rId46"/>
    <p:sldId id="472" r:id="rId47"/>
    <p:sldId id="473" r:id="rId48"/>
    <p:sldId id="474" r:id="rId49"/>
    <p:sldId id="475" r:id="rId50"/>
    <p:sldId id="477" r:id="rId51"/>
    <p:sldId id="488" r:id="rId52"/>
    <p:sldId id="478" r:id="rId53"/>
    <p:sldId id="490" r:id="rId54"/>
    <p:sldId id="674" r:id="rId55"/>
    <p:sldId id="675" r:id="rId56"/>
    <p:sldId id="676" r:id="rId57"/>
    <p:sldId id="677" r:id="rId58"/>
    <p:sldId id="479" r:id="rId59"/>
    <p:sldId id="662" r:id="rId60"/>
    <p:sldId id="663" r:id="rId61"/>
    <p:sldId id="664" r:id="rId62"/>
    <p:sldId id="665" r:id="rId63"/>
    <p:sldId id="666" r:id="rId64"/>
    <p:sldId id="661" r:id="rId65"/>
    <p:sldId id="668" r:id="rId66"/>
    <p:sldId id="669" r:id="rId67"/>
    <p:sldId id="670" r:id="rId68"/>
    <p:sldId id="481" r:id="rId69"/>
    <p:sldId id="482" r:id="rId70"/>
    <p:sldId id="401" r:id="rId71"/>
    <p:sldId id="496" r:id="rId72"/>
    <p:sldId id="498" r:id="rId73"/>
    <p:sldId id="497" r:id="rId74"/>
    <p:sldId id="500" r:id="rId75"/>
    <p:sldId id="499" r:id="rId76"/>
    <p:sldId id="501" r:id="rId77"/>
    <p:sldId id="502" r:id="rId78"/>
    <p:sldId id="657" r:id="rId79"/>
    <p:sldId id="658" r:id="rId80"/>
    <p:sldId id="659" r:id="rId81"/>
    <p:sldId id="660" r:id="rId82"/>
    <p:sldId id="504" r:id="rId83"/>
    <p:sldId id="593" r:id="rId84"/>
    <p:sldId id="614" r:id="rId85"/>
    <p:sldId id="615" r:id="rId86"/>
    <p:sldId id="671" r:id="rId87"/>
    <p:sldId id="616" r:id="rId88"/>
    <p:sldId id="595" r:id="rId89"/>
    <p:sldId id="618" r:id="rId90"/>
    <p:sldId id="684" r:id="rId91"/>
    <p:sldId id="672" r:id="rId92"/>
    <p:sldId id="620" r:id="rId93"/>
    <p:sldId id="621" r:id="rId94"/>
    <p:sldId id="619" r:id="rId95"/>
    <p:sldId id="622" r:id="rId96"/>
    <p:sldId id="623" r:id="rId97"/>
    <p:sldId id="624" r:id="rId98"/>
    <p:sldId id="673" r:id="rId99"/>
    <p:sldId id="680" r:id="rId100"/>
    <p:sldId id="681" r:id="rId101"/>
    <p:sldId id="561" r:id="rId102"/>
    <p:sldId id="562" r:id="rId103"/>
    <p:sldId id="563" r:id="rId104"/>
    <p:sldId id="568" r:id="rId105"/>
    <p:sldId id="627" r:id="rId106"/>
    <p:sldId id="628" r:id="rId107"/>
    <p:sldId id="629" r:id="rId108"/>
    <p:sldId id="630" r:id="rId109"/>
    <p:sldId id="631" r:id="rId110"/>
    <p:sldId id="632" r:id="rId111"/>
    <p:sldId id="570" r:id="rId112"/>
    <p:sldId id="571" r:id="rId113"/>
    <p:sldId id="572" r:id="rId114"/>
    <p:sldId id="633" r:id="rId115"/>
    <p:sldId id="634" r:id="rId116"/>
    <p:sldId id="635" r:id="rId117"/>
    <p:sldId id="636" r:id="rId118"/>
    <p:sldId id="637" r:id="rId119"/>
    <p:sldId id="586" r:id="rId120"/>
    <p:sldId id="639" r:id="rId121"/>
    <p:sldId id="640" r:id="rId122"/>
    <p:sldId id="641" r:id="rId123"/>
    <p:sldId id="642" r:id="rId124"/>
    <p:sldId id="643" r:id="rId125"/>
    <p:sldId id="644" r:id="rId126"/>
    <p:sldId id="645" r:id="rId127"/>
    <p:sldId id="646" r:id="rId128"/>
    <p:sldId id="647" r:id="rId129"/>
    <p:sldId id="648" r:id="rId130"/>
    <p:sldId id="651" r:id="rId131"/>
    <p:sldId id="652" r:id="rId132"/>
    <p:sldId id="653" r:id="rId133"/>
    <p:sldId id="649" r:id="rId134"/>
    <p:sldId id="654" r:id="rId135"/>
    <p:sldId id="679" r:id="rId136"/>
    <p:sldId id="682" r:id="rId137"/>
    <p:sldId id="683" r:id="rId138"/>
  </p:sldIdLst>
  <p:sldSz cx="9144000" cy="6858000" type="screen4x3"/>
  <p:notesSz cx="6858000" cy="9144000"/>
  <p:defaultTextStyle>
    <a:defPPr>
      <a:defRPr lang="zh-CN"/>
    </a:defPPr>
    <a:lvl1pPr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1pPr>
    <a:lvl2pPr marL="4572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2pPr>
    <a:lvl3pPr marL="9144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3pPr>
    <a:lvl4pPr marL="13716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4pPr>
    <a:lvl5pPr marL="1828800" algn="ctr" rtl="0" eaLnBrk="0" fontAlgn="base" hangingPunct="0">
      <a:spcBef>
        <a:spcPct val="0"/>
      </a:spcBef>
      <a:spcAft>
        <a:spcPct val="0"/>
      </a:spcAft>
      <a:defRPr sz="2800" b="1" kern="1200">
        <a:solidFill>
          <a:schemeClr val="tx1"/>
        </a:solidFill>
        <a:latin typeface="Times New Roman" pitchFamily="18" charset="0"/>
        <a:ea typeface="宋体" charset="-122"/>
        <a:cs typeface="+mn-cs"/>
      </a:defRPr>
    </a:lvl5pPr>
    <a:lvl6pPr marL="2286000" algn="l" defTabSz="914400" rtl="0" eaLnBrk="1" latinLnBrk="0" hangingPunct="1">
      <a:defRPr sz="2800" b="1" kern="1200">
        <a:solidFill>
          <a:schemeClr val="tx1"/>
        </a:solidFill>
        <a:latin typeface="Times New Roman" pitchFamily="18" charset="0"/>
        <a:ea typeface="宋体" charset="-122"/>
        <a:cs typeface="+mn-cs"/>
      </a:defRPr>
    </a:lvl6pPr>
    <a:lvl7pPr marL="2743200" algn="l" defTabSz="914400" rtl="0" eaLnBrk="1" latinLnBrk="0" hangingPunct="1">
      <a:defRPr sz="2800" b="1" kern="1200">
        <a:solidFill>
          <a:schemeClr val="tx1"/>
        </a:solidFill>
        <a:latin typeface="Times New Roman" pitchFamily="18" charset="0"/>
        <a:ea typeface="宋体" charset="-122"/>
        <a:cs typeface="+mn-cs"/>
      </a:defRPr>
    </a:lvl7pPr>
    <a:lvl8pPr marL="3200400" algn="l" defTabSz="914400" rtl="0" eaLnBrk="1" latinLnBrk="0" hangingPunct="1">
      <a:defRPr sz="2800" b="1" kern="1200">
        <a:solidFill>
          <a:schemeClr val="tx1"/>
        </a:solidFill>
        <a:latin typeface="Times New Roman" pitchFamily="18" charset="0"/>
        <a:ea typeface="宋体" charset="-122"/>
        <a:cs typeface="+mn-cs"/>
      </a:defRPr>
    </a:lvl8pPr>
    <a:lvl9pPr marL="3657600" algn="l" defTabSz="914400" rtl="0" eaLnBrk="1" latinLnBrk="0" hangingPunct="1">
      <a:defRPr sz="2800" b="1"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CC0099"/>
    <a:srgbClr val="FF3300"/>
    <a:srgbClr val="000066"/>
    <a:srgbClr val="009900"/>
    <a:srgbClr val="FF6600"/>
    <a:srgbClr val="3366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0628" autoAdjust="0"/>
  </p:normalViewPr>
  <p:slideViewPr>
    <p:cSldViewPr>
      <p:cViewPr varScale="1">
        <p:scale>
          <a:sx n="70" d="100"/>
          <a:sy n="70" d="100"/>
        </p:scale>
        <p:origin x="18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0635"/>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kumimoji="1" sz="1200" b="0">
                <a:ea typeface="宋体" pitchFamily="2" charset="-122"/>
              </a:defRPr>
            </a:lvl1pPr>
          </a:lstStyle>
          <a:p>
            <a:pPr>
              <a:defRPr/>
            </a:pPr>
            <a:endParaRPr lang="en-US" altLang="zh-CN"/>
          </a:p>
        </p:txBody>
      </p:sp>
      <p:sp>
        <p:nvSpPr>
          <p:cNvPr id="264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b="0">
                <a:ea typeface="宋体" pitchFamily="2" charset="-122"/>
              </a:defRPr>
            </a:lvl1pPr>
          </a:lstStyle>
          <a:p>
            <a:pPr>
              <a:defRPr/>
            </a:pPr>
            <a:endParaRPr lang="en-US" altLang="zh-CN"/>
          </a:p>
        </p:txBody>
      </p:sp>
      <p:sp>
        <p:nvSpPr>
          <p:cNvPr id="133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64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4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kumimoji="1" sz="1200" b="0">
                <a:ea typeface="宋体" pitchFamily="2" charset="-122"/>
              </a:defRPr>
            </a:lvl1pPr>
          </a:lstStyle>
          <a:p>
            <a:pPr>
              <a:defRPr/>
            </a:pPr>
            <a:endParaRPr lang="en-US" altLang="zh-CN"/>
          </a:p>
        </p:txBody>
      </p:sp>
      <p:sp>
        <p:nvSpPr>
          <p:cNvPr id="264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a:ea typeface="宋体" pitchFamily="2" charset="-122"/>
              </a:defRPr>
            </a:lvl1pPr>
          </a:lstStyle>
          <a:p>
            <a:pPr>
              <a:defRPr/>
            </a:pPr>
            <a:fld id="{FCCFA744-7734-4787-9644-AA9A3B0B5E07}" type="slidenum">
              <a:rPr lang="en-US" altLang="zh-CN"/>
              <a:pPr>
                <a:defRPr/>
              </a:pPr>
              <a:t>‹#›</a:t>
            </a:fld>
            <a:endParaRPr lang="en-US" altLang="zh-CN"/>
          </a:p>
        </p:txBody>
      </p:sp>
    </p:spTree>
    <p:extLst>
      <p:ext uri="{BB962C8B-B14F-4D97-AF65-F5344CB8AC3E}">
        <p14:creationId xmlns:p14="http://schemas.microsoft.com/office/powerpoint/2010/main" val="31573515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使用静态数组加速，避免重复计算</a:t>
            </a:r>
          </a:p>
        </p:txBody>
      </p:sp>
      <p:sp>
        <p:nvSpPr>
          <p:cNvPr id="4" name="灯片编号占位符 3"/>
          <p:cNvSpPr>
            <a:spLocks noGrp="1"/>
          </p:cNvSpPr>
          <p:nvPr>
            <p:ph type="sldNum" sz="quarter" idx="5"/>
          </p:nvPr>
        </p:nvSpPr>
        <p:spPr/>
        <p:txBody>
          <a:bodyPr/>
          <a:lstStyle/>
          <a:p>
            <a:pPr>
              <a:defRPr/>
            </a:pPr>
            <a:fld id="{FCCFA744-7734-4787-9644-AA9A3B0B5E07}" type="slidenum">
              <a:rPr lang="en-US" altLang="zh-CN" smtClean="0"/>
              <a:pPr>
                <a:defRPr/>
              </a:pPr>
              <a:t>99</a:t>
            </a:fld>
            <a:endParaRPr lang="en-US" altLang="zh-CN"/>
          </a:p>
        </p:txBody>
      </p:sp>
    </p:spTree>
    <p:extLst>
      <p:ext uri="{BB962C8B-B14F-4D97-AF65-F5344CB8AC3E}">
        <p14:creationId xmlns:p14="http://schemas.microsoft.com/office/powerpoint/2010/main" val="25381447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16AC5444-312B-4D6D-AA73-A8F8DECC93D4}"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8B59A5A-6D83-4590-8689-928C7CE192D0}" type="slidenum">
              <a:rPr lang="en-US" altLang="zh-CN"/>
              <a:pPr>
                <a:defRPr/>
              </a:pPr>
              <a:t>‹#›</a:t>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D3CC8FCA-9910-4628-9AED-CF1C3E86A6BB}"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32DF867B-F911-441B-917F-CC5A8DB3DE38}" type="slidenum">
              <a:rPr lang="en-US" altLang="zh-CN"/>
              <a:pPr>
                <a:defRPr/>
              </a:pPr>
              <a:t>‹#›</a:t>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FA8A8F23-C60B-4C8A-9328-35F727B624B4}" type="slidenum">
              <a:rPr lang="en-US" altLang="zh-CN"/>
              <a:pPr>
                <a:defRPr/>
              </a:pPr>
              <a:t>‹#›</a:t>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8F1791DC-3BEB-4A03-A18F-848B9C94C8FF}" type="slidenum">
              <a:rPr lang="en-US" altLang="zh-CN"/>
              <a:pPr>
                <a:defRPr/>
              </a:pPr>
              <a:t>‹#›</a:t>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F49E70A7-1F58-4C2E-8D93-0E5111D017F8}" type="slidenum">
              <a:rPr lang="en-US" altLang="zh-CN"/>
              <a:pPr>
                <a:defRPr/>
              </a:pPr>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07320F17-D440-4220-A04B-7AE147CBC94B}" type="slidenum">
              <a:rPr lang="en-US" altLang="zh-CN"/>
              <a:pPr>
                <a:defRPr/>
              </a:pPr>
              <a:t>‹#›</a:t>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eaLnBrk="1" hangingPunct="1">
              <a:defRPr/>
            </a:pPr>
            <a:endParaRPr lang="en-US"/>
          </a:p>
        </p:txBody>
      </p:sp>
      <p:sp>
        <p:nvSpPr>
          <p:cNvPr id="6"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eaLnBrk="1" hangingPunct="1">
              <a:defRPr/>
            </a:pPr>
            <a:endParaRPr lang="en-US"/>
          </a:p>
        </p:txBody>
      </p:sp>
      <p:sp>
        <p:nvSpPr>
          <p:cNvPr id="7" name="Freeform 15"/>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8" name="Freeform 16"/>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C800E56A-DEA2-4F35-9BDA-E6459F1E0A47}" type="slidenum">
              <a:rPr lang="en-US" altLang="zh-CN"/>
              <a:pPr>
                <a:defRPr/>
              </a:pPr>
              <a:t>‹#›</a:t>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389CF636-84F5-4442-8D82-799CD14D5312}" type="slidenum">
              <a:rPr lang="en-US" altLang="zh-CN"/>
              <a:pPr>
                <a:defRPr/>
              </a:pPr>
              <a:t>‹#›</a:t>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89728FA8-2E6C-47C6-B4B8-1D1D36164748}" type="slidenum">
              <a:rPr lang="en-US" altLang="zh-CN"/>
              <a:pPr>
                <a:defRPr/>
              </a:pPr>
              <a:t>‹#›</a:t>
            </a:fld>
            <a:endParaRPr lang="en-US" altLang="zh-CN"/>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42988" y="404813"/>
            <a:ext cx="7705725" cy="863600"/>
          </a:xfrm>
        </p:spPr>
        <p:txBody>
          <a:bodyPr/>
          <a:lstStyle/>
          <a:p>
            <a:r>
              <a:rPr lang="zh-CN" altLang="en-US"/>
              <a:t>单击此处编辑母版标题样式</a:t>
            </a:r>
          </a:p>
        </p:txBody>
      </p:sp>
      <p:sp>
        <p:nvSpPr>
          <p:cNvPr id="3" name="文本占位符 2"/>
          <p:cNvSpPr>
            <a:spLocks noGrp="1"/>
          </p:cNvSpPr>
          <p:nvPr>
            <p:ph type="body" sz="half" idx="1"/>
          </p:nvPr>
        </p:nvSpPr>
        <p:spPr>
          <a:xfrm>
            <a:off x="998538" y="1717675"/>
            <a:ext cx="3740150" cy="4344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91088" y="1717675"/>
            <a:ext cx="3740150" cy="4344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EB8E2BF1-AE9D-48C6-89C4-3D9F7E1DAFF0}" type="slidenum">
              <a:rPr lang="en-US" altLang="zh-CN"/>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bg>
      <p:bgRef idx="1001">
        <a:schemeClr val="bg1"/>
      </p:bgRef>
    </p:bg>
    <p:spTree>
      <p:nvGrpSpPr>
        <p:cNvPr id="1" name=""/>
        <p:cNvGrpSpPr/>
        <p:nvPr/>
      </p:nvGrpSpPr>
      <p:grpSpPr>
        <a:xfrm>
          <a:off x="0" y="0"/>
          <a:ext cx="0" cy="0"/>
          <a:chOff x="0" y="0"/>
          <a:chExt cx="0" cy="0"/>
        </a:xfrm>
      </p:grpSpPr>
      <p:sp>
        <p:nvSpPr>
          <p:cNvPr id="2" name="内容占位符 1"/>
          <p:cNvSpPr>
            <a:spLocks noGrp="1"/>
          </p:cNvSpPr>
          <p:nvPr>
            <p:ph/>
          </p:nvPr>
        </p:nvSpPr>
        <p:spPr>
          <a:xfrm>
            <a:off x="998538" y="404813"/>
            <a:ext cx="7750175" cy="5657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2DEEE418-75F4-48F2-B30F-FC25F3543EA3}" type="slidenum">
              <a:rPr lang="en-US" altLang="zh-CN"/>
              <a:pPr>
                <a:defRPr/>
              </a:pPr>
              <a:t>‹#›</a:t>
            </a:fld>
            <a:endParaRPr lang="en-US" altLang="zh-CN"/>
          </a:p>
        </p:txBody>
      </p:sp>
    </p:spTree>
  </p:cSld>
  <p:clrMapOvr>
    <a:overrideClrMapping bg1="lt1" tx1="dk1" bg2="lt2" tx2="dk2" accent1="accent1" accent2="accent2" accent3="accent3" accent4="accent4" accent5="accent5" accent6="accent6" hlink="hlink" folHlink="folHlink"/>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eaLnBrk="1" hangingPunct="1">
              <a:defRPr/>
            </a:pPr>
            <a:endParaRPr lang="en-US">
              <a:latin typeface="+mn-lt"/>
              <a:ea typeface="+mn-ea"/>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5E264B86-2F10-4DBC-AC4A-DCD95EF4E434}" type="slidenum">
              <a:rPr lang="en-US" altLang="zh-CN"/>
              <a:pPr>
                <a:defRPr/>
              </a:pPr>
              <a:t>‹#›</a:t>
            </a:fld>
            <a:endParaRPr lang="en-US" altLang="zh-CN"/>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3785" r:id="rId1"/>
    <p:sldLayoutId id="2147483777" r:id="rId2"/>
    <p:sldLayoutId id="2147483786" r:id="rId3"/>
    <p:sldLayoutId id="2147483778" r:id="rId4"/>
    <p:sldLayoutId id="2147483779" r:id="rId5"/>
    <p:sldLayoutId id="2147483780" r:id="rId6"/>
    <p:sldLayoutId id="2147483781" r:id="rId7"/>
    <p:sldLayoutId id="2147483782" r:id="rId8"/>
    <p:sldLayoutId id="2147483787" r:id="rId9"/>
    <p:sldLayoutId id="2147483783" r:id="rId10"/>
    <p:sldLayoutId id="2147483784" r:id="rId11"/>
    <p:sldLayoutId id="2147483788" r:id="rId12"/>
    <p:sldLayoutId id="2147483789" r:id="rId13"/>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11"/>
          <p:cNvSpPr>
            <a:spLocks noGrp="1" noChangeArrowheads="1"/>
          </p:cNvSpPr>
          <p:nvPr>
            <p:ph type="title"/>
          </p:nvPr>
        </p:nvSpPr>
        <p:spPr>
          <a:xfrm>
            <a:off x="548814" y="260648"/>
            <a:ext cx="7777162" cy="792163"/>
          </a:xfrm>
        </p:spPr>
        <p:txBody>
          <a:bodyPr>
            <a:normAutofit fontScale="90000"/>
          </a:bodyPr>
          <a:lstStyle/>
          <a:p>
            <a:pPr eaLnBrk="1" fontAlgn="auto" hangingPunct="1">
              <a:spcAft>
                <a:spcPts val="0"/>
              </a:spcAft>
              <a:defRPr/>
            </a:pPr>
            <a:r>
              <a:rPr lang="zh-CN" altLang="en-US">
                <a:solidFill>
                  <a:schemeClr val="tx1"/>
                </a:solidFill>
                <a:latin typeface="黑体" pitchFamily="2" charset="-122"/>
                <a:ea typeface="黑体" pitchFamily="2" charset="-122"/>
              </a:rPr>
              <a:t>第</a:t>
            </a:r>
            <a:r>
              <a:rPr lang="en-US" altLang="zh-CN">
                <a:solidFill>
                  <a:schemeClr val="tx1"/>
                </a:solidFill>
                <a:latin typeface="黑体" pitchFamily="2" charset="-122"/>
                <a:ea typeface="黑体" pitchFamily="2" charset="-122"/>
              </a:rPr>
              <a:t>5</a:t>
            </a:r>
            <a:r>
              <a:rPr lang="zh-CN" altLang="en-US">
                <a:solidFill>
                  <a:schemeClr val="tx1"/>
                </a:solidFill>
                <a:latin typeface="黑体" pitchFamily="2" charset="-122"/>
                <a:ea typeface="黑体" pitchFamily="2" charset="-122"/>
              </a:rPr>
              <a:t>章 函数</a:t>
            </a:r>
          </a:p>
        </p:txBody>
      </p:sp>
      <p:sp>
        <p:nvSpPr>
          <p:cNvPr id="2051" name="Rectangle 3"/>
          <p:cNvSpPr>
            <a:spLocks noGrp="1" noChangeArrowheads="1"/>
          </p:cNvSpPr>
          <p:nvPr>
            <p:ph idx="1"/>
          </p:nvPr>
        </p:nvSpPr>
        <p:spPr>
          <a:xfrm>
            <a:off x="539750" y="1196975"/>
            <a:ext cx="8229600" cy="5327650"/>
          </a:xfrm>
        </p:spPr>
        <p:txBody>
          <a:bodyPr>
            <a:normAutofit/>
          </a:bodyPr>
          <a:lstStyle/>
          <a:p>
            <a:pPr marL="274320" indent="-274320" eaLnBrk="1" fontAlgn="auto" hangingPunct="1">
              <a:lnSpc>
                <a:spcPct val="95000"/>
              </a:lnSpc>
              <a:spcAft>
                <a:spcPts val="0"/>
              </a:spcAft>
              <a:buClr>
                <a:schemeClr val="accent3"/>
              </a:buClr>
              <a:buFont typeface="Wingdings" pitchFamily="2" charset="2"/>
              <a:buNone/>
              <a:defRPr/>
            </a:pPr>
            <a:endParaRPr lang="en-US" altLang="zh-CN" sz="2400" b="1" dirty="0">
              <a:effectLst>
                <a:outerShdw blurRad="38100" dist="38100" dir="2700000" algn="tl">
                  <a:srgbClr val="C0C0C0"/>
                </a:outerShdw>
              </a:effectLst>
            </a:endParaRPr>
          </a:p>
          <a:p>
            <a:pPr marL="274320" indent="-274320" eaLnBrk="1" fontAlgn="auto" hangingPunct="1">
              <a:lnSpc>
                <a:spcPct val="95000"/>
              </a:lnSpc>
              <a:spcAft>
                <a:spcPts val="0"/>
              </a:spcAft>
              <a:buClr>
                <a:schemeClr val="accent3"/>
              </a:buClr>
              <a:buFont typeface="Wingdings" pitchFamily="2" charset="2"/>
              <a:buNone/>
              <a:defRPr/>
            </a:pPr>
            <a:r>
              <a:rPr lang="zh-CN" altLang="en-US" sz="3200" b="1" dirty="0">
                <a:latin typeface="楷体_GB2312" pitchFamily="49" charset="-122"/>
                <a:ea typeface="楷体_GB2312" pitchFamily="49" charset="-122"/>
              </a:rPr>
              <a:t>具体</a:t>
            </a:r>
            <a:r>
              <a:rPr lang="zh-CN" altLang="en-US" b="1" dirty="0">
                <a:effectLst>
                  <a:outerShdw blurRad="38100" dist="38100" dir="2700000" algn="tl">
                    <a:srgbClr val="C0C0C0"/>
                  </a:outerShdw>
                </a:effectLst>
                <a:latin typeface="楷体_GB2312" pitchFamily="49" charset="-122"/>
                <a:ea typeface="楷体_GB2312" pitchFamily="49" charset="-122"/>
              </a:rPr>
              <a:t>内容包括：</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1</a:t>
            </a:r>
            <a:r>
              <a:rPr lang="zh-CN" altLang="en-US" b="1" dirty="0">
                <a:effectLst>
                  <a:outerShdw blurRad="38100" dist="38100" dir="2700000" algn="tl">
                    <a:srgbClr val="C0C0C0"/>
                  </a:outerShdw>
                </a:effectLst>
                <a:latin typeface="楷体_GB2312" pitchFamily="49" charset="-122"/>
                <a:ea typeface="楷体_GB2312" pitchFamily="49" charset="-122"/>
              </a:rPr>
              <a:t>、了解函数的基本概念；</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2</a:t>
            </a:r>
            <a:r>
              <a:rPr lang="zh-CN" altLang="en-US" b="1" dirty="0">
                <a:effectLst>
                  <a:outerShdw blurRad="38100" dist="38100" dir="2700000" algn="tl">
                    <a:srgbClr val="C0C0C0"/>
                  </a:outerShdw>
                </a:effectLst>
                <a:latin typeface="楷体_GB2312" pitchFamily="49" charset="-122"/>
                <a:ea typeface="楷体_GB2312" pitchFamily="49" charset="-122"/>
              </a:rPr>
              <a:t>、熟悉库函数的使用方法；</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3</a:t>
            </a:r>
            <a:r>
              <a:rPr lang="zh-CN" altLang="en-US" b="1" dirty="0">
                <a:effectLst>
                  <a:outerShdw blurRad="38100" dist="38100" dir="2700000" algn="tl">
                    <a:srgbClr val="C0C0C0"/>
                  </a:outerShdw>
                </a:effectLst>
                <a:latin typeface="楷体_GB2312" pitchFamily="49" charset="-122"/>
                <a:ea typeface="楷体_GB2312" pitchFamily="49" charset="-122"/>
              </a:rPr>
              <a:t>、基本掌握设计函数和编写函数的方法；</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4</a:t>
            </a:r>
            <a:r>
              <a:rPr lang="zh-CN" altLang="en-US" b="1" dirty="0">
                <a:effectLst>
                  <a:outerShdw blurRad="38100" dist="38100" dir="2700000" algn="tl">
                    <a:srgbClr val="C0C0C0"/>
                  </a:outerShdw>
                </a:effectLst>
                <a:latin typeface="楷体_GB2312" pitchFamily="49" charset="-122"/>
                <a:ea typeface="楷体_GB2312" pitchFamily="49" charset="-122"/>
              </a:rPr>
              <a:t>、掌握函数调用方法，实参向形参单向传值规则；</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5</a:t>
            </a:r>
            <a:r>
              <a:rPr lang="zh-CN" altLang="en-US" b="1" dirty="0">
                <a:effectLst>
                  <a:outerShdw blurRad="38100" dist="38100" dir="2700000" algn="tl">
                    <a:srgbClr val="C0C0C0"/>
                  </a:outerShdw>
                </a:effectLst>
                <a:latin typeface="楷体_GB2312" pitchFamily="49" charset="-122"/>
                <a:ea typeface="楷体_GB2312" pitchFamily="49" charset="-122"/>
              </a:rPr>
              <a:t>、了解递归函数的基本特点，能编写简单的递归函数。</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6</a:t>
            </a:r>
            <a:r>
              <a:rPr lang="zh-CN" altLang="en-US" b="1" dirty="0">
                <a:effectLst>
                  <a:outerShdw blurRad="38100" dist="38100" dir="2700000" algn="tl">
                    <a:srgbClr val="C0C0C0"/>
                  </a:outerShdw>
                </a:effectLst>
                <a:latin typeface="楷体_GB2312" pitchFamily="49" charset="-122"/>
                <a:ea typeface="楷体_GB2312" pitchFamily="49" charset="-122"/>
              </a:rPr>
              <a:t>、了解存储类别的概念，掌握变量作用域规则。</a:t>
            </a:r>
          </a:p>
          <a:p>
            <a:pPr marL="274320" indent="-27432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7</a:t>
            </a:r>
            <a:r>
              <a:rPr lang="zh-CN" altLang="en-US" b="1" dirty="0">
                <a:effectLst>
                  <a:outerShdw blurRad="38100" dist="38100" dir="2700000" algn="tl">
                    <a:srgbClr val="C0C0C0"/>
                  </a:outerShdw>
                </a:effectLst>
                <a:latin typeface="楷体_GB2312" pitchFamily="49" charset="-122"/>
                <a:ea typeface="楷体_GB2312" pitchFamily="49" charset="-122"/>
              </a:rPr>
              <a:t>、了解宏定义、文件包含、条件编译等预处理命令的基本知识。</a:t>
            </a:r>
            <a:r>
              <a:rPr lang="zh-CN" altLang="en-US" dirty="0">
                <a:latin typeface="楷体_GB2312" pitchFamily="49" charset="-122"/>
                <a:ea typeface="楷体_GB2312" pitchFamily="49" charset="-122"/>
              </a:rPr>
              <a:t> </a:t>
            </a:r>
            <a:endParaRPr lang="zh-CN" altLang="en-US" dirty="0">
              <a:latin typeface="楷体_GB2312" pitchFamily="49" charset="-122"/>
              <a:ea typeface="楷体_GB2312" pitchFamily="49" charset="-122"/>
              <a:hlinkClick r:id="rId2" action="ppaction://hlinksldjump"/>
            </a:endParaRPr>
          </a:p>
        </p:txBody>
      </p:sp>
      <p:sp>
        <p:nvSpPr>
          <p:cNvPr id="6" name="灯片编号占位符 5"/>
          <p:cNvSpPr>
            <a:spLocks noGrp="1"/>
          </p:cNvSpPr>
          <p:nvPr>
            <p:ph type="sldNum" sz="quarter" idx="12"/>
          </p:nvPr>
        </p:nvSpPr>
        <p:spPr/>
        <p:txBody>
          <a:bodyPr/>
          <a:lstStyle/>
          <a:p>
            <a:pPr>
              <a:defRPr/>
            </a:pPr>
            <a:fld id="{87FD857C-7C4D-4CF2-AA78-275849DF2024}" type="slidenum">
              <a:rPr lang="en-US" altLang="zh-CN"/>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5"/>
          <p:cNvSpPr>
            <a:spLocks noGrp="1" noChangeArrowheads="1"/>
          </p:cNvSpPr>
          <p:nvPr>
            <p:ph type="title"/>
          </p:nvPr>
        </p:nvSpPr>
        <p:spPr>
          <a:xfrm>
            <a:off x="323850" y="333375"/>
            <a:ext cx="8591550" cy="609600"/>
          </a:xfrm>
        </p:spPr>
        <p:txBody>
          <a:bodyPr>
            <a:normAutofit fontScale="90000"/>
          </a:bodyPr>
          <a:lstStyle/>
          <a:p>
            <a:pPr eaLnBrk="1" fontAlgn="auto" hangingPunct="1">
              <a:spcAft>
                <a:spcPts val="0"/>
              </a:spcAft>
              <a:defRPr/>
            </a:pPr>
            <a:r>
              <a:rPr lang="en-US" altLang="zh-CN" dirty="0">
                <a:solidFill>
                  <a:schemeClr val="tx1"/>
                </a:solidFill>
                <a:latin typeface="+mn-ea"/>
                <a:ea typeface="+mn-ea"/>
              </a:rPr>
              <a:t>5.1  </a:t>
            </a:r>
            <a:r>
              <a:rPr lang="zh-CN" altLang="en-US" dirty="0">
                <a:solidFill>
                  <a:schemeClr val="tx1"/>
                </a:solidFill>
                <a:latin typeface="+mn-ea"/>
                <a:ea typeface="+mn-ea"/>
              </a:rPr>
              <a:t>函数的基本概念</a:t>
            </a:r>
          </a:p>
        </p:txBody>
      </p:sp>
      <p:sp>
        <p:nvSpPr>
          <p:cNvPr id="359427" name="Rectangle 3"/>
          <p:cNvSpPr>
            <a:spLocks noGrp="1" noChangeArrowheads="1"/>
          </p:cNvSpPr>
          <p:nvPr>
            <p:ph idx="1"/>
          </p:nvPr>
        </p:nvSpPr>
        <p:spPr>
          <a:xfrm>
            <a:off x="323850" y="1052513"/>
            <a:ext cx="8496300" cy="5545137"/>
          </a:xfrm>
        </p:spPr>
        <p:txBody>
          <a:bodyPr>
            <a:normAutofit/>
          </a:bodyPr>
          <a:lstStyle/>
          <a:p>
            <a:pPr marL="0" indent="812800" algn="just" eaLnBrk="1" fontAlgn="auto" hangingPunct="1">
              <a:lnSpc>
                <a:spcPct val="95000"/>
              </a:lnSpc>
              <a:spcBef>
                <a:spcPct val="10000"/>
              </a:spcBef>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endParaRPr>
          </a:p>
          <a:p>
            <a:pPr marL="0" indent="812800" algn="just" eaLnBrk="1" fontAlgn="auto" hangingPunct="1">
              <a:lnSpc>
                <a:spcPct val="95000"/>
              </a:lnSpc>
              <a:spcBef>
                <a:spcPct val="10000"/>
              </a:spcBef>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在用结构化方法设计程序时，为了控制程序的复杂性，把完成独立功能的程序段编写成函数。</a:t>
            </a:r>
          </a:p>
          <a:p>
            <a:pPr marL="0" indent="812800" algn="just" eaLnBrk="1" fontAlgn="auto" hangingPunct="1">
              <a:lnSpc>
                <a:spcPct val="95000"/>
              </a:lnSpc>
              <a:spcBef>
                <a:spcPct val="10000"/>
              </a:spcBef>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812800" algn="just" eaLnBrk="1" fontAlgn="auto" hangingPunct="1">
              <a:lnSpc>
                <a:spcPct val="95000"/>
              </a:lnSpc>
              <a:spcBef>
                <a:spcPct val="10000"/>
              </a:spcBef>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当程序需要实现函数功能时，就可简单地调用函数来完成。</a:t>
            </a:r>
            <a:r>
              <a:rPr lang="zh-CN" altLang="en-US" dirty="0">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D471250B-074D-4A0D-8FAE-3A9C67869C44}" type="slidenum">
              <a:rPr lang="en-US" altLang="zh-CN"/>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idx="1"/>
          </p:nvPr>
        </p:nvSpPr>
        <p:spPr>
          <a:xfrm>
            <a:off x="323850" y="571500"/>
            <a:ext cx="8496300" cy="6026150"/>
          </a:xfrm>
        </p:spPr>
        <p:txBody>
          <a:bodyPr/>
          <a:lstStyle/>
          <a:p>
            <a:pPr marL="0" indent="0" eaLnBrk="1" hangingPunct="1">
              <a:buFont typeface="Wingdings" pitchFamily="2" charset="2"/>
              <a:buNone/>
            </a:pPr>
            <a:r>
              <a:rPr lang="en-US" altLang="zh-CN" sz="3200" b="1">
                <a:latin typeface="黑体" pitchFamily="2" charset="-122"/>
              </a:rPr>
              <a:t>【</a:t>
            </a:r>
            <a:r>
              <a:rPr lang="zh-CN" altLang="en-US" sz="3200" b="1">
                <a:latin typeface="黑体" pitchFamily="2" charset="-122"/>
              </a:rPr>
              <a:t>例</a:t>
            </a:r>
            <a:r>
              <a:rPr lang="en-US" altLang="zh-CN" sz="3200" b="1">
                <a:latin typeface="黑体" pitchFamily="2" charset="-122"/>
              </a:rPr>
              <a:t>5.1】</a:t>
            </a:r>
            <a:r>
              <a:rPr lang="zh-CN" altLang="en-US" sz="3200" b="1">
                <a:latin typeface="黑体" pitchFamily="2" charset="-122"/>
              </a:rPr>
              <a:t>已知圆柱体的半径和高，求圆柱体体积的程序。</a:t>
            </a:r>
          </a:p>
          <a:p>
            <a:pPr marL="0" indent="0" eaLnBrk="1" hangingPunct="1">
              <a:buFont typeface="Wingdings" pitchFamily="2" charset="2"/>
              <a:buNone/>
            </a:pPr>
            <a:r>
              <a:rPr lang="en-US" altLang="zh-CN" sz="2400" b="1">
                <a:latin typeface="楷体_GB2312" pitchFamily="49" charset="-122"/>
                <a:ea typeface="楷体_GB2312" pitchFamily="49" charset="-122"/>
              </a:rPr>
              <a:t>#include &lt;stdio.h&gt;</a:t>
            </a:r>
          </a:p>
          <a:p>
            <a:pPr marL="0" indent="0" eaLnBrk="1" hangingPunct="1">
              <a:buFont typeface="Wingdings" pitchFamily="2" charset="2"/>
              <a:buNone/>
            </a:pPr>
            <a:r>
              <a:rPr lang="en-US" altLang="zh-CN" sz="2400" b="1">
                <a:latin typeface="楷体_GB2312" pitchFamily="49" charset="-122"/>
                <a:ea typeface="楷体_GB2312" pitchFamily="49" charset="-122"/>
              </a:rPr>
              <a:t>int main(){</a:t>
            </a:r>
          </a:p>
          <a:p>
            <a:pPr marL="0" indent="0" eaLnBrk="1" hangingPunct="1">
              <a:buFont typeface="Wingdings" pitchFamily="2" charset="2"/>
              <a:buNone/>
            </a:pPr>
            <a:r>
              <a:rPr lang="en-US" altLang="zh-CN" sz="2400" b="1">
                <a:latin typeface="楷体_GB2312" pitchFamily="49" charset="-122"/>
                <a:ea typeface="楷体_GB2312" pitchFamily="49" charset="-122"/>
              </a:rPr>
              <a:t>   double  PI = 3.1415926, radius, height, vol;</a:t>
            </a:r>
          </a:p>
          <a:p>
            <a:pPr marL="0" indent="0" eaLnBrk="1" hangingPunct="1">
              <a:buFont typeface="Wingdings" pitchFamily="2" charset="2"/>
              <a:buNone/>
            </a:pPr>
            <a:r>
              <a:rPr lang="en-US" altLang="zh-CN" sz="2400" b="1">
                <a:latin typeface="楷体_GB2312" pitchFamily="49" charset="-122"/>
                <a:ea typeface="楷体_GB2312" pitchFamily="49" charset="-122"/>
              </a:rPr>
              <a:t>   printf("</a:t>
            </a:r>
            <a:r>
              <a:rPr lang="zh-CN" altLang="en-US" sz="2400" b="1">
                <a:latin typeface="楷体_GB2312" pitchFamily="49" charset="-122"/>
                <a:ea typeface="楷体_GB2312" pitchFamily="49" charset="-122"/>
              </a:rPr>
              <a:t>输入圆柱体的半径和高</a:t>
            </a:r>
            <a:r>
              <a:rPr lang="en-US" altLang="zh-CN" sz="2400" b="1">
                <a:latin typeface="楷体_GB2312" pitchFamily="49" charset="-122"/>
                <a:ea typeface="楷体_GB2312" pitchFamily="49" charset="-122"/>
              </a:rPr>
              <a:t>\n");</a:t>
            </a:r>
          </a:p>
          <a:p>
            <a:pPr marL="0" indent="0" eaLnBrk="1" hangingPunct="1">
              <a:buFont typeface="Wingdings" pitchFamily="2" charset="2"/>
              <a:buNone/>
            </a:pPr>
            <a:r>
              <a:rPr lang="en-US" altLang="zh-CN" sz="2400" b="1">
                <a:latin typeface="楷体_GB2312" pitchFamily="49" charset="-122"/>
                <a:ea typeface="楷体_GB2312" pitchFamily="49" charset="-122"/>
              </a:rPr>
              <a:t>   scanf("%lf%lf", &amp;radius, &amp;height);</a:t>
            </a:r>
          </a:p>
          <a:p>
            <a:pPr marL="0" indent="0" eaLnBrk="1" hangingPunct="1">
              <a:buFont typeface="Wingdings" pitchFamily="2" charset="2"/>
              <a:buNone/>
            </a:pPr>
            <a:endParaRPr lang="en-US" altLang="zh-CN" sz="2400" b="1">
              <a:latin typeface="楷体_GB2312" pitchFamily="49" charset="-122"/>
              <a:ea typeface="楷体_GB2312" pitchFamily="49" charset="-122"/>
            </a:endParaRPr>
          </a:p>
          <a:p>
            <a:pPr marL="0" indent="0" eaLnBrk="1" hangingPunct="1">
              <a:buFont typeface="Wingdings" pitchFamily="2" charset="2"/>
              <a:buNone/>
            </a:pPr>
            <a:r>
              <a:rPr lang="en-US" altLang="zh-CN" sz="2400" b="1">
                <a:latin typeface="楷体_GB2312" pitchFamily="49" charset="-122"/>
                <a:ea typeface="楷体_GB2312" pitchFamily="49" charset="-122"/>
              </a:rPr>
              <a:t>   vol = PI * radius * radius * height;</a:t>
            </a:r>
          </a:p>
          <a:p>
            <a:pPr marL="0" indent="0" eaLnBrk="1" hangingPunct="1">
              <a:buFont typeface="Wingdings" pitchFamily="2" charset="2"/>
              <a:buNone/>
            </a:pPr>
            <a:r>
              <a:rPr lang="en-US" altLang="zh-CN" sz="2400" b="1">
                <a:latin typeface="楷体_GB2312" pitchFamily="49" charset="-122"/>
                <a:ea typeface="楷体_GB2312" pitchFamily="49" charset="-122"/>
              </a:rPr>
              <a:t>   printf("</a:t>
            </a:r>
            <a:r>
              <a:rPr lang="zh-CN" altLang="en-US" sz="2400" b="1">
                <a:latin typeface="楷体_GB2312" pitchFamily="49" charset="-122"/>
                <a:ea typeface="楷体_GB2312" pitchFamily="49" charset="-122"/>
              </a:rPr>
              <a:t>圆柱体的体积是</a:t>
            </a:r>
            <a:r>
              <a:rPr lang="en-US" altLang="zh-CN" sz="2400" b="1">
                <a:latin typeface="楷体_GB2312" pitchFamily="49" charset="-122"/>
                <a:ea typeface="楷体_GB2312" pitchFamily="49" charset="-122"/>
              </a:rPr>
              <a:t>%f\n", vol);</a:t>
            </a:r>
          </a:p>
          <a:p>
            <a:pPr marL="0" indent="0" eaLnBrk="1" hangingPunct="1">
              <a:buFont typeface="Wingdings" pitchFamily="2" charset="2"/>
              <a:buNone/>
            </a:pPr>
            <a:r>
              <a:rPr lang="en-US" altLang="zh-CN" sz="2400" b="1">
                <a:latin typeface="楷体_GB2312" pitchFamily="49" charset="-122"/>
                <a:ea typeface="楷体_GB2312" pitchFamily="49" charset="-122"/>
              </a:rPr>
              <a:t>   return 0;</a:t>
            </a:r>
          </a:p>
          <a:p>
            <a:pPr marL="0" indent="0" eaLnBrk="1" hangingPunct="1">
              <a:buFont typeface="Wingdings" pitchFamily="2" charset="2"/>
              <a:buNone/>
            </a:pPr>
            <a:r>
              <a:rPr lang="en-US" altLang="zh-CN" sz="2400" b="1">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63621CC3-3C7C-4FA1-806A-D9F8FD313A3A}" type="slidenum">
              <a:rPr lang="en-US" altLang="zh-CN"/>
              <a:pPr>
                <a:defRPr/>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idx="1"/>
          </p:nvPr>
        </p:nvSpPr>
        <p:spPr>
          <a:xfrm>
            <a:off x="323850" y="1052513"/>
            <a:ext cx="8496300" cy="5545137"/>
          </a:xfrm>
        </p:spPr>
        <p:txBody>
          <a:bodyPr/>
          <a:lstStyle/>
          <a:p>
            <a:pPr marL="0" indent="0" eaLnBrk="1" hangingPunct="1">
              <a:buFont typeface="Wingdings" pitchFamily="2" charset="2"/>
              <a:buNone/>
            </a:pPr>
            <a:r>
              <a:rPr lang="zh-CN" altLang="en-US" b="1" dirty="0">
                <a:latin typeface="楷体_GB2312" pitchFamily="49" charset="-122"/>
                <a:ea typeface="楷体_GB2312" pitchFamily="49" charset="-122"/>
              </a:rPr>
              <a:t>为了使程序的语义更清楚，可将计算圆柱体的体积的这部分代码抽象出来，给它一个名字，并以某种特定的形式定义在程序的其它地方。例如：</a:t>
            </a:r>
          </a:p>
          <a:p>
            <a:pPr marL="0" indent="0" eaLnBrk="1" hangingPunct="1">
              <a:buFont typeface="Wingdings" pitchFamily="2" charset="2"/>
              <a:buNone/>
            </a:pPr>
            <a:r>
              <a:rPr lang="en-US" altLang="zh-CN" b="1" dirty="0">
                <a:latin typeface="楷体_GB2312" pitchFamily="49" charset="-122"/>
                <a:ea typeface="楷体_GB2312" pitchFamily="49" charset="-122"/>
              </a:rPr>
              <a:t>double volume(double radius, double height)</a:t>
            </a:r>
          </a:p>
          <a:p>
            <a:pPr marL="0" indent="0" eaLnBrk="1" hangingPunct="1">
              <a:buFont typeface="Wingdings" pitchFamily="2" charset="2"/>
              <a:buNone/>
            </a:pPr>
            <a:r>
              <a:rPr lang="en-US" altLang="zh-CN" b="1" dirty="0">
                <a:latin typeface="楷体_GB2312" pitchFamily="49" charset="-122"/>
                <a:ea typeface="楷体_GB2312" pitchFamily="49" charset="-122"/>
              </a:rPr>
              <a:t>{</a:t>
            </a:r>
          </a:p>
          <a:p>
            <a:pPr marL="0" indent="0" eaLnBrk="1" hangingPunct="1">
              <a:buFont typeface="Wingdings" pitchFamily="2" charset="2"/>
              <a:buNone/>
            </a:pPr>
            <a:r>
              <a:rPr lang="en-US" altLang="zh-CN" b="1" dirty="0">
                <a:latin typeface="楷体_GB2312" pitchFamily="49" charset="-122"/>
                <a:ea typeface="楷体_GB2312" pitchFamily="49" charset="-122"/>
              </a:rPr>
              <a:t>   double  PI = 3.1415926, </a:t>
            </a:r>
            <a:r>
              <a:rPr lang="en-US" altLang="zh-CN" b="1" dirty="0" err="1">
                <a:latin typeface="楷体_GB2312" pitchFamily="49" charset="-122"/>
                <a:ea typeface="楷体_GB2312" pitchFamily="49" charset="-122"/>
              </a:rPr>
              <a:t>vol</a:t>
            </a:r>
            <a:r>
              <a:rPr lang="en-US" altLang="zh-CN" b="1" dirty="0">
                <a:latin typeface="楷体_GB2312" pitchFamily="49" charset="-122"/>
                <a:ea typeface="楷体_GB2312" pitchFamily="49" charset="-122"/>
              </a:rPr>
              <a:t>;</a:t>
            </a:r>
          </a:p>
          <a:p>
            <a:pPr marL="0" indent="0" eaLnBrk="1" hangingPunct="1">
              <a:buFont typeface="Wingdings" pitchFamily="2" charset="2"/>
              <a:buNone/>
            </a:pPr>
            <a:r>
              <a:rPr lang="en-US" altLang="zh-CN" b="1" dirty="0">
                <a:latin typeface="楷体_GB2312" pitchFamily="49" charset="-122"/>
                <a:ea typeface="楷体_GB2312" pitchFamily="49" charset="-122"/>
              </a:rPr>
              <a:t>   </a:t>
            </a:r>
            <a:r>
              <a:rPr lang="en-US" altLang="zh-CN" b="1" dirty="0" err="1">
                <a:latin typeface="楷体_GB2312" pitchFamily="49" charset="-122"/>
                <a:ea typeface="楷体_GB2312" pitchFamily="49" charset="-122"/>
              </a:rPr>
              <a:t>vol</a:t>
            </a:r>
            <a:r>
              <a:rPr lang="en-US" altLang="zh-CN" b="1" dirty="0">
                <a:latin typeface="楷体_GB2312" pitchFamily="49" charset="-122"/>
                <a:ea typeface="楷体_GB2312" pitchFamily="49" charset="-122"/>
              </a:rPr>
              <a:t> = PI * radius * radius * height;</a:t>
            </a:r>
          </a:p>
          <a:p>
            <a:pPr marL="0" indent="0" eaLnBrk="1" hangingPunct="1">
              <a:buFont typeface="Wingdings" pitchFamily="2" charset="2"/>
              <a:buNone/>
            </a:pPr>
            <a:r>
              <a:rPr lang="en-US" altLang="zh-CN" b="1" dirty="0">
                <a:latin typeface="楷体_GB2312" pitchFamily="49" charset="-122"/>
                <a:ea typeface="楷体_GB2312" pitchFamily="49" charset="-122"/>
              </a:rPr>
              <a:t>   return </a:t>
            </a:r>
            <a:r>
              <a:rPr lang="en-US" altLang="zh-CN" b="1" dirty="0" err="1">
                <a:latin typeface="楷体_GB2312" pitchFamily="49" charset="-122"/>
                <a:ea typeface="楷体_GB2312" pitchFamily="49" charset="-122"/>
              </a:rPr>
              <a:t>vol</a:t>
            </a:r>
            <a:r>
              <a:rPr lang="en-US" altLang="zh-CN" b="1" dirty="0">
                <a:latin typeface="楷体_GB2312" pitchFamily="49" charset="-122"/>
                <a:ea typeface="楷体_GB2312" pitchFamily="49" charset="-122"/>
              </a:rPr>
              <a:t>;</a:t>
            </a:r>
          </a:p>
          <a:p>
            <a:pPr marL="0" indent="0" eaLnBrk="1" hangingPunct="1">
              <a:buFont typeface="Wingdings" pitchFamily="2" charset="2"/>
              <a:buNone/>
            </a:pPr>
            <a:r>
              <a:rPr lang="en-US" altLang="zh-CN" b="1" dirty="0">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A9275B45-3FA1-4172-BB5F-25F4394641CA}" type="slidenum">
              <a:rPr lang="en-US" altLang="zh-CN"/>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idx="1"/>
          </p:nvPr>
        </p:nvSpPr>
        <p:spPr>
          <a:xfrm>
            <a:off x="323850" y="620713"/>
            <a:ext cx="8496300" cy="5976937"/>
          </a:xfrm>
        </p:spPr>
        <p:txBody>
          <a:bodyPr/>
          <a:lstStyle/>
          <a:p>
            <a:pPr marL="0" indent="0" eaLnBrk="1" hangingPunct="1">
              <a:buFont typeface="Wingdings" pitchFamily="2" charset="2"/>
              <a:buNone/>
            </a:pPr>
            <a:r>
              <a:rPr lang="zh-CN" altLang="en-US" b="1">
                <a:latin typeface="楷体_GB2312" pitchFamily="49" charset="-122"/>
                <a:ea typeface="楷体_GB2312" pitchFamily="49" charset="-122"/>
              </a:rPr>
              <a:t>以上代码实现了一个函数抽象，这段代码称为函数，习惯将这个结构称为函数的定义性声明。</a:t>
            </a:r>
          </a:p>
          <a:p>
            <a:pPr marL="0" indent="0" eaLnBrk="1" hangingPunct="1">
              <a:buFont typeface="Wingdings" pitchFamily="2" charset="2"/>
              <a:buNone/>
            </a:pPr>
            <a:r>
              <a:rPr lang="en-US" altLang="zh-CN" b="1">
                <a:latin typeface="楷体_GB2312" pitchFamily="49" charset="-122"/>
                <a:ea typeface="楷体_GB2312" pitchFamily="49" charset="-122"/>
              </a:rPr>
              <a:t>volume</a:t>
            </a:r>
            <a:r>
              <a:rPr lang="zh-CN" altLang="en-US" b="1">
                <a:latin typeface="楷体_GB2312" pitchFamily="49" charset="-122"/>
                <a:ea typeface="楷体_GB2312" pitchFamily="49" charset="-122"/>
              </a:rPr>
              <a:t>是这个函数的名字，最前面的</a:t>
            </a:r>
            <a:r>
              <a:rPr lang="en-US" altLang="zh-CN" b="1">
                <a:latin typeface="楷体_GB2312" pitchFamily="49" charset="-122"/>
                <a:ea typeface="楷体_GB2312" pitchFamily="49" charset="-122"/>
              </a:rPr>
              <a:t>double</a:t>
            </a:r>
            <a:r>
              <a:rPr lang="zh-CN" altLang="en-US" b="1">
                <a:latin typeface="楷体_GB2312" pitchFamily="49" charset="-122"/>
                <a:ea typeface="楷体_GB2312" pitchFamily="49" charset="-122"/>
              </a:rPr>
              <a:t>是函数返回值的类型。函数名后面括号中列出的</a:t>
            </a:r>
            <a:r>
              <a:rPr lang="en-US" altLang="zh-CN" b="1">
                <a:latin typeface="楷体_GB2312" pitchFamily="49" charset="-122"/>
                <a:ea typeface="楷体_GB2312" pitchFamily="49" charset="-122"/>
              </a:rPr>
              <a:t>radius</a:t>
            </a:r>
            <a:r>
              <a:rPr lang="zh-CN" altLang="en-US" b="1">
                <a:latin typeface="楷体_GB2312" pitchFamily="49" charset="-122"/>
                <a:ea typeface="楷体_GB2312" pitchFamily="49" charset="-122"/>
              </a:rPr>
              <a:t>和</a:t>
            </a:r>
            <a:r>
              <a:rPr lang="en-US" altLang="zh-CN" b="1">
                <a:latin typeface="楷体_GB2312" pitchFamily="49" charset="-122"/>
                <a:ea typeface="楷体_GB2312" pitchFamily="49" charset="-122"/>
              </a:rPr>
              <a:t>height</a:t>
            </a:r>
            <a:r>
              <a:rPr lang="zh-CN" altLang="en-US" b="1">
                <a:latin typeface="楷体_GB2312" pitchFamily="49" charset="-122"/>
                <a:ea typeface="楷体_GB2312" pitchFamily="49" charset="-122"/>
              </a:rPr>
              <a:t>是函数的形参，代码指出这两个形参是</a:t>
            </a:r>
            <a:r>
              <a:rPr lang="en-US" altLang="zh-CN" b="1">
                <a:latin typeface="楷体_GB2312" pitchFamily="49" charset="-122"/>
                <a:ea typeface="楷体_GB2312" pitchFamily="49" charset="-122"/>
              </a:rPr>
              <a:t>double</a:t>
            </a:r>
            <a:r>
              <a:rPr lang="zh-CN" altLang="en-US" b="1">
                <a:latin typeface="楷体_GB2312" pitchFamily="49" charset="-122"/>
                <a:ea typeface="楷体_GB2312" pitchFamily="49" charset="-122"/>
              </a:rPr>
              <a:t>类型的。再后面一对花括号中列出的是实现函数功能的语句序列。</a:t>
            </a:r>
          </a:p>
          <a:p>
            <a:pPr marL="0" indent="0" eaLnBrk="1" hangingPunct="1">
              <a:buFont typeface="Wingdings" pitchFamily="2" charset="2"/>
              <a:buNone/>
            </a:pPr>
            <a:endParaRPr lang="zh-CN" altLang="en-US" b="1">
              <a:latin typeface="楷体_GB2312" pitchFamily="49" charset="-122"/>
              <a:ea typeface="楷体_GB2312" pitchFamily="49" charset="-122"/>
            </a:endParaRPr>
          </a:p>
          <a:p>
            <a:pPr marL="0" indent="0" eaLnBrk="1" hangingPunct="1">
              <a:buFont typeface="Wingdings" pitchFamily="2" charset="2"/>
              <a:buNone/>
            </a:pPr>
            <a:r>
              <a:rPr lang="zh-CN" altLang="en-US" b="1">
                <a:solidFill>
                  <a:srgbClr val="990000"/>
                </a:solidFill>
                <a:latin typeface="楷体_GB2312" pitchFamily="49" charset="-122"/>
                <a:ea typeface="楷体_GB2312" pitchFamily="49" charset="-122"/>
              </a:rPr>
              <a:t>上述代码的作用是，如果程序的某个地方已知圆柱体的半径</a:t>
            </a:r>
            <a:r>
              <a:rPr lang="en-US" altLang="zh-CN" b="1">
                <a:solidFill>
                  <a:srgbClr val="990000"/>
                </a:solidFill>
                <a:latin typeface="楷体_GB2312" pitchFamily="49" charset="-122"/>
                <a:ea typeface="楷体_GB2312" pitchFamily="49" charset="-122"/>
              </a:rPr>
              <a:t>x</a:t>
            </a:r>
            <a:r>
              <a:rPr lang="zh-CN" altLang="en-US" b="1">
                <a:solidFill>
                  <a:srgbClr val="990000"/>
                </a:solidFill>
                <a:latin typeface="楷体_GB2312" pitchFamily="49" charset="-122"/>
                <a:ea typeface="楷体_GB2312" pitchFamily="49" charset="-122"/>
              </a:rPr>
              <a:t>和高度</a:t>
            </a:r>
            <a:r>
              <a:rPr lang="en-US" altLang="zh-CN" b="1">
                <a:solidFill>
                  <a:srgbClr val="990000"/>
                </a:solidFill>
                <a:latin typeface="楷体_GB2312" pitchFamily="49" charset="-122"/>
                <a:ea typeface="楷体_GB2312" pitchFamily="49" charset="-122"/>
              </a:rPr>
              <a:t>y</a:t>
            </a:r>
            <a:r>
              <a:rPr lang="zh-CN" altLang="en-US" b="1">
                <a:solidFill>
                  <a:srgbClr val="990000"/>
                </a:solidFill>
                <a:latin typeface="楷体_GB2312" pitchFamily="49" charset="-122"/>
                <a:ea typeface="楷体_GB2312" pitchFamily="49" charset="-122"/>
              </a:rPr>
              <a:t>，需要计算圆柱体的体积</a:t>
            </a:r>
            <a:r>
              <a:rPr lang="en-US" altLang="zh-CN" b="1">
                <a:solidFill>
                  <a:srgbClr val="990000"/>
                </a:solidFill>
                <a:latin typeface="楷体_GB2312" pitchFamily="49" charset="-122"/>
                <a:ea typeface="楷体_GB2312" pitchFamily="49" charset="-122"/>
              </a:rPr>
              <a:t>v</a:t>
            </a:r>
            <a:r>
              <a:rPr lang="zh-CN" altLang="en-US" b="1">
                <a:solidFill>
                  <a:srgbClr val="990000"/>
                </a:solidFill>
                <a:latin typeface="楷体_GB2312" pitchFamily="49" charset="-122"/>
                <a:ea typeface="楷体_GB2312" pitchFamily="49" charset="-122"/>
              </a:rPr>
              <a:t>。就可用以下函数调用代码实现计算圆柱体的体积：</a:t>
            </a:r>
          </a:p>
          <a:p>
            <a:pPr marL="0" indent="0" eaLnBrk="1" hangingPunct="1">
              <a:buFont typeface="Wingdings" pitchFamily="2" charset="2"/>
              <a:buNone/>
            </a:pPr>
            <a:r>
              <a:rPr lang="en-US" altLang="zh-CN" b="1">
                <a:solidFill>
                  <a:srgbClr val="002060"/>
                </a:solidFill>
                <a:latin typeface="楷体_GB2312" pitchFamily="49" charset="-122"/>
                <a:ea typeface="楷体_GB2312" pitchFamily="49" charset="-122"/>
              </a:rPr>
              <a:t>v = volume(x, y);</a:t>
            </a:r>
          </a:p>
        </p:txBody>
      </p:sp>
      <p:sp>
        <p:nvSpPr>
          <p:cNvPr id="5" name="灯片编号占位符 5"/>
          <p:cNvSpPr>
            <a:spLocks noGrp="1"/>
          </p:cNvSpPr>
          <p:nvPr>
            <p:ph type="sldNum" sz="quarter" idx="12"/>
          </p:nvPr>
        </p:nvSpPr>
        <p:spPr/>
        <p:txBody>
          <a:bodyPr/>
          <a:lstStyle/>
          <a:p>
            <a:pPr>
              <a:defRPr/>
            </a:pPr>
            <a:fld id="{D639C95B-BBC1-4EA6-A3CD-F760AD9D2D0B}" type="slidenum">
              <a:rPr lang="en-US" altLang="zh-CN"/>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idx="1"/>
          </p:nvPr>
        </p:nvSpPr>
        <p:spPr>
          <a:xfrm>
            <a:off x="323850" y="404813"/>
            <a:ext cx="8496300" cy="6192837"/>
          </a:xfrm>
        </p:spPr>
        <p:txBody>
          <a:bodyPr>
            <a:noAutofit/>
          </a:bodyPr>
          <a:lstStyle/>
          <a:p>
            <a:pPr marL="0" indent="0" eaLnBrk="1" fontAlgn="auto" hangingPunct="1">
              <a:lnSpc>
                <a:spcPct val="95000"/>
              </a:lnSpc>
              <a:spcAft>
                <a:spcPts val="0"/>
              </a:spcAft>
              <a:buClr>
                <a:schemeClr val="accent3"/>
              </a:buClr>
              <a:buFont typeface="Wingdings 2"/>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当函数被调用时，函数结构中的语句序列就被执行。</a:t>
            </a:r>
            <a:endParaRPr lang="en-US" altLang="zh-CN"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因此使用函数调用</a:t>
            </a:r>
            <a:r>
              <a:rPr lang="en-US" altLang="zh-CN" sz="2400" b="1" dirty="0">
                <a:effectLst>
                  <a:outerShdw blurRad="38100" dist="38100" dir="2700000" algn="tl">
                    <a:srgbClr val="C0C0C0"/>
                  </a:outerShdw>
                </a:effectLst>
                <a:latin typeface="楷体_GB2312" pitchFamily="49" charset="-122"/>
                <a:ea typeface="楷体_GB2312" pitchFamily="49" charset="-122"/>
              </a:rPr>
              <a:t>volume(x, y)</a:t>
            </a:r>
            <a:r>
              <a:rPr lang="zh-CN" altLang="en-US" sz="2400" b="1" dirty="0">
                <a:effectLst>
                  <a:outerShdw blurRad="38100" dist="38100" dir="2700000" algn="tl">
                    <a:srgbClr val="C0C0C0"/>
                  </a:outerShdw>
                </a:effectLst>
                <a:latin typeface="楷体_GB2312" pitchFamily="49" charset="-122"/>
                <a:ea typeface="楷体_GB2312" pitchFamily="49" charset="-122"/>
              </a:rPr>
              <a:t>的程序就具备了计算圆柱体体积的能力，而不需要为如何计算圆柱体的体积编写详细的实现代码。</a:t>
            </a:r>
          </a:p>
          <a:p>
            <a:pPr marL="0" indent="0" eaLnBrk="1" fontAlgn="auto" hangingPunct="1">
              <a:lnSpc>
                <a:spcPct val="95000"/>
              </a:lnSpc>
              <a:spcAft>
                <a:spcPts val="0"/>
              </a:spcAft>
              <a:buClr>
                <a:schemeClr val="accent3"/>
              </a:buClr>
              <a:buFont typeface="Wingdings" pitchFamily="2" charset="2"/>
              <a:buNone/>
              <a:defRPr/>
            </a:pPr>
            <a:endParaRPr lang="zh-CN" altLang="en-US" sz="10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函数调用是一种控制转移，当计算机执行一个函数调用时，控制转移到实现该函数的语句序列。在函数的执行过种中，当执行完函数体中的语句，或执行了</a:t>
            </a:r>
            <a:r>
              <a:rPr lang="en-US" altLang="zh-CN" sz="2800" b="1" dirty="0">
                <a:effectLst>
                  <a:outerShdw blurRad="38100" dist="38100" dir="2700000" algn="tl">
                    <a:srgbClr val="C0C0C0"/>
                  </a:outerShdw>
                </a:effectLst>
                <a:latin typeface="楷体_GB2312" pitchFamily="49" charset="-122"/>
                <a:ea typeface="楷体_GB2312" pitchFamily="49" charset="-122"/>
              </a:rPr>
              <a:t>return</a:t>
            </a:r>
            <a:r>
              <a:rPr lang="zh-CN" altLang="en-US" sz="2800" b="1" dirty="0">
                <a:effectLst>
                  <a:outerShdw blurRad="38100" dist="38100" dir="2700000" algn="tl">
                    <a:srgbClr val="C0C0C0"/>
                  </a:outerShdw>
                </a:effectLst>
                <a:latin typeface="楷体_GB2312" pitchFamily="49" charset="-122"/>
                <a:ea typeface="楷体_GB2312" pitchFamily="49" charset="-122"/>
              </a:rPr>
              <a:t>语句，则</a:t>
            </a:r>
            <a:r>
              <a:rPr lang="zh-CN" altLang="en-US" sz="2800" b="1" dirty="0">
                <a:solidFill>
                  <a:srgbClr val="336600"/>
                </a:solidFill>
                <a:effectLst>
                  <a:outerShdw blurRad="38100" dist="38100" dir="2700000" algn="tl">
                    <a:srgbClr val="C0C0C0"/>
                  </a:outerShdw>
                </a:effectLst>
                <a:latin typeface="楷体_GB2312" pitchFamily="49" charset="-122"/>
                <a:ea typeface="楷体_GB2312" pitchFamily="49" charset="-122"/>
              </a:rPr>
              <a:t>控制又返回到函数调用点。</a:t>
            </a:r>
            <a:endParaRPr lang="en-US" altLang="zh-CN" sz="2800" b="1" dirty="0">
              <a:solidFill>
                <a:srgbClr val="3366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endParaRPr lang="zh-CN" altLang="en-US" sz="2800" b="1" dirty="0">
              <a:solidFill>
                <a:srgbClr val="3366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函数调用表达式的值，就是函数执行</a:t>
            </a:r>
            <a:r>
              <a:rPr lang="en-US" altLang="zh-CN" sz="2800" b="1" dirty="0">
                <a:effectLst>
                  <a:outerShdw blurRad="38100" dist="38100" dir="2700000" algn="tl">
                    <a:srgbClr val="C0C0C0"/>
                  </a:outerShdw>
                </a:effectLst>
                <a:latin typeface="楷体_GB2312" pitchFamily="49" charset="-122"/>
                <a:ea typeface="楷体_GB2312" pitchFamily="49" charset="-122"/>
              </a:rPr>
              <a:t>return</a:t>
            </a:r>
            <a:r>
              <a:rPr lang="zh-CN" altLang="en-US" sz="2800" b="1" dirty="0">
                <a:effectLst>
                  <a:outerShdw blurRad="38100" dist="38100" dir="2700000" algn="tl">
                    <a:srgbClr val="C0C0C0"/>
                  </a:outerShdw>
                </a:effectLst>
                <a:latin typeface="楷体_GB2312" pitchFamily="49" charset="-122"/>
                <a:ea typeface="楷体_GB2312" pitchFamily="49" charset="-122"/>
              </a:rPr>
              <a:t>语句时，其后表达式的值。</a:t>
            </a:r>
          </a:p>
        </p:txBody>
      </p:sp>
      <p:sp>
        <p:nvSpPr>
          <p:cNvPr id="5" name="灯片编号占位符 5"/>
          <p:cNvSpPr>
            <a:spLocks noGrp="1"/>
          </p:cNvSpPr>
          <p:nvPr>
            <p:ph type="sldNum" sz="quarter" idx="12"/>
          </p:nvPr>
        </p:nvSpPr>
        <p:spPr/>
        <p:txBody>
          <a:bodyPr/>
          <a:lstStyle/>
          <a:p>
            <a:pPr>
              <a:defRPr/>
            </a:pPr>
            <a:fld id="{6DF4FD5A-1A64-47B1-8610-AF1D6860F833}" type="slidenum">
              <a:rPr lang="en-US" altLang="zh-CN"/>
              <a:pPr>
                <a:defRPr/>
              </a:pPr>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idx="1"/>
          </p:nvPr>
        </p:nvSpPr>
        <p:spPr>
          <a:xfrm>
            <a:off x="323850" y="620713"/>
            <a:ext cx="8496300" cy="5976937"/>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ea typeface="楷体_GB2312" pitchFamily="49" charset="-122"/>
              </a:rPr>
              <a:t>函数调用处只能看到一个函数调用所得结果，看不到计算这个结果的每一个步骤。这样就给函数调用者只关心这个函数能做什么，而函数内部的计算过程，是函数抽象的实现者所关心的内容。</a:t>
            </a:r>
          </a:p>
          <a:p>
            <a:pPr marL="0" indent="0" eaLnBrk="1" fontAlgn="auto" hangingPunct="1">
              <a:spcAft>
                <a:spcPts val="0"/>
              </a:spcAft>
              <a:buClr>
                <a:schemeClr val="accent3"/>
              </a:buClr>
              <a:buFont typeface="Wingdings" pitchFamily="2" charset="2"/>
              <a:buNone/>
              <a:defRPr/>
            </a:pPr>
            <a:r>
              <a:rPr lang="zh-CN" altLang="en-US" b="1">
                <a:solidFill>
                  <a:srgbClr val="990000"/>
                </a:solidFill>
                <a:effectLst>
                  <a:outerShdw blurRad="38100" dist="38100" dir="2700000" algn="tl">
                    <a:srgbClr val="C0C0C0"/>
                  </a:outerShdw>
                </a:effectLst>
                <a:ea typeface="楷体_GB2312" pitchFamily="49" charset="-122"/>
              </a:rPr>
              <a:t>对函数使用者来说，可以把函数看作一个“黑盒”，只需知道要传送给函数加工的数据，和函数执行后能得到的结果。而函数如何执行是可以不知道的。</a:t>
            </a:r>
          </a:p>
          <a:p>
            <a:pPr marL="0" indent="0" eaLnBrk="1" fontAlgn="auto" hangingPunct="1">
              <a:spcAft>
                <a:spcPts val="0"/>
              </a:spcAft>
              <a:buClr>
                <a:schemeClr val="accent3"/>
              </a:buClr>
              <a:buFont typeface="Wingdings" pitchFamily="2" charset="2"/>
              <a:buNone/>
              <a:defRPr/>
            </a:pPr>
            <a:endParaRPr lang="zh-CN" altLang="en-US" b="1">
              <a:solidFill>
                <a:srgbClr val="990000"/>
              </a:solidFill>
              <a:effectLst>
                <a:outerShdw blurRad="38100" dist="38100" dir="2700000" algn="tl">
                  <a:srgbClr val="C0C0C0"/>
                </a:outerShdw>
              </a:effectLst>
              <a:ea typeface="楷体_GB2312" pitchFamily="49" charset="-122"/>
            </a:endParaRP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ea typeface="楷体_GB2312" pitchFamily="49" charset="-122"/>
              </a:rPr>
              <a:t>函数还为程序的层次构造提供有力支持，使设计新程序能在已有函数的基础上构造功能更强的函数和程序，而不必一切都从头开始。</a:t>
            </a:r>
          </a:p>
        </p:txBody>
      </p:sp>
      <p:sp>
        <p:nvSpPr>
          <p:cNvPr id="5" name="灯片编号占位符 5"/>
          <p:cNvSpPr>
            <a:spLocks noGrp="1"/>
          </p:cNvSpPr>
          <p:nvPr>
            <p:ph type="sldNum" sz="quarter" idx="12"/>
          </p:nvPr>
        </p:nvSpPr>
        <p:spPr/>
        <p:txBody>
          <a:bodyPr/>
          <a:lstStyle/>
          <a:p>
            <a:pPr>
              <a:defRPr/>
            </a:pPr>
            <a:fld id="{4F888759-5CE1-4F08-8CCA-B0CDD32EB2E1}" type="slidenum">
              <a:rPr lang="en-US" altLang="zh-CN"/>
              <a:pPr>
                <a:defRPr/>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idx="1"/>
          </p:nvPr>
        </p:nvSpPr>
        <p:spPr>
          <a:xfrm>
            <a:off x="323850" y="404813"/>
            <a:ext cx="8496300" cy="6192837"/>
          </a:xfrm>
        </p:spPr>
        <p:txBody>
          <a:bodyPr>
            <a:normAutofit lnSpcReduction="10000"/>
          </a:bodyPr>
          <a:lstStyle/>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函数的能力还表现在可以带有形式化参数，使函数执行时，操作对象、求值的方法等可随不同调用的需要而改变。</a:t>
            </a:r>
          </a:p>
          <a:p>
            <a:pPr marL="0" indent="0" eaLnBrk="1" fontAlgn="auto" hangingPunct="1">
              <a:lnSpc>
                <a:spcPct val="95000"/>
              </a:lnSpc>
              <a:spcAft>
                <a:spcPts val="0"/>
              </a:spcAft>
              <a:buClr>
                <a:schemeClr val="accent3"/>
              </a:buClr>
              <a:buFont typeface="Wingdings" pitchFamily="2" charset="2"/>
              <a:buNone/>
              <a:defRPr/>
            </a:pPr>
            <a:endPar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函数形参是函数对操作数据的抽象，这个抽象过程被称为参数化。</a:t>
            </a:r>
            <a:r>
              <a:rPr lang="zh-CN" altLang="en-US" sz="2800" b="1" dirty="0">
                <a:effectLst>
                  <a:outerShdw blurRad="38100" dist="38100" dir="2700000" algn="tl">
                    <a:srgbClr val="C0C0C0"/>
                  </a:outerShdw>
                </a:effectLst>
                <a:latin typeface="楷体_GB2312" pitchFamily="49" charset="-122"/>
                <a:ea typeface="楷体_GB2312" pitchFamily="49" charset="-122"/>
              </a:rPr>
              <a:t>如上述的</a:t>
            </a:r>
            <a:r>
              <a:rPr lang="en-US" altLang="zh-CN" sz="2800" b="1" dirty="0">
                <a:effectLst>
                  <a:outerShdw blurRad="38100" dist="38100" dir="2700000" algn="tl">
                    <a:srgbClr val="C0C0C0"/>
                  </a:outerShdw>
                </a:effectLst>
                <a:latin typeface="楷体_GB2312" pitchFamily="49" charset="-122"/>
                <a:ea typeface="楷体_GB2312" pitchFamily="49" charset="-122"/>
              </a:rPr>
              <a:t>volume()</a:t>
            </a:r>
            <a:r>
              <a:rPr lang="zh-CN" altLang="en-US" sz="2800" b="1" dirty="0">
                <a:effectLst>
                  <a:outerShdw blurRad="38100" dist="38100" dir="2700000" algn="tl">
                    <a:srgbClr val="C0C0C0"/>
                  </a:outerShdw>
                </a:effectLst>
                <a:latin typeface="楷体_GB2312" pitchFamily="49" charset="-122"/>
                <a:ea typeface="楷体_GB2312" pitchFamily="49" charset="-122"/>
              </a:rPr>
              <a:t>函数带两个形参</a:t>
            </a:r>
            <a:r>
              <a:rPr lang="en-US" altLang="zh-CN" sz="2800" b="1" dirty="0">
                <a:effectLst>
                  <a:outerShdw blurRad="38100" dist="38100" dir="2700000" algn="tl">
                    <a:srgbClr val="C0C0C0"/>
                  </a:outerShdw>
                </a:effectLst>
                <a:latin typeface="楷体_GB2312" pitchFamily="49" charset="-122"/>
                <a:ea typeface="楷体_GB2312" pitchFamily="49" charset="-122"/>
              </a:rPr>
              <a:t>radius</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height</a:t>
            </a:r>
            <a:r>
              <a:rPr lang="zh-CN" altLang="en-US" sz="2800" b="1" dirty="0">
                <a:effectLst>
                  <a:outerShdw blurRad="38100" dist="38100" dir="2700000" algn="tl">
                    <a:srgbClr val="C0C0C0"/>
                  </a:outerShdw>
                </a:effectLst>
                <a:latin typeface="楷体_GB2312" pitchFamily="49" charset="-122"/>
                <a:ea typeface="楷体_GB2312" pitchFamily="49" charset="-122"/>
              </a:rPr>
              <a:t>。它们表示函数内所使用的两个对象，当调用这个函数时，这两个对象的值是这次调用所要操作的值。例如，</a:t>
            </a:r>
            <a:r>
              <a:rPr lang="en-US" altLang="zh-CN" sz="2800" b="1" dirty="0">
                <a:effectLst>
                  <a:outerShdw blurRad="38100" dist="38100" dir="2700000" algn="tl">
                    <a:srgbClr val="C0C0C0"/>
                  </a:outerShdw>
                </a:effectLst>
                <a:latin typeface="楷体_GB2312" pitchFamily="49" charset="-122"/>
                <a:ea typeface="楷体_GB2312" pitchFamily="49" charset="-122"/>
              </a:rPr>
              <a:t>volume(x, y)</a:t>
            </a:r>
            <a:r>
              <a:rPr lang="zh-CN" altLang="en-US" sz="2800" b="1" dirty="0">
                <a:effectLst>
                  <a:outerShdw blurRad="38100" dist="38100" dir="2700000" algn="tl">
                    <a:srgbClr val="C0C0C0"/>
                  </a:outerShdw>
                </a:effectLst>
                <a:latin typeface="楷体_GB2312" pitchFamily="49" charset="-122"/>
                <a:ea typeface="楷体_GB2312" pitchFamily="49" charset="-122"/>
              </a:rPr>
              <a:t>表示这次调用的操作值是</a:t>
            </a:r>
            <a:r>
              <a:rPr lang="en-US" altLang="zh-CN" sz="2800" b="1" dirty="0">
                <a:effectLst>
                  <a:outerShdw blurRad="38100" dist="38100" dir="2700000" algn="tl">
                    <a:srgbClr val="C0C0C0"/>
                  </a:outerShdw>
                </a:effectLst>
                <a:latin typeface="楷体_GB2312" pitchFamily="49" charset="-122"/>
                <a:ea typeface="楷体_GB2312" pitchFamily="49" charset="-122"/>
              </a:rPr>
              <a:t>x</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y</a:t>
            </a:r>
            <a:r>
              <a:rPr lang="zh-CN" altLang="en-US" sz="2800" b="1" dirty="0">
                <a:effectLst>
                  <a:outerShdw blurRad="38100" dist="38100" dir="2700000" algn="tl">
                    <a:srgbClr val="C0C0C0"/>
                  </a:outerShdw>
                </a:effectLst>
                <a:latin typeface="楷体_GB2312" pitchFamily="49" charset="-122"/>
                <a:ea typeface="楷体_GB2312" pitchFamily="49" charset="-122"/>
              </a:rPr>
              <a:t>。</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在函数调用表达式</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volume(x, y)</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中，</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x</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和</a:t>
            </a:r>
            <a:r>
              <a:rPr lang="en-US" altLang="zh-CN" sz="2800" b="1" dirty="0">
                <a:solidFill>
                  <a:srgbClr val="990000"/>
                </a:solidFill>
                <a:effectLst>
                  <a:outerShdw blurRad="38100" dist="38100" dir="2700000" algn="tl">
                    <a:srgbClr val="C0C0C0"/>
                  </a:outerShdw>
                </a:effectLst>
                <a:latin typeface="楷体_GB2312" pitchFamily="49" charset="-122"/>
                <a:ea typeface="楷体_GB2312" pitchFamily="49" charset="-122"/>
              </a:rPr>
              <a:t>y</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被称为实参。</a:t>
            </a:r>
          </a:p>
          <a:p>
            <a:pPr marL="0" indent="0" eaLnBrk="1" fontAlgn="auto" hangingPunct="1">
              <a:lnSpc>
                <a:spcPct val="95000"/>
              </a:lnSpc>
              <a:spcAft>
                <a:spcPts val="0"/>
              </a:spcAft>
              <a:buClr>
                <a:schemeClr val="accent3"/>
              </a:buClr>
              <a:buFont typeface="Wingdings" pitchFamily="2" charset="2"/>
              <a:buNone/>
              <a:defRPr/>
            </a:pPr>
            <a:endParaRPr lang="zh-CN" altLang="en-US" sz="28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zh-CN" altLang="en-US" sz="2800" b="1" dirty="0">
                <a:effectLst>
                  <a:outerShdw blurRad="38100" dist="38100" dir="2700000" algn="tl">
                    <a:srgbClr val="C0C0C0"/>
                  </a:outerShdw>
                </a:effectLst>
                <a:latin typeface="楷体_GB2312" pitchFamily="49" charset="-122"/>
                <a:ea typeface="楷体_GB2312" pitchFamily="49" charset="-122"/>
              </a:rPr>
              <a:t>实参的值在控制转去执行函数中的语句时，</a:t>
            </a:r>
            <a:r>
              <a:rPr lang="zh-CN" altLang="en-US" sz="2800" b="1" dirty="0">
                <a:solidFill>
                  <a:srgbClr val="990000"/>
                </a:solidFill>
                <a:effectLst>
                  <a:outerShdw blurRad="38100" dist="38100" dir="2700000" algn="tl">
                    <a:srgbClr val="C0C0C0"/>
                  </a:outerShdw>
                </a:effectLst>
                <a:latin typeface="楷体_GB2312" pitchFamily="49" charset="-122"/>
                <a:ea typeface="楷体_GB2312" pitchFamily="49" charset="-122"/>
              </a:rPr>
              <a:t>用于初始化形参</a:t>
            </a:r>
            <a:r>
              <a:rPr lang="zh-CN" altLang="en-US" sz="2800" b="1" dirty="0">
                <a:effectLst>
                  <a:outerShdw blurRad="38100" dist="38100" dir="2700000" algn="tl">
                    <a:srgbClr val="C0C0C0"/>
                  </a:outerShdw>
                </a:effectLst>
                <a:latin typeface="楷体_GB2312" pitchFamily="49" charset="-122"/>
                <a:ea typeface="楷体_GB2312" pitchFamily="49" charset="-122"/>
              </a:rPr>
              <a:t>。例如，函数调用</a:t>
            </a:r>
            <a:r>
              <a:rPr lang="en-US" altLang="zh-CN" sz="2800" b="1" dirty="0">
                <a:effectLst>
                  <a:outerShdw blurRad="38100" dist="38100" dir="2700000" algn="tl">
                    <a:srgbClr val="C0C0C0"/>
                  </a:outerShdw>
                </a:effectLst>
                <a:latin typeface="楷体_GB2312" pitchFamily="49" charset="-122"/>
                <a:ea typeface="楷体_GB2312" pitchFamily="49" charset="-122"/>
              </a:rPr>
              <a:t>volume(x, y)</a:t>
            </a:r>
            <a:r>
              <a:rPr lang="zh-CN" altLang="en-US" sz="2800" b="1" dirty="0">
                <a:effectLst>
                  <a:outerShdw blurRad="38100" dist="38100" dir="2700000" algn="tl">
                    <a:srgbClr val="C0C0C0"/>
                  </a:outerShdw>
                </a:effectLst>
                <a:latin typeface="楷体_GB2312" pitchFamily="49" charset="-122"/>
                <a:ea typeface="楷体_GB2312" pitchFamily="49" charset="-122"/>
              </a:rPr>
              <a:t>中的</a:t>
            </a:r>
            <a:r>
              <a:rPr lang="en-US" altLang="zh-CN" sz="2800" b="1" dirty="0">
                <a:effectLst>
                  <a:outerShdw blurRad="38100" dist="38100" dir="2700000" algn="tl">
                    <a:srgbClr val="C0C0C0"/>
                  </a:outerShdw>
                </a:effectLst>
                <a:latin typeface="楷体_GB2312" pitchFamily="49" charset="-122"/>
                <a:ea typeface="楷体_GB2312" pitchFamily="49" charset="-122"/>
              </a:rPr>
              <a:t>x</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y</a:t>
            </a:r>
            <a:r>
              <a:rPr lang="zh-CN" altLang="en-US" sz="2800" b="1" dirty="0">
                <a:effectLst>
                  <a:outerShdw blurRad="38100" dist="38100" dir="2700000" algn="tl">
                    <a:srgbClr val="C0C0C0"/>
                  </a:outerShdw>
                </a:effectLst>
                <a:latin typeface="楷体_GB2312" pitchFamily="49" charset="-122"/>
                <a:ea typeface="楷体_GB2312" pitchFamily="49" charset="-122"/>
              </a:rPr>
              <a:t>分别初始化形参</a:t>
            </a:r>
            <a:r>
              <a:rPr lang="en-US" altLang="zh-CN" sz="2800" b="1" dirty="0">
                <a:effectLst>
                  <a:outerShdw blurRad="38100" dist="38100" dir="2700000" algn="tl">
                    <a:srgbClr val="C0C0C0"/>
                  </a:outerShdw>
                </a:effectLst>
                <a:latin typeface="楷体_GB2312" pitchFamily="49" charset="-122"/>
                <a:ea typeface="楷体_GB2312" pitchFamily="49" charset="-122"/>
              </a:rPr>
              <a:t>radius</a:t>
            </a:r>
            <a:r>
              <a:rPr lang="zh-CN" altLang="en-US" sz="2800" b="1" dirty="0">
                <a:effectLst>
                  <a:outerShdw blurRad="38100" dist="38100" dir="2700000" algn="tl">
                    <a:srgbClr val="C0C0C0"/>
                  </a:outerShdw>
                </a:effectLst>
                <a:latin typeface="楷体_GB2312" pitchFamily="49" charset="-122"/>
                <a:ea typeface="楷体_GB2312" pitchFamily="49" charset="-122"/>
              </a:rPr>
              <a:t>和</a:t>
            </a:r>
            <a:r>
              <a:rPr lang="en-US" altLang="zh-CN" sz="2800" b="1" dirty="0">
                <a:effectLst>
                  <a:outerShdw blurRad="38100" dist="38100" dir="2700000" algn="tl">
                    <a:srgbClr val="C0C0C0"/>
                  </a:outerShdw>
                </a:effectLst>
                <a:latin typeface="楷体_GB2312" pitchFamily="49" charset="-122"/>
                <a:ea typeface="楷体_GB2312" pitchFamily="49" charset="-122"/>
              </a:rPr>
              <a:t>height</a:t>
            </a:r>
            <a:r>
              <a:rPr lang="zh-CN" altLang="en-US" sz="2800" b="1" dirty="0">
                <a:effectLst>
                  <a:outerShdw blurRad="38100" dist="38100" dir="2700000" algn="tl">
                    <a:srgbClr val="C0C0C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B442FA8A-9AB9-4555-B716-9253286E290B}" type="slidenum">
              <a:rPr lang="en-US" altLang="zh-CN"/>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idx="1"/>
          </p:nvPr>
        </p:nvSpPr>
        <p:spPr>
          <a:xfrm>
            <a:off x="323850" y="620713"/>
            <a:ext cx="8496300" cy="5976937"/>
          </a:xfrm>
        </p:spPr>
        <p:txBody>
          <a:bodyPr>
            <a:normAutofit/>
          </a:bodyPr>
          <a:lstStyle/>
          <a:p>
            <a:pPr marL="0" indent="0" eaLnBrk="1" fontAlgn="auto" hangingPunct="1">
              <a:spcAft>
                <a:spcPts val="0"/>
              </a:spcAft>
              <a:buClr>
                <a:schemeClr val="accent3"/>
              </a:buClr>
              <a:buFont typeface="Wingdings" pitchFamily="2" charset="2"/>
              <a:buNone/>
              <a:defRPr/>
            </a:pPr>
            <a:endParaRPr lang="en-US" altLang="zh-CN" b="1">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latin typeface="楷体_GB2312" pitchFamily="49" charset="-122"/>
                <a:ea typeface="楷体_GB2312" pitchFamily="49" charset="-122"/>
              </a:rPr>
              <a:t>通常一个函数在执行完之后都要返回一个值。如果函数的主要目的是完成一个特定的操作或更新指定的对象，没有返回值。这时可将函数的返回值类型指定为</a:t>
            </a:r>
            <a:r>
              <a:rPr lang="en-US" altLang="zh-CN" b="1">
                <a:effectLst>
                  <a:outerShdw blurRad="38100" dist="38100" dir="2700000" algn="tl">
                    <a:srgbClr val="C0C0C0"/>
                  </a:outerShdw>
                </a:effectLst>
                <a:latin typeface="楷体_GB2312" pitchFamily="49" charset="-122"/>
                <a:ea typeface="楷体_GB2312" pitchFamily="49" charset="-122"/>
              </a:rPr>
              <a:t>void</a:t>
            </a:r>
            <a:r>
              <a:rPr lang="zh-CN" altLang="en-US" b="1">
                <a:effectLst>
                  <a:outerShdw blurRad="38100" dist="38100" dir="2700000" algn="tl">
                    <a:srgbClr val="C0C0C0"/>
                  </a:outerShdw>
                </a:effectLst>
                <a:latin typeface="楷体_GB2312" pitchFamily="49" charset="-122"/>
                <a:ea typeface="楷体_GB2312" pitchFamily="49" charset="-122"/>
              </a:rPr>
              <a:t>类型。</a:t>
            </a:r>
          </a:p>
          <a:p>
            <a:pPr marL="0" indent="0" eaLnBrk="1" fontAlgn="auto" hangingPunct="1">
              <a:spcAft>
                <a:spcPts val="0"/>
              </a:spcAft>
              <a:buClr>
                <a:schemeClr val="accent3"/>
              </a:buClr>
              <a:buFont typeface="Wingdings" pitchFamily="2" charset="2"/>
              <a:buNone/>
              <a:defRPr/>
            </a:pPr>
            <a:endParaRPr lang="zh-CN" altLang="en-US" b="1">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latin typeface="楷体_GB2312" pitchFamily="49" charset="-122"/>
                <a:ea typeface="楷体_GB2312" pitchFamily="49" charset="-122"/>
              </a:rPr>
              <a:t>这种类型的函数不返回值，这样的函数就是通常所说的过程。 </a:t>
            </a:r>
          </a:p>
        </p:txBody>
      </p:sp>
      <p:sp>
        <p:nvSpPr>
          <p:cNvPr id="5" name="灯片编号占位符 5"/>
          <p:cNvSpPr>
            <a:spLocks noGrp="1"/>
          </p:cNvSpPr>
          <p:nvPr>
            <p:ph type="sldNum" sz="quarter" idx="12"/>
          </p:nvPr>
        </p:nvSpPr>
        <p:spPr/>
        <p:txBody>
          <a:bodyPr/>
          <a:lstStyle/>
          <a:p>
            <a:pPr>
              <a:defRPr/>
            </a:pPr>
            <a:fld id="{F58D7E76-AFA6-4C06-9ECB-3AFA9C6CF2A1}" type="slidenum">
              <a:rPr lang="en-US" altLang="zh-CN"/>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idx="1"/>
          </p:nvPr>
        </p:nvSpPr>
        <p:spPr>
          <a:xfrm>
            <a:off x="323850" y="620713"/>
            <a:ext cx="8496300" cy="5976937"/>
          </a:xfrm>
        </p:spPr>
        <p:txBody>
          <a:bodyPr/>
          <a:lstStyle/>
          <a:p>
            <a:pPr eaLnBrk="1" hangingPunct="1">
              <a:buFont typeface="Wingdings" pitchFamily="2" charset="2"/>
              <a:buNone/>
            </a:pPr>
            <a:r>
              <a:rPr lang="zh-CN" altLang="en-US">
                <a:solidFill>
                  <a:srgbClr val="990000"/>
                </a:solidFill>
              </a:rPr>
              <a:t>不返回值的函数的例子 </a:t>
            </a:r>
            <a:endParaRPr lang="en-US" altLang="zh-CN">
              <a:solidFill>
                <a:srgbClr val="990000"/>
              </a:solidFill>
            </a:endParaRPr>
          </a:p>
          <a:p>
            <a:pPr eaLnBrk="1" hangingPunct="1">
              <a:buFont typeface="Wingdings" pitchFamily="2" charset="2"/>
              <a:buNone/>
            </a:pPr>
            <a:r>
              <a:rPr lang="zh-CN" altLang="en-US"/>
              <a:t>函数</a:t>
            </a:r>
            <a:r>
              <a:rPr lang="en-US" altLang="zh-CN"/>
              <a:t>display()</a:t>
            </a:r>
            <a:r>
              <a:rPr lang="zh-CN" altLang="en-US"/>
              <a:t>只是显示两个变量的值：</a:t>
            </a:r>
          </a:p>
          <a:p>
            <a:pPr eaLnBrk="1" hangingPunct="1">
              <a:buFont typeface="Wingdings" pitchFamily="2" charset="2"/>
              <a:buNone/>
            </a:pPr>
            <a:r>
              <a:rPr lang="en-US" altLang="zh-CN"/>
              <a:t>#include &lt;stdio.h&gt;</a:t>
            </a:r>
            <a:endParaRPr lang="zh-CN" altLang="en-US"/>
          </a:p>
          <a:p>
            <a:pPr eaLnBrk="1" hangingPunct="1">
              <a:buFont typeface="Wingdings" pitchFamily="2" charset="2"/>
              <a:buNone/>
            </a:pPr>
            <a:r>
              <a:rPr lang="en-US" altLang="zh-CN"/>
              <a:t>void display(int f, int s) {</a:t>
            </a:r>
            <a:endParaRPr lang="zh-CN" altLang="en-US"/>
          </a:p>
          <a:p>
            <a:pPr eaLnBrk="1" hangingPunct="1">
              <a:buFont typeface="Wingdings" pitchFamily="2" charset="2"/>
              <a:buNone/>
            </a:pPr>
            <a:r>
              <a:rPr lang="en-US" altLang="zh-CN"/>
              <a:t>   printf("</a:t>
            </a:r>
            <a:r>
              <a:rPr lang="zh-CN" altLang="en-US"/>
              <a:t>第一个变量的值是</a:t>
            </a:r>
            <a:r>
              <a:rPr lang="en-US" altLang="zh-CN"/>
              <a:t>%d\n", f);</a:t>
            </a:r>
            <a:endParaRPr lang="zh-CN" altLang="en-US"/>
          </a:p>
          <a:p>
            <a:pPr eaLnBrk="1" hangingPunct="1">
              <a:buFont typeface="Wingdings" pitchFamily="2" charset="2"/>
              <a:buNone/>
            </a:pPr>
            <a:r>
              <a:rPr lang="en-US" altLang="zh-CN"/>
              <a:t>   printf("</a:t>
            </a:r>
            <a:r>
              <a:rPr lang="zh-CN" altLang="en-US"/>
              <a:t>第二个变量的值是</a:t>
            </a:r>
            <a:r>
              <a:rPr lang="en-US" altLang="zh-CN"/>
              <a:t>%d\n", s);</a:t>
            </a:r>
            <a:endParaRPr lang="zh-CN" altLang="en-US"/>
          </a:p>
          <a:p>
            <a:pPr eaLnBrk="1" hangingPunct="1">
              <a:buFont typeface="Wingdings" pitchFamily="2" charset="2"/>
              <a:buNone/>
            </a:pPr>
            <a:r>
              <a:rPr lang="en-US" altLang="zh-CN"/>
              <a:t>}</a:t>
            </a:r>
            <a:endParaRPr lang="zh-CN" altLang="en-US"/>
          </a:p>
          <a:p>
            <a:pPr eaLnBrk="1" hangingPunct="1">
              <a:buFont typeface="Wingdings" pitchFamily="2" charset="2"/>
              <a:buNone/>
            </a:pPr>
            <a:r>
              <a:rPr lang="en-US" altLang="zh-CN"/>
              <a:t>int main(){</a:t>
            </a:r>
            <a:endParaRPr lang="zh-CN" altLang="en-US"/>
          </a:p>
          <a:p>
            <a:pPr eaLnBrk="1" hangingPunct="1">
              <a:buFont typeface="Wingdings" pitchFamily="2" charset="2"/>
              <a:buNone/>
            </a:pPr>
            <a:r>
              <a:rPr lang="en-US" altLang="zh-CN"/>
              <a:t>   display(2, 7);       </a:t>
            </a:r>
            <a:endParaRPr lang="zh-CN" altLang="en-US"/>
          </a:p>
          <a:p>
            <a:pPr eaLnBrk="1" hangingPunct="1">
              <a:buFont typeface="Wingdings" pitchFamily="2" charset="2"/>
              <a:buNone/>
            </a:pPr>
            <a:r>
              <a:rPr lang="en-US" altLang="zh-CN"/>
              <a:t>   display(5, 8);</a:t>
            </a:r>
            <a:endParaRPr lang="zh-CN" altLang="en-US"/>
          </a:p>
          <a:p>
            <a:pPr eaLnBrk="1" hangingPunct="1">
              <a:buFont typeface="Wingdings" pitchFamily="2" charset="2"/>
              <a:buNone/>
            </a:pPr>
            <a:r>
              <a:rPr lang="en-US" altLang="zh-CN"/>
              <a:t>   return 0;</a:t>
            </a:r>
            <a:endParaRPr lang="zh-CN" altLang="en-US"/>
          </a:p>
          <a:p>
            <a:pPr eaLnBrk="1" hangingPunct="1">
              <a:buFont typeface="Wingdings" pitchFamily="2" charset="2"/>
              <a:buNone/>
            </a:pPr>
            <a:r>
              <a:rPr lang="en-US" altLang="zh-CN"/>
              <a:t>}</a:t>
            </a:r>
            <a:endParaRPr lang="zh-CN" altLang="en-US"/>
          </a:p>
        </p:txBody>
      </p:sp>
      <p:sp>
        <p:nvSpPr>
          <p:cNvPr id="5" name="灯片编号占位符 5"/>
          <p:cNvSpPr>
            <a:spLocks noGrp="1"/>
          </p:cNvSpPr>
          <p:nvPr>
            <p:ph type="sldNum" sz="quarter" idx="12"/>
          </p:nvPr>
        </p:nvSpPr>
        <p:spPr/>
        <p:txBody>
          <a:bodyPr/>
          <a:lstStyle/>
          <a:p>
            <a:pPr>
              <a:defRPr/>
            </a:pPr>
            <a:fld id="{D3DFEA75-85A3-4A74-AE1D-6C2AD65896AA}" type="slidenum">
              <a:rPr lang="en-US" altLang="zh-CN"/>
              <a:pPr>
                <a:defRPr/>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idx="1"/>
          </p:nvPr>
        </p:nvSpPr>
        <p:spPr>
          <a:xfrm>
            <a:off x="323850" y="620713"/>
            <a:ext cx="8496300" cy="5976937"/>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函数还可以定义局部变量，使函数在逻辑上作为程序的一个相对独立单位，不受主函数或其他函数对程序对象命名的影响。</a:t>
            </a:r>
            <a:endParaRPr lang="en-US" altLang="zh-CN"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endParaRPr lang="zh-CN" altLang="en-US" b="1" dirty="0">
              <a:solidFill>
                <a:srgbClr val="336600"/>
              </a:solidFill>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zh-CN" altLang="en-US" b="1" dirty="0">
                <a:solidFill>
                  <a:srgbClr val="336600"/>
                </a:solidFill>
                <a:effectLst>
                  <a:outerShdw blurRad="38100" dist="38100" dir="2700000" algn="tl">
                    <a:srgbClr val="C0C0C0"/>
                  </a:outerShdw>
                </a:effectLst>
                <a:latin typeface="楷体_GB2312" pitchFamily="49" charset="-122"/>
                <a:ea typeface="楷体_GB2312" pitchFamily="49" charset="-122"/>
              </a:rPr>
              <a:t>Ｃ程序以</a:t>
            </a:r>
            <a:r>
              <a:rPr lang="en-US" altLang="zh-CN" b="1" dirty="0">
                <a:solidFill>
                  <a:srgbClr val="336600"/>
                </a:solidFill>
                <a:effectLst>
                  <a:outerShdw blurRad="38100" dist="38100" dir="2700000" algn="tl">
                    <a:srgbClr val="C0C0C0"/>
                  </a:outerShdw>
                </a:effectLst>
                <a:latin typeface="楷体_GB2312" pitchFamily="49" charset="-122"/>
                <a:ea typeface="楷体_GB2312" pitchFamily="49" charset="-122"/>
              </a:rPr>
              <a:t>main()</a:t>
            </a:r>
            <a:r>
              <a:rPr lang="zh-CN" altLang="en-US" b="1" dirty="0">
                <a:solidFill>
                  <a:srgbClr val="336600"/>
                </a:solidFill>
                <a:effectLst>
                  <a:outerShdw blurRad="38100" dist="38100" dir="2700000" algn="tl">
                    <a:srgbClr val="C0C0C0"/>
                  </a:outerShdw>
                </a:effectLst>
                <a:latin typeface="楷体_GB2312" pitchFamily="49" charset="-122"/>
                <a:ea typeface="楷体_GB2312" pitchFamily="49" charset="-122"/>
              </a:rPr>
              <a:t>函数作为程序的主函数。程序运行时，从它开始执行。在Ｃ语言中，函数不能嵌套定义，一个函数不从属于另一个函数，但函数可以相互调用。</a:t>
            </a:r>
          </a:p>
          <a:p>
            <a:pPr marL="0" indent="0" eaLnBrk="1" fontAlgn="auto" hangingPunct="1">
              <a:lnSpc>
                <a:spcPct val="95000"/>
              </a:lnSpc>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a:defRPr/>
            </a:pPr>
            <a:fld id="{6B3CA66D-9238-4484-B212-61B111B32367}" type="slidenum">
              <a:rPr lang="en-US" altLang="zh-CN"/>
              <a:pPr>
                <a:defRPr/>
              </a:pPr>
              <a:t>11</a:t>
            </a:fld>
            <a:endParaRPr lang="en-US" altLang="zh-CN"/>
          </a:p>
        </p:txBody>
      </p:sp>
      <p:sp>
        <p:nvSpPr>
          <p:cNvPr id="6" name="TextBox 5"/>
          <p:cNvSpPr txBox="1"/>
          <p:nvPr/>
        </p:nvSpPr>
        <p:spPr>
          <a:xfrm>
            <a:off x="251520" y="3749457"/>
            <a:ext cx="8352928" cy="3108543"/>
          </a:xfrm>
          <a:prstGeom prst="rect">
            <a:avLst/>
          </a:prstGeom>
          <a:noFill/>
        </p:spPr>
        <p:txBody>
          <a:bodyPr wrap="square" rtlCol="0">
            <a:spAutoFit/>
          </a:bodyPr>
          <a:lstStyle/>
          <a:p>
            <a:pPr marL="0" indent="0" algn="l" eaLnBrk="1" hangingPunct="1">
              <a:buFont typeface="Wingdings" pitchFamily="2" charset="2"/>
              <a:buNone/>
            </a:pPr>
            <a:r>
              <a:rPr lang="en-US" altLang="zh-CN" dirty="0">
                <a:latin typeface="楷体_GB2312" pitchFamily="49" charset="-122"/>
                <a:ea typeface="楷体_GB2312" pitchFamily="49" charset="-122"/>
              </a:rPr>
              <a:t>double volume(double radius, double height)</a:t>
            </a:r>
          </a:p>
          <a:p>
            <a:pPr marL="0" indent="0" algn="l" eaLnBrk="1" hangingPunct="1">
              <a:buFont typeface="Wingdings" pitchFamily="2" charset="2"/>
              <a:buNone/>
            </a:pPr>
            <a:r>
              <a:rPr lang="en-US" altLang="zh-CN" dirty="0">
                <a:latin typeface="楷体_GB2312" pitchFamily="49" charset="-122"/>
                <a:ea typeface="楷体_GB2312" pitchFamily="49" charset="-122"/>
              </a:rPr>
              <a:t>{</a:t>
            </a:r>
          </a:p>
          <a:p>
            <a:pPr marL="0" indent="0" algn="l" eaLnBrk="1" hangingPunct="1">
              <a:buFont typeface="Wingdings" pitchFamily="2" charset="2"/>
              <a:buNone/>
            </a:pPr>
            <a:r>
              <a:rPr lang="en-US" altLang="zh-CN" dirty="0">
                <a:latin typeface="楷体_GB2312" pitchFamily="49" charset="-122"/>
                <a:ea typeface="楷体_GB2312" pitchFamily="49" charset="-122"/>
              </a:rPr>
              <a:t>   </a:t>
            </a:r>
            <a:r>
              <a:rPr lang="en-US" altLang="zh-CN" dirty="0">
                <a:solidFill>
                  <a:srgbClr val="FF0000"/>
                </a:solidFill>
                <a:latin typeface="楷体_GB2312" pitchFamily="49" charset="-122"/>
                <a:ea typeface="楷体_GB2312" pitchFamily="49" charset="-122"/>
              </a:rPr>
              <a:t>double  PI = 3.1415926, </a:t>
            </a:r>
            <a:r>
              <a:rPr lang="en-US" altLang="zh-CN" dirty="0" err="1">
                <a:solidFill>
                  <a:srgbClr val="FF0000"/>
                </a:solidFill>
                <a:latin typeface="楷体_GB2312" pitchFamily="49" charset="-122"/>
                <a:ea typeface="楷体_GB2312" pitchFamily="49" charset="-122"/>
              </a:rPr>
              <a:t>vol</a:t>
            </a:r>
            <a:r>
              <a:rPr lang="en-US" altLang="zh-CN" dirty="0">
                <a:solidFill>
                  <a:srgbClr val="FF0000"/>
                </a:solidFill>
                <a:latin typeface="楷体_GB2312" pitchFamily="49" charset="-122"/>
                <a:ea typeface="楷体_GB2312" pitchFamily="49" charset="-122"/>
              </a:rPr>
              <a:t>;</a:t>
            </a:r>
          </a:p>
          <a:p>
            <a:pPr marL="0" indent="0" algn="l" eaLnBrk="1" hangingPunct="1">
              <a:buFont typeface="Wingdings" pitchFamily="2" charset="2"/>
              <a:buNone/>
            </a:pPr>
            <a:r>
              <a:rPr lang="en-US" altLang="zh-CN" dirty="0">
                <a:latin typeface="楷体_GB2312" pitchFamily="49" charset="-122"/>
                <a:ea typeface="楷体_GB2312" pitchFamily="49" charset="-122"/>
              </a:rPr>
              <a:t>   </a:t>
            </a:r>
            <a:r>
              <a:rPr lang="en-US" altLang="zh-CN" dirty="0" err="1">
                <a:latin typeface="楷体_GB2312" pitchFamily="49" charset="-122"/>
                <a:ea typeface="楷体_GB2312" pitchFamily="49" charset="-122"/>
              </a:rPr>
              <a:t>vol</a:t>
            </a:r>
            <a:r>
              <a:rPr lang="en-US" altLang="zh-CN" dirty="0">
                <a:latin typeface="楷体_GB2312" pitchFamily="49" charset="-122"/>
                <a:ea typeface="楷体_GB2312" pitchFamily="49" charset="-122"/>
              </a:rPr>
              <a:t> = PI * radius * radius * height;</a:t>
            </a:r>
          </a:p>
          <a:p>
            <a:pPr marL="0" indent="0" algn="l" eaLnBrk="1" hangingPunct="1">
              <a:buFont typeface="Wingdings" pitchFamily="2" charset="2"/>
              <a:buNone/>
            </a:pPr>
            <a:r>
              <a:rPr lang="en-US" altLang="zh-CN" dirty="0">
                <a:latin typeface="楷体_GB2312" pitchFamily="49" charset="-122"/>
                <a:ea typeface="楷体_GB2312" pitchFamily="49" charset="-122"/>
              </a:rPr>
              <a:t>   return </a:t>
            </a:r>
            <a:r>
              <a:rPr lang="en-US" altLang="zh-CN" dirty="0" err="1">
                <a:latin typeface="楷体_GB2312" pitchFamily="49" charset="-122"/>
                <a:ea typeface="楷体_GB2312" pitchFamily="49" charset="-122"/>
              </a:rPr>
              <a:t>vol</a:t>
            </a:r>
            <a:r>
              <a:rPr lang="en-US" altLang="zh-CN" dirty="0">
                <a:latin typeface="楷体_GB2312" pitchFamily="49" charset="-122"/>
                <a:ea typeface="楷体_GB2312" pitchFamily="49" charset="-122"/>
              </a:rPr>
              <a:t>;</a:t>
            </a:r>
          </a:p>
          <a:p>
            <a:pPr marL="0" indent="0" algn="l" eaLnBrk="1" hangingPunct="1">
              <a:buFont typeface="Wingdings" pitchFamily="2" charset="2"/>
              <a:buNone/>
            </a:pPr>
            <a:r>
              <a:rPr lang="en-US" altLang="zh-CN" dirty="0">
                <a:latin typeface="楷体_GB2312" pitchFamily="49" charset="-122"/>
                <a:ea typeface="楷体_GB2312" pitchFamily="49" charset="-122"/>
              </a:rPr>
              <a:t>}</a:t>
            </a:r>
          </a:p>
          <a:p>
            <a:pPr algn="l"/>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7618">
                                            <p:txEl>
                                              <p:pRg st="2" end="2"/>
                                            </p:txEl>
                                          </p:spTgt>
                                        </p:tgtEl>
                                        <p:attrNameLst>
                                          <p:attrName>style.visibility</p:attrName>
                                        </p:attrNameLst>
                                      </p:cBhvr>
                                      <p:to>
                                        <p:strVal val="visible"/>
                                      </p:to>
                                    </p:set>
                                    <p:anim calcmode="lin" valueType="num">
                                      <p:cBhvr additive="base">
                                        <p:cTn id="19" dur="500" fill="hold"/>
                                        <p:tgtEl>
                                          <p:spTgt spid="3676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761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468313" y="260350"/>
            <a:ext cx="8447087" cy="609600"/>
          </a:xfrm>
        </p:spPr>
        <p:txBody>
          <a:bodyPr>
            <a:normAutofit fontScale="90000"/>
          </a:bodyPr>
          <a:lstStyle/>
          <a:p>
            <a:pPr eaLnBrk="1" fontAlgn="auto" hangingPunct="1">
              <a:spcAft>
                <a:spcPts val="0"/>
              </a:spcAft>
              <a:defRPr/>
            </a:pPr>
            <a:r>
              <a:rPr lang="en-US" altLang="zh-CN" sz="4200">
                <a:solidFill>
                  <a:schemeClr val="tx1"/>
                </a:solidFill>
                <a:latin typeface="黑体" pitchFamily="2" charset="-122"/>
                <a:ea typeface="黑体" pitchFamily="2" charset="-122"/>
              </a:rPr>
              <a:t>5.2  </a:t>
            </a:r>
            <a:r>
              <a:rPr lang="zh-CN" altLang="en-US" sz="4200">
                <a:solidFill>
                  <a:schemeClr val="tx1"/>
                </a:solidFill>
                <a:latin typeface="黑体" pitchFamily="2" charset="-122"/>
                <a:ea typeface="黑体" pitchFamily="2" charset="-122"/>
              </a:rPr>
              <a:t>库函数的使用</a:t>
            </a:r>
            <a:r>
              <a:rPr lang="zh-CN" altLang="en-US">
                <a:solidFill>
                  <a:schemeClr val="tx1"/>
                </a:solidFill>
                <a:latin typeface="黑体" pitchFamily="2" charset="-122"/>
                <a:ea typeface="黑体" pitchFamily="2" charset="-122"/>
              </a:rPr>
              <a:t>方法 </a:t>
            </a:r>
          </a:p>
        </p:txBody>
      </p:sp>
      <p:sp>
        <p:nvSpPr>
          <p:cNvPr id="343043" name="Rectangle 3"/>
          <p:cNvSpPr>
            <a:spLocks noGrp="1" noChangeArrowheads="1"/>
          </p:cNvSpPr>
          <p:nvPr>
            <p:ph idx="1"/>
          </p:nvPr>
        </p:nvSpPr>
        <p:spPr>
          <a:xfrm>
            <a:off x="323850" y="981075"/>
            <a:ext cx="8497888" cy="5576888"/>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每类库函数都定义了自己专用的常量、符号、数据类型、函数接口等，这些信息都在它们专用的头文件</a:t>
            </a:r>
            <a:r>
              <a:rPr lang="en-US" altLang="zh-CN" b="1" dirty="0">
                <a:effectLst>
                  <a:outerShdw blurRad="38100" dist="38100" dir="2700000" algn="tl">
                    <a:srgbClr val="C0C0C0"/>
                  </a:outerShdw>
                </a:effectLst>
                <a:latin typeface="楷体_GB2312" pitchFamily="49" charset="-122"/>
                <a:ea typeface="楷体_GB2312" pitchFamily="49" charset="-122"/>
              </a:rPr>
              <a:t>(</a:t>
            </a:r>
            <a:r>
              <a:rPr lang="en-US" altLang="zh-CN" b="1" dirty="0" err="1">
                <a:effectLst>
                  <a:outerShdw blurRad="38100" dist="38100" dir="2700000" algn="tl">
                    <a:srgbClr val="C0C0C0"/>
                  </a:outerShdw>
                </a:effectLst>
                <a:latin typeface="楷体_GB2312" pitchFamily="49" charset="-122"/>
                <a:ea typeface="楷体_GB2312" pitchFamily="49" charset="-122"/>
              </a:rPr>
              <a:t>xxx.h</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中被定义。用户如果要使用相应库函数，只需在程序中包含某个头文件的预处理命令，就可以直接使用头文件中定义的函数。</a:t>
            </a:r>
          </a:p>
          <a:p>
            <a:pPr marL="0" indent="0" eaLnBrk="1" fontAlgn="auto" hangingPunct="1">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例如，使用字符分类和转换处理库函数的程序要在程序开始位置写上以下的预处理命令：</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#include  &lt;</a:t>
            </a:r>
            <a:r>
              <a:rPr lang="en-US" altLang="zh-CN" b="1" dirty="0" err="1">
                <a:effectLst>
                  <a:outerShdw blurRad="38100" dist="38100" dir="2700000" algn="tl">
                    <a:srgbClr val="C0C0C0"/>
                  </a:outerShdw>
                </a:effectLst>
                <a:latin typeface="楷体_GB2312" pitchFamily="49" charset="-122"/>
                <a:ea typeface="楷体_GB2312" pitchFamily="49" charset="-122"/>
              </a:rPr>
              <a:t>ctype.h</a:t>
            </a:r>
            <a:r>
              <a:rPr lang="en-US" altLang="zh-CN" b="1" dirty="0">
                <a:effectLst>
                  <a:outerShdw blurRad="38100" dist="38100" dir="2700000" algn="tl">
                    <a:srgbClr val="C0C0C0"/>
                  </a:outerShdw>
                </a:effectLst>
                <a:latin typeface="楷体_GB2312" pitchFamily="49" charset="-122"/>
                <a:ea typeface="楷体_GB2312" pitchFamily="49" charset="-122"/>
              </a:rPr>
              <a:t>&gt;</a:t>
            </a:r>
          </a:p>
          <a:p>
            <a:pPr marL="0" indent="0" eaLnBrk="1" fontAlgn="auto" hangingPunct="1">
              <a:spcAft>
                <a:spcPts val="0"/>
              </a:spcAft>
              <a:buClr>
                <a:schemeClr val="accent3"/>
              </a:buClr>
              <a:buFont typeface="Wingdings" pitchFamily="2" charset="2"/>
              <a:buNone/>
              <a:defRPr/>
            </a:pPr>
            <a:r>
              <a:rPr lang="en-US" altLang="zh-CN" dirty="0" err="1"/>
              <a:t>int</a:t>
            </a:r>
            <a:r>
              <a:rPr lang="en-US" altLang="zh-CN" dirty="0"/>
              <a:t> </a:t>
            </a:r>
            <a:r>
              <a:rPr lang="en-US" altLang="zh-CN" dirty="0" err="1"/>
              <a:t>isdigit</a:t>
            </a:r>
            <a:r>
              <a:rPr lang="en-US" altLang="zh-CN" dirty="0"/>
              <a:t>(</a:t>
            </a:r>
            <a:r>
              <a:rPr lang="en-US" altLang="zh-CN" dirty="0" err="1"/>
              <a:t>int</a:t>
            </a:r>
            <a:r>
              <a:rPr lang="en-US" altLang="zh-CN" dirty="0"/>
              <a:t> c); figure (0-9) </a:t>
            </a:r>
          </a:p>
          <a:p>
            <a:pPr marL="0" indent="0" eaLnBrk="1" fontAlgn="auto" hangingPunct="1">
              <a:spcAft>
                <a:spcPts val="0"/>
              </a:spcAft>
              <a:buClr>
                <a:schemeClr val="accent3"/>
              </a:buClr>
              <a:buFont typeface="Wingdings" pitchFamily="2" charset="2"/>
              <a:buNone/>
              <a:defRPr/>
            </a:pPr>
            <a:r>
              <a:rPr lang="en-US" altLang="zh-CN" dirty="0" err="1"/>
              <a:t>int</a:t>
            </a:r>
            <a:r>
              <a:rPr lang="en-US" altLang="zh-CN" dirty="0"/>
              <a:t> </a:t>
            </a:r>
            <a:r>
              <a:rPr lang="en-US" altLang="zh-CN" dirty="0" err="1"/>
              <a:t>isalpha</a:t>
            </a:r>
            <a:r>
              <a:rPr lang="en-US" altLang="zh-CN" dirty="0"/>
              <a:t>(</a:t>
            </a:r>
            <a:r>
              <a:rPr lang="en-US" altLang="zh-CN" dirty="0" err="1"/>
              <a:t>int</a:t>
            </a:r>
            <a:r>
              <a:rPr lang="en-US" altLang="zh-CN" dirty="0"/>
              <a:t> c); letter (A-Z or a-z)</a:t>
            </a:r>
          </a:p>
          <a:p>
            <a:pPr marL="0" indent="0" eaLnBrk="1" fontAlgn="auto" hangingPunct="1">
              <a:spcAft>
                <a:spcPts val="0"/>
              </a:spcAft>
              <a:buClr>
                <a:schemeClr val="accent3"/>
              </a:buClr>
              <a:buFont typeface="Wingdings" pitchFamily="2" charset="2"/>
              <a:buNone/>
              <a:defRPr/>
            </a:pPr>
            <a:r>
              <a:rPr lang="en-US" altLang="zh-CN" dirty="0" err="1"/>
              <a:t>int</a:t>
            </a:r>
            <a:r>
              <a:rPr lang="en-US" altLang="zh-CN" dirty="0"/>
              <a:t> </a:t>
            </a:r>
            <a:r>
              <a:rPr lang="en-US" altLang="zh-CN" dirty="0" err="1"/>
              <a:t>isupper</a:t>
            </a:r>
            <a:r>
              <a:rPr lang="en-US" altLang="zh-CN" dirty="0"/>
              <a:t>(</a:t>
            </a:r>
            <a:r>
              <a:rPr lang="en-US" altLang="zh-CN" dirty="0" err="1"/>
              <a:t>int</a:t>
            </a:r>
            <a:r>
              <a:rPr lang="en-US" altLang="zh-CN" dirty="0"/>
              <a:t> c); letter (A-Z) </a:t>
            </a:r>
            <a:endParaRPr lang="en-US" altLang="zh-CN" b="1" dirty="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5EAEA336-E2A0-4BCE-9A51-82F16CED55DB}" type="slidenum">
              <a:rPr lang="en-US" altLang="zh-CN"/>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3043">
                                            <p:txEl>
                                              <p:pRg st="2" end="2"/>
                                            </p:txEl>
                                          </p:spTgt>
                                        </p:tgtEl>
                                        <p:attrNameLst>
                                          <p:attrName>style.visibility</p:attrName>
                                        </p:attrNameLst>
                                      </p:cBhvr>
                                      <p:to>
                                        <p:strVal val="visible"/>
                                      </p:to>
                                    </p:set>
                                    <p:anim calcmode="lin" valueType="num">
                                      <p:cBhvr additive="base">
                                        <p:cTn id="7" dur="500" fill="hold"/>
                                        <p:tgtEl>
                                          <p:spTgt spid="34304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304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3043">
                                            <p:txEl>
                                              <p:pRg st="3" end="3"/>
                                            </p:txEl>
                                          </p:spTgt>
                                        </p:tgtEl>
                                        <p:attrNameLst>
                                          <p:attrName>style.visibility</p:attrName>
                                        </p:attrNameLst>
                                      </p:cBhvr>
                                      <p:to>
                                        <p:strVal val="visible"/>
                                      </p:to>
                                    </p:set>
                                    <p:anim calcmode="lin" valueType="num">
                                      <p:cBhvr additive="base">
                                        <p:cTn id="11" dur="500" fill="hold"/>
                                        <p:tgtEl>
                                          <p:spTgt spid="34304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30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43043">
                                            <p:txEl>
                                              <p:pRg st="4" end="4"/>
                                            </p:txEl>
                                          </p:spTgt>
                                        </p:tgtEl>
                                        <p:attrNameLst>
                                          <p:attrName>style.visibility</p:attrName>
                                        </p:attrNameLst>
                                      </p:cBhvr>
                                      <p:to>
                                        <p:strVal val="visible"/>
                                      </p:to>
                                    </p:set>
                                    <p:anim calcmode="lin" valueType="num">
                                      <p:cBhvr additive="base">
                                        <p:cTn id="17" dur="500" fill="hold"/>
                                        <p:tgtEl>
                                          <p:spTgt spid="34304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4304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43043">
                                            <p:txEl>
                                              <p:pRg st="5" end="5"/>
                                            </p:txEl>
                                          </p:spTgt>
                                        </p:tgtEl>
                                        <p:attrNameLst>
                                          <p:attrName>style.visibility</p:attrName>
                                        </p:attrNameLst>
                                      </p:cBhvr>
                                      <p:to>
                                        <p:strVal val="visible"/>
                                      </p:to>
                                    </p:set>
                                    <p:anim calcmode="lin" valueType="num">
                                      <p:cBhvr additive="base">
                                        <p:cTn id="21" dur="500" fill="hold"/>
                                        <p:tgtEl>
                                          <p:spTgt spid="34304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4304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43043">
                                            <p:txEl>
                                              <p:pRg st="6" end="6"/>
                                            </p:txEl>
                                          </p:spTgt>
                                        </p:tgtEl>
                                        <p:attrNameLst>
                                          <p:attrName>style.visibility</p:attrName>
                                        </p:attrNameLst>
                                      </p:cBhvr>
                                      <p:to>
                                        <p:strVal val="visible"/>
                                      </p:to>
                                    </p:set>
                                    <p:anim calcmode="lin" valueType="num">
                                      <p:cBhvr additive="base">
                                        <p:cTn id="25" dur="500" fill="hold"/>
                                        <p:tgtEl>
                                          <p:spTgt spid="34304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430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3" name="Rectangle 3"/>
          <p:cNvSpPr>
            <a:spLocks noGrp="1" noChangeArrowheads="1"/>
          </p:cNvSpPr>
          <p:nvPr>
            <p:ph idx="1"/>
          </p:nvPr>
        </p:nvSpPr>
        <p:spPr>
          <a:xfrm>
            <a:off x="323850" y="981075"/>
            <a:ext cx="8497888" cy="5576888"/>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b="1">
                <a:solidFill>
                  <a:srgbClr val="660033"/>
                </a:solidFill>
                <a:effectLst>
                  <a:outerShdw blurRad="38100" dist="38100" dir="2700000" algn="tl">
                    <a:srgbClr val="C0C0C0"/>
                  </a:outerShdw>
                </a:effectLst>
                <a:latin typeface="楷体_GB2312" pitchFamily="49" charset="-122"/>
                <a:ea typeface="楷体_GB2312" pitchFamily="49" charset="-122"/>
              </a:rPr>
              <a:t>以下是</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常用的头文件：</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stdio.h</a:t>
            </a:r>
            <a:r>
              <a:rPr lang="en-US" altLang="zh-CN" b="1">
                <a:effectLst>
                  <a:outerShdw blurRad="38100" dist="38100" dir="2700000" algn="tl">
                    <a:srgbClr val="C0C0C0"/>
                  </a:outerShdw>
                </a:effectLst>
                <a:latin typeface="楷体_GB2312" pitchFamily="49" charset="-122"/>
                <a:ea typeface="楷体_GB2312" pitchFamily="49" charset="-122"/>
              </a:rPr>
              <a:t> </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输入输出库函数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math.h</a:t>
            </a:r>
            <a:r>
              <a:rPr lang="zh-CN" altLang="en-US" b="1">
                <a:solidFill>
                  <a:srgbClr val="CC66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stdlib.h</a:t>
            </a:r>
            <a:r>
              <a:rPr lang="zh-CN" altLang="en-US" b="1">
                <a:solidFill>
                  <a:srgbClr val="CC66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float.h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数学库函数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time.h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时间库函数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ctype.h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字符分类和转换库函数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string.h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内存缓冲区和字符串处理库函数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malloc.h</a:t>
            </a:r>
            <a:r>
              <a:rPr lang="zh-CN" altLang="en-US" b="1">
                <a:solidFill>
                  <a:srgbClr val="CC66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stdlib.h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内存动态分配库函数</a:t>
            </a:r>
          </a:p>
          <a:p>
            <a:pPr marL="0" indent="0" algn="just" eaLnBrk="1" fontAlgn="auto" hangingPunct="1">
              <a:spcAft>
                <a:spcPts val="0"/>
              </a:spcAft>
              <a:buClr>
                <a:schemeClr val="accent3"/>
              </a:buClr>
              <a:buFont typeface="Wingdings" pitchFamily="2" charset="2"/>
              <a:buAutoNum type="arabicPeriod"/>
              <a:defRPr/>
            </a:pP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signal.h</a:t>
            </a:r>
            <a:r>
              <a:rPr lang="zh-CN" altLang="en-US" b="1">
                <a:solidFill>
                  <a:srgbClr val="CC6600"/>
                </a:solidFill>
                <a:effectLst>
                  <a:outerShdw blurRad="38100" dist="38100" dir="2700000" algn="tl">
                    <a:srgbClr val="C0C0C0"/>
                  </a:outerShdw>
                </a:effectLst>
                <a:latin typeface="楷体_GB2312" pitchFamily="49" charset="-122"/>
                <a:ea typeface="楷体_GB2312" pitchFamily="49" charset="-122"/>
              </a:rPr>
              <a:t>、</a:t>
            </a:r>
            <a:r>
              <a:rPr lang="en-US" altLang="zh-CN" b="1">
                <a:solidFill>
                  <a:srgbClr val="CC6600"/>
                </a:solidFill>
                <a:effectLst>
                  <a:outerShdw blurRad="38100" dist="38100" dir="2700000" algn="tl">
                    <a:srgbClr val="C0C0C0"/>
                  </a:outerShdw>
                </a:effectLst>
                <a:latin typeface="楷体_GB2312" pitchFamily="49" charset="-122"/>
                <a:ea typeface="楷体_GB2312" pitchFamily="49" charset="-122"/>
              </a:rPr>
              <a:t>process.h</a:t>
            </a:r>
            <a:r>
              <a:rPr lang="en-US" altLang="zh-CN" b="1">
                <a:solidFill>
                  <a:srgbClr val="0000CC"/>
                </a:solidFill>
                <a:effectLst>
                  <a:outerShdw blurRad="38100" dist="38100" dir="2700000" algn="tl">
                    <a:srgbClr val="C0C0C0"/>
                  </a:outerShdw>
                </a:effectLst>
                <a:latin typeface="楷体_GB2312" pitchFamily="49" charset="-122"/>
                <a:ea typeface="楷体_GB2312" pitchFamily="49" charset="-122"/>
              </a:rPr>
              <a:t>  </a:t>
            </a:r>
            <a:r>
              <a:rPr lang="zh-CN" altLang="en-US" b="1">
                <a:solidFill>
                  <a:srgbClr val="0000CC"/>
                </a:solidFill>
                <a:effectLst>
                  <a:outerShdw blurRad="38100" dist="38100" dir="2700000" algn="tl">
                    <a:srgbClr val="C0C0C0"/>
                  </a:outerShdw>
                </a:effectLst>
                <a:latin typeface="楷体_GB2312" pitchFamily="49" charset="-122"/>
                <a:ea typeface="楷体_GB2312" pitchFamily="49" charset="-122"/>
              </a:rPr>
              <a:t>进程控制库函数</a:t>
            </a:r>
          </a:p>
        </p:txBody>
      </p:sp>
      <p:sp>
        <p:nvSpPr>
          <p:cNvPr id="5" name="灯片编号占位符 5"/>
          <p:cNvSpPr>
            <a:spLocks noGrp="1"/>
          </p:cNvSpPr>
          <p:nvPr>
            <p:ph type="sldNum" sz="quarter" idx="12"/>
          </p:nvPr>
        </p:nvSpPr>
        <p:spPr/>
        <p:txBody>
          <a:bodyPr/>
          <a:lstStyle/>
          <a:p>
            <a:pPr>
              <a:defRPr/>
            </a:pPr>
            <a:fld id="{FC1F60C5-DF47-4472-B7C6-52ECCA4EBF68}" type="slidenum">
              <a:rPr lang="en-US" altLang="zh-CN"/>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228600" y="476250"/>
            <a:ext cx="8686800" cy="6153150"/>
          </a:xfrm>
        </p:spPr>
        <p:txBody>
          <a:bodyPr/>
          <a:lstStyle/>
          <a:p>
            <a:pPr marL="0" indent="0" eaLnBrk="1" hangingPunct="1">
              <a:buFont typeface="Wingdings" pitchFamily="2" charset="2"/>
              <a:buNone/>
            </a:pPr>
            <a:r>
              <a:rPr lang="en-US" altLang="zh-CN" sz="3200" b="1">
                <a:latin typeface="黑体" pitchFamily="2" charset="-122"/>
              </a:rPr>
              <a:t>【</a:t>
            </a:r>
            <a:r>
              <a:rPr lang="zh-CN" altLang="en-US" sz="3200" b="1">
                <a:latin typeface="黑体" pitchFamily="2" charset="-122"/>
              </a:rPr>
              <a:t>例</a:t>
            </a:r>
            <a:r>
              <a:rPr lang="en-US" altLang="zh-CN" sz="3200" b="1">
                <a:latin typeface="黑体" pitchFamily="2" charset="-122"/>
              </a:rPr>
              <a:t>5.2】</a:t>
            </a:r>
            <a:r>
              <a:rPr lang="zh-CN" altLang="en-US" sz="3200" b="1">
                <a:latin typeface="黑体" pitchFamily="2" charset="-122"/>
              </a:rPr>
              <a:t>产生</a:t>
            </a:r>
            <a:r>
              <a:rPr lang="en-US" altLang="zh-CN" sz="3200" b="1">
                <a:latin typeface="黑体" pitchFamily="2" charset="-122"/>
              </a:rPr>
              <a:t>10</a:t>
            </a:r>
            <a:r>
              <a:rPr lang="zh-CN" altLang="en-US" sz="3200" b="1">
                <a:latin typeface="黑体" pitchFamily="2" charset="-122"/>
              </a:rPr>
              <a:t>个</a:t>
            </a:r>
            <a:r>
              <a:rPr lang="en-US" altLang="zh-CN" sz="3200" b="1">
                <a:latin typeface="黑体" pitchFamily="2" charset="-122"/>
              </a:rPr>
              <a:t>0</a:t>
            </a:r>
            <a:r>
              <a:rPr lang="zh-CN" altLang="en-US" sz="3200" b="1">
                <a:latin typeface="黑体" pitchFamily="2" charset="-122"/>
              </a:rPr>
              <a:t>～</a:t>
            </a:r>
            <a:r>
              <a:rPr lang="en-US" altLang="zh-CN" sz="3200" b="1">
                <a:latin typeface="黑体" pitchFamily="2" charset="-122"/>
              </a:rPr>
              <a:t>100</a:t>
            </a:r>
            <a:r>
              <a:rPr lang="zh-CN" altLang="en-US" sz="3200" b="1">
                <a:latin typeface="黑体" pitchFamily="2" charset="-122"/>
              </a:rPr>
              <a:t>之间的随机数。</a:t>
            </a:r>
          </a:p>
          <a:p>
            <a:pPr marL="0" indent="0" eaLnBrk="1" hangingPunct="1">
              <a:buFont typeface="Wingdings" pitchFamily="2" charset="2"/>
              <a:buNone/>
            </a:pPr>
            <a:r>
              <a:rPr lang="zh-CN" altLang="en-US" sz="2400" b="1">
                <a:latin typeface="楷体_GB2312" pitchFamily="49" charset="-122"/>
                <a:ea typeface="楷体_GB2312" pitchFamily="49" charset="-122"/>
              </a:rPr>
              <a:t>    </a:t>
            </a:r>
            <a:r>
              <a:rPr lang="en-US" altLang="zh-CN" sz="2400" b="1">
                <a:latin typeface="楷体_GB2312" pitchFamily="49" charset="-122"/>
                <a:ea typeface="楷体_GB2312" pitchFamily="49" charset="-122"/>
              </a:rPr>
              <a:t>#include &lt;stdio.h&gt;  /* </a:t>
            </a:r>
            <a:r>
              <a:rPr lang="zh-CN" altLang="en-US" sz="2400" b="1">
                <a:latin typeface="楷体_GB2312" pitchFamily="49" charset="-122"/>
                <a:ea typeface="楷体_GB2312" pitchFamily="49" charset="-122"/>
              </a:rPr>
              <a:t>输入输出库函数的头文件 *</a:t>
            </a: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#include &lt;time.h&gt;   /* </a:t>
            </a:r>
            <a:r>
              <a:rPr lang="zh-CN" altLang="en-US" sz="2400" b="1">
                <a:latin typeface="楷体_GB2312" pitchFamily="49" charset="-122"/>
                <a:ea typeface="楷体_GB2312" pitchFamily="49" charset="-122"/>
              </a:rPr>
              <a:t>时间库函数的头文件 *</a:t>
            </a: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#include &lt;stdlib.h&gt; </a:t>
            </a:r>
            <a:r>
              <a:rPr lang="en-US" altLang="zh-CN" sz="1800" b="1">
                <a:latin typeface="楷体_GB2312" pitchFamily="49" charset="-122"/>
                <a:ea typeface="楷体_GB2312" pitchFamily="49" charset="-122"/>
              </a:rPr>
              <a:t>/* </a:t>
            </a:r>
            <a:r>
              <a:rPr lang="zh-CN" altLang="en-US" sz="1800" b="1">
                <a:latin typeface="楷体_GB2312" pitchFamily="49" charset="-122"/>
                <a:ea typeface="楷体_GB2312" pitchFamily="49" charset="-122"/>
              </a:rPr>
              <a:t>数学或内存分配库函数的头文件 *</a:t>
            </a:r>
            <a:r>
              <a:rPr lang="en-US" altLang="zh-CN" sz="18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int main()</a:t>
            </a:r>
          </a:p>
          <a:p>
            <a:pPr marL="0" indent="0" eaLnBrk="1" hangingPunct="1">
              <a:buFont typeface="Wingdings" pitchFamily="2" charset="2"/>
              <a:buNone/>
            </a:pPr>
            <a:r>
              <a:rPr lang="en-US" altLang="zh-CN" sz="2400" b="1">
                <a:latin typeface="楷体_GB2312" pitchFamily="49" charset="-122"/>
                <a:ea typeface="楷体_GB2312" pitchFamily="49" charset="-122"/>
              </a:rPr>
              <a:t>    { int k; long now;</a:t>
            </a:r>
          </a:p>
          <a:p>
            <a:pPr marL="0" indent="0" eaLnBrk="1" hangingPunct="1">
              <a:buFont typeface="Wingdings" pitchFamily="2" charset="2"/>
              <a:buNone/>
            </a:pPr>
            <a:r>
              <a:rPr lang="en-US" altLang="zh-CN" sz="2400" b="1">
                <a:latin typeface="楷体_GB2312" pitchFamily="49" charset="-122"/>
                <a:ea typeface="楷体_GB2312" pitchFamily="49" charset="-122"/>
              </a:rPr>
              <a:t>      srand(time(&amp;now)); /* </a:t>
            </a:r>
            <a:r>
              <a:rPr lang="zh-CN" altLang="en-US" sz="2400" b="1">
                <a:latin typeface="楷体_GB2312" pitchFamily="49" charset="-122"/>
                <a:ea typeface="楷体_GB2312" pitchFamily="49" charset="-122"/>
              </a:rPr>
              <a:t>用时间初始化随机数发生函数的初态，使初态总不相同 *</a:t>
            </a: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for(k = 0; k &lt; 10; k++) </a:t>
            </a:r>
          </a:p>
          <a:p>
            <a:pPr marL="0" indent="0" eaLnBrk="1" hangingPunct="1">
              <a:buFont typeface="Wingdings" pitchFamily="2" charset="2"/>
              <a:buNone/>
            </a:pPr>
            <a:r>
              <a:rPr lang="en-US" altLang="zh-CN" sz="2400" b="1">
                <a:latin typeface="楷体_GB2312" pitchFamily="49" charset="-122"/>
                <a:ea typeface="楷体_GB2312" pitchFamily="49" charset="-122"/>
              </a:rPr>
              <a:t>       /* </a:t>
            </a:r>
            <a:r>
              <a:rPr lang="zh-CN" altLang="en-US" sz="2400" b="1">
                <a:latin typeface="楷体_GB2312" pitchFamily="49" charset="-122"/>
                <a:ea typeface="楷体_GB2312" pitchFamily="49" charset="-122"/>
              </a:rPr>
              <a:t>产生</a:t>
            </a:r>
            <a:r>
              <a:rPr lang="en-US" altLang="zh-CN" sz="2400" b="1">
                <a:latin typeface="楷体_GB2312" pitchFamily="49" charset="-122"/>
                <a:ea typeface="楷体_GB2312" pitchFamily="49" charset="-122"/>
              </a:rPr>
              <a:t>10</a:t>
            </a:r>
            <a:r>
              <a:rPr lang="zh-CN" altLang="en-US" sz="2400" b="1">
                <a:latin typeface="楷体_GB2312" pitchFamily="49" charset="-122"/>
                <a:ea typeface="楷体_GB2312" pitchFamily="49" charset="-122"/>
              </a:rPr>
              <a:t>个</a:t>
            </a:r>
            <a:r>
              <a:rPr lang="en-US" altLang="zh-CN" sz="2400" b="1">
                <a:latin typeface="楷体_GB2312" pitchFamily="49" charset="-122"/>
                <a:ea typeface="楷体_GB2312" pitchFamily="49" charset="-122"/>
              </a:rPr>
              <a:t>100</a:t>
            </a:r>
            <a:r>
              <a:rPr lang="zh-CN" altLang="en-US" sz="2400" b="1">
                <a:latin typeface="楷体_GB2312" pitchFamily="49" charset="-122"/>
                <a:ea typeface="楷体_GB2312" pitchFamily="49" charset="-122"/>
              </a:rPr>
              <a:t>以内的随机数 *</a:t>
            </a: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printf("%d\n", rand()%100); </a:t>
            </a:r>
            <a:r>
              <a:rPr lang="en-US" altLang="zh-CN" sz="1800" b="1">
                <a:solidFill>
                  <a:srgbClr val="0000FF"/>
                </a:solidFill>
                <a:latin typeface="楷体_GB2312" pitchFamily="49" charset="-122"/>
                <a:ea typeface="楷体_GB2312" pitchFamily="49" charset="-122"/>
              </a:rPr>
              <a:t>/* </a:t>
            </a:r>
            <a:r>
              <a:rPr lang="zh-CN" altLang="en-US" sz="1800" b="1">
                <a:solidFill>
                  <a:srgbClr val="0000FF"/>
                </a:solidFill>
                <a:latin typeface="楷体_GB2312" pitchFamily="49" charset="-122"/>
                <a:ea typeface="楷体_GB2312" pitchFamily="49" charset="-122"/>
              </a:rPr>
              <a:t>调用随机函数 *</a:t>
            </a:r>
            <a:r>
              <a:rPr lang="en-US" altLang="zh-CN" sz="1800" b="1">
                <a:solidFill>
                  <a:srgbClr val="0000FF"/>
                </a:solidFill>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      return 0;</a:t>
            </a:r>
          </a:p>
          <a:p>
            <a:pPr marL="0" indent="0" eaLnBrk="1" hangingPunct="1">
              <a:buFont typeface="Wingdings" pitchFamily="2" charset="2"/>
              <a:buNone/>
            </a:pPr>
            <a:r>
              <a:rPr lang="en-US" altLang="zh-CN" sz="2400" b="1">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BC291046-FB52-4C9C-A782-244A0A6DB68E}" type="slidenum">
              <a:rPr lang="en-US" altLang="zh-CN"/>
              <a:pPr>
                <a:defRPr/>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idx="1"/>
          </p:nvPr>
        </p:nvSpPr>
        <p:spPr>
          <a:xfrm>
            <a:off x="228600" y="476250"/>
            <a:ext cx="8686800" cy="6153150"/>
          </a:xfrm>
        </p:spPr>
        <p:txBody>
          <a:bodyPr>
            <a:noAutofit/>
          </a:bodyPr>
          <a:lstStyle/>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a:t>
            </a:r>
            <a:r>
              <a:rPr lang="zh-CN" altLang="en-US" sz="3200" b="1" dirty="0">
                <a:effectLst>
                  <a:outerShdw blurRad="38100" dist="38100" dir="2700000" algn="tl">
                    <a:srgbClr val="C0C0C0"/>
                  </a:outerShdw>
                </a:effectLst>
                <a:latin typeface="楷体_GB2312" pitchFamily="49" charset="-122"/>
                <a:ea typeface="楷体_GB2312" pitchFamily="49" charset="-122"/>
              </a:rPr>
              <a:t>程序说明</a:t>
            </a:r>
            <a:r>
              <a:rPr lang="en-US" altLang="zh-CN" sz="32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rand()</a:t>
            </a:r>
            <a:r>
              <a:rPr lang="zh-CN" altLang="en-US" sz="3200" b="1" dirty="0">
                <a:effectLst>
                  <a:outerShdw blurRad="38100" dist="38100" dir="2700000" algn="tl">
                    <a:srgbClr val="C0C0C0"/>
                  </a:outerShdw>
                </a:effectLst>
                <a:latin typeface="楷体_GB2312" pitchFamily="49" charset="-122"/>
                <a:ea typeface="楷体_GB2312" pitchFamily="49" charset="-122"/>
              </a:rPr>
              <a:t>函数产生一个</a:t>
            </a:r>
            <a:r>
              <a:rPr lang="en-US" altLang="zh-CN" sz="3200" b="1" dirty="0">
                <a:effectLst>
                  <a:outerShdw blurRad="38100" dist="38100" dir="2700000" algn="tl">
                    <a:srgbClr val="C0C0C0"/>
                  </a:outerShdw>
                </a:effectLst>
                <a:latin typeface="楷体_GB2312" pitchFamily="49" charset="-122"/>
                <a:ea typeface="楷体_GB2312" pitchFamily="49" charset="-122"/>
              </a:rPr>
              <a:t>0</a:t>
            </a:r>
            <a:r>
              <a:rPr lang="zh-CN" altLang="en-US" sz="3200" b="1" dirty="0">
                <a:effectLst>
                  <a:outerShdw blurRad="38100" dist="38100" dir="2700000" algn="tl">
                    <a:srgbClr val="C0C0C0"/>
                  </a:outerShdw>
                </a:effectLst>
                <a:latin typeface="楷体_GB2312" pitchFamily="49" charset="-122"/>
                <a:ea typeface="楷体_GB2312" pitchFamily="49" charset="-122"/>
              </a:rPr>
              <a:t>～</a:t>
            </a:r>
            <a:r>
              <a:rPr lang="en-US" altLang="zh-CN" sz="3200" b="1" dirty="0">
                <a:effectLst>
                  <a:outerShdw blurRad="38100" dist="38100" dir="2700000" algn="tl">
                    <a:srgbClr val="C0C0C0"/>
                  </a:outerShdw>
                </a:effectLst>
                <a:latin typeface="楷体_GB2312" pitchFamily="49" charset="-122"/>
                <a:ea typeface="楷体_GB2312" pitchFamily="49" charset="-122"/>
              </a:rPr>
              <a:t>32767</a:t>
            </a:r>
            <a:r>
              <a:rPr lang="zh-CN" altLang="en-US" sz="3200" b="1" dirty="0">
                <a:effectLst>
                  <a:outerShdw blurRad="38100" dist="38100" dir="2700000" algn="tl">
                    <a:srgbClr val="C0C0C0"/>
                  </a:outerShdw>
                </a:effectLst>
                <a:latin typeface="楷体_GB2312" pitchFamily="49" charset="-122"/>
                <a:ea typeface="楷体_GB2312" pitchFamily="49" charset="-122"/>
              </a:rPr>
              <a:t>之间的随机数；</a:t>
            </a:r>
          </a:p>
          <a:p>
            <a:pPr marL="0" indent="0" eaLnBrk="1" fontAlgn="auto" hangingPunct="1">
              <a:spcAft>
                <a:spcPts val="0"/>
              </a:spcAft>
              <a:buClr>
                <a:schemeClr val="accent3"/>
              </a:buClr>
              <a:buFont typeface="Wingdings" pitchFamily="2" charset="2"/>
              <a:buNone/>
              <a:defRPr/>
            </a:pPr>
            <a:r>
              <a:rPr lang="en-US" altLang="zh-CN" sz="3200" b="1" dirty="0">
                <a:effectLst>
                  <a:outerShdw blurRad="38100" dist="38100" dir="2700000" algn="tl">
                    <a:srgbClr val="C0C0C0"/>
                  </a:outerShdw>
                </a:effectLst>
                <a:latin typeface="楷体_GB2312" pitchFamily="49" charset="-122"/>
                <a:ea typeface="楷体_GB2312" pitchFamily="49" charset="-122"/>
              </a:rPr>
              <a:t>time()</a:t>
            </a:r>
            <a:r>
              <a:rPr lang="zh-CN" altLang="en-US" sz="3200" b="1" dirty="0">
                <a:effectLst>
                  <a:outerShdw blurRad="38100" dist="38100" dir="2700000" algn="tl">
                    <a:srgbClr val="C0C0C0"/>
                  </a:outerShdw>
                </a:effectLst>
                <a:latin typeface="楷体_GB2312" pitchFamily="49" charset="-122"/>
                <a:ea typeface="楷体_GB2312" pitchFamily="49" charset="-122"/>
              </a:rPr>
              <a:t>函数将从</a:t>
            </a:r>
            <a:r>
              <a:rPr lang="en-US" altLang="zh-CN" sz="3200" b="1" dirty="0">
                <a:effectLst>
                  <a:outerShdw blurRad="38100" dist="38100" dir="2700000" algn="tl">
                    <a:srgbClr val="C0C0C0"/>
                  </a:outerShdw>
                </a:effectLst>
                <a:latin typeface="楷体_GB2312" pitchFamily="49" charset="-122"/>
                <a:ea typeface="楷体_GB2312" pitchFamily="49" charset="-122"/>
              </a:rPr>
              <a:t>1970</a:t>
            </a:r>
            <a:r>
              <a:rPr lang="zh-CN" altLang="en-US" sz="3200" b="1" dirty="0">
                <a:effectLst>
                  <a:outerShdw blurRad="38100" dist="38100" dir="2700000" algn="tl">
                    <a:srgbClr val="C0C0C0"/>
                  </a:outerShdw>
                </a:effectLst>
                <a:latin typeface="楷体_GB2312" pitchFamily="49" charset="-122"/>
                <a:ea typeface="楷体_GB2312" pitchFamily="49" charset="-122"/>
              </a:rPr>
              <a:t>年</a:t>
            </a:r>
            <a:r>
              <a:rPr lang="en-US" altLang="zh-CN" sz="3200" b="1" dirty="0">
                <a:effectLst>
                  <a:outerShdw blurRad="38100" dist="38100" dir="2700000" algn="tl">
                    <a:srgbClr val="C0C0C0"/>
                  </a:outerShdw>
                </a:effectLst>
                <a:latin typeface="楷体_GB2312" pitchFamily="49" charset="-122"/>
                <a:ea typeface="楷体_GB2312" pitchFamily="49" charset="-122"/>
              </a:rPr>
              <a:t>1</a:t>
            </a:r>
            <a:r>
              <a:rPr lang="zh-CN" altLang="en-US" sz="3200" b="1" dirty="0">
                <a:effectLst>
                  <a:outerShdw blurRad="38100" dist="38100" dir="2700000" algn="tl">
                    <a:srgbClr val="C0C0C0"/>
                  </a:outerShdw>
                </a:effectLst>
                <a:latin typeface="楷体_GB2312" pitchFamily="49" charset="-122"/>
                <a:ea typeface="楷体_GB2312" pitchFamily="49" charset="-122"/>
              </a:rPr>
              <a:t>月</a:t>
            </a:r>
            <a:r>
              <a:rPr lang="en-US" altLang="zh-CN" sz="3200" b="1" dirty="0">
                <a:effectLst>
                  <a:outerShdw blurRad="38100" dist="38100" dir="2700000" algn="tl">
                    <a:srgbClr val="C0C0C0"/>
                  </a:outerShdw>
                </a:effectLst>
                <a:latin typeface="楷体_GB2312" pitchFamily="49" charset="-122"/>
                <a:ea typeface="楷体_GB2312" pitchFamily="49" charset="-122"/>
              </a:rPr>
              <a:t>1</a:t>
            </a:r>
            <a:r>
              <a:rPr lang="zh-CN" altLang="en-US" sz="3200" b="1" dirty="0">
                <a:effectLst>
                  <a:outerShdw blurRad="38100" dist="38100" dir="2700000" algn="tl">
                    <a:srgbClr val="C0C0C0"/>
                  </a:outerShdw>
                </a:effectLst>
                <a:latin typeface="楷体_GB2312" pitchFamily="49" charset="-122"/>
                <a:ea typeface="楷体_GB2312" pitchFamily="49" charset="-122"/>
              </a:rPr>
              <a:t>日</a:t>
            </a:r>
            <a:r>
              <a:rPr lang="en-US" altLang="zh-CN" sz="3200" b="1" dirty="0">
                <a:effectLst>
                  <a:outerShdw blurRad="38100" dist="38100" dir="2700000" algn="tl">
                    <a:srgbClr val="C0C0C0"/>
                  </a:outerShdw>
                </a:effectLst>
                <a:latin typeface="楷体_GB2312" pitchFamily="49" charset="-122"/>
                <a:ea typeface="楷体_GB2312" pitchFamily="49" charset="-122"/>
              </a:rPr>
              <a:t>00:00:00</a:t>
            </a:r>
            <a:r>
              <a:rPr lang="zh-CN" altLang="en-US" sz="3200" b="1" dirty="0">
                <a:effectLst>
                  <a:outerShdw blurRad="38100" dist="38100" dir="2700000" algn="tl">
                    <a:srgbClr val="C0C0C0"/>
                  </a:outerShdw>
                </a:effectLst>
                <a:latin typeface="楷体_GB2312" pitchFamily="49" charset="-122"/>
                <a:ea typeface="楷体_GB2312" pitchFamily="49" charset="-122"/>
              </a:rPr>
              <a:t>到当前时间所经过的秒数存储到实参指向的变量；</a:t>
            </a:r>
          </a:p>
          <a:p>
            <a:pPr marL="0" indent="0" eaLnBrk="1" fontAlgn="auto" hangingPunct="1">
              <a:spcAft>
                <a:spcPts val="0"/>
              </a:spcAft>
              <a:buClr>
                <a:schemeClr val="accent3"/>
              </a:buClr>
              <a:buFont typeface="Wingdings" pitchFamily="2" charset="2"/>
              <a:buNone/>
              <a:defRPr/>
            </a:pPr>
            <a:r>
              <a:rPr lang="en-US" altLang="zh-CN" sz="3200" b="1" dirty="0" err="1">
                <a:effectLst>
                  <a:outerShdw blurRad="38100" dist="38100" dir="2700000" algn="tl">
                    <a:srgbClr val="C0C0C0"/>
                  </a:outerShdw>
                </a:effectLst>
                <a:latin typeface="楷体_GB2312" pitchFamily="49" charset="-122"/>
                <a:ea typeface="楷体_GB2312" pitchFamily="49" charset="-122"/>
              </a:rPr>
              <a:t>srand</a:t>
            </a:r>
            <a:r>
              <a:rPr lang="en-US" altLang="zh-CN" sz="3200" b="1" dirty="0">
                <a:effectLst>
                  <a:outerShdw blurRad="38100" dist="38100" dir="2700000" algn="tl">
                    <a:srgbClr val="C0C0C0"/>
                  </a:outerShdw>
                </a:effectLst>
                <a:latin typeface="楷体_GB2312" pitchFamily="49" charset="-122"/>
                <a:ea typeface="楷体_GB2312" pitchFamily="49" charset="-122"/>
              </a:rPr>
              <a:t>()</a:t>
            </a:r>
            <a:r>
              <a:rPr lang="zh-CN" altLang="en-US" sz="3200" b="1" dirty="0">
                <a:effectLst>
                  <a:outerShdw blurRad="38100" dist="38100" dir="2700000" algn="tl">
                    <a:srgbClr val="C0C0C0"/>
                  </a:outerShdw>
                </a:effectLst>
                <a:latin typeface="楷体_GB2312" pitchFamily="49" charset="-122"/>
                <a:ea typeface="楷体_GB2312" pitchFamily="49" charset="-122"/>
              </a:rPr>
              <a:t>函数用于重新设定</a:t>
            </a:r>
            <a:r>
              <a:rPr lang="en-US" altLang="zh-CN" sz="3200" b="1" dirty="0">
                <a:effectLst>
                  <a:outerShdw blurRad="38100" dist="38100" dir="2700000" algn="tl">
                    <a:srgbClr val="C0C0C0"/>
                  </a:outerShdw>
                </a:effectLst>
                <a:latin typeface="楷体_GB2312" pitchFamily="49" charset="-122"/>
                <a:ea typeface="楷体_GB2312" pitchFamily="49" charset="-122"/>
              </a:rPr>
              <a:t>rand()</a:t>
            </a:r>
            <a:r>
              <a:rPr lang="zh-CN" altLang="en-US" sz="3200" b="1" dirty="0">
                <a:effectLst>
                  <a:outerShdw blurRad="38100" dist="38100" dir="2700000" algn="tl">
                    <a:srgbClr val="C0C0C0"/>
                  </a:outerShdw>
                </a:effectLst>
                <a:latin typeface="楷体_GB2312" pitchFamily="49" charset="-122"/>
                <a:ea typeface="楷体_GB2312" pitchFamily="49" charset="-122"/>
              </a:rPr>
              <a:t>函数所使用的种子。</a:t>
            </a:r>
          </a:p>
        </p:txBody>
      </p:sp>
      <p:sp>
        <p:nvSpPr>
          <p:cNvPr id="5" name="灯片编号占位符 5"/>
          <p:cNvSpPr>
            <a:spLocks noGrp="1"/>
          </p:cNvSpPr>
          <p:nvPr>
            <p:ph type="sldNum" sz="quarter" idx="12"/>
          </p:nvPr>
        </p:nvSpPr>
        <p:spPr/>
        <p:txBody>
          <a:bodyPr/>
          <a:lstStyle/>
          <a:p>
            <a:pPr>
              <a:defRPr/>
            </a:pPr>
            <a:fld id="{F3A6ACFC-18DE-4997-923E-E8D987842560}" type="slidenum">
              <a:rPr lang="en-US" altLang="zh-CN"/>
              <a:pPr>
                <a:defRPr/>
              </a:pPr>
              <a:t>15</a:t>
            </a:fld>
            <a:endParaRPr lang="en-US" altLang="zh-C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323850" y="333375"/>
            <a:ext cx="8496300" cy="609600"/>
          </a:xfrm>
        </p:spPr>
        <p:txBody>
          <a:bodyPr>
            <a:normAutofit fontScale="90000"/>
          </a:bodyPr>
          <a:lstStyle/>
          <a:p>
            <a:pPr eaLnBrk="1" fontAlgn="auto" hangingPunct="1">
              <a:spcAft>
                <a:spcPts val="0"/>
              </a:spcAft>
              <a:defRPr/>
            </a:pPr>
            <a:r>
              <a:rPr lang="en-US" altLang="zh-CN" sz="4200" b="1" dirty="0">
                <a:solidFill>
                  <a:schemeClr val="tx1"/>
                </a:solidFill>
                <a:latin typeface="+mn-ea"/>
                <a:ea typeface="+mn-ea"/>
              </a:rPr>
              <a:t>5.3  </a:t>
            </a:r>
            <a:r>
              <a:rPr lang="zh-CN" altLang="en-US" sz="4200" b="1" dirty="0">
                <a:solidFill>
                  <a:schemeClr val="tx1"/>
                </a:solidFill>
                <a:latin typeface="+mn-ea"/>
                <a:ea typeface="+mn-ea"/>
              </a:rPr>
              <a:t>函数定义</a:t>
            </a:r>
          </a:p>
        </p:txBody>
      </p:sp>
      <p:sp>
        <p:nvSpPr>
          <p:cNvPr id="347139" name="Rectangle 3"/>
          <p:cNvSpPr>
            <a:spLocks noGrp="1" noChangeArrowheads="1"/>
          </p:cNvSpPr>
          <p:nvPr>
            <p:ph idx="1"/>
          </p:nvPr>
        </p:nvSpPr>
        <p:spPr>
          <a:xfrm>
            <a:off x="250825" y="981075"/>
            <a:ext cx="8497888" cy="5648325"/>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将完成一定功能的算法编写成函数，称为函数定义。在函数定义中，需要指明的内容有函数的返回值类型、函数名、函数的形参和函数体。在函数体内可以定义函数专用的变量，以及实现函数功能的语句序列。</a:t>
            </a:r>
          </a:p>
          <a:p>
            <a:pPr marL="0" indent="0" eaLnBrk="1" fontAlgn="auto" hangingPunct="1">
              <a:lnSpc>
                <a:spcPct val="95000"/>
              </a:lnSpc>
              <a:spcAft>
                <a:spcPts val="0"/>
              </a:spcAft>
              <a:buClr>
                <a:schemeClr val="accent3"/>
              </a:buClr>
              <a:buFont typeface="Wingdings" pitchFamily="2" charset="2"/>
              <a:buNone/>
              <a:defRPr/>
            </a:pP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函数定义的</a:t>
            </a: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一般形式：</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类型符  标识符</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形式参数说明表</a:t>
            </a: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lnSpc>
                <a:spcPct val="9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zh-CN" altLang="en-US" sz="2400" b="1" dirty="0">
                <a:effectLst>
                  <a:outerShdw blurRad="38100" dist="38100" dir="2700000" algn="tl">
                    <a:srgbClr val="C0C0C0"/>
                  </a:outerShdw>
                </a:effectLst>
                <a:latin typeface="楷体_GB2312" pitchFamily="49" charset="-122"/>
                <a:ea typeface="楷体_GB2312" pitchFamily="49" charset="-122"/>
              </a:rPr>
              <a:t>说明和定义部分</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语句序列</a:t>
            </a:r>
          </a:p>
          <a:p>
            <a:pPr marL="0" indent="0" eaLnBrk="1" fontAlgn="auto" hangingPunct="1">
              <a:lnSpc>
                <a:spcPct val="9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defRPr/>
            </a:pP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说明：</a:t>
            </a:r>
          </a:p>
          <a:p>
            <a:pPr marL="0" indent="0" algn="just" eaLnBrk="1" fontAlgn="auto" hangingPunct="1">
              <a:lnSpc>
                <a:spcPct val="95000"/>
              </a:lnSpc>
              <a:spcAft>
                <a:spcPts val="0"/>
              </a:spcAft>
              <a:buClr>
                <a:schemeClr val="accent3"/>
              </a:buClr>
              <a:buFont typeface="Wingdings" pitchFamily="2" charset="2"/>
              <a:buNone/>
              <a:defRPr/>
            </a:pPr>
            <a:r>
              <a:rPr lang="en-US" altLang="zh-CN" sz="2400" b="1" dirty="0">
                <a:solidFill>
                  <a:srgbClr val="CC6600"/>
                </a:solidFill>
                <a:effectLst>
                  <a:outerShdw blurRad="38100" dist="38100" dir="2700000" algn="tl">
                    <a:srgbClr val="C0C0C0"/>
                  </a:outerShdw>
                </a:effectLst>
                <a:latin typeface="楷体_GB2312" pitchFamily="49" charset="-122"/>
                <a:ea typeface="楷体_GB2312" pitchFamily="49" charset="-122"/>
              </a:rPr>
              <a:t>1.</a:t>
            </a:r>
            <a:r>
              <a:rPr lang="zh-CN" altLang="en-US" sz="2400" b="1" dirty="0">
                <a:solidFill>
                  <a:srgbClr val="CC6600"/>
                </a:solidFill>
                <a:effectLst>
                  <a:outerShdw blurRad="38100" dist="38100" dir="2700000" algn="tl">
                    <a:srgbClr val="C0C0C0"/>
                  </a:outerShdw>
                </a:effectLst>
                <a:latin typeface="楷体_GB2312" pitchFamily="49" charset="-122"/>
                <a:ea typeface="楷体_GB2312" pitchFamily="49" charset="-122"/>
              </a:rPr>
              <a:t>类型符：</a:t>
            </a:r>
            <a:r>
              <a:rPr lang="zh-CN" altLang="en-US" sz="2400" b="1" dirty="0">
                <a:effectLst>
                  <a:outerShdw blurRad="38100" dist="38100" dir="2700000" algn="tl">
                    <a:srgbClr val="C0C0C0"/>
                  </a:outerShdw>
                </a:effectLst>
                <a:latin typeface="楷体_GB2312" pitchFamily="49" charset="-122"/>
                <a:ea typeface="楷体_GB2312" pitchFamily="49" charset="-122"/>
              </a:rPr>
              <a:t>标识函数执行结果返回值的类型。当函数执行不返回值时，用</a:t>
            </a:r>
            <a:r>
              <a:rPr lang="en-US" altLang="zh-CN" sz="2400" b="1" dirty="0">
                <a:effectLst>
                  <a:outerShdw blurRad="38100" dist="38100" dir="2700000" algn="tl">
                    <a:srgbClr val="C0C0C0"/>
                  </a:outerShdw>
                </a:effectLst>
                <a:latin typeface="楷体_GB2312" pitchFamily="49" charset="-122"/>
                <a:ea typeface="楷体_GB2312" pitchFamily="49" charset="-122"/>
              </a:rPr>
              <a:t>void</a:t>
            </a:r>
            <a:r>
              <a:rPr lang="zh-CN" altLang="en-US" sz="2400" b="1" dirty="0">
                <a:effectLst>
                  <a:outerShdw blurRad="38100" dist="38100" dir="2700000" algn="tl">
                    <a:srgbClr val="C0C0C0"/>
                  </a:outerShdw>
                </a:effectLst>
                <a:latin typeface="楷体_GB2312" pitchFamily="49" charset="-122"/>
                <a:ea typeface="楷体_GB2312" pitchFamily="49" charset="-122"/>
              </a:rPr>
              <a:t>来标记。</a:t>
            </a:r>
          </a:p>
        </p:txBody>
      </p:sp>
      <p:sp>
        <p:nvSpPr>
          <p:cNvPr id="9" name="灯片编号占位符 5"/>
          <p:cNvSpPr>
            <a:spLocks noGrp="1"/>
          </p:cNvSpPr>
          <p:nvPr>
            <p:ph type="sldNum" sz="quarter" idx="12"/>
          </p:nvPr>
        </p:nvSpPr>
        <p:spPr/>
        <p:txBody>
          <a:bodyPr/>
          <a:lstStyle/>
          <a:p>
            <a:pPr>
              <a:defRPr/>
            </a:pPr>
            <a:fld id="{006F864C-20C7-46F3-951A-9B630B52EF23}" type="slidenum">
              <a:rPr lang="en-US" altLang="zh-CN"/>
              <a:pPr>
                <a:defRPr/>
              </a:pPr>
              <a:t>16</a:t>
            </a:fld>
            <a:endParaRPr lang="en-US" altLang="zh-CN"/>
          </a:p>
        </p:txBody>
      </p:sp>
      <p:sp>
        <p:nvSpPr>
          <p:cNvPr id="22533" name="AutoShape 4"/>
          <p:cNvSpPr>
            <a:spLocks noChangeArrowheads="1"/>
          </p:cNvSpPr>
          <p:nvPr/>
        </p:nvSpPr>
        <p:spPr bwMode="auto">
          <a:xfrm>
            <a:off x="6659563" y="2708275"/>
            <a:ext cx="1441450" cy="504825"/>
          </a:xfrm>
          <a:prstGeom prst="wedgeRoundRectCallout">
            <a:avLst>
              <a:gd name="adj1" fmla="val -102532"/>
              <a:gd name="adj2" fmla="val 20440"/>
              <a:gd name="adj3" fmla="val 16667"/>
            </a:avLst>
          </a:prstGeom>
          <a:solidFill>
            <a:schemeClr val="accent1"/>
          </a:solidFill>
          <a:ln w="9525">
            <a:solidFill>
              <a:srgbClr val="000000"/>
            </a:solidFill>
            <a:miter lim="800000"/>
            <a:headEnd/>
            <a:tailEnd/>
          </a:ln>
        </p:spPr>
        <p:txBody>
          <a:bodyPr/>
          <a:lstStyle/>
          <a:p>
            <a:r>
              <a:rPr lang="zh-CN" altLang="en-US"/>
              <a:t>函数头</a:t>
            </a:r>
          </a:p>
        </p:txBody>
      </p:sp>
      <p:sp>
        <p:nvSpPr>
          <p:cNvPr id="22534" name="AutoShape 5"/>
          <p:cNvSpPr>
            <a:spLocks/>
          </p:cNvSpPr>
          <p:nvPr/>
        </p:nvSpPr>
        <p:spPr bwMode="auto">
          <a:xfrm>
            <a:off x="3779838" y="3357563"/>
            <a:ext cx="287337" cy="1295400"/>
          </a:xfrm>
          <a:prstGeom prst="rightBrace">
            <a:avLst>
              <a:gd name="adj1" fmla="val 37569"/>
              <a:gd name="adj2" fmla="val 50000"/>
            </a:avLst>
          </a:prstGeom>
          <a:noFill/>
          <a:ln w="9525">
            <a:solidFill>
              <a:srgbClr val="000000"/>
            </a:solidFill>
            <a:round/>
            <a:headEnd/>
            <a:tailEnd/>
          </a:ln>
        </p:spPr>
        <p:txBody>
          <a:bodyPr wrap="none" anchor="ctr"/>
          <a:lstStyle/>
          <a:p>
            <a:endParaRPr lang="zh-CN" altLang="en-US"/>
          </a:p>
        </p:txBody>
      </p:sp>
      <p:sp>
        <p:nvSpPr>
          <p:cNvPr id="22535" name="AutoShape 6"/>
          <p:cNvSpPr>
            <a:spLocks noChangeArrowheads="1"/>
          </p:cNvSpPr>
          <p:nvPr/>
        </p:nvSpPr>
        <p:spPr bwMode="auto">
          <a:xfrm>
            <a:off x="6659563" y="3932238"/>
            <a:ext cx="1441450" cy="504825"/>
          </a:xfrm>
          <a:prstGeom prst="wedgeRoundRectCallout">
            <a:avLst>
              <a:gd name="adj1" fmla="val -216852"/>
              <a:gd name="adj2" fmla="val -30505"/>
              <a:gd name="adj3" fmla="val 16667"/>
            </a:avLst>
          </a:prstGeom>
          <a:solidFill>
            <a:schemeClr val="accent1"/>
          </a:solidFill>
          <a:ln w="9525">
            <a:solidFill>
              <a:srgbClr val="000000"/>
            </a:solidFill>
            <a:miter lim="800000"/>
            <a:headEnd/>
            <a:tailEnd/>
          </a:ln>
        </p:spPr>
        <p:txBody>
          <a:bodyPr/>
          <a:lstStyle/>
          <a:p>
            <a:r>
              <a:rPr lang="zh-CN" altLang="en-US"/>
              <a:t>函数体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7139">
                                            <p:txEl>
                                              <p:pRg st="7" end="7"/>
                                            </p:txEl>
                                          </p:spTgt>
                                        </p:tgtEl>
                                        <p:attrNameLst>
                                          <p:attrName>style.visibility</p:attrName>
                                        </p:attrNameLst>
                                      </p:cBhvr>
                                      <p:to>
                                        <p:strVal val="visible"/>
                                      </p:to>
                                    </p:set>
                                    <p:anim calcmode="lin" valueType="num">
                                      <p:cBhvr additive="base">
                                        <p:cTn id="7" dur="500" fill="hold"/>
                                        <p:tgtEl>
                                          <p:spTgt spid="347139">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7139">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7139">
                                            <p:txEl>
                                              <p:pRg st="8" end="8"/>
                                            </p:txEl>
                                          </p:spTgt>
                                        </p:tgtEl>
                                        <p:attrNameLst>
                                          <p:attrName>style.visibility</p:attrName>
                                        </p:attrNameLst>
                                      </p:cBhvr>
                                      <p:to>
                                        <p:strVal val="visible"/>
                                      </p:to>
                                    </p:set>
                                    <p:anim calcmode="lin" valueType="num">
                                      <p:cBhvr additive="base">
                                        <p:cTn id="11" dur="500" fill="hold"/>
                                        <p:tgtEl>
                                          <p:spTgt spid="347139">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713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idx="1"/>
          </p:nvPr>
        </p:nvSpPr>
        <p:spPr>
          <a:xfrm>
            <a:off x="323850" y="404813"/>
            <a:ext cx="8496300" cy="6153150"/>
          </a:xfrm>
        </p:spPr>
        <p:txBody>
          <a:bodyPr>
            <a:normAutofit/>
          </a:bodyPr>
          <a:lstStyle/>
          <a:p>
            <a:pPr marL="0" indent="0" algn="just" eaLnBrk="1" fontAlgn="auto" hangingPunct="1">
              <a:lnSpc>
                <a:spcPct val="110000"/>
              </a:lnSpc>
              <a:spcAft>
                <a:spcPts val="0"/>
              </a:spcAft>
              <a:buClr>
                <a:schemeClr val="accent3"/>
              </a:buClr>
              <a:buFont typeface="Wingdings" pitchFamily="2" charset="2"/>
              <a:buNone/>
              <a:defRPr/>
            </a:pP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2.标识符</a:t>
            </a:r>
            <a:r>
              <a:rPr lang="en-US" altLang="zh-CN" b="1" dirty="0">
                <a:solidFill>
                  <a:srgbClr val="002060"/>
                </a:solidFill>
                <a:effectLst>
                  <a:outerShdw blurRad="38100" dist="38100" dir="2700000" algn="tl">
                    <a:srgbClr val="C0C0C0"/>
                  </a:outerShdw>
                </a:effectLst>
                <a:latin typeface="楷体_GB2312" pitchFamily="49" charset="-122"/>
                <a:ea typeface="楷体_GB2312" pitchFamily="49" charset="-122"/>
              </a:rPr>
              <a:t>是</a:t>
            </a:r>
            <a:r>
              <a:rPr lang="zh-CN" altLang="en-US" b="1" dirty="0">
                <a:solidFill>
                  <a:srgbClr val="002060"/>
                </a:solidFill>
                <a:effectLst>
                  <a:outerShdw blurRad="38100" dist="38100" dir="2700000" algn="tl">
                    <a:srgbClr val="C0C0C0"/>
                  </a:outerShdw>
                </a:effectLst>
                <a:latin typeface="楷体_GB2312" pitchFamily="49" charset="-122"/>
                <a:ea typeface="楷体_GB2312" pitchFamily="49" charset="-122"/>
              </a:rPr>
              <a:t>函数名</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a:t>
            </a:r>
            <a:r>
              <a:rPr lang="zh-CN" altLang="en-US" b="1" dirty="0">
                <a:solidFill>
                  <a:srgbClr val="660033"/>
                </a:solidFill>
                <a:effectLst>
                  <a:outerShdw blurRad="38100" dist="38100" dir="2700000" algn="tl">
                    <a:srgbClr val="C0C0C0"/>
                  </a:outerShdw>
                </a:effectLst>
                <a:latin typeface="楷体_GB2312" pitchFamily="49" charset="-122"/>
                <a:ea typeface="楷体_GB2312" pitchFamily="49" charset="-122"/>
              </a:rPr>
              <a:t>除主函数</a:t>
            </a:r>
            <a:r>
              <a:rPr lang="en-US" altLang="zh-CN" b="1" dirty="0">
                <a:solidFill>
                  <a:srgbClr val="660033"/>
                </a:solidFill>
                <a:effectLst>
                  <a:outerShdw blurRad="38100" dist="38100" dir="2700000" algn="tl">
                    <a:srgbClr val="C0C0C0"/>
                  </a:outerShdw>
                </a:effectLst>
                <a:latin typeface="楷体_GB2312" pitchFamily="49" charset="-122"/>
                <a:ea typeface="楷体_GB2312" pitchFamily="49" charset="-122"/>
              </a:rPr>
              <a:t>main()</a:t>
            </a:r>
            <a:r>
              <a:rPr lang="zh-CN" altLang="en-US" b="1" dirty="0">
                <a:solidFill>
                  <a:srgbClr val="660033"/>
                </a:solidFill>
                <a:effectLst>
                  <a:outerShdw blurRad="38100" dist="38100" dir="2700000" algn="tl">
                    <a:srgbClr val="C0C0C0"/>
                  </a:outerShdw>
                </a:effectLst>
                <a:latin typeface="楷体_GB2312" pitchFamily="49" charset="-122"/>
                <a:ea typeface="楷体_GB2312" pitchFamily="49" charset="-122"/>
              </a:rPr>
              <a:t>外，其他的函数名可以随意命名。</a:t>
            </a:r>
          </a:p>
          <a:p>
            <a:pPr marL="0" indent="0" algn="just" eaLnBrk="1" fontAlgn="auto" hangingPunct="1">
              <a:lnSpc>
                <a:spcPct val="110000"/>
              </a:lnSpc>
              <a:spcAft>
                <a:spcPts val="0"/>
              </a:spcAft>
              <a:buClr>
                <a:schemeClr val="accent3"/>
              </a:buClr>
              <a:buFont typeface="Wingdings" pitchFamily="2" charset="2"/>
              <a:buNone/>
              <a:defRPr/>
            </a:pP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3.</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形式参数说明表：</a:t>
            </a:r>
            <a:r>
              <a:rPr lang="zh-CN" altLang="en-US" b="1" dirty="0">
                <a:effectLst>
                  <a:outerShdw blurRad="38100" dist="38100" dir="2700000" algn="tl">
                    <a:srgbClr val="C0C0C0"/>
                  </a:outerShdw>
                </a:effectLst>
                <a:latin typeface="楷体_GB2312" pitchFamily="49" charset="-122"/>
                <a:ea typeface="楷体_GB2312" pitchFamily="49" charset="-122"/>
              </a:rPr>
              <a:t>当有多个形参时，形参说明之间用逗号分隔，每个形参说明指定形参的类型和形参名。</a:t>
            </a:r>
          </a:p>
          <a:p>
            <a:pPr marL="0" indent="0" eaLnBrk="1" fontAlgn="auto" hangingPunct="1">
              <a:spcAft>
                <a:spcPts val="0"/>
              </a:spcAft>
              <a:buClr>
                <a:schemeClr val="accent3"/>
              </a:buClr>
              <a:buFont typeface="Wingdings" pitchFamily="2" charset="2"/>
              <a:buNone/>
              <a:defRPr/>
            </a:pPr>
            <a:r>
              <a:rPr lang="zh-CN" altLang="en-US" b="1" dirty="0">
                <a:solidFill>
                  <a:srgbClr val="990000"/>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0070C0"/>
                </a:solidFill>
                <a:effectLst>
                  <a:outerShdw blurRad="38100" dist="38100" dir="2700000" algn="tl">
                    <a:srgbClr val="C0C0C0"/>
                  </a:outerShdw>
                </a:effectLst>
                <a:latin typeface="楷体_GB2312" pitchFamily="49" charset="-122"/>
                <a:ea typeface="楷体_GB2312" pitchFamily="49" charset="-122"/>
              </a:rPr>
              <a:t>形式参数说明表的一般形式如下：</a:t>
            </a:r>
          </a:p>
          <a:p>
            <a:pPr marL="0" indent="0" eaLnBrk="1" fontAlgn="auto" hangingPunct="1">
              <a:spcAft>
                <a:spcPts val="0"/>
              </a:spcAft>
              <a:buClr>
                <a:schemeClr val="accent3"/>
              </a:buClr>
              <a:buFont typeface="Wingdings" pitchFamily="2" charset="2"/>
              <a:buNone/>
              <a:defRPr/>
            </a:pPr>
            <a:r>
              <a:rPr lang="zh-CN" altLang="en-US" b="1" dirty="0">
                <a:solidFill>
                  <a:srgbClr val="990000"/>
                </a:solidFill>
                <a:effectLst>
                  <a:outerShdw blurRad="38100" dist="38100" dir="2700000" algn="tl">
                    <a:srgbClr val="C0C0C0"/>
                  </a:outerShdw>
                </a:effectLst>
                <a:latin typeface="楷体_GB2312" pitchFamily="49" charset="-122"/>
                <a:ea typeface="楷体_GB2312" pitchFamily="49" charset="-122"/>
              </a:rPr>
              <a:t>   类型符 形参</a:t>
            </a:r>
            <a:r>
              <a:rPr lang="en-US" altLang="zh-CN" b="1" dirty="0">
                <a:solidFill>
                  <a:srgbClr val="990000"/>
                </a:solidFill>
                <a:effectLst>
                  <a:outerShdw blurRad="38100" dist="38100" dir="2700000" algn="tl">
                    <a:srgbClr val="C0C0C0"/>
                  </a:outerShdw>
                </a:effectLst>
                <a:latin typeface="楷体_GB2312" pitchFamily="49" charset="-122"/>
                <a:ea typeface="楷体_GB2312" pitchFamily="49" charset="-122"/>
              </a:rPr>
              <a:t>1, </a:t>
            </a:r>
            <a:r>
              <a:rPr lang="zh-CN" altLang="en-US" b="1" dirty="0">
                <a:solidFill>
                  <a:srgbClr val="990000"/>
                </a:solidFill>
                <a:effectLst>
                  <a:outerShdw blurRad="38100" dist="38100" dir="2700000" algn="tl">
                    <a:srgbClr val="C0C0C0"/>
                  </a:outerShdw>
                </a:effectLst>
                <a:latin typeface="楷体_GB2312" pitchFamily="49" charset="-122"/>
                <a:ea typeface="楷体_GB2312" pitchFamily="49" charset="-122"/>
              </a:rPr>
              <a:t>类型符 形参</a:t>
            </a:r>
            <a:r>
              <a:rPr lang="en-US" altLang="zh-CN" b="1" dirty="0">
                <a:solidFill>
                  <a:srgbClr val="990000"/>
                </a:solidFill>
                <a:effectLst>
                  <a:outerShdw blurRad="38100" dist="38100" dir="2700000" algn="tl">
                    <a:srgbClr val="C0C0C0"/>
                  </a:outerShdw>
                </a:effectLst>
                <a:latin typeface="楷体_GB2312" pitchFamily="49" charset="-122"/>
                <a:ea typeface="楷体_GB2312" pitchFamily="49" charset="-122"/>
              </a:rPr>
              <a:t>2, </a:t>
            </a:r>
            <a:r>
              <a:rPr lang="en-US" altLang="zh-CN" b="1" dirty="0">
                <a:solidFill>
                  <a:srgbClr val="990000"/>
                </a:solidFill>
                <a:effectLst>
                  <a:outerShdw blurRad="38100" dist="38100" dir="2700000" algn="tl">
                    <a:srgbClr val="C0C0C0"/>
                  </a:outerShdw>
                </a:effectLst>
                <a:ea typeface="楷体_GB2312" pitchFamily="49" charset="-122"/>
              </a:rPr>
              <a:t>…</a:t>
            </a:r>
            <a:r>
              <a:rPr lang="en-US" altLang="zh-CN" b="1" dirty="0">
                <a:solidFill>
                  <a:srgbClr val="990000"/>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990000"/>
                </a:solidFill>
                <a:effectLst>
                  <a:outerShdw blurRad="38100" dist="38100" dir="2700000" algn="tl">
                    <a:srgbClr val="C0C0C0"/>
                  </a:outerShdw>
                </a:effectLst>
                <a:latin typeface="楷体_GB2312" pitchFamily="49" charset="-122"/>
                <a:ea typeface="楷体_GB2312" pitchFamily="49" charset="-122"/>
              </a:rPr>
              <a:t>类型符 形参</a:t>
            </a:r>
            <a:r>
              <a:rPr lang="en-US" altLang="zh-CN" b="1" dirty="0">
                <a:solidFill>
                  <a:srgbClr val="990000"/>
                </a:solidFill>
                <a:effectLst>
                  <a:outerShdw blurRad="38100" dist="38100" dir="2700000" algn="tl">
                    <a:srgbClr val="C0C0C0"/>
                  </a:outerShdw>
                </a:effectLst>
                <a:latin typeface="楷体_GB2312" pitchFamily="49" charset="-122"/>
                <a:ea typeface="楷体_GB2312" pitchFamily="49" charset="-122"/>
              </a:rPr>
              <a:t>n</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   </a:t>
            </a:r>
            <a:r>
              <a:rPr lang="zh-CN" altLang="en-US" b="1" dirty="0">
                <a:effectLst>
                  <a:outerShdw blurRad="38100" dist="38100" dir="2700000" algn="tl">
                    <a:srgbClr val="C0C0C0"/>
                  </a:outerShdw>
                </a:effectLst>
                <a:latin typeface="楷体_GB2312" pitchFamily="49" charset="-122"/>
                <a:ea typeface="楷体_GB2312" pitchFamily="49" charset="-122"/>
              </a:rPr>
              <a:t>没有形参的函数，也就没有形参说明表，常用</a:t>
            </a:r>
            <a:r>
              <a:rPr lang="en-US" altLang="zh-CN" b="1" dirty="0">
                <a:effectLst>
                  <a:outerShdw blurRad="38100" dist="38100" dir="2700000" algn="tl">
                    <a:srgbClr val="C0C0C0"/>
                  </a:outerShdw>
                </a:effectLst>
                <a:latin typeface="楷体_GB2312" pitchFamily="49" charset="-122"/>
                <a:ea typeface="楷体_GB2312" pitchFamily="49" charset="-122"/>
              </a:rPr>
              <a:t>void</a:t>
            </a:r>
            <a:r>
              <a:rPr lang="zh-CN" altLang="en-US" b="1" dirty="0">
                <a:effectLst>
                  <a:outerShdw blurRad="38100" dist="38100" dir="2700000" algn="tl">
                    <a:srgbClr val="C0C0C0"/>
                  </a:outerShdw>
                </a:effectLst>
                <a:latin typeface="楷体_GB2312" pitchFamily="49" charset="-122"/>
                <a:ea typeface="楷体_GB2312" pitchFamily="49" charset="-122"/>
              </a:rPr>
              <a:t>代之，函数名之后的一对圆括号不可省略。</a:t>
            </a:r>
          </a:p>
          <a:p>
            <a:pPr marL="0" indent="0" algn="just" eaLnBrk="1" fontAlgn="auto" hangingPunct="1">
              <a:lnSpc>
                <a:spcPct val="110000"/>
              </a:lnSpc>
              <a:spcAft>
                <a:spcPts val="0"/>
              </a:spcAft>
              <a:buClr>
                <a:schemeClr val="accent3"/>
              </a:buClr>
              <a:buFont typeface="Wingdings" pitchFamily="2" charset="2"/>
              <a:buNone/>
              <a:defRPr/>
            </a:pP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4. </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函数体：</a:t>
            </a:r>
            <a:r>
              <a:rPr lang="zh-CN" altLang="en-US" b="1" dirty="0">
                <a:effectLst>
                  <a:outerShdw blurRad="38100" dist="38100" dir="2700000" algn="tl">
                    <a:srgbClr val="C0C0C0"/>
                  </a:outerShdw>
                </a:effectLst>
                <a:latin typeface="楷体_GB2312" pitchFamily="49" charset="-122"/>
                <a:ea typeface="楷体_GB2312" pitchFamily="49" charset="-122"/>
              </a:rPr>
              <a:t>最外层用花括号括住的部分。在函数体的前面可有函数需要的程序对象的说明和定义。函数体内定义的变量是</a:t>
            </a:r>
            <a:r>
              <a:rPr lang="zh-CN" altLang="en-US" b="1" dirty="0">
                <a:solidFill>
                  <a:srgbClr val="FF0000"/>
                </a:solidFill>
                <a:effectLst>
                  <a:outerShdw blurRad="38100" dist="38100" dir="2700000" algn="tl">
                    <a:srgbClr val="C0C0C0"/>
                  </a:outerShdw>
                </a:effectLst>
                <a:latin typeface="楷体_GB2312" pitchFamily="49" charset="-122"/>
                <a:ea typeface="楷体_GB2312" pitchFamily="49" charset="-122"/>
              </a:rPr>
              <a:t>局部变量</a:t>
            </a:r>
            <a:r>
              <a:rPr lang="zh-CN" altLang="en-US" b="1" dirty="0">
                <a:effectLst>
                  <a:outerShdw blurRad="38100" dist="38100" dir="2700000" algn="tl">
                    <a:srgbClr val="C0C0C0"/>
                  </a:outerShdw>
                </a:effectLst>
                <a:latin typeface="楷体_GB2312" pitchFamily="49" charset="-122"/>
                <a:ea typeface="楷体_GB2312" pitchFamily="49" charset="-122"/>
              </a:rPr>
              <a:t>，只能在函数体内引用它们。说明和定义之后是由语句序列组成的执行代码。</a:t>
            </a:r>
          </a:p>
        </p:txBody>
      </p:sp>
      <p:sp>
        <p:nvSpPr>
          <p:cNvPr id="5" name="灯片编号占位符 5"/>
          <p:cNvSpPr>
            <a:spLocks noGrp="1"/>
          </p:cNvSpPr>
          <p:nvPr>
            <p:ph type="sldNum" sz="quarter" idx="12"/>
          </p:nvPr>
        </p:nvSpPr>
        <p:spPr/>
        <p:txBody>
          <a:bodyPr/>
          <a:lstStyle/>
          <a:p>
            <a:pPr>
              <a:defRPr/>
            </a:pPr>
            <a:fld id="{530C5AAD-08DE-4C93-B168-ACE1D621A92D}" type="slidenum">
              <a:rPr lang="en-US" altLang="zh-CN"/>
              <a:pPr>
                <a:defRPr/>
              </a:pPr>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62">
                                            <p:txEl>
                                              <p:pRg st="1" end="1"/>
                                            </p:txEl>
                                          </p:spTgt>
                                        </p:tgtEl>
                                        <p:attrNameLst>
                                          <p:attrName>style.visibility</p:attrName>
                                        </p:attrNameLst>
                                      </p:cBhvr>
                                      <p:to>
                                        <p:strVal val="visible"/>
                                      </p:to>
                                    </p:set>
                                    <p:anim calcmode="lin" valueType="num">
                                      <p:cBhvr additive="base">
                                        <p:cTn id="7" dur="500" fill="hold"/>
                                        <p:tgtEl>
                                          <p:spTgt spid="3481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6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8162">
                                            <p:txEl>
                                              <p:pRg st="2" end="2"/>
                                            </p:txEl>
                                          </p:spTgt>
                                        </p:tgtEl>
                                        <p:attrNameLst>
                                          <p:attrName>style.visibility</p:attrName>
                                        </p:attrNameLst>
                                      </p:cBhvr>
                                      <p:to>
                                        <p:strVal val="visible"/>
                                      </p:to>
                                    </p:set>
                                    <p:anim calcmode="lin" valueType="num">
                                      <p:cBhvr additive="base">
                                        <p:cTn id="11" dur="500" fill="hold"/>
                                        <p:tgtEl>
                                          <p:spTgt spid="34816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816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8162">
                                            <p:txEl>
                                              <p:pRg st="3" end="3"/>
                                            </p:txEl>
                                          </p:spTgt>
                                        </p:tgtEl>
                                        <p:attrNameLst>
                                          <p:attrName>style.visibility</p:attrName>
                                        </p:attrNameLst>
                                      </p:cBhvr>
                                      <p:to>
                                        <p:strVal val="visible"/>
                                      </p:to>
                                    </p:set>
                                    <p:anim calcmode="lin" valueType="num">
                                      <p:cBhvr additive="base">
                                        <p:cTn id="15" dur="500" fill="hold"/>
                                        <p:tgtEl>
                                          <p:spTgt spid="34816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816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8162">
                                            <p:txEl>
                                              <p:pRg st="4" end="4"/>
                                            </p:txEl>
                                          </p:spTgt>
                                        </p:tgtEl>
                                        <p:attrNameLst>
                                          <p:attrName>style.visibility</p:attrName>
                                        </p:attrNameLst>
                                      </p:cBhvr>
                                      <p:to>
                                        <p:strVal val="visible"/>
                                      </p:to>
                                    </p:set>
                                    <p:anim calcmode="lin" valueType="num">
                                      <p:cBhvr additive="base">
                                        <p:cTn id="19" dur="500" fill="hold"/>
                                        <p:tgtEl>
                                          <p:spTgt spid="34816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81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48162">
                                            <p:txEl>
                                              <p:pRg st="5" end="5"/>
                                            </p:txEl>
                                          </p:spTgt>
                                        </p:tgtEl>
                                        <p:attrNameLst>
                                          <p:attrName>style.visibility</p:attrName>
                                        </p:attrNameLst>
                                      </p:cBhvr>
                                      <p:to>
                                        <p:strVal val="visible"/>
                                      </p:to>
                                    </p:set>
                                    <p:anim calcmode="lin" valueType="num">
                                      <p:cBhvr additive="base">
                                        <p:cTn id="25" dur="500" fill="hold"/>
                                        <p:tgtEl>
                                          <p:spTgt spid="34816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4816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idx="1"/>
          </p:nvPr>
        </p:nvSpPr>
        <p:spPr>
          <a:xfrm>
            <a:off x="323850" y="404813"/>
            <a:ext cx="8496300" cy="6153150"/>
          </a:xfrm>
        </p:spPr>
        <p:txBody>
          <a:bodyPr/>
          <a:lstStyle/>
          <a:p>
            <a:pPr marL="0" indent="0" eaLnBrk="1" hangingPunct="1">
              <a:buFont typeface="Wingdings" pitchFamily="2" charset="2"/>
              <a:buNone/>
            </a:pPr>
            <a:r>
              <a:rPr lang="en-US" altLang="zh-CN" sz="3000" b="1">
                <a:solidFill>
                  <a:srgbClr val="CC6600"/>
                </a:solidFill>
                <a:latin typeface="楷体_GB2312" pitchFamily="49" charset="-122"/>
                <a:ea typeface="楷体_GB2312" pitchFamily="49" charset="-122"/>
              </a:rPr>
              <a:t>5.</a:t>
            </a:r>
            <a:r>
              <a:rPr lang="zh-CN" altLang="en-US" sz="3000" b="1">
                <a:solidFill>
                  <a:srgbClr val="CC6600"/>
                </a:solidFill>
                <a:latin typeface="楷体_GB2312" pitchFamily="49" charset="-122"/>
                <a:ea typeface="楷体_GB2312" pitchFamily="49" charset="-122"/>
              </a:rPr>
              <a:t>函数返回值</a:t>
            </a:r>
            <a:r>
              <a:rPr lang="en-US" altLang="zh-CN" sz="3000" b="1">
                <a:solidFill>
                  <a:srgbClr val="CC6600"/>
                </a:solidFill>
                <a:latin typeface="楷体_GB2312" pitchFamily="49" charset="-122"/>
                <a:ea typeface="楷体_GB2312" pitchFamily="49" charset="-122"/>
              </a:rPr>
              <a:t>:</a:t>
            </a:r>
            <a:r>
              <a:rPr lang="zh-CN" altLang="en-US" b="1">
                <a:latin typeface="楷体_GB2312" pitchFamily="49" charset="-122"/>
                <a:ea typeface="楷体_GB2312" pitchFamily="49" charset="-122"/>
              </a:rPr>
              <a:t>函数可以有返回值，也可以没有返回值。有返回值的函数，在函数的出口处必须有带表达式的</a:t>
            </a:r>
            <a:r>
              <a:rPr lang="en-US" altLang="zh-CN" b="1">
                <a:latin typeface="楷体_GB2312" pitchFamily="49" charset="-122"/>
                <a:ea typeface="楷体_GB2312" pitchFamily="49" charset="-122"/>
              </a:rPr>
              <a:t>return</a:t>
            </a:r>
            <a:r>
              <a:rPr lang="zh-CN" altLang="en-US" b="1">
                <a:latin typeface="楷体_GB2312" pitchFamily="49" charset="-122"/>
                <a:ea typeface="楷体_GB2312" pitchFamily="49" charset="-122"/>
              </a:rPr>
              <a:t>语句：</a:t>
            </a:r>
          </a:p>
          <a:p>
            <a:pPr marL="0" indent="0" eaLnBrk="1" hangingPunct="1">
              <a:buFont typeface="Wingdings" pitchFamily="2" charset="2"/>
              <a:buNone/>
            </a:pPr>
            <a:r>
              <a:rPr lang="zh-CN" altLang="en-US" b="1">
                <a:latin typeface="楷体_GB2312" pitchFamily="49" charset="-122"/>
                <a:ea typeface="楷体_GB2312" pitchFamily="49" charset="-122"/>
              </a:rPr>
              <a:t>	</a:t>
            </a:r>
            <a:r>
              <a:rPr lang="en-US" altLang="zh-CN" b="1">
                <a:solidFill>
                  <a:srgbClr val="990000"/>
                </a:solidFill>
                <a:latin typeface="楷体_GB2312" pitchFamily="49" charset="-122"/>
                <a:ea typeface="楷体_GB2312" pitchFamily="49" charset="-122"/>
              </a:rPr>
              <a:t>return  </a:t>
            </a:r>
            <a:r>
              <a:rPr lang="zh-CN" altLang="en-US" b="1">
                <a:solidFill>
                  <a:srgbClr val="990000"/>
                </a:solidFill>
                <a:latin typeface="楷体_GB2312" pitchFamily="49" charset="-122"/>
                <a:ea typeface="楷体_GB2312" pitchFamily="49" charset="-122"/>
              </a:rPr>
              <a:t>表达式</a:t>
            </a:r>
            <a:r>
              <a:rPr lang="en-US" altLang="zh-CN" b="1">
                <a:solidFill>
                  <a:srgbClr val="990000"/>
                </a:solidFill>
                <a:latin typeface="楷体_GB2312" pitchFamily="49" charset="-122"/>
                <a:ea typeface="楷体_GB2312" pitchFamily="49" charset="-122"/>
              </a:rPr>
              <a:t>;</a:t>
            </a:r>
          </a:p>
          <a:p>
            <a:pPr marL="0" indent="0" eaLnBrk="1" hangingPunct="1">
              <a:buFont typeface="Wingdings" pitchFamily="2" charset="2"/>
              <a:buNone/>
            </a:pPr>
            <a:endParaRPr lang="en-US" altLang="zh-CN" b="1">
              <a:latin typeface="楷体_GB2312" pitchFamily="49" charset="-122"/>
              <a:ea typeface="楷体_GB2312" pitchFamily="49" charset="-122"/>
            </a:endParaRPr>
          </a:p>
          <a:p>
            <a:pPr marL="0" indent="0" eaLnBrk="1" hangingPunct="1">
              <a:buFont typeface="Wingdings" pitchFamily="2" charset="2"/>
              <a:buNone/>
            </a:pPr>
            <a:r>
              <a:rPr lang="zh-CN" altLang="en-US" b="1">
                <a:latin typeface="楷体_GB2312" pitchFamily="49" charset="-122"/>
                <a:ea typeface="楷体_GB2312" pitchFamily="49" charset="-122"/>
              </a:rPr>
              <a:t>其中表达式的值就是函数的返回值。函数的类型决定了</a:t>
            </a:r>
            <a:r>
              <a:rPr lang="en-US" altLang="zh-CN" b="1">
                <a:latin typeface="楷体_GB2312" pitchFamily="49" charset="-122"/>
                <a:ea typeface="楷体_GB2312" pitchFamily="49" charset="-122"/>
              </a:rPr>
              <a:t>return</a:t>
            </a:r>
            <a:r>
              <a:rPr lang="zh-CN" altLang="en-US" b="1">
                <a:latin typeface="楷体_GB2312" pitchFamily="49" charset="-122"/>
                <a:ea typeface="楷体_GB2312" pitchFamily="49" charset="-122"/>
              </a:rPr>
              <a:t>语句中表达式的类型。对于同是基本类型，如果能按隐式转换规则将表达式类型转换成返回值类型，则自动按类型隐式转换规则转换；如果不能按自动转换规则将表达式类型转换成返回值转换，则是一种错误。</a:t>
            </a:r>
          </a:p>
          <a:p>
            <a:pPr marL="0" indent="0" eaLnBrk="1" hangingPunct="1">
              <a:buFont typeface="Wingdings" pitchFamily="2" charset="2"/>
              <a:buNone/>
            </a:pPr>
            <a:r>
              <a:rPr lang="zh-CN" altLang="en-US" b="1">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94C7D1FA-392D-4088-9E6C-1CFF94D37064}" type="slidenum">
              <a:rPr lang="en-US" altLang="zh-CN"/>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idx="1"/>
          </p:nvPr>
        </p:nvSpPr>
        <p:spPr>
          <a:xfrm>
            <a:off x="323850" y="404813"/>
            <a:ext cx="8496300" cy="6153150"/>
          </a:xfrm>
        </p:spPr>
        <p:txBody>
          <a:bodyPr/>
          <a:lstStyle/>
          <a:p>
            <a:pPr marL="0" indent="0" eaLnBrk="1" hangingPunct="1">
              <a:buFont typeface="Wingdings" pitchFamily="2" charset="2"/>
              <a:buNone/>
            </a:pPr>
            <a:r>
              <a:rPr lang="zh-CN" altLang="en-US" sz="3200" b="1">
                <a:latin typeface="楷体_GB2312" pitchFamily="49" charset="-122"/>
                <a:ea typeface="楷体_GB2312" pitchFamily="49" charset="-122"/>
              </a:rPr>
              <a:t>带表达式</a:t>
            </a:r>
            <a:r>
              <a:rPr lang="en-US" altLang="zh-CN" sz="3200" b="1">
                <a:latin typeface="楷体_GB2312" pitchFamily="49" charset="-122"/>
                <a:ea typeface="楷体_GB2312" pitchFamily="49" charset="-122"/>
              </a:rPr>
              <a:t>return</a:t>
            </a:r>
            <a:r>
              <a:rPr lang="zh-CN" altLang="en-US" sz="3200" b="1">
                <a:latin typeface="楷体_GB2312" pitchFamily="49" charset="-122"/>
                <a:ea typeface="楷体_GB2312" pitchFamily="49" charset="-122"/>
              </a:rPr>
              <a:t>语句的功能是，先计算表达式的值，将计算出来的值返回给调用函数，同时将程序控制权转移到调用处继续运行。 </a:t>
            </a:r>
          </a:p>
          <a:p>
            <a:pPr marL="0" indent="0" eaLnBrk="1" hangingPunct="1">
              <a:buFont typeface="Wingdings" pitchFamily="2" charset="2"/>
              <a:buNone/>
            </a:pPr>
            <a:endParaRPr lang="zh-CN" altLang="en-US" sz="3200" b="1">
              <a:solidFill>
                <a:srgbClr val="336600"/>
              </a:solidFill>
              <a:latin typeface="楷体_GB2312" pitchFamily="49" charset="-122"/>
              <a:ea typeface="楷体_GB2312" pitchFamily="49" charset="-122"/>
            </a:endParaRPr>
          </a:p>
          <a:p>
            <a:pPr marL="0" indent="0" eaLnBrk="1" hangingPunct="1">
              <a:buFont typeface="Wingdings" pitchFamily="2" charset="2"/>
              <a:buNone/>
            </a:pPr>
            <a:r>
              <a:rPr lang="zh-CN" altLang="en-US" sz="3200" b="1">
                <a:solidFill>
                  <a:srgbClr val="336600"/>
                </a:solidFill>
                <a:latin typeface="楷体_GB2312" pitchFamily="49" charset="-122"/>
                <a:ea typeface="楷体_GB2312" pitchFamily="49" charset="-122"/>
              </a:rPr>
              <a:t>如果函数不返回值，函数头的类型符为</a:t>
            </a:r>
            <a:r>
              <a:rPr lang="en-US" altLang="zh-CN" sz="3200" b="1">
                <a:solidFill>
                  <a:srgbClr val="336600"/>
                </a:solidFill>
                <a:latin typeface="楷体_GB2312" pitchFamily="49" charset="-122"/>
                <a:ea typeface="楷体_GB2312" pitchFamily="49" charset="-122"/>
              </a:rPr>
              <a:t>void</a:t>
            </a:r>
            <a:r>
              <a:rPr lang="zh-CN" altLang="en-US" sz="3200" b="1">
                <a:solidFill>
                  <a:srgbClr val="336600"/>
                </a:solidFill>
                <a:latin typeface="楷体_GB2312" pitchFamily="49" charset="-122"/>
                <a:ea typeface="楷体_GB2312" pitchFamily="49" charset="-122"/>
              </a:rPr>
              <a:t>，则函数体中可以没有</a:t>
            </a:r>
            <a:r>
              <a:rPr lang="en-US" altLang="zh-CN" sz="3200" b="1">
                <a:solidFill>
                  <a:srgbClr val="336600"/>
                </a:solidFill>
                <a:latin typeface="楷体_GB2312" pitchFamily="49" charset="-122"/>
                <a:ea typeface="楷体_GB2312" pitchFamily="49" charset="-122"/>
              </a:rPr>
              <a:t>return</a:t>
            </a:r>
            <a:r>
              <a:rPr lang="zh-CN" altLang="en-US" sz="3200" b="1">
                <a:solidFill>
                  <a:srgbClr val="336600"/>
                </a:solidFill>
                <a:latin typeface="楷体_GB2312" pitchFamily="49" charset="-122"/>
                <a:ea typeface="楷体_GB2312" pitchFamily="49" charset="-122"/>
              </a:rPr>
              <a:t>语句，或有不带表达式的</a:t>
            </a:r>
            <a:r>
              <a:rPr lang="en-US" altLang="zh-CN" sz="3200" b="1">
                <a:solidFill>
                  <a:srgbClr val="336600"/>
                </a:solidFill>
                <a:latin typeface="楷体_GB2312" pitchFamily="49" charset="-122"/>
                <a:ea typeface="楷体_GB2312" pitchFamily="49" charset="-122"/>
              </a:rPr>
              <a:t>return</a:t>
            </a:r>
            <a:r>
              <a:rPr lang="zh-CN" altLang="en-US" sz="3200" b="1">
                <a:solidFill>
                  <a:srgbClr val="336600"/>
                </a:solidFill>
                <a:latin typeface="楷体_GB2312" pitchFamily="49" charset="-122"/>
                <a:ea typeface="楷体_GB2312" pitchFamily="49" charset="-122"/>
              </a:rPr>
              <a:t>语句：</a:t>
            </a:r>
          </a:p>
          <a:p>
            <a:pPr marL="0" indent="0" eaLnBrk="1" hangingPunct="1">
              <a:buFont typeface="Wingdings" pitchFamily="2" charset="2"/>
              <a:buNone/>
            </a:pPr>
            <a:r>
              <a:rPr lang="zh-CN" altLang="en-US" sz="3200" b="1">
                <a:solidFill>
                  <a:srgbClr val="990000"/>
                </a:solidFill>
                <a:latin typeface="楷体_GB2312" pitchFamily="49" charset="-122"/>
                <a:ea typeface="楷体_GB2312" pitchFamily="49" charset="-122"/>
              </a:rPr>
              <a:t>     </a:t>
            </a:r>
            <a:r>
              <a:rPr lang="en-US" altLang="zh-CN" sz="3200" b="1">
                <a:solidFill>
                  <a:srgbClr val="990000"/>
                </a:solidFill>
                <a:latin typeface="楷体_GB2312" pitchFamily="49" charset="-122"/>
                <a:ea typeface="楷体_GB2312" pitchFamily="49" charset="-122"/>
              </a:rPr>
              <a:t>return;</a:t>
            </a:r>
          </a:p>
          <a:p>
            <a:pPr marL="0" indent="0" eaLnBrk="1" hangingPunct="1">
              <a:buFont typeface="Wingdings" pitchFamily="2" charset="2"/>
              <a:buNone/>
            </a:pPr>
            <a:endParaRPr lang="en-US" altLang="zh-CN" sz="3200" b="1">
              <a:solidFill>
                <a:srgbClr val="990000"/>
              </a:solidFill>
              <a:latin typeface="楷体_GB2312" pitchFamily="49" charset="-122"/>
              <a:ea typeface="楷体_GB2312" pitchFamily="49" charset="-122"/>
            </a:endParaRPr>
          </a:p>
          <a:p>
            <a:pPr marL="0" indent="0" eaLnBrk="1" hangingPunct="1">
              <a:buFont typeface="Wingdings" pitchFamily="2" charset="2"/>
              <a:buNone/>
            </a:pPr>
            <a:r>
              <a:rPr lang="zh-CN" altLang="en-US" sz="3200" b="1">
                <a:latin typeface="楷体_GB2312" pitchFamily="49" charset="-122"/>
                <a:ea typeface="楷体_GB2312" pitchFamily="49" charset="-122"/>
              </a:rPr>
              <a:t>程序执行不带表达式的</a:t>
            </a:r>
            <a:r>
              <a:rPr lang="en-US" altLang="zh-CN" sz="3200" b="1">
                <a:latin typeface="楷体_GB2312" pitchFamily="49" charset="-122"/>
                <a:ea typeface="楷体_GB2312" pitchFamily="49" charset="-122"/>
              </a:rPr>
              <a:t>return</a:t>
            </a:r>
            <a:r>
              <a:rPr lang="zh-CN" altLang="en-US" sz="3200" b="1">
                <a:latin typeface="楷体_GB2312" pitchFamily="49" charset="-122"/>
                <a:ea typeface="楷体_GB2312" pitchFamily="49" charset="-122"/>
              </a:rPr>
              <a:t>语句，就是将程序控制权转移到调用处继续运行。 </a:t>
            </a:r>
          </a:p>
        </p:txBody>
      </p:sp>
      <p:sp>
        <p:nvSpPr>
          <p:cNvPr id="5" name="灯片编号占位符 5"/>
          <p:cNvSpPr>
            <a:spLocks noGrp="1"/>
          </p:cNvSpPr>
          <p:nvPr>
            <p:ph type="sldNum" sz="quarter" idx="12"/>
          </p:nvPr>
        </p:nvSpPr>
        <p:spPr/>
        <p:txBody>
          <a:bodyPr/>
          <a:lstStyle/>
          <a:p>
            <a:pPr>
              <a:defRPr/>
            </a:pPr>
            <a:fld id="{C6B936D9-22EF-4167-A63C-D666695D208C}" type="slidenum">
              <a:rPr lang="en-US" altLang="zh-CN"/>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228600" y="228600"/>
            <a:ext cx="8686800" cy="609600"/>
          </a:xfrm>
        </p:spPr>
        <p:txBody>
          <a:bodyPr>
            <a:normAutofit/>
          </a:bodyPr>
          <a:lstStyle/>
          <a:p>
            <a:pPr eaLnBrk="1" fontAlgn="auto" hangingPunct="1">
              <a:spcAft>
                <a:spcPts val="0"/>
              </a:spcAft>
              <a:defRPr/>
            </a:pPr>
            <a:r>
              <a:rPr lang="en-US" altLang="zh-CN" sz="3200" dirty="0">
                <a:solidFill>
                  <a:schemeClr val="tx1"/>
                </a:solidFill>
                <a:latin typeface="+mn-ea"/>
                <a:ea typeface="+mn-ea"/>
              </a:rPr>
              <a:t>【</a:t>
            </a:r>
            <a:r>
              <a:rPr lang="zh-CN" altLang="en-US" sz="3200" dirty="0">
                <a:solidFill>
                  <a:schemeClr val="tx1"/>
                </a:solidFill>
                <a:latin typeface="+mn-ea"/>
                <a:ea typeface="+mn-ea"/>
              </a:rPr>
              <a:t>例</a:t>
            </a:r>
            <a:r>
              <a:rPr lang="en-US" altLang="zh-CN" sz="3200" dirty="0">
                <a:solidFill>
                  <a:schemeClr val="tx1"/>
                </a:solidFill>
                <a:latin typeface="+mn-ea"/>
                <a:ea typeface="+mn-ea"/>
              </a:rPr>
              <a:t>5.3】</a:t>
            </a:r>
            <a:r>
              <a:rPr lang="zh-CN" altLang="en-US" sz="3200" dirty="0">
                <a:solidFill>
                  <a:schemeClr val="tx1"/>
                </a:solidFill>
                <a:latin typeface="+mn-ea"/>
                <a:ea typeface="+mn-ea"/>
              </a:rPr>
              <a:t>求两个数中最小值的函数</a:t>
            </a:r>
            <a:r>
              <a:rPr lang="en-US" altLang="zh-CN" sz="3200" dirty="0">
                <a:solidFill>
                  <a:schemeClr val="tx1"/>
                </a:solidFill>
                <a:latin typeface="+mn-ea"/>
                <a:ea typeface="+mn-ea"/>
              </a:rPr>
              <a:t>min()</a:t>
            </a:r>
          </a:p>
        </p:txBody>
      </p:sp>
      <p:sp>
        <p:nvSpPr>
          <p:cNvPr id="349187" name="Rectangle 3"/>
          <p:cNvSpPr>
            <a:spLocks noGrp="1" noChangeArrowheads="1"/>
          </p:cNvSpPr>
          <p:nvPr>
            <p:ph idx="1"/>
          </p:nvPr>
        </p:nvSpPr>
        <p:spPr>
          <a:xfrm>
            <a:off x="468313" y="836613"/>
            <a:ext cx="8447087" cy="5545137"/>
          </a:xfrm>
        </p:spPr>
        <p:txBody>
          <a:bodyPr>
            <a:normAutofit/>
          </a:bodyPr>
          <a:lstStyle/>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double min(double x, double y) /* </a:t>
            </a:r>
            <a:r>
              <a:rPr lang="zh-CN" altLang="en-US" b="1" dirty="0">
                <a:effectLst>
                  <a:outerShdw blurRad="38100" dist="38100" dir="2700000" algn="tl">
                    <a:srgbClr val="C0C0C0"/>
                  </a:outerShdw>
                </a:effectLst>
                <a:latin typeface="楷体_GB2312" pitchFamily="49" charset="-122"/>
                <a:ea typeface="楷体_GB2312" pitchFamily="49" charset="-122"/>
              </a:rPr>
              <a:t>返回 </a:t>
            </a:r>
            <a:r>
              <a:rPr lang="en-US" altLang="zh-CN" b="1" dirty="0">
                <a:effectLst>
                  <a:outerShdw blurRad="38100" dist="38100" dir="2700000" algn="tl">
                    <a:srgbClr val="C0C0C0"/>
                  </a:outerShdw>
                </a:effectLst>
                <a:latin typeface="楷体_GB2312" pitchFamily="49" charset="-122"/>
                <a:ea typeface="楷体_GB2312" pitchFamily="49" charset="-122"/>
              </a:rPr>
              <a:t>double </a:t>
            </a:r>
            <a:r>
              <a:rPr lang="zh-CN" altLang="en-US" b="1" dirty="0">
                <a:effectLst>
                  <a:outerShdw blurRad="38100" dist="38100" dir="2700000" algn="tl">
                    <a:srgbClr val="C0C0C0"/>
                  </a:outerShdw>
                </a:effectLst>
                <a:latin typeface="楷体_GB2312" pitchFamily="49" charset="-122"/>
                <a:ea typeface="楷体_GB2312" pitchFamily="49" charset="-122"/>
              </a:rPr>
              <a:t>型值，有两个形参 *</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   return x&lt;y ? x : y;</a:t>
            </a:r>
          </a:p>
          <a:p>
            <a:pPr marL="0" indent="0" eaLnBrk="1" fontAlgn="auto" hangingPunct="1">
              <a:lnSpc>
                <a:spcPct val="95000"/>
              </a:lnSpc>
              <a:spcAft>
                <a:spcPts val="0"/>
              </a:spcAft>
              <a:buClr>
                <a:schemeClr val="accent3"/>
              </a:buClr>
              <a:buFont typeface="Wingdings" pitchFamily="2" charset="2"/>
              <a:buNone/>
              <a:defRPr/>
            </a:pP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函数返回</a:t>
            </a: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x</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和</a:t>
            </a: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y</a:t>
            </a:r>
            <a:r>
              <a:rPr lang="zh-CN" altLang="en-US" b="1" dirty="0">
                <a:solidFill>
                  <a:srgbClr val="CC6600"/>
                </a:solidFill>
                <a:effectLst>
                  <a:outerShdw blurRad="38100" dist="38100" dir="2700000" algn="tl">
                    <a:srgbClr val="C0C0C0"/>
                  </a:outerShdw>
                </a:effectLst>
                <a:latin typeface="楷体_GB2312" pitchFamily="49" charset="-122"/>
                <a:ea typeface="楷体_GB2312" pitchFamily="49" charset="-122"/>
              </a:rPr>
              <a:t>中的小者的值*</a:t>
            </a:r>
            <a:r>
              <a:rPr lang="en-US" altLang="zh-CN" b="1" dirty="0">
                <a:solidFill>
                  <a:srgbClr val="CC6600"/>
                </a:solidFill>
                <a:effectLst>
                  <a:outerShdw blurRad="38100" dist="38100" dir="2700000" algn="tl">
                    <a:srgbClr val="C0C0C0"/>
                  </a:outerShdw>
                </a:effectLst>
                <a:latin typeface="楷体_GB2312" pitchFamily="49" charset="-122"/>
                <a:ea typeface="楷体_GB2312" pitchFamily="49" charset="-122"/>
              </a:rPr>
              <a:t>/</a:t>
            </a:r>
            <a:endParaRPr lang="en-US" altLang="zh-CN"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程序说明</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上述函数头表明，该函数名是</a:t>
            </a:r>
            <a:r>
              <a:rPr lang="en-US" altLang="zh-CN" b="1" dirty="0">
                <a:effectLst>
                  <a:outerShdw blurRad="38100" dist="38100" dir="2700000" algn="tl">
                    <a:srgbClr val="C0C0C0"/>
                  </a:outerShdw>
                </a:effectLst>
                <a:latin typeface="楷体_GB2312" pitchFamily="49" charset="-122"/>
                <a:ea typeface="楷体_GB2312" pitchFamily="49" charset="-122"/>
              </a:rPr>
              <a:t>min</a:t>
            </a:r>
            <a:r>
              <a:rPr lang="zh-CN" altLang="en-US" b="1" dirty="0">
                <a:effectLst>
                  <a:outerShdw blurRad="38100" dist="38100" dir="2700000" algn="tl">
                    <a:srgbClr val="C0C0C0"/>
                  </a:outerShdw>
                </a:effectLst>
                <a:latin typeface="楷体_GB2312" pitchFamily="49" charset="-122"/>
                <a:ea typeface="楷体_GB2312" pitchFamily="49" charset="-122"/>
              </a:rPr>
              <a:t>，它返回</a:t>
            </a:r>
            <a:r>
              <a:rPr lang="en-US" altLang="zh-CN" b="1" dirty="0">
                <a:effectLst>
                  <a:outerShdw blurRad="38100" dist="38100" dir="2700000" algn="tl">
                    <a:srgbClr val="C0C0C0"/>
                  </a:outerShdw>
                </a:effectLst>
                <a:latin typeface="楷体_GB2312" pitchFamily="49" charset="-122"/>
                <a:ea typeface="楷体_GB2312" pitchFamily="49" charset="-122"/>
              </a:rPr>
              <a:t>double</a:t>
            </a:r>
            <a:r>
              <a:rPr lang="zh-CN" altLang="en-US" b="1" dirty="0">
                <a:effectLst>
                  <a:outerShdw blurRad="38100" dist="38100" dir="2700000" algn="tl">
                    <a:srgbClr val="C0C0C0"/>
                  </a:outerShdw>
                </a:effectLst>
                <a:latin typeface="楷体_GB2312" pitchFamily="49" charset="-122"/>
                <a:ea typeface="楷体_GB2312" pitchFamily="49" charset="-122"/>
              </a:rPr>
              <a:t>型值，有两个</a:t>
            </a:r>
            <a:r>
              <a:rPr lang="en-US" altLang="zh-CN" b="1" dirty="0">
                <a:effectLst>
                  <a:outerShdw blurRad="38100" dist="38100" dir="2700000" algn="tl">
                    <a:srgbClr val="C0C0C0"/>
                  </a:outerShdw>
                </a:effectLst>
                <a:latin typeface="楷体_GB2312" pitchFamily="49" charset="-122"/>
                <a:ea typeface="楷体_GB2312" pitchFamily="49" charset="-122"/>
              </a:rPr>
              <a:t>double</a:t>
            </a:r>
            <a:r>
              <a:rPr lang="zh-CN" altLang="en-US" b="1" dirty="0">
                <a:effectLst>
                  <a:outerShdw blurRad="38100" dist="38100" dir="2700000" algn="tl">
                    <a:srgbClr val="C0C0C0"/>
                  </a:outerShdw>
                </a:effectLst>
                <a:latin typeface="楷体_GB2312" pitchFamily="49" charset="-122"/>
                <a:ea typeface="楷体_GB2312" pitchFamily="49" charset="-122"/>
              </a:rPr>
              <a:t>类型的形参，两个形参的名分别为</a:t>
            </a:r>
            <a:r>
              <a:rPr lang="en-US" altLang="zh-CN" b="1" dirty="0">
                <a:effectLst>
                  <a:outerShdw blurRad="38100" dist="38100" dir="2700000" algn="tl">
                    <a:srgbClr val="C0C0C0"/>
                  </a:outerShdw>
                </a:effectLst>
                <a:latin typeface="楷体_GB2312" pitchFamily="49" charset="-122"/>
                <a:ea typeface="楷体_GB2312" pitchFamily="49" charset="-122"/>
              </a:rPr>
              <a:t>x</a:t>
            </a:r>
            <a:r>
              <a:rPr lang="zh-CN" altLang="en-US" b="1" dirty="0">
                <a:effectLst>
                  <a:outerShdw blurRad="38100" dist="38100" dir="2700000" algn="tl">
                    <a:srgbClr val="C0C0C0"/>
                  </a:outerShdw>
                </a:effectLst>
                <a:latin typeface="楷体_GB2312" pitchFamily="49" charset="-122"/>
                <a:ea typeface="楷体_GB2312" pitchFamily="49" charset="-122"/>
              </a:rPr>
              <a:t>和</a:t>
            </a:r>
            <a:r>
              <a:rPr lang="en-US" altLang="zh-CN" b="1" dirty="0">
                <a:effectLst>
                  <a:outerShdw blurRad="38100" dist="38100" dir="2700000" algn="tl">
                    <a:srgbClr val="C0C0C0"/>
                  </a:outerShdw>
                </a:effectLst>
                <a:latin typeface="楷体_GB2312" pitchFamily="49" charset="-122"/>
                <a:ea typeface="楷体_GB2312" pitchFamily="49" charset="-122"/>
              </a:rPr>
              <a:t>y</a:t>
            </a:r>
            <a:r>
              <a:rPr lang="zh-CN" altLang="en-US" b="1" dirty="0">
                <a:effectLst>
                  <a:outerShdw blurRad="38100" dist="38100" dir="2700000" algn="tl">
                    <a:srgbClr val="C0C0C0"/>
                  </a:outerShdw>
                </a:effectLst>
                <a:latin typeface="楷体_GB2312" pitchFamily="49" charset="-122"/>
                <a:ea typeface="楷体_GB2312" pitchFamily="49" charset="-122"/>
              </a:rPr>
              <a:t>。</a:t>
            </a:r>
          </a:p>
        </p:txBody>
      </p:sp>
      <p:sp>
        <p:nvSpPr>
          <p:cNvPr id="6" name="灯片编号占位符 5"/>
          <p:cNvSpPr>
            <a:spLocks noGrp="1"/>
          </p:cNvSpPr>
          <p:nvPr>
            <p:ph type="sldNum" sz="quarter" idx="12"/>
          </p:nvPr>
        </p:nvSpPr>
        <p:spPr/>
        <p:txBody>
          <a:bodyPr/>
          <a:lstStyle/>
          <a:p>
            <a:pPr>
              <a:defRPr/>
            </a:pPr>
            <a:fld id="{14130FE9-ABE8-4D26-8D90-281091AEF540}" type="slidenum">
              <a:rPr lang="en-US" altLang="zh-CN"/>
              <a:pPr>
                <a:defRPr/>
              </a:pPr>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28600" y="260350"/>
            <a:ext cx="8686800" cy="576263"/>
          </a:xfrm>
        </p:spPr>
        <p:txBody>
          <a:bodyPr/>
          <a:lstStyle/>
          <a:p>
            <a:pPr eaLnBrk="1" hangingPunct="1"/>
            <a:r>
              <a:rPr lang="en-US" altLang="zh-CN" sz="3200">
                <a:solidFill>
                  <a:schemeClr val="tx1"/>
                </a:solidFill>
                <a:latin typeface="黑体" pitchFamily="2" charset="-122"/>
                <a:ea typeface="黑体" pitchFamily="2" charset="-122"/>
              </a:rPr>
              <a:t>【</a:t>
            </a:r>
            <a:r>
              <a:rPr lang="zh-CN" altLang="en-US" sz="3200">
                <a:solidFill>
                  <a:schemeClr val="tx1"/>
                </a:solidFill>
                <a:latin typeface="黑体" pitchFamily="2" charset="-122"/>
                <a:ea typeface="黑体" pitchFamily="2" charset="-122"/>
              </a:rPr>
              <a:t>例</a:t>
            </a:r>
            <a:r>
              <a:rPr lang="en-US" altLang="zh-CN" sz="3200">
                <a:solidFill>
                  <a:schemeClr val="tx1"/>
                </a:solidFill>
                <a:latin typeface="黑体" pitchFamily="2" charset="-122"/>
                <a:ea typeface="黑体" pitchFamily="2" charset="-122"/>
              </a:rPr>
              <a:t>5.4】</a:t>
            </a:r>
            <a:r>
              <a:rPr lang="zh-CN" altLang="en-US" sz="3200">
                <a:solidFill>
                  <a:schemeClr val="tx1"/>
                </a:solidFill>
                <a:latin typeface="黑体" pitchFamily="2" charset="-122"/>
                <a:ea typeface="黑体" pitchFamily="2" charset="-122"/>
              </a:rPr>
              <a:t>求两个正整数最大公因子的函数</a:t>
            </a:r>
            <a:r>
              <a:rPr lang="en-US" altLang="zh-CN" sz="3200">
                <a:solidFill>
                  <a:schemeClr val="tx1"/>
                </a:solidFill>
                <a:latin typeface="黑体" pitchFamily="2" charset="-122"/>
                <a:ea typeface="黑体" pitchFamily="2" charset="-122"/>
              </a:rPr>
              <a:t>gcd()</a:t>
            </a:r>
          </a:p>
        </p:txBody>
      </p:sp>
      <p:sp>
        <p:nvSpPr>
          <p:cNvPr id="350211" name="Rectangle 3"/>
          <p:cNvSpPr>
            <a:spLocks noGrp="1" noChangeArrowheads="1"/>
          </p:cNvSpPr>
          <p:nvPr>
            <p:ph idx="1"/>
          </p:nvPr>
        </p:nvSpPr>
        <p:spPr>
          <a:xfrm>
            <a:off x="250825" y="981075"/>
            <a:ext cx="8664575" cy="5545138"/>
          </a:xfrm>
        </p:spPr>
        <p:txBody>
          <a:bodyPr>
            <a:normAutofit/>
          </a:bodyPr>
          <a:lstStyle/>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解题思路</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两个正整数</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和</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的最大公因子有性质：</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(a-b, b), </a:t>
            </a:r>
            <a:r>
              <a:rPr lang="zh-CN" altLang="en-US" b="1" dirty="0">
                <a:effectLst>
                  <a:outerShdw blurRad="38100" dist="38100" dir="2700000" algn="tl">
                    <a:srgbClr val="C0C0C0"/>
                  </a:outerShdw>
                </a:effectLst>
                <a:latin typeface="楷体_GB2312" pitchFamily="49" charset="-122"/>
                <a:ea typeface="楷体_GB2312" pitchFamily="49" charset="-122"/>
              </a:rPr>
              <a:t>如果</a:t>
            </a:r>
            <a:r>
              <a:rPr lang="en-US" altLang="zh-CN" b="1" dirty="0">
                <a:effectLst>
                  <a:outerShdw blurRad="38100" dist="38100" dir="2700000" algn="tl">
                    <a:srgbClr val="C0C0C0"/>
                  </a:outerShdw>
                </a:effectLst>
                <a:latin typeface="楷体_GB2312" pitchFamily="49" charset="-122"/>
                <a:ea typeface="楷体_GB2312" pitchFamily="49" charset="-122"/>
              </a:rPr>
              <a:t>a &gt; b</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 b)            </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 b-a), </a:t>
            </a:r>
            <a:r>
              <a:rPr lang="zh-CN" altLang="en-US" b="1" dirty="0">
                <a:effectLst>
                  <a:outerShdw blurRad="38100" dist="38100" dir="2700000" algn="tl">
                    <a:srgbClr val="C0C0C0"/>
                  </a:outerShdw>
                </a:effectLst>
                <a:latin typeface="楷体_GB2312" pitchFamily="49" charset="-122"/>
                <a:ea typeface="楷体_GB2312" pitchFamily="49" charset="-122"/>
              </a:rPr>
              <a:t>如果</a:t>
            </a:r>
            <a:r>
              <a:rPr lang="en-US" altLang="zh-CN" b="1" dirty="0">
                <a:effectLst>
                  <a:outerShdw blurRad="38100" dist="38100" dir="2700000" algn="tl">
                    <a:srgbClr val="C0C0C0"/>
                  </a:outerShdw>
                </a:effectLst>
                <a:latin typeface="楷体_GB2312" pitchFamily="49" charset="-122"/>
                <a:ea typeface="楷体_GB2312" pitchFamily="49" charset="-122"/>
              </a:rPr>
              <a:t>a &lt; b</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a:effectLst>
                  <a:outerShdw blurRad="38100" dist="38100" dir="2700000" algn="tl">
                    <a:srgbClr val="C0C0C0"/>
                  </a:outerShdw>
                </a:effectLst>
                <a:latin typeface="楷体_GB2312" pitchFamily="49" charset="-122"/>
                <a:ea typeface="楷体_GB2312" pitchFamily="49" charset="-122"/>
              </a:rPr>
              <a:t>a          , </a:t>
            </a:r>
            <a:r>
              <a:rPr lang="zh-CN" altLang="en-US" b="1" dirty="0">
                <a:effectLst>
                  <a:outerShdw blurRad="38100" dist="38100" dir="2700000" algn="tl">
                    <a:srgbClr val="C0C0C0"/>
                  </a:outerShdw>
                </a:effectLst>
                <a:latin typeface="楷体_GB2312" pitchFamily="49" charset="-122"/>
                <a:ea typeface="楷体_GB2312" pitchFamily="49" charset="-122"/>
              </a:rPr>
              <a:t>如果</a:t>
            </a:r>
            <a:r>
              <a:rPr lang="en-US" altLang="zh-CN" b="1" dirty="0">
                <a:effectLst>
                  <a:outerShdw blurRad="38100" dist="38100" dir="2700000" algn="tl">
                    <a:srgbClr val="C0C0C0"/>
                  </a:outerShdw>
                </a:effectLst>
                <a:latin typeface="楷体_GB2312" pitchFamily="49" charset="-122"/>
                <a:ea typeface="楷体_GB2312" pitchFamily="49" charset="-122"/>
              </a:rPr>
              <a:t>a = b</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求两个正整数最大公因子的函数可描述如下：</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a,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b)</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  while( a != b)//</a:t>
            </a:r>
            <a:r>
              <a:rPr lang="zh-CN" altLang="en-US" b="1" dirty="0">
                <a:effectLst>
                  <a:outerShdw blurRad="38100" dist="38100" dir="2700000" algn="tl">
                    <a:srgbClr val="C0C0C0"/>
                  </a:outerShdw>
                </a:effectLst>
                <a:latin typeface="楷体_GB2312" pitchFamily="49" charset="-122"/>
                <a:ea typeface="楷体_GB2312" pitchFamily="49" charset="-122"/>
              </a:rPr>
              <a:t>直至</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和</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相等结束</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a:effectLst>
                  <a:outerShdw blurRad="38100" dist="38100" dir="2700000" algn="tl">
                    <a:srgbClr val="C0C0C0"/>
                  </a:outerShdw>
                </a:effectLst>
                <a:latin typeface="楷体_GB2312" pitchFamily="49" charset="-122"/>
                <a:ea typeface="楷体_GB2312" pitchFamily="49" charset="-122"/>
              </a:rPr>
              <a:t>if(a &gt; b) a -= b;    </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else b -= a;</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return a;</a:t>
            </a:r>
          </a:p>
          <a:p>
            <a:pPr marL="0" indent="0" eaLnBrk="1" fontAlgn="auto" hangingPunct="1">
              <a:lnSpc>
                <a:spcPct val="95000"/>
              </a:lnSpc>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a:t>
            </a:r>
          </a:p>
        </p:txBody>
      </p:sp>
      <p:sp>
        <p:nvSpPr>
          <p:cNvPr id="7" name="灯片编号占位符 5"/>
          <p:cNvSpPr>
            <a:spLocks noGrp="1"/>
          </p:cNvSpPr>
          <p:nvPr>
            <p:ph type="sldNum" sz="quarter" idx="12"/>
          </p:nvPr>
        </p:nvSpPr>
        <p:spPr/>
        <p:txBody>
          <a:bodyPr/>
          <a:lstStyle/>
          <a:p>
            <a:pPr>
              <a:defRPr/>
            </a:pPr>
            <a:fld id="{F497ECD7-CD4F-45D8-B5DA-141D457C8F3D}" type="slidenum">
              <a:rPr lang="en-US" altLang="zh-CN"/>
              <a:pPr>
                <a:defRPr/>
              </a:pPr>
              <a:t>21</a:t>
            </a:fld>
            <a:endParaRPr lang="en-US" altLang="zh-CN"/>
          </a:p>
        </p:txBody>
      </p:sp>
      <p:sp>
        <p:nvSpPr>
          <p:cNvPr id="27653" name="AutoShape 4"/>
          <p:cNvSpPr>
            <a:spLocks/>
          </p:cNvSpPr>
          <p:nvPr/>
        </p:nvSpPr>
        <p:spPr bwMode="auto">
          <a:xfrm>
            <a:off x="2555875" y="2133600"/>
            <a:ext cx="215900" cy="1079500"/>
          </a:xfrm>
          <a:prstGeom prst="leftBrace">
            <a:avLst>
              <a:gd name="adj1" fmla="val 41667"/>
              <a:gd name="adj2" fmla="val 50000"/>
            </a:avLst>
          </a:prstGeom>
          <a:noFill/>
          <a:ln w="28575">
            <a:solidFill>
              <a:srgbClr val="000000"/>
            </a:solidFill>
            <a:round/>
            <a:headEnd/>
            <a:tailEnd/>
          </a:ln>
        </p:spPr>
        <p:txBody>
          <a:bodyPr wrap="none" anchor="ctr"/>
          <a:lstStyle/>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Rectangle 3"/>
          <p:cNvSpPr>
            <a:spLocks noGrp="1" noChangeArrowheads="1"/>
          </p:cNvSpPr>
          <p:nvPr>
            <p:ph idx="1"/>
          </p:nvPr>
        </p:nvSpPr>
        <p:spPr>
          <a:xfrm>
            <a:off x="250825" y="333375"/>
            <a:ext cx="8664575" cy="5545138"/>
          </a:xfrm>
        </p:spPr>
        <p:txBody>
          <a:bodyPr>
            <a:normAutofit lnSpcReduction="10000"/>
          </a:bodyPr>
          <a:lstStyle/>
          <a:p>
            <a:pPr marL="0" indent="0" eaLnBrk="1" fontAlgn="auto" hangingPunct="1">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采用辗转相除法求最大公因子，有以下算法：</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求余数</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求</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除以</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的余数</a:t>
            </a:r>
            <a:r>
              <a:rPr lang="en-US" altLang="zh-CN" b="1" dirty="0">
                <a:effectLst>
                  <a:outerShdw blurRad="38100" dist="38100" dir="2700000" algn="tl">
                    <a:srgbClr val="C0C0C0"/>
                  </a:outerShdw>
                </a:effectLst>
                <a:latin typeface="楷体_GB2312" pitchFamily="49" charset="-122"/>
                <a:ea typeface="楷体_GB2312" pitchFamily="49" charset="-122"/>
              </a:rPr>
              <a:t>r</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判结束</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如</a:t>
            </a:r>
            <a:r>
              <a:rPr lang="en-US" altLang="zh-CN" b="1" dirty="0">
                <a:effectLst>
                  <a:outerShdw blurRad="38100" dist="38100" dir="2700000" algn="tl">
                    <a:srgbClr val="C0C0C0"/>
                  </a:outerShdw>
                </a:effectLst>
                <a:latin typeface="楷体_GB2312" pitchFamily="49" charset="-122"/>
                <a:ea typeface="楷体_GB2312" pitchFamily="49" charset="-122"/>
              </a:rPr>
              <a:t>r</a:t>
            </a:r>
            <a:r>
              <a:rPr lang="zh-CN" altLang="en-US" b="1" dirty="0">
                <a:effectLst>
                  <a:outerShdw blurRad="38100" dist="38100" dir="2700000" algn="tl">
                    <a:srgbClr val="C0C0C0"/>
                  </a:outerShdw>
                </a:effectLst>
                <a:latin typeface="楷体_GB2312" pitchFamily="49" charset="-122"/>
                <a:ea typeface="楷体_GB2312" pitchFamily="49" charset="-122"/>
              </a:rPr>
              <a:t>等于</a:t>
            </a:r>
            <a:r>
              <a:rPr lang="en-US" altLang="zh-CN" b="1" dirty="0">
                <a:effectLst>
                  <a:outerShdw blurRad="38100" dist="38100" dir="2700000" algn="tl">
                    <a:srgbClr val="C0C0C0"/>
                  </a:outerShdw>
                </a:effectLst>
                <a:latin typeface="楷体_GB2312" pitchFamily="49" charset="-122"/>
                <a:ea typeface="楷体_GB2312" pitchFamily="49" charset="-122"/>
              </a:rPr>
              <a:t>0</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为最大公因子，算法结束；否则执行步骤</a:t>
            </a:r>
            <a:r>
              <a:rPr lang="en-US" altLang="zh-CN" b="1" dirty="0">
                <a:effectLst>
                  <a:outerShdw blurRad="38100" dist="38100" dir="2700000" algn="tl">
                    <a:srgbClr val="C0C0C0"/>
                  </a:outerShdw>
                </a:effectLst>
                <a:latin typeface="楷体_GB2312" pitchFamily="49" charset="-122"/>
                <a:ea typeface="楷体_GB2312" pitchFamily="49" charset="-122"/>
              </a:rPr>
              <a:t>C</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C</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替换</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用</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置</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r</a:t>
            </a:r>
            <a:r>
              <a:rPr lang="zh-CN" altLang="en-US" b="1" dirty="0">
                <a:effectLst>
                  <a:outerShdw blurRad="38100" dist="38100" dir="2700000" algn="tl">
                    <a:srgbClr val="C0C0C0"/>
                  </a:outerShdw>
                </a:effectLst>
                <a:latin typeface="楷体_GB2312" pitchFamily="49" charset="-122"/>
                <a:ea typeface="楷体_GB2312" pitchFamily="49" charset="-122"/>
              </a:rPr>
              <a:t>置</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，并回到步骤</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tabLst>
                <a:tab pos="1160463" algn="l"/>
              </a:tabLst>
              <a:defRPr/>
            </a:pPr>
            <a:r>
              <a:rPr lang="zh-CN" altLang="en-US"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a,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b)</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  </a:t>
            </a:r>
            <a:r>
              <a:rPr lang="en-US" altLang="zh-CN" b="1" dirty="0" err="1">
                <a:effectLst>
                  <a:outerShdw blurRad="38100" dist="38100" dir="2700000" algn="tl">
                    <a:srgbClr val="C0C0C0"/>
                  </a:outerShdw>
                </a:effectLst>
                <a:latin typeface="楷体_GB2312" pitchFamily="49" charset="-122"/>
                <a:ea typeface="楷体_GB2312" pitchFamily="49" charset="-122"/>
              </a:rPr>
              <a:t>int</a:t>
            </a:r>
            <a:r>
              <a:rPr lang="en-US" altLang="zh-CN" b="1" dirty="0">
                <a:effectLst>
                  <a:outerShdw blurRad="38100" dist="38100" dir="2700000" algn="tl">
                    <a:srgbClr val="C0C0C0"/>
                  </a:outerShdw>
                </a:effectLst>
                <a:latin typeface="楷体_GB2312" pitchFamily="49" charset="-122"/>
                <a:ea typeface="楷体_GB2312" pitchFamily="49" charset="-122"/>
              </a:rPr>
              <a:t> r;</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while(r = a % b){/*</a:t>
            </a:r>
            <a:r>
              <a:rPr lang="zh-CN" altLang="en-US" b="1" dirty="0">
                <a:effectLst>
                  <a:outerShdw blurRad="38100" dist="38100" dir="2700000" algn="tl">
                    <a:srgbClr val="C0C0C0"/>
                  </a:outerShdw>
                </a:effectLst>
                <a:latin typeface="楷体_GB2312" pitchFamily="49" charset="-122"/>
                <a:ea typeface="楷体_GB2312" pitchFamily="49" charset="-122"/>
              </a:rPr>
              <a:t>求余数，判是否结束*</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a = b;  b = r; /* </a:t>
            </a:r>
            <a:r>
              <a:rPr lang="zh-CN" altLang="en-US" b="1" dirty="0">
                <a:effectLst>
                  <a:outerShdw blurRad="38100" dist="38100" dir="2700000" algn="tl">
                    <a:srgbClr val="C0C0C0"/>
                  </a:outerShdw>
                </a:effectLst>
                <a:latin typeface="楷体_GB2312" pitchFamily="49" charset="-122"/>
                <a:ea typeface="楷体_GB2312" pitchFamily="49" charset="-122"/>
              </a:rPr>
              <a:t>完成：替换*</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return b;</a:t>
            </a:r>
          </a:p>
          <a:p>
            <a:pPr marL="0" indent="0" eaLnBrk="1" fontAlgn="auto" hangingPunct="1">
              <a:spcAft>
                <a:spcPts val="0"/>
              </a:spcAft>
              <a:buClr>
                <a:schemeClr val="accent3"/>
              </a:buClr>
              <a:buFont typeface="Wingdings" pitchFamily="2" charset="2"/>
              <a:buNone/>
              <a:tabLst>
                <a:tab pos="1160463" algn="l"/>
              </a:tabLst>
              <a:defRPr/>
            </a:pPr>
            <a:r>
              <a:rPr lang="en-US" altLang="zh-CN" b="1" dirty="0">
                <a:effectLst>
                  <a:outerShdw blurRad="38100" dist="38100" dir="2700000" algn="tl">
                    <a:srgbClr val="C0C0C0"/>
                  </a:outerShdw>
                </a:effectLst>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4B13014F-D731-43B4-B8BE-83BCFA773916}" type="slidenum">
              <a:rPr lang="en-US" altLang="zh-CN"/>
              <a:pPr>
                <a:defRPr/>
              </a:pPr>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idx="1"/>
          </p:nvPr>
        </p:nvSpPr>
        <p:spPr>
          <a:xfrm>
            <a:off x="252413" y="1341438"/>
            <a:ext cx="3095625" cy="5038725"/>
          </a:xfrm>
          <a:ln>
            <a:solidFill>
              <a:srgbClr val="00FF00"/>
            </a:solidFill>
          </a:ln>
        </p:spPr>
        <p:txBody>
          <a:bodyPr>
            <a:normAutofit/>
          </a:bodyPr>
          <a:lstStyle/>
          <a:p>
            <a:pPr marL="469900" indent="-469900" eaLnBrk="1" fontAlgn="auto" hangingPunct="1">
              <a:lnSpc>
                <a:spcPct val="95000"/>
              </a:lnSpc>
              <a:spcAft>
                <a:spcPts val="0"/>
              </a:spcAft>
              <a:buClr>
                <a:schemeClr val="accent3"/>
              </a:buClr>
              <a:buFont typeface="Wingdings" pitchFamily="2" charset="2"/>
              <a:buNone/>
              <a:defRPr/>
            </a:pPr>
            <a:r>
              <a:rPr lang="zh-CN" altLang="en-US" sz="2400" b="1">
                <a:solidFill>
                  <a:srgbClr val="0000FF"/>
                </a:solidFill>
                <a:effectLst>
                  <a:outerShdw blurRad="38100" dist="38100" dir="2700000" algn="tl">
                    <a:srgbClr val="C0C0C0"/>
                  </a:outerShdw>
                </a:effectLst>
              </a:rPr>
              <a:t>或写成</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int gcd (int a,int b)</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int r = a;</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do {</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a = b;   </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b = r;  </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r = a % b;</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 while (r);</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  return b;</a:t>
            </a:r>
          </a:p>
          <a:p>
            <a:pPr marL="469900" indent="-469900" eaLnBrk="1" fontAlgn="auto" hangingPunct="1">
              <a:lnSpc>
                <a:spcPct val="95000"/>
              </a:lnSpc>
              <a:spcAft>
                <a:spcPts val="0"/>
              </a:spcAft>
              <a:buClr>
                <a:schemeClr val="accent3"/>
              </a:buClr>
              <a:buFont typeface="Wingdings" pitchFamily="2" charset="2"/>
              <a:buNone/>
              <a:defRPr/>
            </a:pPr>
            <a:r>
              <a:rPr lang="en-US" altLang="zh-CN" b="1">
                <a:effectLst>
                  <a:outerShdw blurRad="38100" dist="38100" dir="2700000" algn="tl">
                    <a:srgbClr val="C0C0C0"/>
                  </a:outerShdw>
                </a:effectLst>
              </a:rPr>
              <a:t>}</a:t>
            </a:r>
          </a:p>
        </p:txBody>
      </p:sp>
      <p:sp>
        <p:nvSpPr>
          <p:cNvPr id="6" name="灯片编号占位符 5"/>
          <p:cNvSpPr>
            <a:spLocks noGrp="1"/>
          </p:cNvSpPr>
          <p:nvPr>
            <p:ph type="sldNum" sz="quarter" idx="12"/>
          </p:nvPr>
        </p:nvSpPr>
        <p:spPr/>
        <p:txBody>
          <a:bodyPr/>
          <a:lstStyle/>
          <a:p>
            <a:pPr>
              <a:defRPr/>
            </a:pPr>
            <a:fld id="{36F3C9ED-7A01-42E8-9BDF-AB662AB4A315}" type="slidenum">
              <a:rPr lang="en-US" altLang="zh-CN"/>
              <a:pPr>
                <a:defRPr/>
              </a:pPr>
              <a:t>23</a:t>
            </a:fld>
            <a:endParaRPr lang="en-US" altLang="zh-CN"/>
          </a:p>
        </p:txBody>
      </p:sp>
      <p:sp>
        <p:nvSpPr>
          <p:cNvPr id="351236" name="Rectangle 4"/>
          <p:cNvSpPr>
            <a:spLocks noChangeArrowheads="1"/>
          </p:cNvSpPr>
          <p:nvPr/>
        </p:nvSpPr>
        <p:spPr bwMode="auto">
          <a:xfrm>
            <a:off x="3563938" y="1343025"/>
            <a:ext cx="5184775" cy="5038725"/>
          </a:xfrm>
          <a:prstGeom prst="rect">
            <a:avLst/>
          </a:prstGeom>
          <a:noFill/>
          <a:ln w="9525">
            <a:solidFill>
              <a:srgbClr val="00FF00"/>
            </a:solidFill>
            <a:miter lim="800000"/>
            <a:headEnd/>
            <a:tailEnd/>
          </a:ln>
          <a:effectLst/>
        </p:spPr>
        <p:txBody>
          <a:bodyPr/>
          <a:lstStyle/>
          <a:p>
            <a:pPr marL="1074738" indent="-1074738" algn="l" eaLnBrk="1" hangingPunct="1">
              <a:lnSpc>
                <a:spcPct val="105000"/>
              </a:lnSpc>
              <a:spcBef>
                <a:spcPct val="15000"/>
              </a:spcBef>
              <a:buClr>
                <a:srgbClr val="0066FF"/>
              </a:buClr>
              <a:buSzPct val="85000"/>
              <a:buFont typeface="Wingdings" pitchFamily="2" charset="2"/>
              <a:buNone/>
              <a:defRPr/>
            </a:pPr>
            <a:r>
              <a:rPr kumimoji="1" lang="zh-CN" altLang="en-US" sz="2600">
                <a:solidFill>
                  <a:srgbClr val="0000FF"/>
                </a:solidFill>
                <a:effectLst>
                  <a:outerShdw blurRad="38100" dist="38100" dir="2700000" algn="tl">
                    <a:srgbClr val="C0C0C0"/>
                  </a:outerShdw>
                </a:effectLst>
                <a:latin typeface="Arial" charset="0"/>
                <a:ea typeface="黑体" pitchFamily="2" charset="-122"/>
              </a:rPr>
              <a:t>主函数</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#include &lt;stdio.h&gt;</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void main( )</a:t>
            </a:r>
            <a:endParaRPr kumimoji="1" lang="en-US" altLang="zh-CN" sz="2600">
              <a:solidFill>
                <a:srgbClr val="0000FF"/>
              </a:solidFill>
              <a:effectLst>
                <a:outerShdw blurRad="38100" dist="38100" dir="2700000" algn="tl">
                  <a:srgbClr val="C0C0C0"/>
                </a:outerShdw>
              </a:effectLst>
              <a:latin typeface="Arial" charset="0"/>
              <a:ea typeface="黑体" pitchFamily="2" charset="-122"/>
            </a:endParaRP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int a,b;</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a:t>
            </a:r>
            <a:r>
              <a:rPr kumimoji="1" lang="en-US" altLang="zh-CN" sz="2600">
                <a:solidFill>
                  <a:srgbClr val="CC6600"/>
                </a:solidFill>
                <a:effectLst>
                  <a:outerShdw blurRad="38100" dist="38100" dir="2700000" algn="tl">
                    <a:srgbClr val="C0C0C0"/>
                  </a:outerShdw>
                </a:effectLst>
                <a:latin typeface="Arial" charset="0"/>
                <a:ea typeface="黑体" pitchFamily="2" charset="-122"/>
              </a:rPr>
              <a:t>/* int gcd (int, int); */</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printf ("Enter a,b:");</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scanf ("%d%d",&amp;a,&amp;b);</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printf (“</a:t>
            </a:r>
            <a:r>
              <a:rPr kumimoji="1" lang="zh-CN" altLang="en-US" sz="2600">
                <a:effectLst>
                  <a:outerShdw blurRad="38100" dist="38100" dir="2700000" algn="tl">
                    <a:srgbClr val="C0C0C0"/>
                  </a:outerShdw>
                </a:effectLst>
                <a:latin typeface="Arial" charset="0"/>
                <a:ea typeface="黑体" pitchFamily="2" charset="-122"/>
              </a:rPr>
              <a:t>结果 </a:t>
            </a:r>
            <a:r>
              <a:rPr kumimoji="1" lang="en-US" altLang="zh-CN" sz="2600">
                <a:effectLst>
                  <a:outerShdw blurRad="38100" dist="38100" dir="2700000" algn="tl">
                    <a:srgbClr val="C0C0C0"/>
                  </a:outerShdw>
                </a:effectLst>
                <a:latin typeface="Arial" charset="0"/>
                <a:ea typeface="黑体" pitchFamily="2" charset="-122"/>
              </a:rPr>
              <a:t>=%d\n",gcd (a,b));</a:t>
            </a:r>
          </a:p>
          <a:p>
            <a:pPr marL="1074738" indent="-1074738" algn="l" eaLnBrk="1" hangingPunct="1">
              <a:lnSpc>
                <a:spcPct val="105000"/>
              </a:lnSpc>
              <a:spcBef>
                <a:spcPct val="15000"/>
              </a:spcBef>
              <a:buClr>
                <a:srgbClr val="0066FF"/>
              </a:buClr>
              <a:buSzPct val="85000"/>
              <a:buFont typeface="Wingdings" pitchFamily="2" charset="2"/>
              <a:buNone/>
              <a:defRPr/>
            </a:pPr>
            <a:r>
              <a:rPr kumimoji="1" lang="en-US" altLang="zh-CN" sz="2600">
                <a:effectLst>
                  <a:outerShdw blurRad="38100" dist="38100" dir="2700000" algn="tl">
                    <a:srgbClr val="C0C0C0"/>
                  </a:outerShdw>
                </a:effectLst>
                <a:latin typeface="Arial" charset="0"/>
                <a:ea typeface="黑体" pitchFamily="2" charset="-122"/>
              </a:rPr>
              <a:t> }</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228600" y="333375"/>
            <a:ext cx="8375650" cy="647700"/>
          </a:xfrm>
        </p:spPr>
        <p:txBody>
          <a:bodyPr>
            <a:normAutofit/>
          </a:bodyPr>
          <a:lstStyle/>
          <a:p>
            <a:pPr eaLnBrk="1" fontAlgn="auto" hangingPunct="1">
              <a:spcAft>
                <a:spcPts val="0"/>
              </a:spcAft>
              <a:defRPr/>
            </a:pPr>
            <a:r>
              <a:rPr lang="en-US" altLang="zh-CN" sz="3800" dirty="0">
                <a:solidFill>
                  <a:schemeClr val="tx1"/>
                </a:solidFill>
                <a:latin typeface="+mn-ea"/>
                <a:ea typeface="+mn-ea"/>
              </a:rPr>
              <a:t>【</a:t>
            </a:r>
            <a:r>
              <a:rPr lang="zh-CN" altLang="en-US" sz="3800" dirty="0">
                <a:solidFill>
                  <a:schemeClr val="tx1"/>
                </a:solidFill>
                <a:latin typeface="+mn-ea"/>
                <a:ea typeface="+mn-ea"/>
              </a:rPr>
              <a:t>例</a:t>
            </a:r>
            <a:r>
              <a:rPr lang="en-US" altLang="zh-CN" sz="3800" dirty="0">
                <a:solidFill>
                  <a:schemeClr val="tx1"/>
                </a:solidFill>
                <a:latin typeface="+mn-ea"/>
                <a:ea typeface="+mn-ea"/>
              </a:rPr>
              <a:t>5.5】</a:t>
            </a:r>
            <a:r>
              <a:rPr lang="zh-CN" altLang="en-US" sz="3800" dirty="0">
                <a:solidFill>
                  <a:schemeClr val="tx1"/>
                </a:solidFill>
                <a:latin typeface="+mn-ea"/>
                <a:ea typeface="+mn-ea"/>
              </a:rPr>
              <a:t>输出换行符的函数</a:t>
            </a:r>
            <a:r>
              <a:rPr lang="en-US" altLang="zh-CN" sz="3800" dirty="0" err="1">
                <a:solidFill>
                  <a:schemeClr val="tx1"/>
                </a:solidFill>
                <a:latin typeface="+mn-ea"/>
                <a:ea typeface="+mn-ea"/>
              </a:rPr>
              <a:t>printnl</a:t>
            </a:r>
            <a:r>
              <a:rPr lang="zh-CN" altLang="en-US" sz="3800" dirty="0">
                <a:solidFill>
                  <a:schemeClr val="tx1"/>
                </a:solidFill>
                <a:latin typeface="+mn-ea"/>
                <a:ea typeface="+mn-ea"/>
              </a:rPr>
              <a:t>。</a:t>
            </a:r>
          </a:p>
        </p:txBody>
      </p:sp>
      <p:sp>
        <p:nvSpPr>
          <p:cNvPr id="7" name="灯片编号占位符 5"/>
          <p:cNvSpPr>
            <a:spLocks noGrp="1"/>
          </p:cNvSpPr>
          <p:nvPr>
            <p:ph type="sldNum" sz="quarter" idx="12"/>
          </p:nvPr>
        </p:nvSpPr>
        <p:spPr/>
        <p:txBody>
          <a:bodyPr/>
          <a:lstStyle/>
          <a:p>
            <a:pPr>
              <a:defRPr/>
            </a:pPr>
            <a:fld id="{E0B50EA0-5638-4EA6-8235-21A3272C2880}" type="slidenum">
              <a:rPr lang="en-US" altLang="zh-CN"/>
              <a:pPr>
                <a:defRPr/>
              </a:pPr>
              <a:t>24</a:t>
            </a:fld>
            <a:endParaRPr lang="en-US" altLang="zh-CN"/>
          </a:p>
        </p:txBody>
      </p:sp>
      <p:sp>
        <p:nvSpPr>
          <p:cNvPr id="352259" name="Rectangle 3"/>
          <p:cNvSpPr>
            <a:spLocks noChangeArrowheads="1"/>
          </p:cNvSpPr>
          <p:nvPr/>
        </p:nvSpPr>
        <p:spPr bwMode="auto">
          <a:xfrm>
            <a:off x="2617788" y="1414463"/>
            <a:ext cx="4143375" cy="3054350"/>
          </a:xfrm>
          <a:prstGeom prst="rect">
            <a:avLst/>
          </a:prstGeom>
          <a:noFill/>
          <a:ln w="9525">
            <a:solidFill>
              <a:srgbClr val="00FF00"/>
            </a:solidFill>
            <a:miter lim="800000"/>
            <a:headEnd/>
            <a:tailEnd/>
          </a:ln>
          <a:effectLst/>
        </p:spPr>
        <p:txBody>
          <a:bodyPr/>
          <a:lstStyle/>
          <a:p>
            <a:pPr marL="1074738" indent="-1074738" algn="l" eaLnBrk="1" hangingPunct="1">
              <a:lnSpc>
                <a:spcPct val="130000"/>
              </a:lnSpc>
              <a:spcBef>
                <a:spcPct val="15000"/>
              </a:spcBef>
              <a:buClr>
                <a:srgbClr val="0066FF"/>
              </a:buClr>
              <a:buSzPct val="85000"/>
              <a:buFont typeface="Wingdings" pitchFamily="2" charset="2"/>
              <a:buNone/>
              <a:defRPr/>
            </a:pPr>
            <a:r>
              <a:rPr kumimoji="1" lang="en-US" altLang="zh-CN" sz="2600">
                <a:solidFill>
                  <a:srgbClr val="0000FF"/>
                </a:solidFill>
                <a:effectLst>
                  <a:outerShdw blurRad="38100" dist="38100" dir="2700000" algn="tl">
                    <a:srgbClr val="C0C0C0"/>
                  </a:outerShdw>
                </a:effectLst>
                <a:latin typeface="Arial" charset="0"/>
                <a:ea typeface="黑体" pitchFamily="2" charset="-122"/>
              </a:rPr>
              <a:t>void  printnl( void)</a:t>
            </a:r>
          </a:p>
          <a:p>
            <a:pPr marL="1074738" indent="-1074738" algn="l" eaLnBrk="1" hangingPunct="1">
              <a:lnSpc>
                <a:spcPct val="130000"/>
              </a:lnSpc>
              <a:spcBef>
                <a:spcPct val="15000"/>
              </a:spcBef>
              <a:buClr>
                <a:srgbClr val="0066FF"/>
              </a:buClr>
              <a:buSzPct val="85000"/>
              <a:buFont typeface="Wingdings" pitchFamily="2" charset="2"/>
              <a:buNone/>
              <a:defRPr/>
            </a:pPr>
            <a:r>
              <a:rPr kumimoji="1" lang="en-US" altLang="zh-CN" sz="2600">
                <a:solidFill>
                  <a:srgbClr val="0000FF"/>
                </a:solidFill>
                <a:effectLst>
                  <a:outerShdw blurRad="38100" dist="38100" dir="2700000" algn="tl">
                    <a:srgbClr val="C0C0C0"/>
                  </a:outerShdw>
                </a:effectLst>
                <a:latin typeface="Arial" charset="0"/>
                <a:ea typeface="黑体" pitchFamily="2" charset="-122"/>
              </a:rPr>
              <a:t>{</a:t>
            </a:r>
          </a:p>
          <a:p>
            <a:pPr marL="1074738" indent="-1074738" algn="l" eaLnBrk="1" hangingPunct="1">
              <a:lnSpc>
                <a:spcPct val="130000"/>
              </a:lnSpc>
              <a:spcBef>
                <a:spcPct val="15000"/>
              </a:spcBef>
              <a:buClr>
                <a:srgbClr val="0066FF"/>
              </a:buClr>
              <a:buSzPct val="85000"/>
              <a:buFont typeface="Wingdings" pitchFamily="2" charset="2"/>
              <a:buNone/>
              <a:defRPr/>
            </a:pPr>
            <a:r>
              <a:rPr kumimoji="1" lang="en-US" altLang="zh-CN" sz="2600">
                <a:solidFill>
                  <a:srgbClr val="0000FF"/>
                </a:solidFill>
                <a:effectLst>
                  <a:outerShdw blurRad="38100" dist="38100" dir="2700000" algn="tl">
                    <a:srgbClr val="C0C0C0"/>
                  </a:outerShdw>
                </a:effectLst>
                <a:latin typeface="Arial" charset="0"/>
                <a:ea typeface="黑体" pitchFamily="2" charset="-122"/>
              </a:rPr>
              <a:t>    printf(“\n”);</a:t>
            </a:r>
          </a:p>
          <a:p>
            <a:pPr marL="1074738" indent="-1074738" algn="l" eaLnBrk="1" hangingPunct="1">
              <a:lnSpc>
                <a:spcPct val="130000"/>
              </a:lnSpc>
              <a:spcBef>
                <a:spcPct val="15000"/>
              </a:spcBef>
              <a:buClr>
                <a:srgbClr val="0066FF"/>
              </a:buClr>
              <a:buSzPct val="85000"/>
              <a:buFont typeface="Wingdings" pitchFamily="2" charset="2"/>
              <a:buNone/>
              <a:defRPr/>
            </a:pPr>
            <a:r>
              <a:rPr kumimoji="1" lang="en-US" altLang="zh-CN" sz="2600">
                <a:solidFill>
                  <a:srgbClr val="0000FF"/>
                </a:solidFill>
                <a:effectLst>
                  <a:outerShdw blurRad="38100" dist="38100" dir="2700000" algn="tl">
                    <a:srgbClr val="C0C0C0"/>
                  </a:outerShdw>
                </a:effectLst>
                <a:latin typeface="Arial" charset="0"/>
                <a:ea typeface="黑体" pitchFamily="2" charset="-122"/>
              </a:rPr>
              <a:t>}</a:t>
            </a:r>
            <a:endParaRPr kumimoji="1" lang="en-US" altLang="zh-CN" sz="2600">
              <a:effectLst>
                <a:outerShdw blurRad="38100" dist="38100" dir="2700000" algn="tl">
                  <a:srgbClr val="C0C0C0"/>
                </a:outerShdw>
              </a:effectLst>
              <a:latin typeface="Arial" charset="0"/>
              <a:ea typeface="黑体" pitchFamily="2" charset="-122"/>
            </a:endParaRPr>
          </a:p>
        </p:txBody>
      </p:sp>
      <p:sp>
        <p:nvSpPr>
          <p:cNvPr id="30725" name="Text Box 4"/>
          <p:cNvSpPr txBox="1">
            <a:spLocks noChangeArrowheads="1"/>
          </p:cNvSpPr>
          <p:nvPr/>
        </p:nvSpPr>
        <p:spPr bwMode="auto">
          <a:xfrm>
            <a:off x="1187450" y="4930775"/>
            <a:ext cx="6978650" cy="946150"/>
          </a:xfrm>
          <a:prstGeom prst="rect">
            <a:avLst/>
          </a:prstGeom>
          <a:noFill/>
          <a:ln w="9525">
            <a:noFill/>
            <a:miter lim="800000"/>
            <a:headEnd/>
            <a:tailEnd/>
          </a:ln>
        </p:spPr>
        <p:txBody>
          <a:bodyPr wrap="none">
            <a:spAutoFit/>
          </a:bodyPr>
          <a:lstStyle/>
          <a:p>
            <a:pPr algn="l"/>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程序说明</a:t>
            </a:r>
            <a:r>
              <a:rPr lang="en-US" altLang="zh-CN">
                <a:latin typeface="楷体_GB2312" pitchFamily="49" charset="-122"/>
                <a:ea typeface="楷体_GB2312" pitchFamily="49" charset="-122"/>
              </a:rPr>
              <a:t>】</a:t>
            </a:r>
          </a:p>
          <a:p>
            <a:pPr algn="l"/>
            <a:r>
              <a:rPr lang="zh-CN" altLang="en-US">
                <a:latin typeface="楷体_GB2312" pitchFamily="49" charset="-122"/>
                <a:ea typeface="楷体_GB2312" pitchFamily="49" charset="-122"/>
              </a:rPr>
              <a:t>函数</a:t>
            </a:r>
            <a:r>
              <a:rPr lang="en-US" altLang="zh-CN">
                <a:latin typeface="楷体_GB2312" pitchFamily="49" charset="-122"/>
                <a:ea typeface="楷体_GB2312" pitchFamily="49" charset="-122"/>
              </a:rPr>
              <a:t>printnl()</a:t>
            </a:r>
            <a:r>
              <a:rPr lang="zh-CN" altLang="en-US">
                <a:latin typeface="楷体_GB2312" pitchFamily="49" charset="-122"/>
                <a:ea typeface="楷体_GB2312" pitchFamily="49" charset="-122"/>
              </a:rPr>
              <a:t>不返回结果，也没有形参。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228600" y="333375"/>
            <a:ext cx="8375650" cy="647700"/>
          </a:xfrm>
        </p:spPr>
        <p:txBody>
          <a:bodyPr>
            <a:normAutofit/>
          </a:bodyPr>
          <a:lstStyle/>
          <a:p>
            <a:pPr eaLnBrk="1" fontAlgn="auto" hangingPunct="1">
              <a:spcAft>
                <a:spcPts val="0"/>
              </a:spcAft>
              <a:defRPr/>
            </a:pPr>
            <a:r>
              <a:rPr lang="en-US" altLang="zh-CN" sz="3800" dirty="0">
                <a:solidFill>
                  <a:schemeClr val="tx1"/>
                </a:solidFill>
                <a:latin typeface="+mn-ea"/>
                <a:ea typeface="+mn-ea"/>
              </a:rPr>
              <a:t>【</a:t>
            </a:r>
            <a:r>
              <a:rPr lang="zh-CN" altLang="en-US" sz="3800" dirty="0">
                <a:solidFill>
                  <a:schemeClr val="tx1"/>
                </a:solidFill>
                <a:latin typeface="+mn-ea"/>
                <a:ea typeface="+mn-ea"/>
              </a:rPr>
              <a:t>例</a:t>
            </a:r>
            <a:r>
              <a:rPr lang="en-US" altLang="zh-CN" sz="3800" dirty="0">
                <a:solidFill>
                  <a:schemeClr val="tx1"/>
                </a:solidFill>
                <a:latin typeface="+mn-ea"/>
                <a:ea typeface="+mn-ea"/>
              </a:rPr>
              <a:t>5.6】</a:t>
            </a:r>
            <a:r>
              <a:rPr lang="zh-CN" altLang="en-US" sz="3800" dirty="0">
                <a:solidFill>
                  <a:schemeClr val="tx1"/>
                </a:solidFill>
                <a:latin typeface="+mn-ea"/>
                <a:ea typeface="+mn-ea"/>
              </a:rPr>
              <a:t>空函数</a:t>
            </a:r>
          </a:p>
        </p:txBody>
      </p:sp>
      <p:sp>
        <p:nvSpPr>
          <p:cNvPr id="7" name="灯片编号占位符 5"/>
          <p:cNvSpPr>
            <a:spLocks noGrp="1"/>
          </p:cNvSpPr>
          <p:nvPr>
            <p:ph type="sldNum" sz="quarter" idx="12"/>
          </p:nvPr>
        </p:nvSpPr>
        <p:spPr/>
        <p:txBody>
          <a:bodyPr/>
          <a:lstStyle/>
          <a:p>
            <a:pPr>
              <a:defRPr/>
            </a:pPr>
            <a:fld id="{14D7DDD8-2147-4CFA-9C7E-FC3FB9828765}" type="slidenum">
              <a:rPr lang="en-US" altLang="zh-CN"/>
              <a:pPr>
                <a:defRPr/>
              </a:pPr>
              <a:t>25</a:t>
            </a:fld>
            <a:endParaRPr lang="en-US" altLang="zh-CN"/>
          </a:p>
        </p:txBody>
      </p:sp>
      <p:sp>
        <p:nvSpPr>
          <p:cNvPr id="31748" name="Rectangle 3"/>
          <p:cNvSpPr>
            <a:spLocks noChangeArrowheads="1"/>
          </p:cNvSpPr>
          <p:nvPr/>
        </p:nvSpPr>
        <p:spPr bwMode="auto">
          <a:xfrm>
            <a:off x="1835150" y="1414463"/>
            <a:ext cx="6049963" cy="1798637"/>
          </a:xfrm>
          <a:prstGeom prst="rect">
            <a:avLst/>
          </a:prstGeom>
          <a:noFill/>
          <a:ln w="9525">
            <a:solidFill>
              <a:srgbClr val="00FF00"/>
            </a:solidFill>
            <a:miter lim="800000"/>
            <a:headEnd/>
            <a:tailEnd/>
          </a:ln>
        </p:spPr>
        <p:txBody>
          <a:bodyPr/>
          <a:lstStyle/>
          <a:p>
            <a:pPr marL="1074738" indent="-1074738" algn="l" eaLnBrk="1" hangingPunct="1">
              <a:lnSpc>
                <a:spcPct val="105000"/>
              </a:lnSpc>
              <a:spcBef>
                <a:spcPct val="15000"/>
              </a:spcBef>
              <a:buClr>
                <a:srgbClr val="0066FF"/>
              </a:buClr>
              <a:buSzPct val="85000"/>
              <a:buFont typeface="Wingdings" pitchFamily="2" charset="2"/>
              <a:buNone/>
            </a:pPr>
            <a:r>
              <a:rPr lang="en-US" altLang="zh-CN">
                <a:latin typeface="Arial" charset="0"/>
                <a:ea typeface="黑体" pitchFamily="2" charset="-122"/>
              </a:rPr>
              <a:t>dummy()  /* </a:t>
            </a:r>
            <a:r>
              <a:rPr lang="zh-CN" altLang="en-US">
                <a:latin typeface="Arial" charset="0"/>
                <a:ea typeface="黑体" pitchFamily="2" charset="-122"/>
              </a:rPr>
              <a:t>或 </a:t>
            </a:r>
            <a:r>
              <a:rPr lang="en-US" altLang="zh-CN">
                <a:latin typeface="Arial" charset="0"/>
                <a:ea typeface="黑体" pitchFamily="2" charset="-122"/>
              </a:rPr>
              <a:t>dummy(void) */</a:t>
            </a:r>
          </a:p>
          <a:p>
            <a:pPr marL="1074738" indent="-1074738" algn="l" eaLnBrk="1" hangingPunct="1">
              <a:lnSpc>
                <a:spcPct val="105000"/>
              </a:lnSpc>
              <a:spcBef>
                <a:spcPct val="15000"/>
              </a:spcBef>
              <a:buClr>
                <a:srgbClr val="0066FF"/>
              </a:buClr>
              <a:buSzPct val="85000"/>
              <a:buFont typeface="Wingdings" pitchFamily="2" charset="2"/>
              <a:buNone/>
            </a:pPr>
            <a:r>
              <a:rPr lang="en-US" altLang="zh-CN">
                <a:latin typeface="Arial" charset="0"/>
                <a:ea typeface="黑体" pitchFamily="2" charset="-122"/>
              </a:rPr>
              <a:t> {</a:t>
            </a:r>
          </a:p>
          <a:p>
            <a:pPr marL="1074738" indent="-1074738" algn="l" eaLnBrk="1" hangingPunct="1">
              <a:lnSpc>
                <a:spcPct val="105000"/>
              </a:lnSpc>
              <a:spcBef>
                <a:spcPct val="15000"/>
              </a:spcBef>
              <a:buClr>
                <a:srgbClr val="0066FF"/>
              </a:buClr>
              <a:buSzPct val="85000"/>
              <a:buFont typeface="Wingdings" pitchFamily="2" charset="2"/>
              <a:buNone/>
            </a:pPr>
            <a:r>
              <a:rPr lang="en-US" altLang="zh-CN">
                <a:latin typeface="Arial" charset="0"/>
                <a:ea typeface="黑体" pitchFamily="2" charset="-122"/>
              </a:rPr>
              <a:t> }</a:t>
            </a:r>
          </a:p>
        </p:txBody>
      </p:sp>
      <p:sp>
        <p:nvSpPr>
          <p:cNvPr id="31749" name="Text Box 4"/>
          <p:cNvSpPr txBox="1">
            <a:spLocks noChangeArrowheads="1"/>
          </p:cNvSpPr>
          <p:nvPr/>
        </p:nvSpPr>
        <p:spPr bwMode="auto">
          <a:xfrm>
            <a:off x="323850" y="3716338"/>
            <a:ext cx="8351838" cy="2654300"/>
          </a:xfrm>
          <a:prstGeom prst="rect">
            <a:avLst/>
          </a:prstGeom>
          <a:noFill/>
          <a:ln w="9525">
            <a:noFill/>
            <a:miter lim="800000"/>
            <a:headEnd/>
            <a:tailEnd/>
          </a:ln>
        </p:spPr>
        <p:txBody>
          <a:bodyPr>
            <a:spAutoFit/>
          </a:bodyPr>
          <a:lstStyle/>
          <a:p>
            <a:pPr algn="l"/>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程序说明</a:t>
            </a:r>
            <a:r>
              <a:rPr lang="en-US" altLang="zh-CN">
                <a:latin typeface="楷体_GB2312" pitchFamily="49" charset="-122"/>
                <a:ea typeface="楷体_GB2312" pitchFamily="49" charset="-122"/>
              </a:rPr>
              <a:t>】</a:t>
            </a:r>
          </a:p>
          <a:p>
            <a:pPr algn="l"/>
            <a:r>
              <a:rPr lang="zh-CN" altLang="en-US">
                <a:latin typeface="楷体_GB2312" pitchFamily="49" charset="-122"/>
                <a:ea typeface="楷体_GB2312" pitchFamily="49" charset="-122"/>
              </a:rPr>
              <a:t>调用空函数时，什么工作也没有做，控制立即返回到调用处。定义空函数的目的</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表明此处要定义某个函数，因实现该函数功能的算法还未确定，或暂时来不及编写，或有待于进一步完善和扩充其功能等原因，暂时还未给出该函数的完整定义。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395288" y="228600"/>
            <a:ext cx="8520112" cy="609600"/>
          </a:xfrm>
        </p:spPr>
        <p:txBody>
          <a:bodyPr>
            <a:normAutofit fontScale="90000"/>
          </a:bodyPr>
          <a:lstStyle/>
          <a:p>
            <a:pPr eaLnBrk="1" fontAlgn="auto" hangingPunct="1">
              <a:spcAft>
                <a:spcPts val="0"/>
              </a:spcAft>
              <a:defRPr/>
            </a:pPr>
            <a:r>
              <a:rPr lang="en-US" altLang="zh-CN" sz="4200" dirty="0">
                <a:solidFill>
                  <a:schemeClr val="tx1"/>
                </a:solidFill>
                <a:latin typeface="+mn-ea"/>
                <a:ea typeface="+mn-ea"/>
              </a:rPr>
              <a:t>5.4 </a:t>
            </a:r>
            <a:r>
              <a:rPr lang="zh-CN" altLang="en-US" sz="4200" dirty="0">
                <a:solidFill>
                  <a:schemeClr val="tx1"/>
                </a:solidFill>
                <a:latin typeface="+mn-ea"/>
                <a:ea typeface="+mn-ea"/>
              </a:rPr>
              <a:t>函数调用</a:t>
            </a:r>
          </a:p>
        </p:txBody>
      </p:sp>
      <p:sp>
        <p:nvSpPr>
          <p:cNvPr id="354307" name="Rectangle 3"/>
          <p:cNvSpPr>
            <a:spLocks noGrp="1" noChangeArrowheads="1"/>
          </p:cNvSpPr>
          <p:nvPr>
            <p:ph idx="1"/>
          </p:nvPr>
        </p:nvSpPr>
        <p:spPr>
          <a:xfrm>
            <a:off x="250825" y="981075"/>
            <a:ext cx="8520113" cy="5329238"/>
          </a:xfrm>
        </p:spPr>
        <p:txBody>
          <a:bodyPr>
            <a:normAutofit/>
          </a:bodyPr>
          <a:lstStyle/>
          <a:p>
            <a:pPr marL="0" indent="0" algn="just"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函数被定义以后，凡要实现函数功能的地方，就可简单地通过函数调用来完成。</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一般形式</a:t>
            </a:r>
            <a:r>
              <a:rPr lang="en-US" altLang="zh-CN" b="1"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lang="zh-CN" altLang="en-US" b="1" dirty="0">
                <a:effectLst>
                  <a:outerShdw blurRad="38100" dist="38100" dir="2700000" algn="tl">
                    <a:srgbClr val="C0C0C0"/>
                  </a:outerShdw>
                </a:effectLst>
                <a:latin typeface="楷体_GB2312" pitchFamily="49" charset="-122"/>
                <a:ea typeface="楷体_GB2312" pitchFamily="49" charset="-122"/>
              </a:rPr>
              <a:t>标识符（实在参数表）</a:t>
            </a:r>
            <a:endParaRPr lang="en-US" altLang="zh-CN"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这里的标识符是某个函数名。</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实在参数：</a:t>
            </a:r>
            <a:r>
              <a:rPr lang="zh-CN" altLang="en-US" b="1" dirty="0">
                <a:solidFill>
                  <a:srgbClr val="660033"/>
                </a:solidFill>
                <a:effectLst>
                  <a:outerShdw blurRad="38100" dist="38100" dir="2700000" algn="tl">
                    <a:srgbClr val="C0C0C0"/>
                  </a:outerShdw>
                </a:effectLst>
                <a:latin typeface="楷体_GB2312" pitchFamily="49" charset="-122"/>
                <a:ea typeface="楷体_GB2312" pitchFamily="49" charset="-122"/>
              </a:rPr>
              <a:t>实参按顺序与函数定义中的形参一一对应，且类型一致。</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如函数调用：</a:t>
            </a:r>
            <a:r>
              <a:rPr lang="zh-CN" altLang="en-US" sz="2400" b="1" dirty="0">
                <a:solidFill>
                  <a:srgbClr val="660033"/>
                </a:solidFill>
                <a:effectLst>
                  <a:outerShdw blurRad="38100" dist="38100" dir="2700000" algn="tl">
                    <a:srgbClr val="C0C0C0"/>
                  </a:outerShdw>
                </a:effectLst>
                <a:latin typeface="楷体_GB2312" pitchFamily="49" charset="-122"/>
                <a:ea typeface="楷体_GB2312" pitchFamily="49" charset="-122"/>
              </a:rPr>
              <a:t> </a:t>
            </a:r>
            <a:r>
              <a:rPr lang="en-US" altLang="zh-CN" b="1" dirty="0">
                <a:solidFill>
                  <a:srgbClr val="660033"/>
                </a:solidFill>
                <a:effectLst>
                  <a:outerShdw blurRad="38100" dist="38100" dir="2700000" algn="tl">
                    <a:srgbClr val="C0C0C0"/>
                  </a:outerShdw>
                </a:effectLst>
                <a:latin typeface="楷体_GB2312" pitchFamily="49" charset="-122"/>
                <a:ea typeface="楷体_GB2312" pitchFamily="49" charset="-122"/>
              </a:rPr>
              <a:t>w = min(u, v);</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说明：</a:t>
            </a:r>
            <a:r>
              <a:rPr lang="zh-CN" altLang="en-US" b="1" dirty="0">
                <a:effectLst>
                  <a:outerShdw blurRad="38100" dist="38100" dir="2700000" algn="tl">
                    <a:srgbClr val="C0C0C0"/>
                  </a:outerShdw>
                </a:effectLst>
                <a:latin typeface="楷体_GB2312" pitchFamily="49" charset="-122"/>
                <a:ea typeface="楷体_GB2312" pitchFamily="49" charset="-122"/>
              </a:rPr>
              <a:t>调用函数名为</a:t>
            </a:r>
            <a:r>
              <a:rPr lang="en-US" altLang="zh-CN" b="1" dirty="0">
                <a:effectLst>
                  <a:outerShdw blurRad="38100" dist="38100" dir="2700000" algn="tl">
                    <a:srgbClr val="C0C0C0"/>
                  </a:outerShdw>
                </a:effectLst>
                <a:latin typeface="楷体_GB2312" pitchFamily="49" charset="-122"/>
                <a:ea typeface="楷体_GB2312" pitchFamily="49" charset="-122"/>
              </a:rPr>
              <a:t>min</a:t>
            </a:r>
            <a:r>
              <a:rPr lang="zh-CN" altLang="en-US" b="1" dirty="0">
                <a:effectLst>
                  <a:outerShdw blurRad="38100" dist="38100" dir="2700000" algn="tl">
                    <a:srgbClr val="C0C0C0"/>
                  </a:outerShdw>
                </a:effectLst>
                <a:latin typeface="楷体_GB2312" pitchFamily="49" charset="-122"/>
                <a:ea typeface="楷体_GB2312" pitchFamily="49" charset="-122"/>
              </a:rPr>
              <a:t>，提供了两个实参</a:t>
            </a:r>
            <a:r>
              <a:rPr lang="en-US" altLang="zh-CN" b="1" dirty="0">
                <a:effectLst>
                  <a:outerShdw blurRad="38100" dist="38100" dir="2700000" algn="tl">
                    <a:srgbClr val="C0C0C0"/>
                  </a:outerShdw>
                </a:effectLst>
                <a:latin typeface="楷体_GB2312" pitchFamily="49" charset="-122"/>
                <a:ea typeface="楷体_GB2312" pitchFamily="49" charset="-122"/>
              </a:rPr>
              <a:t>u</a:t>
            </a:r>
            <a:r>
              <a:rPr lang="zh-CN" altLang="en-US" b="1" dirty="0">
                <a:effectLst>
                  <a:outerShdw blurRad="38100" dist="38100" dir="2700000" algn="tl">
                    <a:srgbClr val="C0C0C0"/>
                  </a:outerShdw>
                </a:effectLst>
                <a:latin typeface="楷体_GB2312" pitchFamily="49" charset="-122"/>
                <a:ea typeface="楷体_GB2312" pitchFamily="49" charset="-122"/>
              </a:rPr>
              <a:t>和</a:t>
            </a:r>
            <a:r>
              <a:rPr lang="en-US" altLang="zh-CN" b="1" dirty="0">
                <a:effectLst>
                  <a:outerShdw blurRad="38100" dist="38100" dir="2700000" algn="tl">
                    <a:srgbClr val="C0C0C0"/>
                  </a:outerShdw>
                </a:effectLst>
                <a:latin typeface="楷体_GB2312" pitchFamily="49" charset="-122"/>
                <a:ea typeface="楷体_GB2312" pitchFamily="49" charset="-122"/>
              </a:rPr>
              <a:t>v</a:t>
            </a:r>
            <a:r>
              <a:rPr lang="zh-CN" altLang="en-US" b="1" dirty="0">
                <a:effectLst>
                  <a:outerShdw blurRad="38100" dist="38100" dir="2700000" algn="tl">
                    <a:srgbClr val="C0C0C0"/>
                  </a:outerShdw>
                </a:effectLst>
                <a:latin typeface="楷体_GB2312" pitchFamily="49" charset="-122"/>
                <a:ea typeface="楷体_GB2312" pitchFamily="49" charset="-122"/>
              </a:rPr>
              <a:t>，函数返回时结果存入变量</a:t>
            </a:r>
            <a:r>
              <a:rPr lang="en-US" altLang="zh-CN" b="1" dirty="0">
                <a:effectLst>
                  <a:outerShdw blurRad="38100" dist="38100" dir="2700000" algn="tl">
                    <a:srgbClr val="C0C0C0"/>
                  </a:outerShdw>
                </a:effectLst>
                <a:latin typeface="楷体_GB2312" pitchFamily="49" charset="-122"/>
                <a:ea typeface="楷体_GB2312" pitchFamily="49" charset="-122"/>
              </a:rPr>
              <a:t>w</a:t>
            </a:r>
            <a:r>
              <a:rPr lang="zh-CN" altLang="en-US" b="1" dirty="0">
                <a:effectLst>
                  <a:outerShdw blurRad="38100" dist="38100" dir="2700000" algn="tl">
                    <a:srgbClr val="C0C0C0"/>
                  </a:outerShdw>
                </a:effectLst>
                <a:latin typeface="楷体_GB2312" pitchFamily="49" charset="-122"/>
                <a:ea typeface="楷体_GB2312" pitchFamily="49" charset="-122"/>
              </a:rPr>
              <a:t>中。</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0000FF"/>
                </a:solidFill>
                <a:effectLst>
                  <a:outerShdw blurRad="38100" dist="38100" dir="2700000" algn="tl">
                    <a:srgbClr val="C0C0C0"/>
                  </a:outerShdw>
                </a:effectLst>
                <a:latin typeface="楷体_GB2312" pitchFamily="49" charset="-122"/>
                <a:ea typeface="楷体_GB2312" pitchFamily="49" charset="-122"/>
              </a:rPr>
              <a:t>若调用无形参的函数，调用形式变为：</a:t>
            </a:r>
          </a:p>
          <a:p>
            <a:pPr marL="0" indent="0" algn="just" eaLnBrk="1" fontAlgn="auto" hangingPunct="1">
              <a:lnSpc>
                <a:spcPct val="95000"/>
              </a:lnSpc>
              <a:spcAft>
                <a:spcPts val="0"/>
              </a:spcAft>
              <a:buClr>
                <a:schemeClr val="accent3"/>
              </a:buClr>
              <a:buFont typeface="Wingdings" pitchFamily="2" charset="2"/>
              <a:buNone/>
              <a:defRPr/>
            </a:pPr>
            <a:r>
              <a:rPr lang="zh-CN" altLang="en-US" b="1" dirty="0">
                <a:solidFill>
                  <a:srgbClr val="339933"/>
                </a:solidFill>
                <a:effectLst>
                  <a:outerShdw blurRad="38100" dist="38100" dir="2700000" algn="tl">
                    <a:srgbClr val="C0C0C0"/>
                  </a:outerShdw>
                </a:effectLst>
                <a:latin typeface="楷体_GB2312" pitchFamily="49" charset="-122"/>
                <a:ea typeface="楷体_GB2312" pitchFamily="49" charset="-122"/>
              </a:rPr>
              <a:t>       </a:t>
            </a:r>
            <a:r>
              <a:rPr lang="zh-CN" altLang="en-US" b="1" dirty="0">
                <a:solidFill>
                  <a:schemeClr val="tx2"/>
                </a:solidFill>
                <a:effectLst>
                  <a:outerShdw blurRad="38100" dist="38100" dir="2700000" algn="tl">
                    <a:srgbClr val="C0C0C0"/>
                  </a:outerShdw>
                </a:effectLst>
                <a:latin typeface="楷体_GB2312" pitchFamily="49" charset="-122"/>
                <a:ea typeface="楷体_GB2312" pitchFamily="49" charset="-122"/>
              </a:rPr>
              <a:t>标识符</a:t>
            </a:r>
            <a:r>
              <a:rPr lang="en-US" altLang="zh-CN" b="1" dirty="0">
                <a:solidFill>
                  <a:schemeClr val="tx2"/>
                </a:solidFill>
                <a:effectLst>
                  <a:outerShdw blurRad="38100" dist="38100" dir="2700000" algn="tl">
                    <a:srgbClr val="C0C0C0"/>
                  </a:outerShdw>
                </a:effectLst>
                <a:latin typeface="楷体_GB2312" pitchFamily="49" charset="-122"/>
                <a:ea typeface="楷体_GB2312" pitchFamily="49" charset="-122"/>
              </a:rPr>
              <a:t>()</a:t>
            </a:r>
            <a:endParaRPr lang="en-US" altLang="zh-CN" b="1" dirty="0">
              <a:solidFill>
                <a:srgbClr val="339933"/>
              </a:solidFill>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lnSpc>
                <a:spcPct val="95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标识符是函数名，其后的一对圆括号不能省略。</a:t>
            </a:r>
          </a:p>
        </p:txBody>
      </p:sp>
      <p:sp>
        <p:nvSpPr>
          <p:cNvPr id="6" name="灯片编号占位符 5"/>
          <p:cNvSpPr>
            <a:spLocks noGrp="1"/>
          </p:cNvSpPr>
          <p:nvPr>
            <p:ph type="sldNum" sz="quarter" idx="12"/>
          </p:nvPr>
        </p:nvSpPr>
        <p:spPr/>
        <p:txBody>
          <a:bodyPr/>
          <a:lstStyle/>
          <a:p>
            <a:pPr>
              <a:defRPr/>
            </a:pPr>
            <a:fld id="{0ECF46AD-100F-48FE-B81A-5E80BE016C9C}" type="slidenum">
              <a:rPr lang="en-US" altLang="zh-CN"/>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7" name="Rectangle 3"/>
          <p:cNvSpPr>
            <a:spLocks noGrp="1" noChangeArrowheads="1"/>
          </p:cNvSpPr>
          <p:nvPr>
            <p:ph idx="1"/>
          </p:nvPr>
        </p:nvSpPr>
        <p:spPr>
          <a:xfrm>
            <a:off x="250825" y="549275"/>
            <a:ext cx="8520113" cy="5761038"/>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3200" b="1" dirty="0">
                <a:solidFill>
                  <a:srgbClr val="CC0099"/>
                </a:solidFill>
                <a:effectLst>
                  <a:outerShdw blurRad="38100" dist="38100" dir="2700000" algn="tl">
                    <a:srgbClr val="C0C0C0"/>
                  </a:outerShdw>
                </a:effectLst>
                <a:latin typeface="楷体_GB2312" pitchFamily="49" charset="-122"/>
                <a:ea typeface="楷体_GB2312" pitchFamily="49" charset="-122"/>
              </a:rPr>
              <a:t>函数调用主要有以下两种方式：</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(1) </a:t>
            </a:r>
            <a:r>
              <a:rPr lang="zh-CN" altLang="en-US" b="1" dirty="0">
                <a:effectLst>
                  <a:outerShdw blurRad="38100" dist="38100" dir="2700000" algn="tl">
                    <a:srgbClr val="C0C0C0"/>
                  </a:outerShdw>
                </a:effectLst>
                <a:latin typeface="楷体_GB2312" pitchFamily="49" charset="-122"/>
                <a:ea typeface="楷体_GB2312" pitchFamily="49" charset="-122"/>
              </a:rPr>
              <a:t>函数调用作为独立的语句</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如果函数调用只是利用函数所完成的功能，可以将函数调用作为一个独立的语句，就是在函数调用之后加上一个分号。这种应用不要求函数有返回值，或无视函数的返回值。例如，程序中经常使用的调用格式输入函数</a:t>
            </a:r>
            <a:r>
              <a:rPr lang="en-US" altLang="zh-CN" b="1" dirty="0" err="1">
                <a:effectLst>
                  <a:outerShdw blurRad="38100" dist="38100" dir="2700000" algn="tl">
                    <a:srgbClr val="C0C0C0"/>
                  </a:outerShdw>
                </a:effectLst>
                <a:latin typeface="楷体_GB2312" pitchFamily="49" charset="-122"/>
                <a:ea typeface="楷体_GB2312" pitchFamily="49" charset="-122"/>
              </a:rPr>
              <a:t>scanf</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等。</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(2) </a:t>
            </a:r>
            <a:r>
              <a:rPr lang="zh-CN" altLang="en-US" b="1" dirty="0">
                <a:effectLst>
                  <a:outerShdw blurRad="38100" dist="38100" dir="2700000" algn="tl">
                    <a:srgbClr val="C0C0C0"/>
                  </a:outerShdw>
                </a:effectLst>
                <a:latin typeface="楷体_GB2312" pitchFamily="49" charset="-122"/>
                <a:ea typeface="楷体_GB2312" pitchFamily="49" charset="-122"/>
              </a:rPr>
              <a:t>函数调用出现在表达式中</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函数调用是利用函数的返回值，或对函数的返回值作进一步计算，或直接输出函数的返回值等。</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minvalue</a:t>
            </a:r>
            <a:r>
              <a:rPr lang="en-US" altLang="zh-CN" sz="2400" b="1" dirty="0">
                <a:effectLst>
                  <a:outerShdw blurRad="38100" dist="38100" dir="2700000" algn="tl">
                    <a:srgbClr val="C0C0C0"/>
                  </a:outerShdw>
                </a:effectLst>
                <a:latin typeface="楷体_GB2312" pitchFamily="49" charset="-122"/>
                <a:ea typeface="楷体_GB2312" pitchFamily="49" charset="-122"/>
              </a:rPr>
              <a:t> = min(a, min(c, d));/*</a:t>
            </a:r>
            <a:r>
              <a:rPr lang="zh-CN" altLang="en-US" sz="2400" b="1" dirty="0">
                <a:effectLst>
                  <a:outerShdw blurRad="38100" dist="38100" dir="2700000" algn="tl">
                    <a:srgbClr val="C0C0C0"/>
                  </a:outerShdw>
                </a:effectLst>
                <a:latin typeface="楷体_GB2312" pitchFamily="49" charset="-122"/>
                <a:ea typeface="楷体_GB2312" pitchFamily="49" charset="-122"/>
              </a:rPr>
              <a:t>对返回值进一步计算 *</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printf</a:t>
            </a:r>
            <a:r>
              <a:rPr lang="en-US" altLang="zh-CN" sz="2400" b="1" dirty="0">
                <a:effectLst>
                  <a:outerShdw blurRad="38100" dist="38100" dir="2700000" algn="tl">
                    <a:srgbClr val="C0C0C0"/>
                  </a:outerShdw>
                </a:effectLst>
                <a:latin typeface="楷体_GB2312" pitchFamily="49" charset="-122"/>
                <a:ea typeface="楷体_GB2312" pitchFamily="49" charset="-122"/>
              </a:rPr>
              <a:t>("%f\</a:t>
            </a:r>
            <a:r>
              <a:rPr lang="en-US" altLang="zh-CN" sz="2400" b="1" dirty="0" err="1">
                <a:effectLst>
                  <a:outerShdw blurRad="38100" dist="38100" dir="2700000" algn="tl">
                    <a:srgbClr val="C0C0C0"/>
                  </a:outerShdw>
                </a:effectLst>
                <a:latin typeface="楷体_GB2312" pitchFamily="49" charset="-122"/>
                <a:ea typeface="楷体_GB2312" pitchFamily="49" charset="-122"/>
              </a:rPr>
              <a:t>n",min</a:t>
            </a:r>
            <a:r>
              <a:rPr lang="en-US" altLang="zh-CN" sz="2400" b="1" dirty="0">
                <a:effectLst>
                  <a:outerShdw blurRad="38100" dist="38100" dir="2700000" algn="tl">
                    <a:srgbClr val="C0C0C0"/>
                  </a:outerShdw>
                </a:effectLst>
                <a:latin typeface="楷体_GB2312" pitchFamily="49" charset="-122"/>
                <a:ea typeface="楷体_GB2312" pitchFamily="49" charset="-122"/>
              </a:rPr>
              <a:t>(u-</a:t>
            </a:r>
            <a:r>
              <a:rPr lang="en-US" altLang="zh-CN" sz="2400" b="1" dirty="0" err="1">
                <a:effectLst>
                  <a:outerShdw blurRad="38100" dist="38100" dir="2700000" algn="tl">
                    <a:srgbClr val="C0C0C0"/>
                  </a:outerShdw>
                </a:effectLst>
                <a:latin typeface="楷体_GB2312" pitchFamily="49" charset="-122"/>
                <a:ea typeface="楷体_GB2312" pitchFamily="49" charset="-122"/>
              </a:rPr>
              <a:t>v,a+b</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直接输出函数的返回值*</a:t>
            </a:r>
            <a:r>
              <a:rPr lang="en-US" altLang="zh-CN" sz="2400" b="1" dirty="0">
                <a:effectLst>
                  <a:outerShdw blurRad="38100" dist="38100" dir="2700000" algn="tl">
                    <a:srgbClr val="C0C0C0"/>
                  </a:outerShdw>
                </a:effectLst>
                <a:latin typeface="楷体_GB2312" pitchFamily="49" charset="-122"/>
                <a:ea typeface="楷体_GB2312" pitchFamily="49" charset="-122"/>
              </a:rPr>
              <a:t>/</a:t>
            </a:r>
          </a:p>
        </p:txBody>
      </p:sp>
      <p:sp>
        <p:nvSpPr>
          <p:cNvPr id="5" name="灯片编号占位符 5"/>
          <p:cNvSpPr>
            <a:spLocks noGrp="1"/>
          </p:cNvSpPr>
          <p:nvPr>
            <p:ph type="sldNum" sz="quarter" idx="12"/>
          </p:nvPr>
        </p:nvSpPr>
        <p:spPr/>
        <p:txBody>
          <a:bodyPr/>
          <a:lstStyle/>
          <a:p>
            <a:pPr>
              <a:defRPr/>
            </a:pPr>
            <a:fld id="{AA91F144-69C1-4A50-BB54-28F4B4810325}" type="slidenum">
              <a:rPr lang="en-US" altLang="zh-CN"/>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4787">
                                            <p:txEl>
                                              <p:pRg st="3" end="3"/>
                                            </p:txEl>
                                          </p:spTgt>
                                        </p:tgtEl>
                                        <p:attrNameLst>
                                          <p:attrName>style.visibility</p:attrName>
                                        </p:attrNameLst>
                                      </p:cBhvr>
                                      <p:to>
                                        <p:strVal val="visible"/>
                                      </p:to>
                                    </p:set>
                                    <p:anim calcmode="lin" valueType="num">
                                      <p:cBhvr additive="base">
                                        <p:cTn id="7" dur="500" fill="hold"/>
                                        <p:tgtEl>
                                          <p:spTgt spid="3747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478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4787">
                                            <p:txEl>
                                              <p:pRg st="4" end="4"/>
                                            </p:txEl>
                                          </p:spTgt>
                                        </p:tgtEl>
                                        <p:attrNameLst>
                                          <p:attrName>style.visibility</p:attrName>
                                        </p:attrNameLst>
                                      </p:cBhvr>
                                      <p:to>
                                        <p:strVal val="visible"/>
                                      </p:to>
                                    </p:set>
                                    <p:anim calcmode="lin" valueType="num">
                                      <p:cBhvr additive="base">
                                        <p:cTn id="11" dur="500" fill="hold"/>
                                        <p:tgtEl>
                                          <p:spTgt spid="37478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478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4787">
                                            <p:txEl>
                                              <p:pRg st="5" end="5"/>
                                            </p:txEl>
                                          </p:spTgt>
                                        </p:tgtEl>
                                        <p:attrNameLst>
                                          <p:attrName>style.visibility</p:attrName>
                                        </p:attrNameLst>
                                      </p:cBhvr>
                                      <p:to>
                                        <p:strVal val="visible"/>
                                      </p:to>
                                    </p:set>
                                    <p:anim calcmode="lin" valueType="num">
                                      <p:cBhvr additive="base">
                                        <p:cTn id="15" dur="500" fill="hold"/>
                                        <p:tgtEl>
                                          <p:spTgt spid="37478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4787">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4787">
                                            <p:txEl>
                                              <p:pRg st="6" end="6"/>
                                            </p:txEl>
                                          </p:spTgt>
                                        </p:tgtEl>
                                        <p:attrNameLst>
                                          <p:attrName>style.visibility</p:attrName>
                                        </p:attrNameLst>
                                      </p:cBhvr>
                                      <p:to>
                                        <p:strVal val="visible"/>
                                      </p:to>
                                    </p:set>
                                    <p:anim calcmode="lin" valueType="num">
                                      <p:cBhvr additive="base">
                                        <p:cTn id="19" dur="500" fill="hold"/>
                                        <p:tgtEl>
                                          <p:spTgt spid="37478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47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1" name="Rectangle 3"/>
          <p:cNvSpPr>
            <a:spLocks noGrp="1" noChangeArrowheads="1"/>
          </p:cNvSpPr>
          <p:nvPr>
            <p:ph idx="1"/>
          </p:nvPr>
        </p:nvSpPr>
        <p:spPr>
          <a:xfrm>
            <a:off x="228600" y="620713"/>
            <a:ext cx="8375650" cy="5832475"/>
          </a:xfrm>
        </p:spPr>
        <p:txBody>
          <a:bodyPr>
            <a:normAutofit/>
          </a:bodyPr>
          <a:lstStyle/>
          <a:p>
            <a:pPr marL="0" indent="0" algn="just" eaLnBrk="1" fontAlgn="auto" hangingPunct="1">
              <a:lnSpc>
                <a:spcPct val="110000"/>
              </a:lnSpc>
              <a:spcAft>
                <a:spcPts val="0"/>
              </a:spcAft>
              <a:buClr>
                <a:schemeClr val="accent3"/>
              </a:buClr>
              <a:buFont typeface="Wingdings" pitchFamily="2" charset="2"/>
              <a:buNone/>
              <a:defRPr/>
            </a:pPr>
            <a:r>
              <a:rPr lang="en-US" altLang="zh-CN" b="1">
                <a:solidFill>
                  <a:srgbClr val="660033"/>
                </a:solidFill>
                <a:effectLst>
                  <a:outerShdw blurRad="38100" dist="38100" dir="2700000" algn="tl">
                    <a:srgbClr val="C0C0C0"/>
                  </a:outerShdw>
                </a:effectLst>
                <a:latin typeface="宋体" pitchFamily="2" charset="-122"/>
              </a:rPr>
              <a:t>  </a:t>
            </a:r>
            <a:r>
              <a:rPr lang="zh-CN" altLang="en-US" b="1">
                <a:solidFill>
                  <a:srgbClr val="CC0099"/>
                </a:solidFill>
                <a:effectLst>
                  <a:outerShdw blurRad="38100" dist="38100" dir="2700000" algn="tl">
                    <a:srgbClr val="C0C0C0"/>
                  </a:outerShdw>
                </a:effectLst>
                <a:latin typeface="楷体_GB2312" pitchFamily="49" charset="-122"/>
                <a:ea typeface="楷体_GB2312" pitchFamily="49" charset="-122"/>
              </a:rPr>
              <a:t>函数调用的执行过程：</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(1) </a:t>
            </a:r>
            <a:r>
              <a:rPr lang="zh-CN" altLang="en-US" b="1">
                <a:latin typeface="楷体_GB2312" pitchFamily="49" charset="-122"/>
                <a:ea typeface="楷体_GB2312" pitchFamily="49" charset="-122"/>
              </a:rPr>
              <a:t>为函数的形参分配内存空间；</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(2) </a:t>
            </a:r>
            <a:r>
              <a:rPr lang="zh-CN" altLang="en-US" b="1">
                <a:latin typeface="楷体_GB2312" pitchFamily="49" charset="-122"/>
                <a:ea typeface="楷体_GB2312" pitchFamily="49" charset="-122"/>
              </a:rPr>
              <a:t>计算实参表达式的值，并将实参表达式的值赋值给对应的形参；</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(3) </a:t>
            </a:r>
            <a:r>
              <a:rPr lang="zh-CN" altLang="en-US" b="1">
                <a:latin typeface="楷体_GB2312" pitchFamily="49" charset="-122"/>
                <a:ea typeface="楷体_GB2312" pitchFamily="49" charset="-122"/>
              </a:rPr>
              <a:t>为函数的局部变量分配内存空间；</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(4) </a:t>
            </a:r>
            <a:r>
              <a:rPr lang="zh-CN" altLang="en-US" b="1">
                <a:latin typeface="楷体_GB2312" pitchFamily="49" charset="-122"/>
                <a:ea typeface="楷体_GB2312" pitchFamily="49" charset="-122"/>
              </a:rPr>
              <a:t>执行函数体内的语句序列；</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(5) </a:t>
            </a:r>
            <a:r>
              <a:rPr lang="zh-CN" altLang="en-US" b="1">
                <a:latin typeface="楷体_GB2312" pitchFamily="49" charset="-122"/>
                <a:ea typeface="楷体_GB2312" pitchFamily="49" charset="-122"/>
              </a:rPr>
              <a:t>函数体执行完，或执行了函数体内的</a:t>
            </a:r>
            <a:r>
              <a:rPr lang="en-US" altLang="zh-CN" b="1">
                <a:latin typeface="楷体_GB2312" pitchFamily="49" charset="-122"/>
                <a:ea typeface="楷体_GB2312" pitchFamily="49" charset="-122"/>
              </a:rPr>
              <a:t>return</a:t>
            </a:r>
            <a:r>
              <a:rPr lang="zh-CN" altLang="en-US" b="1">
                <a:latin typeface="楷体_GB2312" pitchFamily="49" charset="-122"/>
                <a:ea typeface="楷体_GB2312" pitchFamily="49" charset="-122"/>
              </a:rPr>
              <a:t>语句（如果</a:t>
            </a:r>
            <a:r>
              <a:rPr lang="en-US" altLang="zh-CN" b="1">
                <a:latin typeface="楷体_GB2312" pitchFamily="49" charset="-122"/>
                <a:ea typeface="楷体_GB2312" pitchFamily="49" charset="-122"/>
              </a:rPr>
              <a:t>return</a:t>
            </a:r>
            <a:r>
              <a:rPr lang="zh-CN" altLang="en-US" b="1">
                <a:latin typeface="楷体_GB2312" pitchFamily="49" charset="-122"/>
                <a:ea typeface="楷体_GB2312" pitchFamily="49" charset="-122"/>
              </a:rPr>
              <a:t>语句带表达式，则计算出该表达式的值，并以此值作为函数返回值）后，释放为这次函数调用分配的全部内存空间；</a:t>
            </a:r>
          </a:p>
          <a:p>
            <a:pPr marL="0" indent="0" eaLnBrk="1" fontAlgn="auto" hangingPunct="1">
              <a:lnSpc>
                <a:spcPct val="95000"/>
              </a:lnSpc>
              <a:spcAft>
                <a:spcPts val="0"/>
              </a:spcAft>
              <a:buClr>
                <a:schemeClr val="accent3"/>
              </a:buClr>
              <a:buFont typeface="Wingdings" pitchFamily="2" charset="2"/>
              <a:buNone/>
              <a:defRPr/>
            </a:pPr>
            <a:r>
              <a:rPr lang="en-US" altLang="zh-CN" b="1">
                <a:latin typeface="楷体_GB2312" pitchFamily="49" charset="-122"/>
                <a:ea typeface="楷体_GB2312" pitchFamily="49" charset="-122"/>
              </a:rPr>
              <a:t>(6) </a:t>
            </a:r>
            <a:r>
              <a:rPr lang="zh-CN" altLang="en-US" b="1">
                <a:latin typeface="楷体_GB2312" pitchFamily="49" charset="-122"/>
                <a:ea typeface="楷体_GB2312" pitchFamily="49" charset="-122"/>
              </a:rPr>
              <a:t>将函数返回值（如果有）作为函数调用的结果，从函数调用处继续执行。</a:t>
            </a:r>
          </a:p>
        </p:txBody>
      </p:sp>
      <p:sp>
        <p:nvSpPr>
          <p:cNvPr id="5" name="灯片编号占位符 5"/>
          <p:cNvSpPr>
            <a:spLocks noGrp="1"/>
          </p:cNvSpPr>
          <p:nvPr>
            <p:ph type="sldNum" sz="quarter" idx="12"/>
          </p:nvPr>
        </p:nvSpPr>
        <p:spPr/>
        <p:txBody>
          <a:bodyPr/>
          <a:lstStyle/>
          <a:p>
            <a:pPr>
              <a:defRPr/>
            </a:pPr>
            <a:fld id="{02A003C0-7CAF-4B9D-8E9E-73DEA19602C8}" type="slidenum">
              <a:rPr lang="en-US" altLang="zh-CN"/>
              <a:pPr>
                <a:defRPr/>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idx="1"/>
          </p:nvPr>
        </p:nvSpPr>
        <p:spPr>
          <a:xfrm>
            <a:off x="107950" y="260350"/>
            <a:ext cx="8375650" cy="4752975"/>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a:t>
            </a:r>
            <a:r>
              <a:rPr lang="zh-CN" altLang="en-US" sz="2400" b="1" dirty="0">
                <a:solidFill>
                  <a:srgbClr val="0070C0"/>
                </a:solidFill>
                <a:effectLst>
                  <a:outerShdw blurRad="38100" dist="38100" dir="2700000" algn="tl">
                    <a:srgbClr val="C0C0C0"/>
                  </a:outerShdw>
                </a:effectLst>
                <a:latin typeface="楷体_GB2312" pitchFamily="49" charset="-122"/>
                <a:ea typeface="楷体_GB2312" pitchFamily="49" charset="-122"/>
              </a:rPr>
              <a:t>例</a:t>
            </a:r>
            <a:r>
              <a:rPr lang="en-US" altLang="zh-CN" sz="2400" b="1" dirty="0">
                <a:solidFill>
                  <a:srgbClr val="0070C0"/>
                </a:solidFill>
                <a:effectLst>
                  <a:outerShdw blurRad="38100" dist="38100" dir="2700000" algn="tl">
                    <a:srgbClr val="C0C0C0"/>
                  </a:outerShdw>
                </a:effectLst>
                <a:latin typeface="楷体_GB2312" pitchFamily="49" charset="-122"/>
                <a:ea typeface="楷体_GB2312" pitchFamily="49" charset="-122"/>
              </a:rPr>
              <a:t>5.7】</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求两个自然数的最大公约数。</a:t>
            </a:r>
          </a:p>
          <a:p>
            <a:pPr marL="0" indent="0" eaLnBrk="1" fontAlgn="auto" hangingPunct="1">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effectLst>
                  <a:outerShdw blurRad="38100" dist="38100" dir="2700000" algn="tl">
                    <a:srgbClr val="C0C0C0"/>
                  </a:outerShdw>
                </a:effectLst>
                <a:latin typeface="楷体_GB2312" pitchFamily="49" charset="-122"/>
                <a:ea typeface="楷体_GB2312" pitchFamily="49" charset="-122"/>
              </a:rPr>
              <a:t>#include  &lt;</a:t>
            </a:r>
            <a:r>
              <a:rPr lang="en-US" altLang="zh-CN" sz="2400" b="1" dirty="0" err="1">
                <a:effectLst>
                  <a:outerShdw blurRad="38100" dist="38100" dir="2700000" algn="tl">
                    <a:srgbClr val="C0C0C0"/>
                  </a:outerShdw>
                </a:effectLst>
                <a:latin typeface="楷体_GB2312" pitchFamily="49" charset="-122"/>
                <a:ea typeface="楷体_GB2312" pitchFamily="49" charset="-122"/>
              </a:rPr>
              <a:t>stdio.h</a:t>
            </a:r>
            <a:r>
              <a:rPr lang="en-US" altLang="zh-CN" sz="2400" b="1" dirty="0">
                <a:effectLst>
                  <a:outerShdw blurRad="38100" dist="38100" dir="2700000" algn="tl">
                    <a:srgbClr val="C0C0C0"/>
                  </a:outerShdw>
                </a:effectLst>
                <a:latin typeface="楷体_GB2312" pitchFamily="49" charset="-122"/>
                <a:ea typeface="楷体_GB2312" pitchFamily="49" charset="-122"/>
              </a:rPr>
              <a:t>&gt;</a:t>
            </a:r>
          </a:p>
          <a:p>
            <a:pPr marL="0" indent="0" eaLnBrk="1" fontAlgn="auto" hangingPunct="1">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gcd</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a,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b)</a:t>
            </a:r>
          </a:p>
          <a:p>
            <a:pPr marL="0" indent="0" eaLnBrk="1" fontAlgn="auto" hangingPunct="1">
              <a:spcAft>
                <a:spcPts val="0"/>
              </a:spcAft>
              <a:buClr>
                <a:schemeClr val="accent3"/>
              </a:buClr>
              <a:buFont typeface="Wingdings" pitchFamily="2" charset="2"/>
              <a:buNone/>
              <a:defRPr/>
            </a:pPr>
            <a:r>
              <a:rPr lang="en-US" altLang="zh-CN" sz="2400" b="1" dirty="0">
                <a:latin typeface="楷体_GB2312" pitchFamily="49" charset="-122"/>
                <a:ea typeface="楷体_GB2312" pitchFamily="49" charset="-122"/>
              </a:rPr>
              <a:t>  {  while( a != b)//</a:t>
            </a:r>
            <a:r>
              <a:rPr lang="zh-CN" altLang="en-US" sz="2400" b="1" dirty="0">
                <a:latin typeface="楷体_GB2312" pitchFamily="49" charset="-122"/>
                <a:ea typeface="楷体_GB2312" pitchFamily="49" charset="-122"/>
              </a:rPr>
              <a:t>直至</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和</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相等</a:t>
            </a:r>
          </a:p>
          <a:p>
            <a:pPr marL="0" indent="0" eaLnBrk="1" fontAlgn="auto" hangingPunct="1">
              <a:spcAft>
                <a:spcPts val="0"/>
              </a:spcAft>
              <a:buClr>
                <a:schemeClr val="accent3"/>
              </a:buClr>
              <a:buFont typeface="Wingdings" pitchFamily="2" charset="2"/>
              <a:buNone/>
              <a:defRPr/>
            </a:pP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if(a &gt; b) a -= b;    </a:t>
            </a:r>
          </a:p>
          <a:p>
            <a:pPr marL="0" indent="0" eaLnBrk="1" fontAlgn="auto" hangingPunct="1">
              <a:spcAft>
                <a:spcPts val="0"/>
              </a:spcAft>
              <a:buClr>
                <a:schemeClr val="accent3"/>
              </a:buClr>
              <a:buFont typeface="Wingdings" pitchFamily="2" charset="2"/>
              <a:buNone/>
              <a:defRPr/>
            </a:pPr>
            <a:r>
              <a:rPr lang="en-US" altLang="zh-CN" sz="2400" b="1" dirty="0">
                <a:latin typeface="楷体_GB2312" pitchFamily="49" charset="-122"/>
                <a:ea typeface="楷体_GB2312" pitchFamily="49" charset="-122"/>
              </a:rPr>
              <a:t>       else b -= a;</a:t>
            </a:r>
          </a:p>
          <a:p>
            <a:pPr marL="0" indent="0" eaLnBrk="1" fontAlgn="auto" hangingPunct="1">
              <a:spcAft>
                <a:spcPts val="0"/>
              </a:spcAft>
              <a:buClr>
                <a:schemeClr val="accent3"/>
              </a:buClr>
              <a:buFont typeface="Wingdings" pitchFamily="2" charset="2"/>
              <a:buNone/>
              <a:defRPr/>
            </a:pPr>
            <a:r>
              <a:rPr lang="en-US" altLang="zh-CN" sz="2400" b="1" dirty="0">
                <a:latin typeface="楷体_GB2312" pitchFamily="49" charset="-122"/>
                <a:ea typeface="楷体_GB2312" pitchFamily="49" charset="-122"/>
              </a:rPr>
              <a:t>     return a;</a:t>
            </a:r>
          </a:p>
          <a:p>
            <a:pPr marL="0" indent="0" eaLnBrk="1" fontAlgn="auto" hangingPunct="1">
              <a:spcAft>
                <a:spcPts val="0"/>
              </a:spcAft>
              <a:buClr>
                <a:schemeClr val="accent3"/>
              </a:buClr>
              <a:buFont typeface="Wingdings" pitchFamily="2" charset="2"/>
              <a:buNone/>
              <a:defRPr/>
            </a:pPr>
            <a:r>
              <a:rPr lang="en-US" altLang="zh-CN" sz="2400" b="1" dirty="0">
                <a:latin typeface="楷体_GB2312" pitchFamily="49" charset="-122"/>
                <a:ea typeface="楷体_GB2312" pitchFamily="49" charset="-122"/>
              </a:rPr>
              <a:t>  }</a:t>
            </a:r>
          </a:p>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  </a:t>
            </a:r>
          </a:p>
        </p:txBody>
      </p:sp>
      <p:sp>
        <p:nvSpPr>
          <p:cNvPr id="6" name="灯片编号占位符 5"/>
          <p:cNvSpPr>
            <a:spLocks noGrp="1"/>
          </p:cNvSpPr>
          <p:nvPr>
            <p:ph type="sldNum" sz="quarter" idx="12"/>
          </p:nvPr>
        </p:nvSpPr>
        <p:spPr/>
        <p:txBody>
          <a:bodyPr/>
          <a:lstStyle/>
          <a:p>
            <a:pPr>
              <a:defRPr/>
            </a:pPr>
            <a:fld id="{97EF6919-092E-448E-8241-6C0DE3B8A723}" type="slidenum">
              <a:rPr lang="en-US" altLang="zh-CN"/>
              <a:pPr>
                <a:defRPr/>
              </a:pPr>
              <a:t>29</a:t>
            </a:fld>
            <a:endParaRPr lang="en-US" altLang="zh-CN"/>
          </a:p>
        </p:txBody>
      </p:sp>
      <p:sp>
        <p:nvSpPr>
          <p:cNvPr id="375811" name="Text Box 3"/>
          <p:cNvSpPr txBox="1">
            <a:spLocks noChangeArrowheads="1"/>
          </p:cNvSpPr>
          <p:nvPr/>
        </p:nvSpPr>
        <p:spPr bwMode="auto">
          <a:xfrm>
            <a:off x="1071563" y="3429000"/>
            <a:ext cx="7461250" cy="3416300"/>
          </a:xfrm>
          <a:prstGeom prst="rect">
            <a:avLst/>
          </a:prstGeom>
          <a:noFill/>
          <a:ln w="9525">
            <a:solidFill>
              <a:srgbClr val="FF3300"/>
            </a:solidFill>
            <a:miter lim="800000"/>
            <a:headEnd/>
            <a:tailEnd/>
          </a:ln>
          <a:effectLst/>
        </p:spPr>
        <p:txBody>
          <a:bodyPr>
            <a:spAutoFit/>
          </a:bodyPr>
          <a:lstStyle/>
          <a:p>
            <a:pPr algn="l">
              <a:defRPr/>
            </a:pPr>
            <a:r>
              <a:rPr kumimoji="1" lang="en-US" altLang="zh-CN" sz="2400"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400" dirty="0">
                <a:effectLst>
                  <a:outerShdw blurRad="38100" dist="38100" dir="2700000" algn="tl">
                    <a:srgbClr val="C0C0C0"/>
                  </a:outerShdw>
                </a:effectLst>
                <a:latin typeface="楷体_GB2312" pitchFamily="49" charset="-122"/>
                <a:ea typeface="楷体_GB2312" pitchFamily="49" charset="-122"/>
              </a:rPr>
              <a:t> main()	/* </a:t>
            </a:r>
            <a:r>
              <a:rPr kumimoji="1" lang="zh-CN" altLang="en-US" sz="2400" dirty="0">
                <a:effectLst>
                  <a:outerShdw blurRad="38100" dist="38100" dir="2700000" algn="tl">
                    <a:srgbClr val="C0C0C0"/>
                  </a:outerShdw>
                </a:effectLst>
                <a:latin typeface="楷体_GB2312" pitchFamily="49" charset="-122"/>
                <a:ea typeface="楷体_GB2312" pitchFamily="49" charset="-122"/>
              </a:rPr>
              <a:t>主函数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400" dirty="0">
                <a:effectLst>
                  <a:outerShdw blurRad="38100" dist="38100" dir="2700000" algn="tl">
                    <a:srgbClr val="C0C0C0"/>
                  </a:outerShdw>
                </a:effectLst>
                <a:latin typeface="楷体_GB2312" pitchFamily="49" charset="-122"/>
                <a:ea typeface="楷体_GB2312" pitchFamily="49" charset="-122"/>
              </a:rPr>
              <a:t> x, y, d;</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sz="2400" dirty="0">
                <a:effectLst>
                  <a:outerShdw blurRad="38100" dist="38100" dir="2700000" algn="tl">
                    <a:srgbClr val="C0C0C0"/>
                  </a:outerShdw>
                </a:effectLst>
                <a:latin typeface="楷体_GB2312" pitchFamily="49" charset="-122"/>
                <a:ea typeface="楷体_GB2312" pitchFamily="49" charset="-122"/>
              </a:rPr>
              <a:t>("Enter x, y :  ");</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scanf</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d%d</a:t>
            </a:r>
            <a:r>
              <a:rPr kumimoji="1" lang="en-US" altLang="zh-CN" sz="2400" dirty="0">
                <a:effectLst>
                  <a:outerShdw blurRad="38100" dist="38100" dir="2700000" algn="tl">
                    <a:srgbClr val="C0C0C0"/>
                  </a:outerShdw>
                </a:effectLst>
                <a:latin typeface="楷体_GB2312" pitchFamily="49" charset="-122"/>
                <a:ea typeface="楷体_GB2312" pitchFamily="49" charset="-122"/>
              </a:rPr>
              <a:t>", &amp;x, &amp;y);</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d =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gcd</a:t>
            </a:r>
            <a:r>
              <a:rPr kumimoji="1" lang="en-US" altLang="zh-CN" sz="2400" dirty="0">
                <a:effectLst>
                  <a:outerShdw blurRad="38100" dist="38100" dir="2700000" algn="tl">
                    <a:srgbClr val="C0C0C0"/>
                  </a:outerShdw>
                </a:effectLst>
                <a:latin typeface="楷体_GB2312" pitchFamily="49" charset="-122"/>
                <a:ea typeface="楷体_GB2312" pitchFamily="49" charset="-122"/>
              </a:rPr>
              <a:t>(x, y); /*</a:t>
            </a:r>
            <a:r>
              <a:rPr kumimoji="1" lang="zh-CN" altLang="en-US" sz="2400" dirty="0">
                <a:effectLst>
                  <a:outerShdw blurRad="38100" dist="38100" dir="2700000" algn="tl">
                    <a:srgbClr val="C0C0C0"/>
                  </a:outerShdw>
                </a:effectLst>
                <a:latin typeface="楷体_GB2312" pitchFamily="49" charset="-122"/>
                <a:ea typeface="楷体_GB2312" pitchFamily="49" charset="-122"/>
              </a:rPr>
              <a:t>调用</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gcd</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r>
              <a:rPr kumimoji="1" lang="zh-CN" altLang="en-US" sz="2400" dirty="0">
                <a:effectLst>
                  <a:outerShdw blurRad="38100" dist="38100" dir="2700000" algn="tl">
                    <a:srgbClr val="C0C0C0"/>
                  </a:outerShdw>
                </a:effectLst>
                <a:latin typeface="楷体_GB2312" pitchFamily="49" charset="-122"/>
                <a:ea typeface="楷体_GB2312" pitchFamily="49" charset="-122"/>
              </a:rPr>
              <a:t>函数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sz="2400" dirty="0">
                <a:effectLst>
                  <a:outerShdw blurRad="38100" dist="38100" dir="2700000" algn="tl">
                    <a:srgbClr val="C0C0C0"/>
                  </a:outerShdw>
                </a:effectLst>
                <a:latin typeface="楷体_GB2312" pitchFamily="49" charset="-122"/>
                <a:ea typeface="楷体_GB2312" pitchFamily="49" charset="-122"/>
              </a:rPr>
              <a:t>("GCD(%d, %d) = %d\n", x, y, d);</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return 0;</a:t>
            </a:r>
          </a:p>
          <a:p>
            <a:pPr algn="l">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p>
          <a:p>
            <a:pPr algn="l">
              <a:defRPr/>
            </a:pPr>
            <a:endParaRPr lang="en-US" altLang="zh-CN" sz="2400" dirty="0">
              <a:latin typeface="楷体_GB2312" pitchFamily="49" charset="-122"/>
              <a:ea typeface="楷体_GB2312"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idx="1"/>
          </p:nvPr>
        </p:nvSpPr>
        <p:spPr>
          <a:xfrm>
            <a:off x="228600" y="620713"/>
            <a:ext cx="8375650" cy="5832475"/>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2400" b="1">
                <a:effectLst>
                  <a:outerShdw blurRad="38100" dist="38100" dir="2700000" algn="tl">
                    <a:srgbClr val="C0C0C0"/>
                  </a:outerShdw>
                </a:effectLst>
                <a:latin typeface="楷体_GB2312" pitchFamily="49" charset="-122"/>
                <a:ea typeface="楷体_GB2312" pitchFamily="49" charset="-122"/>
              </a:rPr>
              <a:t>首先执行主函数的第一条语句，调用格式输出函数输出提示信息。接着调用格式输入函数，等待用户输入数据。</a:t>
            </a:r>
          </a:p>
          <a:p>
            <a:pPr marL="0" indent="0" eaLnBrk="1" fontAlgn="auto" hangingPunct="1">
              <a:spcAft>
                <a:spcPts val="0"/>
              </a:spcAft>
              <a:buClr>
                <a:schemeClr val="accent3"/>
              </a:buClr>
              <a:buFont typeface="Wingdings" pitchFamily="2" charset="2"/>
              <a:buNone/>
              <a:defRPr/>
            </a:pPr>
            <a:r>
              <a:rPr lang="zh-CN" altLang="en-US" sz="2400" b="1">
                <a:effectLst>
                  <a:outerShdw blurRad="38100" dist="38100" dir="2700000" algn="tl">
                    <a:srgbClr val="C0C0C0"/>
                  </a:outerShdw>
                </a:effectLst>
                <a:latin typeface="楷体_GB2312" pitchFamily="49" charset="-122"/>
                <a:ea typeface="楷体_GB2312" pitchFamily="49" charset="-122"/>
              </a:rPr>
              <a:t>格式输入函数接受输入数据，经翻译后，以数据的内部表示形式存入变量</a:t>
            </a:r>
            <a:r>
              <a:rPr lang="en-US" altLang="zh-CN" sz="2400" b="1">
                <a:effectLst>
                  <a:outerShdw blurRad="38100" dist="38100" dir="2700000" algn="tl">
                    <a:srgbClr val="C0C0C0"/>
                  </a:outerShdw>
                </a:effectLst>
                <a:latin typeface="楷体_GB2312" pitchFamily="49" charset="-122"/>
                <a:ea typeface="楷体_GB2312" pitchFamily="49" charset="-122"/>
              </a:rPr>
              <a:t>x</a:t>
            </a:r>
            <a:r>
              <a:rPr lang="zh-CN" altLang="en-US" sz="2400" b="1">
                <a:effectLst>
                  <a:outerShdw blurRad="38100" dist="38100" dir="2700000" algn="tl">
                    <a:srgbClr val="C0C0C0"/>
                  </a:outerShdw>
                </a:effectLst>
                <a:latin typeface="楷体_GB2312" pitchFamily="49" charset="-122"/>
                <a:ea typeface="楷体_GB2312" pitchFamily="49" charset="-122"/>
              </a:rPr>
              <a:t>和</a:t>
            </a:r>
            <a:r>
              <a:rPr lang="en-US" altLang="zh-CN" sz="2400" b="1">
                <a:effectLst>
                  <a:outerShdw blurRad="38100" dist="38100" dir="2700000" algn="tl">
                    <a:srgbClr val="C0C0C0"/>
                  </a:outerShdw>
                </a:effectLst>
                <a:latin typeface="楷体_GB2312" pitchFamily="49" charset="-122"/>
                <a:ea typeface="楷体_GB2312" pitchFamily="49" charset="-122"/>
              </a:rPr>
              <a:t>y</a:t>
            </a:r>
            <a:r>
              <a:rPr lang="zh-CN" altLang="en-US" sz="2400" b="1">
                <a:effectLst>
                  <a:outerShdw blurRad="38100" dist="38100" dir="2700000" algn="tl">
                    <a:srgbClr val="C0C0C0"/>
                  </a:outerShdw>
                </a:effectLst>
                <a:latin typeface="楷体_GB2312" pitchFamily="49" charset="-122"/>
                <a:ea typeface="楷体_GB2312" pitchFamily="49" charset="-122"/>
              </a:rPr>
              <a:t>。继续执行后面的赋值语句，求右端表达式的值。该表达式以</a:t>
            </a:r>
            <a:r>
              <a:rPr lang="en-US" altLang="zh-CN" sz="2400" b="1">
                <a:effectLst>
                  <a:outerShdw blurRad="38100" dist="38100" dir="2700000" algn="tl">
                    <a:srgbClr val="C0C0C0"/>
                  </a:outerShdw>
                </a:effectLst>
                <a:latin typeface="楷体_GB2312" pitchFamily="49" charset="-122"/>
                <a:ea typeface="楷体_GB2312" pitchFamily="49" charset="-122"/>
              </a:rPr>
              <a:t>x</a:t>
            </a:r>
            <a:r>
              <a:rPr lang="zh-CN" altLang="en-US" sz="2400" b="1">
                <a:effectLst>
                  <a:outerShdw blurRad="38100" dist="38100" dir="2700000" algn="tl">
                    <a:srgbClr val="C0C0C0"/>
                  </a:outerShdw>
                </a:effectLst>
                <a:latin typeface="楷体_GB2312" pitchFamily="49" charset="-122"/>
                <a:ea typeface="楷体_GB2312" pitchFamily="49" charset="-122"/>
              </a:rPr>
              <a:t>和</a:t>
            </a:r>
            <a:r>
              <a:rPr lang="en-US" altLang="zh-CN" sz="2400" b="1">
                <a:effectLst>
                  <a:outerShdw blurRad="38100" dist="38100" dir="2700000" algn="tl">
                    <a:srgbClr val="C0C0C0"/>
                  </a:outerShdw>
                </a:effectLst>
                <a:latin typeface="楷体_GB2312" pitchFamily="49" charset="-122"/>
                <a:ea typeface="楷体_GB2312" pitchFamily="49" charset="-122"/>
              </a:rPr>
              <a:t>y</a:t>
            </a:r>
            <a:r>
              <a:rPr lang="zh-CN" altLang="en-US" sz="2400" b="1">
                <a:effectLst>
                  <a:outerShdw blurRad="38100" dist="38100" dir="2700000" algn="tl">
                    <a:srgbClr val="C0C0C0"/>
                  </a:outerShdw>
                </a:effectLst>
                <a:latin typeface="楷体_GB2312" pitchFamily="49" charset="-122"/>
                <a:ea typeface="楷体_GB2312" pitchFamily="49" charset="-122"/>
              </a:rPr>
              <a:t>的值为实参，调用函数</a:t>
            </a:r>
            <a:r>
              <a:rPr lang="en-US" altLang="zh-CN" sz="2400" b="1">
                <a:effectLst>
                  <a:outerShdw blurRad="38100" dist="38100" dir="2700000" algn="tl">
                    <a:srgbClr val="C0C0C0"/>
                  </a:outerShdw>
                </a:effectLst>
                <a:latin typeface="楷体_GB2312" pitchFamily="49" charset="-122"/>
                <a:ea typeface="楷体_GB2312" pitchFamily="49" charset="-122"/>
              </a:rPr>
              <a:t>gcd()</a:t>
            </a:r>
            <a:r>
              <a:rPr lang="zh-CN" altLang="en-US" sz="2400" b="1">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defRPr/>
            </a:pP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对函数</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gcd()</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的调用发生时，系统先保留好控制返回点。</a:t>
            </a:r>
          </a:p>
          <a:p>
            <a:pPr marL="0" indent="0" eaLnBrk="1" fontAlgn="auto" hangingPunct="1">
              <a:spcAft>
                <a:spcPts val="0"/>
              </a:spcAft>
              <a:buClr>
                <a:schemeClr val="accent3"/>
              </a:buClr>
              <a:buFont typeface="Wingdings" pitchFamily="2" charset="2"/>
              <a:buNone/>
              <a:defRPr/>
            </a:pP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为函数的形参</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a</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和</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b</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分配存储单元，并将对应实参（</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x</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和</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y</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）的值赋值给形参（</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a</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和</a:t>
            </a:r>
            <a:r>
              <a:rPr lang="en-US" altLang="zh-CN" sz="2400" b="1">
                <a:solidFill>
                  <a:srgbClr val="000066"/>
                </a:solidFill>
                <a:effectLst>
                  <a:outerShdw blurRad="38100" dist="38100" dir="2700000" algn="tl">
                    <a:srgbClr val="C0C0C0"/>
                  </a:outerShdw>
                </a:effectLst>
                <a:latin typeface="楷体_GB2312" pitchFamily="49" charset="-122"/>
                <a:ea typeface="楷体_GB2312" pitchFamily="49" charset="-122"/>
              </a:rPr>
              <a:t>b</a:t>
            </a:r>
            <a:r>
              <a:rPr lang="zh-CN" altLang="en-US" sz="2400" b="1">
                <a:solidFill>
                  <a:srgbClr val="000066"/>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defRPr/>
            </a:pPr>
            <a:r>
              <a:rPr lang="zh-CN" altLang="en-US" sz="2400" b="1">
                <a:solidFill>
                  <a:srgbClr val="990000"/>
                </a:solidFill>
                <a:effectLst>
                  <a:outerShdw blurRad="38100" dist="38100" dir="2700000" algn="tl">
                    <a:srgbClr val="C0C0C0"/>
                  </a:outerShdw>
                </a:effectLst>
                <a:latin typeface="楷体_GB2312" pitchFamily="49" charset="-122"/>
                <a:ea typeface="楷体_GB2312" pitchFamily="49" charset="-122"/>
              </a:rPr>
              <a:t>接着为函数内部的变量</a:t>
            </a:r>
            <a:r>
              <a:rPr lang="en-US" altLang="zh-CN" sz="2400" b="1">
                <a:solidFill>
                  <a:srgbClr val="990000"/>
                </a:solidFill>
                <a:effectLst>
                  <a:outerShdw blurRad="38100" dist="38100" dir="2700000" algn="tl">
                    <a:srgbClr val="C0C0C0"/>
                  </a:outerShdw>
                </a:effectLst>
                <a:latin typeface="楷体_GB2312" pitchFamily="49" charset="-122"/>
                <a:ea typeface="楷体_GB2312" pitchFamily="49" charset="-122"/>
              </a:rPr>
              <a:t>r</a:t>
            </a:r>
            <a:r>
              <a:rPr lang="zh-CN" altLang="en-US" sz="2400" b="1">
                <a:solidFill>
                  <a:srgbClr val="990000"/>
                </a:solidFill>
                <a:effectLst>
                  <a:outerShdw blurRad="38100" dist="38100" dir="2700000" algn="tl">
                    <a:srgbClr val="C0C0C0"/>
                  </a:outerShdw>
                </a:effectLst>
                <a:latin typeface="楷体_GB2312" pitchFamily="49" charset="-122"/>
                <a:ea typeface="楷体_GB2312" pitchFamily="49" charset="-122"/>
              </a:rPr>
              <a:t>（称为局部变量）分配存储单元。</a:t>
            </a:r>
          </a:p>
          <a:p>
            <a:pPr marL="0" indent="0" eaLnBrk="1" fontAlgn="auto" hangingPunct="1">
              <a:spcAft>
                <a:spcPts val="0"/>
              </a:spcAft>
              <a:buClr>
                <a:schemeClr val="accent3"/>
              </a:buClr>
              <a:buFont typeface="Wingdings" pitchFamily="2" charset="2"/>
              <a:buNone/>
              <a:defRPr/>
            </a:pPr>
            <a:r>
              <a:rPr lang="zh-CN" altLang="en-US" sz="2400" b="1">
                <a:solidFill>
                  <a:srgbClr val="990000"/>
                </a:solidFill>
                <a:effectLst>
                  <a:outerShdw blurRad="38100" dist="38100" dir="2700000" algn="tl">
                    <a:srgbClr val="C0C0C0"/>
                  </a:outerShdw>
                </a:effectLst>
                <a:latin typeface="楷体_GB2312" pitchFamily="49" charset="-122"/>
                <a:ea typeface="楷体_GB2312" pitchFamily="49" charset="-122"/>
              </a:rPr>
              <a:t>开始执行函数体。执行完函数体的语句或遇到</a:t>
            </a:r>
            <a:r>
              <a:rPr lang="en-US" altLang="zh-CN" sz="2400" b="1">
                <a:solidFill>
                  <a:srgbClr val="990000"/>
                </a:solidFill>
                <a:effectLst>
                  <a:outerShdw blurRad="38100" dist="38100" dir="2700000" algn="tl">
                    <a:srgbClr val="C0C0C0"/>
                  </a:outerShdw>
                </a:effectLst>
                <a:latin typeface="楷体_GB2312" pitchFamily="49" charset="-122"/>
                <a:ea typeface="楷体_GB2312" pitchFamily="49" charset="-122"/>
              </a:rPr>
              <a:t>return</a:t>
            </a:r>
            <a:r>
              <a:rPr lang="zh-CN" altLang="en-US" sz="2400" b="1">
                <a:solidFill>
                  <a:srgbClr val="990000"/>
                </a:solidFill>
                <a:effectLst>
                  <a:outerShdw blurRad="38100" dist="38100" dir="2700000" algn="tl">
                    <a:srgbClr val="C0C0C0"/>
                  </a:outerShdw>
                </a:effectLst>
                <a:latin typeface="楷体_GB2312" pitchFamily="49" charset="-122"/>
                <a:ea typeface="楷体_GB2312" pitchFamily="49" charset="-122"/>
              </a:rPr>
              <a:t>语句时，函数准备返回。</a:t>
            </a:r>
          </a:p>
          <a:p>
            <a:pPr marL="0" indent="0" eaLnBrk="1" fontAlgn="auto" hangingPunct="1">
              <a:spcAft>
                <a:spcPts val="0"/>
              </a:spcAft>
              <a:buClr>
                <a:schemeClr val="accent3"/>
              </a:buClr>
              <a:buFont typeface="Wingdings" pitchFamily="2" charset="2"/>
              <a:buNone/>
              <a:defRPr/>
            </a:pPr>
            <a:r>
              <a:rPr lang="zh-CN" altLang="en-US" sz="2400" b="1">
                <a:effectLst>
                  <a:outerShdw blurRad="38100" dist="38100" dir="2700000" algn="tl">
                    <a:srgbClr val="C0C0C0"/>
                  </a:outerShdw>
                </a:effectLst>
                <a:latin typeface="楷体_GB2312" pitchFamily="49" charset="-122"/>
                <a:ea typeface="楷体_GB2312" pitchFamily="49" charset="-122"/>
              </a:rPr>
              <a:t>先将形参和局部变量所占用的存储单元全部释放。函数返回时，将函数返回值带回到调用函数</a:t>
            </a:r>
            <a:r>
              <a:rPr lang="en-US" altLang="zh-CN" sz="2400" b="1">
                <a:effectLst>
                  <a:outerShdw blurRad="38100" dist="38100" dir="2700000" algn="tl">
                    <a:srgbClr val="C0C0C0"/>
                  </a:outerShdw>
                </a:effectLst>
                <a:latin typeface="楷体_GB2312" pitchFamily="49" charset="-122"/>
                <a:ea typeface="楷体_GB2312" pitchFamily="49" charset="-122"/>
              </a:rPr>
              <a:t>gcd()</a:t>
            </a:r>
            <a:r>
              <a:rPr lang="zh-CN" altLang="en-US" sz="2400" b="1">
                <a:effectLst>
                  <a:outerShdw blurRad="38100" dist="38100" dir="2700000" algn="tl">
                    <a:srgbClr val="C0C0C0"/>
                  </a:outerShdw>
                </a:effectLst>
                <a:latin typeface="楷体_GB2312" pitchFamily="49" charset="-122"/>
                <a:ea typeface="楷体_GB2312" pitchFamily="49" charset="-122"/>
              </a:rPr>
              <a:t>处，从早先保留的控制返回点继续执行。</a:t>
            </a:r>
            <a:r>
              <a:rPr lang="zh-CN" altLang="en-US" sz="2400" b="1">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DFC74FDE-C4BB-4AEF-A77A-1B6D846E7D05}" type="slidenum">
              <a:rPr lang="en-US" altLang="zh-CN"/>
              <a:pPr>
                <a:defRPr/>
              </a:pPr>
              <a:t>30</a:t>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idx="1"/>
          </p:nvPr>
        </p:nvSpPr>
        <p:spPr>
          <a:xfrm>
            <a:off x="228600" y="620713"/>
            <a:ext cx="8375650" cy="5832475"/>
          </a:xfrm>
        </p:spPr>
        <p:txBody>
          <a:bodyPr/>
          <a:lstStyle/>
          <a:p>
            <a:pPr marL="0" indent="0" eaLnBrk="1" hangingPunct="1">
              <a:buFont typeface="Wingdings" pitchFamily="2" charset="2"/>
              <a:buNone/>
            </a:pPr>
            <a:r>
              <a:rPr lang="zh-CN" altLang="en-US" sz="2400" b="1">
                <a:latin typeface="楷体_GB2312" pitchFamily="49" charset="-122"/>
                <a:ea typeface="楷体_GB2312" pitchFamily="49" charset="-122"/>
              </a:rPr>
              <a:t>正确编写函数，需了解以下几项内容。</a:t>
            </a:r>
          </a:p>
          <a:p>
            <a:pPr marL="0" indent="0" eaLnBrk="1" hangingPunct="1">
              <a:buFont typeface="Wingdings" pitchFamily="2" charset="2"/>
              <a:buNone/>
            </a:pPr>
            <a:r>
              <a:rPr lang="en-US" altLang="zh-CN" sz="2400" b="1">
                <a:latin typeface="楷体_GB2312" pitchFamily="49" charset="-122"/>
                <a:ea typeface="楷体_GB2312" pitchFamily="49" charset="-122"/>
              </a:rPr>
              <a:t>(1) </a:t>
            </a:r>
            <a:r>
              <a:rPr lang="zh-CN" altLang="en-US" sz="2400" b="1">
                <a:latin typeface="楷体_GB2312" pitchFamily="49" charset="-122"/>
                <a:ea typeface="楷体_GB2312" pitchFamily="49" charset="-122"/>
              </a:rPr>
              <a:t>当函数执行</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语句或执行完函数体的语句后，函数的这次调用结束，随之将控制返回到函数调用处继续执行。</a:t>
            </a:r>
          </a:p>
          <a:p>
            <a:pPr marL="0" indent="0" eaLnBrk="1" hangingPunct="1">
              <a:buFont typeface="Wingdings" pitchFamily="2" charset="2"/>
              <a:buNone/>
            </a:pPr>
            <a:r>
              <a:rPr lang="en-US" altLang="zh-CN" sz="2400" b="1">
                <a:latin typeface="楷体_GB2312" pitchFamily="49" charset="-122"/>
                <a:ea typeface="楷体_GB2312" pitchFamily="49" charset="-122"/>
              </a:rPr>
              <a:t>(2) </a:t>
            </a:r>
            <a:r>
              <a:rPr lang="zh-CN" altLang="en-US" sz="2400" b="1">
                <a:latin typeface="楷体_GB2312" pitchFamily="49" charset="-122"/>
                <a:ea typeface="楷体_GB2312" pitchFamily="49" charset="-122"/>
              </a:rPr>
              <a:t>函数的返回值是通过执行</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语句，计算</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之后的表达式值而获得的。如果函数不提供返回值，则</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语句不应包含表达式。</a:t>
            </a:r>
          </a:p>
          <a:p>
            <a:pPr marL="0" indent="0" eaLnBrk="1" hangingPunct="1">
              <a:buFont typeface="Wingdings" pitchFamily="2" charset="2"/>
              <a:buNone/>
            </a:pPr>
            <a:r>
              <a:rPr lang="en-US" altLang="zh-CN" sz="2400" b="1">
                <a:latin typeface="楷体_GB2312" pitchFamily="49" charset="-122"/>
                <a:ea typeface="楷体_GB2312" pitchFamily="49" charset="-122"/>
              </a:rPr>
              <a:t>(3) </a:t>
            </a:r>
            <a:r>
              <a:rPr lang="zh-CN" altLang="en-US" sz="2400" b="1">
                <a:latin typeface="楷体_GB2312" pitchFamily="49" charset="-122"/>
                <a:ea typeface="楷体_GB2312" pitchFamily="49" charset="-122"/>
              </a:rPr>
              <a:t>如果函数有返回值，则函数应有确定的类型，并在函数定义时指明。</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语句的表达式类型应与函数定义中指明的返回值类型相一致。例如，函数</a:t>
            </a:r>
            <a:r>
              <a:rPr lang="en-US" altLang="zh-CN" sz="2400" b="1">
                <a:latin typeface="楷体_GB2312" pitchFamily="49" charset="-122"/>
                <a:ea typeface="楷体_GB2312" pitchFamily="49" charset="-122"/>
              </a:rPr>
              <a:t>gcd()</a:t>
            </a:r>
            <a:r>
              <a:rPr lang="zh-CN" altLang="en-US" sz="2400" b="1">
                <a:latin typeface="楷体_GB2312" pitchFamily="49" charset="-122"/>
                <a:ea typeface="楷体_GB2312" pitchFamily="49" charset="-122"/>
              </a:rPr>
              <a:t>的类型是</a:t>
            </a:r>
            <a:r>
              <a:rPr lang="en-US" altLang="zh-CN" sz="2400" b="1">
                <a:latin typeface="楷体_GB2312" pitchFamily="49" charset="-122"/>
                <a:ea typeface="楷体_GB2312" pitchFamily="49" charset="-122"/>
              </a:rPr>
              <a:t>int</a:t>
            </a:r>
            <a:r>
              <a:rPr lang="zh-CN" altLang="en-US" sz="2400" b="1">
                <a:latin typeface="楷体_GB2312" pitchFamily="49" charset="-122"/>
                <a:ea typeface="楷体_GB2312" pitchFamily="49" charset="-122"/>
              </a:rPr>
              <a:t>型，返回值也为</a:t>
            </a:r>
            <a:r>
              <a:rPr lang="en-US" altLang="zh-CN" sz="2400" b="1">
                <a:latin typeface="楷体_GB2312" pitchFamily="49" charset="-122"/>
                <a:ea typeface="楷体_GB2312" pitchFamily="49" charset="-122"/>
              </a:rPr>
              <a:t>int</a:t>
            </a:r>
            <a:r>
              <a:rPr lang="zh-CN" altLang="en-US" sz="2400" b="1">
                <a:latin typeface="楷体_GB2312" pitchFamily="49" charset="-122"/>
                <a:ea typeface="楷体_GB2312" pitchFamily="49" charset="-122"/>
              </a:rPr>
              <a:t>型。</a:t>
            </a:r>
          </a:p>
          <a:p>
            <a:pPr marL="0" indent="0" eaLnBrk="1" hangingPunct="1">
              <a:buFont typeface="Wingdings" pitchFamily="2" charset="2"/>
              <a:buNone/>
            </a:pPr>
            <a:r>
              <a:rPr lang="en-US" altLang="zh-CN" sz="2400" b="1">
                <a:latin typeface="楷体_GB2312" pitchFamily="49" charset="-122"/>
                <a:ea typeface="楷体_GB2312" pitchFamily="49" charset="-122"/>
              </a:rPr>
              <a:t>(4) </a:t>
            </a:r>
            <a:r>
              <a:rPr lang="zh-CN" altLang="en-US" sz="2400" b="1">
                <a:latin typeface="楷体_GB2312" pitchFamily="49" charset="-122"/>
                <a:ea typeface="楷体_GB2312" pitchFamily="49" charset="-122"/>
              </a:rPr>
              <a:t>如果函数不提供返回值，应在函数定义时在函数名之前写上</a:t>
            </a:r>
            <a:r>
              <a:rPr lang="en-US" altLang="zh-CN" sz="2400" b="1">
                <a:latin typeface="楷体_GB2312" pitchFamily="49" charset="-122"/>
                <a:ea typeface="楷体_GB2312" pitchFamily="49" charset="-122"/>
              </a:rPr>
              <a:t>void</a:t>
            </a:r>
            <a:r>
              <a:rPr lang="zh-CN" altLang="en-US" sz="2400" b="1">
                <a:latin typeface="楷体_GB2312" pitchFamily="49" charset="-122"/>
                <a:ea typeface="楷体_GB2312" pitchFamily="49" charset="-122"/>
              </a:rPr>
              <a:t>，在函数体内，所有的</a:t>
            </a:r>
            <a:r>
              <a:rPr lang="en-US" altLang="zh-CN" sz="2400" b="1">
                <a:latin typeface="楷体_GB2312" pitchFamily="49" charset="-122"/>
                <a:ea typeface="楷体_GB2312" pitchFamily="49" charset="-122"/>
              </a:rPr>
              <a:t>return</a:t>
            </a:r>
            <a:r>
              <a:rPr lang="zh-CN" altLang="en-US" sz="2400" b="1">
                <a:latin typeface="楷体_GB2312" pitchFamily="49" charset="-122"/>
                <a:ea typeface="楷体_GB2312" pitchFamily="49" charset="-122"/>
              </a:rPr>
              <a:t>语句都不应该带表达式。 </a:t>
            </a:r>
          </a:p>
        </p:txBody>
      </p:sp>
      <p:sp>
        <p:nvSpPr>
          <p:cNvPr id="5" name="灯片编号占位符 5"/>
          <p:cNvSpPr>
            <a:spLocks noGrp="1"/>
          </p:cNvSpPr>
          <p:nvPr>
            <p:ph type="sldNum" sz="quarter" idx="12"/>
          </p:nvPr>
        </p:nvSpPr>
        <p:spPr/>
        <p:txBody>
          <a:bodyPr/>
          <a:lstStyle/>
          <a:p>
            <a:pPr>
              <a:defRPr/>
            </a:pPr>
            <a:fld id="{32B774BE-C866-4DD7-B4E1-948EE9365E35}" type="slidenum">
              <a:rPr lang="en-US" altLang="zh-CN"/>
              <a:pPr>
                <a:defRPr/>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idx="1"/>
          </p:nvPr>
        </p:nvSpPr>
        <p:spPr>
          <a:xfrm>
            <a:off x="228600" y="620713"/>
            <a:ext cx="8375650" cy="5832475"/>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sz="3600" b="1" dirty="0">
                <a:solidFill>
                  <a:srgbClr val="FF0000"/>
                </a:solidFill>
                <a:latin typeface="楷体_GB2312" pitchFamily="49" charset="-122"/>
                <a:ea typeface="楷体_GB2312" pitchFamily="49" charset="-122"/>
              </a:rPr>
              <a:t>实参向形参传递数据</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调用带形参的函数时，实参向形参传递数据。</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例如，主函数调用函数</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时，实参</a:t>
            </a:r>
            <a:r>
              <a:rPr lang="en-US" altLang="zh-CN" b="1" dirty="0">
                <a:effectLst>
                  <a:outerShdw blurRad="38100" dist="38100" dir="2700000" algn="tl">
                    <a:srgbClr val="C0C0C0"/>
                  </a:outerShdw>
                </a:effectLst>
                <a:latin typeface="楷体_GB2312" pitchFamily="49" charset="-122"/>
                <a:ea typeface="楷体_GB2312" pitchFamily="49" charset="-122"/>
              </a:rPr>
              <a:t>x</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y</a:t>
            </a:r>
            <a:r>
              <a:rPr lang="zh-CN" altLang="en-US" b="1" dirty="0">
                <a:effectLst>
                  <a:outerShdw blurRad="38100" dist="38100" dir="2700000" algn="tl">
                    <a:srgbClr val="C0C0C0"/>
                  </a:outerShdw>
                </a:effectLst>
                <a:latin typeface="楷体_GB2312" pitchFamily="49" charset="-122"/>
                <a:ea typeface="楷体_GB2312" pitchFamily="49" charset="-122"/>
              </a:rPr>
              <a:t>的值分别传递给函数形参</a:t>
            </a:r>
            <a:r>
              <a:rPr lang="en-US" altLang="zh-CN" b="1" dirty="0">
                <a:effectLst>
                  <a:outerShdw blurRad="38100" dist="38100" dir="2700000" algn="tl">
                    <a:srgbClr val="C0C0C0"/>
                  </a:outerShdw>
                </a:effectLst>
                <a:latin typeface="楷体_GB2312" pitchFamily="49" charset="-122"/>
                <a:ea typeface="楷体_GB2312" pitchFamily="49" charset="-122"/>
              </a:rPr>
              <a:t>a</a:t>
            </a:r>
            <a:r>
              <a:rPr lang="zh-CN" altLang="en-US" b="1" dirty="0">
                <a:effectLst>
                  <a:outerShdw blurRad="38100" dist="38100" dir="2700000" algn="tl">
                    <a:srgbClr val="C0C0C0"/>
                  </a:outerShdw>
                </a:effectLst>
                <a:latin typeface="楷体_GB2312" pitchFamily="49" charset="-122"/>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b</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函数调用后，函数也会向调用处传递函数返回值。</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例如，</a:t>
            </a:r>
            <a:r>
              <a:rPr lang="en-US" altLang="zh-CN" b="1" dirty="0" err="1">
                <a:effectLst>
                  <a:outerShdw blurRad="38100" dist="38100" dir="2700000" algn="tl">
                    <a:srgbClr val="C0C0C0"/>
                  </a:outerShdw>
                </a:effectLst>
                <a:latin typeface="楷体_GB2312" pitchFamily="49" charset="-122"/>
                <a:ea typeface="楷体_GB2312" pitchFamily="49" charset="-122"/>
              </a:rPr>
              <a:t>gcd</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通过</a:t>
            </a:r>
            <a:r>
              <a:rPr lang="en-US" altLang="zh-CN" b="1" dirty="0">
                <a:effectLst>
                  <a:outerShdw blurRad="38100" dist="38100" dir="2700000" algn="tl">
                    <a:srgbClr val="C0C0C0"/>
                  </a:outerShdw>
                </a:effectLst>
                <a:latin typeface="楷体_GB2312" pitchFamily="49" charset="-122"/>
                <a:ea typeface="楷体_GB2312" pitchFamily="49" charset="-122"/>
              </a:rPr>
              <a:t>return</a:t>
            </a:r>
            <a:r>
              <a:rPr lang="zh-CN" altLang="en-US" b="1" dirty="0">
                <a:effectLst>
                  <a:outerShdw blurRad="38100" dist="38100" dir="2700000" algn="tl">
                    <a:srgbClr val="C0C0C0"/>
                  </a:outerShdw>
                </a:effectLst>
                <a:latin typeface="楷体_GB2312" pitchFamily="49" charset="-122"/>
                <a:ea typeface="楷体_GB2312" pitchFamily="49" charset="-122"/>
              </a:rPr>
              <a:t>语句的执行将其结果带回给主函数</a:t>
            </a:r>
            <a:r>
              <a:rPr lang="zh-CN" altLang="en-US" sz="4000" b="1" dirty="0">
                <a:effectLst>
                  <a:outerShdw blurRad="38100" dist="38100" dir="2700000" algn="tl">
                    <a:srgbClr val="C0C0C0"/>
                  </a:outerShdw>
                </a:effectLst>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sp>
        <p:nvSpPr>
          <p:cNvPr id="5" name="灯片编号占位符 5"/>
          <p:cNvSpPr>
            <a:spLocks noGrp="1"/>
          </p:cNvSpPr>
          <p:nvPr>
            <p:ph type="sldNum" sz="quarter" idx="12"/>
          </p:nvPr>
        </p:nvSpPr>
        <p:spPr/>
        <p:txBody>
          <a:bodyPr/>
          <a:lstStyle/>
          <a:p>
            <a:pPr>
              <a:defRPr/>
            </a:pPr>
            <a:fld id="{281D997A-8AE8-45C9-A154-2E5BACBB39B8}" type="slidenum">
              <a:rPr lang="en-US" altLang="zh-CN"/>
              <a:pPr>
                <a:defRPr/>
              </a:pPr>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idx="1"/>
          </p:nvPr>
        </p:nvSpPr>
        <p:spPr>
          <a:xfrm>
            <a:off x="323850" y="620713"/>
            <a:ext cx="8534400" cy="5832475"/>
          </a:xfrm>
        </p:spPr>
        <p:txBody>
          <a:bodyPr>
            <a:normAutofit/>
          </a:bodyPr>
          <a:lstStyle/>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实参对形参的数据传递是</a:t>
            </a:r>
            <a:r>
              <a:rPr lang="zh-CN" altLang="en-US" b="1" dirty="0">
                <a:effectLst>
                  <a:outerShdw blurRad="38100" dist="38100" dir="2700000" algn="tl">
                    <a:srgbClr val="C0C0C0"/>
                  </a:outerShdw>
                </a:effectLst>
                <a:ea typeface="楷体_GB2312" pitchFamily="49" charset="-122"/>
              </a:rPr>
              <a:t>“</a:t>
            </a:r>
            <a:r>
              <a:rPr lang="zh-CN" altLang="en-US" b="1" dirty="0">
                <a:solidFill>
                  <a:srgbClr val="FF0000"/>
                </a:solidFill>
                <a:effectLst>
                  <a:outerShdw blurRad="38100" dist="38100" dir="2700000" algn="tl">
                    <a:srgbClr val="C0C0C0"/>
                  </a:outerShdw>
                </a:effectLst>
                <a:latin typeface="楷体_GB2312" pitchFamily="49" charset="-122"/>
                <a:ea typeface="楷体_GB2312" pitchFamily="49" charset="-122"/>
              </a:rPr>
              <a:t>值传递</a:t>
            </a:r>
            <a:r>
              <a:rPr lang="zh-CN" altLang="en-US" b="1" dirty="0">
                <a:effectLst>
                  <a:outerShdw blurRad="38100" dist="38100" dir="2700000" algn="tl">
                    <a:srgbClr val="C0C0C0"/>
                  </a:outerShdw>
                </a:effectLst>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，即单向传递。</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如果实参也是变量，则实参与形参是不同的变量，只有实参变量的值传给形参，而不能由形参直接传回给实参</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通过指针间接引用除外</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Bef>
                <a:spcPct val="0"/>
              </a:spcBef>
              <a:spcAft>
                <a:spcPts val="0"/>
              </a:spcAft>
              <a:buClrTx/>
              <a:buSzTx/>
              <a:buFontTx/>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Bef>
                <a:spcPct val="0"/>
              </a:spcBef>
              <a:spcAft>
                <a:spcPts val="0"/>
              </a:spcAft>
              <a:buClrTx/>
              <a:buSzTx/>
              <a:buFontTx/>
              <a:buNone/>
              <a:defRPr/>
            </a:pPr>
            <a:r>
              <a:rPr lang="zh-CN" altLang="en-US" b="1" dirty="0">
                <a:effectLst>
                  <a:outerShdw blurRad="38100" dist="38100" dir="2700000" algn="tl">
                    <a:srgbClr val="C0C0C0"/>
                  </a:outerShdw>
                </a:effectLst>
                <a:latin typeface="楷体_GB2312" pitchFamily="49" charset="-122"/>
                <a:ea typeface="楷体_GB2312" pitchFamily="49" charset="-122"/>
              </a:rPr>
              <a:t>实参与形参在内存中占用不同的存储单元。在函数执行过程中，形参变量的值可以改变，但这改变对原先与它对应的实参变量没有影响。</a:t>
            </a:r>
          </a:p>
        </p:txBody>
      </p:sp>
      <p:sp>
        <p:nvSpPr>
          <p:cNvPr id="5" name="灯片编号占位符 5"/>
          <p:cNvSpPr>
            <a:spLocks noGrp="1"/>
          </p:cNvSpPr>
          <p:nvPr>
            <p:ph type="sldNum" sz="quarter" idx="12"/>
          </p:nvPr>
        </p:nvSpPr>
        <p:spPr/>
        <p:txBody>
          <a:bodyPr/>
          <a:lstStyle/>
          <a:p>
            <a:pPr>
              <a:defRPr/>
            </a:pPr>
            <a:fld id="{DA41BCF4-447A-4BF2-948C-F6C9A73911AE}" type="slidenum">
              <a:rPr lang="en-US" altLang="zh-CN"/>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5746">
                                            <p:txEl>
                                              <p:pRg st="2" end="2"/>
                                            </p:txEl>
                                          </p:spTgt>
                                        </p:tgtEl>
                                        <p:attrNameLst>
                                          <p:attrName>style.visibility</p:attrName>
                                        </p:attrNameLst>
                                      </p:cBhvr>
                                      <p:to>
                                        <p:strVal val="visible"/>
                                      </p:to>
                                    </p:set>
                                    <p:anim calcmode="lin" valueType="num">
                                      <p:cBhvr additive="base">
                                        <p:cTn id="7" dur="500" fill="hold"/>
                                        <p:tgtEl>
                                          <p:spTgt spid="41574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574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5746">
                                            <p:txEl>
                                              <p:pRg st="4" end="4"/>
                                            </p:txEl>
                                          </p:spTgt>
                                        </p:tgtEl>
                                        <p:attrNameLst>
                                          <p:attrName>style.visibility</p:attrName>
                                        </p:attrNameLst>
                                      </p:cBhvr>
                                      <p:to>
                                        <p:strVal val="visible"/>
                                      </p:to>
                                    </p:set>
                                    <p:anim calcmode="lin" valueType="num">
                                      <p:cBhvr additive="base">
                                        <p:cTn id="13" dur="500" fill="hold"/>
                                        <p:tgtEl>
                                          <p:spTgt spid="41574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574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a:xfrm>
            <a:off x="250825" y="404813"/>
            <a:ext cx="8713788" cy="6224587"/>
          </a:xfrm>
        </p:spPr>
        <p:txBody>
          <a:bodyPr/>
          <a:lstStyle/>
          <a:p>
            <a:pPr marL="0" indent="0" eaLnBrk="1" hangingPunct="1">
              <a:lnSpc>
                <a:spcPct val="95000"/>
              </a:lnSpc>
              <a:buFont typeface="Wingdings" pitchFamily="2" charset="2"/>
              <a:buNone/>
            </a:pPr>
            <a:r>
              <a:rPr lang="en-US" altLang="zh-CN" b="1" dirty="0">
                <a:solidFill>
                  <a:srgbClr val="0070C0"/>
                </a:solidFill>
                <a:latin typeface="楷体_GB2312" pitchFamily="49" charset="-122"/>
                <a:ea typeface="楷体_GB2312" pitchFamily="49" charset="-122"/>
              </a:rPr>
              <a:t>【</a:t>
            </a:r>
            <a:r>
              <a:rPr lang="zh-CN" altLang="en-US" b="1" dirty="0">
                <a:solidFill>
                  <a:srgbClr val="0070C0"/>
                </a:solidFill>
                <a:latin typeface="楷体_GB2312" pitchFamily="49" charset="-122"/>
                <a:ea typeface="楷体_GB2312" pitchFamily="49" charset="-122"/>
              </a:rPr>
              <a:t>例</a:t>
            </a:r>
            <a:r>
              <a:rPr lang="en-US" altLang="zh-CN" b="1" dirty="0">
                <a:solidFill>
                  <a:srgbClr val="0070C0"/>
                </a:solidFill>
                <a:latin typeface="楷体_GB2312" pitchFamily="49" charset="-122"/>
                <a:ea typeface="楷体_GB2312" pitchFamily="49" charset="-122"/>
              </a:rPr>
              <a:t>5.8】</a:t>
            </a:r>
            <a:r>
              <a:rPr lang="zh-CN" altLang="en-US" b="1" dirty="0">
                <a:solidFill>
                  <a:srgbClr val="FF0000"/>
                </a:solidFill>
                <a:latin typeface="楷体_GB2312" pitchFamily="49" charset="-122"/>
                <a:ea typeface="楷体_GB2312" pitchFamily="49" charset="-122"/>
              </a:rPr>
              <a:t>值传递的示意程序。</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#include &lt;</a:t>
            </a:r>
            <a:r>
              <a:rPr lang="en-US" altLang="zh-CN" sz="2400" b="1" dirty="0" err="1">
                <a:latin typeface="楷体_GB2312" pitchFamily="49" charset="-122"/>
                <a:ea typeface="楷体_GB2312" pitchFamily="49" charset="-122"/>
              </a:rPr>
              <a:t>stdio.h</a:t>
            </a:r>
            <a:r>
              <a:rPr lang="en-US" altLang="zh-CN" sz="2400" b="1" dirty="0">
                <a:latin typeface="楷体_GB2312" pitchFamily="49" charset="-122"/>
                <a:ea typeface="楷体_GB2312" pitchFamily="49" charset="-122"/>
              </a:rPr>
              <a:t>&gt;</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void </a:t>
            </a:r>
            <a:r>
              <a:rPr lang="en-US" altLang="zh-CN" sz="2400" b="1" dirty="0" err="1">
                <a:latin typeface="楷体_GB2312" pitchFamily="49" charset="-122"/>
                <a:ea typeface="楷体_GB2312" pitchFamily="49" charset="-122"/>
              </a:rPr>
              <a:t>func</a:t>
            </a:r>
            <a:r>
              <a:rPr lang="en-US" altLang="zh-CN" sz="2400" b="1" dirty="0">
                <a:latin typeface="楷体_GB2312" pitchFamily="49" charset="-122"/>
                <a:ea typeface="楷体_GB2312" pitchFamily="49" charset="-122"/>
              </a:rPr>
              <a:t>(</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x,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y)</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x += 10;	  y += 10;</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在</a:t>
            </a:r>
            <a:r>
              <a:rPr lang="en-US" altLang="zh-CN" sz="2400" b="1" dirty="0" err="1">
                <a:latin typeface="楷体_GB2312" pitchFamily="49" charset="-122"/>
                <a:ea typeface="楷体_GB2312" pitchFamily="49" charset="-122"/>
              </a:rPr>
              <a:t>func</a:t>
            </a:r>
            <a:r>
              <a:rPr lang="zh-CN" altLang="en-US" sz="2400" b="1" dirty="0">
                <a:latin typeface="楷体_GB2312" pitchFamily="49" charset="-122"/>
                <a:ea typeface="楷体_GB2312" pitchFamily="49" charset="-122"/>
              </a:rPr>
              <a:t>函数中：</a:t>
            </a:r>
            <a:r>
              <a:rPr lang="en-US" altLang="zh-CN" sz="2400" b="1" dirty="0">
                <a:latin typeface="楷体_GB2312" pitchFamily="49" charset="-122"/>
                <a:ea typeface="楷体_GB2312" pitchFamily="49" charset="-122"/>
              </a:rPr>
              <a:t>x = %d,  y = %d\n", </a:t>
            </a:r>
            <a:r>
              <a:rPr lang="en-US" altLang="zh-CN" sz="2400" b="1" dirty="0" err="1">
                <a:latin typeface="楷体_GB2312" pitchFamily="49" charset="-122"/>
                <a:ea typeface="楷体_GB2312" pitchFamily="49" charset="-122"/>
              </a:rPr>
              <a:t>x,y</a:t>
            </a:r>
            <a:r>
              <a:rPr lang="en-US" altLang="zh-CN" sz="2400" b="1" dirty="0">
                <a:latin typeface="楷体_GB2312" pitchFamily="49" charset="-122"/>
                <a:ea typeface="楷体_GB2312" pitchFamily="49" charset="-122"/>
              </a:rPr>
              <a:t>);</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a:t>
            </a:r>
          </a:p>
          <a:p>
            <a:pPr marL="0" indent="0" eaLnBrk="1" hangingPunct="1">
              <a:lnSpc>
                <a:spcPct val="95000"/>
              </a:lnSpc>
              <a:buFont typeface="Wingdings" pitchFamily="2" charset="2"/>
              <a:buNone/>
            </a:pP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main()</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int</a:t>
            </a:r>
            <a:r>
              <a:rPr lang="en-US" altLang="zh-CN" sz="2400" b="1" dirty="0">
                <a:latin typeface="楷体_GB2312" pitchFamily="49" charset="-122"/>
                <a:ea typeface="楷体_GB2312" pitchFamily="49" charset="-122"/>
              </a:rPr>
              <a:t> x = 5, y =8;</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在主函数中</a:t>
            </a:r>
            <a:r>
              <a:rPr lang="en-US" altLang="zh-CN" sz="2400" b="1" dirty="0">
                <a:latin typeface="楷体_GB2312" pitchFamily="49" charset="-122"/>
                <a:ea typeface="楷体_GB2312" pitchFamily="49" charset="-122"/>
              </a:rPr>
              <a:t>x</a:t>
            </a:r>
            <a:r>
              <a:rPr lang="zh-CN" altLang="en-US" sz="2400" b="1" dirty="0">
                <a:latin typeface="楷体_GB2312" pitchFamily="49" charset="-122"/>
                <a:ea typeface="楷体_GB2312" pitchFamily="49" charset="-122"/>
              </a:rPr>
              <a:t>与</a:t>
            </a:r>
            <a:r>
              <a:rPr lang="en-US" altLang="zh-CN" sz="2400" b="1" dirty="0">
                <a:latin typeface="楷体_GB2312" pitchFamily="49" charset="-122"/>
                <a:ea typeface="楷体_GB2312" pitchFamily="49" charset="-122"/>
              </a:rPr>
              <a:t>y</a:t>
            </a:r>
            <a:r>
              <a:rPr lang="zh-CN" altLang="en-US" sz="2400" b="1" dirty="0">
                <a:latin typeface="楷体_GB2312" pitchFamily="49" charset="-122"/>
                <a:ea typeface="楷体_GB2312" pitchFamily="49" charset="-122"/>
              </a:rPr>
              <a:t>的初值是：</a:t>
            </a:r>
            <a:r>
              <a:rPr lang="en-US" altLang="zh-CN" sz="2400" b="1" dirty="0">
                <a:latin typeface="楷体_GB2312" pitchFamily="49" charset="-122"/>
                <a:ea typeface="楷体_GB2312" pitchFamily="49" charset="-122"/>
              </a:rPr>
              <a:t>x = %d,  y = %d\n",</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x,y</a:t>
            </a:r>
            <a:r>
              <a:rPr lang="en-US" altLang="zh-CN" sz="2400" b="1" dirty="0">
                <a:latin typeface="楷体_GB2312" pitchFamily="49" charset="-122"/>
                <a:ea typeface="楷体_GB2312" pitchFamily="49" charset="-122"/>
              </a:rPr>
              <a:t>);</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func</a:t>
            </a:r>
            <a:r>
              <a:rPr lang="en-US" altLang="zh-CN" sz="2400" b="1" dirty="0">
                <a:latin typeface="楷体_GB2312" pitchFamily="49" charset="-122"/>
                <a:ea typeface="楷体_GB2312" pitchFamily="49" charset="-122"/>
              </a:rPr>
              <a:t>(x, y);</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printf</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调用</a:t>
            </a:r>
            <a:r>
              <a:rPr lang="en-US" altLang="zh-CN" sz="2400" b="1" dirty="0" err="1">
                <a:latin typeface="楷体_GB2312" pitchFamily="49" charset="-122"/>
                <a:ea typeface="楷体_GB2312" pitchFamily="49" charset="-122"/>
              </a:rPr>
              <a:t>func</a:t>
            </a:r>
            <a:r>
              <a:rPr lang="zh-CN" altLang="en-US" sz="2400" b="1" dirty="0">
                <a:latin typeface="楷体_GB2312" pitchFamily="49" charset="-122"/>
                <a:ea typeface="楷体_GB2312" pitchFamily="49" charset="-122"/>
              </a:rPr>
              <a:t>函数后返回到主函数时：</a:t>
            </a:r>
            <a:r>
              <a:rPr lang="en-US" altLang="zh-CN" sz="2400" b="1" dirty="0">
                <a:latin typeface="楷体_GB2312" pitchFamily="49" charset="-122"/>
                <a:ea typeface="楷体_GB2312" pitchFamily="49" charset="-122"/>
              </a:rPr>
              <a:t>x=%</a:t>
            </a:r>
            <a:r>
              <a:rPr lang="en-US" altLang="zh-CN" sz="2400" b="1" dirty="0" err="1">
                <a:latin typeface="楷体_GB2312" pitchFamily="49" charset="-122"/>
                <a:ea typeface="楷体_GB2312" pitchFamily="49" charset="-122"/>
              </a:rPr>
              <a:t>d,y</a:t>
            </a:r>
            <a:r>
              <a:rPr lang="en-US" altLang="zh-CN" sz="2400" b="1" dirty="0">
                <a:latin typeface="楷体_GB2312" pitchFamily="49" charset="-122"/>
                <a:ea typeface="楷体_GB2312" pitchFamily="49" charset="-122"/>
              </a:rPr>
              <a:t>=%d\n",</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a:t>
            </a:r>
            <a:r>
              <a:rPr lang="en-US" altLang="zh-CN" sz="2400" b="1" dirty="0" err="1">
                <a:latin typeface="楷体_GB2312" pitchFamily="49" charset="-122"/>
                <a:ea typeface="楷体_GB2312" pitchFamily="49" charset="-122"/>
              </a:rPr>
              <a:t>x,y</a:t>
            </a:r>
            <a:r>
              <a:rPr lang="en-US" altLang="zh-CN" sz="2400" b="1" dirty="0">
                <a:latin typeface="楷体_GB2312" pitchFamily="49" charset="-122"/>
                <a:ea typeface="楷体_GB2312" pitchFamily="49" charset="-122"/>
              </a:rPr>
              <a:t>);</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  return 0;</a:t>
            </a:r>
          </a:p>
          <a:p>
            <a:pPr marL="0" indent="0" eaLnBrk="1" hangingPunct="1">
              <a:lnSpc>
                <a:spcPct val="95000"/>
              </a:lnSpc>
              <a:buFont typeface="Wingdings" pitchFamily="2" charset="2"/>
              <a:buNone/>
            </a:pPr>
            <a:r>
              <a:rPr lang="en-US" altLang="zh-CN" sz="2400" b="1"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8FEE47C9-5EEB-43CB-8619-B60D1EB22BB6}" type="slidenum">
              <a:rPr lang="en-US" altLang="zh-CN"/>
              <a:pPr>
                <a:defRPr/>
              </a:pPr>
              <a:t>34</a:t>
            </a:fld>
            <a:endParaRPr lang="en-US" altLang="zh-C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sz="half" idx="1"/>
          </p:nvPr>
        </p:nvSpPr>
        <p:spPr>
          <a:xfrm>
            <a:off x="611188" y="2565400"/>
            <a:ext cx="7993062" cy="3497263"/>
          </a:xfrm>
        </p:spPr>
        <p:txBody>
          <a:bodyPr/>
          <a:lstStyle/>
          <a:p>
            <a:pPr marL="0" indent="0" eaLnBrk="1" hangingPunct="1">
              <a:buFont typeface="Wingdings" pitchFamily="2" charset="2"/>
              <a:buNone/>
            </a:pP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程序说明</a:t>
            </a: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zh-CN" altLang="en-US" sz="2400" b="1">
                <a:latin typeface="楷体_GB2312" pitchFamily="49" charset="-122"/>
                <a:ea typeface="楷体_GB2312" pitchFamily="49" charset="-122"/>
              </a:rPr>
              <a:t>从上面的例子可以看到，实参变量和形参变量尽管名称是相同的</a:t>
            </a: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但在内存中所占用的存储空间是不相同的。因此，调用</a:t>
            </a:r>
            <a:r>
              <a:rPr lang="en-US" altLang="zh-CN" sz="2400" b="1">
                <a:latin typeface="楷体_GB2312" pitchFamily="49" charset="-122"/>
                <a:ea typeface="楷体_GB2312" pitchFamily="49" charset="-122"/>
              </a:rPr>
              <a:t>func()</a:t>
            </a:r>
            <a:r>
              <a:rPr lang="zh-CN" altLang="en-US" sz="2400" b="1">
                <a:latin typeface="楷体_GB2312" pitchFamily="49" charset="-122"/>
                <a:ea typeface="楷体_GB2312" pitchFamily="49" charset="-122"/>
              </a:rPr>
              <a:t>时，函数的形参接收了实参的值，并对形参的值进行了修改，但不会传回给实参变量。</a:t>
            </a:r>
            <a:r>
              <a:rPr lang="zh-CN" altLang="en-US" sz="2400">
                <a:latin typeface="楷体_GB2312" pitchFamily="49" charset="-122"/>
                <a:ea typeface="楷体_GB2312" pitchFamily="49" charset="-122"/>
              </a:rPr>
              <a:t> </a:t>
            </a:r>
          </a:p>
        </p:txBody>
      </p:sp>
      <p:pic>
        <p:nvPicPr>
          <p:cNvPr id="41987" name="Picture 3"/>
          <p:cNvPicPr>
            <a:picLocks noGrp="1" noChangeAspect="1" noChangeArrowheads="1"/>
          </p:cNvPicPr>
          <p:nvPr>
            <p:ph sz="half" idx="2"/>
          </p:nvPr>
        </p:nvPicPr>
        <p:blipFill>
          <a:blip r:embed="rId2" cstate="print"/>
          <a:srcRect/>
          <a:stretch>
            <a:fillRect/>
          </a:stretch>
        </p:blipFill>
        <p:spPr>
          <a:xfrm>
            <a:off x="468313" y="1052513"/>
            <a:ext cx="7199312" cy="1081087"/>
          </a:xfrm>
          <a:noFill/>
        </p:spPr>
      </p:pic>
      <p:sp>
        <p:nvSpPr>
          <p:cNvPr id="7" name="灯片编号占位符 6"/>
          <p:cNvSpPr>
            <a:spLocks noGrp="1"/>
          </p:cNvSpPr>
          <p:nvPr>
            <p:ph type="sldNum" sz="quarter" idx="12"/>
          </p:nvPr>
        </p:nvSpPr>
        <p:spPr/>
        <p:txBody>
          <a:bodyPr/>
          <a:lstStyle/>
          <a:p>
            <a:pPr>
              <a:defRPr/>
            </a:pPr>
            <a:fld id="{58F08D35-9145-4E1B-8112-BA2F2943DB41}" type="slidenum">
              <a:rPr lang="en-US" altLang="zh-CN"/>
              <a:pPr>
                <a:defRPr/>
              </a:pPr>
              <a:t>35</a:t>
            </a:fld>
            <a:endParaRPr lang="en-US" altLang="zh-CN"/>
          </a:p>
        </p:txBody>
      </p:sp>
      <p:sp>
        <p:nvSpPr>
          <p:cNvPr id="41989" name="Text Box 6"/>
          <p:cNvSpPr txBox="1">
            <a:spLocks noChangeArrowheads="1"/>
          </p:cNvSpPr>
          <p:nvPr/>
        </p:nvSpPr>
        <p:spPr bwMode="auto">
          <a:xfrm>
            <a:off x="468313" y="192088"/>
            <a:ext cx="6408737" cy="882650"/>
          </a:xfrm>
          <a:prstGeom prst="rect">
            <a:avLst/>
          </a:prstGeom>
          <a:noFill/>
          <a:ln w="9525">
            <a:noFill/>
            <a:miter lim="800000"/>
            <a:headEnd/>
            <a:tailEnd/>
          </a:ln>
        </p:spPr>
        <p:txBody>
          <a:bodyPr>
            <a:spAutoFit/>
          </a:bodyPr>
          <a:lstStyle/>
          <a:p>
            <a:pPr algn="l" eaLnBrk="1" hangingPunct="1">
              <a:lnSpc>
                <a:spcPct val="85000"/>
              </a:lnSpc>
              <a:spcBef>
                <a:spcPct val="15000"/>
              </a:spcBef>
              <a:buClr>
                <a:srgbClr val="0066FF"/>
              </a:buClr>
              <a:buSzPct val="85000"/>
              <a:buFont typeface="Wingdings" pitchFamily="2" charset="2"/>
              <a:buNone/>
            </a:pPr>
            <a:r>
              <a:rPr kumimoji="1" lang="zh-CN" altLang="en-US">
                <a:ea typeface="楷体_GB2312" pitchFamily="49" charset="-122"/>
              </a:rPr>
              <a:t>程序运行结果如下：</a:t>
            </a:r>
          </a:p>
          <a:p>
            <a:endParaRPr lang="en-US" altLang="zh-CN">
              <a:ea typeface="楷体_GB2312" pitchFamily="49"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a:xfrm>
            <a:off x="539750" y="333375"/>
            <a:ext cx="8280400" cy="6296025"/>
          </a:xfrm>
        </p:spPr>
        <p:txBody>
          <a:bodyPr/>
          <a:lstStyle/>
          <a:p>
            <a:pPr marL="0" indent="0" algn="just" eaLnBrk="1" hangingPunct="1">
              <a:lnSpc>
                <a:spcPct val="90000"/>
              </a:lnSpc>
              <a:buFont typeface="Wingdings" pitchFamily="2" charset="2"/>
              <a:buNone/>
            </a:pPr>
            <a:r>
              <a:rPr lang="zh-CN" altLang="en-US" sz="2400" b="1">
                <a:latin typeface="楷体_GB2312" pitchFamily="49" charset="-122"/>
                <a:ea typeface="楷体_GB2312" pitchFamily="49" charset="-122"/>
              </a:rPr>
              <a:t>Ｃ语言不规定实参的求值次序。如果实参表达式的求值含有副作用，则实参求值顺序不同可能会产生不同的结果。</a:t>
            </a:r>
            <a:r>
              <a:rPr lang="zh-CN" altLang="en-US" sz="2400">
                <a:latin typeface="楷体_GB2312" pitchFamily="49" charset="-122"/>
                <a:ea typeface="楷体_GB2312" pitchFamily="49" charset="-122"/>
              </a:rPr>
              <a:t> </a:t>
            </a:r>
          </a:p>
          <a:p>
            <a:pPr marL="0" indent="0" eaLnBrk="1" hangingPunct="1">
              <a:buFont typeface="Wingdings" pitchFamily="2" charset="2"/>
              <a:buNone/>
            </a:pPr>
            <a:r>
              <a:rPr lang="en-US" altLang="zh-CN" sz="2400" b="1">
                <a:solidFill>
                  <a:srgbClr val="0070C0"/>
                </a:solidFill>
                <a:latin typeface="楷体_GB2312" pitchFamily="49" charset="-122"/>
                <a:ea typeface="楷体_GB2312" pitchFamily="49" charset="-122"/>
              </a:rPr>
              <a:t>【</a:t>
            </a:r>
            <a:r>
              <a:rPr lang="zh-CN" altLang="en-US" sz="2400" b="1">
                <a:solidFill>
                  <a:srgbClr val="0070C0"/>
                </a:solidFill>
                <a:latin typeface="楷体_GB2312" pitchFamily="49" charset="-122"/>
                <a:ea typeface="楷体_GB2312" pitchFamily="49" charset="-122"/>
              </a:rPr>
              <a:t>例</a:t>
            </a:r>
            <a:r>
              <a:rPr lang="en-US" altLang="zh-CN" sz="2400" b="1">
                <a:solidFill>
                  <a:srgbClr val="0070C0"/>
                </a:solidFill>
                <a:latin typeface="楷体_GB2312" pitchFamily="49" charset="-122"/>
                <a:ea typeface="楷体_GB2312" pitchFamily="49" charset="-122"/>
              </a:rPr>
              <a:t>5.9】</a:t>
            </a:r>
            <a:r>
              <a:rPr lang="zh-CN" altLang="en-US" sz="2400" b="1">
                <a:solidFill>
                  <a:srgbClr val="FF0000"/>
                </a:solidFill>
                <a:latin typeface="楷体_GB2312" pitchFamily="49" charset="-122"/>
                <a:ea typeface="楷体_GB2312" pitchFamily="49" charset="-122"/>
              </a:rPr>
              <a:t>检测系统实参求值顺序的示意程序。</a:t>
            </a:r>
          </a:p>
          <a:p>
            <a:pPr marL="0" indent="0" eaLnBrk="1" hangingPunct="1">
              <a:buFont typeface="Wingdings" pitchFamily="2" charset="2"/>
              <a:buNone/>
            </a:pPr>
            <a:r>
              <a:rPr lang="en-US" altLang="zh-CN" sz="2400" b="1">
                <a:latin typeface="楷体_GB2312" pitchFamily="49" charset="-122"/>
                <a:ea typeface="楷体_GB2312" pitchFamily="49" charset="-122"/>
              </a:rPr>
              <a:t>#include  &lt;stdio.h&gt;</a:t>
            </a:r>
          </a:p>
          <a:p>
            <a:pPr marL="0" indent="0" eaLnBrk="1" hangingPunct="1">
              <a:buFont typeface="Wingdings" pitchFamily="2" charset="2"/>
              <a:buNone/>
            </a:pPr>
            <a:r>
              <a:rPr lang="en-US" altLang="zh-CN" sz="2400" b="1">
                <a:latin typeface="楷体_GB2312" pitchFamily="49" charset="-122"/>
                <a:ea typeface="楷体_GB2312" pitchFamily="49" charset="-122"/>
              </a:rPr>
              <a:t>int cmp(int x, int y)</a:t>
            </a:r>
          </a:p>
          <a:p>
            <a:pPr marL="0" indent="0" eaLnBrk="1" hangingPunct="1">
              <a:buFont typeface="Wingdings" pitchFamily="2" charset="2"/>
              <a:buNone/>
            </a:pPr>
            <a:r>
              <a:rPr lang="en-US" altLang="zh-CN" sz="2400" b="1">
                <a:latin typeface="楷体_GB2312" pitchFamily="49" charset="-122"/>
                <a:ea typeface="楷体_GB2312" pitchFamily="49" charset="-122"/>
              </a:rPr>
              <a:t>{  if (x &gt; y)  return 1;</a:t>
            </a:r>
          </a:p>
          <a:p>
            <a:pPr marL="0" indent="0" eaLnBrk="1" hangingPunct="1">
              <a:buFont typeface="Wingdings" pitchFamily="2" charset="2"/>
              <a:buNone/>
            </a:pPr>
            <a:r>
              <a:rPr lang="en-US" altLang="zh-CN" sz="2400" b="1">
                <a:latin typeface="楷体_GB2312" pitchFamily="49" charset="-122"/>
                <a:ea typeface="楷体_GB2312" pitchFamily="49" charset="-122"/>
              </a:rPr>
              <a:t>   if (x == y) return 0;</a:t>
            </a:r>
          </a:p>
          <a:p>
            <a:pPr marL="0" indent="0" eaLnBrk="1" hangingPunct="1">
              <a:buFont typeface="Wingdings" pitchFamily="2" charset="2"/>
              <a:buNone/>
            </a:pPr>
            <a:r>
              <a:rPr lang="en-US" altLang="zh-CN" sz="2400" b="1">
                <a:latin typeface="楷体_GB2312" pitchFamily="49" charset="-122"/>
                <a:ea typeface="楷体_GB2312" pitchFamily="49" charset="-122"/>
              </a:rPr>
              <a:t>   return -1;</a:t>
            </a:r>
          </a:p>
          <a:p>
            <a:pPr marL="0" indent="0" eaLnBrk="1" hangingPunct="1">
              <a:buFont typeface="Wingdings" pitchFamily="2" charset="2"/>
              <a:buNone/>
            </a:pPr>
            <a:r>
              <a:rPr lang="en-US" altLang="zh-CN" sz="2400" b="1">
                <a:latin typeface="楷体_GB2312" pitchFamily="49" charset="-122"/>
                <a:ea typeface="楷体_GB2312" pitchFamily="49" charset="-122"/>
              </a:rPr>
              <a:t>}</a:t>
            </a:r>
          </a:p>
          <a:p>
            <a:pPr marL="0" indent="0" eaLnBrk="1" hangingPunct="1">
              <a:buFont typeface="Wingdings" pitchFamily="2" charset="2"/>
              <a:buNone/>
            </a:pPr>
            <a:r>
              <a:rPr lang="en-US" altLang="zh-CN" sz="2400" b="1">
                <a:latin typeface="楷体_GB2312" pitchFamily="49" charset="-122"/>
                <a:ea typeface="楷体_GB2312" pitchFamily="49" charset="-122"/>
              </a:rPr>
              <a:t>int main()</a:t>
            </a:r>
          </a:p>
          <a:p>
            <a:pPr marL="0" indent="0" eaLnBrk="1" hangingPunct="1">
              <a:buFont typeface="Wingdings" pitchFamily="2" charset="2"/>
              <a:buNone/>
            </a:pPr>
            <a:r>
              <a:rPr lang="en-US" altLang="zh-CN" sz="2400" b="1">
                <a:latin typeface="楷体_GB2312" pitchFamily="49" charset="-122"/>
                <a:ea typeface="楷体_GB2312" pitchFamily="49" charset="-122"/>
              </a:rPr>
              <a:t>{ int k = 2;</a:t>
            </a:r>
          </a:p>
          <a:p>
            <a:pPr marL="0" indent="0" eaLnBrk="1" hangingPunct="1">
              <a:buFont typeface="Wingdings" pitchFamily="2" charset="2"/>
              <a:buNone/>
            </a:pPr>
            <a:r>
              <a:rPr lang="en-US" altLang="zh-CN" sz="2400" b="1">
                <a:latin typeface="楷体_GB2312" pitchFamily="49" charset="-122"/>
                <a:ea typeface="楷体_GB2312" pitchFamily="49" charset="-122"/>
              </a:rPr>
              <a:t>  printf("%d\n", cmp(k, ++k));</a:t>
            </a:r>
          </a:p>
          <a:p>
            <a:pPr marL="0" indent="0" eaLnBrk="1" hangingPunct="1">
              <a:buFont typeface="Wingdings" pitchFamily="2" charset="2"/>
              <a:buNone/>
            </a:pPr>
            <a:r>
              <a:rPr lang="en-US" altLang="zh-CN" sz="2400" b="1">
                <a:latin typeface="楷体_GB2312" pitchFamily="49" charset="-122"/>
                <a:ea typeface="楷体_GB2312" pitchFamily="49" charset="-122"/>
              </a:rPr>
              <a:t>  return 0;</a:t>
            </a:r>
          </a:p>
          <a:p>
            <a:pPr marL="0" indent="0" eaLnBrk="1" hangingPunct="1">
              <a:buFont typeface="Wingdings" pitchFamily="2" charset="2"/>
              <a:buNone/>
            </a:pPr>
            <a:r>
              <a:rPr lang="en-US" altLang="zh-CN" sz="2400" b="1">
                <a:latin typeface="楷体_GB2312" pitchFamily="49" charset="-122"/>
                <a:ea typeface="楷体_GB2312" pitchFamily="49" charset="-122"/>
              </a:rPr>
              <a:t>}</a:t>
            </a:r>
          </a:p>
        </p:txBody>
      </p:sp>
      <p:sp>
        <p:nvSpPr>
          <p:cNvPr id="6" name="灯片编号占位符 5"/>
          <p:cNvSpPr>
            <a:spLocks noGrp="1"/>
          </p:cNvSpPr>
          <p:nvPr>
            <p:ph type="sldNum" sz="quarter" idx="12"/>
          </p:nvPr>
        </p:nvSpPr>
        <p:spPr/>
        <p:txBody>
          <a:bodyPr/>
          <a:lstStyle/>
          <a:p>
            <a:pPr>
              <a:defRPr/>
            </a:pPr>
            <a:fld id="{94BC1052-A225-49F4-AF5A-990357F2E20A}" type="slidenum">
              <a:rPr lang="en-US" altLang="zh-CN"/>
              <a:pPr>
                <a:defRPr/>
              </a:pPr>
              <a:t>36</a:t>
            </a:fld>
            <a:endParaRPr lang="en-US" altLang="zh-CN"/>
          </a:p>
        </p:txBody>
      </p:sp>
      <p:sp>
        <p:nvSpPr>
          <p:cNvPr id="43012" name="Text Box 5"/>
          <p:cNvSpPr txBox="1">
            <a:spLocks noChangeArrowheads="1"/>
          </p:cNvSpPr>
          <p:nvPr/>
        </p:nvSpPr>
        <p:spPr bwMode="auto">
          <a:xfrm>
            <a:off x="4643438" y="1916113"/>
            <a:ext cx="4032250" cy="3140075"/>
          </a:xfrm>
          <a:prstGeom prst="rect">
            <a:avLst/>
          </a:prstGeom>
          <a:noFill/>
          <a:ln w="9525">
            <a:noFill/>
            <a:miter lim="800000"/>
            <a:headEnd/>
            <a:tailEnd/>
          </a:ln>
        </p:spPr>
        <p:txBody>
          <a:bodyPr>
            <a:spAutoFit/>
          </a:bodyPr>
          <a:lstStyle/>
          <a:p>
            <a:pPr algn="l"/>
            <a:r>
              <a:rPr lang="en-US" altLang="zh-CN" sz="2000">
                <a:solidFill>
                  <a:schemeClr val="accent2"/>
                </a:solidFill>
                <a:latin typeface="楷体_GB2312" pitchFamily="49" charset="-122"/>
                <a:ea typeface="楷体_GB2312" pitchFamily="49" charset="-122"/>
              </a:rPr>
              <a:t>【</a:t>
            </a:r>
            <a:r>
              <a:rPr lang="zh-CN" altLang="en-US" sz="2000">
                <a:solidFill>
                  <a:schemeClr val="accent2"/>
                </a:solidFill>
                <a:latin typeface="楷体_GB2312" pitchFamily="49" charset="-122"/>
                <a:ea typeface="楷体_GB2312" pitchFamily="49" charset="-122"/>
              </a:rPr>
              <a:t>程序说明</a:t>
            </a:r>
            <a:r>
              <a:rPr lang="en-US" altLang="zh-CN" sz="2000">
                <a:solidFill>
                  <a:schemeClr val="accent2"/>
                </a:solidFill>
                <a:latin typeface="楷体_GB2312" pitchFamily="49" charset="-122"/>
                <a:ea typeface="楷体_GB2312" pitchFamily="49" charset="-122"/>
              </a:rPr>
              <a:t>】</a:t>
            </a:r>
          </a:p>
          <a:p>
            <a:pPr algn="l"/>
            <a:r>
              <a:rPr lang="zh-CN" altLang="en-US" sz="2000">
                <a:solidFill>
                  <a:schemeClr val="accent2"/>
                </a:solidFill>
                <a:latin typeface="楷体_GB2312" pitchFamily="49" charset="-122"/>
                <a:ea typeface="楷体_GB2312" pitchFamily="49" charset="-122"/>
              </a:rPr>
              <a:t>如果系统按自左至右顺序求实参的值，则函数调用 </a:t>
            </a:r>
            <a:r>
              <a:rPr lang="en-US" altLang="zh-CN" sz="2000">
                <a:solidFill>
                  <a:schemeClr val="accent2"/>
                </a:solidFill>
                <a:latin typeface="楷体_GB2312" pitchFamily="49" charset="-122"/>
                <a:ea typeface="楷体_GB2312" pitchFamily="49" charset="-122"/>
              </a:rPr>
              <a:t>cmp(k, ++k)</a:t>
            </a:r>
          </a:p>
          <a:p>
            <a:pPr algn="l"/>
            <a:r>
              <a:rPr lang="zh-CN" altLang="en-US" sz="2000">
                <a:solidFill>
                  <a:schemeClr val="accent2"/>
                </a:solidFill>
                <a:latin typeface="楷体_GB2312" pitchFamily="49" charset="-122"/>
                <a:ea typeface="楷体_GB2312" pitchFamily="49" charset="-122"/>
              </a:rPr>
              <a:t>相当于   </a:t>
            </a:r>
            <a:r>
              <a:rPr lang="en-US" altLang="zh-CN" sz="2000">
                <a:solidFill>
                  <a:schemeClr val="accent2"/>
                </a:solidFill>
                <a:latin typeface="楷体_GB2312" pitchFamily="49" charset="-122"/>
                <a:ea typeface="楷体_GB2312" pitchFamily="49" charset="-122"/>
              </a:rPr>
              <a:t>cmp(2, 3)</a:t>
            </a:r>
          </a:p>
          <a:p>
            <a:pPr algn="l"/>
            <a:r>
              <a:rPr lang="zh-CN" altLang="en-US" sz="2000">
                <a:solidFill>
                  <a:schemeClr val="accent2"/>
                </a:solidFill>
                <a:latin typeface="楷体_GB2312" pitchFamily="49" charset="-122"/>
                <a:ea typeface="楷体_GB2312" pitchFamily="49" charset="-122"/>
              </a:rPr>
              <a:t>这样的调用将返回</a:t>
            </a:r>
            <a:r>
              <a:rPr lang="en-US" altLang="zh-CN" sz="2000">
                <a:solidFill>
                  <a:schemeClr val="accent2"/>
                </a:solidFill>
                <a:latin typeface="楷体_GB2312" pitchFamily="49" charset="-122"/>
                <a:ea typeface="楷体_GB2312" pitchFamily="49" charset="-122"/>
              </a:rPr>
              <a:t>-1</a:t>
            </a:r>
            <a:r>
              <a:rPr lang="zh-CN" altLang="en-US" sz="2000">
                <a:solidFill>
                  <a:schemeClr val="accent2"/>
                </a:solidFill>
                <a:latin typeface="楷体_GB2312" pitchFamily="49" charset="-122"/>
                <a:ea typeface="楷体_GB2312" pitchFamily="49" charset="-122"/>
              </a:rPr>
              <a:t>。</a:t>
            </a:r>
          </a:p>
          <a:p>
            <a:pPr algn="l"/>
            <a:r>
              <a:rPr lang="zh-CN" altLang="en-US" sz="2000">
                <a:solidFill>
                  <a:schemeClr val="accent2"/>
                </a:solidFill>
                <a:latin typeface="楷体_GB2312" pitchFamily="49" charset="-122"/>
                <a:ea typeface="楷体_GB2312" pitchFamily="49" charset="-122"/>
              </a:rPr>
              <a:t>反之，如果系统按自右至左顺序求实参的值，则函数调用</a:t>
            </a:r>
          </a:p>
          <a:p>
            <a:pPr algn="l"/>
            <a:r>
              <a:rPr lang="zh-CN" altLang="en-US" sz="2000">
                <a:solidFill>
                  <a:schemeClr val="accent2"/>
                </a:solidFill>
                <a:latin typeface="楷体_GB2312" pitchFamily="49" charset="-122"/>
                <a:ea typeface="楷体_GB2312" pitchFamily="49" charset="-122"/>
              </a:rPr>
              <a:t>    </a:t>
            </a:r>
            <a:r>
              <a:rPr lang="en-US" altLang="zh-CN" sz="2000">
                <a:solidFill>
                  <a:schemeClr val="accent2"/>
                </a:solidFill>
                <a:latin typeface="楷体_GB2312" pitchFamily="49" charset="-122"/>
                <a:ea typeface="楷体_GB2312" pitchFamily="49" charset="-122"/>
              </a:rPr>
              <a:t>cmp(k, ++k)</a:t>
            </a:r>
          </a:p>
          <a:p>
            <a:pPr algn="l"/>
            <a:r>
              <a:rPr lang="zh-CN" altLang="en-US" sz="2000">
                <a:solidFill>
                  <a:schemeClr val="accent2"/>
                </a:solidFill>
                <a:latin typeface="楷体_GB2312" pitchFamily="49" charset="-122"/>
                <a:ea typeface="楷体_GB2312" pitchFamily="49" charset="-122"/>
              </a:rPr>
              <a:t>相当于  </a:t>
            </a:r>
            <a:r>
              <a:rPr lang="en-US" altLang="zh-CN" sz="2000">
                <a:solidFill>
                  <a:schemeClr val="accent2"/>
                </a:solidFill>
                <a:latin typeface="楷体_GB2312" pitchFamily="49" charset="-122"/>
                <a:ea typeface="楷体_GB2312" pitchFamily="49" charset="-122"/>
              </a:rPr>
              <a:t>cmp(3, 3)</a:t>
            </a:r>
          </a:p>
          <a:p>
            <a:pPr algn="l"/>
            <a:r>
              <a:rPr lang="zh-CN" altLang="en-US" sz="2000">
                <a:solidFill>
                  <a:schemeClr val="accent2"/>
                </a:solidFill>
                <a:latin typeface="楷体_GB2312" pitchFamily="49" charset="-122"/>
                <a:ea typeface="楷体_GB2312" pitchFamily="49" charset="-122"/>
              </a:rPr>
              <a:t>这样的调用将返回</a:t>
            </a:r>
            <a:r>
              <a:rPr lang="en-US" altLang="zh-CN" sz="2000">
                <a:solidFill>
                  <a:schemeClr val="accent2"/>
                </a:solidFill>
                <a:latin typeface="楷体_GB2312" pitchFamily="49" charset="-122"/>
                <a:ea typeface="楷体_GB2312" pitchFamily="49" charset="-122"/>
              </a:rPr>
              <a:t>0</a:t>
            </a:r>
            <a:r>
              <a:rPr lang="zh-CN" altLang="en-US" sz="2000">
                <a:solidFill>
                  <a:schemeClr val="accent2"/>
                </a:solidFill>
                <a:latin typeface="楷体_GB2312" pitchFamily="49" charset="-122"/>
                <a:ea typeface="楷体_GB2312" pitchFamily="49" charset="-122"/>
              </a:rPr>
              <a:t>。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idx="1"/>
          </p:nvPr>
        </p:nvSpPr>
        <p:spPr>
          <a:xfrm>
            <a:off x="539750" y="333375"/>
            <a:ext cx="7920038" cy="6296025"/>
          </a:xfrm>
        </p:spPr>
        <p:txBody>
          <a:bodyPr/>
          <a:lstStyle/>
          <a:p>
            <a:pPr marL="0" indent="0" eaLnBrk="1" hangingPunct="1">
              <a:lnSpc>
                <a:spcPct val="90000"/>
              </a:lnSpc>
              <a:buFont typeface="Wingdings" pitchFamily="2" charset="2"/>
              <a:buNone/>
            </a:pPr>
            <a:r>
              <a:rPr lang="zh-CN" altLang="en-US" sz="3200" b="1" dirty="0">
                <a:solidFill>
                  <a:srgbClr val="990000"/>
                </a:solidFill>
                <a:latin typeface="楷体_GB2312" pitchFamily="49" charset="-122"/>
                <a:ea typeface="楷体_GB2312" pitchFamily="49" charset="-122"/>
              </a:rPr>
              <a:t>函数的嵌套调用</a:t>
            </a:r>
            <a:endParaRPr lang="zh-CN" altLang="en-US" sz="3200" b="1" dirty="0">
              <a:latin typeface="楷体_GB2312" pitchFamily="49" charset="-122"/>
              <a:ea typeface="楷体_GB2312" pitchFamily="49" charset="-122"/>
            </a:endParaRPr>
          </a:p>
          <a:p>
            <a:pPr marL="0" indent="0" eaLnBrk="1" hangingPunct="1">
              <a:spcBef>
                <a:spcPct val="0"/>
              </a:spcBef>
              <a:buClrTx/>
              <a:buSzTx/>
              <a:buFontTx/>
              <a:buNone/>
            </a:pPr>
            <a:endParaRPr lang="zh-CN" altLang="en-US" sz="2400" b="1" dirty="0">
              <a:latin typeface="楷体_GB2312" pitchFamily="49" charset="-122"/>
              <a:ea typeface="楷体_GB2312" pitchFamily="49" charset="-122"/>
            </a:endParaRPr>
          </a:p>
          <a:p>
            <a:pPr marL="0" indent="0" eaLnBrk="1" hangingPunct="1">
              <a:spcBef>
                <a:spcPct val="0"/>
              </a:spcBef>
              <a:buClrTx/>
              <a:buSzTx/>
              <a:buFontTx/>
              <a:buNone/>
            </a:pPr>
            <a:r>
              <a:rPr lang="zh-CN" altLang="en-US" sz="2400" b="1" dirty="0">
                <a:latin typeface="楷体_GB2312" pitchFamily="49" charset="-122"/>
                <a:ea typeface="楷体_GB2312" pitchFamily="49" charset="-122"/>
              </a:rPr>
              <a:t>所有函数都是独立平等的。一个函数内不能包含另一个函数定义，即不能嵌套定义。</a:t>
            </a:r>
          </a:p>
          <a:p>
            <a:pPr marL="0" indent="0" eaLnBrk="1" hangingPunct="1">
              <a:spcBef>
                <a:spcPct val="0"/>
              </a:spcBef>
              <a:buClrTx/>
              <a:buSzTx/>
              <a:buFontTx/>
              <a:buNone/>
            </a:pPr>
            <a:r>
              <a:rPr lang="zh-CN" altLang="en-US" sz="2400" b="1" dirty="0">
                <a:latin typeface="楷体_GB2312" pitchFamily="49" charset="-122"/>
                <a:ea typeface="楷体_GB2312" pitchFamily="49" charset="-122"/>
              </a:rPr>
              <a:t>所有函数都处于同一层，函数相互之间可以任意调用。例如，在一个较为复杂的程序中，可以从主函数出发调用函数</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，函数</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又调用函数</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，函数</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又调用函数</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等等。这样从主函数出发，形成了一个长长的调用链，这就是通常所说的函数嵌套调用。</a:t>
            </a:r>
          </a:p>
          <a:p>
            <a:pPr marL="0" indent="0" eaLnBrk="1" hangingPunct="1">
              <a:spcBef>
                <a:spcPct val="0"/>
              </a:spcBef>
              <a:buClrTx/>
              <a:buSzTx/>
              <a:buFontTx/>
              <a:buNone/>
            </a:pPr>
            <a:endParaRPr lang="zh-CN" altLang="en-US" sz="2400" b="1" dirty="0">
              <a:latin typeface="楷体_GB2312" pitchFamily="49" charset="-122"/>
              <a:ea typeface="楷体_GB2312" pitchFamily="49" charset="-122"/>
            </a:endParaRPr>
          </a:p>
          <a:p>
            <a:pPr marL="0" indent="0" eaLnBrk="1" hangingPunct="1">
              <a:spcBef>
                <a:spcPct val="0"/>
              </a:spcBef>
              <a:buClrTx/>
              <a:buSzTx/>
              <a:buFontTx/>
              <a:buNone/>
            </a:pPr>
            <a:r>
              <a:rPr lang="zh-CN" altLang="en-US" sz="2400" b="1" dirty="0">
                <a:latin typeface="楷体_GB2312" pitchFamily="49" charset="-122"/>
                <a:ea typeface="楷体_GB2312" pitchFamily="49" charset="-122"/>
              </a:rPr>
              <a:t>函数嵌套调用时有一个重要的特征，先被调用的函数后返回，后被调用的函数先返回。例如上面所举例子，待函数</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完成计算返回后，</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函数继续计算</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可能还要调用其他函数</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，待函数</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计算完成后返回到函数</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，函数</a:t>
            </a:r>
            <a:r>
              <a:rPr lang="en-US" altLang="zh-CN" sz="2400" b="1" dirty="0">
                <a:latin typeface="楷体_GB2312" pitchFamily="49" charset="-122"/>
                <a:ea typeface="楷体_GB2312" pitchFamily="49" charset="-122"/>
              </a:rPr>
              <a:t>A()</a:t>
            </a:r>
            <a:r>
              <a:rPr lang="zh-CN" altLang="en-US" sz="2400" b="1" dirty="0">
                <a:latin typeface="楷体_GB2312" pitchFamily="49" charset="-122"/>
                <a:ea typeface="楷体_GB2312" pitchFamily="49" charset="-122"/>
              </a:rPr>
              <a:t>计算完成后才返回到主函数。</a:t>
            </a:r>
          </a:p>
        </p:txBody>
      </p:sp>
      <p:sp>
        <p:nvSpPr>
          <p:cNvPr id="5" name="灯片编号占位符 5"/>
          <p:cNvSpPr>
            <a:spLocks noGrp="1"/>
          </p:cNvSpPr>
          <p:nvPr>
            <p:ph type="sldNum" sz="quarter" idx="12"/>
          </p:nvPr>
        </p:nvSpPr>
        <p:spPr/>
        <p:txBody>
          <a:bodyPr/>
          <a:lstStyle/>
          <a:p>
            <a:pPr>
              <a:defRPr/>
            </a:pPr>
            <a:fld id="{2134F017-3E50-4226-B5CB-161DC3F93F0D}" type="slidenum">
              <a:rPr lang="en-US" altLang="zh-CN"/>
              <a:pPr>
                <a:defRPr/>
              </a:pPr>
              <a:t>37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4">
                                            <p:txEl>
                                              <p:pRg st="3" end="3"/>
                                            </p:txEl>
                                          </p:spTgt>
                                        </p:tgtEl>
                                        <p:attrNameLst>
                                          <p:attrName>style.visibility</p:attrName>
                                        </p:attrNameLst>
                                      </p:cBhvr>
                                      <p:to>
                                        <p:strVal val="visible"/>
                                      </p:to>
                                    </p:set>
                                    <p:anim calcmode="lin" valueType="num">
                                      <p:cBhvr additive="base">
                                        <p:cTn id="7" dur="500" fill="hold"/>
                                        <p:tgtEl>
                                          <p:spTgt spid="4403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034">
                                            <p:txEl>
                                              <p:pRg st="5" end="5"/>
                                            </p:txEl>
                                          </p:spTgt>
                                        </p:tgtEl>
                                        <p:attrNameLst>
                                          <p:attrName>style.visibility</p:attrName>
                                        </p:attrNameLst>
                                      </p:cBhvr>
                                      <p:to>
                                        <p:strVal val="visible"/>
                                      </p:to>
                                    </p:set>
                                    <p:anim calcmode="lin" valueType="num">
                                      <p:cBhvr additive="base">
                                        <p:cTn id="13" dur="500" fill="hold"/>
                                        <p:tgtEl>
                                          <p:spTgt spid="44034">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5"/>
          <p:cNvSpPr>
            <a:spLocks noGrp="1"/>
          </p:cNvSpPr>
          <p:nvPr>
            <p:ph type="sldNum" sz="quarter" idx="12"/>
          </p:nvPr>
        </p:nvSpPr>
        <p:spPr/>
        <p:txBody>
          <a:bodyPr/>
          <a:lstStyle/>
          <a:p>
            <a:pPr>
              <a:defRPr/>
            </a:pPr>
            <a:fld id="{1970D4C1-81FE-49E0-BDF4-6C691C975A92}" type="slidenum">
              <a:rPr lang="en-US" altLang="zh-CN"/>
              <a:pPr>
                <a:defRPr/>
              </a:pPr>
              <a:t>38</a:t>
            </a:fld>
            <a:endParaRPr lang="en-US" altLang="zh-CN"/>
          </a:p>
        </p:txBody>
      </p:sp>
      <p:grpSp>
        <p:nvGrpSpPr>
          <p:cNvPr id="45059" name="Group 3"/>
          <p:cNvGrpSpPr>
            <a:grpSpLocks/>
          </p:cNvGrpSpPr>
          <p:nvPr/>
        </p:nvGrpSpPr>
        <p:grpSpPr bwMode="auto">
          <a:xfrm>
            <a:off x="0" y="500063"/>
            <a:ext cx="9358313" cy="5765800"/>
            <a:chOff x="2520" y="12516"/>
            <a:chExt cx="7560" cy="2942"/>
          </a:xfrm>
        </p:grpSpPr>
        <p:grpSp>
          <p:nvGrpSpPr>
            <p:cNvPr id="45060" name="Group 4"/>
            <p:cNvGrpSpPr>
              <a:grpSpLocks/>
            </p:cNvGrpSpPr>
            <p:nvPr/>
          </p:nvGrpSpPr>
          <p:grpSpPr bwMode="auto">
            <a:xfrm>
              <a:off x="2520" y="12516"/>
              <a:ext cx="7560" cy="2340"/>
              <a:chOff x="2520" y="12516"/>
              <a:chExt cx="7560" cy="2340"/>
            </a:xfrm>
          </p:grpSpPr>
          <p:grpSp>
            <p:nvGrpSpPr>
              <p:cNvPr id="45062" name="Group 5"/>
              <p:cNvGrpSpPr>
                <a:grpSpLocks/>
              </p:cNvGrpSpPr>
              <p:nvPr/>
            </p:nvGrpSpPr>
            <p:grpSpPr bwMode="auto">
              <a:xfrm>
                <a:off x="2520" y="12516"/>
                <a:ext cx="3780" cy="2340"/>
                <a:chOff x="2160" y="12516"/>
                <a:chExt cx="3780" cy="2340"/>
              </a:xfrm>
            </p:grpSpPr>
            <p:grpSp>
              <p:nvGrpSpPr>
                <p:cNvPr id="45086" name="Group 6"/>
                <p:cNvGrpSpPr>
                  <a:grpSpLocks/>
                </p:cNvGrpSpPr>
                <p:nvPr/>
              </p:nvGrpSpPr>
              <p:grpSpPr bwMode="auto">
                <a:xfrm>
                  <a:off x="2160" y="12516"/>
                  <a:ext cx="1800" cy="2330"/>
                  <a:chOff x="2880" y="12516"/>
                  <a:chExt cx="1800" cy="2330"/>
                </a:xfrm>
              </p:grpSpPr>
              <p:sp>
                <p:nvSpPr>
                  <p:cNvPr id="45100" name="Text Box 7"/>
                  <p:cNvSpPr txBox="1">
                    <a:spLocks noChangeArrowheads="1"/>
                  </p:cNvSpPr>
                  <p:nvPr/>
                </p:nvSpPr>
                <p:spPr bwMode="auto">
                  <a:xfrm>
                    <a:off x="3060" y="12516"/>
                    <a:ext cx="1440" cy="134"/>
                  </a:xfrm>
                  <a:prstGeom prst="rect">
                    <a:avLst/>
                  </a:prstGeom>
                  <a:noFill/>
                  <a:ln w="9525" algn="ctr">
                    <a:noFill/>
                    <a:miter lim="800000"/>
                    <a:headEnd/>
                    <a:tailEnd/>
                  </a:ln>
                </p:spPr>
                <p:txBody>
                  <a:bodyPr>
                    <a:spAutoFit/>
                  </a:bodyPr>
                  <a:lstStyle/>
                  <a:p>
                    <a:pPr algn="just"/>
                    <a:r>
                      <a:rPr lang="en-US" altLang="zh-CN" sz="1000" b="0"/>
                      <a:t>main () </a:t>
                    </a:r>
                    <a:r>
                      <a:rPr lang="zh-CN" altLang="en-US" sz="1000" b="0"/>
                      <a:t>函数</a:t>
                    </a:r>
                    <a:endParaRPr lang="zh-CN" altLang="en-US"/>
                  </a:p>
                </p:txBody>
              </p:sp>
              <p:sp>
                <p:nvSpPr>
                  <p:cNvPr id="45101" name="Line 8"/>
                  <p:cNvSpPr>
                    <a:spLocks noChangeShapeType="1"/>
                  </p:cNvSpPr>
                  <p:nvPr/>
                </p:nvSpPr>
                <p:spPr bwMode="auto">
                  <a:xfrm>
                    <a:off x="3780" y="12984"/>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102" name="Text Box 9"/>
                  <p:cNvSpPr txBox="1">
                    <a:spLocks noChangeArrowheads="1"/>
                  </p:cNvSpPr>
                  <p:nvPr/>
                </p:nvSpPr>
                <p:spPr bwMode="auto">
                  <a:xfrm>
                    <a:off x="3060" y="13608"/>
                    <a:ext cx="1620" cy="134"/>
                  </a:xfrm>
                  <a:prstGeom prst="rect">
                    <a:avLst/>
                  </a:prstGeom>
                  <a:noFill/>
                  <a:ln w="9525" algn="ctr">
                    <a:noFill/>
                    <a:miter lim="800000"/>
                    <a:headEnd/>
                    <a:tailEnd/>
                  </a:ln>
                </p:spPr>
                <p:txBody>
                  <a:bodyPr>
                    <a:spAutoFit/>
                  </a:bodyPr>
                  <a:lstStyle/>
                  <a:p>
                    <a:pPr algn="just"/>
                    <a:r>
                      <a:rPr lang="zh-CN" altLang="en-US" sz="1000" b="0"/>
                      <a:t>调用</a:t>
                    </a:r>
                    <a:r>
                      <a:rPr lang="en-US" altLang="zh-CN" sz="1000" b="0"/>
                      <a:t>A () </a:t>
                    </a:r>
                    <a:r>
                      <a:rPr lang="zh-CN" altLang="en-US" sz="1000" b="0"/>
                      <a:t>函数</a:t>
                    </a:r>
                    <a:endParaRPr lang="zh-CN" altLang="en-US"/>
                  </a:p>
                </p:txBody>
              </p:sp>
              <p:sp>
                <p:nvSpPr>
                  <p:cNvPr id="45103" name="Text Box 10"/>
                  <p:cNvSpPr txBox="1">
                    <a:spLocks noChangeArrowheads="1"/>
                  </p:cNvSpPr>
                  <p:nvPr/>
                </p:nvSpPr>
                <p:spPr bwMode="auto">
                  <a:xfrm>
                    <a:off x="2880" y="14712"/>
                    <a:ext cx="1620" cy="134"/>
                  </a:xfrm>
                  <a:prstGeom prst="rect">
                    <a:avLst/>
                  </a:prstGeom>
                  <a:noFill/>
                  <a:ln w="9525" algn="ctr">
                    <a:noFill/>
                    <a:miter lim="800000"/>
                    <a:headEnd/>
                    <a:tailEnd/>
                  </a:ln>
                </p:spPr>
                <p:txBody>
                  <a:bodyPr>
                    <a:spAutoFit/>
                  </a:bodyPr>
                  <a:lstStyle/>
                  <a:p>
                    <a:r>
                      <a:rPr lang="en-US" altLang="zh-CN" sz="1000" b="0"/>
                      <a:t>  </a:t>
                    </a:r>
                    <a:r>
                      <a:rPr lang="zh-CN" altLang="en-US" sz="1000" b="0"/>
                      <a:t>结  束</a:t>
                    </a:r>
                    <a:endParaRPr lang="zh-CN" altLang="en-US"/>
                  </a:p>
                </p:txBody>
              </p:sp>
              <p:sp>
                <p:nvSpPr>
                  <p:cNvPr id="45104" name="Line 11"/>
                  <p:cNvSpPr>
                    <a:spLocks noChangeShapeType="1"/>
                  </p:cNvSpPr>
                  <p:nvPr/>
                </p:nvSpPr>
                <p:spPr bwMode="auto">
                  <a:xfrm>
                    <a:off x="3780" y="14076"/>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105" name="Text Box 12"/>
                  <p:cNvSpPr txBox="1">
                    <a:spLocks noChangeArrowheads="1"/>
                  </p:cNvSpPr>
                  <p:nvPr/>
                </p:nvSpPr>
                <p:spPr bwMode="auto">
                  <a:xfrm>
                    <a:off x="3240" y="12984"/>
                    <a:ext cx="540" cy="468"/>
                  </a:xfrm>
                  <a:prstGeom prst="rect">
                    <a:avLst/>
                  </a:prstGeom>
                  <a:noFill/>
                  <a:ln w="9525" algn="ctr">
                    <a:noFill/>
                    <a:miter lim="800000"/>
                    <a:headEnd/>
                    <a:tailEnd/>
                  </a:ln>
                </p:spPr>
                <p:txBody>
                  <a:bodyPr/>
                  <a:lstStyle/>
                  <a:p>
                    <a:pPr algn="just"/>
                    <a:r>
                      <a:rPr lang="en-US" altLang="zh-CN" sz="1000" b="0"/>
                      <a:t>⑴</a:t>
                    </a:r>
                    <a:endParaRPr lang="en-US" altLang="zh-CN"/>
                  </a:p>
                </p:txBody>
              </p:sp>
              <p:sp>
                <p:nvSpPr>
                  <p:cNvPr id="45106" name="Text Box 13"/>
                  <p:cNvSpPr txBox="1">
                    <a:spLocks noChangeArrowheads="1"/>
                  </p:cNvSpPr>
                  <p:nvPr/>
                </p:nvSpPr>
                <p:spPr bwMode="auto">
                  <a:xfrm>
                    <a:off x="3240" y="14076"/>
                    <a:ext cx="540" cy="468"/>
                  </a:xfrm>
                  <a:prstGeom prst="rect">
                    <a:avLst/>
                  </a:prstGeom>
                  <a:noFill/>
                  <a:ln w="9525" algn="ctr">
                    <a:noFill/>
                    <a:miter lim="800000"/>
                    <a:headEnd/>
                    <a:tailEnd/>
                  </a:ln>
                </p:spPr>
                <p:txBody>
                  <a:bodyPr/>
                  <a:lstStyle/>
                  <a:p>
                    <a:pPr algn="just"/>
                    <a:r>
                      <a:rPr lang="en-US" altLang="zh-CN" sz="1000" b="0"/>
                      <a:t>⒀</a:t>
                    </a:r>
                  </a:p>
                  <a:p>
                    <a:endParaRPr lang="en-US" altLang="zh-CN"/>
                  </a:p>
                </p:txBody>
              </p:sp>
            </p:grpSp>
            <p:grpSp>
              <p:nvGrpSpPr>
                <p:cNvPr id="45087" name="Group 14"/>
                <p:cNvGrpSpPr>
                  <a:grpSpLocks/>
                </p:cNvGrpSpPr>
                <p:nvPr/>
              </p:nvGrpSpPr>
              <p:grpSpPr bwMode="auto">
                <a:xfrm>
                  <a:off x="3600" y="12516"/>
                  <a:ext cx="2340" cy="2340"/>
                  <a:chOff x="4320" y="12516"/>
                  <a:chExt cx="2340" cy="2340"/>
                </a:xfrm>
              </p:grpSpPr>
              <p:grpSp>
                <p:nvGrpSpPr>
                  <p:cNvPr id="45088" name="Group 15"/>
                  <p:cNvGrpSpPr>
                    <a:grpSpLocks/>
                  </p:cNvGrpSpPr>
                  <p:nvPr/>
                </p:nvGrpSpPr>
                <p:grpSpPr bwMode="auto">
                  <a:xfrm>
                    <a:off x="4860" y="12516"/>
                    <a:ext cx="1800" cy="2330"/>
                    <a:chOff x="2880" y="12516"/>
                    <a:chExt cx="1800" cy="2330"/>
                  </a:xfrm>
                </p:grpSpPr>
                <p:sp>
                  <p:nvSpPr>
                    <p:cNvPr id="45093" name="Text Box 16"/>
                    <p:cNvSpPr txBox="1">
                      <a:spLocks noChangeArrowheads="1"/>
                    </p:cNvSpPr>
                    <p:nvPr/>
                  </p:nvSpPr>
                  <p:spPr bwMode="auto">
                    <a:xfrm>
                      <a:off x="3060" y="12516"/>
                      <a:ext cx="1440" cy="134"/>
                    </a:xfrm>
                    <a:prstGeom prst="rect">
                      <a:avLst/>
                    </a:prstGeom>
                    <a:noFill/>
                    <a:ln w="9525" algn="ctr">
                      <a:noFill/>
                      <a:miter lim="800000"/>
                      <a:headEnd/>
                      <a:tailEnd/>
                    </a:ln>
                  </p:spPr>
                  <p:txBody>
                    <a:bodyPr>
                      <a:spAutoFit/>
                    </a:bodyPr>
                    <a:lstStyle/>
                    <a:p>
                      <a:r>
                        <a:rPr lang="en-US" altLang="zh-CN" sz="1000" b="0"/>
                        <a:t>A () </a:t>
                      </a:r>
                      <a:r>
                        <a:rPr lang="zh-CN" altLang="en-US" sz="1000" b="0"/>
                        <a:t>函数</a:t>
                      </a:r>
                      <a:endParaRPr lang="zh-CN" altLang="en-US"/>
                    </a:p>
                  </p:txBody>
                </p:sp>
                <p:sp>
                  <p:nvSpPr>
                    <p:cNvPr id="45094" name="Line 17"/>
                    <p:cNvSpPr>
                      <a:spLocks noChangeShapeType="1"/>
                    </p:cNvSpPr>
                    <p:nvPr/>
                  </p:nvSpPr>
                  <p:spPr bwMode="auto">
                    <a:xfrm>
                      <a:off x="3780" y="12984"/>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95" name="Text Box 18"/>
                    <p:cNvSpPr txBox="1">
                      <a:spLocks noChangeArrowheads="1"/>
                    </p:cNvSpPr>
                    <p:nvPr/>
                  </p:nvSpPr>
                  <p:spPr bwMode="auto">
                    <a:xfrm>
                      <a:off x="3060" y="13608"/>
                      <a:ext cx="1620" cy="134"/>
                    </a:xfrm>
                    <a:prstGeom prst="rect">
                      <a:avLst/>
                    </a:prstGeom>
                    <a:noFill/>
                    <a:ln w="9525" algn="ctr">
                      <a:noFill/>
                      <a:miter lim="800000"/>
                      <a:headEnd/>
                      <a:tailEnd/>
                    </a:ln>
                  </p:spPr>
                  <p:txBody>
                    <a:bodyPr>
                      <a:spAutoFit/>
                    </a:bodyPr>
                    <a:lstStyle/>
                    <a:p>
                      <a:pPr algn="just"/>
                      <a:r>
                        <a:rPr lang="zh-CN" altLang="en-US" sz="1000" b="0"/>
                        <a:t>调用</a:t>
                      </a:r>
                      <a:r>
                        <a:rPr lang="en-US" altLang="zh-CN" sz="1000" b="0"/>
                        <a:t>B () </a:t>
                      </a:r>
                      <a:r>
                        <a:rPr lang="zh-CN" altLang="en-US" sz="1000" b="0"/>
                        <a:t>函数</a:t>
                      </a:r>
                      <a:endParaRPr lang="zh-CN" altLang="en-US"/>
                    </a:p>
                  </p:txBody>
                </p:sp>
                <p:sp>
                  <p:nvSpPr>
                    <p:cNvPr id="45096" name="Text Box 19"/>
                    <p:cNvSpPr txBox="1">
                      <a:spLocks noChangeArrowheads="1"/>
                    </p:cNvSpPr>
                    <p:nvPr/>
                  </p:nvSpPr>
                  <p:spPr bwMode="auto">
                    <a:xfrm>
                      <a:off x="2880" y="14712"/>
                      <a:ext cx="1620" cy="134"/>
                    </a:xfrm>
                    <a:prstGeom prst="rect">
                      <a:avLst/>
                    </a:prstGeom>
                    <a:noFill/>
                    <a:ln w="9525" algn="ctr">
                      <a:noFill/>
                      <a:miter lim="800000"/>
                      <a:headEnd/>
                      <a:tailEnd/>
                    </a:ln>
                  </p:spPr>
                  <p:txBody>
                    <a:bodyPr>
                      <a:spAutoFit/>
                    </a:bodyPr>
                    <a:lstStyle/>
                    <a:p>
                      <a:r>
                        <a:rPr lang="en-US" altLang="zh-CN" sz="1000" b="0"/>
                        <a:t>  </a:t>
                      </a:r>
                      <a:r>
                        <a:rPr lang="zh-CN" altLang="en-US" sz="1000" b="0"/>
                        <a:t>返  回</a:t>
                      </a:r>
                      <a:endParaRPr lang="zh-CN" altLang="en-US"/>
                    </a:p>
                  </p:txBody>
                </p:sp>
                <p:sp>
                  <p:nvSpPr>
                    <p:cNvPr id="45097" name="Line 20"/>
                    <p:cNvSpPr>
                      <a:spLocks noChangeShapeType="1"/>
                    </p:cNvSpPr>
                    <p:nvPr/>
                  </p:nvSpPr>
                  <p:spPr bwMode="auto">
                    <a:xfrm>
                      <a:off x="3780" y="14076"/>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98" name="Text Box 21"/>
                    <p:cNvSpPr txBox="1">
                      <a:spLocks noChangeArrowheads="1"/>
                    </p:cNvSpPr>
                    <p:nvPr/>
                  </p:nvSpPr>
                  <p:spPr bwMode="auto">
                    <a:xfrm>
                      <a:off x="3240" y="12984"/>
                      <a:ext cx="540" cy="468"/>
                    </a:xfrm>
                    <a:prstGeom prst="rect">
                      <a:avLst/>
                    </a:prstGeom>
                    <a:noFill/>
                    <a:ln w="9525" algn="ctr">
                      <a:noFill/>
                      <a:miter lim="800000"/>
                      <a:headEnd/>
                      <a:tailEnd/>
                    </a:ln>
                  </p:spPr>
                  <p:txBody>
                    <a:bodyPr/>
                    <a:lstStyle/>
                    <a:p>
                      <a:pPr algn="just"/>
                      <a:r>
                        <a:rPr lang="en-US" altLang="zh-CN" sz="1000" b="0"/>
                        <a:t>⑶</a:t>
                      </a:r>
                      <a:endParaRPr lang="en-US" altLang="zh-CN"/>
                    </a:p>
                  </p:txBody>
                </p:sp>
                <p:sp>
                  <p:nvSpPr>
                    <p:cNvPr id="45099" name="Text Box 22"/>
                    <p:cNvSpPr txBox="1">
                      <a:spLocks noChangeArrowheads="1"/>
                    </p:cNvSpPr>
                    <p:nvPr/>
                  </p:nvSpPr>
                  <p:spPr bwMode="auto">
                    <a:xfrm>
                      <a:off x="3240" y="14076"/>
                      <a:ext cx="540" cy="468"/>
                    </a:xfrm>
                    <a:prstGeom prst="rect">
                      <a:avLst/>
                    </a:prstGeom>
                    <a:noFill/>
                    <a:ln w="9525" algn="ctr">
                      <a:noFill/>
                      <a:miter lim="800000"/>
                      <a:headEnd/>
                      <a:tailEnd/>
                    </a:ln>
                  </p:spPr>
                  <p:txBody>
                    <a:bodyPr/>
                    <a:lstStyle/>
                    <a:p>
                      <a:pPr algn="just"/>
                      <a:r>
                        <a:rPr lang="en-US" altLang="zh-CN" sz="1000" b="0"/>
                        <a:t>⑾</a:t>
                      </a:r>
                    </a:p>
                    <a:p>
                      <a:endParaRPr lang="en-US" altLang="zh-CN"/>
                    </a:p>
                  </p:txBody>
                </p:sp>
              </p:grpSp>
              <p:sp>
                <p:nvSpPr>
                  <p:cNvPr id="45089" name="Line 23"/>
                  <p:cNvSpPr>
                    <a:spLocks noChangeShapeType="1"/>
                  </p:cNvSpPr>
                  <p:nvPr/>
                </p:nvSpPr>
                <p:spPr bwMode="auto">
                  <a:xfrm flipV="1">
                    <a:off x="4560" y="12984"/>
                    <a:ext cx="54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90" name="Line 24"/>
                  <p:cNvSpPr>
                    <a:spLocks noChangeShapeType="1"/>
                  </p:cNvSpPr>
                  <p:nvPr/>
                </p:nvSpPr>
                <p:spPr bwMode="auto">
                  <a:xfrm flipH="1" flipV="1">
                    <a:off x="4500" y="14076"/>
                    <a:ext cx="720" cy="780"/>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91" name="Text Box 25"/>
                  <p:cNvSpPr txBox="1">
                    <a:spLocks noChangeArrowheads="1"/>
                  </p:cNvSpPr>
                  <p:nvPr/>
                </p:nvSpPr>
                <p:spPr bwMode="auto">
                  <a:xfrm>
                    <a:off x="4320" y="12984"/>
                    <a:ext cx="540" cy="468"/>
                  </a:xfrm>
                  <a:prstGeom prst="rect">
                    <a:avLst/>
                  </a:prstGeom>
                  <a:noFill/>
                  <a:ln w="9525" algn="ctr">
                    <a:noFill/>
                    <a:miter lim="800000"/>
                    <a:headEnd/>
                    <a:tailEnd/>
                  </a:ln>
                </p:spPr>
                <p:txBody>
                  <a:bodyPr/>
                  <a:lstStyle/>
                  <a:p>
                    <a:pPr algn="just"/>
                    <a:r>
                      <a:rPr lang="en-US" altLang="zh-CN" sz="1000" b="0"/>
                      <a:t>⑵</a:t>
                    </a:r>
                    <a:endParaRPr lang="en-US" altLang="zh-CN"/>
                  </a:p>
                </p:txBody>
              </p:sp>
              <p:sp>
                <p:nvSpPr>
                  <p:cNvPr id="45092" name="Text Box 26"/>
                  <p:cNvSpPr txBox="1">
                    <a:spLocks noChangeArrowheads="1"/>
                  </p:cNvSpPr>
                  <p:nvPr/>
                </p:nvSpPr>
                <p:spPr bwMode="auto">
                  <a:xfrm>
                    <a:off x="4320" y="14388"/>
                    <a:ext cx="540" cy="468"/>
                  </a:xfrm>
                  <a:prstGeom prst="rect">
                    <a:avLst/>
                  </a:prstGeom>
                  <a:noFill/>
                  <a:ln w="9525" algn="ctr">
                    <a:noFill/>
                    <a:miter lim="800000"/>
                    <a:headEnd/>
                    <a:tailEnd/>
                  </a:ln>
                </p:spPr>
                <p:txBody>
                  <a:bodyPr/>
                  <a:lstStyle/>
                  <a:p>
                    <a:pPr algn="just"/>
                    <a:r>
                      <a:rPr lang="en-US" altLang="zh-CN" sz="1000" b="0"/>
                      <a:t>⑿</a:t>
                    </a:r>
                    <a:endParaRPr lang="en-US" altLang="zh-CN"/>
                  </a:p>
                </p:txBody>
              </p:sp>
            </p:grpSp>
          </p:grpSp>
          <p:grpSp>
            <p:nvGrpSpPr>
              <p:cNvPr id="45063" name="Group 27"/>
              <p:cNvGrpSpPr>
                <a:grpSpLocks/>
              </p:cNvGrpSpPr>
              <p:nvPr/>
            </p:nvGrpSpPr>
            <p:grpSpPr bwMode="auto">
              <a:xfrm>
                <a:off x="5940" y="12516"/>
                <a:ext cx="4140" cy="2340"/>
                <a:chOff x="5940" y="12516"/>
                <a:chExt cx="4140" cy="2340"/>
              </a:xfrm>
            </p:grpSpPr>
            <p:grpSp>
              <p:nvGrpSpPr>
                <p:cNvPr id="45064" name="Group 28"/>
                <p:cNvGrpSpPr>
                  <a:grpSpLocks/>
                </p:cNvGrpSpPr>
                <p:nvPr/>
              </p:nvGrpSpPr>
              <p:grpSpPr bwMode="auto">
                <a:xfrm>
                  <a:off x="5940" y="12516"/>
                  <a:ext cx="2340" cy="2340"/>
                  <a:chOff x="6480" y="12516"/>
                  <a:chExt cx="2340" cy="2340"/>
                </a:xfrm>
              </p:grpSpPr>
              <p:grpSp>
                <p:nvGrpSpPr>
                  <p:cNvPr id="45074" name="Group 29"/>
                  <p:cNvGrpSpPr>
                    <a:grpSpLocks/>
                  </p:cNvGrpSpPr>
                  <p:nvPr/>
                </p:nvGrpSpPr>
                <p:grpSpPr bwMode="auto">
                  <a:xfrm>
                    <a:off x="7020" y="12516"/>
                    <a:ext cx="1800" cy="2330"/>
                    <a:chOff x="2880" y="12516"/>
                    <a:chExt cx="1800" cy="2330"/>
                  </a:xfrm>
                </p:grpSpPr>
                <p:sp>
                  <p:nvSpPr>
                    <p:cNvPr id="45079" name="Text Box 30"/>
                    <p:cNvSpPr txBox="1">
                      <a:spLocks noChangeArrowheads="1"/>
                    </p:cNvSpPr>
                    <p:nvPr/>
                  </p:nvSpPr>
                  <p:spPr bwMode="auto">
                    <a:xfrm>
                      <a:off x="3060" y="12516"/>
                      <a:ext cx="1440" cy="134"/>
                    </a:xfrm>
                    <a:prstGeom prst="rect">
                      <a:avLst/>
                    </a:prstGeom>
                    <a:noFill/>
                    <a:ln w="9525" algn="ctr">
                      <a:noFill/>
                      <a:miter lim="800000"/>
                      <a:headEnd/>
                      <a:tailEnd/>
                    </a:ln>
                  </p:spPr>
                  <p:txBody>
                    <a:bodyPr>
                      <a:spAutoFit/>
                    </a:bodyPr>
                    <a:lstStyle/>
                    <a:p>
                      <a:r>
                        <a:rPr lang="en-US" altLang="zh-CN" sz="1000" b="0"/>
                        <a:t>B () </a:t>
                      </a:r>
                      <a:r>
                        <a:rPr lang="zh-CN" altLang="en-US" sz="1000" b="0"/>
                        <a:t>函数</a:t>
                      </a:r>
                      <a:endParaRPr lang="zh-CN" altLang="en-US"/>
                    </a:p>
                  </p:txBody>
                </p:sp>
                <p:sp>
                  <p:nvSpPr>
                    <p:cNvPr id="45080" name="Line 31"/>
                    <p:cNvSpPr>
                      <a:spLocks noChangeShapeType="1"/>
                    </p:cNvSpPr>
                    <p:nvPr/>
                  </p:nvSpPr>
                  <p:spPr bwMode="auto">
                    <a:xfrm>
                      <a:off x="3780" y="12984"/>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81" name="Text Box 32"/>
                    <p:cNvSpPr txBox="1">
                      <a:spLocks noChangeArrowheads="1"/>
                    </p:cNvSpPr>
                    <p:nvPr/>
                  </p:nvSpPr>
                  <p:spPr bwMode="auto">
                    <a:xfrm>
                      <a:off x="3060" y="13608"/>
                      <a:ext cx="1620" cy="134"/>
                    </a:xfrm>
                    <a:prstGeom prst="rect">
                      <a:avLst/>
                    </a:prstGeom>
                    <a:noFill/>
                    <a:ln w="9525" algn="ctr">
                      <a:noFill/>
                      <a:miter lim="800000"/>
                      <a:headEnd/>
                      <a:tailEnd/>
                    </a:ln>
                  </p:spPr>
                  <p:txBody>
                    <a:bodyPr>
                      <a:spAutoFit/>
                    </a:bodyPr>
                    <a:lstStyle/>
                    <a:p>
                      <a:pPr algn="just"/>
                      <a:r>
                        <a:rPr lang="zh-CN" altLang="en-US" sz="1000" b="0"/>
                        <a:t>调用</a:t>
                      </a:r>
                      <a:r>
                        <a:rPr lang="en-US" altLang="zh-CN" sz="1000" b="0"/>
                        <a:t>C () </a:t>
                      </a:r>
                      <a:r>
                        <a:rPr lang="zh-CN" altLang="en-US" sz="1000" b="0"/>
                        <a:t>函数</a:t>
                      </a:r>
                      <a:endParaRPr lang="zh-CN" altLang="en-US"/>
                    </a:p>
                  </p:txBody>
                </p:sp>
                <p:sp>
                  <p:nvSpPr>
                    <p:cNvPr id="45082" name="Text Box 33"/>
                    <p:cNvSpPr txBox="1">
                      <a:spLocks noChangeArrowheads="1"/>
                    </p:cNvSpPr>
                    <p:nvPr/>
                  </p:nvSpPr>
                  <p:spPr bwMode="auto">
                    <a:xfrm>
                      <a:off x="2880" y="14712"/>
                      <a:ext cx="1620" cy="134"/>
                    </a:xfrm>
                    <a:prstGeom prst="rect">
                      <a:avLst/>
                    </a:prstGeom>
                    <a:noFill/>
                    <a:ln w="9525" algn="ctr">
                      <a:noFill/>
                      <a:miter lim="800000"/>
                      <a:headEnd/>
                      <a:tailEnd/>
                    </a:ln>
                  </p:spPr>
                  <p:txBody>
                    <a:bodyPr>
                      <a:spAutoFit/>
                    </a:bodyPr>
                    <a:lstStyle/>
                    <a:p>
                      <a:r>
                        <a:rPr lang="en-US" altLang="zh-CN" sz="1000" b="0"/>
                        <a:t>  </a:t>
                      </a:r>
                      <a:r>
                        <a:rPr lang="zh-CN" altLang="en-US" sz="1000" b="0"/>
                        <a:t>返  回</a:t>
                      </a:r>
                      <a:endParaRPr lang="zh-CN" altLang="en-US"/>
                    </a:p>
                  </p:txBody>
                </p:sp>
                <p:sp>
                  <p:nvSpPr>
                    <p:cNvPr id="45083" name="Line 34"/>
                    <p:cNvSpPr>
                      <a:spLocks noChangeShapeType="1"/>
                    </p:cNvSpPr>
                    <p:nvPr/>
                  </p:nvSpPr>
                  <p:spPr bwMode="auto">
                    <a:xfrm>
                      <a:off x="3780" y="14076"/>
                      <a:ext cx="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84" name="Text Box 35"/>
                    <p:cNvSpPr txBox="1">
                      <a:spLocks noChangeArrowheads="1"/>
                    </p:cNvSpPr>
                    <p:nvPr/>
                  </p:nvSpPr>
                  <p:spPr bwMode="auto">
                    <a:xfrm>
                      <a:off x="3240" y="12984"/>
                      <a:ext cx="540" cy="468"/>
                    </a:xfrm>
                    <a:prstGeom prst="rect">
                      <a:avLst/>
                    </a:prstGeom>
                    <a:noFill/>
                    <a:ln w="9525" algn="ctr">
                      <a:noFill/>
                      <a:miter lim="800000"/>
                      <a:headEnd/>
                      <a:tailEnd/>
                    </a:ln>
                  </p:spPr>
                  <p:txBody>
                    <a:bodyPr/>
                    <a:lstStyle/>
                    <a:p>
                      <a:pPr algn="just"/>
                      <a:r>
                        <a:rPr lang="en-US" altLang="zh-CN" sz="1000" b="0"/>
                        <a:t>⑸</a:t>
                      </a:r>
                      <a:endParaRPr lang="en-US" altLang="zh-CN"/>
                    </a:p>
                  </p:txBody>
                </p:sp>
                <p:sp>
                  <p:nvSpPr>
                    <p:cNvPr id="45085" name="Text Box 36"/>
                    <p:cNvSpPr txBox="1">
                      <a:spLocks noChangeArrowheads="1"/>
                    </p:cNvSpPr>
                    <p:nvPr/>
                  </p:nvSpPr>
                  <p:spPr bwMode="auto">
                    <a:xfrm>
                      <a:off x="3240" y="14076"/>
                      <a:ext cx="540" cy="468"/>
                    </a:xfrm>
                    <a:prstGeom prst="rect">
                      <a:avLst/>
                    </a:prstGeom>
                    <a:noFill/>
                    <a:ln w="9525" algn="ctr">
                      <a:noFill/>
                      <a:miter lim="800000"/>
                      <a:headEnd/>
                      <a:tailEnd/>
                    </a:ln>
                  </p:spPr>
                  <p:txBody>
                    <a:bodyPr/>
                    <a:lstStyle/>
                    <a:p>
                      <a:pPr algn="just"/>
                      <a:r>
                        <a:rPr lang="en-US" altLang="zh-CN" sz="1000" b="0"/>
                        <a:t>⑼</a:t>
                      </a:r>
                    </a:p>
                    <a:p>
                      <a:endParaRPr lang="en-US" altLang="zh-CN"/>
                    </a:p>
                  </p:txBody>
                </p:sp>
              </p:grpSp>
              <p:sp>
                <p:nvSpPr>
                  <p:cNvPr id="45075" name="Line 37"/>
                  <p:cNvSpPr>
                    <a:spLocks noChangeShapeType="1"/>
                  </p:cNvSpPr>
                  <p:nvPr/>
                </p:nvSpPr>
                <p:spPr bwMode="auto">
                  <a:xfrm flipV="1">
                    <a:off x="6720" y="12984"/>
                    <a:ext cx="54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76" name="Line 38"/>
                  <p:cNvSpPr>
                    <a:spLocks noChangeShapeType="1"/>
                  </p:cNvSpPr>
                  <p:nvPr/>
                </p:nvSpPr>
                <p:spPr bwMode="auto">
                  <a:xfrm flipH="1" flipV="1">
                    <a:off x="6660" y="14076"/>
                    <a:ext cx="720" cy="780"/>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77" name="Text Box 39"/>
                  <p:cNvSpPr txBox="1">
                    <a:spLocks noChangeArrowheads="1"/>
                  </p:cNvSpPr>
                  <p:nvPr/>
                </p:nvSpPr>
                <p:spPr bwMode="auto">
                  <a:xfrm>
                    <a:off x="6480" y="12984"/>
                    <a:ext cx="540" cy="468"/>
                  </a:xfrm>
                  <a:prstGeom prst="rect">
                    <a:avLst/>
                  </a:prstGeom>
                  <a:noFill/>
                  <a:ln w="9525" algn="ctr">
                    <a:noFill/>
                    <a:miter lim="800000"/>
                    <a:headEnd/>
                    <a:tailEnd/>
                  </a:ln>
                </p:spPr>
                <p:txBody>
                  <a:bodyPr/>
                  <a:lstStyle/>
                  <a:p>
                    <a:pPr algn="just"/>
                    <a:r>
                      <a:rPr lang="en-US" altLang="zh-CN" sz="1000" b="0"/>
                      <a:t>⑷</a:t>
                    </a:r>
                    <a:endParaRPr lang="en-US" altLang="zh-CN"/>
                  </a:p>
                </p:txBody>
              </p:sp>
              <p:sp>
                <p:nvSpPr>
                  <p:cNvPr id="45078" name="Text Box 40"/>
                  <p:cNvSpPr txBox="1">
                    <a:spLocks noChangeArrowheads="1"/>
                  </p:cNvSpPr>
                  <p:nvPr/>
                </p:nvSpPr>
                <p:spPr bwMode="auto">
                  <a:xfrm>
                    <a:off x="6480" y="14388"/>
                    <a:ext cx="540" cy="468"/>
                  </a:xfrm>
                  <a:prstGeom prst="rect">
                    <a:avLst/>
                  </a:prstGeom>
                  <a:noFill/>
                  <a:ln w="9525" algn="ctr">
                    <a:noFill/>
                    <a:miter lim="800000"/>
                    <a:headEnd/>
                    <a:tailEnd/>
                  </a:ln>
                </p:spPr>
                <p:txBody>
                  <a:bodyPr/>
                  <a:lstStyle/>
                  <a:p>
                    <a:pPr algn="just"/>
                    <a:r>
                      <a:rPr lang="en-US" altLang="zh-CN" sz="1000" b="0"/>
                      <a:t>⑽</a:t>
                    </a:r>
                  </a:p>
                  <a:p>
                    <a:endParaRPr lang="en-US" altLang="zh-CN"/>
                  </a:p>
                </p:txBody>
              </p:sp>
            </p:grpSp>
            <p:grpSp>
              <p:nvGrpSpPr>
                <p:cNvPr id="45065" name="Group 41"/>
                <p:cNvGrpSpPr>
                  <a:grpSpLocks/>
                </p:cNvGrpSpPr>
                <p:nvPr/>
              </p:nvGrpSpPr>
              <p:grpSpPr bwMode="auto">
                <a:xfrm>
                  <a:off x="7920" y="12516"/>
                  <a:ext cx="2160" cy="2340"/>
                  <a:chOff x="7920" y="12516"/>
                  <a:chExt cx="2160" cy="2340"/>
                </a:xfrm>
              </p:grpSpPr>
              <p:sp>
                <p:nvSpPr>
                  <p:cNvPr id="45066" name="Text Box 42"/>
                  <p:cNvSpPr txBox="1">
                    <a:spLocks noChangeArrowheads="1"/>
                  </p:cNvSpPr>
                  <p:nvPr/>
                </p:nvSpPr>
                <p:spPr bwMode="auto">
                  <a:xfrm>
                    <a:off x="8640" y="12516"/>
                    <a:ext cx="1440" cy="134"/>
                  </a:xfrm>
                  <a:prstGeom prst="rect">
                    <a:avLst/>
                  </a:prstGeom>
                  <a:noFill/>
                  <a:ln w="9525" algn="ctr">
                    <a:noFill/>
                    <a:miter lim="800000"/>
                    <a:headEnd/>
                    <a:tailEnd/>
                  </a:ln>
                </p:spPr>
                <p:txBody>
                  <a:bodyPr>
                    <a:spAutoFit/>
                  </a:bodyPr>
                  <a:lstStyle/>
                  <a:p>
                    <a:r>
                      <a:rPr lang="en-US" altLang="zh-CN" sz="1000" b="0"/>
                      <a:t>C () </a:t>
                    </a:r>
                    <a:r>
                      <a:rPr lang="zh-CN" altLang="en-US" sz="1000" b="0"/>
                      <a:t>函数</a:t>
                    </a:r>
                    <a:endParaRPr lang="zh-CN" altLang="en-US"/>
                  </a:p>
                </p:txBody>
              </p:sp>
              <p:sp>
                <p:nvSpPr>
                  <p:cNvPr id="45067" name="Line 43"/>
                  <p:cNvSpPr>
                    <a:spLocks noChangeShapeType="1"/>
                  </p:cNvSpPr>
                  <p:nvPr/>
                </p:nvSpPr>
                <p:spPr bwMode="auto">
                  <a:xfrm>
                    <a:off x="9360" y="12984"/>
                    <a:ext cx="0" cy="1716"/>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68" name="Text Box 44"/>
                  <p:cNvSpPr txBox="1">
                    <a:spLocks noChangeArrowheads="1"/>
                  </p:cNvSpPr>
                  <p:nvPr/>
                </p:nvSpPr>
                <p:spPr bwMode="auto">
                  <a:xfrm>
                    <a:off x="8460" y="14712"/>
                    <a:ext cx="1620" cy="134"/>
                  </a:xfrm>
                  <a:prstGeom prst="rect">
                    <a:avLst/>
                  </a:prstGeom>
                  <a:noFill/>
                  <a:ln w="9525" algn="ctr">
                    <a:noFill/>
                    <a:miter lim="800000"/>
                    <a:headEnd/>
                    <a:tailEnd/>
                  </a:ln>
                </p:spPr>
                <p:txBody>
                  <a:bodyPr>
                    <a:spAutoFit/>
                  </a:bodyPr>
                  <a:lstStyle/>
                  <a:p>
                    <a:r>
                      <a:rPr lang="en-US" altLang="zh-CN" sz="1000" b="0"/>
                      <a:t>  </a:t>
                    </a:r>
                    <a:r>
                      <a:rPr lang="zh-CN" altLang="en-US" sz="1000" b="0"/>
                      <a:t>返  回</a:t>
                    </a:r>
                    <a:endParaRPr lang="zh-CN" altLang="en-US"/>
                  </a:p>
                </p:txBody>
              </p:sp>
              <p:sp>
                <p:nvSpPr>
                  <p:cNvPr id="45069" name="Text Box 45"/>
                  <p:cNvSpPr txBox="1">
                    <a:spLocks noChangeArrowheads="1"/>
                  </p:cNvSpPr>
                  <p:nvPr/>
                </p:nvSpPr>
                <p:spPr bwMode="auto">
                  <a:xfrm>
                    <a:off x="9360" y="13452"/>
                    <a:ext cx="540" cy="468"/>
                  </a:xfrm>
                  <a:prstGeom prst="rect">
                    <a:avLst/>
                  </a:prstGeom>
                  <a:noFill/>
                  <a:ln w="9525" algn="ctr">
                    <a:noFill/>
                    <a:miter lim="800000"/>
                    <a:headEnd/>
                    <a:tailEnd/>
                  </a:ln>
                </p:spPr>
                <p:txBody>
                  <a:bodyPr/>
                  <a:lstStyle/>
                  <a:p>
                    <a:pPr algn="just"/>
                    <a:r>
                      <a:rPr lang="en-US" altLang="zh-CN" sz="1000" b="0"/>
                      <a:t>⑺</a:t>
                    </a:r>
                    <a:endParaRPr lang="en-US" altLang="zh-CN"/>
                  </a:p>
                </p:txBody>
              </p:sp>
              <p:sp>
                <p:nvSpPr>
                  <p:cNvPr id="45070" name="Line 46"/>
                  <p:cNvSpPr>
                    <a:spLocks noChangeShapeType="1"/>
                  </p:cNvSpPr>
                  <p:nvPr/>
                </p:nvSpPr>
                <p:spPr bwMode="auto">
                  <a:xfrm flipV="1">
                    <a:off x="8160" y="12984"/>
                    <a:ext cx="540" cy="624"/>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71" name="Line 47"/>
                  <p:cNvSpPr>
                    <a:spLocks noChangeShapeType="1"/>
                  </p:cNvSpPr>
                  <p:nvPr/>
                </p:nvSpPr>
                <p:spPr bwMode="auto">
                  <a:xfrm flipH="1" flipV="1">
                    <a:off x="8100" y="14076"/>
                    <a:ext cx="720" cy="780"/>
                  </a:xfrm>
                  <a:prstGeom prst="line">
                    <a:avLst/>
                  </a:prstGeom>
                  <a:noFill/>
                  <a:ln w="9525">
                    <a:solidFill>
                      <a:srgbClr val="000000"/>
                    </a:solidFill>
                    <a:round/>
                    <a:headEnd/>
                    <a:tailEnd type="triangle" w="med" len="med"/>
                  </a:ln>
                </p:spPr>
                <p:txBody>
                  <a:bodyPr>
                    <a:spAutoFit/>
                  </a:bodyPr>
                  <a:lstStyle/>
                  <a:p>
                    <a:endParaRPr lang="zh-CN" altLang="en-US"/>
                  </a:p>
                </p:txBody>
              </p:sp>
              <p:sp>
                <p:nvSpPr>
                  <p:cNvPr id="45072" name="Text Box 48"/>
                  <p:cNvSpPr txBox="1">
                    <a:spLocks noChangeArrowheads="1"/>
                  </p:cNvSpPr>
                  <p:nvPr/>
                </p:nvSpPr>
                <p:spPr bwMode="auto">
                  <a:xfrm>
                    <a:off x="7920" y="12984"/>
                    <a:ext cx="540" cy="468"/>
                  </a:xfrm>
                  <a:prstGeom prst="rect">
                    <a:avLst/>
                  </a:prstGeom>
                  <a:noFill/>
                  <a:ln w="9525" algn="ctr">
                    <a:noFill/>
                    <a:miter lim="800000"/>
                    <a:headEnd/>
                    <a:tailEnd/>
                  </a:ln>
                </p:spPr>
                <p:txBody>
                  <a:bodyPr/>
                  <a:lstStyle/>
                  <a:p>
                    <a:pPr algn="just"/>
                    <a:r>
                      <a:rPr lang="en-US" altLang="zh-CN" sz="1000" b="0"/>
                      <a:t>⑹</a:t>
                    </a:r>
                    <a:endParaRPr lang="en-US" altLang="zh-CN"/>
                  </a:p>
                </p:txBody>
              </p:sp>
              <p:sp>
                <p:nvSpPr>
                  <p:cNvPr id="45073" name="Text Box 49"/>
                  <p:cNvSpPr txBox="1">
                    <a:spLocks noChangeArrowheads="1"/>
                  </p:cNvSpPr>
                  <p:nvPr/>
                </p:nvSpPr>
                <p:spPr bwMode="auto">
                  <a:xfrm>
                    <a:off x="7920" y="14388"/>
                    <a:ext cx="540" cy="468"/>
                  </a:xfrm>
                  <a:prstGeom prst="rect">
                    <a:avLst/>
                  </a:prstGeom>
                  <a:noFill/>
                  <a:ln w="9525" algn="ctr">
                    <a:noFill/>
                    <a:miter lim="800000"/>
                    <a:headEnd/>
                    <a:tailEnd/>
                  </a:ln>
                </p:spPr>
                <p:txBody>
                  <a:bodyPr/>
                  <a:lstStyle/>
                  <a:p>
                    <a:pPr algn="just"/>
                    <a:r>
                      <a:rPr lang="en-US" altLang="zh-CN" sz="1000" b="0"/>
                      <a:t>⑻</a:t>
                    </a:r>
                    <a:endParaRPr lang="en-US" altLang="zh-CN"/>
                  </a:p>
                </p:txBody>
              </p:sp>
            </p:grpSp>
          </p:grpSp>
        </p:grpSp>
        <p:sp>
          <p:nvSpPr>
            <p:cNvPr id="45061" name="Text Box 50"/>
            <p:cNvSpPr txBox="1">
              <a:spLocks noChangeArrowheads="1"/>
            </p:cNvSpPr>
            <p:nvPr/>
          </p:nvSpPr>
          <p:spPr bwMode="auto">
            <a:xfrm>
              <a:off x="4860" y="15324"/>
              <a:ext cx="2460" cy="134"/>
            </a:xfrm>
            <a:prstGeom prst="rect">
              <a:avLst/>
            </a:prstGeom>
            <a:noFill/>
            <a:ln w="9525" algn="ctr">
              <a:noFill/>
              <a:miter lim="800000"/>
              <a:headEnd/>
              <a:tailEnd/>
            </a:ln>
          </p:spPr>
          <p:txBody>
            <a:bodyPr>
              <a:spAutoFit/>
            </a:bodyPr>
            <a:lstStyle/>
            <a:p>
              <a:pPr algn="just"/>
              <a:r>
                <a:rPr lang="zh-CN" altLang="en-US" sz="1000" b="0"/>
                <a:t>图</a:t>
              </a:r>
              <a:r>
                <a:rPr lang="en-US" altLang="zh-CN" sz="1000" b="0"/>
                <a:t>5.1 </a:t>
              </a:r>
              <a:r>
                <a:rPr lang="zh-CN" altLang="en-US" sz="1000" b="0"/>
                <a:t>函数嵌套示意图</a:t>
              </a:r>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23CF4B2E-6AF6-4BEB-BA17-82D874A0AAC0}" type="slidenum">
              <a:rPr lang="en-US" altLang="zh-CN"/>
              <a:pPr>
                <a:defRPr/>
              </a:pPr>
              <a:t>39</a:t>
            </a:fld>
            <a:endParaRPr lang="en-US" altLang="zh-CN"/>
          </a:p>
        </p:txBody>
      </p:sp>
      <p:sp>
        <p:nvSpPr>
          <p:cNvPr id="46083" name="Text Box 50"/>
          <p:cNvSpPr txBox="1">
            <a:spLocks noChangeArrowheads="1"/>
          </p:cNvSpPr>
          <p:nvPr/>
        </p:nvSpPr>
        <p:spPr bwMode="auto">
          <a:xfrm>
            <a:off x="250825" y="333375"/>
            <a:ext cx="8642350" cy="5508625"/>
          </a:xfrm>
          <a:prstGeom prst="rect">
            <a:avLst/>
          </a:prstGeom>
          <a:noFill/>
          <a:ln w="9525">
            <a:noFill/>
            <a:miter lim="800000"/>
            <a:headEnd/>
            <a:tailEnd/>
          </a:ln>
        </p:spPr>
        <p:txBody>
          <a:bodyPr>
            <a:spAutoFit/>
          </a:bodyPr>
          <a:lstStyle/>
          <a:p>
            <a:pPr algn="l"/>
            <a:r>
              <a:rPr lang="en-US" altLang="zh-CN" sz="3200">
                <a:solidFill>
                  <a:srgbClr val="0070C0"/>
                </a:solidFill>
                <a:latin typeface="楷体_GB2312" pitchFamily="49" charset="-122"/>
                <a:ea typeface="楷体_GB2312" pitchFamily="49" charset="-122"/>
              </a:rPr>
              <a:t>【</a:t>
            </a:r>
            <a:r>
              <a:rPr lang="zh-CN" altLang="en-US" sz="3200">
                <a:solidFill>
                  <a:srgbClr val="0070C0"/>
                </a:solidFill>
                <a:latin typeface="楷体_GB2312" pitchFamily="49" charset="-122"/>
                <a:ea typeface="楷体_GB2312" pitchFamily="49" charset="-122"/>
              </a:rPr>
              <a:t>例</a:t>
            </a:r>
            <a:r>
              <a:rPr lang="en-US" altLang="zh-CN" sz="3200">
                <a:solidFill>
                  <a:srgbClr val="0070C0"/>
                </a:solidFill>
                <a:latin typeface="楷体_GB2312" pitchFamily="49" charset="-122"/>
                <a:ea typeface="楷体_GB2312" pitchFamily="49" charset="-122"/>
              </a:rPr>
              <a:t>5.10】</a:t>
            </a:r>
            <a:r>
              <a:rPr lang="zh-CN" altLang="en-US" sz="3200">
                <a:solidFill>
                  <a:srgbClr val="FF0000"/>
                </a:solidFill>
                <a:latin typeface="楷体_GB2312" pitchFamily="49" charset="-122"/>
                <a:ea typeface="楷体_GB2312" pitchFamily="49" charset="-122"/>
              </a:rPr>
              <a:t>函数嵌套调用的示意程序。</a:t>
            </a:r>
          </a:p>
          <a:p>
            <a:pPr algn="l"/>
            <a:r>
              <a:rPr lang="en-US" altLang="zh-CN" sz="2000">
                <a:latin typeface="楷体_GB2312" pitchFamily="49" charset="-122"/>
                <a:ea typeface="楷体_GB2312" pitchFamily="49" charset="-122"/>
              </a:rPr>
              <a:t>#include &lt;stdio.h&gt;</a:t>
            </a:r>
          </a:p>
          <a:p>
            <a:pPr algn="l"/>
            <a:r>
              <a:rPr lang="en-US" altLang="zh-CN" sz="2000">
                <a:latin typeface="楷体_GB2312" pitchFamily="49" charset="-122"/>
                <a:ea typeface="楷体_GB2312" pitchFamily="49" charset="-122"/>
              </a:rPr>
              <a:t>#include &lt;math.h&gt;</a:t>
            </a:r>
          </a:p>
          <a:p>
            <a:pPr algn="l"/>
            <a:r>
              <a:rPr lang="en-US" altLang="zh-CN" sz="2000">
                <a:latin typeface="楷体_GB2312" pitchFamily="49" charset="-122"/>
                <a:ea typeface="楷体_GB2312" pitchFamily="49" charset="-122"/>
              </a:rPr>
              <a:t>int istri(float a, float b, float c) /* </a:t>
            </a:r>
            <a:r>
              <a:rPr lang="zh-CN" altLang="en-US" sz="2000">
                <a:latin typeface="楷体_GB2312" pitchFamily="49" charset="-122"/>
                <a:ea typeface="楷体_GB2312" pitchFamily="49" charset="-122"/>
              </a:rPr>
              <a:t>判是否可构成三角形函数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if ( a+b&lt;=c || a+c&lt;=b || b+c&lt;=a ) return 0;/* </a:t>
            </a:r>
            <a:r>
              <a:rPr lang="zh-CN" altLang="en-US" sz="2000">
                <a:latin typeface="楷体_GB2312" pitchFamily="49" charset="-122"/>
                <a:ea typeface="楷体_GB2312" pitchFamily="49" charset="-122"/>
              </a:rPr>
              <a:t>不能构成三角形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if ( a &lt;= 0 || b &lt;= 0 || c &lt;= 0 ) return 0;/* </a:t>
            </a:r>
            <a:r>
              <a:rPr lang="zh-CN" altLang="en-US" sz="2000">
                <a:latin typeface="楷体_GB2312" pitchFamily="49" charset="-122"/>
                <a:ea typeface="楷体_GB2312" pitchFamily="49" charset="-122"/>
              </a:rPr>
              <a:t>不能构成三角形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return 1;	/* </a:t>
            </a:r>
            <a:r>
              <a:rPr lang="zh-CN" altLang="en-US" sz="2000">
                <a:latin typeface="楷体_GB2312" pitchFamily="49" charset="-122"/>
                <a:ea typeface="楷体_GB2312" pitchFamily="49" charset="-122"/>
              </a:rPr>
              <a:t>能构成三角形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a:t>
            </a:r>
          </a:p>
          <a:p>
            <a:pPr algn="l"/>
            <a:endParaRPr lang="en-US" altLang="zh-CN" sz="2000">
              <a:latin typeface="楷体_GB2312" pitchFamily="49" charset="-122"/>
              <a:ea typeface="楷体_GB2312" pitchFamily="49" charset="-122"/>
            </a:endParaRPr>
          </a:p>
          <a:p>
            <a:pPr algn="l"/>
            <a:r>
              <a:rPr lang="en-US" altLang="zh-CN" sz="2000">
                <a:latin typeface="楷体_GB2312" pitchFamily="49" charset="-122"/>
                <a:ea typeface="楷体_GB2312" pitchFamily="49" charset="-122"/>
              </a:rPr>
              <a:t>float triangle(float a, float b, float c)	/* </a:t>
            </a:r>
            <a:r>
              <a:rPr lang="zh-CN" altLang="en-US" sz="2000">
                <a:latin typeface="楷体_GB2312" pitchFamily="49" charset="-122"/>
                <a:ea typeface="楷体_GB2312" pitchFamily="49" charset="-122"/>
              </a:rPr>
              <a:t>求三角形面积函数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float s, area; 	</a:t>
            </a:r>
          </a:p>
          <a:p>
            <a:pPr algn="l"/>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调用</a:t>
            </a:r>
            <a:r>
              <a:rPr lang="en-US" altLang="zh-CN" sz="2000">
                <a:latin typeface="楷体_GB2312" pitchFamily="49" charset="-122"/>
                <a:ea typeface="楷体_GB2312" pitchFamily="49" charset="-122"/>
              </a:rPr>
              <a:t>istri()</a:t>
            </a:r>
            <a:r>
              <a:rPr lang="zh-CN" altLang="en-US" sz="2000">
                <a:latin typeface="楷体_GB2312" pitchFamily="49" charset="-122"/>
                <a:ea typeface="楷体_GB2312" pitchFamily="49" charset="-122"/>
              </a:rPr>
              <a:t>函数，查看是否能构成三角形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if (istri(a, b, c) == 0) return 0; /* </a:t>
            </a:r>
            <a:r>
              <a:rPr lang="zh-CN" altLang="en-US" sz="2000">
                <a:latin typeface="楷体_GB2312" pitchFamily="49" charset="-122"/>
                <a:ea typeface="楷体_GB2312" pitchFamily="49" charset="-122"/>
              </a:rPr>
              <a:t>返回</a:t>
            </a:r>
            <a:r>
              <a:rPr lang="en-US" altLang="zh-CN" sz="2000">
                <a:latin typeface="楷体_GB2312" pitchFamily="49" charset="-122"/>
                <a:ea typeface="楷体_GB2312" pitchFamily="49" charset="-122"/>
              </a:rPr>
              <a:t>0</a:t>
            </a:r>
            <a:r>
              <a:rPr lang="zh-CN" altLang="en-US" sz="2000">
                <a:latin typeface="楷体_GB2312" pitchFamily="49" charset="-122"/>
                <a:ea typeface="楷体_GB2312" pitchFamily="49" charset="-122"/>
              </a:rPr>
              <a:t>不能构成三角形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s = (a+b+c)/2;</a:t>
            </a:r>
          </a:p>
          <a:p>
            <a:pPr algn="l"/>
            <a:r>
              <a:rPr lang="en-US" altLang="zh-CN" sz="2000">
                <a:latin typeface="楷体_GB2312" pitchFamily="49" charset="-122"/>
                <a:ea typeface="楷体_GB2312" pitchFamily="49" charset="-122"/>
              </a:rPr>
              <a:t>  area = sqrt(s*(s-a)*(s-b)*(s-c));</a:t>
            </a:r>
          </a:p>
          <a:p>
            <a:pPr algn="l"/>
            <a:r>
              <a:rPr lang="en-US" altLang="zh-CN" sz="2000">
                <a:latin typeface="楷体_GB2312" pitchFamily="49" charset="-122"/>
                <a:ea typeface="楷体_GB2312" pitchFamily="49" charset="-122"/>
              </a:rPr>
              <a:t>  return area;	/* </a:t>
            </a:r>
            <a:r>
              <a:rPr lang="zh-CN" altLang="en-US" sz="2000">
                <a:latin typeface="楷体_GB2312" pitchFamily="49" charset="-122"/>
                <a:ea typeface="楷体_GB2312" pitchFamily="49" charset="-122"/>
              </a:rPr>
              <a:t>返回已计算的三角形面积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p:cNvPicPr>
            <a:picLocks noGrp="1" noChangeAspect="1" noChangeArrowheads="1"/>
          </p:cNvPicPr>
          <p:nvPr>
            <p:ph/>
          </p:nvPr>
        </p:nvPicPr>
        <p:blipFill>
          <a:blip r:embed="rId2" cstate="print"/>
          <a:srcRect/>
          <a:stretch>
            <a:fillRect/>
          </a:stretch>
        </p:blipFill>
        <p:spPr>
          <a:xfrm>
            <a:off x="611188" y="4005263"/>
            <a:ext cx="5529262" cy="1439862"/>
          </a:xfrm>
          <a:noFill/>
        </p:spPr>
      </p:pic>
      <p:sp>
        <p:nvSpPr>
          <p:cNvPr id="6" name="灯片编号占位符 4"/>
          <p:cNvSpPr>
            <a:spLocks noGrp="1"/>
          </p:cNvSpPr>
          <p:nvPr>
            <p:ph type="sldNum" sz="quarter" idx="12"/>
          </p:nvPr>
        </p:nvSpPr>
        <p:spPr/>
        <p:txBody>
          <a:bodyPr/>
          <a:lstStyle/>
          <a:p>
            <a:pPr>
              <a:defRPr/>
            </a:pPr>
            <a:fld id="{912D058E-A6A6-4210-8A68-7564D2E1D829}" type="slidenum">
              <a:rPr lang="en-US" altLang="zh-CN"/>
              <a:pPr>
                <a:defRPr/>
              </a:pPr>
              <a:t>40</a:t>
            </a:fld>
            <a:endParaRPr lang="en-US" altLang="zh-CN"/>
          </a:p>
        </p:txBody>
      </p:sp>
      <p:sp>
        <p:nvSpPr>
          <p:cNvPr id="47108" name="Text Box 2"/>
          <p:cNvSpPr txBox="1">
            <a:spLocks noChangeArrowheads="1"/>
          </p:cNvSpPr>
          <p:nvPr/>
        </p:nvSpPr>
        <p:spPr bwMode="auto">
          <a:xfrm>
            <a:off x="539750" y="333375"/>
            <a:ext cx="8135938" cy="3444875"/>
          </a:xfrm>
          <a:prstGeom prst="rect">
            <a:avLst/>
          </a:prstGeom>
          <a:noFill/>
          <a:ln w="9525">
            <a:noFill/>
            <a:miter lim="800000"/>
            <a:headEnd/>
            <a:tailEnd/>
          </a:ln>
        </p:spPr>
        <p:txBody>
          <a:bodyPr>
            <a:spAutoFit/>
          </a:bodyPr>
          <a:lstStyle/>
          <a:p>
            <a:pPr algn="l"/>
            <a:r>
              <a:rPr lang="en-US" altLang="zh-CN" sz="2000">
                <a:latin typeface="楷体_GB2312" pitchFamily="49" charset="-122"/>
                <a:ea typeface="楷体_GB2312" pitchFamily="49" charset="-122"/>
              </a:rPr>
              <a:t>int main() 	/* </a:t>
            </a:r>
            <a:r>
              <a:rPr lang="zh-CN" altLang="en-US" sz="2000">
                <a:latin typeface="楷体_GB2312" pitchFamily="49" charset="-122"/>
                <a:ea typeface="楷体_GB2312" pitchFamily="49" charset="-122"/>
              </a:rPr>
              <a:t>主函数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float a, b, c, area;</a:t>
            </a:r>
          </a:p>
          <a:p>
            <a:pPr algn="l"/>
            <a:r>
              <a:rPr lang="en-US" altLang="zh-CN" sz="2000">
                <a:latin typeface="楷体_GB2312" pitchFamily="49" charset="-122"/>
                <a:ea typeface="楷体_GB2312" pitchFamily="49" charset="-122"/>
              </a:rPr>
              <a:t>  do</a:t>
            </a:r>
          </a:p>
          <a:p>
            <a:pPr algn="l"/>
            <a:r>
              <a:rPr lang="en-US" altLang="zh-CN" sz="2000">
                <a:latin typeface="楷体_GB2312" pitchFamily="49" charset="-122"/>
                <a:ea typeface="楷体_GB2312" pitchFamily="49" charset="-122"/>
              </a:rPr>
              <a:t>  { printf("</a:t>
            </a:r>
            <a:r>
              <a:rPr lang="zh-CN" altLang="en-US" sz="2000">
                <a:latin typeface="楷体_GB2312" pitchFamily="49" charset="-122"/>
                <a:ea typeface="楷体_GB2312" pitchFamily="49" charset="-122"/>
              </a:rPr>
              <a:t>请输入三角形三条边</a:t>
            </a:r>
            <a:r>
              <a:rPr lang="en-US" altLang="zh-CN" sz="2000">
                <a:latin typeface="楷体_GB2312" pitchFamily="49" charset="-122"/>
                <a:ea typeface="楷体_GB2312" pitchFamily="49" charset="-122"/>
              </a:rPr>
              <a:t>a, b, c</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scanf("%f%f%f", &amp;a, &amp;b, &amp;c);</a:t>
            </a:r>
          </a:p>
          <a:p>
            <a:pPr algn="l"/>
            <a:r>
              <a:rPr lang="en-US" altLang="zh-CN" sz="2000">
                <a:latin typeface="楷体_GB2312" pitchFamily="49" charset="-122"/>
                <a:ea typeface="楷体_GB2312" pitchFamily="49" charset="-122"/>
              </a:rPr>
              <a:t>    area = triangle(a, b, c);/* </a:t>
            </a:r>
            <a:r>
              <a:rPr lang="zh-CN" altLang="en-US" sz="2000">
                <a:latin typeface="楷体_GB2312" pitchFamily="49" charset="-122"/>
                <a:ea typeface="楷体_GB2312" pitchFamily="49" charset="-122"/>
              </a:rPr>
              <a:t>调用</a:t>
            </a:r>
            <a:r>
              <a:rPr lang="en-US" altLang="zh-CN" sz="2000">
                <a:latin typeface="楷体_GB2312" pitchFamily="49" charset="-122"/>
                <a:ea typeface="楷体_GB2312" pitchFamily="49" charset="-122"/>
              </a:rPr>
              <a:t>triangle()</a:t>
            </a:r>
            <a:r>
              <a:rPr lang="zh-CN" altLang="en-US" sz="2000">
                <a:latin typeface="楷体_GB2312" pitchFamily="49" charset="-122"/>
                <a:ea typeface="楷体_GB2312" pitchFamily="49" charset="-122"/>
              </a:rPr>
              <a:t>函数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if(area == 0)printf("</a:t>
            </a:r>
            <a:r>
              <a:rPr lang="zh-CN" altLang="en-US" sz="2000">
                <a:latin typeface="楷体_GB2312" pitchFamily="49" charset="-122"/>
                <a:ea typeface="楷体_GB2312" pitchFamily="49" charset="-122"/>
              </a:rPr>
              <a:t>输入数据错，不能构成三角形！</a:t>
            </a:r>
            <a:r>
              <a:rPr lang="en-US" altLang="zh-CN" sz="2000">
                <a:latin typeface="楷体_GB2312" pitchFamily="49" charset="-122"/>
                <a:ea typeface="楷体_GB2312" pitchFamily="49" charset="-122"/>
              </a:rPr>
              <a:t>\n");</a:t>
            </a:r>
          </a:p>
          <a:p>
            <a:pPr algn="l"/>
            <a:r>
              <a:rPr lang="en-US" altLang="zh-CN" sz="2000">
                <a:latin typeface="楷体_GB2312" pitchFamily="49" charset="-122"/>
                <a:ea typeface="楷体_GB2312" pitchFamily="49" charset="-122"/>
              </a:rPr>
              <a:t>  } while(area == 0);  /* </a:t>
            </a:r>
            <a:r>
              <a:rPr lang="zh-CN" altLang="en-US" sz="2000">
                <a:latin typeface="楷体_GB2312" pitchFamily="49" charset="-122"/>
                <a:ea typeface="楷体_GB2312" pitchFamily="49" charset="-122"/>
              </a:rPr>
              <a:t>不能构成三角形，重新输入数据 *</a:t>
            </a:r>
            <a:r>
              <a:rPr lang="en-US" altLang="zh-CN" sz="2000">
                <a:latin typeface="楷体_GB2312" pitchFamily="49" charset="-122"/>
                <a:ea typeface="楷体_GB2312" pitchFamily="49" charset="-122"/>
              </a:rPr>
              <a:t>/</a:t>
            </a:r>
          </a:p>
          <a:p>
            <a:pPr algn="l"/>
            <a:r>
              <a:rPr lang="en-US" altLang="zh-CN" sz="2000">
                <a:latin typeface="楷体_GB2312" pitchFamily="49" charset="-122"/>
                <a:ea typeface="楷体_GB2312" pitchFamily="49" charset="-122"/>
              </a:rPr>
              <a:t>  printf("</a:t>
            </a:r>
            <a:r>
              <a:rPr lang="zh-CN" altLang="en-US" sz="2000">
                <a:latin typeface="楷体_GB2312" pitchFamily="49" charset="-122"/>
                <a:ea typeface="楷体_GB2312" pitchFamily="49" charset="-122"/>
              </a:rPr>
              <a:t>三角形的面积为：</a:t>
            </a:r>
            <a:r>
              <a:rPr lang="en-US" altLang="zh-CN" sz="2000">
                <a:latin typeface="楷体_GB2312" pitchFamily="49" charset="-122"/>
                <a:ea typeface="楷体_GB2312" pitchFamily="49" charset="-122"/>
              </a:rPr>
              <a:t>%f\n", area);</a:t>
            </a:r>
          </a:p>
          <a:p>
            <a:pPr algn="l"/>
            <a:r>
              <a:rPr lang="en-US" altLang="zh-CN" sz="2000">
                <a:latin typeface="楷体_GB2312" pitchFamily="49" charset="-122"/>
                <a:ea typeface="楷体_GB2312" pitchFamily="49" charset="-122"/>
              </a:rPr>
              <a:t>  return 0;</a:t>
            </a:r>
          </a:p>
          <a:p>
            <a:pPr algn="l"/>
            <a:r>
              <a:rPr lang="en-US" altLang="zh-CN" sz="2000">
                <a:latin typeface="楷体_GB2312" pitchFamily="49" charset="-122"/>
                <a:ea typeface="楷体_GB2312" pitchFamily="49"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0032DEED-F4C7-40A8-8935-97A451A82029}" type="slidenum">
              <a:rPr lang="en-US" altLang="zh-CN"/>
              <a:pPr>
                <a:defRPr/>
              </a:pPr>
              <a:t>41</a:t>
            </a:fld>
            <a:endParaRPr lang="en-US" altLang="zh-CN"/>
          </a:p>
        </p:txBody>
      </p:sp>
      <p:sp>
        <p:nvSpPr>
          <p:cNvPr id="48131" name="Text Box 2"/>
          <p:cNvSpPr txBox="1">
            <a:spLocks noChangeArrowheads="1"/>
          </p:cNvSpPr>
          <p:nvPr/>
        </p:nvSpPr>
        <p:spPr bwMode="auto">
          <a:xfrm>
            <a:off x="539750" y="333375"/>
            <a:ext cx="7704138" cy="5934075"/>
          </a:xfrm>
          <a:prstGeom prst="rect">
            <a:avLst/>
          </a:prstGeom>
          <a:noFill/>
          <a:ln w="9525">
            <a:noFill/>
            <a:miter lim="800000"/>
            <a:headEnd/>
            <a:tailEnd/>
          </a:ln>
        </p:spPr>
        <p:txBody>
          <a:bodyPr>
            <a:spAutoFit/>
          </a:bodyPr>
          <a:lstStyle/>
          <a:p>
            <a:pPr algn="l"/>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程序说明</a:t>
            </a:r>
            <a:r>
              <a:rPr lang="en-US" altLang="zh-CN" sz="2400" dirty="0">
                <a:latin typeface="楷体_GB2312" pitchFamily="49" charset="-122"/>
                <a:ea typeface="楷体_GB2312" pitchFamily="49" charset="-122"/>
              </a:rPr>
              <a:t>】</a:t>
            </a:r>
          </a:p>
          <a:p>
            <a:pPr algn="l"/>
            <a:r>
              <a:rPr lang="zh-CN" altLang="en-US" sz="2400" dirty="0">
                <a:latin typeface="楷体_GB2312" pitchFamily="49" charset="-122"/>
                <a:ea typeface="楷体_GB2312" pitchFamily="49" charset="-122"/>
              </a:rPr>
              <a:t>上述程序的执行过程大致如下：</a:t>
            </a:r>
          </a:p>
          <a:p>
            <a:pPr algn="l"/>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）主函数：输入三角形的三条边长，然后调用</a:t>
            </a:r>
            <a:r>
              <a:rPr lang="en-US" altLang="zh-CN" sz="2400" dirty="0">
                <a:latin typeface="楷体_GB2312" pitchFamily="49" charset="-122"/>
                <a:ea typeface="楷体_GB2312" pitchFamily="49" charset="-122"/>
              </a:rPr>
              <a:t>triangle()</a:t>
            </a:r>
            <a:r>
              <a:rPr lang="zh-CN" altLang="en-US" sz="2400" dirty="0">
                <a:latin typeface="楷体_GB2312" pitchFamily="49" charset="-122"/>
                <a:ea typeface="楷体_GB2312" pitchFamily="49" charset="-122"/>
              </a:rPr>
              <a:t>函数准备计算三角形面积。</a:t>
            </a:r>
          </a:p>
          <a:p>
            <a:pPr algn="l"/>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）进入</a:t>
            </a:r>
            <a:r>
              <a:rPr lang="en-US" altLang="zh-CN" sz="2400" dirty="0">
                <a:latin typeface="楷体_GB2312" pitchFamily="49" charset="-122"/>
                <a:ea typeface="楷体_GB2312" pitchFamily="49" charset="-122"/>
              </a:rPr>
              <a:t>triangle()</a:t>
            </a:r>
            <a:r>
              <a:rPr lang="zh-CN" altLang="en-US" sz="2400" dirty="0">
                <a:latin typeface="楷体_GB2312" pitchFamily="49" charset="-122"/>
                <a:ea typeface="楷体_GB2312" pitchFamily="49" charset="-122"/>
              </a:rPr>
              <a:t>函数后：先调用</a:t>
            </a:r>
            <a:r>
              <a:rPr lang="en-US" altLang="zh-CN" sz="2400" dirty="0" err="1">
                <a:latin typeface="楷体_GB2312" pitchFamily="49" charset="-122"/>
                <a:ea typeface="楷体_GB2312" pitchFamily="49" charset="-122"/>
              </a:rPr>
              <a:t>istri</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函数，查看是否能构成三角形。</a:t>
            </a:r>
          </a:p>
          <a:p>
            <a:pPr algn="l"/>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3</a:t>
            </a:r>
            <a:r>
              <a:rPr lang="zh-CN" altLang="en-US" sz="2400" dirty="0">
                <a:latin typeface="楷体_GB2312" pitchFamily="49" charset="-122"/>
                <a:ea typeface="楷体_GB2312" pitchFamily="49" charset="-122"/>
              </a:rPr>
              <a:t>）进入</a:t>
            </a:r>
            <a:r>
              <a:rPr lang="en-US" altLang="zh-CN" sz="2400" dirty="0" err="1">
                <a:latin typeface="楷体_GB2312" pitchFamily="49" charset="-122"/>
                <a:ea typeface="楷体_GB2312" pitchFamily="49" charset="-122"/>
              </a:rPr>
              <a:t>istri</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函数后：当不能构成三角形面积时，返回值为</a:t>
            </a:r>
            <a:r>
              <a:rPr lang="en-US" altLang="zh-CN" sz="2400" dirty="0">
                <a:latin typeface="楷体_GB2312" pitchFamily="49" charset="-122"/>
                <a:ea typeface="楷体_GB2312" pitchFamily="49" charset="-122"/>
              </a:rPr>
              <a:t>0</a:t>
            </a:r>
            <a:r>
              <a:rPr lang="zh-CN" altLang="en-US" sz="2400" dirty="0">
                <a:latin typeface="楷体_GB2312" pitchFamily="49" charset="-122"/>
                <a:ea typeface="楷体_GB2312" pitchFamily="49" charset="-122"/>
              </a:rPr>
              <a:t>；能构成三角形时，返回值为</a:t>
            </a: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；将返回值带回至调用函数</a:t>
            </a:r>
            <a:r>
              <a:rPr lang="en-US" altLang="zh-CN" sz="2400" dirty="0" err="1">
                <a:latin typeface="楷体_GB2312" pitchFamily="49" charset="-122"/>
                <a:ea typeface="楷体_GB2312" pitchFamily="49" charset="-122"/>
              </a:rPr>
              <a:t>istri</a:t>
            </a: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处。</a:t>
            </a:r>
          </a:p>
          <a:p>
            <a:pPr algn="l"/>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4</a:t>
            </a:r>
            <a:r>
              <a:rPr lang="zh-CN" altLang="en-US" sz="2400" dirty="0">
                <a:latin typeface="楷体_GB2312" pitchFamily="49" charset="-122"/>
                <a:ea typeface="楷体_GB2312" pitchFamily="49" charset="-122"/>
              </a:rPr>
              <a:t>）返回到</a:t>
            </a:r>
            <a:r>
              <a:rPr lang="en-US" altLang="zh-CN" sz="2400" dirty="0">
                <a:latin typeface="楷体_GB2312" pitchFamily="49" charset="-122"/>
                <a:ea typeface="楷体_GB2312" pitchFamily="49" charset="-122"/>
              </a:rPr>
              <a:t>triangle()</a:t>
            </a:r>
            <a:r>
              <a:rPr lang="zh-CN" altLang="en-US" sz="2400" dirty="0">
                <a:latin typeface="楷体_GB2312" pitchFamily="49" charset="-122"/>
                <a:ea typeface="楷体_GB2312" pitchFamily="49" charset="-122"/>
              </a:rPr>
              <a:t>函数继续执行：根据返回值确定是否计算三角形面积，并返回到主函数。</a:t>
            </a:r>
          </a:p>
          <a:p>
            <a:pPr algn="l"/>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5</a:t>
            </a:r>
            <a:r>
              <a:rPr lang="zh-CN" altLang="en-US" sz="2400" dirty="0">
                <a:latin typeface="楷体_GB2312" pitchFamily="49" charset="-122"/>
                <a:ea typeface="楷体_GB2312" pitchFamily="49" charset="-122"/>
              </a:rPr>
              <a:t>）继续执行主函数：根据</a:t>
            </a:r>
            <a:r>
              <a:rPr lang="en-US" altLang="zh-CN" sz="2400" dirty="0">
                <a:latin typeface="楷体_GB2312" pitchFamily="49" charset="-122"/>
                <a:ea typeface="楷体_GB2312" pitchFamily="49" charset="-122"/>
              </a:rPr>
              <a:t>triangle()</a:t>
            </a:r>
            <a:r>
              <a:rPr lang="zh-CN" altLang="en-US" sz="2400" dirty="0">
                <a:latin typeface="楷体_GB2312" pitchFamily="49" charset="-122"/>
                <a:ea typeface="楷体_GB2312" pitchFamily="49" charset="-122"/>
              </a:rPr>
              <a:t>函数的返回值，返回值为</a:t>
            </a:r>
            <a:r>
              <a:rPr lang="en-US" altLang="zh-CN" sz="2400" dirty="0">
                <a:latin typeface="楷体_GB2312" pitchFamily="49" charset="-122"/>
                <a:ea typeface="楷体_GB2312" pitchFamily="49" charset="-122"/>
              </a:rPr>
              <a:t>0</a:t>
            </a:r>
            <a:r>
              <a:rPr lang="zh-CN" altLang="en-US" sz="2400" dirty="0">
                <a:latin typeface="楷体_GB2312" pitchFamily="49" charset="-122"/>
                <a:ea typeface="楷体_GB2312" pitchFamily="49" charset="-122"/>
              </a:rPr>
              <a:t>表示不能构成三角形，则重新输入三角形的三条边长；如果返回值大于</a:t>
            </a:r>
            <a:r>
              <a:rPr lang="en-US" altLang="zh-CN" sz="2400" dirty="0">
                <a:latin typeface="楷体_GB2312" pitchFamily="49" charset="-122"/>
                <a:ea typeface="楷体_GB2312" pitchFamily="49" charset="-122"/>
              </a:rPr>
              <a:t>0</a:t>
            </a:r>
            <a:r>
              <a:rPr lang="zh-CN" altLang="en-US" sz="2400" dirty="0">
                <a:latin typeface="楷体_GB2312" pitchFamily="49" charset="-122"/>
                <a:ea typeface="楷体_GB2312" pitchFamily="49" charset="-122"/>
              </a:rPr>
              <a:t>，则返回值就是三角形面积，输出三角形的面积后，结束程序运行，控制返回到操作环境。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31">
                                            <p:txEl>
                                              <p:pRg st="3" end="3"/>
                                            </p:txEl>
                                          </p:spTgt>
                                        </p:tgtEl>
                                        <p:attrNameLst>
                                          <p:attrName>style.visibility</p:attrName>
                                        </p:attrNameLst>
                                      </p:cBhvr>
                                      <p:to>
                                        <p:strVal val="visible"/>
                                      </p:to>
                                    </p:set>
                                    <p:anim calcmode="lin" valueType="num">
                                      <p:cBhvr additive="base">
                                        <p:cTn id="7"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131">
                                            <p:txEl>
                                              <p:pRg st="4" end="4"/>
                                            </p:txEl>
                                          </p:spTgt>
                                        </p:tgtEl>
                                        <p:attrNameLst>
                                          <p:attrName>style.visibility</p:attrName>
                                        </p:attrNameLst>
                                      </p:cBhvr>
                                      <p:to>
                                        <p:strVal val="visible"/>
                                      </p:to>
                                    </p:set>
                                    <p:anim calcmode="lin" valueType="num">
                                      <p:cBhvr additive="base">
                                        <p:cTn id="13" dur="500" fill="hold"/>
                                        <p:tgtEl>
                                          <p:spTgt spid="4813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1">
                                            <p:txEl>
                                              <p:pRg st="5" end="5"/>
                                            </p:txEl>
                                          </p:spTgt>
                                        </p:tgtEl>
                                        <p:attrNameLst>
                                          <p:attrName>style.visibility</p:attrName>
                                        </p:attrNameLst>
                                      </p:cBhvr>
                                      <p:to>
                                        <p:strVal val="visible"/>
                                      </p:to>
                                    </p:set>
                                    <p:anim calcmode="lin" valueType="num">
                                      <p:cBhvr additive="base">
                                        <p:cTn id="19" dur="500" fill="hold"/>
                                        <p:tgtEl>
                                          <p:spTgt spid="4813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8131">
                                            <p:txEl>
                                              <p:pRg st="6" end="6"/>
                                            </p:txEl>
                                          </p:spTgt>
                                        </p:tgtEl>
                                        <p:attrNameLst>
                                          <p:attrName>style.visibility</p:attrName>
                                        </p:attrNameLst>
                                      </p:cBhvr>
                                      <p:to>
                                        <p:strVal val="visible"/>
                                      </p:to>
                                    </p:set>
                                    <p:anim calcmode="lin" valueType="num">
                                      <p:cBhvr additive="base">
                                        <p:cTn id="25" dur="500" fill="hold"/>
                                        <p:tgtEl>
                                          <p:spTgt spid="4813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title"/>
          </p:nvPr>
        </p:nvSpPr>
        <p:spPr>
          <a:xfrm>
            <a:off x="468313" y="333375"/>
            <a:ext cx="8351837" cy="576263"/>
          </a:xfrm>
          <a:noFill/>
        </p:spPr>
        <p:txBody>
          <a:bodyPr lIns="92075" tIns="46038" rIns="92075" bIns="46038"/>
          <a:lstStyle/>
          <a:p>
            <a:pPr eaLnBrk="1" hangingPunct="1"/>
            <a:r>
              <a:rPr lang="en-US" altLang="en-US" sz="4000">
                <a:latin typeface="宋体" charset="-122"/>
                <a:ea typeface="隶书" pitchFamily="49" charset="-122"/>
              </a:rPr>
              <a:t>5.</a:t>
            </a:r>
            <a:r>
              <a:rPr lang="en-US" altLang="zh-CN" sz="4000">
                <a:latin typeface="宋体" charset="-122"/>
              </a:rPr>
              <a:t>5 </a:t>
            </a:r>
            <a:r>
              <a:rPr lang="en-US" altLang="en-US" sz="4000">
                <a:latin typeface="宋体" charset="-122"/>
                <a:ea typeface="隶书" pitchFamily="49" charset="-122"/>
              </a:rPr>
              <a:t>函数</a:t>
            </a:r>
            <a:r>
              <a:rPr lang="zh-CN" altLang="en-US" sz="4000">
                <a:latin typeface="宋体" charset="-122"/>
              </a:rPr>
              <a:t>说明</a:t>
            </a:r>
          </a:p>
        </p:txBody>
      </p:sp>
      <p:sp>
        <p:nvSpPr>
          <p:cNvPr id="391170" name="Rectangle 2"/>
          <p:cNvSpPr>
            <a:spLocks noGrp="1" noChangeArrowheads="1"/>
          </p:cNvSpPr>
          <p:nvPr>
            <p:ph idx="1"/>
          </p:nvPr>
        </p:nvSpPr>
        <p:spPr>
          <a:xfrm>
            <a:off x="323850" y="1485900"/>
            <a:ext cx="8591550" cy="5688013"/>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dirty="0">
                <a:latin typeface="+mj-ea"/>
                <a:ea typeface="+mj-ea"/>
              </a:rPr>
              <a:t>调用函数与被调用函数之间在程序正文中可能会存在以下几种情况。</a:t>
            </a:r>
            <a:endParaRPr lang="en-US" altLang="zh-CN" dirty="0">
              <a:latin typeface="+mj-ea"/>
              <a:ea typeface="+mj-ea"/>
            </a:endParaRPr>
          </a:p>
          <a:p>
            <a:pPr marL="0" indent="0" eaLnBrk="1" fontAlgn="auto" hangingPunct="1">
              <a:spcAft>
                <a:spcPts val="0"/>
              </a:spcAft>
              <a:buClr>
                <a:schemeClr val="accent3"/>
              </a:buClr>
              <a:buFont typeface="Wingdings" pitchFamily="2" charset="2"/>
              <a:buNone/>
              <a:defRPr/>
            </a:pPr>
            <a:endParaRPr lang="zh-CN" altLang="en-US" dirty="0">
              <a:latin typeface="+mj-ea"/>
              <a:ea typeface="+mj-ea"/>
            </a:endParaRPr>
          </a:p>
          <a:p>
            <a:pPr marL="0" indent="0" eaLnBrk="1" fontAlgn="auto" hangingPunct="1">
              <a:spcAft>
                <a:spcPts val="0"/>
              </a:spcAft>
              <a:buClr>
                <a:schemeClr val="accent3"/>
              </a:buClr>
              <a:buFont typeface="Wingdings" pitchFamily="2" charset="2"/>
              <a:buNone/>
              <a:defRPr/>
            </a:pPr>
            <a:r>
              <a:rPr lang="zh-CN" altLang="en-US" dirty="0">
                <a:latin typeface="+mj-ea"/>
                <a:ea typeface="+mj-ea"/>
              </a:rPr>
              <a:t>（</a:t>
            </a:r>
            <a:r>
              <a:rPr lang="en-US" dirty="0">
                <a:latin typeface="+mj-ea"/>
                <a:ea typeface="+mj-ea"/>
              </a:rPr>
              <a:t>1</a:t>
            </a:r>
            <a:r>
              <a:rPr lang="zh-CN" altLang="en-US" dirty="0">
                <a:latin typeface="+mj-ea"/>
                <a:ea typeface="+mj-ea"/>
              </a:rPr>
              <a:t>）调用同一程序文件中前面已定义的函数。</a:t>
            </a:r>
          </a:p>
          <a:p>
            <a:pPr marL="0" indent="0" eaLnBrk="1" fontAlgn="auto" hangingPunct="1">
              <a:spcAft>
                <a:spcPts val="0"/>
              </a:spcAft>
              <a:buClr>
                <a:schemeClr val="accent3"/>
              </a:buClr>
              <a:buFont typeface="Wingdings" pitchFamily="2" charset="2"/>
              <a:buNone/>
              <a:defRPr/>
            </a:pPr>
            <a:r>
              <a:rPr lang="zh-CN" altLang="en-US" dirty="0">
                <a:latin typeface="+mj-ea"/>
                <a:ea typeface="+mj-ea"/>
              </a:rPr>
              <a:t>（</a:t>
            </a:r>
            <a:r>
              <a:rPr lang="en-US" dirty="0">
                <a:latin typeface="+mj-ea"/>
                <a:ea typeface="+mj-ea"/>
              </a:rPr>
              <a:t>2</a:t>
            </a:r>
            <a:r>
              <a:rPr lang="zh-CN" altLang="en-US" dirty="0">
                <a:latin typeface="+mj-ea"/>
                <a:ea typeface="+mj-ea"/>
              </a:rPr>
              <a:t>）调用处于同一程序文件后面定义的函数。</a:t>
            </a:r>
          </a:p>
          <a:p>
            <a:pPr marL="0" indent="0" eaLnBrk="1" fontAlgn="auto" hangingPunct="1">
              <a:spcAft>
                <a:spcPts val="0"/>
              </a:spcAft>
              <a:buClr>
                <a:schemeClr val="accent3"/>
              </a:buClr>
              <a:buFont typeface="Wingdings" pitchFamily="2" charset="2"/>
              <a:buNone/>
              <a:defRPr/>
            </a:pPr>
            <a:r>
              <a:rPr lang="zh-CN" altLang="en-US" dirty="0">
                <a:latin typeface="+mj-ea"/>
                <a:ea typeface="+mj-ea"/>
              </a:rPr>
              <a:t>（</a:t>
            </a:r>
            <a:r>
              <a:rPr lang="en-US" dirty="0">
                <a:latin typeface="+mj-ea"/>
                <a:ea typeface="+mj-ea"/>
              </a:rPr>
              <a:t>3</a:t>
            </a:r>
            <a:r>
              <a:rPr lang="zh-CN" altLang="en-US" dirty="0">
                <a:latin typeface="+mj-ea"/>
                <a:ea typeface="+mj-ea"/>
              </a:rPr>
              <a:t>）调用别的程序文件中定义的函数。</a:t>
            </a:r>
          </a:p>
        </p:txBody>
      </p:sp>
      <p:sp>
        <p:nvSpPr>
          <p:cNvPr id="6" name="灯片编号占位符 5"/>
          <p:cNvSpPr>
            <a:spLocks noGrp="1"/>
          </p:cNvSpPr>
          <p:nvPr>
            <p:ph type="sldNum" sz="quarter" idx="12"/>
          </p:nvPr>
        </p:nvSpPr>
        <p:spPr/>
        <p:txBody>
          <a:bodyPr/>
          <a:lstStyle/>
          <a:p>
            <a:pPr>
              <a:defRPr/>
            </a:pPr>
            <a:fld id="{7023B4EB-579C-47D2-9C0A-465874B03EB3}" type="slidenum">
              <a:rPr lang="en-US" altLang="zh-CN"/>
              <a:pPr>
                <a:defRPr/>
              </a:pPr>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idx="1"/>
          </p:nvPr>
        </p:nvSpPr>
        <p:spPr>
          <a:xfrm>
            <a:off x="323850" y="1485900"/>
            <a:ext cx="8591550" cy="5688013"/>
          </a:xfrm>
        </p:spPr>
        <p:txBody>
          <a:bodyPr>
            <a:normAutofit/>
          </a:bodyPr>
          <a:lstStyle/>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调用库函数：</a:t>
            </a:r>
            <a:r>
              <a:rPr lang="en-US" altLang="zh-CN" b="1" dirty="0">
                <a:effectLst>
                  <a:outerShdw blurRad="38100" dist="38100" dir="2700000" algn="tl">
                    <a:srgbClr val="C0C0C0"/>
                  </a:outerShdw>
                </a:effectLst>
                <a:latin typeface="楷体_GB2312" pitchFamily="49" charset="-122"/>
                <a:ea typeface="楷体_GB2312" pitchFamily="49" charset="-122"/>
              </a:rPr>
              <a:t>#include</a:t>
            </a:r>
            <a:r>
              <a:rPr lang="zh-CN" altLang="en-US" b="1" dirty="0">
                <a:effectLst>
                  <a:outerShdw blurRad="38100" dist="38100" dir="2700000" algn="tl">
                    <a:srgbClr val="C0C0C0"/>
                  </a:outerShdw>
                </a:effectLst>
                <a:latin typeface="楷体_GB2312" pitchFamily="49" charset="-122"/>
                <a:ea typeface="楷体_GB2312" pitchFamily="49" charset="-122"/>
              </a:rPr>
              <a:t>文件中的头文件中有说明。</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调用自定义函数：在调用函数中作如下说明：</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      类型符  标识符</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形参类型表</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其中：</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标识符是函数名，类型符是该函数返回值的类型。</a:t>
            </a:r>
          </a:p>
          <a:p>
            <a:pPr marL="0" indent="0" algn="just" eaLnBrk="1" fontAlgn="auto" hangingPunct="1">
              <a:lnSpc>
                <a:spcPct val="110000"/>
              </a:lnSpc>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形参类型表：顺序给出各形参的类型，如果函数没有形参，形参类型表为空。</a:t>
            </a:r>
          </a:p>
          <a:p>
            <a:pPr marL="0" indent="0" algn="just" eaLnBrk="1" fontAlgn="auto" hangingPunct="1">
              <a:lnSpc>
                <a:spcPct val="110000"/>
              </a:lnSpc>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pPr>
              <a:defRPr/>
            </a:pPr>
            <a:fld id="{E2D0AC85-AE1C-4CAE-8C26-B967D431EC07}" type="slidenum">
              <a:rPr lang="en-US" altLang="zh-CN"/>
              <a:pPr>
                <a:defRPr/>
              </a:pPr>
              <a:t>43</a:t>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idx="1"/>
          </p:nvPr>
        </p:nvSpPr>
        <p:spPr>
          <a:xfrm>
            <a:off x="323850" y="981075"/>
            <a:ext cx="8591550" cy="5688013"/>
          </a:xfrm>
        </p:spPr>
        <p:txBody>
          <a:bodyPr>
            <a:normAutofit/>
          </a:bodyPr>
          <a:lstStyle/>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latin typeface="楷体_GB2312" pitchFamily="49" charset="-122"/>
                <a:ea typeface="楷体_GB2312" pitchFamily="49" charset="-122"/>
              </a:rPr>
              <a:t>函数说明对要定义的函数名及其返回值类型和各形参的类型作说明，以便让编译程序预先知道判定函数调用正确性的必要信息。如果一个函数</a:t>
            </a:r>
            <a:r>
              <a:rPr lang="en-US" altLang="zh-CN" b="1">
                <a:effectLst>
                  <a:outerShdw blurRad="38100" dist="38100" dir="2700000" algn="tl">
                    <a:srgbClr val="C0C0C0"/>
                  </a:outerShdw>
                </a:effectLst>
                <a:latin typeface="楷体_GB2312" pitchFamily="49" charset="-122"/>
                <a:ea typeface="楷体_GB2312" pitchFamily="49" charset="-122"/>
              </a:rPr>
              <a:t>power()</a:t>
            </a:r>
            <a:r>
              <a:rPr lang="zh-CN" altLang="en-US" b="1">
                <a:effectLst>
                  <a:outerShdw blurRad="38100" dist="38100" dir="2700000" algn="tl">
                    <a:srgbClr val="C0C0C0"/>
                  </a:outerShdw>
                </a:effectLst>
                <a:latin typeface="楷体_GB2312" pitchFamily="49" charset="-122"/>
                <a:ea typeface="楷体_GB2312" pitchFamily="49" charset="-122"/>
              </a:rPr>
              <a:t>返回</a:t>
            </a:r>
            <a:r>
              <a:rPr lang="en-US" altLang="zh-CN" b="1">
                <a:effectLst>
                  <a:outerShdw blurRad="38100" dist="38100" dir="2700000" algn="tl">
                    <a:srgbClr val="C0C0C0"/>
                  </a:outerShdw>
                </a:effectLst>
                <a:latin typeface="楷体_GB2312" pitchFamily="49" charset="-122"/>
                <a:ea typeface="楷体_GB2312" pitchFamily="49" charset="-122"/>
              </a:rPr>
              <a:t>double</a:t>
            </a:r>
            <a:r>
              <a:rPr lang="zh-CN" altLang="en-US" b="1">
                <a:effectLst>
                  <a:outerShdw blurRad="38100" dist="38100" dir="2700000" algn="tl">
                    <a:srgbClr val="C0C0C0"/>
                  </a:outerShdw>
                </a:effectLst>
                <a:latin typeface="楷体_GB2312" pitchFamily="49" charset="-122"/>
                <a:ea typeface="楷体_GB2312" pitchFamily="49" charset="-122"/>
              </a:rPr>
              <a:t>类型值，有两个形参，第一个是</a:t>
            </a:r>
            <a:r>
              <a:rPr lang="en-US" altLang="zh-CN" b="1">
                <a:effectLst>
                  <a:outerShdw blurRad="38100" dist="38100" dir="2700000" algn="tl">
                    <a:srgbClr val="C0C0C0"/>
                  </a:outerShdw>
                </a:effectLst>
                <a:latin typeface="楷体_GB2312" pitchFamily="49" charset="-122"/>
                <a:ea typeface="楷体_GB2312" pitchFamily="49" charset="-122"/>
              </a:rPr>
              <a:t>double</a:t>
            </a:r>
            <a:r>
              <a:rPr lang="zh-CN" altLang="en-US" b="1">
                <a:effectLst>
                  <a:outerShdw blurRad="38100" dist="38100" dir="2700000" algn="tl">
                    <a:srgbClr val="C0C0C0"/>
                  </a:outerShdw>
                </a:effectLst>
                <a:latin typeface="楷体_GB2312" pitchFamily="49" charset="-122"/>
                <a:ea typeface="楷体_GB2312" pitchFamily="49" charset="-122"/>
              </a:rPr>
              <a:t>类型的，第二个是</a:t>
            </a:r>
            <a:r>
              <a:rPr lang="en-US" altLang="zh-CN" b="1">
                <a:effectLst>
                  <a:outerShdw blurRad="38100" dist="38100" dir="2700000" algn="tl">
                    <a:srgbClr val="C0C0C0"/>
                  </a:outerShdw>
                </a:effectLst>
                <a:latin typeface="楷体_GB2312" pitchFamily="49" charset="-122"/>
                <a:ea typeface="楷体_GB2312" pitchFamily="49" charset="-122"/>
              </a:rPr>
              <a:t>int</a:t>
            </a:r>
            <a:r>
              <a:rPr lang="zh-CN" altLang="en-US" b="1">
                <a:effectLst>
                  <a:outerShdw blurRad="38100" dist="38100" dir="2700000" algn="tl">
                    <a:srgbClr val="C0C0C0"/>
                  </a:outerShdw>
                </a:effectLst>
                <a:latin typeface="楷体_GB2312" pitchFamily="49" charset="-122"/>
                <a:ea typeface="楷体_GB2312" pitchFamily="49" charset="-122"/>
              </a:rPr>
              <a:t>类型的，则函数</a:t>
            </a:r>
            <a:r>
              <a:rPr lang="en-US" altLang="zh-CN" b="1">
                <a:effectLst>
                  <a:outerShdw blurRad="38100" dist="38100" dir="2700000" algn="tl">
                    <a:srgbClr val="C0C0C0"/>
                  </a:outerShdw>
                </a:effectLst>
                <a:latin typeface="楷体_GB2312" pitchFamily="49" charset="-122"/>
                <a:ea typeface="楷体_GB2312" pitchFamily="49" charset="-122"/>
              </a:rPr>
              <a:t>power()</a:t>
            </a:r>
            <a:r>
              <a:rPr lang="zh-CN" altLang="en-US" b="1">
                <a:effectLst>
                  <a:outerShdw blurRad="38100" dist="38100" dir="2700000" algn="tl">
                    <a:srgbClr val="C0C0C0"/>
                  </a:outerShdw>
                </a:effectLst>
                <a:latin typeface="楷体_GB2312" pitchFamily="49" charset="-122"/>
                <a:ea typeface="楷体_GB2312" pitchFamily="49" charset="-122"/>
              </a:rPr>
              <a:t>的函数原型说明形式为：</a:t>
            </a:r>
          </a:p>
          <a:p>
            <a:pPr marL="0" indent="0" eaLnBrk="1" fontAlgn="auto" hangingPunct="1">
              <a:spcAft>
                <a:spcPts val="0"/>
              </a:spcAft>
              <a:buClr>
                <a:schemeClr val="accent3"/>
              </a:buClr>
              <a:buFont typeface="Wingdings" pitchFamily="2" charset="2"/>
              <a:buNone/>
              <a:defRPr/>
            </a:pPr>
            <a:r>
              <a:rPr lang="zh-CN" altLang="en-US" b="1">
                <a:effectLst>
                  <a:outerShdw blurRad="38100" dist="38100" dir="2700000" algn="tl">
                    <a:srgbClr val="C0C0C0"/>
                  </a:outerShdw>
                </a:effectLst>
                <a:latin typeface="楷体_GB2312" pitchFamily="49" charset="-122"/>
                <a:ea typeface="楷体_GB2312" pitchFamily="49" charset="-122"/>
              </a:rPr>
              <a:t>      </a:t>
            </a:r>
            <a:r>
              <a:rPr lang="en-US" altLang="zh-CN" b="1">
                <a:effectLst>
                  <a:outerShdw blurRad="38100" dist="38100" dir="2700000" algn="tl">
                    <a:srgbClr val="C0C0C0"/>
                  </a:outerShdw>
                </a:effectLst>
                <a:latin typeface="楷体_GB2312" pitchFamily="49" charset="-122"/>
                <a:ea typeface="楷体_GB2312" pitchFamily="49" charset="-122"/>
              </a:rPr>
              <a:t>double  power(double , int);</a:t>
            </a:r>
          </a:p>
        </p:txBody>
      </p:sp>
      <p:sp>
        <p:nvSpPr>
          <p:cNvPr id="5" name="灯片编号占位符 5"/>
          <p:cNvSpPr>
            <a:spLocks noGrp="1"/>
          </p:cNvSpPr>
          <p:nvPr>
            <p:ph type="sldNum" sz="quarter" idx="12"/>
          </p:nvPr>
        </p:nvSpPr>
        <p:spPr/>
        <p:txBody>
          <a:bodyPr/>
          <a:lstStyle/>
          <a:p>
            <a:pPr>
              <a:defRPr/>
            </a:pPr>
            <a:fld id="{C027F94E-ED27-463C-8715-09DA26D40EF3}" type="slidenum">
              <a:rPr lang="en-US" altLang="zh-CN"/>
              <a:pPr>
                <a:defRPr/>
              </a:pPr>
              <a:t>44</a:t>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title"/>
          </p:nvPr>
        </p:nvSpPr>
        <p:spPr>
          <a:xfrm>
            <a:off x="323850" y="333375"/>
            <a:ext cx="8640763" cy="792163"/>
          </a:xfrm>
          <a:noFill/>
        </p:spPr>
        <p:txBody>
          <a:bodyPr lIns="92075" tIns="46038" rIns="92075" bIns="46038"/>
          <a:lstStyle/>
          <a:p>
            <a:pPr marL="1885950" indent="-1800225" eaLnBrk="1" hangingPunct="1"/>
            <a:r>
              <a:rPr lang="en-US" altLang="zh-CN" sz="3200" b="1">
                <a:solidFill>
                  <a:srgbClr val="0070C0"/>
                </a:solidFill>
              </a:rPr>
              <a:t>【</a:t>
            </a:r>
            <a:r>
              <a:rPr lang="zh-CN" altLang="en-US" sz="3200" b="1">
                <a:solidFill>
                  <a:srgbClr val="0070C0"/>
                </a:solidFill>
              </a:rPr>
              <a:t>例</a:t>
            </a:r>
            <a:r>
              <a:rPr lang="en-US" altLang="zh-CN" sz="3200" b="1">
                <a:solidFill>
                  <a:srgbClr val="0070C0"/>
                </a:solidFill>
              </a:rPr>
              <a:t>5.11】</a:t>
            </a:r>
            <a:r>
              <a:rPr lang="zh-CN" altLang="en-US" sz="3200" b="1"/>
              <a:t>求两个数中最小值的程序。</a:t>
            </a:r>
            <a:r>
              <a:rPr lang="zh-CN" altLang="en-US"/>
              <a:t> </a:t>
            </a:r>
          </a:p>
        </p:txBody>
      </p:sp>
      <p:sp>
        <p:nvSpPr>
          <p:cNvPr id="392194" name="Rectangle 2"/>
          <p:cNvSpPr>
            <a:spLocks noGrp="1" noChangeArrowheads="1"/>
          </p:cNvSpPr>
          <p:nvPr>
            <p:ph idx="1"/>
          </p:nvPr>
        </p:nvSpPr>
        <p:spPr>
          <a:xfrm>
            <a:off x="323850" y="1268413"/>
            <a:ext cx="8591550" cy="5184775"/>
          </a:xfrm>
        </p:spPr>
        <p:txBody>
          <a:bodyPr>
            <a:normAutofit lnSpcReduction="10000"/>
          </a:bodyPr>
          <a:lstStyle/>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#include &lt;</a:t>
            </a:r>
            <a:r>
              <a:rPr lang="en-US" altLang="zh-CN" sz="2400" b="1" dirty="0" err="1">
                <a:effectLst>
                  <a:outerShdw blurRad="38100" dist="38100" dir="2700000" algn="tl">
                    <a:srgbClr val="C0C0C0"/>
                  </a:outerShdw>
                </a:effectLst>
                <a:latin typeface="楷体_GB2312" pitchFamily="49" charset="-122"/>
                <a:ea typeface="楷体_GB2312" pitchFamily="49" charset="-122"/>
              </a:rPr>
              <a:t>stdio.h</a:t>
            </a:r>
            <a:r>
              <a:rPr lang="en-US" altLang="zh-CN" sz="2400" b="1" dirty="0">
                <a:effectLst>
                  <a:outerShdw blurRad="38100" dist="38100" dir="2700000" algn="tl">
                    <a:srgbClr val="C0C0C0"/>
                  </a:outerShdw>
                </a:effectLst>
                <a:latin typeface="楷体_GB2312" pitchFamily="49" charset="-122"/>
                <a:ea typeface="楷体_GB2312" pitchFamily="49" charset="-122"/>
              </a:rPr>
              <a:t>&gt;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double min(double, double);	/* </a:t>
            </a:r>
            <a:r>
              <a:rPr lang="zh-CN" altLang="en-US" sz="2400" b="1" dirty="0">
                <a:solidFill>
                  <a:srgbClr val="FF0000"/>
                </a:solidFill>
                <a:effectLst>
                  <a:outerShdw blurRad="38100" dist="38100" dir="2700000" algn="tl">
                    <a:srgbClr val="C0C0C0"/>
                  </a:outerShdw>
                </a:effectLst>
                <a:latin typeface="楷体_GB2312" pitchFamily="49" charset="-122"/>
                <a:ea typeface="楷体_GB2312" pitchFamily="49" charset="-122"/>
              </a:rPr>
              <a:t>函数说明 *</a:t>
            </a:r>
            <a:r>
              <a:rPr lang="en-US" altLang="zh-CN" sz="2400" b="1" dirty="0">
                <a:solidFill>
                  <a:srgbClr val="FF0000"/>
                </a:solidFill>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5000"/>
              </a:lnSpc>
              <a:spcAft>
                <a:spcPts val="0"/>
              </a:spcAft>
              <a:buClr>
                <a:schemeClr val="accent3"/>
              </a:buClr>
              <a:buFont typeface="Wingdings" pitchFamily="2" charset="2"/>
              <a:buNone/>
              <a:defRPr/>
            </a:pPr>
            <a:r>
              <a:rPr lang="zh-CN" altLang="en-US" sz="2400" b="1" dirty="0">
                <a:effectLst>
                  <a:outerShdw blurRad="38100" dist="38100" dir="2700000" algn="tl">
                    <a:srgbClr val="C0C0C0"/>
                  </a:outerShdw>
                </a:effectLst>
                <a:latin typeface="楷体_GB2312" pitchFamily="49" charset="-122"/>
                <a:ea typeface="楷体_GB2312" pitchFamily="49" charset="-122"/>
              </a:rPr>
              <a:t>　</a:t>
            </a:r>
            <a:endParaRPr lang="en-US" altLang="zh-CN" sz="2400"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lnSpc>
                <a:spcPct val="85000"/>
              </a:lnSpc>
              <a:spcAft>
                <a:spcPts val="0"/>
              </a:spcAft>
              <a:buClr>
                <a:schemeClr val="accent3"/>
              </a:buClr>
              <a:buFont typeface="Wingdings" pitchFamily="2" charset="2"/>
              <a:buNone/>
              <a:defRPr/>
            </a:pPr>
            <a:r>
              <a:rPr lang="en-US" altLang="zh-CN" sz="2400" b="1" dirty="0" err="1">
                <a:effectLst>
                  <a:outerShdw blurRad="38100" dist="38100" dir="2700000" algn="tl">
                    <a:srgbClr val="C0C0C0"/>
                  </a:outerShdw>
                </a:effectLst>
                <a:latin typeface="楷体_GB2312" pitchFamily="49" charset="-122"/>
                <a:ea typeface="楷体_GB2312" pitchFamily="49" charset="-122"/>
              </a:rPr>
              <a:t>int</a:t>
            </a:r>
            <a:r>
              <a:rPr lang="en-US" altLang="zh-CN" sz="2400" b="1" dirty="0">
                <a:effectLst>
                  <a:outerShdw blurRad="38100" dist="38100" dir="2700000" algn="tl">
                    <a:srgbClr val="C0C0C0"/>
                  </a:outerShdw>
                </a:effectLst>
                <a:latin typeface="楷体_GB2312" pitchFamily="49" charset="-122"/>
                <a:ea typeface="楷体_GB2312" pitchFamily="49" charset="-122"/>
              </a:rPr>
              <a:t> main()</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double a, b;</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printf</a:t>
            </a:r>
            <a:r>
              <a:rPr lang="en-US" altLang="zh-CN" sz="2400" b="1" dirty="0">
                <a:effectLst>
                  <a:outerShdw blurRad="38100" dist="38100" dir="2700000" algn="tl">
                    <a:srgbClr val="C0C0C0"/>
                  </a:outerShdw>
                </a:effectLst>
                <a:latin typeface="楷体_GB2312" pitchFamily="49" charset="-122"/>
                <a:ea typeface="楷体_GB2312" pitchFamily="49" charset="-122"/>
              </a:rPr>
              <a:t>("Input a, b : ");</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scanf</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err="1">
                <a:effectLst>
                  <a:outerShdw blurRad="38100" dist="38100" dir="2700000" algn="tl">
                    <a:srgbClr val="C0C0C0"/>
                  </a:outerShdw>
                </a:effectLst>
                <a:latin typeface="楷体_GB2312" pitchFamily="49" charset="-122"/>
                <a:ea typeface="楷体_GB2312" pitchFamily="49" charset="-122"/>
              </a:rPr>
              <a:t>lf%lf</a:t>
            </a:r>
            <a:r>
              <a:rPr lang="en-US" altLang="zh-CN" sz="2400" b="1" dirty="0">
                <a:effectLst>
                  <a:outerShdw blurRad="38100" dist="38100" dir="2700000" algn="tl">
                    <a:srgbClr val="C0C0C0"/>
                  </a:outerShdw>
                </a:effectLst>
                <a:latin typeface="楷体_GB2312" pitchFamily="49" charset="-122"/>
                <a:ea typeface="楷体_GB2312" pitchFamily="49" charset="-122"/>
              </a:rPr>
              <a:t>", &amp;a, &amp;b);</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r>
              <a:rPr lang="en-US" altLang="zh-CN" sz="2400" b="1" dirty="0" err="1">
                <a:effectLst>
                  <a:outerShdw blurRad="38100" dist="38100" dir="2700000" algn="tl">
                    <a:srgbClr val="C0C0C0"/>
                  </a:outerShdw>
                </a:effectLst>
                <a:latin typeface="楷体_GB2312" pitchFamily="49" charset="-122"/>
                <a:ea typeface="楷体_GB2312" pitchFamily="49" charset="-122"/>
              </a:rPr>
              <a:t>printf</a:t>
            </a:r>
            <a:r>
              <a:rPr lang="en-US" altLang="zh-CN" sz="2400" b="1" dirty="0">
                <a:effectLst>
                  <a:outerShdw blurRad="38100" dist="38100" dir="2700000" algn="tl">
                    <a:srgbClr val="C0C0C0"/>
                  </a:outerShdw>
                </a:effectLst>
                <a:latin typeface="楷体_GB2312" pitchFamily="49" charset="-122"/>
                <a:ea typeface="楷体_GB2312" pitchFamily="49" charset="-122"/>
              </a:rPr>
              <a:t>("MIN(%f, %f) = %f\n", a, b, min(a, b));</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return 0;</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double min(double x, double y) /* </a:t>
            </a:r>
            <a:r>
              <a:rPr lang="zh-CN" altLang="en-US" sz="2400" b="1" dirty="0">
                <a:effectLst>
                  <a:outerShdw blurRad="38100" dist="38100" dir="2700000" algn="tl">
                    <a:srgbClr val="C0C0C0"/>
                  </a:outerShdw>
                </a:effectLst>
                <a:latin typeface="楷体_GB2312" pitchFamily="49" charset="-122"/>
                <a:ea typeface="楷体_GB2312" pitchFamily="49" charset="-122"/>
              </a:rPr>
              <a:t>返回 </a:t>
            </a:r>
            <a:r>
              <a:rPr lang="en-US" altLang="zh-CN" sz="2400" b="1" dirty="0">
                <a:effectLst>
                  <a:outerShdw blurRad="38100" dist="38100" dir="2700000" algn="tl">
                    <a:srgbClr val="C0C0C0"/>
                  </a:outerShdw>
                </a:effectLst>
                <a:latin typeface="楷体_GB2312" pitchFamily="49" charset="-122"/>
                <a:ea typeface="楷体_GB2312" pitchFamily="49" charset="-122"/>
              </a:rPr>
              <a:t>double </a:t>
            </a:r>
            <a:r>
              <a:rPr lang="zh-CN" altLang="en-US" sz="2400" b="1" dirty="0">
                <a:effectLst>
                  <a:outerShdw blurRad="38100" dist="38100" dir="2700000" algn="tl">
                    <a:srgbClr val="C0C0C0"/>
                  </a:outerShdw>
                </a:effectLst>
                <a:latin typeface="楷体_GB2312" pitchFamily="49" charset="-122"/>
                <a:ea typeface="楷体_GB2312" pitchFamily="49" charset="-122"/>
              </a:rPr>
              <a:t>型值，有两个形参 *</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 </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return x &lt; y ? x : y; /* </a:t>
            </a:r>
            <a:r>
              <a:rPr lang="zh-CN" altLang="en-US" sz="2400" b="1" dirty="0">
                <a:effectLst>
                  <a:outerShdw blurRad="38100" dist="38100" dir="2700000" algn="tl">
                    <a:srgbClr val="C0C0C0"/>
                  </a:outerShdw>
                </a:effectLst>
                <a:latin typeface="楷体_GB2312" pitchFamily="49" charset="-122"/>
                <a:ea typeface="楷体_GB2312" pitchFamily="49" charset="-122"/>
              </a:rPr>
              <a:t>返回</a:t>
            </a:r>
            <a:r>
              <a:rPr lang="en-US" altLang="zh-CN" sz="2400" b="1" dirty="0">
                <a:effectLst>
                  <a:outerShdw blurRad="38100" dist="38100" dir="2700000" algn="tl">
                    <a:srgbClr val="C0C0C0"/>
                  </a:outerShdw>
                </a:effectLst>
                <a:latin typeface="楷体_GB2312" pitchFamily="49" charset="-122"/>
                <a:ea typeface="楷体_GB2312" pitchFamily="49" charset="-122"/>
              </a:rPr>
              <a:t>x</a:t>
            </a:r>
            <a:r>
              <a:rPr lang="zh-CN" altLang="en-US" sz="2400" b="1" dirty="0">
                <a:effectLst>
                  <a:outerShdw blurRad="38100" dist="38100" dir="2700000" algn="tl">
                    <a:srgbClr val="C0C0C0"/>
                  </a:outerShdw>
                </a:effectLst>
                <a:latin typeface="楷体_GB2312" pitchFamily="49" charset="-122"/>
                <a:ea typeface="楷体_GB2312" pitchFamily="49" charset="-122"/>
              </a:rPr>
              <a:t>和</a:t>
            </a:r>
            <a:r>
              <a:rPr lang="en-US" altLang="zh-CN" sz="2400" b="1" dirty="0">
                <a:effectLst>
                  <a:outerShdw blurRad="38100" dist="38100" dir="2700000" algn="tl">
                    <a:srgbClr val="C0C0C0"/>
                  </a:outerShdw>
                </a:effectLst>
                <a:latin typeface="楷体_GB2312" pitchFamily="49" charset="-122"/>
                <a:ea typeface="楷体_GB2312" pitchFamily="49" charset="-122"/>
              </a:rPr>
              <a:t>y</a:t>
            </a:r>
            <a:r>
              <a:rPr lang="zh-CN" altLang="en-US" sz="2400" b="1" dirty="0">
                <a:effectLst>
                  <a:outerShdw blurRad="38100" dist="38100" dir="2700000" algn="tl">
                    <a:srgbClr val="C0C0C0"/>
                  </a:outerShdw>
                </a:effectLst>
                <a:latin typeface="楷体_GB2312" pitchFamily="49" charset="-122"/>
                <a:ea typeface="楷体_GB2312" pitchFamily="49" charset="-122"/>
              </a:rPr>
              <a:t>二者中小者的值 *</a:t>
            </a:r>
            <a:r>
              <a:rPr lang="en-US" altLang="zh-CN" sz="2400"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lnSpc>
                <a:spcPct val="85000"/>
              </a:lnSpc>
              <a:spcAft>
                <a:spcPts val="0"/>
              </a:spcAft>
              <a:buClr>
                <a:schemeClr val="accent3"/>
              </a:buClr>
              <a:buFont typeface="Wingdings" pitchFamily="2" charset="2"/>
              <a:buNone/>
              <a:defRPr/>
            </a:pPr>
            <a:r>
              <a:rPr lang="en-US" altLang="zh-CN" sz="2400" b="1" dirty="0">
                <a:effectLst>
                  <a:outerShdw blurRad="38100" dist="38100" dir="2700000" algn="tl">
                    <a:srgbClr val="C0C0C0"/>
                  </a:outerShdw>
                </a:effectLst>
                <a:latin typeface="楷体_GB2312" pitchFamily="49" charset="-122"/>
                <a:ea typeface="楷体_GB2312" pitchFamily="49" charset="-122"/>
              </a:rPr>
              <a:t>}</a:t>
            </a:r>
          </a:p>
        </p:txBody>
      </p:sp>
      <p:sp>
        <p:nvSpPr>
          <p:cNvPr id="6" name="灯片编号占位符 5"/>
          <p:cNvSpPr>
            <a:spLocks noGrp="1"/>
          </p:cNvSpPr>
          <p:nvPr>
            <p:ph type="sldNum" sz="quarter" idx="12"/>
          </p:nvPr>
        </p:nvSpPr>
        <p:spPr/>
        <p:txBody>
          <a:bodyPr/>
          <a:lstStyle/>
          <a:p>
            <a:pPr>
              <a:defRPr/>
            </a:pPr>
            <a:fld id="{7294F769-8A98-4B78-9764-1FD479F44C60}" type="slidenum">
              <a:rPr lang="en-US" altLang="zh-CN"/>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idx="1"/>
          </p:nvPr>
        </p:nvSpPr>
        <p:spPr>
          <a:xfrm>
            <a:off x="323850" y="620713"/>
            <a:ext cx="8591550" cy="5832475"/>
          </a:xfrm>
        </p:spPr>
        <p:txBody>
          <a:bodyPr>
            <a:normAutofit/>
          </a:bodyPr>
          <a:lstStyle/>
          <a:p>
            <a:pPr marL="0" indent="0" eaLnBrk="1" fontAlgn="auto" hangingPunct="1">
              <a:spcAft>
                <a:spcPts val="0"/>
              </a:spcAft>
              <a:buClr>
                <a:schemeClr val="accent3"/>
              </a:buClr>
              <a:buFont typeface="Wingdings" pitchFamily="2" charset="2"/>
              <a:buNone/>
              <a:defRPr/>
            </a:pP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程序说明</a:t>
            </a:r>
            <a:r>
              <a:rPr lang="en-US" altLang="zh-CN" b="1" dirty="0">
                <a:effectLst>
                  <a:outerShdw blurRad="38100" dist="38100" dir="2700000" algn="tl">
                    <a:srgbClr val="C0C0C0"/>
                  </a:outerShdw>
                </a:effectLst>
                <a:latin typeface="楷体_GB2312" pitchFamily="49" charset="-122"/>
                <a:ea typeface="楷体_GB2312" pitchFamily="49" charset="-122"/>
              </a:rPr>
              <a:t>】</a:t>
            </a: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在上面的例子中，第</a:t>
            </a:r>
            <a:r>
              <a:rPr lang="en-US" altLang="zh-CN" b="1" dirty="0">
                <a:effectLst>
                  <a:outerShdw blurRad="38100" dist="38100" dir="2700000" algn="tl">
                    <a:srgbClr val="C0C0C0"/>
                  </a:outerShdw>
                </a:effectLst>
                <a:latin typeface="楷体_GB2312" pitchFamily="49" charset="-122"/>
                <a:ea typeface="楷体_GB2312" pitchFamily="49" charset="-122"/>
              </a:rPr>
              <a:t>2</a:t>
            </a:r>
            <a:r>
              <a:rPr lang="zh-CN" altLang="en-US" b="1" dirty="0">
                <a:effectLst>
                  <a:outerShdw blurRad="38100" dist="38100" dir="2700000" algn="tl">
                    <a:srgbClr val="C0C0C0"/>
                  </a:outerShdw>
                </a:effectLst>
                <a:latin typeface="楷体_GB2312" pitchFamily="49" charset="-122"/>
                <a:ea typeface="楷体_GB2312" pitchFamily="49" charset="-122"/>
              </a:rPr>
              <a:t>行的函数原型说明是必须的，否则将出现编译错误。如果将主函数的位置与</a:t>
            </a:r>
            <a:r>
              <a:rPr lang="en-US" altLang="zh-CN" b="1" dirty="0">
                <a:effectLst>
                  <a:outerShdw blurRad="38100" dist="38100" dir="2700000" algn="tl">
                    <a:srgbClr val="C0C0C0"/>
                  </a:outerShdw>
                </a:effectLst>
                <a:latin typeface="楷体_GB2312" pitchFamily="49" charset="-122"/>
                <a:ea typeface="楷体_GB2312" pitchFamily="49" charset="-122"/>
              </a:rPr>
              <a:t>min()</a:t>
            </a:r>
            <a:r>
              <a:rPr lang="zh-CN" altLang="en-US" b="1" dirty="0">
                <a:effectLst>
                  <a:outerShdw blurRad="38100" dist="38100" dir="2700000" algn="tl">
                    <a:srgbClr val="C0C0C0"/>
                  </a:outerShdw>
                </a:effectLst>
                <a:latin typeface="楷体_GB2312" pitchFamily="49" charset="-122"/>
                <a:ea typeface="楷体_GB2312" pitchFamily="49" charset="-122"/>
              </a:rPr>
              <a:t>函数的位置对调，这个函数原型说明就可以不要。</a:t>
            </a:r>
          </a:p>
          <a:p>
            <a:pPr marL="0" indent="0" eaLnBrk="1" fontAlgn="auto" hangingPunct="1">
              <a:spcAft>
                <a:spcPts val="0"/>
              </a:spcAft>
              <a:buClr>
                <a:schemeClr val="accent3"/>
              </a:buClr>
              <a:buFont typeface="Wingdings" pitchFamily="2" charset="2"/>
              <a:buNone/>
              <a:defRPr/>
            </a:pPr>
            <a:endParaRPr lang="en-US" altLang="zh-CN" b="1" dirty="0">
              <a:effectLst>
                <a:outerShdw blurRad="38100" dist="38100" dir="2700000" algn="tl">
                  <a:srgbClr val="C0C0C0"/>
                </a:outerShdw>
              </a:effectLst>
              <a:latin typeface="楷体_GB2312" pitchFamily="49" charset="-122"/>
              <a:ea typeface="楷体_GB2312" pitchFamily="49" charset="-122"/>
            </a:endParaRPr>
          </a:p>
          <a:p>
            <a:pPr marL="0" indent="0"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程序如果要调用库函数，编译程序也要求有库函数的函数原型说明。对于这种情况，程序用包含预处理命令</a:t>
            </a:r>
            <a:r>
              <a:rPr lang="en-US" altLang="zh-CN" b="1" dirty="0">
                <a:effectLst>
                  <a:outerShdw blurRad="38100" dist="38100" dir="2700000" algn="tl">
                    <a:srgbClr val="C0C0C0"/>
                  </a:outerShdw>
                </a:effectLst>
                <a:latin typeface="楷体_GB2312" pitchFamily="49" charset="-122"/>
                <a:ea typeface="楷体_GB2312" pitchFamily="49" charset="-122"/>
              </a:rPr>
              <a:t>(#include)</a:t>
            </a:r>
            <a:r>
              <a:rPr lang="zh-CN" altLang="en-US" b="1" dirty="0">
                <a:effectLst>
                  <a:outerShdw blurRad="38100" dist="38100" dir="2700000" algn="tl">
                    <a:srgbClr val="C0C0C0"/>
                  </a:outerShdw>
                </a:effectLst>
                <a:latin typeface="楷体_GB2312" pitchFamily="49" charset="-122"/>
                <a:ea typeface="楷体_GB2312" pitchFamily="49" charset="-122"/>
              </a:rPr>
              <a:t>，将含有库函数原型说明，库函数使用的常量、宏定义、数据类型定义等信息的头文件</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以</a:t>
            </a:r>
            <a:r>
              <a:rPr lang="zh-CN" altLang="en-US" b="1" dirty="0">
                <a:effectLst>
                  <a:outerShdw blurRad="38100" dist="38100" dir="2700000" algn="tl">
                    <a:srgbClr val="C0C0C0"/>
                  </a:outerShdw>
                </a:effectLst>
                <a:ea typeface="楷体_GB2312" pitchFamily="49" charset="-122"/>
              </a:rPr>
              <a:t>“</a:t>
            </a:r>
            <a:r>
              <a:rPr lang="en-US" altLang="zh-CN" b="1" dirty="0">
                <a:effectLst>
                  <a:outerShdw blurRad="38100" dist="38100" dir="2700000" algn="tl">
                    <a:srgbClr val="C0C0C0"/>
                  </a:outerShdw>
                </a:effectLst>
                <a:latin typeface="楷体_GB2312" pitchFamily="49" charset="-122"/>
                <a:ea typeface="楷体_GB2312" pitchFamily="49" charset="-122"/>
              </a:rPr>
              <a:t>. h</a:t>
            </a:r>
            <a:r>
              <a:rPr lang="en-US" altLang="zh-CN" b="1" dirty="0">
                <a:effectLst>
                  <a:outerShdw blurRad="38100" dist="38100" dir="2700000" algn="tl">
                    <a:srgbClr val="C0C0C0"/>
                  </a:outerShdw>
                </a:effectLst>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为后缀的文件</a:t>
            </a:r>
            <a:r>
              <a:rPr lang="en-US" altLang="zh-CN" b="1" dirty="0">
                <a:effectLst>
                  <a:outerShdw blurRad="38100" dist="38100" dir="2700000" algn="tl">
                    <a:srgbClr val="C0C0C0"/>
                  </a:outerShdw>
                </a:effectLst>
                <a:latin typeface="楷体_GB2312" pitchFamily="49" charset="-122"/>
                <a:ea typeface="楷体_GB2312" pitchFamily="49" charset="-122"/>
              </a:rPr>
              <a:t>)</a:t>
            </a:r>
            <a:r>
              <a:rPr lang="zh-CN" altLang="en-US" b="1" dirty="0">
                <a:effectLst>
                  <a:outerShdw blurRad="38100" dist="38100" dir="2700000" algn="tl">
                    <a:srgbClr val="C0C0C0"/>
                  </a:outerShdw>
                </a:effectLst>
                <a:latin typeface="楷体_GB2312" pitchFamily="49" charset="-122"/>
                <a:ea typeface="楷体_GB2312" pitchFamily="49" charset="-122"/>
              </a:rPr>
              <a:t>作为程序的一部分。例如，使用数学库函数的程序，要有包含</a:t>
            </a:r>
            <a:r>
              <a:rPr lang="en-US" altLang="zh-CN" b="1" dirty="0" err="1">
                <a:effectLst>
                  <a:outerShdw blurRad="38100" dist="38100" dir="2700000" algn="tl">
                    <a:srgbClr val="C0C0C0"/>
                  </a:outerShdw>
                </a:effectLst>
                <a:latin typeface="楷体_GB2312" pitchFamily="49" charset="-122"/>
                <a:ea typeface="楷体_GB2312" pitchFamily="49" charset="-122"/>
              </a:rPr>
              <a:t>math.h</a:t>
            </a:r>
            <a:r>
              <a:rPr lang="zh-CN" altLang="en-US" b="1" dirty="0">
                <a:effectLst>
                  <a:outerShdw blurRad="38100" dist="38100" dir="2700000" algn="tl">
                    <a:srgbClr val="C0C0C0"/>
                  </a:outerShdw>
                </a:effectLst>
                <a:latin typeface="楷体_GB2312" pitchFamily="49" charset="-122"/>
                <a:ea typeface="楷体_GB2312" pitchFamily="49" charset="-122"/>
              </a:rPr>
              <a:t>的预处理命令行。</a:t>
            </a:r>
            <a:r>
              <a:rPr lang="zh-CN" altLang="en-US" dirty="0">
                <a:latin typeface="楷体_GB2312" pitchFamily="49" charset="-122"/>
                <a:ea typeface="楷体_GB2312" pitchFamily="49" charset="-122"/>
              </a:rPr>
              <a:t> </a:t>
            </a:r>
          </a:p>
        </p:txBody>
      </p:sp>
      <p:sp>
        <p:nvSpPr>
          <p:cNvPr id="5" name="灯片编号占位符 5"/>
          <p:cNvSpPr>
            <a:spLocks noGrp="1"/>
          </p:cNvSpPr>
          <p:nvPr>
            <p:ph type="sldNum" sz="quarter" idx="12"/>
          </p:nvPr>
        </p:nvSpPr>
        <p:spPr/>
        <p:txBody>
          <a:bodyPr/>
          <a:lstStyle/>
          <a:p>
            <a:pPr>
              <a:defRPr/>
            </a:pPr>
            <a:fld id="{3C3C6DBC-8A2F-4F2A-A915-D77E5BBC4E6C}" type="slidenum">
              <a:rPr lang="en-US" altLang="zh-CN"/>
              <a:pPr>
                <a:defRPr/>
              </a:pPr>
              <a:t>46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5266">
                                            <p:txEl>
                                              <p:pRg st="3" end="3"/>
                                            </p:txEl>
                                          </p:spTgt>
                                        </p:tgtEl>
                                        <p:attrNameLst>
                                          <p:attrName>style.visibility</p:attrName>
                                        </p:attrNameLst>
                                      </p:cBhvr>
                                      <p:to>
                                        <p:strVal val="visible"/>
                                      </p:to>
                                    </p:set>
                                    <p:anim calcmode="lin" valueType="num">
                                      <p:cBhvr additive="base">
                                        <p:cTn id="7" dur="500" fill="hold"/>
                                        <p:tgtEl>
                                          <p:spTgt spid="39526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526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title"/>
          </p:nvPr>
        </p:nvSpPr>
        <p:spPr>
          <a:xfrm>
            <a:off x="468313" y="260350"/>
            <a:ext cx="8351837" cy="647700"/>
          </a:xfrm>
          <a:noFill/>
        </p:spPr>
        <p:txBody>
          <a:bodyPr lIns="92075" tIns="46038" rIns="92075" bIns="46038"/>
          <a:lstStyle/>
          <a:p>
            <a:pPr eaLnBrk="1" hangingPunct="1"/>
            <a:r>
              <a:rPr lang="en-US" altLang="zh-CN" sz="4000">
                <a:latin typeface="宋体" charset="-122"/>
              </a:rPr>
              <a:t>5.6 </a:t>
            </a:r>
            <a:r>
              <a:rPr lang="zh-CN" altLang="en-US" sz="4000">
                <a:latin typeface="宋体" charset="-122"/>
              </a:rPr>
              <a:t>递归函数基础</a:t>
            </a:r>
          </a:p>
        </p:txBody>
      </p:sp>
      <p:sp>
        <p:nvSpPr>
          <p:cNvPr id="396290" name="Rectangle 2"/>
          <p:cNvSpPr>
            <a:spLocks noGrp="1" noChangeArrowheads="1"/>
          </p:cNvSpPr>
          <p:nvPr>
            <p:ph idx="1"/>
          </p:nvPr>
        </p:nvSpPr>
        <p:spPr>
          <a:xfrm>
            <a:off x="395288" y="981075"/>
            <a:ext cx="8497887" cy="5327650"/>
          </a:xfrm>
        </p:spPr>
        <p:txBody>
          <a:bodyPr>
            <a:normAutofit/>
          </a:bodyPr>
          <a:lstStyle/>
          <a:p>
            <a:pPr marL="0" indent="0" algn="just" eaLnBrk="1" fontAlgn="auto" hangingPunct="1">
              <a:spcAft>
                <a:spcPts val="0"/>
              </a:spcAft>
              <a:buClr>
                <a:schemeClr val="accent3"/>
              </a:buClr>
              <a:buFont typeface="Wingdings" pitchFamily="2" charset="2"/>
              <a:buNone/>
              <a:defRPr/>
            </a:pPr>
            <a:r>
              <a:rPr lang="zh-CN" altLang="en-US" b="1" dirty="0">
                <a:effectLst>
                  <a:outerShdw blurRad="38100" dist="38100" dir="2700000" algn="tl">
                    <a:srgbClr val="C0C0C0"/>
                  </a:outerShdw>
                </a:effectLst>
                <a:latin typeface="楷体_GB2312" pitchFamily="49" charset="-122"/>
                <a:ea typeface="楷体_GB2312" pitchFamily="49" charset="-122"/>
              </a:rPr>
              <a:t>一个函数为完成它的复杂工作，可以调用其他函数。从主函数出发，形成一个长长的调用链，就是通常所说的函数嵌套调用。</a:t>
            </a:r>
            <a:endParaRPr lang="en-US" altLang="zh-CN"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spcAft>
                <a:spcPts val="0"/>
              </a:spcAft>
              <a:buClr>
                <a:schemeClr val="accent3"/>
              </a:buClr>
              <a:buFont typeface="Wingdings" pitchFamily="2" charset="2"/>
              <a:buNone/>
              <a:defRPr/>
            </a:pPr>
            <a:endParaRPr lang="zh-CN" altLang="en-US" b="1" dirty="0">
              <a:effectLst>
                <a:outerShdw blurRad="38100" dist="38100" dir="2700000" algn="tl">
                  <a:srgbClr val="C0C0C0"/>
                </a:outerShdw>
              </a:effectLst>
              <a:latin typeface="楷体_GB2312" pitchFamily="49" charset="-122"/>
              <a:ea typeface="楷体_GB2312" pitchFamily="49" charset="-122"/>
            </a:endParaRPr>
          </a:p>
          <a:p>
            <a:pPr marL="0" indent="0" algn="just" eaLnBrk="1" fontAlgn="auto" hangingPunct="1">
              <a:spcAft>
                <a:spcPts val="0"/>
              </a:spcAft>
              <a:buClr>
                <a:schemeClr val="accent3"/>
              </a:buClr>
              <a:buFont typeface="Wingdings" pitchFamily="2" charset="2"/>
              <a:buNone/>
              <a:defRPr/>
            </a:pPr>
            <a:r>
              <a:rPr lang="zh-CN" altLang="en-US" b="1" dirty="0">
                <a:solidFill>
                  <a:srgbClr val="FF0000"/>
                </a:solidFill>
                <a:effectLst>
                  <a:outerShdw blurRad="38100" dist="38100" dir="2700000" algn="tl">
                    <a:srgbClr val="C0C0C0"/>
                  </a:outerShdw>
                </a:effectLst>
                <a:latin typeface="楷体_GB2312" pitchFamily="49" charset="-122"/>
                <a:ea typeface="楷体_GB2312" pitchFamily="49" charset="-122"/>
              </a:rPr>
              <a:t>在调用一个函数的过程中又出现直接或间接地调用该函数本身，称为函数的递归调用。</a:t>
            </a:r>
          </a:p>
        </p:txBody>
      </p:sp>
      <p:sp>
        <p:nvSpPr>
          <p:cNvPr id="6" name="灯片编号占位符 5"/>
          <p:cNvSpPr>
            <a:spLocks noGrp="1"/>
          </p:cNvSpPr>
          <p:nvPr>
            <p:ph type="sldNum" sz="quarter" idx="12"/>
          </p:nvPr>
        </p:nvSpPr>
        <p:spPr/>
        <p:txBody>
          <a:bodyPr/>
          <a:lstStyle/>
          <a:p>
            <a:pPr>
              <a:defRPr/>
            </a:pPr>
            <a:fld id="{58CED759-1137-4036-855B-F917640D024D}" type="slidenum">
              <a:rPr lang="en-US" altLang="zh-CN"/>
              <a:pPr>
                <a:defRPr/>
              </a:pPr>
              <a:t>47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6290">
                                            <p:txEl>
                                              <p:pRg st="2" end="2"/>
                                            </p:txEl>
                                          </p:spTgt>
                                        </p:tgtEl>
                                        <p:attrNameLst>
                                          <p:attrName>style.visibility</p:attrName>
                                        </p:attrNameLst>
                                      </p:cBhvr>
                                      <p:to>
                                        <p:strVal val="visible"/>
                                      </p:to>
                                    </p:set>
                                    <p:anim calcmode="lin" valueType="num">
                                      <p:cBhvr additive="base">
                                        <p:cTn id="7" dur="500" fill="hold"/>
                                        <p:tgtEl>
                                          <p:spTgt spid="39629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629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68313" y="260350"/>
            <a:ext cx="8351837" cy="792163"/>
          </a:xfrm>
          <a:noFill/>
        </p:spPr>
        <p:txBody>
          <a:bodyPr lIns="92075" tIns="46038" rIns="92075" bIns="46038"/>
          <a:lstStyle/>
          <a:p>
            <a:pPr eaLnBrk="1" hangingPunct="1"/>
            <a:r>
              <a:rPr lang="zh-CN" altLang="en-US">
                <a:latin typeface="宋体" charset="-122"/>
              </a:rPr>
              <a:t>函数嵌套调用示图</a:t>
            </a:r>
          </a:p>
        </p:txBody>
      </p:sp>
      <p:sp>
        <p:nvSpPr>
          <p:cNvPr id="55299" name="Rectangle 3"/>
          <p:cNvSpPr>
            <a:spLocks noGrp="1" noChangeArrowheads="1"/>
          </p:cNvSpPr>
          <p:nvPr>
            <p:ph idx="1"/>
          </p:nvPr>
        </p:nvSpPr>
        <p:spPr>
          <a:xfrm>
            <a:off x="971550" y="1701800"/>
            <a:ext cx="1944688" cy="439738"/>
          </a:xfrm>
        </p:spPr>
        <p:txBody>
          <a:bodyPr/>
          <a:lstStyle/>
          <a:p>
            <a:pPr eaLnBrk="1" hangingPunct="1">
              <a:lnSpc>
                <a:spcPct val="90000"/>
              </a:lnSpc>
              <a:buFont typeface="Wingdings" pitchFamily="2" charset="2"/>
              <a:buNone/>
            </a:pPr>
            <a:r>
              <a:rPr lang="en-US" altLang="zh-CN" b="1"/>
              <a:t>main</a:t>
            </a:r>
            <a:r>
              <a:rPr lang="zh-CN" altLang="en-US" b="1"/>
              <a:t>函数</a:t>
            </a:r>
          </a:p>
        </p:txBody>
      </p:sp>
      <p:sp>
        <p:nvSpPr>
          <p:cNvPr id="31" name="灯片编号占位符 5"/>
          <p:cNvSpPr>
            <a:spLocks noGrp="1"/>
          </p:cNvSpPr>
          <p:nvPr>
            <p:ph type="sldNum" sz="quarter" idx="12"/>
          </p:nvPr>
        </p:nvSpPr>
        <p:spPr/>
        <p:txBody>
          <a:bodyPr/>
          <a:lstStyle/>
          <a:p>
            <a:pPr>
              <a:defRPr/>
            </a:pPr>
            <a:fld id="{EC38689B-E24A-4036-9773-A6E853ECB0D2}" type="slidenum">
              <a:rPr lang="en-US" altLang="zh-CN"/>
              <a:pPr>
                <a:defRPr/>
              </a:pPr>
              <a:t>48</a:t>
            </a:fld>
            <a:endParaRPr lang="en-US" altLang="zh-CN"/>
          </a:p>
        </p:txBody>
      </p:sp>
      <p:sp>
        <p:nvSpPr>
          <p:cNvPr id="55301" name="Rectangle 4"/>
          <p:cNvSpPr>
            <a:spLocks noChangeArrowheads="1"/>
          </p:cNvSpPr>
          <p:nvPr/>
        </p:nvSpPr>
        <p:spPr bwMode="auto">
          <a:xfrm>
            <a:off x="900113" y="3276600"/>
            <a:ext cx="1944687" cy="439738"/>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latin typeface="Arial" charset="0"/>
                <a:ea typeface="黑体" pitchFamily="2" charset="-122"/>
              </a:rPr>
              <a:t>调用</a:t>
            </a:r>
            <a:r>
              <a:rPr kumimoji="1" lang="en-US" altLang="zh-CN">
                <a:latin typeface="Arial" charset="0"/>
                <a:ea typeface="黑体" pitchFamily="2" charset="-122"/>
              </a:rPr>
              <a:t>a</a:t>
            </a:r>
            <a:r>
              <a:rPr kumimoji="1" lang="zh-CN" altLang="en-US">
                <a:latin typeface="Arial" charset="0"/>
                <a:ea typeface="黑体" pitchFamily="2" charset="-122"/>
              </a:rPr>
              <a:t>函数</a:t>
            </a:r>
          </a:p>
        </p:txBody>
      </p:sp>
      <p:sp>
        <p:nvSpPr>
          <p:cNvPr id="55302" name="Rectangle 5"/>
          <p:cNvSpPr>
            <a:spLocks noChangeArrowheads="1"/>
          </p:cNvSpPr>
          <p:nvPr/>
        </p:nvSpPr>
        <p:spPr bwMode="auto">
          <a:xfrm>
            <a:off x="1258888" y="4941888"/>
            <a:ext cx="1079500" cy="43973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latin typeface="Arial" charset="0"/>
                <a:ea typeface="黑体" pitchFamily="2" charset="-122"/>
              </a:rPr>
              <a:t>结束</a:t>
            </a:r>
          </a:p>
        </p:txBody>
      </p:sp>
      <p:sp>
        <p:nvSpPr>
          <p:cNvPr id="397318" name="Line 6"/>
          <p:cNvSpPr>
            <a:spLocks noChangeShapeType="1"/>
          </p:cNvSpPr>
          <p:nvPr/>
        </p:nvSpPr>
        <p:spPr bwMode="auto">
          <a:xfrm>
            <a:off x="1763713" y="2205038"/>
            <a:ext cx="0" cy="1079500"/>
          </a:xfrm>
          <a:prstGeom prst="line">
            <a:avLst/>
          </a:prstGeom>
          <a:noFill/>
          <a:ln w="28575">
            <a:solidFill>
              <a:schemeClr val="tx1"/>
            </a:solidFill>
            <a:round/>
            <a:headEnd/>
            <a:tailEnd type="triangle" w="med" len="med"/>
          </a:ln>
        </p:spPr>
        <p:txBody>
          <a:bodyPr/>
          <a:lstStyle/>
          <a:p>
            <a:endParaRPr lang="zh-CN" altLang="en-US"/>
          </a:p>
        </p:txBody>
      </p:sp>
      <p:sp>
        <p:nvSpPr>
          <p:cNvPr id="397319" name="Line 7"/>
          <p:cNvSpPr>
            <a:spLocks noChangeShapeType="1"/>
          </p:cNvSpPr>
          <p:nvPr/>
        </p:nvSpPr>
        <p:spPr bwMode="auto">
          <a:xfrm>
            <a:off x="1763713" y="3789363"/>
            <a:ext cx="0" cy="1079500"/>
          </a:xfrm>
          <a:prstGeom prst="line">
            <a:avLst/>
          </a:prstGeom>
          <a:noFill/>
          <a:ln w="28575">
            <a:solidFill>
              <a:schemeClr val="tx1"/>
            </a:solidFill>
            <a:round/>
            <a:headEnd/>
            <a:tailEnd type="triangle" w="med" len="med"/>
          </a:ln>
        </p:spPr>
        <p:txBody>
          <a:bodyPr/>
          <a:lstStyle/>
          <a:p>
            <a:endParaRPr lang="zh-CN" altLang="en-US"/>
          </a:p>
        </p:txBody>
      </p:sp>
      <p:sp>
        <p:nvSpPr>
          <p:cNvPr id="55305" name="Rectangle 8"/>
          <p:cNvSpPr>
            <a:spLocks noChangeArrowheads="1"/>
          </p:cNvSpPr>
          <p:nvPr/>
        </p:nvSpPr>
        <p:spPr bwMode="auto">
          <a:xfrm>
            <a:off x="3635375" y="1700213"/>
            <a:ext cx="1944688" cy="439737"/>
          </a:xfrm>
          <a:prstGeom prst="rect">
            <a:avLst/>
          </a:prstGeom>
          <a:noFill/>
          <a:ln w="9525">
            <a:noFill/>
            <a:miter lim="800000"/>
            <a:headEnd/>
            <a:tailEnd/>
          </a:ln>
        </p:spPr>
        <p:txBody>
          <a:bodyPr lIns="92075" tIns="46038" rIns="92075" bIns="46038"/>
          <a:lstStyle/>
          <a:p>
            <a:pPr marL="342900" indent="-342900" eaLnBrk="1" hangingPunct="1">
              <a:lnSpc>
                <a:spcPct val="90000"/>
              </a:lnSpc>
              <a:spcBef>
                <a:spcPct val="15000"/>
              </a:spcBef>
              <a:buClr>
                <a:srgbClr val="0066FF"/>
              </a:buClr>
              <a:buSzPct val="85000"/>
              <a:buFont typeface="Wingdings" pitchFamily="2" charset="2"/>
              <a:buNone/>
            </a:pPr>
            <a:r>
              <a:rPr kumimoji="1" lang="en-US" altLang="zh-CN">
                <a:solidFill>
                  <a:srgbClr val="990000"/>
                </a:solidFill>
                <a:latin typeface="Arial" charset="0"/>
                <a:ea typeface="黑体" pitchFamily="2" charset="-122"/>
              </a:rPr>
              <a:t>a </a:t>
            </a:r>
            <a:r>
              <a:rPr kumimoji="1" lang="zh-CN" altLang="en-US">
                <a:solidFill>
                  <a:srgbClr val="990000"/>
                </a:solidFill>
                <a:latin typeface="Arial" charset="0"/>
                <a:ea typeface="黑体" pitchFamily="2" charset="-122"/>
              </a:rPr>
              <a:t>函数</a:t>
            </a:r>
          </a:p>
        </p:txBody>
      </p:sp>
      <p:sp>
        <p:nvSpPr>
          <p:cNvPr id="55306" name="Rectangle 9"/>
          <p:cNvSpPr>
            <a:spLocks noChangeArrowheads="1"/>
          </p:cNvSpPr>
          <p:nvPr/>
        </p:nvSpPr>
        <p:spPr bwMode="auto">
          <a:xfrm>
            <a:off x="3563938" y="3275013"/>
            <a:ext cx="1944687" cy="43973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990000"/>
                </a:solidFill>
                <a:latin typeface="Arial" charset="0"/>
                <a:ea typeface="黑体" pitchFamily="2" charset="-122"/>
              </a:rPr>
              <a:t>调用</a:t>
            </a:r>
            <a:r>
              <a:rPr kumimoji="1" lang="en-US" altLang="zh-CN">
                <a:solidFill>
                  <a:srgbClr val="990000"/>
                </a:solidFill>
                <a:latin typeface="Arial" charset="0"/>
                <a:ea typeface="黑体" pitchFamily="2" charset="-122"/>
              </a:rPr>
              <a:t>b</a:t>
            </a:r>
            <a:r>
              <a:rPr kumimoji="1" lang="zh-CN" altLang="en-US">
                <a:solidFill>
                  <a:srgbClr val="990000"/>
                </a:solidFill>
                <a:latin typeface="Arial" charset="0"/>
                <a:ea typeface="黑体" pitchFamily="2" charset="-122"/>
              </a:rPr>
              <a:t>函数</a:t>
            </a:r>
          </a:p>
        </p:txBody>
      </p:sp>
      <p:sp>
        <p:nvSpPr>
          <p:cNvPr id="55307" name="Rectangle 10"/>
          <p:cNvSpPr>
            <a:spLocks noChangeArrowheads="1"/>
          </p:cNvSpPr>
          <p:nvPr/>
        </p:nvSpPr>
        <p:spPr bwMode="auto">
          <a:xfrm>
            <a:off x="3922713" y="4940300"/>
            <a:ext cx="1079500" cy="439738"/>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990000"/>
                </a:solidFill>
                <a:latin typeface="Arial" charset="0"/>
                <a:ea typeface="黑体" pitchFamily="2" charset="-122"/>
              </a:rPr>
              <a:t>结束</a:t>
            </a:r>
          </a:p>
        </p:txBody>
      </p:sp>
      <p:sp>
        <p:nvSpPr>
          <p:cNvPr id="397323" name="Line 11"/>
          <p:cNvSpPr>
            <a:spLocks noChangeShapeType="1"/>
          </p:cNvSpPr>
          <p:nvPr/>
        </p:nvSpPr>
        <p:spPr bwMode="auto">
          <a:xfrm>
            <a:off x="4427538" y="2203450"/>
            <a:ext cx="0" cy="1079500"/>
          </a:xfrm>
          <a:prstGeom prst="line">
            <a:avLst/>
          </a:prstGeom>
          <a:noFill/>
          <a:ln w="28575">
            <a:solidFill>
              <a:srgbClr val="990000"/>
            </a:solidFill>
            <a:round/>
            <a:headEnd/>
            <a:tailEnd type="triangle" w="med" len="med"/>
          </a:ln>
        </p:spPr>
        <p:txBody>
          <a:bodyPr/>
          <a:lstStyle/>
          <a:p>
            <a:endParaRPr lang="zh-CN" altLang="en-US"/>
          </a:p>
        </p:txBody>
      </p:sp>
      <p:sp>
        <p:nvSpPr>
          <p:cNvPr id="397324" name="Line 12"/>
          <p:cNvSpPr>
            <a:spLocks noChangeShapeType="1"/>
          </p:cNvSpPr>
          <p:nvPr/>
        </p:nvSpPr>
        <p:spPr bwMode="auto">
          <a:xfrm>
            <a:off x="4427538" y="3787775"/>
            <a:ext cx="0" cy="1079500"/>
          </a:xfrm>
          <a:prstGeom prst="line">
            <a:avLst/>
          </a:prstGeom>
          <a:noFill/>
          <a:ln w="28575">
            <a:solidFill>
              <a:srgbClr val="990000"/>
            </a:solidFill>
            <a:round/>
            <a:headEnd/>
            <a:tailEnd type="triangle" w="med" len="med"/>
          </a:ln>
        </p:spPr>
        <p:txBody>
          <a:bodyPr/>
          <a:lstStyle/>
          <a:p>
            <a:endParaRPr lang="zh-CN" altLang="en-US"/>
          </a:p>
        </p:txBody>
      </p:sp>
      <p:sp>
        <p:nvSpPr>
          <p:cNvPr id="55310" name="Rectangle 13"/>
          <p:cNvSpPr>
            <a:spLocks noChangeArrowheads="1"/>
          </p:cNvSpPr>
          <p:nvPr/>
        </p:nvSpPr>
        <p:spPr bwMode="auto">
          <a:xfrm>
            <a:off x="6227763" y="1700213"/>
            <a:ext cx="1944687" cy="439737"/>
          </a:xfrm>
          <a:prstGeom prst="rect">
            <a:avLst/>
          </a:prstGeom>
          <a:noFill/>
          <a:ln w="9525">
            <a:noFill/>
            <a:miter lim="800000"/>
            <a:headEnd/>
            <a:tailEnd/>
          </a:ln>
        </p:spPr>
        <p:txBody>
          <a:bodyPr lIns="92075" tIns="46038" rIns="92075" bIns="46038"/>
          <a:lstStyle/>
          <a:p>
            <a:pPr marL="342900" indent="-342900" eaLnBrk="1" hangingPunct="1">
              <a:lnSpc>
                <a:spcPct val="90000"/>
              </a:lnSpc>
              <a:spcBef>
                <a:spcPct val="15000"/>
              </a:spcBef>
              <a:buClr>
                <a:srgbClr val="0066FF"/>
              </a:buClr>
              <a:buSzPct val="85000"/>
              <a:buFont typeface="Wingdings" pitchFamily="2" charset="2"/>
              <a:buNone/>
            </a:pPr>
            <a:r>
              <a:rPr kumimoji="1" lang="en-US" altLang="zh-CN">
                <a:solidFill>
                  <a:srgbClr val="009900"/>
                </a:solidFill>
                <a:latin typeface="Arial" charset="0"/>
                <a:ea typeface="黑体" pitchFamily="2" charset="-122"/>
              </a:rPr>
              <a:t>b </a:t>
            </a:r>
            <a:r>
              <a:rPr kumimoji="1" lang="zh-CN" altLang="en-US">
                <a:solidFill>
                  <a:srgbClr val="009900"/>
                </a:solidFill>
                <a:latin typeface="Arial" charset="0"/>
                <a:ea typeface="黑体" pitchFamily="2" charset="-122"/>
              </a:rPr>
              <a:t>函数</a:t>
            </a:r>
          </a:p>
        </p:txBody>
      </p:sp>
      <p:sp>
        <p:nvSpPr>
          <p:cNvPr id="55311" name="Rectangle 14"/>
          <p:cNvSpPr>
            <a:spLocks noChangeArrowheads="1"/>
          </p:cNvSpPr>
          <p:nvPr/>
        </p:nvSpPr>
        <p:spPr bwMode="auto">
          <a:xfrm>
            <a:off x="6515100" y="4940300"/>
            <a:ext cx="1079500" cy="439738"/>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009900"/>
                </a:solidFill>
                <a:latin typeface="Arial" charset="0"/>
                <a:ea typeface="黑体" pitchFamily="2" charset="-122"/>
              </a:rPr>
              <a:t>结束</a:t>
            </a:r>
          </a:p>
        </p:txBody>
      </p:sp>
      <p:sp>
        <p:nvSpPr>
          <p:cNvPr id="397327" name="Line 15"/>
          <p:cNvSpPr>
            <a:spLocks noChangeShapeType="1"/>
          </p:cNvSpPr>
          <p:nvPr/>
        </p:nvSpPr>
        <p:spPr bwMode="auto">
          <a:xfrm>
            <a:off x="7019925" y="2203450"/>
            <a:ext cx="0" cy="2520950"/>
          </a:xfrm>
          <a:prstGeom prst="line">
            <a:avLst/>
          </a:prstGeom>
          <a:noFill/>
          <a:ln w="28575">
            <a:solidFill>
              <a:srgbClr val="009900"/>
            </a:solidFill>
            <a:round/>
            <a:headEnd/>
            <a:tailEnd type="triangle" w="med" len="med"/>
          </a:ln>
        </p:spPr>
        <p:txBody>
          <a:bodyPr/>
          <a:lstStyle/>
          <a:p>
            <a:endParaRPr lang="zh-CN" altLang="en-US"/>
          </a:p>
        </p:txBody>
      </p:sp>
      <p:sp>
        <p:nvSpPr>
          <p:cNvPr id="397328" name="Line 16"/>
          <p:cNvSpPr>
            <a:spLocks noChangeShapeType="1"/>
          </p:cNvSpPr>
          <p:nvPr/>
        </p:nvSpPr>
        <p:spPr bwMode="auto">
          <a:xfrm flipV="1">
            <a:off x="5364163" y="2276475"/>
            <a:ext cx="1295400" cy="936625"/>
          </a:xfrm>
          <a:prstGeom prst="line">
            <a:avLst/>
          </a:prstGeom>
          <a:noFill/>
          <a:ln w="28575">
            <a:solidFill>
              <a:srgbClr val="009900"/>
            </a:solidFill>
            <a:round/>
            <a:headEnd/>
            <a:tailEnd type="triangle" w="med" len="med"/>
          </a:ln>
        </p:spPr>
        <p:txBody>
          <a:bodyPr/>
          <a:lstStyle/>
          <a:p>
            <a:endParaRPr lang="zh-CN" altLang="en-US"/>
          </a:p>
        </p:txBody>
      </p:sp>
      <p:sp>
        <p:nvSpPr>
          <p:cNvPr id="397329" name="Line 17"/>
          <p:cNvSpPr>
            <a:spLocks noChangeShapeType="1"/>
          </p:cNvSpPr>
          <p:nvPr/>
        </p:nvSpPr>
        <p:spPr bwMode="auto">
          <a:xfrm flipV="1">
            <a:off x="2771775" y="2276475"/>
            <a:ext cx="1152525" cy="1008063"/>
          </a:xfrm>
          <a:prstGeom prst="line">
            <a:avLst/>
          </a:prstGeom>
          <a:noFill/>
          <a:ln w="28575">
            <a:solidFill>
              <a:srgbClr val="990000"/>
            </a:solidFill>
            <a:round/>
            <a:headEnd/>
            <a:tailEnd type="triangle" w="med" len="med"/>
          </a:ln>
        </p:spPr>
        <p:txBody>
          <a:bodyPr/>
          <a:lstStyle/>
          <a:p>
            <a:endParaRPr lang="zh-CN" altLang="en-US"/>
          </a:p>
        </p:txBody>
      </p:sp>
      <p:sp>
        <p:nvSpPr>
          <p:cNvPr id="397330" name="Line 18"/>
          <p:cNvSpPr>
            <a:spLocks noChangeShapeType="1"/>
          </p:cNvSpPr>
          <p:nvPr/>
        </p:nvSpPr>
        <p:spPr bwMode="auto">
          <a:xfrm flipH="1" flipV="1">
            <a:off x="2771775" y="3789363"/>
            <a:ext cx="1152525" cy="1152525"/>
          </a:xfrm>
          <a:prstGeom prst="line">
            <a:avLst/>
          </a:prstGeom>
          <a:noFill/>
          <a:ln w="28575">
            <a:solidFill>
              <a:srgbClr val="990000"/>
            </a:solidFill>
            <a:round/>
            <a:headEnd/>
            <a:tailEnd type="triangle" w="med" len="med"/>
          </a:ln>
        </p:spPr>
        <p:txBody>
          <a:bodyPr/>
          <a:lstStyle/>
          <a:p>
            <a:endParaRPr lang="zh-CN" altLang="en-US"/>
          </a:p>
        </p:txBody>
      </p:sp>
      <p:sp>
        <p:nvSpPr>
          <p:cNvPr id="397331" name="Line 19"/>
          <p:cNvSpPr>
            <a:spLocks noChangeShapeType="1"/>
          </p:cNvSpPr>
          <p:nvPr/>
        </p:nvSpPr>
        <p:spPr bwMode="auto">
          <a:xfrm flipH="1" flipV="1">
            <a:off x="5291138" y="3789363"/>
            <a:ext cx="1441450" cy="1079500"/>
          </a:xfrm>
          <a:prstGeom prst="line">
            <a:avLst/>
          </a:prstGeom>
          <a:noFill/>
          <a:ln w="28575">
            <a:solidFill>
              <a:srgbClr val="009900"/>
            </a:solidFill>
            <a:round/>
            <a:headEnd/>
            <a:tailEnd type="triangle" w="med" len="med"/>
          </a:ln>
        </p:spPr>
        <p:txBody>
          <a:bodyPr/>
          <a:lstStyle/>
          <a:p>
            <a:endParaRPr lang="zh-CN" altLang="en-US"/>
          </a:p>
        </p:txBody>
      </p:sp>
      <p:sp>
        <p:nvSpPr>
          <p:cNvPr id="397332" name="Text Box 20"/>
          <p:cNvSpPr txBox="1">
            <a:spLocks noChangeArrowheads="1"/>
          </p:cNvSpPr>
          <p:nvPr/>
        </p:nvSpPr>
        <p:spPr bwMode="auto">
          <a:xfrm>
            <a:off x="1222375" y="2420938"/>
            <a:ext cx="541338" cy="519112"/>
          </a:xfrm>
          <a:prstGeom prst="rect">
            <a:avLst/>
          </a:prstGeom>
          <a:noFill/>
          <a:ln w="9525">
            <a:noFill/>
            <a:miter lim="800000"/>
            <a:headEnd/>
            <a:tailEnd/>
          </a:ln>
        </p:spPr>
        <p:txBody>
          <a:bodyPr wrap="none">
            <a:spAutoFit/>
          </a:bodyPr>
          <a:lstStyle/>
          <a:p>
            <a:pPr algn="l" eaLnBrk="1" hangingPunct="1"/>
            <a:r>
              <a:rPr kumimoji="1" lang="en-US" altLang="zh-CN">
                <a:latin typeface="Arial" charset="0"/>
              </a:rPr>
              <a:t>①</a:t>
            </a:r>
          </a:p>
        </p:txBody>
      </p:sp>
      <p:sp>
        <p:nvSpPr>
          <p:cNvPr id="397333" name="Text Box 21"/>
          <p:cNvSpPr txBox="1">
            <a:spLocks noChangeArrowheads="1"/>
          </p:cNvSpPr>
          <p:nvPr/>
        </p:nvSpPr>
        <p:spPr bwMode="auto">
          <a:xfrm>
            <a:off x="2700338" y="2349500"/>
            <a:ext cx="541337" cy="519113"/>
          </a:xfrm>
          <a:prstGeom prst="rect">
            <a:avLst/>
          </a:prstGeom>
          <a:noFill/>
          <a:ln w="9525">
            <a:noFill/>
            <a:miter lim="800000"/>
            <a:headEnd/>
            <a:tailEnd/>
          </a:ln>
        </p:spPr>
        <p:txBody>
          <a:bodyPr wrap="none">
            <a:spAutoFit/>
          </a:bodyPr>
          <a:lstStyle/>
          <a:p>
            <a:pPr algn="l" eaLnBrk="1" hangingPunct="1"/>
            <a:r>
              <a:rPr kumimoji="1" lang="en-US" altLang="zh-CN">
                <a:latin typeface="Arial" charset="0"/>
              </a:rPr>
              <a:t>②</a:t>
            </a:r>
          </a:p>
        </p:txBody>
      </p:sp>
      <p:sp>
        <p:nvSpPr>
          <p:cNvPr id="397334" name="Text Box 22"/>
          <p:cNvSpPr txBox="1">
            <a:spLocks noChangeArrowheads="1"/>
          </p:cNvSpPr>
          <p:nvPr/>
        </p:nvSpPr>
        <p:spPr bwMode="auto">
          <a:xfrm>
            <a:off x="3886200" y="2636838"/>
            <a:ext cx="541338" cy="519112"/>
          </a:xfrm>
          <a:prstGeom prst="rect">
            <a:avLst/>
          </a:prstGeom>
          <a:noFill/>
          <a:ln w="9525">
            <a:noFill/>
            <a:miter lim="800000"/>
            <a:headEnd/>
            <a:tailEnd/>
          </a:ln>
        </p:spPr>
        <p:txBody>
          <a:bodyPr wrap="none">
            <a:spAutoFit/>
          </a:bodyPr>
          <a:lstStyle/>
          <a:p>
            <a:pPr algn="l" eaLnBrk="1" hangingPunct="1"/>
            <a:r>
              <a:rPr kumimoji="1" lang="en-US" altLang="zh-CN">
                <a:solidFill>
                  <a:srgbClr val="990000"/>
                </a:solidFill>
                <a:latin typeface="Arial" charset="0"/>
              </a:rPr>
              <a:t>③</a:t>
            </a:r>
          </a:p>
        </p:txBody>
      </p:sp>
      <p:sp>
        <p:nvSpPr>
          <p:cNvPr id="397335" name="Text Box 23"/>
          <p:cNvSpPr txBox="1">
            <a:spLocks noChangeArrowheads="1"/>
          </p:cNvSpPr>
          <p:nvPr/>
        </p:nvSpPr>
        <p:spPr bwMode="auto">
          <a:xfrm>
            <a:off x="5508625" y="2276475"/>
            <a:ext cx="541338" cy="519113"/>
          </a:xfrm>
          <a:prstGeom prst="rect">
            <a:avLst/>
          </a:prstGeom>
          <a:noFill/>
          <a:ln w="9525">
            <a:noFill/>
            <a:miter lim="800000"/>
            <a:headEnd/>
            <a:tailEnd/>
          </a:ln>
        </p:spPr>
        <p:txBody>
          <a:bodyPr wrap="none">
            <a:spAutoFit/>
          </a:bodyPr>
          <a:lstStyle/>
          <a:p>
            <a:pPr algn="l" eaLnBrk="1" hangingPunct="1"/>
            <a:r>
              <a:rPr kumimoji="1" lang="en-US" altLang="zh-CN">
                <a:solidFill>
                  <a:srgbClr val="990000"/>
                </a:solidFill>
                <a:latin typeface="Arial" charset="0"/>
              </a:rPr>
              <a:t>④</a:t>
            </a:r>
          </a:p>
        </p:txBody>
      </p:sp>
      <p:sp>
        <p:nvSpPr>
          <p:cNvPr id="397336" name="Text Box 24"/>
          <p:cNvSpPr txBox="1">
            <a:spLocks noChangeArrowheads="1"/>
          </p:cNvSpPr>
          <p:nvPr/>
        </p:nvSpPr>
        <p:spPr bwMode="auto">
          <a:xfrm>
            <a:off x="6443663" y="3068638"/>
            <a:ext cx="541337" cy="519112"/>
          </a:xfrm>
          <a:prstGeom prst="rect">
            <a:avLst/>
          </a:prstGeom>
          <a:noFill/>
          <a:ln w="9525">
            <a:noFill/>
            <a:miter lim="800000"/>
            <a:headEnd/>
            <a:tailEnd/>
          </a:ln>
        </p:spPr>
        <p:txBody>
          <a:bodyPr wrap="none">
            <a:spAutoFit/>
          </a:bodyPr>
          <a:lstStyle/>
          <a:p>
            <a:pPr algn="l" eaLnBrk="1" hangingPunct="1"/>
            <a:r>
              <a:rPr kumimoji="1" lang="en-US" altLang="zh-CN">
                <a:solidFill>
                  <a:srgbClr val="009900"/>
                </a:solidFill>
                <a:latin typeface="Arial" charset="0"/>
              </a:rPr>
              <a:t>⑤</a:t>
            </a:r>
          </a:p>
        </p:txBody>
      </p:sp>
      <p:sp>
        <p:nvSpPr>
          <p:cNvPr id="397337" name="Text Box 25"/>
          <p:cNvSpPr txBox="1">
            <a:spLocks noChangeArrowheads="1"/>
          </p:cNvSpPr>
          <p:nvPr/>
        </p:nvSpPr>
        <p:spPr bwMode="auto">
          <a:xfrm>
            <a:off x="5508625" y="4292600"/>
            <a:ext cx="541338" cy="519113"/>
          </a:xfrm>
          <a:prstGeom prst="rect">
            <a:avLst/>
          </a:prstGeom>
          <a:noFill/>
          <a:ln w="9525">
            <a:noFill/>
            <a:miter lim="800000"/>
            <a:headEnd/>
            <a:tailEnd/>
          </a:ln>
        </p:spPr>
        <p:txBody>
          <a:bodyPr wrap="none">
            <a:spAutoFit/>
          </a:bodyPr>
          <a:lstStyle/>
          <a:p>
            <a:pPr algn="l" eaLnBrk="1" hangingPunct="1"/>
            <a:r>
              <a:rPr kumimoji="1" lang="en-US" altLang="zh-CN">
                <a:solidFill>
                  <a:srgbClr val="990000"/>
                </a:solidFill>
                <a:latin typeface="Arial" charset="0"/>
              </a:rPr>
              <a:t>⑥</a:t>
            </a:r>
          </a:p>
        </p:txBody>
      </p:sp>
      <p:sp>
        <p:nvSpPr>
          <p:cNvPr id="397338" name="Text Box 26"/>
          <p:cNvSpPr txBox="1">
            <a:spLocks noChangeArrowheads="1"/>
          </p:cNvSpPr>
          <p:nvPr/>
        </p:nvSpPr>
        <p:spPr bwMode="auto">
          <a:xfrm>
            <a:off x="3851275" y="4005263"/>
            <a:ext cx="541338" cy="519112"/>
          </a:xfrm>
          <a:prstGeom prst="rect">
            <a:avLst/>
          </a:prstGeom>
          <a:noFill/>
          <a:ln w="9525">
            <a:noFill/>
            <a:miter lim="800000"/>
            <a:headEnd/>
            <a:tailEnd/>
          </a:ln>
        </p:spPr>
        <p:txBody>
          <a:bodyPr wrap="none">
            <a:spAutoFit/>
          </a:bodyPr>
          <a:lstStyle/>
          <a:p>
            <a:pPr algn="l" eaLnBrk="1" hangingPunct="1"/>
            <a:r>
              <a:rPr kumimoji="1" lang="en-US" altLang="zh-CN">
                <a:solidFill>
                  <a:srgbClr val="990000"/>
                </a:solidFill>
                <a:latin typeface="Arial" charset="0"/>
              </a:rPr>
              <a:t>⑦</a:t>
            </a:r>
          </a:p>
        </p:txBody>
      </p:sp>
      <p:sp>
        <p:nvSpPr>
          <p:cNvPr id="397339" name="Text Box 27"/>
          <p:cNvSpPr txBox="1">
            <a:spLocks noChangeArrowheads="1"/>
          </p:cNvSpPr>
          <p:nvPr/>
        </p:nvSpPr>
        <p:spPr bwMode="auto">
          <a:xfrm>
            <a:off x="2771775" y="4292600"/>
            <a:ext cx="541338" cy="519113"/>
          </a:xfrm>
          <a:prstGeom prst="rect">
            <a:avLst/>
          </a:prstGeom>
          <a:noFill/>
          <a:ln w="9525">
            <a:noFill/>
            <a:miter lim="800000"/>
            <a:headEnd/>
            <a:tailEnd/>
          </a:ln>
        </p:spPr>
        <p:txBody>
          <a:bodyPr wrap="none">
            <a:spAutoFit/>
          </a:bodyPr>
          <a:lstStyle/>
          <a:p>
            <a:pPr algn="l" eaLnBrk="1" hangingPunct="1"/>
            <a:r>
              <a:rPr kumimoji="1" lang="en-US" altLang="zh-CN">
                <a:latin typeface="Arial" charset="0"/>
              </a:rPr>
              <a:t>⑧</a:t>
            </a:r>
          </a:p>
        </p:txBody>
      </p:sp>
      <p:sp>
        <p:nvSpPr>
          <p:cNvPr id="397340" name="Text Box 28"/>
          <p:cNvSpPr txBox="1">
            <a:spLocks noChangeArrowheads="1"/>
          </p:cNvSpPr>
          <p:nvPr/>
        </p:nvSpPr>
        <p:spPr bwMode="auto">
          <a:xfrm>
            <a:off x="1187450" y="4076700"/>
            <a:ext cx="541338" cy="519113"/>
          </a:xfrm>
          <a:prstGeom prst="rect">
            <a:avLst/>
          </a:prstGeom>
          <a:noFill/>
          <a:ln w="9525">
            <a:noFill/>
            <a:miter lim="800000"/>
            <a:headEnd/>
            <a:tailEnd/>
          </a:ln>
        </p:spPr>
        <p:txBody>
          <a:bodyPr wrap="none">
            <a:spAutoFit/>
          </a:bodyPr>
          <a:lstStyle/>
          <a:p>
            <a:pPr algn="l" eaLnBrk="1" hangingPunct="1"/>
            <a:r>
              <a:rPr kumimoji="1" lang="en-US" altLang="zh-CN">
                <a:latin typeface="Arial" charset="0"/>
              </a:rPr>
              <a:t>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97318"/>
                                        </p:tgtEl>
                                        <p:attrNameLst>
                                          <p:attrName>style.visibility</p:attrName>
                                        </p:attrNameLst>
                                      </p:cBhvr>
                                      <p:to>
                                        <p:strVal val="visible"/>
                                      </p:to>
                                    </p:set>
                                    <p:animEffect transition="in" filter="wipe(up)">
                                      <p:cBhvr>
                                        <p:cTn id="7" dur="500"/>
                                        <p:tgtEl>
                                          <p:spTgt spid="397318"/>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97332"/>
                                        </p:tgtEl>
                                        <p:attrNameLst>
                                          <p:attrName>style.visibility</p:attrName>
                                        </p:attrNameLst>
                                      </p:cBhvr>
                                      <p:to>
                                        <p:strVal val="visible"/>
                                      </p:to>
                                    </p:set>
                                    <p:animEffect transition="in" filter="wipe(down)">
                                      <p:cBhvr>
                                        <p:cTn id="11" dur="500"/>
                                        <p:tgtEl>
                                          <p:spTgt spid="397332"/>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97329"/>
                                        </p:tgtEl>
                                        <p:attrNameLst>
                                          <p:attrName>style.visibility</p:attrName>
                                        </p:attrNameLst>
                                      </p:cBhvr>
                                      <p:to>
                                        <p:strVal val="visible"/>
                                      </p:to>
                                    </p:set>
                                    <p:animEffect transition="in" filter="wipe(down)">
                                      <p:cBhvr>
                                        <p:cTn id="15" dur="2000"/>
                                        <p:tgtEl>
                                          <p:spTgt spid="397329"/>
                                        </p:tgtEl>
                                      </p:cBhvr>
                                    </p:animEffect>
                                  </p:childTnLst>
                                </p:cTn>
                              </p:par>
                            </p:childTnLst>
                          </p:cTn>
                        </p:par>
                        <p:par>
                          <p:cTn id="16" fill="hold" nodeType="afterGroup">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397333"/>
                                        </p:tgtEl>
                                        <p:attrNameLst>
                                          <p:attrName>style.visibility</p:attrName>
                                        </p:attrNameLst>
                                      </p:cBhvr>
                                      <p:to>
                                        <p:strVal val="visible"/>
                                      </p:to>
                                    </p:set>
                                    <p:animEffect transition="in" filter="wipe(down)">
                                      <p:cBhvr>
                                        <p:cTn id="19" dur="500"/>
                                        <p:tgtEl>
                                          <p:spTgt spid="397333"/>
                                        </p:tgtEl>
                                      </p:cBhvr>
                                    </p:animEffect>
                                  </p:childTnLst>
                                </p:cTn>
                              </p:par>
                            </p:childTnLst>
                          </p:cTn>
                        </p:par>
                        <p:par>
                          <p:cTn id="20" fill="hold" nodeType="afterGroup">
                            <p:stCondLst>
                              <p:cond delay="3500"/>
                            </p:stCondLst>
                            <p:childTnLst>
                              <p:par>
                                <p:cTn id="21" presetID="22" presetClass="entr" presetSubtype="1" fill="hold" grpId="0" nodeType="afterEffect">
                                  <p:stCondLst>
                                    <p:cond delay="0"/>
                                  </p:stCondLst>
                                  <p:childTnLst>
                                    <p:set>
                                      <p:cBhvr>
                                        <p:cTn id="22" dur="1" fill="hold">
                                          <p:stCondLst>
                                            <p:cond delay="0"/>
                                          </p:stCondLst>
                                        </p:cTn>
                                        <p:tgtEl>
                                          <p:spTgt spid="397323"/>
                                        </p:tgtEl>
                                        <p:attrNameLst>
                                          <p:attrName>style.visibility</p:attrName>
                                        </p:attrNameLst>
                                      </p:cBhvr>
                                      <p:to>
                                        <p:strVal val="visible"/>
                                      </p:to>
                                    </p:set>
                                    <p:animEffect transition="in" filter="wipe(up)">
                                      <p:cBhvr>
                                        <p:cTn id="23" dur="2000"/>
                                        <p:tgtEl>
                                          <p:spTgt spid="397323"/>
                                        </p:tgtEl>
                                      </p:cBhvr>
                                    </p:animEffect>
                                  </p:childTnLst>
                                </p:cTn>
                              </p:par>
                            </p:childTnLst>
                          </p:cTn>
                        </p:par>
                        <p:par>
                          <p:cTn id="24" fill="hold" nodeType="afterGroup">
                            <p:stCondLst>
                              <p:cond delay="5500"/>
                            </p:stCondLst>
                            <p:childTnLst>
                              <p:par>
                                <p:cTn id="25" presetID="22" presetClass="entr" presetSubtype="4" fill="hold" grpId="0" nodeType="afterEffect">
                                  <p:stCondLst>
                                    <p:cond delay="0"/>
                                  </p:stCondLst>
                                  <p:childTnLst>
                                    <p:set>
                                      <p:cBhvr>
                                        <p:cTn id="26" dur="1" fill="hold">
                                          <p:stCondLst>
                                            <p:cond delay="0"/>
                                          </p:stCondLst>
                                        </p:cTn>
                                        <p:tgtEl>
                                          <p:spTgt spid="397334"/>
                                        </p:tgtEl>
                                        <p:attrNameLst>
                                          <p:attrName>style.visibility</p:attrName>
                                        </p:attrNameLst>
                                      </p:cBhvr>
                                      <p:to>
                                        <p:strVal val="visible"/>
                                      </p:to>
                                    </p:set>
                                    <p:animEffect transition="in" filter="wipe(down)">
                                      <p:cBhvr>
                                        <p:cTn id="27" dur="500"/>
                                        <p:tgtEl>
                                          <p:spTgt spid="397334"/>
                                        </p:tgtEl>
                                      </p:cBhvr>
                                    </p:animEffect>
                                  </p:childTnLst>
                                </p:cTn>
                              </p:par>
                            </p:childTnLst>
                          </p:cTn>
                        </p:par>
                        <p:par>
                          <p:cTn id="28" fill="hold" nodeType="afterGroup">
                            <p:stCondLst>
                              <p:cond delay="6000"/>
                            </p:stCondLst>
                            <p:childTnLst>
                              <p:par>
                                <p:cTn id="29" presetID="22" presetClass="entr" presetSubtype="4" fill="hold" grpId="0" nodeType="afterEffect">
                                  <p:stCondLst>
                                    <p:cond delay="0"/>
                                  </p:stCondLst>
                                  <p:childTnLst>
                                    <p:set>
                                      <p:cBhvr>
                                        <p:cTn id="30" dur="1" fill="hold">
                                          <p:stCondLst>
                                            <p:cond delay="0"/>
                                          </p:stCondLst>
                                        </p:cTn>
                                        <p:tgtEl>
                                          <p:spTgt spid="397328"/>
                                        </p:tgtEl>
                                        <p:attrNameLst>
                                          <p:attrName>style.visibility</p:attrName>
                                        </p:attrNameLst>
                                      </p:cBhvr>
                                      <p:to>
                                        <p:strVal val="visible"/>
                                      </p:to>
                                    </p:set>
                                    <p:animEffect transition="in" filter="wipe(down)">
                                      <p:cBhvr>
                                        <p:cTn id="31" dur="2000"/>
                                        <p:tgtEl>
                                          <p:spTgt spid="397328"/>
                                        </p:tgtEl>
                                      </p:cBhvr>
                                    </p:animEffect>
                                  </p:childTnLst>
                                </p:cTn>
                              </p:par>
                            </p:childTnLst>
                          </p:cTn>
                        </p:par>
                        <p:par>
                          <p:cTn id="32" fill="hold" nodeType="afterGroup">
                            <p:stCondLst>
                              <p:cond delay="8000"/>
                            </p:stCondLst>
                            <p:childTnLst>
                              <p:par>
                                <p:cTn id="33" presetID="22" presetClass="entr" presetSubtype="4" fill="hold" grpId="0" nodeType="afterEffect">
                                  <p:stCondLst>
                                    <p:cond delay="0"/>
                                  </p:stCondLst>
                                  <p:childTnLst>
                                    <p:set>
                                      <p:cBhvr>
                                        <p:cTn id="34" dur="1" fill="hold">
                                          <p:stCondLst>
                                            <p:cond delay="0"/>
                                          </p:stCondLst>
                                        </p:cTn>
                                        <p:tgtEl>
                                          <p:spTgt spid="397335"/>
                                        </p:tgtEl>
                                        <p:attrNameLst>
                                          <p:attrName>style.visibility</p:attrName>
                                        </p:attrNameLst>
                                      </p:cBhvr>
                                      <p:to>
                                        <p:strVal val="visible"/>
                                      </p:to>
                                    </p:set>
                                    <p:animEffect transition="in" filter="wipe(down)">
                                      <p:cBhvr>
                                        <p:cTn id="35" dur="500"/>
                                        <p:tgtEl>
                                          <p:spTgt spid="397335"/>
                                        </p:tgtEl>
                                      </p:cBhvr>
                                    </p:animEffect>
                                  </p:childTnLst>
                                </p:cTn>
                              </p:par>
                            </p:childTnLst>
                          </p:cTn>
                        </p:par>
                        <p:par>
                          <p:cTn id="36" fill="hold" nodeType="afterGroup">
                            <p:stCondLst>
                              <p:cond delay="8500"/>
                            </p:stCondLst>
                            <p:childTnLst>
                              <p:par>
                                <p:cTn id="37" presetID="22" presetClass="entr" presetSubtype="1" fill="hold" grpId="0" nodeType="afterEffect">
                                  <p:stCondLst>
                                    <p:cond delay="0"/>
                                  </p:stCondLst>
                                  <p:childTnLst>
                                    <p:set>
                                      <p:cBhvr>
                                        <p:cTn id="38" dur="1" fill="hold">
                                          <p:stCondLst>
                                            <p:cond delay="0"/>
                                          </p:stCondLst>
                                        </p:cTn>
                                        <p:tgtEl>
                                          <p:spTgt spid="397327"/>
                                        </p:tgtEl>
                                        <p:attrNameLst>
                                          <p:attrName>style.visibility</p:attrName>
                                        </p:attrNameLst>
                                      </p:cBhvr>
                                      <p:to>
                                        <p:strVal val="visible"/>
                                      </p:to>
                                    </p:set>
                                    <p:animEffect transition="in" filter="wipe(up)">
                                      <p:cBhvr>
                                        <p:cTn id="39" dur="2000"/>
                                        <p:tgtEl>
                                          <p:spTgt spid="397327"/>
                                        </p:tgtEl>
                                      </p:cBhvr>
                                    </p:animEffect>
                                  </p:childTnLst>
                                </p:cTn>
                              </p:par>
                            </p:childTnLst>
                          </p:cTn>
                        </p:par>
                        <p:par>
                          <p:cTn id="40" fill="hold" nodeType="afterGroup">
                            <p:stCondLst>
                              <p:cond delay="10500"/>
                            </p:stCondLst>
                            <p:childTnLst>
                              <p:par>
                                <p:cTn id="41" presetID="22" presetClass="entr" presetSubtype="4" fill="hold" grpId="0" nodeType="afterEffect">
                                  <p:stCondLst>
                                    <p:cond delay="0"/>
                                  </p:stCondLst>
                                  <p:childTnLst>
                                    <p:set>
                                      <p:cBhvr>
                                        <p:cTn id="42" dur="1" fill="hold">
                                          <p:stCondLst>
                                            <p:cond delay="0"/>
                                          </p:stCondLst>
                                        </p:cTn>
                                        <p:tgtEl>
                                          <p:spTgt spid="397336"/>
                                        </p:tgtEl>
                                        <p:attrNameLst>
                                          <p:attrName>style.visibility</p:attrName>
                                        </p:attrNameLst>
                                      </p:cBhvr>
                                      <p:to>
                                        <p:strVal val="visible"/>
                                      </p:to>
                                    </p:set>
                                    <p:animEffect transition="in" filter="wipe(down)">
                                      <p:cBhvr>
                                        <p:cTn id="43" dur="500"/>
                                        <p:tgtEl>
                                          <p:spTgt spid="397336"/>
                                        </p:tgtEl>
                                      </p:cBhvr>
                                    </p:animEffect>
                                  </p:childTnLst>
                                </p:cTn>
                              </p:par>
                            </p:childTnLst>
                          </p:cTn>
                        </p:par>
                        <p:par>
                          <p:cTn id="44" fill="hold" nodeType="afterGroup">
                            <p:stCondLst>
                              <p:cond delay="11000"/>
                            </p:stCondLst>
                            <p:childTnLst>
                              <p:par>
                                <p:cTn id="45" presetID="22" presetClass="entr" presetSubtype="4" fill="hold" grpId="0" nodeType="afterEffect">
                                  <p:stCondLst>
                                    <p:cond delay="0"/>
                                  </p:stCondLst>
                                  <p:childTnLst>
                                    <p:set>
                                      <p:cBhvr>
                                        <p:cTn id="46" dur="1" fill="hold">
                                          <p:stCondLst>
                                            <p:cond delay="0"/>
                                          </p:stCondLst>
                                        </p:cTn>
                                        <p:tgtEl>
                                          <p:spTgt spid="397331"/>
                                        </p:tgtEl>
                                        <p:attrNameLst>
                                          <p:attrName>style.visibility</p:attrName>
                                        </p:attrNameLst>
                                      </p:cBhvr>
                                      <p:to>
                                        <p:strVal val="visible"/>
                                      </p:to>
                                    </p:set>
                                    <p:animEffect transition="in" filter="wipe(down)">
                                      <p:cBhvr>
                                        <p:cTn id="47" dur="2000"/>
                                        <p:tgtEl>
                                          <p:spTgt spid="397331"/>
                                        </p:tgtEl>
                                      </p:cBhvr>
                                    </p:animEffect>
                                  </p:childTnLst>
                                </p:cTn>
                              </p:par>
                            </p:childTnLst>
                          </p:cTn>
                        </p:par>
                        <p:par>
                          <p:cTn id="48" fill="hold" nodeType="afterGroup">
                            <p:stCondLst>
                              <p:cond delay="13000"/>
                            </p:stCondLst>
                            <p:childTnLst>
                              <p:par>
                                <p:cTn id="49" presetID="22" presetClass="entr" presetSubtype="4" fill="hold" grpId="0" nodeType="afterEffect">
                                  <p:stCondLst>
                                    <p:cond delay="0"/>
                                  </p:stCondLst>
                                  <p:childTnLst>
                                    <p:set>
                                      <p:cBhvr>
                                        <p:cTn id="50" dur="1" fill="hold">
                                          <p:stCondLst>
                                            <p:cond delay="0"/>
                                          </p:stCondLst>
                                        </p:cTn>
                                        <p:tgtEl>
                                          <p:spTgt spid="397337"/>
                                        </p:tgtEl>
                                        <p:attrNameLst>
                                          <p:attrName>style.visibility</p:attrName>
                                        </p:attrNameLst>
                                      </p:cBhvr>
                                      <p:to>
                                        <p:strVal val="visible"/>
                                      </p:to>
                                    </p:set>
                                    <p:animEffect transition="in" filter="wipe(down)">
                                      <p:cBhvr>
                                        <p:cTn id="51" dur="500"/>
                                        <p:tgtEl>
                                          <p:spTgt spid="397337"/>
                                        </p:tgtEl>
                                      </p:cBhvr>
                                    </p:animEffect>
                                  </p:childTnLst>
                                </p:cTn>
                              </p:par>
                            </p:childTnLst>
                          </p:cTn>
                        </p:par>
                        <p:par>
                          <p:cTn id="52" fill="hold" nodeType="afterGroup">
                            <p:stCondLst>
                              <p:cond delay="13500"/>
                            </p:stCondLst>
                            <p:childTnLst>
                              <p:par>
                                <p:cTn id="53" presetID="22" presetClass="entr" presetSubtype="1" fill="hold" grpId="0" nodeType="afterEffect">
                                  <p:stCondLst>
                                    <p:cond delay="0"/>
                                  </p:stCondLst>
                                  <p:childTnLst>
                                    <p:set>
                                      <p:cBhvr>
                                        <p:cTn id="54" dur="1" fill="hold">
                                          <p:stCondLst>
                                            <p:cond delay="0"/>
                                          </p:stCondLst>
                                        </p:cTn>
                                        <p:tgtEl>
                                          <p:spTgt spid="397324"/>
                                        </p:tgtEl>
                                        <p:attrNameLst>
                                          <p:attrName>style.visibility</p:attrName>
                                        </p:attrNameLst>
                                      </p:cBhvr>
                                      <p:to>
                                        <p:strVal val="visible"/>
                                      </p:to>
                                    </p:set>
                                    <p:animEffect transition="in" filter="wipe(up)">
                                      <p:cBhvr>
                                        <p:cTn id="55" dur="2000"/>
                                        <p:tgtEl>
                                          <p:spTgt spid="397324"/>
                                        </p:tgtEl>
                                      </p:cBhvr>
                                    </p:animEffect>
                                  </p:childTnLst>
                                </p:cTn>
                              </p:par>
                            </p:childTnLst>
                          </p:cTn>
                        </p:par>
                        <p:par>
                          <p:cTn id="56" fill="hold" nodeType="afterGroup">
                            <p:stCondLst>
                              <p:cond delay="15500"/>
                            </p:stCondLst>
                            <p:childTnLst>
                              <p:par>
                                <p:cTn id="57" presetID="22" presetClass="entr" presetSubtype="4" fill="hold" grpId="0" nodeType="afterEffect">
                                  <p:stCondLst>
                                    <p:cond delay="0"/>
                                  </p:stCondLst>
                                  <p:childTnLst>
                                    <p:set>
                                      <p:cBhvr>
                                        <p:cTn id="58" dur="1" fill="hold">
                                          <p:stCondLst>
                                            <p:cond delay="0"/>
                                          </p:stCondLst>
                                        </p:cTn>
                                        <p:tgtEl>
                                          <p:spTgt spid="397338"/>
                                        </p:tgtEl>
                                        <p:attrNameLst>
                                          <p:attrName>style.visibility</p:attrName>
                                        </p:attrNameLst>
                                      </p:cBhvr>
                                      <p:to>
                                        <p:strVal val="visible"/>
                                      </p:to>
                                    </p:set>
                                    <p:animEffect transition="in" filter="wipe(down)">
                                      <p:cBhvr>
                                        <p:cTn id="59" dur="500"/>
                                        <p:tgtEl>
                                          <p:spTgt spid="397338"/>
                                        </p:tgtEl>
                                      </p:cBhvr>
                                    </p:animEffect>
                                  </p:childTnLst>
                                </p:cTn>
                              </p:par>
                            </p:childTnLst>
                          </p:cTn>
                        </p:par>
                        <p:par>
                          <p:cTn id="60" fill="hold" nodeType="afterGroup">
                            <p:stCondLst>
                              <p:cond delay="16000"/>
                            </p:stCondLst>
                            <p:childTnLst>
                              <p:par>
                                <p:cTn id="61" presetID="22" presetClass="entr" presetSubtype="4" fill="hold" grpId="0" nodeType="afterEffect">
                                  <p:stCondLst>
                                    <p:cond delay="0"/>
                                  </p:stCondLst>
                                  <p:childTnLst>
                                    <p:set>
                                      <p:cBhvr>
                                        <p:cTn id="62" dur="1" fill="hold">
                                          <p:stCondLst>
                                            <p:cond delay="0"/>
                                          </p:stCondLst>
                                        </p:cTn>
                                        <p:tgtEl>
                                          <p:spTgt spid="397330"/>
                                        </p:tgtEl>
                                        <p:attrNameLst>
                                          <p:attrName>style.visibility</p:attrName>
                                        </p:attrNameLst>
                                      </p:cBhvr>
                                      <p:to>
                                        <p:strVal val="visible"/>
                                      </p:to>
                                    </p:set>
                                    <p:animEffect transition="in" filter="wipe(down)">
                                      <p:cBhvr>
                                        <p:cTn id="63" dur="2000"/>
                                        <p:tgtEl>
                                          <p:spTgt spid="397330"/>
                                        </p:tgtEl>
                                      </p:cBhvr>
                                    </p:animEffect>
                                  </p:childTnLst>
                                </p:cTn>
                              </p:par>
                            </p:childTnLst>
                          </p:cTn>
                        </p:par>
                        <p:par>
                          <p:cTn id="64" fill="hold" nodeType="afterGroup">
                            <p:stCondLst>
                              <p:cond delay="18000"/>
                            </p:stCondLst>
                            <p:childTnLst>
                              <p:par>
                                <p:cTn id="65" presetID="22" presetClass="entr" presetSubtype="4" fill="hold" grpId="0" nodeType="afterEffect">
                                  <p:stCondLst>
                                    <p:cond delay="0"/>
                                  </p:stCondLst>
                                  <p:childTnLst>
                                    <p:set>
                                      <p:cBhvr>
                                        <p:cTn id="66" dur="1" fill="hold">
                                          <p:stCondLst>
                                            <p:cond delay="0"/>
                                          </p:stCondLst>
                                        </p:cTn>
                                        <p:tgtEl>
                                          <p:spTgt spid="397339"/>
                                        </p:tgtEl>
                                        <p:attrNameLst>
                                          <p:attrName>style.visibility</p:attrName>
                                        </p:attrNameLst>
                                      </p:cBhvr>
                                      <p:to>
                                        <p:strVal val="visible"/>
                                      </p:to>
                                    </p:set>
                                    <p:animEffect transition="in" filter="wipe(down)">
                                      <p:cBhvr>
                                        <p:cTn id="67" dur="500"/>
                                        <p:tgtEl>
                                          <p:spTgt spid="397339"/>
                                        </p:tgtEl>
                                      </p:cBhvr>
                                    </p:animEffect>
                                  </p:childTnLst>
                                </p:cTn>
                              </p:par>
                            </p:childTnLst>
                          </p:cTn>
                        </p:par>
                        <p:par>
                          <p:cTn id="68" fill="hold" nodeType="afterGroup">
                            <p:stCondLst>
                              <p:cond delay="18500"/>
                            </p:stCondLst>
                            <p:childTnLst>
                              <p:par>
                                <p:cTn id="69" presetID="22" presetClass="entr" presetSubtype="1" fill="hold" grpId="0" nodeType="afterEffect">
                                  <p:stCondLst>
                                    <p:cond delay="0"/>
                                  </p:stCondLst>
                                  <p:childTnLst>
                                    <p:set>
                                      <p:cBhvr>
                                        <p:cTn id="70" dur="1" fill="hold">
                                          <p:stCondLst>
                                            <p:cond delay="0"/>
                                          </p:stCondLst>
                                        </p:cTn>
                                        <p:tgtEl>
                                          <p:spTgt spid="397319"/>
                                        </p:tgtEl>
                                        <p:attrNameLst>
                                          <p:attrName>style.visibility</p:attrName>
                                        </p:attrNameLst>
                                      </p:cBhvr>
                                      <p:to>
                                        <p:strVal val="visible"/>
                                      </p:to>
                                    </p:set>
                                    <p:animEffect transition="in" filter="wipe(up)">
                                      <p:cBhvr>
                                        <p:cTn id="71" dur="2000"/>
                                        <p:tgtEl>
                                          <p:spTgt spid="397319"/>
                                        </p:tgtEl>
                                      </p:cBhvr>
                                    </p:animEffect>
                                  </p:childTnLst>
                                </p:cTn>
                              </p:par>
                            </p:childTnLst>
                          </p:cTn>
                        </p:par>
                        <p:par>
                          <p:cTn id="72" fill="hold" nodeType="afterGroup">
                            <p:stCondLst>
                              <p:cond delay="20500"/>
                            </p:stCondLst>
                            <p:childTnLst>
                              <p:par>
                                <p:cTn id="73" presetID="22" presetClass="entr" presetSubtype="4" fill="hold" grpId="0" nodeType="afterEffect">
                                  <p:stCondLst>
                                    <p:cond delay="0"/>
                                  </p:stCondLst>
                                  <p:childTnLst>
                                    <p:set>
                                      <p:cBhvr>
                                        <p:cTn id="74" dur="1" fill="hold">
                                          <p:stCondLst>
                                            <p:cond delay="0"/>
                                          </p:stCondLst>
                                        </p:cTn>
                                        <p:tgtEl>
                                          <p:spTgt spid="397340"/>
                                        </p:tgtEl>
                                        <p:attrNameLst>
                                          <p:attrName>style.visibility</p:attrName>
                                        </p:attrNameLst>
                                      </p:cBhvr>
                                      <p:to>
                                        <p:strVal val="visible"/>
                                      </p:to>
                                    </p:set>
                                    <p:animEffect transition="in" filter="wipe(down)">
                                      <p:cBhvr>
                                        <p:cTn id="75" dur="500"/>
                                        <p:tgtEl>
                                          <p:spTgt spid="397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8" grpId="0" animBg="1"/>
      <p:bldP spid="397319" grpId="0" animBg="1"/>
      <p:bldP spid="397323" grpId="0" animBg="1"/>
      <p:bldP spid="397324" grpId="0" animBg="1"/>
      <p:bldP spid="397327" grpId="0" animBg="1"/>
      <p:bldP spid="397328" grpId="0" animBg="1"/>
      <p:bldP spid="397329" grpId="0" animBg="1"/>
      <p:bldP spid="397330" grpId="0" animBg="1"/>
      <p:bldP spid="397331" grpId="0" animBg="1"/>
      <p:bldP spid="397332" grpId="0"/>
      <p:bldP spid="397333" grpId="0"/>
      <p:bldP spid="397334" grpId="0"/>
      <p:bldP spid="397335" grpId="0"/>
      <p:bldP spid="397336" grpId="0"/>
      <p:bldP spid="397337" grpId="0"/>
      <p:bldP spid="397338" grpId="0"/>
      <p:bldP spid="397339" grpId="0"/>
      <p:bldP spid="39734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68313" y="260350"/>
            <a:ext cx="8351837" cy="792163"/>
          </a:xfrm>
          <a:noFill/>
        </p:spPr>
        <p:txBody>
          <a:bodyPr lIns="92075" tIns="46038" rIns="92075" bIns="46038"/>
          <a:lstStyle/>
          <a:p>
            <a:pPr eaLnBrk="1" hangingPunct="1"/>
            <a:r>
              <a:rPr lang="zh-CN" altLang="en-US">
                <a:latin typeface="宋体" charset="-122"/>
              </a:rPr>
              <a:t>递归函数调用示意图</a:t>
            </a:r>
          </a:p>
        </p:txBody>
      </p:sp>
      <p:sp>
        <p:nvSpPr>
          <p:cNvPr id="26" name="灯片编号占位符 5"/>
          <p:cNvSpPr>
            <a:spLocks noGrp="1"/>
          </p:cNvSpPr>
          <p:nvPr>
            <p:ph type="sldNum" sz="quarter" idx="12"/>
          </p:nvPr>
        </p:nvSpPr>
        <p:spPr/>
        <p:txBody>
          <a:bodyPr/>
          <a:lstStyle/>
          <a:p>
            <a:pPr>
              <a:defRPr/>
            </a:pPr>
            <a:fld id="{4E20E0AA-BAA0-4E60-A4E6-94D2BCF30FFA}" type="slidenum">
              <a:rPr lang="en-US" altLang="zh-CN"/>
              <a:pPr>
                <a:defRPr/>
              </a:pPr>
              <a:t>49</a:t>
            </a:fld>
            <a:endParaRPr lang="en-US" altLang="zh-CN"/>
          </a:p>
        </p:txBody>
      </p:sp>
      <p:sp>
        <p:nvSpPr>
          <p:cNvPr id="56324" name="Rectangle 3"/>
          <p:cNvSpPr>
            <a:spLocks noChangeArrowheads="1"/>
          </p:cNvSpPr>
          <p:nvPr/>
        </p:nvSpPr>
        <p:spPr bwMode="auto">
          <a:xfrm>
            <a:off x="1116013" y="1836738"/>
            <a:ext cx="1944687" cy="439737"/>
          </a:xfrm>
          <a:prstGeom prst="rect">
            <a:avLst/>
          </a:prstGeom>
          <a:noFill/>
          <a:ln w="9525">
            <a:noFill/>
            <a:miter lim="800000"/>
            <a:headEnd/>
            <a:tailEnd/>
          </a:ln>
        </p:spPr>
        <p:txBody>
          <a:bodyPr lIns="92075" tIns="46038" rIns="92075" bIns="46038"/>
          <a:lstStyle/>
          <a:p>
            <a:pPr marL="342900" indent="-342900" eaLnBrk="1" hangingPunct="1">
              <a:lnSpc>
                <a:spcPct val="90000"/>
              </a:lnSpc>
              <a:spcBef>
                <a:spcPct val="15000"/>
              </a:spcBef>
              <a:buClr>
                <a:srgbClr val="0066FF"/>
              </a:buClr>
              <a:buSzPct val="85000"/>
              <a:buFont typeface="Wingdings" pitchFamily="2" charset="2"/>
              <a:buNone/>
            </a:pPr>
            <a:r>
              <a:rPr kumimoji="1" lang="en-US" altLang="zh-CN">
                <a:solidFill>
                  <a:srgbClr val="990000"/>
                </a:solidFill>
                <a:latin typeface="Arial" charset="0"/>
                <a:ea typeface="黑体" pitchFamily="2" charset="-122"/>
              </a:rPr>
              <a:t>a </a:t>
            </a:r>
            <a:r>
              <a:rPr kumimoji="1" lang="zh-CN" altLang="en-US">
                <a:solidFill>
                  <a:srgbClr val="990000"/>
                </a:solidFill>
                <a:latin typeface="Arial" charset="0"/>
                <a:ea typeface="黑体" pitchFamily="2" charset="-122"/>
              </a:rPr>
              <a:t>函数</a:t>
            </a:r>
          </a:p>
        </p:txBody>
      </p:sp>
      <p:sp>
        <p:nvSpPr>
          <p:cNvPr id="56325" name="Rectangle 4"/>
          <p:cNvSpPr>
            <a:spLocks noChangeArrowheads="1"/>
          </p:cNvSpPr>
          <p:nvPr/>
        </p:nvSpPr>
        <p:spPr bwMode="auto">
          <a:xfrm>
            <a:off x="1116013" y="4365625"/>
            <a:ext cx="1944687" cy="439738"/>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990000"/>
                </a:solidFill>
                <a:latin typeface="Arial" charset="0"/>
                <a:ea typeface="黑体" pitchFamily="2" charset="-122"/>
              </a:rPr>
              <a:t>调用</a:t>
            </a:r>
            <a:r>
              <a:rPr kumimoji="1" lang="en-US" altLang="zh-CN">
                <a:solidFill>
                  <a:srgbClr val="990000"/>
                </a:solidFill>
                <a:latin typeface="Arial" charset="0"/>
                <a:ea typeface="黑体" pitchFamily="2" charset="-122"/>
              </a:rPr>
              <a:t>a</a:t>
            </a:r>
            <a:r>
              <a:rPr kumimoji="1" lang="zh-CN" altLang="en-US">
                <a:solidFill>
                  <a:srgbClr val="990000"/>
                </a:solidFill>
                <a:latin typeface="Arial" charset="0"/>
                <a:ea typeface="黑体" pitchFamily="2" charset="-122"/>
              </a:rPr>
              <a:t>函数</a:t>
            </a:r>
          </a:p>
        </p:txBody>
      </p:sp>
      <p:sp>
        <p:nvSpPr>
          <p:cNvPr id="56326" name="Rectangle 5"/>
          <p:cNvSpPr>
            <a:spLocks noChangeArrowheads="1"/>
          </p:cNvSpPr>
          <p:nvPr/>
        </p:nvSpPr>
        <p:spPr bwMode="auto">
          <a:xfrm>
            <a:off x="1042988" y="5373688"/>
            <a:ext cx="1800225" cy="43973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latin typeface="Arial" charset="0"/>
                <a:ea typeface="黑体" pitchFamily="2" charset="-122"/>
              </a:rPr>
              <a:t>直接递归</a:t>
            </a:r>
          </a:p>
        </p:txBody>
      </p:sp>
      <p:sp>
        <p:nvSpPr>
          <p:cNvPr id="398342" name="Line 6"/>
          <p:cNvSpPr>
            <a:spLocks noChangeShapeType="1"/>
          </p:cNvSpPr>
          <p:nvPr/>
        </p:nvSpPr>
        <p:spPr bwMode="auto">
          <a:xfrm>
            <a:off x="2051050" y="2420938"/>
            <a:ext cx="0" cy="1800225"/>
          </a:xfrm>
          <a:prstGeom prst="line">
            <a:avLst/>
          </a:prstGeom>
          <a:noFill/>
          <a:ln w="28575">
            <a:solidFill>
              <a:srgbClr val="990000"/>
            </a:solidFill>
            <a:round/>
            <a:headEnd/>
            <a:tailEnd type="triangle" w="med" len="med"/>
          </a:ln>
        </p:spPr>
        <p:txBody>
          <a:bodyPr/>
          <a:lstStyle/>
          <a:p>
            <a:endParaRPr lang="zh-CN" altLang="en-US"/>
          </a:p>
        </p:txBody>
      </p:sp>
      <p:sp>
        <p:nvSpPr>
          <p:cNvPr id="398343" name="Line 7"/>
          <p:cNvSpPr>
            <a:spLocks noChangeShapeType="1"/>
          </p:cNvSpPr>
          <p:nvPr/>
        </p:nvSpPr>
        <p:spPr bwMode="auto">
          <a:xfrm flipV="1">
            <a:off x="5651500" y="2276475"/>
            <a:ext cx="1008063" cy="1944688"/>
          </a:xfrm>
          <a:prstGeom prst="line">
            <a:avLst/>
          </a:prstGeom>
          <a:noFill/>
          <a:ln w="28575">
            <a:solidFill>
              <a:srgbClr val="009900"/>
            </a:solidFill>
            <a:round/>
            <a:headEnd/>
            <a:tailEnd type="triangle" w="med" len="med"/>
          </a:ln>
        </p:spPr>
        <p:txBody>
          <a:bodyPr/>
          <a:lstStyle/>
          <a:p>
            <a:endParaRPr lang="zh-CN" altLang="en-US"/>
          </a:p>
        </p:txBody>
      </p:sp>
      <p:sp>
        <p:nvSpPr>
          <p:cNvPr id="398344" name="Line 8"/>
          <p:cNvSpPr>
            <a:spLocks noChangeShapeType="1"/>
          </p:cNvSpPr>
          <p:nvPr/>
        </p:nvSpPr>
        <p:spPr bwMode="auto">
          <a:xfrm>
            <a:off x="684213" y="4581525"/>
            <a:ext cx="504825" cy="0"/>
          </a:xfrm>
          <a:prstGeom prst="line">
            <a:avLst/>
          </a:prstGeom>
          <a:noFill/>
          <a:ln w="28575">
            <a:solidFill>
              <a:srgbClr val="990000"/>
            </a:solidFill>
            <a:round/>
            <a:headEnd/>
            <a:tailEnd/>
          </a:ln>
        </p:spPr>
        <p:txBody>
          <a:bodyPr/>
          <a:lstStyle/>
          <a:p>
            <a:endParaRPr lang="zh-CN" altLang="en-US"/>
          </a:p>
        </p:txBody>
      </p:sp>
      <p:sp>
        <p:nvSpPr>
          <p:cNvPr id="398345" name="Line 9"/>
          <p:cNvSpPr>
            <a:spLocks noChangeShapeType="1"/>
          </p:cNvSpPr>
          <p:nvPr/>
        </p:nvSpPr>
        <p:spPr bwMode="auto">
          <a:xfrm>
            <a:off x="684213" y="2060575"/>
            <a:ext cx="647700" cy="0"/>
          </a:xfrm>
          <a:prstGeom prst="line">
            <a:avLst/>
          </a:prstGeom>
          <a:noFill/>
          <a:ln w="28575">
            <a:solidFill>
              <a:srgbClr val="990000"/>
            </a:solidFill>
            <a:round/>
            <a:headEnd/>
            <a:tailEnd type="triangle" w="med" len="med"/>
          </a:ln>
        </p:spPr>
        <p:txBody>
          <a:bodyPr/>
          <a:lstStyle/>
          <a:p>
            <a:endParaRPr lang="zh-CN" altLang="en-US"/>
          </a:p>
        </p:txBody>
      </p:sp>
      <p:sp>
        <p:nvSpPr>
          <p:cNvPr id="398346" name="Line 10"/>
          <p:cNvSpPr>
            <a:spLocks noChangeShapeType="1"/>
          </p:cNvSpPr>
          <p:nvPr/>
        </p:nvSpPr>
        <p:spPr bwMode="auto">
          <a:xfrm>
            <a:off x="684213" y="2060575"/>
            <a:ext cx="0" cy="2520950"/>
          </a:xfrm>
          <a:prstGeom prst="line">
            <a:avLst/>
          </a:prstGeom>
          <a:noFill/>
          <a:ln w="28575">
            <a:solidFill>
              <a:srgbClr val="990000"/>
            </a:solidFill>
            <a:round/>
            <a:headEnd/>
            <a:tailEnd/>
          </a:ln>
        </p:spPr>
        <p:txBody>
          <a:bodyPr/>
          <a:lstStyle/>
          <a:p>
            <a:endParaRPr lang="zh-CN" altLang="en-US"/>
          </a:p>
        </p:txBody>
      </p:sp>
      <p:sp>
        <p:nvSpPr>
          <p:cNvPr id="398347" name="Line 11"/>
          <p:cNvSpPr>
            <a:spLocks noChangeShapeType="1"/>
          </p:cNvSpPr>
          <p:nvPr/>
        </p:nvSpPr>
        <p:spPr bwMode="auto">
          <a:xfrm>
            <a:off x="5148263" y="2420938"/>
            <a:ext cx="0" cy="1800225"/>
          </a:xfrm>
          <a:prstGeom prst="line">
            <a:avLst/>
          </a:prstGeom>
          <a:noFill/>
          <a:ln w="28575">
            <a:solidFill>
              <a:srgbClr val="009900"/>
            </a:solidFill>
            <a:round/>
            <a:headEnd/>
            <a:tailEnd type="triangle" w="med" len="med"/>
          </a:ln>
        </p:spPr>
        <p:txBody>
          <a:bodyPr/>
          <a:lstStyle/>
          <a:p>
            <a:endParaRPr lang="zh-CN" altLang="en-US"/>
          </a:p>
        </p:txBody>
      </p:sp>
      <p:sp>
        <p:nvSpPr>
          <p:cNvPr id="398348" name="Line 12"/>
          <p:cNvSpPr>
            <a:spLocks noChangeShapeType="1"/>
          </p:cNvSpPr>
          <p:nvPr/>
        </p:nvSpPr>
        <p:spPr bwMode="auto">
          <a:xfrm>
            <a:off x="7092950" y="2420938"/>
            <a:ext cx="0" cy="1800225"/>
          </a:xfrm>
          <a:prstGeom prst="line">
            <a:avLst/>
          </a:prstGeom>
          <a:noFill/>
          <a:ln w="28575">
            <a:solidFill>
              <a:srgbClr val="009900"/>
            </a:solidFill>
            <a:round/>
            <a:headEnd/>
            <a:tailEnd type="triangle" w="med" len="med"/>
          </a:ln>
        </p:spPr>
        <p:txBody>
          <a:bodyPr/>
          <a:lstStyle/>
          <a:p>
            <a:endParaRPr lang="zh-CN" altLang="en-US"/>
          </a:p>
        </p:txBody>
      </p:sp>
      <p:grpSp>
        <p:nvGrpSpPr>
          <p:cNvPr id="2" name="Group 13"/>
          <p:cNvGrpSpPr>
            <a:grpSpLocks/>
          </p:cNvGrpSpPr>
          <p:nvPr/>
        </p:nvGrpSpPr>
        <p:grpSpPr bwMode="auto">
          <a:xfrm>
            <a:off x="4211638" y="1836738"/>
            <a:ext cx="3960812" cy="3976687"/>
            <a:chOff x="2653" y="1157"/>
            <a:chExt cx="2495" cy="2505"/>
          </a:xfrm>
        </p:grpSpPr>
        <p:sp>
          <p:nvSpPr>
            <p:cNvPr id="56340" name="Rectangle 14"/>
            <p:cNvSpPr>
              <a:spLocks noChangeArrowheads="1"/>
            </p:cNvSpPr>
            <p:nvPr/>
          </p:nvSpPr>
          <p:spPr bwMode="auto">
            <a:xfrm>
              <a:off x="3923" y="1157"/>
              <a:ext cx="1225" cy="277"/>
            </a:xfrm>
            <a:prstGeom prst="rect">
              <a:avLst/>
            </a:prstGeom>
            <a:noFill/>
            <a:ln w="9525">
              <a:noFill/>
              <a:miter lim="800000"/>
              <a:headEnd/>
              <a:tailEnd/>
            </a:ln>
          </p:spPr>
          <p:txBody>
            <a:bodyPr lIns="92075" tIns="46038" rIns="92075" bIns="46038"/>
            <a:lstStyle/>
            <a:p>
              <a:pPr marL="342900" indent="-342900" eaLnBrk="1" hangingPunct="1">
                <a:lnSpc>
                  <a:spcPct val="90000"/>
                </a:lnSpc>
                <a:spcBef>
                  <a:spcPct val="15000"/>
                </a:spcBef>
                <a:buClr>
                  <a:srgbClr val="0066FF"/>
                </a:buClr>
                <a:buSzPct val="85000"/>
                <a:buFont typeface="Wingdings" pitchFamily="2" charset="2"/>
                <a:buNone/>
              </a:pPr>
              <a:r>
                <a:rPr kumimoji="1" lang="en-US" altLang="zh-CN">
                  <a:solidFill>
                    <a:srgbClr val="009900"/>
                  </a:solidFill>
                  <a:latin typeface="Arial" charset="0"/>
                  <a:ea typeface="黑体" pitchFamily="2" charset="-122"/>
                </a:rPr>
                <a:t>b </a:t>
              </a:r>
              <a:r>
                <a:rPr kumimoji="1" lang="zh-CN" altLang="en-US">
                  <a:solidFill>
                    <a:srgbClr val="009900"/>
                  </a:solidFill>
                  <a:latin typeface="Arial" charset="0"/>
                  <a:ea typeface="黑体" pitchFamily="2" charset="-122"/>
                </a:rPr>
                <a:t>函数</a:t>
              </a:r>
            </a:p>
          </p:txBody>
        </p:sp>
        <p:sp>
          <p:nvSpPr>
            <p:cNvPr id="56341" name="Rectangle 15"/>
            <p:cNvSpPr>
              <a:spLocks noChangeArrowheads="1"/>
            </p:cNvSpPr>
            <p:nvPr/>
          </p:nvSpPr>
          <p:spPr bwMode="auto">
            <a:xfrm>
              <a:off x="2653" y="1162"/>
              <a:ext cx="1225" cy="277"/>
            </a:xfrm>
            <a:prstGeom prst="rect">
              <a:avLst/>
            </a:prstGeom>
            <a:noFill/>
            <a:ln w="9525">
              <a:noFill/>
              <a:miter lim="800000"/>
              <a:headEnd/>
              <a:tailEnd/>
            </a:ln>
          </p:spPr>
          <p:txBody>
            <a:bodyPr lIns="92075" tIns="46038" rIns="92075" bIns="46038"/>
            <a:lstStyle/>
            <a:p>
              <a:pPr marL="342900" indent="-342900" eaLnBrk="1" hangingPunct="1">
                <a:lnSpc>
                  <a:spcPct val="90000"/>
                </a:lnSpc>
                <a:spcBef>
                  <a:spcPct val="15000"/>
                </a:spcBef>
                <a:buClr>
                  <a:srgbClr val="0066FF"/>
                </a:buClr>
                <a:buSzPct val="85000"/>
                <a:buFont typeface="Wingdings" pitchFamily="2" charset="2"/>
                <a:buNone/>
              </a:pPr>
              <a:r>
                <a:rPr kumimoji="1" lang="en-US" altLang="zh-CN">
                  <a:solidFill>
                    <a:srgbClr val="009900"/>
                  </a:solidFill>
                  <a:latin typeface="Arial" charset="0"/>
                  <a:ea typeface="黑体" pitchFamily="2" charset="-122"/>
                </a:rPr>
                <a:t>a </a:t>
              </a:r>
              <a:r>
                <a:rPr kumimoji="1" lang="zh-CN" altLang="en-US">
                  <a:solidFill>
                    <a:srgbClr val="009900"/>
                  </a:solidFill>
                  <a:latin typeface="Arial" charset="0"/>
                  <a:ea typeface="黑体" pitchFamily="2" charset="-122"/>
                </a:rPr>
                <a:t>函数</a:t>
              </a:r>
            </a:p>
          </p:txBody>
        </p:sp>
        <p:sp>
          <p:nvSpPr>
            <p:cNvPr id="56342" name="Rectangle 16"/>
            <p:cNvSpPr>
              <a:spLocks noChangeArrowheads="1"/>
            </p:cNvSpPr>
            <p:nvPr/>
          </p:nvSpPr>
          <p:spPr bwMode="auto">
            <a:xfrm>
              <a:off x="2653" y="2755"/>
              <a:ext cx="1225" cy="27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009900"/>
                  </a:solidFill>
                  <a:latin typeface="Arial" charset="0"/>
                  <a:ea typeface="黑体" pitchFamily="2" charset="-122"/>
                </a:rPr>
                <a:t>调用</a:t>
              </a:r>
              <a:r>
                <a:rPr kumimoji="1" lang="en-US" altLang="zh-CN">
                  <a:solidFill>
                    <a:srgbClr val="009900"/>
                  </a:solidFill>
                  <a:latin typeface="Arial" charset="0"/>
                  <a:ea typeface="黑体" pitchFamily="2" charset="-122"/>
                </a:rPr>
                <a:t>b</a:t>
              </a:r>
              <a:r>
                <a:rPr kumimoji="1" lang="zh-CN" altLang="en-US">
                  <a:solidFill>
                    <a:srgbClr val="009900"/>
                  </a:solidFill>
                  <a:latin typeface="Arial" charset="0"/>
                  <a:ea typeface="黑体" pitchFamily="2" charset="-122"/>
                </a:rPr>
                <a:t>函数</a:t>
              </a:r>
            </a:p>
          </p:txBody>
        </p:sp>
        <p:sp>
          <p:nvSpPr>
            <p:cNvPr id="56343" name="Rectangle 17"/>
            <p:cNvSpPr>
              <a:spLocks noChangeArrowheads="1"/>
            </p:cNvSpPr>
            <p:nvPr/>
          </p:nvSpPr>
          <p:spPr bwMode="auto">
            <a:xfrm>
              <a:off x="3878" y="2750"/>
              <a:ext cx="1225" cy="27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solidFill>
                    <a:srgbClr val="009900"/>
                  </a:solidFill>
                  <a:latin typeface="Arial" charset="0"/>
                  <a:ea typeface="黑体" pitchFamily="2" charset="-122"/>
                </a:rPr>
                <a:t>调用</a:t>
              </a:r>
              <a:r>
                <a:rPr kumimoji="1" lang="en-US" altLang="zh-CN">
                  <a:solidFill>
                    <a:srgbClr val="009900"/>
                  </a:solidFill>
                  <a:latin typeface="Arial" charset="0"/>
                  <a:ea typeface="黑体" pitchFamily="2" charset="-122"/>
                </a:rPr>
                <a:t>a</a:t>
              </a:r>
              <a:r>
                <a:rPr kumimoji="1" lang="zh-CN" altLang="en-US">
                  <a:solidFill>
                    <a:srgbClr val="009900"/>
                  </a:solidFill>
                  <a:latin typeface="Arial" charset="0"/>
                  <a:ea typeface="黑体" pitchFamily="2" charset="-122"/>
                </a:rPr>
                <a:t>函数</a:t>
              </a:r>
            </a:p>
          </p:txBody>
        </p:sp>
        <p:sp>
          <p:nvSpPr>
            <p:cNvPr id="56344" name="Rectangle 18"/>
            <p:cNvSpPr>
              <a:spLocks noChangeArrowheads="1"/>
            </p:cNvSpPr>
            <p:nvPr/>
          </p:nvSpPr>
          <p:spPr bwMode="auto">
            <a:xfrm>
              <a:off x="3288" y="3385"/>
              <a:ext cx="1134" cy="277"/>
            </a:xfrm>
            <a:prstGeom prst="rect">
              <a:avLst/>
            </a:prstGeom>
            <a:noFill/>
            <a:ln w="9525">
              <a:noFill/>
              <a:miter lim="800000"/>
              <a:headEnd/>
              <a:tailEnd/>
            </a:ln>
          </p:spPr>
          <p:txBody>
            <a:bodyPr lIns="92075" tIns="46038" rIns="92075" bIns="46038"/>
            <a:lstStyle/>
            <a:p>
              <a:pPr marL="342900" indent="-342900" algn="l" eaLnBrk="1" hangingPunct="1">
                <a:lnSpc>
                  <a:spcPct val="90000"/>
                </a:lnSpc>
                <a:spcBef>
                  <a:spcPct val="15000"/>
                </a:spcBef>
                <a:buClr>
                  <a:srgbClr val="0066FF"/>
                </a:buClr>
                <a:buSzPct val="85000"/>
                <a:buFont typeface="Wingdings" pitchFamily="2" charset="2"/>
                <a:buNone/>
              </a:pPr>
              <a:r>
                <a:rPr kumimoji="1" lang="zh-CN" altLang="en-US">
                  <a:latin typeface="Arial" charset="0"/>
                  <a:ea typeface="黑体" pitchFamily="2" charset="-122"/>
                </a:rPr>
                <a:t>间接递归</a:t>
              </a:r>
            </a:p>
          </p:txBody>
        </p:sp>
      </p:grpSp>
      <p:sp>
        <p:nvSpPr>
          <p:cNvPr id="398355" name="Line 19"/>
          <p:cNvSpPr>
            <a:spLocks noChangeShapeType="1"/>
          </p:cNvSpPr>
          <p:nvPr/>
        </p:nvSpPr>
        <p:spPr bwMode="auto">
          <a:xfrm>
            <a:off x="7883525" y="4654550"/>
            <a:ext cx="504825" cy="0"/>
          </a:xfrm>
          <a:prstGeom prst="line">
            <a:avLst/>
          </a:prstGeom>
          <a:noFill/>
          <a:ln w="28575">
            <a:solidFill>
              <a:srgbClr val="009900"/>
            </a:solidFill>
            <a:round/>
            <a:headEnd/>
            <a:tailEnd/>
          </a:ln>
        </p:spPr>
        <p:txBody>
          <a:bodyPr/>
          <a:lstStyle/>
          <a:p>
            <a:endParaRPr lang="zh-CN" altLang="en-US"/>
          </a:p>
        </p:txBody>
      </p:sp>
      <p:sp>
        <p:nvSpPr>
          <p:cNvPr id="398356" name="Line 20"/>
          <p:cNvSpPr>
            <a:spLocks noChangeShapeType="1"/>
          </p:cNvSpPr>
          <p:nvPr/>
        </p:nvSpPr>
        <p:spPr bwMode="auto">
          <a:xfrm>
            <a:off x="8388350" y="1557338"/>
            <a:ext cx="0" cy="3097212"/>
          </a:xfrm>
          <a:prstGeom prst="line">
            <a:avLst/>
          </a:prstGeom>
          <a:noFill/>
          <a:ln w="28575">
            <a:solidFill>
              <a:srgbClr val="009900"/>
            </a:solidFill>
            <a:round/>
            <a:headEnd/>
            <a:tailEnd/>
          </a:ln>
        </p:spPr>
        <p:txBody>
          <a:bodyPr/>
          <a:lstStyle/>
          <a:p>
            <a:endParaRPr lang="zh-CN" altLang="en-US"/>
          </a:p>
        </p:txBody>
      </p:sp>
      <p:sp>
        <p:nvSpPr>
          <p:cNvPr id="398357" name="Line 21"/>
          <p:cNvSpPr>
            <a:spLocks noChangeShapeType="1"/>
          </p:cNvSpPr>
          <p:nvPr/>
        </p:nvSpPr>
        <p:spPr bwMode="auto">
          <a:xfrm>
            <a:off x="4211638" y="1557338"/>
            <a:ext cx="4176712" cy="0"/>
          </a:xfrm>
          <a:prstGeom prst="line">
            <a:avLst/>
          </a:prstGeom>
          <a:noFill/>
          <a:ln w="28575">
            <a:solidFill>
              <a:srgbClr val="009900"/>
            </a:solidFill>
            <a:round/>
            <a:headEnd/>
            <a:tailEnd/>
          </a:ln>
        </p:spPr>
        <p:txBody>
          <a:bodyPr/>
          <a:lstStyle/>
          <a:p>
            <a:endParaRPr lang="zh-CN" altLang="en-US"/>
          </a:p>
        </p:txBody>
      </p:sp>
      <p:sp>
        <p:nvSpPr>
          <p:cNvPr id="398358" name="Line 22"/>
          <p:cNvSpPr>
            <a:spLocks noChangeShapeType="1"/>
          </p:cNvSpPr>
          <p:nvPr/>
        </p:nvSpPr>
        <p:spPr bwMode="auto">
          <a:xfrm>
            <a:off x="4211638" y="1557338"/>
            <a:ext cx="0" cy="503237"/>
          </a:xfrm>
          <a:prstGeom prst="line">
            <a:avLst/>
          </a:prstGeom>
          <a:noFill/>
          <a:ln w="28575">
            <a:solidFill>
              <a:srgbClr val="009900"/>
            </a:solidFill>
            <a:round/>
            <a:headEnd/>
            <a:tailEnd/>
          </a:ln>
        </p:spPr>
        <p:txBody>
          <a:bodyPr/>
          <a:lstStyle/>
          <a:p>
            <a:endParaRPr lang="zh-CN" altLang="en-US"/>
          </a:p>
        </p:txBody>
      </p:sp>
      <p:sp>
        <p:nvSpPr>
          <p:cNvPr id="398359" name="Line 23"/>
          <p:cNvSpPr>
            <a:spLocks noChangeShapeType="1"/>
          </p:cNvSpPr>
          <p:nvPr/>
        </p:nvSpPr>
        <p:spPr bwMode="auto">
          <a:xfrm>
            <a:off x="4211638" y="2060575"/>
            <a:ext cx="288925" cy="0"/>
          </a:xfrm>
          <a:prstGeom prst="line">
            <a:avLst/>
          </a:prstGeom>
          <a:noFill/>
          <a:ln w="28575">
            <a:solidFill>
              <a:srgbClr val="009900"/>
            </a:solidFill>
            <a:round/>
            <a:headEn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98342"/>
                                        </p:tgtEl>
                                        <p:attrNameLst>
                                          <p:attrName>style.visibility</p:attrName>
                                        </p:attrNameLst>
                                      </p:cBhvr>
                                      <p:to>
                                        <p:strVal val="visible"/>
                                      </p:to>
                                    </p:set>
                                    <p:animEffect transition="in" filter="wipe(up)">
                                      <p:cBhvr>
                                        <p:cTn id="7" dur="2000"/>
                                        <p:tgtEl>
                                          <p:spTgt spid="398342"/>
                                        </p:tgtEl>
                                      </p:cBhvr>
                                    </p:animEffect>
                                  </p:childTnLst>
                                </p:cTn>
                              </p:par>
                            </p:childTnLst>
                          </p:cTn>
                        </p:par>
                        <p:par>
                          <p:cTn id="8" fill="hold" nodeType="afterGroup">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398344"/>
                                        </p:tgtEl>
                                        <p:attrNameLst>
                                          <p:attrName>style.visibility</p:attrName>
                                        </p:attrNameLst>
                                      </p:cBhvr>
                                      <p:to>
                                        <p:strVal val="visible"/>
                                      </p:to>
                                    </p:set>
                                    <p:animEffect transition="in" filter="wipe(right)">
                                      <p:cBhvr>
                                        <p:cTn id="11" dur="2000"/>
                                        <p:tgtEl>
                                          <p:spTgt spid="398344"/>
                                        </p:tgtEl>
                                      </p:cBhvr>
                                    </p:animEffect>
                                  </p:childTnLst>
                                </p:cTn>
                              </p:par>
                            </p:childTnLst>
                          </p:cTn>
                        </p:par>
                        <p:par>
                          <p:cTn id="12" fill="hold" nodeType="afterGroup">
                            <p:stCondLst>
                              <p:cond delay="4000"/>
                            </p:stCondLst>
                            <p:childTnLst>
                              <p:par>
                                <p:cTn id="13" presetID="22" presetClass="entr" presetSubtype="4" fill="hold" grpId="0" nodeType="afterEffect">
                                  <p:stCondLst>
                                    <p:cond delay="0"/>
                                  </p:stCondLst>
                                  <p:childTnLst>
                                    <p:set>
                                      <p:cBhvr>
                                        <p:cTn id="14" dur="1" fill="hold">
                                          <p:stCondLst>
                                            <p:cond delay="0"/>
                                          </p:stCondLst>
                                        </p:cTn>
                                        <p:tgtEl>
                                          <p:spTgt spid="398346"/>
                                        </p:tgtEl>
                                        <p:attrNameLst>
                                          <p:attrName>style.visibility</p:attrName>
                                        </p:attrNameLst>
                                      </p:cBhvr>
                                      <p:to>
                                        <p:strVal val="visible"/>
                                      </p:to>
                                    </p:set>
                                    <p:animEffect transition="in" filter="wipe(down)">
                                      <p:cBhvr>
                                        <p:cTn id="15" dur="2000"/>
                                        <p:tgtEl>
                                          <p:spTgt spid="398346"/>
                                        </p:tgtEl>
                                      </p:cBhvr>
                                    </p:animEffect>
                                  </p:childTnLst>
                                </p:cTn>
                              </p:par>
                            </p:childTnLst>
                          </p:cTn>
                        </p:par>
                        <p:par>
                          <p:cTn id="16" fill="hold" nodeType="afterGroup">
                            <p:stCondLst>
                              <p:cond delay="6000"/>
                            </p:stCondLst>
                            <p:childTnLst>
                              <p:par>
                                <p:cTn id="17" presetID="22" presetClass="entr" presetSubtype="8" fill="hold" grpId="0" nodeType="afterEffect">
                                  <p:stCondLst>
                                    <p:cond delay="0"/>
                                  </p:stCondLst>
                                  <p:childTnLst>
                                    <p:set>
                                      <p:cBhvr>
                                        <p:cTn id="18" dur="1" fill="hold">
                                          <p:stCondLst>
                                            <p:cond delay="0"/>
                                          </p:stCondLst>
                                        </p:cTn>
                                        <p:tgtEl>
                                          <p:spTgt spid="398345"/>
                                        </p:tgtEl>
                                        <p:attrNameLst>
                                          <p:attrName>style.visibility</p:attrName>
                                        </p:attrNameLst>
                                      </p:cBhvr>
                                      <p:to>
                                        <p:strVal val="visible"/>
                                      </p:to>
                                    </p:set>
                                    <p:animEffect transition="in" filter="wipe(left)">
                                      <p:cBhvr>
                                        <p:cTn id="19" dur="2000"/>
                                        <p:tgtEl>
                                          <p:spTgt spid="39834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par>
                          <p:cTn id="24" fill="hold" nodeType="afterGroup">
                            <p:stCondLst>
                              <p:cond delay="0"/>
                            </p:stCondLst>
                            <p:childTnLst>
                              <p:par>
                                <p:cTn id="25" presetID="22" presetClass="entr" presetSubtype="1" fill="hold" grpId="0" nodeType="afterEffect">
                                  <p:stCondLst>
                                    <p:cond delay="0"/>
                                  </p:stCondLst>
                                  <p:childTnLst>
                                    <p:set>
                                      <p:cBhvr>
                                        <p:cTn id="26" dur="1" fill="hold">
                                          <p:stCondLst>
                                            <p:cond delay="0"/>
                                          </p:stCondLst>
                                        </p:cTn>
                                        <p:tgtEl>
                                          <p:spTgt spid="398347"/>
                                        </p:tgtEl>
                                        <p:attrNameLst>
                                          <p:attrName>style.visibility</p:attrName>
                                        </p:attrNameLst>
                                      </p:cBhvr>
                                      <p:to>
                                        <p:strVal val="visible"/>
                                      </p:to>
                                    </p:set>
                                    <p:animEffect transition="in" filter="wipe(up)">
                                      <p:cBhvr>
                                        <p:cTn id="27" dur="2000"/>
                                        <p:tgtEl>
                                          <p:spTgt spid="398347"/>
                                        </p:tgtEl>
                                      </p:cBhvr>
                                    </p:animEffect>
                                  </p:childTnLst>
                                </p:cTn>
                              </p:par>
                            </p:childTnLst>
                          </p:cTn>
                        </p:par>
                        <p:par>
                          <p:cTn id="28" fill="hold" nodeType="afterGroup">
                            <p:stCondLst>
                              <p:cond delay="2000"/>
                            </p:stCondLst>
                            <p:childTnLst>
                              <p:par>
                                <p:cTn id="29" presetID="22" presetClass="entr" presetSubtype="4" fill="hold" grpId="0" nodeType="afterEffect">
                                  <p:stCondLst>
                                    <p:cond delay="0"/>
                                  </p:stCondLst>
                                  <p:childTnLst>
                                    <p:set>
                                      <p:cBhvr>
                                        <p:cTn id="30" dur="1" fill="hold">
                                          <p:stCondLst>
                                            <p:cond delay="0"/>
                                          </p:stCondLst>
                                        </p:cTn>
                                        <p:tgtEl>
                                          <p:spTgt spid="398343"/>
                                        </p:tgtEl>
                                        <p:attrNameLst>
                                          <p:attrName>style.visibility</p:attrName>
                                        </p:attrNameLst>
                                      </p:cBhvr>
                                      <p:to>
                                        <p:strVal val="visible"/>
                                      </p:to>
                                    </p:set>
                                    <p:animEffect transition="in" filter="wipe(down)">
                                      <p:cBhvr>
                                        <p:cTn id="31" dur="2000"/>
                                        <p:tgtEl>
                                          <p:spTgt spid="398343"/>
                                        </p:tgtEl>
                                      </p:cBhvr>
                                    </p:animEffect>
                                  </p:childTnLst>
                                </p:cTn>
                              </p:par>
                            </p:childTnLst>
                          </p:cTn>
                        </p:par>
                        <p:par>
                          <p:cTn id="32" fill="hold" nodeType="afterGroup">
                            <p:stCondLst>
                              <p:cond delay="4000"/>
                            </p:stCondLst>
                            <p:childTnLst>
                              <p:par>
                                <p:cTn id="33" presetID="22" presetClass="entr" presetSubtype="1" fill="hold" grpId="0" nodeType="afterEffect">
                                  <p:stCondLst>
                                    <p:cond delay="0"/>
                                  </p:stCondLst>
                                  <p:childTnLst>
                                    <p:set>
                                      <p:cBhvr>
                                        <p:cTn id="34" dur="1" fill="hold">
                                          <p:stCondLst>
                                            <p:cond delay="0"/>
                                          </p:stCondLst>
                                        </p:cTn>
                                        <p:tgtEl>
                                          <p:spTgt spid="398348"/>
                                        </p:tgtEl>
                                        <p:attrNameLst>
                                          <p:attrName>style.visibility</p:attrName>
                                        </p:attrNameLst>
                                      </p:cBhvr>
                                      <p:to>
                                        <p:strVal val="visible"/>
                                      </p:to>
                                    </p:set>
                                    <p:animEffect transition="in" filter="wipe(up)">
                                      <p:cBhvr>
                                        <p:cTn id="35" dur="2000"/>
                                        <p:tgtEl>
                                          <p:spTgt spid="398348"/>
                                        </p:tgtEl>
                                      </p:cBhvr>
                                    </p:animEffect>
                                  </p:childTnLst>
                                </p:cTn>
                              </p:par>
                            </p:childTnLst>
                          </p:cTn>
                        </p:par>
                        <p:par>
                          <p:cTn id="36" fill="hold" nodeType="afterGroup">
                            <p:stCondLst>
                              <p:cond delay="6000"/>
                            </p:stCondLst>
                            <p:childTnLst>
                              <p:par>
                                <p:cTn id="37" presetID="22" presetClass="entr" presetSubtype="8" fill="hold" grpId="0" nodeType="afterEffect">
                                  <p:stCondLst>
                                    <p:cond delay="0"/>
                                  </p:stCondLst>
                                  <p:childTnLst>
                                    <p:set>
                                      <p:cBhvr>
                                        <p:cTn id="38" dur="1" fill="hold">
                                          <p:stCondLst>
                                            <p:cond delay="0"/>
                                          </p:stCondLst>
                                        </p:cTn>
                                        <p:tgtEl>
                                          <p:spTgt spid="398355"/>
                                        </p:tgtEl>
                                        <p:attrNameLst>
                                          <p:attrName>style.visibility</p:attrName>
                                        </p:attrNameLst>
                                      </p:cBhvr>
                                      <p:to>
                                        <p:strVal val="visible"/>
                                      </p:to>
                                    </p:set>
                                    <p:animEffect transition="in" filter="wipe(left)">
                                      <p:cBhvr>
                                        <p:cTn id="39" dur="2000"/>
                                        <p:tgtEl>
                                          <p:spTgt spid="398355"/>
                                        </p:tgtEl>
                                      </p:cBhvr>
                                    </p:animEffect>
                                  </p:childTnLst>
                                </p:cTn>
                              </p:par>
                            </p:childTnLst>
                          </p:cTn>
                        </p:par>
                        <p:par>
                          <p:cTn id="40" fill="hold" nodeType="afterGroup">
                            <p:stCondLst>
                              <p:cond delay="8000"/>
                            </p:stCondLst>
                            <p:childTnLst>
                              <p:par>
                                <p:cTn id="41" presetID="22" presetClass="entr" presetSubtype="4" fill="hold" grpId="0" nodeType="afterEffect">
                                  <p:stCondLst>
                                    <p:cond delay="0"/>
                                  </p:stCondLst>
                                  <p:childTnLst>
                                    <p:set>
                                      <p:cBhvr>
                                        <p:cTn id="42" dur="1" fill="hold">
                                          <p:stCondLst>
                                            <p:cond delay="0"/>
                                          </p:stCondLst>
                                        </p:cTn>
                                        <p:tgtEl>
                                          <p:spTgt spid="398356"/>
                                        </p:tgtEl>
                                        <p:attrNameLst>
                                          <p:attrName>style.visibility</p:attrName>
                                        </p:attrNameLst>
                                      </p:cBhvr>
                                      <p:to>
                                        <p:strVal val="visible"/>
                                      </p:to>
                                    </p:set>
                                    <p:animEffect transition="in" filter="wipe(down)">
                                      <p:cBhvr>
                                        <p:cTn id="43" dur="2000"/>
                                        <p:tgtEl>
                                          <p:spTgt spid="398356"/>
                                        </p:tgtEl>
                                      </p:cBhvr>
                                    </p:animEffect>
                                  </p:childTnLst>
                                </p:cTn>
                              </p:par>
                            </p:childTnLst>
                          </p:cTn>
                        </p:par>
                        <p:par>
                          <p:cTn id="44" fill="hold" nodeType="afterGroup">
                            <p:stCondLst>
                              <p:cond delay="10000"/>
                            </p:stCondLst>
                            <p:childTnLst>
                              <p:par>
                                <p:cTn id="45" presetID="22" presetClass="entr" presetSubtype="2" fill="hold" grpId="0" nodeType="afterEffect">
                                  <p:stCondLst>
                                    <p:cond delay="0"/>
                                  </p:stCondLst>
                                  <p:childTnLst>
                                    <p:set>
                                      <p:cBhvr>
                                        <p:cTn id="46" dur="1" fill="hold">
                                          <p:stCondLst>
                                            <p:cond delay="0"/>
                                          </p:stCondLst>
                                        </p:cTn>
                                        <p:tgtEl>
                                          <p:spTgt spid="398357"/>
                                        </p:tgtEl>
                                        <p:attrNameLst>
                                          <p:attrName>style.visibility</p:attrName>
                                        </p:attrNameLst>
                                      </p:cBhvr>
                                      <p:to>
                                        <p:strVal val="visible"/>
                                      </p:to>
                                    </p:set>
                                    <p:animEffect transition="in" filter="wipe(right)">
                                      <p:cBhvr>
                                        <p:cTn id="47" dur="2000"/>
                                        <p:tgtEl>
                                          <p:spTgt spid="398357"/>
                                        </p:tgtEl>
                                      </p:cBhvr>
                                    </p:animEffect>
                                  </p:childTnLst>
                                </p:cTn>
                              </p:par>
                            </p:childTnLst>
                          </p:cTn>
                        </p:par>
                        <p:par>
                          <p:cTn id="48" fill="hold" nodeType="afterGroup">
                            <p:stCondLst>
                              <p:cond delay="12000"/>
                            </p:stCondLst>
                            <p:childTnLst>
                              <p:par>
                                <p:cTn id="49" presetID="22" presetClass="entr" presetSubtype="1" fill="hold" grpId="0" nodeType="afterEffect">
                                  <p:stCondLst>
                                    <p:cond delay="0"/>
                                  </p:stCondLst>
                                  <p:childTnLst>
                                    <p:set>
                                      <p:cBhvr>
                                        <p:cTn id="50" dur="1" fill="hold">
                                          <p:stCondLst>
                                            <p:cond delay="0"/>
                                          </p:stCondLst>
                                        </p:cTn>
                                        <p:tgtEl>
                                          <p:spTgt spid="398358"/>
                                        </p:tgtEl>
                                        <p:attrNameLst>
                                          <p:attrName>style.visibility</p:attrName>
                                        </p:attrNameLst>
                                      </p:cBhvr>
                                      <p:to>
                                        <p:strVal val="visible"/>
                                      </p:to>
                                    </p:set>
                                    <p:animEffect transition="in" filter="wipe(up)">
                                      <p:cBhvr>
                                        <p:cTn id="51" dur="2000"/>
                                        <p:tgtEl>
                                          <p:spTgt spid="398358"/>
                                        </p:tgtEl>
                                      </p:cBhvr>
                                    </p:animEffect>
                                  </p:childTnLst>
                                </p:cTn>
                              </p:par>
                            </p:childTnLst>
                          </p:cTn>
                        </p:par>
                        <p:par>
                          <p:cTn id="52" fill="hold" nodeType="afterGroup">
                            <p:stCondLst>
                              <p:cond delay="14000"/>
                            </p:stCondLst>
                            <p:childTnLst>
                              <p:par>
                                <p:cTn id="53" presetID="22" presetClass="entr" presetSubtype="8" fill="hold" grpId="0" nodeType="afterEffect">
                                  <p:stCondLst>
                                    <p:cond delay="0"/>
                                  </p:stCondLst>
                                  <p:childTnLst>
                                    <p:set>
                                      <p:cBhvr>
                                        <p:cTn id="54" dur="1" fill="hold">
                                          <p:stCondLst>
                                            <p:cond delay="0"/>
                                          </p:stCondLst>
                                        </p:cTn>
                                        <p:tgtEl>
                                          <p:spTgt spid="398359"/>
                                        </p:tgtEl>
                                        <p:attrNameLst>
                                          <p:attrName>style.visibility</p:attrName>
                                        </p:attrNameLst>
                                      </p:cBhvr>
                                      <p:to>
                                        <p:strVal val="visible"/>
                                      </p:to>
                                    </p:set>
                                    <p:animEffect transition="in" filter="wipe(left)">
                                      <p:cBhvr>
                                        <p:cTn id="55" dur="3000"/>
                                        <p:tgtEl>
                                          <p:spTgt spid="39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2" grpId="0" animBg="1"/>
      <p:bldP spid="398343" grpId="0" animBg="1"/>
      <p:bldP spid="398344" grpId="0" animBg="1"/>
      <p:bldP spid="398345" grpId="0" animBg="1"/>
      <p:bldP spid="398346" grpId="0" animBg="1"/>
      <p:bldP spid="398347" grpId="0" animBg="1"/>
      <p:bldP spid="398348" grpId="0" animBg="1"/>
      <p:bldP spid="398355" grpId="0" animBg="1"/>
      <p:bldP spid="398356" grpId="0" animBg="1"/>
      <p:bldP spid="398357" grpId="0" animBg="1"/>
      <p:bldP spid="398358" grpId="0" animBg="1"/>
      <p:bldP spid="39835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50825" y="44450"/>
            <a:ext cx="7705725" cy="863600"/>
          </a:xfrm>
        </p:spPr>
        <p:txBody>
          <a:bodyPr/>
          <a:lstStyle/>
          <a:p>
            <a:pPr eaLnBrk="1" hangingPunct="1"/>
            <a:r>
              <a:rPr lang="en-US" altLang="zh-CN" sz="3600">
                <a:solidFill>
                  <a:srgbClr val="0070C0"/>
                </a:solidFill>
                <a:latin typeface="宋体" charset="-122"/>
              </a:rPr>
              <a:t>【</a:t>
            </a:r>
            <a:r>
              <a:rPr lang="zh-CN" altLang="en-US" sz="3600">
                <a:solidFill>
                  <a:srgbClr val="0070C0"/>
                </a:solidFill>
                <a:latin typeface="宋体" charset="-122"/>
              </a:rPr>
              <a:t>例</a:t>
            </a:r>
            <a:r>
              <a:rPr lang="en-US" altLang="zh-CN" sz="3600">
                <a:solidFill>
                  <a:srgbClr val="0070C0"/>
                </a:solidFill>
                <a:latin typeface="宋体" charset="-122"/>
              </a:rPr>
              <a:t>5.12】</a:t>
            </a:r>
            <a:r>
              <a:rPr lang="zh-CN" altLang="en-US" sz="3600">
                <a:latin typeface="宋体" charset="-122"/>
              </a:rPr>
              <a:t>用递归实现阶乘计算函数</a:t>
            </a:r>
            <a:endParaRPr lang="zh-CN" altLang="en-US" sz="3600" u="sng">
              <a:latin typeface="宋体" charset="-122"/>
            </a:endParaRPr>
          </a:p>
        </p:txBody>
      </p:sp>
      <p:sp>
        <p:nvSpPr>
          <p:cNvPr id="12" name="灯片编号占位符 5"/>
          <p:cNvSpPr>
            <a:spLocks noGrp="1"/>
          </p:cNvSpPr>
          <p:nvPr>
            <p:ph type="sldNum" sz="quarter" idx="12"/>
          </p:nvPr>
        </p:nvSpPr>
        <p:spPr/>
        <p:txBody>
          <a:bodyPr/>
          <a:lstStyle/>
          <a:p>
            <a:pPr>
              <a:defRPr/>
            </a:pPr>
            <a:fld id="{F0E22274-2646-436F-BD20-F6BA297AD0BD}" type="slidenum">
              <a:rPr lang="en-US" altLang="zh-CN"/>
              <a:pPr>
                <a:defRPr/>
              </a:pPr>
              <a:t>50</a:t>
            </a:fld>
            <a:endParaRPr lang="en-US" altLang="zh-CN"/>
          </a:p>
        </p:txBody>
      </p:sp>
      <p:sp>
        <p:nvSpPr>
          <p:cNvPr id="58372" name="Text Box 3"/>
          <p:cNvSpPr txBox="1">
            <a:spLocks noChangeArrowheads="1"/>
          </p:cNvSpPr>
          <p:nvPr/>
        </p:nvSpPr>
        <p:spPr bwMode="auto">
          <a:xfrm>
            <a:off x="611188" y="5013325"/>
            <a:ext cx="7921625" cy="1557349"/>
          </a:xfrm>
          <a:prstGeom prst="rect">
            <a:avLst/>
          </a:prstGeom>
          <a:noFill/>
          <a:ln w="9525">
            <a:noFill/>
            <a:miter lim="800000"/>
            <a:headEnd/>
            <a:tailEnd/>
          </a:ln>
        </p:spPr>
        <p:txBody>
          <a:bodyPr>
            <a:spAutoFit/>
          </a:bodyPr>
          <a:lstStyle/>
          <a:p>
            <a:pPr algn="l" eaLnBrk="1" hangingPunct="1">
              <a:lnSpc>
                <a:spcPct val="85000"/>
              </a:lnSpc>
            </a:pPr>
            <a:r>
              <a:rPr kumimoji="1" lang="en-US" altLang="zh-CN" dirty="0">
                <a:latin typeface="Arial" charset="0"/>
              </a:rPr>
              <a:t>long</a:t>
            </a:r>
            <a:r>
              <a:rPr kumimoji="1" lang="en-US" altLang="zh-CN" b="0" dirty="0">
                <a:latin typeface="Arial" charset="0"/>
              </a:rPr>
              <a:t> </a:t>
            </a:r>
            <a:r>
              <a:rPr kumimoji="1" lang="en-US" altLang="zh-CN" dirty="0" err="1">
                <a:latin typeface="Arial" charset="0"/>
              </a:rPr>
              <a:t>fac</a:t>
            </a:r>
            <a:r>
              <a:rPr kumimoji="1" lang="en-US" altLang="zh-CN" b="0" dirty="0">
                <a:latin typeface="Arial" charset="0"/>
              </a:rPr>
              <a:t> </a:t>
            </a:r>
            <a:r>
              <a:rPr kumimoji="1" lang="en-US" altLang="zh-CN" dirty="0">
                <a:latin typeface="Arial" charset="0"/>
              </a:rPr>
              <a:t>(</a:t>
            </a:r>
            <a:r>
              <a:rPr kumimoji="1" lang="en-US" altLang="zh-CN" dirty="0" err="1">
                <a:latin typeface="Arial" charset="0"/>
              </a:rPr>
              <a:t>int</a:t>
            </a:r>
            <a:r>
              <a:rPr kumimoji="1" lang="en-US" altLang="zh-CN" dirty="0">
                <a:latin typeface="Arial" charset="0"/>
              </a:rPr>
              <a:t> n)</a:t>
            </a:r>
            <a:r>
              <a:rPr kumimoji="1" lang="en-US" altLang="zh-CN" b="0" dirty="0">
                <a:latin typeface="Arial" charset="0"/>
              </a:rPr>
              <a:t> </a:t>
            </a:r>
          </a:p>
          <a:p>
            <a:pPr algn="l" eaLnBrk="1" hangingPunct="1">
              <a:lnSpc>
                <a:spcPct val="85000"/>
              </a:lnSpc>
            </a:pPr>
            <a:r>
              <a:rPr kumimoji="1" lang="en-US" altLang="zh-CN" dirty="0">
                <a:latin typeface="Arial" charset="0"/>
              </a:rPr>
              <a:t>{  if</a:t>
            </a:r>
            <a:r>
              <a:rPr kumimoji="1" lang="en-US" altLang="zh-CN" b="0" dirty="0">
                <a:latin typeface="Arial" charset="0"/>
              </a:rPr>
              <a:t> </a:t>
            </a:r>
            <a:r>
              <a:rPr kumimoji="1" lang="en-US" altLang="zh-CN" dirty="0">
                <a:latin typeface="Arial" charset="0"/>
              </a:rPr>
              <a:t>( n == 1 )</a:t>
            </a:r>
            <a:r>
              <a:rPr kumimoji="1" lang="en-US" altLang="zh-CN" b="0" i="1" dirty="0">
                <a:latin typeface="Arial" charset="0"/>
              </a:rPr>
              <a:t> </a:t>
            </a:r>
            <a:r>
              <a:rPr kumimoji="1" lang="en-US" altLang="zh-CN" dirty="0">
                <a:latin typeface="Arial" charset="0"/>
              </a:rPr>
              <a:t>return 1;</a:t>
            </a:r>
          </a:p>
          <a:p>
            <a:pPr algn="l" eaLnBrk="1" hangingPunct="1">
              <a:lnSpc>
                <a:spcPct val="85000"/>
              </a:lnSpc>
            </a:pPr>
            <a:r>
              <a:rPr kumimoji="1" lang="en-US" altLang="zh-CN" dirty="0">
                <a:latin typeface="Arial" charset="0"/>
              </a:rPr>
              <a:t>   return</a:t>
            </a:r>
            <a:r>
              <a:rPr kumimoji="1" lang="en-US" altLang="zh-CN" b="0" dirty="0">
                <a:latin typeface="Arial" charset="0"/>
              </a:rPr>
              <a:t> </a:t>
            </a:r>
            <a:r>
              <a:rPr kumimoji="1" lang="en-US" altLang="zh-CN" dirty="0">
                <a:latin typeface="Arial" charset="0"/>
              </a:rPr>
              <a:t>n*</a:t>
            </a:r>
            <a:r>
              <a:rPr kumimoji="1" lang="en-US" altLang="zh-CN" dirty="0" err="1">
                <a:latin typeface="Arial" charset="0"/>
              </a:rPr>
              <a:t>fac</a:t>
            </a:r>
            <a:r>
              <a:rPr kumimoji="1" lang="en-US" altLang="zh-CN" dirty="0">
                <a:latin typeface="Arial" charset="0"/>
              </a:rPr>
              <a:t>(n-1);</a:t>
            </a:r>
          </a:p>
          <a:p>
            <a:pPr algn="l" eaLnBrk="1" hangingPunct="1">
              <a:lnSpc>
                <a:spcPct val="85000"/>
              </a:lnSpc>
            </a:pPr>
            <a:r>
              <a:rPr kumimoji="1" lang="en-US" altLang="zh-CN" dirty="0">
                <a:latin typeface="Arial" charset="0"/>
              </a:rPr>
              <a:t>}</a:t>
            </a:r>
          </a:p>
        </p:txBody>
      </p:sp>
      <p:sp>
        <p:nvSpPr>
          <p:cNvPr id="400388" name="Text Box 4"/>
          <p:cNvSpPr txBox="1">
            <a:spLocks noChangeArrowheads="1"/>
          </p:cNvSpPr>
          <p:nvPr/>
        </p:nvSpPr>
        <p:spPr bwMode="auto">
          <a:xfrm>
            <a:off x="468313" y="3068638"/>
            <a:ext cx="6911975" cy="579437"/>
          </a:xfrm>
          <a:prstGeom prst="rect">
            <a:avLst/>
          </a:prstGeom>
          <a:noFill/>
          <a:ln w="9525">
            <a:noFill/>
            <a:miter lim="800000"/>
            <a:headEnd/>
            <a:tailEnd/>
          </a:ln>
          <a:effectLst/>
        </p:spPr>
        <p:txBody>
          <a:bodyPr>
            <a:spAutoFit/>
          </a:bodyPr>
          <a:lstStyle/>
          <a:p>
            <a:pPr algn="l" eaLnBrk="1" hangingPunct="1">
              <a:defRPr/>
            </a:pPr>
            <a:r>
              <a:rPr kumimoji="1" lang="zh-CN" altLang="en-US" sz="3200">
                <a:solidFill>
                  <a:srgbClr val="CC0099"/>
                </a:solidFill>
                <a:effectLst>
                  <a:outerShdw blurRad="38100" dist="38100" dir="2700000" algn="tl">
                    <a:srgbClr val="C0C0C0"/>
                  </a:outerShdw>
                </a:effectLst>
                <a:ea typeface="楷体_GB2312" pitchFamily="49" charset="-122"/>
              </a:rPr>
              <a:t>阶乘函数的递归公式及函数如下：</a:t>
            </a:r>
            <a:endParaRPr kumimoji="1" lang="zh-CN" altLang="en-US" sz="3200" b="0">
              <a:solidFill>
                <a:srgbClr val="CC0099"/>
              </a:solidFill>
              <a:ea typeface="宋体" pitchFamily="2" charset="-122"/>
            </a:endParaRPr>
          </a:p>
        </p:txBody>
      </p:sp>
      <p:sp>
        <p:nvSpPr>
          <p:cNvPr id="400390" name="Rectangle 6"/>
          <p:cNvSpPr>
            <a:spLocks noChangeArrowheads="1"/>
          </p:cNvSpPr>
          <p:nvPr/>
        </p:nvSpPr>
        <p:spPr bwMode="auto">
          <a:xfrm>
            <a:off x="539750" y="1052513"/>
            <a:ext cx="8064500" cy="2057400"/>
          </a:xfrm>
          <a:prstGeom prst="rect">
            <a:avLst/>
          </a:prstGeom>
          <a:noFill/>
          <a:ln w="9525">
            <a:noFill/>
            <a:miter lim="800000"/>
            <a:headEnd/>
            <a:tailEnd/>
          </a:ln>
          <a:effectLst/>
        </p:spPr>
        <p:txBody>
          <a:bodyPr>
            <a:spAutoFit/>
          </a:bodyPr>
          <a:lstStyle/>
          <a:p>
            <a:pPr algn="l" eaLnBrk="1" hangingPunct="1">
              <a:spcBef>
                <a:spcPct val="20000"/>
              </a:spcBef>
              <a:defRPr/>
            </a:pPr>
            <a:r>
              <a:rPr kumimoji="1" lang="zh-CN" altLang="en-US" dirty="0">
                <a:effectLst>
                  <a:outerShdw blurRad="38100" dist="38100" dir="2700000" algn="tl">
                    <a:srgbClr val="C0C0C0"/>
                  </a:outerShdw>
                </a:effectLst>
                <a:latin typeface="黑体" pitchFamily="2" charset="-122"/>
                <a:ea typeface="黑体" pitchFamily="2" charset="-122"/>
              </a:rPr>
              <a:t>用循环计算阶乘 </a:t>
            </a:r>
            <a:r>
              <a:rPr kumimoji="1" lang="en-US" altLang="zh-CN" dirty="0">
                <a:effectLst>
                  <a:outerShdw blurRad="38100" dist="38100" dir="2700000" algn="tl">
                    <a:srgbClr val="C0C0C0"/>
                  </a:outerShdw>
                </a:effectLst>
                <a:latin typeface="黑体" pitchFamily="2" charset="-122"/>
                <a:ea typeface="黑体" pitchFamily="2" charset="-122"/>
              </a:rPr>
              <a:t>n! </a:t>
            </a:r>
            <a:r>
              <a:rPr kumimoji="1" lang="zh-CN" altLang="en-US" dirty="0">
                <a:effectLst>
                  <a:outerShdw blurRad="38100" dist="38100" dir="2700000" algn="tl">
                    <a:srgbClr val="C0C0C0"/>
                  </a:outerShdw>
                </a:effectLst>
                <a:latin typeface="黑体" pitchFamily="2" charset="-122"/>
                <a:ea typeface="黑体" pitchFamily="2" charset="-122"/>
              </a:rPr>
              <a:t>的思想是：</a:t>
            </a:r>
          </a:p>
          <a:p>
            <a:pPr algn="l" eaLnBrk="1" hangingPunct="1">
              <a:spcBef>
                <a:spcPct val="20000"/>
              </a:spcBef>
              <a:defRPr/>
            </a:pPr>
            <a:r>
              <a:rPr kumimoji="1" lang="zh-CN" altLang="en-US" dirty="0">
                <a:effectLst>
                  <a:outerShdw blurRad="38100" dist="38100" dir="2700000" algn="tl">
                    <a:srgbClr val="C0C0C0"/>
                  </a:outerShdw>
                </a:effectLst>
                <a:latin typeface="黑体" pitchFamily="2" charset="-122"/>
                <a:ea typeface="黑体" pitchFamily="2" charset="-122"/>
              </a:rPr>
              <a:t>    从</a:t>
            </a:r>
            <a:r>
              <a:rPr kumimoji="1" lang="en-US" altLang="zh-CN" dirty="0">
                <a:effectLst>
                  <a:outerShdw blurRad="38100" dist="38100" dir="2700000" algn="tl">
                    <a:srgbClr val="C0C0C0"/>
                  </a:outerShdw>
                </a:effectLst>
                <a:latin typeface="黑体" pitchFamily="2" charset="-122"/>
                <a:ea typeface="黑体" pitchFamily="2" charset="-122"/>
              </a:rPr>
              <a:t>1</a:t>
            </a:r>
            <a:r>
              <a:rPr kumimoji="1" lang="zh-CN" altLang="en-US" dirty="0">
                <a:effectLst>
                  <a:outerShdw blurRad="38100" dist="38100" dir="2700000" algn="tl">
                    <a:srgbClr val="C0C0C0"/>
                  </a:outerShdw>
                </a:effectLst>
                <a:latin typeface="黑体" pitchFamily="2" charset="-122"/>
                <a:ea typeface="黑体" pitchFamily="2" charset="-122"/>
              </a:rPr>
              <a:t>开始，乘</a:t>
            </a:r>
            <a:r>
              <a:rPr kumimoji="1" lang="en-US" altLang="zh-CN" dirty="0">
                <a:effectLst>
                  <a:outerShdw blurRad="38100" dist="38100" dir="2700000" algn="tl">
                    <a:srgbClr val="C0C0C0"/>
                  </a:outerShdw>
                </a:effectLst>
                <a:latin typeface="黑体" pitchFamily="2" charset="-122"/>
                <a:ea typeface="黑体" pitchFamily="2" charset="-122"/>
              </a:rPr>
              <a:t>2</a:t>
            </a:r>
            <a:r>
              <a:rPr kumimoji="1" lang="zh-CN" altLang="en-US" dirty="0">
                <a:effectLst>
                  <a:outerShdw blurRad="38100" dist="38100" dir="2700000" algn="tl">
                    <a:srgbClr val="C0C0C0"/>
                  </a:outerShdw>
                </a:effectLst>
                <a:latin typeface="黑体" pitchFamily="2" charset="-122"/>
                <a:ea typeface="黑体" pitchFamily="2" charset="-122"/>
              </a:rPr>
              <a:t>、再乘</a:t>
            </a:r>
            <a:r>
              <a:rPr kumimoji="1" lang="en-US" altLang="zh-CN" dirty="0">
                <a:effectLst>
                  <a:outerShdw blurRad="38100" dist="38100" dir="2700000" algn="tl">
                    <a:srgbClr val="C0C0C0"/>
                  </a:outerShdw>
                </a:effectLst>
                <a:latin typeface="黑体" pitchFamily="2" charset="-122"/>
                <a:ea typeface="黑体" pitchFamily="2" charset="-122"/>
              </a:rPr>
              <a:t>3</a:t>
            </a:r>
            <a:r>
              <a:rPr kumimoji="1" lang="zh-CN" altLang="en-US" dirty="0">
                <a:effectLst>
                  <a:outerShdw blurRad="38100" dist="38100" dir="2700000" algn="tl">
                    <a:srgbClr val="C0C0C0"/>
                  </a:outerShdw>
                </a:effectLst>
                <a:latin typeface="黑体" pitchFamily="2" charset="-122"/>
                <a:ea typeface="黑体" pitchFamily="2" charset="-122"/>
              </a:rPr>
              <a:t>、</a:t>
            </a:r>
            <a:r>
              <a:rPr kumimoji="1" lang="en-US" altLang="zh-CN" dirty="0">
                <a:effectLst>
                  <a:outerShdw blurRad="38100" dist="38100" dir="2700000" algn="tl">
                    <a:srgbClr val="C0C0C0"/>
                  </a:outerShdw>
                </a:effectLst>
                <a:latin typeface="宋体" pitchFamily="2" charset="-122"/>
                <a:ea typeface="宋体" pitchFamily="2" charset="-122"/>
              </a:rPr>
              <a:t>…</a:t>
            </a:r>
            <a:r>
              <a:rPr kumimoji="1" lang="zh-CN" altLang="en-US" dirty="0">
                <a:effectLst>
                  <a:outerShdw blurRad="38100" dist="38100" dir="2700000" algn="tl">
                    <a:srgbClr val="C0C0C0"/>
                  </a:outerShdw>
                </a:effectLst>
                <a:latin typeface="黑体" pitchFamily="2" charset="-122"/>
                <a:ea typeface="黑体" pitchFamily="2" charset="-122"/>
              </a:rPr>
              <a:t>、一直乘到</a:t>
            </a:r>
            <a:r>
              <a:rPr kumimoji="1" lang="en-US" altLang="zh-CN" dirty="0">
                <a:effectLst>
                  <a:outerShdw blurRad="38100" dist="38100" dir="2700000" algn="tl">
                    <a:srgbClr val="C0C0C0"/>
                  </a:outerShdw>
                </a:effectLst>
                <a:latin typeface="黑体" pitchFamily="2" charset="-122"/>
                <a:ea typeface="黑体" pitchFamily="2" charset="-122"/>
              </a:rPr>
              <a:t>n</a:t>
            </a:r>
            <a:r>
              <a:rPr kumimoji="1" lang="zh-CN" altLang="en-US" dirty="0">
                <a:effectLst>
                  <a:outerShdw blurRad="38100" dist="38100" dir="2700000" algn="tl">
                    <a:srgbClr val="C0C0C0"/>
                  </a:outerShdw>
                </a:effectLst>
                <a:latin typeface="黑体" pitchFamily="2" charset="-122"/>
                <a:ea typeface="黑体" pitchFamily="2" charset="-122"/>
              </a:rPr>
              <a:t>为止。</a:t>
            </a:r>
          </a:p>
          <a:p>
            <a:pPr algn="l" eaLnBrk="1" hangingPunct="1">
              <a:spcBef>
                <a:spcPct val="20000"/>
              </a:spcBef>
              <a:defRPr/>
            </a:pPr>
            <a:r>
              <a:rPr kumimoji="1" lang="zh-CN" altLang="en-US" dirty="0">
                <a:effectLst>
                  <a:outerShdw blurRad="38100" dist="38100" dir="2700000" algn="tl">
                    <a:srgbClr val="C0C0C0"/>
                  </a:outerShdw>
                </a:effectLst>
                <a:latin typeface="黑体" pitchFamily="2" charset="-122"/>
                <a:ea typeface="黑体" pitchFamily="2" charset="-122"/>
              </a:rPr>
              <a:t>用递归计算阶乘 </a:t>
            </a:r>
            <a:r>
              <a:rPr kumimoji="1" lang="en-US" altLang="zh-CN" dirty="0">
                <a:effectLst>
                  <a:outerShdw blurRad="38100" dist="38100" dir="2700000" algn="tl">
                    <a:srgbClr val="C0C0C0"/>
                  </a:outerShdw>
                </a:effectLst>
                <a:latin typeface="黑体" pitchFamily="2" charset="-122"/>
                <a:ea typeface="黑体" pitchFamily="2" charset="-122"/>
              </a:rPr>
              <a:t>n! </a:t>
            </a:r>
            <a:r>
              <a:rPr kumimoji="1" lang="zh-CN" altLang="en-US" dirty="0">
                <a:effectLst>
                  <a:outerShdw blurRad="38100" dist="38100" dir="2700000" algn="tl">
                    <a:srgbClr val="C0C0C0"/>
                  </a:outerShdw>
                </a:effectLst>
                <a:latin typeface="黑体" pitchFamily="2" charset="-122"/>
                <a:ea typeface="黑体" pitchFamily="2" charset="-122"/>
              </a:rPr>
              <a:t>的思想是（设 </a:t>
            </a:r>
            <a:r>
              <a:rPr kumimoji="1" lang="en-US" altLang="zh-CN" dirty="0">
                <a:effectLst>
                  <a:outerShdw blurRad="38100" dist="38100" dir="2700000" algn="tl">
                    <a:srgbClr val="C0C0C0"/>
                  </a:outerShdw>
                </a:effectLst>
                <a:latin typeface="黑体" pitchFamily="2" charset="-122"/>
                <a:ea typeface="黑体" pitchFamily="2" charset="-122"/>
              </a:rPr>
              <a:t>n = 5</a:t>
            </a:r>
            <a:r>
              <a:rPr kumimoji="1" lang="zh-CN" altLang="en-US" dirty="0">
                <a:effectLst>
                  <a:outerShdw blurRad="38100" dist="38100" dir="2700000" algn="tl">
                    <a:srgbClr val="C0C0C0"/>
                  </a:outerShdw>
                </a:effectLst>
                <a:latin typeface="黑体" pitchFamily="2" charset="-122"/>
                <a:ea typeface="黑体" pitchFamily="2" charset="-122"/>
              </a:rPr>
              <a:t>）：</a:t>
            </a:r>
          </a:p>
          <a:p>
            <a:pPr algn="l" eaLnBrk="1" hangingPunct="1">
              <a:spcBef>
                <a:spcPct val="20000"/>
              </a:spcBef>
              <a:defRPr/>
            </a:pPr>
            <a:r>
              <a:rPr kumimoji="1" lang="zh-CN" altLang="en-US" dirty="0">
                <a:effectLst>
                  <a:outerShdw blurRad="38100" dist="38100" dir="2700000" algn="tl">
                    <a:srgbClr val="C0C0C0"/>
                  </a:outerShdw>
                </a:effectLst>
                <a:latin typeface="黑体" pitchFamily="2" charset="-122"/>
                <a:ea typeface="黑体" pitchFamily="2" charset="-122"/>
              </a:rPr>
              <a:t>    </a:t>
            </a:r>
            <a:r>
              <a:rPr kumimoji="1" lang="en-US" altLang="zh-CN" dirty="0">
                <a:effectLst>
                  <a:outerShdw blurRad="38100" dist="38100" dir="2700000" algn="tl">
                    <a:srgbClr val="C0C0C0"/>
                  </a:outerShdw>
                </a:effectLst>
                <a:latin typeface="黑体" pitchFamily="2" charset="-122"/>
                <a:ea typeface="黑体" pitchFamily="2" charset="-122"/>
              </a:rPr>
              <a:t>5!</a:t>
            </a:r>
            <a:r>
              <a:rPr kumimoji="1" lang="zh-CN" altLang="en-US" dirty="0">
                <a:effectLst>
                  <a:outerShdw blurRad="38100" dist="38100" dir="2700000" algn="tl">
                    <a:srgbClr val="C0C0C0"/>
                  </a:outerShdw>
                </a:effectLst>
                <a:latin typeface="黑体" pitchFamily="2" charset="-122"/>
                <a:ea typeface="黑体" pitchFamily="2" charset="-122"/>
              </a:rPr>
              <a:t>等于</a:t>
            </a:r>
            <a:r>
              <a:rPr kumimoji="1" lang="en-US" altLang="zh-CN" dirty="0">
                <a:effectLst>
                  <a:outerShdw blurRad="38100" dist="38100" dir="2700000" algn="tl">
                    <a:srgbClr val="C0C0C0"/>
                  </a:outerShdw>
                </a:effectLst>
                <a:latin typeface="黑体" pitchFamily="2" charset="-122"/>
                <a:ea typeface="黑体" pitchFamily="2" charset="-122"/>
              </a:rPr>
              <a:t>5×4! </a:t>
            </a:r>
            <a:r>
              <a:rPr kumimoji="1" lang="zh-CN" altLang="en-US" dirty="0">
                <a:effectLst>
                  <a:outerShdw blurRad="38100" dist="38100" dir="2700000" algn="tl">
                    <a:srgbClr val="C0C0C0"/>
                  </a:outerShdw>
                </a:effectLst>
                <a:latin typeface="黑体" pitchFamily="2" charset="-122"/>
                <a:ea typeface="黑体" pitchFamily="2" charset="-122"/>
              </a:rPr>
              <a:t>，而</a:t>
            </a:r>
            <a:r>
              <a:rPr kumimoji="1" lang="en-US" altLang="zh-CN" dirty="0">
                <a:effectLst>
                  <a:outerShdw blurRad="38100" dist="38100" dir="2700000" algn="tl">
                    <a:srgbClr val="C0C0C0"/>
                  </a:outerShdw>
                </a:effectLst>
                <a:latin typeface="黑体" pitchFamily="2" charset="-122"/>
                <a:ea typeface="黑体" pitchFamily="2" charset="-122"/>
              </a:rPr>
              <a:t>4!</a:t>
            </a:r>
            <a:r>
              <a:rPr kumimoji="1" lang="zh-CN" altLang="en-US" dirty="0">
                <a:effectLst>
                  <a:outerShdw blurRad="38100" dist="38100" dir="2700000" algn="tl">
                    <a:srgbClr val="C0C0C0"/>
                  </a:outerShdw>
                </a:effectLst>
                <a:latin typeface="黑体" pitchFamily="2" charset="-122"/>
                <a:ea typeface="黑体" pitchFamily="2" charset="-122"/>
              </a:rPr>
              <a:t>等于</a:t>
            </a:r>
            <a:r>
              <a:rPr kumimoji="1" lang="en-US" altLang="zh-CN" dirty="0">
                <a:effectLst>
                  <a:outerShdw blurRad="38100" dist="38100" dir="2700000" algn="tl">
                    <a:srgbClr val="C0C0C0"/>
                  </a:outerShdw>
                </a:effectLst>
                <a:latin typeface="黑体" pitchFamily="2" charset="-122"/>
                <a:ea typeface="黑体" pitchFamily="2" charset="-122"/>
              </a:rPr>
              <a:t>4×3! </a:t>
            </a:r>
            <a:r>
              <a:rPr kumimoji="1" lang="zh-CN" altLang="en-US" dirty="0">
                <a:effectLst>
                  <a:outerShdw blurRad="38100" dist="38100" dir="2700000" algn="tl">
                    <a:srgbClr val="C0C0C0"/>
                  </a:outerShdw>
                </a:effectLst>
                <a:latin typeface="黑体" pitchFamily="2" charset="-122"/>
                <a:ea typeface="黑体" pitchFamily="2" charset="-122"/>
              </a:rPr>
              <a:t>，</a:t>
            </a:r>
            <a:r>
              <a:rPr kumimoji="1" lang="en-US" altLang="zh-CN" dirty="0">
                <a:effectLst>
                  <a:outerShdw blurRad="38100" dist="38100" dir="2700000" algn="tl">
                    <a:srgbClr val="C0C0C0"/>
                  </a:outerShdw>
                </a:effectLst>
                <a:latin typeface="宋体" pitchFamily="2" charset="-122"/>
                <a:ea typeface="宋体" pitchFamily="2" charset="-122"/>
              </a:rPr>
              <a:t>…</a:t>
            </a:r>
            <a:r>
              <a:rPr kumimoji="1" lang="zh-CN" altLang="en-US" dirty="0">
                <a:effectLst>
                  <a:outerShdw blurRad="38100" dist="38100" dir="2700000" algn="tl">
                    <a:srgbClr val="C0C0C0"/>
                  </a:outerShdw>
                </a:effectLst>
                <a:latin typeface="黑体" pitchFamily="2" charset="-122"/>
                <a:ea typeface="黑体" pitchFamily="2" charset="-122"/>
              </a:rPr>
              <a:t>，</a:t>
            </a:r>
            <a:r>
              <a:rPr kumimoji="1" lang="en-US" altLang="zh-CN" dirty="0">
                <a:effectLst>
                  <a:outerShdw blurRad="38100" dist="38100" dir="2700000" algn="tl">
                    <a:srgbClr val="C0C0C0"/>
                  </a:outerShdw>
                </a:effectLst>
                <a:latin typeface="黑体" pitchFamily="2" charset="-122"/>
                <a:ea typeface="黑体" pitchFamily="2" charset="-122"/>
              </a:rPr>
              <a:t>1!=1</a:t>
            </a:r>
          </a:p>
        </p:txBody>
      </p:sp>
      <p:sp>
        <p:nvSpPr>
          <p:cNvPr id="58376" name="Line 7"/>
          <p:cNvSpPr>
            <a:spLocks noChangeShapeType="1"/>
          </p:cNvSpPr>
          <p:nvPr/>
        </p:nvSpPr>
        <p:spPr bwMode="auto">
          <a:xfrm>
            <a:off x="4211638" y="6021388"/>
            <a:ext cx="1512887" cy="0"/>
          </a:xfrm>
          <a:prstGeom prst="line">
            <a:avLst/>
          </a:prstGeom>
          <a:noFill/>
          <a:ln w="38100">
            <a:solidFill>
              <a:srgbClr val="990000"/>
            </a:solidFill>
            <a:round/>
            <a:headEnd/>
            <a:tailEnd/>
          </a:ln>
        </p:spPr>
        <p:txBody>
          <a:bodyPr/>
          <a:lstStyle/>
          <a:p>
            <a:endParaRPr lang="zh-CN" altLang="en-US"/>
          </a:p>
        </p:txBody>
      </p:sp>
      <p:sp>
        <p:nvSpPr>
          <p:cNvPr id="58377" name="Line 8"/>
          <p:cNvSpPr>
            <a:spLocks noChangeShapeType="1"/>
          </p:cNvSpPr>
          <p:nvPr/>
        </p:nvSpPr>
        <p:spPr bwMode="auto">
          <a:xfrm flipV="1">
            <a:off x="5724525" y="5229225"/>
            <a:ext cx="0" cy="792163"/>
          </a:xfrm>
          <a:prstGeom prst="line">
            <a:avLst/>
          </a:prstGeom>
          <a:noFill/>
          <a:ln w="38100">
            <a:solidFill>
              <a:srgbClr val="990000"/>
            </a:solidFill>
            <a:round/>
            <a:headEnd/>
            <a:tailEnd/>
          </a:ln>
        </p:spPr>
        <p:txBody>
          <a:bodyPr/>
          <a:lstStyle/>
          <a:p>
            <a:endParaRPr lang="zh-CN" altLang="en-US"/>
          </a:p>
        </p:txBody>
      </p:sp>
      <p:sp>
        <p:nvSpPr>
          <p:cNvPr id="58378" name="Line 9"/>
          <p:cNvSpPr>
            <a:spLocks noChangeShapeType="1"/>
          </p:cNvSpPr>
          <p:nvPr/>
        </p:nvSpPr>
        <p:spPr bwMode="auto">
          <a:xfrm>
            <a:off x="3348038" y="5229225"/>
            <a:ext cx="2376487" cy="0"/>
          </a:xfrm>
          <a:prstGeom prst="line">
            <a:avLst/>
          </a:prstGeom>
          <a:noFill/>
          <a:ln w="38100">
            <a:solidFill>
              <a:srgbClr val="990000"/>
            </a:solidFill>
            <a:round/>
            <a:headEnd type="triangle" w="med" len="med"/>
            <a:tailEnd/>
          </a:ln>
        </p:spPr>
        <p:txBody>
          <a:bodyPr/>
          <a:lstStyle/>
          <a:p>
            <a:endParaRPr lang="zh-CN"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26534D33-515A-4847-8528-2A52A08C834C}" type="slidenum">
              <a:rPr lang="en-US" altLang="zh-CN"/>
              <a:pPr>
                <a:defRPr/>
              </a:pPr>
              <a:t>51</a:t>
            </a:fld>
            <a:endParaRPr lang="en-US" altLang="zh-CN"/>
          </a:p>
        </p:txBody>
      </p:sp>
      <p:sp>
        <p:nvSpPr>
          <p:cNvPr id="411651" name="Rectangle 3"/>
          <p:cNvSpPr>
            <a:spLocks noChangeArrowheads="1"/>
          </p:cNvSpPr>
          <p:nvPr/>
        </p:nvSpPr>
        <p:spPr bwMode="auto">
          <a:xfrm>
            <a:off x="611188" y="1196975"/>
            <a:ext cx="8064500" cy="4473575"/>
          </a:xfrm>
          <a:prstGeom prst="rect">
            <a:avLst/>
          </a:prstGeom>
          <a:noFill/>
          <a:ln w="9525">
            <a:noFill/>
            <a:miter lim="800000"/>
            <a:headEnd/>
            <a:tailEnd/>
          </a:ln>
          <a:effectLst/>
        </p:spPr>
        <p:txBody>
          <a:bodyPr>
            <a:spAutoFit/>
          </a:bodyPr>
          <a:lstStyle/>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为计算</a:t>
            </a:r>
            <a:r>
              <a:rPr kumimoji="1" lang="en-US" altLang="zh-CN" sz="2400">
                <a:effectLst>
                  <a:outerShdw blurRad="38100" dist="38100" dir="2700000" algn="tl">
                    <a:srgbClr val="C0C0C0"/>
                  </a:outerShdw>
                </a:effectLst>
                <a:latin typeface="楷体_GB2312" pitchFamily="49" charset="-122"/>
                <a:ea typeface="楷体_GB2312" pitchFamily="49" charset="-122"/>
              </a:rPr>
              <a:t>3!</a:t>
            </a:r>
            <a:r>
              <a:rPr kumimoji="1" lang="zh-CN" altLang="en-US" sz="2400">
                <a:effectLst>
                  <a:outerShdw blurRad="38100" dist="38100" dir="2700000" algn="tl">
                    <a:srgbClr val="C0C0C0"/>
                  </a:outerShdw>
                </a:effectLst>
                <a:latin typeface="楷体_GB2312" pitchFamily="49" charset="-122"/>
                <a:ea typeface="楷体_GB2312" pitchFamily="49" charset="-122"/>
              </a:rPr>
              <a:t>，在主函数中用</a:t>
            </a:r>
            <a:r>
              <a:rPr kumimoji="1" lang="en-US" altLang="zh-CN" sz="2400">
                <a:effectLst>
                  <a:outerShdw blurRad="38100" dist="38100" dir="2700000" algn="tl">
                    <a:srgbClr val="C0C0C0"/>
                  </a:outerShdw>
                </a:effectLst>
                <a:latin typeface="楷体_GB2312" pitchFamily="49" charset="-122"/>
                <a:ea typeface="楷体_GB2312" pitchFamily="49" charset="-122"/>
              </a:rPr>
              <a:t>fac(3)</a:t>
            </a:r>
            <a:r>
              <a:rPr kumimoji="1" lang="zh-CN" altLang="en-US" sz="2400">
                <a:effectLst>
                  <a:outerShdw blurRad="38100" dist="38100" dir="2700000" algn="tl">
                    <a:srgbClr val="C0C0C0"/>
                  </a:outerShdw>
                </a:effectLst>
                <a:latin typeface="楷体_GB2312" pitchFamily="49" charset="-122"/>
                <a:ea typeface="楷体_GB2312" pitchFamily="49" charset="-122"/>
              </a:rPr>
              <a:t>去调用</a:t>
            </a:r>
            <a:r>
              <a:rPr kumimoji="1" lang="en-US" altLang="zh-CN" sz="2400">
                <a:effectLst>
                  <a:outerShdw blurRad="38100" dist="38100" dir="2700000" algn="tl">
                    <a:srgbClr val="C0C0C0"/>
                  </a:outerShdw>
                </a:effectLst>
                <a:latin typeface="楷体_GB2312" pitchFamily="49" charset="-122"/>
                <a:ea typeface="楷体_GB2312" pitchFamily="49" charset="-122"/>
              </a:rPr>
              <a:t>fac()</a:t>
            </a:r>
            <a:r>
              <a:rPr kumimoji="1" lang="zh-CN" altLang="en-US" sz="2400">
                <a:effectLst>
                  <a:outerShdw blurRad="38100" dist="38100" dir="2700000" algn="tl">
                    <a:srgbClr val="C0C0C0"/>
                  </a:outerShdw>
                </a:effectLst>
                <a:latin typeface="楷体_GB2312" pitchFamily="49" charset="-122"/>
                <a:ea typeface="楷体_GB2312" pitchFamily="49" charset="-122"/>
              </a:rPr>
              <a:t>函数。在</a:t>
            </a:r>
            <a:r>
              <a:rPr kumimoji="1" lang="en-US" altLang="zh-CN" sz="2400">
                <a:effectLst>
                  <a:outerShdw blurRad="38100" dist="38100" dir="2700000" algn="tl">
                    <a:srgbClr val="C0C0C0"/>
                  </a:outerShdw>
                </a:effectLst>
                <a:latin typeface="楷体_GB2312" pitchFamily="49" charset="-122"/>
                <a:ea typeface="楷体_GB2312" pitchFamily="49" charset="-122"/>
              </a:rPr>
              <a:t>fac()</a:t>
            </a:r>
            <a:r>
              <a:rPr kumimoji="1" lang="zh-CN" altLang="en-US" sz="2400">
                <a:effectLst>
                  <a:outerShdw blurRad="38100" dist="38100" dir="2700000" algn="tl">
                    <a:srgbClr val="C0C0C0"/>
                  </a:outerShdw>
                </a:effectLst>
                <a:latin typeface="楷体_GB2312" pitchFamily="49" charset="-122"/>
                <a:ea typeface="楷体_GB2312" pitchFamily="49" charset="-122"/>
              </a:rPr>
              <a:t>函数中，由于</a:t>
            </a:r>
            <a:r>
              <a:rPr kumimoji="1" lang="en-US" altLang="zh-CN" sz="2400">
                <a:effectLst>
                  <a:outerShdw blurRad="38100" dist="38100" dir="2700000" algn="tl">
                    <a:srgbClr val="C0C0C0"/>
                  </a:outerShdw>
                </a:effectLst>
                <a:latin typeface="楷体_GB2312" pitchFamily="49" charset="-122"/>
                <a:ea typeface="楷体_GB2312" pitchFamily="49" charset="-122"/>
              </a:rPr>
              <a:t>n = 3</a:t>
            </a:r>
            <a:r>
              <a:rPr kumimoji="1" lang="zh-CN" altLang="en-US" sz="2400">
                <a:effectLst>
                  <a:outerShdw blurRad="38100" dist="38100" dir="2700000" algn="tl">
                    <a:srgbClr val="C0C0C0"/>
                  </a:outerShdw>
                </a:effectLst>
                <a:latin typeface="楷体_GB2312" pitchFamily="49" charset="-122"/>
                <a:ea typeface="楷体_GB2312" pitchFamily="49" charset="-122"/>
              </a:rPr>
              <a:t>大于</a:t>
            </a:r>
            <a:r>
              <a:rPr kumimoji="1" lang="en-US" altLang="zh-CN" sz="2400">
                <a:effectLst>
                  <a:outerShdw blurRad="38100" dist="38100" dir="2700000" algn="tl">
                    <a:srgbClr val="C0C0C0"/>
                  </a:outerShdw>
                </a:effectLst>
                <a:latin typeface="楷体_GB2312" pitchFamily="49" charset="-122"/>
                <a:ea typeface="楷体_GB2312" pitchFamily="49" charset="-122"/>
              </a:rPr>
              <a:t>1</a:t>
            </a:r>
            <a:r>
              <a:rPr kumimoji="1" lang="zh-CN" altLang="en-US" sz="2400">
                <a:effectLst>
                  <a:outerShdw blurRad="38100" dist="38100" dir="2700000" algn="tl">
                    <a:srgbClr val="C0C0C0"/>
                  </a:outerShdw>
                </a:effectLst>
                <a:latin typeface="楷体_GB2312" pitchFamily="49" charset="-122"/>
                <a:ea typeface="楷体_GB2312" pitchFamily="49" charset="-122"/>
              </a:rPr>
              <a:t>，执行语句：</a:t>
            </a:r>
          </a:p>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en-US" altLang="zh-CN" sz="2400">
                <a:effectLst>
                  <a:outerShdw blurRad="38100" dist="38100" dir="2700000" algn="tl">
                    <a:srgbClr val="C0C0C0"/>
                  </a:outerShdw>
                </a:effectLst>
                <a:latin typeface="楷体_GB2312" pitchFamily="49" charset="-122"/>
                <a:ea typeface="楷体_GB2312" pitchFamily="49" charset="-122"/>
              </a:rPr>
              <a:t>return 3* fac(2); </a:t>
            </a:r>
          </a:p>
          <a:p>
            <a:pPr algn="l">
              <a:defRPr/>
            </a:pPr>
            <a:endParaRPr kumimoji="1" lang="en-US" altLang="zh-CN" sz="2400">
              <a:effectLst>
                <a:outerShdw blurRad="38100" dist="38100" dir="2700000" algn="tl">
                  <a:srgbClr val="C0C0C0"/>
                </a:outerShdw>
              </a:effectLst>
              <a:latin typeface="楷体_GB2312" pitchFamily="49" charset="-122"/>
              <a:ea typeface="楷体_GB2312" pitchFamily="49" charset="-122"/>
            </a:endParaRPr>
          </a:p>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为此，求表达式</a:t>
            </a:r>
            <a:r>
              <a:rPr kumimoji="1" lang="en-US" altLang="zh-CN" sz="2400">
                <a:effectLst>
                  <a:outerShdw blurRad="38100" dist="38100" dir="2700000" algn="tl">
                    <a:srgbClr val="C0C0C0"/>
                  </a:outerShdw>
                </a:effectLst>
                <a:latin typeface="楷体_GB2312" pitchFamily="49" charset="-122"/>
                <a:ea typeface="楷体_GB2312" pitchFamily="49" charset="-122"/>
              </a:rPr>
              <a:t>3* fac(2)</a:t>
            </a:r>
            <a:r>
              <a:rPr kumimoji="1" lang="zh-CN" altLang="en-US" sz="2400">
                <a:effectLst>
                  <a:outerShdw blurRad="38100" dist="38100" dir="2700000" algn="tl">
                    <a:srgbClr val="C0C0C0"/>
                  </a:outerShdw>
                </a:effectLst>
                <a:latin typeface="楷体_GB2312" pitchFamily="49" charset="-122"/>
                <a:ea typeface="楷体_GB2312" pitchFamily="49" charset="-122"/>
              </a:rPr>
              <a:t>的值，所以继续调用</a:t>
            </a:r>
            <a:r>
              <a:rPr kumimoji="1" lang="en-US" altLang="zh-CN" sz="2400">
                <a:effectLst>
                  <a:outerShdw blurRad="38100" dist="38100" dir="2700000" algn="tl">
                    <a:srgbClr val="C0C0C0"/>
                  </a:outerShdw>
                </a:effectLst>
                <a:latin typeface="楷体_GB2312" pitchFamily="49" charset="-122"/>
                <a:ea typeface="楷体_GB2312" pitchFamily="49" charset="-122"/>
              </a:rPr>
              <a:t>fac()</a:t>
            </a:r>
            <a:r>
              <a:rPr kumimoji="1" lang="zh-CN" altLang="en-US" sz="2400">
                <a:effectLst>
                  <a:outerShdw blurRad="38100" dist="38100" dir="2700000" algn="tl">
                    <a:srgbClr val="C0C0C0"/>
                  </a:outerShdw>
                </a:effectLst>
                <a:latin typeface="楷体_GB2312" pitchFamily="49" charset="-122"/>
                <a:ea typeface="楷体_GB2312" pitchFamily="49" charset="-122"/>
              </a:rPr>
              <a:t>函数；这次调用</a:t>
            </a:r>
            <a:r>
              <a:rPr kumimoji="1" lang="en-US" altLang="zh-CN" sz="2400">
                <a:effectLst>
                  <a:outerShdw blurRad="38100" dist="38100" dir="2700000" algn="tl">
                    <a:srgbClr val="C0C0C0"/>
                  </a:outerShdw>
                </a:effectLst>
                <a:latin typeface="楷体_GB2312" pitchFamily="49" charset="-122"/>
                <a:ea typeface="楷体_GB2312" pitchFamily="49" charset="-122"/>
              </a:rPr>
              <a:t>n = 2</a:t>
            </a:r>
            <a:r>
              <a:rPr kumimoji="1" lang="zh-CN" altLang="en-US" sz="2400">
                <a:effectLst>
                  <a:outerShdw blurRad="38100" dist="38100" dir="2700000" algn="tl">
                    <a:srgbClr val="C0C0C0"/>
                  </a:outerShdw>
                </a:effectLst>
                <a:latin typeface="楷体_GB2312" pitchFamily="49" charset="-122"/>
                <a:ea typeface="楷体_GB2312" pitchFamily="49" charset="-122"/>
              </a:rPr>
              <a:t>，仍大于</a:t>
            </a:r>
            <a:r>
              <a:rPr kumimoji="1" lang="en-US" altLang="zh-CN" sz="2400">
                <a:effectLst>
                  <a:outerShdw blurRad="38100" dist="38100" dir="2700000" algn="tl">
                    <a:srgbClr val="C0C0C0"/>
                  </a:outerShdw>
                </a:effectLst>
                <a:latin typeface="楷体_GB2312" pitchFamily="49" charset="-122"/>
                <a:ea typeface="楷体_GB2312" pitchFamily="49" charset="-122"/>
              </a:rPr>
              <a:t>1</a:t>
            </a:r>
            <a:r>
              <a:rPr kumimoji="1" lang="zh-CN" altLang="en-US" sz="2400">
                <a:effectLst>
                  <a:outerShdw blurRad="38100" dist="38100" dir="2700000" algn="tl">
                    <a:srgbClr val="C0C0C0"/>
                  </a:outerShdw>
                </a:effectLst>
                <a:latin typeface="楷体_GB2312" pitchFamily="49" charset="-122"/>
                <a:ea typeface="楷体_GB2312" pitchFamily="49" charset="-122"/>
              </a:rPr>
              <a:t>，执行语句：</a:t>
            </a:r>
          </a:p>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en-US" altLang="zh-CN" sz="2400">
                <a:effectLst>
                  <a:outerShdw blurRad="38100" dist="38100" dir="2700000" algn="tl">
                    <a:srgbClr val="C0C0C0"/>
                  </a:outerShdw>
                </a:effectLst>
                <a:latin typeface="楷体_GB2312" pitchFamily="49" charset="-122"/>
                <a:ea typeface="楷体_GB2312" pitchFamily="49" charset="-122"/>
              </a:rPr>
              <a:t>return 2* fac(1);</a:t>
            </a:r>
          </a:p>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再次调用</a:t>
            </a:r>
            <a:r>
              <a:rPr kumimoji="1" lang="en-US" altLang="zh-CN" sz="2400">
                <a:effectLst>
                  <a:outerShdw blurRad="38100" dist="38100" dir="2700000" algn="tl">
                    <a:srgbClr val="C0C0C0"/>
                  </a:outerShdw>
                </a:effectLst>
                <a:latin typeface="楷体_GB2312" pitchFamily="49" charset="-122"/>
                <a:ea typeface="楷体_GB2312" pitchFamily="49" charset="-122"/>
              </a:rPr>
              <a:t>fac()</a:t>
            </a:r>
            <a:r>
              <a:rPr kumimoji="1" lang="zh-CN" altLang="en-US" sz="2400">
                <a:effectLst>
                  <a:outerShdw blurRad="38100" dist="38100" dir="2700000" algn="tl">
                    <a:srgbClr val="C0C0C0"/>
                  </a:outerShdw>
                </a:effectLst>
                <a:latin typeface="楷体_GB2312" pitchFamily="49" charset="-122"/>
                <a:ea typeface="楷体_GB2312" pitchFamily="49" charset="-122"/>
              </a:rPr>
              <a:t>函数；</a:t>
            </a:r>
          </a:p>
          <a:p>
            <a:pPr algn="l">
              <a:defRPr/>
            </a:pP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lgn="l">
              <a:defRPr/>
            </a:pPr>
            <a:r>
              <a:rPr kumimoji="1" lang="zh-CN" altLang="en-US" sz="2400">
                <a:effectLst>
                  <a:outerShdw blurRad="38100" dist="38100" dir="2700000" algn="tl">
                    <a:srgbClr val="C0C0C0"/>
                  </a:outerShdw>
                </a:effectLst>
                <a:latin typeface="楷体_GB2312" pitchFamily="49" charset="-122"/>
                <a:ea typeface="楷体_GB2312" pitchFamily="49" charset="-122"/>
              </a:rPr>
              <a:t>此时，由于</a:t>
            </a:r>
            <a:r>
              <a:rPr kumimoji="1" lang="en-US" altLang="zh-CN" sz="2400">
                <a:effectLst>
                  <a:outerShdw blurRad="38100" dist="38100" dir="2700000" algn="tl">
                    <a:srgbClr val="C0C0C0"/>
                  </a:outerShdw>
                </a:effectLst>
                <a:latin typeface="楷体_GB2312" pitchFamily="49" charset="-122"/>
                <a:ea typeface="楷体_GB2312" pitchFamily="49" charset="-122"/>
              </a:rPr>
              <a:t>n = 1</a:t>
            </a:r>
            <a:r>
              <a:rPr kumimoji="1" lang="zh-CN" altLang="en-US" sz="2400">
                <a:effectLst>
                  <a:outerShdw blurRad="38100" dist="38100" dir="2700000" algn="tl">
                    <a:srgbClr val="C0C0C0"/>
                  </a:outerShdw>
                </a:effectLst>
                <a:latin typeface="楷体_GB2312" pitchFamily="49" charset="-122"/>
                <a:ea typeface="楷体_GB2312" pitchFamily="49" charset="-122"/>
              </a:rPr>
              <a:t>直接求出</a:t>
            </a:r>
            <a:r>
              <a:rPr kumimoji="1" lang="en-US" altLang="zh-CN" sz="2400">
                <a:effectLst>
                  <a:outerShdw blurRad="38100" dist="38100" dir="2700000" algn="tl">
                    <a:srgbClr val="C0C0C0"/>
                  </a:outerShdw>
                </a:effectLst>
                <a:latin typeface="楷体_GB2312" pitchFamily="49" charset="-122"/>
                <a:ea typeface="楷体_GB2312" pitchFamily="49" charset="-122"/>
              </a:rPr>
              <a:t>fac(1)</a:t>
            </a:r>
            <a:r>
              <a:rPr kumimoji="1" lang="zh-CN" altLang="en-US" sz="2400">
                <a:effectLst>
                  <a:outerShdw blurRad="38100" dist="38100" dir="2700000" algn="tl">
                    <a:srgbClr val="C0C0C0"/>
                  </a:outerShdw>
                </a:effectLst>
                <a:latin typeface="楷体_GB2312" pitchFamily="49" charset="-122"/>
                <a:ea typeface="楷体_GB2312" pitchFamily="49" charset="-122"/>
              </a:rPr>
              <a:t>的返回值为</a:t>
            </a:r>
            <a:r>
              <a:rPr kumimoji="1" lang="en-US" altLang="zh-CN" sz="2400">
                <a:effectLst>
                  <a:outerShdw blurRad="38100" dist="38100" dir="2700000" algn="tl">
                    <a:srgbClr val="C0C0C0"/>
                  </a:outerShdw>
                </a:effectLst>
                <a:latin typeface="楷体_GB2312" pitchFamily="49" charset="-122"/>
                <a:ea typeface="楷体_GB2312" pitchFamily="49" charset="-122"/>
              </a:rPr>
              <a:t>1</a:t>
            </a:r>
            <a:r>
              <a:rPr kumimoji="1" lang="zh-CN" altLang="en-US" sz="2400">
                <a:effectLst>
                  <a:outerShdw blurRad="38100" dist="38100" dir="2700000" algn="tl">
                    <a:srgbClr val="C0C0C0"/>
                  </a:outerShdw>
                </a:effectLst>
                <a:latin typeface="楷体_GB2312" pitchFamily="49" charset="-122"/>
                <a:ea typeface="楷体_GB2312" pitchFamily="49" charset="-122"/>
              </a:rPr>
              <a:t>。这时返回到</a:t>
            </a:r>
            <a:r>
              <a:rPr kumimoji="1" lang="en-US" altLang="zh-CN" sz="2400">
                <a:effectLst>
                  <a:outerShdw blurRad="38100" dist="38100" dir="2700000" algn="tl">
                    <a:srgbClr val="C0C0C0"/>
                  </a:outerShdw>
                </a:effectLst>
                <a:latin typeface="楷体_GB2312" pitchFamily="49" charset="-122"/>
                <a:ea typeface="楷体_GB2312" pitchFamily="49" charset="-122"/>
              </a:rPr>
              <a:t>2* fac(1)</a:t>
            </a:r>
            <a:r>
              <a:rPr kumimoji="1" lang="zh-CN" altLang="en-US" sz="2400">
                <a:effectLst>
                  <a:outerShdw blurRad="38100" dist="38100" dir="2700000" algn="tl">
                    <a:srgbClr val="C0C0C0"/>
                  </a:outerShdw>
                </a:effectLst>
                <a:latin typeface="楷体_GB2312" pitchFamily="49" charset="-122"/>
                <a:ea typeface="楷体_GB2312" pitchFamily="49" charset="-122"/>
              </a:rPr>
              <a:t>处得到</a:t>
            </a:r>
            <a:r>
              <a:rPr kumimoji="1" lang="en-US" altLang="zh-CN" sz="2400">
                <a:effectLst>
                  <a:outerShdw blurRad="38100" dist="38100" dir="2700000" algn="tl">
                    <a:srgbClr val="C0C0C0"/>
                  </a:outerShdw>
                </a:effectLst>
                <a:latin typeface="楷体_GB2312" pitchFamily="49" charset="-122"/>
                <a:ea typeface="楷体_GB2312" pitchFamily="49" charset="-122"/>
              </a:rPr>
              <a:t>2!</a:t>
            </a:r>
            <a:r>
              <a:rPr kumimoji="1" lang="zh-CN" altLang="en-US" sz="2400">
                <a:effectLst>
                  <a:outerShdw blurRad="38100" dist="38100" dir="2700000" algn="tl">
                    <a:srgbClr val="C0C0C0"/>
                  </a:outerShdw>
                </a:effectLst>
                <a:latin typeface="楷体_GB2312" pitchFamily="49" charset="-122"/>
                <a:ea typeface="楷体_GB2312" pitchFamily="49" charset="-122"/>
              </a:rPr>
              <a:t>的结果为</a:t>
            </a:r>
            <a:r>
              <a:rPr kumimoji="1" lang="en-US" altLang="zh-CN" sz="2400">
                <a:effectLst>
                  <a:outerShdw blurRad="38100" dist="38100" dir="2700000" algn="tl">
                    <a:srgbClr val="C0C0C0"/>
                  </a:outerShdw>
                </a:effectLst>
                <a:latin typeface="楷体_GB2312" pitchFamily="49" charset="-122"/>
                <a:ea typeface="楷体_GB2312" pitchFamily="49" charset="-122"/>
              </a:rPr>
              <a:t>2</a:t>
            </a:r>
            <a:r>
              <a:rPr kumimoji="1" lang="zh-CN" altLang="en-US" sz="2400">
                <a:effectLst>
                  <a:outerShdw blurRad="38100" dist="38100" dir="2700000" algn="tl">
                    <a:srgbClr val="C0C0C0"/>
                  </a:outerShdw>
                </a:effectLst>
                <a:latin typeface="楷体_GB2312" pitchFamily="49" charset="-122"/>
                <a:ea typeface="楷体_GB2312" pitchFamily="49" charset="-122"/>
              </a:rPr>
              <a:t>，再返回到</a:t>
            </a:r>
            <a:r>
              <a:rPr kumimoji="1" lang="en-US" altLang="zh-CN" sz="2400">
                <a:effectLst>
                  <a:outerShdw blurRad="38100" dist="38100" dir="2700000" algn="tl">
                    <a:srgbClr val="C0C0C0"/>
                  </a:outerShdw>
                </a:effectLst>
                <a:latin typeface="楷体_GB2312" pitchFamily="49" charset="-122"/>
                <a:ea typeface="楷体_GB2312" pitchFamily="49" charset="-122"/>
              </a:rPr>
              <a:t>3* fac(2)</a:t>
            </a:r>
            <a:r>
              <a:rPr kumimoji="1" lang="zh-CN" altLang="en-US" sz="2400">
                <a:effectLst>
                  <a:outerShdw blurRad="38100" dist="38100" dir="2700000" algn="tl">
                    <a:srgbClr val="C0C0C0"/>
                  </a:outerShdw>
                </a:effectLst>
                <a:latin typeface="楷体_GB2312" pitchFamily="49" charset="-122"/>
                <a:ea typeface="楷体_GB2312" pitchFamily="49" charset="-122"/>
              </a:rPr>
              <a:t>处得到</a:t>
            </a:r>
            <a:r>
              <a:rPr kumimoji="1" lang="en-US" altLang="zh-CN" sz="2400">
                <a:effectLst>
                  <a:outerShdw blurRad="38100" dist="38100" dir="2700000" algn="tl">
                    <a:srgbClr val="C0C0C0"/>
                  </a:outerShdw>
                </a:effectLst>
                <a:latin typeface="楷体_GB2312" pitchFamily="49" charset="-122"/>
                <a:ea typeface="楷体_GB2312" pitchFamily="49" charset="-122"/>
              </a:rPr>
              <a:t>3!</a:t>
            </a:r>
            <a:r>
              <a:rPr kumimoji="1" lang="zh-CN" altLang="en-US" sz="2400">
                <a:effectLst>
                  <a:outerShdw blurRad="38100" dist="38100" dir="2700000" algn="tl">
                    <a:srgbClr val="C0C0C0"/>
                  </a:outerShdw>
                </a:effectLst>
                <a:latin typeface="楷体_GB2312" pitchFamily="49" charset="-122"/>
                <a:ea typeface="楷体_GB2312" pitchFamily="49" charset="-122"/>
              </a:rPr>
              <a:t>的结果为</a:t>
            </a:r>
            <a:r>
              <a:rPr kumimoji="1" lang="en-US" altLang="zh-CN" sz="2400">
                <a:effectLst>
                  <a:outerShdw blurRad="38100" dist="38100" dir="2700000" algn="tl">
                    <a:srgbClr val="C0C0C0"/>
                  </a:outerShdw>
                </a:effectLst>
                <a:latin typeface="楷体_GB2312" pitchFamily="49" charset="-122"/>
                <a:ea typeface="楷体_GB2312" pitchFamily="49" charset="-122"/>
              </a:rPr>
              <a:t>6</a:t>
            </a:r>
            <a:r>
              <a:rPr kumimoji="1" lang="zh-CN" altLang="en-US" sz="2400">
                <a:effectLst>
                  <a:outerShdw blurRad="38100" dist="38100" dir="2700000" algn="tl">
                    <a:srgbClr val="C0C0C0"/>
                  </a:outerShdw>
                </a:effectLst>
                <a:latin typeface="楷体_GB2312" pitchFamily="49" charset="-122"/>
                <a:ea typeface="楷体_GB2312" pitchFamily="49" charset="-122"/>
              </a:rPr>
              <a:t>，最后返回到主函数，输出</a:t>
            </a:r>
            <a:r>
              <a:rPr kumimoji="1" lang="en-US" altLang="zh-CN" sz="2400">
                <a:effectLst>
                  <a:outerShdw blurRad="38100" dist="38100" dir="2700000" algn="tl">
                    <a:srgbClr val="C0C0C0"/>
                  </a:outerShdw>
                </a:effectLst>
                <a:latin typeface="楷体_GB2312" pitchFamily="49" charset="-122"/>
                <a:ea typeface="楷体_GB2312" pitchFamily="49" charset="-122"/>
              </a:rPr>
              <a:t>3!</a:t>
            </a:r>
            <a:r>
              <a:rPr kumimoji="1" lang="zh-CN" altLang="en-US" sz="2400">
                <a:effectLst>
                  <a:outerShdw blurRad="38100" dist="38100" dir="2700000" algn="tl">
                    <a:srgbClr val="C0C0C0"/>
                  </a:outerShdw>
                </a:effectLst>
                <a:latin typeface="楷体_GB2312" pitchFamily="49" charset="-122"/>
                <a:ea typeface="楷体_GB2312" pitchFamily="49" charset="-122"/>
              </a:rPr>
              <a:t>的值</a:t>
            </a:r>
            <a:r>
              <a:rPr kumimoji="1" lang="en-US" altLang="zh-CN" sz="2400">
                <a:effectLst>
                  <a:outerShdw blurRad="38100" dist="38100" dir="2700000" algn="tl">
                    <a:srgbClr val="C0C0C0"/>
                  </a:outerShdw>
                </a:effectLst>
                <a:latin typeface="楷体_GB2312" pitchFamily="49" charset="-122"/>
                <a:ea typeface="楷体_GB2312" pitchFamily="49" charset="-122"/>
              </a:rPr>
              <a:t>6</a:t>
            </a:r>
            <a:r>
              <a:rPr kumimoji="1" lang="zh-CN" altLang="en-US" sz="2400">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ph type="sldNum" sz="quarter" idx="12"/>
          </p:nvPr>
        </p:nvSpPr>
        <p:spPr/>
        <p:txBody>
          <a:bodyPr/>
          <a:lstStyle/>
          <a:p>
            <a:pPr>
              <a:defRPr/>
            </a:pPr>
            <a:fld id="{FC6F6F0C-BC0B-44D1-A2DF-A3AC354D302B}" type="slidenum">
              <a:rPr lang="en-US" altLang="zh-CN"/>
              <a:pPr>
                <a:defRPr/>
              </a:pPr>
              <a:t>52</a:t>
            </a:fld>
            <a:endParaRPr lang="en-US" altLang="zh-CN"/>
          </a:p>
        </p:txBody>
      </p:sp>
      <p:grpSp>
        <p:nvGrpSpPr>
          <p:cNvPr id="59395" name="Group 5"/>
          <p:cNvGrpSpPr>
            <a:grpSpLocks noChangeAspect="1"/>
          </p:cNvGrpSpPr>
          <p:nvPr/>
        </p:nvGrpSpPr>
        <p:grpSpPr bwMode="auto">
          <a:xfrm>
            <a:off x="0" y="2000250"/>
            <a:ext cx="9429750" cy="3000375"/>
            <a:chOff x="2220" y="7134"/>
            <a:chExt cx="8280" cy="2964"/>
          </a:xfrm>
        </p:grpSpPr>
        <p:sp>
          <p:nvSpPr>
            <p:cNvPr id="59396" name="AutoShape 6"/>
            <p:cNvSpPr>
              <a:spLocks noChangeAspect="1" noChangeArrowheads="1"/>
            </p:cNvSpPr>
            <p:nvPr/>
          </p:nvSpPr>
          <p:spPr bwMode="auto">
            <a:xfrm>
              <a:off x="2220" y="7134"/>
              <a:ext cx="8280" cy="2964"/>
            </a:xfrm>
            <a:prstGeom prst="rect">
              <a:avLst/>
            </a:prstGeom>
            <a:noFill/>
            <a:ln w="9525">
              <a:noFill/>
              <a:miter lim="800000"/>
              <a:headEnd/>
              <a:tailEnd/>
            </a:ln>
          </p:spPr>
          <p:txBody>
            <a:bodyPr/>
            <a:lstStyle/>
            <a:p>
              <a:endParaRPr lang="zh-CN" altLang="en-US" sz="6600"/>
            </a:p>
          </p:txBody>
        </p:sp>
        <p:sp>
          <p:nvSpPr>
            <p:cNvPr id="59397" name="Text Box 7"/>
            <p:cNvSpPr txBox="1">
              <a:spLocks noChangeArrowheads="1"/>
            </p:cNvSpPr>
            <p:nvPr/>
          </p:nvSpPr>
          <p:spPr bwMode="auto">
            <a:xfrm>
              <a:off x="2400" y="8224"/>
              <a:ext cx="1259" cy="801"/>
            </a:xfrm>
            <a:prstGeom prst="rect">
              <a:avLst/>
            </a:prstGeom>
            <a:noFill/>
            <a:ln w="9525" algn="ctr">
              <a:solidFill>
                <a:srgbClr val="000000"/>
              </a:solidFill>
              <a:miter lim="800000"/>
              <a:headEnd/>
              <a:tailEnd/>
            </a:ln>
          </p:spPr>
          <p:txBody>
            <a:bodyPr>
              <a:spAutoFit/>
            </a:bodyPr>
            <a:lstStyle/>
            <a:p>
              <a:pPr>
                <a:spcAft>
                  <a:spcPts val="775"/>
                </a:spcAft>
              </a:pPr>
              <a:r>
                <a:rPr lang="en-US" altLang="zh-CN" sz="2000"/>
                <a:t>fac (3)</a:t>
              </a:r>
            </a:p>
            <a:p>
              <a:r>
                <a:rPr lang="zh-CN" altLang="en-US" sz="2000"/>
                <a:t>输出结果</a:t>
              </a:r>
              <a:r>
                <a:rPr lang="en-US" altLang="zh-CN" sz="2000"/>
                <a:t>6</a:t>
              </a:r>
              <a:endParaRPr lang="en-US" altLang="zh-CN" sz="6600"/>
            </a:p>
          </p:txBody>
        </p:sp>
        <p:sp>
          <p:nvSpPr>
            <p:cNvPr id="59398" name="Text Box 8"/>
            <p:cNvSpPr txBox="1">
              <a:spLocks noChangeArrowheads="1"/>
            </p:cNvSpPr>
            <p:nvPr/>
          </p:nvSpPr>
          <p:spPr bwMode="auto">
            <a:xfrm>
              <a:off x="2400" y="7618"/>
              <a:ext cx="1081" cy="456"/>
            </a:xfrm>
            <a:prstGeom prst="rect">
              <a:avLst/>
            </a:prstGeom>
            <a:noFill/>
            <a:ln w="9525" algn="ctr">
              <a:noFill/>
              <a:miter lim="800000"/>
              <a:headEnd/>
              <a:tailEnd/>
            </a:ln>
          </p:spPr>
          <p:txBody>
            <a:bodyPr>
              <a:spAutoFit/>
            </a:bodyPr>
            <a:lstStyle/>
            <a:p>
              <a:r>
                <a:rPr lang="zh-CN" altLang="en-US" sz="2400"/>
                <a:t>主函数</a:t>
              </a:r>
              <a:endParaRPr lang="zh-CN" altLang="en-US" sz="6600"/>
            </a:p>
          </p:txBody>
        </p:sp>
        <p:sp>
          <p:nvSpPr>
            <p:cNvPr id="59399" name="Text Box 9"/>
            <p:cNvSpPr txBox="1">
              <a:spLocks noChangeArrowheads="1"/>
            </p:cNvSpPr>
            <p:nvPr/>
          </p:nvSpPr>
          <p:spPr bwMode="auto">
            <a:xfrm>
              <a:off x="4563" y="7446"/>
              <a:ext cx="1258" cy="821"/>
            </a:xfrm>
            <a:prstGeom prst="rect">
              <a:avLst/>
            </a:prstGeom>
            <a:noFill/>
            <a:ln w="9525" algn="ctr">
              <a:noFill/>
              <a:miter lim="800000"/>
              <a:headEnd/>
              <a:tailEnd/>
            </a:ln>
          </p:spPr>
          <p:txBody>
            <a:bodyPr>
              <a:spAutoFit/>
            </a:bodyPr>
            <a:lstStyle/>
            <a:p>
              <a:r>
                <a:rPr lang="en-US" altLang="zh-CN" sz="2400" dirty="0" err="1"/>
                <a:t>fac</a:t>
              </a:r>
              <a:r>
                <a:rPr lang="en-US" altLang="zh-CN" sz="2400" dirty="0"/>
                <a:t>()</a:t>
              </a:r>
              <a:r>
                <a:rPr lang="zh-CN" altLang="en-US" sz="2400" dirty="0"/>
                <a:t>函数</a:t>
              </a:r>
            </a:p>
            <a:p>
              <a:r>
                <a:rPr lang="en-US" altLang="zh-CN" sz="2400" dirty="0"/>
                <a:t>n = 3</a:t>
              </a:r>
              <a:endParaRPr lang="en-US" altLang="zh-CN" sz="6600" dirty="0"/>
            </a:p>
          </p:txBody>
        </p:sp>
        <p:sp>
          <p:nvSpPr>
            <p:cNvPr id="59400" name="Text Box 10"/>
            <p:cNvSpPr txBox="1">
              <a:spLocks noChangeArrowheads="1"/>
            </p:cNvSpPr>
            <p:nvPr/>
          </p:nvSpPr>
          <p:spPr bwMode="auto">
            <a:xfrm>
              <a:off x="6723" y="7446"/>
              <a:ext cx="1257" cy="821"/>
            </a:xfrm>
            <a:prstGeom prst="rect">
              <a:avLst/>
            </a:prstGeom>
            <a:noFill/>
            <a:ln w="9525" algn="ctr">
              <a:noFill/>
              <a:miter lim="800000"/>
              <a:headEnd/>
              <a:tailEnd/>
            </a:ln>
          </p:spPr>
          <p:txBody>
            <a:bodyPr>
              <a:spAutoFit/>
            </a:bodyPr>
            <a:lstStyle/>
            <a:p>
              <a:r>
                <a:rPr lang="en-US" altLang="zh-CN" sz="2400"/>
                <a:t>fac()</a:t>
              </a:r>
              <a:r>
                <a:rPr lang="zh-CN" altLang="en-US" sz="2400"/>
                <a:t>函数</a:t>
              </a:r>
            </a:p>
            <a:p>
              <a:r>
                <a:rPr lang="en-US" altLang="zh-CN" sz="2400"/>
                <a:t>n = 2</a:t>
              </a:r>
              <a:endParaRPr lang="en-US" altLang="zh-CN" sz="6600"/>
            </a:p>
          </p:txBody>
        </p:sp>
        <p:sp>
          <p:nvSpPr>
            <p:cNvPr id="59401" name="Text Box 11"/>
            <p:cNvSpPr txBox="1">
              <a:spLocks noChangeArrowheads="1"/>
            </p:cNvSpPr>
            <p:nvPr/>
          </p:nvSpPr>
          <p:spPr bwMode="auto">
            <a:xfrm>
              <a:off x="8883" y="7446"/>
              <a:ext cx="1257" cy="821"/>
            </a:xfrm>
            <a:prstGeom prst="rect">
              <a:avLst/>
            </a:prstGeom>
            <a:noFill/>
            <a:ln w="9525" algn="ctr">
              <a:noFill/>
              <a:miter lim="800000"/>
              <a:headEnd/>
              <a:tailEnd/>
            </a:ln>
          </p:spPr>
          <p:txBody>
            <a:bodyPr>
              <a:spAutoFit/>
            </a:bodyPr>
            <a:lstStyle/>
            <a:p>
              <a:r>
                <a:rPr lang="en-US" altLang="zh-CN" sz="2400"/>
                <a:t>fac()</a:t>
              </a:r>
              <a:r>
                <a:rPr lang="zh-CN" altLang="en-US" sz="2400"/>
                <a:t>函数</a:t>
              </a:r>
            </a:p>
            <a:p>
              <a:r>
                <a:rPr lang="en-US" altLang="zh-CN" sz="2400"/>
                <a:t>n = 1</a:t>
              </a:r>
              <a:endParaRPr lang="en-US" altLang="zh-CN" sz="6600"/>
            </a:p>
          </p:txBody>
        </p:sp>
        <p:sp>
          <p:nvSpPr>
            <p:cNvPr id="59402" name="Text Box 12"/>
            <p:cNvSpPr txBox="1">
              <a:spLocks noChangeArrowheads="1"/>
            </p:cNvSpPr>
            <p:nvPr/>
          </p:nvSpPr>
          <p:spPr bwMode="auto">
            <a:xfrm>
              <a:off x="4560" y="8227"/>
              <a:ext cx="1261" cy="801"/>
            </a:xfrm>
            <a:prstGeom prst="rect">
              <a:avLst/>
            </a:prstGeom>
            <a:noFill/>
            <a:ln w="9525" algn="ctr">
              <a:solidFill>
                <a:srgbClr val="000000"/>
              </a:solidFill>
              <a:miter lim="800000"/>
              <a:headEnd/>
              <a:tailEnd/>
            </a:ln>
          </p:spPr>
          <p:txBody>
            <a:bodyPr>
              <a:spAutoFit/>
            </a:bodyPr>
            <a:lstStyle/>
            <a:p>
              <a:pPr>
                <a:spcAft>
                  <a:spcPts val="775"/>
                </a:spcAft>
              </a:pPr>
              <a:r>
                <a:rPr lang="en-US" altLang="zh-CN" sz="2000" dirty="0"/>
                <a:t>3*</a:t>
              </a:r>
              <a:r>
                <a:rPr lang="en-US" altLang="zh-CN" sz="2000" dirty="0" err="1"/>
                <a:t>fac</a:t>
              </a:r>
              <a:r>
                <a:rPr lang="en-US" altLang="zh-CN" sz="2000" dirty="0"/>
                <a:t> (2)</a:t>
              </a:r>
            </a:p>
            <a:p>
              <a:r>
                <a:rPr lang="zh-CN" altLang="en-US" sz="2000" dirty="0"/>
                <a:t>返回值为</a:t>
              </a:r>
              <a:r>
                <a:rPr lang="en-US" altLang="zh-CN" sz="2000" dirty="0"/>
                <a:t>6</a:t>
              </a:r>
              <a:endParaRPr lang="en-US" altLang="zh-CN" sz="6600" dirty="0"/>
            </a:p>
          </p:txBody>
        </p:sp>
        <p:sp>
          <p:nvSpPr>
            <p:cNvPr id="59403" name="Text Box 13"/>
            <p:cNvSpPr txBox="1">
              <a:spLocks noChangeArrowheads="1"/>
            </p:cNvSpPr>
            <p:nvPr/>
          </p:nvSpPr>
          <p:spPr bwMode="auto">
            <a:xfrm>
              <a:off x="6719" y="8227"/>
              <a:ext cx="1261" cy="801"/>
            </a:xfrm>
            <a:prstGeom prst="rect">
              <a:avLst/>
            </a:prstGeom>
            <a:noFill/>
            <a:ln w="9525" algn="ctr">
              <a:solidFill>
                <a:srgbClr val="000000"/>
              </a:solidFill>
              <a:miter lim="800000"/>
              <a:headEnd/>
              <a:tailEnd/>
            </a:ln>
          </p:spPr>
          <p:txBody>
            <a:bodyPr>
              <a:spAutoFit/>
            </a:bodyPr>
            <a:lstStyle/>
            <a:p>
              <a:pPr>
                <a:spcAft>
                  <a:spcPts val="775"/>
                </a:spcAft>
              </a:pPr>
              <a:r>
                <a:rPr lang="en-US" altLang="zh-CN" sz="2000"/>
                <a:t>2*fac (1)</a:t>
              </a:r>
            </a:p>
            <a:p>
              <a:r>
                <a:rPr lang="zh-CN" altLang="en-US" sz="2000"/>
                <a:t>返回值为</a:t>
              </a:r>
              <a:r>
                <a:rPr lang="en-US" altLang="zh-CN" sz="2000"/>
                <a:t>2</a:t>
              </a:r>
              <a:endParaRPr lang="en-US" altLang="zh-CN" sz="6600"/>
            </a:p>
          </p:txBody>
        </p:sp>
        <p:sp>
          <p:nvSpPr>
            <p:cNvPr id="59404" name="Text Box 14"/>
            <p:cNvSpPr txBox="1">
              <a:spLocks noChangeArrowheads="1"/>
            </p:cNvSpPr>
            <p:nvPr/>
          </p:nvSpPr>
          <p:spPr bwMode="auto">
            <a:xfrm>
              <a:off x="8881" y="8227"/>
              <a:ext cx="1259" cy="801"/>
            </a:xfrm>
            <a:prstGeom prst="rect">
              <a:avLst/>
            </a:prstGeom>
            <a:noFill/>
            <a:ln w="9525" algn="ctr">
              <a:solidFill>
                <a:srgbClr val="000000"/>
              </a:solidFill>
              <a:miter lim="800000"/>
              <a:headEnd/>
              <a:tailEnd/>
            </a:ln>
          </p:spPr>
          <p:txBody>
            <a:bodyPr>
              <a:spAutoFit/>
            </a:bodyPr>
            <a:lstStyle/>
            <a:p>
              <a:pPr>
                <a:spcAft>
                  <a:spcPts val="775"/>
                </a:spcAft>
              </a:pPr>
              <a:r>
                <a:rPr lang="zh-CN" altLang="en-US" sz="2000"/>
                <a:t>计算</a:t>
              </a:r>
              <a:r>
                <a:rPr lang="en-US" altLang="zh-CN" sz="2000"/>
                <a:t>1!</a:t>
              </a:r>
            </a:p>
            <a:p>
              <a:r>
                <a:rPr lang="zh-CN" altLang="en-US" sz="2000"/>
                <a:t>返回值为</a:t>
              </a:r>
              <a:r>
                <a:rPr lang="en-US" altLang="zh-CN" sz="2000"/>
                <a:t>1</a:t>
              </a:r>
              <a:endParaRPr lang="en-US" altLang="zh-CN" sz="6600"/>
            </a:p>
          </p:txBody>
        </p:sp>
        <p:sp>
          <p:nvSpPr>
            <p:cNvPr id="59405" name="Line 15"/>
            <p:cNvSpPr>
              <a:spLocks noChangeShapeType="1"/>
            </p:cNvSpPr>
            <p:nvPr/>
          </p:nvSpPr>
          <p:spPr bwMode="auto">
            <a:xfrm flipV="1">
              <a:off x="3660" y="8538"/>
              <a:ext cx="900" cy="1"/>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06" name="Line 16"/>
            <p:cNvSpPr>
              <a:spLocks noChangeShapeType="1"/>
            </p:cNvSpPr>
            <p:nvPr/>
          </p:nvSpPr>
          <p:spPr bwMode="auto">
            <a:xfrm flipH="1" flipV="1">
              <a:off x="5820" y="8694"/>
              <a:ext cx="900" cy="156"/>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07" name="Line 17"/>
            <p:cNvSpPr>
              <a:spLocks noChangeShapeType="1"/>
            </p:cNvSpPr>
            <p:nvPr/>
          </p:nvSpPr>
          <p:spPr bwMode="auto">
            <a:xfrm flipV="1">
              <a:off x="5820" y="8538"/>
              <a:ext cx="900" cy="1"/>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08" name="Line 18"/>
            <p:cNvSpPr>
              <a:spLocks noChangeShapeType="1"/>
            </p:cNvSpPr>
            <p:nvPr/>
          </p:nvSpPr>
          <p:spPr bwMode="auto">
            <a:xfrm flipV="1">
              <a:off x="7980" y="8537"/>
              <a:ext cx="900" cy="1"/>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09" name="Line 19"/>
            <p:cNvSpPr>
              <a:spLocks noChangeShapeType="1"/>
            </p:cNvSpPr>
            <p:nvPr/>
          </p:nvSpPr>
          <p:spPr bwMode="auto">
            <a:xfrm flipH="1" flipV="1">
              <a:off x="7980" y="8694"/>
              <a:ext cx="900" cy="156"/>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10" name="Line 20"/>
            <p:cNvSpPr>
              <a:spLocks noChangeShapeType="1"/>
            </p:cNvSpPr>
            <p:nvPr/>
          </p:nvSpPr>
          <p:spPr bwMode="auto">
            <a:xfrm flipH="1" flipV="1">
              <a:off x="3660" y="8850"/>
              <a:ext cx="900" cy="1"/>
            </a:xfrm>
            <a:prstGeom prst="line">
              <a:avLst/>
            </a:prstGeom>
            <a:noFill/>
            <a:ln w="9525">
              <a:solidFill>
                <a:srgbClr val="000000"/>
              </a:solidFill>
              <a:round/>
              <a:headEnd/>
              <a:tailEnd type="triangle" w="med" len="med"/>
            </a:ln>
          </p:spPr>
          <p:txBody>
            <a:bodyPr>
              <a:spAutoFit/>
            </a:bodyPr>
            <a:lstStyle/>
            <a:p>
              <a:endParaRPr lang="zh-CN" altLang="en-US"/>
            </a:p>
          </p:txBody>
        </p:sp>
        <p:sp>
          <p:nvSpPr>
            <p:cNvPr id="59411" name="Text Box 21"/>
            <p:cNvSpPr txBox="1">
              <a:spLocks noChangeArrowheads="1"/>
            </p:cNvSpPr>
            <p:nvPr/>
          </p:nvSpPr>
          <p:spPr bwMode="auto">
            <a:xfrm>
              <a:off x="3659" y="7912"/>
              <a:ext cx="901" cy="675"/>
            </a:xfrm>
            <a:prstGeom prst="rect">
              <a:avLst/>
            </a:prstGeom>
            <a:noFill/>
            <a:ln w="9525" algn="ctr">
              <a:noFill/>
              <a:miter lim="800000"/>
              <a:headEnd/>
              <a:tailEnd/>
            </a:ln>
          </p:spPr>
          <p:txBody>
            <a:bodyPr>
              <a:spAutoFit/>
            </a:bodyPr>
            <a:lstStyle/>
            <a:p>
              <a:pPr>
                <a:lnSpc>
                  <a:spcPct val="96000"/>
                </a:lnSpc>
              </a:pPr>
              <a:r>
                <a:rPr lang="zh-CN" altLang="en-US" sz="2000"/>
                <a:t>计算</a:t>
              </a:r>
              <a:r>
                <a:rPr lang="en-US" altLang="zh-CN" sz="2000"/>
                <a:t>fac(3)</a:t>
              </a:r>
              <a:endParaRPr lang="en-US" altLang="zh-CN" sz="6600"/>
            </a:p>
          </p:txBody>
        </p:sp>
        <p:sp>
          <p:nvSpPr>
            <p:cNvPr id="59412" name="Text Box 22"/>
            <p:cNvSpPr txBox="1">
              <a:spLocks noChangeArrowheads="1"/>
            </p:cNvSpPr>
            <p:nvPr/>
          </p:nvSpPr>
          <p:spPr bwMode="auto">
            <a:xfrm>
              <a:off x="5821" y="7912"/>
              <a:ext cx="898" cy="675"/>
            </a:xfrm>
            <a:prstGeom prst="rect">
              <a:avLst/>
            </a:prstGeom>
            <a:noFill/>
            <a:ln w="9525" algn="ctr">
              <a:noFill/>
              <a:miter lim="800000"/>
              <a:headEnd/>
              <a:tailEnd/>
            </a:ln>
          </p:spPr>
          <p:txBody>
            <a:bodyPr>
              <a:spAutoFit/>
            </a:bodyPr>
            <a:lstStyle/>
            <a:p>
              <a:pPr>
                <a:lnSpc>
                  <a:spcPct val="96000"/>
                </a:lnSpc>
              </a:pPr>
              <a:r>
                <a:rPr lang="zh-CN" altLang="en-US" sz="2000"/>
                <a:t>计算</a:t>
              </a:r>
              <a:r>
                <a:rPr lang="en-US" altLang="zh-CN" sz="2000"/>
                <a:t>fac(2)</a:t>
              </a:r>
              <a:endParaRPr lang="en-US" altLang="zh-CN" sz="6600"/>
            </a:p>
          </p:txBody>
        </p:sp>
        <p:sp>
          <p:nvSpPr>
            <p:cNvPr id="59413" name="Text Box 23"/>
            <p:cNvSpPr txBox="1">
              <a:spLocks noChangeArrowheads="1"/>
            </p:cNvSpPr>
            <p:nvPr/>
          </p:nvSpPr>
          <p:spPr bwMode="auto">
            <a:xfrm>
              <a:off x="7980" y="7912"/>
              <a:ext cx="901" cy="675"/>
            </a:xfrm>
            <a:prstGeom prst="rect">
              <a:avLst/>
            </a:prstGeom>
            <a:noFill/>
            <a:ln w="9525" algn="ctr">
              <a:noFill/>
              <a:miter lim="800000"/>
              <a:headEnd/>
              <a:tailEnd/>
            </a:ln>
          </p:spPr>
          <p:txBody>
            <a:bodyPr>
              <a:spAutoFit/>
            </a:bodyPr>
            <a:lstStyle/>
            <a:p>
              <a:pPr>
                <a:lnSpc>
                  <a:spcPct val="96000"/>
                </a:lnSpc>
              </a:pPr>
              <a:r>
                <a:rPr lang="zh-CN" altLang="en-US" sz="2000"/>
                <a:t>计算</a:t>
              </a:r>
              <a:r>
                <a:rPr lang="en-US" altLang="zh-CN" sz="2000"/>
                <a:t>fac(1)</a:t>
              </a:r>
              <a:endParaRPr lang="en-US" altLang="zh-CN" sz="6600"/>
            </a:p>
          </p:txBody>
        </p:sp>
        <p:sp>
          <p:nvSpPr>
            <p:cNvPr id="59414" name="Text Box 24"/>
            <p:cNvSpPr txBox="1">
              <a:spLocks noChangeArrowheads="1"/>
            </p:cNvSpPr>
            <p:nvPr/>
          </p:nvSpPr>
          <p:spPr bwMode="auto">
            <a:xfrm>
              <a:off x="4560" y="9329"/>
              <a:ext cx="3420" cy="456"/>
            </a:xfrm>
            <a:prstGeom prst="rect">
              <a:avLst/>
            </a:prstGeom>
            <a:noFill/>
            <a:ln w="9525" algn="ctr">
              <a:noFill/>
              <a:miter lim="800000"/>
              <a:headEnd/>
              <a:tailEnd/>
            </a:ln>
          </p:spPr>
          <p:txBody>
            <a:bodyPr>
              <a:spAutoFit/>
            </a:bodyPr>
            <a:lstStyle/>
            <a:p>
              <a:r>
                <a:rPr lang="zh-CN" altLang="en-US" sz="2400" dirty="0"/>
                <a:t>图</a:t>
              </a:r>
              <a:r>
                <a:rPr lang="en-US" altLang="zh-CN" sz="2400" dirty="0"/>
                <a:t>  </a:t>
              </a:r>
              <a:r>
                <a:rPr lang="zh-CN" altLang="en-US" sz="2400" dirty="0"/>
                <a:t>求</a:t>
              </a:r>
              <a:r>
                <a:rPr lang="en-US" altLang="zh-CN" sz="2400" dirty="0"/>
                <a:t>3! </a:t>
              </a:r>
              <a:r>
                <a:rPr lang="zh-CN" altLang="en-US" sz="2400" dirty="0"/>
                <a:t>递归调用的过程</a:t>
              </a:r>
              <a:endParaRPr lang="zh-CN" altLang="en-US" sz="6600" dirty="0"/>
            </a:p>
          </p:txBody>
        </p: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7208F525-2C48-4B69-A1A5-4B025D9A5B64}" type="slidenum">
              <a:rPr lang="en-US" altLang="zh-CN"/>
              <a:pPr>
                <a:defRPr/>
              </a:pPr>
              <a:t>53</a:t>
            </a:fld>
            <a:endParaRPr lang="en-US" altLang="zh-CN"/>
          </a:p>
        </p:txBody>
      </p:sp>
      <p:sp>
        <p:nvSpPr>
          <p:cNvPr id="413698" name="Rectangle 2"/>
          <p:cNvSpPr>
            <a:spLocks noChangeArrowheads="1"/>
          </p:cNvSpPr>
          <p:nvPr/>
        </p:nvSpPr>
        <p:spPr bwMode="auto">
          <a:xfrm>
            <a:off x="611188" y="1125538"/>
            <a:ext cx="7920037" cy="4789487"/>
          </a:xfrm>
          <a:prstGeom prst="rect">
            <a:avLst/>
          </a:prstGeom>
          <a:noFill/>
          <a:ln w="9525">
            <a:noFill/>
            <a:miter lim="800000"/>
            <a:headEnd/>
            <a:tailEnd/>
          </a:ln>
          <a:effectLst/>
        </p:spPr>
        <p:txBody>
          <a:bodyPr>
            <a:spAutoFit/>
          </a:bodyPr>
          <a:lstStyle/>
          <a:p>
            <a:pPr algn="l">
              <a:defRPr/>
            </a:pPr>
            <a:r>
              <a:rPr kumimoji="1" lang="zh-CN" altLang="en-US" dirty="0">
                <a:effectLst>
                  <a:outerShdw blurRad="38100" dist="38100" dir="2700000" algn="tl">
                    <a:srgbClr val="C0C0C0"/>
                  </a:outerShdw>
                </a:effectLst>
                <a:latin typeface="楷体_GB2312" pitchFamily="49" charset="-122"/>
                <a:ea typeface="楷体_GB2312" pitchFamily="49" charset="-122"/>
              </a:rPr>
              <a:t>递归计算</a:t>
            </a:r>
            <a:r>
              <a:rPr kumimoji="1" lang="en-US" altLang="zh-CN" dirty="0">
                <a:effectLst>
                  <a:outerShdw blurRad="38100" dist="38100" dir="2700000" algn="tl">
                    <a:srgbClr val="C0C0C0"/>
                  </a:outerShdw>
                </a:effectLst>
                <a:latin typeface="楷体_GB2312" pitchFamily="49" charset="-122"/>
                <a:ea typeface="楷体_GB2312" pitchFamily="49" charset="-122"/>
              </a:rPr>
              <a:t>n!</a:t>
            </a:r>
            <a:r>
              <a:rPr kumimoji="1" lang="zh-CN" altLang="en-US" dirty="0">
                <a:effectLst>
                  <a:outerShdw blurRad="38100" dist="38100" dir="2700000" algn="tl">
                    <a:srgbClr val="C0C0C0"/>
                  </a:outerShdw>
                </a:effectLst>
                <a:latin typeface="楷体_GB2312" pitchFamily="49" charset="-122"/>
                <a:ea typeface="楷体_GB2312" pitchFamily="49" charset="-122"/>
              </a:rPr>
              <a:t>有两个重要的求解过程：</a:t>
            </a:r>
          </a:p>
          <a:p>
            <a:pPr algn="l">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a:defRPr/>
            </a:pPr>
            <a:r>
              <a:rPr kumimoji="1" lang="zh-CN" altLang="en-US" dirty="0">
                <a:effectLst>
                  <a:outerShdw blurRad="38100" dist="38100" dir="2700000" algn="tl">
                    <a:srgbClr val="C0C0C0"/>
                  </a:outerShdw>
                </a:effectLst>
                <a:latin typeface="楷体_GB2312" pitchFamily="49" charset="-122"/>
                <a:ea typeface="楷体_GB2312" pitchFamily="49" charset="-122"/>
              </a:rPr>
              <a:t>一是</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递推</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过程</a:t>
            </a:r>
          </a:p>
          <a:p>
            <a:pPr algn="l">
              <a:defRPr/>
            </a:pPr>
            <a:r>
              <a:rPr kumimoji="1" lang="zh-CN" altLang="en-US" dirty="0">
                <a:effectLst>
                  <a:outerShdw blurRad="38100" dist="38100" dir="2700000" algn="tl">
                    <a:srgbClr val="C0C0C0"/>
                  </a:outerShdw>
                </a:effectLst>
                <a:latin typeface="楷体_GB2312" pitchFamily="49" charset="-122"/>
                <a:ea typeface="楷体_GB2312" pitchFamily="49" charset="-122"/>
              </a:rPr>
              <a:t>为求</a:t>
            </a:r>
            <a:r>
              <a:rPr kumimoji="1" lang="en-US" altLang="zh-CN" dirty="0">
                <a:effectLst>
                  <a:outerShdw blurRad="38100" dist="38100" dir="2700000" algn="tl">
                    <a:srgbClr val="C0C0C0"/>
                  </a:outerShdw>
                </a:effectLst>
                <a:latin typeface="楷体_GB2312" pitchFamily="49" charset="-122"/>
                <a:ea typeface="楷体_GB2312" pitchFamily="49" charset="-122"/>
              </a:rPr>
              <a:t>n!</a:t>
            </a:r>
            <a:r>
              <a:rPr kumimoji="1" lang="zh-CN" altLang="en-US" dirty="0">
                <a:effectLst>
                  <a:outerShdw blurRad="38100" dist="38100" dir="2700000" algn="tl">
                    <a:srgbClr val="C0C0C0"/>
                  </a:outerShdw>
                </a:effectLst>
                <a:latin typeface="楷体_GB2312" pitchFamily="49" charset="-122"/>
                <a:ea typeface="楷体_GB2312" pitchFamily="49" charset="-122"/>
              </a:rPr>
              <a:t>的解，去求</a:t>
            </a:r>
            <a:r>
              <a:rPr kumimoji="1" lang="en-US" altLang="zh-CN" dirty="0">
                <a:effectLst>
                  <a:outerShdw blurRad="38100" dist="38100" dir="2700000" algn="tl">
                    <a:srgbClr val="C0C0C0"/>
                  </a:outerShdw>
                </a:effectLst>
                <a:latin typeface="楷体_GB2312" pitchFamily="49" charset="-122"/>
                <a:ea typeface="楷体_GB2312" pitchFamily="49" charset="-122"/>
              </a:rPr>
              <a:t>(n-1)!</a:t>
            </a:r>
            <a:r>
              <a:rPr kumimoji="1" lang="zh-CN" altLang="en-US" dirty="0">
                <a:effectLst>
                  <a:outerShdw blurRad="38100" dist="38100" dir="2700000" algn="tl">
                    <a:srgbClr val="C0C0C0"/>
                  </a:outerShdw>
                </a:effectLst>
                <a:latin typeface="楷体_GB2312" pitchFamily="49" charset="-122"/>
                <a:ea typeface="楷体_GB2312" pitchFamily="49" charset="-122"/>
              </a:rPr>
              <a:t>的解，求</a:t>
            </a:r>
            <a:r>
              <a:rPr kumimoji="1" lang="en-US" altLang="zh-CN" dirty="0">
                <a:effectLst>
                  <a:outerShdw blurRad="38100" dist="38100" dir="2700000" algn="tl">
                    <a:srgbClr val="C0C0C0"/>
                  </a:outerShdw>
                </a:effectLst>
                <a:latin typeface="楷体_GB2312" pitchFamily="49" charset="-122"/>
                <a:ea typeface="楷体_GB2312" pitchFamily="49" charset="-122"/>
              </a:rPr>
              <a:t>(n-1)!</a:t>
            </a:r>
            <a:r>
              <a:rPr kumimoji="1" lang="zh-CN" altLang="en-US" dirty="0">
                <a:effectLst>
                  <a:outerShdw blurRad="38100" dist="38100" dir="2700000" algn="tl">
                    <a:srgbClr val="C0C0C0"/>
                  </a:outerShdw>
                </a:effectLst>
                <a:latin typeface="楷体_GB2312" pitchFamily="49" charset="-122"/>
                <a:ea typeface="楷体_GB2312" pitchFamily="49" charset="-122"/>
              </a:rPr>
              <a:t>的解，又继续去求</a:t>
            </a:r>
            <a:r>
              <a:rPr kumimoji="1" lang="en-US" altLang="zh-CN" dirty="0">
                <a:effectLst>
                  <a:outerShdw blurRad="38100" dist="38100" dir="2700000" algn="tl">
                    <a:srgbClr val="C0C0C0"/>
                  </a:outerShdw>
                </a:effectLst>
                <a:latin typeface="楷体_GB2312" pitchFamily="49" charset="-122"/>
                <a:ea typeface="楷体_GB2312" pitchFamily="49" charset="-122"/>
              </a:rPr>
              <a:t>(n-2)!</a:t>
            </a:r>
            <a:r>
              <a:rPr kumimoji="1" lang="zh-CN" altLang="en-US" dirty="0">
                <a:effectLst>
                  <a:outerShdw blurRad="38100" dist="38100" dir="2700000" algn="tl">
                    <a:srgbClr val="C0C0C0"/>
                  </a:outerShdw>
                </a:effectLst>
                <a:latin typeface="楷体_GB2312" pitchFamily="49" charset="-122"/>
                <a:ea typeface="楷体_GB2312" pitchFamily="49" charset="-122"/>
              </a:rPr>
              <a:t>的解，依此类推，最终要求</a:t>
            </a:r>
            <a:r>
              <a:rPr kumimoji="1" lang="en-US" altLang="zh-CN" dirty="0">
                <a:effectLst>
                  <a:outerShdw blurRad="38100" dist="38100" dir="2700000" algn="tl">
                    <a:srgbClr val="C0C0C0"/>
                  </a:outerShdw>
                </a:effectLst>
                <a:latin typeface="楷体_GB2312" pitchFamily="49" charset="-122"/>
                <a:ea typeface="楷体_GB2312" pitchFamily="49" charset="-122"/>
              </a:rPr>
              <a:t>1!</a:t>
            </a:r>
            <a:r>
              <a:rPr kumimoji="1" lang="zh-CN" altLang="en-US" dirty="0">
                <a:effectLst>
                  <a:outerShdw blurRad="38100" dist="38100" dir="2700000" algn="tl">
                    <a:srgbClr val="C0C0C0"/>
                  </a:outerShdw>
                </a:effectLst>
                <a:latin typeface="楷体_GB2312" pitchFamily="49" charset="-122"/>
                <a:ea typeface="楷体_GB2312" pitchFamily="49" charset="-122"/>
              </a:rPr>
              <a:t>的解。这是求大规模问题解，演变为求规模略小问题解的</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递推</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过程。</a:t>
            </a:r>
          </a:p>
          <a:p>
            <a:pPr algn="l">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a:defRPr/>
            </a:pPr>
            <a:r>
              <a:rPr kumimoji="1" lang="zh-CN" altLang="en-US" dirty="0">
                <a:effectLst>
                  <a:outerShdw blurRad="38100" dist="38100" dir="2700000" algn="tl">
                    <a:srgbClr val="C0C0C0"/>
                  </a:outerShdw>
                </a:effectLst>
                <a:latin typeface="楷体_GB2312" pitchFamily="49" charset="-122"/>
                <a:ea typeface="楷体_GB2312" pitchFamily="49" charset="-122"/>
              </a:rPr>
              <a:t>二是</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回归</a:t>
            </a:r>
            <a:r>
              <a:rPr kumimoji="1" lang="zh-CN" altLang="en-US" dirty="0">
                <a:effectLst>
                  <a:outerShdw blurRad="38100" dist="38100" dir="2700000" algn="tl">
                    <a:srgbClr val="C0C0C0"/>
                  </a:outerShdw>
                </a:effectLst>
                <a:latin typeface="Times New Roman"/>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过程</a:t>
            </a:r>
          </a:p>
          <a:p>
            <a:pPr algn="l">
              <a:defRPr/>
            </a:pPr>
            <a:r>
              <a:rPr kumimoji="1" lang="zh-CN" altLang="en-US" dirty="0">
                <a:effectLst>
                  <a:outerShdw blurRad="38100" dist="38100" dir="2700000" algn="tl">
                    <a:srgbClr val="C0C0C0"/>
                  </a:outerShdw>
                </a:effectLst>
                <a:latin typeface="楷体_GB2312" pitchFamily="49" charset="-122"/>
                <a:ea typeface="楷体_GB2312" pitchFamily="49" charset="-122"/>
              </a:rPr>
              <a:t>有了</a:t>
            </a:r>
            <a:r>
              <a:rPr kumimoji="1" lang="en-US" altLang="zh-CN" dirty="0">
                <a:effectLst>
                  <a:outerShdw blurRad="38100" dist="38100" dir="2700000" algn="tl">
                    <a:srgbClr val="C0C0C0"/>
                  </a:outerShdw>
                </a:effectLst>
                <a:latin typeface="楷体_GB2312" pitchFamily="49" charset="-122"/>
                <a:ea typeface="楷体_GB2312" pitchFamily="49" charset="-122"/>
              </a:rPr>
              <a:t>1!</a:t>
            </a:r>
            <a:r>
              <a:rPr kumimoji="1" lang="zh-CN" altLang="en-US" dirty="0">
                <a:effectLst>
                  <a:outerShdw blurRad="38100" dist="38100" dir="2700000" algn="tl">
                    <a:srgbClr val="C0C0C0"/>
                  </a:outerShdw>
                </a:effectLst>
                <a:latin typeface="楷体_GB2312" pitchFamily="49" charset="-122"/>
                <a:ea typeface="楷体_GB2312" pitchFamily="49" charset="-122"/>
              </a:rPr>
              <a:t>的解</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lang="zh-CN" altLang="en-GB" dirty="0">
                <a:solidFill>
                  <a:srgbClr val="FF0000"/>
                </a:solidFill>
                <a:effectLst>
                  <a:outerShdw blurRad="38100" dist="38100" dir="2700000" algn="tl">
                    <a:srgbClr val="C0C0C0"/>
                  </a:outerShdw>
                </a:effectLst>
                <a:latin typeface="华文仿宋" pitchFamily="2" charset="-122"/>
                <a:ea typeface="华文仿宋" pitchFamily="2" charset="-122"/>
              </a:rPr>
              <a:t>基线条件</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后，逐步得到</a:t>
            </a:r>
            <a:r>
              <a:rPr kumimoji="1" lang="en-US" altLang="zh-CN" dirty="0">
                <a:effectLst>
                  <a:outerShdw blurRad="38100" dist="38100" dir="2700000" algn="tl">
                    <a:srgbClr val="C0C0C0"/>
                  </a:outerShdw>
                </a:effectLst>
                <a:latin typeface="楷体_GB2312" pitchFamily="49" charset="-122"/>
                <a:ea typeface="楷体_GB2312" pitchFamily="49" charset="-122"/>
              </a:rPr>
              <a:t>2!</a:t>
            </a:r>
            <a:r>
              <a:rPr kumimoji="1" lang="zh-CN" altLang="en-US" dirty="0">
                <a:effectLst>
                  <a:outerShdw blurRad="38100" dist="38100" dir="2700000" algn="tl">
                    <a:srgbClr val="C0C0C0"/>
                  </a:outerShdw>
                </a:effectLst>
                <a:latin typeface="楷体_GB2312" pitchFamily="49" charset="-122"/>
                <a:ea typeface="楷体_GB2312" pitchFamily="49" charset="-122"/>
              </a:rPr>
              <a:t>的解、</a:t>
            </a:r>
            <a:r>
              <a:rPr kumimoji="1" lang="en-US" altLang="zh-CN" dirty="0">
                <a:effectLst>
                  <a:outerShdw blurRad="38100" dist="38100" dir="2700000" algn="tl">
                    <a:srgbClr val="C0C0C0"/>
                  </a:outerShdw>
                </a:effectLst>
                <a:latin typeface="楷体_GB2312" pitchFamily="49" charset="-122"/>
                <a:ea typeface="楷体_GB2312" pitchFamily="49" charset="-122"/>
              </a:rPr>
              <a:t>3!</a:t>
            </a:r>
            <a:r>
              <a:rPr kumimoji="1" lang="zh-CN" altLang="en-US" dirty="0">
                <a:effectLst>
                  <a:outerShdw blurRad="38100" dist="38100" dir="2700000" algn="tl">
                    <a:srgbClr val="C0C0C0"/>
                  </a:outerShdw>
                </a:effectLst>
                <a:latin typeface="楷体_GB2312" pitchFamily="49" charset="-122"/>
                <a:ea typeface="楷体_GB2312" pitchFamily="49" charset="-122"/>
              </a:rPr>
              <a:t>的解、直到</a:t>
            </a:r>
            <a:r>
              <a:rPr kumimoji="1" lang="en-US" altLang="zh-CN" dirty="0">
                <a:effectLst>
                  <a:outerShdw blurRad="38100" dist="38100" dir="2700000" algn="tl">
                    <a:srgbClr val="C0C0C0"/>
                  </a:outerShdw>
                </a:effectLst>
                <a:latin typeface="楷体_GB2312" pitchFamily="49" charset="-122"/>
                <a:ea typeface="楷体_GB2312" pitchFamily="49" charset="-122"/>
              </a:rPr>
              <a:t>n</a:t>
            </a:r>
            <a:r>
              <a:rPr kumimoji="1" lang="zh-CN" altLang="en-US" dirty="0">
                <a:effectLst>
                  <a:outerShdw blurRad="38100" dist="38100" dir="2700000" algn="tl">
                    <a:srgbClr val="C0C0C0"/>
                  </a:outerShdw>
                </a:effectLst>
                <a:latin typeface="楷体_GB2312" pitchFamily="49" charset="-122"/>
                <a:ea typeface="楷体_GB2312" pitchFamily="49" charset="-122"/>
              </a:rPr>
              <a:t>！的解。</a:t>
            </a:r>
            <a:r>
              <a:rPr kumimoji="1" lang="zh-CN" altLang="en-US" dirty="0">
                <a:latin typeface="楷体_GB2312" pitchFamily="49" charset="-122"/>
                <a:ea typeface="楷体_GB2312" pitchFamily="49" charset="-122"/>
              </a:rPr>
              <a:t> </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3"/>
          <p:cNvSpPr txBox="1">
            <a:spLocks noChangeArrowheads="1"/>
          </p:cNvSpPr>
          <p:nvPr/>
        </p:nvSpPr>
        <p:spPr bwMode="auto">
          <a:xfrm>
            <a:off x="2241550" y="3000375"/>
            <a:ext cx="5500688" cy="3970318"/>
          </a:xfrm>
          <a:prstGeom prst="rect">
            <a:avLst/>
          </a:prstGeom>
          <a:noFill/>
          <a:ln w="9525">
            <a:noFill/>
            <a:miter lim="800000"/>
            <a:headEnd/>
            <a:tailEnd/>
          </a:ln>
        </p:spPr>
        <p:txBody>
          <a:bodyPr>
            <a:spAutoFit/>
          </a:bodyPr>
          <a:lstStyle/>
          <a:p>
            <a:pPr algn="l"/>
            <a:r>
              <a:rPr lang="en-US" altLang="zh-CN" b="1" dirty="0">
                <a:latin typeface="Courier New" pitchFamily="49" charset="0"/>
                <a:ea typeface="宋体" pitchFamily="2" charset="-122"/>
                <a:cs typeface="Courier New" pitchFamily="49" charset="0"/>
              </a:rPr>
              <a:t>   	 n!</a:t>
            </a:r>
            <a:r>
              <a:rPr lang="en-US" altLang="zh-CN" dirty="0">
                <a:latin typeface="Courier New" pitchFamily="49" charset="0"/>
                <a:ea typeface="宋体" pitchFamily="2" charset="-122"/>
                <a:cs typeface="Courier New" pitchFamily="49" charset="0"/>
              </a:rPr>
              <a:t>=</a:t>
            </a:r>
            <a:r>
              <a:rPr lang="en-US" altLang="zh-CN" sz="1800" dirty="0">
                <a:latin typeface="Courier New" pitchFamily="49" charset="0"/>
                <a:ea typeface="宋体" pitchFamily="2" charset="-122"/>
                <a:cs typeface="Courier New" pitchFamily="49" charset="0"/>
              </a:rPr>
              <a:t>n×(n-1)!</a:t>
            </a:r>
            <a:r>
              <a:rPr lang="en-US" altLang="zh-CN" sz="1800" b="1" dirty="0">
                <a:latin typeface="Courier New" pitchFamily="49" charset="0"/>
                <a:ea typeface="宋体" pitchFamily="2" charset="-122"/>
                <a:cs typeface="Courier New" pitchFamily="49" charset="0"/>
              </a:rPr>
              <a:t>                                      </a:t>
            </a:r>
            <a:r>
              <a:rPr lang="en-US" altLang="zh-CN" dirty="0">
                <a:latin typeface="Courier New" pitchFamily="49" charset="0"/>
                <a:ea typeface="宋体" pitchFamily="2" charset="-122"/>
                <a:cs typeface="Courier New" pitchFamily="49" charset="0"/>
              </a:rPr>
              <a:t>          	</a:t>
            </a:r>
            <a:r>
              <a:rPr lang="en-US" altLang="zh-CN" b="1" dirty="0">
                <a:latin typeface="Courier New" pitchFamily="49" charset="0"/>
                <a:ea typeface="宋体" pitchFamily="2" charset="-122"/>
                <a:cs typeface="Courier New" pitchFamily="49" charset="0"/>
              </a:rPr>
              <a:t>(n-1)!</a:t>
            </a:r>
            <a:r>
              <a:rPr lang="en-US" altLang="zh-CN" sz="1800" dirty="0">
                <a:latin typeface="Courier New" pitchFamily="49" charset="0"/>
                <a:ea typeface="宋体" pitchFamily="2" charset="-122"/>
                <a:cs typeface="Courier New" pitchFamily="49" charset="0"/>
              </a:rPr>
              <a:t>=(n-1)×(n-2)!</a:t>
            </a:r>
            <a:r>
              <a:rPr lang="en-US" altLang="zh-CN" b="1" dirty="0">
                <a:latin typeface="Courier New" pitchFamily="49" charset="0"/>
                <a:ea typeface="宋体" pitchFamily="2" charset="-122"/>
                <a:cs typeface="Courier New" pitchFamily="49" charset="0"/>
              </a:rPr>
              <a:t>                             </a:t>
            </a:r>
          </a:p>
          <a:p>
            <a:r>
              <a:rPr lang="en-US" altLang="zh-CN" b="1" dirty="0">
                <a:latin typeface="Courier New" pitchFamily="49" charset="0"/>
                <a:ea typeface="宋体" pitchFamily="2" charset="-122"/>
                <a:cs typeface="Courier New" pitchFamily="49" charset="0"/>
              </a:rPr>
              <a:t>(n-2)!         .</a:t>
            </a:r>
          </a:p>
          <a:p>
            <a:pPr algn="l"/>
            <a:r>
              <a:rPr lang="en-US" altLang="zh-CN" b="1" dirty="0">
                <a:latin typeface="Courier New" pitchFamily="49" charset="0"/>
                <a:ea typeface="宋体" pitchFamily="2" charset="-122"/>
                <a:cs typeface="Courier New" pitchFamily="49" charset="0"/>
              </a:rPr>
              <a:t>     (n-3)!                         </a:t>
            </a:r>
          </a:p>
          <a:p>
            <a:r>
              <a:rPr lang="en-US" altLang="zh-CN" b="1" dirty="0">
                <a:latin typeface="Courier New" pitchFamily="49" charset="0"/>
                <a:ea typeface="宋体" pitchFamily="2" charset="-122"/>
                <a:cs typeface="Courier New" pitchFamily="49" charset="0"/>
              </a:rPr>
              <a:t>                 5!</a:t>
            </a:r>
          </a:p>
          <a:p>
            <a:r>
              <a:rPr lang="en-US" altLang="zh-CN" b="1" dirty="0">
                <a:latin typeface="Courier New" pitchFamily="49" charset="0"/>
                <a:ea typeface="宋体" pitchFamily="2" charset="-122"/>
                <a:cs typeface="Courier New" pitchFamily="49" charset="0"/>
              </a:rPr>
              <a:t>       :       4!</a:t>
            </a:r>
            <a:r>
              <a:rPr lang="en-US" altLang="zh-CN" sz="1800" dirty="0">
                <a:latin typeface="Courier New" pitchFamily="49" charset="0"/>
                <a:ea typeface="宋体" pitchFamily="2" charset="-122"/>
                <a:cs typeface="Courier New" pitchFamily="49" charset="0"/>
              </a:rPr>
              <a:t>=4×3!</a:t>
            </a:r>
          </a:p>
          <a:p>
            <a:r>
              <a:rPr lang="en-US" altLang="zh-CN" b="1" dirty="0">
                <a:latin typeface="Courier New" pitchFamily="49" charset="0"/>
                <a:ea typeface="宋体" pitchFamily="2" charset="-122"/>
                <a:cs typeface="Courier New" pitchFamily="49" charset="0"/>
              </a:rPr>
              <a:t>              3!</a:t>
            </a:r>
            <a:r>
              <a:rPr lang="en-US" altLang="zh-CN" sz="1800" dirty="0">
                <a:latin typeface="Courier New" pitchFamily="49" charset="0"/>
                <a:ea typeface="宋体" pitchFamily="2" charset="-122"/>
                <a:cs typeface="Courier New" pitchFamily="49" charset="0"/>
              </a:rPr>
              <a:t>=3×2!</a:t>
            </a:r>
          </a:p>
          <a:p>
            <a:r>
              <a:rPr lang="en-US" altLang="zh-CN" b="1" dirty="0">
                <a:latin typeface="Courier New" pitchFamily="49" charset="0"/>
                <a:ea typeface="宋体" pitchFamily="2" charset="-122"/>
                <a:cs typeface="Courier New" pitchFamily="49" charset="0"/>
              </a:rPr>
              <a:t>             2!</a:t>
            </a:r>
            <a:r>
              <a:rPr lang="en-US" altLang="zh-CN" sz="1800" dirty="0">
                <a:latin typeface="Courier New" pitchFamily="49" charset="0"/>
                <a:ea typeface="宋体" pitchFamily="2" charset="-122"/>
                <a:cs typeface="Courier New" pitchFamily="49" charset="0"/>
              </a:rPr>
              <a:t>=2×1!</a:t>
            </a:r>
          </a:p>
          <a:p>
            <a:r>
              <a:rPr lang="en-US" altLang="zh-CN" b="1" dirty="0">
                <a:latin typeface="Courier New" pitchFamily="49" charset="0"/>
                <a:ea typeface="宋体" pitchFamily="2" charset="-122"/>
                <a:cs typeface="Courier New" pitchFamily="49" charset="0"/>
              </a:rPr>
              <a:t>           1!</a:t>
            </a:r>
            <a:r>
              <a:rPr lang="en-US" altLang="zh-CN" sz="1800" dirty="0">
                <a:latin typeface="Courier New" pitchFamily="49" charset="0"/>
                <a:ea typeface="宋体" pitchFamily="2" charset="-122"/>
                <a:cs typeface="Courier New" pitchFamily="49" charset="0"/>
              </a:rPr>
              <a:t>=1</a:t>
            </a:r>
            <a:endParaRPr lang="en-US" altLang="zh-CN" dirty="0">
              <a:latin typeface="Courier New" pitchFamily="49" charset="0"/>
              <a:ea typeface="宋体" pitchFamily="2" charset="-122"/>
              <a:cs typeface="Courier New" pitchFamily="49" charset="0"/>
            </a:endParaRPr>
          </a:p>
        </p:txBody>
      </p:sp>
      <p:sp>
        <p:nvSpPr>
          <p:cNvPr id="596996" name="Line 4"/>
          <p:cNvSpPr>
            <a:spLocks noChangeShapeType="1"/>
          </p:cNvSpPr>
          <p:nvPr/>
        </p:nvSpPr>
        <p:spPr bwMode="auto">
          <a:xfrm>
            <a:off x="1884363" y="2643188"/>
            <a:ext cx="2428875" cy="4071937"/>
          </a:xfrm>
          <a:prstGeom prst="line">
            <a:avLst/>
          </a:prstGeom>
          <a:noFill/>
          <a:ln w="9525">
            <a:solidFill>
              <a:schemeClr val="tx1"/>
            </a:solidFill>
            <a:round/>
            <a:headEnd/>
            <a:tailEnd type="triangle" w="med" len="med"/>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6997" name="Line 5"/>
          <p:cNvSpPr>
            <a:spLocks noChangeShapeType="1"/>
          </p:cNvSpPr>
          <p:nvPr/>
        </p:nvSpPr>
        <p:spPr bwMode="auto">
          <a:xfrm flipV="1">
            <a:off x="5241925" y="2714625"/>
            <a:ext cx="2428875" cy="4000500"/>
          </a:xfrm>
          <a:prstGeom prst="line">
            <a:avLst/>
          </a:prstGeom>
          <a:noFill/>
          <a:ln w="9525">
            <a:solidFill>
              <a:schemeClr val="tx1"/>
            </a:solidFill>
            <a:round/>
            <a:headEnd/>
            <a:tailEnd type="triangle" w="med" len="med"/>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6998" name="Text Box 6"/>
          <p:cNvSpPr txBox="1">
            <a:spLocks noChangeArrowheads="1"/>
          </p:cNvSpPr>
          <p:nvPr/>
        </p:nvSpPr>
        <p:spPr bwMode="auto">
          <a:xfrm>
            <a:off x="714375" y="3643313"/>
            <a:ext cx="2116138" cy="519112"/>
          </a:xfrm>
          <a:prstGeom prst="rect">
            <a:avLst/>
          </a:prstGeom>
          <a:noFill/>
          <a:ln w="9525">
            <a:noFill/>
            <a:miter lim="800000"/>
            <a:headEnd/>
            <a:tailEnd/>
          </a:ln>
          <a:effectLst/>
        </p:spPr>
        <p:txBody>
          <a:bodyPr>
            <a:spAutoFit/>
          </a:bodyPr>
          <a:lstStyle/>
          <a:p>
            <a:pPr>
              <a:defRPr/>
            </a:pPr>
            <a:r>
              <a:rPr lang="zh-CN" altLang="en-US" sz="2800" b="1" dirty="0">
                <a:latin typeface="+mn-ea"/>
                <a:ea typeface="+mn-ea"/>
              </a:rPr>
              <a:t>递推过程</a:t>
            </a:r>
          </a:p>
        </p:txBody>
      </p:sp>
      <p:sp>
        <p:nvSpPr>
          <p:cNvPr id="596999" name="Text Box 7"/>
          <p:cNvSpPr txBox="1">
            <a:spLocks noChangeArrowheads="1"/>
          </p:cNvSpPr>
          <p:nvPr/>
        </p:nvSpPr>
        <p:spPr bwMode="auto">
          <a:xfrm>
            <a:off x="7072313" y="3643313"/>
            <a:ext cx="2000250" cy="519112"/>
          </a:xfrm>
          <a:prstGeom prst="rect">
            <a:avLst/>
          </a:prstGeom>
          <a:noFill/>
          <a:ln w="9525">
            <a:noFill/>
            <a:miter lim="800000"/>
            <a:headEnd/>
            <a:tailEnd/>
          </a:ln>
          <a:effectLst/>
        </p:spPr>
        <p:txBody>
          <a:bodyPr>
            <a:spAutoFit/>
          </a:bodyPr>
          <a:lstStyle/>
          <a:p>
            <a:pPr>
              <a:defRPr/>
            </a:pPr>
            <a:r>
              <a:rPr lang="zh-CN" altLang="en-US" dirty="0">
                <a:latin typeface="+mn-ea"/>
                <a:ea typeface="+mn-ea"/>
              </a:rPr>
              <a:t>回归</a:t>
            </a:r>
            <a:r>
              <a:rPr lang="zh-CN" altLang="en-US" sz="2800" b="1" dirty="0">
                <a:latin typeface="+mn-ea"/>
                <a:ea typeface="+mn-ea"/>
              </a:rPr>
              <a:t>过程</a:t>
            </a:r>
          </a:p>
        </p:txBody>
      </p:sp>
      <p:sp>
        <p:nvSpPr>
          <p:cNvPr id="22" name="Rectangle 3"/>
          <p:cNvSpPr txBox="1">
            <a:spLocks noChangeArrowheads="1"/>
          </p:cNvSpPr>
          <p:nvPr/>
        </p:nvSpPr>
        <p:spPr>
          <a:xfrm>
            <a:off x="285750" y="0"/>
            <a:ext cx="8858250" cy="2643188"/>
          </a:xfrm>
          <a:prstGeom prst="rect">
            <a:avLst/>
          </a:prstGeom>
          <a:solidFill>
            <a:schemeClr val="accent1">
              <a:lumMod val="20000"/>
              <a:lumOff val="80000"/>
            </a:schemeClr>
          </a:solidFill>
        </p:spPr>
        <p:txBody>
          <a:bodyPr/>
          <a:lstStyle/>
          <a:p>
            <a:pPr marL="374650" indent="-374650" eaLnBrk="0" hangingPunct="0">
              <a:lnSpc>
                <a:spcPct val="90000"/>
              </a:lnSpc>
              <a:spcBef>
                <a:spcPct val="20000"/>
              </a:spcBef>
              <a:buClr>
                <a:srgbClr val="FFCC66"/>
              </a:buClr>
              <a:buSzPct val="80000"/>
              <a:buFont typeface="Monotype Sorts" charset="2"/>
              <a:buNone/>
              <a:defRPr/>
            </a:pPr>
            <a:r>
              <a:rPr lang="zh-CN" altLang="en-US" sz="2000" b="1" dirty="0">
                <a:solidFill>
                  <a:srgbClr val="000066"/>
                </a:solidFill>
                <a:effectLst>
                  <a:outerShdw blurRad="38100" dist="38100" dir="2700000" algn="tl">
                    <a:srgbClr val="000000"/>
                  </a:outerShdw>
                </a:effectLst>
                <a:latin typeface="宋体" pitchFamily="2" charset="-122"/>
                <a:ea typeface="宋体" pitchFamily="2" charset="-122"/>
              </a:rPr>
              <a:t>  </a:t>
            </a:r>
            <a:endParaRPr lang="en-US" altLang="zh-CN" sz="2000" b="1" dirty="0">
              <a:solidFill>
                <a:srgbClr val="000066"/>
              </a:solidFill>
              <a:effectLst>
                <a:outerShdw blurRad="38100" dist="38100" dir="2700000" algn="tl">
                  <a:srgbClr val="000000"/>
                </a:outerShdw>
              </a:effectLst>
              <a:latin typeface="Courier New" pitchFamily="49" charset="0"/>
              <a:ea typeface="宋体" pitchFamily="2" charset="-122"/>
            </a:endParaRPr>
          </a:p>
          <a:p>
            <a:pPr marL="374650" indent="-374650" eaLnBrk="0" hangingPunct="0">
              <a:lnSpc>
                <a:spcPct val="90000"/>
              </a:lnSpc>
              <a:spcBef>
                <a:spcPct val="20000"/>
              </a:spcBef>
              <a:buClr>
                <a:srgbClr val="FFCC66"/>
              </a:buClr>
              <a:buSzPct val="80000"/>
              <a:buFont typeface="Monotype Sorts" charset="2"/>
              <a:buNone/>
              <a:defRPr/>
            </a:pPr>
            <a:endParaRPr lang="en-US" altLang="zh-CN" sz="2000" b="1" dirty="0">
              <a:solidFill>
                <a:srgbClr val="000066"/>
              </a:solidFill>
              <a:effectLst>
                <a:outerShdw blurRad="38100" dist="38100" dir="2700000" algn="tl">
                  <a:srgbClr val="000000"/>
                </a:outerShdw>
              </a:effectLst>
              <a:latin typeface="Courier New" pitchFamily="49" charset="0"/>
              <a:ea typeface="宋体" pitchFamily="2" charset="-122"/>
            </a:endParaRPr>
          </a:p>
          <a:p>
            <a:pPr marL="374650" indent="-374650" eaLnBrk="0" hangingPunct="0">
              <a:lnSpc>
                <a:spcPct val="90000"/>
              </a:lnSpc>
              <a:spcBef>
                <a:spcPct val="20000"/>
              </a:spcBef>
              <a:buClr>
                <a:srgbClr val="FFCC66"/>
              </a:buClr>
              <a:buSzPct val="80000"/>
              <a:buFont typeface="Monotype Sorts" charset="2"/>
              <a:buNone/>
              <a:defRPr/>
            </a:pPr>
            <a:endParaRPr lang="en-US" altLang="zh-CN" sz="2000" b="1" dirty="0">
              <a:solidFill>
                <a:srgbClr val="000066"/>
              </a:solidFill>
              <a:effectLst>
                <a:outerShdw blurRad="38100" dist="38100" dir="2700000" algn="tl">
                  <a:srgbClr val="000000"/>
                </a:outerShdw>
              </a:effectLst>
              <a:latin typeface="Courier New" pitchFamily="49" charset="0"/>
              <a:ea typeface="宋体" pitchFamily="2" charset="-122"/>
            </a:endParaRPr>
          </a:p>
          <a:p>
            <a:pPr marL="374650" indent="-374650" eaLnBrk="0" hangingPunct="0">
              <a:lnSpc>
                <a:spcPct val="90000"/>
              </a:lnSpc>
              <a:spcBef>
                <a:spcPct val="20000"/>
              </a:spcBef>
              <a:buClr>
                <a:srgbClr val="FFCC66"/>
              </a:buClr>
              <a:buSzPct val="80000"/>
              <a:buFont typeface="Monotype Sorts" charset="2"/>
              <a:buNone/>
              <a:defRPr/>
            </a:pPr>
            <a:endParaRPr lang="en-US" altLang="zh-CN" sz="2000" b="1" dirty="0">
              <a:solidFill>
                <a:srgbClr val="000066"/>
              </a:solidFill>
              <a:effectLst>
                <a:outerShdw blurRad="38100" dist="38100" dir="2700000" algn="tl">
                  <a:srgbClr val="000000"/>
                </a:outerShdw>
              </a:effectLst>
              <a:latin typeface="Courier New" pitchFamily="49" charset="0"/>
              <a:ea typeface="宋体" pitchFamily="2" charset="-122"/>
            </a:endParaRPr>
          </a:p>
          <a:p>
            <a:pPr marL="374650" indent="-374650" eaLnBrk="0" hangingPunct="0">
              <a:lnSpc>
                <a:spcPct val="85000"/>
              </a:lnSpc>
              <a:buClr>
                <a:srgbClr val="FFCC66"/>
              </a:buClr>
              <a:buSzPct val="80000"/>
              <a:buFont typeface="Monotype Sorts" charset="2"/>
              <a:buNone/>
              <a:defRPr/>
            </a:pPr>
            <a:r>
              <a:rPr lang="en-US" altLang="zh-CN" sz="2000" b="1" dirty="0">
                <a:solidFill>
                  <a:srgbClr val="000066"/>
                </a:solidFill>
                <a:effectLst>
                  <a:outerShdw blurRad="38100" dist="38100" dir="2700000" algn="tl">
                    <a:srgbClr val="000000"/>
                  </a:outerShdw>
                </a:effectLst>
                <a:latin typeface="Courier New" pitchFamily="49" charset="0"/>
                <a:ea typeface="宋体" pitchFamily="2" charset="-122"/>
              </a:rPr>
              <a:t>  	</a:t>
            </a:r>
            <a:r>
              <a:rPr lang="en-US" altLang="zh-CN" sz="2000" b="1" dirty="0">
                <a:solidFill>
                  <a:srgbClr val="000066"/>
                </a:solidFill>
                <a:latin typeface="Courier New" pitchFamily="49" charset="0"/>
                <a:ea typeface="宋体" pitchFamily="2" charset="-122"/>
              </a:rPr>
              <a:t>fact(5)=5*fact(4)= 120 </a:t>
            </a:r>
          </a:p>
          <a:p>
            <a:pPr marL="374650" indent="-374650" eaLnBrk="0" hangingPunct="0">
              <a:lnSpc>
                <a:spcPct val="85000"/>
              </a:lnSpc>
              <a:buClr>
                <a:srgbClr val="FFCC66"/>
              </a:buClr>
              <a:buSzPct val="80000"/>
              <a:buFont typeface="Monotype Sorts" charset="2"/>
              <a:buNone/>
              <a:defRPr/>
            </a:pPr>
            <a:r>
              <a:rPr lang="en-US" altLang="zh-CN" sz="2000" b="1" dirty="0">
                <a:solidFill>
                  <a:srgbClr val="000066"/>
                </a:solidFill>
                <a:latin typeface="Courier New" pitchFamily="49" charset="0"/>
                <a:ea typeface="宋体" pitchFamily="2" charset="-122"/>
              </a:rPr>
              <a:t>             fact(4)= 4*fact(3)= 24</a:t>
            </a:r>
            <a:r>
              <a:rPr lang="zh-CN" altLang="en-US" sz="2000" b="1" dirty="0">
                <a:solidFill>
                  <a:srgbClr val="000066"/>
                </a:solidFill>
                <a:latin typeface="Courier New" pitchFamily="49" charset="0"/>
                <a:ea typeface="宋体" pitchFamily="2" charset="-122"/>
              </a:rPr>
              <a:t> </a:t>
            </a:r>
          </a:p>
          <a:p>
            <a:pPr marL="374650" indent="-374650" eaLnBrk="0" hangingPunct="0">
              <a:lnSpc>
                <a:spcPct val="85000"/>
              </a:lnSpc>
              <a:buClr>
                <a:srgbClr val="FFCC66"/>
              </a:buClr>
              <a:buSzPct val="80000"/>
              <a:buFont typeface="Monotype Sorts" charset="2"/>
              <a:buNone/>
              <a:defRPr/>
            </a:pPr>
            <a:r>
              <a:rPr lang="en-US" altLang="zh-CN" sz="2000" b="1" dirty="0">
                <a:solidFill>
                  <a:srgbClr val="000066"/>
                </a:solidFill>
                <a:latin typeface="Courier New" pitchFamily="49" charset="0"/>
                <a:ea typeface="宋体" pitchFamily="2" charset="-122"/>
              </a:rPr>
              <a:t>                       	fact(3)= 3*fact(2)= 6 </a:t>
            </a:r>
          </a:p>
          <a:p>
            <a:pPr marL="374650" indent="-374650" eaLnBrk="0" hangingPunct="0">
              <a:lnSpc>
                <a:spcPct val="85000"/>
              </a:lnSpc>
              <a:buClr>
                <a:srgbClr val="FFCC66"/>
              </a:buClr>
              <a:buSzPct val="80000"/>
              <a:buFont typeface="Monotype Sorts" charset="2"/>
              <a:buNone/>
              <a:defRPr/>
            </a:pPr>
            <a:r>
              <a:rPr lang="en-US" altLang="zh-CN" sz="2000" b="1" dirty="0">
                <a:solidFill>
                  <a:srgbClr val="000066"/>
                </a:solidFill>
                <a:latin typeface="Courier New" pitchFamily="49" charset="0"/>
                <a:ea typeface="宋体" pitchFamily="2" charset="-122"/>
              </a:rPr>
              <a:t>                                   fact(2)= 2*fact(1)=2 </a:t>
            </a:r>
          </a:p>
          <a:p>
            <a:pPr marL="374650" indent="-374650" eaLnBrk="0" hangingPunct="0">
              <a:lnSpc>
                <a:spcPct val="85000"/>
              </a:lnSpc>
              <a:buClr>
                <a:srgbClr val="FFCC66"/>
              </a:buClr>
              <a:buSzPct val="80000"/>
              <a:buFont typeface="Monotype Sorts" charset="2"/>
              <a:buNone/>
              <a:defRPr/>
            </a:pPr>
            <a:r>
              <a:rPr lang="en-US" altLang="zh-CN" sz="2000" b="1" dirty="0">
                <a:solidFill>
                  <a:srgbClr val="000066"/>
                </a:solidFill>
                <a:latin typeface="Courier New" pitchFamily="49" charset="0"/>
                <a:ea typeface="宋体" pitchFamily="2" charset="-122"/>
              </a:rPr>
              <a:t>                                              fact(1)=1</a:t>
            </a:r>
            <a:endParaRPr lang="zh-CN" altLang="en-US" sz="2000" b="1" dirty="0">
              <a:solidFill>
                <a:srgbClr val="000066"/>
              </a:solidFill>
              <a:latin typeface="Courier New" pitchFamily="49" charset="0"/>
              <a:ea typeface="宋体" pitchFamily="2" charset="-122"/>
            </a:endParaRPr>
          </a:p>
        </p:txBody>
      </p:sp>
      <p:sp>
        <p:nvSpPr>
          <p:cNvPr id="50186" name="Rectangle 4"/>
          <p:cNvSpPr>
            <a:spLocks noChangeArrowheads="1"/>
          </p:cNvSpPr>
          <p:nvPr/>
        </p:nvSpPr>
        <p:spPr bwMode="auto">
          <a:xfrm>
            <a:off x="739775" y="500063"/>
            <a:ext cx="827088" cy="744537"/>
          </a:xfrm>
          <a:prstGeom prst="rect">
            <a:avLst/>
          </a:prstGeom>
          <a:noFill/>
          <a:ln w="9525">
            <a:solidFill>
              <a:schemeClr val="tx1"/>
            </a:solidFill>
            <a:miter lim="800000"/>
            <a:headEnd/>
            <a:tailEnd/>
          </a:ln>
        </p:spPr>
        <p:txBody>
          <a:bodyPr wrap="none" anchor="ctr"/>
          <a:lstStyle/>
          <a:p>
            <a:pPr algn="ctr"/>
            <a:endParaRPr kumimoji="1" lang="zh-CN" altLang="en-US">
              <a:solidFill>
                <a:schemeClr val="hlink"/>
              </a:solidFill>
              <a:ea typeface="宋体" pitchFamily="2" charset="-122"/>
            </a:endParaRPr>
          </a:p>
        </p:txBody>
      </p:sp>
      <p:grpSp>
        <p:nvGrpSpPr>
          <p:cNvPr id="2" name="Group 5"/>
          <p:cNvGrpSpPr>
            <a:grpSpLocks/>
          </p:cNvGrpSpPr>
          <p:nvPr/>
        </p:nvGrpSpPr>
        <p:grpSpPr bwMode="auto">
          <a:xfrm>
            <a:off x="1095375" y="428625"/>
            <a:ext cx="7359650" cy="828675"/>
            <a:chOff x="644" y="1459"/>
            <a:chExt cx="4684" cy="797"/>
          </a:xfrm>
        </p:grpSpPr>
        <p:sp>
          <p:nvSpPr>
            <p:cNvPr id="25" name="Rectangle 6"/>
            <p:cNvSpPr>
              <a:spLocks noChangeArrowheads="1"/>
            </p:cNvSpPr>
            <p:nvPr/>
          </p:nvSpPr>
          <p:spPr bwMode="auto">
            <a:xfrm>
              <a:off x="1281" y="1535"/>
              <a:ext cx="528" cy="721"/>
            </a:xfrm>
            <a:prstGeom prst="rect">
              <a:avLst/>
            </a:prstGeom>
            <a:noFill/>
            <a:ln w="9525">
              <a:solidFill>
                <a:schemeClr val="tx1"/>
              </a:solidFill>
              <a:miter lim="800000"/>
              <a:headEnd/>
              <a:tailEn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6" name="Rectangle 7"/>
            <p:cNvSpPr>
              <a:spLocks noChangeArrowheads="1"/>
            </p:cNvSpPr>
            <p:nvPr/>
          </p:nvSpPr>
          <p:spPr bwMode="auto">
            <a:xfrm>
              <a:off x="2112" y="1535"/>
              <a:ext cx="527" cy="721"/>
            </a:xfrm>
            <a:prstGeom prst="rect">
              <a:avLst/>
            </a:prstGeom>
            <a:noFill/>
            <a:ln w="9525">
              <a:solidFill>
                <a:schemeClr val="tx1"/>
              </a:solidFill>
              <a:miter lim="800000"/>
              <a:headEnd/>
              <a:tailEn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7" name="Rectangle 8"/>
            <p:cNvSpPr>
              <a:spLocks noChangeArrowheads="1"/>
            </p:cNvSpPr>
            <p:nvPr/>
          </p:nvSpPr>
          <p:spPr bwMode="auto">
            <a:xfrm>
              <a:off x="3024" y="1535"/>
              <a:ext cx="520" cy="721"/>
            </a:xfrm>
            <a:prstGeom prst="rect">
              <a:avLst/>
            </a:prstGeom>
            <a:noFill/>
            <a:ln w="9525">
              <a:solidFill>
                <a:schemeClr val="tx1"/>
              </a:solidFill>
              <a:miter lim="800000"/>
              <a:headEnd/>
              <a:tailEn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8" name="Rectangle 9"/>
            <p:cNvSpPr>
              <a:spLocks noChangeArrowheads="1"/>
            </p:cNvSpPr>
            <p:nvPr/>
          </p:nvSpPr>
          <p:spPr bwMode="auto">
            <a:xfrm>
              <a:off x="3936" y="1535"/>
              <a:ext cx="528" cy="721"/>
            </a:xfrm>
            <a:prstGeom prst="rect">
              <a:avLst/>
            </a:prstGeom>
            <a:noFill/>
            <a:ln w="9525">
              <a:solidFill>
                <a:schemeClr val="tx1"/>
              </a:solidFill>
              <a:miter lim="800000"/>
              <a:headEnd/>
              <a:tailEn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9" name="Rectangle 10"/>
            <p:cNvSpPr>
              <a:spLocks noChangeArrowheads="1"/>
            </p:cNvSpPr>
            <p:nvPr/>
          </p:nvSpPr>
          <p:spPr bwMode="auto">
            <a:xfrm>
              <a:off x="4800" y="1535"/>
              <a:ext cx="528" cy="721"/>
            </a:xfrm>
            <a:prstGeom prst="rect">
              <a:avLst/>
            </a:prstGeom>
            <a:noFill/>
            <a:ln w="9525">
              <a:solidFill>
                <a:schemeClr val="tx1"/>
              </a:solidFill>
              <a:miter lim="800000"/>
              <a:headEnd/>
              <a:tailEn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0" name="Line 11"/>
            <p:cNvSpPr>
              <a:spLocks noChangeShapeType="1"/>
            </p:cNvSpPr>
            <p:nvPr/>
          </p:nvSpPr>
          <p:spPr bwMode="auto">
            <a:xfrm flipV="1">
              <a:off x="690" y="1486"/>
              <a:ext cx="576" cy="385"/>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1" name="Line 12"/>
            <p:cNvSpPr>
              <a:spLocks noChangeShapeType="1"/>
            </p:cNvSpPr>
            <p:nvPr/>
          </p:nvSpPr>
          <p:spPr bwMode="auto">
            <a:xfrm flipV="1">
              <a:off x="1536" y="1459"/>
              <a:ext cx="518" cy="365"/>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2" name="Line 13"/>
            <p:cNvSpPr>
              <a:spLocks noChangeShapeType="1"/>
            </p:cNvSpPr>
            <p:nvPr/>
          </p:nvSpPr>
          <p:spPr bwMode="auto">
            <a:xfrm flipV="1">
              <a:off x="2418" y="1459"/>
              <a:ext cx="546" cy="344"/>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3" name="Line 14"/>
            <p:cNvSpPr>
              <a:spLocks noChangeShapeType="1"/>
            </p:cNvSpPr>
            <p:nvPr/>
          </p:nvSpPr>
          <p:spPr bwMode="auto">
            <a:xfrm flipV="1">
              <a:off x="3327" y="1459"/>
              <a:ext cx="586" cy="412"/>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4" name="Line 15"/>
            <p:cNvSpPr>
              <a:spLocks noChangeShapeType="1"/>
            </p:cNvSpPr>
            <p:nvPr/>
          </p:nvSpPr>
          <p:spPr bwMode="auto">
            <a:xfrm flipV="1">
              <a:off x="4191" y="1528"/>
              <a:ext cx="546" cy="344"/>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5" name="Line 16"/>
            <p:cNvSpPr>
              <a:spLocks noChangeShapeType="1"/>
            </p:cNvSpPr>
            <p:nvPr/>
          </p:nvSpPr>
          <p:spPr bwMode="auto">
            <a:xfrm flipH="1" flipV="1">
              <a:off x="4191" y="1940"/>
              <a:ext cx="591" cy="275"/>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6" name="Line 17"/>
            <p:cNvSpPr>
              <a:spLocks noChangeShapeType="1"/>
            </p:cNvSpPr>
            <p:nvPr/>
          </p:nvSpPr>
          <p:spPr bwMode="auto">
            <a:xfrm flipH="1" flipV="1">
              <a:off x="3327" y="1940"/>
              <a:ext cx="586" cy="286"/>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7" name="Line 18"/>
            <p:cNvSpPr>
              <a:spLocks noChangeShapeType="1"/>
            </p:cNvSpPr>
            <p:nvPr/>
          </p:nvSpPr>
          <p:spPr bwMode="auto">
            <a:xfrm flipH="1" flipV="1">
              <a:off x="2372" y="1940"/>
              <a:ext cx="644" cy="275"/>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8" name="Line 19"/>
            <p:cNvSpPr>
              <a:spLocks noChangeShapeType="1"/>
            </p:cNvSpPr>
            <p:nvPr/>
          </p:nvSpPr>
          <p:spPr bwMode="auto">
            <a:xfrm flipH="1" flipV="1">
              <a:off x="1521" y="1967"/>
              <a:ext cx="579" cy="246"/>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9" name="Line 20"/>
            <p:cNvSpPr>
              <a:spLocks noChangeShapeType="1"/>
            </p:cNvSpPr>
            <p:nvPr/>
          </p:nvSpPr>
          <p:spPr bwMode="auto">
            <a:xfrm flipH="1" flipV="1">
              <a:off x="644" y="1920"/>
              <a:ext cx="591" cy="295"/>
            </a:xfrm>
            <a:prstGeom prst="line">
              <a:avLst/>
            </a:prstGeom>
            <a:noFill/>
            <a:ln w="9525">
              <a:solidFill>
                <a:schemeClr val="tx1"/>
              </a:solidFill>
              <a:round/>
              <a:headEnd/>
              <a:tailEnd type="triangle" w="med" len="med"/>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grpSp>
      <p:sp>
        <p:nvSpPr>
          <p:cNvPr id="40" name="Text Box 21"/>
          <p:cNvSpPr txBox="1">
            <a:spLocks noChangeArrowheads="1"/>
          </p:cNvSpPr>
          <p:nvPr/>
        </p:nvSpPr>
        <p:spPr bwMode="auto">
          <a:xfrm>
            <a:off x="739775" y="174625"/>
            <a:ext cx="863600"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main</a:t>
            </a:r>
          </a:p>
        </p:txBody>
      </p:sp>
      <p:sp>
        <p:nvSpPr>
          <p:cNvPr id="41" name="Text Box 22"/>
          <p:cNvSpPr txBox="1">
            <a:spLocks noChangeArrowheads="1"/>
          </p:cNvSpPr>
          <p:nvPr/>
        </p:nvSpPr>
        <p:spPr bwMode="auto">
          <a:xfrm>
            <a:off x="1898650" y="206375"/>
            <a:ext cx="1411288"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fact(5)</a:t>
            </a:r>
          </a:p>
        </p:txBody>
      </p:sp>
      <p:sp>
        <p:nvSpPr>
          <p:cNvPr id="42" name="Text Box 23"/>
          <p:cNvSpPr txBox="1">
            <a:spLocks noChangeArrowheads="1"/>
          </p:cNvSpPr>
          <p:nvPr/>
        </p:nvSpPr>
        <p:spPr bwMode="auto">
          <a:xfrm>
            <a:off x="3168650" y="174625"/>
            <a:ext cx="1411288"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fact(4)</a:t>
            </a:r>
          </a:p>
        </p:txBody>
      </p:sp>
      <p:sp>
        <p:nvSpPr>
          <p:cNvPr id="43" name="Text Box 24"/>
          <p:cNvSpPr txBox="1">
            <a:spLocks noChangeArrowheads="1"/>
          </p:cNvSpPr>
          <p:nvPr/>
        </p:nvSpPr>
        <p:spPr bwMode="auto">
          <a:xfrm>
            <a:off x="4597400" y="190500"/>
            <a:ext cx="1411288"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fact(3)</a:t>
            </a:r>
          </a:p>
        </p:txBody>
      </p:sp>
      <p:sp>
        <p:nvSpPr>
          <p:cNvPr id="44" name="Text Box 25"/>
          <p:cNvSpPr txBox="1">
            <a:spLocks noChangeArrowheads="1"/>
          </p:cNvSpPr>
          <p:nvPr/>
        </p:nvSpPr>
        <p:spPr bwMode="auto">
          <a:xfrm>
            <a:off x="6026150" y="182563"/>
            <a:ext cx="1411288"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fact(2)</a:t>
            </a:r>
          </a:p>
        </p:txBody>
      </p:sp>
      <p:sp>
        <p:nvSpPr>
          <p:cNvPr id="45" name="Text Box 26"/>
          <p:cNvSpPr txBox="1">
            <a:spLocks noChangeArrowheads="1"/>
          </p:cNvSpPr>
          <p:nvPr/>
        </p:nvSpPr>
        <p:spPr bwMode="auto">
          <a:xfrm>
            <a:off x="7375525" y="198438"/>
            <a:ext cx="1411288" cy="3968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sz="2000" b="1" dirty="0">
                <a:solidFill>
                  <a:schemeClr val="accent2">
                    <a:lumMod val="50000"/>
                  </a:schemeClr>
                </a:solidFill>
                <a:effectLst>
                  <a:outerShdw blurRad="38100" dist="38100" dir="2700000" algn="tl">
                    <a:srgbClr val="C0C0C0"/>
                  </a:outerShdw>
                </a:effectLst>
                <a:latin typeface="Courier New" pitchFamily="49" charset="0"/>
                <a:ea typeface="宋体" pitchFamily="2" charset="-122"/>
              </a:rPr>
              <a:t>fact(1)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xEl>
                                              <p:pRg st="4" end="4"/>
                                            </p:txEl>
                                          </p:spTgt>
                                        </p:tgtEl>
                                        <p:attrNameLst>
                                          <p:attrName>style.visibility</p:attrName>
                                        </p:attrNameLst>
                                      </p:cBhvr>
                                      <p:to>
                                        <p:strVal val="visible"/>
                                      </p:to>
                                    </p:set>
                                    <p:animEffect transition="in" filter="wipe(left)">
                                      <p:cBhvr>
                                        <p:cTn id="7" dur="500"/>
                                        <p:tgtEl>
                                          <p:spTgt spid="2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xEl>
                                              <p:pRg st="5" end="5"/>
                                            </p:txEl>
                                          </p:spTgt>
                                        </p:tgtEl>
                                        <p:attrNameLst>
                                          <p:attrName>style.visibility</p:attrName>
                                        </p:attrNameLst>
                                      </p:cBhvr>
                                      <p:to>
                                        <p:strVal val="visible"/>
                                      </p:to>
                                    </p:set>
                                    <p:animEffect transition="in" filter="wipe(left)">
                                      <p:cBhvr>
                                        <p:cTn id="12" dur="500"/>
                                        <p:tgtEl>
                                          <p:spTgt spid="22">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xEl>
                                              <p:pRg st="6" end="6"/>
                                            </p:txEl>
                                          </p:spTgt>
                                        </p:tgtEl>
                                        <p:attrNameLst>
                                          <p:attrName>style.visibility</p:attrName>
                                        </p:attrNameLst>
                                      </p:cBhvr>
                                      <p:to>
                                        <p:strVal val="visible"/>
                                      </p:to>
                                    </p:set>
                                    <p:animEffect transition="in" filter="wipe(left)">
                                      <p:cBhvr>
                                        <p:cTn id="17" dur="500"/>
                                        <p:tgtEl>
                                          <p:spTgt spid="2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xEl>
                                              <p:pRg st="7" end="7"/>
                                            </p:txEl>
                                          </p:spTgt>
                                        </p:tgtEl>
                                        <p:attrNameLst>
                                          <p:attrName>style.visibility</p:attrName>
                                        </p:attrNameLst>
                                      </p:cBhvr>
                                      <p:to>
                                        <p:strVal val="visible"/>
                                      </p:to>
                                    </p:set>
                                    <p:animEffect transition="in" filter="wipe(left)">
                                      <p:cBhvr>
                                        <p:cTn id="22" dur="500"/>
                                        <p:tgtEl>
                                          <p:spTgt spid="22">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xEl>
                                              <p:pRg st="8" end="8"/>
                                            </p:txEl>
                                          </p:spTgt>
                                        </p:tgtEl>
                                        <p:attrNameLst>
                                          <p:attrName>style.visibility</p:attrName>
                                        </p:attrNameLst>
                                      </p:cBhvr>
                                      <p:to>
                                        <p:strVal val="visible"/>
                                      </p:to>
                                    </p:set>
                                    <p:animEffect transition="in" filter="wipe(left)">
                                      <p:cBhvr>
                                        <p:cTn id="27" dur="500"/>
                                        <p:tgtEl>
                                          <p:spTgt spid="2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ChangeArrowheads="1"/>
          </p:cNvSpPr>
          <p:nvPr>
            <p:ph type="title"/>
          </p:nvPr>
        </p:nvSpPr>
        <p:spPr>
          <a:xfrm>
            <a:off x="539552" y="341784"/>
            <a:ext cx="8229600" cy="1143000"/>
          </a:xfrm>
        </p:spPr>
        <p:txBody>
          <a:bodyPr/>
          <a:lstStyle/>
          <a:p>
            <a:pPr>
              <a:defRPr/>
            </a:pPr>
            <a:r>
              <a:rPr lang="zh-CN" altLang="en-US" dirty="0"/>
              <a:t>递归与迭代</a:t>
            </a:r>
          </a:p>
        </p:txBody>
      </p:sp>
      <p:sp>
        <p:nvSpPr>
          <p:cNvPr id="598019" name="Rectangle 3"/>
          <p:cNvSpPr>
            <a:spLocks noGrp="1" noChangeArrowheads="1"/>
          </p:cNvSpPr>
          <p:nvPr>
            <p:ph type="body" idx="1"/>
          </p:nvPr>
        </p:nvSpPr>
        <p:spPr>
          <a:xfrm>
            <a:off x="685800" y="1500188"/>
            <a:ext cx="8062913" cy="4956175"/>
          </a:xfrm>
        </p:spPr>
        <p:txBody>
          <a:bodyPr/>
          <a:lstStyle/>
          <a:p>
            <a:pPr>
              <a:buFont typeface="Monotype Sorts" charset="2"/>
              <a:buChar char=""/>
              <a:defRPr/>
            </a:pPr>
            <a:r>
              <a:rPr lang="zh-CN" altLang="en-US" dirty="0">
                <a:solidFill>
                  <a:srgbClr val="FF0000"/>
                </a:solidFill>
                <a:latin typeface="华文仿宋" pitchFamily="2" charset="-122"/>
                <a:ea typeface="华文仿宋" pitchFamily="2" charset="-122"/>
              </a:rPr>
              <a:t>用</a:t>
            </a:r>
            <a:r>
              <a:rPr lang="zh-CN" altLang="en-GB" dirty="0">
                <a:solidFill>
                  <a:srgbClr val="FF0000"/>
                </a:solidFill>
                <a:latin typeface="华文仿宋" pitchFamily="2" charset="-122"/>
                <a:ea typeface="华文仿宋" pitchFamily="2" charset="-122"/>
              </a:rPr>
              <a:t>迭代</a:t>
            </a:r>
            <a:r>
              <a:rPr lang="zh-CN" altLang="en-US" dirty="0">
                <a:solidFill>
                  <a:srgbClr val="FF0000"/>
                </a:solidFill>
                <a:latin typeface="华文仿宋" pitchFamily="2" charset="-122"/>
                <a:ea typeface="华文仿宋" pitchFamily="2" charset="-122"/>
              </a:rPr>
              <a:t>（</a:t>
            </a:r>
            <a:r>
              <a:rPr lang="zh-CN" altLang="en-GB" dirty="0">
                <a:solidFill>
                  <a:srgbClr val="FF0000"/>
                </a:solidFill>
                <a:latin typeface="华文仿宋" pitchFamily="2" charset="-122"/>
                <a:ea typeface="华文仿宋" pitchFamily="2" charset="-122"/>
              </a:rPr>
              <a:t>即循环</a:t>
            </a:r>
            <a:r>
              <a:rPr lang="zh-CN" altLang="en-US" dirty="0">
                <a:solidFill>
                  <a:srgbClr val="FF0000"/>
                </a:solidFill>
                <a:latin typeface="华文仿宋" pitchFamily="2" charset="-122"/>
                <a:ea typeface="华文仿宋" pitchFamily="2" charset="-122"/>
              </a:rPr>
              <a:t>）</a:t>
            </a:r>
            <a:r>
              <a:rPr lang="zh-CN" altLang="en-GB" dirty="0">
                <a:latin typeface="华文仿宋" pitchFamily="2" charset="-122"/>
                <a:ea typeface="华文仿宋" pitchFamily="2" charset="-122"/>
              </a:rPr>
              <a:t>方法编写的阶乘函数</a:t>
            </a:r>
            <a:endParaRPr lang="en-GB" altLang="zh-CN" dirty="0">
              <a:solidFill>
                <a:schemeClr val="accent2"/>
              </a:solidFill>
              <a:latin typeface="华文仿宋" pitchFamily="2" charset="-122"/>
              <a:ea typeface="华文仿宋" pitchFamily="2" charset="-122"/>
            </a:endParaRPr>
          </a:p>
          <a:p>
            <a:pPr>
              <a:buFont typeface="Monotype Sorts" charset="2"/>
              <a:buNone/>
              <a:defRPr/>
            </a:pPr>
            <a:r>
              <a:rPr lang="en-GB" altLang="zh-CN" sz="2400" dirty="0">
                <a:solidFill>
                  <a:schemeClr val="accent2"/>
                </a:solidFill>
                <a:latin typeface="Courier New" pitchFamily="49" charset="0"/>
                <a:ea typeface="宋体" pitchFamily="2" charset="-122"/>
              </a:rPr>
              <a:t>unsigned long</a:t>
            </a:r>
            <a:r>
              <a:rPr lang="en-GB" altLang="zh-CN" sz="2400" dirty="0">
                <a:latin typeface="Courier New" pitchFamily="49" charset="0"/>
                <a:ea typeface="宋体" pitchFamily="2" charset="-122"/>
              </a:rPr>
              <a:t> </a:t>
            </a:r>
            <a:r>
              <a:rPr lang="en-US" altLang="zh-CN" sz="2400" dirty="0">
                <a:latin typeface="Courier New" pitchFamily="49" charset="0"/>
                <a:ea typeface="宋体" pitchFamily="2" charset="-122"/>
              </a:rPr>
              <a:t>f</a:t>
            </a:r>
            <a:r>
              <a:rPr lang="en-GB" altLang="zh-CN" sz="2400" dirty="0">
                <a:latin typeface="Courier New" pitchFamily="49" charset="0"/>
                <a:ea typeface="宋体" pitchFamily="2" charset="-122"/>
              </a:rPr>
              <a:t>ac(</a:t>
            </a:r>
            <a:r>
              <a:rPr lang="en-GB" altLang="zh-CN" sz="2400" dirty="0">
                <a:solidFill>
                  <a:schemeClr val="accent2"/>
                </a:solidFill>
                <a:latin typeface="Courier New" pitchFamily="49" charset="0"/>
                <a:ea typeface="宋体" pitchFamily="2" charset="-122"/>
              </a:rPr>
              <a:t>unsigned</a:t>
            </a:r>
            <a:r>
              <a:rPr lang="en-GB" altLang="zh-CN" sz="2400" dirty="0">
                <a:solidFill>
                  <a:srgbClr val="3366FF"/>
                </a:solidFill>
                <a:latin typeface="Courier New" pitchFamily="49" charset="0"/>
                <a:ea typeface="宋体" pitchFamily="2" charset="-122"/>
              </a:rPr>
              <a:t> </a:t>
            </a:r>
            <a:r>
              <a:rPr lang="en-GB" altLang="zh-CN" sz="2400" dirty="0" err="1">
                <a:solidFill>
                  <a:schemeClr val="accent2"/>
                </a:solidFill>
                <a:latin typeface="Courier New" pitchFamily="49" charset="0"/>
                <a:ea typeface="宋体" pitchFamily="2" charset="-122"/>
              </a:rPr>
              <a:t>int</a:t>
            </a:r>
            <a:r>
              <a:rPr lang="en-GB" altLang="zh-CN" sz="2400" dirty="0">
                <a:latin typeface="Courier New" pitchFamily="49" charset="0"/>
                <a:ea typeface="宋体" pitchFamily="2" charset="-122"/>
              </a:rPr>
              <a:t> n)</a:t>
            </a:r>
          </a:p>
          <a:p>
            <a:pPr>
              <a:buFont typeface="Monotype Sorts" charset="2"/>
              <a:buNone/>
              <a:defRPr/>
            </a:pPr>
            <a:r>
              <a:rPr lang="en-GB" altLang="zh-CN" sz="2400" dirty="0">
                <a:latin typeface="Courier New" pitchFamily="49" charset="0"/>
                <a:ea typeface="宋体" pitchFamily="2" charset="-122"/>
              </a:rPr>
              <a:t>{</a:t>
            </a:r>
          </a:p>
          <a:p>
            <a:pPr>
              <a:buFont typeface="Monotype Sorts" charset="2"/>
              <a:buNone/>
              <a:defRPr/>
            </a:pPr>
            <a:r>
              <a:rPr lang="en-GB" altLang="zh-CN" sz="2400" dirty="0">
                <a:latin typeface="Courier New" pitchFamily="49" charset="0"/>
                <a:ea typeface="宋体" pitchFamily="2" charset="-122"/>
              </a:rPr>
              <a:t>  </a:t>
            </a:r>
            <a:r>
              <a:rPr lang="en-GB" altLang="zh-CN" sz="2400" dirty="0">
                <a:solidFill>
                  <a:schemeClr val="accent2"/>
                </a:solidFill>
                <a:latin typeface="Courier New" pitchFamily="49" charset="0"/>
                <a:ea typeface="宋体" pitchFamily="2" charset="-122"/>
              </a:rPr>
              <a:t>unsigned  long</a:t>
            </a:r>
            <a:r>
              <a:rPr lang="en-GB" altLang="zh-CN" sz="2400" dirty="0">
                <a:latin typeface="Courier New" pitchFamily="49" charset="0"/>
                <a:ea typeface="宋体" pitchFamily="2" charset="-122"/>
              </a:rPr>
              <a:t>  result = 1;</a:t>
            </a:r>
          </a:p>
          <a:p>
            <a:pPr>
              <a:buFont typeface="Monotype Sorts" charset="2"/>
              <a:buNone/>
              <a:defRPr/>
            </a:pPr>
            <a:r>
              <a:rPr lang="en-GB" altLang="zh-CN" sz="2400" dirty="0">
                <a:latin typeface="Courier New" pitchFamily="49" charset="0"/>
                <a:ea typeface="宋体" pitchFamily="2" charset="-122"/>
              </a:rPr>
              <a:t>  </a:t>
            </a:r>
            <a:r>
              <a:rPr lang="en-GB" altLang="zh-CN" sz="2400" dirty="0">
                <a:solidFill>
                  <a:schemeClr val="accent2"/>
                </a:solidFill>
                <a:latin typeface="Courier New" pitchFamily="49" charset="0"/>
                <a:ea typeface="宋体" pitchFamily="2" charset="-122"/>
              </a:rPr>
              <a:t>unsigned  </a:t>
            </a:r>
            <a:r>
              <a:rPr lang="en-GB" altLang="zh-CN" sz="2400" dirty="0" err="1">
                <a:solidFill>
                  <a:schemeClr val="accent2"/>
                </a:solidFill>
                <a:latin typeface="Courier New" pitchFamily="49" charset="0"/>
                <a:ea typeface="宋体" pitchFamily="2" charset="-122"/>
              </a:rPr>
              <a:t>int</a:t>
            </a:r>
            <a:r>
              <a:rPr lang="en-GB" altLang="zh-CN" sz="2400" dirty="0">
                <a:latin typeface="Courier New" pitchFamily="49" charset="0"/>
                <a:ea typeface="宋体" pitchFamily="2" charset="-122"/>
              </a:rPr>
              <a:t>   </a:t>
            </a:r>
            <a:r>
              <a:rPr lang="en-GB" altLang="zh-CN" sz="2400" dirty="0" err="1">
                <a:latin typeface="Courier New" pitchFamily="49" charset="0"/>
                <a:ea typeface="宋体" pitchFamily="2" charset="-122"/>
              </a:rPr>
              <a:t>i</a:t>
            </a:r>
            <a:r>
              <a:rPr lang="en-GB" altLang="zh-CN" sz="2400" dirty="0">
                <a:latin typeface="Courier New" pitchFamily="49" charset="0"/>
                <a:ea typeface="宋体" pitchFamily="2" charset="-122"/>
              </a:rPr>
              <a:t>;</a:t>
            </a:r>
          </a:p>
          <a:p>
            <a:pPr>
              <a:buFont typeface="Monotype Sorts" charset="2"/>
              <a:buNone/>
              <a:defRPr/>
            </a:pPr>
            <a:r>
              <a:rPr lang="en-GB" altLang="zh-CN" sz="2400" dirty="0">
                <a:latin typeface="Courier New" pitchFamily="49" charset="0"/>
                <a:ea typeface="宋体" pitchFamily="2" charset="-122"/>
              </a:rPr>
              <a:t>  </a:t>
            </a:r>
            <a:r>
              <a:rPr lang="en-GB" altLang="zh-CN" sz="2400" dirty="0">
                <a:solidFill>
                  <a:schemeClr val="accent2"/>
                </a:solidFill>
                <a:latin typeface="Courier New" pitchFamily="49" charset="0"/>
                <a:ea typeface="宋体" pitchFamily="2" charset="-122"/>
              </a:rPr>
              <a:t>for</a:t>
            </a:r>
            <a:r>
              <a:rPr lang="en-GB" altLang="zh-CN" sz="2400" dirty="0">
                <a:latin typeface="Courier New" pitchFamily="49" charset="0"/>
                <a:ea typeface="宋体" pitchFamily="2" charset="-122"/>
              </a:rPr>
              <a:t> (</a:t>
            </a:r>
            <a:r>
              <a:rPr lang="en-GB" altLang="zh-CN" sz="2400" dirty="0" err="1">
                <a:latin typeface="Courier New" pitchFamily="49" charset="0"/>
                <a:ea typeface="宋体" pitchFamily="2" charset="-122"/>
              </a:rPr>
              <a:t>i</a:t>
            </a:r>
            <a:r>
              <a:rPr lang="en-GB" altLang="zh-CN" sz="2400" dirty="0">
                <a:latin typeface="Courier New" pitchFamily="49" charset="0"/>
                <a:ea typeface="宋体" pitchFamily="2" charset="-122"/>
              </a:rPr>
              <a:t> = 1; </a:t>
            </a:r>
            <a:r>
              <a:rPr lang="en-GB" altLang="zh-CN" sz="2400" dirty="0" err="1">
                <a:latin typeface="Courier New" pitchFamily="49" charset="0"/>
                <a:ea typeface="宋体" pitchFamily="2" charset="-122"/>
              </a:rPr>
              <a:t>i</a:t>
            </a:r>
            <a:r>
              <a:rPr lang="en-GB" altLang="zh-CN" sz="2400" dirty="0">
                <a:latin typeface="Courier New" pitchFamily="49" charset="0"/>
                <a:ea typeface="宋体" pitchFamily="2" charset="-122"/>
              </a:rPr>
              <a:t> &lt;= n; </a:t>
            </a:r>
            <a:r>
              <a:rPr lang="en-GB" altLang="zh-CN" sz="2400" dirty="0" err="1">
                <a:latin typeface="Courier New" pitchFamily="49" charset="0"/>
                <a:ea typeface="宋体" pitchFamily="2" charset="-122"/>
              </a:rPr>
              <a:t>i</a:t>
            </a:r>
            <a:r>
              <a:rPr lang="en-GB" altLang="zh-CN" sz="2400" dirty="0">
                <a:latin typeface="Courier New" pitchFamily="49" charset="0"/>
                <a:ea typeface="宋体" pitchFamily="2" charset="-122"/>
              </a:rPr>
              <a:t>++)</a:t>
            </a:r>
          </a:p>
          <a:p>
            <a:pPr>
              <a:buFont typeface="Monotype Sorts" charset="2"/>
              <a:buNone/>
              <a:defRPr/>
            </a:pPr>
            <a:r>
              <a:rPr lang="en-GB" altLang="zh-CN" sz="2400" dirty="0">
                <a:latin typeface="Courier New" pitchFamily="49" charset="0"/>
                <a:ea typeface="宋体" pitchFamily="2" charset="-122"/>
              </a:rPr>
              <a:t>     result *= </a:t>
            </a:r>
            <a:r>
              <a:rPr lang="en-GB" altLang="zh-CN" sz="2400" dirty="0" err="1">
                <a:latin typeface="Courier New" pitchFamily="49" charset="0"/>
                <a:ea typeface="宋体" pitchFamily="2" charset="-122"/>
              </a:rPr>
              <a:t>i</a:t>
            </a:r>
            <a:r>
              <a:rPr lang="en-GB" altLang="zh-CN" sz="2400" dirty="0">
                <a:latin typeface="Courier New" pitchFamily="49" charset="0"/>
                <a:ea typeface="宋体" pitchFamily="2" charset="-122"/>
              </a:rPr>
              <a:t>;</a:t>
            </a:r>
          </a:p>
          <a:p>
            <a:pPr>
              <a:buFont typeface="Monotype Sorts" charset="2"/>
              <a:buNone/>
              <a:defRPr/>
            </a:pPr>
            <a:r>
              <a:rPr lang="en-GB" altLang="zh-CN" sz="2400" dirty="0">
                <a:latin typeface="Courier New" pitchFamily="49" charset="0"/>
                <a:ea typeface="宋体" pitchFamily="2" charset="-122"/>
              </a:rPr>
              <a:t>  </a:t>
            </a:r>
            <a:r>
              <a:rPr lang="en-GB" altLang="zh-CN" sz="2400" dirty="0">
                <a:solidFill>
                  <a:schemeClr val="accent2"/>
                </a:solidFill>
                <a:latin typeface="Courier New" pitchFamily="49" charset="0"/>
                <a:ea typeface="宋体" pitchFamily="2" charset="-122"/>
              </a:rPr>
              <a:t>return</a:t>
            </a:r>
            <a:r>
              <a:rPr lang="en-GB" altLang="zh-CN" sz="2400" dirty="0">
                <a:latin typeface="Courier New" pitchFamily="49" charset="0"/>
                <a:ea typeface="宋体" pitchFamily="2" charset="-122"/>
              </a:rPr>
              <a:t> result;</a:t>
            </a:r>
          </a:p>
          <a:p>
            <a:pPr>
              <a:buFont typeface="Monotype Sorts" charset="2"/>
              <a:buNone/>
              <a:defRPr/>
            </a:pPr>
            <a:r>
              <a:rPr lang="en-GB" altLang="zh-CN" sz="2400" dirty="0">
                <a:latin typeface="Courier New" pitchFamily="49" charset="0"/>
                <a:ea typeface="宋体" pitchFamily="2" charset="-122"/>
              </a:rPr>
              <a:t>}</a:t>
            </a:r>
          </a:p>
          <a:p>
            <a:pPr>
              <a:buFont typeface="Monotype Sorts" charset="2"/>
              <a:buChar char=""/>
              <a:defRPr/>
            </a:pPr>
            <a:r>
              <a:rPr lang="zh-CN" altLang="en-GB" sz="2400" dirty="0">
                <a:latin typeface="华文仿宋" pitchFamily="2" charset="-122"/>
                <a:ea typeface="华文仿宋" pitchFamily="2" charset="-122"/>
              </a:rPr>
              <a:t>递归程序遵循了数学中对阶乘的定义</a:t>
            </a:r>
          </a:p>
          <a:p>
            <a:pPr>
              <a:buFont typeface="Monotype Sorts" charset="2"/>
              <a:buChar char=""/>
              <a:defRPr/>
            </a:pPr>
            <a:r>
              <a:rPr lang="zh-CN" altLang="en-GB" sz="2400" dirty="0">
                <a:latin typeface="华文仿宋" pitchFamily="2" charset="-122"/>
                <a:ea typeface="华文仿宋" pitchFamily="2" charset="-122"/>
              </a:rPr>
              <a:t>因此递归方法编写程序具有</a:t>
            </a:r>
            <a:r>
              <a:rPr lang="zh-CN" altLang="en-GB" sz="2400" dirty="0">
                <a:solidFill>
                  <a:srgbClr val="FF0000"/>
                </a:solidFill>
                <a:latin typeface="华文仿宋" pitchFamily="2" charset="-122"/>
                <a:ea typeface="华文仿宋" pitchFamily="2" charset="-122"/>
              </a:rPr>
              <a:t>更清晰、可读性更好</a:t>
            </a:r>
            <a:r>
              <a:rPr lang="zh-CN" altLang="en-GB" sz="2400" dirty="0">
                <a:latin typeface="华文仿宋" pitchFamily="2" charset="-122"/>
                <a:ea typeface="华文仿宋" pitchFamily="2" charset="-122"/>
              </a:rPr>
              <a:t>的优点 </a:t>
            </a:r>
            <a:endParaRPr lang="zh-CN" altLang="en-US" sz="2400" dirty="0">
              <a:latin typeface="华文仿宋" pitchFamily="2" charset="-122"/>
              <a:ea typeface="华文仿宋" pitchFamily="2" charset="-122"/>
            </a:endParaRPr>
          </a:p>
        </p:txBody>
      </p:sp>
      <p:sp>
        <p:nvSpPr>
          <p:cNvPr id="4" name="Text Box 3"/>
          <p:cNvSpPr txBox="1">
            <a:spLocks noChangeArrowheads="1"/>
          </p:cNvSpPr>
          <p:nvPr/>
        </p:nvSpPr>
        <p:spPr bwMode="auto">
          <a:xfrm>
            <a:off x="4931295" y="188640"/>
            <a:ext cx="4321225" cy="1546225"/>
          </a:xfrm>
          <a:prstGeom prst="rect">
            <a:avLst/>
          </a:prstGeom>
          <a:noFill/>
          <a:ln w="9525">
            <a:noFill/>
            <a:miter lim="800000"/>
            <a:headEnd/>
            <a:tailEnd/>
          </a:ln>
        </p:spPr>
        <p:txBody>
          <a:bodyPr wrap="square">
            <a:spAutoFit/>
          </a:bodyPr>
          <a:lstStyle/>
          <a:p>
            <a:pPr algn="l" eaLnBrk="1" hangingPunct="1">
              <a:lnSpc>
                <a:spcPct val="85000"/>
              </a:lnSpc>
            </a:pPr>
            <a:r>
              <a:rPr kumimoji="1" lang="en-US" altLang="zh-CN" dirty="0">
                <a:latin typeface="Arial" charset="0"/>
              </a:rPr>
              <a:t>long</a:t>
            </a:r>
            <a:r>
              <a:rPr kumimoji="1" lang="en-US" altLang="zh-CN" b="0" dirty="0">
                <a:latin typeface="Arial" charset="0"/>
              </a:rPr>
              <a:t> </a:t>
            </a:r>
            <a:r>
              <a:rPr kumimoji="1" lang="en-US" altLang="zh-CN" dirty="0" err="1">
                <a:latin typeface="Arial" charset="0"/>
              </a:rPr>
              <a:t>fac</a:t>
            </a:r>
            <a:r>
              <a:rPr kumimoji="1" lang="en-US" altLang="zh-CN" b="0" dirty="0">
                <a:latin typeface="Arial" charset="0"/>
              </a:rPr>
              <a:t> </a:t>
            </a:r>
            <a:r>
              <a:rPr kumimoji="1" lang="en-US" altLang="zh-CN" dirty="0">
                <a:latin typeface="Arial" charset="0"/>
              </a:rPr>
              <a:t>(</a:t>
            </a:r>
            <a:r>
              <a:rPr kumimoji="1" lang="en-US" altLang="zh-CN" dirty="0" err="1">
                <a:latin typeface="Arial" charset="0"/>
              </a:rPr>
              <a:t>int</a:t>
            </a:r>
            <a:r>
              <a:rPr kumimoji="1" lang="en-US" altLang="zh-CN" dirty="0">
                <a:latin typeface="Arial" charset="0"/>
              </a:rPr>
              <a:t> n)</a:t>
            </a:r>
            <a:r>
              <a:rPr kumimoji="1" lang="en-US" altLang="zh-CN" b="0" dirty="0">
                <a:latin typeface="Arial" charset="0"/>
              </a:rPr>
              <a:t> </a:t>
            </a:r>
          </a:p>
          <a:p>
            <a:pPr algn="l" eaLnBrk="1" hangingPunct="1">
              <a:lnSpc>
                <a:spcPct val="85000"/>
              </a:lnSpc>
            </a:pPr>
            <a:r>
              <a:rPr kumimoji="1" lang="en-US" altLang="zh-CN" dirty="0">
                <a:latin typeface="Arial" charset="0"/>
              </a:rPr>
              <a:t>{  if</a:t>
            </a:r>
            <a:r>
              <a:rPr kumimoji="1" lang="en-US" altLang="zh-CN" b="0" dirty="0">
                <a:latin typeface="Arial" charset="0"/>
              </a:rPr>
              <a:t> </a:t>
            </a:r>
            <a:r>
              <a:rPr kumimoji="1" lang="en-US" altLang="zh-CN" dirty="0">
                <a:latin typeface="Arial" charset="0"/>
              </a:rPr>
              <a:t>( n == 1 )</a:t>
            </a:r>
            <a:r>
              <a:rPr kumimoji="1" lang="en-US" altLang="zh-CN" b="0" i="1" dirty="0">
                <a:latin typeface="Arial" charset="0"/>
              </a:rPr>
              <a:t> </a:t>
            </a:r>
            <a:r>
              <a:rPr kumimoji="1" lang="en-US" altLang="zh-CN" dirty="0">
                <a:latin typeface="Arial" charset="0"/>
              </a:rPr>
              <a:t>return 1;</a:t>
            </a:r>
          </a:p>
          <a:p>
            <a:pPr algn="l" eaLnBrk="1" hangingPunct="1">
              <a:lnSpc>
                <a:spcPct val="85000"/>
              </a:lnSpc>
            </a:pPr>
            <a:r>
              <a:rPr kumimoji="1" lang="zh-CN" altLang="en-US" dirty="0">
                <a:latin typeface="Arial" charset="0"/>
              </a:rPr>
              <a:t>　</a:t>
            </a:r>
            <a:r>
              <a:rPr kumimoji="1" lang="en-US" altLang="zh-CN" dirty="0">
                <a:latin typeface="Arial" charset="0"/>
              </a:rPr>
              <a:t>return</a:t>
            </a:r>
            <a:r>
              <a:rPr kumimoji="1" lang="en-US" altLang="zh-CN" b="0" dirty="0">
                <a:latin typeface="Arial" charset="0"/>
              </a:rPr>
              <a:t> </a:t>
            </a:r>
            <a:r>
              <a:rPr kumimoji="1" lang="en-US" altLang="zh-CN" dirty="0">
                <a:latin typeface="Arial" charset="0"/>
              </a:rPr>
              <a:t>n*</a:t>
            </a:r>
            <a:r>
              <a:rPr kumimoji="1" lang="en-US" altLang="zh-CN" dirty="0" err="1">
                <a:latin typeface="Arial" charset="0"/>
              </a:rPr>
              <a:t>fac</a:t>
            </a:r>
            <a:r>
              <a:rPr kumimoji="1" lang="en-US" altLang="zh-CN" dirty="0">
                <a:latin typeface="Arial" charset="0"/>
              </a:rPr>
              <a:t> (n-1);</a:t>
            </a:r>
          </a:p>
          <a:p>
            <a:pPr algn="l" eaLnBrk="1" hangingPunct="1">
              <a:lnSpc>
                <a:spcPct val="85000"/>
              </a:lnSpc>
            </a:pPr>
            <a:r>
              <a:rPr kumimoji="1" lang="en-US" altLang="zh-CN" dirty="0">
                <a:latin typeface="Arial"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598019">
                                            <p:txEl>
                                              <p:pRg st="1" end="1"/>
                                            </p:txEl>
                                          </p:spTgt>
                                        </p:tgtEl>
                                        <p:attrNameLst>
                                          <p:attrName>style.visibility</p:attrName>
                                        </p:attrNameLst>
                                      </p:cBhvr>
                                      <p:to>
                                        <p:strVal val="visible"/>
                                      </p:to>
                                    </p:set>
                                    <p:anim calcmode="lin" valueType="num">
                                      <p:cBhvr>
                                        <p:cTn id="7" dur="500" fill="hold"/>
                                        <p:tgtEl>
                                          <p:spTgt spid="59801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59801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598019">
                                            <p:txEl>
                                              <p:pRg st="1" end="1"/>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598019">
                                            <p:txEl>
                                              <p:pRg st="2" end="2"/>
                                            </p:txEl>
                                          </p:spTgt>
                                        </p:tgtEl>
                                        <p:attrNameLst>
                                          <p:attrName>style.visibility</p:attrName>
                                        </p:attrNameLst>
                                      </p:cBhvr>
                                      <p:to>
                                        <p:strVal val="visible"/>
                                      </p:to>
                                    </p:set>
                                    <p:anim calcmode="lin" valueType="num">
                                      <p:cBhvr>
                                        <p:cTn id="12" dur="500" fill="hold"/>
                                        <p:tgtEl>
                                          <p:spTgt spid="598019">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598019">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598019">
                                            <p:txEl>
                                              <p:pRg st="2" end="2"/>
                                            </p:txEl>
                                          </p:spTgt>
                                        </p:tgtEl>
                                      </p:cBhvr>
                                    </p:animEffect>
                                  </p:childTnLst>
                                </p:cTn>
                              </p:par>
                              <p:par>
                                <p:cTn id="15" presetID="53" presetClass="entr" presetSubtype="0" fill="hold" nodeType="withEffect">
                                  <p:stCondLst>
                                    <p:cond delay="0"/>
                                  </p:stCondLst>
                                  <p:childTnLst>
                                    <p:set>
                                      <p:cBhvr>
                                        <p:cTn id="16" dur="1" fill="hold">
                                          <p:stCondLst>
                                            <p:cond delay="0"/>
                                          </p:stCondLst>
                                        </p:cTn>
                                        <p:tgtEl>
                                          <p:spTgt spid="598019">
                                            <p:txEl>
                                              <p:pRg st="3" end="3"/>
                                            </p:txEl>
                                          </p:spTgt>
                                        </p:tgtEl>
                                        <p:attrNameLst>
                                          <p:attrName>style.visibility</p:attrName>
                                        </p:attrNameLst>
                                      </p:cBhvr>
                                      <p:to>
                                        <p:strVal val="visible"/>
                                      </p:to>
                                    </p:set>
                                    <p:anim calcmode="lin" valueType="num">
                                      <p:cBhvr>
                                        <p:cTn id="17" dur="500" fill="hold"/>
                                        <p:tgtEl>
                                          <p:spTgt spid="598019">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598019">
                                            <p:txEl>
                                              <p:pRg st="3" end="3"/>
                                            </p:txEl>
                                          </p:spTgt>
                                        </p:tgtEl>
                                        <p:attrNameLst>
                                          <p:attrName>ppt_h</p:attrName>
                                        </p:attrNameLst>
                                      </p:cBhvr>
                                      <p:tavLst>
                                        <p:tav tm="0">
                                          <p:val>
                                            <p:fltVal val="0"/>
                                          </p:val>
                                        </p:tav>
                                        <p:tav tm="100000">
                                          <p:val>
                                            <p:strVal val="#ppt_h"/>
                                          </p:val>
                                        </p:tav>
                                      </p:tavLst>
                                    </p:anim>
                                    <p:animEffect transition="in" filter="fade">
                                      <p:cBhvr>
                                        <p:cTn id="19" dur="500"/>
                                        <p:tgtEl>
                                          <p:spTgt spid="598019">
                                            <p:txEl>
                                              <p:pRg st="3" end="3"/>
                                            </p:txEl>
                                          </p:spTgt>
                                        </p:tgtEl>
                                      </p:cBhvr>
                                    </p:animEffect>
                                  </p:childTnLst>
                                </p:cTn>
                              </p:par>
                              <p:par>
                                <p:cTn id="20" presetID="53" presetClass="entr" presetSubtype="0" fill="hold" nodeType="withEffect">
                                  <p:stCondLst>
                                    <p:cond delay="0"/>
                                  </p:stCondLst>
                                  <p:childTnLst>
                                    <p:set>
                                      <p:cBhvr>
                                        <p:cTn id="21" dur="1" fill="hold">
                                          <p:stCondLst>
                                            <p:cond delay="0"/>
                                          </p:stCondLst>
                                        </p:cTn>
                                        <p:tgtEl>
                                          <p:spTgt spid="598019">
                                            <p:txEl>
                                              <p:pRg st="4" end="4"/>
                                            </p:txEl>
                                          </p:spTgt>
                                        </p:tgtEl>
                                        <p:attrNameLst>
                                          <p:attrName>style.visibility</p:attrName>
                                        </p:attrNameLst>
                                      </p:cBhvr>
                                      <p:to>
                                        <p:strVal val="visible"/>
                                      </p:to>
                                    </p:set>
                                    <p:anim calcmode="lin" valueType="num">
                                      <p:cBhvr>
                                        <p:cTn id="22" dur="500" fill="hold"/>
                                        <p:tgtEl>
                                          <p:spTgt spid="598019">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598019">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598019">
                                            <p:txEl>
                                              <p:pRg st="4" end="4"/>
                                            </p:txEl>
                                          </p:spTgt>
                                        </p:tgtEl>
                                      </p:cBhvr>
                                    </p:animEffect>
                                  </p:childTnLst>
                                </p:cTn>
                              </p:par>
                              <p:par>
                                <p:cTn id="25" presetID="53" presetClass="entr" presetSubtype="0" fill="hold" nodeType="withEffect">
                                  <p:stCondLst>
                                    <p:cond delay="0"/>
                                  </p:stCondLst>
                                  <p:childTnLst>
                                    <p:set>
                                      <p:cBhvr>
                                        <p:cTn id="26" dur="1" fill="hold">
                                          <p:stCondLst>
                                            <p:cond delay="0"/>
                                          </p:stCondLst>
                                        </p:cTn>
                                        <p:tgtEl>
                                          <p:spTgt spid="598019">
                                            <p:txEl>
                                              <p:pRg st="5" end="5"/>
                                            </p:txEl>
                                          </p:spTgt>
                                        </p:tgtEl>
                                        <p:attrNameLst>
                                          <p:attrName>style.visibility</p:attrName>
                                        </p:attrNameLst>
                                      </p:cBhvr>
                                      <p:to>
                                        <p:strVal val="visible"/>
                                      </p:to>
                                    </p:set>
                                    <p:anim calcmode="lin" valueType="num">
                                      <p:cBhvr>
                                        <p:cTn id="27" dur="500" fill="hold"/>
                                        <p:tgtEl>
                                          <p:spTgt spid="598019">
                                            <p:txEl>
                                              <p:pRg st="5" end="5"/>
                                            </p:txEl>
                                          </p:spTgt>
                                        </p:tgtEl>
                                        <p:attrNameLst>
                                          <p:attrName>ppt_w</p:attrName>
                                        </p:attrNameLst>
                                      </p:cBhvr>
                                      <p:tavLst>
                                        <p:tav tm="0">
                                          <p:val>
                                            <p:fltVal val="0"/>
                                          </p:val>
                                        </p:tav>
                                        <p:tav tm="100000">
                                          <p:val>
                                            <p:strVal val="#ppt_w"/>
                                          </p:val>
                                        </p:tav>
                                      </p:tavLst>
                                    </p:anim>
                                    <p:anim calcmode="lin" valueType="num">
                                      <p:cBhvr>
                                        <p:cTn id="28" dur="500" fill="hold"/>
                                        <p:tgtEl>
                                          <p:spTgt spid="598019">
                                            <p:txEl>
                                              <p:pRg st="5" end="5"/>
                                            </p:txEl>
                                          </p:spTgt>
                                        </p:tgtEl>
                                        <p:attrNameLst>
                                          <p:attrName>ppt_h</p:attrName>
                                        </p:attrNameLst>
                                      </p:cBhvr>
                                      <p:tavLst>
                                        <p:tav tm="0">
                                          <p:val>
                                            <p:fltVal val="0"/>
                                          </p:val>
                                        </p:tav>
                                        <p:tav tm="100000">
                                          <p:val>
                                            <p:strVal val="#ppt_h"/>
                                          </p:val>
                                        </p:tav>
                                      </p:tavLst>
                                    </p:anim>
                                    <p:animEffect transition="in" filter="fade">
                                      <p:cBhvr>
                                        <p:cTn id="29" dur="500"/>
                                        <p:tgtEl>
                                          <p:spTgt spid="598019">
                                            <p:txEl>
                                              <p:pRg st="5" end="5"/>
                                            </p:txEl>
                                          </p:spTgt>
                                        </p:tgtEl>
                                      </p:cBhvr>
                                    </p:animEffect>
                                  </p:childTnLst>
                                </p:cTn>
                              </p:par>
                              <p:par>
                                <p:cTn id="30" presetID="53" presetClass="entr" presetSubtype="0" fill="hold" nodeType="withEffect">
                                  <p:stCondLst>
                                    <p:cond delay="0"/>
                                  </p:stCondLst>
                                  <p:childTnLst>
                                    <p:set>
                                      <p:cBhvr>
                                        <p:cTn id="31" dur="1" fill="hold">
                                          <p:stCondLst>
                                            <p:cond delay="0"/>
                                          </p:stCondLst>
                                        </p:cTn>
                                        <p:tgtEl>
                                          <p:spTgt spid="598019">
                                            <p:txEl>
                                              <p:pRg st="6" end="6"/>
                                            </p:txEl>
                                          </p:spTgt>
                                        </p:tgtEl>
                                        <p:attrNameLst>
                                          <p:attrName>style.visibility</p:attrName>
                                        </p:attrNameLst>
                                      </p:cBhvr>
                                      <p:to>
                                        <p:strVal val="visible"/>
                                      </p:to>
                                    </p:set>
                                    <p:anim calcmode="lin" valueType="num">
                                      <p:cBhvr>
                                        <p:cTn id="32" dur="500" fill="hold"/>
                                        <p:tgtEl>
                                          <p:spTgt spid="598019">
                                            <p:txEl>
                                              <p:pRg st="6" end="6"/>
                                            </p:txEl>
                                          </p:spTgt>
                                        </p:tgtEl>
                                        <p:attrNameLst>
                                          <p:attrName>ppt_w</p:attrName>
                                        </p:attrNameLst>
                                      </p:cBhvr>
                                      <p:tavLst>
                                        <p:tav tm="0">
                                          <p:val>
                                            <p:fltVal val="0"/>
                                          </p:val>
                                        </p:tav>
                                        <p:tav tm="100000">
                                          <p:val>
                                            <p:strVal val="#ppt_w"/>
                                          </p:val>
                                        </p:tav>
                                      </p:tavLst>
                                    </p:anim>
                                    <p:anim calcmode="lin" valueType="num">
                                      <p:cBhvr>
                                        <p:cTn id="33" dur="500" fill="hold"/>
                                        <p:tgtEl>
                                          <p:spTgt spid="598019">
                                            <p:txEl>
                                              <p:pRg st="6" end="6"/>
                                            </p:txEl>
                                          </p:spTgt>
                                        </p:tgtEl>
                                        <p:attrNameLst>
                                          <p:attrName>ppt_h</p:attrName>
                                        </p:attrNameLst>
                                      </p:cBhvr>
                                      <p:tavLst>
                                        <p:tav tm="0">
                                          <p:val>
                                            <p:fltVal val="0"/>
                                          </p:val>
                                        </p:tav>
                                        <p:tav tm="100000">
                                          <p:val>
                                            <p:strVal val="#ppt_h"/>
                                          </p:val>
                                        </p:tav>
                                      </p:tavLst>
                                    </p:anim>
                                    <p:animEffect transition="in" filter="fade">
                                      <p:cBhvr>
                                        <p:cTn id="34" dur="500"/>
                                        <p:tgtEl>
                                          <p:spTgt spid="598019">
                                            <p:txEl>
                                              <p:pRg st="6" end="6"/>
                                            </p:txEl>
                                          </p:spTgt>
                                        </p:tgtEl>
                                      </p:cBhvr>
                                    </p:animEffect>
                                  </p:childTnLst>
                                </p:cTn>
                              </p:par>
                              <p:par>
                                <p:cTn id="35" presetID="53" presetClass="entr" presetSubtype="0" fill="hold" nodeType="withEffect">
                                  <p:stCondLst>
                                    <p:cond delay="0"/>
                                  </p:stCondLst>
                                  <p:childTnLst>
                                    <p:set>
                                      <p:cBhvr>
                                        <p:cTn id="36" dur="1" fill="hold">
                                          <p:stCondLst>
                                            <p:cond delay="0"/>
                                          </p:stCondLst>
                                        </p:cTn>
                                        <p:tgtEl>
                                          <p:spTgt spid="598019">
                                            <p:txEl>
                                              <p:pRg st="7" end="7"/>
                                            </p:txEl>
                                          </p:spTgt>
                                        </p:tgtEl>
                                        <p:attrNameLst>
                                          <p:attrName>style.visibility</p:attrName>
                                        </p:attrNameLst>
                                      </p:cBhvr>
                                      <p:to>
                                        <p:strVal val="visible"/>
                                      </p:to>
                                    </p:set>
                                    <p:anim calcmode="lin" valueType="num">
                                      <p:cBhvr>
                                        <p:cTn id="37" dur="500" fill="hold"/>
                                        <p:tgtEl>
                                          <p:spTgt spid="598019">
                                            <p:txEl>
                                              <p:pRg st="7" end="7"/>
                                            </p:txEl>
                                          </p:spTgt>
                                        </p:tgtEl>
                                        <p:attrNameLst>
                                          <p:attrName>ppt_w</p:attrName>
                                        </p:attrNameLst>
                                      </p:cBhvr>
                                      <p:tavLst>
                                        <p:tav tm="0">
                                          <p:val>
                                            <p:fltVal val="0"/>
                                          </p:val>
                                        </p:tav>
                                        <p:tav tm="100000">
                                          <p:val>
                                            <p:strVal val="#ppt_w"/>
                                          </p:val>
                                        </p:tav>
                                      </p:tavLst>
                                    </p:anim>
                                    <p:anim calcmode="lin" valueType="num">
                                      <p:cBhvr>
                                        <p:cTn id="38" dur="500" fill="hold"/>
                                        <p:tgtEl>
                                          <p:spTgt spid="598019">
                                            <p:txEl>
                                              <p:pRg st="7" end="7"/>
                                            </p:txEl>
                                          </p:spTgt>
                                        </p:tgtEl>
                                        <p:attrNameLst>
                                          <p:attrName>ppt_h</p:attrName>
                                        </p:attrNameLst>
                                      </p:cBhvr>
                                      <p:tavLst>
                                        <p:tav tm="0">
                                          <p:val>
                                            <p:fltVal val="0"/>
                                          </p:val>
                                        </p:tav>
                                        <p:tav tm="100000">
                                          <p:val>
                                            <p:strVal val="#ppt_h"/>
                                          </p:val>
                                        </p:tav>
                                      </p:tavLst>
                                    </p:anim>
                                    <p:animEffect transition="in" filter="fade">
                                      <p:cBhvr>
                                        <p:cTn id="39" dur="500"/>
                                        <p:tgtEl>
                                          <p:spTgt spid="598019">
                                            <p:txEl>
                                              <p:pRg st="7" end="7"/>
                                            </p:txEl>
                                          </p:spTgt>
                                        </p:tgtEl>
                                      </p:cBhvr>
                                    </p:animEffect>
                                  </p:childTnLst>
                                </p:cTn>
                              </p:par>
                              <p:par>
                                <p:cTn id="40" presetID="53" presetClass="entr" presetSubtype="0" fill="hold" nodeType="withEffect">
                                  <p:stCondLst>
                                    <p:cond delay="0"/>
                                  </p:stCondLst>
                                  <p:childTnLst>
                                    <p:set>
                                      <p:cBhvr>
                                        <p:cTn id="41" dur="1" fill="hold">
                                          <p:stCondLst>
                                            <p:cond delay="0"/>
                                          </p:stCondLst>
                                        </p:cTn>
                                        <p:tgtEl>
                                          <p:spTgt spid="598019">
                                            <p:txEl>
                                              <p:pRg st="8" end="8"/>
                                            </p:txEl>
                                          </p:spTgt>
                                        </p:tgtEl>
                                        <p:attrNameLst>
                                          <p:attrName>style.visibility</p:attrName>
                                        </p:attrNameLst>
                                      </p:cBhvr>
                                      <p:to>
                                        <p:strVal val="visible"/>
                                      </p:to>
                                    </p:set>
                                    <p:anim calcmode="lin" valueType="num">
                                      <p:cBhvr>
                                        <p:cTn id="42" dur="500" fill="hold"/>
                                        <p:tgtEl>
                                          <p:spTgt spid="598019">
                                            <p:txEl>
                                              <p:pRg st="8" end="8"/>
                                            </p:txEl>
                                          </p:spTgt>
                                        </p:tgtEl>
                                        <p:attrNameLst>
                                          <p:attrName>ppt_w</p:attrName>
                                        </p:attrNameLst>
                                      </p:cBhvr>
                                      <p:tavLst>
                                        <p:tav tm="0">
                                          <p:val>
                                            <p:fltVal val="0"/>
                                          </p:val>
                                        </p:tav>
                                        <p:tav tm="100000">
                                          <p:val>
                                            <p:strVal val="#ppt_w"/>
                                          </p:val>
                                        </p:tav>
                                      </p:tavLst>
                                    </p:anim>
                                    <p:anim calcmode="lin" valueType="num">
                                      <p:cBhvr>
                                        <p:cTn id="43" dur="500" fill="hold"/>
                                        <p:tgtEl>
                                          <p:spTgt spid="598019">
                                            <p:txEl>
                                              <p:pRg st="8" end="8"/>
                                            </p:txEl>
                                          </p:spTgt>
                                        </p:tgtEl>
                                        <p:attrNameLst>
                                          <p:attrName>ppt_h</p:attrName>
                                        </p:attrNameLst>
                                      </p:cBhvr>
                                      <p:tavLst>
                                        <p:tav tm="0">
                                          <p:val>
                                            <p:fltVal val="0"/>
                                          </p:val>
                                        </p:tav>
                                        <p:tav tm="100000">
                                          <p:val>
                                            <p:strVal val="#ppt_h"/>
                                          </p:val>
                                        </p:tav>
                                      </p:tavLst>
                                    </p:anim>
                                    <p:animEffect transition="in" filter="fade">
                                      <p:cBhvr>
                                        <p:cTn id="44" dur="500"/>
                                        <p:tgtEl>
                                          <p:spTgt spid="598019">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0" fill="hold" nodeType="clickEffect">
                                  <p:stCondLst>
                                    <p:cond delay="0"/>
                                  </p:stCondLst>
                                  <p:childTnLst>
                                    <p:set>
                                      <p:cBhvr>
                                        <p:cTn id="54" dur="1" fill="hold">
                                          <p:stCondLst>
                                            <p:cond delay="0"/>
                                          </p:stCondLst>
                                        </p:cTn>
                                        <p:tgtEl>
                                          <p:spTgt spid="598019">
                                            <p:txEl>
                                              <p:pRg st="9" end="9"/>
                                            </p:txEl>
                                          </p:spTgt>
                                        </p:tgtEl>
                                        <p:attrNameLst>
                                          <p:attrName>style.visibility</p:attrName>
                                        </p:attrNameLst>
                                      </p:cBhvr>
                                      <p:to>
                                        <p:strVal val="visible"/>
                                      </p:to>
                                    </p:set>
                                    <p:anim calcmode="lin" valueType="num">
                                      <p:cBhvr>
                                        <p:cTn id="55" dur="500" fill="hold"/>
                                        <p:tgtEl>
                                          <p:spTgt spid="598019">
                                            <p:txEl>
                                              <p:pRg st="9" end="9"/>
                                            </p:txEl>
                                          </p:spTgt>
                                        </p:tgtEl>
                                        <p:attrNameLst>
                                          <p:attrName>ppt_w</p:attrName>
                                        </p:attrNameLst>
                                      </p:cBhvr>
                                      <p:tavLst>
                                        <p:tav tm="0">
                                          <p:val>
                                            <p:fltVal val="0"/>
                                          </p:val>
                                        </p:tav>
                                        <p:tav tm="100000">
                                          <p:val>
                                            <p:strVal val="#ppt_w"/>
                                          </p:val>
                                        </p:tav>
                                      </p:tavLst>
                                    </p:anim>
                                    <p:anim calcmode="lin" valueType="num">
                                      <p:cBhvr>
                                        <p:cTn id="56" dur="500" fill="hold"/>
                                        <p:tgtEl>
                                          <p:spTgt spid="598019">
                                            <p:txEl>
                                              <p:pRg st="9" end="9"/>
                                            </p:txEl>
                                          </p:spTgt>
                                        </p:tgtEl>
                                        <p:attrNameLst>
                                          <p:attrName>ppt_h</p:attrName>
                                        </p:attrNameLst>
                                      </p:cBhvr>
                                      <p:tavLst>
                                        <p:tav tm="0">
                                          <p:val>
                                            <p:fltVal val="0"/>
                                          </p:val>
                                        </p:tav>
                                        <p:tav tm="100000">
                                          <p:val>
                                            <p:strVal val="#ppt_h"/>
                                          </p:val>
                                        </p:tav>
                                      </p:tavLst>
                                    </p:anim>
                                    <p:animEffect transition="in" filter="fade">
                                      <p:cBhvr>
                                        <p:cTn id="57" dur="500"/>
                                        <p:tgtEl>
                                          <p:spTgt spid="598019">
                                            <p:txEl>
                                              <p:pRg st="9" end="9"/>
                                            </p:txEl>
                                          </p:spTgt>
                                        </p:tgtEl>
                                      </p:cBhvr>
                                    </p:animEffect>
                                  </p:childTnLst>
                                </p:cTn>
                              </p:par>
                              <p:par>
                                <p:cTn id="58" presetID="53" presetClass="entr" presetSubtype="0" fill="hold" nodeType="withEffect">
                                  <p:stCondLst>
                                    <p:cond delay="0"/>
                                  </p:stCondLst>
                                  <p:childTnLst>
                                    <p:set>
                                      <p:cBhvr>
                                        <p:cTn id="59" dur="1" fill="hold">
                                          <p:stCondLst>
                                            <p:cond delay="0"/>
                                          </p:stCondLst>
                                        </p:cTn>
                                        <p:tgtEl>
                                          <p:spTgt spid="598019">
                                            <p:txEl>
                                              <p:pRg st="10" end="10"/>
                                            </p:txEl>
                                          </p:spTgt>
                                        </p:tgtEl>
                                        <p:attrNameLst>
                                          <p:attrName>style.visibility</p:attrName>
                                        </p:attrNameLst>
                                      </p:cBhvr>
                                      <p:to>
                                        <p:strVal val="visible"/>
                                      </p:to>
                                    </p:set>
                                    <p:anim calcmode="lin" valueType="num">
                                      <p:cBhvr>
                                        <p:cTn id="60" dur="500" fill="hold"/>
                                        <p:tgtEl>
                                          <p:spTgt spid="598019">
                                            <p:txEl>
                                              <p:pRg st="10" end="10"/>
                                            </p:txEl>
                                          </p:spTgt>
                                        </p:tgtEl>
                                        <p:attrNameLst>
                                          <p:attrName>ppt_w</p:attrName>
                                        </p:attrNameLst>
                                      </p:cBhvr>
                                      <p:tavLst>
                                        <p:tav tm="0">
                                          <p:val>
                                            <p:fltVal val="0"/>
                                          </p:val>
                                        </p:tav>
                                        <p:tav tm="100000">
                                          <p:val>
                                            <p:strVal val="#ppt_w"/>
                                          </p:val>
                                        </p:tav>
                                      </p:tavLst>
                                    </p:anim>
                                    <p:anim calcmode="lin" valueType="num">
                                      <p:cBhvr>
                                        <p:cTn id="61" dur="500" fill="hold"/>
                                        <p:tgtEl>
                                          <p:spTgt spid="598019">
                                            <p:txEl>
                                              <p:pRg st="10" end="10"/>
                                            </p:txEl>
                                          </p:spTgt>
                                        </p:tgtEl>
                                        <p:attrNameLst>
                                          <p:attrName>ppt_h</p:attrName>
                                        </p:attrNameLst>
                                      </p:cBhvr>
                                      <p:tavLst>
                                        <p:tav tm="0">
                                          <p:val>
                                            <p:fltVal val="0"/>
                                          </p:val>
                                        </p:tav>
                                        <p:tav tm="100000">
                                          <p:val>
                                            <p:strVal val="#ppt_h"/>
                                          </p:val>
                                        </p:tav>
                                      </p:tavLst>
                                    </p:anim>
                                    <p:animEffect transition="in" filter="fade">
                                      <p:cBhvr>
                                        <p:cTn id="62" dur="500"/>
                                        <p:tgtEl>
                                          <p:spTgt spid="5980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pPr>
              <a:defRPr/>
            </a:pPr>
            <a:r>
              <a:rPr lang="zh-CN" altLang="en-US" dirty="0"/>
              <a:t>递归与迭代</a:t>
            </a:r>
          </a:p>
        </p:txBody>
      </p:sp>
      <p:sp>
        <p:nvSpPr>
          <p:cNvPr id="599043" name="Rectangle 3"/>
          <p:cNvSpPr>
            <a:spLocks noGrp="1" noChangeArrowheads="1"/>
          </p:cNvSpPr>
          <p:nvPr>
            <p:ph type="body" sz="half" idx="1"/>
          </p:nvPr>
        </p:nvSpPr>
        <p:spPr>
          <a:xfrm>
            <a:off x="500063" y="1924050"/>
            <a:ext cx="5761037" cy="576263"/>
          </a:xfrm>
        </p:spPr>
        <p:txBody>
          <a:bodyPr/>
          <a:lstStyle/>
          <a:p>
            <a:pPr>
              <a:buFont typeface="Monotype Sorts" charset="2"/>
              <a:buNone/>
              <a:defRPr/>
            </a:pPr>
            <a:r>
              <a:rPr lang="en-US" altLang="zh-CN" sz="2400" dirty="0">
                <a:ea typeface="宋体" pitchFamily="2" charset="-122"/>
              </a:rPr>
              <a:t>1</a:t>
            </a:r>
            <a:r>
              <a:rPr lang="zh-CN" altLang="en-US" sz="2400" dirty="0">
                <a:ea typeface="宋体" pitchFamily="2" charset="-122"/>
              </a:rPr>
              <a:t>，</a:t>
            </a:r>
            <a:r>
              <a:rPr lang="en-US" altLang="zh-CN" sz="2400" dirty="0">
                <a:ea typeface="宋体" pitchFamily="2" charset="-122"/>
              </a:rPr>
              <a:t>1</a:t>
            </a:r>
            <a:r>
              <a:rPr lang="zh-CN" altLang="en-US" sz="2400" dirty="0">
                <a:ea typeface="宋体" pitchFamily="2" charset="-122"/>
              </a:rPr>
              <a:t>，</a:t>
            </a:r>
            <a:r>
              <a:rPr lang="en-US" altLang="zh-CN" sz="2400" dirty="0">
                <a:ea typeface="宋体" pitchFamily="2" charset="-122"/>
              </a:rPr>
              <a:t>2</a:t>
            </a:r>
            <a:r>
              <a:rPr lang="zh-CN" altLang="en-US" sz="2400" dirty="0">
                <a:ea typeface="宋体" pitchFamily="2" charset="-122"/>
              </a:rPr>
              <a:t>，</a:t>
            </a:r>
            <a:r>
              <a:rPr lang="en-US" altLang="zh-CN" sz="2400" dirty="0">
                <a:ea typeface="宋体" pitchFamily="2" charset="-122"/>
              </a:rPr>
              <a:t>3</a:t>
            </a:r>
            <a:r>
              <a:rPr lang="zh-CN" altLang="en-US" sz="2400" dirty="0">
                <a:ea typeface="宋体" pitchFamily="2" charset="-122"/>
              </a:rPr>
              <a:t>，</a:t>
            </a:r>
            <a:r>
              <a:rPr lang="en-US" altLang="zh-CN" sz="2400" dirty="0">
                <a:ea typeface="宋体" pitchFamily="2" charset="-122"/>
              </a:rPr>
              <a:t>5</a:t>
            </a:r>
            <a:r>
              <a:rPr lang="zh-CN" altLang="en-US" sz="2400" dirty="0">
                <a:ea typeface="宋体" pitchFamily="2" charset="-122"/>
              </a:rPr>
              <a:t>，</a:t>
            </a:r>
            <a:r>
              <a:rPr lang="en-US" altLang="zh-CN" sz="2400" dirty="0">
                <a:ea typeface="宋体" pitchFamily="2" charset="-122"/>
              </a:rPr>
              <a:t>8</a:t>
            </a:r>
            <a:r>
              <a:rPr lang="zh-CN" altLang="en-US" sz="2400" dirty="0">
                <a:ea typeface="宋体" pitchFamily="2" charset="-122"/>
              </a:rPr>
              <a:t>，</a:t>
            </a:r>
            <a:r>
              <a:rPr lang="en-US" altLang="zh-CN" sz="2400" dirty="0">
                <a:ea typeface="宋体" pitchFamily="2" charset="-122"/>
              </a:rPr>
              <a:t>......</a:t>
            </a:r>
          </a:p>
        </p:txBody>
      </p:sp>
      <p:graphicFrame>
        <p:nvGraphicFramePr>
          <p:cNvPr id="2050" name="Object 4"/>
          <p:cNvGraphicFramePr>
            <a:graphicFrameLocks noGrp="1" noChangeAspect="1"/>
          </p:cNvGraphicFramePr>
          <p:nvPr>
            <p:ph sz="half" idx="2"/>
          </p:nvPr>
        </p:nvGraphicFramePr>
        <p:xfrm>
          <a:off x="5214938" y="1500188"/>
          <a:ext cx="3749675" cy="1057275"/>
        </p:xfrm>
        <a:graphic>
          <a:graphicData uri="http://schemas.openxmlformats.org/presentationml/2006/ole">
            <mc:AlternateContent xmlns:mc="http://schemas.openxmlformats.org/markup-compatibility/2006">
              <mc:Choice xmlns:v="urn:schemas-microsoft-com:vml" Requires="v">
                <p:oleObj spid="_x0000_s1048" name="公式" r:id="rId3" imgW="2286000" imgH="647640" progId="Equation.3">
                  <p:embed/>
                </p:oleObj>
              </mc:Choice>
              <mc:Fallback>
                <p:oleObj name="公式" r:id="rId3" imgW="2286000" imgH="64764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4938" y="1500188"/>
                        <a:ext cx="3749675" cy="105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9045" name="Rectangle 5"/>
          <p:cNvSpPr>
            <a:spLocks noChangeArrowheads="1"/>
          </p:cNvSpPr>
          <p:nvPr/>
        </p:nvSpPr>
        <p:spPr bwMode="auto">
          <a:xfrm>
            <a:off x="323850" y="2388480"/>
            <a:ext cx="5905500" cy="3826583"/>
          </a:xfrm>
          <a:prstGeom prst="rect">
            <a:avLst/>
          </a:prstGeom>
          <a:noFill/>
          <a:ln w="9525">
            <a:noFill/>
            <a:miter lim="800000"/>
            <a:headEnd/>
            <a:tailEnd/>
          </a:ln>
          <a:effectLst/>
        </p:spPr>
        <p:txBody>
          <a:bodyPr lIns="92075" tIns="46037" rIns="92075" bIns="46037"/>
          <a:lstStyle/>
          <a:p>
            <a:pPr marL="342900" indent="-342900" algn="l" eaLnBrk="0" hangingPunct="0">
              <a:lnSpc>
                <a:spcPct val="95000"/>
              </a:lnSpc>
              <a:spcBef>
                <a:spcPct val="20000"/>
              </a:spcBef>
              <a:buClr>
                <a:srgbClr val="FFCC66"/>
              </a:buClr>
              <a:buSzPct val="80000"/>
              <a:buFont typeface="Monotype Sorts" charset="2"/>
              <a:buNone/>
              <a:defRPr/>
            </a:pP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long</a:t>
            </a:r>
            <a:r>
              <a:rPr lang="en-US" altLang="zh-CN" b="1" dirty="0">
                <a:effectLst>
                  <a:outerShdw blurRad="38100" dist="38100" dir="2700000" algn="tl">
                    <a:srgbClr val="C0C0C0"/>
                  </a:outerShdw>
                </a:effectLst>
                <a:latin typeface="Courier New" pitchFamily="49" charset="0"/>
                <a:ea typeface="宋体" pitchFamily="2" charset="-122"/>
              </a:rPr>
              <a:t> Fib(</a:t>
            </a:r>
            <a:r>
              <a:rPr lang="en-US" altLang="zh-CN" b="1" dirty="0" err="1">
                <a:solidFill>
                  <a:schemeClr val="accent2"/>
                </a:solidFill>
                <a:effectLst>
                  <a:outerShdw blurRad="38100" dist="38100" dir="2700000" algn="tl">
                    <a:srgbClr val="C0C0C0"/>
                  </a:outerShdw>
                </a:effectLst>
                <a:latin typeface="Courier New" pitchFamily="49" charset="0"/>
                <a:ea typeface="宋体" pitchFamily="2" charset="-122"/>
              </a:rPr>
              <a:t>int</a:t>
            </a:r>
            <a:r>
              <a:rPr lang="en-US" altLang="zh-CN" b="1" dirty="0">
                <a:effectLst>
                  <a:outerShdw blurRad="38100" dist="38100" dir="2700000" algn="tl">
                    <a:srgbClr val="C0C0C0"/>
                  </a:outerShdw>
                </a:effectLst>
                <a:latin typeface="Courier New" pitchFamily="49" charset="0"/>
                <a:ea typeface="宋体" pitchFamily="2" charset="-122"/>
              </a:rPr>
              <a:t> n)</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long</a:t>
            </a:r>
            <a:r>
              <a:rPr lang="en-US" altLang="zh-CN" b="1" dirty="0">
                <a:effectLst>
                  <a:outerShdw blurRad="38100" dist="38100" dir="2700000" algn="tl">
                    <a:srgbClr val="C0C0C0"/>
                  </a:outerShdw>
                </a:effectLst>
                <a:latin typeface="Courier New" pitchFamily="49" charset="0"/>
                <a:ea typeface="宋体" pitchFamily="2" charset="-122"/>
              </a:rPr>
              <a:t> f;</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if</a:t>
            </a:r>
            <a:r>
              <a:rPr lang="en-US" altLang="zh-CN" b="1" dirty="0">
                <a:effectLst>
                  <a:outerShdw blurRad="38100" dist="38100" dir="2700000" algn="tl">
                    <a:srgbClr val="C0C0C0"/>
                  </a:outerShdw>
                </a:effectLst>
                <a:latin typeface="Courier New" pitchFamily="49" charset="0"/>
                <a:ea typeface="宋体" pitchFamily="2" charset="-122"/>
              </a:rPr>
              <a:t> (n == 0) f = 0;</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else </a:t>
            </a:r>
          </a:p>
          <a:p>
            <a:pPr marL="342900" indent="-342900" algn="l" eaLnBrk="0" hangingPunct="0">
              <a:lnSpc>
                <a:spcPct val="95000"/>
              </a:lnSpc>
              <a:spcBef>
                <a:spcPct val="20000"/>
              </a:spcBef>
              <a:buClr>
                <a:srgbClr val="FFCC66"/>
              </a:buClr>
              <a:buSzPct val="80000"/>
              <a:buFont typeface="Monotype Sorts" charset="2"/>
              <a:buNone/>
              <a:defRPr/>
            </a:pPr>
            <a:r>
              <a:rPr lang="en-US" altLang="zh-CN" dirty="0">
                <a:solidFill>
                  <a:schemeClr val="accent2"/>
                </a:solidFill>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if</a:t>
            </a:r>
            <a:r>
              <a:rPr lang="en-US" altLang="zh-CN" b="1" dirty="0">
                <a:effectLst>
                  <a:outerShdw blurRad="38100" dist="38100" dir="2700000" algn="tl">
                    <a:srgbClr val="C0C0C0"/>
                  </a:outerShdw>
                </a:effectLst>
                <a:latin typeface="Courier New" pitchFamily="49" charset="0"/>
                <a:ea typeface="宋体" pitchFamily="2" charset="-122"/>
              </a:rPr>
              <a:t> (n == 1) f = 1;</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else </a:t>
            </a:r>
            <a:r>
              <a:rPr lang="en-US" altLang="zh-CN" b="1" dirty="0">
                <a:effectLst>
                  <a:outerShdw blurRad="38100" dist="38100" dir="2700000" algn="tl">
                    <a:srgbClr val="C0C0C0"/>
                  </a:outerShdw>
                </a:effectLst>
                <a:latin typeface="Courier New" pitchFamily="49" charset="0"/>
                <a:ea typeface="宋体" pitchFamily="2" charset="-122"/>
              </a:rPr>
              <a:t>f = Fib(n-1) + Fib(n-2);</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	</a:t>
            </a:r>
            <a:r>
              <a:rPr lang="en-US" altLang="zh-CN" b="1" dirty="0">
                <a:solidFill>
                  <a:schemeClr val="accent2"/>
                </a:solidFill>
                <a:effectLst>
                  <a:outerShdw blurRad="38100" dist="38100" dir="2700000" algn="tl">
                    <a:srgbClr val="C0C0C0"/>
                  </a:outerShdw>
                </a:effectLst>
                <a:latin typeface="Courier New" pitchFamily="49" charset="0"/>
                <a:ea typeface="宋体" pitchFamily="2" charset="-122"/>
              </a:rPr>
              <a:t>return</a:t>
            </a:r>
            <a:r>
              <a:rPr lang="en-US" altLang="zh-CN" b="1" dirty="0">
                <a:effectLst>
                  <a:outerShdw blurRad="38100" dist="38100" dir="2700000" algn="tl">
                    <a:srgbClr val="C0C0C0"/>
                  </a:outerShdw>
                </a:effectLst>
                <a:latin typeface="Courier New" pitchFamily="49" charset="0"/>
                <a:ea typeface="宋体" pitchFamily="2" charset="-122"/>
              </a:rPr>
              <a:t> f;</a:t>
            </a:r>
          </a:p>
          <a:p>
            <a:pPr marL="342900" indent="-342900" algn="l" eaLnBrk="0" hangingPunct="0">
              <a:lnSpc>
                <a:spcPct val="95000"/>
              </a:lnSpc>
              <a:spcBef>
                <a:spcPct val="20000"/>
              </a:spcBef>
              <a:buClr>
                <a:srgbClr val="FFCC66"/>
              </a:buClr>
              <a:buSzPct val="80000"/>
              <a:buFont typeface="Monotype Sorts" charset="2"/>
              <a:buNone/>
              <a:defRPr/>
            </a:pPr>
            <a:r>
              <a:rPr lang="en-US" altLang="zh-CN" b="1" dirty="0">
                <a:effectLst>
                  <a:outerShdw blurRad="38100" dist="38100" dir="2700000" algn="tl">
                    <a:srgbClr val="C0C0C0"/>
                  </a:outerShdw>
                </a:effectLst>
                <a:latin typeface="Courier New" pitchFamily="49" charset="0"/>
                <a:ea typeface="宋体" pitchFamily="2" charset="-122"/>
              </a:rPr>
              <a:t>}</a:t>
            </a:r>
          </a:p>
        </p:txBody>
      </p:sp>
      <p:grpSp>
        <p:nvGrpSpPr>
          <p:cNvPr id="2" name="Group 6"/>
          <p:cNvGrpSpPr>
            <a:grpSpLocks/>
          </p:cNvGrpSpPr>
          <p:nvPr/>
        </p:nvGrpSpPr>
        <p:grpSpPr bwMode="auto">
          <a:xfrm>
            <a:off x="5575300" y="2571750"/>
            <a:ext cx="3600450" cy="2547938"/>
            <a:chOff x="3470" y="1525"/>
            <a:chExt cx="2268" cy="1605"/>
          </a:xfrm>
        </p:grpSpPr>
        <p:sp>
          <p:nvSpPr>
            <p:cNvPr id="599047" name="Text Box 7"/>
            <p:cNvSpPr txBox="1">
              <a:spLocks noChangeArrowheads="1"/>
            </p:cNvSpPr>
            <p:nvPr/>
          </p:nvSpPr>
          <p:spPr bwMode="auto">
            <a:xfrm>
              <a:off x="5421" y="2205"/>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grpSp>
          <p:nvGrpSpPr>
            <p:cNvPr id="3" name="Group 8"/>
            <p:cNvGrpSpPr>
              <a:grpSpLocks/>
            </p:cNvGrpSpPr>
            <p:nvPr/>
          </p:nvGrpSpPr>
          <p:grpSpPr bwMode="auto">
            <a:xfrm>
              <a:off x="3470" y="1525"/>
              <a:ext cx="2223" cy="1605"/>
              <a:chOff x="3379" y="1798"/>
              <a:chExt cx="2223" cy="1605"/>
            </a:xfrm>
          </p:grpSpPr>
          <p:grpSp>
            <p:nvGrpSpPr>
              <p:cNvPr id="4" name="Group 9"/>
              <p:cNvGrpSpPr>
                <a:grpSpLocks/>
              </p:cNvGrpSpPr>
              <p:nvPr/>
            </p:nvGrpSpPr>
            <p:grpSpPr bwMode="auto">
              <a:xfrm>
                <a:off x="3559" y="1798"/>
                <a:ext cx="2043" cy="1541"/>
                <a:chOff x="3559" y="1525"/>
                <a:chExt cx="2043" cy="1541"/>
              </a:xfrm>
            </p:grpSpPr>
            <p:sp>
              <p:nvSpPr>
                <p:cNvPr id="599050" name="Line 10"/>
                <p:cNvSpPr>
                  <a:spLocks noChangeShapeType="1"/>
                </p:cNvSpPr>
                <p:nvPr/>
              </p:nvSpPr>
              <p:spPr bwMode="auto">
                <a:xfrm>
                  <a:off x="4558" y="1797"/>
                  <a:ext cx="68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1" name="Oval 11"/>
                <p:cNvSpPr>
                  <a:spLocks noChangeArrowheads="1"/>
                </p:cNvSpPr>
                <p:nvPr/>
              </p:nvSpPr>
              <p:spPr bwMode="auto">
                <a:xfrm>
                  <a:off x="4513" y="1752"/>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2" name="Oval 12"/>
                <p:cNvSpPr>
                  <a:spLocks noChangeArrowheads="1"/>
                </p:cNvSpPr>
                <p:nvPr/>
              </p:nvSpPr>
              <p:spPr bwMode="auto">
                <a:xfrm>
                  <a:off x="4141" y="2033"/>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3" name="Oval 13"/>
                <p:cNvSpPr>
                  <a:spLocks noChangeArrowheads="1"/>
                </p:cNvSpPr>
                <p:nvPr/>
              </p:nvSpPr>
              <p:spPr bwMode="auto">
                <a:xfrm>
                  <a:off x="5248" y="1997"/>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4" name="Oval 14"/>
                <p:cNvSpPr>
                  <a:spLocks noChangeArrowheads="1"/>
                </p:cNvSpPr>
                <p:nvPr/>
              </p:nvSpPr>
              <p:spPr bwMode="auto">
                <a:xfrm>
                  <a:off x="3878"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5" name="Oval 15"/>
                <p:cNvSpPr>
                  <a:spLocks noChangeArrowheads="1"/>
                </p:cNvSpPr>
                <p:nvPr/>
              </p:nvSpPr>
              <p:spPr bwMode="auto">
                <a:xfrm>
                  <a:off x="4440"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6" name="Oval 16"/>
                <p:cNvSpPr>
                  <a:spLocks noChangeArrowheads="1"/>
                </p:cNvSpPr>
                <p:nvPr/>
              </p:nvSpPr>
              <p:spPr bwMode="auto">
                <a:xfrm>
                  <a:off x="5511"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algn="ctr" eaLnBrk="0" hangingPunct="0">
                    <a:defRPr/>
                  </a:pPr>
                  <a:endParaRPr lang="en-US" altLang="zh-CN">
                    <a:effectLst>
                      <a:outerShdw blurRad="38100" dist="38100" dir="2700000" algn="tl">
                        <a:srgbClr val="FFFFFF"/>
                      </a:outerShdw>
                    </a:effectLst>
                    <a:ea typeface="宋体" pitchFamily="2" charset="-122"/>
                  </a:endParaRPr>
                </a:p>
              </p:txBody>
            </p:sp>
            <p:sp>
              <p:nvSpPr>
                <p:cNvPr id="599057" name="Oval 17"/>
                <p:cNvSpPr>
                  <a:spLocks noChangeArrowheads="1"/>
                </p:cNvSpPr>
                <p:nvPr/>
              </p:nvSpPr>
              <p:spPr bwMode="auto">
                <a:xfrm>
                  <a:off x="5021"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8" name="Oval 18"/>
                <p:cNvSpPr>
                  <a:spLocks noChangeArrowheads="1"/>
                </p:cNvSpPr>
                <p:nvPr/>
              </p:nvSpPr>
              <p:spPr bwMode="auto">
                <a:xfrm>
                  <a:off x="5193"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59" name="Oval 19"/>
                <p:cNvSpPr>
                  <a:spLocks noChangeArrowheads="1"/>
                </p:cNvSpPr>
                <p:nvPr/>
              </p:nvSpPr>
              <p:spPr bwMode="auto">
                <a:xfrm>
                  <a:off x="4622"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0" name="Oval 20"/>
                <p:cNvSpPr>
                  <a:spLocks noChangeArrowheads="1"/>
                </p:cNvSpPr>
                <p:nvPr/>
              </p:nvSpPr>
              <p:spPr bwMode="auto">
                <a:xfrm>
                  <a:off x="3696"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1" name="Oval 21"/>
                <p:cNvSpPr>
                  <a:spLocks noChangeArrowheads="1"/>
                </p:cNvSpPr>
                <p:nvPr/>
              </p:nvSpPr>
              <p:spPr bwMode="auto">
                <a:xfrm>
                  <a:off x="3832" y="2976"/>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2" name="Oval 22"/>
                <p:cNvSpPr>
                  <a:spLocks noChangeArrowheads="1"/>
                </p:cNvSpPr>
                <p:nvPr/>
              </p:nvSpPr>
              <p:spPr bwMode="auto">
                <a:xfrm>
                  <a:off x="3559" y="2976"/>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3" name="Oval 23"/>
                <p:cNvSpPr>
                  <a:spLocks noChangeArrowheads="1"/>
                </p:cNvSpPr>
                <p:nvPr/>
              </p:nvSpPr>
              <p:spPr bwMode="auto">
                <a:xfrm>
                  <a:off x="4032"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4" name="Oval 24"/>
                <p:cNvSpPr>
                  <a:spLocks noChangeArrowheads="1"/>
                </p:cNvSpPr>
                <p:nvPr/>
              </p:nvSpPr>
              <p:spPr bwMode="auto">
                <a:xfrm>
                  <a:off x="4314"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5" name="Line 25"/>
                <p:cNvSpPr>
                  <a:spLocks noChangeShapeType="1"/>
                </p:cNvSpPr>
                <p:nvPr/>
              </p:nvSpPr>
              <p:spPr bwMode="auto">
                <a:xfrm>
                  <a:off x="4558" y="1525"/>
                  <a:ext cx="0"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6" name="Line 26"/>
                <p:cNvSpPr>
                  <a:spLocks noChangeShapeType="1"/>
                </p:cNvSpPr>
                <p:nvPr/>
              </p:nvSpPr>
              <p:spPr bwMode="auto">
                <a:xfrm flipH="1">
                  <a:off x="4213" y="1815"/>
                  <a:ext cx="317"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7" name="Oval 27"/>
                <p:cNvSpPr>
                  <a:spLocks noChangeArrowheads="1"/>
                </p:cNvSpPr>
                <p:nvPr/>
              </p:nvSpPr>
              <p:spPr bwMode="auto">
                <a:xfrm>
                  <a:off x="4876"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8" name="Line 28"/>
                <p:cNvSpPr>
                  <a:spLocks noChangeShapeType="1"/>
                </p:cNvSpPr>
                <p:nvPr/>
              </p:nvSpPr>
              <p:spPr bwMode="auto">
                <a:xfrm flipH="1">
                  <a:off x="3969" y="2114"/>
                  <a:ext cx="18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69" name="Line 29"/>
                <p:cNvSpPr>
                  <a:spLocks noChangeShapeType="1"/>
                </p:cNvSpPr>
                <p:nvPr/>
              </p:nvSpPr>
              <p:spPr bwMode="auto">
                <a:xfrm flipH="1">
                  <a:off x="3760" y="2423"/>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0" name="Line 30"/>
                <p:cNvSpPr>
                  <a:spLocks noChangeShapeType="1"/>
                </p:cNvSpPr>
                <p:nvPr/>
              </p:nvSpPr>
              <p:spPr bwMode="auto">
                <a:xfrm flipH="1">
                  <a:off x="3624" y="2741"/>
                  <a:ext cx="90"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1" name="Line 31"/>
                <p:cNvSpPr>
                  <a:spLocks noChangeShapeType="1"/>
                </p:cNvSpPr>
                <p:nvPr/>
              </p:nvSpPr>
              <p:spPr bwMode="auto">
                <a:xfrm>
                  <a:off x="3742" y="2750"/>
                  <a:ext cx="136"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2" name="Line 32"/>
                <p:cNvSpPr>
                  <a:spLocks noChangeShapeType="1"/>
                </p:cNvSpPr>
                <p:nvPr/>
              </p:nvSpPr>
              <p:spPr bwMode="auto">
                <a:xfrm>
                  <a:off x="3923"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3" name="Line 33"/>
                <p:cNvSpPr>
                  <a:spLocks noChangeShapeType="1"/>
                </p:cNvSpPr>
                <p:nvPr/>
              </p:nvSpPr>
              <p:spPr bwMode="auto">
                <a:xfrm>
                  <a:off x="4195" y="2115"/>
                  <a:ext cx="273"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4" name="Line 34"/>
                <p:cNvSpPr>
                  <a:spLocks noChangeShapeType="1"/>
                </p:cNvSpPr>
                <p:nvPr/>
              </p:nvSpPr>
              <p:spPr bwMode="auto">
                <a:xfrm flipH="1">
                  <a:off x="4377" y="2432"/>
                  <a:ext cx="9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5" name="Line 35"/>
                <p:cNvSpPr>
                  <a:spLocks noChangeShapeType="1"/>
                </p:cNvSpPr>
                <p:nvPr/>
              </p:nvSpPr>
              <p:spPr bwMode="auto">
                <a:xfrm>
                  <a:off x="4513"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6" name="Line 36"/>
                <p:cNvSpPr>
                  <a:spLocks noChangeShapeType="1"/>
                </p:cNvSpPr>
                <p:nvPr/>
              </p:nvSpPr>
              <p:spPr bwMode="auto">
                <a:xfrm flipH="1">
                  <a:off x="4921"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7" name="Line 37"/>
                <p:cNvSpPr>
                  <a:spLocks noChangeShapeType="1"/>
                </p:cNvSpPr>
                <p:nvPr/>
              </p:nvSpPr>
              <p:spPr bwMode="auto">
                <a:xfrm>
                  <a:off x="5057" y="2432"/>
                  <a:ext cx="182"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8" name="Line 38"/>
                <p:cNvSpPr>
                  <a:spLocks noChangeShapeType="1"/>
                </p:cNvSpPr>
                <p:nvPr/>
              </p:nvSpPr>
              <p:spPr bwMode="auto">
                <a:xfrm flipH="1">
                  <a:off x="5085" y="2079"/>
                  <a:ext cx="181" cy="272"/>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99079" name="Line 39"/>
                <p:cNvSpPr>
                  <a:spLocks noChangeShapeType="1"/>
                </p:cNvSpPr>
                <p:nvPr/>
              </p:nvSpPr>
              <p:spPr bwMode="auto">
                <a:xfrm>
                  <a:off x="5284" y="2069"/>
                  <a:ext cx="272" cy="272"/>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grpSp>
          <p:sp>
            <p:nvSpPr>
              <p:cNvPr id="599080" name="Text Box 40"/>
              <p:cNvSpPr txBox="1">
                <a:spLocks noChangeArrowheads="1"/>
              </p:cNvSpPr>
              <p:nvPr/>
            </p:nvSpPr>
            <p:spPr bwMode="auto">
              <a:xfrm>
                <a:off x="4314" y="1910"/>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5</a:t>
                </a:r>
              </a:p>
            </p:txBody>
          </p:sp>
          <p:sp>
            <p:nvSpPr>
              <p:cNvPr id="599081" name="Text Box 41"/>
              <p:cNvSpPr txBox="1">
                <a:spLocks noChangeArrowheads="1"/>
              </p:cNvSpPr>
              <p:nvPr/>
            </p:nvSpPr>
            <p:spPr bwMode="auto">
              <a:xfrm>
                <a:off x="4014" y="2091"/>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4</a:t>
                </a:r>
              </a:p>
            </p:txBody>
          </p:sp>
          <p:sp>
            <p:nvSpPr>
              <p:cNvPr id="599082" name="Text Box 42"/>
              <p:cNvSpPr txBox="1">
                <a:spLocks noChangeArrowheads="1"/>
              </p:cNvSpPr>
              <p:nvPr/>
            </p:nvSpPr>
            <p:spPr bwMode="auto">
              <a:xfrm>
                <a:off x="5194" y="2046"/>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3</a:t>
                </a:r>
              </a:p>
            </p:txBody>
          </p:sp>
          <p:sp>
            <p:nvSpPr>
              <p:cNvPr id="599083" name="Text Box 43"/>
              <p:cNvSpPr txBox="1">
                <a:spLocks noChangeArrowheads="1"/>
              </p:cNvSpPr>
              <p:nvPr/>
            </p:nvSpPr>
            <p:spPr bwMode="auto">
              <a:xfrm>
                <a:off x="4468"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599084" name="Text Box 44"/>
              <p:cNvSpPr txBox="1">
                <a:spLocks noChangeArrowheads="1"/>
              </p:cNvSpPr>
              <p:nvPr/>
            </p:nvSpPr>
            <p:spPr bwMode="auto">
              <a:xfrm>
                <a:off x="3742"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3</a:t>
                </a:r>
              </a:p>
            </p:txBody>
          </p:sp>
          <p:sp>
            <p:nvSpPr>
              <p:cNvPr id="599085" name="Text Box 45"/>
              <p:cNvSpPr txBox="1">
                <a:spLocks noChangeArrowheads="1"/>
              </p:cNvSpPr>
              <p:nvPr/>
            </p:nvSpPr>
            <p:spPr bwMode="auto">
              <a:xfrm>
                <a:off x="4876"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599086" name="Text Box 46"/>
              <p:cNvSpPr txBox="1">
                <a:spLocks noChangeArrowheads="1"/>
              </p:cNvSpPr>
              <p:nvPr/>
            </p:nvSpPr>
            <p:spPr bwMode="auto">
              <a:xfrm>
                <a:off x="3533" y="286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599087" name="Text Box 47"/>
              <p:cNvSpPr txBox="1">
                <a:spLocks noChangeArrowheads="1"/>
              </p:cNvSpPr>
              <p:nvPr/>
            </p:nvSpPr>
            <p:spPr bwMode="auto">
              <a:xfrm>
                <a:off x="3878" y="28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599088" name="Text Box 48"/>
              <p:cNvSpPr txBox="1">
                <a:spLocks noChangeArrowheads="1"/>
              </p:cNvSpPr>
              <p:nvPr/>
            </p:nvSpPr>
            <p:spPr bwMode="auto">
              <a:xfrm>
                <a:off x="3379" y="31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dirty="0">
                    <a:effectLst>
                      <a:outerShdw blurRad="38100" dist="38100" dir="2700000" algn="tl">
                        <a:srgbClr val="C0C0C0"/>
                      </a:outerShdw>
                    </a:effectLst>
                    <a:latin typeface="Courier New" pitchFamily="49" charset="0"/>
                    <a:ea typeface="宋体" pitchFamily="2" charset="-122"/>
                  </a:rPr>
                  <a:t>1</a:t>
                </a:r>
              </a:p>
            </p:txBody>
          </p:sp>
          <p:sp>
            <p:nvSpPr>
              <p:cNvPr id="599089" name="Text Box 49"/>
              <p:cNvSpPr txBox="1">
                <a:spLocks noChangeArrowheads="1"/>
              </p:cNvSpPr>
              <p:nvPr/>
            </p:nvSpPr>
            <p:spPr bwMode="auto">
              <a:xfrm>
                <a:off x="3878" y="31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sp>
            <p:nvSpPr>
              <p:cNvPr id="599090" name="Text Box 50"/>
              <p:cNvSpPr txBox="1">
                <a:spLocks noChangeArrowheads="1"/>
              </p:cNvSpPr>
              <p:nvPr/>
            </p:nvSpPr>
            <p:spPr bwMode="auto">
              <a:xfrm>
                <a:off x="4150" y="286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599091" name="Text Box 51"/>
              <p:cNvSpPr txBox="1">
                <a:spLocks noChangeArrowheads="1"/>
              </p:cNvSpPr>
              <p:nvPr/>
            </p:nvSpPr>
            <p:spPr bwMode="auto">
              <a:xfrm>
                <a:off x="4450" y="286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sp>
            <p:nvSpPr>
              <p:cNvPr id="599092" name="Text Box 52"/>
              <p:cNvSpPr txBox="1">
                <a:spLocks noChangeArrowheads="1"/>
              </p:cNvSpPr>
              <p:nvPr/>
            </p:nvSpPr>
            <p:spPr bwMode="auto">
              <a:xfrm>
                <a:off x="4731" y="286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599093" name="Text Box 53"/>
              <p:cNvSpPr txBox="1">
                <a:spLocks noChangeArrowheads="1"/>
              </p:cNvSpPr>
              <p:nvPr/>
            </p:nvSpPr>
            <p:spPr bwMode="auto">
              <a:xfrm>
                <a:off x="5039" y="287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grpSp>
      </p:grpSp>
      <p:grpSp>
        <p:nvGrpSpPr>
          <p:cNvPr id="5" name="Group 54"/>
          <p:cNvGrpSpPr>
            <a:grpSpLocks/>
          </p:cNvGrpSpPr>
          <p:nvPr/>
        </p:nvGrpSpPr>
        <p:grpSpPr bwMode="auto">
          <a:xfrm>
            <a:off x="5580112" y="5037137"/>
            <a:ext cx="3313063" cy="1560215"/>
            <a:chOff x="4286" y="3060"/>
            <a:chExt cx="1316" cy="1156"/>
          </a:xfrm>
        </p:grpSpPr>
        <p:sp>
          <p:nvSpPr>
            <p:cNvPr id="599095" name="Text Box 55"/>
            <p:cNvSpPr txBox="1">
              <a:spLocks noChangeArrowheads="1"/>
            </p:cNvSpPr>
            <p:nvPr/>
          </p:nvSpPr>
          <p:spPr bwMode="auto">
            <a:xfrm>
              <a:off x="4286" y="3344"/>
              <a:ext cx="1315" cy="872"/>
            </a:xfrm>
            <a:prstGeom prst="rect">
              <a:avLst/>
            </a:prstGeom>
            <a:solidFill>
              <a:srgbClr val="FFFF99"/>
            </a:solidFill>
            <a:ln w="50800">
              <a:solidFill>
                <a:srgbClr val="000080"/>
              </a:solidFill>
              <a:miter lim="800000"/>
              <a:headEnd/>
              <a:tailEnd/>
            </a:ln>
            <a:effectLst/>
          </p:spPr>
          <p:txBody>
            <a:bodyPr>
              <a:spAutoFit/>
            </a:bodyPr>
            <a:lstStyle/>
            <a:p>
              <a:pPr algn="l" eaLnBrk="0" hangingPunct="0">
                <a:defRPr/>
              </a:pPr>
              <a:r>
                <a:rPr lang="zh-CN" altLang="en-US" b="1" dirty="0">
                  <a:effectLst>
                    <a:outerShdw blurRad="38100" dist="38100" dir="2700000" algn="tl">
                      <a:srgbClr val="FFFFFF"/>
                    </a:outerShdw>
                  </a:effectLst>
                  <a:ea typeface="宋体" pitchFamily="2" charset="-122"/>
                </a:rPr>
                <a:t>计算</a:t>
              </a:r>
              <a:r>
                <a:rPr lang="en-US" altLang="zh-CN" b="1" dirty="0">
                  <a:effectLst>
                    <a:outerShdw blurRad="38100" dist="38100" dir="2700000" algn="tl">
                      <a:srgbClr val="FFFFFF"/>
                    </a:outerShdw>
                  </a:effectLst>
                  <a:latin typeface="Courier New" pitchFamily="49" charset="0"/>
                  <a:ea typeface="宋体" pitchFamily="2" charset="-122"/>
                </a:rPr>
                <a:t>fib(5)</a:t>
              </a:r>
              <a:r>
                <a:rPr lang="zh-CN" altLang="en-US" b="1" dirty="0">
                  <a:effectLst>
                    <a:outerShdw blurRad="38100" dist="38100" dir="2700000" algn="tl">
                      <a:srgbClr val="FFFFFF"/>
                    </a:outerShdw>
                  </a:effectLst>
                  <a:ea typeface="宋体" pitchFamily="2" charset="-122"/>
                </a:rPr>
                <a:t>共需</a:t>
              </a:r>
              <a:r>
                <a:rPr lang="en-US" altLang="zh-CN" b="1" dirty="0">
                  <a:effectLst>
                    <a:outerShdw blurRad="38100" dist="38100" dir="2700000" algn="tl">
                      <a:srgbClr val="FFFFFF"/>
                    </a:outerShdw>
                  </a:effectLst>
                  <a:ea typeface="宋体" pitchFamily="2" charset="-122"/>
                </a:rPr>
                <a:t>15</a:t>
              </a:r>
              <a:r>
                <a:rPr lang="zh-CN" altLang="en-US" b="1" dirty="0">
                  <a:effectLst>
                    <a:outerShdw blurRad="38100" dist="38100" dir="2700000" algn="tl">
                      <a:srgbClr val="FFFFFF"/>
                    </a:outerShdw>
                  </a:effectLst>
                  <a:ea typeface="宋体" pitchFamily="2" charset="-122"/>
                </a:rPr>
                <a:t>次</a:t>
              </a:r>
              <a:r>
                <a:rPr lang="en-US" altLang="zh-CN" b="1" dirty="0">
                  <a:effectLst>
                    <a:outerShdw blurRad="38100" dist="38100" dir="2700000" algn="tl">
                      <a:srgbClr val="FFFFFF"/>
                    </a:outerShdw>
                  </a:effectLst>
                  <a:latin typeface="Courier New" pitchFamily="49" charset="0"/>
                  <a:ea typeface="宋体" pitchFamily="2" charset="-122"/>
                </a:rPr>
                <a:t>fib</a:t>
              </a:r>
              <a:r>
                <a:rPr lang="zh-CN" altLang="en-US" b="1" dirty="0">
                  <a:effectLst>
                    <a:outerShdw blurRad="38100" dist="38100" dir="2700000" algn="tl">
                      <a:srgbClr val="FFFFFF"/>
                    </a:outerShdw>
                  </a:effectLst>
                  <a:ea typeface="宋体" pitchFamily="2" charset="-122"/>
                </a:rPr>
                <a:t>调用</a:t>
              </a:r>
            </a:p>
          </p:txBody>
        </p:sp>
        <p:sp>
          <p:nvSpPr>
            <p:cNvPr id="599096" name="Line 56"/>
            <p:cNvSpPr>
              <a:spLocks noChangeShapeType="1"/>
            </p:cNvSpPr>
            <p:nvPr/>
          </p:nvSpPr>
          <p:spPr bwMode="auto">
            <a:xfrm>
              <a:off x="4596" y="3060"/>
              <a:ext cx="1006" cy="261"/>
            </a:xfrm>
            <a:prstGeom prst="line">
              <a:avLst/>
            </a:prstGeom>
            <a:noFill/>
            <a:ln w="50800">
              <a:solidFill>
                <a:srgbClr val="000080"/>
              </a:solidFill>
              <a:miter lim="800000"/>
              <a:headEnd/>
              <a:tailEnd type="triangle" w="med" len="med"/>
            </a:ln>
            <a:effectLst/>
          </p:spPr>
          <p:txBody>
            <a:bodyPr wrap="none"/>
            <a:lstStyle/>
            <a:p>
              <a:pPr eaLnBrk="0" hangingPunct="0">
                <a:defRPr/>
              </a:pPr>
              <a:endParaRPr lang="zh-CN" altLang="en-US">
                <a:effectLst>
                  <a:outerShdw blurRad="38100" dist="38100" dir="2700000" algn="tl">
                    <a:srgbClr val="000000">
                      <a:alpha val="43137"/>
                    </a:srgbClr>
                  </a:outerShdw>
                </a:effectLst>
                <a:ea typeface="+mn-ea"/>
              </a:endParaRPr>
            </a:p>
          </p:txBody>
        </p:sp>
      </p:grpSp>
      <p:sp>
        <p:nvSpPr>
          <p:cNvPr id="57" name="Rectangle 6"/>
          <p:cNvSpPr>
            <a:spLocks noChangeArrowheads="1"/>
          </p:cNvSpPr>
          <p:nvPr/>
        </p:nvSpPr>
        <p:spPr bwMode="auto">
          <a:xfrm>
            <a:off x="214313" y="1643063"/>
            <a:ext cx="5857875" cy="714375"/>
          </a:xfrm>
          <a:prstGeom prst="rect">
            <a:avLst/>
          </a:prstGeom>
          <a:noFill/>
          <a:ln w="9525">
            <a:noFill/>
            <a:miter lim="800000"/>
            <a:headEnd/>
            <a:tailEnd/>
          </a:ln>
          <a:effectLst/>
        </p:spPr>
        <p:txBody>
          <a:bodyPr lIns="92075" tIns="46037" rIns="92075" bIns="46037" anchor="ctr"/>
          <a:lstStyle/>
          <a:p>
            <a:pPr eaLnBrk="0" hangingPunct="0">
              <a:lnSpc>
                <a:spcPct val="85000"/>
              </a:lnSpc>
              <a:defRPr/>
            </a:pPr>
            <a:r>
              <a:rPr lang="zh-CN" altLang="en-US" sz="2800" b="1" dirty="0">
                <a:solidFill>
                  <a:srgbClr val="000066"/>
                </a:solidFill>
                <a:effectLst>
                  <a:outerShdw blurRad="38100" dist="38100" dir="2700000" algn="tl">
                    <a:srgbClr val="C0C0C0"/>
                  </a:outerShdw>
                </a:effectLst>
                <a:latin typeface="+mn-lt"/>
                <a:ea typeface="华文仿宋" pitchFamily="2" charset="-122"/>
              </a:rPr>
              <a:t>计算</a:t>
            </a:r>
            <a:r>
              <a:rPr lang="en-US" altLang="zh-CN" sz="2800" b="1" dirty="0">
                <a:solidFill>
                  <a:srgbClr val="000066"/>
                </a:solidFill>
                <a:effectLst>
                  <a:outerShdw blurRad="38100" dist="38100" dir="2700000" algn="tl">
                    <a:srgbClr val="C0C0C0"/>
                  </a:outerShdw>
                </a:effectLst>
                <a:latin typeface="+mn-lt"/>
                <a:ea typeface="华文仿宋" pitchFamily="2" charset="-122"/>
              </a:rPr>
              <a:t>Fibonacci</a:t>
            </a:r>
            <a:r>
              <a:rPr lang="zh-CN" altLang="en-US" sz="2800" b="1" dirty="0">
                <a:solidFill>
                  <a:srgbClr val="000066"/>
                </a:solidFill>
                <a:effectLst>
                  <a:outerShdw blurRad="38100" dist="38100" dir="2700000" algn="tl">
                    <a:srgbClr val="C0C0C0"/>
                  </a:outerShdw>
                </a:effectLst>
                <a:latin typeface="+mn-lt"/>
                <a:ea typeface="华文仿宋" pitchFamily="2" charset="-122"/>
              </a:rPr>
              <a:t>数列</a:t>
            </a:r>
          </a:p>
          <a:p>
            <a:pPr eaLnBrk="0" hangingPunct="0">
              <a:lnSpc>
                <a:spcPct val="85000"/>
              </a:lnSpc>
              <a:defRPr/>
            </a:pPr>
            <a:r>
              <a:rPr lang="en-US" altLang="zh-CN" sz="4400" b="1" i="1" dirty="0">
                <a:solidFill>
                  <a:srgbClr val="000066"/>
                </a:solidFill>
                <a:effectLst>
                  <a:outerShdw blurRad="38100" dist="38100" dir="2700000" algn="tl">
                    <a:srgbClr val="C0C0C0"/>
                  </a:outerShdw>
                </a:effectLst>
                <a:ea typeface="黑体" pitchFamily="2" charset="-122"/>
              </a:rPr>
              <a:t> </a:t>
            </a:r>
            <a:endParaRPr lang="zh-CN" altLang="en-US" sz="4400" b="1" i="1" dirty="0">
              <a:solidFill>
                <a:srgbClr val="000066"/>
              </a:solidFill>
              <a:effectLst>
                <a:outerShdw blurRad="38100" dist="38100" dir="2700000" algn="tl">
                  <a:srgbClr val="C0C0C0"/>
                </a:outerShdw>
              </a:effectLst>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99045"/>
                                        </p:tgtEl>
                                        <p:attrNameLst>
                                          <p:attrName>style.visibility</p:attrName>
                                        </p:attrNameLst>
                                      </p:cBhvr>
                                      <p:to>
                                        <p:strVal val="visible"/>
                                      </p:to>
                                    </p:set>
                                    <p:anim calcmode="lin" valueType="num">
                                      <p:cBhvr>
                                        <p:cTn id="7" dur="500" fill="hold"/>
                                        <p:tgtEl>
                                          <p:spTgt spid="599045"/>
                                        </p:tgtEl>
                                        <p:attrNameLst>
                                          <p:attrName>ppt_w</p:attrName>
                                        </p:attrNameLst>
                                      </p:cBhvr>
                                      <p:tavLst>
                                        <p:tav tm="0">
                                          <p:val>
                                            <p:fltVal val="0"/>
                                          </p:val>
                                        </p:tav>
                                        <p:tav tm="100000">
                                          <p:val>
                                            <p:strVal val="#ppt_w"/>
                                          </p:val>
                                        </p:tav>
                                      </p:tavLst>
                                    </p:anim>
                                    <p:anim calcmode="lin" valueType="num">
                                      <p:cBhvr>
                                        <p:cTn id="8" dur="500" fill="hold"/>
                                        <p:tgtEl>
                                          <p:spTgt spid="599045"/>
                                        </p:tgtEl>
                                        <p:attrNameLst>
                                          <p:attrName>ppt_h</p:attrName>
                                        </p:attrNameLst>
                                      </p:cBhvr>
                                      <p:tavLst>
                                        <p:tav tm="0">
                                          <p:val>
                                            <p:fltVal val="0"/>
                                          </p:val>
                                        </p:tav>
                                        <p:tav tm="100000">
                                          <p:val>
                                            <p:strVal val="#ppt_h"/>
                                          </p:val>
                                        </p:tav>
                                      </p:tavLst>
                                    </p:anim>
                                    <p:animEffect transition="in" filter="fade">
                                      <p:cBhvr>
                                        <p:cTn id="9" dur="500"/>
                                        <p:tgtEl>
                                          <p:spTgt spid="59904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4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p:cNvSpPr>
            <a:spLocks noGrp="1" noChangeArrowheads="1"/>
          </p:cNvSpPr>
          <p:nvPr>
            <p:ph type="title"/>
          </p:nvPr>
        </p:nvSpPr>
        <p:spPr>
          <a:xfrm>
            <a:off x="467544" y="260648"/>
            <a:ext cx="8229600" cy="1143000"/>
          </a:xfrm>
        </p:spPr>
        <p:txBody>
          <a:bodyPr/>
          <a:lstStyle/>
          <a:p>
            <a:pPr>
              <a:defRPr/>
            </a:pPr>
            <a:r>
              <a:rPr lang="zh-CN" altLang="en-US" dirty="0"/>
              <a:t>递归</a:t>
            </a:r>
          </a:p>
        </p:txBody>
      </p:sp>
      <p:sp>
        <p:nvSpPr>
          <p:cNvPr id="600067" name="Rectangle 3"/>
          <p:cNvSpPr>
            <a:spLocks noGrp="1" noChangeArrowheads="1"/>
          </p:cNvSpPr>
          <p:nvPr>
            <p:ph type="body" idx="1"/>
          </p:nvPr>
        </p:nvSpPr>
        <p:spPr>
          <a:xfrm>
            <a:off x="539750" y="1389063"/>
            <a:ext cx="8424863" cy="4611687"/>
          </a:xfrm>
        </p:spPr>
        <p:txBody>
          <a:bodyPr/>
          <a:lstStyle/>
          <a:p>
            <a:pPr>
              <a:buFont typeface="Monotype Sorts" charset="2"/>
              <a:buChar char=""/>
              <a:defRPr/>
            </a:pPr>
            <a:r>
              <a:rPr lang="zh-CN" altLang="en-US" sz="3200" dirty="0">
                <a:latin typeface="华文仿宋" pitchFamily="2" charset="-122"/>
                <a:ea typeface="华文仿宋" pitchFamily="2" charset="-122"/>
              </a:rPr>
              <a:t>优点：</a:t>
            </a:r>
          </a:p>
          <a:p>
            <a:pPr lvl="1">
              <a:defRPr/>
            </a:pPr>
            <a:r>
              <a:rPr lang="zh-CN" altLang="en-US" sz="2800" dirty="0">
                <a:latin typeface="华文仿宋" pitchFamily="2" charset="-122"/>
                <a:ea typeface="华文仿宋" pitchFamily="2" charset="-122"/>
              </a:rPr>
              <a:t>从编程角度来看，比较直观、精炼，逻辑清楚</a:t>
            </a:r>
          </a:p>
          <a:p>
            <a:pPr lvl="1">
              <a:defRPr/>
            </a:pPr>
            <a:r>
              <a:rPr lang="zh-CN" altLang="en-US" sz="2800" dirty="0">
                <a:latin typeface="华文仿宋" pitchFamily="2" charset="-122"/>
                <a:ea typeface="华文仿宋" pitchFamily="2" charset="-122"/>
              </a:rPr>
              <a:t>符合人的思维习惯，逼近数学公式的表示</a:t>
            </a:r>
          </a:p>
          <a:p>
            <a:pPr lvl="1">
              <a:defRPr/>
            </a:pPr>
            <a:endParaRPr lang="zh-CN" altLang="en-US" sz="2400" dirty="0">
              <a:latin typeface="华文仿宋" pitchFamily="2" charset="-122"/>
              <a:ea typeface="华文仿宋" pitchFamily="2" charset="-122"/>
            </a:endParaRPr>
          </a:p>
          <a:p>
            <a:pPr>
              <a:buFont typeface="Monotype Sorts" charset="2"/>
              <a:buChar char=""/>
              <a:defRPr/>
            </a:pPr>
            <a:r>
              <a:rPr lang="zh-CN" altLang="en-US" sz="3200" dirty="0">
                <a:latin typeface="华文仿宋" pitchFamily="2" charset="-122"/>
                <a:ea typeface="华文仿宋" pitchFamily="2" charset="-122"/>
              </a:rPr>
              <a:t>缺点：</a:t>
            </a:r>
          </a:p>
          <a:p>
            <a:pPr lvl="1">
              <a:defRPr/>
            </a:pPr>
            <a:r>
              <a:rPr lang="zh-CN" altLang="en-GB" sz="2800" dirty="0">
                <a:latin typeface="华文仿宋" pitchFamily="2" charset="-122"/>
                <a:ea typeface="华文仿宋" pitchFamily="2" charset="-122"/>
              </a:rPr>
              <a:t>增加了函数调用的开销，</a:t>
            </a:r>
            <a:r>
              <a:rPr lang="zh-CN" altLang="en-US" sz="2800" dirty="0">
                <a:latin typeface="华文仿宋" pitchFamily="2" charset="-122"/>
                <a:ea typeface="华文仿宋" pitchFamily="2" charset="-122"/>
              </a:rPr>
              <a:t>每次调用都需要进行参数传递、现场保护等</a:t>
            </a:r>
          </a:p>
          <a:p>
            <a:pPr lvl="1">
              <a:defRPr/>
            </a:pPr>
            <a:r>
              <a:rPr lang="zh-CN" altLang="en-US" sz="2800" dirty="0">
                <a:latin typeface="华文仿宋" pitchFamily="2" charset="-122"/>
                <a:ea typeface="华文仿宋" pitchFamily="2" charset="-122"/>
              </a:rPr>
              <a:t>耗费更多的时间和栈空间</a:t>
            </a:r>
            <a:endParaRPr lang="en-US" altLang="zh-CN" sz="2800" dirty="0">
              <a:latin typeface="华文仿宋" pitchFamily="2" charset="-122"/>
              <a:ea typeface="华文仿宋" pitchFamily="2" charset="-122"/>
            </a:endParaRPr>
          </a:p>
          <a:p>
            <a:pPr lvl="1">
              <a:defRPr/>
            </a:pPr>
            <a:r>
              <a:rPr lang="zh-CN" altLang="en-US" sz="2800" dirty="0">
                <a:latin typeface="华文仿宋" pitchFamily="2" charset="-122"/>
                <a:ea typeface="华文仿宋" pitchFamily="2" charset="-122"/>
              </a:rPr>
              <a:t>应尽量用迭代形式替代递归形式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00067">
                                            <p:txEl>
                                              <p:pRg st="4" end="4"/>
                                            </p:txEl>
                                          </p:spTgt>
                                        </p:tgtEl>
                                        <p:attrNameLst>
                                          <p:attrName>style.visibility</p:attrName>
                                        </p:attrNameLst>
                                      </p:cBhvr>
                                      <p:to>
                                        <p:strVal val="visible"/>
                                      </p:to>
                                    </p:set>
                                    <p:anim calcmode="lin" valueType="num">
                                      <p:cBhvr>
                                        <p:cTn id="7" dur="500" fill="hold"/>
                                        <p:tgtEl>
                                          <p:spTgt spid="600067">
                                            <p:txEl>
                                              <p:pRg st="4" end="4"/>
                                            </p:txEl>
                                          </p:spTgt>
                                        </p:tgtEl>
                                        <p:attrNameLst>
                                          <p:attrName>ppt_w</p:attrName>
                                        </p:attrNameLst>
                                      </p:cBhvr>
                                      <p:tavLst>
                                        <p:tav tm="0">
                                          <p:val>
                                            <p:fltVal val="0"/>
                                          </p:val>
                                        </p:tav>
                                        <p:tav tm="100000">
                                          <p:val>
                                            <p:strVal val="#ppt_w"/>
                                          </p:val>
                                        </p:tav>
                                      </p:tavLst>
                                    </p:anim>
                                    <p:anim calcmode="lin" valueType="num">
                                      <p:cBhvr>
                                        <p:cTn id="8" dur="500" fill="hold"/>
                                        <p:tgtEl>
                                          <p:spTgt spid="600067">
                                            <p:txEl>
                                              <p:pRg st="4" end="4"/>
                                            </p:txEl>
                                          </p:spTgt>
                                        </p:tgtEl>
                                        <p:attrNameLst>
                                          <p:attrName>ppt_h</p:attrName>
                                        </p:attrNameLst>
                                      </p:cBhvr>
                                      <p:tavLst>
                                        <p:tav tm="0">
                                          <p:val>
                                            <p:fltVal val="0"/>
                                          </p:val>
                                        </p:tav>
                                        <p:tav tm="100000">
                                          <p:val>
                                            <p:strVal val="#ppt_h"/>
                                          </p:val>
                                        </p:tav>
                                      </p:tavLst>
                                    </p:anim>
                                    <p:animEffect transition="in" filter="fade">
                                      <p:cBhvr>
                                        <p:cTn id="9" dur="500"/>
                                        <p:tgtEl>
                                          <p:spTgt spid="600067">
                                            <p:txEl>
                                              <p:pRg st="4" end="4"/>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600067">
                                            <p:txEl>
                                              <p:pRg st="5" end="5"/>
                                            </p:txEl>
                                          </p:spTgt>
                                        </p:tgtEl>
                                        <p:attrNameLst>
                                          <p:attrName>style.visibility</p:attrName>
                                        </p:attrNameLst>
                                      </p:cBhvr>
                                      <p:to>
                                        <p:strVal val="visible"/>
                                      </p:to>
                                    </p:set>
                                    <p:anim calcmode="lin" valueType="num">
                                      <p:cBhvr>
                                        <p:cTn id="14" dur="500" fill="hold"/>
                                        <p:tgtEl>
                                          <p:spTgt spid="600067">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600067">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600067">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600067">
                                            <p:txEl>
                                              <p:pRg st="6" end="6"/>
                                            </p:txEl>
                                          </p:spTgt>
                                        </p:tgtEl>
                                        <p:attrNameLst>
                                          <p:attrName>style.visibility</p:attrName>
                                        </p:attrNameLst>
                                      </p:cBhvr>
                                      <p:to>
                                        <p:strVal val="visible"/>
                                      </p:to>
                                    </p:set>
                                    <p:anim calcmode="lin" valueType="num">
                                      <p:cBhvr>
                                        <p:cTn id="21" dur="500" fill="hold"/>
                                        <p:tgtEl>
                                          <p:spTgt spid="600067">
                                            <p:txEl>
                                              <p:pRg st="6" end="6"/>
                                            </p:txEl>
                                          </p:spTgt>
                                        </p:tgtEl>
                                        <p:attrNameLst>
                                          <p:attrName>ppt_w</p:attrName>
                                        </p:attrNameLst>
                                      </p:cBhvr>
                                      <p:tavLst>
                                        <p:tav tm="0">
                                          <p:val>
                                            <p:fltVal val="0"/>
                                          </p:val>
                                        </p:tav>
                                        <p:tav tm="100000">
                                          <p:val>
                                            <p:strVal val="#ppt_w"/>
                                          </p:val>
                                        </p:tav>
                                      </p:tavLst>
                                    </p:anim>
                                    <p:anim calcmode="lin" valueType="num">
                                      <p:cBhvr>
                                        <p:cTn id="22" dur="500" fill="hold"/>
                                        <p:tgtEl>
                                          <p:spTgt spid="600067">
                                            <p:txEl>
                                              <p:pRg st="6" end="6"/>
                                            </p:txEl>
                                          </p:spTgt>
                                        </p:tgtEl>
                                        <p:attrNameLst>
                                          <p:attrName>ppt_h</p:attrName>
                                        </p:attrNameLst>
                                      </p:cBhvr>
                                      <p:tavLst>
                                        <p:tav tm="0">
                                          <p:val>
                                            <p:fltVal val="0"/>
                                          </p:val>
                                        </p:tav>
                                        <p:tav tm="100000">
                                          <p:val>
                                            <p:strVal val="#ppt_h"/>
                                          </p:val>
                                        </p:tav>
                                      </p:tavLst>
                                    </p:anim>
                                    <p:animEffect transition="in" filter="fade">
                                      <p:cBhvr>
                                        <p:cTn id="23" dur="500"/>
                                        <p:tgtEl>
                                          <p:spTgt spid="600067">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nodeType="clickEffect">
                                  <p:stCondLst>
                                    <p:cond delay="0"/>
                                  </p:stCondLst>
                                  <p:childTnLst>
                                    <p:set>
                                      <p:cBhvr>
                                        <p:cTn id="27" dur="1" fill="hold">
                                          <p:stCondLst>
                                            <p:cond delay="0"/>
                                          </p:stCondLst>
                                        </p:cTn>
                                        <p:tgtEl>
                                          <p:spTgt spid="600067">
                                            <p:txEl>
                                              <p:pRg st="7" end="7"/>
                                            </p:txEl>
                                          </p:spTgt>
                                        </p:tgtEl>
                                        <p:attrNameLst>
                                          <p:attrName>style.visibility</p:attrName>
                                        </p:attrNameLst>
                                      </p:cBhvr>
                                      <p:to>
                                        <p:strVal val="visible"/>
                                      </p:to>
                                    </p:set>
                                    <p:anim calcmode="lin" valueType="num">
                                      <p:cBhvr>
                                        <p:cTn id="28" dur="500" fill="hold"/>
                                        <p:tgtEl>
                                          <p:spTgt spid="600067">
                                            <p:txEl>
                                              <p:pRg st="7" end="7"/>
                                            </p:txEl>
                                          </p:spTgt>
                                        </p:tgtEl>
                                        <p:attrNameLst>
                                          <p:attrName>ppt_w</p:attrName>
                                        </p:attrNameLst>
                                      </p:cBhvr>
                                      <p:tavLst>
                                        <p:tav tm="0">
                                          <p:val>
                                            <p:fltVal val="0"/>
                                          </p:val>
                                        </p:tav>
                                        <p:tav tm="100000">
                                          <p:val>
                                            <p:strVal val="#ppt_w"/>
                                          </p:val>
                                        </p:tav>
                                      </p:tavLst>
                                    </p:anim>
                                    <p:anim calcmode="lin" valueType="num">
                                      <p:cBhvr>
                                        <p:cTn id="29" dur="500" fill="hold"/>
                                        <p:tgtEl>
                                          <p:spTgt spid="600067">
                                            <p:txEl>
                                              <p:pRg st="7" end="7"/>
                                            </p:txEl>
                                          </p:spTgt>
                                        </p:tgtEl>
                                        <p:attrNameLst>
                                          <p:attrName>ppt_h</p:attrName>
                                        </p:attrNameLst>
                                      </p:cBhvr>
                                      <p:tavLst>
                                        <p:tav tm="0">
                                          <p:val>
                                            <p:fltVal val="0"/>
                                          </p:val>
                                        </p:tav>
                                        <p:tav tm="100000">
                                          <p:val>
                                            <p:strVal val="#ppt_h"/>
                                          </p:val>
                                        </p:tav>
                                      </p:tavLst>
                                    </p:anim>
                                    <p:animEffect transition="in" filter="fade">
                                      <p:cBhvr>
                                        <p:cTn id="30" dur="500"/>
                                        <p:tgtEl>
                                          <p:spTgt spid="6000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395288" y="333375"/>
            <a:ext cx="8243887" cy="792163"/>
          </a:xfrm>
        </p:spPr>
        <p:txBody>
          <a:bodyPr/>
          <a:lstStyle/>
          <a:p>
            <a:pPr marL="1339850" indent="-1339850" eaLnBrk="1" hangingPunct="1"/>
            <a:r>
              <a:rPr lang="en-US" altLang="zh-CN" sz="4800" dirty="0">
                <a:solidFill>
                  <a:srgbClr val="0070C0"/>
                </a:solidFill>
                <a:latin typeface="宋体" charset="-122"/>
              </a:rPr>
              <a:t>【</a:t>
            </a:r>
            <a:r>
              <a:rPr lang="zh-CN" altLang="en-US" sz="4800" dirty="0">
                <a:solidFill>
                  <a:srgbClr val="0070C0"/>
                </a:solidFill>
                <a:latin typeface="宋体" charset="-122"/>
              </a:rPr>
              <a:t>例</a:t>
            </a:r>
            <a:r>
              <a:rPr lang="en-US" altLang="zh-CN" sz="4800" dirty="0">
                <a:solidFill>
                  <a:srgbClr val="0070C0"/>
                </a:solidFill>
                <a:latin typeface="宋体" charset="-122"/>
              </a:rPr>
              <a:t>5.14】</a:t>
            </a:r>
            <a:r>
              <a:rPr lang="zh-CN" altLang="en-US" sz="4800" dirty="0">
                <a:latin typeface="宋体" charset="-122"/>
              </a:rPr>
              <a:t>求解的</a:t>
            </a:r>
            <a:r>
              <a:rPr lang="en-US" altLang="zh-CN" sz="4800" dirty="0">
                <a:latin typeface="宋体" charset="-122"/>
              </a:rPr>
              <a:t>Hanoi</a:t>
            </a:r>
            <a:r>
              <a:rPr lang="zh-CN" altLang="en-US" sz="4800" dirty="0">
                <a:latin typeface="宋体" charset="-122"/>
              </a:rPr>
              <a:t>塔问题</a:t>
            </a:r>
          </a:p>
        </p:txBody>
      </p:sp>
      <p:sp>
        <p:nvSpPr>
          <p:cNvPr id="6" name="灯片编号占位符 5"/>
          <p:cNvSpPr>
            <a:spLocks noGrp="1"/>
          </p:cNvSpPr>
          <p:nvPr>
            <p:ph type="sldNum" sz="quarter" idx="12"/>
          </p:nvPr>
        </p:nvSpPr>
        <p:spPr/>
        <p:txBody>
          <a:bodyPr/>
          <a:lstStyle/>
          <a:p>
            <a:pPr>
              <a:defRPr/>
            </a:pPr>
            <a:fld id="{8A7ED8A6-E672-43BB-8800-02DAE3680A8C}" type="slidenum">
              <a:rPr lang="en-US" altLang="zh-CN"/>
              <a:pPr>
                <a:defRPr/>
              </a:pPr>
              <a:t>58</a:t>
            </a:fld>
            <a:endParaRPr lang="en-US" altLang="zh-CN"/>
          </a:p>
        </p:txBody>
      </p:sp>
      <p:sp>
        <p:nvSpPr>
          <p:cNvPr id="402435" name="Rectangle 3"/>
          <p:cNvSpPr>
            <a:spLocks noChangeArrowheads="1"/>
          </p:cNvSpPr>
          <p:nvPr/>
        </p:nvSpPr>
        <p:spPr bwMode="auto">
          <a:xfrm>
            <a:off x="468313" y="1196975"/>
            <a:ext cx="8496300" cy="5114925"/>
          </a:xfrm>
          <a:prstGeom prst="rect">
            <a:avLst/>
          </a:prstGeom>
          <a:noFill/>
          <a:ln w="9525">
            <a:noFill/>
            <a:miter lim="800000"/>
            <a:headEnd/>
            <a:tailEnd/>
          </a:ln>
          <a:effectLst/>
        </p:spPr>
        <p:txBody>
          <a:bodyPr>
            <a:spAutoFit/>
          </a:bodyPr>
          <a:lstStyle/>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rPr>
              <a:t>问题：</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rPr>
              <a:t>有三根针（设为 </a:t>
            </a:r>
            <a:r>
              <a:rPr kumimoji="1" lang="en-US" altLang="zh-CN" sz="3200" dirty="0">
                <a:effectLst>
                  <a:outerShdw blurRad="38100" dist="38100" dir="2700000" algn="tl">
                    <a:srgbClr val="C0C0C0"/>
                  </a:outerShdw>
                </a:effectLst>
                <a:latin typeface="楷体_GB2312" pitchFamily="49" charset="-122"/>
                <a:ea typeface="楷体_GB2312" pitchFamily="49" charset="-122"/>
              </a:rPr>
              <a:t>A</a:t>
            </a:r>
            <a:r>
              <a:rPr kumimoji="1" lang="zh-CN" altLang="en-US" sz="3200" dirty="0">
                <a:effectLst>
                  <a:outerShdw blurRad="38100" dist="38100" dir="2700000" algn="tl">
                    <a:srgbClr val="C0C0C0"/>
                  </a:outerShdw>
                </a:effectLst>
                <a:latin typeface="楷体_GB2312" pitchFamily="49" charset="-122"/>
                <a:ea typeface="楷体_GB2312" pitchFamily="49" charset="-122"/>
              </a:rPr>
              <a:t>、</a:t>
            </a:r>
            <a:r>
              <a:rPr kumimoji="1" lang="en-US" altLang="zh-CN" sz="3200" dirty="0">
                <a:effectLst>
                  <a:outerShdw blurRad="38100" dist="38100" dir="2700000" algn="tl">
                    <a:srgbClr val="C0C0C0"/>
                  </a:outerShdw>
                </a:effectLst>
                <a:latin typeface="楷体_GB2312" pitchFamily="49" charset="-122"/>
                <a:ea typeface="楷体_GB2312" pitchFamily="49" charset="-122"/>
              </a:rPr>
              <a:t>B</a:t>
            </a:r>
            <a:r>
              <a:rPr kumimoji="1" lang="zh-CN" altLang="en-US" sz="3200" dirty="0">
                <a:effectLst>
                  <a:outerShdw blurRad="38100" dist="38100" dir="2700000" algn="tl">
                    <a:srgbClr val="C0C0C0"/>
                  </a:outerShdw>
                </a:effectLst>
                <a:latin typeface="楷体_GB2312" pitchFamily="49" charset="-122"/>
                <a:ea typeface="楷体_GB2312" pitchFamily="49" charset="-122"/>
              </a:rPr>
              <a:t>、</a:t>
            </a:r>
            <a:r>
              <a:rPr kumimoji="1" lang="en-US" altLang="zh-CN" sz="3200" dirty="0">
                <a:effectLst>
                  <a:outerShdw blurRad="38100" dist="38100" dir="2700000" algn="tl">
                    <a:srgbClr val="C0C0C0"/>
                  </a:outerShdw>
                </a:effectLst>
                <a:latin typeface="楷体_GB2312" pitchFamily="49" charset="-122"/>
                <a:ea typeface="楷体_GB2312" pitchFamily="49" charset="-122"/>
              </a:rPr>
              <a:t>C</a:t>
            </a:r>
            <a:r>
              <a:rPr kumimoji="1" lang="zh-CN" altLang="en-US" sz="3200" dirty="0">
                <a:effectLst>
                  <a:outerShdw blurRad="38100" dist="38100" dir="2700000" algn="tl">
                    <a:srgbClr val="C0C0C0"/>
                  </a:outerShdw>
                </a:effectLst>
                <a:latin typeface="楷体_GB2312" pitchFamily="49" charset="-122"/>
                <a:ea typeface="楷体_GB2312" pitchFamily="49" charset="-122"/>
              </a:rPr>
              <a:t>），在</a:t>
            </a:r>
            <a:r>
              <a:rPr kumimoji="1" lang="en-US" altLang="zh-CN" sz="3200" dirty="0">
                <a:effectLst>
                  <a:outerShdw blurRad="38100" dist="38100" dir="2700000" algn="tl">
                    <a:srgbClr val="C0C0C0"/>
                  </a:outerShdw>
                </a:effectLst>
                <a:latin typeface="楷体_GB2312" pitchFamily="49" charset="-122"/>
                <a:ea typeface="楷体_GB2312" pitchFamily="49" charset="-122"/>
              </a:rPr>
              <a:t>A</a:t>
            </a:r>
            <a:r>
              <a:rPr kumimoji="1" lang="zh-CN" altLang="en-US" sz="3200" dirty="0">
                <a:effectLst>
                  <a:outerShdw blurRad="38100" dist="38100" dir="2700000" algn="tl">
                    <a:srgbClr val="C0C0C0"/>
                  </a:outerShdw>
                </a:effectLst>
                <a:latin typeface="楷体_GB2312" pitchFamily="49" charset="-122"/>
                <a:ea typeface="楷体_GB2312" pitchFamily="49" charset="-122"/>
              </a:rPr>
              <a:t>针上有</a:t>
            </a:r>
            <a:r>
              <a:rPr kumimoji="1" lang="en-US" altLang="zh-CN" sz="3200" dirty="0">
                <a:effectLst>
                  <a:outerShdw blurRad="38100" dist="38100" dir="2700000" algn="tl">
                    <a:srgbClr val="C0C0C0"/>
                  </a:outerShdw>
                </a:effectLst>
                <a:latin typeface="楷体_GB2312" pitchFamily="49" charset="-122"/>
                <a:ea typeface="楷体_GB2312" pitchFamily="49" charset="-122"/>
              </a:rPr>
              <a:t>n</a:t>
            </a:r>
            <a:r>
              <a:rPr kumimoji="1" lang="zh-CN" altLang="en-US" sz="3200" dirty="0">
                <a:effectLst>
                  <a:outerShdw blurRad="38100" dist="38100" dir="2700000" algn="tl">
                    <a:srgbClr val="C0C0C0"/>
                  </a:outerShdw>
                </a:effectLst>
                <a:latin typeface="楷体_GB2312" pitchFamily="49" charset="-122"/>
                <a:ea typeface="楷体_GB2312" pitchFamily="49" charset="-122"/>
              </a:rPr>
              <a:t>张大小均不相同的盘子，大的在下，小的在上。</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rPr>
              <a:t>要求：</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rPr>
              <a:t>按以下规则，把这</a:t>
            </a:r>
            <a:r>
              <a:rPr kumimoji="1" lang="en-US" altLang="zh-CN" sz="3200" dirty="0">
                <a:effectLst>
                  <a:outerShdw blurRad="38100" dist="38100" dir="2700000" algn="tl">
                    <a:srgbClr val="C0C0C0"/>
                  </a:outerShdw>
                </a:effectLst>
                <a:latin typeface="楷体_GB2312" pitchFamily="49" charset="-122"/>
                <a:ea typeface="楷体_GB2312" pitchFamily="49" charset="-122"/>
              </a:rPr>
              <a:t>n</a:t>
            </a:r>
            <a:r>
              <a:rPr kumimoji="1" lang="zh-CN" altLang="en-US" sz="3200" dirty="0">
                <a:effectLst>
                  <a:outerShdw blurRad="38100" dist="38100" dir="2700000" algn="tl">
                    <a:srgbClr val="C0C0C0"/>
                  </a:outerShdw>
                </a:effectLst>
                <a:latin typeface="楷体_GB2312" pitchFamily="49" charset="-122"/>
                <a:ea typeface="楷体_GB2312" pitchFamily="49" charset="-122"/>
              </a:rPr>
              <a:t>张盘子从</a:t>
            </a:r>
            <a:r>
              <a:rPr kumimoji="1" lang="en-US" altLang="zh-CN" sz="3200" dirty="0">
                <a:effectLst>
                  <a:outerShdw blurRad="38100" dist="38100" dir="2700000" algn="tl">
                    <a:srgbClr val="C0C0C0"/>
                  </a:outerShdw>
                </a:effectLst>
                <a:latin typeface="楷体_GB2312" pitchFamily="49" charset="-122"/>
                <a:ea typeface="楷体_GB2312" pitchFamily="49" charset="-122"/>
              </a:rPr>
              <a:t>A</a:t>
            </a:r>
            <a:r>
              <a:rPr kumimoji="1" lang="zh-CN" altLang="en-US" sz="3200" dirty="0">
                <a:effectLst>
                  <a:outerShdw blurRad="38100" dist="38100" dir="2700000" algn="tl">
                    <a:srgbClr val="C0C0C0"/>
                  </a:outerShdw>
                </a:effectLst>
                <a:latin typeface="楷体_GB2312" pitchFamily="49" charset="-122"/>
                <a:ea typeface="楷体_GB2312" pitchFamily="49" charset="-122"/>
              </a:rPr>
              <a:t>针搬到</a:t>
            </a:r>
            <a:r>
              <a:rPr kumimoji="1" lang="en-US" altLang="zh-CN" sz="3200" dirty="0">
                <a:effectLst>
                  <a:outerShdw blurRad="38100" dist="38100" dir="2700000" algn="tl">
                    <a:srgbClr val="C0C0C0"/>
                  </a:outerShdw>
                </a:effectLst>
                <a:latin typeface="楷体_GB2312" pitchFamily="49" charset="-122"/>
                <a:ea typeface="楷体_GB2312" pitchFamily="49" charset="-122"/>
              </a:rPr>
              <a:t>B</a:t>
            </a:r>
            <a:r>
              <a:rPr kumimoji="1" lang="zh-CN" altLang="en-US" sz="3200" dirty="0">
                <a:effectLst>
                  <a:outerShdw blurRad="38100" dist="38100" dir="2700000" algn="tl">
                    <a:srgbClr val="C0C0C0"/>
                  </a:outerShdw>
                </a:effectLst>
                <a:latin typeface="楷体_GB2312" pitchFamily="49" charset="-122"/>
                <a:ea typeface="楷体_GB2312" pitchFamily="49" charset="-122"/>
              </a:rPr>
              <a:t>针上：</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sym typeface="Wingdings" pitchFamily="2" charset="2"/>
              </a:rPr>
              <a:t> </a:t>
            </a:r>
            <a:r>
              <a:rPr kumimoji="1" lang="zh-CN" altLang="en-US" sz="3200" dirty="0">
                <a:effectLst>
                  <a:outerShdw blurRad="38100" dist="38100" dir="2700000" algn="tl">
                    <a:srgbClr val="C0C0C0"/>
                  </a:outerShdw>
                </a:effectLst>
                <a:latin typeface="楷体_GB2312" pitchFamily="49" charset="-122"/>
                <a:ea typeface="楷体_GB2312" pitchFamily="49" charset="-122"/>
              </a:rPr>
              <a:t>在搬动过程中可使用</a:t>
            </a:r>
            <a:r>
              <a:rPr kumimoji="1" lang="en-US" altLang="zh-CN" sz="3200" dirty="0">
                <a:effectLst>
                  <a:outerShdw blurRad="38100" dist="38100" dir="2700000" algn="tl">
                    <a:srgbClr val="C0C0C0"/>
                  </a:outerShdw>
                </a:effectLst>
                <a:latin typeface="楷体_GB2312" pitchFamily="49" charset="-122"/>
                <a:ea typeface="楷体_GB2312" pitchFamily="49" charset="-122"/>
              </a:rPr>
              <a:t>C</a:t>
            </a:r>
            <a:r>
              <a:rPr kumimoji="1" lang="zh-CN" altLang="en-US" sz="3200" dirty="0">
                <a:effectLst>
                  <a:outerShdw blurRad="38100" dist="38100" dir="2700000" algn="tl">
                    <a:srgbClr val="C0C0C0"/>
                  </a:outerShdw>
                </a:effectLst>
                <a:latin typeface="楷体_GB2312" pitchFamily="49" charset="-122"/>
                <a:ea typeface="楷体_GB2312" pitchFamily="49" charset="-122"/>
              </a:rPr>
              <a:t>针；</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sym typeface="Wingdings" pitchFamily="2" charset="2"/>
              </a:rPr>
              <a:t> </a:t>
            </a:r>
            <a:r>
              <a:rPr kumimoji="1" lang="zh-CN" altLang="en-US" sz="3200" dirty="0">
                <a:effectLst>
                  <a:outerShdw blurRad="38100" dist="38100" dir="2700000" algn="tl">
                    <a:srgbClr val="C0C0C0"/>
                  </a:outerShdw>
                </a:effectLst>
                <a:latin typeface="楷体_GB2312" pitchFamily="49" charset="-122"/>
                <a:ea typeface="楷体_GB2312" pitchFamily="49" charset="-122"/>
              </a:rPr>
              <a:t>每次只允许搬动一个盘子；</a:t>
            </a:r>
          </a:p>
          <a:p>
            <a:pPr algn="l" eaLnBrk="1" hangingPunct="1">
              <a:spcBef>
                <a:spcPct val="20000"/>
              </a:spcBef>
              <a:defRPr/>
            </a:pPr>
            <a:r>
              <a:rPr kumimoji="1" lang="zh-CN" altLang="en-US" sz="3200" dirty="0">
                <a:effectLst>
                  <a:outerShdw blurRad="38100" dist="38100" dir="2700000" algn="tl">
                    <a:srgbClr val="C0C0C0"/>
                  </a:outerShdw>
                </a:effectLst>
                <a:latin typeface="楷体_GB2312" pitchFamily="49" charset="-122"/>
                <a:ea typeface="楷体_GB2312" pitchFamily="49" charset="-122"/>
                <a:sym typeface="Wingdings" pitchFamily="2" charset="2"/>
              </a:rPr>
              <a:t> </a:t>
            </a:r>
            <a:r>
              <a:rPr kumimoji="1" lang="zh-CN" altLang="en-US" sz="3200" dirty="0">
                <a:effectLst>
                  <a:outerShdw blurRad="38100" dist="38100" dir="2700000" algn="tl">
                    <a:srgbClr val="C0C0C0"/>
                  </a:outerShdw>
                </a:effectLst>
                <a:latin typeface="楷体_GB2312" pitchFamily="49" charset="-122"/>
                <a:ea typeface="楷体_GB2312" pitchFamily="49" charset="-122"/>
              </a:rPr>
              <a:t>在搬动过程中，必须保证大盘子在下，小盘子在上。</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6451"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latin typeface="+mn-lt"/>
              </a:rPr>
              <a:t>（</a:t>
            </a:r>
            <a:r>
              <a:rPr lang="en-US" altLang="zh-CN" dirty="0">
                <a:latin typeface="+mn-lt"/>
              </a:rPr>
              <a:t>Hanoi</a:t>
            </a:r>
            <a:r>
              <a:rPr lang="zh-CN" altLang="en-US" dirty="0">
                <a:latin typeface="+mn-lt"/>
              </a:rPr>
              <a:t>）</a:t>
            </a:r>
            <a:r>
              <a:rPr lang="zh-CN" altLang="en-US" dirty="0">
                <a:latin typeface="黑体" pitchFamily="2" charset="-122"/>
              </a:rPr>
              <a:t>问题</a:t>
            </a:r>
            <a:endParaRPr lang="en-US" altLang="zh-CN" dirty="0">
              <a:latin typeface="黑体" pitchFamily="2" charset="-122"/>
            </a:endParaRPr>
          </a:p>
        </p:txBody>
      </p:sp>
      <p:sp>
        <p:nvSpPr>
          <p:cNvPr id="616452" name="Rectangle 3"/>
          <p:cNvSpPr>
            <a:spLocks noGrp="1" noChangeArrowheads="1"/>
          </p:cNvSpPr>
          <p:nvPr>
            <p:ph type="body" idx="4294967295"/>
          </p:nvPr>
        </p:nvSpPr>
        <p:spPr>
          <a:xfrm>
            <a:off x="1046163" y="1341438"/>
            <a:ext cx="7773987" cy="5183187"/>
          </a:xfrm>
        </p:spPr>
        <p:txBody>
          <a:bodyPr lIns="91440" tIns="45720" rIns="91440" bIns="45720"/>
          <a:lstStyle/>
          <a:p>
            <a:pPr>
              <a:buFont typeface="Monotype Sorts" charset="2"/>
              <a:buChar char=""/>
              <a:defRPr/>
            </a:pPr>
            <a:endParaRPr lang="zh-CN" altLang="en-US" dirty="0">
              <a:ea typeface="宋体" pitchFamily="2" charset="-122"/>
            </a:endParaRPr>
          </a:p>
          <a:p>
            <a:pPr lvl="1">
              <a:defRPr/>
            </a:pPr>
            <a:endParaRPr lang="zh-CN" altLang="en-US" dirty="0">
              <a:ea typeface="宋体" pitchFamily="2" charset="-122"/>
            </a:endParaRPr>
          </a:p>
          <a:p>
            <a:pPr lvl="1">
              <a:defRPr/>
            </a:pPr>
            <a:endParaRPr lang="zh-CN" altLang="en-US" dirty="0">
              <a:ea typeface="宋体" pitchFamily="2" charset="-122"/>
            </a:endParaRPr>
          </a:p>
          <a:p>
            <a:pPr lvl="1">
              <a:defRPr/>
            </a:pPr>
            <a:endParaRPr lang="zh-CN" altLang="en-US" dirty="0">
              <a:ea typeface="宋体" pitchFamily="2" charset="-122"/>
            </a:endParaRPr>
          </a:p>
          <a:p>
            <a:pPr lvl="1">
              <a:defRPr/>
            </a:pPr>
            <a:endParaRPr lang="zh-CN" altLang="en-US" dirty="0">
              <a:ea typeface="宋体" pitchFamily="2" charset="-122"/>
            </a:endParaRPr>
          </a:p>
          <a:p>
            <a:pPr lvl="1">
              <a:defRPr/>
            </a:pPr>
            <a:endParaRPr lang="en-US" altLang="zh-CN" dirty="0">
              <a:ea typeface="宋体" pitchFamily="2" charset="-122"/>
            </a:endParaRPr>
          </a:p>
          <a:p>
            <a:pPr lvl="1">
              <a:defRPr/>
            </a:pPr>
            <a:endParaRPr lang="en-US" altLang="zh-CN" dirty="0">
              <a:ea typeface="宋体" pitchFamily="2" charset="-122"/>
            </a:endParaRPr>
          </a:p>
          <a:p>
            <a:pPr lvl="1">
              <a:buFontTx/>
              <a:buNone/>
              <a:defRPr/>
            </a:pPr>
            <a:r>
              <a:rPr lang="en-US" altLang="zh-CN" dirty="0">
                <a:ea typeface="宋体" pitchFamily="2" charset="-122"/>
              </a:rPr>
              <a:t>    </a:t>
            </a:r>
          </a:p>
          <a:p>
            <a:pPr marL="850900" lvl="1" indent="-285750" algn="ctr">
              <a:lnSpc>
                <a:spcPct val="95000"/>
              </a:lnSpc>
              <a:buClr>
                <a:srgbClr val="FFCC66"/>
              </a:buClr>
              <a:buSzPct val="115000"/>
              <a:buNone/>
              <a:defRPr/>
            </a:pPr>
            <a:r>
              <a:rPr lang="en-US" altLang="zh-CN" sz="2800" b="1" kern="0" dirty="0">
                <a:solidFill>
                  <a:srgbClr val="CC00CC"/>
                </a:solidFill>
                <a:effectLst>
                  <a:outerShdw blurRad="38100" dist="38100" dir="2700000" algn="tl">
                    <a:srgbClr val="C0C0C0"/>
                  </a:outerShdw>
                </a:effectLst>
                <a:ea typeface="宋体" pitchFamily="2" charset="-122"/>
              </a:rPr>
              <a:t>A→B</a:t>
            </a:r>
            <a:r>
              <a:rPr lang="zh-CN" altLang="en-US" sz="2800" b="1" kern="0" dirty="0">
                <a:solidFill>
                  <a:srgbClr val="CC00CC"/>
                </a:solidFill>
                <a:effectLst>
                  <a:outerShdw blurRad="38100" dist="38100" dir="2700000" algn="tl">
                    <a:srgbClr val="C0C0C0"/>
                  </a:outerShdw>
                </a:effectLst>
                <a:ea typeface="宋体" pitchFamily="2" charset="-122"/>
              </a:rPr>
              <a:t>，</a:t>
            </a:r>
            <a:r>
              <a:rPr lang="en-US" altLang="zh-CN" sz="2800" b="1" kern="0" dirty="0">
                <a:solidFill>
                  <a:srgbClr val="CC00CC"/>
                </a:solidFill>
                <a:effectLst>
                  <a:outerShdw blurRad="38100" dist="38100" dir="2700000" algn="tl">
                    <a:srgbClr val="C0C0C0"/>
                  </a:outerShdw>
                </a:effectLst>
                <a:ea typeface="宋体" pitchFamily="2" charset="-122"/>
              </a:rPr>
              <a:t>A→C</a:t>
            </a:r>
            <a:r>
              <a:rPr lang="zh-CN" altLang="en-US" sz="2800" b="1" kern="0" dirty="0">
                <a:solidFill>
                  <a:srgbClr val="CC00CC"/>
                </a:solidFill>
                <a:effectLst>
                  <a:outerShdw blurRad="38100" dist="38100" dir="2700000" algn="tl">
                    <a:srgbClr val="C0C0C0"/>
                  </a:outerShdw>
                </a:effectLst>
                <a:ea typeface="宋体" pitchFamily="2" charset="-122"/>
              </a:rPr>
              <a:t>，</a:t>
            </a:r>
            <a:r>
              <a:rPr lang="en-US" altLang="zh-CN" sz="2800" b="1" kern="0" dirty="0">
                <a:solidFill>
                  <a:srgbClr val="CC00CC"/>
                </a:solidFill>
                <a:effectLst>
                  <a:outerShdw blurRad="38100" dist="38100" dir="2700000" algn="tl">
                    <a:srgbClr val="C0C0C0"/>
                  </a:outerShdw>
                </a:effectLst>
                <a:ea typeface="宋体" pitchFamily="2" charset="-122"/>
              </a:rPr>
              <a:t>B→C</a:t>
            </a:r>
            <a:r>
              <a:rPr lang="zh-CN" altLang="en-US" sz="2800" b="1" kern="0" dirty="0">
                <a:solidFill>
                  <a:srgbClr val="CC00CC"/>
                </a:solidFill>
                <a:effectLst>
                  <a:outerShdw blurRad="38100" dist="38100" dir="2700000" algn="tl">
                    <a:srgbClr val="C0C0C0"/>
                  </a:outerShdw>
                </a:effectLst>
                <a:ea typeface="宋体" pitchFamily="2" charset="-122"/>
              </a:rPr>
              <a:t>，</a:t>
            </a:r>
          </a:p>
          <a:p>
            <a:pPr marL="850900" lvl="1" indent="-285750" algn="ctr">
              <a:lnSpc>
                <a:spcPct val="95000"/>
              </a:lnSpc>
              <a:buClr>
                <a:srgbClr val="FFCC66"/>
              </a:buClr>
              <a:buSzPct val="115000"/>
              <a:buNone/>
              <a:defRPr/>
            </a:pPr>
            <a:r>
              <a:rPr lang="en-US" altLang="zh-CN" sz="2800" b="1" kern="0" dirty="0">
                <a:solidFill>
                  <a:srgbClr val="CC00CC"/>
                </a:solidFill>
                <a:effectLst>
                  <a:outerShdw blurRad="38100" dist="38100" dir="2700000" algn="tl">
                    <a:srgbClr val="C0C0C0"/>
                  </a:outerShdw>
                </a:effectLst>
                <a:ea typeface="宋体" pitchFamily="2" charset="-122"/>
              </a:rPr>
              <a:t>A→B</a:t>
            </a:r>
            <a:r>
              <a:rPr lang="zh-CN" altLang="en-US" sz="2800" b="1" kern="0" dirty="0">
                <a:solidFill>
                  <a:srgbClr val="CC00CC"/>
                </a:solidFill>
                <a:effectLst>
                  <a:outerShdw blurRad="38100" dist="38100" dir="2700000" algn="tl">
                    <a:srgbClr val="C0C0C0"/>
                  </a:outerShdw>
                </a:effectLst>
                <a:ea typeface="宋体" pitchFamily="2" charset="-122"/>
              </a:rPr>
              <a:t>，</a:t>
            </a:r>
            <a:r>
              <a:rPr lang="en-US" altLang="zh-CN" sz="2800" b="1" kern="0" dirty="0">
                <a:solidFill>
                  <a:srgbClr val="CC00CC"/>
                </a:solidFill>
                <a:effectLst>
                  <a:outerShdw blurRad="38100" dist="38100" dir="2700000" algn="tl">
                    <a:srgbClr val="C0C0C0"/>
                  </a:outerShdw>
                </a:effectLst>
                <a:ea typeface="宋体" pitchFamily="2" charset="-122"/>
              </a:rPr>
              <a:t>C→A</a:t>
            </a:r>
            <a:r>
              <a:rPr lang="zh-CN" altLang="en-US" sz="2800" b="1" kern="0" dirty="0">
                <a:solidFill>
                  <a:srgbClr val="CC00CC"/>
                </a:solidFill>
                <a:effectLst>
                  <a:outerShdw blurRad="38100" dist="38100" dir="2700000" algn="tl">
                    <a:srgbClr val="C0C0C0"/>
                  </a:outerShdw>
                </a:effectLst>
                <a:ea typeface="宋体" pitchFamily="2" charset="-122"/>
              </a:rPr>
              <a:t>，</a:t>
            </a:r>
            <a:r>
              <a:rPr lang="en-US" altLang="zh-CN" sz="2800" b="1" kern="0" dirty="0">
                <a:solidFill>
                  <a:srgbClr val="CC00CC"/>
                </a:solidFill>
                <a:effectLst>
                  <a:outerShdw blurRad="38100" dist="38100" dir="2700000" algn="tl">
                    <a:srgbClr val="C0C0C0"/>
                  </a:outerShdw>
                </a:effectLst>
                <a:ea typeface="宋体" pitchFamily="2" charset="-122"/>
              </a:rPr>
              <a:t>C→B</a:t>
            </a:r>
            <a:r>
              <a:rPr lang="zh-CN" altLang="en-US" sz="2800" b="1" kern="0" dirty="0">
                <a:solidFill>
                  <a:srgbClr val="CC00CC"/>
                </a:solidFill>
                <a:effectLst>
                  <a:outerShdw blurRad="38100" dist="38100" dir="2700000" algn="tl">
                    <a:srgbClr val="C0C0C0"/>
                  </a:outerShdw>
                </a:effectLst>
                <a:ea typeface="宋体" pitchFamily="2" charset="-122"/>
              </a:rPr>
              <a:t>，</a:t>
            </a:r>
            <a:r>
              <a:rPr lang="en-US" altLang="zh-CN" sz="2800" b="1" kern="0" dirty="0">
                <a:solidFill>
                  <a:srgbClr val="CC00CC"/>
                </a:solidFill>
                <a:effectLst>
                  <a:outerShdw blurRad="38100" dist="38100" dir="2700000" algn="tl">
                    <a:srgbClr val="C0C0C0"/>
                  </a:outerShdw>
                </a:effectLst>
                <a:ea typeface="宋体" pitchFamily="2" charset="-122"/>
              </a:rPr>
              <a:t>A→B</a:t>
            </a:r>
          </a:p>
        </p:txBody>
      </p:sp>
      <p:sp>
        <p:nvSpPr>
          <p:cNvPr id="36868" name="Rectangle 4"/>
          <p:cNvSpPr>
            <a:spLocks noChangeArrowheads="1"/>
          </p:cNvSpPr>
          <p:nvPr/>
        </p:nvSpPr>
        <p:spPr bwMode="auto">
          <a:xfrm>
            <a:off x="1620838" y="4005263"/>
            <a:ext cx="6119812" cy="14446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6869" name="Rectangle 5"/>
          <p:cNvSpPr>
            <a:spLocks noChangeArrowheads="1"/>
          </p:cNvSpPr>
          <p:nvPr/>
        </p:nvSpPr>
        <p:spPr bwMode="auto">
          <a:xfrm>
            <a:off x="255587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6870" name="Rectangle 6"/>
          <p:cNvSpPr>
            <a:spLocks noChangeArrowheads="1"/>
          </p:cNvSpPr>
          <p:nvPr/>
        </p:nvSpPr>
        <p:spPr bwMode="auto">
          <a:xfrm>
            <a:off x="4356100"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6871" name="Rectangle 7"/>
          <p:cNvSpPr>
            <a:spLocks noChangeArrowheads="1"/>
          </p:cNvSpPr>
          <p:nvPr/>
        </p:nvSpPr>
        <p:spPr bwMode="auto">
          <a:xfrm>
            <a:off x="637222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6872" name="Rectangle 8"/>
          <p:cNvSpPr>
            <a:spLocks noChangeArrowheads="1"/>
          </p:cNvSpPr>
          <p:nvPr/>
        </p:nvSpPr>
        <p:spPr bwMode="auto">
          <a:xfrm>
            <a:off x="1765300" y="3659188"/>
            <a:ext cx="1727200" cy="346075"/>
          </a:xfrm>
          <a:prstGeom prst="rect">
            <a:avLst/>
          </a:prstGeom>
          <a:solidFill>
            <a:srgbClr val="000080"/>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5962" name="Rectangle 10"/>
          <p:cNvSpPr>
            <a:spLocks noChangeArrowheads="1"/>
          </p:cNvSpPr>
          <p:nvPr/>
        </p:nvSpPr>
        <p:spPr bwMode="auto">
          <a:xfrm>
            <a:off x="2224088" y="2967038"/>
            <a:ext cx="792162" cy="346075"/>
          </a:xfrm>
          <a:prstGeom prst="rect">
            <a:avLst/>
          </a:prstGeom>
          <a:solidFill>
            <a:srgbClr val="99CC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5963" name="Text Box 11"/>
          <p:cNvSpPr txBox="1">
            <a:spLocks noChangeArrowheads="1"/>
          </p:cNvSpPr>
          <p:nvPr/>
        </p:nvSpPr>
        <p:spPr bwMode="auto">
          <a:xfrm>
            <a:off x="2124075"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A</a:t>
            </a:r>
          </a:p>
        </p:txBody>
      </p:sp>
      <p:sp>
        <p:nvSpPr>
          <p:cNvPr id="125964" name="Text Box 12"/>
          <p:cNvSpPr txBox="1">
            <a:spLocks noChangeArrowheads="1"/>
          </p:cNvSpPr>
          <p:nvPr/>
        </p:nvSpPr>
        <p:spPr bwMode="auto">
          <a:xfrm>
            <a:off x="3924300"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B</a:t>
            </a:r>
          </a:p>
        </p:txBody>
      </p:sp>
      <p:sp>
        <p:nvSpPr>
          <p:cNvPr id="125965" name="Text Box 13"/>
          <p:cNvSpPr txBox="1">
            <a:spLocks noChangeArrowheads="1"/>
          </p:cNvSpPr>
          <p:nvPr/>
        </p:nvSpPr>
        <p:spPr bwMode="auto">
          <a:xfrm>
            <a:off x="5983288"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C</a:t>
            </a:r>
          </a:p>
        </p:txBody>
      </p:sp>
      <p:sp>
        <p:nvSpPr>
          <p:cNvPr id="125966" name="Text Box 14"/>
          <p:cNvSpPr txBox="1">
            <a:spLocks noChangeArrowheads="1"/>
          </p:cNvSpPr>
          <p:nvPr/>
        </p:nvSpPr>
        <p:spPr bwMode="auto">
          <a:xfrm>
            <a:off x="684213" y="1557338"/>
            <a:ext cx="1150937"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b="1" i="1" dirty="0">
                <a:solidFill>
                  <a:srgbClr val="CC3300"/>
                </a:solidFill>
                <a:effectLst>
                  <a:outerShdw blurRad="38100" dist="38100" dir="2700000" algn="tl">
                    <a:srgbClr val="C0C0C0"/>
                  </a:outerShdw>
                </a:effectLst>
                <a:ea typeface="宋体" pitchFamily="2" charset="-122"/>
              </a:rPr>
              <a:t>n</a:t>
            </a:r>
            <a:r>
              <a:rPr lang="en-US" altLang="zh-CN" b="1" dirty="0">
                <a:solidFill>
                  <a:srgbClr val="CC3300"/>
                </a:solidFill>
                <a:effectLst>
                  <a:outerShdw blurRad="38100" dist="38100" dir="2700000" algn="tl">
                    <a:srgbClr val="C0C0C0"/>
                  </a:outerShdw>
                </a:effectLst>
                <a:ea typeface="宋体" pitchFamily="2" charset="-122"/>
              </a:rPr>
              <a:t>=3</a:t>
            </a:r>
            <a:endParaRPr lang="zh-CN" altLang="en-US" b="1" dirty="0">
              <a:solidFill>
                <a:srgbClr val="CC3300"/>
              </a:solidFill>
              <a:effectLst>
                <a:outerShdw blurRad="38100" dist="38100" dir="2700000" algn="tl">
                  <a:srgbClr val="C0C0C0"/>
                </a:outerShdw>
              </a:effectLst>
              <a:ea typeface="宋体" pitchFamily="2" charset="-122"/>
            </a:endParaRPr>
          </a:p>
        </p:txBody>
      </p:sp>
      <p:sp>
        <p:nvSpPr>
          <p:cNvPr id="125961" name="Rectangle 9"/>
          <p:cNvSpPr>
            <a:spLocks noChangeArrowheads="1"/>
          </p:cNvSpPr>
          <p:nvPr/>
        </p:nvSpPr>
        <p:spPr bwMode="auto">
          <a:xfrm>
            <a:off x="2038350" y="3313113"/>
            <a:ext cx="1150938" cy="346075"/>
          </a:xfrm>
          <a:prstGeom prst="rect">
            <a:avLst/>
          </a:prstGeom>
          <a:solidFill>
            <a:srgbClr val="0000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grpId="0" nodeType="clickEffect">
                                  <p:stCondLst>
                                    <p:cond delay="0"/>
                                  </p:stCondLst>
                                  <p:childTnLst>
                                    <p:animMotion origin="layout" path="M 1.66667E-6 1.7341E-6 L 0.19774 0.10081 " pathEditMode="relative" rAng="0" ptsTypes="AA">
                                      <p:cBhvr>
                                        <p:cTn id="6" dur="2000" fill="hold"/>
                                        <p:tgtEl>
                                          <p:spTgt spid="125962"/>
                                        </p:tgtEl>
                                        <p:attrNameLst>
                                          <p:attrName>ppt_x</p:attrName>
                                          <p:attrName>ppt_y</p:attrName>
                                        </p:attrNameLst>
                                      </p:cBhvr>
                                      <p:rCtr x="9900" y="5000"/>
                                    </p:animMotion>
                                  </p:childTnLst>
                                </p:cTn>
                              </p:par>
                            </p:childTnLst>
                          </p:cTn>
                        </p:par>
                      </p:childTnLst>
                    </p:cTn>
                  </p:par>
                  <p:par>
                    <p:cTn id="7" fill="hold">
                      <p:stCondLst>
                        <p:cond delay="indefinite"/>
                      </p:stCondLst>
                      <p:childTnLst>
                        <p:par>
                          <p:cTn id="8" fill="hold">
                            <p:stCondLst>
                              <p:cond delay="0"/>
                            </p:stCondLst>
                            <p:childTnLst>
                              <p:par>
                                <p:cTn id="9" presetID="49" presetClass="path" presetSubtype="0" accel="50000" decel="50000" fill="hold" grpId="0" nodeType="clickEffect">
                                  <p:stCondLst>
                                    <p:cond delay="0"/>
                                  </p:stCondLst>
                                  <p:childTnLst>
                                    <p:animMotion origin="layout" path="M -3.88889E-6 -0.00463 L 0.41893 0.05 " pathEditMode="relative" rAng="0" ptsTypes="AA">
                                      <p:cBhvr>
                                        <p:cTn id="10" dur="2000" fill="hold"/>
                                        <p:tgtEl>
                                          <p:spTgt spid="125961"/>
                                        </p:tgtEl>
                                        <p:attrNameLst>
                                          <p:attrName>ppt_x</p:attrName>
                                          <p:attrName>ppt_y</p:attrName>
                                        </p:attrNameLst>
                                      </p:cBhvr>
                                      <p:rCtr x="20900" y="27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62" grpId="0" animBg="1"/>
      <p:bldP spid="125961"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7475"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en-US" altLang="zh-CN" dirty="0">
                <a:latin typeface="黑体" pitchFamily="2" charset="-122"/>
              </a:rPr>
              <a:t>Hanoi</a:t>
            </a:r>
            <a:r>
              <a:rPr lang="zh-CN" altLang="en-US" dirty="0">
                <a:latin typeface="黑体" pitchFamily="2" charset="-122"/>
              </a:rPr>
              <a:t>）问题</a:t>
            </a:r>
            <a:endParaRPr lang="en-US" altLang="zh-CN" dirty="0">
              <a:latin typeface="黑体" pitchFamily="2" charset="-122"/>
            </a:endParaRPr>
          </a:p>
        </p:txBody>
      </p:sp>
      <p:sp>
        <p:nvSpPr>
          <p:cNvPr id="37891" name="Rectangle 4"/>
          <p:cNvSpPr>
            <a:spLocks noChangeArrowheads="1"/>
          </p:cNvSpPr>
          <p:nvPr/>
        </p:nvSpPr>
        <p:spPr bwMode="auto">
          <a:xfrm>
            <a:off x="1620838" y="4005263"/>
            <a:ext cx="6119812" cy="14446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7892" name="Rectangle 5"/>
          <p:cNvSpPr>
            <a:spLocks noChangeArrowheads="1"/>
          </p:cNvSpPr>
          <p:nvPr/>
        </p:nvSpPr>
        <p:spPr bwMode="auto">
          <a:xfrm>
            <a:off x="255587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7893" name="Rectangle 6"/>
          <p:cNvSpPr>
            <a:spLocks noChangeArrowheads="1"/>
          </p:cNvSpPr>
          <p:nvPr/>
        </p:nvSpPr>
        <p:spPr bwMode="auto">
          <a:xfrm>
            <a:off x="4356100"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7894" name="Rectangle 7"/>
          <p:cNvSpPr>
            <a:spLocks noChangeArrowheads="1"/>
          </p:cNvSpPr>
          <p:nvPr/>
        </p:nvSpPr>
        <p:spPr bwMode="auto">
          <a:xfrm>
            <a:off x="637222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7895" name="Rectangle 8"/>
          <p:cNvSpPr>
            <a:spLocks noChangeArrowheads="1"/>
          </p:cNvSpPr>
          <p:nvPr/>
        </p:nvSpPr>
        <p:spPr bwMode="auto">
          <a:xfrm>
            <a:off x="1765300" y="3659188"/>
            <a:ext cx="1727200" cy="346075"/>
          </a:xfrm>
          <a:prstGeom prst="rect">
            <a:avLst/>
          </a:prstGeom>
          <a:solidFill>
            <a:srgbClr val="000080"/>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7896" name="Rectangle 9"/>
          <p:cNvSpPr>
            <a:spLocks noChangeArrowheads="1"/>
          </p:cNvSpPr>
          <p:nvPr/>
        </p:nvSpPr>
        <p:spPr bwMode="auto">
          <a:xfrm>
            <a:off x="5873750" y="3659188"/>
            <a:ext cx="1150938" cy="346075"/>
          </a:xfrm>
          <a:prstGeom prst="rect">
            <a:avLst/>
          </a:prstGeom>
          <a:solidFill>
            <a:srgbClr val="0000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6986" name="Rectangle 10"/>
          <p:cNvSpPr>
            <a:spLocks noChangeArrowheads="1"/>
          </p:cNvSpPr>
          <p:nvPr/>
        </p:nvSpPr>
        <p:spPr bwMode="auto">
          <a:xfrm>
            <a:off x="4033838" y="3659188"/>
            <a:ext cx="792162" cy="346075"/>
          </a:xfrm>
          <a:prstGeom prst="rect">
            <a:avLst/>
          </a:prstGeom>
          <a:solidFill>
            <a:srgbClr val="99CC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6987" name="Text Box 11"/>
          <p:cNvSpPr txBox="1">
            <a:spLocks noChangeArrowheads="1"/>
          </p:cNvSpPr>
          <p:nvPr/>
        </p:nvSpPr>
        <p:spPr bwMode="auto">
          <a:xfrm>
            <a:off x="2124075"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A</a:t>
            </a:r>
          </a:p>
        </p:txBody>
      </p:sp>
      <p:sp>
        <p:nvSpPr>
          <p:cNvPr id="126988" name="Text Box 12"/>
          <p:cNvSpPr txBox="1">
            <a:spLocks noChangeArrowheads="1"/>
          </p:cNvSpPr>
          <p:nvPr/>
        </p:nvSpPr>
        <p:spPr bwMode="auto">
          <a:xfrm>
            <a:off x="3924300"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B</a:t>
            </a:r>
          </a:p>
        </p:txBody>
      </p:sp>
      <p:sp>
        <p:nvSpPr>
          <p:cNvPr id="126989" name="Text Box 13"/>
          <p:cNvSpPr txBox="1">
            <a:spLocks noChangeArrowheads="1"/>
          </p:cNvSpPr>
          <p:nvPr/>
        </p:nvSpPr>
        <p:spPr bwMode="auto">
          <a:xfrm>
            <a:off x="5983288"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C</a:t>
            </a:r>
          </a:p>
        </p:txBody>
      </p:sp>
      <p:sp>
        <p:nvSpPr>
          <p:cNvPr id="17" name="Rectangle 3"/>
          <p:cNvSpPr txBox="1">
            <a:spLocks noChangeArrowheads="1"/>
          </p:cNvSpPr>
          <p:nvPr/>
        </p:nvSpPr>
        <p:spPr bwMode="auto">
          <a:xfrm>
            <a:off x="1046163" y="1341438"/>
            <a:ext cx="7773987" cy="5183187"/>
          </a:xfrm>
          <a:prstGeom prst="rect">
            <a:avLst/>
          </a:prstGeom>
          <a:noFill/>
          <a:ln w="9525">
            <a:noFill/>
            <a:miter lim="800000"/>
            <a:headEnd/>
            <a:tailEnd/>
          </a:ln>
          <a:effectLst/>
        </p:spPr>
        <p:txBody>
          <a:bodyPr/>
          <a:lstStyle/>
          <a:p>
            <a:pPr marL="374650" indent="-374650" eaLnBrk="0" hangingPunct="0">
              <a:lnSpc>
                <a:spcPct val="95000"/>
              </a:lnSpc>
              <a:spcBef>
                <a:spcPct val="20000"/>
              </a:spcBef>
              <a:buClr>
                <a:srgbClr val="FFCC66"/>
              </a:buClr>
              <a:buSzPct val="80000"/>
              <a:buFont typeface="Monotype Sorts" charset="2"/>
              <a:buChar char=""/>
              <a:defRPr/>
            </a:pPr>
            <a:endParaRPr lang="zh-CN" altLang="en-US" sz="2800" b="1" kern="0" dirty="0">
              <a:solidFill>
                <a:srgbClr val="000066"/>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    </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A→C</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B→C</a:t>
            </a:r>
            <a:r>
              <a:rPr lang="zh-CN" altLang="en-US" b="1" kern="0" dirty="0">
                <a:solidFill>
                  <a:srgbClr val="CC00CC"/>
                </a:solidFill>
                <a:effectLst>
                  <a:outerShdw blurRad="38100" dist="38100" dir="2700000" algn="tl">
                    <a:srgbClr val="C0C0C0"/>
                  </a:outerShdw>
                </a:effectLst>
                <a:latin typeface="+mn-lt"/>
                <a:ea typeface="宋体" pitchFamily="2" charset="-122"/>
              </a:rPr>
              <a:t>，</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C→A</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A→B</a:t>
            </a:r>
          </a:p>
        </p:txBody>
      </p:sp>
      <p:sp>
        <p:nvSpPr>
          <p:cNvPr id="16" name="Text Box 14"/>
          <p:cNvSpPr txBox="1">
            <a:spLocks noChangeArrowheads="1"/>
          </p:cNvSpPr>
          <p:nvPr/>
        </p:nvSpPr>
        <p:spPr bwMode="auto">
          <a:xfrm>
            <a:off x="684213" y="1557338"/>
            <a:ext cx="1150937"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b="1" i="1" dirty="0">
                <a:solidFill>
                  <a:srgbClr val="CC3300"/>
                </a:solidFill>
                <a:effectLst>
                  <a:outerShdw blurRad="38100" dist="38100" dir="2700000" algn="tl">
                    <a:srgbClr val="C0C0C0"/>
                  </a:outerShdw>
                </a:effectLst>
                <a:ea typeface="宋体" pitchFamily="2" charset="-122"/>
              </a:rPr>
              <a:t>n</a:t>
            </a:r>
            <a:r>
              <a:rPr lang="en-US" altLang="zh-CN" b="1" dirty="0">
                <a:solidFill>
                  <a:srgbClr val="CC3300"/>
                </a:solidFill>
                <a:effectLst>
                  <a:outerShdw blurRad="38100" dist="38100" dir="2700000" algn="tl">
                    <a:srgbClr val="C0C0C0"/>
                  </a:outerShdw>
                </a:effectLst>
                <a:ea typeface="宋体" pitchFamily="2" charset="-122"/>
              </a:rPr>
              <a:t>=3</a:t>
            </a:r>
            <a:endParaRPr lang="zh-CN" altLang="en-US" b="1" dirty="0">
              <a:solidFill>
                <a:srgbClr val="CC3300"/>
              </a:solidFill>
              <a:effectLst>
                <a:outerShdw blurRad="38100" dist="38100" dir="2700000" algn="tl">
                  <a:srgbClr val="C0C0C0"/>
                </a:outerShdw>
              </a:effectLs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5E-6 -0.00463 L 0.22032 -0.05093 " pathEditMode="relative" rAng="0" ptsTypes="AA">
                                      <p:cBhvr>
                                        <p:cTn id="6" dur="2000" fill="hold"/>
                                        <p:tgtEl>
                                          <p:spTgt spid="126986"/>
                                        </p:tgtEl>
                                        <p:attrNameLst>
                                          <p:attrName>ppt_x</p:attrName>
                                          <p:attrName>ppt_y</p:attrName>
                                        </p:attrNameLst>
                                      </p:cBhvr>
                                      <p:rCtr x="11000" y="-2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6"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8499"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38915" name="Rectangle 4"/>
          <p:cNvSpPr>
            <a:spLocks noChangeArrowheads="1"/>
          </p:cNvSpPr>
          <p:nvPr/>
        </p:nvSpPr>
        <p:spPr bwMode="auto">
          <a:xfrm>
            <a:off x="1620838" y="4005263"/>
            <a:ext cx="6119812" cy="14446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8916" name="Rectangle 5"/>
          <p:cNvSpPr>
            <a:spLocks noChangeArrowheads="1"/>
          </p:cNvSpPr>
          <p:nvPr/>
        </p:nvSpPr>
        <p:spPr bwMode="auto">
          <a:xfrm>
            <a:off x="255587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8917" name="Rectangle 6"/>
          <p:cNvSpPr>
            <a:spLocks noChangeArrowheads="1"/>
          </p:cNvSpPr>
          <p:nvPr/>
        </p:nvSpPr>
        <p:spPr bwMode="auto">
          <a:xfrm>
            <a:off x="4356100"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8918" name="Rectangle 7"/>
          <p:cNvSpPr>
            <a:spLocks noChangeArrowheads="1"/>
          </p:cNvSpPr>
          <p:nvPr/>
        </p:nvSpPr>
        <p:spPr bwMode="auto">
          <a:xfrm>
            <a:off x="637222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8919" name="Rectangle 8"/>
          <p:cNvSpPr>
            <a:spLocks noChangeArrowheads="1"/>
          </p:cNvSpPr>
          <p:nvPr/>
        </p:nvSpPr>
        <p:spPr bwMode="auto">
          <a:xfrm>
            <a:off x="5881688" y="3659188"/>
            <a:ext cx="1150937" cy="346075"/>
          </a:xfrm>
          <a:prstGeom prst="rect">
            <a:avLst/>
          </a:prstGeom>
          <a:solidFill>
            <a:srgbClr val="0000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8920" name="Rectangle 9"/>
          <p:cNvSpPr>
            <a:spLocks noChangeArrowheads="1"/>
          </p:cNvSpPr>
          <p:nvPr/>
        </p:nvSpPr>
        <p:spPr bwMode="auto">
          <a:xfrm>
            <a:off x="6053138" y="3313113"/>
            <a:ext cx="792162" cy="346075"/>
          </a:xfrm>
          <a:prstGeom prst="rect">
            <a:avLst/>
          </a:prstGeom>
          <a:solidFill>
            <a:srgbClr val="99CC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8010" name="Text Box 10"/>
          <p:cNvSpPr txBox="1">
            <a:spLocks noChangeArrowheads="1"/>
          </p:cNvSpPr>
          <p:nvPr/>
        </p:nvSpPr>
        <p:spPr bwMode="auto">
          <a:xfrm>
            <a:off x="2124075"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A</a:t>
            </a:r>
          </a:p>
        </p:txBody>
      </p:sp>
      <p:sp>
        <p:nvSpPr>
          <p:cNvPr id="128011" name="Text Box 11"/>
          <p:cNvSpPr txBox="1">
            <a:spLocks noChangeArrowheads="1"/>
          </p:cNvSpPr>
          <p:nvPr/>
        </p:nvSpPr>
        <p:spPr bwMode="auto">
          <a:xfrm>
            <a:off x="3924300"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B</a:t>
            </a:r>
          </a:p>
        </p:txBody>
      </p:sp>
      <p:sp>
        <p:nvSpPr>
          <p:cNvPr id="128012" name="Text Box 12"/>
          <p:cNvSpPr txBox="1">
            <a:spLocks noChangeArrowheads="1"/>
          </p:cNvSpPr>
          <p:nvPr/>
        </p:nvSpPr>
        <p:spPr bwMode="auto">
          <a:xfrm>
            <a:off x="5983288"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C</a:t>
            </a:r>
          </a:p>
        </p:txBody>
      </p:sp>
      <p:sp>
        <p:nvSpPr>
          <p:cNvPr id="128013" name="Rectangle 13"/>
          <p:cNvSpPr>
            <a:spLocks noChangeArrowheads="1"/>
          </p:cNvSpPr>
          <p:nvPr/>
        </p:nvSpPr>
        <p:spPr bwMode="auto">
          <a:xfrm>
            <a:off x="1763713" y="3659188"/>
            <a:ext cx="1727200" cy="346075"/>
          </a:xfrm>
          <a:prstGeom prst="rect">
            <a:avLst/>
          </a:prstGeom>
          <a:solidFill>
            <a:srgbClr val="000080"/>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6" name="Rectangle 3"/>
          <p:cNvSpPr txBox="1">
            <a:spLocks noChangeArrowheads="1"/>
          </p:cNvSpPr>
          <p:nvPr/>
        </p:nvSpPr>
        <p:spPr bwMode="auto">
          <a:xfrm>
            <a:off x="1046163" y="1341438"/>
            <a:ext cx="7486277" cy="5183905"/>
          </a:xfrm>
          <a:prstGeom prst="rect">
            <a:avLst/>
          </a:prstGeom>
          <a:noFill/>
          <a:ln w="9525">
            <a:noFill/>
            <a:miter lim="800000"/>
            <a:headEnd/>
            <a:tailEnd/>
          </a:ln>
          <a:effectLst/>
        </p:spPr>
        <p:txBody>
          <a:bodyPr/>
          <a:lstStyle/>
          <a:p>
            <a:pPr marL="374650" indent="-374650" eaLnBrk="0" hangingPunct="0">
              <a:lnSpc>
                <a:spcPct val="95000"/>
              </a:lnSpc>
              <a:spcBef>
                <a:spcPct val="20000"/>
              </a:spcBef>
              <a:buClr>
                <a:srgbClr val="FFCC66"/>
              </a:buClr>
              <a:buSzPct val="80000"/>
              <a:buFont typeface="Monotype Sorts" charset="2"/>
              <a:buChar char=""/>
              <a:defRPr/>
            </a:pPr>
            <a:endParaRPr lang="zh-CN" altLang="en-US" sz="2800" b="1" kern="0" dirty="0">
              <a:solidFill>
                <a:srgbClr val="000066"/>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    </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A→C</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B→C</a:t>
            </a:r>
            <a:r>
              <a:rPr lang="zh-CN" altLang="en-US" b="1" kern="0" dirty="0">
                <a:solidFill>
                  <a:srgbClr val="CC00CC"/>
                </a:solidFill>
                <a:effectLst>
                  <a:outerShdw blurRad="38100" dist="38100" dir="2700000" algn="tl">
                    <a:srgbClr val="C0C0C0"/>
                  </a:outerShdw>
                </a:effectLst>
                <a:latin typeface="+mn-lt"/>
                <a:ea typeface="宋体" pitchFamily="2" charset="-122"/>
              </a:rPr>
              <a:t>，</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C→A</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A→B</a:t>
            </a:r>
          </a:p>
        </p:txBody>
      </p:sp>
      <p:sp>
        <p:nvSpPr>
          <p:cNvPr id="17" name="Text Box 14"/>
          <p:cNvSpPr txBox="1">
            <a:spLocks noChangeArrowheads="1"/>
          </p:cNvSpPr>
          <p:nvPr/>
        </p:nvSpPr>
        <p:spPr bwMode="auto">
          <a:xfrm>
            <a:off x="684213" y="1557338"/>
            <a:ext cx="1150937"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b="1" i="1" dirty="0">
                <a:solidFill>
                  <a:srgbClr val="CC3300"/>
                </a:solidFill>
                <a:effectLst>
                  <a:outerShdw blurRad="38100" dist="38100" dir="2700000" algn="tl">
                    <a:srgbClr val="C0C0C0"/>
                  </a:outerShdw>
                </a:effectLst>
                <a:ea typeface="宋体" pitchFamily="2" charset="-122"/>
              </a:rPr>
              <a:t>n</a:t>
            </a:r>
            <a:r>
              <a:rPr lang="en-US" altLang="zh-CN" b="1" dirty="0">
                <a:solidFill>
                  <a:srgbClr val="CC3300"/>
                </a:solidFill>
                <a:effectLst>
                  <a:outerShdw blurRad="38100" dist="38100" dir="2700000" algn="tl">
                    <a:srgbClr val="C0C0C0"/>
                  </a:outerShdw>
                </a:effectLst>
                <a:ea typeface="宋体" pitchFamily="2" charset="-122"/>
              </a:rPr>
              <a:t>=3</a:t>
            </a:r>
            <a:endParaRPr lang="zh-CN" altLang="en-US" b="1" dirty="0">
              <a:solidFill>
                <a:srgbClr val="CC3300"/>
              </a:solidFill>
              <a:effectLst>
                <a:outerShdw blurRad="38100" dist="38100" dir="2700000" algn="tl">
                  <a:srgbClr val="C0C0C0"/>
                </a:outerShdw>
              </a:effectLs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61111E-6 -0.00463 L 0.19687 -0.00047 " pathEditMode="relative" rAng="0" ptsTypes="AA">
                                      <p:cBhvr>
                                        <p:cTn id="6" dur="2000" fill="hold"/>
                                        <p:tgtEl>
                                          <p:spTgt spid="128013"/>
                                        </p:tgtEl>
                                        <p:attrNameLst>
                                          <p:attrName>ppt_x</p:attrName>
                                          <p:attrName>ppt_y</p:attrName>
                                        </p:attrNameLst>
                                      </p:cBhvr>
                                      <p:rCtr x="9800" y="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13"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9523"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39939" name="Rectangle 4"/>
          <p:cNvSpPr>
            <a:spLocks noChangeArrowheads="1"/>
          </p:cNvSpPr>
          <p:nvPr/>
        </p:nvSpPr>
        <p:spPr bwMode="auto">
          <a:xfrm>
            <a:off x="1620838" y="4005263"/>
            <a:ext cx="6119812" cy="14446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9940" name="Rectangle 5"/>
          <p:cNvSpPr>
            <a:spLocks noChangeArrowheads="1"/>
          </p:cNvSpPr>
          <p:nvPr/>
        </p:nvSpPr>
        <p:spPr bwMode="auto">
          <a:xfrm>
            <a:off x="255587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9941" name="Rectangle 6"/>
          <p:cNvSpPr>
            <a:spLocks noChangeArrowheads="1"/>
          </p:cNvSpPr>
          <p:nvPr/>
        </p:nvSpPr>
        <p:spPr bwMode="auto">
          <a:xfrm>
            <a:off x="4356100"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39942" name="Rectangle 7"/>
          <p:cNvSpPr>
            <a:spLocks noChangeArrowheads="1"/>
          </p:cNvSpPr>
          <p:nvPr/>
        </p:nvSpPr>
        <p:spPr bwMode="auto">
          <a:xfrm>
            <a:off x="637222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9032" name="Text Box 8"/>
          <p:cNvSpPr txBox="1">
            <a:spLocks noChangeArrowheads="1"/>
          </p:cNvSpPr>
          <p:nvPr/>
        </p:nvSpPr>
        <p:spPr bwMode="auto">
          <a:xfrm>
            <a:off x="2124075"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A</a:t>
            </a:r>
          </a:p>
        </p:txBody>
      </p:sp>
      <p:sp>
        <p:nvSpPr>
          <p:cNvPr id="129033" name="Text Box 9"/>
          <p:cNvSpPr txBox="1">
            <a:spLocks noChangeArrowheads="1"/>
          </p:cNvSpPr>
          <p:nvPr/>
        </p:nvSpPr>
        <p:spPr bwMode="auto">
          <a:xfrm>
            <a:off x="3924300"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B</a:t>
            </a:r>
          </a:p>
        </p:txBody>
      </p:sp>
      <p:sp>
        <p:nvSpPr>
          <p:cNvPr id="129034" name="Text Box 10"/>
          <p:cNvSpPr txBox="1">
            <a:spLocks noChangeArrowheads="1"/>
          </p:cNvSpPr>
          <p:nvPr/>
        </p:nvSpPr>
        <p:spPr bwMode="auto">
          <a:xfrm>
            <a:off x="5983288"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C</a:t>
            </a:r>
          </a:p>
        </p:txBody>
      </p:sp>
      <p:sp>
        <p:nvSpPr>
          <p:cNvPr id="39946" name="Rectangle 11"/>
          <p:cNvSpPr>
            <a:spLocks noChangeArrowheads="1"/>
          </p:cNvSpPr>
          <p:nvPr/>
        </p:nvSpPr>
        <p:spPr bwMode="auto">
          <a:xfrm>
            <a:off x="3571875" y="3659188"/>
            <a:ext cx="1727200" cy="346075"/>
          </a:xfrm>
          <a:prstGeom prst="rect">
            <a:avLst/>
          </a:prstGeom>
          <a:solidFill>
            <a:srgbClr val="000080"/>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9036" name="Rectangle 12"/>
          <p:cNvSpPr>
            <a:spLocks noChangeArrowheads="1"/>
          </p:cNvSpPr>
          <p:nvPr/>
        </p:nvSpPr>
        <p:spPr bwMode="auto">
          <a:xfrm>
            <a:off x="5873750" y="3659188"/>
            <a:ext cx="1150938" cy="346075"/>
          </a:xfrm>
          <a:prstGeom prst="rect">
            <a:avLst/>
          </a:prstGeom>
          <a:solidFill>
            <a:srgbClr val="0000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29037" name="Rectangle 13"/>
          <p:cNvSpPr>
            <a:spLocks noChangeArrowheads="1"/>
          </p:cNvSpPr>
          <p:nvPr/>
        </p:nvSpPr>
        <p:spPr bwMode="auto">
          <a:xfrm>
            <a:off x="6045200" y="3313113"/>
            <a:ext cx="792163" cy="346075"/>
          </a:xfrm>
          <a:prstGeom prst="rect">
            <a:avLst/>
          </a:prstGeom>
          <a:solidFill>
            <a:srgbClr val="99CC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6" name="Rectangle 3"/>
          <p:cNvSpPr txBox="1">
            <a:spLocks noChangeArrowheads="1"/>
          </p:cNvSpPr>
          <p:nvPr/>
        </p:nvSpPr>
        <p:spPr bwMode="auto">
          <a:xfrm>
            <a:off x="1046163" y="1341438"/>
            <a:ext cx="7558285" cy="5516561"/>
          </a:xfrm>
          <a:prstGeom prst="rect">
            <a:avLst/>
          </a:prstGeom>
          <a:noFill/>
          <a:ln w="9525">
            <a:noFill/>
            <a:miter lim="800000"/>
            <a:headEnd/>
            <a:tailEnd/>
          </a:ln>
          <a:effectLst/>
        </p:spPr>
        <p:txBody>
          <a:bodyPr/>
          <a:lstStyle/>
          <a:p>
            <a:pPr marL="374650" indent="-374650" eaLnBrk="0" hangingPunct="0">
              <a:lnSpc>
                <a:spcPct val="95000"/>
              </a:lnSpc>
              <a:spcBef>
                <a:spcPct val="20000"/>
              </a:spcBef>
              <a:buClr>
                <a:srgbClr val="FFCC66"/>
              </a:buClr>
              <a:buSzPct val="80000"/>
              <a:buFont typeface="Monotype Sorts" charset="2"/>
              <a:buChar char=""/>
              <a:defRPr/>
            </a:pPr>
            <a:endParaRPr lang="zh-CN" altLang="en-US" sz="2800" b="1" kern="0" dirty="0">
              <a:solidFill>
                <a:srgbClr val="000066"/>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    </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A→C</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B→C</a:t>
            </a:r>
            <a:r>
              <a:rPr lang="zh-CN" altLang="en-US" b="1" kern="0" dirty="0">
                <a:solidFill>
                  <a:srgbClr val="CC00CC"/>
                </a:solidFill>
                <a:effectLst>
                  <a:outerShdw blurRad="38100" dist="38100" dir="2700000" algn="tl">
                    <a:srgbClr val="C0C0C0"/>
                  </a:outerShdw>
                </a:effectLst>
                <a:latin typeface="+mn-lt"/>
                <a:ea typeface="宋体" pitchFamily="2" charset="-122"/>
              </a:rPr>
              <a:t>，</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C→A</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A→B</a:t>
            </a:r>
          </a:p>
        </p:txBody>
      </p:sp>
      <p:sp>
        <p:nvSpPr>
          <p:cNvPr id="17" name="Text Box 14"/>
          <p:cNvSpPr txBox="1">
            <a:spLocks noChangeArrowheads="1"/>
          </p:cNvSpPr>
          <p:nvPr/>
        </p:nvSpPr>
        <p:spPr bwMode="auto">
          <a:xfrm>
            <a:off x="684213" y="1557338"/>
            <a:ext cx="1150937"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b="1" i="1" dirty="0">
                <a:solidFill>
                  <a:srgbClr val="CC3300"/>
                </a:solidFill>
                <a:effectLst>
                  <a:outerShdw blurRad="38100" dist="38100" dir="2700000" algn="tl">
                    <a:srgbClr val="C0C0C0"/>
                  </a:outerShdw>
                </a:effectLst>
                <a:ea typeface="宋体" pitchFamily="2" charset="-122"/>
              </a:rPr>
              <a:t>n</a:t>
            </a:r>
            <a:r>
              <a:rPr lang="en-US" altLang="zh-CN" b="1" dirty="0">
                <a:solidFill>
                  <a:srgbClr val="CC3300"/>
                </a:solidFill>
                <a:effectLst>
                  <a:outerShdw blurRad="38100" dist="38100" dir="2700000" algn="tl">
                    <a:srgbClr val="C0C0C0"/>
                  </a:outerShdw>
                </a:effectLst>
                <a:ea typeface="宋体" pitchFamily="2" charset="-122"/>
              </a:rPr>
              <a:t>=3</a:t>
            </a:r>
            <a:endParaRPr lang="zh-CN" altLang="en-US" b="1" dirty="0">
              <a:solidFill>
                <a:srgbClr val="CC3300"/>
              </a:solidFill>
              <a:effectLst>
                <a:outerShdw blurRad="38100" dist="38100" dir="2700000" algn="tl">
                  <a:srgbClr val="C0C0C0"/>
                </a:outerShdw>
              </a:effectLs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2.77778E-7 0.00695 L -0.41701 0.05116 " pathEditMode="relative" rAng="0" ptsTypes="AA">
                                      <p:cBhvr>
                                        <p:cTn id="6" dur="2000" fill="hold"/>
                                        <p:tgtEl>
                                          <p:spTgt spid="129037"/>
                                        </p:tgtEl>
                                        <p:attrNameLst>
                                          <p:attrName>ppt_x</p:attrName>
                                          <p:attrName>ppt_y</p:attrName>
                                        </p:attrNameLst>
                                      </p:cBhvr>
                                      <p:rCtr x="-20900" y="2200"/>
                                    </p:animMotion>
                                  </p:childTnLst>
                                </p:cTn>
                              </p:par>
                            </p:childTnLst>
                          </p:cTn>
                        </p:par>
                      </p:childTnLst>
                    </p:cTn>
                  </p:par>
                  <p:par>
                    <p:cTn id="7" fill="hold">
                      <p:stCondLst>
                        <p:cond delay="indefinite"/>
                      </p:stCondLst>
                      <p:childTnLst>
                        <p:par>
                          <p:cTn id="8" fill="hold">
                            <p:stCondLst>
                              <p:cond delay="0"/>
                            </p:stCondLst>
                            <p:childTnLst>
                              <p:par>
                                <p:cTn id="9" presetID="56" presetClass="path" presetSubtype="0" accel="50000" decel="50000" fill="hold" grpId="0" nodeType="clickEffect">
                                  <p:stCondLst>
                                    <p:cond delay="0"/>
                                  </p:stCondLst>
                                  <p:childTnLst>
                                    <p:animMotion origin="layout" path="M 1.66667E-6 -0.00232 L -0.22101 -0.0507 " pathEditMode="relative" rAng="0" ptsTypes="AA">
                                      <p:cBhvr>
                                        <p:cTn id="10" dur="2000" fill="hold"/>
                                        <p:tgtEl>
                                          <p:spTgt spid="129036"/>
                                        </p:tgtEl>
                                        <p:attrNameLst>
                                          <p:attrName>ppt_x</p:attrName>
                                          <p:attrName>ppt_y</p:attrName>
                                        </p:attrNameLst>
                                      </p:cBhvr>
                                      <p:rCtr x="-11100" y="-2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6" grpId="0" animBg="1"/>
      <p:bldP spid="129037"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0547"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40964" name="Rectangle 4"/>
          <p:cNvSpPr>
            <a:spLocks noChangeArrowheads="1"/>
          </p:cNvSpPr>
          <p:nvPr/>
        </p:nvSpPr>
        <p:spPr bwMode="auto">
          <a:xfrm>
            <a:off x="1620838" y="4005263"/>
            <a:ext cx="6119812" cy="144462"/>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40965" name="Rectangle 5"/>
          <p:cNvSpPr>
            <a:spLocks noChangeArrowheads="1"/>
          </p:cNvSpPr>
          <p:nvPr/>
        </p:nvSpPr>
        <p:spPr bwMode="auto">
          <a:xfrm>
            <a:off x="255587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40966" name="Rectangle 6"/>
          <p:cNvSpPr>
            <a:spLocks noChangeArrowheads="1"/>
          </p:cNvSpPr>
          <p:nvPr/>
        </p:nvSpPr>
        <p:spPr bwMode="auto">
          <a:xfrm>
            <a:off x="4356100"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40967" name="Rectangle 7"/>
          <p:cNvSpPr>
            <a:spLocks noChangeArrowheads="1"/>
          </p:cNvSpPr>
          <p:nvPr/>
        </p:nvSpPr>
        <p:spPr bwMode="auto">
          <a:xfrm>
            <a:off x="6372225" y="2205038"/>
            <a:ext cx="144463" cy="1800225"/>
          </a:xfrm>
          <a:prstGeom prst="rect">
            <a:avLst/>
          </a:prstGeom>
          <a:solidFill>
            <a:srgbClr val="993366"/>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130058" name="Text Box 10"/>
          <p:cNvSpPr txBox="1">
            <a:spLocks noChangeArrowheads="1"/>
          </p:cNvSpPr>
          <p:nvPr/>
        </p:nvSpPr>
        <p:spPr bwMode="auto">
          <a:xfrm>
            <a:off x="2124075"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A</a:t>
            </a:r>
          </a:p>
        </p:txBody>
      </p:sp>
      <p:sp>
        <p:nvSpPr>
          <p:cNvPr id="130059" name="Text Box 11"/>
          <p:cNvSpPr txBox="1">
            <a:spLocks noChangeArrowheads="1"/>
          </p:cNvSpPr>
          <p:nvPr/>
        </p:nvSpPr>
        <p:spPr bwMode="auto">
          <a:xfrm>
            <a:off x="3924300"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B</a:t>
            </a:r>
          </a:p>
        </p:txBody>
      </p:sp>
      <p:sp>
        <p:nvSpPr>
          <p:cNvPr id="130060" name="Text Box 12"/>
          <p:cNvSpPr txBox="1">
            <a:spLocks noChangeArrowheads="1"/>
          </p:cNvSpPr>
          <p:nvPr/>
        </p:nvSpPr>
        <p:spPr bwMode="auto">
          <a:xfrm>
            <a:off x="5983288" y="2205038"/>
            <a:ext cx="431800"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a:effectLst>
                  <a:outerShdw blurRad="38100" dist="38100" dir="2700000" algn="tl">
                    <a:srgbClr val="C0C0C0"/>
                  </a:outerShdw>
                </a:effectLst>
                <a:ea typeface="宋体" pitchFamily="2" charset="-122"/>
              </a:rPr>
              <a:t>C</a:t>
            </a:r>
          </a:p>
        </p:txBody>
      </p:sp>
      <p:sp>
        <p:nvSpPr>
          <p:cNvPr id="40971" name="Rectangle 13"/>
          <p:cNvSpPr>
            <a:spLocks noChangeArrowheads="1"/>
          </p:cNvSpPr>
          <p:nvPr/>
        </p:nvSpPr>
        <p:spPr bwMode="auto">
          <a:xfrm>
            <a:off x="3571875" y="3659188"/>
            <a:ext cx="1727200" cy="346075"/>
          </a:xfrm>
          <a:prstGeom prst="rect">
            <a:avLst/>
          </a:prstGeom>
          <a:solidFill>
            <a:srgbClr val="000080"/>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40978" name="AutoShape 6"/>
          <p:cNvSpPr>
            <a:spLocks noChangeArrowheads="1"/>
          </p:cNvSpPr>
          <p:nvPr/>
        </p:nvSpPr>
        <p:spPr bwMode="auto">
          <a:xfrm>
            <a:off x="6805613" y="1500188"/>
            <a:ext cx="1755775" cy="895350"/>
          </a:xfrm>
          <a:prstGeom prst="wedgeEllipseCallout">
            <a:avLst>
              <a:gd name="adj1" fmla="val 25213"/>
              <a:gd name="adj2" fmla="val 58546"/>
            </a:avLst>
          </a:prstGeom>
          <a:solidFill>
            <a:srgbClr val="FFFF99"/>
          </a:solidFill>
          <a:ln w="9525">
            <a:solidFill>
              <a:schemeClr val="tx1"/>
            </a:solidFill>
            <a:miter lim="800000"/>
            <a:headEnd/>
            <a:tailEnd/>
          </a:ln>
        </p:spPr>
        <p:txBody>
          <a:bodyPr/>
          <a:lstStyle/>
          <a:p>
            <a:pPr algn="ctr"/>
            <a:r>
              <a:rPr lang="en-US" altLang="zh-CN" sz="2000" b="1" i="1">
                <a:solidFill>
                  <a:srgbClr val="A01304"/>
                </a:solidFill>
                <a:ea typeface="宋体" pitchFamily="2" charset="-122"/>
                <a:cs typeface="Times New Roman" pitchFamily="18" charset="0"/>
              </a:rPr>
              <a:t>n</a:t>
            </a:r>
            <a:r>
              <a:rPr lang="zh-CN" altLang="en-US" sz="2000" b="1">
                <a:solidFill>
                  <a:srgbClr val="A01304"/>
                </a:solidFill>
                <a:ea typeface="宋体" pitchFamily="2" charset="-122"/>
                <a:cs typeface="Times New Roman" pitchFamily="18" charset="0"/>
              </a:rPr>
              <a:t>更大些</a:t>
            </a:r>
          </a:p>
          <a:p>
            <a:pPr algn="ctr"/>
            <a:r>
              <a:rPr lang="zh-CN" altLang="en-US" sz="2000" b="1">
                <a:solidFill>
                  <a:srgbClr val="A01304"/>
                </a:solidFill>
                <a:ea typeface="宋体" pitchFamily="2" charset="-122"/>
                <a:cs typeface="Times New Roman" pitchFamily="18" charset="0"/>
              </a:rPr>
              <a:t>怎么办？</a:t>
            </a:r>
            <a:endParaRPr lang="en-US" altLang="zh-CN" sz="2000" b="1">
              <a:solidFill>
                <a:srgbClr val="A01304"/>
              </a:solidFill>
              <a:ea typeface="宋体" pitchFamily="2" charset="-122"/>
              <a:cs typeface="Times New Roman" pitchFamily="18" charset="0"/>
            </a:endParaRPr>
          </a:p>
        </p:txBody>
      </p:sp>
      <p:sp>
        <p:nvSpPr>
          <p:cNvPr id="40973" name="Rectangle 12"/>
          <p:cNvSpPr>
            <a:spLocks noChangeArrowheads="1"/>
          </p:cNvSpPr>
          <p:nvPr/>
        </p:nvSpPr>
        <p:spPr bwMode="auto">
          <a:xfrm>
            <a:off x="3857625" y="3313113"/>
            <a:ext cx="1150938" cy="346075"/>
          </a:xfrm>
          <a:prstGeom prst="rect">
            <a:avLst/>
          </a:prstGeom>
          <a:solidFill>
            <a:srgbClr val="0000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20" name="Rectangle 13"/>
          <p:cNvSpPr>
            <a:spLocks noChangeArrowheads="1"/>
          </p:cNvSpPr>
          <p:nvPr/>
        </p:nvSpPr>
        <p:spPr bwMode="auto">
          <a:xfrm>
            <a:off x="2214563" y="3663950"/>
            <a:ext cx="792162" cy="346075"/>
          </a:xfrm>
          <a:prstGeom prst="rect">
            <a:avLst/>
          </a:prstGeom>
          <a:solidFill>
            <a:srgbClr val="99CCFF"/>
          </a:solidFill>
          <a:ln w="12700">
            <a:solidFill>
              <a:schemeClr val="tx1"/>
            </a:solidFill>
            <a:miter lim="800000"/>
            <a:headEnd type="none" w="sm" len="sm"/>
            <a:tailEnd type="none" w="sm" len="sm"/>
          </a:ln>
        </p:spPr>
        <p:txBody>
          <a:bodyPr wrap="none" anchor="ctr"/>
          <a:lstStyle/>
          <a:p>
            <a:endParaRPr lang="zh-CN" altLang="en-US" sz="3600" b="1">
              <a:latin typeface="Arial" pitchFamily="34" charset="0"/>
              <a:ea typeface="宋体" pitchFamily="2" charset="-122"/>
            </a:endParaRPr>
          </a:p>
        </p:txBody>
      </p:sp>
      <p:sp>
        <p:nvSpPr>
          <p:cNvPr id="21" name="Rectangle 3"/>
          <p:cNvSpPr txBox="1">
            <a:spLocks noChangeArrowheads="1"/>
          </p:cNvSpPr>
          <p:nvPr/>
        </p:nvSpPr>
        <p:spPr bwMode="auto">
          <a:xfrm>
            <a:off x="1046163" y="1341438"/>
            <a:ext cx="7773987" cy="5183187"/>
          </a:xfrm>
          <a:prstGeom prst="rect">
            <a:avLst/>
          </a:prstGeom>
          <a:noFill/>
          <a:ln w="9525">
            <a:noFill/>
            <a:miter lim="800000"/>
            <a:headEnd/>
            <a:tailEnd/>
          </a:ln>
          <a:effectLst/>
        </p:spPr>
        <p:txBody>
          <a:bodyPr/>
          <a:lstStyle/>
          <a:p>
            <a:pPr marL="374650" indent="-374650" eaLnBrk="0" hangingPunct="0">
              <a:lnSpc>
                <a:spcPct val="95000"/>
              </a:lnSpc>
              <a:spcBef>
                <a:spcPct val="20000"/>
              </a:spcBef>
              <a:buClr>
                <a:srgbClr val="FFCC66"/>
              </a:buClr>
              <a:buSzPct val="80000"/>
              <a:buFont typeface="Monotype Sorts" charset="2"/>
              <a:buChar char=""/>
              <a:defRPr/>
            </a:pPr>
            <a:endParaRPr lang="zh-CN" altLang="en-US" sz="2800" b="1" kern="0" dirty="0">
              <a:solidFill>
                <a:srgbClr val="000066"/>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zh-CN" altLang="en-US"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buFontTx/>
              <a:buChar char="–"/>
              <a:defRPr/>
            </a:pPr>
            <a:endParaRPr lang="en-US" altLang="zh-CN" b="1" kern="0" dirty="0">
              <a:solidFill>
                <a:srgbClr val="CC00CC"/>
              </a:solidFill>
              <a:effectLst>
                <a:outerShdw blurRad="38100" dist="38100" dir="2700000" algn="tl">
                  <a:srgbClr val="C0C0C0"/>
                </a:outerShdw>
              </a:effectLst>
              <a:latin typeface="+mn-lt"/>
              <a:ea typeface="宋体" pitchFamily="2" charset="-122"/>
            </a:endParaRP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    </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A→C</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B→C</a:t>
            </a:r>
            <a:r>
              <a:rPr lang="zh-CN" altLang="en-US" b="1" kern="0" dirty="0">
                <a:solidFill>
                  <a:srgbClr val="CC00CC"/>
                </a:solidFill>
                <a:effectLst>
                  <a:outerShdw blurRad="38100" dist="38100" dir="2700000" algn="tl">
                    <a:srgbClr val="C0C0C0"/>
                  </a:outerShdw>
                </a:effectLst>
                <a:latin typeface="+mn-lt"/>
                <a:ea typeface="宋体" pitchFamily="2" charset="-122"/>
              </a:rPr>
              <a:t>，</a:t>
            </a:r>
          </a:p>
          <a:p>
            <a:pPr marL="850900" lvl="1" indent="-285750" eaLnBrk="0" hangingPunct="0">
              <a:lnSpc>
                <a:spcPct val="95000"/>
              </a:lnSpc>
              <a:spcBef>
                <a:spcPct val="20000"/>
              </a:spcBef>
              <a:buClr>
                <a:srgbClr val="FFCC66"/>
              </a:buClr>
              <a:buSzPct val="115000"/>
              <a:defRPr/>
            </a:pPr>
            <a:r>
              <a:rPr lang="en-US" altLang="zh-CN" b="1" kern="0" dirty="0">
                <a:solidFill>
                  <a:srgbClr val="CC00CC"/>
                </a:solidFill>
                <a:effectLst>
                  <a:outerShdw blurRad="38100" dist="38100" dir="2700000" algn="tl">
                    <a:srgbClr val="C0C0C0"/>
                  </a:outerShdw>
                </a:effectLst>
                <a:latin typeface="+mn-lt"/>
                <a:ea typeface="宋体" pitchFamily="2" charset="-122"/>
              </a:rPr>
              <a:t>A→B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C→A</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C→B</a:t>
            </a:r>
            <a:r>
              <a:rPr lang="zh-CN" altLang="en-US" b="1" kern="0" dirty="0">
                <a:solidFill>
                  <a:srgbClr val="CC00CC"/>
                </a:solidFill>
                <a:effectLst>
                  <a:outerShdw blurRad="38100" dist="38100" dir="2700000" algn="tl">
                    <a:srgbClr val="C0C0C0"/>
                  </a:outerShdw>
                </a:effectLst>
                <a:latin typeface="+mn-lt"/>
                <a:ea typeface="宋体" pitchFamily="2" charset="-122"/>
              </a:rPr>
              <a:t>，</a:t>
            </a:r>
            <a:r>
              <a:rPr lang="en-US" altLang="zh-CN" b="1" kern="0" dirty="0">
                <a:solidFill>
                  <a:srgbClr val="CC00CC"/>
                </a:solidFill>
                <a:effectLst>
                  <a:outerShdw blurRad="38100" dist="38100" dir="2700000" algn="tl">
                    <a:srgbClr val="C0C0C0"/>
                  </a:outerShdw>
                </a:effectLst>
                <a:latin typeface="+mn-lt"/>
                <a:ea typeface="宋体" pitchFamily="2" charset="-122"/>
              </a:rPr>
              <a:t>A→B</a:t>
            </a:r>
          </a:p>
        </p:txBody>
      </p:sp>
      <p:pic>
        <p:nvPicPr>
          <p:cNvPr id="23" name="Picture 11" descr="C:\Users\Sunner\AppData\Local\Microsoft\Windows\Temporary Internet Files\Content.IE5\150OR56M\MC900434411[1].wmf"/>
          <p:cNvPicPr>
            <a:picLocks noChangeAspect="1" noChangeArrowheads="1"/>
          </p:cNvPicPr>
          <p:nvPr>
            <p:custDataLst>
              <p:tags r:id="rId1"/>
            </p:custDataLst>
          </p:nvPr>
        </p:nvPicPr>
        <p:blipFill>
          <a:blip r:embed="rId3" cstate="print"/>
          <a:srcRect/>
          <a:stretch>
            <a:fillRect/>
          </a:stretch>
        </p:blipFill>
        <p:spPr bwMode="auto">
          <a:xfrm>
            <a:off x="7715250" y="2571750"/>
            <a:ext cx="1214438" cy="1366838"/>
          </a:xfrm>
          <a:prstGeom prst="rect">
            <a:avLst/>
          </a:prstGeom>
          <a:noFill/>
          <a:ln w="9525">
            <a:noFill/>
            <a:miter lim="800000"/>
            <a:headEnd/>
            <a:tailEnd/>
          </a:ln>
        </p:spPr>
      </p:pic>
      <p:sp>
        <p:nvSpPr>
          <p:cNvPr id="24" name="Text Box 14"/>
          <p:cNvSpPr txBox="1">
            <a:spLocks noChangeArrowheads="1"/>
          </p:cNvSpPr>
          <p:nvPr/>
        </p:nvSpPr>
        <p:spPr bwMode="auto">
          <a:xfrm>
            <a:off x="684213" y="1557338"/>
            <a:ext cx="1150937"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en-US" altLang="zh-CN" b="1" i="1" dirty="0">
                <a:solidFill>
                  <a:srgbClr val="CC3300"/>
                </a:solidFill>
                <a:effectLst>
                  <a:outerShdw blurRad="38100" dist="38100" dir="2700000" algn="tl">
                    <a:srgbClr val="C0C0C0"/>
                  </a:outerShdw>
                </a:effectLst>
                <a:ea typeface="宋体" pitchFamily="2" charset="-122"/>
              </a:rPr>
              <a:t>n</a:t>
            </a:r>
            <a:r>
              <a:rPr lang="en-US" altLang="zh-CN" b="1" dirty="0">
                <a:solidFill>
                  <a:srgbClr val="CC3300"/>
                </a:solidFill>
                <a:effectLst>
                  <a:outerShdw blurRad="38100" dist="38100" dir="2700000" algn="tl">
                    <a:srgbClr val="C0C0C0"/>
                  </a:outerShdw>
                </a:effectLst>
                <a:ea typeface="宋体" pitchFamily="2" charset="-122"/>
              </a:rPr>
              <a:t>=3</a:t>
            </a:r>
            <a:endParaRPr lang="zh-CN" altLang="en-US" b="1" dirty="0">
              <a:solidFill>
                <a:srgbClr val="CC3300"/>
              </a:solidFill>
              <a:effectLst>
                <a:outerShdw blurRad="38100" dist="38100" dir="2700000" algn="tl">
                  <a:srgbClr val="C0C0C0"/>
                </a:outerShdw>
              </a:effectLs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0" nodeType="clickEffect">
                                  <p:stCondLst>
                                    <p:cond delay="0"/>
                                  </p:stCondLst>
                                  <p:childTnLst>
                                    <p:animMotion origin="layout" path="M -2.77778E-6 0.00232 L 0.19705 -0.10139 " pathEditMode="relative" rAng="0" ptsTypes="AA">
                                      <p:cBhvr>
                                        <p:cTn id="6" dur="2000" fill="hold"/>
                                        <p:tgtEl>
                                          <p:spTgt spid="20"/>
                                        </p:tgtEl>
                                        <p:attrNameLst>
                                          <p:attrName>ppt_x</p:attrName>
                                          <p:attrName>ppt_y</p:attrName>
                                        </p:attrNameLst>
                                      </p:cBhvr>
                                      <p:rCtr x="9800" y="-5200"/>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0978"/>
                                        </p:tgtEl>
                                        <p:attrNameLst>
                                          <p:attrName>style.visibility</p:attrName>
                                        </p:attrNameLst>
                                      </p:cBhvr>
                                      <p:to>
                                        <p:strVal val="visible"/>
                                      </p:to>
                                    </p:set>
                                    <p:anim calcmode="lin" valueType="num">
                                      <p:cBhvr additive="base">
                                        <p:cTn id="15" dur="500" fill="hold"/>
                                        <p:tgtEl>
                                          <p:spTgt spid="40978"/>
                                        </p:tgtEl>
                                        <p:attrNameLst>
                                          <p:attrName>ppt_x</p:attrName>
                                        </p:attrNameLst>
                                      </p:cBhvr>
                                      <p:tavLst>
                                        <p:tav tm="0">
                                          <p:val>
                                            <p:strVal val="1+#ppt_w/2"/>
                                          </p:val>
                                        </p:tav>
                                        <p:tav tm="100000">
                                          <p:val>
                                            <p:strVal val="#ppt_x"/>
                                          </p:val>
                                        </p:tav>
                                      </p:tavLst>
                                    </p:anim>
                                    <p:anim calcmode="lin" valueType="num">
                                      <p:cBhvr additive="base">
                                        <p:cTn id="16" dur="500" fill="hold"/>
                                        <p:tgtEl>
                                          <p:spTgt spid="409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8" grpId="0" animBg="1"/>
      <p:bldP spid="2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8" name="Rectangle 3"/>
          <p:cNvSpPr>
            <a:spLocks noGrp="1" noChangeArrowheads="1"/>
          </p:cNvSpPr>
          <p:nvPr>
            <p:ph type="body" idx="4294967295"/>
          </p:nvPr>
        </p:nvSpPr>
        <p:spPr>
          <a:xfrm>
            <a:off x="539750" y="1697038"/>
            <a:ext cx="7989888" cy="4611687"/>
          </a:xfrm>
        </p:spPr>
        <p:txBody>
          <a:bodyPr lIns="91440" tIns="45720" rIns="91440" bIns="45720"/>
          <a:lstStyle/>
          <a:p>
            <a:pPr>
              <a:buFont typeface="Monotype Sorts" charset="2"/>
              <a:buNone/>
              <a:defRPr/>
            </a:pPr>
            <a:endParaRPr lang="zh-CN" altLang="en-US" sz="3200" dirty="0">
              <a:solidFill>
                <a:srgbClr val="00007F"/>
              </a:solidFill>
              <a:latin typeface="华文仿宋" pitchFamily="2" charset="-122"/>
              <a:ea typeface="华文仿宋" pitchFamily="2" charset="-122"/>
            </a:endParaRPr>
          </a:p>
          <a:p>
            <a:pPr lvl="1">
              <a:lnSpc>
                <a:spcPct val="120000"/>
              </a:lnSpc>
              <a:defRPr/>
            </a:pPr>
            <a:r>
              <a:rPr kumimoji="1" lang="zh-CN" altLang="en-US" sz="3200" b="1" dirty="0">
                <a:effectLst>
                  <a:outerShdw blurRad="38100" dist="38100" dir="2700000" algn="tl">
                    <a:srgbClr val="C0C0C0"/>
                  </a:outerShdw>
                </a:effectLst>
                <a:latin typeface="楷体_GB2312" pitchFamily="49" charset="-122"/>
                <a:ea typeface="楷体_GB2312" pitchFamily="49" charset="-122"/>
              </a:rPr>
              <a:t>理解递归的概念</a:t>
            </a:r>
          </a:p>
          <a:p>
            <a:pPr lvl="1">
              <a:lnSpc>
                <a:spcPct val="120000"/>
              </a:lnSpc>
              <a:defRPr/>
            </a:pPr>
            <a:r>
              <a:rPr kumimoji="1" lang="zh-CN" altLang="en-US" sz="3200" b="1" dirty="0">
                <a:effectLst>
                  <a:outerShdw blurRad="38100" dist="38100" dir="2700000" algn="tl">
                    <a:srgbClr val="C0C0C0"/>
                  </a:outerShdw>
                </a:effectLst>
                <a:latin typeface="楷体_GB2312" pitchFamily="49" charset="-122"/>
                <a:ea typeface="楷体_GB2312" pitchFamily="49" charset="-122"/>
              </a:rPr>
              <a:t>当</a:t>
            </a:r>
            <a:r>
              <a:rPr kumimoji="1" lang="en-US" altLang="zh-CN" sz="3200" b="1" dirty="0">
                <a:effectLst>
                  <a:outerShdw blurRad="38100" dist="38100" dir="2700000" algn="tl">
                    <a:srgbClr val="C0C0C0"/>
                  </a:outerShdw>
                </a:effectLst>
                <a:latin typeface="楷体_GB2312" pitchFamily="49" charset="-122"/>
                <a:ea typeface="楷体_GB2312" pitchFamily="49" charset="-122"/>
              </a:rPr>
              <a:t>n=64</a:t>
            </a:r>
            <a:r>
              <a:rPr kumimoji="1" lang="zh-CN" altLang="en-US" sz="3200" b="1" dirty="0">
                <a:effectLst>
                  <a:outerShdw blurRad="38100" dist="38100" dir="2700000" algn="tl">
                    <a:srgbClr val="C0C0C0"/>
                  </a:outerShdw>
                </a:effectLst>
                <a:latin typeface="楷体_GB2312" pitchFamily="49" charset="-122"/>
                <a:ea typeface="楷体_GB2312" pitchFamily="49" charset="-122"/>
              </a:rPr>
              <a:t>时，所需移动的次数为</a:t>
            </a:r>
            <a:r>
              <a:rPr kumimoji="1" lang="en-US" altLang="zh-CN" sz="3200" b="1" dirty="0">
                <a:effectLst>
                  <a:outerShdw blurRad="38100" dist="38100" dir="2700000" algn="tl">
                    <a:srgbClr val="C0C0C0"/>
                  </a:outerShdw>
                </a:effectLst>
                <a:latin typeface="楷体_GB2312" pitchFamily="49" charset="-122"/>
                <a:ea typeface="楷体_GB2312" pitchFamily="49" charset="-122"/>
              </a:rPr>
              <a:t>18446744073709551615</a:t>
            </a:r>
            <a:r>
              <a:rPr kumimoji="1" lang="zh-CN" altLang="en-US" sz="3200" b="1" dirty="0">
                <a:effectLst>
                  <a:outerShdw blurRad="38100" dist="38100" dir="2700000" algn="tl">
                    <a:srgbClr val="C0C0C0"/>
                  </a:outerShdw>
                </a:effectLst>
                <a:latin typeface="楷体_GB2312" pitchFamily="49" charset="-122"/>
                <a:ea typeface="楷体_GB2312" pitchFamily="49" charset="-122"/>
              </a:rPr>
              <a:t>，即</a:t>
            </a:r>
            <a:r>
              <a:rPr kumimoji="1" lang="en-US" altLang="zh-CN" sz="3200" b="1" dirty="0">
                <a:effectLst>
                  <a:outerShdw blurRad="38100" dist="38100" dir="2700000" algn="tl">
                    <a:srgbClr val="C0C0C0"/>
                  </a:outerShdw>
                </a:effectLst>
                <a:latin typeface="楷体_GB2312" pitchFamily="49" charset="-122"/>
                <a:ea typeface="楷体_GB2312" pitchFamily="49" charset="-122"/>
              </a:rPr>
              <a:t>1844</a:t>
            </a:r>
            <a:r>
              <a:rPr kumimoji="1" lang="zh-CN" altLang="en-US" sz="3200" b="1" dirty="0">
                <a:effectLst>
                  <a:outerShdw blurRad="38100" dist="38100" dir="2700000" algn="tl">
                    <a:srgbClr val="C0C0C0"/>
                  </a:outerShdw>
                </a:effectLst>
                <a:latin typeface="楷体_GB2312" pitchFamily="49" charset="-122"/>
                <a:ea typeface="楷体_GB2312" pitchFamily="49" charset="-122"/>
              </a:rPr>
              <a:t>亿亿次</a:t>
            </a:r>
          </a:p>
          <a:p>
            <a:pPr lvl="1">
              <a:lnSpc>
                <a:spcPct val="120000"/>
              </a:lnSpc>
              <a:defRPr/>
            </a:pPr>
            <a:r>
              <a:rPr kumimoji="1" lang="zh-CN" altLang="en-US" sz="3200" b="1" dirty="0">
                <a:effectLst>
                  <a:outerShdw blurRad="38100" dist="38100" dir="2700000" algn="tl">
                    <a:srgbClr val="C0C0C0"/>
                  </a:outerShdw>
                </a:effectLst>
                <a:latin typeface="楷体_GB2312" pitchFamily="49" charset="-122"/>
                <a:ea typeface="楷体_GB2312" pitchFamily="49" charset="-122"/>
              </a:rPr>
              <a:t>若按每次耗时</a:t>
            </a:r>
            <a:r>
              <a:rPr kumimoji="1" lang="en-US" altLang="zh-CN" sz="3200" b="1" dirty="0">
                <a:effectLst>
                  <a:outerShdw blurRad="38100" dist="38100" dir="2700000" algn="tl">
                    <a:srgbClr val="C0C0C0"/>
                  </a:outerShdw>
                </a:effectLst>
                <a:latin typeface="楷体_GB2312" pitchFamily="49" charset="-122"/>
                <a:ea typeface="楷体_GB2312" pitchFamily="49" charset="-122"/>
              </a:rPr>
              <a:t>1</a:t>
            </a:r>
            <a:r>
              <a:rPr kumimoji="1" lang="zh-CN" altLang="en-US" sz="3200" b="1" dirty="0">
                <a:effectLst>
                  <a:outerShdw blurRad="38100" dist="38100" dir="2700000" algn="tl">
                    <a:srgbClr val="C0C0C0"/>
                  </a:outerShdw>
                </a:effectLst>
                <a:latin typeface="楷体_GB2312" pitchFamily="49" charset="-122"/>
                <a:ea typeface="楷体_GB2312" pitchFamily="49" charset="-122"/>
              </a:rPr>
              <a:t>微秒计算，则完成</a:t>
            </a:r>
            <a:r>
              <a:rPr kumimoji="1" lang="en-US" altLang="zh-CN" sz="3200" b="1" dirty="0">
                <a:effectLst>
                  <a:outerShdw blurRad="38100" dist="38100" dir="2700000" algn="tl">
                    <a:srgbClr val="C0C0C0"/>
                  </a:outerShdw>
                </a:effectLst>
                <a:latin typeface="楷体_GB2312" pitchFamily="49" charset="-122"/>
                <a:ea typeface="楷体_GB2312" pitchFamily="49" charset="-122"/>
              </a:rPr>
              <a:t>64</a:t>
            </a:r>
            <a:r>
              <a:rPr kumimoji="1" lang="zh-CN" altLang="en-US" sz="3200" b="1" dirty="0">
                <a:effectLst>
                  <a:outerShdw blurRad="38100" dist="38100" dir="2700000" algn="tl">
                    <a:srgbClr val="C0C0C0"/>
                  </a:outerShdw>
                </a:effectLst>
                <a:latin typeface="楷体_GB2312" pitchFamily="49" charset="-122"/>
                <a:ea typeface="楷体_GB2312" pitchFamily="49" charset="-122"/>
              </a:rPr>
              <a:t>个圆盘的移动将需要</a:t>
            </a:r>
            <a:r>
              <a:rPr kumimoji="1" lang="en-US" altLang="zh-CN" sz="3200" b="1" dirty="0">
                <a:effectLst>
                  <a:outerShdw blurRad="38100" dist="38100" dir="2700000" algn="tl">
                    <a:srgbClr val="C0C0C0"/>
                  </a:outerShdw>
                </a:effectLst>
                <a:latin typeface="楷体_GB2312" pitchFamily="49" charset="-122"/>
                <a:ea typeface="楷体_GB2312" pitchFamily="49" charset="-122"/>
              </a:rPr>
              <a:t>60</a:t>
            </a:r>
            <a:r>
              <a:rPr kumimoji="1" lang="zh-CN" altLang="en-US" sz="3200" b="1" dirty="0">
                <a:effectLst>
                  <a:outerShdw blurRad="38100" dist="38100" dir="2700000" algn="tl">
                    <a:srgbClr val="C0C0C0"/>
                  </a:outerShdw>
                </a:effectLst>
                <a:latin typeface="楷体_GB2312" pitchFamily="49" charset="-122"/>
                <a:ea typeface="楷体_GB2312" pitchFamily="49" charset="-122"/>
              </a:rPr>
              <a:t>万年</a:t>
            </a:r>
          </a:p>
          <a:p>
            <a:pPr lvl="1">
              <a:lnSpc>
                <a:spcPct val="120000"/>
              </a:lnSpc>
              <a:defRPr/>
            </a:pPr>
            <a:endParaRPr lang="en-US" altLang="zh-CN" sz="2800" dirty="0">
              <a:solidFill>
                <a:schemeClr val="hlink"/>
              </a:solidFill>
              <a:latin typeface="楷体_GB2312" pitchFamily="49" charset="-122"/>
            </a:endParaRPr>
          </a:p>
        </p:txBody>
      </p:sp>
      <p:pic>
        <p:nvPicPr>
          <p:cNvPr id="35844" name="Picture 2"/>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804248" y="980728"/>
            <a:ext cx="1905000" cy="1781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615428">
                                            <p:txEl>
                                              <p:pRg st="2" end="2"/>
                                            </p:txEl>
                                          </p:spTgt>
                                        </p:tgtEl>
                                        <p:attrNameLst>
                                          <p:attrName>style.visibility</p:attrName>
                                        </p:attrNameLst>
                                      </p:cBhvr>
                                      <p:to>
                                        <p:strVal val="visible"/>
                                      </p:to>
                                    </p:set>
                                    <p:anim calcmode="lin" valueType="num">
                                      <p:cBhvr>
                                        <p:cTn id="7" dur="500" fill="hold"/>
                                        <p:tgtEl>
                                          <p:spTgt spid="615428">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615428">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615428">
                                            <p:txEl>
                                              <p:pRg st="2" end="2"/>
                                            </p:txEl>
                                          </p:spTgt>
                                        </p:tgtEl>
                                      </p:cBhvr>
                                    </p:animEffect>
                                  </p:childTnLst>
                                </p:cTn>
                              </p:par>
                              <p:par>
                                <p:cTn id="10" presetID="53" presetClass="entr" presetSubtype="0" fill="hold" nodeType="withEffect">
                                  <p:stCondLst>
                                    <p:cond delay="0"/>
                                  </p:stCondLst>
                                  <p:childTnLst>
                                    <p:set>
                                      <p:cBhvr>
                                        <p:cTn id="11" dur="1" fill="hold">
                                          <p:stCondLst>
                                            <p:cond delay="0"/>
                                          </p:stCondLst>
                                        </p:cTn>
                                        <p:tgtEl>
                                          <p:spTgt spid="615428">
                                            <p:txEl>
                                              <p:pRg st="3" end="3"/>
                                            </p:txEl>
                                          </p:spTgt>
                                        </p:tgtEl>
                                        <p:attrNameLst>
                                          <p:attrName>style.visibility</p:attrName>
                                        </p:attrNameLst>
                                      </p:cBhvr>
                                      <p:to>
                                        <p:strVal val="visible"/>
                                      </p:to>
                                    </p:set>
                                    <p:anim calcmode="lin" valueType="num">
                                      <p:cBhvr>
                                        <p:cTn id="12" dur="500" fill="hold"/>
                                        <p:tgtEl>
                                          <p:spTgt spid="615428">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615428">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615428">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nodeType="clickEffect">
                                  <p:stCondLst>
                                    <p:cond delay="0"/>
                                  </p:stCondLst>
                                  <p:childTnLst>
                                    <p:set>
                                      <p:cBhvr>
                                        <p:cTn id="18" dur="1" fill="hold">
                                          <p:stCondLst>
                                            <p:cond delay="0"/>
                                          </p:stCondLst>
                                        </p:cTn>
                                        <p:tgtEl>
                                          <p:spTgt spid="615428">
                                            <p:txEl>
                                              <p:pRg st="1" end="1"/>
                                            </p:txEl>
                                          </p:spTgt>
                                        </p:tgtEl>
                                        <p:attrNameLst>
                                          <p:attrName>style.visibility</p:attrName>
                                        </p:attrNameLst>
                                      </p:cBhvr>
                                      <p:to>
                                        <p:strVal val="visible"/>
                                      </p:to>
                                    </p:set>
                                    <p:anim calcmode="lin" valueType="num">
                                      <p:cBhvr>
                                        <p:cTn id="19" dur="500" fill="hold"/>
                                        <p:tgtEl>
                                          <p:spTgt spid="615428">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615428">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6154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5"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622596" name="Rectangle 3"/>
          <p:cNvSpPr>
            <a:spLocks noGrp="1" noChangeArrowheads="1"/>
          </p:cNvSpPr>
          <p:nvPr>
            <p:ph type="body" idx="4294967295"/>
          </p:nvPr>
        </p:nvSpPr>
        <p:spPr>
          <a:xfrm>
            <a:off x="500063" y="4000500"/>
            <a:ext cx="8358187" cy="2309813"/>
          </a:xfrm>
        </p:spPr>
        <p:txBody>
          <a:bodyPr lIns="91440" tIns="45720" rIns="91440" bIns="45720"/>
          <a:lstStyle/>
          <a:p>
            <a:pPr>
              <a:buFont typeface="Monotype Sorts" charset="2"/>
              <a:buChar char=""/>
              <a:defRPr/>
            </a:pPr>
            <a:r>
              <a:rPr lang="zh-CN" altLang="en-US" dirty="0">
                <a:ea typeface="华文仿宋" pitchFamily="2" charset="-122"/>
              </a:rPr>
              <a:t>对于一个有 </a:t>
            </a:r>
            <a:r>
              <a:rPr lang="en-US" altLang="zh-CN" i="1" dirty="0">
                <a:ea typeface="华文仿宋" pitchFamily="2" charset="-122"/>
              </a:rPr>
              <a:t>n</a:t>
            </a:r>
            <a:r>
              <a:rPr lang="zh-CN" altLang="en-US" dirty="0">
                <a:ea typeface="华文仿宋" pitchFamily="2" charset="-122"/>
              </a:rPr>
              <a:t>（</a:t>
            </a:r>
            <a:r>
              <a:rPr lang="en-US" altLang="zh-CN" i="1" dirty="0">
                <a:ea typeface="华文仿宋" pitchFamily="2" charset="-122"/>
              </a:rPr>
              <a:t>n</a:t>
            </a:r>
            <a:r>
              <a:rPr lang="en-US" altLang="zh-CN" dirty="0">
                <a:ea typeface="华文仿宋" pitchFamily="2" charset="-122"/>
              </a:rPr>
              <a:t>&gt;1</a:t>
            </a:r>
            <a:r>
              <a:rPr lang="zh-CN" altLang="en-US" dirty="0">
                <a:ea typeface="华文仿宋" pitchFamily="2" charset="-122"/>
              </a:rPr>
              <a:t>）个圆盘的汉诺塔，将</a:t>
            </a:r>
            <a:r>
              <a:rPr lang="en-US" altLang="zh-CN" i="1" dirty="0">
                <a:ea typeface="华文仿宋" pitchFamily="2" charset="-122"/>
              </a:rPr>
              <a:t>n</a:t>
            </a:r>
            <a:r>
              <a:rPr lang="zh-CN" altLang="en-US" dirty="0">
                <a:ea typeface="华文仿宋" pitchFamily="2" charset="-122"/>
              </a:rPr>
              <a:t>个圆盘分为两部分：上面 </a:t>
            </a:r>
            <a:r>
              <a:rPr lang="en-US" altLang="zh-CN" i="1" dirty="0">
                <a:ea typeface="华文仿宋" pitchFamily="2" charset="-122"/>
              </a:rPr>
              <a:t>n</a:t>
            </a:r>
            <a:r>
              <a:rPr lang="en-US" altLang="zh-CN" dirty="0">
                <a:latin typeface="Courier New" pitchFamily="49" charset="0"/>
                <a:ea typeface="华文仿宋" pitchFamily="2" charset="-122"/>
                <a:cs typeface="Courier New" pitchFamily="49" charset="0"/>
              </a:rPr>
              <a:t>-</a:t>
            </a:r>
            <a:r>
              <a:rPr lang="en-US" altLang="zh-CN" dirty="0">
                <a:ea typeface="华文仿宋" pitchFamily="2" charset="-122"/>
              </a:rPr>
              <a:t>1 </a:t>
            </a:r>
            <a:r>
              <a:rPr lang="zh-CN" altLang="en-US" dirty="0">
                <a:ea typeface="华文仿宋" pitchFamily="2" charset="-122"/>
              </a:rPr>
              <a:t>个圆盘和最下面的</a:t>
            </a:r>
            <a:r>
              <a:rPr lang="en-US" altLang="zh-CN" i="1" dirty="0">
                <a:ea typeface="华文仿宋" pitchFamily="2" charset="-122"/>
              </a:rPr>
              <a:t>n</a:t>
            </a:r>
            <a:r>
              <a:rPr lang="zh-CN" altLang="en-US" dirty="0">
                <a:ea typeface="华文仿宋" pitchFamily="2" charset="-122"/>
              </a:rPr>
              <a:t>号圆盘。将“上面</a:t>
            </a:r>
            <a:r>
              <a:rPr lang="en-US" altLang="zh-CN" i="1" dirty="0">
                <a:ea typeface="华文仿宋" pitchFamily="2" charset="-122"/>
              </a:rPr>
              <a:t>n</a:t>
            </a:r>
            <a:r>
              <a:rPr lang="en-US" altLang="zh-CN" dirty="0">
                <a:latin typeface="Courier New" pitchFamily="49" charset="0"/>
                <a:ea typeface="华文仿宋" pitchFamily="2" charset="-122"/>
                <a:cs typeface="Courier New" pitchFamily="49" charset="0"/>
              </a:rPr>
              <a:t>-</a:t>
            </a:r>
            <a:r>
              <a:rPr lang="en-US" altLang="zh-CN" dirty="0">
                <a:ea typeface="华文仿宋" pitchFamily="2" charset="-122"/>
              </a:rPr>
              <a:t>1</a:t>
            </a:r>
            <a:r>
              <a:rPr lang="zh-CN" altLang="en-US" dirty="0">
                <a:ea typeface="华文仿宋" pitchFamily="2" charset="-122"/>
              </a:rPr>
              <a:t>个圆盘”看成一个整体</a:t>
            </a:r>
          </a:p>
          <a:p>
            <a:pPr lvl="1">
              <a:defRPr/>
            </a:pPr>
            <a:r>
              <a:rPr lang="zh-CN" altLang="en-US" dirty="0">
                <a:ea typeface=""/>
                <a:cs typeface=""/>
              </a:rPr>
              <a:t>将</a:t>
            </a:r>
            <a:r>
              <a:rPr lang="en-US" altLang="zh-CN" i="1" dirty="0">
                <a:ea typeface=""/>
                <a:cs typeface=""/>
              </a:rPr>
              <a:t>n</a:t>
            </a:r>
            <a:r>
              <a:rPr lang="en-US" altLang="zh-CN" dirty="0">
                <a:latin typeface="Courier New" pitchFamily="49" charset="0"/>
                <a:ea typeface=""/>
                <a:cs typeface="Courier New" pitchFamily="49" charset="0"/>
              </a:rPr>
              <a:t>-</a:t>
            </a:r>
            <a:r>
              <a:rPr lang="en-US" altLang="zh-CN" dirty="0">
                <a:ea typeface=""/>
                <a:cs typeface=""/>
              </a:rPr>
              <a:t>1</a:t>
            </a:r>
            <a:r>
              <a:rPr lang="zh-CN" altLang="en-US" dirty="0">
                <a:ea typeface=""/>
                <a:cs typeface=""/>
              </a:rPr>
              <a:t>个圆盘从</a:t>
            </a:r>
            <a:r>
              <a:rPr lang="en-US" altLang="zh-CN" dirty="0">
                <a:ea typeface=""/>
                <a:cs typeface=""/>
              </a:rPr>
              <a:t>A</a:t>
            </a:r>
            <a:r>
              <a:rPr lang="zh-CN" altLang="en-US" dirty="0">
                <a:ea typeface=""/>
                <a:cs typeface=""/>
              </a:rPr>
              <a:t>移到</a:t>
            </a:r>
            <a:r>
              <a:rPr lang="en-US" altLang="zh-CN" dirty="0">
                <a:ea typeface=""/>
                <a:cs typeface=""/>
              </a:rPr>
              <a:t>C</a:t>
            </a:r>
            <a:endParaRPr lang="zh-CN" altLang="en-US" dirty="0">
              <a:ea typeface=""/>
              <a:cs typeface=""/>
            </a:endParaRPr>
          </a:p>
          <a:p>
            <a:pPr lvl="1">
              <a:defRPr/>
            </a:pPr>
            <a:r>
              <a:rPr lang="zh-CN" altLang="en-US" dirty="0">
                <a:ea typeface=""/>
                <a:cs typeface=""/>
              </a:rPr>
              <a:t>将</a:t>
            </a:r>
            <a:r>
              <a:rPr lang="en-US" altLang="zh-CN" i="1" dirty="0">
                <a:ea typeface=""/>
                <a:cs typeface=""/>
              </a:rPr>
              <a:t>n</a:t>
            </a:r>
            <a:r>
              <a:rPr lang="zh-CN" altLang="en-US" dirty="0">
                <a:ea typeface=""/>
                <a:cs typeface=""/>
              </a:rPr>
              <a:t>号圆盘从</a:t>
            </a:r>
            <a:r>
              <a:rPr lang="en-US" altLang="zh-CN" dirty="0">
                <a:ea typeface=""/>
                <a:cs typeface=""/>
              </a:rPr>
              <a:t>A</a:t>
            </a:r>
            <a:r>
              <a:rPr lang="zh-CN" altLang="en-US" dirty="0">
                <a:ea typeface=""/>
                <a:cs typeface=""/>
              </a:rPr>
              <a:t>移到</a:t>
            </a:r>
            <a:r>
              <a:rPr lang="en-US" altLang="zh-CN" dirty="0">
                <a:ea typeface=""/>
                <a:cs typeface=""/>
              </a:rPr>
              <a:t>B</a:t>
            </a:r>
          </a:p>
          <a:p>
            <a:pPr lvl="1">
              <a:defRPr/>
            </a:pPr>
            <a:r>
              <a:rPr lang="zh-CN" altLang="en-US" dirty="0">
                <a:ea typeface=""/>
                <a:cs typeface=""/>
              </a:rPr>
              <a:t>将</a:t>
            </a:r>
            <a:r>
              <a:rPr lang="en-US" altLang="zh-CN" i="1" dirty="0">
                <a:ea typeface=""/>
                <a:cs typeface=""/>
              </a:rPr>
              <a:t>n</a:t>
            </a:r>
            <a:r>
              <a:rPr lang="en-US" altLang="zh-CN" dirty="0">
                <a:latin typeface="Courier New" pitchFamily="49" charset="0"/>
                <a:ea typeface=""/>
                <a:cs typeface="Courier New" pitchFamily="49" charset="0"/>
              </a:rPr>
              <a:t>-</a:t>
            </a:r>
            <a:r>
              <a:rPr lang="en-US" altLang="zh-CN" dirty="0">
                <a:ea typeface=""/>
                <a:cs typeface=""/>
              </a:rPr>
              <a:t>1</a:t>
            </a:r>
            <a:r>
              <a:rPr lang="zh-CN" altLang="en-US" dirty="0">
                <a:ea typeface=""/>
                <a:cs typeface=""/>
              </a:rPr>
              <a:t>个圆盘从</a:t>
            </a:r>
            <a:r>
              <a:rPr lang="en-US" altLang="zh-CN" dirty="0">
                <a:ea typeface=""/>
                <a:cs typeface=""/>
              </a:rPr>
              <a:t>C</a:t>
            </a:r>
            <a:r>
              <a:rPr lang="zh-CN" altLang="en-US" dirty="0">
                <a:ea typeface=""/>
                <a:cs typeface=""/>
              </a:rPr>
              <a:t>移到</a:t>
            </a:r>
            <a:r>
              <a:rPr lang="en-US" altLang="zh-CN" dirty="0">
                <a:ea typeface=""/>
                <a:cs typeface=""/>
              </a:rPr>
              <a:t>B</a:t>
            </a:r>
            <a:endParaRPr lang="zh-CN" altLang="en-US" dirty="0">
              <a:ea typeface=""/>
              <a:cs typeface=""/>
            </a:endParaRPr>
          </a:p>
        </p:txBody>
      </p:sp>
      <p:sp>
        <p:nvSpPr>
          <p:cNvPr id="43012" name="Rectangle 5"/>
          <p:cNvSpPr>
            <a:spLocks noChangeArrowheads="1"/>
          </p:cNvSpPr>
          <p:nvPr/>
        </p:nvSpPr>
        <p:spPr bwMode="auto">
          <a:xfrm>
            <a:off x="514350" y="1643063"/>
            <a:ext cx="8229600" cy="2362200"/>
          </a:xfrm>
          <a:prstGeom prst="rect">
            <a:avLst/>
          </a:prstGeom>
          <a:solidFill>
            <a:srgbClr val="000066"/>
          </a:solidFill>
          <a:ln w="38100">
            <a:solidFill>
              <a:srgbClr val="0000FF"/>
            </a:solidFill>
            <a:miter lim="800000"/>
            <a:headEnd/>
            <a:tailEnd/>
          </a:ln>
        </p:spPr>
        <p:txBody>
          <a:bodyPr wrap="none" anchor="ctr"/>
          <a:lstStyle/>
          <a:p>
            <a:endParaRPr lang="zh-CN" altLang="en-US" sz="3600" b="1">
              <a:latin typeface="Arial" pitchFamily="34" charset="0"/>
              <a:ea typeface="宋体" pitchFamily="2" charset="-122"/>
            </a:endParaRPr>
          </a:p>
        </p:txBody>
      </p:sp>
      <p:sp>
        <p:nvSpPr>
          <p:cNvPr id="132102" name="AutoShape 6" descr="浅色横线"/>
          <p:cNvSpPr>
            <a:spLocks noChangeArrowheads="1"/>
          </p:cNvSpPr>
          <p:nvPr/>
        </p:nvSpPr>
        <p:spPr bwMode="auto">
          <a:xfrm rot="10800000">
            <a:off x="1066800" y="233203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
        <p:nvSpPr>
          <p:cNvPr id="622600" name="Line 7"/>
          <p:cNvSpPr>
            <a:spLocks noChangeShapeType="1"/>
          </p:cNvSpPr>
          <p:nvPr/>
        </p:nvSpPr>
        <p:spPr bwMode="auto">
          <a:xfrm>
            <a:off x="685800" y="3452813"/>
            <a:ext cx="7924800" cy="0"/>
          </a:xfrm>
          <a:prstGeom prst="line">
            <a:avLst/>
          </a:prstGeom>
          <a:noFill/>
          <a:ln w="38100">
            <a:solidFill>
              <a:srgbClr val="C0C0C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132104" name="Line 8"/>
          <p:cNvSpPr>
            <a:spLocks noChangeShapeType="1"/>
          </p:cNvSpPr>
          <p:nvPr/>
        </p:nvSpPr>
        <p:spPr bwMode="auto">
          <a:xfrm>
            <a:off x="914400"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2" name="Line 9"/>
          <p:cNvSpPr>
            <a:spLocks noChangeShapeType="1"/>
          </p:cNvSpPr>
          <p:nvPr/>
        </p:nvSpPr>
        <p:spPr bwMode="auto">
          <a:xfrm>
            <a:off x="4648200" y="1928813"/>
            <a:ext cx="0" cy="1524000"/>
          </a:xfrm>
          <a:prstGeom prst="line">
            <a:avLst/>
          </a:prstGeom>
          <a:noFill/>
          <a:ln w="38100">
            <a:solidFill>
              <a:srgbClr val="FF00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3" name="Line 10"/>
          <p:cNvSpPr>
            <a:spLocks noChangeShapeType="1"/>
          </p:cNvSpPr>
          <p:nvPr/>
        </p:nvSpPr>
        <p:spPr bwMode="auto">
          <a:xfrm>
            <a:off x="1905000" y="1928813"/>
            <a:ext cx="0" cy="1524000"/>
          </a:xfrm>
          <a:prstGeom prst="line">
            <a:avLst/>
          </a:prstGeom>
          <a:noFill/>
          <a:ln w="38100">
            <a:solidFill>
              <a:srgbClr val="00FF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4" name="Line 11"/>
          <p:cNvSpPr>
            <a:spLocks noChangeShapeType="1"/>
          </p:cNvSpPr>
          <p:nvPr/>
        </p:nvSpPr>
        <p:spPr bwMode="auto">
          <a:xfrm>
            <a:off x="7315200" y="1928813"/>
            <a:ext cx="0" cy="1524000"/>
          </a:xfrm>
          <a:prstGeom prst="line">
            <a:avLst/>
          </a:prstGeom>
          <a:noFill/>
          <a:ln w="38100">
            <a:solidFill>
              <a:srgbClr val="00FF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3019" name="Text Box 12"/>
          <p:cNvSpPr txBox="1">
            <a:spLocks noChangeArrowheads="1"/>
          </p:cNvSpPr>
          <p:nvPr/>
        </p:nvSpPr>
        <p:spPr bwMode="auto">
          <a:xfrm>
            <a:off x="1679575" y="3473450"/>
            <a:ext cx="404813"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00FF00"/>
                </a:solidFill>
              </a:rPr>
              <a:t>A</a:t>
            </a:r>
            <a:endParaRPr kumimoji="1" lang="zh-CN" altLang="en-US">
              <a:ea typeface="宋体" pitchFamily="2" charset="-122"/>
            </a:endParaRPr>
          </a:p>
        </p:txBody>
      </p:sp>
      <p:sp>
        <p:nvSpPr>
          <p:cNvPr id="132109" name="Text Box 13"/>
          <p:cNvSpPr txBox="1">
            <a:spLocks noChangeArrowheads="1"/>
          </p:cNvSpPr>
          <p:nvPr/>
        </p:nvSpPr>
        <p:spPr bwMode="auto">
          <a:xfrm>
            <a:off x="7131050" y="3473450"/>
            <a:ext cx="404813" cy="457200"/>
          </a:xfrm>
          <a:prstGeom prst="rect">
            <a:avLst/>
          </a:prstGeom>
          <a:noFill/>
          <a:ln w="9525">
            <a:noFill/>
            <a:miter lim="800000"/>
            <a:headEnd/>
            <a:tailEnd/>
          </a:ln>
          <a:effectLst/>
        </p:spPr>
        <p:txBody>
          <a:bodyPr wrap="none">
            <a:spAutoFit/>
          </a:bodyPr>
          <a:lstStyle/>
          <a:p>
            <a:pPr algn="ctr">
              <a:spcBef>
                <a:spcPct val="20000"/>
              </a:spcBef>
              <a:defRPr/>
            </a:pPr>
            <a:r>
              <a:rPr kumimoji="1" lang="en-US" altLang="zh-CN" b="1">
                <a:solidFill>
                  <a:srgbClr val="00FFFF"/>
                </a:solidFill>
                <a:effectLst>
                  <a:outerShdw blurRad="38100" dist="38100" dir="2700000" algn="tl">
                    <a:srgbClr val="C0C0C0"/>
                  </a:outerShdw>
                </a:effectLst>
                <a:ea typeface="+mn-ea"/>
              </a:rPr>
              <a:t>C</a:t>
            </a:r>
            <a:endParaRPr kumimoji="1" lang="zh-CN" altLang="en-US">
              <a:ea typeface="宋体" pitchFamily="2" charset="-122"/>
            </a:endParaRPr>
          </a:p>
        </p:txBody>
      </p:sp>
      <p:sp>
        <p:nvSpPr>
          <p:cNvPr id="43021" name="Text Box 14"/>
          <p:cNvSpPr txBox="1">
            <a:spLocks noChangeArrowheads="1"/>
          </p:cNvSpPr>
          <p:nvPr/>
        </p:nvSpPr>
        <p:spPr bwMode="auto">
          <a:xfrm>
            <a:off x="4435475" y="3473450"/>
            <a:ext cx="387350"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FF00FF"/>
                </a:solidFill>
              </a:rPr>
              <a:t>B</a:t>
            </a:r>
            <a:endParaRPr kumimoji="1" lang="zh-CN" altLang="en-US">
              <a:ea typeface="宋体" pitchFamily="2" charset="-122"/>
            </a:endParaRPr>
          </a:p>
        </p:txBody>
      </p:sp>
      <p:sp>
        <p:nvSpPr>
          <p:cNvPr id="132111" name="AutoShape 15" descr="浅色横线"/>
          <p:cNvSpPr>
            <a:spLocks noChangeArrowheads="1"/>
          </p:cNvSpPr>
          <p:nvPr/>
        </p:nvSpPr>
        <p:spPr bwMode="auto">
          <a:xfrm rot="10800000">
            <a:off x="6484938" y="2517775"/>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
        <p:nvSpPr>
          <p:cNvPr id="132112" name="Line 16"/>
          <p:cNvSpPr>
            <a:spLocks noChangeShapeType="1"/>
          </p:cNvSpPr>
          <p:nvPr/>
        </p:nvSpPr>
        <p:spPr bwMode="auto">
          <a:xfrm>
            <a:off x="3643313"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132113" name="AutoShape 17" descr="浅色横线"/>
          <p:cNvSpPr>
            <a:spLocks noChangeArrowheads="1"/>
          </p:cNvSpPr>
          <p:nvPr/>
        </p:nvSpPr>
        <p:spPr bwMode="auto">
          <a:xfrm rot="10800000">
            <a:off x="3803650" y="233838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22596">
                                            <p:txEl>
                                              <p:pRg st="1" end="1"/>
                                            </p:txEl>
                                          </p:spTgt>
                                        </p:tgtEl>
                                        <p:attrNameLst>
                                          <p:attrName>style.visibility</p:attrName>
                                        </p:attrNameLst>
                                      </p:cBhvr>
                                      <p:to>
                                        <p:strVal val="visible"/>
                                      </p:to>
                                    </p:set>
                                    <p:anim calcmode="lin" valueType="num">
                                      <p:cBhvr additive="base">
                                        <p:cTn id="7" dur="500" fill="hold"/>
                                        <p:tgtEl>
                                          <p:spTgt spid="62259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2596">
                                            <p:txEl>
                                              <p:pRg st="1" end="1"/>
                                            </p:txEl>
                                          </p:spTgt>
                                        </p:tgtEl>
                                        <p:attrNameLst>
                                          <p:attrName>ppt_y</p:attrName>
                                        </p:attrNameLst>
                                      </p:cBhvr>
                                      <p:tavLst>
                                        <p:tav tm="0">
                                          <p:val>
                                            <p:strVal val="1+#ppt_h/2"/>
                                          </p:val>
                                        </p:tav>
                                        <p:tav tm="100000">
                                          <p:val>
                                            <p:strVal val="#ppt_y"/>
                                          </p:val>
                                        </p:tav>
                                      </p:tavLst>
                                    </p:anim>
                                  </p:childTnLst>
                                </p:cTn>
                              </p:par>
                              <p:par>
                                <p:cTn id="9" presetID="2" presetClass="exit" presetSubtype="1" fill="hold" grpId="0" nodeType="withEffect">
                                  <p:stCondLst>
                                    <p:cond delay="0"/>
                                  </p:stCondLst>
                                  <p:childTnLst>
                                    <p:anim calcmode="lin" valueType="num">
                                      <p:cBhvr additive="base">
                                        <p:cTn id="10" dur="500"/>
                                        <p:tgtEl>
                                          <p:spTgt spid="132102"/>
                                        </p:tgtEl>
                                        <p:attrNameLst>
                                          <p:attrName>ppt_x</p:attrName>
                                        </p:attrNameLst>
                                      </p:cBhvr>
                                      <p:tavLst>
                                        <p:tav tm="0">
                                          <p:val>
                                            <p:strVal val="ppt_x"/>
                                          </p:val>
                                        </p:tav>
                                        <p:tav tm="100000">
                                          <p:val>
                                            <p:strVal val="ppt_x"/>
                                          </p:val>
                                        </p:tav>
                                      </p:tavLst>
                                    </p:anim>
                                    <p:anim calcmode="lin" valueType="num">
                                      <p:cBhvr additive="base">
                                        <p:cTn id="11" dur="500"/>
                                        <p:tgtEl>
                                          <p:spTgt spid="132102"/>
                                        </p:tgtEl>
                                        <p:attrNameLst>
                                          <p:attrName>ppt_y</p:attrName>
                                        </p:attrNameLst>
                                      </p:cBhvr>
                                      <p:tavLst>
                                        <p:tav tm="0">
                                          <p:val>
                                            <p:strVal val="ppt_y"/>
                                          </p:val>
                                        </p:tav>
                                        <p:tav tm="100000">
                                          <p:val>
                                            <p:strVal val="0-ppt_h/2"/>
                                          </p:val>
                                        </p:tav>
                                      </p:tavLst>
                                    </p:anim>
                                    <p:set>
                                      <p:cBhvr>
                                        <p:cTn id="12" dur="1" fill="hold">
                                          <p:stCondLst>
                                            <p:cond delay="499"/>
                                          </p:stCondLst>
                                        </p:cTn>
                                        <p:tgtEl>
                                          <p:spTgt spid="132102"/>
                                        </p:tgtEl>
                                        <p:attrNameLst>
                                          <p:attrName>style.visibility</p:attrName>
                                        </p:attrNameLst>
                                      </p:cBhvr>
                                      <p:to>
                                        <p:strVal val="hidden"/>
                                      </p:to>
                                    </p:set>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32111"/>
                                        </p:tgtEl>
                                        <p:attrNameLst>
                                          <p:attrName>style.visibility</p:attrName>
                                        </p:attrNameLst>
                                      </p:cBhvr>
                                      <p:to>
                                        <p:strVal val="visible"/>
                                      </p:to>
                                    </p:set>
                                    <p:anim calcmode="lin" valueType="num">
                                      <p:cBhvr additive="base">
                                        <p:cTn id="16" dur="500" fill="hold"/>
                                        <p:tgtEl>
                                          <p:spTgt spid="132111"/>
                                        </p:tgtEl>
                                        <p:attrNameLst>
                                          <p:attrName>ppt_x</p:attrName>
                                        </p:attrNameLst>
                                      </p:cBhvr>
                                      <p:tavLst>
                                        <p:tav tm="0">
                                          <p:val>
                                            <p:strVal val="#ppt_x"/>
                                          </p:val>
                                        </p:tav>
                                        <p:tav tm="100000">
                                          <p:val>
                                            <p:strVal val="#ppt_x"/>
                                          </p:val>
                                        </p:tav>
                                      </p:tavLst>
                                    </p:anim>
                                    <p:anim calcmode="lin" valueType="num">
                                      <p:cBhvr additive="base">
                                        <p:cTn id="17" dur="500" fill="hold"/>
                                        <p:tgtEl>
                                          <p:spTgt spid="132111"/>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22596">
                                            <p:txEl>
                                              <p:pRg st="2" end="2"/>
                                            </p:txEl>
                                          </p:spTgt>
                                        </p:tgtEl>
                                        <p:attrNameLst>
                                          <p:attrName>style.visibility</p:attrName>
                                        </p:attrNameLst>
                                      </p:cBhvr>
                                      <p:to>
                                        <p:strVal val="visible"/>
                                      </p:to>
                                    </p:set>
                                    <p:anim calcmode="lin" valueType="num">
                                      <p:cBhvr additive="base">
                                        <p:cTn id="22" dur="500" fill="hold"/>
                                        <p:tgtEl>
                                          <p:spTgt spid="622596">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22596">
                                            <p:txEl>
                                              <p:pRg st="2" end="2"/>
                                            </p:txEl>
                                          </p:spTgt>
                                        </p:tgtEl>
                                        <p:attrNameLst>
                                          <p:attrName>ppt_y</p:attrName>
                                        </p:attrNameLst>
                                      </p:cBhvr>
                                      <p:tavLst>
                                        <p:tav tm="0">
                                          <p:val>
                                            <p:strVal val="1+#ppt_h/2"/>
                                          </p:val>
                                        </p:tav>
                                        <p:tav tm="100000">
                                          <p:val>
                                            <p:strVal val="#ppt_y"/>
                                          </p:val>
                                        </p:tav>
                                      </p:tavLst>
                                    </p:anim>
                                  </p:childTnLst>
                                </p:cTn>
                              </p:par>
                              <p:par>
                                <p:cTn id="24" presetID="2" presetClass="exit" presetSubtype="1" fill="hold" nodeType="withEffect">
                                  <p:stCondLst>
                                    <p:cond delay="0"/>
                                  </p:stCondLst>
                                  <p:childTnLst>
                                    <p:anim calcmode="lin" valueType="num">
                                      <p:cBhvr additive="base">
                                        <p:cTn id="25" dur="500"/>
                                        <p:tgtEl>
                                          <p:spTgt spid="132104"/>
                                        </p:tgtEl>
                                        <p:attrNameLst>
                                          <p:attrName>ppt_x</p:attrName>
                                        </p:attrNameLst>
                                      </p:cBhvr>
                                      <p:tavLst>
                                        <p:tav tm="0">
                                          <p:val>
                                            <p:strVal val="ppt_x"/>
                                          </p:val>
                                        </p:tav>
                                        <p:tav tm="100000">
                                          <p:val>
                                            <p:strVal val="ppt_x"/>
                                          </p:val>
                                        </p:tav>
                                      </p:tavLst>
                                    </p:anim>
                                    <p:anim calcmode="lin" valueType="num">
                                      <p:cBhvr additive="base">
                                        <p:cTn id="26" dur="500"/>
                                        <p:tgtEl>
                                          <p:spTgt spid="132104"/>
                                        </p:tgtEl>
                                        <p:attrNameLst>
                                          <p:attrName>ppt_y</p:attrName>
                                        </p:attrNameLst>
                                      </p:cBhvr>
                                      <p:tavLst>
                                        <p:tav tm="0">
                                          <p:val>
                                            <p:strVal val="ppt_y"/>
                                          </p:val>
                                        </p:tav>
                                        <p:tav tm="100000">
                                          <p:val>
                                            <p:strVal val="0-ppt_h/2"/>
                                          </p:val>
                                        </p:tav>
                                      </p:tavLst>
                                    </p:anim>
                                    <p:set>
                                      <p:cBhvr>
                                        <p:cTn id="27" dur="1" fill="hold">
                                          <p:stCondLst>
                                            <p:cond delay="499"/>
                                          </p:stCondLst>
                                        </p:cTn>
                                        <p:tgtEl>
                                          <p:spTgt spid="132104"/>
                                        </p:tgtEl>
                                        <p:attrNameLst>
                                          <p:attrName>style.visibility</p:attrName>
                                        </p:attrNameLst>
                                      </p:cBhvr>
                                      <p:to>
                                        <p:strVal val="hidden"/>
                                      </p:to>
                                    </p:set>
                                  </p:childTnLst>
                                </p:cTn>
                              </p:par>
                            </p:childTnLst>
                          </p:cTn>
                        </p:par>
                        <p:par>
                          <p:cTn id="28" fill="hold">
                            <p:stCondLst>
                              <p:cond delay="500"/>
                            </p:stCondLst>
                            <p:childTnLst>
                              <p:par>
                                <p:cTn id="29" presetID="2" presetClass="entr" presetSubtype="1" fill="hold" nodeType="afterEffect">
                                  <p:stCondLst>
                                    <p:cond delay="0"/>
                                  </p:stCondLst>
                                  <p:childTnLst>
                                    <p:set>
                                      <p:cBhvr>
                                        <p:cTn id="30" dur="1" fill="hold">
                                          <p:stCondLst>
                                            <p:cond delay="0"/>
                                          </p:stCondLst>
                                        </p:cTn>
                                        <p:tgtEl>
                                          <p:spTgt spid="132112"/>
                                        </p:tgtEl>
                                        <p:attrNameLst>
                                          <p:attrName>style.visibility</p:attrName>
                                        </p:attrNameLst>
                                      </p:cBhvr>
                                      <p:to>
                                        <p:strVal val="visible"/>
                                      </p:to>
                                    </p:set>
                                    <p:anim calcmode="lin" valueType="num">
                                      <p:cBhvr additive="base">
                                        <p:cTn id="31" dur="500" fill="hold"/>
                                        <p:tgtEl>
                                          <p:spTgt spid="132112"/>
                                        </p:tgtEl>
                                        <p:attrNameLst>
                                          <p:attrName>ppt_x</p:attrName>
                                        </p:attrNameLst>
                                      </p:cBhvr>
                                      <p:tavLst>
                                        <p:tav tm="0">
                                          <p:val>
                                            <p:strVal val="#ppt_x"/>
                                          </p:val>
                                        </p:tav>
                                        <p:tav tm="100000">
                                          <p:val>
                                            <p:strVal val="#ppt_x"/>
                                          </p:val>
                                        </p:tav>
                                      </p:tavLst>
                                    </p:anim>
                                    <p:anim calcmode="lin" valueType="num">
                                      <p:cBhvr additive="base">
                                        <p:cTn id="32" dur="500" fill="hold"/>
                                        <p:tgtEl>
                                          <p:spTgt spid="13211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22596">
                                            <p:txEl>
                                              <p:pRg st="3" end="3"/>
                                            </p:txEl>
                                          </p:spTgt>
                                        </p:tgtEl>
                                        <p:attrNameLst>
                                          <p:attrName>style.visibility</p:attrName>
                                        </p:attrNameLst>
                                      </p:cBhvr>
                                      <p:to>
                                        <p:strVal val="visible"/>
                                      </p:to>
                                    </p:set>
                                    <p:anim calcmode="lin" valueType="num">
                                      <p:cBhvr additive="base">
                                        <p:cTn id="37" dur="500" fill="hold"/>
                                        <p:tgtEl>
                                          <p:spTgt spid="622596">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22596">
                                            <p:txEl>
                                              <p:pRg st="3" end="3"/>
                                            </p:txEl>
                                          </p:spTgt>
                                        </p:tgtEl>
                                        <p:attrNameLst>
                                          <p:attrName>ppt_y</p:attrName>
                                        </p:attrNameLst>
                                      </p:cBhvr>
                                      <p:tavLst>
                                        <p:tav tm="0">
                                          <p:val>
                                            <p:strVal val="1+#ppt_h/2"/>
                                          </p:val>
                                        </p:tav>
                                        <p:tav tm="100000">
                                          <p:val>
                                            <p:strVal val="#ppt_y"/>
                                          </p:val>
                                        </p:tav>
                                      </p:tavLst>
                                    </p:anim>
                                  </p:childTnLst>
                                </p:cTn>
                              </p:par>
                              <p:par>
                                <p:cTn id="39" presetID="2" presetClass="exit" presetSubtype="1" fill="hold" grpId="1" nodeType="withEffect">
                                  <p:stCondLst>
                                    <p:cond delay="0"/>
                                  </p:stCondLst>
                                  <p:childTnLst>
                                    <p:anim calcmode="lin" valueType="num">
                                      <p:cBhvr additive="base">
                                        <p:cTn id="40" dur="500"/>
                                        <p:tgtEl>
                                          <p:spTgt spid="132111"/>
                                        </p:tgtEl>
                                        <p:attrNameLst>
                                          <p:attrName>ppt_x</p:attrName>
                                        </p:attrNameLst>
                                      </p:cBhvr>
                                      <p:tavLst>
                                        <p:tav tm="0">
                                          <p:val>
                                            <p:strVal val="ppt_x"/>
                                          </p:val>
                                        </p:tav>
                                        <p:tav tm="100000">
                                          <p:val>
                                            <p:strVal val="ppt_x"/>
                                          </p:val>
                                        </p:tav>
                                      </p:tavLst>
                                    </p:anim>
                                    <p:anim calcmode="lin" valueType="num">
                                      <p:cBhvr additive="base">
                                        <p:cTn id="41" dur="500"/>
                                        <p:tgtEl>
                                          <p:spTgt spid="132111"/>
                                        </p:tgtEl>
                                        <p:attrNameLst>
                                          <p:attrName>ppt_y</p:attrName>
                                        </p:attrNameLst>
                                      </p:cBhvr>
                                      <p:tavLst>
                                        <p:tav tm="0">
                                          <p:val>
                                            <p:strVal val="ppt_y"/>
                                          </p:val>
                                        </p:tav>
                                        <p:tav tm="100000">
                                          <p:val>
                                            <p:strVal val="0-ppt_h/2"/>
                                          </p:val>
                                        </p:tav>
                                      </p:tavLst>
                                    </p:anim>
                                    <p:set>
                                      <p:cBhvr>
                                        <p:cTn id="42" dur="1" fill="hold">
                                          <p:stCondLst>
                                            <p:cond delay="499"/>
                                          </p:stCondLst>
                                        </p:cTn>
                                        <p:tgtEl>
                                          <p:spTgt spid="132111"/>
                                        </p:tgtEl>
                                        <p:attrNameLst>
                                          <p:attrName>style.visibility</p:attrName>
                                        </p:attrNameLst>
                                      </p:cBhvr>
                                      <p:to>
                                        <p:strVal val="hidden"/>
                                      </p:to>
                                    </p:set>
                                  </p:childTnLst>
                                </p:cTn>
                              </p:par>
                            </p:childTnLst>
                          </p:cTn>
                        </p:par>
                        <p:par>
                          <p:cTn id="43" fill="hold">
                            <p:stCondLst>
                              <p:cond delay="500"/>
                            </p:stCondLst>
                            <p:childTnLst>
                              <p:par>
                                <p:cTn id="44" presetID="2" presetClass="entr" presetSubtype="1" fill="hold" grpId="0" nodeType="afterEffect">
                                  <p:stCondLst>
                                    <p:cond delay="0"/>
                                  </p:stCondLst>
                                  <p:childTnLst>
                                    <p:set>
                                      <p:cBhvr>
                                        <p:cTn id="45" dur="1" fill="hold">
                                          <p:stCondLst>
                                            <p:cond delay="0"/>
                                          </p:stCondLst>
                                        </p:cTn>
                                        <p:tgtEl>
                                          <p:spTgt spid="132113"/>
                                        </p:tgtEl>
                                        <p:attrNameLst>
                                          <p:attrName>style.visibility</p:attrName>
                                        </p:attrNameLst>
                                      </p:cBhvr>
                                      <p:to>
                                        <p:strVal val="visible"/>
                                      </p:to>
                                    </p:set>
                                    <p:anim calcmode="lin" valueType="num">
                                      <p:cBhvr additive="base">
                                        <p:cTn id="46" dur="500" fill="hold"/>
                                        <p:tgtEl>
                                          <p:spTgt spid="132113"/>
                                        </p:tgtEl>
                                        <p:attrNameLst>
                                          <p:attrName>ppt_x</p:attrName>
                                        </p:attrNameLst>
                                      </p:cBhvr>
                                      <p:tavLst>
                                        <p:tav tm="0">
                                          <p:val>
                                            <p:strVal val="#ppt_x"/>
                                          </p:val>
                                        </p:tav>
                                        <p:tav tm="100000">
                                          <p:val>
                                            <p:strVal val="#ppt_x"/>
                                          </p:val>
                                        </p:tav>
                                      </p:tavLst>
                                    </p:anim>
                                    <p:anim calcmode="lin" valueType="num">
                                      <p:cBhvr additive="base">
                                        <p:cTn id="47" dur="500" fill="hold"/>
                                        <p:tgtEl>
                                          <p:spTgt spid="1321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2" grpId="0" animBg="1"/>
      <p:bldP spid="132111" grpId="0" animBg="1"/>
      <p:bldP spid="132111" grpId="1" animBg="1"/>
      <p:bldP spid="132113"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5"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622596" name="Rectangle 3"/>
          <p:cNvSpPr>
            <a:spLocks noGrp="1" noChangeArrowheads="1"/>
          </p:cNvSpPr>
          <p:nvPr>
            <p:ph type="body" idx="4294967295"/>
          </p:nvPr>
        </p:nvSpPr>
        <p:spPr>
          <a:xfrm>
            <a:off x="357188" y="4000500"/>
            <a:ext cx="5000625" cy="1493838"/>
          </a:xfrm>
        </p:spPr>
        <p:txBody>
          <a:bodyPr lIns="91440" tIns="45720" rIns="91440" bIns="45720"/>
          <a:lstStyle/>
          <a:p>
            <a:pPr>
              <a:buFont typeface="Monotype Sorts" charset="2"/>
              <a:buChar char=""/>
              <a:defRPr/>
            </a:pPr>
            <a:r>
              <a:rPr lang="zh-CN" altLang="en-US" dirty="0">
                <a:latin typeface="华文仿宋" pitchFamily="2" charset="-122"/>
                <a:ea typeface="华文仿宋" pitchFamily="2" charset="-122"/>
              </a:rPr>
              <a:t>设计</a:t>
            </a:r>
            <a:r>
              <a:rPr lang="en-US" altLang="zh-CN" dirty="0">
                <a:latin typeface="华文仿宋" pitchFamily="2" charset="-122"/>
                <a:ea typeface="华文仿宋" pitchFamily="2" charset="-122"/>
              </a:rPr>
              <a:t>2</a:t>
            </a:r>
            <a:r>
              <a:rPr lang="zh-CN" altLang="en-US" dirty="0">
                <a:latin typeface="华文仿宋" pitchFamily="2" charset="-122"/>
                <a:ea typeface="华文仿宋" pitchFamily="2" charset="-122"/>
              </a:rPr>
              <a:t>个函数：</a:t>
            </a:r>
            <a:endParaRPr lang="zh-CN" altLang="en-US" sz="2400" dirty="0">
              <a:latin typeface="华文仿宋" pitchFamily="2" charset="-122"/>
              <a:ea typeface="华文仿宋" pitchFamily="2" charset="-122"/>
            </a:endParaRPr>
          </a:p>
          <a:p>
            <a:pPr lvl="1">
              <a:defRPr/>
            </a:pPr>
            <a:r>
              <a:rPr lang="zh-CN" altLang="en-US" dirty="0">
                <a:solidFill>
                  <a:srgbClr val="C00000"/>
                </a:solidFill>
                <a:ea typeface="宋体" pitchFamily="2" charset="-122"/>
              </a:rPr>
              <a:t>将</a:t>
            </a:r>
            <a:r>
              <a:rPr lang="en-US" altLang="zh-CN" i="1" dirty="0">
                <a:solidFill>
                  <a:srgbClr val="C00000"/>
                </a:solidFill>
                <a:ea typeface="宋体" pitchFamily="2" charset="-122"/>
              </a:rPr>
              <a:t>n</a:t>
            </a:r>
            <a:r>
              <a:rPr lang="zh-CN" altLang="en-US" dirty="0">
                <a:solidFill>
                  <a:srgbClr val="C00000"/>
                </a:solidFill>
                <a:ea typeface="宋体" pitchFamily="2" charset="-122"/>
              </a:rPr>
              <a:t>个圆盘借助</a:t>
            </a:r>
            <a:r>
              <a:rPr lang="en-US" altLang="zh-CN" dirty="0">
                <a:solidFill>
                  <a:srgbClr val="C00000"/>
                </a:solidFill>
                <a:ea typeface="宋体" pitchFamily="2" charset="-122"/>
              </a:rPr>
              <a:t>C</a:t>
            </a:r>
            <a:r>
              <a:rPr lang="zh-CN" altLang="en-US" dirty="0">
                <a:solidFill>
                  <a:srgbClr val="C00000"/>
                </a:solidFill>
                <a:ea typeface="宋体" pitchFamily="2" charset="-122"/>
              </a:rPr>
              <a:t>从</a:t>
            </a:r>
            <a:r>
              <a:rPr lang="en-US" altLang="zh-CN" dirty="0">
                <a:solidFill>
                  <a:srgbClr val="C00000"/>
                </a:solidFill>
                <a:ea typeface="宋体" pitchFamily="2" charset="-122"/>
              </a:rPr>
              <a:t>A</a:t>
            </a:r>
            <a:r>
              <a:rPr lang="zh-CN" altLang="en-US" dirty="0">
                <a:solidFill>
                  <a:srgbClr val="C00000"/>
                </a:solidFill>
                <a:ea typeface="宋体" pitchFamily="2" charset="-122"/>
              </a:rPr>
              <a:t>移到</a:t>
            </a:r>
            <a:r>
              <a:rPr lang="en-US" altLang="zh-CN" dirty="0">
                <a:solidFill>
                  <a:srgbClr val="C00000"/>
                </a:solidFill>
                <a:ea typeface="宋体" pitchFamily="2" charset="-122"/>
              </a:rPr>
              <a:t>B</a:t>
            </a:r>
            <a:r>
              <a:rPr lang="zh-CN" altLang="en-US" dirty="0">
                <a:solidFill>
                  <a:srgbClr val="C00000"/>
                </a:solidFill>
                <a:ea typeface="宋体" pitchFamily="2" charset="-122"/>
              </a:rPr>
              <a:t> </a:t>
            </a:r>
          </a:p>
          <a:p>
            <a:pPr lvl="1">
              <a:defRPr/>
            </a:pPr>
            <a:r>
              <a:rPr lang="zh-CN" altLang="en-US" dirty="0">
                <a:solidFill>
                  <a:srgbClr val="C00000"/>
                </a:solidFill>
                <a:ea typeface="宋体" pitchFamily="2" charset="-122"/>
              </a:rPr>
              <a:t>将一个圆盘从</a:t>
            </a:r>
            <a:r>
              <a:rPr lang="en-US" altLang="zh-CN" dirty="0">
                <a:solidFill>
                  <a:srgbClr val="C00000"/>
                </a:solidFill>
                <a:ea typeface="宋体" pitchFamily="2" charset="-122"/>
              </a:rPr>
              <a:t>A</a:t>
            </a:r>
            <a:r>
              <a:rPr lang="zh-CN" altLang="en-US" dirty="0">
                <a:solidFill>
                  <a:srgbClr val="C00000"/>
                </a:solidFill>
                <a:ea typeface="宋体" pitchFamily="2" charset="-122"/>
              </a:rPr>
              <a:t>移到</a:t>
            </a:r>
            <a:r>
              <a:rPr lang="en-US" altLang="zh-CN" dirty="0">
                <a:solidFill>
                  <a:srgbClr val="C00000"/>
                </a:solidFill>
                <a:ea typeface="宋体" pitchFamily="2" charset="-122"/>
              </a:rPr>
              <a:t>B</a:t>
            </a:r>
            <a:r>
              <a:rPr lang="zh-CN" altLang="en-US" dirty="0">
                <a:solidFill>
                  <a:srgbClr val="C00000"/>
                </a:solidFill>
                <a:ea typeface="宋体" pitchFamily="2" charset="-122"/>
              </a:rPr>
              <a:t> </a:t>
            </a:r>
          </a:p>
          <a:p>
            <a:pPr lvl="1">
              <a:defRPr/>
            </a:pPr>
            <a:endParaRPr lang="zh-CN" altLang="en-US" dirty="0">
              <a:ea typeface=""/>
              <a:cs typeface=""/>
            </a:endParaRPr>
          </a:p>
        </p:txBody>
      </p:sp>
      <p:sp>
        <p:nvSpPr>
          <p:cNvPr id="44036" name="Rectangle 5"/>
          <p:cNvSpPr>
            <a:spLocks noChangeArrowheads="1"/>
          </p:cNvSpPr>
          <p:nvPr/>
        </p:nvSpPr>
        <p:spPr bwMode="auto">
          <a:xfrm>
            <a:off x="514350" y="1643063"/>
            <a:ext cx="8229600" cy="2362200"/>
          </a:xfrm>
          <a:prstGeom prst="rect">
            <a:avLst/>
          </a:prstGeom>
          <a:solidFill>
            <a:srgbClr val="000066"/>
          </a:solidFill>
          <a:ln w="38100">
            <a:solidFill>
              <a:srgbClr val="0000FF"/>
            </a:solidFill>
            <a:miter lim="800000"/>
            <a:headEnd/>
            <a:tailEnd/>
          </a:ln>
        </p:spPr>
        <p:txBody>
          <a:bodyPr wrap="none" anchor="ctr"/>
          <a:lstStyle/>
          <a:p>
            <a:endParaRPr lang="zh-CN" altLang="en-US" sz="3600" b="1">
              <a:latin typeface="Arial" pitchFamily="34" charset="0"/>
              <a:ea typeface="宋体" pitchFamily="2" charset="-122"/>
            </a:endParaRPr>
          </a:p>
        </p:txBody>
      </p:sp>
      <p:sp>
        <p:nvSpPr>
          <p:cNvPr id="44037" name="AutoShape 6" descr="浅色横线"/>
          <p:cNvSpPr>
            <a:spLocks noChangeArrowheads="1"/>
          </p:cNvSpPr>
          <p:nvPr/>
        </p:nvSpPr>
        <p:spPr bwMode="auto">
          <a:xfrm rot="10800000">
            <a:off x="1066800" y="233203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
        <p:nvSpPr>
          <p:cNvPr id="622600" name="Line 7"/>
          <p:cNvSpPr>
            <a:spLocks noChangeShapeType="1"/>
          </p:cNvSpPr>
          <p:nvPr/>
        </p:nvSpPr>
        <p:spPr bwMode="auto">
          <a:xfrm>
            <a:off x="685800" y="3452813"/>
            <a:ext cx="7924800" cy="0"/>
          </a:xfrm>
          <a:prstGeom prst="line">
            <a:avLst/>
          </a:prstGeom>
          <a:noFill/>
          <a:ln w="38100">
            <a:solidFill>
              <a:srgbClr val="C0C0C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132104" name="Line 8"/>
          <p:cNvSpPr>
            <a:spLocks noChangeShapeType="1"/>
          </p:cNvSpPr>
          <p:nvPr/>
        </p:nvSpPr>
        <p:spPr bwMode="auto">
          <a:xfrm>
            <a:off x="914400"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2" name="Line 9"/>
          <p:cNvSpPr>
            <a:spLocks noChangeShapeType="1"/>
          </p:cNvSpPr>
          <p:nvPr/>
        </p:nvSpPr>
        <p:spPr bwMode="auto">
          <a:xfrm>
            <a:off x="4648200" y="1928813"/>
            <a:ext cx="0" cy="1524000"/>
          </a:xfrm>
          <a:prstGeom prst="line">
            <a:avLst/>
          </a:prstGeom>
          <a:noFill/>
          <a:ln w="38100">
            <a:solidFill>
              <a:srgbClr val="FF00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3" name="Line 10"/>
          <p:cNvSpPr>
            <a:spLocks noChangeShapeType="1"/>
          </p:cNvSpPr>
          <p:nvPr/>
        </p:nvSpPr>
        <p:spPr bwMode="auto">
          <a:xfrm>
            <a:off x="1905000" y="1928813"/>
            <a:ext cx="0" cy="1524000"/>
          </a:xfrm>
          <a:prstGeom prst="line">
            <a:avLst/>
          </a:prstGeom>
          <a:noFill/>
          <a:ln w="38100">
            <a:solidFill>
              <a:srgbClr val="00FF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4" name="Line 11"/>
          <p:cNvSpPr>
            <a:spLocks noChangeShapeType="1"/>
          </p:cNvSpPr>
          <p:nvPr/>
        </p:nvSpPr>
        <p:spPr bwMode="auto">
          <a:xfrm>
            <a:off x="7315200" y="1928813"/>
            <a:ext cx="0" cy="1524000"/>
          </a:xfrm>
          <a:prstGeom prst="line">
            <a:avLst/>
          </a:prstGeom>
          <a:noFill/>
          <a:ln w="38100">
            <a:solidFill>
              <a:srgbClr val="00FF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4043" name="Text Box 12"/>
          <p:cNvSpPr txBox="1">
            <a:spLocks noChangeArrowheads="1"/>
          </p:cNvSpPr>
          <p:nvPr/>
        </p:nvSpPr>
        <p:spPr bwMode="auto">
          <a:xfrm>
            <a:off x="1679575" y="3473450"/>
            <a:ext cx="404813"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00FF00"/>
                </a:solidFill>
              </a:rPr>
              <a:t>A</a:t>
            </a:r>
            <a:endParaRPr kumimoji="1" lang="zh-CN" altLang="en-US">
              <a:ea typeface="宋体" pitchFamily="2" charset="-122"/>
            </a:endParaRPr>
          </a:p>
        </p:txBody>
      </p:sp>
      <p:sp>
        <p:nvSpPr>
          <p:cNvPr id="132109" name="Text Box 13"/>
          <p:cNvSpPr txBox="1">
            <a:spLocks noChangeArrowheads="1"/>
          </p:cNvSpPr>
          <p:nvPr/>
        </p:nvSpPr>
        <p:spPr bwMode="auto">
          <a:xfrm>
            <a:off x="7131050" y="3473450"/>
            <a:ext cx="404813" cy="457200"/>
          </a:xfrm>
          <a:prstGeom prst="rect">
            <a:avLst/>
          </a:prstGeom>
          <a:noFill/>
          <a:ln w="9525">
            <a:noFill/>
            <a:miter lim="800000"/>
            <a:headEnd/>
            <a:tailEnd/>
          </a:ln>
          <a:effectLst/>
        </p:spPr>
        <p:txBody>
          <a:bodyPr wrap="none">
            <a:spAutoFit/>
          </a:bodyPr>
          <a:lstStyle/>
          <a:p>
            <a:pPr algn="ctr">
              <a:spcBef>
                <a:spcPct val="20000"/>
              </a:spcBef>
              <a:defRPr/>
            </a:pPr>
            <a:r>
              <a:rPr kumimoji="1" lang="en-US" altLang="zh-CN" b="1">
                <a:solidFill>
                  <a:srgbClr val="00FFFF"/>
                </a:solidFill>
                <a:effectLst>
                  <a:outerShdw blurRad="38100" dist="38100" dir="2700000" algn="tl">
                    <a:srgbClr val="C0C0C0"/>
                  </a:outerShdw>
                </a:effectLst>
                <a:ea typeface="+mn-ea"/>
              </a:rPr>
              <a:t>C</a:t>
            </a:r>
            <a:endParaRPr kumimoji="1" lang="zh-CN" altLang="en-US">
              <a:ea typeface="宋体" pitchFamily="2" charset="-122"/>
            </a:endParaRPr>
          </a:p>
        </p:txBody>
      </p:sp>
      <p:sp>
        <p:nvSpPr>
          <p:cNvPr id="44045" name="Text Box 14"/>
          <p:cNvSpPr txBox="1">
            <a:spLocks noChangeArrowheads="1"/>
          </p:cNvSpPr>
          <p:nvPr/>
        </p:nvSpPr>
        <p:spPr bwMode="auto">
          <a:xfrm>
            <a:off x="4435475" y="3473450"/>
            <a:ext cx="387350"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FF00FF"/>
                </a:solidFill>
              </a:rPr>
              <a:t>B</a:t>
            </a:r>
            <a:endParaRPr kumimoji="1" lang="zh-CN" altLang="en-US">
              <a:ea typeface="宋体" pitchFamily="2" charset="-122"/>
            </a:endParaRPr>
          </a:p>
        </p:txBody>
      </p:sp>
      <p:sp>
        <p:nvSpPr>
          <p:cNvPr id="132112" name="Line 16"/>
          <p:cNvSpPr>
            <a:spLocks noChangeShapeType="1"/>
          </p:cNvSpPr>
          <p:nvPr/>
        </p:nvSpPr>
        <p:spPr bwMode="auto">
          <a:xfrm>
            <a:off x="3643313"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4047" name="AutoShape 17" descr="浅色横线"/>
          <p:cNvSpPr>
            <a:spLocks noChangeArrowheads="1"/>
          </p:cNvSpPr>
          <p:nvPr/>
        </p:nvSpPr>
        <p:spPr bwMode="auto">
          <a:xfrm rot="10800000">
            <a:off x="3803650" y="233838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pic>
        <p:nvPicPr>
          <p:cNvPr id="20" name="Picture 4"/>
          <p:cNvPicPr>
            <a:picLocks noChangeAspect="1" noChangeArrowheads="1"/>
          </p:cNvPicPr>
          <p:nvPr/>
        </p:nvPicPr>
        <p:blipFill>
          <a:blip r:embed="rId2" cstate="print"/>
          <a:srcRect/>
          <a:stretch>
            <a:fillRect/>
          </a:stretch>
        </p:blipFill>
        <p:spPr bwMode="auto">
          <a:xfrm>
            <a:off x="5080000" y="4500563"/>
            <a:ext cx="3968750" cy="357187"/>
          </a:xfrm>
          <a:prstGeom prst="rect">
            <a:avLst/>
          </a:prstGeom>
          <a:noFill/>
          <a:ln w="12700">
            <a:noFill/>
            <a:miter lim="800000"/>
            <a:headEnd type="none" w="sm" len="sm"/>
            <a:tailEnd type="none" w="sm" len="sm"/>
          </a:ln>
        </p:spPr>
      </p:pic>
      <p:pic>
        <p:nvPicPr>
          <p:cNvPr id="21" name="Picture 6"/>
          <p:cNvPicPr>
            <a:picLocks noChangeAspect="1" noChangeArrowheads="1"/>
          </p:cNvPicPr>
          <p:nvPr/>
        </p:nvPicPr>
        <p:blipFill>
          <a:blip r:embed="rId3" cstate="print"/>
          <a:srcRect/>
          <a:stretch>
            <a:fillRect/>
          </a:stretch>
        </p:blipFill>
        <p:spPr bwMode="auto">
          <a:xfrm>
            <a:off x="5072063" y="5027613"/>
            <a:ext cx="3525837" cy="258762"/>
          </a:xfrm>
          <a:prstGeom prst="rect">
            <a:avLst/>
          </a:prstGeom>
          <a:noFill/>
          <a:ln w="12700">
            <a:noFill/>
            <a:miter lim="800000"/>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22596">
                                            <p:txEl>
                                              <p:pRg st="0" end="0"/>
                                            </p:txEl>
                                          </p:spTgt>
                                        </p:tgtEl>
                                        <p:attrNameLst>
                                          <p:attrName>style.visibility</p:attrName>
                                        </p:attrNameLst>
                                      </p:cBhvr>
                                      <p:to>
                                        <p:strVal val="visible"/>
                                      </p:to>
                                    </p:set>
                                    <p:animEffect transition="in" filter="box(out)">
                                      <p:cBhvr>
                                        <p:cTn id="7" dur="500"/>
                                        <p:tgtEl>
                                          <p:spTgt spid="6225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22596">
                                            <p:txEl>
                                              <p:pRg st="1" end="1"/>
                                            </p:txEl>
                                          </p:spTgt>
                                        </p:tgtEl>
                                        <p:attrNameLst>
                                          <p:attrName>style.visibility</p:attrName>
                                        </p:attrNameLst>
                                      </p:cBhvr>
                                      <p:to>
                                        <p:strVal val="visible"/>
                                      </p:to>
                                    </p:set>
                                    <p:animEffect transition="in" filter="box(out)">
                                      <p:cBhvr>
                                        <p:cTn id="12" dur="500"/>
                                        <p:tgtEl>
                                          <p:spTgt spid="622596">
                                            <p:txEl>
                                              <p:pRg st="1" end="1"/>
                                            </p:txEl>
                                          </p:spTgt>
                                        </p:tgtEl>
                                      </p:cBhvr>
                                    </p:animEffect>
                                  </p:childTnLst>
                                </p:cTn>
                              </p:par>
                              <p:par>
                                <p:cTn id="13" presetID="4" presetClass="entr" presetSubtype="32"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ox(out)">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622596">
                                            <p:txEl>
                                              <p:pRg st="2" end="2"/>
                                            </p:txEl>
                                          </p:spTgt>
                                        </p:tgtEl>
                                        <p:attrNameLst>
                                          <p:attrName>style.visibility</p:attrName>
                                        </p:attrNameLst>
                                      </p:cBhvr>
                                      <p:to>
                                        <p:strVal val="visible"/>
                                      </p:to>
                                    </p:set>
                                    <p:animEffect transition="in" filter="box(out)">
                                      <p:cBhvr>
                                        <p:cTn id="20" dur="500"/>
                                        <p:tgtEl>
                                          <p:spTgt spid="622596">
                                            <p:txEl>
                                              <p:pRg st="2" end="2"/>
                                            </p:txEl>
                                          </p:spTgt>
                                        </p:tgtEl>
                                      </p:cBhvr>
                                    </p:animEffect>
                                  </p:childTnLst>
                                </p:cTn>
                              </p:par>
                              <p:par>
                                <p:cTn id="21" presetID="4" presetClass="entr" presetSubtype="32"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ox(out)">
                                      <p:cBhvr>
                                        <p:cTn id="2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6"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2595" name="Rectangle 2"/>
          <p:cNvSpPr>
            <a:spLocks noGrp="1" noChangeArrowheads="1"/>
          </p:cNvSpPr>
          <p:nvPr>
            <p:ph type="title" idx="4294967295"/>
          </p:nvPr>
        </p:nvSpPr>
        <p:spPr/>
        <p:txBody>
          <a:bodyPr lIns="91440" tIns="45720" rIns="91440" bIns="45720"/>
          <a:lstStyle/>
          <a:p>
            <a:pPr>
              <a:defRPr/>
            </a:pPr>
            <a:r>
              <a:rPr lang="zh-CN" altLang="en-US" dirty="0">
                <a:latin typeface="黑体" pitchFamily="2" charset="-122"/>
              </a:rPr>
              <a:t>汉诺塔</a:t>
            </a:r>
            <a:r>
              <a:rPr lang="zh-CN" altLang="en-US" dirty="0"/>
              <a:t>（</a:t>
            </a:r>
            <a:r>
              <a:rPr lang="en-US" altLang="zh-CN" dirty="0"/>
              <a:t>Hanoi</a:t>
            </a:r>
            <a:r>
              <a:rPr lang="zh-CN" altLang="en-US" dirty="0"/>
              <a:t>）</a:t>
            </a:r>
            <a:r>
              <a:rPr lang="zh-CN" altLang="en-US" dirty="0">
                <a:latin typeface="黑体" pitchFamily="2" charset="-122"/>
              </a:rPr>
              <a:t>问题</a:t>
            </a:r>
            <a:endParaRPr lang="en-US" altLang="zh-CN" dirty="0">
              <a:latin typeface="黑体" pitchFamily="2" charset="-122"/>
            </a:endParaRPr>
          </a:p>
        </p:txBody>
      </p:sp>
      <p:sp>
        <p:nvSpPr>
          <p:cNvPr id="622596" name="Rectangle 3"/>
          <p:cNvSpPr>
            <a:spLocks noGrp="1" noChangeArrowheads="1"/>
          </p:cNvSpPr>
          <p:nvPr>
            <p:ph type="body" idx="4294967295"/>
          </p:nvPr>
        </p:nvSpPr>
        <p:spPr>
          <a:xfrm>
            <a:off x="500063" y="4000500"/>
            <a:ext cx="8358187" cy="2309813"/>
          </a:xfrm>
        </p:spPr>
        <p:txBody>
          <a:bodyPr lIns="91440" tIns="45720" rIns="91440" bIns="45720"/>
          <a:lstStyle/>
          <a:p>
            <a:pPr>
              <a:buFont typeface="Monotype Sorts" charset="2"/>
              <a:buChar char=""/>
              <a:defRPr/>
            </a:pPr>
            <a:r>
              <a:rPr lang="zh-CN" altLang="en-US" dirty="0">
                <a:ea typeface="华文仿宋" pitchFamily="2" charset="-122"/>
              </a:rPr>
              <a:t>对于一个有 </a:t>
            </a:r>
            <a:r>
              <a:rPr lang="en-US" altLang="zh-CN" i="1" dirty="0">
                <a:ea typeface="华文仿宋" pitchFamily="2" charset="-122"/>
              </a:rPr>
              <a:t>n</a:t>
            </a:r>
            <a:r>
              <a:rPr lang="zh-CN" altLang="en-US" dirty="0">
                <a:ea typeface="华文仿宋" pitchFamily="2" charset="-122"/>
              </a:rPr>
              <a:t>（</a:t>
            </a:r>
            <a:r>
              <a:rPr lang="en-US" altLang="zh-CN" i="1" dirty="0">
                <a:ea typeface="华文仿宋" pitchFamily="2" charset="-122"/>
              </a:rPr>
              <a:t>n</a:t>
            </a:r>
            <a:r>
              <a:rPr lang="en-US" altLang="zh-CN" dirty="0">
                <a:ea typeface="华文仿宋" pitchFamily="2" charset="-122"/>
              </a:rPr>
              <a:t>&gt;1</a:t>
            </a:r>
            <a:r>
              <a:rPr lang="zh-CN" altLang="en-US" dirty="0">
                <a:ea typeface="华文仿宋" pitchFamily="2" charset="-122"/>
              </a:rPr>
              <a:t>）个圆盘的汉诺塔，将</a:t>
            </a:r>
            <a:r>
              <a:rPr lang="en-US" altLang="zh-CN" i="1" dirty="0">
                <a:ea typeface="华文仿宋" pitchFamily="2" charset="-122"/>
              </a:rPr>
              <a:t>n</a:t>
            </a:r>
            <a:r>
              <a:rPr lang="zh-CN" altLang="en-US" dirty="0">
                <a:ea typeface="华文仿宋" pitchFamily="2" charset="-122"/>
              </a:rPr>
              <a:t>个圆盘分为两部分：上面 </a:t>
            </a:r>
            <a:r>
              <a:rPr lang="en-US" altLang="zh-CN" i="1" dirty="0">
                <a:ea typeface="华文仿宋" pitchFamily="2" charset="-122"/>
              </a:rPr>
              <a:t>n</a:t>
            </a:r>
            <a:r>
              <a:rPr lang="en-US" altLang="zh-CN" dirty="0">
                <a:latin typeface="Courier New" pitchFamily="49" charset="0"/>
                <a:ea typeface="华文仿宋" pitchFamily="2" charset="-122"/>
                <a:cs typeface="Courier New" pitchFamily="49" charset="0"/>
              </a:rPr>
              <a:t>-</a:t>
            </a:r>
            <a:r>
              <a:rPr lang="en-US" altLang="zh-CN" dirty="0">
                <a:ea typeface="华文仿宋" pitchFamily="2" charset="-122"/>
              </a:rPr>
              <a:t>1 </a:t>
            </a:r>
            <a:r>
              <a:rPr lang="zh-CN" altLang="en-US" dirty="0">
                <a:ea typeface="华文仿宋" pitchFamily="2" charset="-122"/>
              </a:rPr>
              <a:t>个圆盘和最下面的</a:t>
            </a:r>
            <a:r>
              <a:rPr lang="en-US" altLang="zh-CN" i="1" dirty="0">
                <a:ea typeface="华文仿宋" pitchFamily="2" charset="-122"/>
              </a:rPr>
              <a:t>n</a:t>
            </a:r>
            <a:r>
              <a:rPr lang="zh-CN" altLang="en-US" dirty="0">
                <a:ea typeface="华文仿宋" pitchFamily="2" charset="-122"/>
              </a:rPr>
              <a:t>号圆盘。将“上面</a:t>
            </a:r>
            <a:r>
              <a:rPr lang="en-US" altLang="zh-CN" i="1" dirty="0">
                <a:ea typeface="华文仿宋" pitchFamily="2" charset="-122"/>
              </a:rPr>
              <a:t>n</a:t>
            </a:r>
            <a:r>
              <a:rPr lang="en-US" altLang="zh-CN" dirty="0">
                <a:latin typeface="Courier New" pitchFamily="49" charset="0"/>
                <a:ea typeface="华文仿宋" pitchFamily="2" charset="-122"/>
                <a:cs typeface="Courier New" pitchFamily="49" charset="0"/>
              </a:rPr>
              <a:t>-</a:t>
            </a:r>
            <a:r>
              <a:rPr lang="en-US" altLang="zh-CN" dirty="0">
                <a:ea typeface="华文仿宋" pitchFamily="2" charset="-122"/>
              </a:rPr>
              <a:t>1</a:t>
            </a:r>
            <a:r>
              <a:rPr lang="zh-CN" altLang="en-US" dirty="0">
                <a:ea typeface="华文仿宋" pitchFamily="2" charset="-122"/>
              </a:rPr>
              <a:t>个圆盘”看成一个整体</a:t>
            </a:r>
          </a:p>
          <a:p>
            <a:pPr lvl="1">
              <a:defRPr/>
            </a:pPr>
            <a:r>
              <a:rPr lang="zh-CN" altLang="en-US" dirty="0">
                <a:ea typeface=""/>
                <a:cs typeface=""/>
              </a:rPr>
              <a:t>将</a:t>
            </a:r>
            <a:r>
              <a:rPr lang="en-US" altLang="zh-CN" i="1" dirty="0">
                <a:ea typeface=""/>
                <a:cs typeface=""/>
              </a:rPr>
              <a:t>n</a:t>
            </a:r>
            <a:r>
              <a:rPr lang="en-US" altLang="zh-CN" dirty="0">
                <a:latin typeface="Courier New" pitchFamily="49" charset="0"/>
                <a:ea typeface=""/>
                <a:cs typeface="Courier New" pitchFamily="49" charset="0"/>
              </a:rPr>
              <a:t>-</a:t>
            </a:r>
            <a:r>
              <a:rPr lang="en-US" altLang="zh-CN" dirty="0">
                <a:ea typeface=""/>
                <a:cs typeface=""/>
              </a:rPr>
              <a:t>1</a:t>
            </a:r>
            <a:r>
              <a:rPr lang="zh-CN" altLang="en-US" dirty="0">
                <a:ea typeface=""/>
                <a:cs typeface=""/>
              </a:rPr>
              <a:t>个圆盘从</a:t>
            </a:r>
            <a:r>
              <a:rPr lang="en-US" altLang="zh-CN" dirty="0">
                <a:ea typeface=""/>
                <a:cs typeface=""/>
              </a:rPr>
              <a:t>A</a:t>
            </a:r>
            <a:r>
              <a:rPr lang="zh-CN" altLang="en-US" dirty="0">
                <a:ea typeface=""/>
                <a:cs typeface=""/>
              </a:rPr>
              <a:t>移到</a:t>
            </a:r>
            <a:r>
              <a:rPr lang="en-US" altLang="zh-CN" dirty="0">
                <a:ea typeface=""/>
                <a:cs typeface=""/>
              </a:rPr>
              <a:t>C     </a:t>
            </a:r>
            <a:r>
              <a:rPr lang="en-US" altLang="zh-CN" dirty="0" err="1">
                <a:ea typeface=""/>
                <a:cs typeface=""/>
              </a:rPr>
              <a:t>hanoi</a:t>
            </a:r>
            <a:r>
              <a:rPr lang="en-US" altLang="zh-CN" dirty="0">
                <a:ea typeface=""/>
                <a:cs typeface=""/>
              </a:rPr>
              <a:t>(n-1, a, c, b);</a:t>
            </a:r>
            <a:endParaRPr lang="zh-CN" altLang="en-US" dirty="0">
              <a:ea typeface=""/>
              <a:cs typeface=""/>
            </a:endParaRPr>
          </a:p>
          <a:p>
            <a:pPr lvl="1">
              <a:defRPr/>
            </a:pPr>
            <a:r>
              <a:rPr lang="zh-CN" altLang="en-US" dirty="0">
                <a:ea typeface=""/>
                <a:cs typeface=""/>
              </a:rPr>
              <a:t>将</a:t>
            </a:r>
            <a:r>
              <a:rPr lang="en-US" altLang="zh-CN" i="1" dirty="0">
                <a:ea typeface=""/>
                <a:cs typeface=""/>
              </a:rPr>
              <a:t>n</a:t>
            </a:r>
            <a:r>
              <a:rPr lang="zh-CN" altLang="en-US" dirty="0">
                <a:ea typeface=""/>
                <a:cs typeface=""/>
              </a:rPr>
              <a:t>号圆盘从</a:t>
            </a:r>
            <a:r>
              <a:rPr lang="en-US" altLang="zh-CN" dirty="0">
                <a:ea typeface=""/>
                <a:cs typeface=""/>
              </a:rPr>
              <a:t>A</a:t>
            </a:r>
            <a:r>
              <a:rPr lang="zh-CN" altLang="en-US" dirty="0">
                <a:ea typeface=""/>
                <a:cs typeface=""/>
              </a:rPr>
              <a:t>移到</a:t>
            </a:r>
            <a:r>
              <a:rPr lang="en-US" altLang="zh-CN" dirty="0">
                <a:ea typeface=""/>
                <a:cs typeface=""/>
              </a:rPr>
              <a:t>B         move(n, a, b)</a:t>
            </a:r>
          </a:p>
          <a:p>
            <a:pPr lvl="1">
              <a:defRPr/>
            </a:pPr>
            <a:r>
              <a:rPr lang="zh-CN" altLang="en-US" dirty="0">
                <a:ea typeface=""/>
                <a:cs typeface=""/>
              </a:rPr>
              <a:t>将</a:t>
            </a:r>
            <a:r>
              <a:rPr lang="en-US" altLang="zh-CN" i="1" dirty="0">
                <a:ea typeface=""/>
                <a:cs typeface=""/>
              </a:rPr>
              <a:t>n</a:t>
            </a:r>
            <a:r>
              <a:rPr lang="en-US" altLang="zh-CN" dirty="0">
                <a:latin typeface="Courier New" pitchFamily="49" charset="0"/>
                <a:ea typeface=""/>
                <a:cs typeface="Courier New" pitchFamily="49" charset="0"/>
              </a:rPr>
              <a:t>-</a:t>
            </a:r>
            <a:r>
              <a:rPr lang="en-US" altLang="zh-CN" dirty="0">
                <a:ea typeface=""/>
                <a:cs typeface=""/>
              </a:rPr>
              <a:t>1</a:t>
            </a:r>
            <a:r>
              <a:rPr lang="zh-CN" altLang="en-US" dirty="0">
                <a:ea typeface=""/>
                <a:cs typeface=""/>
              </a:rPr>
              <a:t>个圆盘从</a:t>
            </a:r>
            <a:r>
              <a:rPr lang="en-US" altLang="zh-CN" dirty="0">
                <a:ea typeface=""/>
                <a:cs typeface=""/>
              </a:rPr>
              <a:t>C</a:t>
            </a:r>
            <a:r>
              <a:rPr lang="zh-CN" altLang="en-US" dirty="0">
                <a:ea typeface=""/>
                <a:cs typeface=""/>
              </a:rPr>
              <a:t>移到</a:t>
            </a:r>
            <a:r>
              <a:rPr lang="en-US" altLang="zh-CN" dirty="0">
                <a:ea typeface=""/>
                <a:cs typeface=""/>
              </a:rPr>
              <a:t>B      </a:t>
            </a:r>
            <a:r>
              <a:rPr lang="en-US" altLang="zh-CN" dirty="0" err="1">
                <a:ea typeface=""/>
                <a:cs typeface=""/>
              </a:rPr>
              <a:t>hanoi</a:t>
            </a:r>
            <a:r>
              <a:rPr lang="en-US" altLang="zh-CN" dirty="0">
                <a:ea typeface=""/>
                <a:cs typeface=""/>
              </a:rPr>
              <a:t>(n-1, c, b, a)</a:t>
            </a:r>
            <a:endParaRPr lang="zh-CN" altLang="en-US" dirty="0">
              <a:ea typeface=""/>
              <a:cs typeface=""/>
            </a:endParaRPr>
          </a:p>
        </p:txBody>
      </p:sp>
      <p:sp>
        <p:nvSpPr>
          <p:cNvPr id="43012" name="Rectangle 5"/>
          <p:cNvSpPr>
            <a:spLocks noChangeArrowheads="1"/>
          </p:cNvSpPr>
          <p:nvPr/>
        </p:nvSpPr>
        <p:spPr bwMode="auto">
          <a:xfrm>
            <a:off x="514350" y="1643063"/>
            <a:ext cx="8229600" cy="2362200"/>
          </a:xfrm>
          <a:prstGeom prst="rect">
            <a:avLst/>
          </a:prstGeom>
          <a:solidFill>
            <a:srgbClr val="000066"/>
          </a:solidFill>
          <a:ln w="38100">
            <a:solidFill>
              <a:srgbClr val="0000FF"/>
            </a:solidFill>
            <a:miter lim="800000"/>
            <a:headEnd/>
            <a:tailEnd/>
          </a:ln>
        </p:spPr>
        <p:txBody>
          <a:bodyPr wrap="none" anchor="ctr"/>
          <a:lstStyle/>
          <a:p>
            <a:endParaRPr lang="zh-CN" altLang="en-US" sz="3600" b="1">
              <a:latin typeface="Arial" pitchFamily="34" charset="0"/>
              <a:ea typeface="宋体" pitchFamily="2" charset="-122"/>
            </a:endParaRPr>
          </a:p>
        </p:txBody>
      </p:sp>
      <p:sp>
        <p:nvSpPr>
          <p:cNvPr id="132102" name="AutoShape 6" descr="浅色横线"/>
          <p:cNvSpPr>
            <a:spLocks noChangeArrowheads="1"/>
          </p:cNvSpPr>
          <p:nvPr/>
        </p:nvSpPr>
        <p:spPr bwMode="auto">
          <a:xfrm rot="10800000">
            <a:off x="1066800" y="233203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
        <p:nvSpPr>
          <p:cNvPr id="622600" name="Line 7"/>
          <p:cNvSpPr>
            <a:spLocks noChangeShapeType="1"/>
          </p:cNvSpPr>
          <p:nvPr/>
        </p:nvSpPr>
        <p:spPr bwMode="auto">
          <a:xfrm>
            <a:off x="685800" y="3452813"/>
            <a:ext cx="7924800" cy="0"/>
          </a:xfrm>
          <a:prstGeom prst="line">
            <a:avLst/>
          </a:prstGeom>
          <a:noFill/>
          <a:ln w="38100">
            <a:solidFill>
              <a:srgbClr val="C0C0C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132104" name="Line 8"/>
          <p:cNvSpPr>
            <a:spLocks noChangeShapeType="1"/>
          </p:cNvSpPr>
          <p:nvPr/>
        </p:nvSpPr>
        <p:spPr bwMode="auto">
          <a:xfrm>
            <a:off x="914400"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2" name="Line 9"/>
          <p:cNvSpPr>
            <a:spLocks noChangeShapeType="1"/>
          </p:cNvSpPr>
          <p:nvPr/>
        </p:nvSpPr>
        <p:spPr bwMode="auto">
          <a:xfrm>
            <a:off x="4648200" y="1928813"/>
            <a:ext cx="0" cy="1524000"/>
          </a:xfrm>
          <a:prstGeom prst="line">
            <a:avLst/>
          </a:prstGeom>
          <a:noFill/>
          <a:ln w="38100">
            <a:solidFill>
              <a:srgbClr val="FF00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3" name="Line 10"/>
          <p:cNvSpPr>
            <a:spLocks noChangeShapeType="1"/>
          </p:cNvSpPr>
          <p:nvPr/>
        </p:nvSpPr>
        <p:spPr bwMode="auto">
          <a:xfrm>
            <a:off x="1905000" y="1928813"/>
            <a:ext cx="0" cy="1524000"/>
          </a:xfrm>
          <a:prstGeom prst="line">
            <a:avLst/>
          </a:prstGeom>
          <a:noFill/>
          <a:ln w="38100">
            <a:solidFill>
              <a:srgbClr val="00FF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622604" name="Line 11"/>
          <p:cNvSpPr>
            <a:spLocks noChangeShapeType="1"/>
          </p:cNvSpPr>
          <p:nvPr/>
        </p:nvSpPr>
        <p:spPr bwMode="auto">
          <a:xfrm>
            <a:off x="7315200" y="1928813"/>
            <a:ext cx="0" cy="1524000"/>
          </a:xfrm>
          <a:prstGeom prst="line">
            <a:avLst/>
          </a:prstGeom>
          <a:noFill/>
          <a:ln w="38100">
            <a:solidFill>
              <a:srgbClr val="00FFFF"/>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3019" name="Text Box 12"/>
          <p:cNvSpPr txBox="1">
            <a:spLocks noChangeArrowheads="1"/>
          </p:cNvSpPr>
          <p:nvPr/>
        </p:nvSpPr>
        <p:spPr bwMode="auto">
          <a:xfrm>
            <a:off x="1679575" y="3473450"/>
            <a:ext cx="404813"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00FF00"/>
                </a:solidFill>
              </a:rPr>
              <a:t>A</a:t>
            </a:r>
            <a:endParaRPr kumimoji="1" lang="zh-CN" altLang="en-US">
              <a:ea typeface="宋体" pitchFamily="2" charset="-122"/>
            </a:endParaRPr>
          </a:p>
        </p:txBody>
      </p:sp>
      <p:sp>
        <p:nvSpPr>
          <p:cNvPr id="132109" name="Text Box 13"/>
          <p:cNvSpPr txBox="1">
            <a:spLocks noChangeArrowheads="1"/>
          </p:cNvSpPr>
          <p:nvPr/>
        </p:nvSpPr>
        <p:spPr bwMode="auto">
          <a:xfrm>
            <a:off x="7131050" y="3473450"/>
            <a:ext cx="404813" cy="457200"/>
          </a:xfrm>
          <a:prstGeom prst="rect">
            <a:avLst/>
          </a:prstGeom>
          <a:noFill/>
          <a:ln w="9525">
            <a:noFill/>
            <a:miter lim="800000"/>
            <a:headEnd/>
            <a:tailEnd/>
          </a:ln>
          <a:effectLst/>
        </p:spPr>
        <p:txBody>
          <a:bodyPr wrap="none">
            <a:spAutoFit/>
          </a:bodyPr>
          <a:lstStyle/>
          <a:p>
            <a:pPr algn="ctr">
              <a:spcBef>
                <a:spcPct val="20000"/>
              </a:spcBef>
              <a:defRPr/>
            </a:pPr>
            <a:r>
              <a:rPr kumimoji="1" lang="en-US" altLang="zh-CN" b="1">
                <a:solidFill>
                  <a:srgbClr val="00FFFF"/>
                </a:solidFill>
                <a:effectLst>
                  <a:outerShdw blurRad="38100" dist="38100" dir="2700000" algn="tl">
                    <a:srgbClr val="C0C0C0"/>
                  </a:outerShdw>
                </a:effectLst>
                <a:ea typeface="+mn-ea"/>
              </a:rPr>
              <a:t>C</a:t>
            </a:r>
            <a:endParaRPr kumimoji="1" lang="zh-CN" altLang="en-US">
              <a:ea typeface="宋体" pitchFamily="2" charset="-122"/>
            </a:endParaRPr>
          </a:p>
        </p:txBody>
      </p:sp>
      <p:sp>
        <p:nvSpPr>
          <p:cNvPr id="43021" name="Text Box 14"/>
          <p:cNvSpPr txBox="1">
            <a:spLocks noChangeArrowheads="1"/>
          </p:cNvSpPr>
          <p:nvPr/>
        </p:nvSpPr>
        <p:spPr bwMode="auto">
          <a:xfrm>
            <a:off x="4435475" y="3473450"/>
            <a:ext cx="387350" cy="457200"/>
          </a:xfrm>
          <a:prstGeom prst="rect">
            <a:avLst/>
          </a:prstGeom>
          <a:noFill/>
          <a:ln w="9525">
            <a:noFill/>
            <a:miter lim="800000"/>
            <a:headEnd/>
            <a:tailEnd/>
          </a:ln>
        </p:spPr>
        <p:txBody>
          <a:bodyPr wrap="none">
            <a:spAutoFit/>
          </a:bodyPr>
          <a:lstStyle/>
          <a:p>
            <a:pPr algn="ctr">
              <a:spcBef>
                <a:spcPct val="20000"/>
              </a:spcBef>
            </a:pPr>
            <a:r>
              <a:rPr kumimoji="1" lang="en-US" altLang="zh-CN" b="1">
                <a:solidFill>
                  <a:srgbClr val="FF00FF"/>
                </a:solidFill>
              </a:rPr>
              <a:t>B</a:t>
            </a:r>
            <a:endParaRPr kumimoji="1" lang="zh-CN" altLang="en-US">
              <a:ea typeface="宋体" pitchFamily="2" charset="-122"/>
            </a:endParaRPr>
          </a:p>
        </p:txBody>
      </p:sp>
      <p:sp>
        <p:nvSpPr>
          <p:cNvPr id="132111" name="AutoShape 15" descr="浅色横线"/>
          <p:cNvSpPr>
            <a:spLocks noChangeArrowheads="1"/>
          </p:cNvSpPr>
          <p:nvPr/>
        </p:nvSpPr>
        <p:spPr bwMode="auto">
          <a:xfrm rot="10800000">
            <a:off x="6484938" y="2517775"/>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
        <p:nvSpPr>
          <p:cNvPr id="132112" name="Line 16"/>
          <p:cNvSpPr>
            <a:spLocks noChangeShapeType="1"/>
          </p:cNvSpPr>
          <p:nvPr/>
        </p:nvSpPr>
        <p:spPr bwMode="auto">
          <a:xfrm>
            <a:off x="3643313" y="3360738"/>
            <a:ext cx="1981200" cy="0"/>
          </a:xfrm>
          <a:prstGeom prst="line">
            <a:avLst/>
          </a:prstGeom>
          <a:noFill/>
          <a:ln w="76200">
            <a:solidFill>
              <a:srgbClr val="FFCC00"/>
            </a:solidFill>
            <a:round/>
            <a:headEnd/>
            <a:tailEnd/>
          </a:ln>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132113" name="AutoShape 17" descr="浅色横线"/>
          <p:cNvSpPr>
            <a:spLocks noChangeArrowheads="1"/>
          </p:cNvSpPr>
          <p:nvPr/>
        </p:nvSpPr>
        <p:spPr bwMode="auto">
          <a:xfrm rot="10800000">
            <a:off x="3803650" y="2338388"/>
            <a:ext cx="1676400" cy="9144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pattFill prst="ltHorz">
            <a:fgClr>
              <a:srgbClr val="000066"/>
            </a:fgClr>
            <a:bgClr>
              <a:srgbClr val="FFCC00"/>
            </a:bgClr>
          </a:pattFill>
          <a:ln w="9525">
            <a:noFill/>
            <a:miter lim="800000"/>
            <a:headEnd/>
            <a:tailEnd/>
          </a:ln>
        </p:spPr>
        <p:txBody>
          <a:bodyPr rot="10800000" wrap="none" anchor="ctr"/>
          <a:lstStyle/>
          <a:p>
            <a:endParaRPr lang="zh-CN" altLang="en-US" sz="3600" b="1">
              <a:latin typeface="Arial" pitchFamily="34"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1" fill="hold" grpId="0" nodeType="clickEffect">
                                  <p:stCondLst>
                                    <p:cond delay="0"/>
                                  </p:stCondLst>
                                  <p:childTnLst>
                                    <p:anim calcmode="lin" valueType="num">
                                      <p:cBhvr additive="base">
                                        <p:cTn id="6" dur="500"/>
                                        <p:tgtEl>
                                          <p:spTgt spid="132102"/>
                                        </p:tgtEl>
                                        <p:attrNameLst>
                                          <p:attrName>ppt_x</p:attrName>
                                        </p:attrNameLst>
                                      </p:cBhvr>
                                      <p:tavLst>
                                        <p:tav tm="0">
                                          <p:val>
                                            <p:strVal val="ppt_x"/>
                                          </p:val>
                                        </p:tav>
                                        <p:tav tm="100000">
                                          <p:val>
                                            <p:strVal val="ppt_x"/>
                                          </p:val>
                                        </p:tav>
                                      </p:tavLst>
                                    </p:anim>
                                    <p:anim calcmode="lin" valueType="num">
                                      <p:cBhvr additive="base">
                                        <p:cTn id="7" dur="500"/>
                                        <p:tgtEl>
                                          <p:spTgt spid="132102"/>
                                        </p:tgtEl>
                                        <p:attrNameLst>
                                          <p:attrName>ppt_y</p:attrName>
                                        </p:attrNameLst>
                                      </p:cBhvr>
                                      <p:tavLst>
                                        <p:tav tm="0">
                                          <p:val>
                                            <p:strVal val="ppt_y"/>
                                          </p:val>
                                        </p:tav>
                                        <p:tav tm="100000">
                                          <p:val>
                                            <p:strVal val="0-ppt_h/2"/>
                                          </p:val>
                                        </p:tav>
                                      </p:tavLst>
                                    </p:anim>
                                    <p:set>
                                      <p:cBhvr>
                                        <p:cTn id="8" dur="1" fill="hold">
                                          <p:stCondLst>
                                            <p:cond delay="499"/>
                                          </p:stCondLst>
                                        </p:cTn>
                                        <p:tgtEl>
                                          <p:spTgt spid="132102"/>
                                        </p:tgtEl>
                                        <p:attrNameLst>
                                          <p:attrName>style.visibility</p:attrName>
                                        </p:attrNameLst>
                                      </p:cBhvr>
                                      <p:to>
                                        <p:strVal val="hidden"/>
                                      </p:to>
                                    </p:set>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32111"/>
                                        </p:tgtEl>
                                        <p:attrNameLst>
                                          <p:attrName>style.visibility</p:attrName>
                                        </p:attrNameLst>
                                      </p:cBhvr>
                                      <p:to>
                                        <p:strVal val="visible"/>
                                      </p:to>
                                    </p:set>
                                    <p:anim calcmode="lin" valueType="num">
                                      <p:cBhvr additive="base">
                                        <p:cTn id="12" dur="500" fill="hold"/>
                                        <p:tgtEl>
                                          <p:spTgt spid="132111"/>
                                        </p:tgtEl>
                                        <p:attrNameLst>
                                          <p:attrName>ppt_x</p:attrName>
                                        </p:attrNameLst>
                                      </p:cBhvr>
                                      <p:tavLst>
                                        <p:tav tm="0">
                                          <p:val>
                                            <p:strVal val="#ppt_x"/>
                                          </p:val>
                                        </p:tav>
                                        <p:tav tm="100000">
                                          <p:val>
                                            <p:strVal val="#ppt_x"/>
                                          </p:val>
                                        </p:tav>
                                      </p:tavLst>
                                    </p:anim>
                                    <p:anim calcmode="lin" valueType="num">
                                      <p:cBhvr additive="base">
                                        <p:cTn id="13" dur="500" fill="hold"/>
                                        <p:tgtEl>
                                          <p:spTgt spid="132111"/>
                                        </p:tgtEl>
                                        <p:attrNameLst>
                                          <p:attrName>ppt_y</p:attrName>
                                        </p:attrNameLst>
                                      </p:cBhvr>
                                      <p:tavLst>
                                        <p:tav tm="0">
                                          <p:val>
                                            <p:strVal val="0-#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22596">
                                            <p:txEl>
                                              <p:pRg st="1" end="1"/>
                                            </p:txEl>
                                          </p:spTgt>
                                        </p:tgtEl>
                                        <p:attrNameLst>
                                          <p:attrName>style.visibility</p:attrName>
                                        </p:attrNameLst>
                                      </p:cBhvr>
                                      <p:to>
                                        <p:strVal val="visible"/>
                                      </p:to>
                                    </p:set>
                                    <p:anim calcmode="lin" valueType="num">
                                      <p:cBhvr additive="base">
                                        <p:cTn id="16" dur="500" fill="hold"/>
                                        <p:tgtEl>
                                          <p:spTgt spid="622596">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6225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xit" presetSubtype="1" fill="hold" nodeType="clickEffect">
                                  <p:stCondLst>
                                    <p:cond delay="0"/>
                                  </p:stCondLst>
                                  <p:childTnLst>
                                    <p:anim calcmode="lin" valueType="num">
                                      <p:cBhvr additive="base">
                                        <p:cTn id="21" dur="500"/>
                                        <p:tgtEl>
                                          <p:spTgt spid="132104"/>
                                        </p:tgtEl>
                                        <p:attrNameLst>
                                          <p:attrName>ppt_x</p:attrName>
                                        </p:attrNameLst>
                                      </p:cBhvr>
                                      <p:tavLst>
                                        <p:tav tm="0">
                                          <p:val>
                                            <p:strVal val="ppt_x"/>
                                          </p:val>
                                        </p:tav>
                                        <p:tav tm="100000">
                                          <p:val>
                                            <p:strVal val="ppt_x"/>
                                          </p:val>
                                        </p:tav>
                                      </p:tavLst>
                                    </p:anim>
                                    <p:anim calcmode="lin" valueType="num">
                                      <p:cBhvr additive="base">
                                        <p:cTn id="22" dur="500"/>
                                        <p:tgtEl>
                                          <p:spTgt spid="132104"/>
                                        </p:tgtEl>
                                        <p:attrNameLst>
                                          <p:attrName>ppt_y</p:attrName>
                                        </p:attrNameLst>
                                      </p:cBhvr>
                                      <p:tavLst>
                                        <p:tav tm="0">
                                          <p:val>
                                            <p:strVal val="ppt_y"/>
                                          </p:val>
                                        </p:tav>
                                        <p:tav tm="100000">
                                          <p:val>
                                            <p:strVal val="0-ppt_h/2"/>
                                          </p:val>
                                        </p:tav>
                                      </p:tavLst>
                                    </p:anim>
                                    <p:set>
                                      <p:cBhvr>
                                        <p:cTn id="23" dur="1" fill="hold">
                                          <p:stCondLst>
                                            <p:cond delay="499"/>
                                          </p:stCondLst>
                                        </p:cTn>
                                        <p:tgtEl>
                                          <p:spTgt spid="132104"/>
                                        </p:tgtEl>
                                        <p:attrNameLst>
                                          <p:attrName>style.visibility</p:attrName>
                                        </p:attrNameLst>
                                      </p:cBhvr>
                                      <p:to>
                                        <p:strVal val="hidden"/>
                                      </p:to>
                                    </p:set>
                                  </p:childTnLst>
                                </p:cTn>
                              </p:par>
                            </p:childTnLst>
                          </p:cTn>
                        </p:par>
                        <p:par>
                          <p:cTn id="24" fill="hold">
                            <p:stCondLst>
                              <p:cond delay="500"/>
                            </p:stCondLst>
                            <p:childTnLst>
                              <p:par>
                                <p:cTn id="25" presetID="2" presetClass="entr" presetSubtype="1" fill="hold" nodeType="afterEffect">
                                  <p:stCondLst>
                                    <p:cond delay="0"/>
                                  </p:stCondLst>
                                  <p:childTnLst>
                                    <p:set>
                                      <p:cBhvr>
                                        <p:cTn id="26" dur="1" fill="hold">
                                          <p:stCondLst>
                                            <p:cond delay="0"/>
                                          </p:stCondLst>
                                        </p:cTn>
                                        <p:tgtEl>
                                          <p:spTgt spid="132112"/>
                                        </p:tgtEl>
                                        <p:attrNameLst>
                                          <p:attrName>style.visibility</p:attrName>
                                        </p:attrNameLst>
                                      </p:cBhvr>
                                      <p:to>
                                        <p:strVal val="visible"/>
                                      </p:to>
                                    </p:set>
                                    <p:anim calcmode="lin" valueType="num">
                                      <p:cBhvr additive="base">
                                        <p:cTn id="27" dur="500" fill="hold"/>
                                        <p:tgtEl>
                                          <p:spTgt spid="132112"/>
                                        </p:tgtEl>
                                        <p:attrNameLst>
                                          <p:attrName>ppt_x</p:attrName>
                                        </p:attrNameLst>
                                      </p:cBhvr>
                                      <p:tavLst>
                                        <p:tav tm="0">
                                          <p:val>
                                            <p:strVal val="#ppt_x"/>
                                          </p:val>
                                        </p:tav>
                                        <p:tav tm="100000">
                                          <p:val>
                                            <p:strVal val="#ppt_x"/>
                                          </p:val>
                                        </p:tav>
                                      </p:tavLst>
                                    </p:anim>
                                    <p:anim calcmode="lin" valueType="num">
                                      <p:cBhvr additive="base">
                                        <p:cTn id="28" dur="500" fill="hold"/>
                                        <p:tgtEl>
                                          <p:spTgt spid="132112"/>
                                        </p:tgtEl>
                                        <p:attrNameLst>
                                          <p:attrName>ppt_y</p:attrName>
                                        </p:attrNameLst>
                                      </p:cBhvr>
                                      <p:tavLst>
                                        <p:tav tm="0">
                                          <p:val>
                                            <p:strVal val="0-#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22596">
                                            <p:txEl>
                                              <p:pRg st="2" end="2"/>
                                            </p:txEl>
                                          </p:spTgt>
                                        </p:tgtEl>
                                        <p:attrNameLst>
                                          <p:attrName>style.visibility</p:attrName>
                                        </p:attrNameLst>
                                      </p:cBhvr>
                                      <p:to>
                                        <p:strVal val="visible"/>
                                      </p:to>
                                    </p:set>
                                    <p:anim calcmode="lin" valueType="num">
                                      <p:cBhvr additive="base">
                                        <p:cTn id="31" dur="500" fill="hold"/>
                                        <p:tgtEl>
                                          <p:spTgt spid="622596">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25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1" fill="hold" grpId="1" nodeType="clickEffect">
                                  <p:stCondLst>
                                    <p:cond delay="0"/>
                                  </p:stCondLst>
                                  <p:childTnLst>
                                    <p:anim calcmode="lin" valueType="num">
                                      <p:cBhvr additive="base">
                                        <p:cTn id="36" dur="500"/>
                                        <p:tgtEl>
                                          <p:spTgt spid="132111"/>
                                        </p:tgtEl>
                                        <p:attrNameLst>
                                          <p:attrName>ppt_x</p:attrName>
                                        </p:attrNameLst>
                                      </p:cBhvr>
                                      <p:tavLst>
                                        <p:tav tm="0">
                                          <p:val>
                                            <p:strVal val="ppt_x"/>
                                          </p:val>
                                        </p:tav>
                                        <p:tav tm="100000">
                                          <p:val>
                                            <p:strVal val="ppt_x"/>
                                          </p:val>
                                        </p:tav>
                                      </p:tavLst>
                                    </p:anim>
                                    <p:anim calcmode="lin" valueType="num">
                                      <p:cBhvr additive="base">
                                        <p:cTn id="37" dur="500"/>
                                        <p:tgtEl>
                                          <p:spTgt spid="132111"/>
                                        </p:tgtEl>
                                        <p:attrNameLst>
                                          <p:attrName>ppt_y</p:attrName>
                                        </p:attrNameLst>
                                      </p:cBhvr>
                                      <p:tavLst>
                                        <p:tav tm="0">
                                          <p:val>
                                            <p:strVal val="ppt_y"/>
                                          </p:val>
                                        </p:tav>
                                        <p:tav tm="100000">
                                          <p:val>
                                            <p:strVal val="0-ppt_h/2"/>
                                          </p:val>
                                        </p:tav>
                                      </p:tavLst>
                                    </p:anim>
                                    <p:set>
                                      <p:cBhvr>
                                        <p:cTn id="38" dur="1" fill="hold">
                                          <p:stCondLst>
                                            <p:cond delay="499"/>
                                          </p:stCondLst>
                                        </p:cTn>
                                        <p:tgtEl>
                                          <p:spTgt spid="132111"/>
                                        </p:tgtEl>
                                        <p:attrNameLst>
                                          <p:attrName>style.visibility</p:attrName>
                                        </p:attrNameLst>
                                      </p:cBhvr>
                                      <p:to>
                                        <p:strVal val="hidden"/>
                                      </p:to>
                                    </p:set>
                                  </p:childTnLst>
                                </p:cTn>
                              </p:par>
                            </p:childTnLst>
                          </p:cTn>
                        </p:par>
                        <p:par>
                          <p:cTn id="39" fill="hold">
                            <p:stCondLst>
                              <p:cond delay="500"/>
                            </p:stCondLst>
                            <p:childTnLst>
                              <p:par>
                                <p:cTn id="40" presetID="2" presetClass="entr" presetSubtype="1" fill="hold" grpId="0" nodeType="afterEffect">
                                  <p:stCondLst>
                                    <p:cond delay="0"/>
                                  </p:stCondLst>
                                  <p:childTnLst>
                                    <p:set>
                                      <p:cBhvr>
                                        <p:cTn id="41" dur="1" fill="hold">
                                          <p:stCondLst>
                                            <p:cond delay="0"/>
                                          </p:stCondLst>
                                        </p:cTn>
                                        <p:tgtEl>
                                          <p:spTgt spid="132113"/>
                                        </p:tgtEl>
                                        <p:attrNameLst>
                                          <p:attrName>style.visibility</p:attrName>
                                        </p:attrNameLst>
                                      </p:cBhvr>
                                      <p:to>
                                        <p:strVal val="visible"/>
                                      </p:to>
                                    </p:set>
                                    <p:anim calcmode="lin" valueType="num">
                                      <p:cBhvr additive="base">
                                        <p:cTn id="42" dur="500" fill="hold"/>
                                        <p:tgtEl>
                                          <p:spTgt spid="132113"/>
                                        </p:tgtEl>
                                        <p:attrNameLst>
                                          <p:attrName>ppt_x</p:attrName>
                                        </p:attrNameLst>
                                      </p:cBhvr>
                                      <p:tavLst>
                                        <p:tav tm="0">
                                          <p:val>
                                            <p:strVal val="#ppt_x"/>
                                          </p:val>
                                        </p:tav>
                                        <p:tav tm="100000">
                                          <p:val>
                                            <p:strVal val="#ppt_x"/>
                                          </p:val>
                                        </p:tav>
                                      </p:tavLst>
                                    </p:anim>
                                    <p:anim calcmode="lin" valueType="num">
                                      <p:cBhvr additive="base">
                                        <p:cTn id="43" dur="500" fill="hold"/>
                                        <p:tgtEl>
                                          <p:spTgt spid="132113"/>
                                        </p:tgtEl>
                                        <p:attrNameLst>
                                          <p:attrName>ppt_y</p:attrName>
                                        </p:attrNameLst>
                                      </p:cBhvr>
                                      <p:tavLst>
                                        <p:tav tm="0">
                                          <p:val>
                                            <p:strVal val="0-#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622596">
                                            <p:txEl>
                                              <p:pRg st="3" end="3"/>
                                            </p:txEl>
                                          </p:spTgt>
                                        </p:tgtEl>
                                        <p:attrNameLst>
                                          <p:attrName>style.visibility</p:attrName>
                                        </p:attrNameLst>
                                      </p:cBhvr>
                                      <p:to>
                                        <p:strVal val="visible"/>
                                      </p:to>
                                    </p:set>
                                    <p:anim calcmode="lin" valueType="num">
                                      <p:cBhvr additive="base">
                                        <p:cTn id="46" dur="500" fill="hold"/>
                                        <p:tgtEl>
                                          <p:spTgt spid="622596">
                                            <p:txEl>
                                              <p:pRg st="3" end="3"/>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62259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2" grpId="0" animBg="1"/>
      <p:bldP spid="132111" grpId="0" animBg="1"/>
      <p:bldP spid="132111" grpId="1" animBg="1"/>
      <p:bldP spid="13211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4"/>
          <p:cNvSpPr>
            <a:spLocks noGrp="1" noChangeArrowheads="1"/>
          </p:cNvSpPr>
          <p:nvPr>
            <p:ph type="title"/>
          </p:nvPr>
        </p:nvSpPr>
        <p:spPr>
          <a:xfrm>
            <a:off x="468313" y="322263"/>
            <a:ext cx="8088312" cy="8032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fontAlgn="auto" hangingPunct="1">
              <a:spcAft>
                <a:spcPts val="0"/>
              </a:spcAft>
              <a:defRPr/>
            </a:pPr>
            <a:r>
              <a:rPr lang="zh-CN" altLang="en-US" sz="4000">
                <a:latin typeface="宋体" charset="-122"/>
              </a:rPr>
              <a:t>求解</a:t>
            </a:r>
            <a:r>
              <a:rPr lang="en-US" altLang="zh-CN" sz="4000">
                <a:latin typeface="宋体" charset="-122"/>
              </a:rPr>
              <a:t>Hanoi</a:t>
            </a:r>
            <a:r>
              <a:rPr lang="zh-CN" altLang="en-US" sz="4000">
                <a:latin typeface="宋体" charset="-122"/>
              </a:rPr>
              <a:t>塔问题程序</a:t>
            </a:r>
          </a:p>
        </p:txBody>
      </p:sp>
      <p:sp>
        <p:nvSpPr>
          <p:cNvPr id="7" name="灯片编号占位符 4"/>
          <p:cNvSpPr>
            <a:spLocks noGrp="1"/>
          </p:cNvSpPr>
          <p:nvPr>
            <p:ph type="sldNum" sz="quarter" idx="12"/>
          </p:nvPr>
        </p:nvSpPr>
        <p:spPr/>
        <p:txBody>
          <a:bodyPr/>
          <a:lstStyle/>
          <a:p>
            <a:pPr>
              <a:defRPr/>
            </a:pPr>
            <a:fld id="{5D168358-0887-4CD2-8000-A92C536B1892}" type="slidenum">
              <a:rPr lang="en-US" altLang="zh-CN"/>
              <a:pPr>
                <a:defRPr/>
              </a:pPr>
              <a:t>68</a:t>
            </a:fld>
            <a:endParaRPr lang="en-US" altLang="zh-CN"/>
          </a:p>
        </p:txBody>
      </p:sp>
      <p:sp>
        <p:nvSpPr>
          <p:cNvPr id="64516"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64517" name="Text Box 3"/>
          <p:cNvSpPr txBox="1">
            <a:spLocks noChangeArrowheads="1"/>
          </p:cNvSpPr>
          <p:nvPr/>
        </p:nvSpPr>
        <p:spPr bwMode="auto">
          <a:xfrm>
            <a:off x="468313" y="1268413"/>
            <a:ext cx="8424862" cy="4524315"/>
          </a:xfrm>
          <a:prstGeom prst="rect">
            <a:avLst/>
          </a:prstGeom>
          <a:noFill/>
          <a:ln w="9525">
            <a:noFill/>
            <a:miter lim="800000"/>
            <a:headEnd/>
            <a:tailEnd/>
          </a:ln>
        </p:spPr>
        <p:txBody>
          <a:bodyPr>
            <a:spAutoFit/>
          </a:bodyPr>
          <a:lstStyle/>
          <a:p>
            <a:pPr algn="l"/>
            <a:r>
              <a:rPr kumimoji="1" lang="en-US" altLang="zh-CN" sz="2400" dirty="0"/>
              <a:t>#include &lt;</a:t>
            </a:r>
            <a:r>
              <a:rPr kumimoji="1" lang="en-US" altLang="zh-CN" sz="2400" dirty="0" err="1"/>
              <a:t>stdio.h</a:t>
            </a:r>
            <a:r>
              <a:rPr kumimoji="1" lang="en-US" altLang="zh-CN" sz="2400" dirty="0"/>
              <a:t>&gt;</a:t>
            </a:r>
          </a:p>
          <a:p>
            <a:pPr algn="l"/>
            <a:r>
              <a:rPr kumimoji="1" lang="en-US" altLang="zh-CN" sz="2400" dirty="0"/>
              <a:t>void</a:t>
            </a:r>
            <a:r>
              <a:rPr kumimoji="1" lang="en-US" altLang="zh-CN" sz="2400" i="1" dirty="0"/>
              <a:t> </a:t>
            </a:r>
            <a:r>
              <a:rPr kumimoji="1" lang="en-US" altLang="zh-CN" sz="2400" dirty="0"/>
              <a:t>move (</a:t>
            </a:r>
            <a:r>
              <a:rPr kumimoji="1" lang="en-US" altLang="zh-CN" sz="2400" dirty="0" err="1"/>
              <a:t>int</a:t>
            </a:r>
            <a:r>
              <a:rPr kumimoji="1" lang="en-US" altLang="zh-CN" sz="2400" dirty="0"/>
              <a:t> m, char from, char to)</a:t>
            </a:r>
          </a:p>
          <a:p>
            <a:pPr algn="l"/>
            <a:r>
              <a:rPr kumimoji="1" lang="en-US" altLang="zh-CN" sz="2400" dirty="0"/>
              <a:t>{  </a:t>
            </a:r>
            <a:r>
              <a:rPr kumimoji="1" lang="en-US" altLang="zh-CN" sz="2400" dirty="0" err="1"/>
              <a:t>printf</a:t>
            </a:r>
            <a:r>
              <a:rPr kumimoji="1" lang="en-US" altLang="zh-CN" sz="2400" dirty="0"/>
              <a:t>( "%d </a:t>
            </a:r>
            <a:r>
              <a:rPr kumimoji="1" lang="zh-CN" altLang="en-US" sz="2400" dirty="0"/>
              <a:t>号盘子从 </a:t>
            </a:r>
            <a:r>
              <a:rPr kumimoji="1" lang="en-US" altLang="zh-CN" sz="2400" dirty="0"/>
              <a:t>%c </a:t>
            </a:r>
            <a:r>
              <a:rPr kumimoji="1" lang="zh-CN" altLang="en-US" sz="2400" dirty="0"/>
              <a:t>针搬到 </a:t>
            </a:r>
            <a:r>
              <a:rPr kumimoji="1" lang="en-US" altLang="zh-CN" sz="2400" dirty="0"/>
              <a:t>%c </a:t>
            </a:r>
            <a:r>
              <a:rPr kumimoji="1" lang="zh-CN" altLang="en-US" sz="2400" dirty="0"/>
              <a:t>针。</a:t>
            </a:r>
            <a:r>
              <a:rPr kumimoji="1" lang="en-US" altLang="zh-CN" sz="2400" dirty="0"/>
              <a:t>\</a:t>
            </a:r>
            <a:r>
              <a:rPr kumimoji="1" lang="en-US" altLang="zh-CN" sz="2400" dirty="0" err="1"/>
              <a:t>n",m</a:t>
            </a:r>
            <a:r>
              <a:rPr kumimoji="1" lang="en-US" altLang="zh-CN" sz="2400" dirty="0"/>
              <a:t>, from, to);</a:t>
            </a:r>
          </a:p>
          <a:p>
            <a:pPr algn="l"/>
            <a:r>
              <a:rPr kumimoji="1" lang="en-US" altLang="zh-CN" sz="2400" dirty="0"/>
              <a:t>}</a:t>
            </a:r>
          </a:p>
          <a:p>
            <a:pPr algn="l"/>
            <a:r>
              <a:rPr kumimoji="1" lang="en-US" altLang="zh-CN" sz="2400" dirty="0"/>
              <a:t>void </a:t>
            </a:r>
            <a:r>
              <a:rPr kumimoji="1" lang="en-US" altLang="zh-CN" sz="2400" dirty="0" err="1"/>
              <a:t>hanoi</a:t>
            </a:r>
            <a:r>
              <a:rPr kumimoji="1" lang="en-US" altLang="zh-CN" sz="2400" dirty="0"/>
              <a:t> (</a:t>
            </a:r>
            <a:r>
              <a:rPr kumimoji="1" lang="en-US" altLang="zh-CN" sz="2400" dirty="0" err="1"/>
              <a:t>int</a:t>
            </a:r>
            <a:r>
              <a:rPr kumimoji="1" lang="en-US" altLang="zh-CN" sz="2400" dirty="0"/>
              <a:t> </a:t>
            </a:r>
            <a:r>
              <a:rPr kumimoji="1" lang="en-US" altLang="zh-CN" sz="2400" dirty="0" err="1"/>
              <a:t>n,char</a:t>
            </a:r>
            <a:r>
              <a:rPr kumimoji="1" lang="en-US" altLang="zh-CN" sz="2400" dirty="0"/>
              <a:t> </a:t>
            </a:r>
            <a:r>
              <a:rPr kumimoji="1" lang="en-US" altLang="zh-CN" sz="2400" dirty="0" err="1"/>
              <a:t>A,char</a:t>
            </a:r>
            <a:r>
              <a:rPr kumimoji="1" lang="en-US" altLang="zh-CN" sz="2400" dirty="0"/>
              <a:t> </a:t>
            </a:r>
            <a:r>
              <a:rPr kumimoji="1" lang="en-US" altLang="zh-CN" sz="2400" dirty="0" err="1"/>
              <a:t>B,char</a:t>
            </a:r>
            <a:r>
              <a:rPr kumimoji="1" lang="en-US" altLang="zh-CN" sz="2400" dirty="0"/>
              <a:t> C)	/* </a:t>
            </a:r>
            <a:r>
              <a:rPr kumimoji="1" lang="zh-CN" altLang="en-US" sz="2400" dirty="0"/>
              <a:t>递归函数 *</a:t>
            </a:r>
            <a:r>
              <a:rPr kumimoji="1" lang="en-US" altLang="zh-CN" sz="2400" dirty="0"/>
              <a:t>/</a:t>
            </a:r>
          </a:p>
          <a:p>
            <a:pPr algn="l"/>
            <a:r>
              <a:rPr kumimoji="1" lang="en-US" altLang="zh-CN" sz="2400" dirty="0"/>
              <a:t>{ </a:t>
            </a:r>
            <a:r>
              <a:rPr kumimoji="1" lang="en-US" altLang="zh-CN" sz="2400" dirty="0">
                <a:solidFill>
                  <a:srgbClr val="FF0000"/>
                </a:solidFill>
              </a:rPr>
              <a:t>if (n == 1) move (n, A, B);	/* </a:t>
            </a:r>
            <a:r>
              <a:rPr kumimoji="1" lang="zh-CN" altLang="en-US" sz="2400" dirty="0">
                <a:solidFill>
                  <a:srgbClr val="FF0000"/>
                </a:solidFill>
              </a:rPr>
              <a:t>只有</a:t>
            </a:r>
            <a:r>
              <a:rPr kumimoji="1" lang="en-US" altLang="zh-CN" sz="2400" dirty="0">
                <a:solidFill>
                  <a:srgbClr val="FF0000"/>
                </a:solidFill>
              </a:rPr>
              <a:t>1</a:t>
            </a:r>
            <a:r>
              <a:rPr kumimoji="1" lang="zh-CN" altLang="en-US" sz="2400" dirty="0">
                <a:solidFill>
                  <a:srgbClr val="FF0000"/>
                </a:solidFill>
              </a:rPr>
              <a:t>个盘，直接从</a:t>
            </a:r>
            <a:r>
              <a:rPr kumimoji="1" lang="en-US" altLang="zh-CN" sz="2400" dirty="0">
                <a:solidFill>
                  <a:srgbClr val="FF0000"/>
                </a:solidFill>
              </a:rPr>
              <a:t>A</a:t>
            </a:r>
            <a:r>
              <a:rPr kumimoji="1" lang="zh-CN" altLang="en-US" sz="2400" dirty="0">
                <a:solidFill>
                  <a:srgbClr val="FF0000"/>
                </a:solidFill>
              </a:rPr>
              <a:t>搬到</a:t>
            </a:r>
            <a:r>
              <a:rPr kumimoji="1" lang="en-US" altLang="zh-CN" sz="2400" dirty="0">
                <a:solidFill>
                  <a:srgbClr val="FF0000"/>
                </a:solidFill>
              </a:rPr>
              <a:t>B */</a:t>
            </a:r>
          </a:p>
          <a:p>
            <a:pPr algn="l"/>
            <a:r>
              <a:rPr kumimoji="1" lang="en-US" altLang="zh-CN" sz="2400" dirty="0"/>
              <a:t>   else </a:t>
            </a:r>
          </a:p>
          <a:p>
            <a:pPr algn="l"/>
            <a:r>
              <a:rPr kumimoji="1" lang="en-US" altLang="zh-CN" sz="2400" dirty="0"/>
              <a:t>   { </a:t>
            </a:r>
            <a:r>
              <a:rPr kumimoji="1" lang="en-US" altLang="zh-CN" sz="2400" dirty="0" err="1"/>
              <a:t>hanoi</a:t>
            </a:r>
            <a:r>
              <a:rPr kumimoji="1" lang="en-US" altLang="zh-CN" sz="2400" dirty="0"/>
              <a:t> (n-1, A, C, B); /* </a:t>
            </a:r>
            <a:r>
              <a:rPr kumimoji="1" lang="zh-CN" altLang="en-US" sz="2400" dirty="0"/>
              <a:t>将</a:t>
            </a:r>
            <a:r>
              <a:rPr kumimoji="1" lang="en-US" altLang="zh-CN" sz="2400" dirty="0"/>
              <a:t>n-1</a:t>
            </a:r>
            <a:r>
              <a:rPr kumimoji="1" lang="zh-CN" altLang="en-US" sz="2400" dirty="0"/>
              <a:t>个盘从</a:t>
            </a:r>
            <a:r>
              <a:rPr kumimoji="1" lang="en-US" altLang="zh-CN" sz="2400" dirty="0"/>
              <a:t>A</a:t>
            </a:r>
            <a:r>
              <a:rPr kumimoji="1" lang="zh-CN" altLang="en-US" sz="2400" dirty="0"/>
              <a:t>搬到</a:t>
            </a:r>
            <a:r>
              <a:rPr kumimoji="1" lang="en-US" altLang="zh-CN" sz="2400" dirty="0"/>
              <a:t>C</a:t>
            </a:r>
            <a:r>
              <a:rPr kumimoji="1" lang="zh-CN" altLang="en-US" sz="2400" dirty="0"/>
              <a:t>，借助</a:t>
            </a:r>
            <a:r>
              <a:rPr kumimoji="1" lang="en-US" altLang="zh-CN" sz="2400" dirty="0"/>
              <a:t>B*/</a:t>
            </a:r>
          </a:p>
          <a:p>
            <a:pPr algn="l"/>
            <a:r>
              <a:rPr kumimoji="1" lang="en-US" altLang="zh-CN" sz="2400" dirty="0"/>
              <a:t>      move (n, A, B);	     /* </a:t>
            </a:r>
            <a:r>
              <a:rPr kumimoji="1" lang="zh-CN" altLang="en-US" sz="2400" dirty="0"/>
              <a:t>把</a:t>
            </a:r>
            <a:r>
              <a:rPr kumimoji="1" lang="en-US" altLang="zh-CN" sz="2400" dirty="0"/>
              <a:t>A</a:t>
            </a:r>
            <a:r>
              <a:rPr kumimoji="1" lang="zh-CN" altLang="en-US" sz="2400" dirty="0"/>
              <a:t>上最后一个盘子搬到</a:t>
            </a:r>
            <a:r>
              <a:rPr kumimoji="1" lang="en-US" altLang="zh-CN" sz="2400" dirty="0"/>
              <a:t>B*/</a:t>
            </a:r>
          </a:p>
          <a:p>
            <a:pPr algn="l"/>
            <a:r>
              <a:rPr kumimoji="1" lang="en-US" altLang="zh-CN" sz="2400" dirty="0"/>
              <a:t>      </a:t>
            </a:r>
            <a:r>
              <a:rPr kumimoji="1" lang="en-US" altLang="zh-CN" sz="2400" dirty="0" err="1"/>
              <a:t>hanoi</a:t>
            </a:r>
            <a:r>
              <a:rPr kumimoji="1" lang="en-US" altLang="zh-CN" sz="2400" dirty="0"/>
              <a:t> (n-1, C, B, A); /* </a:t>
            </a:r>
            <a:r>
              <a:rPr kumimoji="1" lang="zh-CN" altLang="en-US" sz="2400" dirty="0"/>
              <a:t>将</a:t>
            </a:r>
            <a:r>
              <a:rPr kumimoji="1" lang="en-US" altLang="zh-CN" sz="2400" dirty="0"/>
              <a:t>n-1</a:t>
            </a:r>
            <a:r>
              <a:rPr kumimoji="1" lang="zh-CN" altLang="en-US" sz="2400" dirty="0"/>
              <a:t>个盘从</a:t>
            </a:r>
            <a:r>
              <a:rPr kumimoji="1" lang="en-US" altLang="zh-CN" sz="2400" dirty="0"/>
              <a:t>C</a:t>
            </a:r>
            <a:r>
              <a:rPr kumimoji="1" lang="zh-CN" altLang="en-US" sz="2400" dirty="0"/>
              <a:t>搬到</a:t>
            </a:r>
            <a:r>
              <a:rPr kumimoji="1" lang="en-US" altLang="zh-CN" sz="2400" dirty="0"/>
              <a:t>B</a:t>
            </a:r>
            <a:r>
              <a:rPr kumimoji="1" lang="zh-CN" altLang="en-US" sz="2400"/>
              <a:t>，</a:t>
            </a:r>
            <a:r>
              <a:rPr kumimoji="1" lang="zh-CN" altLang="en-US" sz="2400" dirty="0"/>
              <a:t>借助</a:t>
            </a:r>
            <a:r>
              <a:rPr kumimoji="1" lang="en-US" altLang="zh-CN" sz="2400" dirty="0"/>
              <a:t>A */</a:t>
            </a:r>
          </a:p>
          <a:p>
            <a:pPr algn="l"/>
            <a:r>
              <a:rPr kumimoji="1" lang="en-US" altLang="zh-CN" sz="2400" dirty="0"/>
              <a:t>   }</a:t>
            </a:r>
          </a:p>
          <a:p>
            <a:pPr algn="l"/>
            <a:r>
              <a:rPr kumimoji="1" lang="en-US" altLang="zh-CN" sz="24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7">
                                            <p:txEl>
                                              <p:pRg st="4" end="4"/>
                                            </p:txEl>
                                          </p:spTgt>
                                        </p:tgtEl>
                                        <p:attrNameLst>
                                          <p:attrName>style.visibility</p:attrName>
                                        </p:attrNameLst>
                                      </p:cBhvr>
                                      <p:to>
                                        <p:strVal val="visible"/>
                                      </p:to>
                                    </p:set>
                                    <p:anim calcmode="lin" valueType="num">
                                      <p:cBhvr additive="base">
                                        <p:cTn id="7" dur="500" fill="hold"/>
                                        <p:tgtEl>
                                          <p:spTgt spid="6451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517">
                                            <p:txEl>
                                              <p:pRg st="5" end="5"/>
                                            </p:txEl>
                                          </p:spTgt>
                                        </p:tgtEl>
                                        <p:attrNameLst>
                                          <p:attrName>style.visibility</p:attrName>
                                        </p:attrNameLst>
                                      </p:cBhvr>
                                      <p:to>
                                        <p:strVal val="visible"/>
                                      </p:to>
                                    </p:set>
                                    <p:anim calcmode="lin" valueType="num">
                                      <p:cBhvr additive="base">
                                        <p:cTn id="11" dur="500" fill="hold"/>
                                        <p:tgtEl>
                                          <p:spTgt spid="6451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7">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517">
                                            <p:txEl>
                                              <p:pRg st="6" end="6"/>
                                            </p:txEl>
                                          </p:spTgt>
                                        </p:tgtEl>
                                        <p:attrNameLst>
                                          <p:attrName>style.visibility</p:attrName>
                                        </p:attrNameLst>
                                      </p:cBhvr>
                                      <p:to>
                                        <p:strVal val="visible"/>
                                      </p:to>
                                    </p:set>
                                    <p:anim calcmode="lin" valueType="num">
                                      <p:cBhvr additive="base">
                                        <p:cTn id="15" dur="500" fill="hold"/>
                                        <p:tgtEl>
                                          <p:spTgt spid="64517">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517">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4517">
                                            <p:txEl>
                                              <p:pRg st="7" end="7"/>
                                            </p:txEl>
                                          </p:spTgt>
                                        </p:tgtEl>
                                        <p:attrNameLst>
                                          <p:attrName>style.visibility</p:attrName>
                                        </p:attrNameLst>
                                      </p:cBhvr>
                                      <p:to>
                                        <p:strVal val="visible"/>
                                      </p:to>
                                    </p:set>
                                    <p:anim calcmode="lin" valueType="num">
                                      <p:cBhvr additive="base">
                                        <p:cTn id="19" dur="500" fill="hold"/>
                                        <p:tgtEl>
                                          <p:spTgt spid="6451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4517">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4517">
                                            <p:txEl>
                                              <p:pRg st="8" end="8"/>
                                            </p:txEl>
                                          </p:spTgt>
                                        </p:tgtEl>
                                        <p:attrNameLst>
                                          <p:attrName>style.visibility</p:attrName>
                                        </p:attrNameLst>
                                      </p:cBhvr>
                                      <p:to>
                                        <p:strVal val="visible"/>
                                      </p:to>
                                    </p:set>
                                    <p:anim calcmode="lin" valueType="num">
                                      <p:cBhvr additive="base">
                                        <p:cTn id="23" dur="500" fill="hold"/>
                                        <p:tgtEl>
                                          <p:spTgt spid="64517">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4517">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4517">
                                            <p:txEl>
                                              <p:pRg st="9" end="9"/>
                                            </p:txEl>
                                          </p:spTgt>
                                        </p:tgtEl>
                                        <p:attrNameLst>
                                          <p:attrName>style.visibility</p:attrName>
                                        </p:attrNameLst>
                                      </p:cBhvr>
                                      <p:to>
                                        <p:strVal val="visible"/>
                                      </p:to>
                                    </p:set>
                                    <p:anim calcmode="lin" valueType="num">
                                      <p:cBhvr additive="base">
                                        <p:cTn id="27" dur="500" fill="hold"/>
                                        <p:tgtEl>
                                          <p:spTgt spid="64517">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4517">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4517">
                                            <p:txEl>
                                              <p:pRg st="10" end="10"/>
                                            </p:txEl>
                                          </p:spTgt>
                                        </p:tgtEl>
                                        <p:attrNameLst>
                                          <p:attrName>style.visibility</p:attrName>
                                        </p:attrNameLst>
                                      </p:cBhvr>
                                      <p:to>
                                        <p:strVal val="visible"/>
                                      </p:to>
                                    </p:set>
                                    <p:anim calcmode="lin" valueType="num">
                                      <p:cBhvr additive="base">
                                        <p:cTn id="31" dur="500" fill="hold"/>
                                        <p:tgtEl>
                                          <p:spTgt spid="64517">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4517">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4517">
                                            <p:txEl>
                                              <p:pRg st="11" end="11"/>
                                            </p:txEl>
                                          </p:spTgt>
                                        </p:tgtEl>
                                        <p:attrNameLst>
                                          <p:attrName>style.visibility</p:attrName>
                                        </p:attrNameLst>
                                      </p:cBhvr>
                                      <p:to>
                                        <p:strVal val="visible"/>
                                      </p:to>
                                    </p:set>
                                    <p:anim calcmode="lin" valueType="num">
                                      <p:cBhvr additive="base">
                                        <p:cTn id="35" dur="500" fill="hold"/>
                                        <p:tgtEl>
                                          <p:spTgt spid="64517">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451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Rectangle 4"/>
          <p:cNvSpPr>
            <a:spLocks noGrp="1" noChangeArrowheads="1"/>
          </p:cNvSpPr>
          <p:nvPr>
            <p:ph type="title"/>
          </p:nvPr>
        </p:nvSpPr>
        <p:spPr>
          <a:xfrm>
            <a:off x="468313" y="322263"/>
            <a:ext cx="8088312" cy="8032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fontAlgn="auto" hangingPunct="1">
              <a:spcAft>
                <a:spcPts val="0"/>
              </a:spcAft>
              <a:defRPr/>
            </a:pPr>
            <a:r>
              <a:rPr lang="zh-CN" altLang="en-US" sz="4000">
                <a:latin typeface="宋体" charset="-122"/>
              </a:rPr>
              <a:t>求解</a:t>
            </a:r>
            <a:r>
              <a:rPr lang="en-US" altLang="zh-CN" sz="4000">
                <a:latin typeface="宋体" charset="-122"/>
              </a:rPr>
              <a:t>Hanoi</a:t>
            </a:r>
            <a:r>
              <a:rPr lang="zh-CN" altLang="en-US" sz="4000">
                <a:latin typeface="宋体" charset="-122"/>
              </a:rPr>
              <a:t>塔问题程序</a:t>
            </a:r>
          </a:p>
        </p:txBody>
      </p:sp>
      <p:sp>
        <p:nvSpPr>
          <p:cNvPr id="7" name="灯片编号占位符 4"/>
          <p:cNvSpPr>
            <a:spLocks noGrp="1"/>
          </p:cNvSpPr>
          <p:nvPr>
            <p:ph type="sldNum" sz="quarter" idx="12"/>
          </p:nvPr>
        </p:nvSpPr>
        <p:spPr/>
        <p:txBody>
          <a:bodyPr/>
          <a:lstStyle/>
          <a:p>
            <a:pPr>
              <a:defRPr/>
            </a:pPr>
            <a:fld id="{3BA5C366-5DF2-4842-A1D9-A2B8FDED3D01}" type="slidenum">
              <a:rPr lang="en-US" altLang="zh-CN"/>
              <a:pPr>
                <a:defRPr/>
              </a:pPr>
              <a:t>69</a:t>
            </a:fld>
            <a:endParaRPr lang="en-US" altLang="zh-CN"/>
          </a:p>
        </p:txBody>
      </p:sp>
      <p:sp>
        <p:nvSpPr>
          <p:cNvPr id="65540"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65541" name="Text Box 3"/>
          <p:cNvSpPr txBox="1">
            <a:spLocks noChangeArrowheads="1"/>
          </p:cNvSpPr>
          <p:nvPr/>
        </p:nvSpPr>
        <p:spPr bwMode="auto">
          <a:xfrm>
            <a:off x="468313" y="1071563"/>
            <a:ext cx="8153400" cy="3046412"/>
          </a:xfrm>
          <a:prstGeom prst="rect">
            <a:avLst/>
          </a:prstGeom>
          <a:noFill/>
          <a:ln w="9525">
            <a:noFill/>
            <a:miter lim="800000"/>
            <a:headEnd/>
            <a:tailEnd/>
          </a:ln>
        </p:spPr>
        <p:txBody>
          <a:bodyPr>
            <a:spAutoFit/>
          </a:bodyPr>
          <a:lstStyle/>
          <a:p>
            <a:pPr marL="1876425" indent="-1876425" algn="l"/>
            <a:r>
              <a:rPr kumimoji="1" lang="en-US" altLang="zh-CN" sz="2400"/>
              <a:t>int main ( )</a:t>
            </a:r>
          </a:p>
          <a:p>
            <a:pPr marL="1876425" indent="-1876425" algn="l"/>
            <a:r>
              <a:rPr kumimoji="1" lang="en-US" altLang="zh-CN" sz="2400"/>
              <a:t>{ </a:t>
            </a:r>
            <a:r>
              <a:rPr kumimoji="1" lang="zh-CN" altLang="en-US" sz="2400"/>
              <a:t>　</a:t>
            </a:r>
            <a:r>
              <a:rPr kumimoji="1" lang="en-US" altLang="zh-CN" sz="2400"/>
              <a:t>int n;</a:t>
            </a:r>
          </a:p>
          <a:p>
            <a:pPr marL="1876425" indent="-1876425" algn="l"/>
            <a:r>
              <a:rPr kumimoji="1" lang="en-US" altLang="zh-CN" sz="2400"/>
              <a:t>      printf ("</a:t>
            </a:r>
            <a:r>
              <a:rPr kumimoji="1" lang="zh-CN" altLang="en-US" sz="2400"/>
              <a:t>请输入搬动的盘子数：</a:t>
            </a:r>
            <a:r>
              <a:rPr kumimoji="1" lang="en-US" altLang="zh-CN" sz="2400"/>
              <a:t>");</a:t>
            </a:r>
          </a:p>
          <a:p>
            <a:pPr marL="1876425" indent="-1876425" algn="l"/>
            <a:r>
              <a:rPr kumimoji="1" lang="en-US" altLang="zh-CN" sz="2400"/>
              <a:t>      scanf ("%d", &amp;n);</a:t>
            </a:r>
          </a:p>
          <a:p>
            <a:pPr marL="1876425" indent="-1876425" algn="l"/>
            <a:r>
              <a:rPr kumimoji="1" lang="en-US" altLang="zh-CN" sz="2400"/>
              <a:t>      printf ("</a:t>
            </a:r>
            <a:r>
              <a:rPr kumimoji="1" lang="zh-CN" altLang="en-US" sz="2400"/>
              <a:t>搬动 </a:t>
            </a:r>
            <a:r>
              <a:rPr kumimoji="1" lang="en-US" altLang="zh-CN" sz="2400"/>
              <a:t>%d </a:t>
            </a:r>
            <a:r>
              <a:rPr kumimoji="1" lang="zh-CN" altLang="en-US" sz="2400"/>
              <a:t>个盘子的过程如下：</a:t>
            </a:r>
            <a:r>
              <a:rPr kumimoji="1" lang="en-US" altLang="zh-CN" sz="2400"/>
              <a:t>\n", n);</a:t>
            </a:r>
          </a:p>
          <a:p>
            <a:pPr marL="1876425" indent="-1876425" algn="l"/>
            <a:r>
              <a:rPr kumimoji="1" lang="en-US" altLang="zh-CN" sz="2400"/>
              <a:t>      hanoi (n, 'A', 'C', 'B');/* </a:t>
            </a:r>
            <a:r>
              <a:rPr kumimoji="1" lang="zh-CN" altLang="en-US" sz="2400"/>
              <a:t>将</a:t>
            </a:r>
            <a:r>
              <a:rPr kumimoji="1" lang="en-US" altLang="zh-CN" sz="2400"/>
              <a:t>n</a:t>
            </a:r>
            <a:r>
              <a:rPr kumimoji="1" lang="zh-CN" altLang="en-US" sz="2400"/>
              <a:t>个盘从</a:t>
            </a:r>
            <a:r>
              <a:rPr kumimoji="1" lang="en-US" altLang="zh-CN" sz="2400"/>
              <a:t>A</a:t>
            </a:r>
            <a:r>
              <a:rPr kumimoji="1" lang="zh-CN" altLang="en-US" sz="2400"/>
              <a:t>搬到</a:t>
            </a:r>
            <a:r>
              <a:rPr kumimoji="1" lang="en-US" altLang="zh-CN" sz="2400"/>
              <a:t>C</a:t>
            </a:r>
            <a:r>
              <a:rPr kumimoji="1" lang="zh-CN" altLang="en-US" sz="2400"/>
              <a:t>，借助</a:t>
            </a:r>
            <a:r>
              <a:rPr kumimoji="1" lang="en-US" altLang="zh-CN" sz="2400"/>
              <a:t>B */</a:t>
            </a:r>
          </a:p>
          <a:p>
            <a:pPr marL="1876425" indent="-1876425" algn="l"/>
            <a:r>
              <a:rPr kumimoji="1" lang="en-US" altLang="zh-CN" sz="2400"/>
              <a:t>      return 0;</a:t>
            </a:r>
          </a:p>
          <a:p>
            <a:pPr marL="1876425" indent="-1876425" algn="l"/>
            <a:r>
              <a:rPr kumimoji="1" lang="en-US" altLang="zh-CN" sz="2400"/>
              <a:t>}</a:t>
            </a:r>
          </a:p>
        </p:txBody>
      </p:sp>
      <p:sp>
        <p:nvSpPr>
          <p:cNvPr id="65542" name="TextBox 7"/>
          <p:cNvSpPr txBox="1">
            <a:spLocks noChangeArrowheads="1"/>
          </p:cNvSpPr>
          <p:nvPr/>
        </p:nvSpPr>
        <p:spPr bwMode="auto">
          <a:xfrm>
            <a:off x="4429125" y="3429000"/>
            <a:ext cx="3151188" cy="3478213"/>
          </a:xfrm>
          <a:prstGeom prst="rect">
            <a:avLst/>
          </a:prstGeom>
          <a:noFill/>
          <a:ln w="9525">
            <a:solidFill>
              <a:schemeClr val="accent1">
                <a:alpha val="96861"/>
              </a:schemeClr>
            </a:solidFill>
            <a:miter lim="800000"/>
            <a:headEnd/>
            <a:tailEnd/>
          </a:ln>
        </p:spPr>
        <p:txBody>
          <a:bodyPr wrap="none">
            <a:spAutoFit/>
          </a:bodyPr>
          <a:lstStyle/>
          <a:p>
            <a:pPr algn="l"/>
            <a:r>
              <a:rPr lang="zh-CN" altLang="en-US" sz="2000"/>
              <a:t>程序运行过程如下：</a:t>
            </a:r>
          </a:p>
          <a:p>
            <a:pPr algn="l"/>
            <a:r>
              <a:rPr lang="zh-CN" altLang="en-US" sz="2000"/>
              <a:t>请输入搬动的盘子数：</a:t>
            </a:r>
            <a:r>
              <a:rPr lang="en-US" altLang="zh-CN" sz="2000"/>
              <a:t>3</a:t>
            </a:r>
            <a:endParaRPr lang="zh-CN" altLang="en-US" sz="2000"/>
          </a:p>
          <a:p>
            <a:pPr algn="l"/>
            <a:r>
              <a:rPr lang="zh-CN" altLang="en-US" sz="2000"/>
              <a:t>搬动</a:t>
            </a:r>
            <a:r>
              <a:rPr lang="en-US" altLang="zh-CN" sz="2000"/>
              <a:t>3</a:t>
            </a:r>
            <a:r>
              <a:rPr lang="zh-CN" altLang="en-US" sz="2000"/>
              <a:t>个盘子的过程如下：</a:t>
            </a:r>
          </a:p>
          <a:p>
            <a:pPr algn="l"/>
            <a:r>
              <a:rPr lang="en-US" altLang="zh-CN" sz="2000"/>
              <a:t>1 </a:t>
            </a:r>
            <a:r>
              <a:rPr lang="zh-CN" altLang="en-US" sz="2000"/>
              <a:t>号盘子从</a:t>
            </a:r>
            <a:r>
              <a:rPr lang="en-US" altLang="zh-CN" sz="2000"/>
              <a:t>A</a:t>
            </a:r>
            <a:r>
              <a:rPr lang="zh-CN" altLang="en-US" sz="2000"/>
              <a:t>针搬到</a:t>
            </a:r>
            <a:r>
              <a:rPr lang="en-US" altLang="zh-CN" sz="2000"/>
              <a:t>C</a:t>
            </a:r>
            <a:r>
              <a:rPr lang="zh-CN" altLang="en-US" sz="2000"/>
              <a:t>针。</a:t>
            </a:r>
          </a:p>
          <a:p>
            <a:pPr algn="l"/>
            <a:r>
              <a:rPr lang="en-US" altLang="zh-CN" sz="2000"/>
              <a:t>2 </a:t>
            </a:r>
            <a:r>
              <a:rPr lang="zh-CN" altLang="en-US" sz="2000"/>
              <a:t>号盘子从</a:t>
            </a:r>
            <a:r>
              <a:rPr lang="en-US" altLang="zh-CN" sz="2000"/>
              <a:t>A</a:t>
            </a:r>
            <a:r>
              <a:rPr lang="zh-CN" altLang="en-US" sz="2000"/>
              <a:t>针搬到</a:t>
            </a:r>
            <a:r>
              <a:rPr lang="en-US" altLang="zh-CN" sz="2000"/>
              <a:t>B</a:t>
            </a:r>
            <a:r>
              <a:rPr lang="zh-CN" altLang="en-US" sz="2000"/>
              <a:t>针。</a:t>
            </a:r>
          </a:p>
          <a:p>
            <a:pPr algn="l"/>
            <a:r>
              <a:rPr lang="en-US" altLang="zh-CN" sz="2000"/>
              <a:t>1 </a:t>
            </a:r>
            <a:r>
              <a:rPr lang="zh-CN" altLang="en-US" sz="2000"/>
              <a:t>号盘子从</a:t>
            </a:r>
            <a:r>
              <a:rPr lang="en-US" altLang="zh-CN" sz="2000"/>
              <a:t>C</a:t>
            </a:r>
            <a:r>
              <a:rPr lang="zh-CN" altLang="en-US" sz="2000"/>
              <a:t>针搬到</a:t>
            </a:r>
            <a:r>
              <a:rPr lang="en-US" altLang="zh-CN" sz="2000"/>
              <a:t>B</a:t>
            </a:r>
            <a:r>
              <a:rPr lang="zh-CN" altLang="en-US" sz="2000"/>
              <a:t>针。</a:t>
            </a:r>
          </a:p>
          <a:p>
            <a:pPr algn="l"/>
            <a:r>
              <a:rPr lang="en-US" altLang="zh-CN" sz="2000"/>
              <a:t>3 </a:t>
            </a:r>
            <a:r>
              <a:rPr lang="zh-CN" altLang="en-US" sz="2000"/>
              <a:t>号盘子从</a:t>
            </a:r>
            <a:r>
              <a:rPr lang="en-US" altLang="zh-CN" sz="2000"/>
              <a:t>A</a:t>
            </a:r>
            <a:r>
              <a:rPr lang="zh-CN" altLang="en-US" sz="2000"/>
              <a:t>针搬到</a:t>
            </a:r>
            <a:r>
              <a:rPr lang="en-US" altLang="zh-CN" sz="2000"/>
              <a:t>C</a:t>
            </a:r>
            <a:r>
              <a:rPr lang="zh-CN" altLang="en-US" sz="2000"/>
              <a:t>针。</a:t>
            </a:r>
          </a:p>
          <a:p>
            <a:pPr algn="l"/>
            <a:r>
              <a:rPr lang="en-US" altLang="zh-CN" sz="2000"/>
              <a:t>1 </a:t>
            </a:r>
            <a:r>
              <a:rPr lang="zh-CN" altLang="en-US" sz="2000"/>
              <a:t>号盘子从</a:t>
            </a:r>
            <a:r>
              <a:rPr lang="en-US" altLang="zh-CN" sz="2000"/>
              <a:t>B</a:t>
            </a:r>
            <a:r>
              <a:rPr lang="zh-CN" altLang="en-US" sz="2000"/>
              <a:t>针搬到</a:t>
            </a:r>
            <a:r>
              <a:rPr lang="en-US" altLang="zh-CN" sz="2000"/>
              <a:t>A</a:t>
            </a:r>
            <a:r>
              <a:rPr lang="zh-CN" altLang="en-US" sz="2000"/>
              <a:t>针。</a:t>
            </a:r>
          </a:p>
          <a:p>
            <a:pPr algn="l"/>
            <a:r>
              <a:rPr lang="en-US" altLang="zh-CN" sz="2000"/>
              <a:t>2 </a:t>
            </a:r>
            <a:r>
              <a:rPr lang="zh-CN" altLang="en-US" sz="2000"/>
              <a:t>号盘子从</a:t>
            </a:r>
            <a:r>
              <a:rPr lang="en-US" altLang="zh-CN" sz="2000"/>
              <a:t>B</a:t>
            </a:r>
            <a:r>
              <a:rPr lang="zh-CN" altLang="en-US" sz="2000"/>
              <a:t>针搬到</a:t>
            </a:r>
            <a:r>
              <a:rPr lang="en-US" altLang="zh-CN" sz="2000"/>
              <a:t>C</a:t>
            </a:r>
            <a:r>
              <a:rPr lang="zh-CN" altLang="en-US" sz="2000"/>
              <a:t>针。</a:t>
            </a:r>
          </a:p>
          <a:p>
            <a:pPr algn="l"/>
            <a:r>
              <a:rPr lang="en-US" altLang="zh-CN" sz="2000"/>
              <a:t>1 </a:t>
            </a:r>
            <a:r>
              <a:rPr lang="zh-CN" altLang="en-US" sz="2000"/>
              <a:t>号盘子从</a:t>
            </a:r>
            <a:r>
              <a:rPr lang="en-US" altLang="zh-CN" sz="2000"/>
              <a:t>A</a:t>
            </a:r>
            <a:r>
              <a:rPr lang="zh-CN" altLang="en-US" sz="2000"/>
              <a:t>针搬到</a:t>
            </a:r>
            <a:r>
              <a:rPr lang="en-US" altLang="zh-CN" sz="2000"/>
              <a:t>C</a:t>
            </a:r>
            <a:r>
              <a:rPr lang="zh-CN" altLang="en-US" sz="2000"/>
              <a:t>针。</a:t>
            </a:r>
          </a:p>
          <a:p>
            <a:pPr algn="l"/>
            <a:endParaRPr lang="zh-CN" altLang="en-US" sz="200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title"/>
          </p:nvPr>
        </p:nvSpPr>
        <p:spPr>
          <a:xfrm>
            <a:off x="468313" y="260350"/>
            <a:ext cx="7848600" cy="647700"/>
          </a:xfrm>
          <a:noFill/>
        </p:spPr>
        <p:txBody>
          <a:bodyPr lIns="92075" tIns="46038" rIns="92075" bIns="46038"/>
          <a:lstStyle/>
          <a:p>
            <a:pPr eaLnBrk="1" hangingPunct="1"/>
            <a:r>
              <a:rPr lang="en-US" altLang="zh-CN" sz="4000">
                <a:solidFill>
                  <a:srgbClr val="FF0000"/>
                </a:solidFill>
              </a:rPr>
              <a:t>5.7 </a:t>
            </a:r>
            <a:r>
              <a:rPr lang="zh-CN" altLang="en-US" sz="4000">
                <a:solidFill>
                  <a:srgbClr val="FF0000"/>
                </a:solidFill>
              </a:rPr>
              <a:t>函数程序设计实例</a:t>
            </a:r>
          </a:p>
        </p:txBody>
      </p:sp>
      <p:sp>
        <p:nvSpPr>
          <p:cNvPr id="8" name="灯片编号占位符 5"/>
          <p:cNvSpPr>
            <a:spLocks noGrp="1"/>
          </p:cNvSpPr>
          <p:nvPr>
            <p:ph type="sldNum" sz="quarter" idx="12"/>
          </p:nvPr>
        </p:nvSpPr>
        <p:spPr/>
        <p:txBody>
          <a:bodyPr/>
          <a:lstStyle/>
          <a:p>
            <a:pPr>
              <a:defRPr/>
            </a:pPr>
            <a:fld id="{11FBF46F-FA1C-42E3-99B8-CB6FF1E9D076}" type="slidenum">
              <a:rPr lang="en-US" altLang="zh-CN"/>
              <a:pPr>
                <a:defRPr/>
              </a:pPr>
              <a:t>70</a:t>
            </a:fld>
            <a:endParaRPr lang="en-US" altLang="zh-CN"/>
          </a:p>
        </p:txBody>
      </p:sp>
      <p:sp>
        <p:nvSpPr>
          <p:cNvPr id="66564"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294916" name="Text Box 4"/>
          <p:cNvSpPr txBox="1">
            <a:spLocks noChangeArrowheads="1"/>
          </p:cNvSpPr>
          <p:nvPr/>
        </p:nvSpPr>
        <p:spPr bwMode="auto">
          <a:xfrm>
            <a:off x="250825" y="908050"/>
            <a:ext cx="8642350" cy="5343525"/>
          </a:xfrm>
          <a:prstGeom prst="rect">
            <a:avLst/>
          </a:prstGeom>
          <a:noFill/>
          <a:ln w="9525">
            <a:noFill/>
            <a:miter lim="800000"/>
            <a:headEnd/>
            <a:tailEnd/>
          </a:ln>
          <a:effectLst/>
        </p:spPr>
        <p:txBody>
          <a:bodyPr>
            <a:spAutoFit/>
          </a:bodyPr>
          <a:lstStyle/>
          <a:p>
            <a:pPr algn="just" eaLnBrk="1" hangingPunct="1">
              <a:lnSpc>
                <a:spcPct val="90000"/>
              </a:lnSpc>
              <a:defRPr/>
            </a:pPr>
            <a:r>
              <a:rPr kumimoji="1" lang="en-US" altLang="zh-CN" dirty="0">
                <a:solidFill>
                  <a:srgbClr val="0070C0"/>
                </a:solidFill>
                <a:effectLst>
                  <a:outerShdw blurRad="38100" dist="38100" dir="2700000" algn="tl">
                    <a:srgbClr val="C0C0C0"/>
                  </a:outerShdw>
                </a:effectLst>
                <a:latin typeface="Arial" charset="0"/>
                <a:ea typeface="宋体" pitchFamily="2" charset="-122"/>
              </a:rPr>
              <a:t>【</a:t>
            </a:r>
            <a:r>
              <a:rPr kumimoji="1" lang="zh-CN" altLang="en-US" dirty="0">
                <a:solidFill>
                  <a:srgbClr val="0070C0"/>
                </a:solidFill>
                <a:effectLst>
                  <a:outerShdw blurRad="38100" dist="38100" dir="2700000" algn="tl">
                    <a:srgbClr val="C0C0C0"/>
                  </a:outerShdw>
                </a:effectLst>
                <a:latin typeface="Arial" charset="0"/>
                <a:ea typeface="宋体" pitchFamily="2" charset="-122"/>
              </a:rPr>
              <a:t>例</a:t>
            </a:r>
            <a:r>
              <a:rPr kumimoji="1" lang="en-US" altLang="zh-CN" dirty="0">
                <a:solidFill>
                  <a:srgbClr val="0070C0"/>
                </a:solidFill>
                <a:effectLst>
                  <a:outerShdw blurRad="38100" dist="38100" dir="2700000" algn="tl">
                    <a:srgbClr val="C0C0C0"/>
                  </a:outerShdw>
                </a:effectLst>
                <a:latin typeface="Arial" charset="0"/>
                <a:ea typeface="宋体" pitchFamily="2" charset="-122"/>
              </a:rPr>
              <a:t>5.15】</a:t>
            </a:r>
            <a:r>
              <a:rPr kumimoji="1" lang="zh-CN" altLang="en-US" dirty="0">
                <a:solidFill>
                  <a:srgbClr val="FF0000"/>
                </a:solidFill>
                <a:effectLst>
                  <a:outerShdw blurRad="38100" dist="38100" dir="2700000" algn="tl">
                    <a:srgbClr val="C0C0C0"/>
                  </a:outerShdw>
                </a:effectLst>
                <a:latin typeface="Arial" charset="0"/>
                <a:ea typeface="宋体" pitchFamily="2" charset="-122"/>
              </a:rPr>
              <a:t>求一整数是几位十进位数的函数。</a:t>
            </a:r>
          </a:p>
          <a:p>
            <a:pPr algn="l">
              <a:defRPr/>
            </a:pPr>
            <a:r>
              <a:rPr kumimoji="1" lang="en-US" altLang="zh-CN" dirty="0">
                <a:effectLst>
                  <a:outerShdw blurRad="38100" dist="38100" dir="2700000" algn="tl">
                    <a:srgbClr val="C0C0C0"/>
                  </a:outerShdw>
                </a:effectLst>
                <a:ea typeface="宋体" pitchFamily="2" charset="-122"/>
              </a:rPr>
              <a:t>【</a:t>
            </a:r>
            <a:r>
              <a:rPr kumimoji="1" lang="zh-CN" altLang="en-US" dirty="0">
                <a:effectLst>
                  <a:outerShdw blurRad="38100" dist="38100" dir="2700000" algn="tl">
                    <a:srgbClr val="C0C0C0"/>
                  </a:outerShdw>
                </a:effectLst>
                <a:ea typeface="宋体" pitchFamily="2" charset="-122"/>
              </a:rPr>
              <a:t>解题思路</a:t>
            </a:r>
            <a:r>
              <a:rPr kumimoji="1" lang="en-US" altLang="zh-CN" dirty="0">
                <a:effectLst>
                  <a:outerShdw blurRad="38100" dist="38100" dir="2700000" algn="tl">
                    <a:srgbClr val="C0C0C0"/>
                  </a:outerShdw>
                </a:effectLst>
                <a:ea typeface="宋体" pitchFamily="2" charset="-122"/>
              </a:rPr>
              <a:t>】</a:t>
            </a:r>
          </a:p>
          <a:p>
            <a:pPr algn="l">
              <a:defRPr/>
            </a:pPr>
            <a:r>
              <a:rPr kumimoji="1" lang="zh-CN" altLang="en-US" dirty="0">
                <a:effectLst>
                  <a:outerShdw blurRad="38100" dist="38100" dir="2700000" algn="tl">
                    <a:srgbClr val="C0C0C0"/>
                  </a:outerShdw>
                </a:effectLst>
                <a:ea typeface="宋体" pitchFamily="2" charset="-122"/>
              </a:rPr>
              <a:t>求</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是几位十进位数，只要反复将</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除以</a:t>
            </a:r>
            <a:r>
              <a:rPr kumimoji="1" lang="en-US" altLang="zh-CN" dirty="0">
                <a:effectLst>
                  <a:outerShdw blurRad="38100" dist="38100" dir="2700000" algn="tl">
                    <a:srgbClr val="C0C0C0"/>
                  </a:outerShdw>
                </a:effectLst>
                <a:ea typeface="宋体" pitchFamily="2" charset="-122"/>
              </a:rPr>
              <a:t>10</a:t>
            </a:r>
            <a:r>
              <a:rPr kumimoji="1" lang="zh-CN" altLang="en-US" dirty="0">
                <a:effectLst>
                  <a:outerShdw blurRad="38100" dist="38100" dir="2700000" algn="tl">
                    <a:srgbClr val="C0C0C0"/>
                  </a:outerShdw>
                </a:effectLst>
                <a:ea typeface="宋体" pitchFamily="2" charset="-122"/>
              </a:rPr>
              <a:t>，直至</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等于</a:t>
            </a:r>
            <a:r>
              <a:rPr kumimoji="1" lang="en-US" altLang="zh-CN" dirty="0">
                <a:effectLst>
                  <a:outerShdw blurRad="38100" dist="38100" dir="2700000" algn="tl">
                    <a:srgbClr val="C0C0C0"/>
                  </a:outerShdw>
                </a:effectLst>
                <a:ea typeface="宋体" pitchFamily="2" charset="-122"/>
              </a:rPr>
              <a:t>0</a:t>
            </a:r>
            <a:r>
              <a:rPr kumimoji="1" lang="zh-CN" altLang="en-US" dirty="0">
                <a:effectLst>
                  <a:outerShdw blurRad="38100" dist="38100" dir="2700000" algn="tl">
                    <a:srgbClr val="C0C0C0"/>
                  </a:outerShdw>
                </a:effectLst>
                <a:ea typeface="宋体" pitchFamily="2" charset="-122"/>
              </a:rPr>
              <a:t>。循环除</a:t>
            </a:r>
            <a:r>
              <a:rPr kumimoji="1" lang="en-US" altLang="zh-CN" dirty="0">
                <a:effectLst>
                  <a:outerShdw blurRad="38100" dist="38100" dir="2700000" algn="tl">
                    <a:srgbClr val="C0C0C0"/>
                  </a:outerShdw>
                </a:effectLst>
                <a:ea typeface="宋体" pitchFamily="2" charset="-122"/>
              </a:rPr>
              <a:t>10</a:t>
            </a:r>
            <a:r>
              <a:rPr kumimoji="1" lang="zh-CN" altLang="en-US" dirty="0">
                <a:effectLst>
                  <a:outerShdw blurRad="38100" dist="38100" dir="2700000" algn="tl">
                    <a:srgbClr val="C0C0C0"/>
                  </a:outerShdw>
                </a:effectLst>
                <a:ea typeface="宋体" pitchFamily="2" charset="-122"/>
              </a:rPr>
              <a:t>的次数，就能推算出</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的十进位的位数。函数开始时预置计数器</a:t>
            </a:r>
            <a:r>
              <a:rPr kumimoji="1" lang="en-US" altLang="zh-CN" dirty="0">
                <a:effectLst>
                  <a:outerShdw blurRad="38100" dist="38100" dir="2700000" algn="tl">
                    <a:srgbClr val="C0C0C0"/>
                  </a:outerShdw>
                </a:effectLst>
                <a:ea typeface="宋体" pitchFamily="2" charset="-122"/>
              </a:rPr>
              <a:t>c</a:t>
            </a:r>
            <a:r>
              <a:rPr kumimoji="1" lang="zh-CN" altLang="en-US" dirty="0">
                <a:effectLst>
                  <a:outerShdw blurRad="38100" dist="38100" dir="2700000" algn="tl">
                    <a:srgbClr val="C0C0C0"/>
                  </a:outerShdw>
                </a:effectLst>
                <a:ea typeface="宋体" pitchFamily="2" charset="-122"/>
              </a:rPr>
              <a:t>为</a:t>
            </a:r>
            <a:r>
              <a:rPr kumimoji="1" lang="en-US" altLang="zh-CN" dirty="0">
                <a:effectLst>
                  <a:outerShdw blurRad="38100" dist="38100" dir="2700000" algn="tl">
                    <a:srgbClr val="C0C0C0"/>
                  </a:outerShdw>
                </a:effectLst>
                <a:ea typeface="宋体" pitchFamily="2" charset="-122"/>
              </a:rPr>
              <a:t>0</a:t>
            </a:r>
            <a:r>
              <a:rPr kumimoji="1" lang="zh-CN" altLang="en-US" dirty="0">
                <a:effectLst>
                  <a:outerShdw blurRad="38100" dist="38100" dir="2700000" algn="tl">
                    <a:srgbClr val="C0C0C0"/>
                  </a:outerShdw>
                </a:effectLst>
                <a:ea typeface="宋体" pitchFamily="2" charset="-122"/>
              </a:rPr>
              <a:t>，循环的工作部分是让</a:t>
            </a:r>
            <a:r>
              <a:rPr kumimoji="1" lang="en-US" altLang="zh-CN" dirty="0">
                <a:effectLst>
                  <a:outerShdw blurRad="38100" dist="38100" dir="2700000" algn="tl">
                    <a:srgbClr val="C0C0C0"/>
                  </a:outerShdw>
                </a:effectLst>
                <a:ea typeface="宋体" pitchFamily="2" charset="-122"/>
              </a:rPr>
              <a:t>c</a:t>
            </a:r>
            <a:r>
              <a:rPr kumimoji="1" lang="zh-CN" altLang="en-US" dirty="0">
                <a:effectLst>
                  <a:outerShdw blurRad="38100" dist="38100" dir="2700000" algn="tl">
                    <a:srgbClr val="C0C0C0"/>
                  </a:outerShdw>
                </a:effectLst>
                <a:ea typeface="宋体" pitchFamily="2" charset="-122"/>
              </a:rPr>
              <a:t>增</a:t>
            </a:r>
            <a:r>
              <a:rPr kumimoji="1" lang="en-US" altLang="zh-CN" dirty="0">
                <a:effectLst>
                  <a:outerShdw blurRad="38100" dist="38100" dir="2700000" algn="tl">
                    <a:srgbClr val="C0C0C0"/>
                  </a:outerShdw>
                </a:effectLst>
                <a:ea typeface="宋体" pitchFamily="2" charset="-122"/>
              </a:rPr>
              <a:t>1</a:t>
            </a:r>
            <a:r>
              <a:rPr kumimoji="1" lang="zh-CN" altLang="en-US" dirty="0">
                <a:effectLst>
                  <a:outerShdw blurRad="38100" dist="38100" dir="2700000" algn="tl">
                    <a:srgbClr val="C0C0C0"/>
                  </a:outerShdw>
                </a:effectLst>
                <a:ea typeface="宋体" pitchFamily="2" charset="-122"/>
              </a:rPr>
              <a:t>和</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除以</a:t>
            </a:r>
            <a:r>
              <a:rPr kumimoji="1" lang="en-US" altLang="zh-CN" dirty="0">
                <a:effectLst>
                  <a:outerShdw blurRad="38100" dist="38100" dir="2700000" algn="tl">
                    <a:srgbClr val="C0C0C0"/>
                  </a:outerShdw>
                </a:effectLst>
                <a:ea typeface="宋体" pitchFamily="2" charset="-122"/>
              </a:rPr>
              <a:t>10</a:t>
            </a:r>
            <a:r>
              <a:rPr kumimoji="1" lang="zh-CN" altLang="en-US" dirty="0">
                <a:effectLst>
                  <a:outerShdw blurRad="38100" dist="38100" dir="2700000" algn="tl">
                    <a:srgbClr val="C0C0C0"/>
                  </a:outerShdw>
                </a:effectLst>
                <a:ea typeface="宋体" pitchFamily="2" charset="-122"/>
              </a:rPr>
              <a:t>，循环直至</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除以</a:t>
            </a:r>
            <a:r>
              <a:rPr kumimoji="1" lang="en-US" altLang="zh-CN" dirty="0">
                <a:effectLst>
                  <a:outerShdw blurRad="38100" dist="38100" dir="2700000" algn="tl">
                    <a:srgbClr val="C0C0C0"/>
                  </a:outerShdw>
                </a:effectLst>
                <a:ea typeface="宋体" pitchFamily="2" charset="-122"/>
              </a:rPr>
              <a:t>10</a:t>
            </a:r>
            <a:r>
              <a:rPr kumimoji="1" lang="zh-CN" altLang="en-US" dirty="0">
                <a:effectLst>
                  <a:outerShdw blurRad="38100" dist="38100" dir="2700000" algn="tl">
                    <a:srgbClr val="C0C0C0"/>
                  </a:outerShdw>
                </a:effectLst>
                <a:ea typeface="宋体" pitchFamily="2" charset="-122"/>
              </a:rPr>
              <a:t>后为</a:t>
            </a:r>
            <a:r>
              <a:rPr kumimoji="1" lang="en-US" altLang="zh-CN" dirty="0">
                <a:effectLst>
                  <a:outerShdw blurRad="38100" dist="38100" dir="2700000" algn="tl">
                    <a:srgbClr val="C0C0C0"/>
                  </a:outerShdw>
                </a:effectLst>
                <a:ea typeface="宋体" pitchFamily="2" charset="-122"/>
              </a:rPr>
              <a:t>0</a:t>
            </a:r>
            <a:r>
              <a:rPr kumimoji="1" lang="zh-CN" altLang="en-US" dirty="0">
                <a:effectLst>
                  <a:outerShdw blurRad="38100" dist="38100" dir="2700000" algn="tl">
                    <a:srgbClr val="C0C0C0"/>
                  </a:outerShdw>
                </a:effectLst>
                <a:ea typeface="宋体" pitchFamily="2" charset="-122"/>
              </a:rPr>
              <a:t>结束。</a:t>
            </a:r>
          </a:p>
          <a:p>
            <a:pPr algn="l">
              <a:defRPr/>
            </a:pPr>
            <a:r>
              <a:rPr kumimoji="1" lang="zh-CN" altLang="en-US" dirty="0">
                <a:ea typeface="宋体" pitchFamily="2" charset="-122"/>
              </a:rPr>
              <a:t> </a:t>
            </a:r>
            <a:r>
              <a:rPr kumimoji="1" lang="en-US" altLang="zh-CN" dirty="0" err="1">
                <a:effectLst>
                  <a:outerShdw blurRad="38100" dist="38100" dir="2700000" algn="tl">
                    <a:srgbClr val="C0C0C0"/>
                  </a:outerShdw>
                </a:effectLst>
                <a:latin typeface="Arial" charset="0"/>
                <a:ea typeface="宋体" pitchFamily="2" charset="-122"/>
              </a:rPr>
              <a:t>int</a:t>
            </a:r>
            <a:r>
              <a:rPr kumimoji="1" lang="en-US" altLang="zh-CN" dirty="0">
                <a:effectLst>
                  <a:outerShdw blurRad="38100" dist="38100" dir="2700000" algn="tl">
                    <a:srgbClr val="C0C0C0"/>
                  </a:outerShdw>
                </a:effectLst>
                <a:latin typeface="Arial" charset="0"/>
                <a:ea typeface="宋体" pitchFamily="2" charset="-122"/>
              </a:rPr>
              <a:t> digits(</a:t>
            </a:r>
            <a:r>
              <a:rPr kumimoji="1" lang="en-US" altLang="zh-CN" dirty="0" err="1">
                <a:effectLst>
                  <a:outerShdw blurRad="38100" dist="38100" dir="2700000" algn="tl">
                    <a:srgbClr val="C0C0C0"/>
                  </a:outerShdw>
                </a:effectLst>
                <a:latin typeface="Arial" charset="0"/>
                <a:ea typeface="宋体" pitchFamily="2" charset="-122"/>
              </a:rPr>
              <a:t>int</a:t>
            </a:r>
            <a:r>
              <a:rPr kumimoji="1" lang="en-US" altLang="zh-CN" dirty="0">
                <a:effectLst>
                  <a:outerShdw blurRad="38100" dist="38100" dir="2700000" algn="tl">
                    <a:srgbClr val="C0C0C0"/>
                  </a:outerShdw>
                </a:effectLst>
                <a:latin typeface="Arial" charset="0"/>
                <a:ea typeface="宋体" pitchFamily="2" charset="-122"/>
              </a:rPr>
              <a:t> n)</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 </a:t>
            </a:r>
            <a:r>
              <a:rPr kumimoji="1" lang="en-US" altLang="zh-CN" dirty="0" err="1">
                <a:effectLst>
                  <a:outerShdw blurRad="38100" dist="38100" dir="2700000" algn="tl">
                    <a:srgbClr val="C0C0C0"/>
                  </a:outerShdw>
                </a:effectLst>
                <a:latin typeface="Arial" charset="0"/>
                <a:ea typeface="宋体" pitchFamily="2" charset="-122"/>
              </a:rPr>
              <a:t>int</a:t>
            </a:r>
            <a:r>
              <a:rPr kumimoji="1" lang="en-US" altLang="zh-CN" dirty="0">
                <a:effectLst>
                  <a:outerShdw blurRad="38100" dist="38100" dir="2700000" algn="tl">
                    <a:srgbClr val="C0C0C0"/>
                  </a:outerShdw>
                </a:effectLst>
                <a:latin typeface="Arial" charset="0"/>
                <a:ea typeface="宋体" pitchFamily="2" charset="-122"/>
              </a:rPr>
              <a:t> c=0;</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  do {</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     </a:t>
            </a:r>
            <a:r>
              <a:rPr kumimoji="1" lang="en-US" altLang="zh-CN" dirty="0" err="1">
                <a:effectLst>
                  <a:outerShdw blurRad="38100" dist="38100" dir="2700000" algn="tl">
                    <a:srgbClr val="C0C0C0"/>
                  </a:outerShdw>
                </a:effectLst>
                <a:latin typeface="Arial" charset="0"/>
                <a:ea typeface="宋体" pitchFamily="2" charset="-122"/>
              </a:rPr>
              <a:t>c++</a:t>
            </a:r>
            <a:r>
              <a:rPr kumimoji="1" lang="en-US" altLang="zh-CN" dirty="0">
                <a:effectLst>
                  <a:outerShdw blurRad="38100" dist="38100" dir="2700000" algn="tl">
                    <a:srgbClr val="C0C0C0"/>
                  </a:outerShdw>
                </a:effectLst>
                <a:latin typeface="Arial" charset="0"/>
                <a:ea typeface="宋体" pitchFamily="2" charset="-122"/>
              </a:rPr>
              <a:t>;  n/=10;</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  } while(n);</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  return c;</a:t>
            </a:r>
          </a:p>
          <a:p>
            <a:pPr algn="l" eaLnBrk="1" hangingPunct="1">
              <a:lnSpc>
                <a:spcPct val="90000"/>
              </a:lnSpc>
              <a:defRPr/>
            </a:pPr>
            <a:r>
              <a:rPr kumimoji="1" lang="en-US" altLang="zh-CN" dirty="0">
                <a:effectLst>
                  <a:outerShdw blurRad="38100" dist="38100" dir="2700000" algn="tl">
                    <a:srgbClr val="C0C0C0"/>
                  </a:outerShdw>
                </a:effectLst>
                <a:latin typeface="Arial" charset="0"/>
                <a:ea typeface="宋体" pitchFamily="2" charset="-122"/>
              </a:rPr>
              <a:t>}</a:t>
            </a:r>
          </a:p>
        </p:txBody>
      </p:sp>
      <p:sp>
        <p:nvSpPr>
          <p:cNvPr id="66566" name="Text Box 9"/>
          <p:cNvSpPr txBox="1">
            <a:spLocks noChangeArrowheads="1"/>
          </p:cNvSpPr>
          <p:nvPr/>
        </p:nvSpPr>
        <p:spPr bwMode="auto">
          <a:xfrm>
            <a:off x="3276600" y="3716338"/>
            <a:ext cx="5543550" cy="2835275"/>
          </a:xfrm>
          <a:prstGeom prst="rect">
            <a:avLst/>
          </a:prstGeom>
          <a:noFill/>
          <a:ln w="9525">
            <a:noFill/>
            <a:miter lim="800000"/>
            <a:headEnd/>
            <a:tailEnd/>
          </a:ln>
        </p:spPr>
        <p:txBody>
          <a:bodyPr>
            <a:spAutoFit/>
          </a:bodyPr>
          <a:lstStyle/>
          <a:p>
            <a:pPr algn="l"/>
            <a:r>
              <a:rPr lang="en-US" altLang="zh-CN" sz="2000" dirty="0"/>
              <a:t>#include &lt;</a:t>
            </a:r>
            <a:r>
              <a:rPr lang="en-US" altLang="zh-CN" sz="2000" dirty="0" err="1"/>
              <a:t>stdio.h</a:t>
            </a:r>
            <a:r>
              <a:rPr lang="en-US" altLang="zh-CN" sz="2000" dirty="0"/>
              <a:t>&gt;</a:t>
            </a:r>
          </a:p>
          <a:p>
            <a:pPr algn="l"/>
            <a:r>
              <a:rPr lang="en-US" altLang="zh-CN" sz="2000" dirty="0" err="1"/>
              <a:t>int</a:t>
            </a:r>
            <a:r>
              <a:rPr lang="en-US" altLang="zh-CN" sz="2000" dirty="0"/>
              <a:t> main()</a:t>
            </a:r>
            <a:r>
              <a:rPr lang="zh-CN" altLang="en-US" sz="2000" dirty="0"/>
              <a:t>　</a:t>
            </a:r>
            <a:r>
              <a:rPr lang="en-US" altLang="zh-CN" sz="2000" dirty="0"/>
              <a:t>/* </a:t>
            </a:r>
            <a:r>
              <a:rPr lang="zh-CN" altLang="en-US" sz="2000" dirty="0"/>
              <a:t>主函数 *</a:t>
            </a:r>
            <a:r>
              <a:rPr lang="en-US" altLang="zh-CN" sz="2000" dirty="0"/>
              <a:t>/</a:t>
            </a:r>
          </a:p>
          <a:p>
            <a:pPr algn="l"/>
            <a:r>
              <a:rPr lang="en-US" altLang="zh-CN" sz="2000" dirty="0"/>
              <a:t>{  </a:t>
            </a:r>
            <a:r>
              <a:rPr lang="en-US" altLang="zh-CN" sz="2000" dirty="0" err="1"/>
              <a:t>int</a:t>
            </a:r>
            <a:r>
              <a:rPr lang="en-US" altLang="zh-CN" sz="2000" dirty="0"/>
              <a:t> n;</a:t>
            </a:r>
          </a:p>
          <a:p>
            <a:pPr algn="l"/>
            <a:r>
              <a:rPr lang="en-US" altLang="zh-CN" sz="2000" dirty="0"/>
              <a:t>   </a:t>
            </a:r>
            <a:r>
              <a:rPr lang="en-US" altLang="zh-CN" sz="2000" dirty="0" err="1"/>
              <a:t>printf</a:t>
            </a:r>
            <a:r>
              <a:rPr lang="en-US" altLang="zh-CN" sz="2000" dirty="0"/>
              <a:t>(”</a:t>
            </a:r>
            <a:r>
              <a:rPr lang="zh-CN" altLang="en-US" sz="2000" dirty="0"/>
              <a:t>请输入一个整数：”</a:t>
            </a:r>
            <a:r>
              <a:rPr lang="en-US" altLang="zh-CN" sz="2000" dirty="0"/>
              <a:t>);</a:t>
            </a:r>
          </a:p>
          <a:p>
            <a:pPr algn="l"/>
            <a:r>
              <a:rPr lang="en-US" altLang="zh-CN" sz="2000" dirty="0"/>
              <a:t>   </a:t>
            </a:r>
            <a:r>
              <a:rPr lang="en-US" altLang="zh-CN" sz="2000" dirty="0" err="1"/>
              <a:t>scanf</a:t>
            </a:r>
            <a:r>
              <a:rPr lang="en-US" altLang="zh-CN" sz="2000" dirty="0"/>
              <a:t>(”%d”, &amp;n);</a:t>
            </a:r>
          </a:p>
          <a:p>
            <a:pPr algn="l"/>
            <a:r>
              <a:rPr lang="en-US" altLang="zh-CN" sz="2000" dirty="0"/>
              <a:t>   </a:t>
            </a:r>
            <a:r>
              <a:rPr lang="en-US" altLang="zh-CN" sz="2000" dirty="0" err="1"/>
              <a:t>printf</a:t>
            </a:r>
            <a:r>
              <a:rPr lang="en-US" altLang="zh-CN" sz="2000" dirty="0"/>
              <a:t>(”</a:t>
            </a:r>
            <a:r>
              <a:rPr lang="zh-CN" altLang="en-US" sz="2000" dirty="0"/>
              <a:t>整数 </a:t>
            </a:r>
            <a:r>
              <a:rPr lang="en-US" altLang="zh-CN" sz="2000" dirty="0"/>
              <a:t>%d </a:t>
            </a:r>
            <a:r>
              <a:rPr lang="zh-CN" altLang="en-US" sz="2000" dirty="0"/>
              <a:t>共有 </a:t>
            </a:r>
            <a:r>
              <a:rPr lang="en-US" altLang="zh-CN" sz="2000" dirty="0"/>
              <a:t>%d </a:t>
            </a:r>
            <a:r>
              <a:rPr lang="zh-CN" altLang="en-US" sz="2000" dirty="0"/>
              <a:t>位十进位数字。</a:t>
            </a:r>
            <a:r>
              <a:rPr lang="en-US" altLang="zh-CN" sz="2000" dirty="0"/>
              <a:t>\n”, </a:t>
            </a:r>
          </a:p>
          <a:p>
            <a:pPr algn="l"/>
            <a:r>
              <a:rPr lang="zh-CN" altLang="en-US" sz="2000" dirty="0"/>
              <a:t>　　　　　　　　　　　　　</a:t>
            </a:r>
            <a:r>
              <a:rPr lang="en-US" altLang="zh-CN" sz="2000" dirty="0"/>
              <a:t>n, digits(n));</a:t>
            </a:r>
          </a:p>
          <a:p>
            <a:pPr algn="l"/>
            <a:r>
              <a:rPr lang="en-US" altLang="zh-CN" sz="2000" dirty="0"/>
              <a:t>       return 0;</a:t>
            </a:r>
          </a:p>
          <a:p>
            <a:pPr algn="l"/>
            <a:r>
              <a:rPr lang="en-US" altLang="zh-CN" sz="20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4916">
                                            <p:txEl>
                                              <p:pRg st="2" end="2"/>
                                            </p:txEl>
                                          </p:spTgt>
                                        </p:tgtEl>
                                        <p:attrNameLst>
                                          <p:attrName>style.visibility</p:attrName>
                                        </p:attrNameLst>
                                      </p:cBhvr>
                                      <p:to>
                                        <p:strVal val="visible"/>
                                      </p:to>
                                    </p:set>
                                    <p:anim calcmode="lin" valueType="num">
                                      <p:cBhvr additive="base">
                                        <p:cTn id="7" dur="500" fill="hold"/>
                                        <p:tgtEl>
                                          <p:spTgt spid="29491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49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4916">
                                            <p:txEl>
                                              <p:pRg st="3" end="3"/>
                                            </p:txEl>
                                          </p:spTgt>
                                        </p:tgtEl>
                                        <p:attrNameLst>
                                          <p:attrName>style.visibility</p:attrName>
                                        </p:attrNameLst>
                                      </p:cBhvr>
                                      <p:to>
                                        <p:strVal val="visible"/>
                                      </p:to>
                                    </p:set>
                                    <p:anim calcmode="lin" valueType="num">
                                      <p:cBhvr additive="base">
                                        <p:cTn id="13" dur="500" fill="hold"/>
                                        <p:tgtEl>
                                          <p:spTgt spid="29491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4916">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4916">
                                            <p:txEl>
                                              <p:pRg st="4" end="4"/>
                                            </p:txEl>
                                          </p:spTgt>
                                        </p:tgtEl>
                                        <p:attrNameLst>
                                          <p:attrName>style.visibility</p:attrName>
                                        </p:attrNameLst>
                                      </p:cBhvr>
                                      <p:to>
                                        <p:strVal val="visible"/>
                                      </p:to>
                                    </p:set>
                                    <p:anim calcmode="lin" valueType="num">
                                      <p:cBhvr additive="base">
                                        <p:cTn id="17" dur="500" fill="hold"/>
                                        <p:tgtEl>
                                          <p:spTgt spid="29491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4916">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4916">
                                            <p:txEl>
                                              <p:pRg st="5" end="5"/>
                                            </p:txEl>
                                          </p:spTgt>
                                        </p:tgtEl>
                                        <p:attrNameLst>
                                          <p:attrName>style.visibility</p:attrName>
                                        </p:attrNameLst>
                                      </p:cBhvr>
                                      <p:to>
                                        <p:strVal val="visible"/>
                                      </p:to>
                                    </p:set>
                                    <p:anim calcmode="lin" valueType="num">
                                      <p:cBhvr additive="base">
                                        <p:cTn id="21" dur="500" fill="hold"/>
                                        <p:tgtEl>
                                          <p:spTgt spid="294916">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4916">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94916">
                                            <p:txEl>
                                              <p:pRg st="6" end="6"/>
                                            </p:txEl>
                                          </p:spTgt>
                                        </p:tgtEl>
                                        <p:attrNameLst>
                                          <p:attrName>style.visibility</p:attrName>
                                        </p:attrNameLst>
                                      </p:cBhvr>
                                      <p:to>
                                        <p:strVal val="visible"/>
                                      </p:to>
                                    </p:set>
                                    <p:anim calcmode="lin" valueType="num">
                                      <p:cBhvr additive="base">
                                        <p:cTn id="25" dur="500" fill="hold"/>
                                        <p:tgtEl>
                                          <p:spTgt spid="29491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4916">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94916">
                                            <p:txEl>
                                              <p:pRg st="7" end="7"/>
                                            </p:txEl>
                                          </p:spTgt>
                                        </p:tgtEl>
                                        <p:attrNameLst>
                                          <p:attrName>style.visibility</p:attrName>
                                        </p:attrNameLst>
                                      </p:cBhvr>
                                      <p:to>
                                        <p:strVal val="visible"/>
                                      </p:to>
                                    </p:set>
                                    <p:anim calcmode="lin" valueType="num">
                                      <p:cBhvr additive="base">
                                        <p:cTn id="29" dur="500" fill="hold"/>
                                        <p:tgtEl>
                                          <p:spTgt spid="294916">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94916">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94916">
                                            <p:txEl>
                                              <p:pRg st="8" end="8"/>
                                            </p:txEl>
                                          </p:spTgt>
                                        </p:tgtEl>
                                        <p:attrNameLst>
                                          <p:attrName>style.visibility</p:attrName>
                                        </p:attrNameLst>
                                      </p:cBhvr>
                                      <p:to>
                                        <p:strVal val="visible"/>
                                      </p:to>
                                    </p:set>
                                    <p:anim calcmode="lin" valueType="num">
                                      <p:cBhvr additive="base">
                                        <p:cTn id="33" dur="500" fill="hold"/>
                                        <p:tgtEl>
                                          <p:spTgt spid="294916">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94916">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94916">
                                            <p:txEl>
                                              <p:pRg st="9" end="9"/>
                                            </p:txEl>
                                          </p:spTgt>
                                        </p:tgtEl>
                                        <p:attrNameLst>
                                          <p:attrName>style.visibility</p:attrName>
                                        </p:attrNameLst>
                                      </p:cBhvr>
                                      <p:to>
                                        <p:strVal val="visible"/>
                                      </p:to>
                                    </p:set>
                                    <p:anim calcmode="lin" valueType="num">
                                      <p:cBhvr additive="base">
                                        <p:cTn id="37" dur="500" fill="hold"/>
                                        <p:tgtEl>
                                          <p:spTgt spid="294916">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491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6566"/>
                                        </p:tgtEl>
                                        <p:attrNameLst>
                                          <p:attrName>style.visibility</p:attrName>
                                        </p:attrNameLst>
                                      </p:cBhvr>
                                      <p:to>
                                        <p:strVal val="visible"/>
                                      </p:to>
                                    </p:set>
                                    <p:anim calcmode="lin" valueType="num">
                                      <p:cBhvr additive="base">
                                        <p:cTn id="43" dur="500" fill="hold"/>
                                        <p:tgtEl>
                                          <p:spTgt spid="66566"/>
                                        </p:tgtEl>
                                        <p:attrNameLst>
                                          <p:attrName>ppt_x</p:attrName>
                                        </p:attrNameLst>
                                      </p:cBhvr>
                                      <p:tavLst>
                                        <p:tav tm="0">
                                          <p:val>
                                            <p:strVal val="#ppt_x"/>
                                          </p:val>
                                        </p:tav>
                                        <p:tav tm="100000">
                                          <p:val>
                                            <p:strVal val="#ppt_x"/>
                                          </p:val>
                                        </p:tav>
                                      </p:tavLst>
                                    </p:anim>
                                    <p:anim calcmode="lin" valueType="num">
                                      <p:cBhvr additive="base">
                                        <p:cTn id="44" dur="500" fill="hold"/>
                                        <p:tgtEl>
                                          <p:spTgt spid="665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9C599492-1FF4-4843-A0D2-6C034F8863EA}" type="slidenum">
              <a:rPr lang="en-US" altLang="zh-CN"/>
              <a:pPr>
                <a:defRPr/>
              </a:pPr>
              <a:t>71</a:t>
            </a:fld>
            <a:endParaRPr lang="en-US" altLang="zh-CN"/>
          </a:p>
        </p:txBody>
      </p:sp>
      <p:sp>
        <p:nvSpPr>
          <p:cNvPr id="67587"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19843" name="Text Box 3"/>
          <p:cNvSpPr txBox="1">
            <a:spLocks noChangeArrowheads="1"/>
          </p:cNvSpPr>
          <p:nvPr/>
        </p:nvSpPr>
        <p:spPr bwMode="auto">
          <a:xfrm>
            <a:off x="250825" y="476250"/>
            <a:ext cx="8569325" cy="3108325"/>
          </a:xfrm>
          <a:prstGeom prst="rect">
            <a:avLst/>
          </a:prstGeom>
          <a:noFill/>
          <a:ln w="9525">
            <a:noFill/>
            <a:miter lim="800000"/>
            <a:headEnd/>
            <a:tailEnd/>
          </a:ln>
          <a:effectLst/>
        </p:spPr>
        <p:txBody>
          <a:bodyPr>
            <a:spAutoFit/>
          </a:bodyPr>
          <a:lstStyle/>
          <a:p>
            <a:pPr algn="l">
              <a:defRPr/>
            </a:pPr>
            <a:r>
              <a:rPr kumimoji="1" lang="en-US" altLang="zh-CN" dirty="0">
                <a:solidFill>
                  <a:srgbClr val="0070C0"/>
                </a:solidFill>
                <a:effectLst>
                  <a:outerShdw blurRad="38100" dist="38100" dir="2700000" algn="tl">
                    <a:srgbClr val="C0C0C0"/>
                  </a:outerShdw>
                </a:effectLst>
                <a:ea typeface="宋体" pitchFamily="2" charset="-122"/>
              </a:rPr>
              <a:t>【</a:t>
            </a:r>
            <a:r>
              <a:rPr kumimoji="1" lang="zh-CN" altLang="en-US" dirty="0">
                <a:solidFill>
                  <a:srgbClr val="0070C0"/>
                </a:solidFill>
                <a:effectLst>
                  <a:outerShdw blurRad="38100" dist="38100" dir="2700000" algn="tl">
                    <a:srgbClr val="C0C0C0"/>
                  </a:outerShdw>
                </a:effectLst>
                <a:ea typeface="宋体" pitchFamily="2" charset="-122"/>
              </a:rPr>
              <a:t>例</a:t>
            </a:r>
            <a:r>
              <a:rPr kumimoji="1" lang="en-US" altLang="zh-CN" dirty="0">
                <a:solidFill>
                  <a:srgbClr val="0070C0"/>
                </a:solidFill>
                <a:effectLst>
                  <a:outerShdw blurRad="38100" dist="38100" dir="2700000" algn="tl">
                    <a:srgbClr val="C0C0C0"/>
                  </a:outerShdw>
                </a:effectLst>
                <a:ea typeface="宋体" pitchFamily="2" charset="-122"/>
              </a:rPr>
              <a:t>5.16】</a:t>
            </a:r>
            <a:r>
              <a:rPr kumimoji="1" lang="zh-CN" altLang="en-US" dirty="0">
                <a:solidFill>
                  <a:srgbClr val="FF0000"/>
                </a:solidFill>
                <a:effectLst>
                  <a:outerShdw blurRad="38100" dist="38100" dir="2700000" algn="tl">
                    <a:srgbClr val="C0C0C0"/>
                  </a:outerShdw>
                </a:effectLst>
                <a:ea typeface="宋体" pitchFamily="2" charset="-122"/>
              </a:rPr>
              <a:t>判断一个十进制整数是否是回文数。</a:t>
            </a:r>
          </a:p>
          <a:p>
            <a:pPr algn="l">
              <a:defRPr/>
            </a:pP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解题思路</a:t>
            </a:r>
            <a:r>
              <a:rPr kumimoji="1" lang="en-US" altLang="zh-CN" sz="2400" dirty="0">
                <a:effectLst>
                  <a:outerShdw blurRad="38100" dist="38100" dir="2700000" algn="tl">
                    <a:srgbClr val="C0C0C0"/>
                  </a:outerShdw>
                </a:effectLst>
                <a:ea typeface="宋体" pitchFamily="2" charset="-122"/>
              </a:rPr>
              <a:t>】</a:t>
            </a:r>
          </a:p>
          <a:p>
            <a:pPr algn="l">
              <a:defRPr/>
            </a:pPr>
            <a:r>
              <a:rPr kumimoji="1" lang="zh-CN" altLang="en-US" sz="2400" dirty="0">
                <a:effectLst>
                  <a:outerShdw blurRad="38100" dist="38100" dir="2700000" algn="tl">
                    <a:srgbClr val="C0C0C0"/>
                  </a:outerShdw>
                </a:effectLst>
                <a:ea typeface="宋体" pitchFamily="2" charset="-122"/>
              </a:rPr>
              <a:t>所谓“回文数”是指左右对称的数字序列，即自左向右读和自右向左读是相同的数。例如，</a:t>
            </a:r>
            <a:r>
              <a:rPr kumimoji="1" lang="en-US" altLang="zh-CN" sz="2400" dirty="0">
                <a:effectLst>
                  <a:outerShdw blurRad="38100" dist="38100" dir="2700000" algn="tl">
                    <a:srgbClr val="C0C0C0"/>
                  </a:outerShdw>
                </a:effectLst>
                <a:ea typeface="宋体" pitchFamily="2" charset="-122"/>
              </a:rPr>
              <a:t>232</a:t>
            </a:r>
            <a:r>
              <a:rPr kumimoji="1" lang="zh-CN" altLang="en-US" sz="2400" dirty="0">
                <a:effectLst>
                  <a:outerShdw blurRad="38100" dist="38100" dir="2700000" algn="tl">
                    <a:srgbClr val="C0C0C0"/>
                  </a:outerShdw>
                </a:effectLst>
                <a:ea typeface="宋体" pitchFamily="2" charset="-122"/>
              </a:rPr>
              <a:t>、</a:t>
            </a:r>
            <a:r>
              <a:rPr kumimoji="1" lang="en-US" altLang="zh-CN" sz="2400" dirty="0">
                <a:effectLst>
                  <a:outerShdw blurRad="38100" dist="38100" dir="2700000" algn="tl">
                    <a:srgbClr val="C0C0C0"/>
                  </a:outerShdw>
                </a:effectLst>
                <a:ea typeface="宋体" pitchFamily="2" charset="-122"/>
              </a:rPr>
              <a:t>353</a:t>
            </a:r>
            <a:r>
              <a:rPr kumimoji="1" lang="zh-CN" altLang="en-US" sz="2400" dirty="0">
                <a:effectLst>
                  <a:outerShdw blurRad="38100" dist="38100" dir="2700000" algn="tl">
                    <a:srgbClr val="C0C0C0"/>
                  </a:outerShdw>
                </a:effectLst>
                <a:ea typeface="宋体" pitchFamily="2" charset="-122"/>
              </a:rPr>
              <a:t>、</a:t>
            </a:r>
            <a:r>
              <a:rPr kumimoji="1" lang="en-US" altLang="zh-CN" sz="2400" dirty="0">
                <a:effectLst>
                  <a:outerShdw blurRad="38100" dist="38100" dir="2700000" algn="tl">
                    <a:srgbClr val="C0C0C0"/>
                  </a:outerShdw>
                </a:effectLst>
                <a:ea typeface="宋体" pitchFamily="2" charset="-122"/>
              </a:rPr>
              <a:t>12321</a:t>
            </a:r>
            <a:r>
              <a:rPr kumimoji="1" lang="zh-CN" altLang="en-US" sz="2400" dirty="0">
                <a:effectLst>
                  <a:outerShdw blurRad="38100" dist="38100" dir="2700000" algn="tl">
                    <a:srgbClr val="C0C0C0"/>
                  </a:outerShdw>
                </a:effectLst>
                <a:ea typeface="宋体" pitchFamily="2" charset="-122"/>
              </a:rPr>
              <a:t>等是回文数。</a:t>
            </a:r>
            <a:endParaRPr kumimoji="1" lang="en-US" altLang="zh-CN" sz="2400" dirty="0">
              <a:effectLst>
                <a:outerShdw blurRad="38100" dist="38100" dir="2700000" algn="tl">
                  <a:srgbClr val="C0C0C0"/>
                </a:outerShdw>
              </a:effectLst>
              <a:ea typeface="宋体" pitchFamily="2" charset="-122"/>
            </a:endParaRPr>
          </a:p>
          <a:p>
            <a:pPr algn="l">
              <a:defRPr/>
            </a:pPr>
            <a:endParaRPr kumimoji="1" lang="zh-CN" altLang="en-US" sz="2400" dirty="0">
              <a:effectLst>
                <a:outerShdw blurRad="38100" dist="38100" dir="2700000" algn="tl">
                  <a:srgbClr val="C0C0C0"/>
                </a:outerShdw>
              </a:effectLst>
              <a:ea typeface="宋体" pitchFamily="2" charset="-122"/>
            </a:endParaRPr>
          </a:p>
          <a:p>
            <a:pPr algn="l">
              <a:defRPr/>
            </a:pPr>
            <a:r>
              <a:rPr kumimoji="1" lang="zh-CN" altLang="en-US" sz="2400" dirty="0">
                <a:effectLst>
                  <a:outerShdw blurRad="38100" dist="38100" dir="2700000" algn="tl">
                    <a:srgbClr val="C0C0C0"/>
                  </a:outerShdw>
                </a:effectLst>
                <a:ea typeface="宋体" pitchFamily="2" charset="-122"/>
              </a:rPr>
              <a:t>方法一：将整数</a:t>
            </a:r>
            <a:r>
              <a:rPr kumimoji="1" lang="en-US" altLang="zh-CN" sz="2400" dirty="0">
                <a:effectLst>
                  <a:outerShdw blurRad="38100" dist="38100" dir="2700000" algn="tl">
                    <a:srgbClr val="C0C0C0"/>
                  </a:outerShdw>
                </a:effectLst>
                <a:ea typeface="宋体" pitchFamily="2" charset="-122"/>
              </a:rPr>
              <a:t>n</a:t>
            </a:r>
            <a:r>
              <a:rPr kumimoji="1" lang="zh-CN" altLang="en-US" sz="2400" dirty="0">
                <a:effectLst>
                  <a:outerShdw blurRad="38100" dist="38100" dir="2700000" algn="tl">
                    <a:srgbClr val="C0C0C0"/>
                  </a:outerShdw>
                </a:effectLst>
                <a:ea typeface="宋体" pitchFamily="2" charset="-122"/>
              </a:rPr>
              <a:t>的各位数字拆开按顺序存入一数组中，然后依次将其首末对应位置中的数字两两比较，若对应位数字都相同，则</a:t>
            </a:r>
            <a:r>
              <a:rPr kumimoji="1" lang="en-US" altLang="zh-CN" sz="2400" dirty="0">
                <a:effectLst>
                  <a:outerShdw blurRad="38100" dist="38100" dir="2700000" algn="tl">
                    <a:srgbClr val="C0C0C0"/>
                  </a:outerShdw>
                </a:effectLst>
                <a:ea typeface="宋体" pitchFamily="2" charset="-122"/>
              </a:rPr>
              <a:t>n</a:t>
            </a:r>
            <a:r>
              <a:rPr kumimoji="1" lang="zh-CN" altLang="en-US" sz="2400" dirty="0">
                <a:effectLst>
                  <a:outerShdw blurRad="38100" dist="38100" dir="2700000" algn="tl">
                    <a:srgbClr val="C0C0C0"/>
                  </a:outerShdw>
                </a:effectLst>
                <a:ea typeface="宋体" pitchFamily="2" charset="-122"/>
              </a:rPr>
              <a:t>是回文数；否则，</a:t>
            </a:r>
            <a:r>
              <a:rPr kumimoji="1" lang="en-US" altLang="zh-CN" sz="2400" dirty="0">
                <a:effectLst>
                  <a:outerShdw blurRad="38100" dist="38100" dir="2700000" algn="tl">
                    <a:srgbClr val="C0C0C0"/>
                  </a:outerShdw>
                </a:effectLst>
                <a:ea typeface="宋体" pitchFamily="2" charset="-122"/>
              </a:rPr>
              <a:t>n</a:t>
            </a:r>
            <a:r>
              <a:rPr kumimoji="1" lang="zh-CN" altLang="en-US" sz="2400" dirty="0">
                <a:effectLst>
                  <a:outerShdw blurRad="38100" dist="38100" dir="2700000" algn="tl">
                    <a:srgbClr val="C0C0C0"/>
                  </a:outerShdw>
                </a:effectLst>
                <a:ea typeface="宋体" pitchFamily="2" charset="-122"/>
              </a:rPr>
              <a:t>不是回文数。</a:t>
            </a:r>
            <a:r>
              <a:rPr kumimoji="1" lang="zh-CN" altLang="en-US" sz="2400" dirty="0">
                <a:ea typeface="宋体" pitchFamily="2" charset="-122"/>
              </a:rPr>
              <a:t> </a:t>
            </a:r>
          </a:p>
        </p:txBody>
      </p:sp>
      <p:sp>
        <p:nvSpPr>
          <p:cNvPr id="67589" name="Text Box 6"/>
          <p:cNvSpPr txBox="1">
            <a:spLocks noChangeArrowheads="1"/>
          </p:cNvSpPr>
          <p:nvPr/>
        </p:nvSpPr>
        <p:spPr bwMode="auto">
          <a:xfrm>
            <a:off x="688975" y="3644900"/>
            <a:ext cx="6691313" cy="2833688"/>
          </a:xfrm>
          <a:prstGeom prst="rect">
            <a:avLst/>
          </a:prstGeom>
          <a:noFill/>
          <a:ln w="9525">
            <a:noFill/>
            <a:miter lim="800000"/>
            <a:headEnd/>
            <a:tailEnd/>
          </a:ln>
        </p:spPr>
        <p:txBody>
          <a:bodyPr>
            <a:spAutoFit/>
          </a:bodyPr>
          <a:lstStyle/>
          <a:p>
            <a:pPr algn="l"/>
            <a:r>
              <a:rPr lang="en-US" altLang="zh-CN" sz="2000" dirty="0" err="1"/>
              <a:t>int</a:t>
            </a:r>
            <a:r>
              <a:rPr lang="en-US" altLang="zh-CN" sz="2000" dirty="0"/>
              <a:t> circle(</a:t>
            </a:r>
            <a:r>
              <a:rPr lang="en-US" altLang="zh-CN" sz="2000" dirty="0" err="1"/>
              <a:t>int</a:t>
            </a:r>
            <a:r>
              <a:rPr lang="en-US" altLang="zh-CN" sz="2000" dirty="0"/>
              <a:t> n)</a:t>
            </a:r>
          </a:p>
          <a:p>
            <a:pPr algn="l"/>
            <a:r>
              <a:rPr lang="en-US" altLang="zh-CN" sz="2000" dirty="0"/>
              <a:t>{  </a:t>
            </a:r>
            <a:r>
              <a:rPr lang="en-US" altLang="zh-CN" sz="2000" dirty="0" err="1"/>
              <a:t>int</a:t>
            </a:r>
            <a:r>
              <a:rPr lang="en-US" altLang="zh-CN" sz="2000" dirty="0"/>
              <a:t> t[12],k = 0, j;</a:t>
            </a:r>
          </a:p>
          <a:p>
            <a:pPr algn="l"/>
            <a:r>
              <a:rPr lang="en-US" altLang="zh-CN" sz="2000" dirty="0"/>
              <a:t>   do { t[k++] = n%10; 	/* </a:t>
            </a:r>
            <a:r>
              <a:rPr lang="zh-CN" altLang="en-US" sz="2000" dirty="0"/>
              <a:t>取余数，依次存入</a:t>
            </a:r>
            <a:r>
              <a:rPr lang="en-US" altLang="zh-CN" sz="2000" dirty="0"/>
              <a:t>t</a:t>
            </a:r>
            <a:r>
              <a:rPr lang="zh-CN" altLang="en-US" sz="2000" dirty="0"/>
              <a:t>数组中 *</a:t>
            </a:r>
            <a:r>
              <a:rPr lang="en-US" altLang="zh-CN" sz="2000" dirty="0"/>
              <a:t>/ </a:t>
            </a:r>
          </a:p>
          <a:p>
            <a:pPr algn="l"/>
            <a:r>
              <a:rPr lang="en-US" altLang="zh-CN" sz="2000" dirty="0"/>
              <a:t>           n /= 10;		/* </a:t>
            </a:r>
            <a:r>
              <a:rPr lang="zh-CN" altLang="en-US" sz="2000" dirty="0"/>
              <a:t>取商	*</a:t>
            </a:r>
            <a:r>
              <a:rPr lang="en-US" altLang="zh-CN" sz="2000" dirty="0"/>
              <a:t>/</a:t>
            </a:r>
          </a:p>
          <a:p>
            <a:pPr algn="l"/>
            <a:r>
              <a:rPr lang="en-US" altLang="zh-CN" sz="2000" dirty="0"/>
              <a:t>   } while(n);</a:t>
            </a:r>
          </a:p>
          <a:p>
            <a:pPr algn="l"/>
            <a:r>
              <a:rPr lang="en-US" altLang="zh-CN" sz="2000" dirty="0"/>
              <a:t>   for(j = 0, k--; j &lt; k; j++, k--)</a:t>
            </a:r>
          </a:p>
          <a:p>
            <a:pPr algn="l"/>
            <a:r>
              <a:rPr lang="en-US" altLang="zh-CN" sz="2000" dirty="0"/>
              <a:t>           if(t[j] != t[k]) return 0;	  /* </a:t>
            </a:r>
            <a:r>
              <a:rPr lang="zh-CN" altLang="en-US" sz="2000" dirty="0"/>
              <a:t>不是回文数 *</a:t>
            </a:r>
            <a:r>
              <a:rPr lang="en-US" altLang="zh-CN" sz="2000" dirty="0"/>
              <a:t>/</a:t>
            </a:r>
          </a:p>
          <a:p>
            <a:pPr algn="l"/>
            <a:r>
              <a:rPr lang="en-US" altLang="zh-CN" sz="2000" dirty="0"/>
              <a:t>   return 1; 		/* </a:t>
            </a:r>
            <a:r>
              <a:rPr lang="zh-CN" altLang="en-US" sz="2000" dirty="0"/>
              <a:t>是回文数 *</a:t>
            </a:r>
            <a:r>
              <a:rPr lang="en-US" altLang="zh-CN" sz="2000" dirty="0"/>
              <a:t>/</a:t>
            </a:r>
          </a:p>
          <a:p>
            <a:pPr algn="l"/>
            <a:r>
              <a:rPr lang="en-US" altLang="zh-CN" sz="20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43">
                                            <p:txEl>
                                              <p:pRg st="4" end="4"/>
                                            </p:txEl>
                                          </p:spTgt>
                                        </p:tgtEl>
                                        <p:attrNameLst>
                                          <p:attrName>style.visibility</p:attrName>
                                        </p:attrNameLst>
                                      </p:cBhvr>
                                      <p:to>
                                        <p:strVal val="visible"/>
                                      </p:to>
                                    </p:set>
                                    <p:anim calcmode="lin" valueType="num">
                                      <p:cBhvr additive="base">
                                        <p:cTn id="7" dur="500" fill="hold"/>
                                        <p:tgtEl>
                                          <p:spTgt spid="41984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89">
                                            <p:txEl>
                                              <p:pRg st="0" end="0"/>
                                            </p:txEl>
                                          </p:spTgt>
                                        </p:tgtEl>
                                        <p:attrNameLst>
                                          <p:attrName>style.visibility</p:attrName>
                                        </p:attrNameLst>
                                      </p:cBhvr>
                                      <p:to>
                                        <p:strVal val="visible"/>
                                      </p:to>
                                    </p:set>
                                    <p:anim calcmode="lin" valueType="num">
                                      <p:cBhvr additive="base">
                                        <p:cTn id="13" dur="500" fill="hold"/>
                                        <p:tgtEl>
                                          <p:spTgt spid="6758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9">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7589">
                                            <p:txEl>
                                              <p:pRg st="1" end="1"/>
                                            </p:txEl>
                                          </p:spTgt>
                                        </p:tgtEl>
                                        <p:attrNameLst>
                                          <p:attrName>style.visibility</p:attrName>
                                        </p:attrNameLst>
                                      </p:cBhvr>
                                      <p:to>
                                        <p:strVal val="visible"/>
                                      </p:to>
                                    </p:set>
                                    <p:anim calcmode="lin" valueType="num">
                                      <p:cBhvr additive="base">
                                        <p:cTn id="17" dur="500" fill="hold"/>
                                        <p:tgtEl>
                                          <p:spTgt spid="67589">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7589">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7589">
                                            <p:txEl>
                                              <p:pRg st="8" end="8"/>
                                            </p:txEl>
                                          </p:spTgt>
                                        </p:tgtEl>
                                        <p:attrNameLst>
                                          <p:attrName>style.visibility</p:attrName>
                                        </p:attrNameLst>
                                      </p:cBhvr>
                                      <p:to>
                                        <p:strVal val="visible"/>
                                      </p:to>
                                    </p:set>
                                    <p:anim calcmode="lin" valueType="num">
                                      <p:cBhvr additive="base">
                                        <p:cTn id="21" dur="500" fill="hold"/>
                                        <p:tgtEl>
                                          <p:spTgt spid="67589">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758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7589">
                                            <p:txEl>
                                              <p:pRg st="2" end="2"/>
                                            </p:txEl>
                                          </p:spTgt>
                                        </p:tgtEl>
                                        <p:attrNameLst>
                                          <p:attrName>style.visibility</p:attrName>
                                        </p:attrNameLst>
                                      </p:cBhvr>
                                      <p:to>
                                        <p:strVal val="visible"/>
                                      </p:to>
                                    </p:set>
                                    <p:anim calcmode="lin" valueType="num">
                                      <p:cBhvr additive="base">
                                        <p:cTn id="27" dur="500" fill="hold"/>
                                        <p:tgtEl>
                                          <p:spTgt spid="67589">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7589">
                                            <p:txEl>
                                              <p:p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7589">
                                            <p:txEl>
                                              <p:pRg st="3" end="3"/>
                                            </p:txEl>
                                          </p:spTgt>
                                        </p:tgtEl>
                                        <p:attrNameLst>
                                          <p:attrName>style.visibility</p:attrName>
                                        </p:attrNameLst>
                                      </p:cBhvr>
                                      <p:to>
                                        <p:strVal val="visible"/>
                                      </p:to>
                                    </p:set>
                                    <p:anim calcmode="lin" valueType="num">
                                      <p:cBhvr additive="base">
                                        <p:cTn id="31" dur="500" fill="hold"/>
                                        <p:tgtEl>
                                          <p:spTgt spid="6758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7589">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7589">
                                            <p:txEl>
                                              <p:pRg st="4" end="4"/>
                                            </p:txEl>
                                          </p:spTgt>
                                        </p:tgtEl>
                                        <p:attrNameLst>
                                          <p:attrName>style.visibility</p:attrName>
                                        </p:attrNameLst>
                                      </p:cBhvr>
                                      <p:to>
                                        <p:strVal val="visible"/>
                                      </p:to>
                                    </p:set>
                                    <p:anim calcmode="lin" valueType="num">
                                      <p:cBhvr additive="base">
                                        <p:cTn id="35" dur="500" fill="hold"/>
                                        <p:tgtEl>
                                          <p:spTgt spid="67589">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758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7589">
                                            <p:txEl>
                                              <p:pRg st="5" end="5"/>
                                            </p:txEl>
                                          </p:spTgt>
                                        </p:tgtEl>
                                        <p:attrNameLst>
                                          <p:attrName>style.visibility</p:attrName>
                                        </p:attrNameLst>
                                      </p:cBhvr>
                                      <p:to>
                                        <p:strVal val="visible"/>
                                      </p:to>
                                    </p:set>
                                    <p:anim calcmode="lin" valueType="num">
                                      <p:cBhvr additive="base">
                                        <p:cTn id="41" dur="500" fill="hold"/>
                                        <p:tgtEl>
                                          <p:spTgt spid="67589">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7589">
                                            <p:txEl>
                                              <p:pRg st="5" end="5"/>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7589">
                                            <p:txEl>
                                              <p:pRg st="6" end="6"/>
                                            </p:txEl>
                                          </p:spTgt>
                                        </p:tgtEl>
                                        <p:attrNameLst>
                                          <p:attrName>style.visibility</p:attrName>
                                        </p:attrNameLst>
                                      </p:cBhvr>
                                      <p:to>
                                        <p:strVal val="visible"/>
                                      </p:to>
                                    </p:set>
                                    <p:anim calcmode="lin" valueType="num">
                                      <p:cBhvr additive="base">
                                        <p:cTn id="45" dur="500" fill="hold"/>
                                        <p:tgtEl>
                                          <p:spTgt spid="67589">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758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7589">
                                            <p:txEl>
                                              <p:pRg st="7" end="7"/>
                                            </p:txEl>
                                          </p:spTgt>
                                        </p:tgtEl>
                                        <p:attrNameLst>
                                          <p:attrName>style.visibility</p:attrName>
                                        </p:attrNameLst>
                                      </p:cBhvr>
                                      <p:to>
                                        <p:strVal val="visible"/>
                                      </p:to>
                                    </p:set>
                                    <p:anim calcmode="lin" valueType="num">
                                      <p:cBhvr additive="base">
                                        <p:cTn id="51" dur="500" fill="hold"/>
                                        <p:tgtEl>
                                          <p:spTgt spid="67589">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758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3A9BDD66-CF9C-45B9-9706-B0FD3B03C7C2}" type="slidenum">
              <a:rPr lang="en-US" altLang="zh-CN"/>
              <a:pPr>
                <a:defRPr/>
              </a:pPr>
              <a:t>72</a:t>
            </a:fld>
            <a:endParaRPr lang="en-US" altLang="zh-CN"/>
          </a:p>
        </p:txBody>
      </p:sp>
      <p:sp>
        <p:nvSpPr>
          <p:cNvPr id="68611"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1891" name="Text Box 3"/>
          <p:cNvSpPr txBox="1">
            <a:spLocks noChangeArrowheads="1"/>
          </p:cNvSpPr>
          <p:nvPr/>
        </p:nvSpPr>
        <p:spPr bwMode="auto">
          <a:xfrm>
            <a:off x="250825" y="476250"/>
            <a:ext cx="8569325" cy="1384300"/>
          </a:xfrm>
          <a:prstGeom prst="rect">
            <a:avLst/>
          </a:prstGeom>
          <a:noFill/>
          <a:ln w="9525">
            <a:noFill/>
            <a:miter lim="800000"/>
            <a:headEnd/>
            <a:tailEnd/>
          </a:ln>
          <a:effectLst/>
        </p:spPr>
        <p:txBody>
          <a:bodyPr>
            <a:spAutoFit/>
          </a:bodyPr>
          <a:lstStyle/>
          <a:p>
            <a:pPr algn="l">
              <a:defRPr/>
            </a:pPr>
            <a:r>
              <a:rPr kumimoji="1" lang="zh-CN" altLang="en-US" dirty="0">
                <a:effectLst>
                  <a:outerShdw blurRad="38100" dist="38100" dir="2700000" algn="tl">
                    <a:srgbClr val="C0C0C0"/>
                  </a:outerShdw>
                </a:effectLst>
                <a:ea typeface="宋体" pitchFamily="2" charset="-122"/>
              </a:rPr>
              <a:t>方法二：将整数</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的低位至高位逐位拆开，并让它们组成一个从高位到低位的新整数</a:t>
            </a:r>
            <a:r>
              <a:rPr kumimoji="1" lang="en-US" altLang="zh-CN" dirty="0">
                <a:effectLst>
                  <a:outerShdw blurRad="38100" dist="38100" dir="2700000" algn="tl">
                    <a:srgbClr val="C0C0C0"/>
                  </a:outerShdw>
                </a:effectLst>
                <a:ea typeface="宋体" pitchFamily="2" charset="-122"/>
              </a:rPr>
              <a:t>s</a:t>
            </a:r>
            <a:r>
              <a:rPr kumimoji="1" lang="zh-CN" altLang="en-US" dirty="0">
                <a:effectLst>
                  <a:outerShdw blurRad="38100" dist="38100" dir="2700000" algn="tl">
                    <a:srgbClr val="C0C0C0"/>
                  </a:outerShdw>
                </a:effectLst>
                <a:ea typeface="宋体" pitchFamily="2" charset="-122"/>
              </a:rPr>
              <a:t>。如果新整数</a:t>
            </a:r>
            <a:r>
              <a:rPr kumimoji="1" lang="en-US" altLang="zh-CN" dirty="0">
                <a:effectLst>
                  <a:outerShdw blurRad="38100" dist="38100" dir="2700000" algn="tl">
                    <a:srgbClr val="C0C0C0"/>
                  </a:outerShdw>
                </a:effectLst>
                <a:ea typeface="宋体" pitchFamily="2" charset="-122"/>
              </a:rPr>
              <a:t>s</a:t>
            </a:r>
            <a:r>
              <a:rPr kumimoji="1" lang="zh-CN" altLang="en-US" dirty="0">
                <a:effectLst>
                  <a:outerShdw blurRad="38100" dist="38100" dir="2700000" algn="tl">
                    <a:srgbClr val="C0C0C0"/>
                  </a:outerShdw>
                </a:effectLst>
                <a:ea typeface="宋体" pitchFamily="2" charset="-122"/>
              </a:rPr>
              <a:t>与原整数</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相等，则</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是回文数；否则</a:t>
            </a:r>
            <a:r>
              <a:rPr kumimoji="1" lang="en-US" altLang="zh-CN" dirty="0">
                <a:effectLst>
                  <a:outerShdw blurRad="38100" dist="38100" dir="2700000" algn="tl">
                    <a:srgbClr val="C0C0C0"/>
                  </a:outerShdw>
                </a:effectLst>
                <a:ea typeface="宋体" pitchFamily="2" charset="-122"/>
              </a:rPr>
              <a:t>n</a:t>
            </a:r>
            <a:r>
              <a:rPr kumimoji="1" lang="zh-CN" altLang="en-US" dirty="0">
                <a:effectLst>
                  <a:outerShdw blurRad="38100" dist="38100" dir="2700000" algn="tl">
                    <a:srgbClr val="C0C0C0"/>
                  </a:outerShdw>
                </a:effectLst>
                <a:ea typeface="宋体" pitchFamily="2" charset="-122"/>
              </a:rPr>
              <a:t>不是回文数。</a:t>
            </a:r>
            <a:r>
              <a:rPr kumimoji="1" lang="zh-CN" altLang="en-US" dirty="0">
                <a:ea typeface="宋体" pitchFamily="2" charset="-122"/>
              </a:rPr>
              <a:t> </a:t>
            </a:r>
          </a:p>
        </p:txBody>
      </p:sp>
      <p:sp>
        <p:nvSpPr>
          <p:cNvPr id="68613" name="Text Box 4"/>
          <p:cNvSpPr txBox="1">
            <a:spLocks noChangeArrowheads="1"/>
          </p:cNvSpPr>
          <p:nvPr/>
        </p:nvSpPr>
        <p:spPr bwMode="auto">
          <a:xfrm>
            <a:off x="688975" y="2565400"/>
            <a:ext cx="6691313" cy="3013075"/>
          </a:xfrm>
          <a:prstGeom prst="rect">
            <a:avLst/>
          </a:prstGeom>
          <a:noFill/>
          <a:ln w="9525">
            <a:noFill/>
            <a:miter lim="800000"/>
            <a:headEnd/>
            <a:tailEnd/>
          </a:ln>
        </p:spPr>
        <p:txBody>
          <a:bodyPr>
            <a:spAutoFit/>
          </a:bodyPr>
          <a:lstStyle/>
          <a:p>
            <a:pPr algn="l"/>
            <a:r>
              <a:rPr lang="en-US" altLang="zh-CN" sz="2400" dirty="0" err="1"/>
              <a:t>int</a:t>
            </a:r>
            <a:r>
              <a:rPr lang="en-US" altLang="zh-CN" sz="2400" dirty="0"/>
              <a:t> circle(</a:t>
            </a:r>
            <a:r>
              <a:rPr lang="en-US" altLang="zh-CN" sz="2400" dirty="0" err="1"/>
              <a:t>int</a:t>
            </a:r>
            <a:r>
              <a:rPr lang="en-US" altLang="zh-CN" sz="2400" dirty="0"/>
              <a:t> n)</a:t>
            </a:r>
          </a:p>
          <a:p>
            <a:pPr algn="l"/>
            <a:r>
              <a:rPr lang="en-US" altLang="zh-CN" sz="2400" dirty="0"/>
              <a:t>{  </a:t>
            </a:r>
            <a:r>
              <a:rPr lang="en-US" altLang="zh-CN" sz="2400" dirty="0" err="1"/>
              <a:t>int</a:t>
            </a:r>
            <a:r>
              <a:rPr lang="en-US" altLang="zh-CN" sz="2400" dirty="0"/>
              <a:t> s = 0, m = n;</a:t>
            </a:r>
          </a:p>
          <a:p>
            <a:pPr algn="l"/>
            <a:r>
              <a:rPr lang="en-US" altLang="zh-CN" sz="2400" dirty="0"/>
              <a:t>    while (m) {</a:t>
            </a:r>
          </a:p>
          <a:p>
            <a:pPr algn="l"/>
            <a:r>
              <a:rPr lang="en-US" altLang="zh-CN" sz="2400" dirty="0"/>
              <a:t>       	 s = s*10 + m%10;</a:t>
            </a:r>
          </a:p>
          <a:p>
            <a:pPr algn="l"/>
            <a:r>
              <a:rPr lang="en-US" altLang="zh-CN" sz="2400" dirty="0"/>
              <a:t>            m /= 10;</a:t>
            </a:r>
          </a:p>
          <a:p>
            <a:pPr algn="l"/>
            <a:r>
              <a:rPr lang="en-US" altLang="zh-CN" sz="2400" dirty="0"/>
              <a:t>    }</a:t>
            </a:r>
          </a:p>
          <a:p>
            <a:pPr algn="l"/>
            <a:r>
              <a:rPr lang="en-US" altLang="zh-CN" sz="2400" dirty="0"/>
              <a:t>    return s == n;</a:t>
            </a:r>
          </a:p>
          <a:p>
            <a:pPr algn="l"/>
            <a:r>
              <a:rPr lang="en-US" altLang="zh-CN" sz="24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8613"/>
                                        </p:tgtEl>
                                        <p:attrNameLst>
                                          <p:attrName>style.visibility</p:attrName>
                                        </p:attrNameLst>
                                      </p:cBhvr>
                                      <p:to>
                                        <p:strVal val="visible"/>
                                      </p:to>
                                    </p:set>
                                    <p:animEffect transition="in" filter="box(in)">
                                      <p:cBhvr>
                                        <p:cTn id="7" dur="500"/>
                                        <p:tgtEl>
                                          <p:spTgt spid="68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92768C8-D4A7-4226-A4AC-2640DE2132F9}" type="slidenum">
              <a:rPr lang="en-US" altLang="zh-CN"/>
              <a:pPr>
                <a:defRPr/>
              </a:pPr>
              <a:t>73</a:t>
            </a:fld>
            <a:endParaRPr lang="en-US" altLang="zh-CN"/>
          </a:p>
        </p:txBody>
      </p:sp>
      <p:sp>
        <p:nvSpPr>
          <p:cNvPr id="69635"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0867" name="Text Box 3"/>
          <p:cNvSpPr txBox="1">
            <a:spLocks noChangeArrowheads="1"/>
          </p:cNvSpPr>
          <p:nvPr/>
        </p:nvSpPr>
        <p:spPr bwMode="auto">
          <a:xfrm>
            <a:off x="250825" y="476250"/>
            <a:ext cx="8642350" cy="4894263"/>
          </a:xfrm>
          <a:prstGeom prst="rect">
            <a:avLst/>
          </a:prstGeom>
          <a:noFill/>
          <a:ln w="9525">
            <a:noFill/>
            <a:miter lim="800000"/>
            <a:headEnd/>
            <a:tailEnd/>
          </a:ln>
          <a:effectLst/>
        </p:spPr>
        <p:txBody>
          <a:bodyPr>
            <a:spAutoFit/>
          </a:bodyPr>
          <a:lstStyle/>
          <a:p>
            <a:pPr algn="just">
              <a:defRPr/>
            </a:pPr>
            <a:r>
              <a:rPr kumimoji="1" lang="en-US" altLang="zh-CN" dirty="0">
                <a:solidFill>
                  <a:srgbClr val="0070C0"/>
                </a:solidFill>
                <a:effectLst>
                  <a:outerShdw blurRad="38100" dist="38100" dir="2700000" algn="tl">
                    <a:srgbClr val="C0C0C0"/>
                  </a:outerShdw>
                </a:effectLst>
                <a:ea typeface="宋体" pitchFamily="2" charset="-122"/>
              </a:rPr>
              <a:t>【</a:t>
            </a:r>
            <a:r>
              <a:rPr kumimoji="1" lang="zh-CN" altLang="en-US" dirty="0">
                <a:solidFill>
                  <a:srgbClr val="0070C0"/>
                </a:solidFill>
                <a:effectLst>
                  <a:outerShdw blurRad="38100" dist="38100" dir="2700000" algn="tl">
                    <a:srgbClr val="C0C0C0"/>
                  </a:outerShdw>
                </a:effectLst>
                <a:ea typeface="宋体" pitchFamily="2" charset="-122"/>
              </a:rPr>
              <a:t>例</a:t>
            </a:r>
            <a:r>
              <a:rPr kumimoji="1" lang="en-US" altLang="zh-CN" dirty="0">
                <a:solidFill>
                  <a:srgbClr val="0070C0"/>
                </a:solidFill>
                <a:effectLst>
                  <a:outerShdw blurRad="38100" dist="38100" dir="2700000" algn="tl">
                    <a:srgbClr val="C0C0C0"/>
                  </a:outerShdw>
                </a:effectLst>
                <a:ea typeface="宋体" pitchFamily="2" charset="-122"/>
              </a:rPr>
              <a:t>5.17】</a:t>
            </a:r>
            <a:r>
              <a:rPr kumimoji="1" lang="zh-CN" altLang="en-US" dirty="0">
                <a:solidFill>
                  <a:srgbClr val="FF0000"/>
                </a:solidFill>
                <a:effectLst>
                  <a:outerShdw blurRad="38100" dist="38100" dir="2700000" algn="tl">
                    <a:srgbClr val="C0C0C0"/>
                  </a:outerShdw>
                </a:effectLst>
                <a:ea typeface="宋体" pitchFamily="2" charset="-122"/>
              </a:rPr>
              <a:t>编写一个函数验证哥德巴赫猜想，任何一个不小于</a:t>
            </a:r>
            <a:r>
              <a:rPr kumimoji="1" lang="en-US" altLang="zh-CN" dirty="0">
                <a:solidFill>
                  <a:srgbClr val="FF0000"/>
                </a:solidFill>
                <a:effectLst>
                  <a:outerShdw blurRad="38100" dist="38100" dir="2700000" algn="tl">
                    <a:srgbClr val="C0C0C0"/>
                  </a:outerShdw>
                </a:effectLst>
                <a:ea typeface="宋体" pitchFamily="2" charset="-122"/>
              </a:rPr>
              <a:t>6</a:t>
            </a:r>
            <a:r>
              <a:rPr kumimoji="1" lang="zh-CN" altLang="en-US" dirty="0">
                <a:solidFill>
                  <a:srgbClr val="FF0000"/>
                </a:solidFill>
                <a:effectLst>
                  <a:outerShdw blurRad="38100" dist="38100" dir="2700000" algn="tl">
                    <a:srgbClr val="C0C0C0"/>
                  </a:outerShdw>
                </a:effectLst>
                <a:ea typeface="宋体" pitchFamily="2" charset="-122"/>
              </a:rPr>
              <a:t>的偶数均可以表示为两个素数之和。</a:t>
            </a:r>
          </a:p>
          <a:p>
            <a:pPr algn="just">
              <a:defRPr/>
            </a:pPr>
            <a:r>
              <a:rPr kumimoji="1" lang="zh-CN" altLang="en-US" dirty="0">
                <a:effectLst>
                  <a:outerShdw blurRad="38100" dist="38100" dir="2700000" algn="tl">
                    <a:srgbClr val="C0C0C0"/>
                  </a:outerShdw>
                </a:effectLst>
                <a:ea typeface="宋体" pitchFamily="2" charset="-122"/>
              </a:rPr>
              <a:t>如，</a:t>
            </a:r>
            <a:r>
              <a:rPr kumimoji="1" lang="en-US" altLang="zh-CN" dirty="0">
                <a:effectLst>
                  <a:outerShdw blurRad="38100" dist="38100" dir="2700000" algn="tl">
                    <a:srgbClr val="C0C0C0"/>
                  </a:outerShdw>
                </a:effectLst>
                <a:ea typeface="宋体" pitchFamily="2" charset="-122"/>
              </a:rPr>
              <a:t>6 = 3 + 3</a:t>
            </a:r>
            <a:r>
              <a:rPr kumimoji="1" lang="zh-CN" altLang="en-US" dirty="0">
                <a:effectLst>
                  <a:outerShdw blurRad="38100" dist="38100" dir="2700000" algn="tl">
                    <a:srgbClr val="C0C0C0"/>
                  </a:outerShdw>
                </a:effectLst>
                <a:ea typeface="宋体" pitchFamily="2" charset="-122"/>
              </a:rPr>
              <a:t>，</a:t>
            </a:r>
            <a:r>
              <a:rPr kumimoji="1" lang="en-US" altLang="zh-CN" dirty="0">
                <a:effectLst>
                  <a:outerShdw blurRad="38100" dist="38100" dir="2700000" algn="tl">
                    <a:srgbClr val="C0C0C0"/>
                  </a:outerShdw>
                </a:effectLst>
                <a:ea typeface="宋体" pitchFamily="2" charset="-122"/>
              </a:rPr>
              <a:t>8 = 3 + 5</a:t>
            </a:r>
            <a:r>
              <a:rPr kumimoji="1" lang="zh-CN" altLang="en-US" dirty="0">
                <a:effectLst>
                  <a:outerShdw blurRad="38100" dist="38100" dir="2700000" algn="tl">
                    <a:srgbClr val="C0C0C0"/>
                  </a:outerShdw>
                </a:effectLst>
                <a:ea typeface="宋体" pitchFamily="2" charset="-122"/>
              </a:rPr>
              <a:t>，</a:t>
            </a:r>
            <a:r>
              <a:rPr kumimoji="1" lang="en-US" altLang="zh-CN" dirty="0">
                <a:effectLst>
                  <a:outerShdw blurRad="38100" dist="38100" dir="2700000" algn="tl">
                    <a:srgbClr val="C0C0C0"/>
                  </a:outerShdw>
                </a:effectLst>
                <a:ea typeface="宋体" pitchFamily="2" charset="-122"/>
              </a:rPr>
              <a:t>10 = 3 + 7</a:t>
            </a:r>
            <a:r>
              <a:rPr kumimoji="1" lang="zh-CN" altLang="en-US" dirty="0">
                <a:effectLst>
                  <a:outerShdw blurRad="38100" dist="38100" dir="2700000" algn="tl">
                    <a:srgbClr val="C0C0C0"/>
                  </a:outerShdw>
                </a:effectLst>
                <a:ea typeface="宋体" pitchFamily="2" charset="-122"/>
              </a:rPr>
              <a:t>，</a:t>
            </a:r>
            <a:r>
              <a:rPr kumimoji="1" lang="en-US" altLang="zh-CN" dirty="0">
                <a:effectLst>
                  <a:outerShdw blurRad="38100" dist="38100" dir="2700000" algn="tl">
                    <a:srgbClr val="C0C0C0"/>
                  </a:outerShdw>
                </a:effectLst>
                <a:ea typeface="宋体" pitchFamily="2" charset="-122"/>
              </a:rPr>
              <a:t>… </a:t>
            </a:r>
            <a:r>
              <a:rPr kumimoji="1" lang="zh-CN" altLang="en-US" dirty="0">
                <a:effectLst>
                  <a:outerShdw blurRad="38100" dist="38100" dir="2700000" algn="tl">
                    <a:srgbClr val="C0C0C0"/>
                  </a:outerShdw>
                </a:effectLst>
                <a:ea typeface="宋体" pitchFamily="2" charset="-122"/>
              </a:rPr>
              <a:t>。程序要求输入一个偶数，输出</a:t>
            </a:r>
            <a:r>
              <a:rPr kumimoji="1" lang="en-US" altLang="zh-CN" dirty="0">
                <a:effectLst>
                  <a:outerShdw blurRad="38100" dist="38100" dir="2700000" algn="tl">
                    <a:srgbClr val="C0C0C0"/>
                  </a:outerShdw>
                </a:effectLst>
                <a:ea typeface="宋体" pitchFamily="2" charset="-122"/>
              </a:rPr>
              <a:t>6</a:t>
            </a:r>
            <a:r>
              <a:rPr kumimoji="1" lang="zh-CN" altLang="en-US" dirty="0">
                <a:effectLst>
                  <a:outerShdw blurRad="38100" dist="38100" dir="2700000" algn="tl">
                    <a:srgbClr val="C0C0C0"/>
                  </a:outerShdw>
                </a:effectLst>
                <a:ea typeface="宋体" pitchFamily="2" charset="-122"/>
              </a:rPr>
              <a:t>到该偶数范围内各个满足条件的组合。</a:t>
            </a:r>
          </a:p>
          <a:p>
            <a:pPr algn="l">
              <a:defRPr/>
            </a:pPr>
            <a:endParaRPr kumimoji="1" lang="zh-CN" altLang="en-US" dirty="0">
              <a:effectLst>
                <a:outerShdw blurRad="38100" dist="38100" dir="2700000" algn="tl">
                  <a:srgbClr val="C0C0C0"/>
                </a:outerShdw>
              </a:effectLst>
              <a:ea typeface="宋体" pitchFamily="2" charset="-122"/>
            </a:endParaRPr>
          </a:p>
          <a:p>
            <a:pPr algn="l">
              <a:defRPr/>
            </a:pP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解题思路</a:t>
            </a:r>
            <a:r>
              <a:rPr kumimoji="1" lang="en-US" altLang="zh-CN" sz="2400" dirty="0">
                <a:effectLst>
                  <a:outerShdw blurRad="38100" dist="38100" dir="2700000" algn="tl">
                    <a:srgbClr val="C0C0C0"/>
                  </a:outerShdw>
                </a:effectLst>
                <a:ea typeface="宋体" pitchFamily="2" charset="-122"/>
              </a:rPr>
              <a:t>】</a:t>
            </a:r>
          </a:p>
          <a:p>
            <a:pPr algn="l">
              <a:defRPr/>
            </a:pPr>
            <a:r>
              <a:rPr kumimoji="1" lang="zh-CN" altLang="en-US" sz="2400" dirty="0">
                <a:effectLst>
                  <a:outerShdw blurRad="38100" dist="38100" dir="2700000" algn="tl">
                    <a:srgbClr val="C0C0C0"/>
                  </a:outerShdw>
                </a:effectLst>
                <a:ea typeface="宋体" pitchFamily="2" charset="-122"/>
              </a:rPr>
              <a:t>对于一个偶数</a:t>
            </a:r>
            <a:r>
              <a:rPr kumimoji="1" lang="en-US" altLang="zh-CN" sz="2400" dirty="0">
                <a:effectLst>
                  <a:outerShdw blurRad="38100" dist="38100" dir="2700000" algn="tl">
                    <a:srgbClr val="C0C0C0"/>
                  </a:outerShdw>
                </a:effectLst>
                <a:ea typeface="宋体" pitchFamily="2" charset="-122"/>
              </a:rPr>
              <a:t>n</a:t>
            </a:r>
            <a:r>
              <a:rPr kumimoji="1" lang="zh-CN" altLang="en-US" sz="2400" dirty="0">
                <a:effectLst>
                  <a:outerShdw blurRad="38100" dist="38100" dir="2700000" algn="tl">
                    <a:srgbClr val="C0C0C0"/>
                  </a:outerShdw>
                </a:effectLst>
                <a:ea typeface="宋体" pitchFamily="2" charset="-122"/>
              </a:rPr>
              <a:t>，分解为两个素数之和的一般形式为</a:t>
            </a:r>
            <a:r>
              <a:rPr kumimoji="1" lang="en-US" altLang="zh-CN" sz="2400" dirty="0">
                <a:effectLst>
                  <a:outerShdw blurRad="38100" dist="38100" dir="2700000" algn="tl">
                    <a:srgbClr val="C0C0C0"/>
                  </a:outerShdw>
                </a:effectLst>
                <a:ea typeface="宋体" pitchFamily="2" charset="-122"/>
              </a:rPr>
              <a:t>n=</a:t>
            </a:r>
            <a:r>
              <a:rPr kumimoji="1" lang="en-US" altLang="zh-CN" sz="2400" dirty="0" err="1">
                <a:effectLst>
                  <a:outerShdw blurRad="38100" dist="38100" dir="2700000" algn="tl">
                    <a:srgbClr val="C0C0C0"/>
                  </a:outerShdw>
                </a:effectLst>
                <a:ea typeface="宋体" pitchFamily="2" charset="-122"/>
              </a:rPr>
              <a:t>x+y</a:t>
            </a:r>
            <a:r>
              <a:rPr kumimoji="1" lang="zh-CN" altLang="en-US" sz="2400" dirty="0">
                <a:effectLst>
                  <a:outerShdw blurRad="38100" dist="38100" dir="2700000" algn="tl">
                    <a:srgbClr val="C0C0C0"/>
                  </a:outerShdw>
                </a:effectLst>
                <a:ea typeface="宋体" pitchFamily="2" charset="-122"/>
              </a:rPr>
              <a:t>。从为</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查找最小的素数开始（在这里</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从</a:t>
            </a:r>
            <a:r>
              <a:rPr kumimoji="1" lang="en-US" altLang="zh-CN" sz="2400" dirty="0">
                <a:effectLst>
                  <a:outerShdw blurRad="38100" dist="38100" dir="2700000" algn="tl">
                    <a:srgbClr val="C0C0C0"/>
                  </a:outerShdw>
                </a:effectLst>
                <a:ea typeface="宋体" pitchFamily="2" charset="-122"/>
              </a:rPr>
              <a:t>3</a:t>
            </a:r>
            <a:r>
              <a:rPr kumimoji="1" lang="zh-CN" altLang="en-US" sz="2400" dirty="0">
                <a:effectLst>
                  <a:outerShdw blurRad="38100" dist="38100" dir="2700000" algn="tl">
                    <a:srgbClr val="C0C0C0"/>
                  </a:outerShdw>
                </a:effectLst>
                <a:ea typeface="宋体" pitchFamily="2" charset="-122"/>
              </a:rPr>
              <a:t>开始，不能取</a:t>
            </a:r>
            <a:r>
              <a:rPr kumimoji="1" lang="en-US" altLang="zh-CN" sz="2400" dirty="0">
                <a:effectLst>
                  <a:outerShdw blurRad="38100" dist="38100" dir="2700000" algn="tl">
                    <a:srgbClr val="C0C0C0"/>
                  </a:outerShdw>
                </a:effectLst>
                <a:ea typeface="宋体" pitchFamily="2" charset="-122"/>
              </a:rPr>
              <a:t>2</a:t>
            </a:r>
            <a:r>
              <a:rPr kumimoji="1" lang="zh-CN" altLang="en-US" sz="2400" dirty="0">
                <a:effectLst>
                  <a:outerShdw blurRad="38100" dist="38100" dir="2700000" algn="tl">
                    <a:srgbClr val="C0C0C0"/>
                  </a:outerShdw>
                </a:effectLst>
                <a:ea typeface="宋体" pitchFamily="2" charset="-122"/>
              </a:rPr>
              <a:t>，否则</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也为偶数了），再判断</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是否为素数，如果</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是素数，则找到了这两个素数。如果不是，重新为</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找下一个素数，再判断</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是否为素数。</a:t>
            </a:r>
            <a:r>
              <a:rPr kumimoji="1" lang="zh-CN" altLang="en-US" sz="2400" dirty="0">
                <a:ea typeface="宋体" pitchFamily="2"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0867">
                                            <p:txEl>
                                              <p:pRg st="3" end="3"/>
                                            </p:txEl>
                                          </p:spTgt>
                                        </p:tgtEl>
                                        <p:attrNameLst>
                                          <p:attrName>style.visibility</p:attrName>
                                        </p:attrNameLst>
                                      </p:cBhvr>
                                      <p:to>
                                        <p:strVal val="visible"/>
                                      </p:to>
                                    </p:set>
                                    <p:anim calcmode="lin" valueType="num">
                                      <p:cBhvr additive="base">
                                        <p:cTn id="7" dur="500" fill="hold"/>
                                        <p:tgtEl>
                                          <p:spTgt spid="42086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086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0867">
                                            <p:txEl>
                                              <p:pRg st="4" end="4"/>
                                            </p:txEl>
                                          </p:spTgt>
                                        </p:tgtEl>
                                        <p:attrNameLst>
                                          <p:attrName>style.visibility</p:attrName>
                                        </p:attrNameLst>
                                      </p:cBhvr>
                                      <p:to>
                                        <p:strVal val="visible"/>
                                      </p:to>
                                    </p:set>
                                    <p:anim calcmode="lin" valueType="num">
                                      <p:cBhvr additive="base">
                                        <p:cTn id="11" dur="500" fill="hold"/>
                                        <p:tgtEl>
                                          <p:spTgt spid="42086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08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881DF5E-2872-47A5-845A-DA53F5D4C950}" type="slidenum">
              <a:rPr lang="en-US" altLang="zh-CN"/>
              <a:pPr>
                <a:defRPr/>
              </a:pPr>
              <a:t>74</a:t>
            </a:fld>
            <a:endParaRPr lang="en-US" altLang="zh-CN"/>
          </a:p>
        </p:txBody>
      </p:sp>
      <p:sp>
        <p:nvSpPr>
          <p:cNvPr id="71683"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3939" name="Text Box 3"/>
          <p:cNvSpPr txBox="1">
            <a:spLocks noChangeArrowheads="1"/>
          </p:cNvSpPr>
          <p:nvPr/>
        </p:nvSpPr>
        <p:spPr bwMode="auto">
          <a:xfrm>
            <a:off x="250825" y="476250"/>
            <a:ext cx="8642350" cy="6555641"/>
          </a:xfrm>
          <a:prstGeom prst="rect">
            <a:avLst/>
          </a:prstGeom>
          <a:noFill/>
          <a:ln w="9525">
            <a:noFill/>
            <a:miter lim="800000"/>
            <a:headEnd/>
            <a:tailEnd/>
          </a:ln>
          <a:effectLst/>
        </p:spPr>
        <p:txBody>
          <a:bodyPr>
            <a:spAutoFit/>
          </a:bodyPr>
          <a:lstStyle/>
          <a:p>
            <a:pPr algn="l">
              <a:defRPr/>
            </a:pPr>
            <a:r>
              <a:rPr kumimoji="1" lang="en-US" altLang="zh-CN" dirty="0" err="1">
                <a:effectLst>
                  <a:outerShdw blurRad="38100" dist="38100" dir="2700000" algn="tl">
                    <a:srgbClr val="C0C0C0"/>
                  </a:outerShdw>
                </a:effectLst>
                <a:ea typeface="宋体" pitchFamily="2" charset="-122"/>
              </a:rPr>
              <a:t>int</a:t>
            </a:r>
            <a:r>
              <a:rPr kumimoji="1" lang="en-US" altLang="zh-CN" dirty="0">
                <a:effectLst>
                  <a:outerShdw blurRad="38100" dist="38100" dir="2700000" algn="tl">
                    <a:srgbClr val="C0C0C0"/>
                  </a:outerShdw>
                </a:effectLst>
                <a:ea typeface="宋体" pitchFamily="2" charset="-122"/>
              </a:rPr>
              <a:t> main()</a:t>
            </a:r>
          </a:p>
          <a:p>
            <a:pPr algn="l">
              <a:defRPr/>
            </a:pPr>
            <a:r>
              <a:rPr kumimoji="1" lang="en-US" altLang="zh-CN" dirty="0">
                <a:effectLst>
                  <a:outerShdw blurRad="38100" dist="38100" dir="2700000" algn="tl">
                    <a:srgbClr val="C0C0C0"/>
                  </a:outerShdw>
                </a:effectLst>
                <a:ea typeface="宋体" pitchFamily="2" charset="-122"/>
              </a:rPr>
              <a:t>{ </a:t>
            </a:r>
            <a:r>
              <a:rPr kumimoji="1" lang="en-US" altLang="zh-CN" dirty="0" err="1">
                <a:effectLst>
                  <a:outerShdw blurRad="38100" dist="38100" dir="2700000" algn="tl">
                    <a:srgbClr val="C0C0C0"/>
                  </a:outerShdw>
                </a:effectLst>
                <a:ea typeface="宋体" pitchFamily="2" charset="-122"/>
              </a:rPr>
              <a:t>int</a:t>
            </a:r>
            <a:r>
              <a:rPr kumimoji="1" lang="en-US" altLang="zh-CN" dirty="0">
                <a:effectLst>
                  <a:outerShdw blurRad="38100" dist="38100" dir="2700000" algn="tl">
                    <a:srgbClr val="C0C0C0"/>
                  </a:outerShdw>
                </a:effectLst>
                <a:ea typeface="宋体" pitchFamily="2" charset="-122"/>
              </a:rPr>
              <a:t> n, x, y, m, count=0;</a:t>
            </a:r>
          </a:p>
          <a:p>
            <a:pPr algn="l">
              <a:defRPr/>
            </a:pPr>
            <a:r>
              <a:rPr kumimoji="1" lang="en-US" altLang="zh-CN" dirty="0">
                <a:effectLst>
                  <a:outerShdw blurRad="38100" dist="38100" dir="2700000" algn="tl">
                    <a:srgbClr val="C0C0C0"/>
                  </a:outerShdw>
                </a:effectLst>
                <a:ea typeface="宋体" pitchFamily="2" charset="-122"/>
              </a:rPr>
              <a:t>  </a:t>
            </a:r>
            <a:r>
              <a:rPr kumimoji="1" lang="en-US" altLang="zh-CN" dirty="0" err="1">
                <a:effectLst>
                  <a:outerShdw blurRad="38100" dist="38100" dir="2700000" algn="tl">
                    <a:srgbClr val="C0C0C0"/>
                  </a:outerShdw>
                </a:effectLst>
                <a:ea typeface="宋体" pitchFamily="2" charset="-122"/>
              </a:rPr>
              <a:t>printf</a:t>
            </a:r>
            <a:r>
              <a:rPr kumimoji="1" lang="en-US" altLang="zh-CN" dirty="0">
                <a:effectLst>
                  <a:outerShdw blurRad="38100" dist="38100" dir="2700000" algn="tl">
                    <a:srgbClr val="C0C0C0"/>
                  </a:outerShdw>
                </a:effectLst>
                <a:ea typeface="宋体" pitchFamily="2" charset="-122"/>
              </a:rPr>
              <a:t>("</a:t>
            </a:r>
            <a:r>
              <a:rPr kumimoji="1" lang="zh-CN" altLang="en-US" dirty="0">
                <a:effectLst>
                  <a:outerShdw blurRad="38100" dist="38100" dir="2700000" algn="tl">
                    <a:srgbClr val="C0C0C0"/>
                  </a:outerShdw>
                </a:effectLst>
                <a:ea typeface="宋体" pitchFamily="2" charset="-122"/>
              </a:rPr>
              <a:t>请输入一个不小于</a:t>
            </a:r>
            <a:r>
              <a:rPr kumimoji="1" lang="en-US" altLang="zh-CN" dirty="0">
                <a:effectLst>
                  <a:outerShdw blurRad="38100" dist="38100" dir="2700000" algn="tl">
                    <a:srgbClr val="C0C0C0"/>
                  </a:outerShdw>
                </a:effectLst>
                <a:ea typeface="宋体" pitchFamily="2" charset="-122"/>
              </a:rPr>
              <a:t>6</a:t>
            </a:r>
            <a:r>
              <a:rPr kumimoji="1" lang="zh-CN" altLang="en-US" dirty="0">
                <a:effectLst>
                  <a:outerShdw blurRad="38100" dist="38100" dir="2700000" algn="tl">
                    <a:srgbClr val="C0C0C0"/>
                  </a:outerShdw>
                </a:effectLst>
                <a:ea typeface="宋体" pitchFamily="2" charset="-122"/>
              </a:rPr>
              <a:t>的偶数：</a:t>
            </a:r>
            <a:r>
              <a:rPr kumimoji="1" lang="en-US" altLang="zh-CN" dirty="0">
                <a:effectLst>
                  <a:outerShdw blurRad="38100" dist="38100" dir="2700000" algn="tl">
                    <a:srgbClr val="C0C0C0"/>
                  </a:outerShdw>
                </a:effectLst>
                <a:ea typeface="宋体" pitchFamily="2" charset="-122"/>
              </a:rPr>
              <a:t>");</a:t>
            </a:r>
          </a:p>
          <a:p>
            <a:pPr algn="l">
              <a:defRPr/>
            </a:pPr>
            <a:r>
              <a:rPr kumimoji="1" lang="en-US" altLang="zh-CN" dirty="0">
                <a:effectLst>
                  <a:outerShdw blurRad="38100" dist="38100" dir="2700000" algn="tl">
                    <a:srgbClr val="C0C0C0"/>
                  </a:outerShdw>
                </a:effectLst>
                <a:ea typeface="宋体" pitchFamily="2" charset="-122"/>
              </a:rPr>
              <a:t>  </a:t>
            </a:r>
            <a:r>
              <a:rPr kumimoji="1" lang="en-US" altLang="zh-CN" dirty="0" err="1">
                <a:effectLst>
                  <a:outerShdw blurRad="38100" dist="38100" dir="2700000" algn="tl">
                    <a:srgbClr val="C0C0C0"/>
                  </a:outerShdw>
                </a:effectLst>
                <a:ea typeface="宋体" pitchFamily="2" charset="-122"/>
              </a:rPr>
              <a:t>scanf</a:t>
            </a:r>
            <a:r>
              <a:rPr kumimoji="1" lang="en-US" altLang="zh-CN" dirty="0">
                <a:effectLst>
                  <a:outerShdw blurRad="38100" dist="38100" dir="2700000" algn="tl">
                    <a:srgbClr val="C0C0C0"/>
                  </a:outerShdw>
                </a:effectLst>
                <a:ea typeface="宋体" pitchFamily="2" charset="-122"/>
              </a:rPr>
              <a:t>("%d", &amp;m);</a:t>
            </a:r>
          </a:p>
          <a:p>
            <a:pPr algn="l">
              <a:defRPr/>
            </a:pPr>
            <a:r>
              <a:rPr kumimoji="1" lang="en-US" altLang="zh-CN" dirty="0">
                <a:solidFill>
                  <a:srgbClr val="FF0000"/>
                </a:solidFill>
                <a:effectLst>
                  <a:outerShdw blurRad="38100" dist="38100" dir="2700000" algn="tl">
                    <a:srgbClr val="C0C0C0"/>
                  </a:outerShdw>
                </a:effectLst>
                <a:ea typeface="宋体" pitchFamily="2" charset="-122"/>
              </a:rPr>
              <a:t>  for( n = 6; n &lt;= m; n += 2)</a:t>
            </a:r>
          </a:p>
          <a:p>
            <a:pPr algn="l">
              <a:defRPr/>
            </a:pPr>
            <a:r>
              <a:rPr kumimoji="1" lang="en-US" altLang="zh-CN" dirty="0">
                <a:solidFill>
                  <a:srgbClr val="FF0000"/>
                </a:solidFill>
                <a:effectLst>
                  <a:outerShdw blurRad="38100" dist="38100" dir="2700000" algn="tl">
                    <a:srgbClr val="C0C0C0"/>
                  </a:outerShdw>
                </a:effectLst>
                <a:ea typeface="宋体" pitchFamily="2" charset="-122"/>
              </a:rPr>
              <a:t>     for( x = 3; x &lt;= n/2; x +=2)</a:t>
            </a:r>
          </a:p>
          <a:p>
            <a:pPr algn="l">
              <a:defRPr/>
            </a:pPr>
            <a:r>
              <a:rPr kumimoji="1" lang="en-US" altLang="zh-CN" dirty="0">
                <a:solidFill>
                  <a:srgbClr val="FF0000"/>
                </a:solidFill>
                <a:effectLst>
                  <a:outerShdw blurRad="38100" dist="38100" dir="2700000" algn="tl">
                    <a:srgbClr val="C0C0C0"/>
                  </a:outerShdw>
                </a:effectLst>
                <a:ea typeface="宋体" pitchFamily="2" charset="-122"/>
              </a:rPr>
              <a:t>        if(</a:t>
            </a:r>
            <a:r>
              <a:rPr kumimoji="1" lang="en-US" altLang="zh-CN" dirty="0" err="1">
                <a:solidFill>
                  <a:srgbClr val="FF0000"/>
                </a:solidFill>
                <a:effectLst>
                  <a:outerShdw blurRad="38100" dist="38100" dir="2700000" algn="tl">
                    <a:srgbClr val="C0C0C0"/>
                  </a:outerShdw>
                </a:effectLst>
                <a:ea typeface="宋体" pitchFamily="2" charset="-122"/>
              </a:rPr>
              <a:t>isPrime</a:t>
            </a:r>
            <a:r>
              <a:rPr kumimoji="1" lang="en-US" altLang="zh-CN" dirty="0">
                <a:solidFill>
                  <a:srgbClr val="FF0000"/>
                </a:solidFill>
                <a:effectLst>
                  <a:outerShdw blurRad="38100" dist="38100" dir="2700000" algn="tl">
                    <a:srgbClr val="C0C0C0"/>
                  </a:outerShdw>
                </a:effectLst>
                <a:ea typeface="宋体" pitchFamily="2" charset="-122"/>
              </a:rPr>
              <a:t>(x) &amp;&amp; </a:t>
            </a:r>
            <a:r>
              <a:rPr kumimoji="1" lang="en-US" altLang="zh-CN" dirty="0" err="1">
                <a:solidFill>
                  <a:srgbClr val="FF0000"/>
                </a:solidFill>
                <a:effectLst>
                  <a:outerShdw blurRad="38100" dist="38100" dir="2700000" algn="tl">
                    <a:srgbClr val="C0C0C0"/>
                  </a:outerShdw>
                </a:effectLst>
                <a:ea typeface="宋体" pitchFamily="2" charset="-122"/>
              </a:rPr>
              <a:t>isPrime</a:t>
            </a:r>
            <a:r>
              <a:rPr kumimoji="1" lang="en-US" altLang="zh-CN" dirty="0">
                <a:solidFill>
                  <a:srgbClr val="FF0000"/>
                </a:solidFill>
                <a:effectLst>
                  <a:outerShdw blurRad="38100" dist="38100" dir="2700000" algn="tl">
                    <a:srgbClr val="C0C0C0"/>
                  </a:outerShdw>
                </a:effectLst>
                <a:ea typeface="宋体" pitchFamily="2" charset="-122"/>
              </a:rPr>
              <a:t>(y = n - x))	  </a:t>
            </a:r>
          </a:p>
          <a:p>
            <a:pPr algn="l">
              <a:defRPr/>
            </a:pPr>
            <a:r>
              <a:rPr kumimoji="1" lang="en-US" altLang="zh-CN" dirty="0">
                <a:solidFill>
                  <a:srgbClr val="FF0000"/>
                </a:solidFill>
                <a:effectLst>
                  <a:outerShdw blurRad="38100" dist="38100" dir="2700000" algn="tl">
                    <a:srgbClr val="C0C0C0"/>
                  </a:outerShdw>
                </a:effectLst>
                <a:ea typeface="宋体" pitchFamily="2" charset="-122"/>
              </a:rPr>
              <a:t>     {</a:t>
            </a:r>
          </a:p>
          <a:p>
            <a:pPr algn="l">
              <a:defRPr/>
            </a:pPr>
            <a:r>
              <a:rPr kumimoji="1" lang="en-US" altLang="zh-CN" dirty="0">
                <a:solidFill>
                  <a:srgbClr val="FF0000"/>
                </a:solidFill>
                <a:effectLst>
                  <a:outerShdw blurRad="38100" dist="38100" dir="2700000" algn="tl">
                    <a:srgbClr val="C0C0C0"/>
                  </a:outerShdw>
                </a:effectLst>
                <a:ea typeface="宋体" pitchFamily="2" charset="-122"/>
              </a:rPr>
              <a:t>             if(count++ % 4 == 0) </a:t>
            </a:r>
            <a:r>
              <a:rPr kumimoji="1" lang="en-US" altLang="zh-CN" dirty="0" err="1">
                <a:solidFill>
                  <a:srgbClr val="FF0000"/>
                </a:solidFill>
                <a:effectLst>
                  <a:outerShdw blurRad="38100" dist="38100" dir="2700000" algn="tl">
                    <a:srgbClr val="C0C0C0"/>
                  </a:outerShdw>
                </a:effectLst>
                <a:ea typeface="宋体" pitchFamily="2" charset="-122"/>
              </a:rPr>
              <a:t>printf</a:t>
            </a:r>
            <a:r>
              <a:rPr kumimoji="1" lang="en-US" altLang="zh-CN" dirty="0">
                <a:solidFill>
                  <a:srgbClr val="FF0000"/>
                </a:solidFill>
                <a:effectLst>
                  <a:outerShdw blurRad="38100" dist="38100" dir="2700000" algn="tl">
                    <a:srgbClr val="C0C0C0"/>
                  </a:outerShdw>
                </a:effectLst>
                <a:ea typeface="宋体" pitchFamily="2" charset="-122"/>
              </a:rPr>
              <a:t>("\n");</a:t>
            </a:r>
          </a:p>
          <a:p>
            <a:pPr algn="l">
              <a:defRPr/>
            </a:pPr>
            <a:r>
              <a:rPr kumimoji="1" lang="en-US" altLang="zh-CN" dirty="0">
                <a:solidFill>
                  <a:srgbClr val="FF0000"/>
                </a:solidFill>
                <a:effectLst>
                  <a:outerShdw blurRad="38100" dist="38100" dir="2700000" algn="tl">
                    <a:srgbClr val="C0C0C0"/>
                  </a:outerShdw>
                </a:effectLst>
                <a:ea typeface="宋体" pitchFamily="2" charset="-122"/>
              </a:rPr>
              <a:t>             </a:t>
            </a:r>
            <a:r>
              <a:rPr kumimoji="1" lang="en-US" altLang="zh-CN" dirty="0" err="1">
                <a:solidFill>
                  <a:srgbClr val="FF0000"/>
                </a:solidFill>
                <a:effectLst>
                  <a:outerShdw blurRad="38100" dist="38100" dir="2700000" algn="tl">
                    <a:srgbClr val="C0C0C0"/>
                  </a:outerShdw>
                </a:effectLst>
                <a:ea typeface="宋体" pitchFamily="2" charset="-122"/>
              </a:rPr>
              <a:t>printf</a:t>
            </a:r>
            <a:r>
              <a:rPr kumimoji="1" lang="en-US" altLang="zh-CN" dirty="0">
                <a:solidFill>
                  <a:srgbClr val="FF0000"/>
                </a:solidFill>
                <a:effectLst>
                  <a:outerShdw blurRad="38100" dist="38100" dir="2700000" algn="tl">
                    <a:srgbClr val="C0C0C0"/>
                  </a:outerShdw>
                </a:effectLst>
                <a:ea typeface="宋体" pitchFamily="2" charset="-122"/>
              </a:rPr>
              <a:t>(" %d = %d + %d\t", n, x, y);</a:t>
            </a:r>
          </a:p>
          <a:p>
            <a:pPr algn="l">
              <a:defRPr/>
            </a:pPr>
            <a:r>
              <a:rPr kumimoji="1" lang="en-US" altLang="zh-CN" dirty="0">
                <a:solidFill>
                  <a:srgbClr val="FF0000"/>
                </a:solidFill>
                <a:effectLst>
                  <a:outerShdw blurRad="38100" dist="38100" dir="2700000" algn="tl">
                    <a:srgbClr val="C0C0C0"/>
                  </a:outerShdw>
                </a:effectLst>
                <a:ea typeface="宋体" pitchFamily="2" charset="-122"/>
              </a:rPr>
              <a:t>             break;		/* </a:t>
            </a:r>
            <a:r>
              <a:rPr kumimoji="1" lang="zh-CN" altLang="en-US" dirty="0">
                <a:solidFill>
                  <a:srgbClr val="FF0000"/>
                </a:solidFill>
                <a:effectLst>
                  <a:outerShdw blurRad="38100" dist="38100" dir="2700000" algn="tl">
                    <a:srgbClr val="C0C0C0"/>
                  </a:outerShdw>
                </a:effectLst>
                <a:ea typeface="宋体" pitchFamily="2" charset="-122"/>
              </a:rPr>
              <a:t>跳出内循环 *</a:t>
            </a:r>
            <a:r>
              <a:rPr kumimoji="1" lang="en-US" altLang="zh-CN" dirty="0">
                <a:solidFill>
                  <a:srgbClr val="FF0000"/>
                </a:solidFill>
                <a:effectLst>
                  <a:outerShdw blurRad="38100" dist="38100" dir="2700000" algn="tl">
                    <a:srgbClr val="C0C0C0"/>
                  </a:outerShdw>
                </a:effectLst>
                <a:ea typeface="宋体" pitchFamily="2" charset="-122"/>
              </a:rPr>
              <a:t>/</a:t>
            </a:r>
          </a:p>
          <a:p>
            <a:pPr algn="l">
              <a:defRPr/>
            </a:pPr>
            <a:r>
              <a:rPr kumimoji="1" lang="en-US" altLang="zh-CN" dirty="0">
                <a:solidFill>
                  <a:srgbClr val="FF0000"/>
                </a:solidFill>
                <a:effectLst>
                  <a:outerShdw blurRad="38100" dist="38100" dir="2700000" algn="tl">
                    <a:srgbClr val="C0C0C0"/>
                  </a:outerShdw>
                </a:effectLst>
                <a:ea typeface="宋体" pitchFamily="2" charset="-122"/>
              </a:rPr>
              <a:t>       }</a:t>
            </a:r>
          </a:p>
          <a:p>
            <a:pPr algn="l">
              <a:defRPr/>
            </a:pPr>
            <a:r>
              <a:rPr kumimoji="1" lang="en-US" altLang="zh-CN" dirty="0">
                <a:effectLst>
                  <a:outerShdw blurRad="38100" dist="38100" dir="2700000" algn="tl">
                    <a:srgbClr val="C0C0C0"/>
                  </a:outerShdw>
                </a:effectLst>
                <a:ea typeface="宋体" pitchFamily="2" charset="-122"/>
              </a:rPr>
              <a:t>  </a:t>
            </a:r>
            <a:r>
              <a:rPr kumimoji="1" lang="en-US" altLang="zh-CN" dirty="0" err="1">
                <a:effectLst>
                  <a:outerShdw blurRad="38100" dist="38100" dir="2700000" algn="tl">
                    <a:srgbClr val="C0C0C0"/>
                  </a:outerShdw>
                </a:effectLst>
                <a:ea typeface="宋体" pitchFamily="2" charset="-122"/>
              </a:rPr>
              <a:t>printf</a:t>
            </a:r>
            <a:r>
              <a:rPr kumimoji="1" lang="en-US" altLang="zh-CN" dirty="0">
                <a:effectLst>
                  <a:outerShdw blurRad="38100" dist="38100" dir="2700000" algn="tl">
                    <a:srgbClr val="C0C0C0"/>
                  </a:outerShdw>
                </a:effectLst>
                <a:ea typeface="宋体" pitchFamily="2" charset="-122"/>
              </a:rPr>
              <a:t>("\n");</a:t>
            </a:r>
          </a:p>
          <a:p>
            <a:pPr algn="l">
              <a:defRPr/>
            </a:pPr>
            <a:r>
              <a:rPr kumimoji="1" lang="en-US" altLang="zh-CN" dirty="0">
                <a:effectLst>
                  <a:outerShdw blurRad="38100" dist="38100" dir="2700000" algn="tl">
                    <a:srgbClr val="C0C0C0"/>
                  </a:outerShdw>
                </a:effectLst>
                <a:ea typeface="宋体" pitchFamily="2" charset="-122"/>
              </a:rPr>
              <a:t>  return 0;</a:t>
            </a:r>
          </a:p>
          <a:p>
            <a:pPr algn="l">
              <a:defRPr/>
            </a:pPr>
            <a:r>
              <a:rPr kumimoji="1" lang="en-US" altLang="zh-CN" dirty="0">
                <a:effectLst>
                  <a:outerShdw blurRad="38100" dist="38100" dir="2700000" algn="tl">
                    <a:srgbClr val="C0C0C0"/>
                  </a:outerShdw>
                </a:effectLst>
                <a:ea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3939">
                                            <p:txEl>
                                              <p:pRg st="4" end="4"/>
                                            </p:txEl>
                                          </p:spTgt>
                                        </p:tgtEl>
                                        <p:attrNameLst>
                                          <p:attrName>style.visibility</p:attrName>
                                        </p:attrNameLst>
                                      </p:cBhvr>
                                      <p:to>
                                        <p:strVal val="visible"/>
                                      </p:to>
                                    </p:set>
                                    <p:anim calcmode="lin" valueType="num">
                                      <p:cBhvr additive="base">
                                        <p:cTn id="7" dur="500" fill="hold"/>
                                        <p:tgtEl>
                                          <p:spTgt spid="42393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393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3939">
                                            <p:txEl>
                                              <p:pRg st="5" end="5"/>
                                            </p:txEl>
                                          </p:spTgt>
                                        </p:tgtEl>
                                        <p:attrNameLst>
                                          <p:attrName>style.visibility</p:attrName>
                                        </p:attrNameLst>
                                      </p:cBhvr>
                                      <p:to>
                                        <p:strVal val="visible"/>
                                      </p:to>
                                    </p:set>
                                    <p:anim calcmode="lin" valueType="num">
                                      <p:cBhvr additive="base">
                                        <p:cTn id="11" dur="500" fill="hold"/>
                                        <p:tgtEl>
                                          <p:spTgt spid="42393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393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3939">
                                            <p:txEl>
                                              <p:pRg st="6" end="6"/>
                                            </p:txEl>
                                          </p:spTgt>
                                        </p:tgtEl>
                                        <p:attrNameLst>
                                          <p:attrName>style.visibility</p:attrName>
                                        </p:attrNameLst>
                                      </p:cBhvr>
                                      <p:to>
                                        <p:strVal val="visible"/>
                                      </p:to>
                                    </p:set>
                                    <p:anim calcmode="lin" valueType="num">
                                      <p:cBhvr additive="base">
                                        <p:cTn id="15" dur="500" fill="hold"/>
                                        <p:tgtEl>
                                          <p:spTgt spid="42393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239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23939">
                                            <p:txEl>
                                              <p:pRg st="7" end="7"/>
                                            </p:txEl>
                                          </p:spTgt>
                                        </p:tgtEl>
                                        <p:attrNameLst>
                                          <p:attrName>style.visibility</p:attrName>
                                        </p:attrNameLst>
                                      </p:cBhvr>
                                      <p:to>
                                        <p:strVal val="visible"/>
                                      </p:to>
                                    </p:set>
                                    <p:anim calcmode="lin" valueType="num">
                                      <p:cBhvr additive="base">
                                        <p:cTn id="21" dur="500" fill="hold"/>
                                        <p:tgtEl>
                                          <p:spTgt spid="423939">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23939">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23939">
                                            <p:txEl>
                                              <p:pRg st="8" end="8"/>
                                            </p:txEl>
                                          </p:spTgt>
                                        </p:tgtEl>
                                        <p:attrNameLst>
                                          <p:attrName>style.visibility</p:attrName>
                                        </p:attrNameLst>
                                      </p:cBhvr>
                                      <p:to>
                                        <p:strVal val="visible"/>
                                      </p:to>
                                    </p:set>
                                    <p:anim calcmode="lin" valueType="num">
                                      <p:cBhvr additive="base">
                                        <p:cTn id="25" dur="500" fill="hold"/>
                                        <p:tgtEl>
                                          <p:spTgt spid="423939">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3939">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23939">
                                            <p:txEl>
                                              <p:pRg st="9" end="9"/>
                                            </p:txEl>
                                          </p:spTgt>
                                        </p:tgtEl>
                                        <p:attrNameLst>
                                          <p:attrName>style.visibility</p:attrName>
                                        </p:attrNameLst>
                                      </p:cBhvr>
                                      <p:to>
                                        <p:strVal val="visible"/>
                                      </p:to>
                                    </p:set>
                                    <p:anim calcmode="lin" valueType="num">
                                      <p:cBhvr additive="base">
                                        <p:cTn id="29" dur="500" fill="hold"/>
                                        <p:tgtEl>
                                          <p:spTgt spid="423939">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23939">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23939">
                                            <p:txEl>
                                              <p:pRg st="10" end="10"/>
                                            </p:txEl>
                                          </p:spTgt>
                                        </p:tgtEl>
                                        <p:attrNameLst>
                                          <p:attrName>style.visibility</p:attrName>
                                        </p:attrNameLst>
                                      </p:cBhvr>
                                      <p:to>
                                        <p:strVal val="visible"/>
                                      </p:to>
                                    </p:set>
                                    <p:anim calcmode="lin" valueType="num">
                                      <p:cBhvr additive="base">
                                        <p:cTn id="33" dur="500" fill="hold"/>
                                        <p:tgtEl>
                                          <p:spTgt spid="423939">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23939">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23939">
                                            <p:txEl>
                                              <p:pRg st="11" end="11"/>
                                            </p:txEl>
                                          </p:spTgt>
                                        </p:tgtEl>
                                        <p:attrNameLst>
                                          <p:attrName>style.visibility</p:attrName>
                                        </p:attrNameLst>
                                      </p:cBhvr>
                                      <p:to>
                                        <p:strVal val="visible"/>
                                      </p:to>
                                    </p:set>
                                    <p:anim calcmode="lin" valueType="num">
                                      <p:cBhvr additive="base">
                                        <p:cTn id="37" dur="500" fill="hold"/>
                                        <p:tgtEl>
                                          <p:spTgt spid="423939">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23939">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2506BE1-3243-441D-9CFC-77EAF79397B1}" type="slidenum">
              <a:rPr lang="en-US" altLang="zh-CN"/>
              <a:pPr>
                <a:defRPr/>
              </a:pPr>
              <a:t>75</a:t>
            </a:fld>
            <a:endParaRPr lang="en-US" altLang="zh-CN"/>
          </a:p>
        </p:txBody>
      </p:sp>
      <p:sp>
        <p:nvSpPr>
          <p:cNvPr id="70659"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2915" name="Text Box 3"/>
          <p:cNvSpPr txBox="1">
            <a:spLocks noChangeArrowheads="1"/>
          </p:cNvSpPr>
          <p:nvPr/>
        </p:nvSpPr>
        <p:spPr bwMode="auto">
          <a:xfrm>
            <a:off x="250825" y="476250"/>
            <a:ext cx="8642350" cy="4362450"/>
          </a:xfrm>
          <a:prstGeom prst="rect">
            <a:avLst/>
          </a:prstGeom>
          <a:noFill/>
          <a:ln w="9525">
            <a:noFill/>
            <a:miter lim="800000"/>
            <a:headEnd/>
            <a:tailEnd/>
          </a:ln>
          <a:effectLst/>
        </p:spPr>
        <p:txBody>
          <a:bodyPr>
            <a:spAutoFit/>
          </a:bodyPr>
          <a:lstStyle/>
          <a:p>
            <a:pPr algn="l">
              <a:defRPr/>
            </a:pPr>
            <a:r>
              <a:rPr kumimoji="1" lang="en-US" altLang="zh-CN">
                <a:effectLst>
                  <a:outerShdw blurRad="38100" dist="38100" dir="2700000" algn="tl">
                    <a:srgbClr val="C0C0C0"/>
                  </a:outerShdw>
                </a:effectLst>
                <a:ea typeface="宋体" pitchFamily="2" charset="-122"/>
              </a:rPr>
              <a:t>#include &lt;stdio.h&gt;</a:t>
            </a:r>
          </a:p>
          <a:p>
            <a:pPr algn="l">
              <a:defRPr/>
            </a:pPr>
            <a:r>
              <a:rPr kumimoji="1" lang="en-US" altLang="zh-CN">
                <a:effectLst>
                  <a:outerShdw blurRad="38100" dist="38100" dir="2700000" algn="tl">
                    <a:srgbClr val="C0C0C0"/>
                  </a:outerShdw>
                </a:effectLst>
                <a:ea typeface="宋体" pitchFamily="2" charset="-122"/>
              </a:rPr>
              <a:t>int isPrime(int n)		/* </a:t>
            </a:r>
            <a:r>
              <a:rPr kumimoji="1" lang="zh-CN" altLang="en-US">
                <a:effectLst>
                  <a:outerShdw blurRad="38100" dist="38100" dir="2700000" algn="tl">
                    <a:srgbClr val="C0C0C0"/>
                  </a:outerShdw>
                </a:effectLst>
                <a:ea typeface="宋体" pitchFamily="2" charset="-122"/>
              </a:rPr>
              <a:t>判别</a:t>
            </a:r>
            <a:r>
              <a:rPr kumimoji="1" lang="en-US" altLang="zh-CN">
                <a:effectLst>
                  <a:outerShdw blurRad="38100" dist="38100" dir="2700000" algn="tl">
                    <a:srgbClr val="C0C0C0"/>
                  </a:outerShdw>
                </a:effectLst>
                <a:ea typeface="宋体" pitchFamily="2" charset="-122"/>
              </a:rPr>
              <a:t>n</a:t>
            </a:r>
            <a:r>
              <a:rPr kumimoji="1" lang="zh-CN" altLang="en-US">
                <a:effectLst>
                  <a:outerShdw blurRad="38100" dist="38100" dir="2700000" algn="tl">
                    <a:srgbClr val="C0C0C0"/>
                  </a:outerShdw>
                </a:effectLst>
                <a:ea typeface="宋体" pitchFamily="2" charset="-122"/>
              </a:rPr>
              <a:t>是否为素数的函数 *</a:t>
            </a:r>
            <a:r>
              <a:rPr kumimoji="1" lang="en-US" altLang="zh-CN">
                <a:effectLst>
                  <a:outerShdw blurRad="38100" dist="38100" dir="2700000" algn="tl">
                    <a:srgbClr val="C0C0C0"/>
                  </a:outerShdw>
                </a:effectLst>
                <a:ea typeface="宋体" pitchFamily="2" charset="-122"/>
              </a:rPr>
              <a:t>/</a:t>
            </a:r>
          </a:p>
          <a:p>
            <a:pPr algn="l">
              <a:defRPr/>
            </a:pPr>
            <a:r>
              <a:rPr kumimoji="1" lang="en-US" altLang="zh-CN">
                <a:effectLst>
                  <a:outerShdw blurRad="38100" dist="38100" dir="2700000" algn="tl">
                    <a:srgbClr val="C0C0C0"/>
                  </a:outerShdw>
                </a:effectLst>
                <a:ea typeface="宋体" pitchFamily="2" charset="-122"/>
              </a:rPr>
              <a:t>{ int k;</a:t>
            </a:r>
          </a:p>
          <a:p>
            <a:pPr algn="l">
              <a:defRPr/>
            </a:pPr>
            <a:r>
              <a:rPr kumimoji="1" lang="en-US" altLang="zh-CN">
                <a:effectLst>
                  <a:outerShdw blurRad="38100" dist="38100" dir="2700000" algn="tl">
                    <a:srgbClr val="C0C0C0"/>
                  </a:outerShdw>
                </a:effectLst>
                <a:ea typeface="宋体" pitchFamily="2" charset="-122"/>
              </a:rPr>
              <a:t>  if (n == 1) return 0;		/* 1</a:t>
            </a:r>
            <a:r>
              <a:rPr kumimoji="1" lang="zh-CN" altLang="en-US">
                <a:effectLst>
                  <a:outerShdw blurRad="38100" dist="38100" dir="2700000" algn="tl">
                    <a:srgbClr val="C0C0C0"/>
                  </a:outerShdw>
                </a:effectLst>
                <a:ea typeface="宋体" pitchFamily="2" charset="-122"/>
              </a:rPr>
              <a:t>不是素数 *</a:t>
            </a:r>
            <a:r>
              <a:rPr kumimoji="1" lang="en-US" altLang="zh-CN">
                <a:effectLst>
                  <a:outerShdw blurRad="38100" dist="38100" dir="2700000" algn="tl">
                    <a:srgbClr val="C0C0C0"/>
                  </a:outerShdw>
                </a:effectLst>
                <a:ea typeface="宋体" pitchFamily="2" charset="-122"/>
              </a:rPr>
              <a:t>/</a:t>
            </a:r>
          </a:p>
          <a:p>
            <a:pPr algn="l">
              <a:defRPr/>
            </a:pPr>
            <a:r>
              <a:rPr kumimoji="1" lang="en-US" altLang="zh-CN">
                <a:effectLst>
                  <a:outerShdw blurRad="38100" dist="38100" dir="2700000" algn="tl">
                    <a:srgbClr val="C0C0C0"/>
                  </a:outerShdw>
                </a:effectLst>
                <a:ea typeface="宋体" pitchFamily="2" charset="-122"/>
              </a:rPr>
              <a:t>  if (n == 2) return 1;		/* 2</a:t>
            </a:r>
            <a:r>
              <a:rPr kumimoji="1" lang="zh-CN" altLang="en-US">
                <a:effectLst>
                  <a:outerShdw blurRad="38100" dist="38100" dir="2700000" algn="tl">
                    <a:srgbClr val="C0C0C0"/>
                  </a:outerShdw>
                </a:effectLst>
                <a:ea typeface="宋体" pitchFamily="2" charset="-122"/>
              </a:rPr>
              <a:t>是素数   *</a:t>
            </a:r>
            <a:r>
              <a:rPr kumimoji="1" lang="en-US" altLang="zh-CN">
                <a:effectLst>
                  <a:outerShdw blurRad="38100" dist="38100" dir="2700000" algn="tl">
                    <a:srgbClr val="C0C0C0"/>
                  </a:outerShdw>
                </a:effectLst>
                <a:ea typeface="宋体" pitchFamily="2" charset="-122"/>
              </a:rPr>
              <a:t>/ </a:t>
            </a:r>
          </a:p>
          <a:p>
            <a:pPr algn="l">
              <a:defRPr/>
            </a:pPr>
            <a:r>
              <a:rPr kumimoji="1" lang="en-US" altLang="zh-CN">
                <a:effectLst>
                  <a:outerShdw blurRad="38100" dist="38100" dir="2700000" algn="tl">
                    <a:srgbClr val="C0C0C0"/>
                  </a:outerShdw>
                </a:effectLst>
                <a:ea typeface="宋体" pitchFamily="2" charset="-122"/>
              </a:rPr>
              <a:t>  if (n % 2 == 0) return 0; 	</a:t>
            </a:r>
            <a:r>
              <a:rPr kumimoji="1" lang="en-US" altLang="zh-CN" sz="2000">
                <a:effectLst>
                  <a:outerShdw blurRad="38100" dist="38100" dir="2700000" algn="tl">
                    <a:srgbClr val="C0C0C0"/>
                  </a:outerShdw>
                </a:effectLst>
                <a:ea typeface="宋体" pitchFamily="2" charset="-122"/>
              </a:rPr>
              <a:t>/* </a:t>
            </a:r>
            <a:r>
              <a:rPr kumimoji="1" lang="zh-CN" altLang="en-US" sz="2000">
                <a:effectLst>
                  <a:outerShdw blurRad="38100" dist="38100" dir="2700000" algn="tl">
                    <a:srgbClr val="C0C0C0"/>
                  </a:outerShdw>
                </a:effectLst>
                <a:ea typeface="宋体" pitchFamily="2" charset="-122"/>
              </a:rPr>
              <a:t>除</a:t>
            </a:r>
            <a:r>
              <a:rPr kumimoji="1" lang="en-US" altLang="zh-CN" sz="2000">
                <a:effectLst>
                  <a:outerShdw blurRad="38100" dist="38100" dir="2700000" algn="tl">
                    <a:srgbClr val="C0C0C0"/>
                  </a:outerShdw>
                </a:effectLst>
                <a:ea typeface="宋体" pitchFamily="2" charset="-122"/>
              </a:rPr>
              <a:t>2</a:t>
            </a:r>
            <a:r>
              <a:rPr kumimoji="1" lang="zh-CN" altLang="en-US" sz="2000">
                <a:effectLst>
                  <a:outerShdw blurRad="38100" dist="38100" dir="2700000" algn="tl">
                    <a:srgbClr val="C0C0C0"/>
                  </a:outerShdw>
                </a:effectLst>
                <a:ea typeface="宋体" pitchFamily="2" charset="-122"/>
              </a:rPr>
              <a:t>外，其他偶数不是素数 *</a:t>
            </a:r>
            <a:r>
              <a:rPr kumimoji="1" lang="en-US" altLang="zh-CN" sz="2000">
                <a:effectLst>
                  <a:outerShdw blurRad="38100" dist="38100" dir="2700000" algn="tl">
                    <a:srgbClr val="C0C0C0"/>
                  </a:outerShdw>
                </a:effectLst>
                <a:ea typeface="宋体" pitchFamily="2" charset="-122"/>
              </a:rPr>
              <a:t>/</a:t>
            </a:r>
          </a:p>
          <a:p>
            <a:pPr algn="l">
              <a:defRPr/>
            </a:pPr>
            <a:r>
              <a:rPr kumimoji="1" lang="en-US" altLang="zh-CN">
                <a:effectLst>
                  <a:outerShdw blurRad="38100" dist="38100" dir="2700000" algn="tl">
                    <a:srgbClr val="C0C0C0"/>
                  </a:outerShdw>
                </a:effectLst>
                <a:ea typeface="宋体" pitchFamily="2" charset="-122"/>
              </a:rPr>
              <a:t>  for(k = 3; k*k &lt;= n; k += 2) </a:t>
            </a:r>
          </a:p>
          <a:p>
            <a:pPr algn="l">
              <a:defRPr/>
            </a:pPr>
            <a:r>
              <a:rPr kumimoji="1" lang="en-US" altLang="zh-CN">
                <a:effectLst>
                  <a:outerShdw blurRad="38100" dist="38100" dir="2700000" algn="tl">
                    <a:srgbClr val="C0C0C0"/>
                  </a:outerShdw>
                </a:effectLst>
                <a:ea typeface="宋体" pitchFamily="2" charset="-122"/>
              </a:rPr>
              <a:t>      	if (n % k == 0) return 0; </a:t>
            </a:r>
            <a:r>
              <a:rPr kumimoji="1" lang="en-US" altLang="zh-CN" sz="2000">
                <a:effectLst>
                  <a:outerShdw blurRad="38100" dist="38100" dir="2700000" algn="tl">
                    <a:srgbClr val="C0C0C0"/>
                  </a:outerShdw>
                </a:effectLst>
                <a:ea typeface="宋体" pitchFamily="2" charset="-122"/>
              </a:rPr>
              <a:t>/* n</a:t>
            </a:r>
            <a:r>
              <a:rPr kumimoji="1" lang="zh-CN" altLang="en-US" sz="2000">
                <a:effectLst>
                  <a:outerShdw blurRad="38100" dist="38100" dir="2700000" algn="tl">
                    <a:srgbClr val="C0C0C0"/>
                  </a:outerShdw>
                </a:effectLst>
                <a:ea typeface="宋体" pitchFamily="2" charset="-122"/>
              </a:rPr>
              <a:t>能整除</a:t>
            </a:r>
            <a:r>
              <a:rPr kumimoji="1" lang="en-US" altLang="zh-CN" sz="2000">
                <a:effectLst>
                  <a:outerShdw blurRad="38100" dist="38100" dir="2700000" algn="tl">
                    <a:srgbClr val="C0C0C0"/>
                  </a:outerShdw>
                </a:effectLst>
                <a:ea typeface="宋体" pitchFamily="2" charset="-122"/>
              </a:rPr>
              <a:t>k</a:t>
            </a:r>
            <a:r>
              <a:rPr kumimoji="1" lang="zh-CN" altLang="en-US" sz="2000">
                <a:effectLst>
                  <a:outerShdw blurRad="38100" dist="38100" dir="2700000" algn="tl">
                    <a:srgbClr val="C0C0C0"/>
                  </a:outerShdw>
                </a:effectLst>
                <a:ea typeface="宋体" pitchFamily="2" charset="-122"/>
              </a:rPr>
              <a:t>，则</a:t>
            </a:r>
            <a:r>
              <a:rPr kumimoji="1" lang="en-US" altLang="zh-CN" sz="2000">
                <a:effectLst>
                  <a:outerShdw blurRad="38100" dist="38100" dir="2700000" algn="tl">
                    <a:srgbClr val="C0C0C0"/>
                  </a:outerShdw>
                </a:effectLst>
                <a:ea typeface="宋体" pitchFamily="2" charset="-122"/>
              </a:rPr>
              <a:t>n</a:t>
            </a:r>
            <a:r>
              <a:rPr kumimoji="1" lang="zh-CN" altLang="en-US" sz="2000">
                <a:effectLst>
                  <a:outerShdw blurRad="38100" dist="38100" dir="2700000" algn="tl">
                    <a:srgbClr val="C0C0C0"/>
                  </a:outerShdw>
                </a:effectLst>
                <a:ea typeface="宋体" pitchFamily="2" charset="-122"/>
              </a:rPr>
              <a:t>不是素数 *</a:t>
            </a:r>
            <a:r>
              <a:rPr kumimoji="1" lang="en-US" altLang="zh-CN" sz="2000">
                <a:effectLst>
                  <a:outerShdw blurRad="38100" dist="38100" dir="2700000" algn="tl">
                    <a:srgbClr val="C0C0C0"/>
                  </a:outerShdw>
                </a:effectLst>
                <a:ea typeface="宋体" pitchFamily="2" charset="-122"/>
              </a:rPr>
              <a:t>/ </a:t>
            </a:r>
            <a:r>
              <a:rPr kumimoji="1" lang="en-US" altLang="zh-CN">
                <a:effectLst>
                  <a:outerShdw blurRad="38100" dist="38100" dir="2700000" algn="tl">
                    <a:srgbClr val="C0C0C0"/>
                  </a:outerShdw>
                </a:effectLst>
                <a:ea typeface="宋体" pitchFamily="2" charset="-122"/>
              </a:rPr>
              <a:t> </a:t>
            </a:r>
          </a:p>
          <a:p>
            <a:pPr algn="l">
              <a:defRPr/>
            </a:pPr>
            <a:r>
              <a:rPr kumimoji="1" lang="en-US" altLang="zh-CN">
                <a:effectLst>
                  <a:outerShdw blurRad="38100" dist="38100" dir="2700000" algn="tl">
                    <a:srgbClr val="C0C0C0"/>
                  </a:outerShdw>
                </a:effectLst>
                <a:ea typeface="宋体" pitchFamily="2" charset="-122"/>
              </a:rPr>
              <a:t>  return 1; 	/* </a:t>
            </a:r>
            <a:r>
              <a:rPr kumimoji="1" lang="zh-CN" altLang="en-US">
                <a:effectLst>
                  <a:outerShdw blurRad="38100" dist="38100" dir="2700000" algn="tl">
                    <a:srgbClr val="C0C0C0"/>
                  </a:outerShdw>
                </a:effectLst>
                <a:ea typeface="宋体" pitchFamily="2" charset="-122"/>
              </a:rPr>
              <a:t>所有</a:t>
            </a:r>
            <a:r>
              <a:rPr kumimoji="1" lang="en-US" altLang="zh-CN">
                <a:effectLst>
                  <a:outerShdw blurRad="38100" dist="38100" dir="2700000" algn="tl">
                    <a:srgbClr val="C0C0C0"/>
                  </a:outerShdw>
                </a:effectLst>
                <a:ea typeface="宋体" pitchFamily="2" charset="-122"/>
              </a:rPr>
              <a:t>k</a:t>
            </a:r>
            <a:r>
              <a:rPr kumimoji="1" lang="zh-CN" altLang="en-US">
                <a:effectLst>
                  <a:outerShdw blurRad="38100" dist="38100" dir="2700000" algn="tl">
                    <a:srgbClr val="C0C0C0"/>
                  </a:outerShdw>
                </a:effectLst>
                <a:ea typeface="宋体" pitchFamily="2" charset="-122"/>
              </a:rPr>
              <a:t>都不能被</a:t>
            </a:r>
            <a:r>
              <a:rPr kumimoji="1" lang="en-US" altLang="zh-CN">
                <a:effectLst>
                  <a:outerShdw blurRad="38100" dist="38100" dir="2700000" algn="tl">
                    <a:srgbClr val="C0C0C0"/>
                  </a:outerShdw>
                </a:effectLst>
                <a:ea typeface="宋体" pitchFamily="2" charset="-122"/>
              </a:rPr>
              <a:t>n</a:t>
            </a:r>
            <a:r>
              <a:rPr kumimoji="1" lang="zh-CN" altLang="en-US">
                <a:effectLst>
                  <a:outerShdw blurRad="38100" dist="38100" dir="2700000" algn="tl">
                    <a:srgbClr val="C0C0C0"/>
                  </a:outerShdw>
                </a:effectLst>
                <a:ea typeface="宋体" pitchFamily="2" charset="-122"/>
              </a:rPr>
              <a:t>整除，则</a:t>
            </a:r>
            <a:r>
              <a:rPr kumimoji="1" lang="en-US" altLang="zh-CN">
                <a:effectLst>
                  <a:outerShdw blurRad="38100" dist="38100" dir="2700000" algn="tl">
                    <a:srgbClr val="C0C0C0"/>
                  </a:outerShdw>
                </a:effectLst>
                <a:ea typeface="宋体" pitchFamily="2" charset="-122"/>
              </a:rPr>
              <a:t>n</a:t>
            </a:r>
            <a:r>
              <a:rPr kumimoji="1" lang="zh-CN" altLang="en-US">
                <a:effectLst>
                  <a:outerShdw blurRad="38100" dist="38100" dir="2700000" algn="tl">
                    <a:srgbClr val="C0C0C0"/>
                  </a:outerShdw>
                </a:effectLst>
                <a:ea typeface="宋体" pitchFamily="2" charset="-122"/>
              </a:rPr>
              <a:t>为素数 *</a:t>
            </a:r>
            <a:r>
              <a:rPr kumimoji="1" lang="en-US" altLang="zh-CN">
                <a:effectLst>
                  <a:outerShdw blurRad="38100" dist="38100" dir="2700000" algn="tl">
                    <a:srgbClr val="C0C0C0"/>
                  </a:outerShdw>
                </a:effectLst>
                <a:ea typeface="宋体" pitchFamily="2" charset="-122"/>
              </a:rPr>
              <a:t>/</a:t>
            </a:r>
          </a:p>
          <a:p>
            <a:pPr algn="l">
              <a:defRPr/>
            </a:pPr>
            <a:r>
              <a:rPr kumimoji="1" lang="en-US" altLang="zh-CN">
                <a:effectLst>
                  <a:outerShdw blurRad="38100" dist="38100" dir="2700000" algn="tl">
                    <a:srgbClr val="C0C0C0"/>
                  </a:outerShdw>
                </a:effectLst>
                <a:ea typeface="宋体" pitchFamily="2" charset="-122"/>
              </a:rPr>
              <a:t>}</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E4886A9-813A-4477-AA0C-F1C77F4C1842}" type="slidenum">
              <a:rPr lang="en-US" altLang="zh-CN"/>
              <a:pPr>
                <a:defRPr/>
              </a:pPr>
              <a:t>76</a:t>
            </a:fld>
            <a:endParaRPr lang="en-US" altLang="zh-CN"/>
          </a:p>
        </p:txBody>
      </p:sp>
      <p:sp>
        <p:nvSpPr>
          <p:cNvPr id="72707"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4963" name="Text Box 3"/>
          <p:cNvSpPr txBox="1">
            <a:spLocks noChangeArrowheads="1"/>
          </p:cNvSpPr>
          <p:nvPr/>
        </p:nvSpPr>
        <p:spPr bwMode="auto">
          <a:xfrm>
            <a:off x="250825" y="476250"/>
            <a:ext cx="8642350" cy="6370975"/>
          </a:xfrm>
          <a:prstGeom prst="rect">
            <a:avLst/>
          </a:prstGeom>
          <a:noFill/>
          <a:ln w="9525">
            <a:noFill/>
            <a:miter lim="800000"/>
            <a:headEnd/>
            <a:tailEnd/>
          </a:ln>
          <a:effectLst/>
        </p:spPr>
        <p:txBody>
          <a:bodyPr>
            <a:spAutoFit/>
          </a:bodyPr>
          <a:lstStyle/>
          <a:p>
            <a:pPr algn="l">
              <a:defRPr/>
            </a:pPr>
            <a:r>
              <a:rPr kumimoji="1" lang="en-US" altLang="zh-CN" sz="2400" dirty="0">
                <a:solidFill>
                  <a:srgbClr val="0070C0"/>
                </a:solidFill>
                <a:effectLst>
                  <a:outerShdw blurRad="38100" dist="38100" dir="2700000" algn="tl">
                    <a:srgbClr val="C0C0C0"/>
                  </a:outerShdw>
                </a:effectLst>
                <a:ea typeface="宋体" pitchFamily="2" charset="-122"/>
              </a:rPr>
              <a:t>【</a:t>
            </a:r>
            <a:r>
              <a:rPr kumimoji="1" lang="zh-CN" altLang="en-US" sz="2400" dirty="0">
                <a:solidFill>
                  <a:srgbClr val="0070C0"/>
                </a:solidFill>
                <a:effectLst>
                  <a:outerShdw blurRad="38100" dist="38100" dir="2700000" algn="tl">
                    <a:srgbClr val="C0C0C0"/>
                  </a:outerShdw>
                </a:effectLst>
                <a:ea typeface="宋体" pitchFamily="2" charset="-122"/>
              </a:rPr>
              <a:t>例</a:t>
            </a:r>
            <a:r>
              <a:rPr kumimoji="1" lang="en-US" altLang="zh-CN" sz="2400" dirty="0">
                <a:solidFill>
                  <a:srgbClr val="0070C0"/>
                </a:solidFill>
                <a:effectLst>
                  <a:outerShdw blurRad="38100" dist="38100" dir="2700000" algn="tl">
                    <a:srgbClr val="C0C0C0"/>
                  </a:outerShdw>
                </a:effectLst>
                <a:ea typeface="宋体" pitchFamily="2" charset="-122"/>
              </a:rPr>
              <a:t>5.18】</a:t>
            </a:r>
            <a:r>
              <a:rPr kumimoji="1" lang="zh-CN" altLang="en-US" sz="2400" dirty="0">
                <a:solidFill>
                  <a:srgbClr val="FF0000"/>
                </a:solidFill>
                <a:effectLst>
                  <a:outerShdw blurRad="38100" dist="38100" dir="2700000" algn="tl">
                    <a:srgbClr val="C0C0C0"/>
                  </a:outerShdw>
                </a:effectLst>
                <a:ea typeface="宋体" pitchFamily="2" charset="-122"/>
              </a:rPr>
              <a:t>递归计算</a:t>
            </a:r>
            <a:r>
              <a:rPr kumimoji="1" lang="en-US" altLang="zh-CN" sz="2400" dirty="0">
                <a:solidFill>
                  <a:srgbClr val="FF0000"/>
                </a:solidFill>
                <a:effectLst>
                  <a:outerShdw blurRad="38100" dist="38100" dir="2700000" algn="tl">
                    <a:srgbClr val="C0C0C0"/>
                  </a:outerShdw>
                </a:effectLst>
                <a:ea typeface="宋体" pitchFamily="2" charset="-122"/>
              </a:rPr>
              <a:t>x</a:t>
            </a:r>
            <a:r>
              <a:rPr kumimoji="1" lang="zh-CN" altLang="en-US" sz="2400" dirty="0">
                <a:solidFill>
                  <a:srgbClr val="FF0000"/>
                </a:solidFill>
                <a:effectLst>
                  <a:outerShdw blurRad="38100" dist="38100" dir="2700000" algn="tl">
                    <a:srgbClr val="C0C0C0"/>
                  </a:outerShdw>
                </a:effectLst>
                <a:ea typeface="宋体" pitchFamily="2" charset="-122"/>
              </a:rPr>
              <a:t>的</a:t>
            </a:r>
            <a:r>
              <a:rPr kumimoji="1" lang="en-US" altLang="zh-CN" sz="2400" dirty="0">
                <a:solidFill>
                  <a:srgbClr val="FF0000"/>
                </a:solidFill>
                <a:effectLst>
                  <a:outerShdw blurRad="38100" dist="38100" dir="2700000" algn="tl">
                    <a:srgbClr val="C0C0C0"/>
                  </a:outerShdw>
                </a:effectLst>
                <a:ea typeface="宋体" pitchFamily="2" charset="-122"/>
              </a:rPr>
              <a:t>y</a:t>
            </a:r>
            <a:r>
              <a:rPr kumimoji="1" lang="zh-CN" altLang="en-US" sz="2400" dirty="0">
                <a:solidFill>
                  <a:srgbClr val="FF0000"/>
                </a:solidFill>
                <a:effectLst>
                  <a:outerShdw blurRad="38100" dist="38100" dir="2700000" algn="tl">
                    <a:srgbClr val="C0C0C0"/>
                  </a:outerShdw>
                </a:effectLst>
                <a:ea typeface="宋体" pitchFamily="2" charset="-122"/>
              </a:rPr>
              <a:t>次方。</a:t>
            </a:r>
          </a:p>
          <a:p>
            <a:pPr algn="l">
              <a:defRPr/>
            </a:pP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解题思路</a:t>
            </a:r>
            <a:r>
              <a:rPr kumimoji="1" lang="en-US" altLang="zh-CN" sz="2400" dirty="0">
                <a:effectLst>
                  <a:outerShdw blurRad="38100" dist="38100" dir="2700000" algn="tl">
                    <a:srgbClr val="C0C0C0"/>
                  </a:outerShdw>
                </a:effectLst>
                <a:ea typeface="宋体" pitchFamily="2" charset="-122"/>
              </a:rPr>
              <a:t>】</a:t>
            </a:r>
          </a:p>
          <a:p>
            <a:pPr algn="l">
              <a:defRPr/>
            </a:pPr>
            <a:r>
              <a:rPr kumimoji="1" lang="zh-CN" altLang="en-US" sz="2400" dirty="0">
                <a:effectLst>
                  <a:outerShdw blurRad="38100" dist="38100" dir="2700000" algn="tl">
                    <a:srgbClr val="C0C0C0"/>
                  </a:outerShdw>
                </a:effectLst>
                <a:ea typeface="宋体" pitchFamily="2" charset="-122"/>
              </a:rPr>
              <a:t>在递归函数的“递推”过程中，将求</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的</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次方不断地分解为求</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的</a:t>
            </a:r>
            <a:r>
              <a:rPr kumimoji="1" lang="en-US" altLang="zh-CN" sz="2400" dirty="0">
                <a:effectLst>
                  <a:outerShdw blurRad="38100" dist="38100" dir="2700000" algn="tl">
                    <a:srgbClr val="C0C0C0"/>
                  </a:outerShdw>
                </a:effectLst>
                <a:ea typeface="宋体" pitchFamily="2" charset="-122"/>
              </a:rPr>
              <a:t>y-1</a:t>
            </a:r>
            <a:r>
              <a:rPr kumimoji="1" lang="zh-CN" altLang="en-US" sz="2400" dirty="0">
                <a:effectLst>
                  <a:outerShdw blurRad="38100" dist="38100" dir="2700000" algn="tl">
                    <a:srgbClr val="C0C0C0"/>
                  </a:outerShdw>
                </a:effectLst>
                <a:ea typeface="宋体" pitchFamily="2" charset="-122"/>
              </a:rPr>
              <a:t>次方，最终求解</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的</a:t>
            </a:r>
            <a:r>
              <a:rPr kumimoji="1" lang="en-US" altLang="zh-CN" sz="2400" dirty="0">
                <a:effectLst>
                  <a:outerShdw blurRad="38100" dist="38100" dir="2700000" algn="tl">
                    <a:srgbClr val="C0C0C0"/>
                  </a:outerShdw>
                </a:effectLst>
                <a:ea typeface="宋体" pitchFamily="2" charset="-122"/>
              </a:rPr>
              <a:t>0</a:t>
            </a:r>
            <a:r>
              <a:rPr kumimoji="1" lang="zh-CN" altLang="en-US" sz="2400" dirty="0">
                <a:effectLst>
                  <a:outerShdw blurRad="38100" dist="38100" dir="2700000" algn="tl">
                    <a:srgbClr val="C0C0C0"/>
                  </a:outerShdw>
                </a:effectLst>
                <a:ea typeface="宋体" pitchFamily="2" charset="-122"/>
              </a:rPr>
              <a:t>次方为</a:t>
            </a:r>
            <a:r>
              <a:rPr kumimoji="1" lang="en-US" altLang="zh-CN" sz="2400" dirty="0">
                <a:effectLst>
                  <a:outerShdw blurRad="38100" dist="38100" dir="2700000" algn="tl">
                    <a:srgbClr val="C0C0C0"/>
                  </a:outerShdw>
                </a:effectLst>
                <a:ea typeface="宋体" pitchFamily="2" charset="-122"/>
              </a:rPr>
              <a:t>1</a:t>
            </a:r>
            <a:r>
              <a:rPr kumimoji="1" lang="zh-CN" altLang="en-US" sz="2400" dirty="0">
                <a:effectLst>
                  <a:outerShdw blurRad="38100" dist="38100" dir="2700000" algn="tl">
                    <a:srgbClr val="C0C0C0"/>
                  </a:outerShdw>
                </a:effectLst>
                <a:ea typeface="宋体" pitchFamily="2" charset="-122"/>
              </a:rPr>
              <a:t>；在“回归”过程中，已知</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的</a:t>
            </a:r>
            <a:r>
              <a:rPr kumimoji="1" lang="en-US" altLang="zh-CN" sz="2400" dirty="0">
                <a:effectLst>
                  <a:outerShdw blurRad="38100" dist="38100" dir="2700000" algn="tl">
                    <a:srgbClr val="C0C0C0"/>
                  </a:outerShdw>
                </a:effectLst>
                <a:ea typeface="宋体" pitchFamily="2" charset="-122"/>
              </a:rPr>
              <a:t>0</a:t>
            </a:r>
            <a:r>
              <a:rPr kumimoji="1" lang="zh-CN" altLang="en-US" sz="2400" dirty="0">
                <a:effectLst>
                  <a:outerShdw blurRad="38100" dist="38100" dir="2700000" algn="tl">
                    <a:srgbClr val="C0C0C0"/>
                  </a:outerShdw>
                </a:effectLst>
                <a:ea typeface="宋体" pitchFamily="2" charset="-122"/>
              </a:rPr>
              <a:t>次方解，不断地再乘以</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，最终得到</a:t>
            </a:r>
            <a:r>
              <a:rPr kumimoji="1" lang="en-US" altLang="zh-CN" sz="2400" dirty="0">
                <a:effectLst>
                  <a:outerShdw blurRad="38100" dist="38100" dir="2700000" algn="tl">
                    <a:srgbClr val="C0C0C0"/>
                  </a:outerShdw>
                </a:effectLst>
                <a:ea typeface="宋体" pitchFamily="2" charset="-122"/>
              </a:rPr>
              <a:t>x</a:t>
            </a:r>
            <a:r>
              <a:rPr kumimoji="1" lang="zh-CN" altLang="en-US" sz="2400" dirty="0">
                <a:effectLst>
                  <a:outerShdw blurRad="38100" dist="38100" dir="2700000" algn="tl">
                    <a:srgbClr val="C0C0C0"/>
                  </a:outerShdw>
                </a:effectLst>
                <a:ea typeface="宋体" pitchFamily="2" charset="-122"/>
              </a:rPr>
              <a:t>的</a:t>
            </a:r>
            <a:r>
              <a:rPr kumimoji="1" lang="en-US" altLang="zh-CN" sz="2400" dirty="0">
                <a:effectLst>
                  <a:outerShdw blurRad="38100" dist="38100" dir="2700000" algn="tl">
                    <a:srgbClr val="C0C0C0"/>
                  </a:outerShdw>
                </a:effectLst>
                <a:ea typeface="宋体" pitchFamily="2" charset="-122"/>
              </a:rPr>
              <a:t>y</a:t>
            </a:r>
            <a:r>
              <a:rPr kumimoji="1" lang="zh-CN" altLang="en-US" sz="2400" dirty="0">
                <a:effectLst>
                  <a:outerShdw blurRad="38100" dist="38100" dir="2700000" algn="tl">
                    <a:srgbClr val="C0C0C0"/>
                  </a:outerShdw>
                </a:effectLst>
                <a:ea typeface="宋体" pitchFamily="2" charset="-122"/>
              </a:rPr>
              <a:t>次方的解。</a:t>
            </a:r>
          </a:p>
          <a:p>
            <a:pPr algn="l">
              <a:defRPr/>
            </a:pPr>
            <a:endParaRPr kumimoji="1" lang="en-US" altLang="zh-CN" sz="2400" dirty="0">
              <a:effectLst>
                <a:outerShdw blurRad="38100" dist="38100" dir="2700000" algn="tl">
                  <a:srgbClr val="C0C0C0"/>
                </a:outerShdw>
              </a:effectLst>
              <a:ea typeface="宋体" pitchFamily="2" charset="-122"/>
            </a:endParaRPr>
          </a:p>
          <a:p>
            <a:pPr algn="l">
              <a:defRPr/>
            </a:pP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power(</a:t>
            </a: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x, </a:t>
            </a: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y)	/* </a:t>
            </a:r>
            <a:r>
              <a:rPr kumimoji="1" lang="zh-CN" altLang="en-US" sz="2400" dirty="0">
                <a:effectLst>
                  <a:outerShdw blurRad="38100" dist="38100" dir="2700000" algn="tl">
                    <a:srgbClr val="C0C0C0"/>
                  </a:outerShdw>
                </a:effectLst>
                <a:ea typeface="宋体" pitchFamily="2" charset="-122"/>
              </a:rPr>
              <a:t>计算</a:t>
            </a:r>
            <a:r>
              <a:rPr kumimoji="1" lang="en-US" altLang="zh-CN" sz="2400" dirty="0">
                <a:effectLst>
                  <a:outerShdw blurRad="38100" dist="38100" dir="2700000" algn="tl">
                    <a:srgbClr val="C0C0C0"/>
                  </a:outerShdw>
                </a:effectLst>
                <a:ea typeface="宋体" pitchFamily="2" charset="-122"/>
              </a:rPr>
              <a:t>x </a:t>
            </a:r>
            <a:r>
              <a:rPr kumimoji="1" lang="zh-CN" altLang="en-US" sz="2400" dirty="0">
                <a:effectLst>
                  <a:outerShdw blurRad="38100" dist="38100" dir="2700000" algn="tl">
                    <a:srgbClr val="C0C0C0"/>
                  </a:outerShdw>
                </a:effectLst>
                <a:ea typeface="宋体" pitchFamily="2" charset="-122"/>
              </a:rPr>
              <a:t>的 </a:t>
            </a:r>
            <a:r>
              <a:rPr kumimoji="1" lang="en-US" altLang="zh-CN" sz="2400" dirty="0">
                <a:effectLst>
                  <a:outerShdw blurRad="38100" dist="38100" dir="2700000" algn="tl">
                    <a:srgbClr val="C0C0C0"/>
                  </a:outerShdw>
                </a:effectLst>
                <a:ea typeface="宋体" pitchFamily="2" charset="-122"/>
              </a:rPr>
              <a:t>y </a:t>
            </a:r>
            <a:r>
              <a:rPr kumimoji="1" lang="zh-CN" altLang="en-US" sz="2400" dirty="0">
                <a:effectLst>
                  <a:outerShdw blurRad="38100" dist="38100" dir="2700000" algn="tl">
                    <a:srgbClr val="C0C0C0"/>
                  </a:outerShdw>
                </a:effectLst>
                <a:ea typeface="宋体" pitchFamily="2" charset="-122"/>
              </a:rPr>
              <a:t>次方的递归函数 *</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if(y == 0) return 1;	/* </a:t>
            </a:r>
            <a:r>
              <a:rPr kumimoji="1" lang="zh-CN" altLang="en-US" sz="2400" dirty="0">
                <a:effectLst>
                  <a:outerShdw blurRad="38100" dist="38100" dir="2700000" algn="tl">
                    <a:srgbClr val="C0C0C0"/>
                  </a:outerShdw>
                </a:effectLst>
                <a:ea typeface="宋体" pitchFamily="2" charset="-122"/>
              </a:rPr>
              <a:t>任何不等于</a:t>
            </a:r>
            <a:r>
              <a:rPr kumimoji="1" lang="en-US" altLang="zh-CN" sz="2400" dirty="0">
                <a:effectLst>
                  <a:outerShdw blurRad="38100" dist="38100" dir="2700000" algn="tl">
                    <a:srgbClr val="C0C0C0"/>
                  </a:outerShdw>
                </a:effectLst>
                <a:ea typeface="宋体" pitchFamily="2" charset="-122"/>
              </a:rPr>
              <a:t>0</a:t>
            </a:r>
            <a:r>
              <a:rPr kumimoji="1" lang="zh-CN" altLang="en-US" sz="2400" dirty="0">
                <a:effectLst>
                  <a:outerShdw blurRad="38100" dist="38100" dir="2700000" algn="tl">
                    <a:srgbClr val="C0C0C0"/>
                  </a:outerShdw>
                </a:effectLst>
                <a:ea typeface="宋体" pitchFamily="2" charset="-122"/>
              </a:rPr>
              <a:t>的数的</a:t>
            </a:r>
            <a:r>
              <a:rPr kumimoji="1" lang="en-US" altLang="zh-CN" sz="2400" dirty="0">
                <a:effectLst>
                  <a:outerShdw blurRad="38100" dist="38100" dir="2700000" algn="tl">
                    <a:srgbClr val="C0C0C0"/>
                  </a:outerShdw>
                </a:effectLst>
                <a:ea typeface="宋体" pitchFamily="2" charset="-122"/>
              </a:rPr>
              <a:t>0</a:t>
            </a:r>
            <a:r>
              <a:rPr kumimoji="1" lang="zh-CN" altLang="en-US" sz="2400" dirty="0">
                <a:effectLst>
                  <a:outerShdw blurRad="38100" dist="38100" dir="2700000" algn="tl">
                    <a:srgbClr val="C0C0C0"/>
                  </a:outerShdw>
                </a:effectLst>
                <a:ea typeface="宋体" pitchFamily="2" charset="-122"/>
              </a:rPr>
              <a:t>次方为</a:t>
            </a:r>
            <a:r>
              <a:rPr kumimoji="1" lang="en-US" altLang="zh-CN" sz="2400" dirty="0">
                <a:effectLst>
                  <a:outerShdw blurRad="38100" dist="38100" dir="2700000" algn="tl">
                    <a:srgbClr val="C0C0C0"/>
                  </a:outerShdw>
                </a:effectLst>
                <a:ea typeface="宋体" pitchFamily="2" charset="-122"/>
              </a:rPr>
              <a:t>1 */</a:t>
            </a:r>
          </a:p>
          <a:p>
            <a:pPr algn="l">
              <a:defRPr/>
            </a:pPr>
            <a:r>
              <a:rPr kumimoji="1" lang="en-US" altLang="zh-CN" sz="2400" dirty="0">
                <a:effectLst>
                  <a:outerShdw blurRad="38100" dist="38100" dir="2700000" algn="tl">
                    <a:srgbClr val="C0C0C0"/>
                  </a:outerShdw>
                </a:effectLst>
                <a:ea typeface="宋体" pitchFamily="2" charset="-122"/>
              </a:rPr>
              <a:t>  return x*power(x, y-1);</a:t>
            </a:r>
          </a:p>
          <a:p>
            <a:pPr algn="l">
              <a:defRPr/>
            </a:pP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main() /* </a:t>
            </a:r>
            <a:r>
              <a:rPr kumimoji="1" lang="zh-CN" altLang="en-US" sz="2400" dirty="0">
                <a:effectLst>
                  <a:outerShdw blurRad="38100" dist="38100" dir="2700000" algn="tl">
                    <a:srgbClr val="C0C0C0"/>
                  </a:outerShdw>
                </a:effectLst>
                <a:ea typeface="宋体" pitchFamily="2" charset="-122"/>
              </a:rPr>
              <a:t>主函数 *</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x, y;</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请输入 </a:t>
            </a:r>
            <a:r>
              <a:rPr kumimoji="1" lang="en-US" altLang="zh-CN" sz="2400" dirty="0">
                <a:effectLst>
                  <a:outerShdw blurRad="38100" dist="38100" dir="2700000" algn="tl">
                    <a:srgbClr val="C0C0C0"/>
                  </a:outerShdw>
                </a:effectLst>
                <a:ea typeface="宋体" pitchFamily="2" charset="-122"/>
              </a:rPr>
              <a:t>x(!=0) </a:t>
            </a:r>
            <a:r>
              <a:rPr kumimoji="1" lang="zh-CN" altLang="en-US" sz="2400" dirty="0">
                <a:effectLst>
                  <a:outerShdw blurRad="38100" dist="38100" dir="2700000" algn="tl">
                    <a:srgbClr val="C0C0C0"/>
                  </a:outerShdw>
                </a:effectLst>
                <a:ea typeface="宋体" pitchFamily="2" charset="-122"/>
              </a:rPr>
              <a:t>和 </a:t>
            </a:r>
            <a:r>
              <a:rPr kumimoji="1" lang="en-US" altLang="zh-CN" sz="2400" dirty="0">
                <a:effectLst>
                  <a:outerShdw blurRad="38100" dist="38100" dir="2700000" algn="tl">
                    <a:srgbClr val="C0C0C0"/>
                  </a:outerShdw>
                </a:effectLst>
                <a:ea typeface="宋体" pitchFamily="2" charset="-122"/>
              </a:rPr>
              <a:t>y </a:t>
            </a:r>
            <a:r>
              <a:rPr kumimoji="1" lang="zh-CN" altLang="en-US" sz="2400" dirty="0">
                <a:effectLst>
                  <a:outerShdw blurRad="38100" dist="38100" dir="2700000" algn="tl">
                    <a:srgbClr val="C0C0C0"/>
                  </a:outerShdw>
                </a:effectLst>
                <a:ea typeface="宋体" pitchFamily="2" charset="-122"/>
              </a:rPr>
              <a:t>：”</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scanf</a:t>
            </a:r>
            <a:r>
              <a:rPr kumimoji="1" lang="en-US" altLang="zh-CN" sz="2400" dirty="0">
                <a:effectLst>
                  <a:outerShdw blurRad="38100" dist="38100" dir="2700000" algn="tl">
                    <a:srgbClr val="C0C0C0"/>
                  </a:outerShdw>
                </a:effectLst>
                <a:ea typeface="宋体" pitchFamily="2" charset="-122"/>
              </a:rPr>
              <a:t>(”%</a:t>
            </a:r>
            <a:r>
              <a:rPr kumimoji="1" lang="en-US" altLang="zh-CN" sz="2400" dirty="0" err="1">
                <a:effectLst>
                  <a:outerShdw blurRad="38100" dist="38100" dir="2700000" algn="tl">
                    <a:srgbClr val="C0C0C0"/>
                  </a:outerShdw>
                </a:effectLst>
                <a:ea typeface="宋体" pitchFamily="2" charset="-122"/>
              </a:rPr>
              <a:t>d%d</a:t>
            </a:r>
            <a:r>
              <a:rPr kumimoji="1" lang="en-US" altLang="zh-CN" sz="2400" dirty="0">
                <a:effectLst>
                  <a:outerShdw blurRad="38100" dist="38100" dir="2700000" algn="tl">
                    <a:srgbClr val="C0C0C0"/>
                  </a:outerShdw>
                </a:effectLst>
                <a:ea typeface="宋体" pitchFamily="2" charset="-122"/>
              </a:rPr>
              <a:t>”, &amp;x, &amp;y);</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(”%d^%d = %d\n”, x, y, power(x, y));</a:t>
            </a:r>
          </a:p>
          <a:p>
            <a:pPr algn="l">
              <a:defRPr/>
            </a:pPr>
            <a:r>
              <a:rPr kumimoji="1" lang="en-US" altLang="zh-CN" sz="2400" dirty="0">
                <a:effectLst>
                  <a:outerShdw blurRad="38100" dist="38100" dir="2700000" algn="tl">
                    <a:srgbClr val="C0C0C0"/>
                  </a:outerShdw>
                </a:effectLst>
                <a:ea typeface="宋体" pitchFamily="2" charset="-122"/>
              </a:rPr>
              <a:t>  return 0;</a:t>
            </a:r>
          </a:p>
          <a:p>
            <a:pPr algn="l">
              <a:defRPr/>
            </a:pPr>
            <a:r>
              <a:rPr kumimoji="1" lang="en-US" altLang="zh-CN" sz="2400" dirty="0">
                <a:effectLst>
                  <a:outerShdw blurRad="38100" dist="38100" dir="2700000" algn="tl">
                    <a:srgbClr val="C0C0C0"/>
                  </a:outerShdw>
                </a:effectLst>
                <a:ea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4963">
                                            <p:txEl>
                                              <p:pRg st="4" end="4"/>
                                            </p:txEl>
                                          </p:spTgt>
                                        </p:tgtEl>
                                        <p:attrNameLst>
                                          <p:attrName>style.visibility</p:attrName>
                                        </p:attrNameLst>
                                      </p:cBhvr>
                                      <p:to>
                                        <p:strVal val="visible"/>
                                      </p:to>
                                    </p:set>
                                    <p:anim calcmode="lin" valueType="num">
                                      <p:cBhvr additive="base">
                                        <p:cTn id="7" dur="500" fill="hold"/>
                                        <p:tgtEl>
                                          <p:spTgt spid="42496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496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24963">
                                            <p:txEl>
                                              <p:pRg st="5" end="5"/>
                                            </p:txEl>
                                          </p:spTgt>
                                        </p:tgtEl>
                                        <p:attrNameLst>
                                          <p:attrName>style.visibility</p:attrName>
                                        </p:attrNameLst>
                                      </p:cBhvr>
                                      <p:to>
                                        <p:strVal val="visible"/>
                                      </p:to>
                                    </p:set>
                                    <p:anim calcmode="lin" valueType="num">
                                      <p:cBhvr additive="base">
                                        <p:cTn id="11" dur="500" fill="hold"/>
                                        <p:tgtEl>
                                          <p:spTgt spid="42496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496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4963">
                                            <p:txEl>
                                              <p:pRg st="6" end="6"/>
                                            </p:txEl>
                                          </p:spTgt>
                                        </p:tgtEl>
                                        <p:attrNameLst>
                                          <p:attrName>style.visibility</p:attrName>
                                        </p:attrNameLst>
                                      </p:cBhvr>
                                      <p:to>
                                        <p:strVal val="visible"/>
                                      </p:to>
                                    </p:set>
                                    <p:anim calcmode="lin" valueType="num">
                                      <p:cBhvr additive="base">
                                        <p:cTn id="15" dur="500" fill="hold"/>
                                        <p:tgtEl>
                                          <p:spTgt spid="42496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2496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24963">
                                            <p:txEl>
                                              <p:pRg st="7" end="7"/>
                                            </p:txEl>
                                          </p:spTgt>
                                        </p:tgtEl>
                                        <p:attrNameLst>
                                          <p:attrName>style.visibility</p:attrName>
                                        </p:attrNameLst>
                                      </p:cBhvr>
                                      <p:to>
                                        <p:strVal val="visible"/>
                                      </p:to>
                                    </p:set>
                                    <p:anim calcmode="lin" valueType="num">
                                      <p:cBhvr additive="base">
                                        <p:cTn id="19" dur="500" fill="hold"/>
                                        <p:tgtEl>
                                          <p:spTgt spid="42496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49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4963">
                                            <p:txEl>
                                              <p:pRg st="8" end="8"/>
                                            </p:txEl>
                                          </p:spTgt>
                                        </p:tgtEl>
                                        <p:attrNameLst>
                                          <p:attrName>style.visibility</p:attrName>
                                        </p:attrNameLst>
                                      </p:cBhvr>
                                      <p:to>
                                        <p:strVal val="visible"/>
                                      </p:to>
                                    </p:set>
                                    <p:anim calcmode="lin" valueType="num">
                                      <p:cBhvr additive="base">
                                        <p:cTn id="25" dur="500" fill="hold"/>
                                        <p:tgtEl>
                                          <p:spTgt spid="42496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24963">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24963">
                                            <p:txEl>
                                              <p:pRg st="9" end="9"/>
                                            </p:txEl>
                                          </p:spTgt>
                                        </p:tgtEl>
                                        <p:attrNameLst>
                                          <p:attrName>style.visibility</p:attrName>
                                        </p:attrNameLst>
                                      </p:cBhvr>
                                      <p:to>
                                        <p:strVal val="visible"/>
                                      </p:to>
                                    </p:set>
                                    <p:anim calcmode="lin" valueType="num">
                                      <p:cBhvr additive="base">
                                        <p:cTn id="29" dur="500" fill="hold"/>
                                        <p:tgtEl>
                                          <p:spTgt spid="42496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24963">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24963">
                                            <p:txEl>
                                              <p:pRg st="10" end="10"/>
                                            </p:txEl>
                                          </p:spTgt>
                                        </p:tgtEl>
                                        <p:attrNameLst>
                                          <p:attrName>style.visibility</p:attrName>
                                        </p:attrNameLst>
                                      </p:cBhvr>
                                      <p:to>
                                        <p:strVal val="visible"/>
                                      </p:to>
                                    </p:set>
                                    <p:anim calcmode="lin" valueType="num">
                                      <p:cBhvr additive="base">
                                        <p:cTn id="33" dur="500" fill="hold"/>
                                        <p:tgtEl>
                                          <p:spTgt spid="42496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24963">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24963">
                                            <p:txEl>
                                              <p:pRg st="11" end="11"/>
                                            </p:txEl>
                                          </p:spTgt>
                                        </p:tgtEl>
                                        <p:attrNameLst>
                                          <p:attrName>style.visibility</p:attrName>
                                        </p:attrNameLst>
                                      </p:cBhvr>
                                      <p:to>
                                        <p:strVal val="visible"/>
                                      </p:to>
                                    </p:set>
                                    <p:anim calcmode="lin" valueType="num">
                                      <p:cBhvr additive="base">
                                        <p:cTn id="37" dur="500" fill="hold"/>
                                        <p:tgtEl>
                                          <p:spTgt spid="424963">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24963">
                                            <p:txEl>
                                              <p:pRg st="11" end="1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24963">
                                            <p:txEl>
                                              <p:pRg st="12" end="12"/>
                                            </p:txEl>
                                          </p:spTgt>
                                        </p:tgtEl>
                                        <p:attrNameLst>
                                          <p:attrName>style.visibility</p:attrName>
                                        </p:attrNameLst>
                                      </p:cBhvr>
                                      <p:to>
                                        <p:strVal val="visible"/>
                                      </p:to>
                                    </p:set>
                                    <p:anim calcmode="lin" valueType="num">
                                      <p:cBhvr additive="base">
                                        <p:cTn id="41" dur="500" fill="hold"/>
                                        <p:tgtEl>
                                          <p:spTgt spid="424963">
                                            <p:txEl>
                                              <p:pRg st="12" end="1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24963">
                                            <p:txEl>
                                              <p:pRg st="12" end="12"/>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24963">
                                            <p:txEl>
                                              <p:pRg st="13" end="13"/>
                                            </p:txEl>
                                          </p:spTgt>
                                        </p:tgtEl>
                                        <p:attrNameLst>
                                          <p:attrName>style.visibility</p:attrName>
                                        </p:attrNameLst>
                                      </p:cBhvr>
                                      <p:to>
                                        <p:strVal val="visible"/>
                                      </p:to>
                                    </p:set>
                                    <p:anim calcmode="lin" valueType="num">
                                      <p:cBhvr additive="base">
                                        <p:cTn id="45" dur="500" fill="hold"/>
                                        <p:tgtEl>
                                          <p:spTgt spid="424963">
                                            <p:txEl>
                                              <p:pRg st="13" end="1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24963">
                                            <p:txEl>
                                              <p:pRg st="13" end="13"/>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24963">
                                            <p:txEl>
                                              <p:pRg st="14" end="14"/>
                                            </p:txEl>
                                          </p:spTgt>
                                        </p:tgtEl>
                                        <p:attrNameLst>
                                          <p:attrName>style.visibility</p:attrName>
                                        </p:attrNameLst>
                                      </p:cBhvr>
                                      <p:to>
                                        <p:strVal val="visible"/>
                                      </p:to>
                                    </p:set>
                                    <p:anim calcmode="lin" valueType="num">
                                      <p:cBhvr additive="base">
                                        <p:cTn id="49" dur="500" fill="hold"/>
                                        <p:tgtEl>
                                          <p:spTgt spid="424963">
                                            <p:txEl>
                                              <p:pRg st="14" end="1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2496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EF637A4-2882-49FD-A32E-50C9F94E84F6}" type="slidenum">
              <a:rPr lang="en-US" altLang="zh-CN"/>
              <a:pPr>
                <a:defRPr/>
              </a:pPr>
              <a:t>77</a:t>
            </a:fld>
            <a:endParaRPr lang="en-US" altLang="zh-CN"/>
          </a:p>
        </p:txBody>
      </p:sp>
      <p:sp>
        <p:nvSpPr>
          <p:cNvPr id="73731"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425987" name="Text Box 3"/>
          <p:cNvSpPr txBox="1">
            <a:spLocks noChangeArrowheads="1"/>
          </p:cNvSpPr>
          <p:nvPr/>
        </p:nvSpPr>
        <p:spPr bwMode="auto">
          <a:xfrm>
            <a:off x="250825" y="476250"/>
            <a:ext cx="8642350" cy="6370638"/>
          </a:xfrm>
          <a:prstGeom prst="rect">
            <a:avLst/>
          </a:prstGeom>
          <a:noFill/>
          <a:ln w="9525">
            <a:noFill/>
            <a:miter lim="800000"/>
            <a:headEnd/>
            <a:tailEnd/>
          </a:ln>
          <a:effectLst/>
        </p:spPr>
        <p:txBody>
          <a:bodyPr>
            <a:spAutoFit/>
          </a:bodyPr>
          <a:lstStyle/>
          <a:p>
            <a:pPr algn="l">
              <a:defRPr/>
            </a:pPr>
            <a:r>
              <a:rPr kumimoji="1" lang="en-US" altLang="zh-CN" sz="2400" dirty="0">
                <a:solidFill>
                  <a:srgbClr val="0070C0"/>
                </a:solidFill>
                <a:effectLst>
                  <a:outerShdw blurRad="38100" dist="38100" dir="2700000" algn="tl">
                    <a:srgbClr val="C0C0C0"/>
                  </a:outerShdw>
                </a:effectLst>
                <a:ea typeface="宋体" pitchFamily="2" charset="-122"/>
              </a:rPr>
              <a:t>【</a:t>
            </a:r>
            <a:r>
              <a:rPr kumimoji="1" lang="zh-CN" altLang="en-US" sz="2400" dirty="0">
                <a:solidFill>
                  <a:srgbClr val="0070C0"/>
                </a:solidFill>
                <a:effectLst>
                  <a:outerShdw blurRad="38100" dist="38100" dir="2700000" algn="tl">
                    <a:srgbClr val="C0C0C0"/>
                  </a:outerShdw>
                </a:effectLst>
                <a:ea typeface="宋体" pitchFamily="2" charset="-122"/>
              </a:rPr>
              <a:t>例</a:t>
            </a:r>
            <a:r>
              <a:rPr kumimoji="1" lang="en-US" altLang="zh-CN" sz="2400" dirty="0">
                <a:solidFill>
                  <a:srgbClr val="0070C0"/>
                </a:solidFill>
                <a:effectLst>
                  <a:outerShdw blurRad="38100" dist="38100" dir="2700000" algn="tl">
                    <a:srgbClr val="C0C0C0"/>
                  </a:outerShdw>
                </a:effectLst>
                <a:ea typeface="宋体" pitchFamily="2" charset="-122"/>
              </a:rPr>
              <a:t>5.19】</a:t>
            </a:r>
            <a:r>
              <a:rPr kumimoji="1" lang="zh-CN" altLang="en-US" sz="2400" dirty="0">
                <a:solidFill>
                  <a:srgbClr val="FF0000"/>
                </a:solidFill>
                <a:effectLst>
                  <a:outerShdw blurRad="38100" dist="38100" dir="2700000" algn="tl">
                    <a:srgbClr val="C0C0C0"/>
                  </a:outerShdw>
                </a:effectLst>
                <a:ea typeface="宋体" pitchFamily="2" charset="-122"/>
              </a:rPr>
              <a:t>输入一个正整数，用递归实现将该整数倒序输出。</a:t>
            </a:r>
          </a:p>
          <a:p>
            <a:pPr algn="l">
              <a:defRPr/>
            </a:pP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解题思路</a:t>
            </a:r>
            <a:r>
              <a:rPr kumimoji="1" lang="en-US" altLang="zh-CN" sz="2400" dirty="0">
                <a:effectLst>
                  <a:outerShdw blurRad="38100" dist="38100" dir="2700000" algn="tl">
                    <a:srgbClr val="C0C0C0"/>
                  </a:outerShdw>
                </a:effectLst>
                <a:ea typeface="宋体" pitchFamily="2" charset="-122"/>
              </a:rPr>
              <a:t>】</a:t>
            </a:r>
          </a:p>
          <a:p>
            <a:pPr algn="l">
              <a:defRPr/>
            </a:pPr>
            <a:r>
              <a:rPr kumimoji="1" lang="zh-CN" altLang="en-US" sz="2400" dirty="0">
                <a:effectLst>
                  <a:outerShdw blurRad="38100" dist="38100" dir="2700000" algn="tl">
                    <a:srgbClr val="C0C0C0"/>
                  </a:outerShdw>
                </a:effectLst>
                <a:ea typeface="宋体" pitchFamily="2" charset="-122"/>
              </a:rPr>
              <a:t>先输出整数的个位，接着用递归倒序输出高位即可，见下面程序中的函数</a:t>
            </a:r>
            <a:r>
              <a:rPr kumimoji="1" lang="en-US" altLang="zh-CN" sz="2400" dirty="0">
                <a:effectLst>
                  <a:outerShdw blurRad="38100" dist="38100" dir="2700000" algn="tl">
                    <a:srgbClr val="C0C0C0"/>
                  </a:outerShdw>
                </a:effectLst>
                <a:ea typeface="宋体" pitchFamily="2" charset="-122"/>
              </a:rPr>
              <a:t>back()</a:t>
            </a:r>
            <a:r>
              <a:rPr kumimoji="1" lang="zh-CN" altLang="en-US"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#include &lt;</a:t>
            </a:r>
            <a:r>
              <a:rPr kumimoji="1" lang="en-US" altLang="zh-CN" sz="2400" dirty="0" err="1">
                <a:effectLst>
                  <a:outerShdw blurRad="38100" dist="38100" dir="2700000" algn="tl">
                    <a:srgbClr val="C0C0C0"/>
                  </a:outerShdw>
                </a:effectLst>
                <a:ea typeface="宋体" pitchFamily="2" charset="-122"/>
              </a:rPr>
              <a:t>stdio.h</a:t>
            </a:r>
            <a:r>
              <a:rPr kumimoji="1" lang="en-US" altLang="zh-CN" sz="2400" dirty="0">
                <a:effectLst>
                  <a:outerShdw blurRad="38100" dist="38100" dir="2700000" algn="tl">
                    <a:srgbClr val="C0C0C0"/>
                  </a:outerShdw>
                </a:effectLst>
                <a:ea typeface="宋体" pitchFamily="2" charset="-122"/>
              </a:rPr>
              <a:t>&gt;</a:t>
            </a:r>
          </a:p>
          <a:p>
            <a:pPr algn="l">
              <a:defRPr/>
            </a:pPr>
            <a:r>
              <a:rPr kumimoji="1" lang="en-US" altLang="zh-CN" sz="2400" dirty="0">
                <a:effectLst>
                  <a:outerShdw blurRad="38100" dist="38100" dir="2700000" algn="tl">
                    <a:srgbClr val="C0C0C0"/>
                  </a:outerShdw>
                </a:effectLst>
                <a:ea typeface="宋体" pitchFamily="2" charset="-122"/>
              </a:rPr>
              <a:t>void back(</a:t>
            </a: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n)		/* </a:t>
            </a:r>
            <a:r>
              <a:rPr kumimoji="1" lang="zh-CN" altLang="en-US" sz="2400" dirty="0">
                <a:effectLst>
                  <a:outerShdw blurRad="38100" dist="38100" dir="2700000" algn="tl">
                    <a:srgbClr val="C0C0C0"/>
                  </a:outerShdw>
                </a:effectLst>
                <a:ea typeface="宋体" pitchFamily="2" charset="-122"/>
              </a:rPr>
              <a:t>求倒序的递归函数 *</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 %d”, n%10);	/* </a:t>
            </a:r>
            <a:r>
              <a:rPr kumimoji="1" lang="zh-CN" altLang="en-US" sz="2400" dirty="0">
                <a:effectLst>
                  <a:outerShdw blurRad="38100" dist="38100" dir="2700000" algn="tl">
                    <a:srgbClr val="C0C0C0"/>
                  </a:outerShdw>
                </a:effectLst>
                <a:ea typeface="宋体" pitchFamily="2" charset="-122"/>
              </a:rPr>
              <a:t>输出尾数 *</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if(n &lt; 10) return;</a:t>
            </a:r>
          </a:p>
          <a:p>
            <a:pPr algn="l">
              <a:defRPr/>
            </a:pPr>
            <a:r>
              <a:rPr kumimoji="1" lang="en-US" altLang="zh-CN" sz="2400" dirty="0">
                <a:effectLst>
                  <a:outerShdw blurRad="38100" dist="38100" dir="2700000" algn="tl">
                    <a:srgbClr val="C0C0C0"/>
                  </a:outerShdw>
                </a:effectLst>
                <a:ea typeface="宋体" pitchFamily="2" charset="-122"/>
              </a:rPr>
              <a:t>  back(n/10);</a:t>
            </a:r>
          </a:p>
          <a:p>
            <a:pPr algn="l">
              <a:defRPr/>
            </a:pP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main()		/* </a:t>
            </a:r>
            <a:r>
              <a:rPr kumimoji="1" lang="zh-CN" altLang="en-US" sz="2400" dirty="0">
                <a:effectLst>
                  <a:outerShdw blurRad="38100" dist="38100" dir="2700000" algn="tl">
                    <a:srgbClr val="C0C0C0"/>
                  </a:outerShdw>
                </a:effectLst>
                <a:ea typeface="宋体" pitchFamily="2" charset="-122"/>
              </a:rPr>
              <a:t>主函数 *</a:t>
            </a:r>
            <a:r>
              <a:rPr kumimoji="1" lang="en-US" altLang="zh-CN" sz="2400" dirty="0">
                <a:effectLst>
                  <a:outerShdw blurRad="38100" dist="38100" dir="2700000" algn="tl">
                    <a:srgbClr val="C0C0C0"/>
                  </a:outerShdw>
                </a:effectLst>
                <a:ea typeface="宋体" pitchFamily="2" charset="-122"/>
              </a:rPr>
              <a:t>/</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int</a:t>
            </a:r>
            <a:r>
              <a:rPr kumimoji="1" lang="en-US" altLang="zh-CN" sz="2400" dirty="0">
                <a:effectLst>
                  <a:outerShdw blurRad="38100" dist="38100" dir="2700000" algn="tl">
                    <a:srgbClr val="C0C0C0"/>
                  </a:outerShdw>
                </a:effectLst>
                <a:ea typeface="宋体" pitchFamily="2" charset="-122"/>
              </a:rPr>
              <a:t> x;</a:t>
            </a:r>
          </a:p>
          <a:p>
            <a:pPr algn="l">
              <a:defRPr/>
            </a:pPr>
            <a:r>
              <a:rPr kumimoji="1" lang="en-US" altLang="zh-CN" sz="2400" dirty="0">
                <a:effectLst>
                  <a:outerShdw blurRad="38100" dist="38100" dir="2700000" algn="tl">
                    <a:srgbClr val="C0C0C0"/>
                  </a:outerShdw>
                </a:effectLst>
                <a:ea typeface="宋体" pitchFamily="2" charset="-122"/>
              </a:rPr>
              <a:t> do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请输入要倒序的正整数</a:t>
            </a:r>
            <a:r>
              <a:rPr kumimoji="1" lang="en-US" altLang="zh-CN" sz="2400" dirty="0">
                <a:effectLst>
                  <a:outerShdw blurRad="38100" dist="38100" dir="2700000" algn="tl">
                    <a:srgbClr val="C0C0C0"/>
                  </a:outerShdw>
                </a:effectLst>
                <a:ea typeface="宋体" pitchFamily="2" charset="-122"/>
              </a:rPr>
              <a:t>:");</a:t>
            </a:r>
            <a:r>
              <a:rPr kumimoji="1" lang="en-US" altLang="zh-CN" sz="2400" dirty="0" err="1">
                <a:effectLst>
                  <a:outerShdw blurRad="38100" dist="38100" dir="2700000" algn="tl">
                    <a:srgbClr val="C0C0C0"/>
                  </a:outerShdw>
                </a:effectLst>
                <a:ea typeface="宋体" pitchFamily="2" charset="-122"/>
              </a:rPr>
              <a:t>scanf</a:t>
            </a:r>
            <a:r>
              <a:rPr kumimoji="1" lang="en-US" altLang="zh-CN" sz="2400" dirty="0">
                <a:effectLst>
                  <a:outerShdw blurRad="38100" dist="38100" dir="2700000" algn="tl">
                    <a:srgbClr val="C0C0C0"/>
                  </a:outerShdw>
                </a:effectLst>
                <a:ea typeface="宋体" pitchFamily="2" charset="-122"/>
              </a:rPr>
              <a:t>("%d", &amp;x);</a:t>
            </a:r>
          </a:p>
          <a:p>
            <a:pPr algn="l">
              <a:defRPr/>
            </a:pPr>
            <a:r>
              <a:rPr kumimoji="1" lang="en-US" altLang="zh-CN" sz="2400" dirty="0">
                <a:effectLst>
                  <a:outerShdw blurRad="38100" dist="38100" dir="2700000" algn="tl">
                    <a:srgbClr val="C0C0C0"/>
                  </a:outerShdw>
                </a:effectLst>
                <a:ea typeface="宋体" pitchFamily="2" charset="-122"/>
              </a:rPr>
              <a:t>  } while( x &lt;= 0);</a:t>
            </a:r>
          </a:p>
          <a:p>
            <a:pPr algn="l">
              <a:defRPr/>
            </a:pPr>
            <a:r>
              <a:rPr kumimoji="1" lang="en-US" altLang="zh-CN" sz="2400" dirty="0">
                <a:effectLst>
                  <a:outerShdw blurRad="38100" dist="38100" dir="2700000" algn="tl">
                    <a:srgbClr val="C0C0C0"/>
                  </a:outerShdw>
                </a:effectLst>
                <a:ea typeface="宋体" pitchFamily="2" charset="-122"/>
              </a:rPr>
              <a:t>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a:t>
            </a:r>
            <a:r>
              <a:rPr kumimoji="1" lang="zh-CN" altLang="en-US" sz="2400" dirty="0">
                <a:effectLst>
                  <a:outerShdw blurRad="38100" dist="38100" dir="2700000" algn="tl">
                    <a:srgbClr val="C0C0C0"/>
                  </a:outerShdw>
                </a:effectLst>
                <a:ea typeface="宋体" pitchFamily="2" charset="-122"/>
              </a:rPr>
              <a:t>倒序数：</a:t>
            </a:r>
            <a:r>
              <a:rPr kumimoji="1" lang="en-US" altLang="zh-CN" sz="2400" dirty="0">
                <a:effectLst>
                  <a:outerShdw blurRad="38100" dist="38100" dir="2700000" algn="tl">
                    <a:srgbClr val="C0C0C0"/>
                  </a:outerShdw>
                </a:effectLst>
                <a:ea typeface="宋体" pitchFamily="2" charset="-122"/>
              </a:rPr>
              <a:t>");  back(x); </a:t>
            </a:r>
            <a:r>
              <a:rPr kumimoji="1" lang="en-US" altLang="zh-CN" sz="2400" dirty="0" err="1">
                <a:effectLst>
                  <a:outerShdw blurRad="38100" dist="38100" dir="2700000" algn="tl">
                    <a:srgbClr val="C0C0C0"/>
                  </a:outerShdw>
                </a:effectLst>
                <a:ea typeface="宋体" pitchFamily="2" charset="-122"/>
              </a:rPr>
              <a:t>printf</a:t>
            </a:r>
            <a:r>
              <a:rPr kumimoji="1" lang="en-US" altLang="zh-CN" sz="2400" dirty="0">
                <a:effectLst>
                  <a:outerShdw blurRad="38100" dist="38100" dir="2700000" algn="tl">
                    <a:srgbClr val="C0C0C0"/>
                  </a:outerShdw>
                </a:effectLst>
                <a:ea typeface="宋体" pitchFamily="2" charset="-122"/>
              </a:rPr>
              <a:t>("\n");</a:t>
            </a:r>
          </a:p>
          <a:p>
            <a:pPr algn="l">
              <a:defRPr/>
            </a:pPr>
            <a:r>
              <a:rPr kumimoji="1" lang="en-US" altLang="zh-CN" sz="2400" dirty="0">
                <a:effectLst>
                  <a:outerShdw blurRad="38100" dist="38100" dir="2700000" algn="tl">
                    <a:srgbClr val="C0C0C0"/>
                  </a:outerShdw>
                </a:effectLst>
                <a:ea typeface="宋体" pitchFamily="2" charset="-122"/>
              </a:rPr>
              <a:t>  return 0;</a:t>
            </a:r>
          </a:p>
          <a:p>
            <a:pPr algn="l">
              <a:defRPr/>
            </a:pPr>
            <a:r>
              <a:rPr kumimoji="1" lang="en-US" altLang="zh-CN" sz="2400" dirty="0">
                <a:effectLst>
                  <a:outerShdw blurRad="38100" dist="38100" dir="2700000" algn="tl">
                    <a:srgbClr val="C0C0C0"/>
                  </a:outerShdw>
                </a:effectLst>
                <a:ea typeface="宋体" pitchFamily="2" charset="-122"/>
              </a:rPr>
              <a:t>}</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7FBAFCF-FD66-48F7-AC05-4457E93957DD}" type="slidenum">
              <a:rPr lang="en-US" altLang="zh-CN"/>
              <a:pPr>
                <a:defRPr/>
              </a:pPr>
              <a:t>78</a:t>
            </a:fld>
            <a:endParaRPr lang="en-US" altLang="zh-CN"/>
          </a:p>
        </p:txBody>
      </p:sp>
      <p:sp>
        <p:nvSpPr>
          <p:cNvPr id="74755"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74756" name="Text Box 3"/>
          <p:cNvSpPr txBox="1">
            <a:spLocks noChangeArrowheads="1"/>
          </p:cNvSpPr>
          <p:nvPr/>
        </p:nvSpPr>
        <p:spPr bwMode="auto">
          <a:xfrm>
            <a:off x="250825" y="476250"/>
            <a:ext cx="8642350" cy="2678113"/>
          </a:xfrm>
          <a:prstGeom prst="rect">
            <a:avLst/>
          </a:prstGeom>
          <a:noFill/>
          <a:ln w="9525">
            <a:noFill/>
            <a:miter lim="800000"/>
            <a:headEnd/>
            <a:tailEnd/>
          </a:ln>
        </p:spPr>
        <p:txBody>
          <a:bodyPr>
            <a:spAutoFit/>
          </a:bodyPr>
          <a:lstStyle/>
          <a:p>
            <a:pPr algn="l"/>
            <a:r>
              <a:rPr lang="en-US" altLang="zh-CN" sz="2400" dirty="0">
                <a:solidFill>
                  <a:srgbClr val="0070C0"/>
                </a:solidFill>
              </a:rPr>
              <a:t>【</a:t>
            </a:r>
            <a:r>
              <a:rPr lang="zh-CN" altLang="en-US" sz="2400" dirty="0">
                <a:solidFill>
                  <a:srgbClr val="0070C0"/>
                </a:solidFill>
              </a:rPr>
              <a:t>例</a:t>
            </a:r>
            <a:r>
              <a:rPr lang="en-US" altLang="zh-CN" sz="2400" dirty="0">
                <a:solidFill>
                  <a:srgbClr val="0070C0"/>
                </a:solidFill>
              </a:rPr>
              <a:t>4.18    86</a:t>
            </a:r>
            <a:r>
              <a:rPr lang="zh-CN" altLang="en-US" sz="2400" dirty="0">
                <a:solidFill>
                  <a:srgbClr val="0070C0"/>
                </a:solidFill>
              </a:rPr>
              <a:t>页</a:t>
            </a:r>
            <a:r>
              <a:rPr lang="en-US" altLang="zh-CN" sz="2400" dirty="0">
                <a:solidFill>
                  <a:srgbClr val="0070C0"/>
                </a:solidFill>
              </a:rPr>
              <a:t>】</a:t>
            </a:r>
            <a:r>
              <a:rPr lang="zh-CN" altLang="en-US" sz="2400" dirty="0"/>
              <a:t>设一个环上穿有若干不同颜色的珠子。将环在某两珠子之间剪开，把环上的珠子排成一条直线。接着首先从左端，自左向右取走所有同一类颜色的珠子；然后从右端，自右向左取走所有同一类颜色的珠子。同一类颜色是指同为某种颜色和白色的珠子。要求编写程序顺序输入环上的珠子颜色序列，找出能取走最多珠子的剪切点。输入不同颜色的珠子用不同字符标记，其中白色的珠子用字符</a:t>
            </a:r>
            <a:r>
              <a:rPr lang="en-US" altLang="zh-CN" sz="2400" dirty="0"/>
              <a:t>W</a:t>
            </a:r>
            <a:r>
              <a:rPr lang="zh-CN" altLang="en-US" sz="2400" dirty="0"/>
              <a:t>标记。</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45B83B9-E978-4B8F-A6D4-47886DE3702E}" type="slidenum">
              <a:rPr lang="en-US" altLang="zh-CN"/>
              <a:pPr>
                <a:defRPr/>
              </a:pPr>
              <a:t>79</a:t>
            </a:fld>
            <a:endParaRPr lang="en-US" altLang="zh-CN"/>
          </a:p>
        </p:txBody>
      </p:sp>
      <p:sp>
        <p:nvSpPr>
          <p:cNvPr id="75779"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75780" name="Text Box 3"/>
          <p:cNvSpPr txBox="1">
            <a:spLocks noChangeArrowheads="1"/>
          </p:cNvSpPr>
          <p:nvPr/>
        </p:nvSpPr>
        <p:spPr bwMode="auto">
          <a:xfrm>
            <a:off x="250825" y="476250"/>
            <a:ext cx="8642350" cy="5262563"/>
          </a:xfrm>
          <a:prstGeom prst="rect">
            <a:avLst/>
          </a:prstGeom>
          <a:noFill/>
          <a:ln w="9525">
            <a:noFill/>
            <a:miter lim="800000"/>
            <a:headEnd/>
            <a:tailEnd/>
          </a:ln>
        </p:spPr>
        <p:txBody>
          <a:bodyPr>
            <a:spAutoFit/>
          </a:bodyPr>
          <a:lstStyle/>
          <a:p>
            <a:pPr algn="l"/>
            <a:r>
              <a:rPr lang="en-US" altLang="zh-CN" sz="2400" dirty="0"/>
              <a:t>【</a:t>
            </a:r>
            <a:r>
              <a:rPr lang="zh-CN" altLang="en-US" sz="2400" dirty="0"/>
              <a:t>解题思路</a:t>
            </a:r>
            <a:r>
              <a:rPr lang="en-US" altLang="zh-CN" sz="2400" dirty="0"/>
              <a:t>】</a:t>
            </a:r>
          </a:p>
          <a:p>
            <a:pPr algn="l"/>
            <a:r>
              <a:rPr lang="zh-CN" altLang="en-US" sz="2400" dirty="0"/>
              <a:t>函数</a:t>
            </a:r>
            <a:r>
              <a:rPr lang="en-US" altLang="zh-CN" sz="2400" dirty="0"/>
              <a:t>count()</a:t>
            </a:r>
            <a:r>
              <a:rPr lang="zh-CN" altLang="en-US" sz="2400" dirty="0"/>
              <a:t>实现对一个字符串，从指定的开始位置到结束位置，以及计数方向（增为</a:t>
            </a:r>
            <a:r>
              <a:rPr lang="en-US" altLang="zh-CN" sz="2400" dirty="0"/>
              <a:t>1</a:t>
            </a:r>
            <a:r>
              <a:rPr lang="zh-CN" altLang="en-US" sz="2400" dirty="0"/>
              <a:t>，减为</a:t>
            </a:r>
            <a:r>
              <a:rPr lang="en-US" altLang="zh-CN" sz="2400" dirty="0"/>
              <a:t>-1</a:t>
            </a:r>
            <a:r>
              <a:rPr lang="zh-CN" altLang="en-US" sz="2400" dirty="0"/>
              <a:t>），对连续属同一类颜色的珠子进行计数，直到遇到不同类颜色的珠子，或数到结束位置，函数返回求得的珠子数。</a:t>
            </a:r>
          </a:p>
          <a:p>
            <a:pPr algn="l"/>
            <a:r>
              <a:rPr lang="zh-CN" altLang="en-US" sz="2400" dirty="0"/>
              <a:t>主函数对每个可能的开始位置，求自左至右和自右至左的计数和，对所有可能的开始位置求最大值。函数对每个可能的开始位置，先从左到右调用函数</a:t>
            </a:r>
            <a:r>
              <a:rPr lang="en-US" altLang="zh-CN" sz="2400" dirty="0"/>
              <a:t>count()</a:t>
            </a:r>
            <a:r>
              <a:rPr lang="zh-CN" altLang="en-US" sz="2400" dirty="0"/>
              <a:t>，再从右到左调用函数</a:t>
            </a:r>
            <a:r>
              <a:rPr lang="en-US" altLang="zh-CN" sz="2400" dirty="0"/>
              <a:t>count()</a:t>
            </a:r>
            <a:r>
              <a:rPr lang="zh-CN" altLang="en-US" sz="2400" dirty="0"/>
              <a:t>。在从右至左计数时，除计数方向有改变外，结束位置应能反映不包括自左至右计数已被取走的那部分珠子。主函数为了便于确定所有的可能剪切位置，采用每次从</a:t>
            </a:r>
            <a:r>
              <a:rPr lang="en-US" altLang="zh-CN" sz="2400" dirty="0"/>
              <a:t>0</a:t>
            </a:r>
            <a:r>
              <a:rPr lang="zh-CN" altLang="en-US" sz="2400" dirty="0"/>
              <a:t>号位置开始，求下一个剪切位置时，简单地将环上的珠子顺时针转一个位置，使程序总是从</a:t>
            </a:r>
            <a:r>
              <a:rPr lang="en-US" altLang="zh-CN" sz="2400" dirty="0"/>
              <a:t>0</a:t>
            </a:r>
            <a:r>
              <a:rPr lang="zh-CN" altLang="en-US" sz="2400" dirty="0"/>
              <a:t>号位置开始往后是从左到右，从末位置开始往前是从右到左。细节参见以下程序。</a:t>
            </a: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D085E85-6D4E-4339-A219-7130D8339FBE}" type="slidenum">
              <a:rPr lang="en-US" altLang="zh-CN"/>
              <a:pPr>
                <a:defRPr/>
              </a:pPr>
              <a:t>80</a:t>
            </a:fld>
            <a:endParaRPr lang="en-US" altLang="zh-CN"/>
          </a:p>
        </p:txBody>
      </p:sp>
      <p:sp>
        <p:nvSpPr>
          <p:cNvPr id="76803"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76804" name="Text Box 3"/>
          <p:cNvSpPr txBox="1">
            <a:spLocks noChangeArrowheads="1"/>
          </p:cNvSpPr>
          <p:nvPr/>
        </p:nvSpPr>
        <p:spPr bwMode="auto">
          <a:xfrm>
            <a:off x="250825" y="476250"/>
            <a:ext cx="8642350" cy="4154488"/>
          </a:xfrm>
          <a:prstGeom prst="rect">
            <a:avLst/>
          </a:prstGeom>
          <a:noFill/>
          <a:ln w="9525">
            <a:noFill/>
            <a:miter lim="800000"/>
            <a:headEnd/>
            <a:tailEnd/>
          </a:ln>
        </p:spPr>
        <p:txBody>
          <a:bodyPr>
            <a:spAutoFit/>
          </a:bodyPr>
          <a:lstStyle/>
          <a:p>
            <a:pPr algn="l"/>
            <a:r>
              <a:rPr lang="en-US" altLang="zh-CN" sz="2400"/>
              <a:t>#include  &lt;stdio.h&gt;</a:t>
            </a:r>
            <a:endParaRPr lang="zh-CN" altLang="en-US" sz="2400"/>
          </a:p>
          <a:p>
            <a:pPr algn="l"/>
            <a:r>
              <a:rPr lang="en-US" altLang="zh-CN" sz="2400"/>
              <a:t>#include  &lt;string.h&gt;</a:t>
            </a:r>
            <a:endParaRPr lang="zh-CN" altLang="en-US" sz="2400"/>
          </a:p>
          <a:p>
            <a:pPr algn="l"/>
            <a:r>
              <a:rPr lang="en-US" altLang="zh-CN" sz="2400"/>
              <a:t>int count(char *s, int start, int end, int step)</a:t>
            </a:r>
            <a:endParaRPr lang="zh-CN" altLang="en-US" sz="2400"/>
          </a:p>
          <a:p>
            <a:pPr algn="l"/>
            <a:r>
              <a:rPr lang="en-US" altLang="zh-CN" sz="2400"/>
              <a:t>{  int i, color = -1, c = 0;</a:t>
            </a:r>
            <a:endParaRPr lang="zh-CN" altLang="en-US" sz="2400"/>
          </a:p>
          <a:p>
            <a:pPr algn="l"/>
            <a:r>
              <a:rPr lang="en-US" altLang="zh-CN" sz="2400"/>
              <a:t>   for(i = start; step &gt; 0 ? i &lt;= end : i &gt;= end; c++, i += step) {</a:t>
            </a:r>
            <a:endParaRPr lang="zh-CN" altLang="en-US" sz="2400"/>
          </a:p>
          <a:p>
            <a:pPr algn="l"/>
            <a:r>
              <a:rPr lang="en-US" altLang="zh-CN" sz="2400"/>
              <a:t>      if (s[i] == 'W') continue;</a:t>
            </a:r>
            <a:endParaRPr lang="zh-CN" altLang="en-US" sz="2400"/>
          </a:p>
          <a:p>
            <a:pPr algn="l"/>
            <a:r>
              <a:rPr lang="en-US" altLang="zh-CN" sz="2400"/>
              <a:t>      if (color == -1)  color = s[i]; </a:t>
            </a:r>
            <a:endParaRPr lang="zh-CN" altLang="en-US" sz="2400"/>
          </a:p>
          <a:p>
            <a:pPr algn="l"/>
            <a:r>
              <a:rPr lang="en-US" altLang="zh-CN" sz="2400"/>
              <a:t>      else if (s[i] != color) break;</a:t>
            </a:r>
            <a:endParaRPr lang="zh-CN" altLang="en-US" sz="2400"/>
          </a:p>
          <a:p>
            <a:pPr algn="l"/>
            <a:r>
              <a:rPr lang="en-US" altLang="zh-CN" sz="2400"/>
              <a:t>   }</a:t>
            </a:r>
            <a:endParaRPr lang="zh-CN" altLang="en-US" sz="2400"/>
          </a:p>
          <a:p>
            <a:pPr algn="l"/>
            <a:r>
              <a:rPr lang="en-US" altLang="zh-CN" sz="2400"/>
              <a:t>   return c;</a:t>
            </a:r>
            <a:endParaRPr lang="zh-CN" altLang="en-US" sz="2400"/>
          </a:p>
          <a:p>
            <a:pPr algn="l"/>
            <a:r>
              <a:rPr lang="en-US" altLang="zh-CN" sz="2400"/>
              <a:t>}</a:t>
            </a:r>
            <a:endParaRPr lang="zh-CN" altLang="en-US" sz="2400"/>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1776E8B-4310-4261-868B-33E424C0EEB8}" type="slidenum">
              <a:rPr lang="en-US" altLang="zh-CN"/>
              <a:pPr>
                <a:defRPr/>
              </a:pPr>
              <a:t>81</a:t>
            </a:fld>
            <a:endParaRPr lang="en-US" altLang="zh-CN"/>
          </a:p>
        </p:txBody>
      </p:sp>
      <p:sp>
        <p:nvSpPr>
          <p:cNvPr id="77827" name="Text Box 2"/>
          <p:cNvSpPr txBox="1">
            <a:spLocks noChangeArrowheads="1"/>
          </p:cNvSpPr>
          <p:nvPr/>
        </p:nvSpPr>
        <p:spPr bwMode="auto">
          <a:xfrm>
            <a:off x="636588" y="685800"/>
            <a:ext cx="7712075" cy="457200"/>
          </a:xfrm>
          <a:prstGeom prst="rect">
            <a:avLst/>
          </a:prstGeom>
          <a:noFill/>
          <a:ln w="9525">
            <a:noFill/>
            <a:miter lim="800000"/>
            <a:headEnd/>
            <a:tailEnd/>
          </a:ln>
        </p:spPr>
        <p:txBody>
          <a:bodyPr>
            <a:spAutoFit/>
          </a:bodyPr>
          <a:lstStyle/>
          <a:p>
            <a:pPr algn="l" eaLnBrk="1" hangingPunct="1">
              <a:spcBef>
                <a:spcPct val="50000"/>
              </a:spcBef>
            </a:pPr>
            <a:endParaRPr kumimoji="1" lang="zh-CN" altLang="zh-CN" sz="2400" b="0"/>
          </a:p>
        </p:txBody>
      </p:sp>
      <p:sp>
        <p:nvSpPr>
          <p:cNvPr id="77828" name="Text Box 3"/>
          <p:cNvSpPr txBox="1">
            <a:spLocks noChangeArrowheads="1"/>
          </p:cNvSpPr>
          <p:nvPr/>
        </p:nvSpPr>
        <p:spPr bwMode="auto">
          <a:xfrm>
            <a:off x="250825" y="285750"/>
            <a:ext cx="8642350" cy="6370638"/>
          </a:xfrm>
          <a:prstGeom prst="rect">
            <a:avLst/>
          </a:prstGeom>
          <a:noFill/>
          <a:ln w="9525">
            <a:noFill/>
            <a:miter lim="800000"/>
            <a:headEnd/>
            <a:tailEnd/>
          </a:ln>
        </p:spPr>
        <p:txBody>
          <a:bodyPr>
            <a:spAutoFit/>
          </a:bodyPr>
          <a:lstStyle/>
          <a:p>
            <a:pPr algn="l"/>
            <a:r>
              <a:rPr lang="en-US" altLang="zh-CN" sz="2400"/>
              <a:t>void main()</a:t>
            </a:r>
            <a:endParaRPr lang="zh-CN" altLang="en-US" sz="2400"/>
          </a:p>
          <a:p>
            <a:pPr algn="l"/>
            <a:r>
              <a:rPr lang="en-US" altLang="zh-CN" sz="2400"/>
              <a:t>{ char s[120], t;</a:t>
            </a:r>
            <a:endParaRPr lang="zh-CN" altLang="en-US" sz="2400"/>
          </a:p>
          <a:p>
            <a:pPr algn="l"/>
            <a:r>
              <a:rPr lang="en-US" altLang="zh-CN" sz="2400"/>
              <a:t>  int i, j, len, c, maxc = 0, cut;</a:t>
            </a:r>
            <a:endParaRPr lang="zh-CN" altLang="en-US" sz="2400"/>
          </a:p>
          <a:p>
            <a:pPr algn="l"/>
            <a:r>
              <a:rPr lang="en-US" altLang="zh-CN" sz="2400"/>
              <a:t>   printf("</a:t>
            </a:r>
            <a:r>
              <a:rPr lang="zh-CN" altLang="en-US" sz="2400"/>
              <a:t>输入环上的珠子序列：</a:t>
            </a:r>
            <a:r>
              <a:rPr lang="en-US" altLang="zh-CN" sz="2400"/>
              <a:t>\n");</a:t>
            </a:r>
            <a:endParaRPr lang="zh-CN" altLang="en-US" sz="2400"/>
          </a:p>
          <a:p>
            <a:pPr algn="l"/>
            <a:r>
              <a:rPr lang="en-US" altLang="zh-CN" sz="2400"/>
              <a:t>  scanf("%s", s);     len = strlen(s);</a:t>
            </a:r>
            <a:endParaRPr lang="zh-CN" altLang="en-US" sz="2400"/>
          </a:p>
          <a:p>
            <a:pPr algn="l"/>
            <a:r>
              <a:rPr lang="en-US" altLang="zh-CN" sz="2400"/>
              <a:t>  i = 0; </a:t>
            </a:r>
            <a:endParaRPr lang="zh-CN" altLang="en-US" sz="2400"/>
          </a:p>
          <a:p>
            <a:pPr algn="l"/>
            <a:r>
              <a:rPr lang="en-US" altLang="zh-CN" sz="2400"/>
              <a:t>  do {</a:t>
            </a:r>
            <a:endParaRPr lang="zh-CN" altLang="en-US" sz="2400"/>
          </a:p>
          <a:p>
            <a:pPr algn="l"/>
            <a:r>
              <a:rPr lang="en-US" altLang="zh-CN" sz="2400"/>
              <a:t>    c = count(s, 0, len-1, 1);    c += count(s, len-1, c, -1);</a:t>
            </a:r>
            <a:endParaRPr lang="zh-CN" altLang="en-US" sz="2400"/>
          </a:p>
          <a:p>
            <a:pPr algn="l"/>
            <a:r>
              <a:rPr lang="en-US" altLang="zh-CN" sz="2400"/>
              <a:t>    if (c &gt; maxc) { maxc = c; cut = i; }</a:t>
            </a:r>
            <a:endParaRPr lang="zh-CN" altLang="en-US" sz="2400"/>
          </a:p>
          <a:p>
            <a:pPr algn="l"/>
            <a:r>
              <a:rPr lang="en-US" altLang="zh-CN" sz="2400"/>
              <a:t>	/*</a:t>
            </a:r>
            <a:r>
              <a:rPr lang="zh-CN" altLang="en-US" sz="2400"/>
              <a:t>让环上的珠子顺时针转一个位置</a:t>
            </a:r>
            <a:r>
              <a:rPr lang="en-US" sz="2400"/>
              <a:t>*</a:t>
            </a:r>
            <a:r>
              <a:rPr lang="en-US" altLang="zh-CN" sz="2400"/>
              <a:t>/</a:t>
            </a:r>
            <a:endParaRPr lang="zh-CN" altLang="en-US" sz="2400"/>
          </a:p>
          <a:p>
            <a:pPr algn="l"/>
            <a:r>
              <a:rPr lang="en-US" altLang="zh-CN" sz="2400"/>
              <a:t>    t = s[0];</a:t>
            </a:r>
            <a:endParaRPr lang="zh-CN" altLang="en-US" sz="2400"/>
          </a:p>
          <a:p>
            <a:pPr algn="l"/>
            <a:r>
              <a:rPr lang="en-US" altLang="zh-CN" sz="2400"/>
              <a:t>    for(j = 1; j &lt; len; j++)        s[j-1] = s[j];</a:t>
            </a:r>
            <a:endParaRPr lang="zh-CN" altLang="en-US" sz="2400"/>
          </a:p>
          <a:p>
            <a:pPr algn="l"/>
            <a:r>
              <a:rPr lang="en-US" altLang="zh-CN" sz="2400"/>
              <a:t>    s[len-1] = t;    i++;</a:t>
            </a:r>
            <a:endParaRPr lang="zh-CN" altLang="en-US" sz="2400"/>
          </a:p>
          <a:p>
            <a:pPr algn="l"/>
            <a:r>
              <a:rPr lang="en-US" altLang="zh-CN" sz="2400"/>
              <a:t>  } while (i &lt; len);</a:t>
            </a:r>
            <a:endParaRPr lang="zh-CN" altLang="en-US" sz="2400"/>
          </a:p>
          <a:p>
            <a:pPr algn="l"/>
            <a:r>
              <a:rPr lang="en-US" altLang="zh-CN" sz="2400"/>
              <a:t>  printf("</a:t>
            </a:r>
            <a:r>
              <a:rPr lang="zh-CN" altLang="en-US" sz="2400"/>
              <a:t>剪切位置</a:t>
            </a:r>
            <a:r>
              <a:rPr lang="en-US" sz="2400"/>
              <a:t> </a:t>
            </a:r>
            <a:r>
              <a:rPr lang="en-US" altLang="zh-CN" sz="2400"/>
              <a:t>= %d </a:t>
            </a:r>
            <a:r>
              <a:rPr lang="zh-CN" altLang="en-US" sz="2400"/>
              <a:t>能取走的最多珠子数</a:t>
            </a:r>
            <a:r>
              <a:rPr lang="en-US" sz="2400"/>
              <a:t> </a:t>
            </a:r>
            <a:r>
              <a:rPr lang="en-US" altLang="zh-CN" sz="2400"/>
              <a:t>= %d\n",</a:t>
            </a:r>
          </a:p>
          <a:p>
            <a:pPr algn="l"/>
            <a:r>
              <a:rPr lang="en-US" sz="2400"/>
              <a:t>                              </a:t>
            </a:r>
            <a:r>
              <a:rPr lang="en-US" altLang="zh-CN" sz="2400"/>
              <a:t>cut, maxc);</a:t>
            </a:r>
            <a:endParaRPr lang="zh-CN" altLang="en-US" sz="2400"/>
          </a:p>
          <a:p>
            <a:pPr algn="l"/>
            <a:r>
              <a:rPr lang="en-US" altLang="zh-CN" sz="2400"/>
              <a:t>}</a:t>
            </a:r>
            <a:endParaRPr lang="zh-CN" altLang="en-US" sz="2400"/>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66C0593B-2E79-4295-B330-DA45E924D524}" type="slidenum">
              <a:rPr lang="en-US" altLang="zh-CN"/>
              <a:pPr>
                <a:defRPr/>
              </a:pPr>
              <a:t>82</a:t>
            </a:fld>
            <a:endParaRPr lang="en-US" altLang="zh-CN"/>
          </a:p>
        </p:txBody>
      </p:sp>
      <p:sp>
        <p:nvSpPr>
          <p:cNvPr id="428034" name="Text Box 2"/>
          <p:cNvSpPr txBox="1">
            <a:spLocks noChangeArrowheads="1"/>
          </p:cNvSpPr>
          <p:nvPr/>
        </p:nvSpPr>
        <p:spPr bwMode="auto">
          <a:xfrm>
            <a:off x="304800" y="249238"/>
            <a:ext cx="6057900" cy="576262"/>
          </a:xfrm>
          <a:prstGeom prst="rect">
            <a:avLst/>
          </a:prstGeom>
          <a:noFill/>
          <a:ln w="9525">
            <a:noFill/>
            <a:miter lim="800000"/>
            <a:headEnd/>
            <a:tailEnd/>
          </a:ln>
          <a:effectLst/>
        </p:spPr>
        <p:txBody>
          <a:bodyPr lIns="89401" tIns="44700" rIns="89401" bIns="44700">
            <a:spAutoFit/>
          </a:bodyPr>
          <a:lstStyle/>
          <a:p>
            <a:pPr defTabSz="893763" eaLnBrk="1" hangingPunct="1">
              <a:defRPr/>
            </a:pPr>
            <a:r>
              <a:rPr kumimoji="1" lang="en-US" altLang="zh-CN" sz="3200">
                <a:solidFill>
                  <a:srgbClr val="FF3300"/>
                </a:solidFill>
                <a:effectLst>
                  <a:outerShdw blurRad="38100" dist="38100" dir="2700000" algn="tl">
                    <a:srgbClr val="C0C0C0"/>
                  </a:outerShdw>
                </a:effectLst>
                <a:ea typeface="宋体" pitchFamily="2" charset="-122"/>
              </a:rPr>
              <a:t>5.8 </a:t>
            </a:r>
            <a:r>
              <a:rPr kumimoji="1" lang="zh-CN" altLang="en-US" sz="3200">
                <a:solidFill>
                  <a:srgbClr val="FF3300"/>
                </a:solidFill>
                <a:effectLst>
                  <a:outerShdw blurRad="38100" dist="38100" dir="2700000" algn="tl">
                    <a:srgbClr val="C0C0C0"/>
                  </a:outerShdw>
                </a:effectLst>
                <a:ea typeface="宋体" pitchFamily="2" charset="-122"/>
              </a:rPr>
              <a:t>存储类别和作用域</a:t>
            </a:r>
            <a:r>
              <a:rPr kumimoji="1" lang="zh-CN" altLang="en-US" sz="3200">
                <a:ea typeface="宋体" pitchFamily="2" charset="-122"/>
              </a:rPr>
              <a:t> </a:t>
            </a:r>
          </a:p>
        </p:txBody>
      </p:sp>
      <p:sp>
        <p:nvSpPr>
          <p:cNvPr id="428035" name="Text Box 3"/>
          <p:cNvSpPr txBox="1">
            <a:spLocks noChangeArrowheads="1"/>
          </p:cNvSpPr>
          <p:nvPr/>
        </p:nvSpPr>
        <p:spPr bwMode="auto">
          <a:xfrm>
            <a:off x="539750" y="1389063"/>
            <a:ext cx="8299450" cy="3257294"/>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在</a:t>
            </a:r>
            <a:r>
              <a:rPr kumimoji="1" lang="en-US" altLang="zh-CN" dirty="0">
                <a:effectLst>
                  <a:outerShdw blurRad="38100" dist="38100" dir="2700000" algn="tl">
                    <a:srgbClr val="C0C0C0"/>
                  </a:outerShdw>
                </a:effectLst>
                <a:ea typeface="宋体" pitchFamily="2" charset="-122"/>
              </a:rPr>
              <a:t>C</a:t>
            </a:r>
            <a:r>
              <a:rPr kumimoji="1" lang="zh-CN" altLang="en-US" dirty="0">
                <a:effectLst>
                  <a:outerShdw blurRad="38100" dist="38100" dir="2700000" algn="tl">
                    <a:srgbClr val="C0C0C0"/>
                  </a:outerShdw>
                </a:effectLst>
                <a:ea typeface="宋体" pitchFamily="2" charset="-122"/>
              </a:rPr>
              <a:t>程序中，程序对象都有自己的属性。</a:t>
            </a:r>
          </a:p>
          <a:p>
            <a:pPr algn="just" defTabSz="893763" eaLnBrk="1" hangingPunct="1">
              <a:lnSpc>
                <a:spcPct val="105000"/>
              </a:lnSpc>
              <a:defRPr/>
            </a:pPr>
            <a:endParaRPr kumimoji="1" lang="zh-CN" altLang="en-US" dirty="0">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例如，变量有变量的名字、类型和值等；函数有返回值类型、函数形参个数、各形参的类型等。</a:t>
            </a:r>
          </a:p>
          <a:p>
            <a:pPr algn="just" defTabSz="893763" eaLnBrk="1" hangingPunct="1">
              <a:lnSpc>
                <a:spcPct val="105000"/>
              </a:lnSpc>
              <a:defRPr/>
            </a:pPr>
            <a:endParaRPr kumimoji="1" lang="zh-CN" altLang="en-US" dirty="0">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程序中的每一个标识符还有其它属性，包括</a:t>
            </a:r>
            <a:r>
              <a:rPr kumimoji="1" lang="zh-CN" altLang="en-US" dirty="0">
                <a:solidFill>
                  <a:srgbClr val="FF0000"/>
                </a:solidFill>
                <a:effectLst>
                  <a:outerShdw blurRad="38100" dist="38100" dir="2700000" algn="tl">
                    <a:srgbClr val="C0C0C0"/>
                  </a:outerShdw>
                </a:effectLst>
                <a:ea typeface="宋体" pitchFamily="2" charset="-122"/>
              </a:rPr>
              <a:t>存储类别、存储期、作用域</a:t>
            </a:r>
            <a:r>
              <a:rPr kumimoji="1" lang="zh-CN" altLang="en-US" dirty="0">
                <a:effectLst>
                  <a:outerShdw blurRad="38100" dist="38100" dir="2700000" algn="tl">
                    <a:srgbClr val="C0C0C0"/>
                  </a:outerShdw>
                </a:effectLst>
                <a:ea typeface="宋体" pitchFamily="2" charset="-122"/>
              </a:rPr>
              <a:t>等。</a:t>
            </a:r>
            <a:r>
              <a:rPr kumimoji="1" lang="zh-CN" altLang="en-US" dirty="0">
                <a:ea typeface="宋体" pitchFamily="2" charset="-122"/>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8035">
                                            <p:txEl>
                                              <p:pRg st="4" end="4"/>
                                            </p:txEl>
                                          </p:spTgt>
                                        </p:tgtEl>
                                        <p:attrNameLst>
                                          <p:attrName>style.visibility</p:attrName>
                                        </p:attrNameLst>
                                      </p:cBhvr>
                                      <p:to>
                                        <p:strVal val="visible"/>
                                      </p:to>
                                    </p:set>
                                    <p:anim calcmode="lin" valueType="num">
                                      <p:cBhvr additive="base">
                                        <p:cTn id="7" dur="500" fill="hold"/>
                                        <p:tgtEl>
                                          <p:spTgt spid="42803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80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56603F0B-661F-4A11-98FF-19F50EB19025}" type="slidenum">
              <a:rPr lang="en-US" altLang="zh-CN"/>
              <a:pPr>
                <a:defRPr/>
              </a:pPr>
              <a:t>83</a:t>
            </a:fld>
            <a:endParaRPr lang="en-US" altLang="zh-CN"/>
          </a:p>
        </p:txBody>
      </p:sp>
      <p:sp>
        <p:nvSpPr>
          <p:cNvPr id="519170" name="Text Box 2"/>
          <p:cNvSpPr txBox="1">
            <a:spLocks noChangeArrowheads="1"/>
          </p:cNvSpPr>
          <p:nvPr/>
        </p:nvSpPr>
        <p:spPr bwMode="auto">
          <a:xfrm>
            <a:off x="304800" y="331788"/>
            <a:ext cx="6057900" cy="582612"/>
          </a:xfrm>
          <a:prstGeom prst="rect">
            <a:avLst/>
          </a:prstGeom>
          <a:noFill/>
          <a:ln w="9525">
            <a:noFill/>
            <a:miter lim="800000"/>
            <a:headEnd/>
            <a:tailEnd/>
          </a:ln>
          <a:effectLst/>
        </p:spPr>
        <p:txBody>
          <a:bodyPr lIns="89401" tIns="44700" rIns="89401" bIns="44700">
            <a:spAutoFit/>
          </a:bodyPr>
          <a:lstStyle/>
          <a:p>
            <a:pPr algn="l" defTabSz="893763" eaLnBrk="1" hangingPunct="1">
              <a:defRPr/>
            </a:pPr>
            <a:r>
              <a:rPr kumimoji="1" lang="zh-CN" altLang="en-US" sz="3200" dirty="0">
                <a:solidFill>
                  <a:srgbClr val="FF0000"/>
                </a:solidFill>
                <a:effectLst>
                  <a:outerShdw blurRad="38100" dist="38100" dir="2700000" algn="tl">
                    <a:srgbClr val="C0C0C0"/>
                  </a:outerShdw>
                </a:effectLst>
                <a:ea typeface="宋体" pitchFamily="2" charset="-122"/>
              </a:rPr>
              <a:t>存储类别</a:t>
            </a:r>
            <a:r>
              <a:rPr kumimoji="1" lang="zh-CN" altLang="en-US" sz="3200" dirty="0">
                <a:effectLst>
                  <a:outerShdw blurRad="38100" dist="38100" dir="2700000" algn="tl">
                    <a:srgbClr val="C0C0C0"/>
                  </a:outerShdw>
                </a:effectLst>
                <a:ea typeface="宋体" pitchFamily="2" charset="-122"/>
              </a:rPr>
              <a:t> </a:t>
            </a:r>
          </a:p>
        </p:txBody>
      </p:sp>
      <p:sp>
        <p:nvSpPr>
          <p:cNvPr id="519171" name="Text Box 3"/>
          <p:cNvSpPr txBox="1">
            <a:spLocks noChangeArrowheads="1"/>
          </p:cNvSpPr>
          <p:nvPr/>
        </p:nvSpPr>
        <p:spPr bwMode="auto">
          <a:xfrm>
            <a:off x="395288" y="1547813"/>
            <a:ext cx="8208962" cy="5067020"/>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在</a:t>
            </a:r>
            <a:r>
              <a:rPr kumimoji="1" lang="en-US" altLang="zh-CN" dirty="0">
                <a:effectLst>
                  <a:outerShdw blurRad="38100" dist="38100" dir="2700000" algn="tl">
                    <a:srgbClr val="C0C0C0"/>
                  </a:outerShdw>
                </a:effectLst>
                <a:ea typeface="宋体" pitchFamily="2" charset="-122"/>
              </a:rPr>
              <a:t>C</a:t>
            </a:r>
            <a:r>
              <a:rPr kumimoji="1" lang="zh-CN" altLang="en-US" dirty="0">
                <a:effectLst>
                  <a:outerShdw blurRad="38100" dist="38100" dir="2700000" algn="tl">
                    <a:srgbClr val="C0C0C0"/>
                  </a:outerShdw>
                </a:effectLst>
                <a:ea typeface="宋体" pitchFamily="2" charset="-122"/>
              </a:rPr>
              <a:t>语言中，标识符可以有四种</a:t>
            </a:r>
            <a:r>
              <a:rPr kumimoji="1" lang="zh-CN" altLang="en-US" dirty="0">
                <a:solidFill>
                  <a:srgbClr val="FF0000"/>
                </a:solidFill>
                <a:effectLst>
                  <a:outerShdw blurRad="38100" dist="38100" dir="2700000" algn="tl">
                    <a:srgbClr val="C0C0C0"/>
                  </a:outerShdw>
                </a:effectLst>
                <a:ea typeface="宋体" pitchFamily="2" charset="-122"/>
              </a:rPr>
              <a:t>存储类别</a:t>
            </a:r>
            <a:r>
              <a:rPr kumimoji="1" lang="zh-CN" altLang="en-US" dirty="0">
                <a:effectLst>
                  <a:outerShdw blurRad="38100" dist="38100" dir="2700000" algn="tl">
                    <a:srgbClr val="C0C0C0"/>
                  </a:outerShdw>
                </a:effectLst>
                <a:ea typeface="宋体" pitchFamily="2" charset="-122"/>
              </a:rPr>
              <a:t>：</a:t>
            </a:r>
          </a:p>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    </a:t>
            </a:r>
            <a:r>
              <a:rPr kumimoji="1" lang="zh-CN" altLang="en-US" dirty="0">
                <a:solidFill>
                  <a:srgbClr val="333399"/>
                </a:solidFill>
                <a:effectLst>
                  <a:outerShdw blurRad="38100" dist="38100" dir="2700000" algn="tl">
                    <a:srgbClr val="C0C0C0"/>
                  </a:outerShdw>
                </a:effectLst>
                <a:ea typeface="宋体" pitchFamily="2" charset="-122"/>
              </a:rPr>
              <a:t>自动</a:t>
            </a:r>
            <a:r>
              <a:rPr kumimoji="1" lang="zh-CN" altLang="en-US" dirty="0" smtClean="0">
                <a:solidFill>
                  <a:srgbClr val="333399"/>
                </a:solidFill>
                <a:effectLst>
                  <a:outerShdw blurRad="38100" dist="38100" dir="2700000" algn="tl">
                    <a:srgbClr val="C0C0C0"/>
                  </a:outerShdw>
                </a:effectLst>
                <a:ea typeface="宋体" pitchFamily="2" charset="-122"/>
              </a:rPr>
              <a:t>的（</a:t>
            </a:r>
            <a:r>
              <a:rPr kumimoji="1" lang="en-US" altLang="zh-CN" dirty="0" smtClean="0">
                <a:solidFill>
                  <a:srgbClr val="333399"/>
                </a:solidFill>
                <a:effectLst>
                  <a:outerShdw blurRad="38100" dist="38100" dir="2700000" algn="tl">
                    <a:srgbClr val="C0C0C0"/>
                  </a:outerShdw>
                </a:effectLst>
                <a:ea typeface="宋体" pitchFamily="2" charset="-122"/>
              </a:rPr>
              <a:t>auto</a:t>
            </a:r>
            <a:r>
              <a:rPr kumimoji="1" lang="zh-CN" altLang="en-US" dirty="0" smtClean="0">
                <a:solidFill>
                  <a:srgbClr val="333399"/>
                </a:solidFill>
                <a:effectLst>
                  <a:outerShdw blurRad="38100" dist="38100" dir="2700000" algn="tl">
                    <a:srgbClr val="C0C0C0"/>
                  </a:outerShdw>
                </a:effectLst>
                <a:ea typeface="宋体" pitchFamily="2" charset="-122"/>
              </a:rPr>
              <a:t>）、</a:t>
            </a:r>
            <a:r>
              <a:rPr kumimoji="1" lang="zh-CN" altLang="en-US" dirty="0">
                <a:solidFill>
                  <a:srgbClr val="333399"/>
                </a:solidFill>
                <a:effectLst>
                  <a:outerShdw blurRad="38100" dist="38100" dir="2700000" algn="tl">
                    <a:srgbClr val="C0C0C0"/>
                  </a:outerShdw>
                </a:effectLst>
                <a:ea typeface="宋体" pitchFamily="2" charset="-122"/>
              </a:rPr>
              <a:t>寄存器</a:t>
            </a:r>
            <a:r>
              <a:rPr kumimoji="1" lang="zh-CN" altLang="en-US" dirty="0" smtClean="0">
                <a:solidFill>
                  <a:srgbClr val="333399"/>
                </a:solidFill>
                <a:effectLst>
                  <a:outerShdw blurRad="38100" dist="38100" dir="2700000" algn="tl">
                    <a:srgbClr val="C0C0C0"/>
                  </a:outerShdw>
                </a:effectLst>
                <a:ea typeface="宋体" pitchFamily="2" charset="-122"/>
              </a:rPr>
              <a:t>的（</a:t>
            </a:r>
            <a:r>
              <a:rPr kumimoji="1" lang="en-US" altLang="zh-CN" dirty="0" smtClean="0">
                <a:solidFill>
                  <a:srgbClr val="333399"/>
                </a:solidFill>
                <a:effectLst>
                  <a:outerShdw blurRad="38100" dist="38100" dir="2700000" algn="tl">
                    <a:srgbClr val="C0C0C0"/>
                  </a:outerShdw>
                </a:effectLst>
                <a:ea typeface="宋体" pitchFamily="2" charset="-122"/>
              </a:rPr>
              <a:t>register</a:t>
            </a:r>
            <a:r>
              <a:rPr kumimoji="1" lang="zh-CN" altLang="en-US" dirty="0" smtClean="0">
                <a:solidFill>
                  <a:srgbClr val="333399"/>
                </a:solidFill>
                <a:effectLst>
                  <a:outerShdw blurRad="38100" dist="38100" dir="2700000" algn="tl">
                    <a:srgbClr val="C0C0C0"/>
                  </a:outerShdw>
                </a:effectLst>
                <a:ea typeface="宋体" pitchFamily="2" charset="-122"/>
              </a:rPr>
              <a:t>）、</a:t>
            </a:r>
            <a:r>
              <a:rPr kumimoji="1" lang="zh-CN" altLang="en-US" dirty="0">
                <a:solidFill>
                  <a:srgbClr val="333399"/>
                </a:solidFill>
                <a:effectLst>
                  <a:outerShdw blurRad="38100" dist="38100" dir="2700000" algn="tl">
                    <a:srgbClr val="C0C0C0"/>
                  </a:outerShdw>
                </a:effectLst>
                <a:ea typeface="宋体" pitchFamily="2" charset="-122"/>
              </a:rPr>
              <a:t>外部</a:t>
            </a:r>
            <a:r>
              <a:rPr kumimoji="1" lang="zh-CN" altLang="en-US" dirty="0" smtClean="0">
                <a:solidFill>
                  <a:srgbClr val="333399"/>
                </a:solidFill>
                <a:effectLst>
                  <a:outerShdw blurRad="38100" dist="38100" dir="2700000" algn="tl">
                    <a:srgbClr val="C0C0C0"/>
                  </a:outerShdw>
                </a:effectLst>
                <a:ea typeface="宋体" pitchFamily="2" charset="-122"/>
              </a:rPr>
              <a:t>的（</a:t>
            </a:r>
            <a:r>
              <a:rPr kumimoji="1" lang="en-US" altLang="zh-CN" dirty="0" smtClean="0">
                <a:solidFill>
                  <a:srgbClr val="333399"/>
                </a:solidFill>
                <a:effectLst>
                  <a:outerShdw blurRad="38100" dist="38100" dir="2700000" algn="tl">
                    <a:srgbClr val="C0C0C0"/>
                  </a:outerShdw>
                </a:effectLst>
                <a:ea typeface="宋体" pitchFamily="2" charset="-122"/>
              </a:rPr>
              <a:t>extern</a:t>
            </a:r>
            <a:r>
              <a:rPr kumimoji="1" lang="zh-CN" altLang="en-US" dirty="0" smtClean="0">
                <a:solidFill>
                  <a:srgbClr val="333399"/>
                </a:solidFill>
                <a:effectLst>
                  <a:outerShdw blurRad="38100" dist="38100" dir="2700000" algn="tl">
                    <a:srgbClr val="C0C0C0"/>
                  </a:outerShdw>
                </a:effectLst>
                <a:ea typeface="宋体" pitchFamily="2" charset="-122"/>
              </a:rPr>
              <a:t>）和</a:t>
            </a:r>
            <a:r>
              <a:rPr kumimoji="1" lang="zh-CN" altLang="en-US" dirty="0">
                <a:solidFill>
                  <a:srgbClr val="333399"/>
                </a:solidFill>
                <a:effectLst>
                  <a:outerShdw blurRad="38100" dist="38100" dir="2700000" algn="tl">
                    <a:srgbClr val="C0C0C0"/>
                  </a:outerShdw>
                </a:effectLst>
                <a:ea typeface="宋体" pitchFamily="2" charset="-122"/>
              </a:rPr>
              <a:t>静态</a:t>
            </a:r>
            <a:r>
              <a:rPr kumimoji="1" lang="zh-CN" altLang="en-US" dirty="0" smtClean="0">
                <a:solidFill>
                  <a:srgbClr val="333399"/>
                </a:solidFill>
                <a:effectLst>
                  <a:outerShdw blurRad="38100" dist="38100" dir="2700000" algn="tl">
                    <a:srgbClr val="C0C0C0"/>
                  </a:outerShdw>
                </a:effectLst>
                <a:ea typeface="宋体" pitchFamily="2" charset="-122"/>
              </a:rPr>
              <a:t>的（</a:t>
            </a:r>
            <a:r>
              <a:rPr kumimoji="1" lang="en-US" altLang="zh-CN" dirty="0" smtClean="0">
                <a:solidFill>
                  <a:srgbClr val="333399"/>
                </a:solidFill>
                <a:effectLst>
                  <a:outerShdw blurRad="38100" dist="38100" dir="2700000" algn="tl">
                    <a:srgbClr val="C0C0C0"/>
                  </a:outerShdw>
                </a:effectLst>
                <a:ea typeface="宋体" pitchFamily="2" charset="-122"/>
              </a:rPr>
              <a:t>static</a:t>
            </a:r>
            <a:r>
              <a:rPr kumimoji="1" lang="zh-CN" altLang="en-US" dirty="0" smtClean="0">
                <a:solidFill>
                  <a:srgbClr val="333399"/>
                </a:solidFill>
                <a:effectLst>
                  <a:outerShdw blurRad="38100" dist="38100" dir="2700000" algn="tl">
                    <a:srgbClr val="C0C0C0"/>
                  </a:outerShdw>
                </a:effectLst>
                <a:ea typeface="宋体" pitchFamily="2" charset="-122"/>
              </a:rPr>
              <a:t>）</a:t>
            </a:r>
            <a:endParaRPr kumimoji="1" lang="zh-CN" altLang="en-US" dirty="0">
              <a:solidFill>
                <a:srgbClr val="333399"/>
              </a:solidFill>
              <a:effectLst>
                <a:outerShdw blurRad="38100" dist="38100" dir="2700000" algn="tl">
                  <a:srgbClr val="C0C0C0"/>
                </a:outerShdw>
              </a:effectLst>
              <a:ea typeface="宋体" pitchFamily="2" charset="-122"/>
            </a:endParaRPr>
          </a:p>
          <a:p>
            <a:pPr algn="just" defTabSz="893763" eaLnBrk="1" hangingPunct="1">
              <a:lnSpc>
                <a:spcPct val="105000"/>
              </a:lnSpc>
              <a:defRPr/>
            </a:pPr>
            <a:endParaRPr kumimoji="1" lang="en-US" altLang="zh-CN" dirty="0" smtClean="0">
              <a:solidFill>
                <a:srgbClr val="336600"/>
              </a:solidFill>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smtClean="0">
                <a:solidFill>
                  <a:srgbClr val="336600"/>
                </a:solidFill>
                <a:effectLst>
                  <a:outerShdw blurRad="38100" dist="38100" dir="2700000" algn="tl">
                    <a:srgbClr val="C0C0C0"/>
                  </a:outerShdw>
                </a:effectLst>
                <a:ea typeface="宋体" pitchFamily="2" charset="-122"/>
              </a:rPr>
              <a:t>标识符</a:t>
            </a:r>
            <a:r>
              <a:rPr kumimoji="1" lang="zh-CN" altLang="en-US" dirty="0">
                <a:solidFill>
                  <a:srgbClr val="336600"/>
                </a:solidFill>
                <a:effectLst>
                  <a:outerShdw blurRad="38100" dist="38100" dir="2700000" algn="tl">
                    <a:srgbClr val="C0C0C0"/>
                  </a:outerShdw>
                </a:effectLst>
                <a:ea typeface="宋体" pitchFamily="2" charset="-122"/>
              </a:rPr>
              <a:t>的存储</a:t>
            </a:r>
            <a:r>
              <a:rPr kumimoji="1" lang="zh-CN" altLang="en-US" dirty="0" smtClean="0">
                <a:solidFill>
                  <a:srgbClr val="336600"/>
                </a:solidFill>
                <a:effectLst>
                  <a:outerShdw blurRad="38100" dist="38100" dir="2700000" algn="tl">
                    <a:srgbClr val="C0C0C0"/>
                  </a:outerShdw>
                </a:effectLst>
                <a:ea typeface="宋体" pitchFamily="2" charset="-122"/>
              </a:rPr>
              <a:t>类别用于</a:t>
            </a:r>
            <a:r>
              <a:rPr kumimoji="1" lang="zh-CN" altLang="en-US" dirty="0">
                <a:solidFill>
                  <a:srgbClr val="336600"/>
                </a:solidFill>
                <a:effectLst>
                  <a:outerShdw blurRad="38100" dist="38100" dir="2700000" algn="tl">
                    <a:srgbClr val="C0C0C0"/>
                  </a:outerShdw>
                </a:effectLst>
                <a:ea typeface="宋体" pitchFamily="2" charset="-122"/>
              </a:rPr>
              <a:t>确定用这个标识符命名的程序对象</a:t>
            </a:r>
            <a:r>
              <a:rPr kumimoji="1" lang="en-US" altLang="zh-CN" dirty="0">
                <a:solidFill>
                  <a:srgbClr val="336600"/>
                </a:solidFill>
                <a:effectLst>
                  <a:outerShdw blurRad="38100" dist="38100" dir="2700000" algn="tl">
                    <a:srgbClr val="C0C0C0"/>
                  </a:outerShdw>
                </a:effectLst>
                <a:ea typeface="宋体" pitchFamily="2" charset="-122"/>
              </a:rPr>
              <a:t>(</a:t>
            </a:r>
            <a:r>
              <a:rPr kumimoji="1" lang="zh-CN" altLang="en-US" dirty="0">
                <a:solidFill>
                  <a:srgbClr val="336600"/>
                </a:solidFill>
                <a:effectLst>
                  <a:outerShdw blurRad="38100" dist="38100" dir="2700000" algn="tl">
                    <a:srgbClr val="C0C0C0"/>
                  </a:outerShdw>
                </a:effectLst>
                <a:ea typeface="宋体" pitchFamily="2" charset="-122"/>
              </a:rPr>
              <a:t>例始变量</a:t>
            </a:r>
            <a:r>
              <a:rPr kumimoji="1" lang="en-US" altLang="zh-CN" dirty="0">
                <a:solidFill>
                  <a:srgbClr val="336600"/>
                </a:solidFill>
                <a:effectLst>
                  <a:outerShdw blurRad="38100" dist="38100" dir="2700000" algn="tl">
                    <a:srgbClr val="C0C0C0"/>
                  </a:outerShdw>
                </a:effectLst>
                <a:ea typeface="宋体" pitchFamily="2" charset="-122"/>
              </a:rPr>
              <a:t>)</a:t>
            </a:r>
            <a:r>
              <a:rPr kumimoji="1" lang="zh-CN" altLang="en-US" dirty="0">
                <a:solidFill>
                  <a:srgbClr val="336600"/>
                </a:solidFill>
                <a:effectLst>
                  <a:outerShdw blurRad="38100" dist="38100" dir="2700000" algn="tl">
                    <a:srgbClr val="C0C0C0"/>
                  </a:outerShdw>
                </a:effectLst>
                <a:ea typeface="宋体" pitchFamily="2" charset="-122"/>
              </a:rPr>
              <a:t>的</a:t>
            </a:r>
            <a:r>
              <a:rPr kumimoji="1" lang="zh-CN" altLang="en-US" dirty="0">
                <a:solidFill>
                  <a:srgbClr val="FF0000"/>
                </a:solidFill>
                <a:effectLst>
                  <a:outerShdw blurRad="38100" dist="38100" dir="2700000" algn="tl">
                    <a:srgbClr val="C0C0C0"/>
                  </a:outerShdw>
                </a:effectLst>
                <a:ea typeface="宋体" pitchFamily="2" charset="-122"/>
              </a:rPr>
              <a:t>存储期、作用域和连接</a:t>
            </a:r>
            <a:r>
              <a:rPr kumimoji="1" lang="zh-CN" altLang="en-US" dirty="0">
                <a:solidFill>
                  <a:srgbClr val="336600"/>
                </a:solidFill>
                <a:effectLst>
                  <a:outerShdw blurRad="38100" dist="38100" dir="2700000" algn="tl">
                    <a:srgbClr val="C0C0C0"/>
                  </a:outerShdw>
                </a:effectLst>
                <a:ea typeface="宋体" pitchFamily="2" charset="-122"/>
              </a:rPr>
              <a:t>等属性。</a:t>
            </a:r>
          </a:p>
          <a:p>
            <a:pPr algn="just" defTabSz="893763" eaLnBrk="1" hangingPunct="1">
              <a:lnSpc>
                <a:spcPct val="105000"/>
              </a:lnSpc>
              <a:defRPr/>
            </a:pPr>
            <a:endParaRPr kumimoji="1" lang="en-US" altLang="zh-CN" dirty="0" smtClean="0">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smtClean="0">
                <a:effectLst>
                  <a:outerShdw blurRad="38100" dist="38100" dir="2700000" algn="tl">
                    <a:srgbClr val="C0C0C0"/>
                  </a:outerShdw>
                </a:effectLst>
                <a:ea typeface="宋体" pitchFamily="2" charset="-122"/>
              </a:rPr>
              <a:t>标识符</a:t>
            </a:r>
            <a:r>
              <a:rPr kumimoji="1" lang="zh-CN" altLang="en-US" dirty="0">
                <a:effectLst>
                  <a:outerShdw blurRad="38100" dist="38100" dir="2700000" algn="tl">
                    <a:srgbClr val="C0C0C0"/>
                  </a:outerShdw>
                </a:effectLst>
                <a:ea typeface="宋体" pitchFamily="2" charset="-122"/>
              </a:rPr>
              <a:t>的</a:t>
            </a:r>
            <a:r>
              <a:rPr kumimoji="1" lang="zh-CN" altLang="en-US" dirty="0">
                <a:solidFill>
                  <a:srgbClr val="FF0000"/>
                </a:solidFill>
                <a:effectLst>
                  <a:outerShdw blurRad="38100" dist="38100" dir="2700000" algn="tl">
                    <a:srgbClr val="C0C0C0"/>
                  </a:outerShdw>
                </a:effectLst>
                <a:ea typeface="宋体" pitchFamily="2" charset="-122"/>
              </a:rPr>
              <a:t>存储期</a:t>
            </a:r>
            <a:r>
              <a:rPr kumimoji="1" lang="zh-CN" altLang="en-US" dirty="0">
                <a:effectLst>
                  <a:outerShdw blurRad="38100" dist="38100" dir="2700000" algn="tl">
                    <a:srgbClr val="C0C0C0"/>
                  </a:outerShdw>
                </a:effectLst>
                <a:ea typeface="宋体" pitchFamily="2" charset="-122"/>
              </a:rPr>
              <a:t>是用这个标识符命名的程序对象的存在期。某些程序对象存在是短暂的，它们会被系统反复建立和撤销，有些则在程序的整个执行期间都存在。</a:t>
            </a:r>
            <a:r>
              <a:rPr kumimoji="1" lang="zh-CN" altLang="en-US" dirty="0">
                <a:ea typeface="宋体" pitchFamily="2" charset="-122"/>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9171">
                                            <p:txEl>
                                              <p:pRg st="3" end="3"/>
                                            </p:txEl>
                                          </p:spTgt>
                                        </p:tgtEl>
                                        <p:attrNameLst>
                                          <p:attrName>style.visibility</p:attrName>
                                        </p:attrNameLst>
                                      </p:cBhvr>
                                      <p:to>
                                        <p:strVal val="visible"/>
                                      </p:to>
                                    </p:set>
                                    <p:anim calcmode="lin" valueType="num">
                                      <p:cBhvr additive="base">
                                        <p:cTn id="7" dur="500" fill="hold"/>
                                        <p:tgtEl>
                                          <p:spTgt spid="51917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9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9171">
                                            <p:txEl>
                                              <p:pRg st="5" end="5"/>
                                            </p:txEl>
                                          </p:spTgt>
                                        </p:tgtEl>
                                        <p:attrNameLst>
                                          <p:attrName>style.visibility</p:attrName>
                                        </p:attrNameLst>
                                      </p:cBhvr>
                                      <p:to>
                                        <p:strVal val="visible"/>
                                      </p:to>
                                    </p:set>
                                    <p:anim calcmode="lin" valueType="num">
                                      <p:cBhvr additive="base">
                                        <p:cTn id="13" dur="500" fill="hold"/>
                                        <p:tgtEl>
                                          <p:spTgt spid="51917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91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85FD514-9FD8-406B-BDF8-BDAFA9185E1A}" type="slidenum">
              <a:rPr lang="en-US" altLang="zh-CN"/>
              <a:pPr>
                <a:defRPr/>
              </a:pPr>
              <a:t>84</a:t>
            </a:fld>
            <a:endParaRPr lang="en-US" altLang="zh-CN"/>
          </a:p>
        </p:txBody>
      </p:sp>
      <p:sp>
        <p:nvSpPr>
          <p:cNvPr id="540675" name="Text Box 3"/>
          <p:cNvSpPr txBox="1">
            <a:spLocks noChangeArrowheads="1"/>
          </p:cNvSpPr>
          <p:nvPr/>
        </p:nvSpPr>
        <p:spPr bwMode="auto">
          <a:xfrm>
            <a:off x="466725" y="1052513"/>
            <a:ext cx="8208963" cy="4128815"/>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标识符的</a:t>
            </a:r>
            <a:r>
              <a:rPr kumimoji="1" lang="zh-CN" altLang="en-US" dirty="0">
                <a:solidFill>
                  <a:srgbClr val="FF0000"/>
                </a:solidFill>
                <a:effectLst>
                  <a:outerShdw blurRad="38100" dist="38100" dir="2700000" algn="tl">
                    <a:srgbClr val="C0C0C0"/>
                  </a:outerShdw>
                </a:effectLst>
                <a:ea typeface="宋体" pitchFamily="2" charset="-122"/>
              </a:rPr>
              <a:t>作用域</a:t>
            </a:r>
            <a:r>
              <a:rPr kumimoji="1" lang="zh-CN" altLang="en-US" dirty="0">
                <a:effectLst>
                  <a:outerShdw blurRad="38100" dist="38100" dir="2700000" algn="tl">
                    <a:srgbClr val="C0C0C0"/>
                  </a:outerShdw>
                </a:effectLst>
                <a:ea typeface="宋体" pitchFamily="2" charset="-122"/>
              </a:rPr>
              <a:t>是程序中可引用该标识符的区域。</a:t>
            </a:r>
          </a:p>
          <a:p>
            <a:pPr algn="just" defTabSz="893763" eaLnBrk="1" hangingPunct="1">
              <a:lnSpc>
                <a:spcPct val="105000"/>
              </a:lnSpc>
              <a:defRPr/>
            </a:pPr>
            <a:endParaRPr kumimoji="1" lang="zh-CN" altLang="en-US" dirty="0">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某些标识符可在整个程序中被引用，其它一些标识符只能被程序的某些部分引用。</a:t>
            </a:r>
          </a:p>
          <a:p>
            <a:pPr algn="just" defTabSz="893763" eaLnBrk="1" hangingPunct="1">
              <a:lnSpc>
                <a:spcPct val="105000"/>
              </a:lnSpc>
              <a:defRPr/>
            </a:pPr>
            <a:endParaRPr kumimoji="1" lang="zh-CN" altLang="en-US" dirty="0">
              <a:effectLst>
                <a:outerShdw blurRad="38100" dist="38100" dir="2700000" algn="tl">
                  <a:srgbClr val="C0C0C0"/>
                </a:outerShdw>
              </a:effectLst>
              <a:ea typeface="宋体" pitchFamily="2" charset="-122"/>
            </a:endParaRPr>
          </a:p>
          <a:p>
            <a:pPr algn="just" defTabSz="893763" eaLnBrk="1" hangingPunct="1">
              <a:lnSpc>
                <a:spcPct val="105000"/>
              </a:lnSpc>
              <a:defRPr/>
            </a:pPr>
            <a:r>
              <a:rPr kumimoji="1" lang="zh-CN" altLang="en-US" dirty="0">
                <a:effectLst>
                  <a:outerShdw blurRad="38100" dist="38100" dir="2700000" algn="tl">
                    <a:srgbClr val="C0C0C0"/>
                  </a:outerShdw>
                </a:effectLst>
                <a:ea typeface="宋体" pitchFamily="2" charset="-122"/>
              </a:rPr>
              <a:t>标识符的</a:t>
            </a:r>
            <a:r>
              <a:rPr kumimoji="1" lang="zh-CN" altLang="en-US" dirty="0">
                <a:solidFill>
                  <a:srgbClr val="FF0000"/>
                </a:solidFill>
                <a:effectLst>
                  <a:outerShdw blurRad="38100" dist="38100" dir="2700000" algn="tl">
                    <a:srgbClr val="C0C0C0"/>
                  </a:outerShdw>
                </a:effectLst>
                <a:ea typeface="宋体" pitchFamily="2" charset="-122"/>
              </a:rPr>
              <a:t>连接属性</a:t>
            </a:r>
            <a:r>
              <a:rPr kumimoji="1" lang="zh-CN" altLang="en-US" dirty="0">
                <a:effectLst>
                  <a:outerShdw blurRad="38100" dist="38100" dir="2700000" algn="tl">
                    <a:srgbClr val="C0C0C0"/>
                  </a:outerShdw>
                </a:effectLst>
                <a:ea typeface="宋体" pitchFamily="2" charset="-122"/>
              </a:rPr>
              <a:t>确定当整个程序由多个源程序文件组成时，这个标识符是只被定义它的当前源文件识别，还是因为用了合适的声明也能被别的源程序文件识别。</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0675">
                                            <p:txEl>
                                              <p:pRg st="4" end="4"/>
                                            </p:txEl>
                                          </p:spTgt>
                                        </p:tgtEl>
                                        <p:attrNameLst>
                                          <p:attrName>style.visibility</p:attrName>
                                        </p:attrNameLst>
                                      </p:cBhvr>
                                      <p:to>
                                        <p:strVal val="visible"/>
                                      </p:to>
                                    </p:set>
                                    <p:anim calcmode="lin" valueType="num">
                                      <p:cBhvr additive="base">
                                        <p:cTn id="7" dur="500" fill="hold"/>
                                        <p:tgtEl>
                                          <p:spTgt spid="54067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06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3C8EB39-F763-4A80-B21D-5D896CE27DCE}" type="slidenum">
              <a:rPr lang="en-US" altLang="zh-CN"/>
              <a:pPr>
                <a:defRPr/>
              </a:pPr>
              <a:t>85</a:t>
            </a:fld>
            <a:endParaRPr lang="en-US" altLang="zh-CN"/>
          </a:p>
        </p:txBody>
      </p:sp>
      <p:sp>
        <p:nvSpPr>
          <p:cNvPr id="541698" name="Text Box 2"/>
          <p:cNvSpPr txBox="1">
            <a:spLocks noChangeArrowheads="1"/>
          </p:cNvSpPr>
          <p:nvPr/>
        </p:nvSpPr>
        <p:spPr bwMode="auto">
          <a:xfrm>
            <a:off x="468313" y="620713"/>
            <a:ext cx="8207375" cy="3106483"/>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四种存储类别说明符有两种</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存储期</a:t>
            </a:r>
            <a:r>
              <a:rPr kumimoji="1" lang="zh-CN" altLang="en-US"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solidFill>
                  <a:srgbClr val="990000"/>
                </a:solidFill>
                <a:effectLst>
                  <a:outerShdw blurRad="38100" dist="38100" dir="2700000" algn="tl">
                    <a:srgbClr val="C0C0C0"/>
                  </a:outerShdw>
                </a:effectLst>
                <a:latin typeface="楷体_GB2312" pitchFamily="49" charset="-122"/>
                <a:ea typeface="楷体_GB2312" pitchFamily="49" charset="-122"/>
              </a:rPr>
              <a:t>自动存储期和静态存储期</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关键字</a:t>
            </a:r>
            <a:r>
              <a:rPr kumimoji="1" lang="en-US" altLang="zh-CN" dirty="0">
                <a:effectLst>
                  <a:outerShdw blurRad="38100" dist="38100" dir="2700000" algn="tl">
                    <a:srgbClr val="C0C0C0"/>
                  </a:outerShdw>
                </a:effectLst>
                <a:latin typeface="楷体_GB2312" pitchFamily="49" charset="-122"/>
                <a:ea typeface="楷体_GB2312" pitchFamily="49" charset="-122"/>
              </a:rPr>
              <a:t>auto</a:t>
            </a:r>
            <a:r>
              <a:rPr kumimoji="1" lang="zh-CN" altLang="en-US" dirty="0">
                <a:effectLst>
                  <a:outerShdw blurRad="38100" dist="38100" dir="2700000" algn="tl">
                    <a:srgbClr val="C0C0C0"/>
                  </a:outerShdw>
                </a:effectLst>
                <a:latin typeface="楷体_GB2312" pitchFamily="49" charset="-122"/>
                <a:ea typeface="楷体_GB2312" pitchFamily="49" charset="-122"/>
              </a:rPr>
              <a:t>和</a:t>
            </a:r>
            <a:r>
              <a:rPr kumimoji="1" lang="en-US" altLang="zh-CN" dirty="0">
                <a:effectLst>
                  <a:outerShdw blurRad="38100" dist="38100" dir="2700000" algn="tl">
                    <a:srgbClr val="C0C0C0"/>
                  </a:outerShdw>
                </a:effectLst>
                <a:latin typeface="楷体_GB2312" pitchFamily="49" charset="-122"/>
                <a:ea typeface="楷体_GB2312" pitchFamily="49" charset="-122"/>
              </a:rPr>
              <a:t>register</a:t>
            </a:r>
            <a:r>
              <a:rPr kumimoji="1" lang="zh-CN" altLang="en-US" dirty="0">
                <a:effectLst>
                  <a:outerShdw blurRad="38100" dist="38100" dir="2700000" algn="tl">
                    <a:srgbClr val="C0C0C0"/>
                  </a:outerShdw>
                </a:effectLst>
                <a:latin typeface="楷体_GB2312" pitchFamily="49" charset="-122"/>
                <a:ea typeface="楷体_GB2312" pitchFamily="49" charset="-122"/>
              </a:rPr>
              <a:t>用来声明具有</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自动存储期</a:t>
            </a:r>
            <a:r>
              <a:rPr kumimoji="1" lang="zh-CN" altLang="en-US" dirty="0">
                <a:effectLst>
                  <a:outerShdw blurRad="38100" dist="38100" dir="2700000" algn="tl">
                    <a:srgbClr val="C0C0C0"/>
                  </a:outerShdw>
                </a:effectLst>
                <a:latin typeface="楷体_GB2312" pitchFamily="49" charset="-122"/>
                <a:ea typeface="楷体_GB2312" pitchFamily="49" charset="-122"/>
              </a:rPr>
              <a:t>的变量。</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1698">
                                            <p:txEl>
                                              <p:pRg st="5" end="5"/>
                                            </p:txEl>
                                          </p:spTgt>
                                        </p:tgtEl>
                                        <p:attrNameLst>
                                          <p:attrName>style.visibility</p:attrName>
                                        </p:attrNameLst>
                                      </p:cBhvr>
                                      <p:to>
                                        <p:strVal val="visible"/>
                                      </p:to>
                                    </p:set>
                                    <p:anim calcmode="lin" valueType="num">
                                      <p:cBhvr additive="base">
                                        <p:cTn id="7" dur="500" fill="hold"/>
                                        <p:tgtEl>
                                          <p:spTgt spid="541698">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16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3C8EB39-F763-4A80-B21D-5D896CE27DCE}" type="slidenum">
              <a:rPr lang="en-US" altLang="zh-CN"/>
              <a:pPr>
                <a:defRPr/>
              </a:pPr>
              <a:t>86</a:t>
            </a:fld>
            <a:endParaRPr lang="en-US" altLang="zh-CN"/>
          </a:p>
        </p:txBody>
      </p:sp>
      <p:sp>
        <p:nvSpPr>
          <p:cNvPr id="541698" name="Text Box 2"/>
          <p:cNvSpPr txBox="1">
            <a:spLocks noChangeArrowheads="1"/>
          </p:cNvSpPr>
          <p:nvPr/>
        </p:nvSpPr>
        <p:spPr bwMode="auto">
          <a:xfrm>
            <a:off x="468313" y="620713"/>
            <a:ext cx="8207375" cy="6122694"/>
          </a:xfrm>
          <a:prstGeom prst="rect">
            <a:avLst/>
          </a:prstGeom>
          <a:noFill/>
          <a:ln w="9525">
            <a:noFill/>
            <a:miter lim="800000"/>
            <a:headEnd/>
            <a:tailEnd/>
          </a:ln>
          <a:effectLst/>
        </p:spPr>
        <p:txBody>
          <a:bodyPr lIns="89401" tIns="44700" rIns="89401" bIns="44700">
            <a:spAutoFit/>
          </a:bodyPr>
          <a:lstStyle/>
          <a:p>
            <a:pPr algn="l" defTabSz="893763">
              <a:buFont typeface="Arial" pitchFamily="34" charset="0"/>
              <a:buChar char="•"/>
              <a:defRPr/>
            </a:pPr>
            <a:r>
              <a:rPr kumimoji="1" lang="zh-CN" altLang="en-US" dirty="0">
                <a:effectLst>
                  <a:outerShdw blurRad="38100" dist="38100" dir="2700000" algn="tl">
                    <a:srgbClr val="C0C0C0"/>
                  </a:outerShdw>
                </a:effectLst>
                <a:latin typeface="楷体_GB2312" pitchFamily="49" charset="-122"/>
                <a:ea typeface="楷体_GB2312" pitchFamily="49" charset="-122"/>
              </a:rPr>
              <a:t>具有自动存储期的变量是在进入声明该变量的函数或复合语句时建立的，它在函数或复合语句执行过程中存在，但在函数返回，或控制出了复合语句后就被系统撤销。</a:t>
            </a:r>
          </a:p>
          <a:p>
            <a:pPr algn="l" defTabSz="893763">
              <a:buFont typeface="Arial" pitchFamily="34" charset="0"/>
              <a:buChar char="•"/>
              <a:defRPr/>
            </a:pPr>
            <a:r>
              <a:rPr kumimoji="1" lang="zh-CN" altLang="en-US" dirty="0">
                <a:effectLst>
                  <a:outerShdw blurRad="38100" dist="38100" dir="2700000" algn="tl">
                    <a:srgbClr val="C0C0C0"/>
                  </a:outerShdw>
                </a:effectLst>
                <a:latin typeface="楷体_GB2312" pitchFamily="49" charset="-122"/>
                <a:ea typeface="楷体_GB2312" pitchFamily="49" charset="-122"/>
              </a:rPr>
              <a:t>局部变量是指在函数定义中声明的变量，它们只在声明该变量的函数中使用</a:t>
            </a:r>
            <a:r>
              <a:rPr kumimoji="1" lang="zh-CN" altLang="en-US" dirty="0" smtClean="0">
                <a:effectLst>
                  <a:outerShdw blurRad="38100" dist="38100" dir="2700000" algn="tl">
                    <a:srgbClr val="C0C0C0"/>
                  </a:outerShdw>
                </a:effectLst>
                <a:latin typeface="楷体_GB2312" pitchFamily="49" charset="-122"/>
                <a:ea typeface="楷体_GB2312" pitchFamily="49" charset="-122"/>
              </a:rPr>
              <a:t>。局部变量</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包括函数的形参、复合语句的局部变量</a:t>
            </a: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r>
              <a:rPr kumimoji="1" lang="zh-CN" altLang="en-US" dirty="0" smtClean="0">
                <a:effectLst>
                  <a:outerShdw blurRad="38100" dist="38100" dir="2700000" algn="tl">
                    <a:srgbClr val="C0C0C0"/>
                  </a:outerShdw>
                </a:effectLst>
                <a:latin typeface="楷体_GB2312" pitchFamily="49" charset="-122"/>
                <a:ea typeface="楷体_GB2312" pitchFamily="49" charset="-122"/>
              </a:rPr>
              <a:t>有</a:t>
            </a:r>
            <a:r>
              <a:rPr kumimoji="1" lang="zh-CN" altLang="en-US" dirty="0">
                <a:effectLst>
                  <a:outerShdw blurRad="38100" dist="38100" dir="2700000" algn="tl">
                    <a:srgbClr val="C0C0C0"/>
                  </a:outerShdw>
                </a:effectLst>
                <a:latin typeface="楷体_GB2312" pitchFamily="49" charset="-122"/>
                <a:ea typeface="楷体_GB2312" pitchFamily="49" charset="-122"/>
              </a:rPr>
              <a:t>自动存储期。关键字</a:t>
            </a:r>
            <a:r>
              <a:rPr kumimoji="1" lang="en-US" altLang="zh-CN" dirty="0">
                <a:effectLst>
                  <a:outerShdw blurRad="38100" dist="38100" dir="2700000" algn="tl">
                    <a:srgbClr val="C0C0C0"/>
                  </a:outerShdw>
                </a:effectLst>
                <a:latin typeface="楷体_GB2312" pitchFamily="49" charset="-122"/>
                <a:ea typeface="楷体_GB2312" pitchFamily="49" charset="-122"/>
              </a:rPr>
              <a:t>auto</a:t>
            </a:r>
            <a:r>
              <a:rPr kumimoji="1" lang="zh-CN" altLang="en-US" dirty="0">
                <a:effectLst>
                  <a:outerShdw blurRad="38100" dist="38100" dir="2700000" algn="tl">
                    <a:srgbClr val="C0C0C0"/>
                  </a:outerShdw>
                </a:effectLst>
                <a:latin typeface="楷体_GB2312" pitchFamily="49" charset="-122"/>
                <a:ea typeface="楷体_GB2312" pitchFamily="49" charset="-122"/>
              </a:rPr>
              <a:t>明确声明变量是自动存储期的变量。</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buFont typeface="Arial" pitchFamily="34" charset="0"/>
              <a:buChar char="•"/>
              <a:defRPr/>
            </a:pPr>
            <a:r>
              <a:rPr kumimoji="1" lang="zh-CN" altLang="en-US" dirty="0">
                <a:effectLst>
                  <a:outerShdw blurRad="38100" dist="38100" dir="2700000" algn="tl">
                    <a:srgbClr val="C0C0C0"/>
                  </a:outerShdw>
                </a:effectLst>
                <a:latin typeface="楷体_GB2312" pitchFamily="49" charset="-122"/>
                <a:ea typeface="楷体_GB2312" pitchFamily="49" charset="-122"/>
              </a:rPr>
              <a:t>由于局部变量在默认情况下是自动局部变量，所以</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关键字</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auto</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总是被程序员</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省略（不写）</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buFont typeface="Arial" pitchFamily="34" charset="0"/>
              <a:buChar char="•"/>
              <a:defRPr/>
            </a:pPr>
            <a:r>
              <a:rPr kumimoji="1" lang="zh-CN" altLang="en-US" dirty="0" smtClean="0">
                <a:effectLst>
                  <a:outerShdw blurRad="38100" dist="38100" dir="2700000" algn="tl">
                    <a:srgbClr val="C0C0C0"/>
                  </a:outerShdw>
                </a:effectLst>
                <a:latin typeface="楷体_GB2312" pitchFamily="49" charset="-122"/>
                <a:ea typeface="楷体_GB2312" pitchFamily="49" charset="-122"/>
              </a:rPr>
              <a:t>自动</a:t>
            </a:r>
            <a:r>
              <a:rPr kumimoji="1" lang="zh-CN" altLang="en-US" dirty="0">
                <a:effectLst>
                  <a:outerShdw blurRad="38100" dist="38100" dir="2700000" algn="tl">
                    <a:srgbClr val="C0C0C0"/>
                  </a:outerShdw>
                </a:effectLst>
                <a:latin typeface="楷体_GB2312" pitchFamily="49" charset="-122"/>
                <a:ea typeface="楷体_GB2312" pitchFamily="49" charset="-122"/>
              </a:rPr>
              <a:t>变量在程序控制进入声明它的函数时建立，控制从函数返回时撤销，也就是只在需要时才存在，所以自动变量也是节省内存的一种方法。</a:t>
            </a:r>
          </a:p>
          <a:p>
            <a:pPr algn="l" defTabSz="893763">
              <a:defRPr/>
            </a:pPr>
            <a:endParaRPr kumimoji="1" lang="zh-CN" altLang="en-US"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1698">
                                            <p:txEl>
                                              <p:pRg st="1" end="1"/>
                                            </p:txEl>
                                          </p:spTgt>
                                        </p:tgtEl>
                                        <p:attrNameLst>
                                          <p:attrName>style.visibility</p:attrName>
                                        </p:attrNameLst>
                                      </p:cBhvr>
                                      <p:to>
                                        <p:strVal val="visible"/>
                                      </p:to>
                                    </p:set>
                                    <p:anim calcmode="lin" valueType="num">
                                      <p:cBhvr additive="base">
                                        <p:cTn id="7" dur="500" fill="hold"/>
                                        <p:tgtEl>
                                          <p:spTgt spid="54169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16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1698">
                                            <p:txEl>
                                              <p:pRg st="2" end="2"/>
                                            </p:txEl>
                                          </p:spTgt>
                                        </p:tgtEl>
                                        <p:attrNameLst>
                                          <p:attrName>style.visibility</p:attrName>
                                        </p:attrNameLst>
                                      </p:cBhvr>
                                      <p:to>
                                        <p:strVal val="visible"/>
                                      </p:to>
                                    </p:set>
                                    <p:anim calcmode="lin" valueType="num">
                                      <p:cBhvr additive="base">
                                        <p:cTn id="13" dur="500" fill="hold"/>
                                        <p:tgtEl>
                                          <p:spTgt spid="5416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16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1698">
                                            <p:txEl>
                                              <p:pRg st="3" end="3"/>
                                            </p:txEl>
                                          </p:spTgt>
                                        </p:tgtEl>
                                        <p:attrNameLst>
                                          <p:attrName>style.visibility</p:attrName>
                                        </p:attrNameLst>
                                      </p:cBhvr>
                                      <p:to>
                                        <p:strVal val="visible"/>
                                      </p:to>
                                    </p:set>
                                    <p:anim calcmode="lin" valueType="num">
                                      <p:cBhvr additive="base">
                                        <p:cTn id="19" dur="500" fill="hold"/>
                                        <p:tgtEl>
                                          <p:spTgt spid="54169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16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79A08D4-D89C-4B25-BA26-DDED2E6FE38D}" type="slidenum">
              <a:rPr lang="en-US" altLang="zh-CN"/>
              <a:pPr>
                <a:defRPr/>
              </a:pPr>
              <a:t>87</a:t>
            </a:fld>
            <a:endParaRPr lang="en-US" altLang="zh-CN"/>
          </a:p>
        </p:txBody>
      </p:sp>
      <p:sp>
        <p:nvSpPr>
          <p:cNvPr id="542722" name="Text Box 2"/>
          <p:cNvSpPr txBox="1">
            <a:spLocks noChangeArrowheads="1"/>
          </p:cNvSpPr>
          <p:nvPr/>
        </p:nvSpPr>
        <p:spPr bwMode="auto">
          <a:xfrm>
            <a:off x="468313" y="357188"/>
            <a:ext cx="8207375" cy="3968258"/>
          </a:xfrm>
          <a:prstGeom prst="rect">
            <a:avLst/>
          </a:prstGeom>
          <a:noFill/>
          <a:ln w="9525">
            <a:noFill/>
            <a:miter lim="800000"/>
            <a:headEnd/>
            <a:tailEnd/>
          </a:ln>
          <a:effectLst/>
        </p:spPr>
        <p:txBody>
          <a:bodyPr lIns="89401" tIns="44700" rIns="89401" bIns="44700">
            <a:spAutoFit/>
          </a:bodyPr>
          <a:lstStyle/>
          <a:p>
            <a:pPr algn="l" defTabSz="893763">
              <a:defRPr/>
            </a:pPr>
            <a:endParaRPr kumimoji="1" lang="en-US" altLang="zh-CN" dirty="0">
              <a:solidFill>
                <a:srgbClr val="336600"/>
              </a:solidFill>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solidFill>
                  <a:srgbClr val="336600"/>
                </a:solidFill>
                <a:effectLst>
                  <a:outerShdw blurRad="38100" dist="38100" dir="2700000" algn="tl">
                    <a:srgbClr val="C0C0C0"/>
                  </a:outerShdw>
                </a:effectLst>
                <a:latin typeface="楷体_GB2312" pitchFamily="49" charset="-122"/>
                <a:ea typeface="楷体_GB2312" pitchFamily="49" charset="-122"/>
              </a:rPr>
              <a:t>在自动变量声明代码之前使用存储类别说明符</a:t>
            </a:r>
            <a:r>
              <a:rPr kumimoji="1" lang="en-US" altLang="zh-CN" dirty="0">
                <a:solidFill>
                  <a:srgbClr val="336600"/>
                </a:solidFill>
                <a:effectLst>
                  <a:outerShdw blurRad="38100" dist="38100" dir="2700000" algn="tl">
                    <a:srgbClr val="C0C0C0"/>
                  </a:outerShdw>
                </a:effectLst>
                <a:latin typeface="楷体_GB2312" pitchFamily="49" charset="-122"/>
                <a:ea typeface="楷体_GB2312" pitchFamily="49" charset="-122"/>
              </a:rPr>
              <a:t>register</a:t>
            </a:r>
            <a:r>
              <a:rPr kumimoji="1" lang="zh-CN" altLang="en-US" dirty="0">
                <a:solidFill>
                  <a:srgbClr val="336600"/>
                </a:solidFill>
                <a:effectLst>
                  <a:outerShdw blurRad="38100" dist="38100" dir="2700000" algn="tl">
                    <a:srgbClr val="C0C0C0"/>
                  </a:outerShdw>
                </a:effectLst>
                <a:latin typeface="楷体_GB2312" pitchFamily="49" charset="-122"/>
                <a:ea typeface="楷体_GB2312" pitchFamily="49" charset="-122"/>
              </a:rPr>
              <a:t>，是程序员向编译系统</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建议</a:t>
            </a:r>
            <a:r>
              <a:rPr kumimoji="1" lang="zh-CN" altLang="en-US" dirty="0">
                <a:solidFill>
                  <a:srgbClr val="336600"/>
                </a:solidFill>
                <a:effectLst>
                  <a:outerShdw blurRad="38100" dist="38100" dir="2700000" algn="tl">
                    <a:srgbClr val="C0C0C0"/>
                  </a:outerShdw>
                </a:effectLst>
                <a:latin typeface="楷体_GB2312" pitchFamily="49" charset="-122"/>
                <a:ea typeface="楷体_GB2312" pitchFamily="49" charset="-122"/>
              </a:rPr>
              <a:t>把该变量装载到计算机的某个高速硬件寄存器中。</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程序员将频繁使用的计数器之类的整型变量建议装载在寄存器中，以避免过度使用内存。由于寄存器是系统的重要资源，编译系统要跟据实际情况，可能</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忽略</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register</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声明（写了也可能没用）</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r>
              <a:rPr kumimoji="1" lang="zh-CN" altLang="en-US" dirty="0" smtClean="0">
                <a:latin typeface="楷体_GB2312" pitchFamily="49" charset="-122"/>
                <a:ea typeface="楷体_GB2312" pitchFamily="49" charset="-122"/>
              </a:rPr>
              <a:t> </a:t>
            </a:r>
            <a:endParaRPr kumimoji="1" lang="zh-CN" altLang="en-US"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22">
                                            <p:txEl>
                                              <p:pRg st="3" end="3"/>
                                            </p:txEl>
                                          </p:spTgt>
                                        </p:tgtEl>
                                        <p:attrNameLst>
                                          <p:attrName>style.visibility</p:attrName>
                                        </p:attrNameLst>
                                      </p:cBhvr>
                                      <p:to>
                                        <p:strVal val="visible"/>
                                      </p:to>
                                    </p:set>
                                    <p:anim calcmode="lin" valueType="num">
                                      <p:cBhvr additive="base">
                                        <p:cTn id="7" dur="500" fill="hold"/>
                                        <p:tgtEl>
                                          <p:spTgt spid="54272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2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8D832AE-24BE-4850-ACB8-E5DD478F31C6}" type="slidenum">
              <a:rPr lang="en-US" altLang="zh-CN"/>
              <a:pPr>
                <a:defRPr/>
              </a:pPr>
              <a:t>88</a:t>
            </a:fld>
            <a:endParaRPr lang="en-US" altLang="zh-CN"/>
          </a:p>
        </p:txBody>
      </p:sp>
      <p:sp>
        <p:nvSpPr>
          <p:cNvPr id="521219" name="Text Box 3"/>
          <p:cNvSpPr txBox="1">
            <a:spLocks noChangeArrowheads="1"/>
          </p:cNvSpPr>
          <p:nvPr/>
        </p:nvSpPr>
        <p:spPr bwMode="auto">
          <a:xfrm>
            <a:off x="395536" y="1124744"/>
            <a:ext cx="8208144" cy="4830032"/>
          </a:xfrm>
          <a:prstGeom prst="rect">
            <a:avLst/>
          </a:prstGeom>
          <a:noFill/>
          <a:ln w="9525">
            <a:noFill/>
            <a:miter lim="800000"/>
            <a:headEnd/>
            <a:tailEnd/>
          </a:ln>
          <a:effectLst/>
        </p:spPr>
        <p:txBody>
          <a:bodyPr wrap="square" lIns="89401" tIns="44700" rIns="89401" bIns="44700">
            <a:spAutoFit/>
          </a:bodyPr>
          <a:lstStyle/>
          <a:p>
            <a:pPr algn="l" defTabSz="893763">
              <a:defRPr/>
            </a:pP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两种</a:t>
            </a:r>
            <a:r>
              <a:rPr kumimoji="1" lang="zh-CN" altLang="en-US" dirty="0">
                <a:solidFill>
                  <a:srgbClr val="333399"/>
                </a:solidFill>
                <a:effectLst>
                  <a:outerShdw blurRad="38100" dist="38100" dir="2700000" algn="tl">
                    <a:srgbClr val="C0C0C0"/>
                  </a:outerShdw>
                </a:effectLst>
                <a:latin typeface="楷体_GB2312" pitchFamily="49" charset="-122"/>
                <a:ea typeface="楷体_GB2312" pitchFamily="49" charset="-122"/>
              </a:rPr>
              <a:t>类型</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的变量具有</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静态存储期</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全局变量</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，用</a:t>
            </a:r>
            <a:r>
              <a:rPr kumimoji="1" lang="en-US" altLang="zh-CN" dirty="0">
                <a:solidFill>
                  <a:srgbClr val="333399"/>
                </a:solidFill>
                <a:effectLst>
                  <a:outerShdw blurRad="38100" dist="38100" dir="2700000" algn="tl">
                    <a:srgbClr val="C0C0C0"/>
                  </a:outerShdw>
                </a:effectLst>
                <a:latin typeface="楷体_GB2312" pitchFamily="49" charset="-122"/>
                <a:ea typeface="楷体_GB2312" pitchFamily="49" charset="-122"/>
              </a:rPr>
              <a:t>static</a:t>
            </a:r>
            <a:r>
              <a:rPr kumimoji="1" lang="zh-CN" altLang="en-US" dirty="0">
                <a:solidFill>
                  <a:srgbClr val="333399"/>
                </a:solidFill>
                <a:effectLst>
                  <a:outerShdw blurRad="38100" dist="38100" dir="2700000" algn="tl">
                    <a:srgbClr val="C0C0C0"/>
                  </a:outerShdw>
                </a:effectLst>
                <a:latin typeface="楷体_GB2312" pitchFamily="49" charset="-122"/>
                <a:ea typeface="楷体_GB2312" pitchFamily="49" charset="-122"/>
              </a:rPr>
              <a:t>声明的</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局部变量</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a:t>
            </a:r>
            <a:r>
              <a:rPr kumimoji="1" lang="zh-CN" altLang="en-US" dirty="0">
                <a:solidFill>
                  <a:srgbClr val="333399"/>
                </a:solidFill>
                <a:effectLst>
                  <a:outerShdw blurRad="38100" dist="38100" dir="2700000" algn="tl">
                    <a:srgbClr val="C0C0C0"/>
                  </a:outerShdw>
                </a:effectLst>
                <a:latin typeface="楷体_GB2312" pitchFamily="49" charset="-122"/>
                <a:ea typeface="楷体_GB2312" pitchFamily="49" charset="-122"/>
              </a:rPr>
              <a:t>具有静态存储期的变量从程序开始执行起就一直存在，存储空间在程序开始执行时一次性分配和初始化（位置在编译时已经确定好了）。</a:t>
            </a:r>
            <a:endParaRPr kumimoji="1" lang="en-US" altLang="zh-CN" dirty="0">
              <a:solidFill>
                <a:srgbClr val="333399"/>
              </a:solidFill>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smtClean="0">
              <a:solidFill>
                <a:srgbClr val="333399"/>
              </a:solidFill>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solidFill>
                <a:srgbClr val="333399"/>
              </a:solidFill>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全局变量</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是在</a:t>
            </a:r>
            <a:r>
              <a:rPr kumimoji="1" lang="zh-CN" altLang="en-US" dirty="0">
                <a:solidFill>
                  <a:srgbClr val="333399"/>
                </a:solidFill>
                <a:effectLst>
                  <a:outerShdw blurRad="38100" dist="38100" dir="2700000" algn="tl">
                    <a:srgbClr val="C0C0C0"/>
                  </a:outerShdw>
                </a:effectLst>
                <a:latin typeface="楷体_GB2312" pitchFamily="49" charset="-122"/>
                <a:ea typeface="楷体_GB2312" pitchFamily="49" charset="-122"/>
              </a:rPr>
              <a:t>函数定义</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之外定义（声明）的变量。全局变量在</a:t>
            </a:r>
            <a:r>
              <a:rPr kumimoji="1" lang="zh-CN" altLang="en-US" dirty="0">
                <a:solidFill>
                  <a:srgbClr val="333399"/>
                </a:solidFill>
                <a:effectLst>
                  <a:outerShdw blurRad="38100" dist="38100" dir="2700000" algn="tl">
                    <a:srgbClr val="C0C0C0"/>
                  </a:outerShdw>
                </a:effectLst>
                <a:latin typeface="楷体_GB2312" pitchFamily="49" charset="-122"/>
                <a:ea typeface="楷体_GB2312" pitchFamily="49" charset="-122"/>
              </a:rPr>
              <a:t>整个程序的执行期间都一直</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存在。全局变量如果没有初始化，则其值为</a:t>
            </a:r>
            <a:r>
              <a:rPr kumimoji="1" lang="en-US" altLang="zh-CN" dirty="0" smtClean="0">
                <a:solidFill>
                  <a:srgbClr val="333399"/>
                </a:solidFill>
                <a:effectLst>
                  <a:outerShdw blurRad="38100" dist="38100" dir="2700000" algn="tl">
                    <a:srgbClr val="C0C0C0"/>
                  </a:outerShdw>
                </a:effectLst>
                <a:latin typeface="楷体_GB2312" pitchFamily="49" charset="-122"/>
                <a:ea typeface="楷体_GB2312" pitchFamily="49" charset="-122"/>
              </a:rPr>
              <a:t>0</a:t>
            </a:r>
            <a:r>
              <a:rPr kumimoji="1" lang="zh-CN" altLang="en-US" dirty="0" smtClean="0">
                <a:solidFill>
                  <a:srgbClr val="333399"/>
                </a:solidFill>
                <a:effectLst>
                  <a:outerShdw blurRad="38100" dist="38100" dir="2700000" algn="tl">
                    <a:srgbClr val="C0C0C0"/>
                  </a:outerShdw>
                </a:effectLst>
                <a:latin typeface="楷体_GB2312" pitchFamily="49" charset="-122"/>
                <a:ea typeface="楷体_GB2312" pitchFamily="49" charset="-122"/>
              </a:rPr>
              <a:t>。</a:t>
            </a:r>
            <a:endParaRPr kumimoji="1" lang="en-US" altLang="zh-CN" dirty="0" smtClean="0">
              <a:solidFill>
                <a:srgbClr val="333399"/>
              </a:solidFill>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solidFill>
                <a:srgbClr val="333399"/>
              </a:solidFill>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1219">
                                            <p:txEl>
                                              <p:pRg st="0" end="0"/>
                                            </p:txEl>
                                          </p:spTgt>
                                        </p:tgtEl>
                                        <p:attrNameLst>
                                          <p:attrName>style.visibility</p:attrName>
                                        </p:attrNameLst>
                                      </p:cBhvr>
                                      <p:to>
                                        <p:strVal val="visible"/>
                                      </p:to>
                                    </p:set>
                                    <p:anim calcmode="lin" valueType="num">
                                      <p:cBhvr additive="base">
                                        <p:cTn id="7" dur="500" fill="hold"/>
                                        <p:tgtEl>
                                          <p:spTgt spid="521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1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1219">
                                            <p:txEl>
                                              <p:pRg st="3" end="3"/>
                                            </p:txEl>
                                          </p:spTgt>
                                        </p:tgtEl>
                                        <p:attrNameLst>
                                          <p:attrName>style.visibility</p:attrName>
                                        </p:attrNameLst>
                                      </p:cBhvr>
                                      <p:to>
                                        <p:strVal val="visible"/>
                                      </p:to>
                                    </p:set>
                                    <p:anim calcmode="lin" valueType="num">
                                      <p:cBhvr additive="base">
                                        <p:cTn id="13" dur="500" fill="hold"/>
                                        <p:tgtEl>
                                          <p:spTgt spid="52121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121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FE93778-868A-4688-AF7C-E0F2599A2467}" type="slidenum">
              <a:rPr lang="en-US" altLang="zh-CN"/>
              <a:pPr>
                <a:defRPr/>
              </a:pPr>
              <a:t>89</a:t>
            </a:fld>
            <a:endParaRPr lang="en-US" altLang="zh-CN"/>
          </a:p>
        </p:txBody>
      </p:sp>
      <p:sp>
        <p:nvSpPr>
          <p:cNvPr id="544770" name="Text Box 2"/>
          <p:cNvSpPr txBox="1">
            <a:spLocks noChangeArrowheads="1"/>
          </p:cNvSpPr>
          <p:nvPr/>
        </p:nvSpPr>
        <p:spPr bwMode="auto">
          <a:xfrm>
            <a:off x="107505" y="808038"/>
            <a:ext cx="8568184" cy="3537371"/>
          </a:xfrm>
          <a:prstGeom prst="rect">
            <a:avLst/>
          </a:prstGeom>
          <a:noFill/>
          <a:ln w="9525">
            <a:noFill/>
            <a:miter lim="800000"/>
            <a:headEnd/>
            <a:tailEnd/>
          </a:ln>
          <a:effectLst/>
        </p:spPr>
        <p:txBody>
          <a:bodyPr wrap="square"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用关键字</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extern</a:t>
            </a:r>
            <a:r>
              <a:rPr kumimoji="1" lang="zh-CN" altLang="en-US" dirty="0">
                <a:solidFill>
                  <a:srgbClr val="00B0F0"/>
                </a:solidFill>
                <a:effectLst>
                  <a:outerShdw blurRad="38100" dist="38100" dir="2700000" algn="tl">
                    <a:srgbClr val="C0C0C0"/>
                  </a:outerShdw>
                </a:effectLst>
                <a:latin typeface="楷体_GB2312" pitchFamily="49" charset="-122"/>
                <a:ea typeface="楷体_GB2312" pitchFamily="49" charset="-122"/>
              </a:rPr>
              <a:t>声明</a:t>
            </a:r>
            <a:r>
              <a:rPr kumimoji="1" lang="zh-CN" altLang="en-US" dirty="0">
                <a:effectLst>
                  <a:outerShdw blurRad="38100" dist="38100" dir="2700000" algn="tl">
                    <a:srgbClr val="C0C0C0"/>
                  </a:outerShdw>
                </a:effectLst>
                <a:latin typeface="楷体_GB2312" pitchFamily="49" charset="-122"/>
                <a:ea typeface="楷体_GB2312" pitchFamily="49" charset="-122"/>
              </a:rPr>
              <a:t>全局变量，表示该全局变量的定义或在当前源程序文件的</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后面</a:t>
            </a:r>
            <a:r>
              <a:rPr kumimoji="1" lang="zh-CN" altLang="en-US" dirty="0">
                <a:effectLst>
                  <a:outerShdw blurRad="38100" dist="38100" dir="2700000" algn="tl">
                    <a:srgbClr val="C0C0C0"/>
                  </a:outerShdw>
                </a:effectLst>
                <a:latin typeface="楷体_GB2312" pitchFamily="49" charset="-122"/>
                <a:ea typeface="楷体_GB2312" pitchFamily="49" charset="-122"/>
              </a:rPr>
              <a:t>，或在</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别的源程序文件</a:t>
            </a:r>
            <a:r>
              <a:rPr kumimoji="1" lang="zh-CN" altLang="en-US" dirty="0">
                <a:effectLst>
                  <a:outerShdw blurRad="38100" dist="38100" dir="2700000" algn="tl">
                    <a:srgbClr val="C0C0C0"/>
                  </a:outerShdw>
                </a:effectLst>
                <a:latin typeface="楷体_GB2312" pitchFamily="49" charset="-122"/>
                <a:ea typeface="楷体_GB2312" pitchFamily="49" charset="-122"/>
              </a:rPr>
              <a:t>中，这里可以按照声明所示意义</a:t>
            </a:r>
            <a:r>
              <a:rPr kumimoji="1" lang="zh-CN" altLang="en-US" dirty="0" smtClean="0">
                <a:effectLst>
                  <a:outerShdw blurRad="38100" dist="38100" dir="2700000" algn="tl">
                    <a:srgbClr val="C0C0C0"/>
                  </a:outerShdw>
                </a:effectLst>
                <a:latin typeface="楷体_GB2312" pitchFamily="49" charset="-122"/>
                <a:ea typeface="楷体_GB2312" pitchFamily="49" charset="-122"/>
              </a:rPr>
              <a:t>使用（</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连接属性</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extern </a:t>
            </a:r>
            <a:r>
              <a:rPr kumimoji="1" lang="en-US" altLang="zh-CN" dirty="0">
                <a:effectLst>
                  <a:outerShdw blurRad="38100" dist="38100" dir="2700000" algn="tl">
                    <a:srgbClr val="C0C0C0"/>
                  </a:outerShdw>
                </a:effectLst>
                <a:latin typeface="楷体_GB2312" pitchFamily="49" charset="-122"/>
                <a:ea typeface="楷体_GB2312" pitchFamily="49" charset="-122"/>
              </a:rPr>
              <a:t>double d</a:t>
            </a:r>
            <a:r>
              <a:rPr kumimoji="1" lang="en-US" altLang="zh-CN" dirty="0" smtClean="0">
                <a:effectLst>
                  <a:outerShdw blurRad="38100" dist="38100" dir="2700000" algn="tl">
                    <a:srgbClr val="C0C0C0"/>
                  </a:outerShdw>
                </a:effectLst>
                <a:latin typeface="楷体_GB2312" pitchFamily="49" charset="-122"/>
                <a:ea typeface="楷体_GB2312" pitchFamily="49" charset="-122"/>
              </a:rPr>
              <a:t>; /</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r>
              <a:rPr kumimoji="1" lang="en-US" altLang="zh-CN" dirty="0" smtClean="0">
                <a:effectLst>
                  <a:outerShdw blurRad="38100" dist="38100" dir="2700000" algn="tl">
                    <a:srgbClr val="C0C0C0"/>
                  </a:outerShdw>
                </a:effectLst>
                <a:latin typeface="楷体_GB2312" pitchFamily="49" charset="-122"/>
                <a:ea typeface="楷体_GB2312" pitchFamily="49" charset="-122"/>
              </a:rPr>
              <a:t> </a:t>
            </a:r>
            <a:r>
              <a:rPr kumimoji="1" lang="zh-CN" altLang="en-US" dirty="0" smtClean="0">
                <a:effectLst>
                  <a:outerShdw blurRad="38100" dist="38100" dir="2700000" algn="tl">
                    <a:srgbClr val="C0C0C0"/>
                  </a:outerShdw>
                </a:effectLst>
                <a:latin typeface="楷体_GB2312" pitchFamily="49" charset="-122"/>
                <a:ea typeface="楷体_GB2312" pitchFamily="49" charset="-122"/>
              </a:rPr>
              <a:t>这句话无法明确说明</a:t>
            </a:r>
            <a:r>
              <a:rPr kumimoji="1" lang="en-US" altLang="zh-CN" dirty="0" smtClean="0">
                <a:effectLst>
                  <a:outerShdw blurRad="38100" dist="38100" dir="2700000" algn="tl">
                    <a:srgbClr val="C0C0C0"/>
                  </a:outerShdw>
                </a:effectLst>
                <a:latin typeface="楷体_GB2312" pitchFamily="49" charset="-122"/>
                <a:ea typeface="楷体_GB2312" pitchFamily="49" charset="-122"/>
              </a:rPr>
              <a:t>d</a:t>
            </a:r>
            <a:r>
              <a:rPr kumimoji="1" lang="zh-CN" altLang="en-US" dirty="0" smtClean="0">
                <a:effectLst>
                  <a:outerShdw blurRad="38100" dist="38100" dir="2700000" algn="tl">
                    <a:srgbClr val="C0C0C0"/>
                  </a:outerShdw>
                </a:effectLst>
                <a:latin typeface="楷体_GB2312" pitchFamily="49" charset="-122"/>
                <a:ea typeface="楷体_GB2312" pitchFamily="49" charset="-122"/>
              </a:rPr>
              <a:t>到底定义在哪里 *</a:t>
            </a: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p:txBody>
      </p:sp>
      <p:sp>
        <p:nvSpPr>
          <p:cNvPr id="2" name="文本框 1"/>
          <p:cNvSpPr txBox="1"/>
          <p:nvPr/>
        </p:nvSpPr>
        <p:spPr>
          <a:xfrm>
            <a:off x="176652" y="2996952"/>
            <a:ext cx="8129148" cy="2246769"/>
          </a:xfrm>
          <a:prstGeom prst="rect">
            <a:avLst/>
          </a:prstGeom>
          <a:noFill/>
        </p:spPr>
        <p:txBody>
          <a:bodyPr wrap="none" rtlCol="0">
            <a:spAutoFit/>
          </a:bodyPr>
          <a:lstStyle/>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extern </a:t>
            </a:r>
            <a:r>
              <a:rPr kumimoji="1" lang="en-US" altLang="zh-CN" dirty="0">
                <a:effectLst>
                  <a:outerShdw blurRad="38100" dist="38100" dir="2700000" algn="tl">
                    <a:srgbClr val="C0C0C0"/>
                  </a:outerShdw>
                </a:effectLst>
                <a:latin typeface="楷体_GB2312" pitchFamily="49" charset="-122"/>
                <a:ea typeface="楷体_GB2312" pitchFamily="49" charset="-122"/>
              </a:rPr>
              <a:t>double d; </a:t>
            </a:r>
          </a:p>
          <a:p>
            <a:pPr algn="l" defTabSz="893763">
              <a:defRPr/>
            </a:pPr>
            <a:r>
              <a:rPr kumimoji="1" lang="en-US" altLang="zh-CN" dirty="0" err="1">
                <a:effectLst>
                  <a:outerShdw blurRad="38100" dist="38100" dir="2700000" algn="tl">
                    <a:srgbClr val="C0C0C0"/>
                  </a:outerShdw>
                </a:effectLst>
                <a:latin typeface="楷体_GB2312" pitchFamily="49" charset="-122"/>
                <a:ea typeface="楷体_GB2312" pitchFamily="49" charset="-122"/>
              </a:rPr>
              <a:t>int</a:t>
            </a:r>
            <a:r>
              <a:rPr kumimoji="1" lang="en-US" altLang="zh-CN" dirty="0">
                <a:effectLst>
                  <a:outerShdw blurRad="38100" dist="38100" dir="2700000" algn="tl">
                    <a:srgbClr val="C0C0C0"/>
                  </a:outerShdw>
                </a:effectLst>
                <a:latin typeface="楷体_GB2312" pitchFamily="49" charset="-122"/>
                <a:ea typeface="楷体_GB2312" pitchFamily="49" charset="-122"/>
              </a:rPr>
              <a:t> main(){ …… }</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double d; </a:t>
            </a: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d</a:t>
            </a:r>
            <a:r>
              <a:rPr kumimoji="1" lang="zh-CN" altLang="en-US" dirty="0">
                <a:effectLst>
                  <a:outerShdw blurRad="38100" dist="38100" dir="2700000" algn="tl">
                    <a:srgbClr val="C0C0C0"/>
                  </a:outerShdw>
                </a:effectLst>
                <a:latin typeface="楷体_GB2312" pitchFamily="49" charset="-122"/>
                <a:ea typeface="楷体_GB2312" pitchFamily="49" charset="-122"/>
              </a:rPr>
              <a:t>定义在</a:t>
            </a:r>
            <a:r>
              <a:rPr kumimoji="1" lang="en-US" altLang="zh-CN" dirty="0">
                <a:effectLst>
                  <a:outerShdw blurRad="38100" dist="38100" dir="2700000" algn="tl">
                    <a:srgbClr val="C0C0C0"/>
                  </a:outerShdw>
                </a:effectLst>
                <a:latin typeface="楷体_GB2312" pitchFamily="49" charset="-122"/>
                <a:ea typeface="楷体_GB2312" pitchFamily="49" charset="-122"/>
              </a:rPr>
              <a:t>main</a:t>
            </a:r>
            <a:r>
              <a:rPr kumimoji="1" lang="zh-CN" altLang="en-US" dirty="0">
                <a:effectLst>
                  <a:outerShdw blurRad="38100" dist="38100" dir="2700000" algn="tl">
                    <a:srgbClr val="C0C0C0"/>
                  </a:outerShdw>
                </a:effectLst>
                <a:latin typeface="楷体_GB2312" pitchFamily="49" charset="-122"/>
                <a:ea typeface="楷体_GB2312" pitchFamily="49" charset="-122"/>
              </a:rPr>
              <a:t>的后面，声明使得</a:t>
            </a:r>
            <a:r>
              <a:rPr kumimoji="1" lang="en-US" altLang="zh-CN" dirty="0">
                <a:effectLst>
                  <a:outerShdw blurRad="38100" dist="38100" dir="2700000" algn="tl">
                    <a:srgbClr val="C0C0C0"/>
                  </a:outerShdw>
                </a:effectLst>
                <a:latin typeface="楷体_GB2312" pitchFamily="49" charset="-122"/>
                <a:ea typeface="楷体_GB2312" pitchFamily="49" charset="-122"/>
              </a:rPr>
              <a:t>main</a:t>
            </a:r>
            <a:r>
              <a:rPr kumimoji="1" lang="zh-CN" altLang="en-US" dirty="0">
                <a:effectLst>
                  <a:outerShdw blurRad="38100" dist="38100" dir="2700000" algn="tl">
                    <a:srgbClr val="C0C0C0"/>
                  </a:outerShdw>
                </a:effectLst>
                <a:latin typeface="楷体_GB2312" pitchFamily="49" charset="-122"/>
                <a:ea typeface="楷体_GB2312" pitchFamily="49" charset="-122"/>
              </a:rPr>
              <a:t>函数中使用</a:t>
            </a:r>
            <a:r>
              <a:rPr kumimoji="1" lang="en-US" altLang="zh-CN" dirty="0">
                <a:effectLst>
                  <a:outerShdw blurRad="38100" dist="38100" dir="2700000" algn="tl">
                    <a:srgbClr val="C0C0C0"/>
                  </a:outerShdw>
                </a:effectLst>
                <a:latin typeface="楷体_GB2312" pitchFamily="49" charset="-122"/>
                <a:ea typeface="楷体_GB2312" pitchFamily="49" charset="-122"/>
              </a:rPr>
              <a:t>d</a:t>
            </a:r>
          </a:p>
          <a:p>
            <a:endParaRPr lang="zh-CN" altLang="en-US" dirty="0"/>
          </a:p>
        </p:txBody>
      </p:sp>
      <p:sp>
        <p:nvSpPr>
          <p:cNvPr id="6" name="文本框 5"/>
          <p:cNvSpPr txBox="1"/>
          <p:nvPr/>
        </p:nvSpPr>
        <p:spPr>
          <a:xfrm>
            <a:off x="323527" y="4678139"/>
            <a:ext cx="8483413" cy="2246769"/>
          </a:xfrm>
          <a:prstGeom prst="rect">
            <a:avLst/>
          </a:prstGeom>
          <a:noFill/>
        </p:spPr>
        <p:txBody>
          <a:bodyPr wrap="none" rtlCol="0">
            <a:spAutoFit/>
          </a:bodyPr>
          <a:lstStyle/>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extern </a:t>
            </a:r>
            <a:r>
              <a:rPr kumimoji="1" lang="en-US" altLang="zh-CN" dirty="0">
                <a:effectLst>
                  <a:outerShdw blurRad="38100" dist="38100" dir="2700000" algn="tl">
                    <a:srgbClr val="C0C0C0"/>
                  </a:outerShdw>
                </a:effectLst>
                <a:latin typeface="楷体_GB2312" pitchFamily="49" charset="-122"/>
                <a:ea typeface="楷体_GB2312" pitchFamily="49" charset="-122"/>
              </a:rPr>
              <a:t>double d; </a:t>
            </a:r>
          </a:p>
          <a:p>
            <a:pPr algn="l" defTabSz="893763">
              <a:defRPr/>
            </a:pPr>
            <a:r>
              <a:rPr kumimoji="1" lang="en-US" altLang="zh-CN" dirty="0" err="1">
                <a:effectLst>
                  <a:outerShdw blurRad="38100" dist="38100" dir="2700000" algn="tl">
                    <a:srgbClr val="C0C0C0"/>
                  </a:outerShdw>
                </a:effectLst>
                <a:latin typeface="楷体_GB2312" pitchFamily="49" charset="-122"/>
                <a:ea typeface="楷体_GB2312" pitchFamily="49" charset="-122"/>
              </a:rPr>
              <a:t>int</a:t>
            </a:r>
            <a:r>
              <a:rPr kumimoji="1" lang="en-US" altLang="zh-CN" dirty="0">
                <a:effectLst>
                  <a:outerShdw blurRad="38100" dist="38100" dir="2700000" algn="tl">
                    <a:srgbClr val="C0C0C0"/>
                  </a:outerShdw>
                </a:effectLst>
                <a:latin typeface="楷体_GB2312" pitchFamily="49" charset="-122"/>
                <a:ea typeface="楷体_GB2312" pitchFamily="49" charset="-122"/>
              </a:rPr>
              <a:t> main(){ </a:t>
            </a:r>
            <a:r>
              <a:rPr kumimoji="1" lang="en-US" altLang="zh-CN" dirty="0" smtClean="0">
                <a:effectLst>
                  <a:outerShdw blurRad="38100" dist="38100" dir="2700000" algn="tl">
                    <a:srgbClr val="C0C0C0"/>
                  </a:outerShdw>
                </a:effectLst>
                <a:latin typeface="楷体_GB2312" pitchFamily="49" charset="-122"/>
                <a:ea typeface="楷体_GB2312" pitchFamily="49" charset="-122"/>
              </a:rPr>
              <a:t>d++; </a:t>
            </a:r>
            <a:r>
              <a:rPr kumimoji="1" lang="en-US" altLang="zh-CN"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d</a:t>
            </a:r>
            <a:r>
              <a:rPr kumimoji="1" lang="zh-CN" altLang="en-US" dirty="0">
                <a:effectLst>
                  <a:outerShdw blurRad="38100" dist="38100" dir="2700000" algn="tl">
                    <a:srgbClr val="C0C0C0"/>
                  </a:outerShdw>
                </a:effectLst>
                <a:latin typeface="楷体_GB2312" pitchFamily="49" charset="-122"/>
                <a:ea typeface="楷体_GB2312" pitchFamily="49" charset="-122"/>
              </a:rPr>
              <a:t>定义</a:t>
            </a:r>
            <a:r>
              <a:rPr kumimoji="1" lang="zh-CN" altLang="en-US" dirty="0" smtClean="0">
                <a:effectLst>
                  <a:outerShdw blurRad="38100" dist="38100" dir="2700000" algn="tl">
                    <a:srgbClr val="C0C0C0"/>
                  </a:outerShdw>
                </a:effectLst>
                <a:latin typeface="楷体_GB2312" pitchFamily="49" charset="-122"/>
                <a:ea typeface="楷体_GB2312" pitchFamily="49" charset="-122"/>
              </a:rPr>
              <a:t>在其他文件，如果连接时候找不到</a:t>
            </a:r>
            <a:r>
              <a:rPr kumimoji="1" lang="en-US" altLang="zh-CN" dirty="0" smtClean="0">
                <a:effectLst>
                  <a:outerShdw blurRad="38100" dist="38100" dir="2700000" algn="tl">
                    <a:srgbClr val="C0C0C0"/>
                  </a:outerShdw>
                </a:effectLst>
                <a:latin typeface="楷体_GB2312" pitchFamily="49" charset="-122"/>
                <a:ea typeface="楷体_GB2312" pitchFamily="49" charset="-122"/>
              </a:rPr>
              <a:t>d</a:t>
            </a:r>
            <a:r>
              <a:rPr kumimoji="1" lang="zh-CN" altLang="en-US" dirty="0" smtClean="0">
                <a:effectLst>
                  <a:outerShdw blurRad="38100" dist="38100" dir="2700000" algn="tl">
                    <a:srgbClr val="C0C0C0"/>
                  </a:outerShdw>
                </a:effectLst>
                <a:latin typeface="楷体_GB2312" pitchFamily="49" charset="-122"/>
                <a:ea typeface="楷体_GB2312" pitchFamily="49" charset="-122"/>
              </a:rPr>
              <a:t>的定义，</a:t>
            </a: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r>
              <a:rPr kumimoji="1" lang="zh-CN" altLang="en-US" dirty="0" smtClean="0">
                <a:effectLst>
                  <a:outerShdw blurRad="38100" dist="38100" dir="2700000" algn="tl">
                    <a:srgbClr val="C0C0C0"/>
                  </a:outerShdw>
                </a:effectLst>
                <a:latin typeface="楷体_GB2312" pitchFamily="49" charset="-122"/>
                <a:ea typeface="楷体_GB2312" pitchFamily="49" charset="-122"/>
              </a:rPr>
              <a:t>则会报错</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endParaRPr lang="zh-CN" altLang="en-US" dirty="0"/>
          </a:p>
        </p:txBody>
      </p:sp>
      <p:sp>
        <p:nvSpPr>
          <p:cNvPr id="7" name="文本框 6"/>
          <p:cNvSpPr txBox="1"/>
          <p:nvPr/>
        </p:nvSpPr>
        <p:spPr>
          <a:xfrm>
            <a:off x="4482832" y="3223127"/>
            <a:ext cx="3441968" cy="954107"/>
          </a:xfrm>
          <a:prstGeom prst="rect">
            <a:avLst/>
          </a:prstGeom>
          <a:noFill/>
        </p:spPr>
        <p:txBody>
          <a:bodyPr wrap="none" rtlCol="0">
            <a:spAutoFit/>
          </a:bodyPr>
          <a:lstStyle/>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double </a:t>
            </a:r>
            <a:r>
              <a:rPr kumimoji="1" lang="en-US" altLang="zh-CN" dirty="0">
                <a:effectLst>
                  <a:outerShdw blurRad="38100" dist="38100" dir="2700000" algn="tl">
                    <a:srgbClr val="C0C0C0"/>
                  </a:outerShdw>
                </a:effectLst>
                <a:latin typeface="楷体_GB2312" pitchFamily="49" charset="-122"/>
                <a:ea typeface="楷体_GB2312" pitchFamily="49" charset="-122"/>
              </a:rPr>
              <a:t>d; </a:t>
            </a:r>
          </a:p>
          <a:p>
            <a:pPr algn="l" defTabSz="893763">
              <a:defRPr/>
            </a:pPr>
            <a:r>
              <a:rPr kumimoji="1" lang="en-US" altLang="zh-CN" dirty="0" err="1">
                <a:effectLst>
                  <a:outerShdw blurRad="38100" dist="38100" dir="2700000" algn="tl">
                    <a:srgbClr val="C0C0C0"/>
                  </a:outerShdw>
                </a:effectLst>
                <a:latin typeface="楷体_GB2312" pitchFamily="49" charset="-122"/>
                <a:ea typeface="楷体_GB2312" pitchFamily="49" charset="-122"/>
              </a:rPr>
              <a:t>int</a:t>
            </a:r>
            <a:r>
              <a:rPr kumimoji="1" lang="en-US" altLang="zh-CN" dirty="0">
                <a:effectLst>
                  <a:outerShdw blurRad="38100" dist="38100" dir="2700000" algn="tl">
                    <a:srgbClr val="C0C0C0"/>
                  </a:outerShdw>
                </a:effectLst>
                <a:latin typeface="楷体_GB2312" pitchFamily="49" charset="-122"/>
                <a:ea typeface="楷体_GB2312" pitchFamily="49" charset="-122"/>
              </a:rPr>
              <a:t> main(){ …… </a:t>
            </a: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4770">
                                            <p:txEl>
                                              <p:pRg st="1" end="1"/>
                                            </p:txEl>
                                          </p:spTgt>
                                        </p:tgtEl>
                                        <p:attrNameLst>
                                          <p:attrName>style.visibility</p:attrName>
                                        </p:attrNameLst>
                                      </p:cBhvr>
                                      <p:to>
                                        <p:strVal val="visible"/>
                                      </p:to>
                                    </p:set>
                                    <p:anim calcmode="lin" valueType="num">
                                      <p:cBhvr additive="base">
                                        <p:cTn id="7" dur="500" fill="hold"/>
                                        <p:tgtEl>
                                          <p:spTgt spid="54477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47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p:bldP spid="7" grpId="0"/>
      <p:bldP spid="7"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FE93778-868A-4688-AF7C-E0F2599A2467}" type="slidenum">
              <a:rPr lang="en-US" altLang="zh-CN"/>
              <a:pPr>
                <a:defRPr/>
              </a:pPr>
              <a:t>90</a:t>
            </a:fld>
            <a:endParaRPr lang="en-US" altLang="zh-CN"/>
          </a:p>
        </p:txBody>
      </p:sp>
      <p:sp>
        <p:nvSpPr>
          <p:cNvPr id="544770" name="Text Box 2"/>
          <p:cNvSpPr txBox="1">
            <a:spLocks noChangeArrowheads="1"/>
          </p:cNvSpPr>
          <p:nvPr/>
        </p:nvSpPr>
        <p:spPr bwMode="auto">
          <a:xfrm>
            <a:off x="468313" y="808038"/>
            <a:ext cx="8207375" cy="4399145"/>
          </a:xfrm>
          <a:prstGeom prst="rect">
            <a:avLst/>
          </a:prstGeom>
          <a:noFill/>
          <a:ln w="9525">
            <a:noFill/>
            <a:miter lim="800000"/>
            <a:headEnd/>
            <a:tailEnd/>
          </a:ln>
          <a:effectLst/>
        </p:spPr>
        <p:txBody>
          <a:bodyPr lIns="89401" tIns="44700" rIns="89401" bIns="44700">
            <a:spAutoFit/>
          </a:bodyPr>
          <a:lstStyle/>
          <a:p>
            <a:pPr algn="l" defTabSz="893763">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用</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static</a:t>
            </a:r>
            <a:r>
              <a:rPr kumimoji="1" lang="zh-CN" altLang="en-US" dirty="0">
                <a:effectLst>
                  <a:outerShdw blurRad="38100" dist="38100" dir="2700000" algn="tl">
                    <a:srgbClr val="C0C0C0"/>
                  </a:outerShdw>
                </a:effectLst>
                <a:latin typeface="楷体_GB2312" pitchFamily="49" charset="-122"/>
                <a:ea typeface="楷体_GB2312" pitchFamily="49" charset="-122"/>
              </a:rPr>
              <a:t>关键字声明的全局变量，表示该全局变量只能在当前源程序文件中的函数使用，别的源程序文件不可</a:t>
            </a:r>
            <a:r>
              <a:rPr kumimoji="1" lang="zh-CN" altLang="en-US" dirty="0" smtClean="0">
                <a:effectLst>
                  <a:outerShdw blurRad="38100" dist="38100" dir="2700000" algn="tl">
                    <a:srgbClr val="C0C0C0"/>
                  </a:outerShdw>
                </a:effectLst>
                <a:latin typeface="楷体_GB2312" pitchFamily="49" charset="-122"/>
                <a:ea typeface="楷体_GB2312" pitchFamily="49" charset="-122"/>
              </a:rPr>
              <a:t>使用（</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连接属性</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smtClean="0">
                <a:effectLst>
                  <a:outerShdw blurRad="38100" dist="38100" dir="2700000" algn="tl">
                    <a:srgbClr val="C0C0C0"/>
                  </a:outerShdw>
                </a:effectLst>
                <a:latin typeface="楷体_GB2312" pitchFamily="49" charset="-122"/>
                <a:ea typeface="楷体_GB2312" pitchFamily="49" charset="-122"/>
              </a:rPr>
              <a:t>static </a:t>
            </a:r>
            <a:r>
              <a:rPr kumimoji="1" lang="en-US" altLang="zh-CN" dirty="0">
                <a:effectLst>
                  <a:outerShdw blurRad="38100" dist="38100" dir="2700000" algn="tl">
                    <a:srgbClr val="C0C0C0"/>
                  </a:outerShdw>
                </a:effectLst>
                <a:latin typeface="楷体_GB2312" pitchFamily="49" charset="-122"/>
                <a:ea typeface="楷体_GB2312" pitchFamily="49" charset="-122"/>
              </a:rPr>
              <a:t>top = -1</a:t>
            </a: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smtClean="0">
                <a:effectLst>
                  <a:outerShdw blurRad="38100" dist="38100" dir="2700000" algn="tl">
                    <a:srgbClr val="C0C0C0"/>
                  </a:outerShdw>
                </a:effectLst>
                <a:latin typeface="楷体_GB2312" pitchFamily="49" charset="-122"/>
                <a:ea typeface="楷体_GB2312" pitchFamily="49" charset="-122"/>
              </a:rPr>
              <a:t>全局变量</a:t>
            </a:r>
            <a:r>
              <a:rPr kumimoji="1" lang="en-US" altLang="zh-CN" dirty="0">
                <a:effectLst>
                  <a:outerShdw blurRad="38100" dist="38100" dir="2700000" algn="tl">
                    <a:srgbClr val="C0C0C0"/>
                  </a:outerShdw>
                </a:effectLst>
                <a:latin typeface="楷体_GB2312" pitchFamily="49" charset="-122"/>
                <a:ea typeface="楷体_GB2312" pitchFamily="49" charset="-122"/>
              </a:rPr>
              <a:t>top</a:t>
            </a:r>
            <a:r>
              <a:rPr kumimoji="1" lang="zh-CN" altLang="en-US" dirty="0">
                <a:effectLst>
                  <a:outerShdw blurRad="38100" dist="38100" dir="2700000" algn="tl">
                    <a:srgbClr val="C0C0C0"/>
                  </a:outerShdw>
                </a:effectLst>
                <a:latin typeface="楷体_GB2312" pitchFamily="49" charset="-122"/>
                <a:ea typeface="楷体_GB2312" pitchFamily="49" charset="-122"/>
              </a:rPr>
              <a:t>只能在当前源文件的函数中使用，不能在别的源文件中使用。</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p:txBody>
      </p:sp>
    </p:spTree>
    <p:extLst>
      <p:ext uri="{BB962C8B-B14F-4D97-AF65-F5344CB8AC3E}">
        <p14:creationId xmlns:p14="http://schemas.microsoft.com/office/powerpoint/2010/main" val="942382350"/>
      </p:ext>
    </p:ext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4770">
                                            <p:txEl>
                                              <p:pRg st="1" end="1"/>
                                            </p:txEl>
                                          </p:spTgt>
                                        </p:tgtEl>
                                        <p:attrNameLst>
                                          <p:attrName>style.visibility</p:attrName>
                                        </p:attrNameLst>
                                      </p:cBhvr>
                                      <p:to>
                                        <p:strVal val="visible"/>
                                      </p:to>
                                    </p:set>
                                    <p:anim calcmode="lin" valueType="num">
                                      <p:cBhvr additive="base">
                                        <p:cTn id="7" dur="500" fill="hold"/>
                                        <p:tgtEl>
                                          <p:spTgt spid="54477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47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4770">
                                            <p:txEl>
                                              <p:pRg st="3" end="3"/>
                                            </p:txEl>
                                          </p:spTgt>
                                        </p:tgtEl>
                                        <p:attrNameLst>
                                          <p:attrName>style.visibility</p:attrName>
                                        </p:attrNameLst>
                                      </p:cBhvr>
                                      <p:to>
                                        <p:strVal val="visible"/>
                                      </p:to>
                                    </p:set>
                                    <p:anim calcmode="lin" valueType="num">
                                      <p:cBhvr additive="base">
                                        <p:cTn id="13" dur="500" fill="hold"/>
                                        <p:tgtEl>
                                          <p:spTgt spid="544770">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47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4770">
                                            <p:txEl>
                                              <p:pRg st="5" end="5"/>
                                            </p:txEl>
                                          </p:spTgt>
                                        </p:tgtEl>
                                        <p:attrNameLst>
                                          <p:attrName>style.visibility</p:attrName>
                                        </p:attrNameLst>
                                      </p:cBhvr>
                                      <p:to>
                                        <p:strVal val="visible"/>
                                      </p:to>
                                    </p:set>
                                    <p:anim calcmode="lin" valueType="num">
                                      <p:cBhvr additive="base">
                                        <p:cTn id="19" dur="500" fill="hold"/>
                                        <p:tgtEl>
                                          <p:spTgt spid="544770">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47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F49E70A7-1F58-4C2E-8D93-0E5111D017F8}" type="slidenum">
              <a:rPr lang="en-US" altLang="zh-CN" smtClean="0"/>
              <a:pPr>
                <a:defRPr/>
              </a:pPr>
              <a:t>91</a:t>
            </a:fld>
            <a:endParaRPr lang="en-US" altLang="zh-CN"/>
          </a:p>
        </p:txBody>
      </p:sp>
      <p:sp>
        <p:nvSpPr>
          <p:cNvPr id="3" name="矩形 2"/>
          <p:cNvSpPr/>
          <p:nvPr/>
        </p:nvSpPr>
        <p:spPr>
          <a:xfrm>
            <a:off x="323528" y="764704"/>
            <a:ext cx="8280920" cy="5262979"/>
          </a:xfrm>
          <a:prstGeom prst="rect">
            <a:avLst/>
          </a:prstGeom>
        </p:spPr>
        <p:txBody>
          <a:bodyPr wrap="square">
            <a:spAutoFit/>
          </a:bodyPr>
          <a:lstStyle/>
          <a:p>
            <a:pPr algn="l" defTabSz="893763">
              <a:defRPr/>
            </a:pPr>
            <a:r>
              <a:rPr kumimoji="1" lang="zh-CN" altLang="en-US" dirty="0" smtClean="0">
                <a:effectLst>
                  <a:outerShdw blurRad="38100" dist="38100" dir="2700000" algn="tl">
                    <a:srgbClr val="C0C0C0"/>
                  </a:outerShdw>
                </a:effectLst>
                <a:latin typeface="楷体_GB2312" pitchFamily="49" charset="-122"/>
                <a:ea typeface="楷体_GB2312" pitchFamily="49" charset="-122"/>
              </a:rPr>
              <a:t>用</a:t>
            </a:r>
            <a:r>
              <a:rPr kumimoji="1" lang="en-US" altLang="zh-CN" dirty="0" smtClean="0">
                <a:solidFill>
                  <a:srgbClr val="FF0000"/>
                </a:solidFill>
                <a:effectLst>
                  <a:outerShdw blurRad="38100" dist="38100" dir="2700000" algn="tl">
                    <a:srgbClr val="C0C0C0"/>
                  </a:outerShdw>
                </a:effectLst>
                <a:latin typeface="楷体_GB2312" pitchFamily="49" charset="-122"/>
                <a:ea typeface="楷体_GB2312" pitchFamily="49" charset="-122"/>
              </a:rPr>
              <a:t>static</a:t>
            </a:r>
            <a:r>
              <a:rPr kumimoji="1" lang="zh-CN" altLang="en-US" dirty="0">
                <a:effectLst>
                  <a:outerShdw blurRad="38100" dist="38100" dir="2700000" algn="tl">
                    <a:srgbClr val="C0C0C0"/>
                  </a:outerShdw>
                </a:effectLst>
                <a:latin typeface="楷体_GB2312" pitchFamily="49" charset="-122"/>
                <a:ea typeface="楷体_GB2312" pitchFamily="49" charset="-122"/>
              </a:rPr>
              <a:t>声明的</a:t>
            </a:r>
            <a:r>
              <a:rPr kumimoji="1" lang="zh-CN" altLang="en-US" dirty="0" smtClean="0">
                <a:solidFill>
                  <a:srgbClr val="FF0000"/>
                </a:solidFill>
                <a:effectLst>
                  <a:outerShdw blurRad="38100" dist="38100" dir="2700000" algn="tl">
                    <a:srgbClr val="C0C0C0"/>
                  </a:outerShdw>
                </a:effectLst>
                <a:latin typeface="楷体_GB2312" pitchFamily="49" charset="-122"/>
                <a:ea typeface="楷体_GB2312" pitchFamily="49" charset="-122"/>
              </a:rPr>
              <a:t>局部变量</a:t>
            </a:r>
            <a:r>
              <a:rPr kumimoji="1" lang="zh-CN" altLang="en-US" dirty="0">
                <a:effectLst>
                  <a:outerShdw blurRad="38100" dist="38100" dir="2700000" algn="tl">
                    <a:srgbClr val="C0C0C0"/>
                  </a:outerShdw>
                </a:effectLst>
                <a:latin typeface="楷体_GB2312" pitchFamily="49" charset="-122"/>
                <a:ea typeface="楷体_GB2312" pitchFamily="49" charset="-122"/>
              </a:rPr>
              <a:t>也具有静态存储</a:t>
            </a:r>
            <a:r>
              <a:rPr kumimoji="1" lang="zh-CN" altLang="en-US" dirty="0" smtClean="0">
                <a:effectLst>
                  <a:outerShdw blurRad="38100" dist="38100" dir="2700000" algn="tl">
                    <a:srgbClr val="C0C0C0"/>
                  </a:outerShdw>
                </a:effectLst>
                <a:latin typeface="楷体_GB2312" pitchFamily="49" charset="-122"/>
                <a:ea typeface="楷体_GB2312" pitchFamily="49" charset="-122"/>
              </a:rPr>
              <a:t>期</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smtClean="0">
                <a:effectLst>
                  <a:outerShdw blurRad="38100" dist="38100" dir="2700000" algn="tl">
                    <a:srgbClr val="C0C0C0"/>
                  </a:outerShdw>
                </a:effectLst>
                <a:latin typeface="楷体_GB2312" pitchFamily="49" charset="-122"/>
                <a:ea typeface="楷体_GB2312" pitchFamily="49" charset="-122"/>
              </a:rPr>
              <a:t>从</a:t>
            </a:r>
            <a:r>
              <a:rPr kumimoji="1" lang="zh-CN" altLang="en-US" dirty="0">
                <a:effectLst>
                  <a:outerShdw blurRad="38100" dist="38100" dir="2700000" algn="tl">
                    <a:srgbClr val="C0C0C0"/>
                  </a:outerShdw>
                </a:effectLst>
                <a:latin typeface="楷体_GB2312" pitchFamily="49" charset="-122"/>
                <a:ea typeface="楷体_GB2312" pitchFamily="49" charset="-122"/>
              </a:rPr>
              <a:t>程序开始执行起就一直存在，存储空间在程序开始执行时一次性分配和</a:t>
            </a:r>
            <a:r>
              <a:rPr kumimoji="1" lang="zh-CN" altLang="en-US" dirty="0" smtClean="0">
                <a:effectLst>
                  <a:outerShdw blurRad="38100" dist="38100" dir="2700000" algn="tl">
                    <a:srgbClr val="C0C0C0"/>
                  </a:outerShdw>
                </a:effectLst>
                <a:latin typeface="楷体_GB2312" pitchFamily="49" charset="-122"/>
                <a:ea typeface="楷体_GB2312" pitchFamily="49" charset="-122"/>
              </a:rPr>
              <a:t>初始化。</a:t>
            </a: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smtClean="0">
                <a:effectLst>
                  <a:outerShdw blurRad="38100" dist="38100" dir="2700000" algn="tl">
                    <a:srgbClr val="C0C0C0"/>
                  </a:outerShdw>
                </a:effectLst>
                <a:latin typeface="楷体_GB2312" pitchFamily="49" charset="-122"/>
                <a:ea typeface="楷体_GB2312" pitchFamily="49" charset="-122"/>
              </a:rPr>
              <a:t>和</a:t>
            </a:r>
            <a:r>
              <a:rPr kumimoji="1" lang="zh-CN" altLang="en-US" dirty="0">
                <a:effectLst>
                  <a:outerShdw blurRad="38100" dist="38100" dir="2700000" algn="tl">
                    <a:srgbClr val="C0C0C0"/>
                  </a:outerShdw>
                </a:effectLst>
                <a:latin typeface="楷体_GB2312" pitchFamily="49" charset="-122"/>
                <a:ea typeface="楷体_GB2312" pitchFamily="49" charset="-122"/>
              </a:rPr>
              <a:t>全局变量不同，</a:t>
            </a:r>
            <a:r>
              <a:rPr kumimoji="1" lang="en-US" altLang="zh-CN" dirty="0">
                <a:effectLst>
                  <a:outerShdw blurRad="38100" dist="38100" dir="2700000" algn="tl">
                    <a:srgbClr val="C0C0C0"/>
                  </a:outerShdw>
                </a:effectLst>
                <a:latin typeface="楷体_GB2312" pitchFamily="49" charset="-122"/>
                <a:ea typeface="楷体_GB2312" pitchFamily="49" charset="-122"/>
              </a:rPr>
              <a:t>static</a:t>
            </a:r>
            <a:r>
              <a:rPr kumimoji="1" lang="zh-CN" altLang="en-US" dirty="0" smtClean="0">
                <a:effectLst>
                  <a:outerShdw blurRad="38100" dist="38100" dir="2700000" algn="tl">
                    <a:srgbClr val="C0C0C0"/>
                  </a:outerShdw>
                </a:effectLst>
                <a:latin typeface="楷体_GB2312" pitchFamily="49" charset="-122"/>
                <a:ea typeface="楷体_GB2312" pitchFamily="49" charset="-122"/>
              </a:rPr>
              <a:t>的局部变量</a:t>
            </a:r>
            <a:r>
              <a:rPr kumimoji="1" lang="zh-CN" altLang="en-US" dirty="0">
                <a:effectLst>
                  <a:outerShdw blurRad="38100" dist="38100" dir="2700000" algn="tl">
                    <a:srgbClr val="C0C0C0"/>
                  </a:outerShdw>
                </a:effectLst>
                <a:latin typeface="楷体_GB2312" pitchFamily="49" charset="-122"/>
                <a:ea typeface="楷体_GB2312" pitchFamily="49" charset="-122"/>
              </a:rPr>
              <a:t>只能被定义该变量的函数使用。</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smtClean="0">
                <a:effectLst>
                  <a:outerShdw blurRad="38100" dist="38100" dir="2700000" algn="tl">
                    <a:srgbClr val="C0C0C0"/>
                  </a:outerShdw>
                </a:effectLst>
                <a:latin typeface="楷体_GB2312" pitchFamily="49" charset="-122"/>
                <a:ea typeface="楷体_GB2312" pitchFamily="49" charset="-122"/>
              </a:rPr>
              <a:t>与</a:t>
            </a:r>
            <a:r>
              <a:rPr kumimoji="1" lang="zh-CN" altLang="en-US" dirty="0">
                <a:effectLst>
                  <a:outerShdw blurRad="38100" dist="38100" dir="2700000" algn="tl">
                    <a:srgbClr val="C0C0C0"/>
                  </a:outerShdw>
                </a:effectLst>
                <a:latin typeface="楷体_GB2312" pitchFamily="49" charset="-122"/>
                <a:ea typeface="楷体_GB2312" pitchFamily="49" charset="-122"/>
              </a:rPr>
              <a:t>自动变量不同，用</a:t>
            </a:r>
            <a:r>
              <a:rPr kumimoji="1" lang="en-US" altLang="zh-CN" dirty="0">
                <a:effectLst>
                  <a:outerShdw blurRad="38100" dist="38100" dir="2700000" algn="tl">
                    <a:srgbClr val="C0C0C0"/>
                  </a:outerShdw>
                </a:effectLst>
                <a:latin typeface="楷体_GB2312" pitchFamily="49" charset="-122"/>
                <a:ea typeface="楷体_GB2312" pitchFamily="49" charset="-122"/>
              </a:rPr>
              <a:t>static</a:t>
            </a:r>
            <a:r>
              <a:rPr kumimoji="1" lang="zh-CN" altLang="en-US" dirty="0">
                <a:effectLst>
                  <a:outerShdw blurRad="38100" dist="38100" dir="2700000" algn="tl">
                    <a:srgbClr val="C0C0C0"/>
                  </a:outerShdw>
                </a:effectLst>
                <a:latin typeface="楷体_GB2312" pitchFamily="49" charset="-122"/>
                <a:ea typeface="楷体_GB2312" pitchFamily="49" charset="-122"/>
              </a:rPr>
              <a:t>关键字声明的局部变量如果不明确地</a:t>
            </a:r>
            <a:r>
              <a:rPr kumimoji="1" lang="zh-CN" altLang="en-US" dirty="0" smtClean="0">
                <a:effectLst>
                  <a:outerShdw blurRad="38100" dist="38100" dir="2700000" algn="tl">
                    <a:srgbClr val="C0C0C0"/>
                  </a:outerShdw>
                </a:effectLst>
                <a:latin typeface="楷体_GB2312" pitchFamily="49" charset="-122"/>
                <a:ea typeface="楷体_GB2312" pitchFamily="49" charset="-122"/>
              </a:rPr>
              <a:t>初始化，系统</a:t>
            </a:r>
            <a:r>
              <a:rPr kumimoji="1" lang="zh-CN" altLang="en-US" dirty="0">
                <a:effectLst>
                  <a:outerShdw blurRad="38100" dist="38100" dir="2700000" algn="tl">
                    <a:srgbClr val="C0C0C0"/>
                  </a:outerShdw>
                </a:effectLst>
                <a:latin typeface="楷体_GB2312" pitchFamily="49" charset="-122"/>
                <a:ea typeface="楷体_GB2312" pitchFamily="49" charset="-122"/>
              </a:rPr>
              <a:t>将把它们初始化为</a:t>
            </a:r>
            <a:r>
              <a:rPr kumimoji="1" lang="en-US" altLang="zh-CN" dirty="0">
                <a:effectLst>
                  <a:outerShdw blurRad="38100" dist="38100" dir="2700000" algn="tl">
                    <a:srgbClr val="C0C0C0"/>
                  </a:outerShdw>
                </a:effectLst>
                <a:latin typeface="楷体_GB2312" pitchFamily="49" charset="-122"/>
                <a:ea typeface="楷体_GB2312" pitchFamily="49" charset="-122"/>
              </a:rPr>
              <a:t>0</a:t>
            </a:r>
            <a:r>
              <a:rPr kumimoji="1" lang="zh-CN" altLang="en-US" dirty="0" smtClean="0">
                <a:effectLst>
                  <a:outerShdw blurRad="38100" dist="38100" dir="2700000" algn="tl">
                    <a:srgbClr val="C0C0C0"/>
                  </a:outerShdw>
                </a:effectLst>
                <a:latin typeface="楷体_GB2312" pitchFamily="49" charset="-122"/>
                <a:ea typeface="楷体_GB2312" pitchFamily="49" charset="-122"/>
              </a:rPr>
              <a:t>。在</a:t>
            </a:r>
            <a:r>
              <a:rPr kumimoji="1" lang="zh-CN" altLang="en-US" dirty="0">
                <a:effectLst>
                  <a:outerShdw blurRad="38100" dist="38100" dir="2700000" algn="tl">
                    <a:srgbClr val="C0C0C0"/>
                  </a:outerShdw>
                </a:effectLst>
                <a:latin typeface="楷体_GB2312" pitchFamily="49" charset="-122"/>
                <a:ea typeface="楷体_GB2312" pitchFamily="49" charset="-122"/>
              </a:rPr>
              <a:t>退出函数时仍然保持它的</a:t>
            </a:r>
            <a:r>
              <a:rPr kumimoji="1" lang="zh-CN" altLang="en-US" dirty="0" smtClean="0">
                <a:effectLst>
                  <a:outerShdw blurRad="38100" dist="38100" dir="2700000" algn="tl">
                    <a:srgbClr val="C0C0C0"/>
                  </a:outerShdw>
                </a:effectLst>
                <a:latin typeface="楷体_GB2312" pitchFamily="49" charset="-122"/>
                <a:ea typeface="楷体_GB2312" pitchFamily="49" charset="-122"/>
              </a:rPr>
              <a:t>值：下</a:t>
            </a:r>
            <a:r>
              <a:rPr kumimoji="1" lang="zh-CN" altLang="en-US" dirty="0">
                <a:effectLst>
                  <a:outerShdw blurRad="38100" dist="38100" dir="2700000" algn="tl">
                    <a:srgbClr val="C0C0C0"/>
                  </a:outerShdw>
                </a:effectLst>
                <a:latin typeface="楷体_GB2312" pitchFamily="49" charset="-122"/>
                <a:ea typeface="楷体_GB2312" pitchFamily="49" charset="-122"/>
              </a:rPr>
              <a:t>一次再调用该函数时</a:t>
            </a:r>
            <a:r>
              <a:rPr kumimoji="1" lang="zh-CN" altLang="en-US" dirty="0" smtClean="0">
                <a:effectLst>
                  <a:outerShdw blurRad="38100" dist="38100" dir="2700000" algn="tl">
                    <a:srgbClr val="C0C0C0"/>
                  </a:outerShdw>
                </a:effectLst>
                <a:latin typeface="楷体_GB2312" pitchFamily="49" charset="-122"/>
                <a:ea typeface="楷体_GB2312" pitchFamily="49" charset="-122"/>
              </a:rPr>
              <a:t>，变量</a:t>
            </a:r>
            <a:r>
              <a:rPr kumimoji="1" lang="zh-CN" altLang="en-US" dirty="0">
                <a:effectLst>
                  <a:outerShdw blurRad="38100" dist="38100" dir="2700000" algn="tl">
                    <a:srgbClr val="C0C0C0"/>
                  </a:outerShdw>
                </a:effectLst>
                <a:latin typeface="楷体_GB2312" pitchFamily="49" charset="-122"/>
                <a:ea typeface="楷体_GB2312" pitchFamily="49" charset="-122"/>
              </a:rPr>
              <a:t>拥有最近一次退出该函数时所拥有的值</a:t>
            </a:r>
            <a:r>
              <a:rPr kumimoji="1" lang="zh-CN" altLang="en-US" dirty="0" smtClean="0">
                <a:effectLst>
                  <a:outerShdw blurRad="38100" dist="38100" dir="2700000" algn="tl">
                    <a:srgbClr val="C0C0C0"/>
                  </a:outerShdw>
                </a:effectLst>
                <a:latin typeface="楷体_GB2312" pitchFamily="49" charset="-122"/>
                <a:ea typeface="楷体_GB2312" pitchFamily="49" charset="-122"/>
              </a:rPr>
              <a:t>。</a:t>
            </a:r>
            <a:endParaRPr kumimoji="1" lang="en-US" altLang="zh-CN" dirty="0" smtClean="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1257C6B-C06D-47F7-9B98-89CB32816C32}" type="slidenum">
              <a:rPr lang="en-US" altLang="zh-CN"/>
              <a:pPr>
                <a:defRPr/>
              </a:pPr>
              <a:t>92</a:t>
            </a:fld>
            <a:endParaRPr lang="en-US" altLang="zh-CN"/>
          </a:p>
        </p:txBody>
      </p:sp>
      <p:sp>
        <p:nvSpPr>
          <p:cNvPr id="546818" name="Text Box 2"/>
          <p:cNvSpPr txBox="1">
            <a:spLocks noChangeArrowheads="1"/>
          </p:cNvSpPr>
          <p:nvPr/>
        </p:nvSpPr>
        <p:spPr bwMode="auto">
          <a:xfrm>
            <a:off x="468313" y="549275"/>
            <a:ext cx="8207375" cy="3106483"/>
          </a:xfrm>
          <a:prstGeom prst="rect">
            <a:avLst/>
          </a:prstGeom>
          <a:noFill/>
          <a:ln w="9525">
            <a:noFill/>
            <a:miter lim="800000"/>
            <a:headEnd/>
            <a:tailEnd/>
          </a:ln>
          <a:effectLst/>
        </p:spPr>
        <p:txBody>
          <a:bodyPr lIns="89401" tIns="44700" rIns="89401" bIns="44700">
            <a:spAutoFit/>
          </a:bodyPr>
          <a:lstStyle/>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static </a:t>
            </a:r>
            <a:r>
              <a:rPr kumimoji="1" lang="en-US" altLang="zh-CN" dirty="0" err="1">
                <a:effectLst>
                  <a:outerShdw blurRad="38100" dist="38100" dir="2700000" algn="tl">
                    <a:srgbClr val="C0C0C0"/>
                  </a:outerShdw>
                </a:effectLst>
                <a:latin typeface="楷体_GB2312" pitchFamily="49" charset="-122"/>
                <a:ea typeface="楷体_GB2312" pitchFamily="49" charset="-122"/>
              </a:rPr>
              <a:t>callCount</a:t>
            </a:r>
            <a:r>
              <a:rPr kumimoji="1" lang="en-US" altLang="zh-CN" dirty="0">
                <a:effectLst>
                  <a:outerShdw blurRad="38100" dist="38100" dir="2700000" algn="tl">
                    <a:srgbClr val="C0C0C0"/>
                  </a:outerShdw>
                </a:effectLst>
                <a:latin typeface="楷体_GB2312" pitchFamily="49" charset="-122"/>
                <a:ea typeface="楷体_GB2312" pitchFamily="49" charset="-122"/>
              </a:rPr>
              <a:t> = 0</a:t>
            </a:r>
            <a:r>
              <a:rPr kumimoji="1" lang="en-US" altLang="zh-CN" dirty="0" smtClean="0">
                <a:effectLst>
                  <a:outerShdw blurRad="38100" dist="38100" dir="2700000" algn="tl">
                    <a:srgbClr val="C0C0C0"/>
                  </a:outerShdw>
                </a:effectLst>
                <a:latin typeface="楷体_GB2312" pitchFamily="49" charset="-122"/>
                <a:ea typeface="楷体_GB2312" pitchFamily="49" charset="-122"/>
              </a:rPr>
              <a:t>;</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出现在某个函数中，表示该函数的局部变量</a:t>
            </a:r>
            <a:r>
              <a:rPr kumimoji="1" lang="en-US" altLang="zh-CN" dirty="0" err="1">
                <a:effectLst>
                  <a:outerShdw blurRad="38100" dist="38100" dir="2700000" algn="tl">
                    <a:srgbClr val="C0C0C0"/>
                  </a:outerShdw>
                </a:effectLst>
                <a:latin typeface="楷体_GB2312" pitchFamily="49" charset="-122"/>
                <a:ea typeface="楷体_GB2312" pitchFamily="49" charset="-122"/>
              </a:rPr>
              <a:t>callCount</a:t>
            </a:r>
            <a:r>
              <a:rPr kumimoji="1" lang="zh-CN" altLang="en-US" dirty="0">
                <a:effectLst>
                  <a:outerShdw blurRad="38100" dist="38100" dir="2700000" algn="tl">
                    <a:srgbClr val="C0C0C0"/>
                  </a:outerShdw>
                </a:effectLst>
                <a:latin typeface="楷体_GB2312" pitchFamily="49" charset="-122"/>
                <a:ea typeface="楷体_GB2312" pitchFamily="49" charset="-122"/>
              </a:rPr>
              <a:t>在程序执行期间一直存在。该函数返回时，变量</a:t>
            </a:r>
            <a:r>
              <a:rPr kumimoji="1" lang="en-US" altLang="zh-CN" dirty="0" err="1">
                <a:effectLst>
                  <a:outerShdw blurRad="38100" dist="38100" dir="2700000" algn="tl">
                    <a:srgbClr val="C0C0C0"/>
                  </a:outerShdw>
                </a:effectLst>
                <a:latin typeface="楷体_GB2312" pitchFamily="49" charset="-122"/>
                <a:ea typeface="楷体_GB2312" pitchFamily="49" charset="-122"/>
              </a:rPr>
              <a:t>callCount</a:t>
            </a:r>
            <a:r>
              <a:rPr kumimoji="1" lang="zh-CN" altLang="en-US" dirty="0">
                <a:effectLst>
                  <a:outerShdw blurRad="38100" dist="38100" dir="2700000" algn="tl">
                    <a:srgbClr val="C0C0C0"/>
                  </a:outerShdw>
                </a:effectLst>
                <a:latin typeface="楷体_GB2312" pitchFamily="49" charset="-122"/>
                <a:ea typeface="楷体_GB2312" pitchFamily="49" charset="-122"/>
              </a:rPr>
              <a:t>值保留，下一次函数又被调用时，保留的值可继续使用。</a:t>
            </a:r>
          </a:p>
        </p:txBody>
      </p:sp>
    </p:spTree>
  </p:cSld>
  <p:clrMapOvr>
    <a:masterClrMapping/>
  </p:clrMapOvr>
  <p:transition>
    <p:blinds/>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灯片编号占位符 3"/>
          <p:cNvSpPr>
            <a:spLocks noGrp="1"/>
          </p:cNvSpPr>
          <p:nvPr>
            <p:ph type="sldNum" sz="quarter" idx="12"/>
          </p:nvPr>
        </p:nvSpPr>
        <p:spPr/>
        <p:txBody>
          <a:bodyPr/>
          <a:lstStyle/>
          <a:p>
            <a:pPr>
              <a:defRPr/>
            </a:pPr>
            <a:fld id="{78ACF618-B6E5-4F2A-B98D-F33DB7163F6D}" type="slidenum">
              <a:rPr lang="en-US" altLang="zh-CN"/>
              <a:pPr>
                <a:defRPr/>
              </a:pPr>
              <a:t>93</a:t>
            </a:fld>
            <a:endParaRPr lang="en-US" altLang="zh-CN"/>
          </a:p>
        </p:txBody>
      </p:sp>
      <p:sp>
        <p:nvSpPr>
          <p:cNvPr id="547842" name="Text Box 2"/>
          <p:cNvSpPr txBox="1">
            <a:spLocks noChangeArrowheads="1"/>
          </p:cNvSpPr>
          <p:nvPr/>
        </p:nvSpPr>
        <p:spPr bwMode="auto">
          <a:xfrm>
            <a:off x="468313" y="549275"/>
            <a:ext cx="8207375" cy="520700"/>
          </a:xfrm>
          <a:prstGeom prst="rect">
            <a:avLst/>
          </a:prstGeom>
          <a:noFill/>
          <a:ln w="9525">
            <a:noFill/>
            <a:miter lim="800000"/>
            <a:headEnd/>
            <a:tailEnd/>
          </a:ln>
          <a:effectLst/>
        </p:spPr>
        <p:txBody>
          <a:bodyPr lIns="89401" tIns="44700" rIns="89401" bIns="44700">
            <a:spAutoFit/>
          </a:bodyPr>
          <a:lstStyle/>
          <a:p>
            <a:pPr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表</a:t>
            </a:r>
            <a:r>
              <a:rPr kumimoji="1" lang="en-US" altLang="zh-CN" dirty="0">
                <a:effectLst>
                  <a:outerShdw blurRad="38100" dist="38100" dir="2700000" algn="tl">
                    <a:srgbClr val="C0C0C0"/>
                  </a:outerShdw>
                </a:effectLst>
                <a:latin typeface="楷体_GB2312" pitchFamily="49" charset="-122"/>
                <a:ea typeface="楷体_GB2312" pitchFamily="49" charset="-122"/>
              </a:rPr>
              <a:t>5.1</a:t>
            </a:r>
            <a:r>
              <a:rPr kumimoji="1" lang="zh-CN" altLang="en-US" dirty="0">
                <a:effectLst>
                  <a:outerShdw blurRad="38100" dist="38100" dir="2700000" algn="tl">
                    <a:srgbClr val="C0C0C0"/>
                  </a:outerShdw>
                </a:effectLst>
                <a:latin typeface="楷体_GB2312" pitchFamily="49" charset="-122"/>
                <a:ea typeface="楷体_GB2312" pitchFamily="49" charset="-122"/>
              </a:rPr>
              <a:t>存储类型与变量的可见性和存在性</a:t>
            </a:r>
            <a:endParaRPr kumimoji="1" lang="zh-CN" altLang="en-US" sz="2000" dirty="0">
              <a:effectLst>
                <a:outerShdw blurRad="38100" dist="38100" dir="2700000" algn="tl">
                  <a:srgbClr val="C0C0C0"/>
                </a:outerShdw>
              </a:effectLst>
              <a:latin typeface="楷体_GB2312" pitchFamily="49" charset="-122"/>
              <a:ea typeface="楷体_GB2312" pitchFamily="49" charset="-122"/>
            </a:endParaRPr>
          </a:p>
        </p:txBody>
      </p:sp>
      <p:graphicFrame>
        <p:nvGraphicFramePr>
          <p:cNvPr id="547960" name="Group 120"/>
          <p:cNvGraphicFramePr>
            <a:graphicFrameLocks noGrp="1"/>
          </p:cNvGraphicFramePr>
          <p:nvPr/>
        </p:nvGraphicFramePr>
        <p:xfrm>
          <a:off x="611561" y="1519238"/>
          <a:ext cx="8280918" cy="3997993"/>
        </p:xfrm>
        <a:graphic>
          <a:graphicData uri="http://schemas.openxmlformats.org/drawingml/2006/table">
            <a:tbl>
              <a:tblPr/>
              <a:tblGrid>
                <a:gridCol w="1374272">
                  <a:extLst>
                    <a:ext uri="{9D8B030D-6E8A-4147-A177-3AD203B41FA5}">
                      <a16:colId xmlns:a16="http://schemas.microsoft.com/office/drawing/2014/main" val="20000"/>
                    </a:ext>
                  </a:extLst>
                </a:gridCol>
                <a:gridCol w="1524691">
                  <a:extLst>
                    <a:ext uri="{9D8B030D-6E8A-4147-A177-3AD203B41FA5}">
                      <a16:colId xmlns:a16="http://schemas.microsoft.com/office/drawing/2014/main" val="20001"/>
                    </a:ext>
                  </a:extLst>
                </a:gridCol>
                <a:gridCol w="1754995">
                  <a:extLst>
                    <a:ext uri="{9D8B030D-6E8A-4147-A177-3AD203B41FA5}">
                      <a16:colId xmlns:a16="http://schemas.microsoft.com/office/drawing/2014/main" val="20002"/>
                    </a:ext>
                  </a:extLst>
                </a:gridCol>
                <a:gridCol w="2280544">
                  <a:extLst>
                    <a:ext uri="{9D8B030D-6E8A-4147-A177-3AD203B41FA5}">
                      <a16:colId xmlns:a16="http://schemas.microsoft.com/office/drawing/2014/main" val="20003"/>
                    </a:ext>
                  </a:extLst>
                </a:gridCol>
                <a:gridCol w="1346416">
                  <a:extLst>
                    <a:ext uri="{9D8B030D-6E8A-4147-A177-3AD203B41FA5}">
                      <a16:colId xmlns:a16="http://schemas.microsoft.com/office/drawing/2014/main" val="20004"/>
                    </a:ext>
                  </a:extLst>
                </a:gridCol>
              </a:tblGrid>
              <a:tr h="855148">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存储类别</a:t>
                      </a: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变量种类</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可见性</a:t>
                      </a:r>
                    </a:p>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endPar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存在性</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未赋初值</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1972">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auto</a:t>
                      </a:r>
                      <a:endPar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局部变量、形参</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定义的范围内</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离开定义范围，值消失</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值不确定</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6567">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register</a:t>
                      </a:r>
                      <a:endPar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局部变量、形参</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定义的范围内</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离开定义范围，值消失</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值不确定</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6567">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extern</a:t>
                      </a:r>
                      <a:endPar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全局变量</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本文件或其它文件</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程序运行期间，值有效</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值为</a:t>
                      </a: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0</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6567">
                <a:tc rowSpan="2">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static</a:t>
                      </a:r>
                      <a:endPar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marT="45706" marB="4570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局部变量</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定义的函数内</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离开定义函数，值仍保留</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值为</a:t>
                      </a: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0</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1172">
                <a:tc vMerge="1">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endPar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全局变量</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a:ln>
                            <a:noFill/>
                          </a:ln>
                          <a:solidFill>
                            <a:schemeClr val="tx1"/>
                          </a:solidFill>
                          <a:effectLst>
                            <a:outerShdw blurRad="38100" dist="38100" dir="2700000" algn="tl">
                              <a:srgbClr val="C0C0C0"/>
                            </a:outerShdw>
                          </a:effectLst>
                          <a:latin typeface="Arial" charset="0"/>
                          <a:ea typeface="黑体" pitchFamily="2" charset="-122"/>
                        </a:rPr>
                        <a:t>本文件内</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程序运行期间，值有效</a:t>
                      </a:r>
                    </a:p>
                  </a:txBody>
                  <a:tcPr marT="45706" marB="4570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15000"/>
                        </a:spcBef>
                        <a:spcAft>
                          <a:spcPct val="0"/>
                        </a:spcAft>
                        <a:buClr>
                          <a:srgbClr val="0066FF"/>
                        </a:buClr>
                        <a:buSzPct val="85000"/>
                        <a:buFont typeface="Wingdings" pitchFamily="2" charset="2"/>
                        <a:buNone/>
                        <a:tabLst/>
                      </a:pPr>
                      <a:r>
                        <a:rPr kumimoji="1" lang="zh-CN" altLang="en-US"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值为</a:t>
                      </a:r>
                      <a:r>
                        <a:rPr kumimoji="1" lang="en-US" altLang="zh-CN" sz="1200" b="1" i="0" u="none" strike="noStrike" cap="none" normalizeH="0" baseline="0" dirty="0">
                          <a:ln>
                            <a:noFill/>
                          </a:ln>
                          <a:solidFill>
                            <a:schemeClr val="tx1"/>
                          </a:solidFill>
                          <a:effectLst>
                            <a:outerShdw blurRad="38100" dist="38100" dir="2700000" algn="tl">
                              <a:srgbClr val="C0C0C0"/>
                            </a:outerShdw>
                          </a:effectLst>
                          <a:latin typeface="Arial" charset="0"/>
                          <a:ea typeface="黑体" pitchFamily="2" charset="-122"/>
                        </a:rPr>
                        <a:t>0</a:t>
                      </a:r>
                    </a:p>
                  </a:txBody>
                  <a:tcPr marT="45706" marB="457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blinds/>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F716068-19A1-4938-9F70-353631BA766D}" type="slidenum">
              <a:rPr lang="en-US" altLang="zh-CN"/>
              <a:pPr>
                <a:defRPr/>
              </a:pPr>
              <a:t>94</a:t>
            </a:fld>
            <a:endParaRPr lang="en-US" altLang="zh-CN"/>
          </a:p>
        </p:txBody>
      </p:sp>
      <p:sp>
        <p:nvSpPr>
          <p:cNvPr id="545794" name="Text Box 2"/>
          <p:cNvSpPr txBox="1">
            <a:spLocks noChangeArrowheads="1"/>
          </p:cNvSpPr>
          <p:nvPr/>
        </p:nvSpPr>
        <p:spPr bwMode="auto">
          <a:xfrm>
            <a:off x="468313" y="260350"/>
            <a:ext cx="8207375" cy="5691806"/>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solidFill>
                  <a:srgbClr val="990000"/>
                </a:solidFill>
                <a:effectLst>
                  <a:outerShdw blurRad="38100" dist="38100" dir="2700000" algn="tl">
                    <a:srgbClr val="C0C0C0"/>
                  </a:outerShdw>
                </a:effectLst>
                <a:latin typeface="楷体_GB2312" pitchFamily="49" charset="-122"/>
                <a:ea typeface="楷体_GB2312" pitchFamily="49" charset="-122"/>
              </a:rPr>
              <a:t>作用域规则</a:t>
            </a:r>
          </a:p>
          <a:p>
            <a:pPr algn="l" defTabSz="893763">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标识符的</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作用域</a:t>
            </a:r>
            <a:r>
              <a:rPr kumimoji="1" lang="zh-CN" altLang="en-US" dirty="0">
                <a:effectLst>
                  <a:outerShdw blurRad="38100" dist="38100" dir="2700000" algn="tl">
                    <a:srgbClr val="C0C0C0"/>
                  </a:outerShdw>
                </a:effectLst>
                <a:latin typeface="楷体_GB2312" pitchFamily="49" charset="-122"/>
                <a:ea typeface="楷体_GB2312" pitchFamily="49" charset="-122"/>
              </a:rPr>
              <a:t>是指能够使用该标识符的程序段。</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ea typeface="楷体_GB2312" pitchFamily="49" charset="-122"/>
              </a:rPr>
              <a:t>复合语句中声明的标识符的作用域是定义它的复合语句。</a:t>
            </a:r>
            <a:endParaRPr kumimoji="1" lang="en-US" altLang="zh-CN" dirty="0">
              <a:effectLst>
                <a:outerShdw blurRad="38100" dist="38100" dir="2700000" algn="tl">
                  <a:srgbClr val="C0C0C0"/>
                </a:outerShdw>
              </a:effectLst>
              <a:ea typeface="楷体_GB2312" pitchFamily="49" charset="-122"/>
            </a:endParaRPr>
          </a:p>
          <a:p>
            <a:pPr algn="l" defTabSz="893763">
              <a:defRPr/>
            </a:pPr>
            <a:endParaRPr kumimoji="1" lang="en-US" altLang="zh-CN" dirty="0">
              <a:effectLst>
                <a:outerShdw blurRad="38100" dist="38100" dir="2700000" algn="tl">
                  <a:srgbClr val="C0C0C0"/>
                </a:outerShdw>
              </a:effectLst>
              <a:ea typeface="楷体_GB2312" pitchFamily="49" charset="-122"/>
            </a:endParaRPr>
          </a:p>
          <a:p>
            <a:pPr algn="l" defTabSz="893763">
              <a:defRPr/>
            </a:pPr>
            <a:r>
              <a:rPr kumimoji="1" lang="zh-CN" altLang="en-US" dirty="0">
                <a:effectLst>
                  <a:outerShdw blurRad="38100" dist="38100" dir="2700000" algn="tl">
                    <a:srgbClr val="C0C0C0"/>
                  </a:outerShdw>
                </a:effectLst>
                <a:ea typeface="楷体_GB2312" pitchFamily="49" charset="-122"/>
              </a:rPr>
              <a:t>函数形参和函数的局部变量</a:t>
            </a:r>
            <a:r>
              <a:rPr kumimoji="1" lang="zh-CN" altLang="en-US" dirty="0">
                <a:effectLst>
                  <a:outerShdw blurRad="38100" dist="38100" dir="2700000" algn="tl">
                    <a:srgbClr val="C0C0C0"/>
                  </a:outerShdw>
                </a:effectLst>
                <a:latin typeface="楷体_GB2312" pitchFamily="49" charset="-122"/>
                <a:ea typeface="楷体_GB2312" pitchFamily="49" charset="-122"/>
              </a:rPr>
              <a:t>标识符的作用域</a:t>
            </a:r>
            <a:r>
              <a:rPr kumimoji="1" lang="zh-CN" altLang="en-US" dirty="0">
                <a:effectLst>
                  <a:outerShdw blurRad="38100" dist="38100" dir="2700000" algn="tl">
                    <a:srgbClr val="C0C0C0"/>
                  </a:outerShdw>
                </a:effectLst>
                <a:ea typeface="楷体_GB2312" pitchFamily="49" charset="-122"/>
              </a:rPr>
              <a:t>是定义它们的函数。</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函数之外声明的标识符，如果是全局变量、函数原型说明，它们的作用域从声明处开始至源程序文件结束。</a:t>
            </a:r>
            <a:r>
              <a:rPr kumimoji="1" lang="zh-CN" altLang="en-US" dirty="0">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5794">
                                            <p:txEl>
                                              <p:pRg st="4" end="4"/>
                                            </p:txEl>
                                          </p:spTgt>
                                        </p:tgtEl>
                                        <p:attrNameLst>
                                          <p:attrName>style.visibility</p:attrName>
                                        </p:attrNameLst>
                                      </p:cBhvr>
                                      <p:to>
                                        <p:strVal val="visible"/>
                                      </p:to>
                                    </p:set>
                                    <p:anim calcmode="lin" valueType="num">
                                      <p:cBhvr additive="base">
                                        <p:cTn id="7" dur="500" fill="hold"/>
                                        <p:tgtEl>
                                          <p:spTgt spid="54579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57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5794">
                                            <p:txEl>
                                              <p:pRg st="6" end="6"/>
                                            </p:txEl>
                                          </p:spTgt>
                                        </p:tgtEl>
                                        <p:attrNameLst>
                                          <p:attrName>style.visibility</p:attrName>
                                        </p:attrNameLst>
                                      </p:cBhvr>
                                      <p:to>
                                        <p:strVal val="visible"/>
                                      </p:to>
                                    </p:set>
                                    <p:anim calcmode="lin" valueType="num">
                                      <p:cBhvr additive="base">
                                        <p:cTn id="13" dur="500" fill="hold"/>
                                        <p:tgtEl>
                                          <p:spTgt spid="545794">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57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45794">
                                            <p:txEl>
                                              <p:pRg st="8" end="8"/>
                                            </p:txEl>
                                          </p:spTgt>
                                        </p:tgtEl>
                                        <p:attrNameLst>
                                          <p:attrName>style.visibility</p:attrName>
                                        </p:attrNameLst>
                                      </p:cBhvr>
                                      <p:to>
                                        <p:strVal val="visible"/>
                                      </p:to>
                                    </p:set>
                                    <p:anim calcmode="lin" valueType="num">
                                      <p:cBhvr additive="base">
                                        <p:cTn id="19" dur="500" fill="hold"/>
                                        <p:tgtEl>
                                          <p:spTgt spid="54579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4579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DBFD66F-3270-441D-B40D-3635CBE7E12B}" type="slidenum">
              <a:rPr lang="en-US" altLang="zh-CN"/>
              <a:pPr>
                <a:defRPr/>
              </a:pPr>
              <a:t>95</a:t>
            </a:fld>
            <a:endParaRPr lang="en-US" altLang="zh-CN"/>
          </a:p>
        </p:txBody>
      </p:sp>
      <p:sp>
        <p:nvSpPr>
          <p:cNvPr id="548866" name="Text Box 2"/>
          <p:cNvSpPr txBox="1">
            <a:spLocks noChangeArrowheads="1"/>
          </p:cNvSpPr>
          <p:nvPr/>
        </p:nvSpPr>
        <p:spPr bwMode="auto">
          <a:xfrm>
            <a:off x="468313" y="887413"/>
            <a:ext cx="8207375" cy="4398962"/>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ea typeface="楷体_GB2312" pitchFamily="49" charset="-122"/>
              </a:rPr>
              <a:t>当程序块嵌套时，如果在外层程序块中用某个标识符定义了变量，在内层又用这个标识符定义了另外一个变量。那么，在内层程序块执行时，内层程序块只能“见”到属于自已的局部变量，外层程序块中定义的变量就被“隐藏”起来，直到内层程序块终止为止。</a:t>
            </a:r>
          </a:p>
          <a:p>
            <a:pPr algn="l" defTabSz="893763">
              <a:defRPr/>
            </a:pPr>
            <a:endParaRPr kumimoji="1" lang="zh-CN" altLang="en-US" dirty="0">
              <a:effectLst>
                <a:outerShdw blurRad="38100" dist="38100" dir="2700000" algn="tl">
                  <a:srgbClr val="C0C0C0"/>
                </a:outerShdw>
              </a:effectLst>
              <a:ea typeface="楷体_GB2312" pitchFamily="49" charset="-122"/>
            </a:endParaRPr>
          </a:p>
          <a:p>
            <a:pPr algn="l" defTabSz="893763">
              <a:defRPr/>
            </a:pPr>
            <a:r>
              <a:rPr kumimoji="1" lang="zh-CN" altLang="en-US" dirty="0">
                <a:effectLst>
                  <a:outerShdw blurRad="38100" dist="38100" dir="2700000" algn="tl">
                    <a:srgbClr val="C0C0C0"/>
                  </a:outerShdw>
                </a:effectLst>
                <a:ea typeface="楷体_GB2312" pitchFamily="49" charset="-122"/>
              </a:rPr>
              <a:t>具有良好风格的程序员通常</a:t>
            </a:r>
            <a:r>
              <a:rPr kumimoji="1" lang="zh-CN" altLang="en-US" dirty="0">
                <a:solidFill>
                  <a:srgbClr val="FF0000"/>
                </a:solidFill>
                <a:effectLst>
                  <a:outerShdw blurRad="38100" dist="38100" dir="2700000" algn="tl">
                    <a:srgbClr val="C0C0C0"/>
                  </a:outerShdw>
                </a:effectLst>
                <a:ea typeface="楷体_GB2312" pitchFamily="49" charset="-122"/>
              </a:rPr>
              <a:t>不会</a:t>
            </a:r>
            <a:r>
              <a:rPr kumimoji="1" lang="zh-CN" altLang="en-US" dirty="0">
                <a:effectLst>
                  <a:outerShdw blurRad="38100" dist="38100" dir="2700000" algn="tl">
                    <a:srgbClr val="C0C0C0"/>
                  </a:outerShdw>
                </a:effectLst>
                <a:ea typeface="楷体_GB2312" pitchFamily="49" charset="-122"/>
              </a:rPr>
              <a:t>在嵌套的内外程序块中用相同的标识符定义不同的变量，避免内层不能正常使用外层的变量。</a:t>
            </a:r>
          </a:p>
        </p:txBody>
      </p:sp>
    </p:spTree>
  </p:cSld>
  <p:clrMapOvr>
    <a:masterClrMapping/>
  </p:clrMapOvr>
  <p:transition>
    <p:blinds/>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45F989C-0103-4526-A823-9DAA41A2FE3B}" type="slidenum">
              <a:rPr lang="en-US" altLang="zh-CN"/>
              <a:pPr>
                <a:defRPr/>
              </a:pPr>
              <a:t>96</a:t>
            </a:fld>
            <a:endParaRPr lang="en-US" altLang="zh-CN"/>
          </a:p>
        </p:txBody>
      </p:sp>
      <p:sp>
        <p:nvSpPr>
          <p:cNvPr id="549890" name="Text Box 2"/>
          <p:cNvSpPr txBox="1">
            <a:spLocks noChangeArrowheads="1"/>
          </p:cNvSpPr>
          <p:nvPr/>
        </p:nvSpPr>
        <p:spPr bwMode="auto">
          <a:xfrm>
            <a:off x="467544" y="260648"/>
            <a:ext cx="8207375" cy="5014698"/>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sz="2000" dirty="0">
                <a:solidFill>
                  <a:srgbClr val="0070C0"/>
                </a:solidFill>
                <a:effectLst>
                  <a:outerShdw blurRad="38100" dist="38100" dir="2700000" algn="tl">
                    <a:srgbClr val="C0C0C0"/>
                  </a:outerShdw>
                </a:effectLst>
                <a:ea typeface="宋体" pitchFamily="2" charset="-122"/>
              </a:rPr>
              <a:t>【</a:t>
            </a:r>
            <a:r>
              <a:rPr kumimoji="1" lang="zh-CN" altLang="en-US" sz="2000" dirty="0">
                <a:solidFill>
                  <a:srgbClr val="0070C0"/>
                </a:solidFill>
                <a:effectLst>
                  <a:outerShdw blurRad="38100" dist="38100" dir="2700000" algn="tl">
                    <a:srgbClr val="C0C0C0"/>
                  </a:outerShdw>
                </a:effectLst>
                <a:ea typeface="宋体" pitchFamily="2" charset="-122"/>
              </a:rPr>
              <a:t>例</a:t>
            </a:r>
            <a:r>
              <a:rPr kumimoji="1" lang="en-US" altLang="zh-CN" sz="2000" dirty="0">
                <a:solidFill>
                  <a:srgbClr val="0070C0"/>
                </a:solidFill>
                <a:effectLst>
                  <a:outerShdw blurRad="38100" dist="38100" dir="2700000" algn="tl">
                    <a:srgbClr val="C0C0C0"/>
                  </a:outerShdw>
                </a:effectLst>
                <a:ea typeface="宋体" pitchFamily="2" charset="-122"/>
              </a:rPr>
              <a:t>5.20】</a:t>
            </a:r>
            <a:r>
              <a:rPr kumimoji="1" lang="zh-CN" altLang="en-US" sz="2000" dirty="0">
                <a:solidFill>
                  <a:srgbClr val="FF0000"/>
                </a:solidFill>
                <a:effectLst>
                  <a:outerShdw blurRad="38100" dist="38100" dir="2700000" algn="tl">
                    <a:srgbClr val="C0C0C0"/>
                  </a:outerShdw>
                </a:effectLst>
                <a:ea typeface="宋体" pitchFamily="2" charset="-122"/>
              </a:rPr>
              <a:t>说明全局变量、自动局部变量和静态局部变量的作用域的程序实例。</a:t>
            </a:r>
          </a:p>
          <a:p>
            <a:pPr algn="l" defTabSz="893763">
              <a:defRPr/>
            </a:pPr>
            <a:r>
              <a:rPr kumimoji="1" lang="en-US" altLang="zh-CN" sz="2000" dirty="0">
                <a:effectLst>
                  <a:outerShdw blurRad="38100" dist="38100" dir="2700000" algn="tl">
                    <a:srgbClr val="C0C0C0"/>
                  </a:outerShdw>
                </a:effectLst>
                <a:ea typeface="宋体" pitchFamily="2" charset="-122"/>
              </a:rPr>
              <a:t>#include &lt;</a:t>
            </a:r>
            <a:r>
              <a:rPr kumimoji="1" lang="en-US" altLang="zh-CN" sz="2000" dirty="0" err="1">
                <a:effectLst>
                  <a:outerShdw blurRad="38100" dist="38100" dir="2700000" algn="tl">
                    <a:srgbClr val="C0C0C0"/>
                  </a:outerShdw>
                </a:effectLst>
                <a:ea typeface="宋体" pitchFamily="2" charset="-122"/>
              </a:rPr>
              <a:t>stdio.h</a:t>
            </a:r>
            <a:r>
              <a:rPr kumimoji="1" lang="en-US" altLang="zh-CN" sz="2000" dirty="0">
                <a:effectLst>
                  <a:outerShdw blurRad="38100" dist="38100" dir="2700000" algn="tl">
                    <a:srgbClr val="C0C0C0"/>
                  </a:outerShdw>
                </a:effectLst>
                <a:ea typeface="宋体" pitchFamily="2" charset="-122"/>
              </a:rPr>
              <a:t>&gt;</a:t>
            </a:r>
          </a:p>
          <a:p>
            <a:pPr algn="l" defTabSz="893763">
              <a:defRPr/>
            </a:pPr>
            <a:r>
              <a:rPr kumimoji="1" lang="en-US" altLang="zh-CN" sz="2000" dirty="0">
                <a:effectLst>
                  <a:outerShdw blurRad="38100" dist="38100" dir="2700000" algn="tl">
                    <a:srgbClr val="C0C0C0"/>
                  </a:outerShdw>
                </a:effectLst>
                <a:ea typeface="宋体" pitchFamily="2" charset="-122"/>
              </a:rPr>
              <a:t>void u(void), v(void),w(void);//</a:t>
            </a:r>
            <a:r>
              <a:rPr kumimoji="1" lang="zh-CN" altLang="en-US" sz="2000" dirty="0">
                <a:effectLst>
                  <a:outerShdw blurRad="38100" dist="38100" dir="2700000" algn="tl">
                    <a:srgbClr val="C0C0C0"/>
                  </a:outerShdw>
                </a:effectLst>
                <a:ea typeface="宋体" pitchFamily="2" charset="-122"/>
              </a:rPr>
              <a:t>函数原型说明</a:t>
            </a:r>
          </a:p>
          <a:p>
            <a:pPr algn="l" defTabSz="893763">
              <a:defRPr/>
            </a:pPr>
            <a:r>
              <a:rPr kumimoji="1" lang="en-US" altLang="zh-CN" sz="2000" dirty="0" err="1">
                <a:solidFill>
                  <a:srgbClr val="FF0000"/>
                </a:solidFill>
                <a:effectLst>
                  <a:outerShdw blurRad="38100" dist="38100" dir="2700000" algn="tl">
                    <a:srgbClr val="C0C0C0"/>
                  </a:outerShdw>
                </a:effectLst>
                <a:ea typeface="宋体" pitchFamily="2" charset="-122"/>
              </a:rPr>
              <a:t>int</a:t>
            </a:r>
            <a:r>
              <a:rPr kumimoji="1" lang="en-US" altLang="zh-CN" sz="2000" dirty="0">
                <a:solidFill>
                  <a:srgbClr val="FF0000"/>
                </a:solidFill>
                <a:effectLst>
                  <a:outerShdw blurRad="38100" dist="38100" dir="2700000" algn="tl">
                    <a:srgbClr val="C0C0C0"/>
                  </a:outerShdw>
                </a:effectLst>
                <a:ea typeface="宋体" pitchFamily="2" charset="-122"/>
              </a:rPr>
              <a:t> a = 2;</a:t>
            </a:r>
          </a:p>
          <a:p>
            <a:pPr algn="l" defTabSz="893763">
              <a:defRPr/>
            </a:pPr>
            <a:r>
              <a:rPr kumimoji="1" lang="en-US" altLang="zh-CN" sz="2000" dirty="0" err="1">
                <a:effectLst>
                  <a:outerShdw blurRad="38100" dist="38100" dir="2700000" algn="tl">
                    <a:srgbClr val="C0C0C0"/>
                  </a:outerShdw>
                </a:effectLst>
                <a:ea typeface="宋体" pitchFamily="2" charset="-122"/>
              </a:rPr>
              <a:t>int</a:t>
            </a:r>
            <a:r>
              <a:rPr kumimoji="1" lang="en-US" altLang="zh-CN" sz="2000" dirty="0">
                <a:effectLst>
                  <a:outerShdw blurRad="38100" dist="38100" dir="2700000" algn="tl">
                    <a:srgbClr val="C0C0C0"/>
                  </a:outerShdw>
                </a:effectLst>
                <a:ea typeface="宋体" pitchFamily="2" charset="-122"/>
              </a:rPr>
              <a:t> main()/*</a:t>
            </a:r>
            <a:r>
              <a:rPr kumimoji="1" lang="zh-CN" altLang="en-US" sz="2000" dirty="0">
                <a:effectLst>
                  <a:outerShdw blurRad="38100" dist="38100" dir="2700000" algn="tl">
                    <a:srgbClr val="C0C0C0"/>
                  </a:outerShdw>
                </a:effectLst>
                <a:ea typeface="宋体" pitchFamily="2" charset="-122"/>
              </a:rPr>
              <a:t>一个说明变量作用域的小程序*</a:t>
            </a:r>
            <a:r>
              <a:rPr kumimoji="1" lang="en-US" altLang="zh-CN" sz="2000" dirty="0">
                <a:effectLst>
                  <a:outerShdw blurRad="38100" dist="38100" dir="2700000" algn="tl">
                    <a:srgbClr val="C0C0C0"/>
                  </a:outerShdw>
                </a:effectLst>
                <a:ea typeface="宋体" pitchFamily="2" charset="-122"/>
              </a:rPr>
              <a:t>/</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solidFill>
                  <a:srgbClr val="FF0000"/>
                </a:solidFill>
                <a:effectLst>
                  <a:outerShdw blurRad="38100" dist="38100" dir="2700000" algn="tl">
                    <a:srgbClr val="C0C0C0"/>
                  </a:outerShdw>
                </a:effectLst>
                <a:ea typeface="宋体" pitchFamily="2" charset="-122"/>
              </a:rPr>
              <a:t>int</a:t>
            </a:r>
            <a:r>
              <a:rPr kumimoji="1" lang="en-US" altLang="zh-CN" sz="2000" dirty="0">
                <a:solidFill>
                  <a:srgbClr val="FF0000"/>
                </a:solidFill>
                <a:effectLst>
                  <a:outerShdw blurRad="38100" dist="38100" dir="2700000" algn="tl">
                    <a:srgbClr val="C0C0C0"/>
                  </a:outerShdw>
                </a:effectLst>
                <a:ea typeface="宋体" pitchFamily="2" charset="-122"/>
              </a:rPr>
              <a:t> a = 4;</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主函数中，外层局部变量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的值是</a:t>
            </a:r>
            <a:r>
              <a:rPr kumimoji="1" lang="en-US" altLang="zh-CN" sz="2000" dirty="0">
                <a:effectLst>
                  <a:outerShdw blurRad="38100" dist="38100" dir="2700000" algn="tl">
                    <a:srgbClr val="C0C0C0"/>
                  </a:outerShdw>
                </a:effectLst>
                <a:ea typeface="宋体" pitchFamily="2" charset="-122"/>
              </a:rPr>
              <a:t>%d\n”, a);  </a:t>
            </a:r>
            <a:r>
              <a:rPr kumimoji="1" lang="en-US" altLang="zh-CN" sz="2000" dirty="0">
                <a:solidFill>
                  <a:srgbClr val="FF0000"/>
                </a:solidFill>
                <a:effectLst>
                  <a:outerShdw blurRad="38100" dist="38100" dir="2700000" algn="tl">
                    <a:srgbClr val="C0C0C0"/>
                  </a:outerShdw>
                </a:effectLst>
                <a:ea typeface="宋体" pitchFamily="2" charset="-122"/>
              </a:rPr>
              <a:t>//</a:t>
            </a:r>
            <a:r>
              <a:rPr kumimoji="1" lang="zh-CN" altLang="en-US" sz="2000" dirty="0">
                <a:solidFill>
                  <a:srgbClr val="FF0000"/>
                </a:solidFill>
                <a:effectLst>
                  <a:outerShdw blurRad="38100" dist="38100" dir="2700000" algn="tl">
                    <a:srgbClr val="C0C0C0"/>
                  </a:outerShdw>
                </a:effectLst>
                <a:ea typeface="宋体" pitchFamily="2" charset="-122"/>
              </a:rPr>
              <a:t>输出</a:t>
            </a:r>
            <a:r>
              <a:rPr kumimoji="1" lang="en-US" altLang="zh-CN" sz="2000" dirty="0">
                <a:solidFill>
                  <a:srgbClr val="FF0000"/>
                </a:solidFill>
                <a:effectLst>
                  <a:outerShdw blurRad="38100" dist="38100" dir="2700000" algn="tl">
                    <a:srgbClr val="C0C0C0"/>
                  </a:outerShdw>
                </a:effectLst>
                <a:ea typeface="宋体" pitchFamily="2" charset="-122"/>
              </a:rPr>
              <a:t>4</a:t>
            </a:r>
          </a:p>
          <a:p>
            <a:pPr algn="l" defTabSz="893763">
              <a:defRPr/>
            </a:pPr>
            <a:r>
              <a:rPr kumimoji="1" lang="en-US" altLang="zh-CN" sz="2000" dirty="0">
                <a:effectLst>
                  <a:outerShdw blurRad="38100" dist="38100" dir="2700000" algn="tl">
                    <a:srgbClr val="C0C0C0"/>
                  </a:outerShdw>
                </a:effectLst>
                <a:ea typeface="宋体" pitchFamily="2" charset="-122"/>
              </a:rPr>
              <a:t>    { </a:t>
            </a:r>
            <a:r>
              <a:rPr kumimoji="1" lang="en-US" altLang="zh-CN" sz="2000" dirty="0" err="1">
                <a:solidFill>
                  <a:srgbClr val="FF0000"/>
                </a:solidFill>
                <a:effectLst>
                  <a:outerShdw blurRad="38100" dist="38100" dir="2700000" algn="tl">
                    <a:srgbClr val="C0C0C0"/>
                  </a:outerShdw>
                </a:effectLst>
                <a:ea typeface="宋体" pitchFamily="2" charset="-122"/>
              </a:rPr>
              <a:t>int</a:t>
            </a:r>
            <a:r>
              <a:rPr kumimoji="1" lang="en-US" altLang="zh-CN" sz="2000" dirty="0">
                <a:solidFill>
                  <a:srgbClr val="FF0000"/>
                </a:solidFill>
                <a:effectLst>
                  <a:outerShdw blurRad="38100" dist="38100" dir="2700000" algn="tl">
                    <a:srgbClr val="C0C0C0"/>
                  </a:outerShdw>
                </a:effectLst>
                <a:ea typeface="宋体" pitchFamily="2" charset="-122"/>
              </a:rPr>
              <a:t> a = 8</a:t>
            </a: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主函数中，内层局部变量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的值是</a:t>
            </a:r>
            <a:r>
              <a:rPr kumimoji="1" lang="en-US" altLang="zh-CN" sz="2000" dirty="0">
                <a:effectLst>
                  <a:outerShdw blurRad="38100" dist="38100" dir="2700000" algn="tl">
                    <a:srgbClr val="C0C0C0"/>
                  </a:outerShdw>
                </a:effectLst>
                <a:ea typeface="宋体" pitchFamily="2" charset="-122"/>
              </a:rPr>
              <a:t>%d\n”, a);</a:t>
            </a:r>
          </a:p>
          <a:p>
            <a:pPr algn="l" defTabSz="893763">
              <a:defRPr/>
            </a:pPr>
            <a:r>
              <a:rPr kumimoji="1" lang="en-US" altLang="zh-CN" sz="2000" dirty="0">
                <a:effectLst>
                  <a:outerShdw blurRad="38100" dist="38100" dir="2700000" algn="tl">
                    <a:srgbClr val="C0C0C0"/>
                  </a:outerShdw>
                </a:effectLst>
                <a:ea typeface="宋体" pitchFamily="2" charset="-122"/>
              </a:rPr>
              <a:t>    } </a:t>
            </a:r>
            <a:r>
              <a:rPr kumimoji="1" lang="en-US" altLang="zh-CN" sz="2000" dirty="0">
                <a:solidFill>
                  <a:srgbClr val="FF0000"/>
                </a:solidFill>
                <a:effectLst>
                  <a:outerShdw blurRad="38100" dist="38100" dir="2700000" algn="tl">
                    <a:srgbClr val="C0C0C0"/>
                  </a:outerShdw>
                </a:effectLst>
                <a:ea typeface="宋体" pitchFamily="2" charset="-122"/>
              </a:rPr>
              <a:t>//</a:t>
            </a:r>
            <a:r>
              <a:rPr kumimoji="1" lang="zh-CN" altLang="en-US" sz="2000" dirty="0">
                <a:solidFill>
                  <a:srgbClr val="FF0000"/>
                </a:solidFill>
                <a:effectLst>
                  <a:outerShdw blurRad="38100" dist="38100" dir="2700000" algn="tl">
                    <a:srgbClr val="C0C0C0"/>
                  </a:outerShdw>
                </a:effectLst>
                <a:ea typeface="宋体" pitchFamily="2" charset="-122"/>
              </a:rPr>
              <a:t>输出</a:t>
            </a:r>
            <a:r>
              <a:rPr kumimoji="1" lang="en-US" altLang="zh-CN" sz="2000" dirty="0">
                <a:solidFill>
                  <a:srgbClr val="FF0000"/>
                </a:solidFill>
                <a:effectLst>
                  <a:outerShdw blurRad="38100" dist="38100" dir="2700000" algn="tl">
                    <a:srgbClr val="C0C0C0"/>
                  </a:outerShdw>
                </a:effectLst>
                <a:ea typeface="宋体" pitchFamily="2" charset="-122"/>
              </a:rPr>
              <a:t>8</a:t>
            </a:r>
            <a:endParaRPr kumimoji="1" lang="en-US" altLang="zh-CN" sz="2000" dirty="0">
              <a:effectLst>
                <a:outerShdw blurRad="38100" dist="38100" dir="2700000" algn="tl">
                  <a:srgbClr val="C0C0C0"/>
                </a:outerShdw>
              </a:effectLst>
              <a:ea typeface="宋体" pitchFamily="2" charset="-122"/>
            </a:endParaRP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程序从主函数的内层程序块退出</a:t>
            </a:r>
            <a:r>
              <a:rPr kumimoji="1" lang="en-US" altLang="zh-CN" sz="2000" dirty="0">
                <a:effectLst>
                  <a:outerShdw blurRad="38100" dist="38100" dir="2700000" algn="tl">
                    <a:srgbClr val="C0C0C0"/>
                  </a:outerShdw>
                </a:effectLst>
                <a:ea typeface="宋体" pitchFamily="2" charset="-122"/>
              </a:rPr>
              <a:t>\n”);</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主函数中，外层局部变量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的值是</a:t>
            </a:r>
            <a:r>
              <a:rPr kumimoji="1" lang="en-US" altLang="zh-CN" sz="2000" dirty="0">
                <a:effectLst>
                  <a:outerShdw blurRad="38100" dist="38100" dir="2700000" algn="tl">
                    <a:srgbClr val="C0C0C0"/>
                  </a:outerShdw>
                </a:effectLst>
                <a:ea typeface="宋体" pitchFamily="2" charset="-122"/>
              </a:rPr>
              <a:t>%d\n”, a); </a:t>
            </a:r>
            <a:r>
              <a:rPr kumimoji="1" lang="en-US" altLang="zh-CN" sz="2000" dirty="0">
                <a:solidFill>
                  <a:srgbClr val="FF0000"/>
                </a:solidFill>
                <a:effectLst>
                  <a:outerShdw blurRad="38100" dist="38100" dir="2700000" algn="tl">
                    <a:srgbClr val="C0C0C0"/>
                  </a:outerShdw>
                </a:effectLst>
                <a:ea typeface="宋体" pitchFamily="2" charset="-122"/>
              </a:rPr>
              <a:t>//</a:t>
            </a:r>
            <a:r>
              <a:rPr kumimoji="1" lang="zh-CN" altLang="en-US" sz="2000" dirty="0">
                <a:solidFill>
                  <a:srgbClr val="FF0000"/>
                </a:solidFill>
                <a:effectLst>
                  <a:outerShdw blurRad="38100" dist="38100" dir="2700000" algn="tl">
                    <a:srgbClr val="C0C0C0"/>
                  </a:outerShdw>
                </a:effectLst>
                <a:ea typeface="宋体" pitchFamily="2" charset="-122"/>
              </a:rPr>
              <a:t>输出</a:t>
            </a:r>
            <a:r>
              <a:rPr kumimoji="1" lang="en-US" altLang="zh-CN" sz="2000" dirty="0">
                <a:solidFill>
                  <a:srgbClr val="FF0000"/>
                </a:solidFill>
                <a:effectLst>
                  <a:outerShdw blurRad="38100" dist="38100" dir="2700000" algn="tl">
                    <a:srgbClr val="C0C0C0"/>
                  </a:outerShdw>
                </a:effectLst>
                <a:ea typeface="宋体" pitchFamily="2" charset="-122"/>
              </a:rPr>
              <a:t>4</a:t>
            </a:r>
            <a:endParaRPr kumimoji="1" lang="en-US" altLang="zh-CN" sz="2000" dirty="0">
              <a:effectLst>
                <a:outerShdw blurRad="38100" dist="38100" dir="2700000" algn="tl">
                  <a:srgbClr val="C0C0C0"/>
                </a:outerShdw>
              </a:effectLst>
              <a:ea typeface="宋体" pitchFamily="2" charset="-122"/>
            </a:endParaRP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a:defRPr/>
            </a:pPr>
            <a:endParaRPr kumimoji="1" lang="en-US" altLang="zh-CN" sz="2000" dirty="0">
              <a:effectLst>
                <a:outerShdw blurRad="38100" dist="38100" dir="2700000" algn="tl">
                  <a:srgbClr val="C0C0C0"/>
                </a:outerShdw>
              </a:effectLst>
              <a:ea typeface="宋体" pitchFamily="2" charset="-122"/>
            </a:endParaRPr>
          </a:p>
        </p:txBody>
      </p:sp>
      <p:sp>
        <p:nvSpPr>
          <p:cNvPr id="4" name="矩形 3"/>
          <p:cNvSpPr/>
          <p:nvPr/>
        </p:nvSpPr>
        <p:spPr>
          <a:xfrm>
            <a:off x="395536" y="4293096"/>
            <a:ext cx="8424936" cy="2308324"/>
          </a:xfrm>
          <a:prstGeom prst="rect">
            <a:avLst/>
          </a:prstGeom>
        </p:spPr>
        <p:txBody>
          <a:bodyPr wrap="square">
            <a:spAutoFit/>
          </a:bodyPr>
          <a:lstStyle/>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全局变量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在定义时被初始化为</a:t>
            </a:r>
            <a:r>
              <a:rPr kumimoji="1" lang="en-US" altLang="zh-CN" sz="2400" dirty="0">
                <a:effectLst>
                  <a:outerShdw blurRad="38100" dist="38100" dir="2700000" algn="tl">
                    <a:srgbClr val="C0C0C0"/>
                  </a:outerShdw>
                </a:effectLst>
                <a:latin typeface="楷体_GB2312" pitchFamily="49" charset="-122"/>
                <a:ea typeface="楷体_GB2312" pitchFamily="49" charset="-122"/>
              </a:rPr>
              <a:t>2</a:t>
            </a:r>
            <a:r>
              <a:rPr kumimoji="1" lang="zh-CN" altLang="en-US" sz="2400" dirty="0">
                <a:effectLst>
                  <a:outerShdw blurRad="38100" dist="38100" dir="2700000" algn="tl">
                    <a:srgbClr val="C0C0C0"/>
                  </a:outerShdw>
                </a:effectLst>
                <a:latin typeface="楷体_GB2312" pitchFamily="49" charset="-122"/>
                <a:ea typeface="楷体_GB2312" pitchFamily="49" charset="-122"/>
              </a:rPr>
              <a:t>。</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主函数定义局部变量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，并初始化为</a:t>
            </a:r>
            <a:r>
              <a:rPr kumimoji="1" lang="en-US" altLang="zh-CN" sz="2400" dirty="0">
                <a:effectLst>
                  <a:outerShdw blurRad="38100" dist="38100" dir="2700000" algn="tl">
                    <a:srgbClr val="C0C0C0"/>
                  </a:outerShdw>
                </a:effectLst>
                <a:latin typeface="楷体_GB2312" pitchFamily="49" charset="-122"/>
                <a:ea typeface="楷体_GB2312" pitchFamily="49" charset="-122"/>
              </a:rPr>
              <a:t>4;</a:t>
            </a:r>
            <a:r>
              <a:rPr kumimoji="1" lang="zh-CN" altLang="en-US" sz="2400" dirty="0">
                <a:effectLst>
                  <a:outerShdw blurRad="38100" dist="38100" dir="2700000" algn="tl">
                    <a:srgbClr val="C0C0C0"/>
                  </a:outerShdw>
                </a:effectLst>
                <a:latin typeface="楷体_GB2312" pitchFamily="49" charset="-122"/>
                <a:ea typeface="楷体_GB2312" pitchFamily="49" charset="-122"/>
              </a:rPr>
              <a:t>将全局变量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隐藏起来</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在主函数的程序块中又用</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定义新的局部变量，并初始化为</a:t>
            </a:r>
            <a:r>
              <a:rPr kumimoji="1" lang="en-US" altLang="zh-CN" sz="2400" dirty="0">
                <a:effectLst>
                  <a:outerShdw blurRad="38100" dist="38100" dir="2700000" algn="tl">
                    <a:srgbClr val="C0C0C0"/>
                  </a:outerShdw>
                </a:effectLst>
                <a:latin typeface="楷体_GB2312" pitchFamily="49" charset="-122"/>
                <a:ea typeface="楷体_GB2312" pitchFamily="49" charset="-122"/>
              </a:rPr>
              <a:t>8;</a:t>
            </a:r>
            <a:r>
              <a:rPr kumimoji="1" lang="zh-CN" altLang="en-US" sz="2400" dirty="0">
                <a:effectLst>
                  <a:outerShdw blurRad="38100" dist="38100" dir="2700000" algn="tl">
                    <a:srgbClr val="C0C0C0"/>
                  </a:outerShdw>
                </a:effectLst>
                <a:latin typeface="楷体_GB2312" pitchFamily="49" charset="-122"/>
                <a:ea typeface="楷体_GB2312" pitchFamily="49" charset="-122"/>
              </a:rPr>
              <a:t>外层的局部变量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和全局变量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都被隐藏起来了。</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在程序退出这内层程序块时，值为</a:t>
            </a:r>
            <a:r>
              <a:rPr kumimoji="1" lang="en-US" altLang="zh-CN" sz="2400" dirty="0">
                <a:effectLst>
                  <a:outerShdw blurRad="38100" dist="38100" dir="2700000" algn="tl">
                    <a:srgbClr val="C0C0C0"/>
                  </a:outerShdw>
                </a:effectLst>
                <a:latin typeface="楷体_GB2312" pitchFamily="49" charset="-122"/>
                <a:ea typeface="楷体_GB2312" pitchFamily="49" charset="-122"/>
              </a:rPr>
              <a:t>8</a:t>
            </a:r>
            <a:r>
              <a:rPr kumimoji="1" lang="zh-CN" altLang="en-US" sz="2400" dirty="0">
                <a:effectLst>
                  <a:outerShdw blurRad="38100" dist="38100" dir="2700000" algn="tl">
                    <a:srgbClr val="C0C0C0"/>
                  </a:outerShdw>
                </a:effectLst>
                <a:latin typeface="楷体_GB2312" pitchFamily="49" charset="-122"/>
                <a:ea typeface="楷体_GB2312" pitchFamily="49" charset="-122"/>
              </a:rPr>
              <a:t>的内层局部变量</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已被自动撤销。再输出</a:t>
            </a:r>
            <a:r>
              <a:rPr kumimoji="1" lang="en-US" altLang="zh-CN" sz="2400" dirty="0">
                <a:effectLst>
                  <a:outerShdw blurRad="38100" dist="38100" dir="2700000" algn="tl">
                    <a:srgbClr val="C0C0C0"/>
                  </a:outerShdw>
                </a:effectLst>
                <a:latin typeface="楷体_GB2312" pitchFamily="49" charset="-122"/>
                <a:ea typeface="楷体_GB2312" pitchFamily="49" charset="-122"/>
              </a:rPr>
              <a:t>a</a:t>
            </a:r>
            <a:r>
              <a:rPr kumimoji="1" lang="zh-CN" altLang="en-US" sz="2400" dirty="0">
                <a:effectLst>
                  <a:outerShdw blurRad="38100" dist="38100" dir="2700000" algn="tl">
                    <a:srgbClr val="C0C0C0"/>
                  </a:outerShdw>
                </a:effectLst>
                <a:latin typeface="楷体_GB2312" pitchFamily="49" charset="-122"/>
                <a:ea typeface="楷体_GB2312" pitchFamily="49" charset="-122"/>
              </a:rPr>
              <a:t>是外层的局部变量。</a:t>
            </a:r>
          </a:p>
        </p:txBody>
      </p:sp>
      <p:sp>
        <p:nvSpPr>
          <p:cNvPr id="6" name="矩形 5"/>
          <p:cNvSpPr/>
          <p:nvPr/>
        </p:nvSpPr>
        <p:spPr>
          <a:xfrm>
            <a:off x="683568" y="2780928"/>
            <a:ext cx="7272808"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49890">
                                            <p:txEl>
                                              <p:pRg st="4" end="4"/>
                                            </p:txEl>
                                          </p:spTgt>
                                        </p:tgtEl>
                                        <p:attrNameLst>
                                          <p:attrName>style.visibility</p:attrName>
                                        </p:attrNameLst>
                                      </p:cBhvr>
                                      <p:to>
                                        <p:strVal val="visible"/>
                                      </p:to>
                                    </p:set>
                                    <p:anim calcmode="lin" valueType="num">
                                      <p:cBhvr additive="base">
                                        <p:cTn id="13" dur="500" fill="hold"/>
                                        <p:tgtEl>
                                          <p:spTgt spid="549890">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9890">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49890">
                                            <p:txEl>
                                              <p:pRg st="5" end="5"/>
                                            </p:txEl>
                                          </p:spTgt>
                                        </p:tgtEl>
                                        <p:attrNameLst>
                                          <p:attrName>style.visibility</p:attrName>
                                        </p:attrNameLst>
                                      </p:cBhvr>
                                      <p:to>
                                        <p:strVal val="visible"/>
                                      </p:to>
                                    </p:set>
                                    <p:anim calcmode="lin" valueType="num">
                                      <p:cBhvr additive="base">
                                        <p:cTn id="17" dur="500" fill="hold"/>
                                        <p:tgtEl>
                                          <p:spTgt spid="549890">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9890">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49890">
                                            <p:txEl>
                                              <p:pRg st="6" end="6"/>
                                            </p:txEl>
                                          </p:spTgt>
                                        </p:tgtEl>
                                        <p:attrNameLst>
                                          <p:attrName>style.visibility</p:attrName>
                                        </p:attrNameLst>
                                      </p:cBhvr>
                                      <p:to>
                                        <p:strVal val="visible"/>
                                      </p:to>
                                    </p:set>
                                    <p:anim calcmode="lin" valueType="num">
                                      <p:cBhvr additive="base">
                                        <p:cTn id="21" dur="500" fill="hold"/>
                                        <p:tgtEl>
                                          <p:spTgt spid="54989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4989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 calcmode="lin" valueType="num">
                                      <p:cBhvr additive="base">
                                        <p:cTn id="2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29" presetID="2" presetClass="exit" presetSubtype="4" fill="hold" nodeType="withEffect">
                                  <p:stCondLst>
                                    <p:cond delay="0"/>
                                  </p:stCondLst>
                                  <p:childTnLst>
                                    <p:anim calcmode="lin" valueType="num">
                                      <p:cBhvr additive="base">
                                        <p:cTn id="30" dur="500"/>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1" dur="500"/>
                                        <p:tgtEl>
                                          <p:spTgt spid="4">
                                            <p:txEl>
                                              <p:pRg st="0" end="0"/>
                                            </p:txEl>
                                          </p:spTgt>
                                        </p:tgtEl>
                                        <p:attrNameLst>
                                          <p:attrName>ppt_y</p:attrName>
                                        </p:attrNameLst>
                                      </p:cBhvr>
                                      <p:tavLst>
                                        <p:tav tm="0">
                                          <p:val>
                                            <p:strVal val="ppt_y"/>
                                          </p:val>
                                        </p:tav>
                                        <p:tav tm="100000">
                                          <p:val>
                                            <p:strVal val="1+ppt_h/2"/>
                                          </p:val>
                                        </p:tav>
                                      </p:tavLst>
                                    </p:anim>
                                    <p:set>
                                      <p:cBhvr>
                                        <p:cTn id="32" dur="1" fill="hold">
                                          <p:stCondLst>
                                            <p:cond delay="499"/>
                                          </p:stCondLst>
                                        </p:cTn>
                                        <p:tgtEl>
                                          <p:spTgt spid="4">
                                            <p:txEl>
                                              <p:pRg st="0" end="0"/>
                                            </p:txEl>
                                          </p:spTgt>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49890">
                                            <p:txEl>
                                              <p:pRg st="7" end="7"/>
                                            </p:txEl>
                                          </p:spTgt>
                                        </p:tgtEl>
                                        <p:attrNameLst>
                                          <p:attrName>style.visibility</p:attrName>
                                        </p:attrNameLst>
                                      </p:cBhvr>
                                      <p:to>
                                        <p:strVal val="visible"/>
                                      </p:to>
                                    </p:set>
                                    <p:anim calcmode="lin" valueType="num">
                                      <p:cBhvr additive="base">
                                        <p:cTn id="37" dur="500" fill="hold"/>
                                        <p:tgtEl>
                                          <p:spTgt spid="549890">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49890">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49890">
                                            <p:txEl>
                                              <p:pRg st="8" end="8"/>
                                            </p:txEl>
                                          </p:spTgt>
                                        </p:tgtEl>
                                        <p:attrNameLst>
                                          <p:attrName>style.visibility</p:attrName>
                                        </p:attrNameLst>
                                      </p:cBhvr>
                                      <p:to>
                                        <p:strVal val="visible"/>
                                      </p:to>
                                    </p:set>
                                    <p:anim calcmode="lin" valueType="num">
                                      <p:cBhvr additive="base">
                                        <p:cTn id="41" dur="500" fill="hold"/>
                                        <p:tgtEl>
                                          <p:spTgt spid="549890">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4989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 calcmode="lin" valueType="num">
                                      <p:cBhvr additive="base">
                                        <p:cTn id="4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9" presetID="2" presetClass="exit" presetSubtype="4" fill="hold" nodeType="withEffect">
                                  <p:stCondLst>
                                    <p:cond delay="0"/>
                                  </p:stCondLst>
                                  <p:childTnLst>
                                    <p:anim calcmode="lin" valueType="num">
                                      <p:cBhvr additive="base">
                                        <p:cTn id="50" dur="500"/>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1" dur="500"/>
                                        <p:tgtEl>
                                          <p:spTgt spid="4">
                                            <p:txEl>
                                              <p:pRg st="1" end="1"/>
                                            </p:txEl>
                                          </p:spTgt>
                                        </p:tgtEl>
                                        <p:attrNameLst>
                                          <p:attrName>ppt_y</p:attrName>
                                        </p:attrNameLst>
                                      </p:cBhvr>
                                      <p:tavLst>
                                        <p:tav tm="0">
                                          <p:val>
                                            <p:strVal val="ppt_y"/>
                                          </p:val>
                                        </p:tav>
                                        <p:tav tm="100000">
                                          <p:val>
                                            <p:strVal val="1+ppt_h/2"/>
                                          </p:val>
                                        </p:tav>
                                      </p:tavLst>
                                    </p:anim>
                                    <p:set>
                                      <p:cBhvr>
                                        <p:cTn id="52" dur="1" fill="hold">
                                          <p:stCondLst>
                                            <p:cond delay="499"/>
                                          </p:stCondLst>
                                        </p:cTn>
                                        <p:tgtEl>
                                          <p:spTgt spid="4">
                                            <p:txEl>
                                              <p:pRg st="1" end="1"/>
                                            </p:txEl>
                                          </p:spTgt>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49890">
                                            <p:txEl>
                                              <p:pRg st="9" end="9"/>
                                            </p:txEl>
                                          </p:spTgt>
                                        </p:tgtEl>
                                        <p:attrNameLst>
                                          <p:attrName>style.visibility</p:attrName>
                                        </p:attrNameLst>
                                      </p:cBhvr>
                                      <p:to>
                                        <p:strVal val="visible"/>
                                      </p:to>
                                    </p:set>
                                    <p:anim calcmode="lin" valueType="num">
                                      <p:cBhvr additive="base">
                                        <p:cTn id="57" dur="500" fill="hold"/>
                                        <p:tgtEl>
                                          <p:spTgt spid="549890">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549890">
                                            <p:txEl>
                                              <p:pRg st="9" end="9"/>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549890">
                                            <p:txEl>
                                              <p:pRg st="10" end="10"/>
                                            </p:txEl>
                                          </p:spTgt>
                                        </p:tgtEl>
                                        <p:attrNameLst>
                                          <p:attrName>style.visibility</p:attrName>
                                        </p:attrNameLst>
                                      </p:cBhvr>
                                      <p:to>
                                        <p:strVal val="visible"/>
                                      </p:to>
                                    </p:set>
                                    <p:anim calcmode="lin" valueType="num">
                                      <p:cBhvr additive="base">
                                        <p:cTn id="61" dur="500" fill="hold"/>
                                        <p:tgtEl>
                                          <p:spTgt spid="549890">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49890">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3" end="3"/>
                                            </p:txEl>
                                          </p:spTgt>
                                        </p:tgtEl>
                                        <p:attrNameLst>
                                          <p:attrName>style.visibility</p:attrName>
                                        </p:attrNameLst>
                                      </p:cBhvr>
                                      <p:to>
                                        <p:strVal val="visible"/>
                                      </p:to>
                                    </p:set>
                                    <p:anim calcmode="lin" valueType="num">
                                      <p:cBhvr additive="base">
                                        <p:cTn id="6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69" presetID="2" presetClass="exit" presetSubtype="4" fill="hold" nodeType="withEffect">
                                  <p:stCondLst>
                                    <p:cond delay="0"/>
                                  </p:stCondLst>
                                  <p:childTnLst>
                                    <p:anim calcmode="lin" valueType="num">
                                      <p:cBhvr additive="base">
                                        <p:cTn id="70" dur="500"/>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71" dur="500"/>
                                        <p:tgtEl>
                                          <p:spTgt spid="4">
                                            <p:txEl>
                                              <p:pRg st="2" end="2"/>
                                            </p:txEl>
                                          </p:spTgt>
                                        </p:tgtEl>
                                        <p:attrNameLst>
                                          <p:attrName>ppt_y</p:attrName>
                                        </p:attrNameLst>
                                      </p:cBhvr>
                                      <p:tavLst>
                                        <p:tav tm="0">
                                          <p:val>
                                            <p:strVal val="ppt_y"/>
                                          </p:val>
                                        </p:tav>
                                        <p:tav tm="100000">
                                          <p:val>
                                            <p:strVal val="1+ppt_h/2"/>
                                          </p:val>
                                        </p:tav>
                                      </p:tavLst>
                                    </p:anim>
                                    <p:set>
                                      <p:cBhvr>
                                        <p:cTn id="72" dur="1" fill="hold">
                                          <p:stCondLst>
                                            <p:cond delay="499"/>
                                          </p:stCondLst>
                                        </p:cTn>
                                        <p:tgtEl>
                                          <p:spTgt spid="4">
                                            <p:txEl>
                                              <p:pRg st="2" end="2"/>
                                            </p:txEl>
                                          </p:spTgt>
                                        </p:tgtEl>
                                        <p:attrNameLst>
                                          <p:attrName>style.visibility</p:attrName>
                                        </p:attrNameLst>
                                      </p:cBhvr>
                                      <p:to>
                                        <p:strVal val="hidden"/>
                                      </p:to>
                                    </p:set>
                                  </p:childTnLst>
                                </p:cTn>
                              </p:par>
                              <p:par>
                                <p:cTn id="73" presetID="2" presetClass="entr" presetSubtype="4" fill="hold" grpId="0" nodeType="withEffect">
                                  <p:stCondLst>
                                    <p:cond delay="0"/>
                                  </p:stCondLst>
                                  <p:childTnLst>
                                    <p:set>
                                      <p:cBhvr>
                                        <p:cTn id="74" dur="1" fill="hold">
                                          <p:stCondLst>
                                            <p:cond delay="0"/>
                                          </p:stCondLst>
                                        </p:cTn>
                                        <p:tgtEl>
                                          <p:spTgt spid="6"/>
                                        </p:tgtEl>
                                        <p:attrNameLst>
                                          <p:attrName>style.visibility</p:attrName>
                                        </p:attrNameLst>
                                      </p:cBhvr>
                                      <p:to>
                                        <p:strVal val="visible"/>
                                      </p:to>
                                    </p:set>
                                    <p:anim calcmode="lin" valueType="num">
                                      <p:cBhvr additive="base">
                                        <p:cTn id="75" dur="500" fill="hold"/>
                                        <p:tgtEl>
                                          <p:spTgt spid="6"/>
                                        </p:tgtEl>
                                        <p:attrNameLst>
                                          <p:attrName>ppt_x</p:attrName>
                                        </p:attrNameLst>
                                      </p:cBhvr>
                                      <p:tavLst>
                                        <p:tav tm="0">
                                          <p:val>
                                            <p:strVal val="#ppt_x"/>
                                          </p:val>
                                        </p:tav>
                                        <p:tav tm="100000">
                                          <p:val>
                                            <p:strVal val="#ppt_x"/>
                                          </p:val>
                                        </p:tav>
                                      </p:tavLst>
                                    </p:anim>
                                    <p:anim calcmode="lin" valueType="num">
                                      <p:cBhvr additive="base">
                                        <p:cTn id="7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02FD995-4836-47AF-97E3-41AC07DC8E86}" type="slidenum">
              <a:rPr lang="en-US" altLang="zh-CN"/>
              <a:pPr>
                <a:defRPr/>
              </a:pPr>
              <a:t>97</a:t>
            </a:fld>
            <a:endParaRPr lang="en-US" altLang="zh-CN"/>
          </a:p>
        </p:txBody>
      </p:sp>
      <p:sp>
        <p:nvSpPr>
          <p:cNvPr id="550914" name="Text Box 2"/>
          <p:cNvSpPr txBox="1">
            <a:spLocks noChangeArrowheads="1"/>
          </p:cNvSpPr>
          <p:nvPr/>
        </p:nvSpPr>
        <p:spPr bwMode="auto">
          <a:xfrm>
            <a:off x="468313" y="749300"/>
            <a:ext cx="8207375" cy="6307360"/>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sz="2000" dirty="0">
                <a:effectLst>
                  <a:outerShdw blurRad="38100" dist="38100" dir="2700000" algn="tl">
                    <a:srgbClr val="C0C0C0"/>
                  </a:outerShdw>
                </a:effectLst>
                <a:ea typeface="宋体" pitchFamily="2" charset="-122"/>
              </a:rPr>
              <a:t>void u(void){</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solidFill>
                  <a:srgbClr val="FF0000"/>
                </a:solidFill>
                <a:effectLst>
                  <a:outerShdw blurRad="38100" dist="38100" dir="2700000" algn="tl">
                    <a:srgbClr val="C0C0C0"/>
                  </a:outerShdw>
                </a:effectLst>
                <a:ea typeface="宋体" pitchFamily="2" charset="-122"/>
              </a:rPr>
              <a:t>int</a:t>
            </a:r>
            <a:r>
              <a:rPr kumimoji="1" lang="en-US" altLang="zh-CN" sz="2000" dirty="0">
                <a:solidFill>
                  <a:srgbClr val="FF0000"/>
                </a:solidFill>
                <a:effectLst>
                  <a:outerShdw blurRad="38100" dist="38100" dir="2700000" algn="tl">
                    <a:srgbClr val="C0C0C0"/>
                  </a:outerShdw>
                </a:effectLst>
                <a:ea typeface="宋体" pitchFamily="2" charset="-122"/>
              </a:rPr>
              <a:t> a = 20</a:t>
            </a:r>
            <a:r>
              <a:rPr kumimoji="1" lang="en-US" altLang="zh-CN" sz="2000" dirty="0">
                <a:effectLst>
                  <a:outerShdw blurRad="38100" dist="38100" dir="2700000" algn="tl">
                    <a:srgbClr val="C0C0C0"/>
                  </a:outerShdw>
                </a:effectLst>
                <a:ea typeface="宋体" pitchFamily="2" charset="-122"/>
              </a:rPr>
              <a:t>; //a</a:t>
            </a:r>
            <a:r>
              <a:rPr kumimoji="1" lang="zh-CN" altLang="en-US" sz="2000" dirty="0">
                <a:effectLst>
                  <a:outerShdw blurRad="38100" dist="38100" dir="2700000" algn="tl">
                    <a:srgbClr val="C0C0C0"/>
                  </a:outerShdw>
                </a:effectLst>
                <a:ea typeface="宋体" pitchFamily="2" charset="-122"/>
              </a:rPr>
              <a:t>是函数</a:t>
            </a:r>
            <a:r>
              <a:rPr kumimoji="1" lang="en-US" altLang="zh-CN" sz="2000" dirty="0">
                <a:effectLst>
                  <a:outerShdw blurRad="38100" dist="38100" dir="2700000" algn="tl">
                    <a:srgbClr val="C0C0C0"/>
                  </a:outerShdw>
                </a:effectLst>
                <a:ea typeface="宋体" pitchFamily="2" charset="-122"/>
              </a:rPr>
              <a:t>u()</a:t>
            </a:r>
            <a:r>
              <a:rPr kumimoji="1" lang="zh-CN" altLang="en-US" sz="2000" dirty="0">
                <a:effectLst>
                  <a:outerShdw blurRad="38100" dist="38100" dir="2700000" algn="tl">
                    <a:srgbClr val="C0C0C0"/>
                  </a:outerShdw>
                </a:effectLst>
                <a:ea typeface="宋体" pitchFamily="2" charset="-122"/>
              </a:rPr>
              <a:t>的自动局部变量，每次调用都被建立和初始化</a:t>
            </a:r>
          </a:p>
          <a:p>
            <a:pPr algn="l" defTabSz="893763">
              <a:defRPr/>
            </a:pPr>
            <a:r>
              <a:rPr kumimoji="1" lang="zh-CN" altLang="en-US"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进入函数</a:t>
            </a:r>
            <a:r>
              <a:rPr kumimoji="1" lang="en-US" altLang="zh-CN" sz="2000" dirty="0">
                <a:effectLst>
                  <a:outerShdw blurRad="38100" dist="38100" dir="2700000" algn="tl">
                    <a:srgbClr val="C0C0C0"/>
                  </a:outerShdw>
                </a:effectLst>
                <a:ea typeface="宋体" pitchFamily="2" charset="-122"/>
              </a:rPr>
              <a:t>u()</a:t>
            </a:r>
            <a:r>
              <a:rPr kumimoji="1" lang="zh-CN" altLang="en-US" sz="2000" dirty="0">
                <a:effectLst>
                  <a:outerShdw blurRad="38100" dist="38100" dir="2700000" algn="tl">
                    <a:srgbClr val="C0C0C0"/>
                  </a:outerShdw>
                </a:effectLst>
                <a:ea typeface="宋体" pitchFamily="2" charset="-122"/>
              </a:rPr>
              <a:t>时，函数</a:t>
            </a:r>
            <a:r>
              <a:rPr kumimoji="1" lang="en-US" altLang="zh-CN" sz="2000" dirty="0">
                <a:effectLst>
                  <a:outerShdw blurRad="38100" dist="38100" dir="2700000" algn="tl">
                    <a:srgbClr val="C0C0C0"/>
                  </a:outerShdw>
                </a:effectLst>
                <a:ea typeface="宋体" pitchFamily="2" charset="-122"/>
              </a:rPr>
              <a:t>u()</a:t>
            </a:r>
            <a:r>
              <a:rPr kumimoji="1" lang="zh-CN" altLang="en-US" sz="2000" dirty="0">
                <a:effectLst>
                  <a:outerShdw blurRad="38100" dist="38100" dir="2700000" algn="tl">
                    <a:srgbClr val="C0C0C0"/>
                  </a:outerShdw>
                </a:effectLst>
                <a:ea typeface="宋体" pitchFamily="2" charset="-122"/>
              </a:rPr>
              <a:t>的局部变量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 </a:t>
            </a:r>
            <a:r>
              <a:rPr kumimoji="1" lang="en-US" altLang="zh-CN" sz="2000" dirty="0">
                <a:solidFill>
                  <a:srgbClr val="FF0000"/>
                </a:solidFill>
                <a:effectLst>
                  <a:outerShdw blurRad="38100" dist="38100" dir="2700000" algn="tl">
                    <a:srgbClr val="C0C0C0"/>
                  </a:outerShdw>
                </a:effectLst>
                <a:ea typeface="宋体" pitchFamily="2" charset="-122"/>
              </a:rPr>
              <a:t>//</a:t>
            </a:r>
            <a:r>
              <a:rPr kumimoji="1" lang="zh-CN" altLang="en-US" sz="2000" dirty="0">
                <a:solidFill>
                  <a:srgbClr val="FF0000"/>
                </a:solidFill>
                <a:effectLst>
                  <a:outerShdw blurRad="38100" dist="38100" dir="2700000" algn="tl">
                    <a:srgbClr val="C0C0C0"/>
                  </a:outerShdw>
                </a:effectLst>
                <a:ea typeface="宋体" pitchFamily="2" charset="-122"/>
              </a:rPr>
              <a:t>输出</a:t>
            </a:r>
            <a:r>
              <a:rPr kumimoji="1" lang="en-US" altLang="zh-CN" sz="2000" dirty="0">
                <a:solidFill>
                  <a:srgbClr val="FF0000"/>
                </a:solidFill>
                <a:effectLst>
                  <a:outerShdw blurRad="38100" dist="38100" dir="2700000" algn="tl">
                    <a:srgbClr val="C0C0C0"/>
                  </a:outerShdw>
                </a:effectLst>
                <a:ea typeface="宋体" pitchFamily="2" charset="-122"/>
              </a:rPr>
              <a:t>20</a:t>
            </a:r>
            <a:endParaRPr kumimoji="1" lang="en-US" altLang="zh-CN" sz="2000" dirty="0">
              <a:effectLst>
                <a:outerShdw blurRad="38100" dist="38100" dir="2700000" algn="tl">
                  <a:srgbClr val="C0C0C0"/>
                </a:outerShdw>
              </a:effectLst>
              <a:ea typeface="宋体" pitchFamily="2" charset="-122"/>
            </a:endParaRPr>
          </a:p>
          <a:p>
            <a:pPr algn="l" defTabSz="893763">
              <a:defRPr/>
            </a:pPr>
            <a:r>
              <a:rPr kumimoji="1" lang="en-US" altLang="zh-CN" sz="2000" dirty="0">
                <a:effectLst>
                  <a:outerShdw blurRad="38100" dist="38100" dir="2700000" algn="tl">
                    <a:srgbClr val="C0C0C0"/>
                  </a:outerShdw>
                </a:effectLst>
                <a:ea typeface="宋体" pitchFamily="2" charset="-122"/>
              </a:rPr>
              <a:t>    a += 5;</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离开函数</a:t>
            </a:r>
            <a:r>
              <a:rPr kumimoji="1" lang="en-US" altLang="zh-CN" sz="2000" dirty="0">
                <a:effectLst>
                  <a:outerShdw blurRad="38100" dist="38100" dir="2700000" algn="tl">
                    <a:srgbClr val="C0C0C0"/>
                  </a:outerShdw>
                </a:effectLst>
                <a:ea typeface="宋体" pitchFamily="2" charset="-122"/>
              </a:rPr>
              <a:t>u()</a:t>
            </a:r>
            <a:r>
              <a:rPr kumimoji="1" lang="zh-CN" altLang="en-US" sz="2000" dirty="0">
                <a:effectLst>
                  <a:outerShdw blurRad="38100" dist="38100" dir="2700000" algn="tl">
                    <a:srgbClr val="C0C0C0"/>
                  </a:outerShdw>
                </a:effectLst>
                <a:ea typeface="宋体" pitchFamily="2" charset="-122"/>
              </a:rPr>
              <a:t>时，函数</a:t>
            </a:r>
            <a:r>
              <a:rPr kumimoji="1" lang="en-US" altLang="zh-CN" sz="2000" dirty="0">
                <a:effectLst>
                  <a:outerShdw blurRad="38100" dist="38100" dir="2700000" algn="tl">
                    <a:srgbClr val="C0C0C0"/>
                  </a:outerShdw>
                </a:effectLst>
                <a:ea typeface="宋体" pitchFamily="2" charset="-122"/>
              </a:rPr>
              <a:t>u()</a:t>
            </a:r>
            <a:r>
              <a:rPr kumimoji="1" lang="zh-CN" altLang="en-US" sz="2000" dirty="0">
                <a:effectLst>
                  <a:outerShdw blurRad="38100" dist="38100" dir="2700000" algn="tl">
                    <a:srgbClr val="C0C0C0"/>
                  </a:outerShdw>
                </a:effectLst>
                <a:ea typeface="宋体" pitchFamily="2" charset="-122"/>
              </a:rPr>
              <a:t>的局部变量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 </a:t>
            </a:r>
            <a:r>
              <a:rPr kumimoji="1" lang="en-US" altLang="zh-CN" sz="2000" dirty="0">
                <a:solidFill>
                  <a:srgbClr val="FF0000"/>
                </a:solidFill>
                <a:effectLst>
                  <a:outerShdw blurRad="38100" dist="38100" dir="2700000" algn="tl">
                    <a:srgbClr val="C0C0C0"/>
                  </a:outerShdw>
                </a:effectLst>
                <a:ea typeface="宋体" pitchFamily="2" charset="-122"/>
              </a:rPr>
              <a:t>//</a:t>
            </a:r>
            <a:r>
              <a:rPr kumimoji="1" lang="zh-CN" altLang="en-US" sz="2000" dirty="0">
                <a:solidFill>
                  <a:srgbClr val="FF0000"/>
                </a:solidFill>
                <a:effectLst>
                  <a:outerShdw blurRad="38100" dist="38100" dir="2700000" algn="tl">
                    <a:srgbClr val="C0C0C0"/>
                  </a:outerShdw>
                </a:effectLst>
                <a:ea typeface="宋体" pitchFamily="2" charset="-122"/>
              </a:rPr>
              <a:t>输出</a:t>
            </a:r>
            <a:r>
              <a:rPr kumimoji="1" lang="en-US" altLang="zh-CN" sz="2000" dirty="0">
                <a:solidFill>
                  <a:srgbClr val="FF0000"/>
                </a:solidFill>
                <a:effectLst>
                  <a:outerShdw blurRad="38100" dist="38100" dir="2700000" algn="tl">
                    <a:srgbClr val="C0C0C0"/>
                  </a:outerShdw>
                </a:effectLst>
                <a:ea typeface="宋体" pitchFamily="2" charset="-122"/>
              </a:rPr>
              <a:t>25</a:t>
            </a:r>
            <a:endParaRPr kumimoji="1" lang="en-US" altLang="zh-CN" sz="2000" dirty="0">
              <a:effectLst>
                <a:outerShdw blurRad="38100" dist="38100" dir="2700000" algn="tl">
                  <a:srgbClr val="C0C0C0"/>
                </a:outerShdw>
              </a:effectLst>
              <a:ea typeface="宋体" pitchFamily="2" charset="-122"/>
            </a:endParaRPr>
          </a:p>
          <a:p>
            <a:pPr algn="l" defTabSz="893763">
              <a:defRPr/>
            </a:pPr>
            <a:r>
              <a:rPr kumimoji="1" lang="en-US" altLang="zh-CN" sz="2000" dirty="0">
                <a:effectLst>
                  <a:outerShdw blurRad="38100" dist="38100" dir="2700000" algn="tl">
                    <a:srgbClr val="C0C0C0"/>
                  </a:outerShdw>
                </a:effectLst>
                <a:ea typeface="宋体" pitchFamily="2" charset="-122"/>
              </a:rPr>
              <a:t>}</a:t>
            </a: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a:defRPr/>
            </a:pPr>
            <a:r>
              <a:rPr kumimoji="1" lang="en-US" altLang="zh-CN" sz="2000" dirty="0">
                <a:effectLst>
                  <a:outerShdw blurRad="38100" dist="38100" dir="2700000" algn="tl">
                    <a:srgbClr val="C0C0C0"/>
                  </a:outerShdw>
                </a:effectLst>
                <a:ea typeface="宋体" pitchFamily="2" charset="-122"/>
              </a:rPr>
              <a:t>void v(void){</a:t>
            </a:r>
          </a:p>
          <a:p>
            <a:pPr algn="l" defTabSz="893763">
              <a:defRPr/>
            </a:pPr>
            <a:r>
              <a:rPr kumimoji="1" lang="en-US" altLang="zh-CN" sz="2000" dirty="0">
                <a:effectLst>
                  <a:outerShdw blurRad="38100" dist="38100" dir="2700000" algn="tl">
                    <a:srgbClr val="C0C0C0"/>
                  </a:outerShdw>
                </a:effectLst>
                <a:ea typeface="宋体" pitchFamily="2" charset="-122"/>
              </a:rPr>
              <a:t>    static </a:t>
            </a:r>
            <a:r>
              <a:rPr kumimoji="1" lang="en-US" altLang="zh-CN" sz="2000" dirty="0" err="1">
                <a:effectLst>
                  <a:outerShdw blurRad="38100" dist="38100" dir="2700000" algn="tl">
                    <a:srgbClr val="C0C0C0"/>
                  </a:outerShdw>
                </a:effectLst>
                <a:ea typeface="宋体" pitchFamily="2" charset="-122"/>
              </a:rPr>
              <a:t>int</a:t>
            </a:r>
            <a:r>
              <a:rPr kumimoji="1" lang="en-US" altLang="zh-CN" sz="2000" dirty="0">
                <a:effectLst>
                  <a:outerShdw blurRad="38100" dist="38100" dir="2700000" algn="tl">
                    <a:srgbClr val="C0C0C0"/>
                  </a:outerShdw>
                </a:effectLst>
                <a:ea typeface="宋体" pitchFamily="2" charset="-122"/>
              </a:rPr>
              <a:t> a = 30;  //a</a:t>
            </a:r>
            <a:r>
              <a:rPr kumimoji="1" lang="zh-CN" altLang="en-US" sz="2000" dirty="0">
                <a:effectLst>
                  <a:outerShdw blurRad="38100" dist="38100" dir="2700000" algn="tl">
                    <a:srgbClr val="C0C0C0"/>
                  </a:outerShdw>
                </a:effectLst>
                <a:ea typeface="宋体" pitchFamily="2" charset="-122"/>
              </a:rPr>
              <a:t>是函数</a:t>
            </a:r>
            <a:r>
              <a:rPr kumimoji="1" lang="en-US" altLang="zh-CN" sz="2000" dirty="0">
                <a:effectLst>
                  <a:outerShdw blurRad="38100" dist="38100" dir="2700000" algn="tl">
                    <a:srgbClr val="C0C0C0"/>
                  </a:outerShdw>
                </a:effectLst>
                <a:ea typeface="宋体" pitchFamily="2" charset="-122"/>
              </a:rPr>
              <a:t>v()</a:t>
            </a:r>
            <a:r>
              <a:rPr kumimoji="1" lang="zh-CN" altLang="en-US" sz="2000" dirty="0">
                <a:effectLst>
                  <a:outerShdw blurRad="38100" dist="38100" dir="2700000" algn="tl">
                    <a:srgbClr val="C0C0C0"/>
                  </a:outerShdw>
                </a:effectLst>
                <a:ea typeface="宋体" pitchFamily="2" charset="-122"/>
              </a:rPr>
              <a:t>的静态局部变量，首次调用时初始化</a:t>
            </a:r>
          </a:p>
          <a:p>
            <a:pPr algn="l" defTabSz="893763">
              <a:defRPr/>
            </a:pPr>
            <a:r>
              <a:rPr kumimoji="1" lang="zh-CN" altLang="en-US"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进入函数</a:t>
            </a:r>
            <a:r>
              <a:rPr kumimoji="1" lang="en-US" altLang="zh-CN" sz="2000" dirty="0">
                <a:effectLst>
                  <a:outerShdw blurRad="38100" dist="38100" dir="2700000" algn="tl">
                    <a:srgbClr val="C0C0C0"/>
                  </a:outerShdw>
                </a:effectLst>
                <a:ea typeface="宋体" pitchFamily="2" charset="-122"/>
              </a:rPr>
              <a:t>v()</a:t>
            </a:r>
            <a:r>
              <a:rPr kumimoji="1" lang="zh-CN" altLang="en-US" sz="2000" dirty="0">
                <a:effectLst>
                  <a:outerShdw blurRad="38100" dist="38100" dir="2700000" algn="tl">
                    <a:srgbClr val="C0C0C0"/>
                  </a:outerShdw>
                </a:effectLst>
                <a:ea typeface="宋体" pitchFamily="2" charset="-122"/>
              </a:rPr>
              <a:t>时，函数</a:t>
            </a:r>
            <a:r>
              <a:rPr kumimoji="1" lang="en-US" altLang="zh-CN" sz="2000" dirty="0">
                <a:effectLst>
                  <a:outerShdw blurRad="38100" dist="38100" dir="2700000" algn="tl">
                    <a:srgbClr val="C0C0C0"/>
                  </a:outerShdw>
                </a:effectLst>
                <a:ea typeface="宋体" pitchFamily="2" charset="-122"/>
              </a:rPr>
              <a:t>v()</a:t>
            </a:r>
            <a:r>
              <a:rPr kumimoji="1" lang="zh-CN" altLang="en-US" sz="2000" dirty="0">
                <a:effectLst>
                  <a:outerShdw blurRad="38100" dist="38100" dir="2700000" algn="tl">
                    <a:srgbClr val="C0C0C0"/>
                  </a:outerShdw>
                </a:effectLst>
                <a:ea typeface="宋体" pitchFamily="2" charset="-122"/>
              </a:rPr>
              <a:t>的静态局部变量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a:t>
            </a:r>
          </a:p>
          <a:p>
            <a:pPr algn="l" defTabSz="893763">
              <a:defRPr/>
            </a:pPr>
            <a:r>
              <a:rPr kumimoji="1" lang="en-US" altLang="zh-CN" sz="2000" dirty="0">
                <a:effectLst>
                  <a:outerShdw blurRad="38100" dist="38100" dir="2700000" algn="tl">
                    <a:srgbClr val="C0C0C0"/>
                  </a:outerShdw>
                </a:effectLst>
                <a:ea typeface="宋体" pitchFamily="2" charset="-122"/>
              </a:rPr>
              <a:t>    a += 2;</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离开函数</a:t>
            </a:r>
            <a:r>
              <a:rPr kumimoji="1" lang="en-US" altLang="zh-CN" sz="2000" dirty="0">
                <a:effectLst>
                  <a:outerShdw blurRad="38100" dist="38100" dir="2700000" algn="tl">
                    <a:srgbClr val="C0C0C0"/>
                  </a:outerShdw>
                </a:effectLst>
                <a:ea typeface="宋体" pitchFamily="2" charset="-122"/>
              </a:rPr>
              <a:t>v()</a:t>
            </a:r>
            <a:r>
              <a:rPr kumimoji="1" lang="zh-CN" altLang="en-US" sz="2000" dirty="0">
                <a:effectLst>
                  <a:outerShdw blurRad="38100" dist="38100" dir="2700000" algn="tl">
                    <a:srgbClr val="C0C0C0"/>
                  </a:outerShdw>
                </a:effectLst>
                <a:ea typeface="宋体" pitchFamily="2" charset="-122"/>
              </a:rPr>
              <a:t>时，函数</a:t>
            </a:r>
            <a:r>
              <a:rPr kumimoji="1" lang="en-US" altLang="zh-CN" sz="2000" dirty="0">
                <a:effectLst>
                  <a:outerShdw blurRad="38100" dist="38100" dir="2700000" algn="tl">
                    <a:srgbClr val="C0C0C0"/>
                  </a:outerShdw>
                </a:effectLst>
                <a:ea typeface="宋体" pitchFamily="2" charset="-122"/>
              </a:rPr>
              <a:t>v()</a:t>
            </a:r>
            <a:r>
              <a:rPr kumimoji="1" lang="zh-CN" altLang="en-US" sz="2000" dirty="0">
                <a:effectLst>
                  <a:outerShdw blurRad="38100" dist="38100" dir="2700000" algn="tl">
                    <a:srgbClr val="C0C0C0"/>
                  </a:outerShdw>
                </a:effectLst>
                <a:ea typeface="宋体" pitchFamily="2" charset="-122"/>
              </a:rPr>
              <a:t>的静态局部变量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a:t>
            </a:r>
          </a:p>
          <a:p>
            <a:pPr algn="l" defTabSz="893763">
              <a:defRPr/>
            </a:pPr>
            <a:r>
              <a:rPr kumimoji="1" lang="en-US" altLang="zh-CN" sz="2000" dirty="0">
                <a:effectLst>
                  <a:outerShdw blurRad="38100" dist="38100" dir="2700000" algn="tl">
                    <a:srgbClr val="C0C0C0"/>
                  </a:outerShdw>
                </a:effectLst>
                <a:ea typeface="宋体" pitchFamily="2" charset="-122"/>
              </a:rPr>
              <a:t>}</a:t>
            </a: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eaLnBrk="1" hangingPunct="1">
              <a:lnSpc>
                <a:spcPct val="105000"/>
              </a:lnSpc>
              <a:defRPr/>
            </a:pPr>
            <a:r>
              <a:rPr kumimoji="1" lang="zh-CN" altLang="en-US" sz="2000" dirty="0">
                <a:effectLst>
                  <a:outerShdw blurRad="38100" dist="38100" dir="2700000" algn="tl">
                    <a:srgbClr val="C0C0C0"/>
                  </a:outerShdw>
                </a:effectLst>
                <a:latin typeface="楷体_GB2312" pitchFamily="49" charset="-122"/>
                <a:ea typeface="楷体_GB2312" pitchFamily="49" charset="-122"/>
              </a:rPr>
              <a:t>函数</a:t>
            </a:r>
            <a:r>
              <a:rPr kumimoji="1" lang="en-US" altLang="zh-CN" sz="2000" dirty="0">
                <a:effectLst>
                  <a:outerShdw blurRad="38100" dist="38100" dir="2700000" algn="tl">
                    <a:srgbClr val="C0C0C0"/>
                  </a:outerShdw>
                </a:effectLst>
                <a:latin typeface="楷体_GB2312" pitchFamily="49" charset="-122"/>
                <a:ea typeface="楷体_GB2312" pitchFamily="49" charset="-122"/>
              </a:rPr>
              <a:t>v()</a:t>
            </a:r>
            <a:r>
              <a:rPr kumimoji="1" lang="zh-CN" altLang="en-US" sz="2000" dirty="0">
                <a:effectLst>
                  <a:outerShdw blurRad="38100" dist="38100" dir="2700000" algn="tl">
                    <a:srgbClr val="C0C0C0"/>
                  </a:outerShdw>
                </a:effectLst>
                <a:latin typeface="楷体_GB2312" pitchFamily="49" charset="-122"/>
                <a:ea typeface="楷体_GB2312" pitchFamily="49" charset="-122"/>
              </a:rPr>
              <a:t>定义了静态局部变量</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的初值为</a:t>
            </a:r>
            <a:r>
              <a:rPr kumimoji="1" lang="en-US" altLang="zh-CN" sz="2000" dirty="0">
                <a:effectLst>
                  <a:outerShdw blurRad="38100" dist="38100" dir="2700000" algn="tl">
                    <a:srgbClr val="C0C0C0"/>
                  </a:outerShdw>
                </a:effectLst>
                <a:latin typeface="楷体_GB2312" pitchFamily="49" charset="-122"/>
                <a:ea typeface="楷体_GB2312" pitchFamily="49" charset="-122"/>
              </a:rPr>
              <a:t>30</a:t>
            </a:r>
            <a:r>
              <a:rPr kumimoji="1" lang="zh-CN" altLang="en-US" sz="2000" dirty="0">
                <a:effectLst>
                  <a:outerShdw blurRad="38100" dist="38100" dir="2700000" algn="tl">
                    <a:srgbClr val="C0C0C0"/>
                  </a:outerShdw>
                </a:effectLst>
                <a:latin typeface="楷体_GB2312" pitchFamily="49" charset="-122"/>
                <a:ea typeface="楷体_GB2312" pitchFamily="49" charset="-122"/>
              </a:rPr>
              <a:t>。函数</a:t>
            </a:r>
            <a:r>
              <a:rPr kumimoji="1" lang="en-US" altLang="zh-CN" sz="2000" dirty="0">
                <a:effectLst>
                  <a:outerShdw blurRad="38100" dist="38100" dir="2700000" algn="tl">
                    <a:srgbClr val="C0C0C0"/>
                  </a:outerShdw>
                </a:effectLst>
                <a:latin typeface="楷体_GB2312" pitchFamily="49" charset="-122"/>
                <a:ea typeface="楷体_GB2312" pitchFamily="49" charset="-122"/>
              </a:rPr>
              <a:t>v()</a:t>
            </a:r>
            <a:r>
              <a:rPr kumimoji="1" lang="zh-CN" altLang="en-US" sz="2000" dirty="0">
                <a:effectLst>
                  <a:outerShdw blurRad="38100" dist="38100" dir="2700000" algn="tl">
                    <a:srgbClr val="C0C0C0"/>
                  </a:outerShdw>
                </a:effectLst>
                <a:latin typeface="楷体_GB2312" pitchFamily="49" charset="-122"/>
                <a:ea typeface="楷体_GB2312" pitchFamily="49" charset="-122"/>
              </a:rPr>
              <a:t>输出</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的值，然后将</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的值增加</a:t>
            </a:r>
            <a:r>
              <a:rPr kumimoji="1" lang="en-US" altLang="zh-CN" sz="2000" dirty="0">
                <a:effectLst>
                  <a:outerShdw blurRad="38100" dist="38100" dir="2700000" algn="tl">
                    <a:srgbClr val="C0C0C0"/>
                  </a:outerShdw>
                </a:effectLst>
                <a:latin typeface="楷体_GB2312" pitchFamily="49" charset="-122"/>
                <a:ea typeface="楷体_GB2312" pitchFamily="49" charset="-122"/>
              </a:rPr>
              <a:t>2</a:t>
            </a:r>
            <a:r>
              <a:rPr kumimoji="1" lang="zh-CN" altLang="en-US" sz="2000" dirty="0">
                <a:effectLst>
                  <a:outerShdw blurRad="38100" dist="38100" dir="2700000" algn="tl">
                    <a:srgbClr val="C0C0C0"/>
                  </a:outerShdw>
                </a:effectLst>
                <a:latin typeface="楷体_GB2312" pitchFamily="49" charset="-122"/>
                <a:ea typeface="楷体_GB2312" pitchFamily="49" charset="-122"/>
              </a:rPr>
              <a:t>后再输出，函数返回后，</a:t>
            </a:r>
            <a:r>
              <a:rPr kumimoji="1" lang="en-US" altLang="zh-CN" sz="2000" dirty="0">
                <a:effectLst>
                  <a:outerShdw blurRad="38100" dist="38100" dir="2700000" algn="tl">
                    <a:srgbClr val="C0C0C0"/>
                  </a:outerShdw>
                </a:effectLst>
                <a:latin typeface="楷体_GB2312" pitchFamily="49" charset="-122"/>
                <a:ea typeface="楷体_GB2312" pitchFamily="49" charset="-122"/>
              </a:rPr>
              <a:t>v()</a:t>
            </a:r>
            <a:r>
              <a:rPr kumimoji="1" lang="zh-CN" altLang="en-US" sz="2000" dirty="0">
                <a:effectLst>
                  <a:outerShdw blurRad="38100" dist="38100" dir="2700000" algn="tl">
                    <a:srgbClr val="C0C0C0"/>
                  </a:outerShdw>
                </a:effectLst>
                <a:latin typeface="楷体_GB2312" pitchFamily="49" charset="-122"/>
                <a:ea typeface="楷体_GB2312" pitchFamily="49" charset="-122"/>
              </a:rPr>
              <a:t>的</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保留着值</a:t>
            </a:r>
            <a:r>
              <a:rPr kumimoji="1" lang="en-US" altLang="zh-CN" sz="2000" dirty="0">
                <a:effectLst>
                  <a:outerShdw blurRad="38100" dist="38100" dir="2700000" algn="tl">
                    <a:srgbClr val="C0C0C0"/>
                  </a:outerShdw>
                </a:effectLst>
                <a:latin typeface="楷体_GB2312" pitchFamily="49" charset="-122"/>
                <a:ea typeface="楷体_GB2312" pitchFamily="49" charset="-122"/>
              </a:rPr>
              <a:t>32</a:t>
            </a:r>
            <a:r>
              <a:rPr kumimoji="1" lang="zh-CN" altLang="en-US" sz="2000" dirty="0">
                <a:effectLst>
                  <a:outerShdw blurRad="38100" dist="38100" dir="2700000" algn="tl">
                    <a:srgbClr val="C0C0C0"/>
                  </a:outerShdw>
                </a:effectLst>
                <a:latin typeface="楷体_GB2312" pitchFamily="49" charset="-122"/>
                <a:ea typeface="楷体_GB2312" pitchFamily="49" charset="-122"/>
              </a:rPr>
              <a:t>。下一次再调用函数</a:t>
            </a:r>
            <a:r>
              <a:rPr kumimoji="1" lang="en-US" altLang="zh-CN" sz="2000" dirty="0">
                <a:effectLst>
                  <a:outerShdw blurRad="38100" dist="38100" dir="2700000" algn="tl">
                    <a:srgbClr val="C0C0C0"/>
                  </a:outerShdw>
                </a:effectLst>
                <a:latin typeface="楷体_GB2312" pitchFamily="49" charset="-122"/>
                <a:ea typeface="楷体_GB2312" pitchFamily="49" charset="-122"/>
              </a:rPr>
              <a:t>v()</a:t>
            </a:r>
            <a:r>
              <a:rPr kumimoji="1" lang="zh-CN" altLang="en-US" sz="2000" dirty="0">
                <a:effectLst>
                  <a:outerShdw blurRad="38100" dist="38100" dir="2700000" algn="tl">
                    <a:srgbClr val="C0C0C0"/>
                  </a:outerShdw>
                </a:effectLst>
                <a:latin typeface="楷体_GB2312" pitchFamily="49" charset="-122"/>
                <a:ea typeface="楷体_GB2312" pitchFamily="49" charset="-122"/>
              </a:rPr>
              <a:t>，静态局部变量</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就拥有值</a:t>
            </a:r>
            <a:r>
              <a:rPr kumimoji="1" lang="en-US" altLang="zh-CN" sz="2000" dirty="0">
                <a:effectLst>
                  <a:outerShdw blurRad="38100" dist="38100" dir="2700000" algn="tl">
                    <a:srgbClr val="C0C0C0"/>
                  </a:outerShdw>
                </a:effectLst>
                <a:latin typeface="楷体_GB2312" pitchFamily="49" charset="-122"/>
                <a:ea typeface="楷体_GB2312" pitchFamily="49" charset="-122"/>
              </a:rPr>
              <a:t>32</a:t>
            </a:r>
            <a:r>
              <a:rPr kumimoji="1" lang="zh-CN" altLang="en-US" sz="2000" dirty="0">
                <a:effectLst>
                  <a:outerShdw blurRad="38100" dist="38100" dir="2700000" algn="tl">
                    <a:srgbClr val="C0C0C0"/>
                  </a:outerShdw>
                </a:effectLst>
                <a:latin typeface="楷体_GB2312" pitchFamily="49" charset="-122"/>
                <a:ea typeface="楷体_GB2312" pitchFamily="49" charset="-122"/>
              </a:rPr>
              <a:t>，函数输出</a:t>
            </a:r>
            <a:r>
              <a:rPr kumimoji="1" lang="en-US" altLang="zh-CN" sz="2000" dirty="0">
                <a:effectLst>
                  <a:outerShdw blurRad="38100" dist="38100" dir="2700000" algn="tl">
                    <a:srgbClr val="C0C0C0"/>
                  </a:outerShdw>
                </a:effectLst>
                <a:latin typeface="楷体_GB2312" pitchFamily="49" charset="-122"/>
                <a:ea typeface="楷体_GB2312" pitchFamily="49" charset="-122"/>
              </a:rPr>
              <a:t>32</a:t>
            </a:r>
            <a:r>
              <a:rPr kumimoji="1" lang="zh-CN" altLang="en-US" sz="2000" dirty="0">
                <a:effectLst>
                  <a:outerShdw blurRad="38100" dist="38100" dir="2700000" algn="tl">
                    <a:srgbClr val="C0C0C0"/>
                  </a:outerShdw>
                </a:effectLst>
                <a:latin typeface="楷体_GB2312" pitchFamily="49" charset="-122"/>
                <a:ea typeface="楷体_GB2312" pitchFamily="49" charset="-122"/>
              </a:rPr>
              <a:t>后，</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又增加</a:t>
            </a:r>
            <a:r>
              <a:rPr kumimoji="1" lang="en-US" altLang="zh-CN" sz="2000" dirty="0">
                <a:effectLst>
                  <a:outerShdw blurRad="38100" dist="38100" dir="2700000" algn="tl">
                    <a:srgbClr val="C0C0C0"/>
                  </a:outerShdw>
                </a:effectLst>
                <a:latin typeface="楷体_GB2312" pitchFamily="49" charset="-122"/>
                <a:ea typeface="楷体_GB2312" pitchFamily="49" charset="-122"/>
              </a:rPr>
              <a:t>2</a:t>
            </a:r>
            <a:r>
              <a:rPr kumimoji="1" lang="zh-CN" altLang="en-US" sz="2000" dirty="0">
                <a:effectLst>
                  <a:outerShdw blurRad="38100" dist="38100" dir="2700000" algn="tl">
                    <a:srgbClr val="C0C0C0"/>
                  </a:outerShdw>
                </a:effectLst>
                <a:latin typeface="楷体_GB2312" pitchFamily="49" charset="-122"/>
                <a:ea typeface="楷体_GB2312" pitchFamily="49" charset="-122"/>
              </a:rPr>
              <a:t>，再输出增加</a:t>
            </a:r>
            <a:r>
              <a:rPr kumimoji="1" lang="en-US" altLang="zh-CN" sz="2000" dirty="0">
                <a:effectLst>
                  <a:outerShdw blurRad="38100" dist="38100" dir="2700000" algn="tl">
                    <a:srgbClr val="C0C0C0"/>
                  </a:outerShdw>
                </a:effectLst>
                <a:latin typeface="楷体_GB2312" pitchFamily="49" charset="-122"/>
                <a:ea typeface="楷体_GB2312" pitchFamily="49" charset="-122"/>
              </a:rPr>
              <a:t>2</a:t>
            </a:r>
            <a:r>
              <a:rPr kumimoji="1" lang="zh-CN" altLang="en-US" sz="2000" dirty="0">
                <a:effectLst>
                  <a:outerShdw blurRad="38100" dist="38100" dir="2700000" algn="tl">
                    <a:srgbClr val="C0C0C0"/>
                  </a:outerShdw>
                </a:effectLst>
                <a:latin typeface="楷体_GB2312" pitchFamily="49" charset="-122"/>
                <a:ea typeface="楷体_GB2312" pitchFamily="49" charset="-122"/>
              </a:rPr>
              <a:t>后的</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，函数返回后，</a:t>
            </a:r>
            <a:r>
              <a:rPr kumimoji="1" lang="en-US" altLang="zh-CN" sz="2000" dirty="0">
                <a:effectLst>
                  <a:outerShdw blurRad="38100" dist="38100" dir="2700000" algn="tl">
                    <a:srgbClr val="C0C0C0"/>
                  </a:outerShdw>
                </a:effectLst>
                <a:latin typeface="楷体_GB2312" pitchFamily="49" charset="-122"/>
                <a:ea typeface="楷体_GB2312" pitchFamily="49" charset="-122"/>
              </a:rPr>
              <a:t>a</a:t>
            </a:r>
            <a:r>
              <a:rPr kumimoji="1" lang="zh-CN" altLang="en-US" sz="2000" dirty="0">
                <a:effectLst>
                  <a:outerShdw blurRad="38100" dist="38100" dir="2700000" algn="tl">
                    <a:srgbClr val="C0C0C0"/>
                  </a:outerShdw>
                </a:effectLst>
                <a:latin typeface="楷体_GB2312" pitchFamily="49" charset="-122"/>
                <a:ea typeface="楷体_GB2312" pitchFamily="49" charset="-122"/>
              </a:rPr>
              <a:t>保留着值</a:t>
            </a:r>
            <a:r>
              <a:rPr kumimoji="1" lang="en-US" altLang="zh-CN" sz="2000" dirty="0">
                <a:effectLst>
                  <a:outerShdw blurRad="38100" dist="38100" dir="2700000" algn="tl">
                    <a:srgbClr val="C0C0C0"/>
                  </a:outerShdw>
                </a:effectLst>
                <a:latin typeface="楷体_GB2312" pitchFamily="49" charset="-122"/>
                <a:ea typeface="楷体_GB2312" pitchFamily="49" charset="-122"/>
              </a:rPr>
              <a:t>34</a:t>
            </a:r>
            <a:r>
              <a:rPr kumimoji="1" lang="zh-CN" altLang="en-US" sz="2000" dirty="0">
                <a:effectLst>
                  <a:outerShdw blurRad="38100" dist="38100" dir="2700000" algn="tl">
                    <a:srgbClr val="C0C0C0"/>
                  </a:outerShdw>
                </a:effectLst>
                <a:latin typeface="楷体_GB2312" pitchFamily="49" charset="-122"/>
                <a:ea typeface="楷体_GB2312" pitchFamily="49" charset="-122"/>
              </a:rPr>
              <a:t>。</a:t>
            </a:r>
          </a:p>
          <a:p>
            <a:pPr algn="l" defTabSz="893763">
              <a:defRPr/>
            </a:pPr>
            <a:endParaRPr kumimoji="1" lang="en-US" altLang="zh-CN" sz="2000" dirty="0">
              <a:effectLst>
                <a:outerShdw blurRad="38100" dist="38100" dir="2700000" algn="tl">
                  <a:srgbClr val="C0C0C0"/>
                </a:outerShdw>
              </a:effectLst>
              <a:ea typeface="宋体" pitchFamily="2" charset="-122"/>
            </a:endParaRPr>
          </a:p>
          <a:p>
            <a:pPr algn="l" defTabSz="893763">
              <a:defRPr/>
            </a:pPr>
            <a:endParaRPr kumimoji="1" lang="en-US" altLang="zh-CN" sz="2000" dirty="0">
              <a:effectLst>
                <a:outerShdw blurRad="38100" dist="38100" dir="2700000" algn="tl">
                  <a:srgbClr val="C0C0C0"/>
                </a:outerShdw>
              </a:effectLst>
              <a:ea typeface="宋体"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0914">
                                            <p:txEl>
                                              <p:pRg st="7" end="7"/>
                                            </p:txEl>
                                          </p:spTgt>
                                        </p:tgtEl>
                                        <p:attrNameLst>
                                          <p:attrName>style.visibility</p:attrName>
                                        </p:attrNameLst>
                                      </p:cBhvr>
                                      <p:to>
                                        <p:strVal val="visible"/>
                                      </p:to>
                                    </p:set>
                                    <p:anim calcmode="lin" valueType="num">
                                      <p:cBhvr additive="base">
                                        <p:cTn id="7" dur="500" fill="hold"/>
                                        <p:tgtEl>
                                          <p:spTgt spid="55091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091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0914">
                                            <p:txEl>
                                              <p:pRg st="8" end="8"/>
                                            </p:txEl>
                                          </p:spTgt>
                                        </p:tgtEl>
                                        <p:attrNameLst>
                                          <p:attrName>style.visibility</p:attrName>
                                        </p:attrNameLst>
                                      </p:cBhvr>
                                      <p:to>
                                        <p:strVal val="visible"/>
                                      </p:to>
                                    </p:set>
                                    <p:anim calcmode="lin" valueType="num">
                                      <p:cBhvr additive="base">
                                        <p:cTn id="11" dur="500" fill="hold"/>
                                        <p:tgtEl>
                                          <p:spTgt spid="55091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0914">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50914">
                                            <p:txEl>
                                              <p:pRg st="9" end="9"/>
                                            </p:txEl>
                                          </p:spTgt>
                                        </p:tgtEl>
                                        <p:attrNameLst>
                                          <p:attrName>style.visibility</p:attrName>
                                        </p:attrNameLst>
                                      </p:cBhvr>
                                      <p:to>
                                        <p:strVal val="visible"/>
                                      </p:to>
                                    </p:set>
                                    <p:anim calcmode="lin" valueType="num">
                                      <p:cBhvr additive="base">
                                        <p:cTn id="15" dur="500" fill="hold"/>
                                        <p:tgtEl>
                                          <p:spTgt spid="550914">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0914">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50914">
                                            <p:txEl>
                                              <p:pRg st="10" end="10"/>
                                            </p:txEl>
                                          </p:spTgt>
                                        </p:tgtEl>
                                        <p:attrNameLst>
                                          <p:attrName>style.visibility</p:attrName>
                                        </p:attrNameLst>
                                      </p:cBhvr>
                                      <p:to>
                                        <p:strVal val="visible"/>
                                      </p:to>
                                    </p:set>
                                    <p:anim calcmode="lin" valueType="num">
                                      <p:cBhvr additive="base">
                                        <p:cTn id="19" dur="500" fill="hold"/>
                                        <p:tgtEl>
                                          <p:spTgt spid="550914">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0914">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50914">
                                            <p:txEl>
                                              <p:pRg st="11" end="11"/>
                                            </p:txEl>
                                          </p:spTgt>
                                        </p:tgtEl>
                                        <p:attrNameLst>
                                          <p:attrName>style.visibility</p:attrName>
                                        </p:attrNameLst>
                                      </p:cBhvr>
                                      <p:to>
                                        <p:strVal val="visible"/>
                                      </p:to>
                                    </p:set>
                                    <p:anim calcmode="lin" valueType="num">
                                      <p:cBhvr additive="base">
                                        <p:cTn id="23" dur="500" fill="hold"/>
                                        <p:tgtEl>
                                          <p:spTgt spid="550914">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50914">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50914">
                                            <p:txEl>
                                              <p:pRg st="12" end="12"/>
                                            </p:txEl>
                                          </p:spTgt>
                                        </p:tgtEl>
                                        <p:attrNameLst>
                                          <p:attrName>style.visibility</p:attrName>
                                        </p:attrNameLst>
                                      </p:cBhvr>
                                      <p:to>
                                        <p:strVal val="visible"/>
                                      </p:to>
                                    </p:set>
                                    <p:anim calcmode="lin" valueType="num">
                                      <p:cBhvr additive="base">
                                        <p:cTn id="27" dur="500" fill="hold"/>
                                        <p:tgtEl>
                                          <p:spTgt spid="55091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5091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50914">
                                            <p:txEl>
                                              <p:pRg st="14" end="14"/>
                                            </p:txEl>
                                          </p:spTgt>
                                        </p:tgtEl>
                                        <p:attrNameLst>
                                          <p:attrName>style.visibility</p:attrName>
                                        </p:attrNameLst>
                                      </p:cBhvr>
                                      <p:to>
                                        <p:strVal val="visible"/>
                                      </p:to>
                                    </p:set>
                                    <p:anim calcmode="lin" valueType="num">
                                      <p:cBhvr additive="base">
                                        <p:cTn id="33" dur="500" fill="hold"/>
                                        <p:tgtEl>
                                          <p:spTgt spid="550914">
                                            <p:txEl>
                                              <p:pRg st="14" end="1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5091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02FD995-4836-47AF-97E3-41AC07DC8E86}" type="slidenum">
              <a:rPr lang="en-US" altLang="zh-CN"/>
              <a:pPr>
                <a:defRPr/>
              </a:pPr>
              <a:t>98</a:t>
            </a:fld>
            <a:endParaRPr lang="en-US" altLang="zh-CN"/>
          </a:p>
        </p:txBody>
      </p:sp>
      <p:sp>
        <p:nvSpPr>
          <p:cNvPr id="550914" name="Text Box 2"/>
          <p:cNvSpPr txBox="1">
            <a:spLocks noChangeArrowheads="1"/>
          </p:cNvSpPr>
          <p:nvPr/>
        </p:nvSpPr>
        <p:spPr bwMode="auto">
          <a:xfrm>
            <a:off x="468313" y="749300"/>
            <a:ext cx="8207375" cy="1629156"/>
          </a:xfrm>
          <a:prstGeom prst="rect">
            <a:avLst/>
          </a:prstGeom>
          <a:noFill/>
          <a:ln w="9525">
            <a:noFill/>
            <a:miter lim="800000"/>
            <a:headEnd/>
            <a:tailEnd/>
          </a:ln>
          <a:effectLst/>
        </p:spPr>
        <p:txBody>
          <a:bodyPr wrap="square" lIns="89401" tIns="44700" rIns="89401" bIns="44700">
            <a:spAutoFit/>
          </a:bodyPr>
          <a:lstStyle/>
          <a:p>
            <a:pPr algn="l" defTabSz="893763">
              <a:defRPr/>
            </a:pPr>
            <a:r>
              <a:rPr kumimoji="1" lang="en-US" altLang="zh-CN" sz="2000" dirty="0">
                <a:effectLst>
                  <a:outerShdw blurRad="38100" dist="38100" dir="2700000" algn="tl">
                    <a:srgbClr val="C0C0C0"/>
                  </a:outerShdw>
                </a:effectLst>
                <a:ea typeface="宋体" pitchFamily="2" charset="-122"/>
              </a:rPr>
              <a:t>void w(void){</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进入函数</a:t>
            </a:r>
            <a:r>
              <a:rPr kumimoji="1" lang="en-US" altLang="zh-CN" sz="2000" dirty="0">
                <a:effectLst>
                  <a:outerShdw blurRad="38100" dist="38100" dir="2700000" algn="tl">
                    <a:srgbClr val="C0C0C0"/>
                  </a:outerShdw>
                </a:effectLst>
                <a:ea typeface="宋体" pitchFamily="2" charset="-122"/>
              </a:rPr>
              <a:t>w()</a:t>
            </a:r>
            <a:r>
              <a:rPr kumimoji="1" lang="zh-CN" altLang="en-US" sz="2000" dirty="0">
                <a:effectLst>
                  <a:outerShdw blurRad="38100" dist="38100" dir="2700000" algn="tl">
                    <a:srgbClr val="C0C0C0"/>
                  </a:outerShdw>
                </a:effectLst>
                <a:ea typeface="宋体" pitchFamily="2" charset="-122"/>
              </a:rPr>
              <a:t>时，全局变量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a:t>
            </a:r>
          </a:p>
          <a:p>
            <a:pPr algn="l" defTabSz="893763">
              <a:defRPr/>
            </a:pPr>
            <a:r>
              <a:rPr kumimoji="1" lang="en-US" altLang="zh-CN" sz="2000" dirty="0">
                <a:effectLst>
                  <a:outerShdw blurRad="38100" dist="38100" dir="2700000" algn="tl">
                    <a:srgbClr val="C0C0C0"/>
                  </a:outerShdw>
                </a:effectLst>
                <a:ea typeface="宋体" pitchFamily="2" charset="-122"/>
              </a:rPr>
              <a:t>    a += 3;</a:t>
            </a:r>
          </a:p>
          <a:p>
            <a:pPr algn="l" defTabSz="893763">
              <a:defRPr/>
            </a:pPr>
            <a:r>
              <a:rPr kumimoji="1" lang="en-US" altLang="zh-CN" sz="2000" dirty="0">
                <a:effectLst>
                  <a:outerShdw blurRad="38100" dist="38100" dir="2700000" algn="tl">
                    <a:srgbClr val="C0C0C0"/>
                  </a:outerShdw>
                </a:effectLst>
                <a:ea typeface="宋体" pitchFamily="2" charset="-122"/>
              </a:rPr>
              <a:t>    </a:t>
            </a:r>
            <a:r>
              <a:rPr kumimoji="1" lang="en-US" altLang="zh-CN" sz="2000" dirty="0" err="1">
                <a:effectLst>
                  <a:outerShdw blurRad="38100" dist="38100" dir="2700000" algn="tl">
                    <a:srgbClr val="C0C0C0"/>
                  </a:outerShdw>
                </a:effectLst>
                <a:ea typeface="宋体" pitchFamily="2" charset="-122"/>
              </a:rPr>
              <a:t>printf</a:t>
            </a:r>
            <a:r>
              <a:rPr kumimoji="1" lang="en-US" altLang="zh-CN" sz="2000" dirty="0">
                <a:effectLst>
                  <a:outerShdw blurRad="38100" dist="38100" dir="2700000" algn="tl">
                    <a:srgbClr val="C0C0C0"/>
                  </a:outerShdw>
                </a:effectLst>
                <a:ea typeface="宋体" pitchFamily="2" charset="-122"/>
              </a:rPr>
              <a:t>(“</a:t>
            </a:r>
            <a:r>
              <a:rPr kumimoji="1" lang="zh-CN" altLang="en-US" sz="2000" dirty="0">
                <a:effectLst>
                  <a:outerShdw blurRad="38100" dist="38100" dir="2700000" algn="tl">
                    <a:srgbClr val="C0C0C0"/>
                  </a:outerShdw>
                </a:effectLst>
                <a:ea typeface="宋体" pitchFamily="2" charset="-122"/>
              </a:rPr>
              <a:t>离开函数</a:t>
            </a:r>
            <a:r>
              <a:rPr kumimoji="1" lang="en-US" altLang="zh-CN" sz="2000" dirty="0">
                <a:effectLst>
                  <a:outerShdw blurRad="38100" dist="38100" dir="2700000" algn="tl">
                    <a:srgbClr val="C0C0C0"/>
                  </a:outerShdw>
                </a:effectLst>
                <a:ea typeface="宋体" pitchFamily="2" charset="-122"/>
              </a:rPr>
              <a:t>w()</a:t>
            </a:r>
            <a:r>
              <a:rPr kumimoji="1" lang="zh-CN" altLang="en-US" sz="2000" dirty="0">
                <a:effectLst>
                  <a:outerShdw blurRad="38100" dist="38100" dir="2700000" algn="tl">
                    <a:srgbClr val="C0C0C0"/>
                  </a:outerShdw>
                </a:effectLst>
                <a:ea typeface="宋体" pitchFamily="2" charset="-122"/>
              </a:rPr>
              <a:t>时，全局变量</a:t>
            </a:r>
            <a:r>
              <a:rPr kumimoji="1" lang="en-US" altLang="zh-CN" sz="2000" dirty="0">
                <a:effectLst>
                  <a:outerShdw blurRad="38100" dist="38100" dir="2700000" algn="tl">
                    <a:srgbClr val="C0C0C0"/>
                  </a:outerShdw>
                </a:effectLst>
                <a:ea typeface="宋体" pitchFamily="2" charset="-122"/>
              </a:rPr>
              <a:t>a</a:t>
            </a:r>
            <a:r>
              <a:rPr kumimoji="1" lang="zh-CN" altLang="en-US" sz="2000" dirty="0">
                <a:effectLst>
                  <a:outerShdw blurRad="38100" dist="38100" dir="2700000" algn="tl">
                    <a:srgbClr val="C0C0C0"/>
                  </a:outerShdw>
                </a:effectLst>
                <a:ea typeface="宋体" pitchFamily="2" charset="-122"/>
              </a:rPr>
              <a:t>是</a:t>
            </a:r>
            <a:r>
              <a:rPr kumimoji="1" lang="en-US" altLang="zh-CN" sz="2000" dirty="0">
                <a:effectLst>
                  <a:outerShdw blurRad="38100" dist="38100" dir="2700000" algn="tl">
                    <a:srgbClr val="C0C0C0"/>
                  </a:outerShdw>
                </a:effectLst>
                <a:ea typeface="宋体" pitchFamily="2" charset="-122"/>
              </a:rPr>
              <a:t>%d\n”, a);</a:t>
            </a:r>
          </a:p>
          <a:p>
            <a:pPr algn="l" defTabSz="893763">
              <a:defRPr/>
            </a:pPr>
            <a:r>
              <a:rPr kumimoji="1" lang="en-US" altLang="zh-CN" sz="2000" dirty="0">
                <a:effectLst>
                  <a:outerShdw blurRad="38100" dist="38100" dir="2700000" algn="tl">
                    <a:srgbClr val="C0C0C0"/>
                  </a:outerShdw>
                </a:effectLst>
                <a:ea typeface="宋体" pitchFamily="2" charset="-122"/>
              </a:rPr>
              <a:t>}</a:t>
            </a:r>
          </a:p>
        </p:txBody>
      </p:sp>
      <p:sp>
        <p:nvSpPr>
          <p:cNvPr id="6" name="矩形 5"/>
          <p:cNvSpPr/>
          <p:nvPr/>
        </p:nvSpPr>
        <p:spPr>
          <a:xfrm>
            <a:off x="0" y="4005064"/>
            <a:ext cx="8676456" cy="997196"/>
          </a:xfrm>
          <a:prstGeom prst="rect">
            <a:avLst/>
          </a:prstGeom>
        </p:spPr>
        <p:txBody>
          <a:bodyPr wrap="square">
            <a:spAutoFit/>
          </a:bodyPr>
          <a:lstStyle/>
          <a:p>
            <a:pPr algn="l"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函数</a:t>
            </a:r>
            <a:r>
              <a:rPr kumimoji="1" lang="en-US" altLang="zh-CN" dirty="0">
                <a:effectLst>
                  <a:outerShdw blurRad="38100" dist="38100" dir="2700000" algn="tl">
                    <a:srgbClr val="C0C0C0"/>
                  </a:outerShdw>
                </a:effectLst>
                <a:latin typeface="楷体_GB2312" pitchFamily="49" charset="-122"/>
                <a:ea typeface="楷体_GB2312" pitchFamily="49" charset="-122"/>
              </a:rPr>
              <a:t>w()</a:t>
            </a:r>
            <a:r>
              <a:rPr kumimoji="1" lang="zh-CN" altLang="en-US" dirty="0">
                <a:effectLst>
                  <a:outerShdw blurRad="38100" dist="38100" dir="2700000" algn="tl">
                    <a:srgbClr val="C0C0C0"/>
                  </a:outerShdw>
                </a:effectLst>
                <a:latin typeface="楷体_GB2312" pitchFamily="49" charset="-122"/>
                <a:ea typeface="楷体_GB2312" pitchFamily="49" charset="-122"/>
              </a:rPr>
              <a:t>没有定义局部变量，使用的是全局变量</a:t>
            </a:r>
            <a:r>
              <a:rPr kumimoji="1" lang="en-US" altLang="zh-CN" dirty="0">
                <a:effectLst>
                  <a:outerShdw blurRad="38100" dist="38100" dir="2700000" algn="tl">
                    <a:srgbClr val="C0C0C0"/>
                  </a:outerShdw>
                </a:effectLst>
                <a:latin typeface="楷体_GB2312" pitchFamily="49" charset="-122"/>
                <a:ea typeface="楷体_GB2312" pitchFamily="49" charset="-122"/>
              </a:rPr>
              <a:t>a</a:t>
            </a:r>
            <a:r>
              <a:rPr kumimoji="1" lang="zh-CN" altLang="en-US" dirty="0">
                <a:effectLst>
                  <a:outerShdw blurRad="38100" dist="38100" dir="2700000" algn="tl">
                    <a:srgbClr val="C0C0C0"/>
                  </a:outerShdw>
                </a:effectLst>
                <a:latin typeface="楷体_GB2312" pitchFamily="49" charset="-122"/>
                <a:ea typeface="楷体_GB2312" pitchFamily="49" charset="-122"/>
              </a:rPr>
              <a:t>。函数</a:t>
            </a:r>
            <a:r>
              <a:rPr kumimoji="1" lang="en-US" altLang="zh-CN" dirty="0">
                <a:effectLst>
                  <a:outerShdw blurRad="38100" dist="38100" dir="2700000" algn="tl">
                    <a:srgbClr val="C0C0C0"/>
                  </a:outerShdw>
                </a:effectLst>
                <a:latin typeface="楷体_GB2312" pitchFamily="49" charset="-122"/>
                <a:ea typeface="楷体_GB2312" pitchFamily="49" charset="-122"/>
              </a:rPr>
              <a:t>w()</a:t>
            </a:r>
            <a:r>
              <a:rPr kumimoji="1" lang="zh-CN" altLang="en-US" dirty="0">
                <a:effectLst>
                  <a:outerShdw blurRad="38100" dist="38100" dir="2700000" algn="tl">
                    <a:srgbClr val="C0C0C0"/>
                  </a:outerShdw>
                </a:effectLst>
                <a:latin typeface="楷体_GB2312" pitchFamily="49" charset="-122"/>
                <a:ea typeface="楷体_GB2312" pitchFamily="49" charset="-122"/>
              </a:rPr>
              <a:t>输出全局变量</a:t>
            </a:r>
            <a:r>
              <a:rPr kumimoji="1" lang="en-US" altLang="zh-CN" dirty="0">
                <a:effectLst>
                  <a:outerShdw blurRad="38100" dist="38100" dir="2700000" algn="tl">
                    <a:srgbClr val="C0C0C0"/>
                  </a:outerShdw>
                </a:effectLst>
                <a:latin typeface="楷体_GB2312" pitchFamily="49" charset="-122"/>
                <a:ea typeface="楷体_GB2312" pitchFamily="49" charset="-122"/>
              </a:rPr>
              <a:t>a</a:t>
            </a:r>
            <a:r>
              <a:rPr kumimoji="1" lang="zh-CN" altLang="en-US" dirty="0">
                <a:effectLst>
                  <a:outerShdw blurRad="38100" dist="38100" dir="2700000" algn="tl">
                    <a:srgbClr val="C0C0C0"/>
                  </a:outerShdw>
                </a:effectLst>
                <a:latin typeface="楷体_GB2312" pitchFamily="49" charset="-122"/>
                <a:ea typeface="楷体_GB2312" pitchFamily="49" charset="-122"/>
              </a:rPr>
              <a:t>，将</a:t>
            </a:r>
            <a:r>
              <a:rPr kumimoji="1" lang="en-US" altLang="zh-CN" dirty="0">
                <a:effectLst>
                  <a:outerShdw blurRad="38100" dist="38100" dir="2700000" algn="tl">
                    <a:srgbClr val="C0C0C0"/>
                  </a:outerShdw>
                </a:effectLst>
                <a:latin typeface="楷体_GB2312" pitchFamily="49" charset="-122"/>
                <a:ea typeface="楷体_GB2312" pitchFamily="49" charset="-122"/>
              </a:rPr>
              <a:t>a</a:t>
            </a:r>
            <a:r>
              <a:rPr kumimoji="1" lang="zh-CN" altLang="en-US" dirty="0">
                <a:effectLst>
                  <a:outerShdw blurRad="38100" dist="38100" dir="2700000" algn="tl">
                    <a:srgbClr val="C0C0C0"/>
                  </a:outerShdw>
                </a:effectLst>
                <a:latin typeface="楷体_GB2312" pitchFamily="49" charset="-122"/>
                <a:ea typeface="楷体_GB2312" pitchFamily="49" charset="-122"/>
              </a:rPr>
              <a:t>增加</a:t>
            </a:r>
            <a:r>
              <a:rPr kumimoji="1" lang="en-US" altLang="zh-CN" dirty="0">
                <a:effectLst>
                  <a:outerShdw blurRad="38100" dist="38100" dir="2700000" algn="tl">
                    <a:srgbClr val="C0C0C0"/>
                  </a:outerShdw>
                </a:effectLst>
                <a:latin typeface="楷体_GB2312" pitchFamily="49" charset="-122"/>
                <a:ea typeface="楷体_GB2312" pitchFamily="49" charset="-122"/>
              </a:rPr>
              <a:t>3</a:t>
            </a:r>
            <a:r>
              <a:rPr kumimoji="1" lang="zh-CN" altLang="en-US" dirty="0">
                <a:effectLst>
                  <a:outerShdw blurRad="38100" dist="38100" dir="2700000" algn="tl">
                    <a:srgbClr val="C0C0C0"/>
                  </a:outerShdw>
                </a:effectLst>
                <a:latin typeface="楷体_GB2312" pitchFamily="49" charset="-122"/>
                <a:ea typeface="楷体_GB2312" pitchFamily="49" charset="-122"/>
              </a:rPr>
              <a:t>，然后再输出</a:t>
            </a:r>
            <a:r>
              <a:rPr kumimoji="1" lang="en-US" altLang="zh-CN" dirty="0">
                <a:effectLst>
                  <a:outerShdw blurRad="38100" dist="38100" dir="2700000" algn="tl">
                    <a:srgbClr val="C0C0C0"/>
                  </a:outerShdw>
                </a:effectLst>
                <a:latin typeface="楷体_GB2312" pitchFamily="49" charset="-122"/>
                <a:ea typeface="楷体_GB2312" pitchFamily="49" charset="-122"/>
              </a:rPr>
              <a:t>a</a:t>
            </a:r>
            <a:r>
              <a:rPr kumimoji="1" lang="zh-CN" altLang="en-US" dirty="0">
                <a:effectLst>
                  <a:outerShdw blurRad="38100" dist="38100" dir="2700000" algn="tl">
                    <a:srgbClr val="C0C0C0"/>
                  </a:outerShdw>
                </a:effectLst>
                <a:latin typeface="楷体_GB2312" pitchFamily="49" charset="-122"/>
                <a:ea typeface="楷体_GB2312" pitchFamily="49" charset="-122"/>
              </a:rPr>
              <a:t>。</a:t>
            </a:r>
            <a:endParaRPr kumimoji="1" lang="zh-CN" altLang="en-US"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123114-BB3F-8926-3938-ED964B9C5BAD}"/>
              </a:ext>
            </a:extLst>
          </p:cNvPr>
          <p:cNvSpPr>
            <a:spLocks noGrp="1"/>
          </p:cNvSpPr>
          <p:nvPr>
            <p:ph type="sldNum" sz="quarter" idx="12"/>
          </p:nvPr>
        </p:nvSpPr>
        <p:spPr/>
        <p:txBody>
          <a:bodyPr/>
          <a:lstStyle/>
          <a:p>
            <a:pPr>
              <a:defRPr/>
            </a:pPr>
            <a:fld id="{F49E70A7-1F58-4C2E-8D93-0E5111D017F8}" type="slidenum">
              <a:rPr lang="en-US" altLang="zh-CN" smtClean="0"/>
              <a:pPr>
                <a:defRPr/>
              </a:pPr>
              <a:t>99</a:t>
            </a:fld>
            <a:endParaRPr lang="en-US" altLang="zh-CN"/>
          </a:p>
        </p:txBody>
      </p:sp>
      <p:sp>
        <p:nvSpPr>
          <p:cNvPr id="4" name="文本框 3">
            <a:extLst>
              <a:ext uri="{FF2B5EF4-FFF2-40B4-BE49-F238E27FC236}">
                <a16:creationId xmlns:a16="http://schemas.microsoft.com/office/drawing/2014/main" id="{45ADEB41-193C-7044-F56B-F6C30857978E}"/>
              </a:ext>
            </a:extLst>
          </p:cNvPr>
          <p:cNvSpPr txBox="1"/>
          <p:nvPr/>
        </p:nvSpPr>
        <p:spPr>
          <a:xfrm>
            <a:off x="179512" y="73069"/>
            <a:ext cx="8579296" cy="6740307"/>
          </a:xfrm>
          <a:prstGeom prst="rect">
            <a:avLst/>
          </a:prstGeom>
          <a:noFill/>
        </p:spPr>
        <p:txBody>
          <a:bodyPr wrap="square">
            <a:spAutoFit/>
          </a:bodyPr>
          <a:lstStyle/>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#include &lt;</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stdio.h</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&gt;</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int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fibonacci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(int n)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r>
              <a:rPr lang="en-US" altLang="zh-CN" sz="1800" kern="100" dirty="0">
                <a:solidFill>
                  <a:srgbClr val="FF0000"/>
                </a:solidFill>
                <a:effectLst/>
                <a:latin typeface="宋体" panose="02010600030101010101" pitchFamily="2" charset="-122"/>
                <a:ea typeface="等线" panose="02010600030101010101" pitchFamily="2" charset="-122"/>
                <a:cs typeface="宋体" panose="02010600030101010101" pitchFamily="2" charset="-122"/>
              </a:rPr>
              <a:t>static </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int fib[50];   </a:t>
            </a:r>
            <a:r>
              <a:rPr lang="en-US" altLang="zh-CN" sz="1800" kern="100" dirty="0">
                <a:latin typeface="宋体" panose="02010600030101010101" pitchFamily="2" charset="-122"/>
                <a:ea typeface="等线" panose="02010600030101010101" pitchFamily="2" charset="-122"/>
                <a:cs typeface="宋体" panose="02010600030101010101" pitchFamily="2" charset="-122"/>
              </a:rPr>
              <a:t>//</a:t>
            </a:r>
            <a:r>
              <a:rPr lang="zh-CN" altLang="en-US" sz="1800" kern="100" dirty="0">
                <a:latin typeface="宋体" panose="02010600030101010101" pitchFamily="2" charset="-122"/>
                <a:ea typeface="等线" panose="02010600030101010101" pitchFamily="2" charset="-122"/>
                <a:cs typeface="宋体" panose="02010600030101010101" pitchFamily="2" charset="-122"/>
              </a:rPr>
              <a:t> 静态数组，避免重复计算</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if (n &lt;= 1)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return n;</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 else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if (fib[n] != 0)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r>
              <a:rPr lang="en-US" altLang="zh-CN" sz="1800" kern="100" dirty="0">
                <a:solidFill>
                  <a:srgbClr val="FF0000"/>
                </a:solidFill>
                <a:effectLst/>
                <a:latin typeface="宋体" panose="02010600030101010101" pitchFamily="2" charset="-122"/>
                <a:ea typeface="等线" panose="02010600030101010101" pitchFamily="2" charset="-122"/>
                <a:cs typeface="宋体" panose="02010600030101010101" pitchFamily="2" charset="-122"/>
              </a:rPr>
              <a:t>return fib[n];</a:t>
            </a:r>
            <a:endParaRPr lang="zh-CN" altLang="zh-CN" sz="1800" kern="100" dirty="0">
              <a:solidFill>
                <a:srgbClr val="FF0000"/>
              </a:solidFill>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 else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fib[n] =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fibonacci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(n - 1) +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fibonacci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(n - 2);</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return fib[n];</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a:t>
            </a: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int main()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int num = 10;</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printf</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("Fibonacci sequence up to %d:\n", num);</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for (int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 0;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&lt; num;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printf</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("%d ",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fibonacci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i</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a:t>
            </a:r>
            <a:r>
              <a:rPr lang="en-US" altLang="zh-CN" sz="1800" kern="100" dirty="0" err="1">
                <a:effectLst/>
                <a:latin typeface="宋体" panose="02010600030101010101" pitchFamily="2" charset="-122"/>
                <a:ea typeface="等线" panose="02010600030101010101" pitchFamily="2" charset="-122"/>
                <a:cs typeface="宋体" panose="02010600030101010101" pitchFamily="2" charset="-122"/>
              </a:rPr>
              <a:t>printf</a:t>
            </a:r>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("\n");</a:t>
            </a:r>
            <a:endParaRPr lang="zh-CN" altLang="zh-CN" sz="1800" kern="100" dirty="0">
              <a:effectLst/>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kern="100" dirty="0">
                <a:effectLst/>
                <a:latin typeface="宋体" panose="02010600030101010101" pitchFamily="2" charset="-122"/>
                <a:ea typeface="等线" panose="02010600030101010101" pitchFamily="2" charset="-122"/>
                <a:cs typeface="宋体" panose="02010600030101010101" pitchFamily="2" charset="-122"/>
              </a:rPr>
              <a:t>    return 0;</a:t>
            </a:r>
            <a:endParaRPr lang="en-US" altLang="zh-CN" sz="1800" kern="100" dirty="0">
              <a:latin typeface="等线" panose="02010600030101010101" pitchFamily="2" charset="-122"/>
              <a:ea typeface="等线" panose="02010600030101010101" pitchFamily="2" charset="-122"/>
              <a:cs typeface="Courier New" panose="02070309020205020404" pitchFamily="49" charset="0"/>
            </a:endParaRPr>
          </a:p>
          <a:p>
            <a:pPr algn="just"/>
            <a:r>
              <a:rPr lang="en-US" altLang="zh-CN" sz="1800" dirty="0">
                <a:effectLst/>
                <a:latin typeface="宋体" panose="02010600030101010101" pitchFamily="2" charset="-122"/>
                <a:cs typeface="宋体" panose="02010600030101010101" pitchFamily="2" charset="-122"/>
              </a:rPr>
              <a:t>}</a:t>
            </a:r>
            <a:endParaRPr lang="zh-CN" altLang="en-US" sz="1800" dirty="0"/>
          </a:p>
        </p:txBody>
      </p:sp>
      <p:grpSp>
        <p:nvGrpSpPr>
          <p:cNvPr id="3" name="Group 6">
            <a:extLst>
              <a:ext uri="{FF2B5EF4-FFF2-40B4-BE49-F238E27FC236}">
                <a16:creationId xmlns:a16="http://schemas.microsoft.com/office/drawing/2014/main" id="{647C782D-3908-C232-610D-3757A62E057E}"/>
              </a:ext>
            </a:extLst>
          </p:cNvPr>
          <p:cNvGrpSpPr>
            <a:grpSpLocks/>
          </p:cNvGrpSpPr>
          <p:nvPr/>
        </p:nvGrpSpPr>
        <p:grpSpPr bwMode="auto">
          <a:xfrm>
            <a:off x="5543550" y="2348880"/>
            <a:ext cx="3600450" cy="2547938"/>
            <a:chOff x="3470" y="1525"/>
            <a:chExt cx="2268" cy="1605"/>
          </a:xfrm>
        </p:grpSpPr>
        <p:sp>
          <p:nvSpPr>
            <p:cNvPr id="5" name="Text Box 7">
              <a:extLst>
                <a:ext uri="{FF2B5EF4-FFF2-40B4-BE49-F238E27FC236}">
                  <a16:creationId xmlns:a16="http://schemas.microsoft.com/office/drawing/2014/main" id="{9C160CEF-076C-0FF0-FB7E-9B1F8740D9C4}"/>
                </a:ext>
              </a:extLst>
            </p:cNvPr>
            <p:cNvSpPr txBox="1">
              <a:spLocks noChangeArrowheads="1"/>
            </p:cNvSpPr>
            <p:nvPr/>
          </p:nvSpPr>
          <p:spPr bwMode="auto">
            <a:xfrm>
              <a:off x="5421" y="2205"/>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grpSp>
          <p:nvGrpSpPr>
            <p:cNvPr id="6" name="Group 8">
              <a:extLst>
                <a:ext uri="{FF2B5EF4-FFF2-40B4-BE49-F238E27FC236}">
                  <a16:creationId xmlns:a16="http://schemas.microsoft.com/office/drawing/2014/main" id="{D200111B-F863-2A8C-7FB1-BA21FF09269E}"/>
                </a:ext>
              </a:extLst>
            </p:cNvPr>
            <p:cNvGrpSpPr>
              <a:grpSpLocks/>
            </p:cNvGrpSpPr>
            <p:nvPr/>
          </p:nvGrpSpPr>
          <p:grpSpPr bwMode="auto">
            <a:xfrm>
              <a:off x="3470" y="1525"/>
              <a:ext cx="2223" cy="1605"/>
              <a:chOff x="3379" y="1798"/>
              <a:chExt cx="2223" cy="1605"/>
            </a:xfrm>
          </p:grpSpPr>
          <p:grpSp>
            <p:nvGrpSpPr>
              <p:cNvPr id="7" name="Group 9">
                <a:extLst>
                  <a:ext uri="{FF2B5EF4-FFF2-40B4-BE49-F238E27FC236}">
                    <a16:creationId xmlns:a16="http://schemas.microsoft.com/office/drawing/2014/main" id="{21C648C6-A755-0792-C39A-50DB00D60918}"/>
                  </a:ext>
                </a:extLst>
              </p:cNvPr>
              <p:cNvGrpSpPr>
                <a:grpSpLocks/>
              </p:cNvGrpSpPr>
              <p:nvPr/>
            </p:nvGrpSpPr>
            <p:grpSpPr bwMode="auto">
              <a:xfrm>
                <a:off x="3559" y="1798"/>
                <a:ext cx="2043" cy="1541"/>
                <a:chOff x="3559" y="1525"/>
                <a:chExt cx="2043" cy="1541"/>
              </a:xfrm>
            </p:grpSpPr>
            <p:sp>
              <p:nvSpPr>
                <p:cNvPr id="22" name="Line 10">
                  <a:extLst>
                    <a:ext uri="{FF2B5EF4-FFF2-40B4-BE49-F238E27FC236}">
                      <a16:creationId xmlns:a16="http://schemas.microsoft.com/office/drawing/2014/main" id="{38214B69-F211-AF64-13A6-D3DD45A06B00}"/>
                    </a:ext>
                  </a:extLst>
                </p:cNvPr>
                <p:cNvSpPr>
                  <a:spLocks noChangeShapeType="1"/>
                </p:cNvSpPr>
                <p:nvPr/>
              </p:nvSpPr>
              <p:spPr bwMode="auto">
                <a:xfrm>
                  <a:off x="4558" y="1797"/>
                  <a:ext cx="68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3" name="Oval 11">
                  <a:extLst>
                    <a:ext uri="{FF2B5EF4-FFF2-40B4-BE49-F238E27FC236}">
                      <a16:creationId xmlns:a16="http://schemas.microsoft.com/office/drawing/2014/main" id="{A366B7BA-A780-0B34-699B-48E22E623ABF}"/>
                    </a:ext>
                  </a:extLst>
                </p:cNvPr>
                <p:cNvSpPr>
                  <a:spLocks noChangeArrowheads="1"/>
                </p:cNvSpPr>
                <p:nvPr/>
              </p:nvSpPr>
              <p:spPr bwMode="auto">
                <a:xfrm>
                  <a:off x="4513" y="1752"/>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4" name="Oval 12">
                  <a:extLst>
                    <a:ext uri="{FF2B5EF4-FFF2-40B4-BE49-F238E27FC236}">
                      <a16:creationId xmlns:a16="http://schemas.microsoft.com/office/drawing/2014/main" id="{EF4DC275-479D-293D-9DC7-84C3C17BFEAD}"/>
                    </a:ext>
                  </a:extLst>
                </p:cNvPr>
                <p:cNvSpPr>
                  <a:spLocks noChangeArrowheads="1"/>
                </p:cNvSpPr>
                <p:nvPr/>
              </p:nvSpPr>
              <p:spPr bwMode="auto">
                <a:xfrm>
                  <a:off x="4141" y="2033"/>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5" name="Oval 13">
                  <a:extLst>
                    <a:ext uri="{FF2B5EF4-FFF2-40B4-BE49-F238E27FC236}">
                      <a16:creationId xmlns:a16="http://schemas.microsoft.com/office/drawing/2014/main" id="{25EA6B06-B35F-AFAF-6729-F4A114F4DDCA}"/>
                    </a:ext>
                  </a:extLst>
                </p:cNvPr>
                <p:cNvSpPr>
                  <a:spLocks noChangeArrowheads="1"/>
                </p:cNvSpPr>
                <p:nvPr/>
              </p:nvSpPr>
              <p:spPr bwMode="auto">
                <a:xfrm>
                  <a:off x="5248" y="1997"/>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6" name="Oval 14">
                  <a:extLst>
                    <a:ext uri="{FF2B5EF4-FFF2-40B4-BE49-F238E27FC236}">
                      <a16:creationId xmlns:a16="http://schemas.microsoft.com/office/drawing/2014/main" id="{99877475-C770-436C-3DDE-B312ACDA9BDE}"/>
                    </a:ext>
                  </a:extLst>
                </p:cNvPr>
                <p:cNvSpPr>
                  <a:spLocks noChangeArrowheads="1"/>
                </p:cNvSpPr>
                <p:nvPr/>
              </p:nvSpPr>
              <p:spPr bwMode="auto">
                <a:xfrm>
                  <a:off x="3878"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7" name="Oval 15">
                  <a:extLst>
                    <a:ext uri="{FF2B5EF4-FFF2-40B4-BE49-F238E27FC236}">
                      <a16:creationId xmlns:a16="http://schemas.microsoft.com/office/drawing/2014/main" id="{8E3340ED-ABAC-9714-28B6-3835FF5F0046}"/>
                    </a:ext>
                  </a:extLst>
                </p:cNvPr>
                <p:cNvSpPr>
                  <a:spLocks noChangeArrowheads="1"/>
                </p:cNvSpPr>
                <p:nvPr/>
              </p:nvSpPr>
              <p:spPr bwMode="auto">
                <a:xfrm>
                  <a:off x="4440"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28" name="Oval 16">
                  <a:extLst>
                    <a:ext uri="{FF2B5EF4-FFF2-40B4-BE49-F238E27FC236}">
                      <a16:creationId xmlns:a16="http://schemas.microsoft.com/office/drawing/2014/main" id="{4A9AFDDC-B108-BBBC-1F6A-6A859662F076}"/>
                    </a:ext>
                  </a:extLst>
                </p:cNvPr>
                <p:cNvSpPr>
                  <a:spLocks noChangeArrowheads="1"/>
                </p:cNvSpPr>
                <p:nvPr/>
              </p:nvSpPr>
              <p:spPr bwMode="auto">
                <a:xfrm>
                  <a:off x="5511"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algn="ctr" eaLnBrk="0" hangingPunct="0">
                    <a:defRPr/>
                  </a:pPr>
                  <a:endParaRPr lang="en-US" altLang="zh-CN">
                    <a:effectLst>
                      <a:outerShdw blurRad="38100" dist="38100" dir="2700000" algn="tl">
                        <a:srgbClr val="FFFFFF"/>
                      </a:outerShdw>
                    </a:effectLst>
                    <a:ea typeface="宋体" pitchFamily="2" charset="-122"/>
                  </a:endParaRPr>
                </a:p>
              </p:txBody>
            </p:sp>
            <p:sp>
              <p:nvSpPr>
                <p:cNvPr id="29" name="Oval 17">
                  <a:extLst>
                    <a:ext uri="{FF2B5EF4-FFF2-40B4-BE49-F238E27FC236}">
                      <a16:creationId xmlns:a16="http://schemas.microsoft.com/office/drawing/2014/main" id="{C5054320-2362-34E8-6DDB-57A758EFC4E8}"/>
                    </a:ext>
                  </a:extLst>
                </p:cNvPr>
                <p:cNvSpPr>
                  <a:spLocks noChangeArrowheads="1"/>
                </p:cNvSpPr>
                <p:nvPr/>
              </p:nvSpPr>
              <p:spPr bwMode="auto">
                <a:xfrm>
                  <a:off x="5021" y="2341"/>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0" name="Oval 18">
                  <a:extLst>
                    <a:ext uri="{FF2B5EF4-FFF2-40B4-BE49-F238E27FC236}">
                      <a16:creationId xmlns:a16="http://schemas.microsoft.com/office/drawing/2014/main" id="{C9C3EF8E-F47E-8235-5B54-43904EB56678}"/>
                    </a:ext>
                  </a:extLst>
                </p:cNvPr>
                <p:cNvSpPr>
                  <a:spLocks noChangeArrowheads="1"/>
                </p:cNvSpPr>
                <p:nvPr/>
              </p:nvSpPr>
              <p:spPr bwMode="auto">
                <a:xfrm>
                  <a:off x="5193"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1" name="Oval 19">
                  <a:extLst>
                    <a:ext uri="{FF2B5EF4-FFF2-40B4-BE49-F238E27FC236}">
                      <a16:creationId xmlns:a16="http://schemas.microsoft.com/office/drawing/2014/main" id="{9DD7AC6F-4802-FF19-22B9-19123DD43571}"/>
                    </a:ext>
                  </a:extLst>
                </p:cNvPr>
                <p:cNvSpPr>
                  <a:spLocks noChangeArrowheads="1"/>
                </p:cNvSpPr>
                <p:nvPr/>
              </p:nvSpPr>
              <p:spPr bwMode="auto">
                <a:xfrm>
                  <a:off x="4622"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2" name="Oval 20">
                  <a:extLst>
                    <a:ext uri="{FF2B5EF4-FFF2-40B4-BE49-F238E27FC236}">
                      <a16:creationId xmlns:a16="http://schemas.microsoft.com/office/drawing/2014/main" id="{256B96D7-8C0E-1CA5-34D9-17E0A5D4EEF9}"/>
                    </a:ext>
                  </a:extLst>
                </p:cNvPr>
                <p:cNvSpPr>
                  <a:spLocks noChangeArrowheads="1"/>
                </p:cNvSpPr>
                <p:nvPr/>
              </p:nvSpPr>
              <p:spPr bwMode="auto">
                <a:xfrm>
                  <a:off x="3696"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3" name="Oval 21">
                  <a:extLst>
                    <a:ext uri="{FF2B5EF4-FFF2-40B4-BE49-F238E27FC236}">
                      <a16:creationId xmlns:a16="http://schemas.microsoft.com/office/drawing/2014/main" id="{7053F0B8-D8EB-A9DC-7133-7CB1CBC554F3}"/>
                    </a:ext>
                  </a:extLst>
                </p:cNvPr>
                <p:cNvSpPr>
                  <a:spLocks noChangeArrowheads="1"/>
                </p:cNvSpPr>
                <p:nvPr/>
              </p:nvSpPr>
              <p:spPr bwMode="auto">
                <a:xfrm>
                  <a:off x="3832" y="2976"/>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4" name="Oval 22">
                  <a:extLst>
                    <a:ext uri="{FF2B5EF4-FFF2-40B4-BE49-F238E27FC236}">
                      <a16:creationId xmlns:a16="http://schemas.microsoft.com/office/drawing/2014/main" id="{DBBE220D-C1B0-CE90-9D24-1C37E97B9C43}"/>
                    </a:ext>
                  </a:extLst>
                </p:cNvPr>
                <p:cNvSpPr>
                  <a:spLocks noChangeArrowheads="1"/>
                </p:cNvSpPr>
                <p:nvPr/>
              </p:nvSpPr>
              <p:spPr bwMode="auto">
                <a:xfrm>
                  <a:off x="3559" y="2976"/>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5" name="Oval 23">
                  <a:extLst>
                    <a:ext uri="{FF2B5EF4-FFF2-40B4-BE49-F238E27FC236}">
                      <a16:creationId xmlns:a16="http://schemas.microsoft.com/office/drawing/2014/main" id="{6449A127-1AAF-19C8-A0AB-D456D8411DE8}"/>
                    </a:ext>
                  </a:extLst>
                </p:cNvPr>
                <p:cNvSpPr>
                  <a:spLocks noChangeArrowheads="1"/>
                </p:cNvSpPr>
                <p:nvPr/>
              </p:nvSpPr>
              <p:spPr bwMode="auto">
                <a:xfrm>
                  <a:off x="4032"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6" name="Oval 24">
                  <a:extLst>
                    <a:ext uri="{FF2B5EF4-FFF2-40B4-BE49-F238E27FC236}">
                      <a16:creationId xmlns:a16="http://schemas.microsoft.com/office/drawing/2014/main" id="{61DB5B30-4FFF-674C-1C6F-AEAB26A1250A}"/>
                    </a:ext>
                  </a:extLst>
                </p:cNvPr>
                <p:cNvSpPr>
                  <a:spLocks noChangeArrowheads="1"/>
                </p:cNvSpPr>
                <p:nvPr/>
              </p:nvSpPr>
              <p:spPr bwMode="auto">
                <a:xfrm>
                  <a:off x="4314"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7" name="Line 25">
                  <a:extLst>
                    <a:ext uri="{FF2B5EF4-FFF2-40B4-BE49-F238E27FC236}">
                      <a16:creationId xmlns:a16="http://schemas.microsoft.com/office/drawing/2014/main" id="{1D39602E-C102-7833-85F4-B6945E71F2B1}"/>
                    </a:ext>
                  </a:extLst>
                </p:cNvPr>
                <p:cNvSpPr>
                  <a:spLocks noChangeShapeType="1"/>
                </p:cNvSpPr>
                <p:nvPr/>
              </p:nvSpPr>
              <p:spPr bwMode="auto">
                <a:xfrm>
                  <a:off x="4558" y="1525"/>
                  <a:ext cx="0"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8" name="Line 26">
                  <a:extLst>
                    <a:ext uri="{FF2B5EF4-FFF2-40B4-BE49-F238E27FC236}">
                      <a16:creationId xmlns:a16="http://schemas.microsoft.com/office/drawing/2014/main" id="{192CABC8-9C8A-2935-BF91-E41778D01689}"/>
                    </a:ext>
                  </a:extLst>
                </p:cNvPr>
                <p:cNvSpPr>
                  <a:spLocks noChangeShapeType="1"/>
                </p:cNvSpPr>
                <p:nvPr/>
              </p:nvSpPr>
              <p:spPr bwMode="auto">
                <a:xfrm flipH="1">
                  <a:off x="4213" y="1815"/>
                  <a:ext cx="317"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39" name="Oval 27">
                  <a:extLst>
                    <a:ext uri="{FF2B5EF4-FFF2-40B4-BE49-F238E27FC236}">
                      <a16:creationId xmlns:a16="http://schemas.microsoft.com/office/drawing/2014/main" id="{281EB260-756D-A94C-01E9-7DF9E2775B30}"/>
                    </a:ext>
                  </a:extLst>
                </p:cNvPr>
                <p:cNvSpPr>
                  <a:spLocks noChangeArrowheads="1"/>
                </p:cNvSpPr>
                <p:nvPr/>
              </p:nvSpPr>
              <p:spPr bwMode="auto">
                <a:xfrm>
                  <a:off x="4876" y="2659"/>
                  <a:ext cx="91" cy="90"/>
                </a:xfrm>
                <a:prstGeom prst="ellipse">
                  <a:avLst/>
                </a:prstGeom>
                <a:solidFill>
                  <a:schemeClr val="accent1"/>
                </a:solidFill>
                <a:ln w="12700">
                  <a:solidFill>
                    <a:schemeClr val="tx1"/>
                  </a:solidFill>
                  <a:round/>
                  <a:headEnd type="none" w="sm" len="sm"/>
                  <a:tailEnd type="none" w="sm" len="sm"/>
                </a:ln>
                <a:effectLst/>
              </p:spPr>
              <p:txBody>
                <a:bodyPr wrap="none" anchor="ct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0" name="Line 28">
                  <a:extLst>
                    <a:ext uri="{FF2B5EF4-FFF2-40B4-BE49-F238E27FC236}">
                      <a16:creationId xmlns:a16="http://schemas.microsoft.com/office/drawing/2014/main" id="{8E83BF12-A8F6-E88B-5CAC-A1BBC6BB7B23}"/>
                    </a:ext>
                  </a:extLst>
                </p:cNvPr>
                <p:cNvSpPr>
                  <a:spLocks noChangeShapeType="1"/>
                </p:cNvSpPr>
                <p:nvPr/>
              </p:nvSpPr>
              <p:spPr bwMode="auto">
                <a:xfrm flipH="1">
                  <a:off x="3969" y="2114"/>
                  <a:ext cx="18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1" name="Line 29">
                  <a:extLst>
                    <a:ext uri="{FF2B5EF4-FFF2-40B4-BE49-F238E27FC236}">
                      <a16:creationId xmlns:a16="http://schemas.microsoft.com/office/drawing/2014/main" id="{718D1300-EF56-8A18-1DA5-6B550AFCB8FB}"/>
                    </a:ext>
                  </a:extLst>
                </p:cNvPr>
                <p:cNvSpPr>
                  <a:spLocks noChangeShapeType="1"/>
                </p:cNvSpPr>
                <p:nvPr/>
              </p:nvSpPr>
              <p:spPr bwMode="auto">
                <a:xfrm flipH="1">
                  <a:off x="3760" y="2423"/>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2" name="Line 30">
                  <a:extLst>
                    <a:ext uri="{FF2B5EF4-FFF2-40B4-BE49-F238E27FC236}">
                      <a16:creationId xmlns:a16="http://schemas.microsoft.com/office/drawing/2014/main" id="{A82F20F5-D82E-2335-7B2E-E22A91C87A9F}"/>
                    </a:ext>
                  </a:extLst>
                </p:cNvPr>
                <p:cNvSpPr>
                  <a:spLocks noChangeShapeType="1"/>
                </p:cNvSpPr>
                <p:nvPr/>
              </p:nvSpPr>
              <p:spPr bwMode="auto">
                <a:xfrm flipH="1">
                  <a:off x="3624" y="2741"/>
                  <a:ext cx="90"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3" name="Line 31">
                  <a:extLst>
                    <a:ext uri="{FF2B5EF4-FFF2-40B4-BE49-F238E27FC236}">
                      <a16:creationId xmlns:a16="http://schemas.microsoft.com/office/drawing/2014/main" id="{23C3DD61-CB32-0BBC-9735-260B0449A6A9}"/>
                    </a:ext>
                  </a:extLst>
                </p:cNvPr>
                <p:cNvSpPr>
                  <a:spLocks noChangeShapeType="1"/>
                </p:cNvSpPr>
                <p:nvPr/>
              </p:nvSpPr>
              <p:spPr bwMode="auto">
                <a:xfrm>
                  <a:off x="3742" y="2750"/>
                  <a:ext cx="136"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4" name="Line 32">
                  <a:extLst>
                    <a:ext uri="{FF2B5EF4-FFF2-40B4-BE49-F238E27FC236}">
                      <a16:creationId xmlns:a16="http://schemas.microsoft.com/office/drawing/2014/main" id="{8BD7FDA3-CF01-2836-D96A-6338D6492779}"/>
                    </a:ext>
                  </a:extLst>
                </p:cNvPr>
                <p:cNvSpPr>
                  <a:spLocks noChangeShapeType="1"/>
                </p:cNvSpPr>
                <p:nvPr/>
              </p:nvSpPr>
              <p:spPr bwMode="auto">
                <a:xfrm>
                  <a:off x="3923"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5" name="Line 33">
                  <a:extLst>
                    <a:ext uri="{FF2B5EF4-FFF2-40B4-BE49-F238E27FC236}">
                      <a16:creationId xmlns:a16="http://schemas.microsoft.com/office/drawing/2014/main" id="{549A31E7-233E-BF00-F8CD-ACCECDE6864D}"/>
                    </a:ext>
                  </a:extLst>
                </p:cNvPr>
                <p:cNvSpPr>
                  <a:spLocks noChangeShapeType="1"/>
                </p:cNvSpPr>
                <p:nvPr/>
              </p:nvSpPr>
              <p:spPr bwMode="auto">
                <a:xfrm>
                  <a:off x="4195" y="2115"/>
                  <a:ext cx="273" cy="226"/>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6" name="Line 34">
                  <a:extLst>
                    <a:ext uri="{FF2B5EF4-FFF2-40B4-BE49-F238E27FC236}">
                      <a16:creationId xmlns:a16="http://schemas.microsoft.com/office/drawing/2014/main" id="{5516AE49-14CF-D1DC-1CE3-178BCBD55BD5}"/>
                    </a:ext>
                  </a:extLst>
                </p:cNvPr>
                <p:cNvSpPr>
                  <a:spLocks noChangeShapeType="1"/>
                </p:cNvSpPr>
                <p:nvPr/>
              </p:nvSpPr>
              <p:spPr bwMode="auto">
                <a:xfrm flipH="1">
                  <a:off x="4377" y="2432"/>
                  <a:ext cx="91"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7" name="Line 35">
                  <a:extLst>
                    <a:ext uri="{FF2B5EF4-FFF2-40B4-BE49-F238E27FC236}">
                      <a16:creationId xmlns:a16="http://schemas.microsoft.com/office/drawing/2014/main" id="{D372B85E-DA40-5F55-FEBC-F42C88BC3758}"/>
                    </a:ext>
                  </a:extLst>
                </p:cNvPr>
                <p:cNvSpPr>
                  <a:spLocks noChangeShapeType="1"/>
                </p:cNvSpPr>
                <p:nvPr/>
              </p:nvSpPr>
              <p:spPr bwMode="auto">
                <a:xfrm>
                  <a:off x="4513"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8" name="Line 36">
                  <a:extLst>
                    <a:ext uri="{FF2B5EF4-FFF2-40B4-BE49-F238E27FC236}">
                      <a16:creationId xmlns:a16="http://schemas.microsoft.com/office/drawing/2014/main" id="{5E33A34D-6605-9774-8927-750C1B4568F3}"/>
                    </a:ext>
                  </a:extLst>
                </p:cNvPr>
                <p:cNvSpPr>
                  <a:spLocks noChangeShapeType="1"/>
                </p:cNvSpPr>
                <p:nvPr/>
              </p:nvSpPr>
              <p:spPr bwMode="auto">
                <a:xfrm flipH="1">
                  <a:off x="4921" y="2432"/>
                  <a:ext cx="136"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49" name="Line 37">
                  <a:extLst>
                    <a:ext uri="{FF2B5EF4-FFF2-40B4-BE49-F238E27FC236}">
                      <a16:creationId xmlns:a16="http://schemas.microsoft.com/office/drawing/2014/main" id="{6E6E799E-3382-BB99-8AF1-351EE19F8D2F}"/>
                    </a:ext>
                  </a:extLst>
                </p:cNvPr>
                <p:cNvSpPr>
                  <a:spLocks noChangeShapeType="1"/>
                </p:cNvSpPr>
                <p:nvPr/>
              </p:nvSpPr>
              <p:spPr bwMode="auto">
                <a:xfrm>
                  <a:off x="5057" y="2432"/>
                  <a:ext cx="182" cy="227"/>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0" name="Line 38">
                  <a:extLst>
                    <a:ext uri="{FF2B5EF4-FFF2-40B4-BE49-F238E27FC236}">
                      <a16:creationId xmlns:a16="http://schemas.microsoft.com/office/drawing/2014/main" id="{B4823402-0F01-9228-CAE8-B329AF0551F2}"/>
                    </a:ext>
                  </a:extLst>
                </p:cNvPr>
                <p:cNvSpPr>
                  <a:spLocks noChangeShapeType="1"/>
                </p:cNvSpPr>
                <p:nvPr/>
              </p:nvSpPr>
              <p:spPr bwMode="auto">
                <a:xfrm flipH="1">
                  <a:off x="5085" y="2079"/>
                  <a:ext cx="181" cy="272"/>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sp>
              <p:nvSpPr>
                <p:cNvPr id="51" name="Line 39">
                  <a:extLst>
                    <a:ext uri="{FF2B5EF4-FFF2-40B4-BE49-F238E27FC236}">
                      <a16:creationId xmlns:a16="http://schemas.microsoft.com/office/drawing/2014/main" id="{8825CD4E-83EB-9A8A-D6CE-AB34BD39A715}"/>
                    </a:ext>
                  </a:extLst>
                </p:cNvPr>
                <p:cNvSpPr>
                  <a:spLocks noChangeShapeType="1"/>
                </p:cNvSpPr>
                <p:nvPr/>
              </p:nvSpPr>
              <p:spPr bwMode="auto">
                <a:xfrm>
                  <a:off x="5284" y="2069"/>
                  <a:ext cx="272" cy="272"/>
                </a:xfrm>
                <a:prstGeom prst="line">
                  <a:avLst/>
                </a:prstGeom>
                <a:noFill/>
                <a:ln w="38100">
                  <a:solidFill>
                    <a:srgbClr val="000080"/>
                  </a:solidFill>
                  <a:round/>
                  <a:headEnd type="none" w="sm" len="sm"/>
                  <a:tailEnd type="none" w="sm" len="sm"/>
                </a:ln>
                <a:effectLst/>
              </p:spPr>
              <p:txBody>
                <a:bodyPr/>
                <a:lstStyle/>
                <a:p>
                  <a:pPr eaLnBrk="0" hangingPunct="0">
                    <a:defRPr/>
                  </a:pPr>
                  <a:endParaRPr lang="zh-CN" altLang="en-US">
                    <a:effectLst>
                      <a:outerShdw blurRad="38100" dist="38100" dir="2700000" algn="tl">
                        <a:srgbClr val="000000">
                          <a:alpha val="43137"/>
                        </a:srgbClr>
                      </a:outerShdw>
                    </a:effectLst>
                    <a:ea typeface="+mn-ea"/>
                  </a:endParaRPr>
                </a:p>
              </p:txBody>
            </p:sp>
          </p:grpSp>
          <p:sp>
            <p:nvSpPr>
              <p:cNvPr id="8" name="Text Box 40">
                <a:extLst>
                  <a:ext uri="{FF2B5EF4-FFF2-40B4-BE49-F238E27FC236}">
                    <a16:creationId xmlns:a16="http://schemas.microsoft.com/office/drawing/2014/main" id="{53F61A35-2F73-8244-AFAC-513D37942602}"/>
                  </a:ext>
                </a:extLst>
              </p:cNvPr>
              <p:cNvSpPr txBox="1">
                <a:spLocks noChangeArrowheads="1"/>
              </p:cNvSpPr>
              <p:nvPr/>
            </p:nvSpPr>
            <p:spPr bwMode="auto">
              <a:xfrm>
                <a:off x="4314" y="1910"/>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5</a:t>
                </a:r>
              </a:p>
            </p:txBody>
          </p:sp>
          <p:sp>
            <p:nvSpPr>
              <p:cNvPr id="9" name="Text Box 41">
                <a:extLst>
                  <a:ext uri="{FF2B5EF4-FFF2-40B4-BE49-F238E27FC236}">
                    <a16:creationId xmlns:a16="http://schemas.microsoft.com/office/drawing/2014/main" id="{8994294A-2D22-7665-50AB-6DC7FEBDE0DB}"/>
                  </a:ext>
                </a:extLst>
              </p:cNvPr>
              <p:cNvSpPr txBox="1">
                <a:spLocks noChangeArrowheads="1"/>
              </p:cNvSpPr>
              <p:nvPr/>
            </p:nvSpPr>
            <p:spPr bwMode="auto">
              <a:xfrm>
                <a:off x="4014" y="2091"/>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4</a:t>
                </a:r>
              </a:p>
            </p:txBody>
          </p:sp>
          <p:sp>
            <p:nvSpPr>
              <p:cNvPr id="10" name="Text Box 42">
                <a:extLst>
                  <a:ext uri="{FF2B5EF4-FFF2-40B4-BE49-F238E27FC236}">
                    <a16:creationId xmlns:a16="http://schemas.microsoft.com/office/drawing/2014/main" id="{08338541-39D5-0828-4F73-261774E9C2E8}"/>
                  </a:ext>
                </a:extLst>
              </p:cNvPr>
              <p:cNvSpPr txBox="1">
                <a:spLocks noChangeArrowheads="1"/>
              </p:cNvSpPr>
              <p:nvPr/>
            </p:nvSpPr>
            <p:spPr bwMode="auto">
              <a:xfrm>
                <a:off x="5194" y="2046"/>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3</a:t>
                </a:r>
              </a:p>
            </p:txBody>
          </p:sp>
          <p:sp>
            <p:nvSpPr>
              <p:cNvPr id="11" name="Text Box 43">
                <a:extLst>
                  <a:ext uri="{FF2B5EF4-FFF2-40B4-BE49-F238E27FC236}">
                    <a16:creationId xmlns:a16="http://schemas.microsoft.com/office/drawing/2014/main" id="{CBDC7FA5-3134-6FB0-2F53-BE1FE5A3C83A}"/>
                  </a:ext>
                </a:extLst>
              </p:cNvPr>
              <p:cNvSpPr txBox="1">
                <a:spLocks noChangeArrowheads="1"/>
              </p:cNvSpPr>
              <p:nvPr/>
            </p:nvSpPr>
            <p:spPr bwMode="auto">
              <a:xfrm>
                <a:off x="4468"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12" name="Text Box 44">
                <a:extLst>
                  <a:ext uri="{FF2B5EF4-FFF2-40B4-BE49-F238E27FC236}">
                    <a16:creationId xmlns:a16="http://schemas.microsoft.com/office/drawing/2014/main" id="{7576C558-3D23-476A-EC25-C389CAC26F59}"/>
                  </a:ext>
                </a:extLst>
              </p:cNvPr>
              <p:cNvSpPr txBox="1">
                <a:spLocks noChangeArrowheads="1"/>
              </p:cNvSpPr>
              <p:nvPr/>
            </p:nvSpPr>
            <p:spPr bwMode="auto">
              <a:xfrm>
                <a:off x="3742"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3</a:t>
                </a:r>
              </a:p>
            </p:txBody>
          </p:sp>
          <p:sp>
            <p:nvSpPr>
              <p:cNvPr id="13" name="Text Box 45">
                <a:extLst>
                  <a:ext uri="{FF2B5EF4-FFF2-40B4-BE49-F238E27FC236}">
                    <a16:creationId xmlns:a16="http://schemas.microsoft.com/office/drawing/2014/main" id="{DB541B9A-20FD-17C5-AF07-AFA4A03F5E1A}"/>
                  </a:ext>
                </a:extLst>
              </p:cNvPr>
              <p:cNvSpPr txBox="1">
                <a:spLocks noChangeArrowheads="1"/>
              </p:cNvSpPr>
              <p:nvPr/>
            </p:nvSpPr>
            <p:spPr bwMode="auto">
              <a:xfrm>
                <a:off x="4876" y="2454"/>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14" name="Text Box 46">
                <a:extLst>
                  <a:ext uri="{FF2B5EF4-FFF2-40B4-BE49-F238E27FC236}">
                    <a16:creationId xmlns:a16="http://schemas.microsoft.com/office/drawing/2014/main" id="{E6C905D2-12D4-0373-20F6-B590CD9A0ACB}"/>
                  </a:ext>
                </a:extLst>
              </p:cNvPr>
              <p:cNvSpPr txBox="1">
                <a:spLocks noChangeArrowheads="1"/>
              </p:cNvSpPr>
              <p:nvPr/>
            </p:nvSpPr>
            <p:spPr bwMode="auto">
              <a:xfrm>
                <a:off x="3533" y="286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2</a:t>
                </a:r>
              </a:p>
            </p:txBody>
          </p:sp>
          <p:sp>
            <p:nvSpPr>
              <p:cNvPr id="15" name="Text Box 47">
                <a:extLst>
                  <a:ext uri="{FF2B5EF4-FFF2-40B4-BE49-F238E27FC236}">
                    <a16:creationId xmlns:a16="http://schemas.microsoft.com/office/drawing/2014/main" id="{9DA9EDDF-8E02-5E0A-6EF0-850E20FD75A8}"/>
                  </a:ext>
                </a:extLst>
              </p:cNvPr>
              <p:cNvSpPr txBox="1">
                <a:spLocks noChangeArrowheads="1"/>
              </p:cNvSpPr>
              <p:nvPr/>
            </p:nvSpPr>
            <p:spPr bwMode="auto">
              <a:xfrm>
                <a:off x="3878" y="28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16" name="Text Box 48">
                <a:extLst>
                  <a:ext uri="{FF2B5EF4-FFF2-40B4-BE49-F238E27FC236}">
                    <a16:creationId xmlns:a16="http://schemas.microsoft.com/office/drawing/2014/main" id="{605B0D19-5863-D99B-05C8-5537F2D5EEAA}"/>
                  </a:ext>
                </a:extLst>
              </p:cNvPr>
              <p:cNvSpPr txBox="1">
                <a:spLocks noChangeArrowheads="1"/>
              </p:cNvSpPr>
              <p:nvPr/>
            </p:nvSpPr>
            <p:spPr bwMode="auto">
              <a:xfrm>
                <a:off x="3379" y="31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dirty="0">
                    <a:effectLst>
                      <a:outerShdw blurRad="38100" dist="38100" dir="2700000" algn="tl">
                        <a:srgbClr val="C0C0C0"/>
                      </a:outerShdw>
                    </a:effectLst>
                    <a:latin typeface="Courier New" pitchFamily="49" charset="0"/>
                    <a:ea typeface="宋体" pitchFamily="2" charset="-122"/>
                  </a:rPr>
                  <a:t>1</a:t>
                </a:r>
              </a:p>
            </p:txBody>
          </p:sp>
          <p:sp>
            <p:nvSpPr>
              <p:cNvPr id="17" name="Text Box 49">
                <a:extLst>
                  <a:ext uri="{FF2B5EF4-FFF2-40B4-BE49-F238E27FC236}">
                    <a16:creationId xmlns:a16="http://schemas.microsoft.com/office/drawing/2014/main" id="{AC21EB2B-237D-5087-95EF-06DD6F6C54BC}"/>
                  </a:ext>
                </a:extLst>
              </p:cNvPr>
              <p:cNvSpPr txBox="1">
                <a:spLocks noChangeArrowheads="1"/>
              </p:cNvSpPr>
              <p:nvPr/>
            </p:nvSpPr>
            <p:spPr bwMode="auto">
              <a:xfrm>
                <a:off x="3878" y="315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sp>
            <p:nvSpPr>
              <p:cNvPr id="18" name="Text Box 50">
                <a:extLst>
                  <a:ext uri="{FF2B5EF4-FFF2-40B4-BE49-F238E27FC236}">
                    <a16:creationId xmlns:a16="http://schemas.microsoft.com/office/drawing/2014/main" id="{FCCD19DA-2C93-639C-495F-D4552D451543}"/>
                  </a:ext>
                </a:extLst>
              </p:cNvPr>
              <p:cNvSpPr txBox="1">
                <a:spLocks noChangeArrowheads="1"/>
              </p:cNvSpPr>
              <p:nvPr/>
            </p:nvSpPr>
            <p:spPr bwMode="auto">
              <a:xfrm>
                <a:off x="4150" y="286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19" name="Text Box 51">
                <a:extLst>
                  <a:ext uri="{FF2B5EF4-FFF2-40B4-BE49-F238E27FC236}">
                    <a16:creationId xmlns:a16="http://schemas.microsoft.com/office/drawing/2014/main" id="{42CE26E3-D7BB-84C6-F268-559A5E0809F2}"/>
                  </a:ext>
                </a:extLst>
              </p:cNvPr>
              <p:cNvSpPr txBox="1">
                <a:spLocks noChangeArrowheads="1"/>
              </p:cNvSpPr>
              <p:nvPr/>
            </p:nvSpPr>
            <p:spPr bwMode="auto">
              <a:xfrm>
                <a:off x="4450" y="286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sp>
            <p:nvSpPr>
              <p:cNvPr id="20" name="Text Box 52">
                <a:extLst>
                  <a:ext uri="{FF2B5EF4-FFF2-40B4-BE49-F238E27FC236}">
                    <a16:creationId xmlns:a16="http://schemas.microsoft.com/office/drawing/2014/main" id="{C35045F2-43C5-C0A8-DFB1-DE7B88AEB29B}"/>
                  </a:ext>
                </a:extLst>
              </p:cNvPr>
              <p:cNvSpPr txBox="1">
                <a:spLocks noChangeArrowheads="1"/>
              </p:cNvSpPr>
              <p:nvPr/>
            </p:nvSpPr>
            <p:spPr bwMode="auto">
              <a:xfrm>
                <a:off x="4731" y="2863"/>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1</a:t>
                </a:r>
              </a:p>
            </p:txBody>
          </p:sp>
          <p:sp>
            <p:nvSpPr>
              <p:cNvPr id="21" name="Text Box 53">
                <a:extLst>
                  <a:ext uri="{FF2B5EF4-FFF2-40B4-BE49-F238E27FC236}">
                    <a16:creationId xmlns:a16="http://schemas.microsoft.com/office/drawing/2014/main" id="{BE69F1BE-8D38-FCF0-563C-F3004A068343}"/>
                  </a:ext>
                </a:extLst>
              </p:cNvPr>
              <p:cNvSpPr txBox="1">
                <a:spLocks noChangeArrowheads="1"/>
              </p:cNvSpPr>
              <p:nvPr/>
            </p:nvSpPr>
            <p:spPr bwMode="auto">
              <a:xfrm>
                <a:off x="5039" y="2877"/>
                <a:ext cx="317" cy="25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lang="en-US" altLang="zh-CN" sz="2000" b="1">
                    <a:effectLst>
                      <a:outerShdw blurRad="38100" dist="38100" dir="2700000" algn="tl">
                        <a:srgbClr val="C0C0C0"/>
                      </a:outerShdw>
                    </a:effectLst>
                    <a:latin typeface="Courier New" pitchFamily="49" charset="0"/>
                    <a:ea typeface="宋体" pitchFamily="2" charset="-122"/>
                  </a:rPr>
                  <a:t>0</a:t>
                </a:r>
              </a:p>
            </p:txBody>
          </p:sp>
        </p:grpSp>
      </p:grpSp>
    </p:spTree>
    <p:extLst>
      <p:ext uri="{BB962C8B-B14F-4D97-AF65-F5344CB8AC3E}">
        <p14:creationId xmlns:p14="http://schemas.microsoft.com/office/powerpoint/2010/main" val="81642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7B1F725-C83F-B929-A17F-4A0DC44C4F9E}"/>
              </a:ext>
            </a:extLst>
          </p:cNvPr>
          <p:cNvSpPr>
            <a:spLocks noGrp="1"/>
          </p:cNvSpPr>
          <p:nvPr>
            <p:ph type="sldNum" sz="quarter" idx="12"/>
          </p:nvPr>
        </p:nvSpPr>
        <p:spPr/>
        <p:txBody>
          <a:bodyPr/>
          <a:lstStyle/>
          <a:p>
            <a:pPr>
              <a:defRPr/>
            </a:pPr>
            <a:fld id="{F49E70A7-1F58-4C2E-8D93-0E5111D017F8}" type="slidenum">
              <a:rPr lang="en-US" altLang="zh-CN" smtClean="0"/>
              <a:pPr>
                <a:defRPr/>
              </a:pPr>
              <a:t>100</a:t>
            </a:fld>
            <a:endParaRPr lang="en-US" altLang="zh-CN"/>
          </a:p>
        </p:txBody>
      </p:sp>
      <p:sp>
        <p:nvSpPr>
          <p:cNvPr id="4" name="文本框 3">
            <a:extLst>
              <a:ext uri="{FF2B5EF4-FFF2-40B4-BE49-F238E27FC236}">
                <a16:creationId xmlns:a16="http://schemas.microsoft.com/office/drawing/2014/main" id="{74E8E540-9601-FC15-57C4-C73590BA2A26}"/>
              </a:ext>
            </a:extLst>
          </p:cNvPr>
          <p:cNvSpPr txBox="1"/>
          <p:nvPr/>
        </p:nvSpPr>
        <p:spPr>
          <a:xfrm>
            <a:off x="0" y="84683"/>
            <a:ext cx="9468544" cy="7171194"/>
          </a:xfrm>
          <a:prstGeom prst="rect">
            <a:avLst/>
          </a:prstGeom>
          <a:noFill/>
        </p:spPr>
        <p:txBody>
          <a:bodyPr wrap="square">
            <a:spAutoFit/>
          </a:bodyPr>
          <a:lstStyle/>
          <a:p>
            <a:pPr algn="l"/>
            <a:r>
              <a:rPr lang="en-US" altLang="zh-CN" sz="2000" dirty="0"/>
              <a:t>#include &lt;</a:t>
            </a:r>
            <a:r>
              <a:rPr lang="en-US" altLang="zh-CN" sz="2000" dirty="0" err="1"/>
              <a:t>stdio.h</a:t>
            </a:r>
            <a:r>
              <a:rPr lang="en-US" altLang="zh-CN" sz="2000" dirty="0"/>
              <a:t>&gt;</a:t>
            </a:r>
          </a:p>
          <a:p>
            <a:pPr algn="l"/>
            <a:r>
              <a:rPr lang="en-US" altLang="zh-CN" sz="2000" dirty="0" err="1" smtClean="0">
                <a:solidFill>
                  <a:srgbClr val="FF0000"/>
                </a:solidFill>
              </a:rPr>
              <a:t>int</a:t>
            </a:r>
            <a:r>
              <a:rPr lang="en-US" altLang="zh-CN" sz="2000" dirty="0" smtClean="0">
                <a:solidFill>
                  <a:srgbClr val="FF0000"/>
                </a:solidFill>
              </a:rPr>
              <a:t> </a:t>
            </a:r>
            <a:r>
              <a:rPr lang="en-US" altLang="zh-CN" sz="2000" dirty="0">
                <a:solidFill>
                  <a:srgbClr val="FF0000"/>
                </a:solidFill>
              </a:rPr>
              <a:t>N = 4;</a:t>
            </a:r>
          </a:p>
          <a:p>
            <a:pPr algn="l"/>
            <a:r>
              <a:rPr lang="en-US" altLang="zh-CN" sz="2000" dirty="0">
                <a:solidFill>
                  <a:srgbClr val="FF0000"/>
                </a:solidFill>
              </a:rPr>
              <a:t>char set[] = {'a', 'b', 'c', 'd'};</a:t>
            </a:r>
          </a:p>
          <a:p>
            <a:pPr algn="l"/>
            <a:r>
              <a:rPr lang="en-US" altLang="zh-CN" sz="2000" dirty="0" err="1">
                <a:solidFill>
                  <a:srgbClr val="FF0000"/>
                </a:solidFill>
              </a:rPr>
              <a:t>int</a:t>
            </a:r>
            <a:r>
              <a:rPr lang="en-US" altLang="zh-CN" sz="2000" dirty="0">
                <a:solidFill>
                  <a:srgbClr val="FF0000"/>
                </a:solidFill>
              </a:rPr>
              <a:t> subset[4]; </a:t>
            </a:r>
          </a:p>
          <a:p>
            <a:pPr algn="l"/>
            <a:endParaRPr lang="en-US" altLang="zh-CN" sz="2000" dirty="0"/>
          </a:p>
          <a:p>
            <a:pPr algn="l"/>
            <a:r>
              <a:rPr lang="en-US" altLang="zh-CN" sz="2000" dirty="0"/>
              <a:t>void </a:t>
            </a:r>
            <a:r>
              <a:rPr lang="en-US" altLang="zh-CN" sz="2000" dirty="0" err="1"/>
              <a:t>generateSubsets</a:t>
            </a:r>
            <a:r>
              <a:rPr lang="en-US" altLang="zh-CN" sz="2000" dirty="0"/>
              <a:t>(</a:t>
            </a:r>
            <a:r>
              <a:rPr lang="en-US" altLang="zh-CN" sz="2000" dirty="0" err="1"/>
              <a:t>int</a:t>
            </a:r>
            <a:r>
              <a:rPr lang="en-US" altLang="zh-CN" sz="2000" dirty="0"/>
              <a:t> index) {</a:t>
            </a:r>
          </a:p>
          <a:p>
            <a:pPr algn="l"/>
            <a:r>
              <a:rPr lang="en-US" altLang="zh-CN" sz="2000" dirty="0"/>
              <a:t>    if (index == N) {</a:t>
            </a:r>
          </a:p>
          <a:p>
            <a:pPr algn="l"/>
            <a:r>
              <a:rPr lang="en-US" altLang="zh-CN" sz="2000" dirty="0"/>
              <a:t>        for (</a:t>
            </a:r>
            <a:r>
              <a:rPr lang="en-US" altLang="zh-CN" sz="2000" dirty="0" err="1"/>
              <a:t>int</a:t>
            </a:r>
            <a:r>
              <a:rPr lang="en-US" altLang="zh-CN" sz="2000" dirty="0"/>
              <a:t> </a:t>
            </a:r>
            <a:r>
              <a:rPr lang="en-US" altLang="zh-CN" sz="2000" dirty="0" err="1"/>
              <a:t>i</a:t>
            </a:r>
            <a:r>
              <a:rPr lang="en-US" altLang="zh-CN" sz="2000" dirty="0"/>
              <a:t> = 0; </a:t>
            </a:r>
            <a:r>
              <a:rPr lang="en-US" altLang="zh-CN" sz="2000" dirty="0" err="1"/>
              <a:t>i</a:t>
            </a:r>
            <a:r>
              <a:rPr lang="en-US" altLang="zh-CN" sz="2000" dirty="0"/>
              <a:t> &lt; N; </a:t>
            </a:r>
            <a:r>
              <a:rPr lang="en-US" altLang="zh-CN" sz="2000" dirty="0" err="1"/>
              <a:t>i</a:t>
            </a:r>
            <a:r>
              <a:rPr lang="en-US" altLang="zh-CN" sz="2000" dirty="0"/>
              <a:t>++) </a:t>
            </a:r>
          </a:p>
          <a:p>
            <a:pPr algn="l"/>
            <a:r>
              <a:rPr lang="en-US" altLang="zh-CN" sz="2000" dirty="0"/>
              <a:t>            if (subset[</a:t>
            </a:r>
            <a:r>
              <a:rPr lang="en-US" altLang="zh-CN" sz="2000" dirty="0" err="1"/>
              <a:t>i</a:t>
            </a:r>
            <a:r>
              <a:rPr lang="en-US" altLang="zh-CN" sz="2000" dirty="0"/>
              <a:t>] == 1) </a:t>
            </a:r>
          </a:p>
          <a:p>
            <a:pPr algn="l"/>
            <a:r>
              <a:rPr lang="en-US" altLang="zh-CN" sz="2000" dirty="0"/>
              <a:t>                </a:t>
            </a:r>
            <a:r>
              <a:rPr lang="en-US" altLang="zh-CN" sz="2000" dirty="0" err="1"/>
              <a:t>printf</a:t>
            </a:r>
            <a:r>
              <a:rPr lang="en-US" altLang="zh-CN" sz="2000" dirty="0"/>
              <a:t>("%c ", set[</a:t>
            </a:r>
            <a:r>
              <a:rPr lang="en-US" altLang="zh-CN" sz="2000" dirty="0" err="1"/>
              <a:t>i</a:t>
            </a:r>
            <a:r>
              <a:rPr lang="en-US" altLang="zh-CN" sz="2000" dirty="0"/>
              <a:t>]);</a:t>
            </a:r>
          </a:p>
          <a:p>
            <a:pPr algn="l"/>
            <a:r>
              <a:rPr lang="en-US" altLang="zh-CN" sz="2000" dirty="0"/>
              <a:t>         </a:t>
            </a:r>
            <a:r>
              <a:rPr lang="en-US" altLang="zh-CN" sz="2000" dirty="0" err="1"/>
              <a:t>printf</a:t>
            </a:r>
            <a:r>
              <a:rPr lang="en-US" altLang="zh-CN" sz="2000" dirty="0"/>
              <a:t>("\n");</a:t>
            </a:r>
          </a:p>
          <a:p>
            <a:pPr algn="l"/>
            <a:r>
              <a:rPr lang="en-US" altLang="zh-CN" sz="2000" dirty="0"/>
              <a:t>    } else {</a:t>
            </a:r>
          </a:p>
          <a:p>
            <a:pPr algn="l"/>
            <a:r>
              <a:rPr lang="en-US" altLang="zh-CN" sz="2000" dirty="0"/>
              <a:t>        subset[index] = 0;</a:t>
            </a:r>
          </a:p>
          <a:p>
            <a:pPr algn="l"/>
            <a:r>
              <a:rPr lang="en-US" altLang="zh-CN" sz="2000" dirty="0"/>
              <a:t>        </a:t>
            </a:r>
            <a:r>
              <a:rPr lang="en-US" altLang="zh-CN" sz="2000" dirty="0" err="1"/>
              <a:t>generateSubsets</a:t>
            </a:r>
            <a:r>
              <a:rPr lang="en-US" altLang="zh-CN" sz="2000" dirty="0"/>
              <a:t>(index + 1);</a:t>
            </a:r>
          </a:p>
          <a:p>
            <a:pPr algn="l"/>
            <a:r>
              <a:rPr lang="en-US" altLang="zh-CN" sz="2000" dirty="0"/>
              <a:t>        subset[index] = 1;</a:t>
            </a:r>
          </a:p>
          <a:p>
            <a:pPr algn="l"/>
            <a:r>
              <a:rPr lang="en-US" altLang="zh-CN" sz="2000" dirty="0"/>
              <a:t>        </a:t>
            </a:r>
            <a:r>
              <a:rPr lang="en-US" altLang="zh-CN" sz="2000" dirty="0" err="1"/>
              <a:t>generateSubsets</a:t>
            </a:r>
            <a:r>
              <a:rPr lang="en-US" altLang="zh-CN" sz="2000" dirty="0"/>
              <a:t>(index + 1);</a:t>
            </a:r>
          </a:p>
          <a:p>
            <a:pPr algn="l"/>
            <a:r>
              <a:rPr lang="en-US" altLang="zh-CN" sz="2000" dirty="0"/>
              <a:t>    }</a:t>
            </a:r>
          </a:p>
          <a:p>
            <a:pPr algn="l"/>
            <a:r>
              <a:rPr lang="en-US" altLang="zh-CN" sz="2000" dirty="0"/>
              <a:t>}</a:t>
            </a:r>
          </a:p>
          <a:p>
            <a:pPr algn="l"/>
            <a:r>
              <a:rPr lang="en-US" altLang="zh-CN" sz="2000" dirty="0" err="1"/>
              <a:t>int</a:t>
            </a:r>
            <a:r>
              <a:rPr lang="en-US" altLang="zh-CN" sz="2000" dirty="0"/>
              <a:t> main() {</a:t>
            </a:r>
          </a:p>
          <a:p>
            <a:pPr algn="l"/>
            <a:r>
              <a:rPr lang="en-US" altLang="zh-CN" sz="2000" dirty="0"/>
              <a:t>    </a:t>
            </a:r>
            <a:r>
              <a:rPr lang="en-US" altLang="zh-CN" sz="2000" dirty="0" err="1"/>
              <a:t>generateSubsets</a:t>
            </a:r>
            <a:r>
              <a:rPr lang="en-US" altLang="zh-CN" sz="2000" dirty="0"/>
              <a:t>(0); </a:t>
            </a:r>
          </a:p>
          <a:p>
            <a:pPr algn="l"/>
            <a:r>
              <a:rPr lang="en-US" altLang="zh-CN" sz="2000" dirty="0"/>
              <a:t>    return 0;</a:t>
            </a:r>
          </a:p>
          <a:p>
            <a:pPr algn="l"/>
            <a:r>
              <a:rPr lang="en-US" altLang="zh-CN" sz="2000" dirty="0"/>
              <a:t>}</a:t>
            </a:r>
          </a:p>
          <a:p>
            <a:pPr algn="l"/>
            <a:endParaRPr lang="zh-CN" altLang="en-US" sz="2000" dirty="0"/>
          </a:p>
        </p:txBody>
      </p:sp>
    </p:spTree>
    <p:extLst>
      <p:ext uri="{BB962C8B-B14F-4D97-AF65-F5344CB8AC3E}">
        <p14:creationId xmlns:p14="http://schemas.microsoft.com/office/powerpoint/2010/main" val="343705637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1DC93A1C-8AE2-4925-B17F-0AA68A0746B6}" type="slidenum">
              <a:rPr lang="en-US" altLang="zh-CN"/>
              <a:pPr>
                <a:defRPr/>
              </a:pPr>
              <a:t>101</a:t>
            </a:fld>
            <a:endParaRPr lang="en-US" altLang="zh-CN"/>
          </a:p>
        </p:txBody>
      </p:sp>
      <p:sp>
        <p:nvSpPr>
          <p:cNvPr id="486402" name="Text Box 2"/>
          <p:cNvSpPr txBox="1">
            <a:spLocks noChangeArrowheads="1"/>
          </p:cNvSpPr>
          <p:nvPr/>
        </p:nvSpPr>
        <p:spPr bwMode="auto">
          <a:xfrm>
            <a:off x="304800" y="331788"/>
            <a:ext cx="6057900" cy="576262"/>
          </a:xfrm>
          <a:prstGeom prst="rect">
            <a:avLst/>
          </a:prstGeom>
          <a:noFill/>
          <a:ln w="9525">
            <a:noFill/>
            <a:miter lim="800000"/>
            <a:headEnd/>
            <a:tailEnd/>
          </a:ln>
          <a:effectLst/>
        </p:spPr>
        <p:txBody>
          <a:bodyPr lIns="89401" tIns="44700" rIns="89401" bIns="44700">
            <a:spAutoFit/>
          </a:bodyPr>
          <a:lstStyle/>
          <a:p>
            <a:pPr defTabSz="893763" eaLnBrk="1" hangingPunct="1">
              <a:defRPr/>
            </a:pPr>
            <a:r>
              <a:rPr kumimoji="1" lang="en-US" altLang="zh-CN" sz="3200">
                <a:solidFill>
                  <a:srgbClr val="FF0000"/>
                </a:solidFill>
                <a:effectLst>
                  <a:outerShdw blurRad="38100" dist="38100" dir="2700000" algn="tl">
                    <a:srgbClr val="C0C0C0"/>
                  </a:outerShdw>
                </a:effectLst>
                <a:latin typeface="楷体_GB2312" pitchFamily="49" charset="-122"/>
                <a:ea typeface="楷体_GB2312" pitchFamily="49" charset="-122"/>
              </a:rPr>
              <a:t>5.9 </a:t>
            </a:r>
            <a:r>
              <a:rPr kumimoji="1" lang="zh-CN" altLang="en-US" sz="3200">
                <a:solidFill>
                  <a:srgbClr val="FF0000"/>
                </a:solidFill>
                <a:effectLst>
                  <a:outerShdw blurRad="38100" dist="38100" dir="2700000" algn="tl">
                    <a:srgbClr val="C0C0C0"/>
                  </a:outerShdw>
                </a:effectLst>
                <a:latin typeface="楷体_GB2312" pitchFamily="49" charset="-122"/>
                <a:ea typeface="楷体_GB2312" pitchFamily="49" charset="-122"/>
              </a:rPr>
              <a:t>预处理命令简介</a:t>
            </a:r>
            <a:r>
              <a:rPr kumimoji="1" lang="zh-CN" altLang="en-US" sz="2300" b="0">
                <a:solidFill>
                  <a:srgbClr val="FF0000"/>
                </a:solidFill>
                <a:latin typeface="楷体_GB2312" pitchFamily="49" charset="-122"/>
                <a:ea typeface="楷体_GB2312" pitchFamily="49" charset="-122"/>
              </a:rPr>
              <a:t> </a:t>
            </a:r>
          </a:p>
        </p:txBody>
      </p:sp>
      <p:sp>
        <p:nvSpPr>
          <p:cNvPr id="486403" name="Text Box 3"/>
          <p:cNvSpPr txBox="1">
            <a:spLocks noChangeArrowheads="1"/>
          </p:cNvSpPr>
          <p:nvPr/>
        </p:nvSpPr>
        <p:spPr bwMode="auto">
          <a:xfrm>
            <a:off x="611188" y="1181100"/>
            <a:ext cx="7848600" cy="4399145"/>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C</a:t>
            </a:r>
            <a:r>
              <a:rPr kumimoji="1" lang="zh-CN" altLang="en-US" dirty="0">
                <a:effectLst>
                  <a:outerShdw blurRad="38100" dist="38100" dir="2700000" algn="tl">
                    <a:srgbClr val="C0C0C0"/>
                  </a:outerShdw>
                </a:effectLst>
                <a:latin typeface="楷体_GB2312" pitchFamily="49" charset="-122"/>
                <a:ea typeface="楷体_GB2312" pitchFamily="49" charset="-122"/>
              </a:rPr>
              <a:t>语言编译系统提供编译预处理的功能，所谓编译预处理是指，在对源程序作编译（包括词法和语法分析、代码生成、优化等</a:t>
            </a:r>
            <a:r>
              <a:rPr kumimoji="1" lang="en-US" altLang="zh-CN" dirty="0">
                <a:effectLst>
                  <a:outerShdw blurRad="38100" dist="38100" dir="2700000" algn="tl">
                    <a:srgbClr val="C0C0C0"/>
                  </a:outerShdw>
                </a:effectLst>
                <a:latin typeface="楷体_GB2312" pitchFamily="49" charset="-122"/>
                <a:ea typeface="楷体_GB2312" pitchFamily="49" charset="-122"/>
              </a:rPr>
              <a:t>) </a:t>
            </a:r>
            <a:r>
              <a:rPr kumimoji="1" lang="zh-CN" altLang="en-US" dirty="0">
                <a:effectLst>
                  <a:outerShdw blurRad="38100" dist="38100" dir="2700000" algn="tl">
                    <a:srgbClr val="C0C0C0"/>
                  </a:outerShdw>
                </a:effectLst>
                <a:latin typeface="楷体_GB2312" pitchFamily="49" charset="-122"/>
                <a:ea typeface="楷体_GB2312" pitchFamily="49" charset="-122"/>
              </a:rPr>
              <a:t>之前，先对源程序中一些特殊的预处理命令作解释，产生新的源程序。然后，对新的源程序作编译处理。</a:t>
            </a:r>
          </a:p>
          <a:p>
            <a:pPr algn="l" defTabSz="893763">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Ｃ语言提供的预处理命令主要有宏定义、文件包含、条件</a:t>
            </a:r>
            <a:r>
              <a:rPr kumimoji="1" lang="zh-CN" altLang="en-US" dirty="0" smtClean="0">
                <a:effectLst>
                  <a:outerShdw blurRad="38100" dist="38100" dir="2700000" algn="tl">
                    <a:srgbClr val="C0C0C0"/>
                  </a:outerShdw>
                </a:effectLst>
                <a:latin typeface="楷体_GB2312" pitchFamily="49" charset="-122"/>
                <a:ea typeface="楷体_GB2312" pitchFamily="49" charset="-122"/>
              </a:rPr>
              <a:t>编译等。为</a:t>
            </a:r>
            <a:r>
              <a:rPr kumimoji="1" lang="zh-CN" altLang="en-US" dirty="0">
                <a:effectLst>
                  <a:outerShdw blurRad="38100" dist="38100" dir="2700000" algn="tl">
                    <a:srgbClr val="C0C0C0"/>
                  </a:outerShdw>
                </a:effectLst>
                <a:latin typeface="楷体_GB2312" pitchFamily="49" charset="-122"/>
                <a:ea typeface="楷体_GB2312" pitchFamily="49" charset="-122"/>
              </a:rPr>
              <a:t>区别预处理命令和一般的Ｃ代码，</a:t>
            </a:r>
            <a:r>
              <a:rPr kumimoji="1" lang="zh-CN" altLang="en-US" dirty="0">
                <a:solidFill>
                  <a:srgbClr val="990000"/>
                </a:solidFill>
                <a:effectLst>
                  <a:outerShdw blurRad="38100" dist="38100" dir="2700000" algn="tl">
                    <a:srgbClr val="C0C0C0"/>
                  </a:outerShdw>
                </a:effectLst>
                <a:latin typeface="楷体_GB2312" pitchFamily="49" charset="-122"/>
                <a:ea typeface="楷体_GB2312" pitchFamily="49" charset="-122"/>
              </a:rPr>
              <a:t>所有预处理命令行都另起一行，并以字符</a:t>
            </a:r>
            <a:r>
              <a:rPr kumimoji="1" lang="zh-CN" altLang="en-US" dirty="0">
                <a:solidFill>
                  <a:srgbClr val="990000"/>
                </a:solidFill>
                <a:effectLst>
                  <a:outerShdw blurRad="38100" dist="38100" dir="2700000" algn="tl">
                    <a:srgbClr val="C0C0C0"/>
                  </a:outerShdw>
                </a:effectLst>
                <a:latin typeface="Times New Roman"/>
                <a:ea typeface="楷体_GB2312" pitchFamily="49" charset="-122"/>
              </a:rPr>
              <a:t>“</a:t>
            </a:r>
            <a:r>
              <a:rPr kumimoji="1" lang="en-US" altLang="zh-CN" dirty="0">
                <a:solidFill>
                  <a:srgbClr val="990000"/>
                </a:solidFill>
                <a:effectLst>
                  <a:outerShdw blurRad="38100" dist="38100" dir="2700000" algn="tl">
                    <a:srgbClr val="C0C0C0"/>
                  </a:outerShdw>
                </a:effectLst>
                <a:latin typeface="楷体_GB2312" pitchFamily="49" charset="-122"/>
                <a:ea typeface="楷体_GB2312" pitchFamily="49" charset="-122"/>
              </a:rPr>
              <a:t>#</a:t>
            </a:r>
            <a:r>
              <a:rPr kumimoji="1" lang="en-US" altLang="zh-CN" dirty="0">
                <a:solidFill>
                  <a:srgbClr val="990000"/>
                </a:solidFill>
                <a:effectLst>
                  <a:outerShdw blurRad="38100" dist="38100" dir="2700000" algn="tl">
                    <a:srgbClr val="C0C0C0"/>
                  </a:outerShdw>
                </a:effectLst>
                <a:latin typeface="Times New Roman"/>
                <a:ea typeface="楷体_GB2312" pitchFamily="49" charset="-122"/>
              </a:rPr>
              <a:t>”</a:t>
            </a:r>
            <a:r>
              <a:rPr kumimoji="1" lang="zh-CN" altLang="en-US" dirty="0">
                <a:solidFill>
                  <a:srgbClr val="990000"/>
                </a:solidFill>
                <a:effectLst>
                  <a:outerShdw blurRad="38100" dist="38100" dir="2700000" algn="tl">
                    <a:srgbClr val="C0C0C0"/>
                  </a:outerShdw>
                </a:effectLst>
                <a:latin typeface="楷体_GB2312" pitchFamily="49" charset="-122"/>
                <a:ea typeface="楷体_GB2312" pitchFamily="49" charset="-122"/>
              </a:rPr>
              <a:t>和预处理命令符开头作为标记。</a:t>
            </a:r>
            <a:r>
              <a:rPr kumimoji="1" lang="zh-CN" altLang="en-US" dirty="0">
                <a:solidFill>
                  <a:srgbClr val="990000"/>
                </a:solidFill>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6403">
                                            <p:txEl>
                                              <p:pRg st="2" end="2"/>
                                            </p:txEl>
                                          </p:spTgt>
                                        </p:tgtEl>
                                        <p:attrNameLst>
                                          <p:attrName>style.visibility</p:attrName>
                                        </p:attrNameLst>
                                      </p:cBhvr>
                                      <p:to>
                                        <p:strVal val="visible"/>
                                      </p:to>
                                    </p:set>
                                    <p:anim calcmode="lin" valueType="num">
                                      <p:cBhvr additive="base">
                                        <p:cTn id="7" dur="500" fill="hold"/>
                                        <p:tgtEl>
                                          <p:spTgt spid="48640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64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95DA1A6-35D8-4BF4-B0B4-03AE33C9243A}" type="slidenum">
              <a:rPr lang="en-US" altLang="zh-CN"/>
              <a:pPr>
                <a:defRPr/>
              </a:pPr>
              <a:t>102</a:t>
            </a:fld>
            <a:endParaRPr lang="en-US" altLang="zh-CN"/>
          </a:p>
        </p:txBody>
      </p:sp>
      <p:sp>
        <p:nvSpPr>
          <p:cNvPr id="487426" name="Text Box 2"/>
          <p:cNvSpPr txBox="1">
            <a:spLocks noChangeArrowheads="1"/>
          </p:cNvSpPr>
          <p:nvPr/>
        </p:nvSpPr>
        <p:spPr bwMode="auto">
          <a:xfrm>
            <a:off x="304800" y="260350"/>
            <a:ext cx="6057900" cy="576263"/>
          </a:xfrm>
          <a:prstGeom prst="rect">
            <a:avLst/>
          </a:prstGeom>
          <a:noFill/>
          <a:ln w="9525">
            <a:noFill/>
            <a:miter lim="800000"/>
            <a:headEnd/>
            <a:tailEnd/>
          </a:ln>
          <a:effectLst/>
        </p:spPr>
        <p:txBody>
          <a:bodyPr lIns="89401" tIns="44700" rIns="89401" bIns="44700">
            <a:spAutoFit/>
          </a:bodyPr>
          <a:lstStyle/>
          <a:p>
            <a:pPr algn="l" defTabSz="893763" eaLnBrk="1" hangingPunct="1">
              <a:defRPr/>
            </a:pPr>
            <a:r>
              <a:rPr kumimoji="1" lang="zh-CN" altLang="en-US" sz="3200">
                <a:solidFill>
                  <a:srgbClr val="FF0000"/>
                </a:solidFill>
                <a:effectLst>
                  <a:outerShdw blurRad="38100" dist="38100" dir="2700000" algn="tl">
                    <a:srgbClr val="C0C0C0"/>
                  </a:outerShdw>
                </a:effectLst>
                <a:latin typeface="楷体_GB2312" pitchFamily="49" charset="-122"/>
                <a:ea typeface="楷体_GB2312" pitchFamily="49" charset="-122"/>
              </a:rPr>
              <a:t>宏定义</a:t>
            </a:r>
            <a:r>
              <a:rPr kumimoji="1" lang="zh-CN" altLang="en-US" sz="2300" b="0">
                <a:solidFill>
                  <a:srgbClr val="FF0000"/>
                </a:solidFill>
                <a:latin typeface="楷体_GB2312" pitchFamily="49" charset="-122"/>
                <a:ea typeface="楷体_GB2312" pitchFamily="49" charset="-122"/>
              </a:rPr>
              <a:t> </a:t>
            </a:r>
          </a:p>
        </p:txBody>
      </p:sp>
      <p:sp>
        <p:nvSpPr>
          <p:cNvPr id="487427" name="Text Box 3"/>
          <p:cNvSpPr txBox="1">
            <a:spLocks noChangeArrowheads="1"/>
          </p:cNvSpPr>
          <p:nvPr/>
        </p:nvSpPr>
        <p:spPr bwMode="auto">
          <a:xfrm>
            <a:off x="468313" y="936625"/>
            <a:ext cx="8207375" cy="5013325"/>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宏定义</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有带形式参数宏定义</a:t>
            </a:r>
            <a:r>
              <a:rPr kumimoji="1" lang="zh-CN" altLang="en-US" dirty="0">
                <a:effectLst>
                  <a:outerShdw blurRad="38100" dist="38100" dir="2700000" algn="tl">
                    <a:srgbClr val="C0C0C0"/>
                  </a:outerShdw>
                </a:effectLst>
                <a:latin typeface="楷体_GB2312" pitchFamily="49" charset="-122"/>
                <a:ea typeface="楷体_GB2312" pitchFamily="49" charset="-122"/>
              </a:rPr>
              <a:t>和</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不带形式参数宏定义</a:t>
            </a:r>
            <a:r>
              <a:rPr kumimoji="1" lang="zh-CN" altLang="en-US" dirty="0">
                <a:effectLst>
                  <a:outerShdw blurRad="38100" dist="38100" dir="2700000" algn="tl">
                    <a:srgbClr val="C0C0C0"/>
                  </a:outerShdw>
                </a:effectLst>
                <a:latin typeface="楷体_GB2312" pitchFamily="49" charset="-122"/>
                <a:ea typeface="楷体_GB2312" pitchFamily="49" charset="-122"/>
              </a:rPr>
              <a:t>两种形式。</a:t>
            </a:r>
          </a:p>
          <a:p>
            <a:pPr algn="just" defTabSz="893763" eaLnBrk="1" hangingPunct="1">
              <a:lnSpc>
                <a:spcPct val="105000"/>
              </a:lnSpc>
              <a:defRPr/>
            </a:pP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 不带形式参数的宏定义</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 </a:t>
            </a:r>
            <a:r>
              <a:rPr kumimoji="1" lang="zh-CN" altLang="en-US" dirty="0">
                <a:solidFill>
                  <a:srgbClr val="006600"/>
                </a:solidFill>
                <a:effectLst>
                  <a:outerShdw blurRad="38100" dist="38100" dir="2700000" algn="tl">
                    <a:srgbClr val="C0C0C0"/>
                  </a:outerShdw>
                </a:effectLst>
                <a:latin typeface="楷体_GB2312" pitchFamily="49" charset="-122"/>
                <a:ea typeface="楷体_GB2312" pitchFamily="49" charset="-122"/>
              </a:rPr>
              <a:t>不带形式参数的宏定义的一般形式为：</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kumimoji="1" lang="en-US" altLang="zh-CN" dirty="0">
                <a:solidFill>
                  <a:srgbClr val="0000FF"/>
                </a:solidFill>
                <a:effectLst>
                  <a:outerShdw blurRad="38100" dist="38100" dir="2700000" algn="tl">
                    <a:srgbClr val="C0C0C0"/>
                  </a:outerShdw>
                </a:effectLst>
                <a:latin typeface="楷体_GB2312" pitchFamily="49" charset="-122"/>
                <a:ea typeface="楷体_GB2312" pitchFamily="49" charset="-122"/>
              </a:rPr>
              <a:t>#define  </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标识符  字符序列</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en-US" altLang="zh-CN" dirty="0">
                <a:effectLst>
                  <a:outerShdw blurRad="38100" dist="38100" dir="2700000" algn="tl">
                    <a:srgbClr val="C0C0C0"/>
                  </a:outerShdw>
                </a:effectLst>
                <a:latin typeface="楷体_GB2312" pitchFamily="49" charset="-122"/>
                <a:ea typeface="楷体_GB2312" pitchFamily="49" charset="-122"/>
              </a:rPr>
              <a:t>#define</a:t>
            </a:r>
            <a:r>
              <a:rPr kumimoji="1" lang="zh-CN" altLang="en-US" dirty="0">
                <a:effectLst>
                  <a:outerShdw blurRad="38100" dist="38100" dir="2700000" algn="tl">
                    <a:srgbClr val="C0C0C0"/>
                  </a:outerShdw>
                </a:effectLst>
                <a:latin typeface="楷体_GB2312" pitchFamily="49" charset="-122"/>
                <a:ea typeface="楷体_GB2312" pitchFamily="49" charset="-122"/>
              </a:rPr>
              <a:t>之后标识符称为宏定义名</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简称宏名</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，要求宏名与字符序列之间用空格符分隔。这种宏定义要求编译预处理程序将源程序中随后所有的宏名的出现</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注释与字符串常量中的除外</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均用字符序列替换之。前面经常使用的定义符号常量是宏定义的最简单应用。</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7427">
                                            <p:txEl>
                                              <p:pRg st="1" end="1"/>
                                            </p:txEl>
                                          </p:spTgt>
                                        </p:tgtEl>
                                        <p:attrNameLst>
                                          <p:attrName>style.visibility</p:attrName>
                                        </p:attrNameLst>
                                      </p:cBhvr>
                                      <p:to>
                                        <p:strVal val="visible"/>
                                      </p:to>
                                    </p:set>
                                    <p:anim calcmode="lin" valueType="num">
                                      <p:cBhvr additive="base">
                                        <p:cTn id="7" dur="500" fill="hold"/>
                                        <p:tgtEl>
                                          <p:spTgt spid="4874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742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7427">
                                            <p:txEl>
                                              <p:pRg st="2" end="2"/>
                                            </p:txEl>
                                          </p:spTgt>
                                        </p:tgtEl>
                                        <p:attrNameLst>
                                          <p:attrName>style.visibility</p:attrName>
                                        </p:attrNameLst>
                                      </p:cBhvr>
                                      <p:to>
                                        <p:strVal val="visible"/>
                                      </p:to>
                                    </p:set>
                                    <p:anim calcmode="lin" valueType="num">
                                      <p:cBhvr additive="base">
                                        <p:cTn id="11" dur="500" fill="hold"/>
                                        <p:tgtEl>
                                          <p:spTgt spid="48742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742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7427">
                                            <p:txEl>
                                              <p:pRg st="3" end="3"/>
                                            </p:txEl>
                                          </p:spTgt>
                                        </p:tgtEl>
                                        <p:attrNameLst>
                                          <p:attrName>style.visibility</p:attrName>
                                        </p:attrNameLst>
                                      </p:cBhvr>
                                      <p:to>
                                        <p:strVal val="visible"/>
                                      </p:to>
                                    </p:set>
                                    <p:anim calcmode="lin" valueType="num">
                                      <p:cBhvr additive="base">
                                        <p:cTn id="15" dur="500" fill="hold"/>
                                        <p:tgtEl>
                                          <p:spTgt spid="48742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8742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87427">
                                            <p:txEl>
                                              <p:pRg st="4" end="4"/>
                                            </p:txEl>
                                          </p:spTgt>
                                        </p:tgtEl>
                                        <p:attrNameLst>
                                          <p:attrName>style.visibility</p:attrName>
                                        </p:attrNameLst>
                                      </p:cBhvr>
                                      <p:to>
                                        <p:strVal val="visible"/>
                                      </p:to>
                                    </p:set>
                                    <p:anim calcmode="lin" valueType="num">
                                      <p:cBhvr additive="base">
                                        <p:cTn id="19" dur="500" fill="hold"/>
                                        <p:tgtEl>
                                          <p:spTgt spid="48742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74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B4B81EE-CB14-407F-A29A-D6E8DC572C9E}" type="slidenum">
              <a:rPr lang="en-US" altLang="zh-CN"/>
              <a:pPr>
                <a:defRPr/>
              </a:pPr>
              <a:t>103</a:t>
            </a:fld>
            <a:endParaRPr lang="en-US" altLang="zh-CN"/>
          </a:p>
        </p:txBody>
      </p:sp>
      <p:sp>
        <p:nvSpPr>
          <p:cNvPr id="488451" name="Text Box 3"/>
          <p:cNvSpPr txBox="1">
            <a:spLocks noChangeArrowheads="1"/>
          </p:cNvSpPr>
          <p:nvPr/>
        </p:nvSpPr>
        <p:spPr bwMode="auto">
          <a:xfrm>
            <a:off x="468313" y="609600"/>
            <a:ext cx="8207375" cy="4565650"/>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如有：</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r>
              <a:rPr kumimoji="1" lang="en-US" altLang="zh-CN" dirty="0">
                <a:effectLst>
                  <a:outerShdw blurRad="38100" dist="38100" dir="2700000" algn="tl">
                    <a:srgbClr val="C0C0C0"/>
                  </a:outerShdw>
                </a:effectLst>
                <a:latin typeface="楷体_GB2312" pitchFamily="49" charset="-122"/>
                <a:ea typeface="楷体_GB2312" pitchFamily="49" charset="-122"/>
              </a:rPr>
              <a:t>#define  TRUE   1</a:t>
            </a:r>
          </a:p>
          <a:p>
            <a:pPr algn="just" defTabSz="893763" eaLnBrk="1" hangingPunct="1">
              <a:lnSpc>
                <a:spcPct val="105000"/>
              </a:lnSpc>
              <a:defRPr/>
            </a:pPr>
            <a:r>
              <a:rPr kumimoji="1" lang="en-US" altLang="zh-CN" dirty="0">
                <a:effectLst>
                  <a:outerShdw blurRad="38100" dist="38100" dir="2700000" algn="tl">
                    <a:srgbClr val="C0C0C0"/>
                  </a:outerShdw>
                </a:effectLst>
                <a:latin typeface="楷体_GB2312" pitchFamily="49" charset="-122"/>
                <a:ea typeface="楷体_GB2312" pitchFamily="49" charset="-122"/>
              </a:rPr>
              <a:t>      #define  FALSE  0</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则在它们被定义的源程序文件中，后面程序正文中凡出现</a:t>
            </a:r>
            <a:r>
              <a:rPr kumimoji="1" lang="en-US" altLang="zh-CN" dirty="0">
                <a:effectLst>
                  <a:outerShdw blurRad="38100" dist="38100" dir="2700000" algn="tl">
                    <a:srgbClr val="C0C0C0"/>
                  </a:outerShdw>
                </a:effectLst>
                <a:latin typeface="楷体_GB2312" pitchFamily="49" charset="-122"/>
                <a:ea typeface="楷体_GB2312" pitchFamily="49" charset="-122"/>
              </a:rPr>
              <a:t>TRUE</a:t>
            </a:r>
            <a:r>
              <a:rPr kumimoji="1" lang="zh-CN" altLang="en-US" dirty="0">
                <a:effectLst>
                  <a:outerShdw blurRad="38100" dist="38100" dir="2700000" algn="tl">
                    <a:srgbClr val="C0C0C0"/>
                  </a:outerShdw>
                </a:effectLst>
                <a:latin typeface="楷体_GB2312" pitchFamily="49" charset="-122"/>
                <a:ea typeface="楷体_GB2312" pitchFamily="49" charset="-122"/>
              </a:rPr>
              <a:t>的地方将用</a:t>
            </a:r>
            <a:r>
              <a:rPr kumimoji="1" lang="en-US" altLang="zh-CN" dirty="0">
                <a:effectLst>
                  <a:outerShdw blurRad="38100" dist="38100" dir="2700000" algn="tl">
                    <a:srgbClr val="C0C0C0"/>
                  </a:outerShdw>
                </a:effectLst>
                <a:latin typeface="楷体_GB2312" pitchFamily="49" charset="-122"/>
                <a:ea typeface="楷体_GB2312" pitchFamily="49" charset="-122"/>
              </a:rPr>
              <a:t>1</a:t>
            </a:r>
            <a:r>
              <a:rPr kumimoji="1" lang="zh-CN" altLang="en-US" dirty="0">
                <a:effectLst>
                  <a:outerShdw blurRad="38100" dist="38100" dir="2700000" algn="tl">
                    <a:srgbClr val="C0C0C0"/>
                  </a:outerShdw>
                </a:effectLst>
                <a:latin typeface="楷体_GB2312" pitchFamily="49" charset="-122"/>
                <a:ea typeface="楷体_GB2312" pitchFamily="49" charset="-122"/>
              </a:rPr>
              <a:t>替代之；出现 </a:t>
            </a:r>
            <a:r>
              <a:rPr kumimoji="1" lang="en-US" altLang="zh-CN" dirty="0">
                <a:effectLst>
                  <a:outerShdw blurRad="38100" dist="38100" dir="2700000" algn="tl">
                    <a:srgbClr val="C0C0C0"/>
                  </a:outerShdw>
                </a:effectLst>
                <a:latin typeface="楷体_GB2312" pitchFamily="49" charset="-122"/>
                <a:ea typeface="楷体_GB2312" pitchFamily="49" charset="-122"/>
              </a:rPr>
              <a:t>FALSE</a:t>
            </a:r>
            <a:r>
              <a:rPr kumimoji="1" lang="zh-CN" altLang="en-US" dirty="0">
                <a:effectLst>
                  <a:outerShdw blurRad="38100" dist="38100" dir="2700000" algn="tl">
                    <a:srgbClr val="C0C0C0"/>
                  </a:outerShdw>
                </a:effectLst>
                <a:latin typeface="楷体_GB2312" pitchFamily="49" charset="-122"/>
                <a:ea typeface="楷体_GB2312" pitchFamily="49" charset="-122"/>
              </a:rPr>
              <a:t>的地方用</a:t>
            </a:r>
            <a:r>
              <a:rPr kumimoji="1" lang="en-US" altLang="zh-CN" dirty="0">
                <a:effectLst>
                  <a:outerShdw blurRad="38100" dist="38100" dir="2700000" algn="tl">
                    <a:srgbClr val="C0C0C0"/>
                  </a:outerShdw>
                </a:effectLst>
                <a:latin typeface="楷体_GB2312" pitchFamily="49" charset="-122"/>
                <a:ea typeface="楷体_GB2312" pitchFamily="49" charset="-122"/>
              </a:rPr>
              <a:t>0</a:t>
            </a:r>
            <a:r>
              <a:rPr kumimoji="1" lang="zh-CN" altLang="en-US" dirty="0">
                <a:effectLst>
                  <a:outerShdw blurRad="38100" dist="38100" dir="2700000" algn="tl">
                    <a:srgbClr val="C0C0C0"/>
                  </a:outerShdw>
                </a:effectLst>
                <a:latin typeface="楷体_GB2312" pitchFamily="49" charset="-122"/>
                <a:ea typeface="楷体_GB2312" pitchFamily="49" charset="-122"/>
              </a:rPr>
              <a:t>替代之。以下是经常使用的不带参数宏定义的例子：</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r>
              <a:rPr kumimoji="1" lang="en-US" altLang="zh-CN" dirty="0">
                <a:effectLst>
                  <a:outerShdw blurRad="38100" dist="38100" dir="2700000" algn="tl">
                    <a:srgbClr val="C0C0C0"/>
                  </a:outerShdw>
                </a:effectLst>
                <a:latin typeface="楷体_GB2312" pitchFamily="49" charset="-122"/>
                <a:ea typeface="楷体_GB2312" pitchFamily="49" charset="-122"/>
              </a:rPr>
              <a:t>#define  PI  3.1415926</a:t>
            </a:r>
          </a:p>
          <a:p>
            <a:pPr algn="just" defTabSz="893763" eaLnBrk="1" hangingPunct="1">
              <a:lnSpc>
                <a:spcPct val="105000"/>
              </a:lnSpc>
              <a:defRPr/>
            </a:pPr>
            <a:r>
              <a:rPr kumimoji="1" lang="en-US" altLang="zh-CN" dirty="0">
                <a:effectLst>
                  <a:outerShdw blurRad="38100" dist="38100" dir="2700000" algn="tl">
                    <a:srgbClr val="C0C0C0"/>
                  </a:outerShdw>
                </a:effectLst>
                <a:latin typeface="楷体_GB2312" pitchFamily="49" charset="-122"/>
                <a:ea typeface="楷体_GB2312" pitchFamily="49" charset="-122"/>
              </a:rPr>
              <a:t>      #define  NL  </a:t>
            </a:r>
            <a:r>
              <a:rPr kumimoji="1" lang="en-US" altLang="zh-CN"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dirty="0">
                <a:effectLst>
                  <a:outerShdw blurRad="38100" dist="38100" dir="2700000" algn="tl">
                    <a:srgbClr val="C0C0C0"/>
                  </a:outerShdw>
                </a:effectLst>
                <a:latin typeface="楷体_GB2312" pitchFamily="49" charset="-122"/>
                <a:ea typeface="楷体_GB2312" pitchFamily="49" charset="-122"/>
              </a:rPr>
              <a:t>("\n")</a:t>
            </a:r>
          </a:p>
          <a:p>
            <a:pPr algn="just" defTabSz="893763" eaLnBrk="1" hangingPunct="1">
              <a:lnSpc>
                <a:spcPct val="105000"/>
              </a:lnSpc>
              <a:defRPr/>
            </a:pPr>
            <a:r>
              <a:rPr kumimoji="1" lang="en-US" altLang="zh-CN" dirty="0">
                <a:effectLst>
                  <a:outerShdw blurRad="38100" dist="38100" dir="2700000" algn="tl">
                    <a:srgbClr val="C0C0C0"/>
                  </a:outerShdw>
                </a:effectLst>
                <a:latin typeface="楷体_GB2312" pitchFamily="49" charset="-122"/>
                <a:ea typeface="楷体_GB2312" pitchFamily="49" charset="-122"/>
              </a:rPr>
              <a:t>      #define  EOF  (-1) </a:t>
            </a:r>
          </a:p>
        </p:txBody>
      </p:sp>
    </p:spTree>
  </p:cSld>
  <p:clrMapOvr>
    <a:masterClrMapping/>
  </p:clrMapOvr>
  <p:transition>
    <p:blinds/>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DDB3004-B42F-4545-AC9A-8154B2187279}" type="slidenum">
              <a:rPr lang="en-US" altLang="zh-CN"/>
              <a:pPr>
                <a:defRPr/>
              </a:pPr>
              <a:t>104</a:t>
            </a:fld>
            <a:endParaRPr lang="en-US" altLang="zh-CN"/>
          </a:p>
        </p:txBody>
      </p:sp>
      <p:sp>
        <p:nvSpPr>
          <p:cNvPr id="493571" name="Text Box 3"/>
          <p:cNvSpPr txBox="1">
            <a:spLocks noChangeArrowheads="1"/>
          </p:cNvSpPr>
          <p:nvPr/>
        </p:nvSpPr>
        <p:spPr bwMode="auto">
          <a:xfrm>
            <a:off x="539750" y="692150"/>
            <a:ext cx="8064500" cy="4162157"/>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通常，</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不带形式参数的宏定义多用于定义常量。</a:t>
            </a:r>
            <a:r>
              <a:rPr kumimoji="1" lang="zh-CN" altLang="en-US" dirty="0">
                <a:effectLst>
                  <a:outerShdw blurRad="38100" dist="38100" dir="2700000" algn="tl">
                    <a:srgbClr val="C0C0C0"/>
                  </a:outerShdw>
                </a:effectLst>
                <a:latin typeface="楷体_GB2312" pitchFamily="49" charset="-122"/>
                <a:ea typeface="楷体_GB2312" pitchFamily="49" charset="-122"/>
              </a:rPr>
              <a:t> 程序中统一用宏名表示常量值，便于程序前后统一，不易出错，便于修改，能提高程序的可读性和可移植性。</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注意，</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预处理程序在处理宏定义时，只作字符序列的替换工作，不作任何语法的检查。</a:t>
            </a:r>
            <a:r>
              <a:rPr kumimoji="1" lang="zh-CN" altLang="en-US" dirty="0">
                <a:effectLst>
                  <a:outerShdw blurRad="38100" dist="38100" dir="2700000" algn="tl">
                    <a:srgbClr val="C0C0C0"/>
                  </a:outerShdw>
                </a:effectLst>
                <a:latin typeface="楷体_GB2312" pitchFamily="49" charset="-122"/>
                <a:ea typeface="楷体_GB2312" pitchFamily="49" charset="-122"/>
              </a:rPr>
              <a:t>如果宏定义不当，错误要到预处理之后的编译阶段才能发现。宏定义以换行结束，不需要分号等符号作分隔符。</a:t>
            </a:r>
          </a:p>
        </p:txBody>
      </p:sp>
    </p:spTree>
  </p:cSld>
  <p:clrMapOvr>
    <a:masterClrMapping/>
  </p:clrMapOvr>
  <p:transition>
    <p:blinds/>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9438FBFF-EE4F-4288-8E41-94DA7562F90B}" type="slidenum">
              <a:rPr lang="en-US" altLang="zh-CN"/>
              <a:pPr>
                <a:defRPr/>
              </a:pPr>
              <a:t>105</a:t>
            </a:fld>
            <a:endParaRPr lang="en-US" altLang="zh-CN"/>
          </a:p>
        </p:txBody>
      </p:sp>
      <p:sp>
        <p:nvSpPr>
          <p:cNvPr id="553986" name="Text Box 2"/>
          <p:cNvSpPr txBox="1">
            <a:spLocks noChangeArrowheads="1"/>
          </p:cNvSpPr>
          <p:nvPr/>
        </p:nvSpPr>
        <p:spPr bwMode="auto">
          <a:xfrm>
            <a:off x="395288" y="1801813"/>
            <a:ext cx="7993062" cy="1198562"/>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sz="2400" dirty="0">
                <a:solidFill>
                  <a:srgbClr val="0070C0"/>
                </a:solidFill>
                <a:effectLst>
                  <a:outerShdw blurRad="38100" dist="38100" dir="2700000" algn="tl">
                    <a:srgbClr val="C0C0C0"/>
                  </a:outerShdw>
                </a:effectLst>
                <a:ea typeface="宋体" pitchFamily="2" charset="-122"/>
              </a:rPr>
              <a:t>【</a:t>
            </a:r>
            <a:r>
              <a:rPr kumimoji="1" lang="zh-CN" altLang="en-US" sz="2400" dirty="0">
                <a:solidFill>
                  <a:srgbClr val="0070C0"/>
                </a:solidFill>
                <a:effectLst>
                  <a:outerShdw blurRad="38100" dist="38100" dir="2700000" algn="tl">
                    <a:srgbClr val="C0C0C0"/>
                  </a:outerShdw>
                </a:effectLst>
                <a:ea typeface="宋体" pitchFamily="2" charset="-122"/>
              </a:rPr>
              <a:t>例</a:t>
            </a:r>
            <a:r>
              <a:rPr kumimoji="1" lang="en-US" altLang="zh-CN" sz="2400" dirty="0">
                <a:solidFill>
                  <a:srgbClr val="0070C0"/>
                </a:solidFill>
                <a:effectLst>
                  <a:outerShdw blurRad="38100" dist="38100" dir="2700000" algn="tl">
                    <a:srgbClr val="C0C0C0"/>
                  </a:outerShdw>
                </a:effectLst>
                <a:ea typeface="宋体" pitchFamily="2" charset="-122"/>
              </a:rPr>
              <a:t>】</a:t>
            </a:r>
            <a:r>
              <a:rPr kumimoji="1" lang="zh-CN" altLang="en-US" sz="2400" dirty="0">
                <a:solidFill>
                  <a:srgbClr val="FF0000"/>
                </a:solidFill>
                <a:effectLst>
                  <a:outerShdw blurRad="38100" dist="38100" dir="2700000" algn="tl">
                    <a:srgbClr val="C0C0C0"/>
                  </a:outerShdw>
                </a:effectLst>
                <a:ea typeface="宋体" pitchFamily="2" charset="-122"/>
              </a:rPr>
              <a:t>用如下公式计算圆周率</a:t>
            </a:r>
            <a:r>
              <a:rPr kumimoji="1" lang="en-US" altLang="zh-CN" sz="2400" dirty="0">
                <a:solidFill>
                  <a:srgbClr val="FF0000"/>
                </a:solidFill>
                <a:effectLst>
                  <a:outerShdw blurRad="38100" dist="38100" dir="2700000" algn="tl">
                    <a:srgbClr val="C0C0C0"/>
                  </a:outerShdw>
                </a:effectLst>
                <a:ea typeface="宋体" pitchFamily="2" charset="-122"/>
              </a:rPr>
              <a:t>π</a:t>
            </a:r>
            <a:r>
              <a:rPr kumimoji="1" lang="zh-CN" altLang="en-US" sz="2400" dirty="0">
                <a:solidFill>
                  <a:srgbClr val="FF0000"/>
                </a:solidFill>
                <a:effectLst>
                  <a:outerShdw blurRad="38100" dist="38100" dir="2700000" algn="tl">
                    <a:srgbClr val="C0C0C0"/>
                  </a:outerShdw>
                </a:effectLst>
                <a:ea typeface="宋体" pitchFamily="2" charset="-122"/>
              </a:rPr>
              <a:t>的近似值，直到最后一项的绝对值小于</a:t>
            </a:r>
            <a:r>
              <a:rPr kumimoji="1" lang="en-US" altLang="zh-CN" sz="2400" dirty="0">
                <a:solidFill>
                  <a:srgbClr val="FF0000"/>
                </a:solidFill>
                <a:effectLst>
                  <a:outerShdw blurRad="38100" dist="38100" dir="2700000" algn="tl">
                    <a:srgbClr val="C0C0C0"/>
                  </a:outerShdw>
                </a:effectLst>
                <a:ea typeface="宋体" pitchFamily="2" charset="-122"/>
              </a:rPr>
              <a:t>ε</a:t>
            </a:r>
            <a:r>
              <a:rPr kumimoji="1" lang="zh-CN" altLang="en-US" sz="2400" dirty="0">
                <a:solidFill>
                  <a:srgbClr val="FF0000"/>
                </a:solidFill>
                <a:effectLst>
                  <a:outerShdw blurRad="38100" dist="38100" dir="2700000" algn="tl">
                    <a:srgbClr val="C0C0C0"/>
                  </a:outerShdw>
                </a:effectLst>
                <a:ea typeface="宋体" pitchFamily="2" charset="-122"/>
              </a:rPr>
              <a:t>。</a:t>
            </a:r>
          </a:p>
          <a:p>
            <a:pPr algn="l" defTabSz="893763">
              <a:defRPr/>
            </a:pPr>
            <a:r>
              <a:rPr kumimoji="1" lang="zh-CN" altLang="en-US" sz="2400" dirty="0">
                <a:effectLst>
                  <a:outerShdw blurRad="38100" dist="38100" dir="2700000" algn="tl">
                    <a:srgbClr val="C0C0C0"/>
                  </a:outerShdw>
                </a:effectLst>
                <a:ea typeface="宋体" pitchFamily="2" charset="-122"/>
              </a:rPr>
              <a:t>	</a:t>
            </a:r>
            <a:r>
              <a:rPr kumimoji="1" lang="en-US" altLang="zh-CN" sz="2400" dirty="0">
                <a:effectLst>
                  <a:outerShdw blurRad="38100" dist="38100" dir="2700000" algn="tl">
                    <a:srgbClr val="C0C0C0"/>
                  </a:outerShdw>
                </a:effectLst>
                <a:ea typeface="宋体" pitchFamily="2" charset="-122"/>
              </a:rPr>
              <a:t>π≈ 4 - 4/3 + 4/5 - 4/7 + …</a:t>
            </a:r>
          </a:p>
        </p:txBody>
      </p:sp>
    </p:spTree>
  </p:cSld>
  <p:clrMapOvr>
    <a:masterClrMapping/>
  </p:clrMapOvr>
  <p:transition>
    <p:blinds/>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8E18765-F110-4E7F-9FFB-15380A40E136}" type="slidenum">
              <a:rPr lang="en-US" altLang="zh-CN"/>
              <a:pPr>
                <a:defRPr/>
              </a:pPr>
              <a:t>106</a:t>
            </a:fld>
            <a:endParaRPr lang="en-US" altLang="zh-CN"/>
          </a:p>
        </p:txBody>
      </p:sp>
      <p:sp>
        <p:nvSpPr>
          <p:cNvPr id="555010" name="Text Box 2"/>
          <p:cNvSpPr txBox="1">
            <a:spLocks noChangeArrowheads="1"/>
          </p:cNvSpPr>
          <p:nvPr/>
        </p:nvSpPr>
        <p:spPr bwMode="auto">
          <a:xfrm>
            <a:off x="395288" y="620713"/>
            <a:ext cx="7993062" cy="5565775"/>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sz="2400">
                <a:effectLst>
                  <a:outerShdw blurRad="38100" dist="38100" dir="2700000" algn="tl">
                    <a:srgbClr val="C0C0C0"/>
                  </a:outerShdw>
                </a:effectLst>
                <a:ea typeface="宋体" pitchFamily="2" charset="-122"/>
              </a:rPr>
              <a:t>#include &lt;stdio.h&gt;</a:t>
            </a:r>
          </a:p>
          <a:p>
            <a:pPr algn="l" defTabSz="893763">
              <a:defRPr/>
            </a:pPr>
            <a:r>
              <a:rPr kumimoji="1" lang="en-US" altLang="zh-CN" sz="2400">
                <a:effectLst>
                  <a:outerShdw blurRad="38100" dist="38100" dir="2700000" algn="tl">
                    <a:srgbClr val="C0C0C0"/>
                  </a:outerShdw>
                </a:effectLst>
                <a:ea typeface="宋体" pitchFamily="2" charset="-122"/>
              </a:rPr>
              <a:t>#include &lt;math.h&gt;</a:t>
            </a:r>
          </a:p>
          <a:p>
            <a:pPr algn="l" defTabSz="893763">
              <a:defRPr/>
            </a:pPr>
            <a:r>
              <a:rPr kumimoji="1" lang="en-US" altLang="zh-CN" sz="2400">
                <a:effectLst>
                  <a:outerShdw blurRad="38100" dist="38100" dir="2700000" algn="tl">
                    <a:srgbClr val="C0C0C0"/>
                  </a:outerShdw>
                </a:effectLst>
                <a:ea typeface="宋体" pitchFamily="2" charset="-122"/>
              </a:rPr>
              <a:t>#define Epson 1e-4		/* </a:t>
            </a:r>
            <a:r>
              <a:rPr kumimoji="1" lang="zh-CN" altLang="en-US" sz="2400">
                <a:effectLst>
                  <a:outerShdw blurRad="38100" dist="38100" dir="2700000" algn="tl">
                    <a:srgbClr val="C0C0C0"/>
                  </a:outerShdw>
                </a:effectLst>
                <a:ea typeface="宋体" pitchFamily="2" charset="-122"/>
              </a:rPr>
              <a:t>定义宏名</a:t>
            </a:r>
            <a:r>
              <a:rPr kumimoji="1" lang="en-US" altLang="zh-CN" sz="2400">
                <a:effectLst>
                  <a:outerShdw blurRad="38100" dist="38100" dir="2700000" algn="tl">
                    <a:srgbClr val="C0C0C0"/>
                  </a:outerShdw>
                </a:effectLst>
                <a:ea typeface="宋体" pitchFamily="2" charset="-122"/>
              </a:rPr>
              <a:t>Epson */</a:t>
            </a:r>
          </a:p>
          <a:p>
            <a:pPr algn="l" defTabSz="893763">
              <a:defRPr/>
            </a:pPr>
            <a:r>
              <a:rPr kumimoji="1" lang="en-US" altLang="zh-CN" sz="2400">
                <a:effectLst>
                  <a:outerShdw blurRad="38100" dist="38100" dir="2700000" algn="tl">
                    <a:srgbClr val="C0C0C0"/>
                  </a:outerShdw>
                </a:effectLst>
                <a:ea typeface="宋体" pitchFamily="2" charset="-122"/>
              </a:rPr>
              <a:t>void main()</a:t>
            </a:r>
          </a:p>
          <a:p>
            <a:pPr algn="l" defTabSz="893763">
              <a:defRPr/>
            </a:pPr>
            <a:r>
              <a:rPr kumimoji="1" lang="en-US" altLang="zh-CN" sz="2400">
                <a:effectLst>
                  <a:outerShdw blurRad="38100" dist="38100" dir="2700000" algn="tl">
                    <a:srgbClr val="C0C0C0"/>
                  </a:outerShdw>
                </a:effectLst>
                <a:ea typeface="宋体" pitchFamily="2" charset="-122"/>
              </a:rPr>
              <a:t>{ int sign = 1;		/* </a:t>
            </a:r>
            <a:r>
              <a:rPr kumimoji="1" lang="zh-CN" altLang="en-US" sz="2400">
                <a:effectLst>
                  <a:outerShdw blurRad="38100" dist="38100" dir="2700000" algn="tl">
                    <a:srgbClr val="C0C0C0"/>
                  </a:outerShdw>
                </a:effectLst>
                <a:ea typeface="宋体" pitchFamily="2" charset="-122"/>
              </a:rPr>
              <a:t>符号位，奇次为正，偶次为负 *</a:t>
            </a:r>
            <a:r>
              <a:rPr kumimoji="1" lang="en-US" altLang="zh-CN" sz="2400">
                <a:effectLst>
                  <a:outerShdw blurRad="38100" dist="38100" dir="2700000" algn="tl">
                    <a:srgbClr val="C0C0C0"/>
                  </a:outerShdw>
                </a:effectLst>
                <a:ea typeface="宋体" pitchFamily="2" charset="-122"/>
              </a:rPr>
              <a:t>/</a:t>
            </a:r>
          </a:p>
          <a:p>
            <a:pPr algn="l" defTabSz="893763">
              <a:defRPr/>
            </a:pPr>
            <a:r>
              <a:rPr kumimoji="1" lang="en-US" altLang="zh-CN" sz="2400">
                <a:effectLst>
                  <a:outerShdw blurRad="38100" dist="38100" dir="2700000" algn="tl">
                    <a:srgbClr val="C0C0C0"/>
                  </a:outerShdw>
                </a:effectLst>
                <a:ea typeface="宋体" pitchFamily="2" charset="-122"/>
              </a:rPr>
              <a:t>  long i, m = 1;	/* m </a:t>
            </a:r>
            <a:r>
              <a:rPr kumimoji="1" lang="zh-CN" altLang="en-US" sz="2400">
                <a:effectLst>
                  <a:outerShdw blurRad="38100" dist="38100" dir="2700000" algn="tl">
                    <a:srgbClr val="C0C0C0"/>
                  </a:outerShdw>
                </a:effectLst>
                <a:ea typeface="宋体" pitchFamily="2" charset="-122"/>
              </a:rPr>
              <a:t>为分母，第一项分母为</a:t>
            </a:r>
            <a:r>
              <a:rPr kumimoji="1" lang="en-US" altLang="zh-CN" sz="2400">
                <a:effectLst>
                  <a:outerShdw blurRad="38100" dist="38100" dir="2700000" algn="tl">
                    <a:srgbClr val="C0C0C0"/>
                  </a:outerShdw>
                </a:effectLst>
                <a:ea typeface="宋体" pitchFamily="2" charset="-122"/>
              </a:rPr>
              <a:t>1 */	</a:t>
            </a:r>
          </a:p>
          <a:p>
            <a:pPr algn="l" defTabSz="893763">
              <a:defRPr/>
            </a:pPr>
            <a:r>
              <a:rPr kumimoji="1" lang="en-US" altLang="zh-CN" sz="2400">
                <a:effectLst>
                  <a:outerShdw blurRad="38100" dist="38100" dir="2700000" algn="tl">
                    <a:srgbClr val="C0C0C0"/>
                  </a:outerShdw>
                </a:effectLst>
                <a:ea typeface="宋体" pitchFamily="2" charset="-122"/>
              </a:rPr>
              <a:t>  double pi = 4, t = 4; /* t </a:t>
            </a:r>
            <a:r>
              <a:rPr kumimoji="1" lang="zh-CN" altLang="en-US" sz="2400">
                <a:effectLst>
                  <a:outerShdw blurRad="38100" dist="38100" dir="2700000" algn="tl">
                    <a:srgbClr val="C0C0C0"/>
                  </a:outerShdw>
                </a:effectLst>
                <a:ea typeface="宋体" pitchFamily="2" charset="-122"/>
              </a:rPr>
              <a:t>为某一项值 *</a:t>
            </a:r>
            <a:r>
              <a:rPr kumimoji="1" lang="en-US" altLang="zh-CN" sz="2400">
                <a:effectLst>
                  <a:outerShdw blurRad="38100" dist="38100" dir="2700000" algn="tl">
                    <a:srgbClr val="C0C0C0"/>
                  </a:outerShdw>
                </a:effectLst>
                <a:ea typeface="宋体" pitchFamily="2" charset="-122"/>
              </a:rPr>
              <a:t>/</a:t>
            </a:r>
          </a:p>
          <a:p>
            <a:pPr algn="l" defTabSz="893763">
              <a:defRPr/>
            </a:pPr>
            <a:r>
              <a:rPr kumimoji="1" lang="en-US" altLang="zh-CN" sz="2400">
                <a:effectLst>
                  <a:outerShdw blurRad="38100" dist="38100" dir="2700000" algn="tl">
                    <a:srgbClr val="C0C0C0"/>
                  </a:outerShdw>
                </a:effectLst>
                <a:ea typeface="宋体" pitchFamily="2" charset="-122"/>
              </a:rPr>
              <a:t>  for(i = 1; fabs(t) &gt; Epson; i++)</a:t>
            </a:r>
          </a:p>
          <a:p>
            <a:pPr algn="l" defTabSz="893763">
              <a:defRPr/>
            </a:pPr>
            <a:r>
              <a:rPr kumimoji="1" lang="en-US" altLang="zh-CN" sz="2400">
                <a:effectLst>
                  <a:outerShdw blurRad="38100" dist="38100" dir="2700000" algn="tl">
                    <a:srgbClr val="C0C0C0"/>
                  </a:outerShdw>
                </a:effectLst>
                <a:ea typeface="宋体" pitchFamily="2" charset="-122"/>
              </a:rPr>
              <a:t>  { sign = -sign;	/* </a:t>
            </a:r>
            <a:r>
              <a:rPr kumimoji="1" lang="zh-CN" altLang="en-US" sz="2400">
                <a:effectLst>
                  <a:outerShdw blurRad="38100" dist="38100" dir="2700000" algn="tl">
                    <a:srgbClr val="C0C0C0"/>
                  </a:outerShdw>
                </a:effectLst>
                <a:ea typeface="宋体" pitchFamily="2" charset="-122"/>
              </a:rPr>
              <a:t>改变符号 *</a:t>
            </a:r>
            <a:r>
              <a:rPr kumimoji="1" lang="en-US" altLang="zh-CN" sz="2400">
                <a:effectLst>
                  <a:outerShdw blurRad="38100" dist="38100" dir="2700000" algn="tl">
                    <a:srgbClr val="C0C0C0"/>
                  </a:outerShdw>
                </a:effectLst>
                <a:ea typeface="宋体" pitchFamily="2" charset="-122"/>
              </a:rPr>
              <a:t>/</a:t>
            </a:r>
          </a:p>
          <a:p>
            <a:pPr algn="l" defTabSz="893763">
              <a:defRPr/>
            </a:pPr>
            <a:r>
              <a:rPr kumimoji="1" lang="en-US" altLang="zh-CN" sz="2400">
                <a:effectLst>
                  <a:outerShdw blurRad="38100" dist="38100" dir="2700000" algn="tl">
                    <a:srgbClr val="C0C0C0"/>
                  </a:outerShdw>
                </a:effectLst>
                <a:ea typeface="宋体" pitchFamily="2" charset="-122"/>
              </a:rPr>
              <a:t>    m += 2;		/* </a:t>
            </a:r>
            <a:r>
              <a:rPr kumimoji="1" lang="zh-CN" altLang="en-US" sz="2400">
                <a:effectLst>
                  <a:outerShdw blurRad="38100" dist="38100" dir="2700000" algn="tl">
                    <a:srgbClr val="C0C0C0"/>
                  </a:outerShdw>
                </a:effectLst>
                <a:ea typeface="宋体" pitchFamily="2" charset="-122"/>
              </a:rPr>
              <a:t>分母 ＋</a:t>
            </a:r>
            <a:r>
              <a:rPr kumimoji="1" lang="en-US" altLang="zh-CN" sz="2400">
                <a:effectLst>
                  <a:outerShdw blurRad="38100" dist="38100" dir="2700000" algn="tl">
                    <a:srgbClr val="C0C0C0"/>
                  </a:outerShdw>
                </a:effectLst>
                <a:ea typeface="宋体" pitchFamily="2" charset="-122"/>
              </a:rPr>
              <a:t>2 */</a:t>
            </a:r>
          </a:p>
          <a:p>
            <a:pPr algn="l" defTabSz="893763">
              <a:defRPr/>
            </a:pPr>
            <a:r>
              <a:rPr kumimoji="1" lang="en-US" altLang="zh-CN" sz="2400">
                <a:effectLst>
                  <a:outerShdw blurRad="38100" dist="38100" dir="2700000" algn="tl">
                    <a:srgbClr val="C0C0C0"/>
                  </a:outerShdw>
                </a:effectLst>
                <a:ea typeface="宋体" pitchFamily="2" charset="-122"/>
              </a:rPr>
              <a:t>    t = sign * 4.0 / m;	/* </a:t>
            </a:r>
            <a:r>
              <a:rPr kumimoji="1" lang="zh-CN" altLang="en-US" sz="2400">
                <a:effectLst>
                  <a:outerShdw blurRad="38100" dist="38100" dir="2700000" algn="tl">
                    <a:srgbClr val="C0C0C0"/>
                  </a:outerShdw>
                </a:effectLst>
                <a:ea typeface="宋体" pitchFamily="2" charset="-122"/>
              </a:rPr>
              <a:t>计算某一项的值 *</a:t>
            </a:r>
            <a:r>
              <a:rPr kumimoji="1" lang="en-US" altLang="zh-CN" sz="2400">
                <a:effectLst>
                  <a:outerShdw blurRad="38100" dist="38100" dir="2700000" algn="tl">
                    <a:srgbClr val="C0C0C0"/>
                  </a:outerShdw>
                </a:effectLst>
                <a:ea typeface="宋体" pitchFamily="2" charset="-122"/>
              </a:rPr>
              <a:t>/</a:t>
            </a:r>
          </a:p>
          <a:p>
            <a:pPr algn="l" defTabSz="893763">
              <a:defRPr/>
            </a:pPr>
            <a:r>
              <a:rPr kumimoji="1" lang="en-US" altLang="zh-CN" sz="2400">
                <a:effectLst>
                  <a:outerShdw blurRad="38100" dist="38100" dir="2700000" algn="tl">
                    <a:srgbClr val="C0C0C0"/>
                  </a:outerShdw>
                </a:effectLst>
                <a:ea typeface="宋体" pitchFamily="2" charset="-122"/>
              </a:rPr>
              <a:t>    pi += t;</a:t>
            </a:r>
          </a:p>
          <a:p>
            <a:pPr algn="l" defTabSz="893763">
              <a:defRPr/>
            </a:pPr>
            <a:r>
              <a:rPr kumimoji="1" lang="en-US" altLang="zh-CN" sz="2400">
                <a:effectLst>
                  <a:outerShdw blurRad="38100" dist="38100" dir="2700000" algn="tl">
                    <a:srgbClr val="C0C0C0"/>
                  </a:outerShdw>
                </a:effectLst>
                <a:ea typeface="宋体" pitchFamily="2" charset="-122"/>
              </a:rPr>
              <a:t>  }</a:t>
            </a:r>
          </a:p>
          <a:p>
            <a:pPr algn="l" defTabSz="893763">
              <a:defRPr/>
            </a:pPr>
            <a:r>
              <a:rPr kumimoji="1" lang="en-US" altLang="zh-CN" sz="2400">
                <a:effectLst>
                  <a:outerShdw blurRad="38100" dist="38100" dir="2700000" algn="tl">
                    <a:srgbClr val="C0C0C0"/>
                  </a:outerShdw>
                </a:effectLst>
                <a:ea typeface="宋体" pitchFamily="2" charset="-122"/>
              </a:rPr>
              <a:t>  printf(" pi = %f\n", pi);</a:t>
            </a:r>
          </a:p>
          <a:p>
            <a:pPr algn="l" defTabSz="893763">
              <a:defRPr/>
            </a:pPr>
            <a:r>
              <a:rPr kumimoji="1" lang="en-US" altLang="zh-CN" sz="2400">
                <a:effectLst>
                  <a:outerShdw blurRad="38100" dist="38100" dir="2700000" algn="tl">
                    <a:srgbClr val="C0C0C0"/>
                  </a:outerShdw>
                </a:effectLst>
                <a:ea typeface="宋体" pitchFamily="2" charset="-122"/>
              </a:rPr>
              <a:t> }</a:t>
            </a:r>
          </a:p>
        </p:txBody>
      </p:sp>
    </p:spTree>
  </p:cSld>
  <p:clrMapOvr>
    <a:masterClrMapping/>
  </p:clrMapOvr>
  <p:transition>
    <p:blinds/>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622A155-8854-48FA-ADF6-E76BF29B1A56}" type="slidenum">
              <a:rPr lang="en-US" altLang="zh-CN"/>
              <a:pPr>
                <a:defRPr/>
              </a:pPr>
              <a:t>107</a:t>
            </a:fld>
            <a:endParaRPr lang="en-US" altLang="zh-CN"/>
          </a:p>
        </p:txBody>
      </p:sp>
      <p:sp>
        <p:nvSpPr>
          <p:cNvPr id="556034" name="Text Box 2"/>
          <p:cNvSpPr txBox="1">
            <a:spLocks noChangeArrowheads="1"/>
          </p:cNvSpPr>
          <p:nvPr/>
        </p:nvSpPr>
        <p:spPr bwMode="auto">
          <a:xfrm>
            <a:off x="684213" y="620713"/>
            <a:ext cx="8136259" cy="3968258"/>
          </a:xfrm>
          <a:prstGeom prst="rect">
            <a:avLst/>
          </a:prstGeom>
          <a:noFill/>
          <a:ln w="9525">
            <a:noFill/>
            <a:miter lim="800000"/>
            <a:headEnd/>
            <a:tailEnd/>
          </a:ln>
          <a:effectLst/>
        </p:spPr>
        <p:txBody>
          <a:bodyPr wrap="square" lIns="89401" tIns="44700" rIns="89401" bIns="44700">
            <a:spAutoFit/>
          </a:bodyPr>
          <a:lstStyle/>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程序说明</a:t>
            </a:r>
            <a:r>
              <a:rPr kumimoji="1" lang="en-US" altLang="zh-CN"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从上述程序可以看出，定义了宏名可以增加程序的可读性。例如，在</a:t>
            </a:r>
            <a:r>
              <a:rPr kumimoji="1" lang="en-US" altLang="zh-CN" dirty="0">
                <a:effectLst>
                  <a:outerShdw blurRad="38100" dist="38100" dir="2700000" algn="tl">
                    <a:srgbClr val="C0C0C0"/>
                  </a:outerShdw>
                </a:effectLst>
                <a:latin typeface="楷体_GB2312" pitchFamily="49" charset="-122"/>
                <a:ea typeface="楷体_GB2312" pitchFamily="49" charset="-122"/>
              </a:rPr>
              <a:t>#define</a:t>
            </a:r>
            <a:r>
              <a:rPr kumimoji="1" lang="zh-CN" altLang="en-US" dirty="0">
                <a:effectLst>
                  <a:outerShdw blurRad="38100" dist="38100" dir="2700000" algn="tl">
                    <a:srgbClr val="C0C0C0"/>
                  </a:outerShdw>
                </a:effectLst>
                <a:latin typeface="楷体_GB2312" pitchFamily="49" charset="-122"/>
                <a:ea typeface="楷体_GB2312" pitchFamily="49" charset="-122"/>
              </a:rPr>
              <a:t>处定义了宏名</a:t>
            </a:r>
            <a:r>
              <a:rPr kumimoji="1" lang="en-US" altLang="zh-CN" dirty="0">
                <a:effectLst>
                  <a:outerShdw blurRad="38100" dist="38100" dir="2700000" algn="tl">
                    <a:srgbClr val="C0C0C0"/>
                  </a:outerShdw>
                </a:effectLst>
                <a:latin typeface="楷体_GB2312" pitchFamily="49" charset="-122"/>
                <a:ea typeface="楷体_GB2312" pitchFamily="49" charset="-122"/>
              </a:rPr>
              <a:t>Epson </a:t>
            </a:r>
            <a:r>
              <a:rPr kumimoji="1" lang="zh-CN" altLang="en-US" dirty="0">
                <a:effectLst>
                  <a:outerShdw blurRad="38100" dist="38100" dir="2700000" algn="tl">
                    <a:srgbClr val="C0C0C0"/>
                  </a:outerShdw>
                </a:effectLst>
                <a:latin typeface="楷体_GB2312" pitchFamily="49" charset="-122"/>
                <a:ea typeface="楷体_GB2312" pitchFamily="49" charset="-122"/>
              </a:rPr>
              <a:t>，在主函数中看到</a:t>
            </a:r>
            <a:r>
              <a:rPr kumimoji="1" lang="en-US" altLang="zh-CN" dirty="0">
                <a:effectLst>
                  <a:outerShdw blurRad="38100" dist="38100" dir="2700000" algn="tl">
                    <a:srgbClr val="C0C0C0"/>
                  </a:outerShdw>
                </a:effectLst>
                <a:latin typeface="楷体_GB2312" pitchFamily="49" charset="-122"/>
                <a:ea typeface="楷体_GB2312" pitchFamily="49" charset="-122"/>
              </a:rPr>
              <a:t>Epson</a:t>
            </a:r>
            <a:r>
              <a:rPr kumimoji="1" lang="zh-CN" altLang="en-US" dirty="0">
                <a:effectLst>
                  <a:outerShdw blurRad="38100" dist="38100" dir="2700000" algn="tl">
                    <a:srgbClr val="C0C0C0"/>
                  </a:outerShdw>
                </a:effectLst>
                <a:latin typeface="楷体_GB2312" pitchFamily="49" charset="-122"/>
                <a:ea typeface="楷体_GB2312" pitchFamily="49" charset="-122"/>
              </a:rPr>
              <a:t>就知道其含义，也不需要将</a:t>
            </a:r>
            <a:r>
              <a:rPr kumimoji="1" lang="en-US" altLang="zh-CN" dirty="0">
                <a:effectLst>
                  <a:outerShdw blurRad="38100" dist="38100" dir="2700000" algn="tl">
                    <a:srgbClr val="C0C0C0"/>
                  </a:outerShdw>
                </a:effectLst>
                <a:latin typeface="楷体_GB2312" pitchFamily="49" charset="-122"/>
                <a:ea typeface="楷体_GB2312" pitchFamily="49" charset="-122"/>
              </a:rPr>
              <a:t>Epson</a:t>
            </a:r>
            <a:r>
              <a:rPr kumimoji="1" lang="zh-CN" altLang="en-US" dirty="0">
                <a:effectLst>
                  <a:outerShdw blurRad="38100" dist="38100" dir="2700000" algn="tl">
                    <a:srgbClr val="C0C0C0"/>
                  </a:outerShdw>
                </a:effectLst>
                <a:latin typeface="楷体_GB2312" pitchFamily="49" charset="-122"/>
                <a:ea typeface="楷体_GB2312" pitchFamily="49" charset="-122"/>
              </a:rPr>
              <a:t>定义为变量。另外，如果要提高</a:t>
            </a:r>
            <a:r>
              <a:rPr kumimoji="1" lang="en-US" altLang="zh-CN" dirty="0">
                <a:effectLst>
                  <a:outerShdw blurRad="38100" dist="38100" dir="2700000" algn="tl">
                    <a:srgbClr val="C0C0C0"/>
                  </a:outerShdw>
                </a:effectLst>
                <a:latin typeface="楷体_GB2312" pitchFamily="49" charset="-122"/>
                <a:ea typeface="楷体_GB2312" pitchFamily="49" charset="-122"/>
              </a:rPr>
              <a:t>π</a:t>
            </a:r>
            <a:r>
              <a:rPr kumimoji="1" lang="zh-CN" altLang="en-US" dirty="0">
                <a:effectLst>
                  <a:outerShdw blurRad="38100" dist="38100" dir="2700000" algn="tl">
                    <a:srgbClr val="C0C0C0"/>
                  </a:outerShdw>
                </a:effectLst>
                <a:latin typeface="楷体_GB2312" pitchFamily="49" charset="-122"/>
                <a:ea typeface="楷体_GB2312" pitchFamily="49" charset="-122"/>
              </a:rPr>
              <a:t>的精度，只需要在</a:t>
            </a:r>
            <a:r>
              <a:rPr kumimoji="1" lang="en-US" altLang="zh-CN" dirty="0">
                <a:effectLst>
                  <a:outerShdw blurRad="38100" dist="38100" dir="2700000" algn="tl">
                    <a:srgbClr val="C0C0C0"/>
                  </a:outerShdw>
                </a:effectLst>
                <a:latin typeface="楷体_GB2312" pitchFamily="49" charset="-122"/>
                <a:ea typeface="楷体_GB2312" pitchFamily="49" charset="-122"/>
              </a:rPr>
              <a:t>#define Epson 1e-4</a:t>
            </a:r>
            <a:r>
              <a:rPr kumimoji="1" lang="zh-CN" altLang="en-US" dirty="0">
                <a:effectLst>
                  <a:outerShdw blurRad="38100" dist="38100" dir="2700000" algn="tl">
                    <a:srgbClr val="C0C0C0"/>
                  </a:outerShdw>
                </a:effectLst>
                <a:latin typeface="楷体_GB2312" pitchFamily="49" charset="-122"/>
                <a:ea typeface="楷体_GB2312" pitchFamily="49" charset="-122"/>
              </a:rPr>
              <a:t>命令中将</a:t>
            </a:r>
            <a:r>
              <a:rPr kumimoji="1" lang="en-US" altLang="zh-CN" dirty="0">
                <a:effectLst>
                  <a:outerShdw blurRad="38100" dist="38100" dir="2700000" algn="tl">
                    <a:srgbClr val="C0C0C0"/>
                  </a:outerShdw>
                </a:effectLst>
                <a:latin typeface="楷体_GB2312" pitchFamily="49" charset="-122"/>
                <a:ea typeface="楷体_GB2312" pitchFamily="49" charset="-122"/>
              </a:rPr>
              <a:t>1e-4</a:t>
            </a:r>
            <a:r>
              <a:rPr kumimoji="1" lang="zh-CN" altLang="en-US" dirty="0">
                <a:effectLst>
                  <a:outerShdw blurRad="38100" dist="38100" dir="2700000" algn="tl">
                    <a:srgbClr val="C0C0C0"/>
                  </a:outerShdw>
                </a:effectLst>
                <a:latin typeface="楷体_GB2312" pitchFamily="49" charset="-122"/>
                <a:ea typeface="楷体_GB2312" pitchFamily="49" charset="-122"/>
              </a:rPr>
              <a:t>改为</a:t>
            </a:r>
            <a:r>
              <a:rPr kumimoji="1" lang="en-US" altLang="zh-CN" dirty="0">
                <a:effectLst>
                  <a:outerShdw blurRad="38100" dist="38100" dir="2700000" algn="tl">
                    <a:srgbClr val="C0C0C0"/>
                  </a:outerShdw>
                </a:effectLst>
                <a:latin typeface="楷体_GB2312" pitchFamily="49" charset="-122"/>
                <a:ea typeface="楷体_GB2312" pitchFamily="49" charset="-122"/>
              </a:rPr>
              <a:t>1e-6</a:t>
            </a:r>
            <a:r>
              <a:rPr kumimoji="1" lang="zh-CN" altLang="en-US" dirty="0">
                <a:effectLst>
                  <a:outerShdw blurRad="38100" dist="38100" dir="2700000" algn="tl">
                    <a:srgbClr val="C0C0C0"/>
                  </a:outerShdw>
                </a:effectLst>
                <a:latin typeface="楷体_GB2312" pitchFamily="49" charset="-122"/>
                <a:ea typeface="楷体_GB2312" pitchFamily="49" charset="-122"/>
              </a:rPr>
              <a:t>即可。下面是将例</a:t>
            </a:r>
            <a:r>
              <a:rPr kumimoji="1" lang="en-US" altLang="zh-CN" dirty="0">
                <a:effectLst>
                  <a:outerShdw blurRad="38100" dist="38100" dir="2700000" algn="tl">
                    <a:srgbClr val="C0C0C0"/>
                  </a:outerShdw>
                </a:effectLst>
                <a:latin typeface="楷体_GB2312" pitchFamily="49" charset="-122"/>
                <a:ea typeface="楷体_GB2312" pitchFamily="49" charset="-122"/>
              </a:rPr>
              <a:t>5.20</a:t>
            </a:r>
            <a:r>
              <a:rPr kumimoji="1" lang="zh-CN" altLang="en-US" dirty="0">
                <a:effectLst>
                  <a:outerShdw blurRad="38100" dist="38100" dir="2700000" algn="tl">
                    <a:srgbClr val="C0C0C0"/>
                  </a:outerShdw>
                </a:effectLst>
                <a:latin typeface="楷体_GB2312" pitchFamily="49" charset="-122"/>
                <a:ea typeface="楷体_GB2312" pitchFamily="49" charset="-122"/>
              </a:rPr>
              <a:t>的</a:t>
            </a:r>
            <a:r>
              <a:rPr kumimoji="1" lang="en-US" altLang="zh-CN" dirty="0">
                <a:effectLst>
                  <a:outerShdw blurRad="38100" dist="38100" dir="2700000" algn="tl">
                    <a:srgbClr val="C0C0C0"/>
                  </a:outerShdw>
                </a:effectLst>
                <a:latin typeface="楷体_GB2312" pitchFamily="49" charset="-122"/>
                <a:ea typeface="楷体_GB2312" pitchFamily="49" charset="-122"/>
              </a:rPr>
              <a:t>#define Epson 1e-4</a:t>
            </a:r>
            <a:r>
              <a:rPr kumimoji="1" lang="zh-CN" altLang="en-US" dirty="0">
                <a:effectLst>
                  <a:outerShdw blurRad="38100" dist="38100" dir="2700000" algn="tl">
                    <a:srgbClr val="C0C0C0"/>
                  </a:outerShdw>
                </a:effectLst>
                <a:latin typeface="楷体_GB2312" pitchFamily="49" charset="-122"/>
                <a:ea typeface="楷体_GB2312" pitchFamily="49" charset="-122"/>
              </a:rPr>
              <a:t>改为</a:t>
            </a:r>
            <a:r>
              <a:rPr kumimoji="1" lang="en-US" altLang="zh-CN" dirty="0">
                <a:effectLst>
                  <a:outerShdw blurRad="38100" dist="38100" dir="2700000" algn="tl">
                    <a:srgbClr val="C0C0C0"/>
                  </a:outerShdw>
                </a:effectLst>
                <a:latin typeface="楷体_GB2312" pitchFamily="49" charset="-122"/>
                <a:ea typeface="楷体_GB2312" pitchFamily="49" charset="-122"/>
              </a:rPr>
              <a:t>#define Epson 1e-6</a:t>
            </a:r>
            <a:r>
              <a:rPr kumimoji="1" lang="zh-CN" altLang="en-US" dirty="0">
                <a:effectLst>
                  <a:outerShdw blurRad="38100" dist="38100" dir="2700000" algn="tl">
                    <a:srgbClr val="C0C0C0"/>
                  </a:outerShdw>
                </a:effectLst>
                <a:latin typeface="楷体_GB2312" pitchFamily="49" charset="-122"/>
                <a:ea typeface="楷体_GB2312" pitchFamily="49" charset="-122"/>
              </a:rPr>
              <a:t>，程序运行的结果。</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pi = 3.1415963</a:t>
            </a:r>
          </a:p>
        </p:txBody>
      </p:sp>
    </p:spTree>
  </p:cSld>
  <p:clrMapOvr>
    <a:masterClrMapping/>
  </p:clrMapOvr>
  <p:transition>
    <p:blinds/>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F3C56B3-5A08-4EF9-A00B-3F40559B24BA}" type="slidenum">
              <a:rPr lang="en-US" altLang="zh-CN"/>
              <a:pPr>
                <a:defRPr/>
              </a:pPr>
              <a:t>108</a:t>
            </a:fld>
            <a:endParaRPr lang="en-US" altLang="zh-CN"/>
          </a:p>
        </p:txBody>
      </p:sp>
      <p:sp>
        <p:nvSpPr>
          <p:cNvPr id="557058" name="Text Box 2"/>
          <p:cNvSpPr txBox="1">
            <a:spLocks noChangeArrowheads="1"/>
          </p:cNvSpPr>
          <p:nvPr/>
        </p:nvSpPr>
        <p:spPr bwMode="auto">
          <a:xfrm>
            <a:off x="684213" y="620713"/>
            <a:ext cx="7920037" cy="4835525"/>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在宏定义时，需注意以下几点：</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1</a:t>
            </a:r>
            <a:r>
              <a:rPr kumimoji="1" lang="zh-CN" altLang="en-US" sz="2400" dirty="0">
                <a:effectLst>
                  <a:outerShdw blurRad="38100" dist="38100" dir="2700000" algn="tl">
                    <a:srgbClr val="C0C0C0"/>
                  </a:outerShdw>
                </a:effectLst>
                <a:latin typeface="楷体_GB2312" pitchFamily="49" charset="-122"/>
                <a:ea typeface="楷体_GB2312" pitchFamily="49" charset="-122"/>
              </a:rPr>
              <a:t>）宏名通常用大写字母表示，以与变量名区别，当然也可以用小写字母表示。</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2</a:t>
            </a:r>
            <a:r>
              <a:rPr kumimoji="1" lang="zh-CN" altLang="en-US" sz="2400" dirty="0">
                <a:effectLst>
                  <a:outerShdw blurRad="38100" dist="38100" dir="2700000" algn="tl">
                    <a:srgbClr val="C0C0C0"/>
                  </a:outerShdw>
                </a:effectLst>
                <a:latin typeface="楷体_GB2312" pitchFamily="49" charset="-122"/>
                <a:ea typeface="楷体_GB2312" pitchFamily="49" charset="-122"/>
              </a:rPr>
              <a:t>）宏定义不是语句，行尾一般不能加分号，否则分号也作为字符序列的一部分被替换。例如，</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楷体_GB2312" pitchFamily="49" charset="-122"/>
                <a:ea typeface="楷体_GB2312" pitchFamily="49" charset="-122"/>
              </a:rPr>
              <a:t>#define PI 3.14159;</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Times New Roman"/>
                <a:ea typeface="楷体_GB2312" pitchFamily="49" charset="-122"/>
              </a:rPr>
              <a:t>…</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perimeter = 2 * PI * r;	/* </a:t>
            </a:r>
            <a:r>
              <a:rPr kumimoji="1" lang="zh-CN" altLang="en-US" sz="2400" dirty="0">
                <a:effectLst>
                  <a:outerShdw blurRad="38100" dist="38100" dir="2700000" algn="tl">
                    <a:srgbClr val="C0C0C0"/>
                  </a:outerShdw>
                </a:effectLst>
                <a:latin typeface="楷体_GB2312" pitchFamily="49" charset="-122"/>
                <a:ea typeface="楷体_GB2312" pitchFamily="49" charset="-122"/>
              </a:rPr>
              <a:t>计算圆周长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经过宏展开后，计算圆周长的语句变成</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楷体_GB2312" pitchFamily="49" charset="-122"/>
                <a:ea typeface="楷体_GB2312" pitchFamily="49" charset="-122"/>
              </a:rPr>
              <a:t>perimeter = 2 * 3.14159; * r;/* </a:t>
            </a:r>
            <a:r>
              <a:rPr kumimoji="1" lang="zh-CN" altLang="en-US" sz="2400" dirty="0">
                <a:effectLst>
                  <a:outerShdw blurRad="38100" dist="38100" dir="2700000" algn="tl">
                    <a:srgbClr val="C0C0C0"/>
                  </a:outerShdw>
                </a:effectLst>
                <a:latin typeface="楷体_GB2312" pitchFamily="49" charset="-122"/>
                <a:ea typeface="楷体_GB2312" pitchFamily="49" charset="-122"/>
              </a:rPr>
              <a:t>计算圆周长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这就达不到计算圆周长的目的了。因为，预处理程序在处理宏定义时，仅将宏名与字符序列作替换工作，不作任何的语法检查。</a:t>
            </a:r>
          </a:p>
        </p:txBody>
      </p:sp>
    </p:spTree>
  </p:cSld>
  <p:clrMapOvr>
    <a:masterClrMapping/>
  </p:clrMapOvr>
  <p:transition>
    <p:blinds/>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76DF18D-0D30-4829-8C84-502F1F71C7F6}" type="slidenum">
              <a:rPr lang="en-US" altLang="zh-CN"/>
              <a:pPr>
                <a:defRPr/>
              </a:pPr>
              <a:t>109</a:t>
            </a:fld>
            <a:endParaRPr lang="en-US" altLang="zh-CN"/>
          </a:p>
        </p:txBody>
      </p:sp>
      <p:sp>
        <p:nvSpPr>
          <p:cNvPr id="558082" name="Text Box 2"/>
          <p:cNvSpPr txBox="1">
            <a:spLocks noChangeArrowheads="1"/>
          </p:cNvSpPr>
          <p:nvPr/>
        </p:nvSpPr>
        <p:spPr bwMode="auto">
          <a:xfrm>
            <a:off x="684213" y="620713"/>
            <a:ext cx="7920037" cy="6368915"/>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3</a:t>
            </a:r>
            <a:r>
              <a:rPr kumimoji="1" lang="zh-CN" altLang="en-US" sz="2400" dirty="0">
                <a:effectLst>
                  <a:outerShdw blurRad="38100" dist="38100" dir="2700000" algn="tl">
                    <a:srgbClr val="C0C0C0"/>
                  </a:outerShdw>
                </a:effectLst>
                <a:latin typeface="楷体_GB2312" pitchFamily="49" charset="-122"/>
                <a:ea typeface="楷体_GB2312" pitchFamily="49" charset="-122"/>
              </a:rPr>
              <a:t>）宏名的有效范围从宏定义命令开始，到源程序文件的结束。因此，宏定义命令通常写在文件开始处，以便各函数使用。如果要终止宏定义的作用域，可以使用</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undef</a:t>
            </a:r>
            <a:r>
              <a:rPr kumimoji="1" lang="zh-CN" altLang="en-US" sz="2400" dirty="0">
                <a:effectLst>
                  <a:outerShdw blurRad="38100" dist="38100" dir="2700000" algn="tl">
                    <a:srgbClr val="C0C0C0"/>
                  </a:outerShdw>
                </a:effectLst>
                <a:latin typeface="楷体_GB2312" pitchFamily="49" charset="-122"/>
                <a:ea typeface="楷体_GB2312" pitchFamily="49" charset="-122"/>
              </a:rPr>
              <a:t>命令。</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solidFill>
                  <a:srgbClr val="FF0000"/>
                </a:solidFill>
                <a:effectLst>
                  <a:outerShdw blurRad="38100" dist="38100" dir="2700000" algn="tl">
                    <a:srgbClr val="C0C0C0"/>
                  </a:outerShdw>
                </a:effectLst>
                <a:latin typeface="楷体_GB2312" pitchFamily="49" charset="-122"/>
                <a:ea typeface="楷体_GB2312" pitchFamily="49" charset="-122"/>
              </a:rPr>
              <a:t>#define Macro 5  </a:t>
            </a: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zh-CN" altLang="en-US" sz="2400" dirty="0">
                <a:effectLst>
                  <a:outerShdw blurRad="38100" dist="38100" dir="2700000" algn="tl">
                    <a:srgbClr val="C0C0C0"/>
                  </a:outerShdw>
                </a:effectLst>
                <a:latin typeface="楷体_GB2312" pitchFamily="49" charset="-122"/>
                <a:ea typeface="楷体_GB2312" pitchFamily="49" charset="-122"/>
              </a:rPr>
              <a:t>宏</a:t>
            </a:r>
            <a:r>
              <a:rPr kumimoji="1" lang="en-US" altLang="zh-CN" sz="2400" dirty="0">
                <a:effectLst>
                  <a:outerShdw blurRad="38100" dist="38100" dir="2700000" algn="tl">
                    <a:srgbClr val="C0C0C0"/>
                  </a:outerShdw>
                </a:effectLst>
                <a:latin typeface="楷体_GB2312" pitchFamily="49" charset="-122"/>
                <a:ea typeface="楷体_GB2312" pitchFamily="49" charset="-122"/>
              </a:rPr>
              <a:t>Macro</a:t>
            </a:r>
            <a:r>
              <a:rPr kumimoji="1" lang="zh-CN" altLang="en-US" sz="2400" dirty="0">
                <a:effectLst>
                  <a:outerShdw blurRad="38100" dist="38100" dir="2700000" algn="tl">
                    <a:srgbClr val="C0C0C0"/>
                  </a:outerShdw>
                </a:effectLst>
                <a:latin typeface="楷体_GB2312" pitchFamily="49" charset="-122"/>
                <a:ea typeface="楷体_GB2312" pitchFamily="49" charset="-122"/>
              </a:rPr>
              <a:t>的定义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void main()</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Times New Roman"/>
                <a:ea typeface="楷体_GB2312" pitchFamily="49" charset="-122"/>
              </a:rPr>
              <a:t>…</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dirty="0" err="1">
                <a:solidFill>
                  <a:srgbClr val="FF0000"/>
                </a:solidFill>
                <a:effectLst>
                  <a:outerShdw blurRad="38100" dist="38100" dir="2700000" algn="tl">
                    <a:srgbClr val="C0C0C0"/>
                  </a:outerShdw>
                </a:effectLst>
                <a:latin typeface="楷体_GB2312" pitchFamily="49" charset="-122"/>
                <a:ea typeface="楷体_GB2312" pitchFamily="49" charset="-122"/>
              </a:rPr>
              <a:t>undef</a:t>
            </a:r>
            <a:r>
              <a:rPr kumimoji="1" lang="en-US" altLang="zh-CN" sz="2400" dirty="0">
                <a:solidFill>
                  <a:srgbClr val="FF0000"/>
                </a:solidFill>
                <a:effectLst>
                  <a:outerShdw blurRad="38100" dist="38100" dir="2700000" algn="tl">
                    <a:srgbClr val="C0C0C0"/>
                  </a:outerShdw>
                </a:effectLst>
                <a:latin typeface="楷体_GB2312" pitchFamily="49" charset="-122"/>
                <a:ea typeface="楷体_GB2312" pitchFamily="49" charset="-122"/>
              </a:rPr>
              <a:t> Macro</a:t>
            </a: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zh-CN" altLang="en-US" sz="2400" dirty="0">
                <a:effectLst>
                  <a:outerShdw blurRad="38100" dist="38100" dir="2700000" algn="tl">
                    <a:srgbClr val="C0C0C0"/>
                  </a:outerShdw>
                </a:effectLst>
                <a:latin typeface="楷体_GB2312" pitchFamily="49" charset="-122"/>
                <a:ea typeface="楷体_GB2312" pitchFamily="49" charset="-122"/>
              </a:rPr>
              <a:t>终止宏</a:t>
            </a:r>
            <a:r>
              <a:rPr kumimoji="1" lang="en-US" altLang="zh-CN" sz="2400" dirty="0">
                <a:effectLst>
                  <a:outerShdw blurRad="38100" dist="38100" dir="2700000" algn="tl">
                    <a:srgbClr val="C0C0C0"/>
                  </a:outerShdw>
                </a:effectLst>
                <a:latin typeface="楷体_GB2312" pitchFamily="49" charset="-122"/>
                <a:ea typeface="楷体_GB2312" pitchFamily="49" charset="-122"/>
              </a:rPr>
              <a:t>Macro</a:t>
            </a:r>
            <a:r>
              <a:rPr kumimoji="1" lang="zh-CN" altLang="en-US" sz="2400" dirty="0">
                <a:effectLst>
                  <a:outerShdw blurRad="38100" dist="38100" dir="2700000" algn="tl">
                    <a:srgbClr val="C0C0C0"/>
                  </a:outerShdw>
                </a:effectLst>
                <a:latin typeface="楷体_GB2312" pitchFamily="49" charset="-122"/>
                <a:ea typeface="楷体_GB2312" pitchFamily="49" charset="-122"/>
              </a:rPr>
              <a:t>的定义 *</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400" dirty="0">
                <a:effectLst>
                  <a:outerShdw blurRad="38100" dist="38100" dir="2700000" algn="tl">
                    <a:srgbClr val="C0C0C0"/>
                  </a:outerShdw>
                </a:effectLst>
                <a:latin typeface="楷体_GB2312" pitchFamily="49" charset="-122"/>
                <a:ea typeface="楷体_GB2312" pitchFamily="49" charset="-122"/>
              </a:rPr>
              <a:t> f()</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Times New Roman"/>
                <a:ea typeface="楷体_GB2312" pitchFamily="49" charset="-122"/>
              </a:rPr>
              <a:t>…</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在上述程序结构中，主函数可以引用宏名</a:t>
            </a:r>
            <a:r>
              <a:rPr kumimoji="1" lang="en-US" altLang="zh-CN" sz="2400" dirty="0">
                <a:effectLst>
                  <a:outerShdw blurRad="38100" dist="38100" dir="2700000" algn="tl">
                    <a:srgbClr val="C0C0C0"/>
                  </a:outerShdw>
                </a:effectLst>
                <a:latin typeface="楷体_GB2312" pitchFamily="49" charset="-122"/>
                <a:ea typeface="楷体_GB2312" pitchFamily="49" charset="-122"/>
              </a:rPr>
              <a:t>Macro</a:t>
            </a:r>
            <a:r>
              <a:rPr kumimoji="1" lang="zh-CN" altLang="en-US" sz="2400" dirty="0">
                <a:effectLst>
                  <a:outerShdw blurRad="38100" dist="38100" dir="2700000" algn="tl">
                    <a:srgbClr val="C0C0C0"/>
                  </a:outerShdw>
                </a:effectLst>
                <a:latin typeface="楷体_GB2312" pitchFamily="49" charset="-122"/>
                <a:ea typeface="楷体_GB2312" pitchFamily="49" charset="-122"/>
              </a:rPr>
              <a:t>，而从函数</a:t>
            </a:r>
            <a:r>
              <a:rPr kumimoji="1" lang="en-US" altLang="zh-CN" sz="2400" dirty="0">
                <a:effectLst>
                  <a:outerShdw blurRad="38100" dist="38100" dir="2700000" algn="tl">
                    <a:srgbClr val="C0C0C0"/>
                  </a:outerShdw>
                </a:effectLst>
                <a:latin typeface="楷体_GB2312" pitchFamily="49" charset="-122"/>
                <a:ea typeface="楷体_GB2312" pitchFamily="49" charset="-122"/>
              </a:rPr>
              <a:t>f()</a:t>
            </a:r>
            <a:r>
              <a:rPr kumimoji="1" lang="zh-CN" altLang="en-US" sz="2400" dirty="0">
                <a:effectLst>
                  <a:outerShdw blurRad="38100" dist="38100" dir="2700000" algn="tl">
                    <a:srgbClr val="C0C0C0"/>
                  </a:outerShdw>
                </a:effectLst>
                <a:latin typeface="楷体_GB2312" pitchFamily="49" charset="-122"/>
                <a:ea typeface="楷体_GB2312" pitchFamily="49" charset="-122"/>
              </a:rPr>
              <a:t>开始，</a:t>
            </a:r>
            <a:r>
              <a:rPr kumimoji="1" lang="en-US" altLang="zh-CN" sz="2400" dirty="0">
                <a:effectLst>
                  <a:outerShdw blurRad="38100" dist="38100" dir="2700000" algn="tl">
                    <a:srgbClr val="C0C0C0"/>
                  </a:outerShdw>
                </a:effectLst>
                <a:latin typeface="楷体_GB2312" pitchFamily="49" charset="-122"/>
                <a:ea typeface="楷体_GB2312" pitchFamily="49" charset="-122"/>
              </a:rPr>
              <a:t>Macro</a:t>
            </a:r>
            <a:r>
              <a:rPr kumimoji="1" lang="zh-CN" altLang="en-US" sz="2400" dirty="0">
                <a:effectLst>
                  <a:outerShdw blurRad="38100" dist="38100" dir="2700000" algn="tl">
                    <a:srgbClr val="C0C0C0"/>
                  </a:outerShdw>
                </a:effectLst>
                <a:latin typeface="楷体_GB2312" pitchFamily="49" charset="-122"/>
                <a:ea typeface="楷体_GB2312" pitchFamily="49" charset="-122"/>
              </a:rPr>
              <a:t>已不再有定义了。</a:t>
            </a:r>
            <a:r>
              <a:rPr kumimoji="1" lang="zh-CN" altLang="en-US" sz="2400" dirty="0">
                <a:latin typeface="楷体_GB2312" pitchFamily="49" charset="-122"/>
                <a:ea typeface="楷体_GB2312" pitchFamily="49" charset="-122"/>
              </a:rPr>
              <a:t> </a:t>
            </a:r>
            <a:endParaRPr kumimoji="1" lang="zh-CN" altLang="en-US"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zh-CN" altLang="en-US" sz="2400" dirty="0">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3A964D2-0BFB-484C-A60C-C1DD4F4C1870}" type="slidenum">
              <a:rPr lang="en-US" altLang="zh-CN"/>
              <a:pPr>
                <a:defRPr/>
              </a:pPr>
              <a:t>110</a:t>
            </a:fld>
            <a:endParaRPr lang="en-US" altLang="zh-CN"/>
          </a:p>
        </p:txBody>
      </p:sp>
      <p:sp>
        <p:nvSpPr>
          <p:cNvPr id="559106" name="Text Box 2"/>
          <p:cNvSpPr txBox="1">
            <a:spLocks noChangeArrowheads="1"/>
          </p:cNvSpPr>
          <p:nvPr/>
        </p:nvSpPr>
        <p:spPr bwMode="auto">
          <a:xfrm>
            <a:off x="684213" y="620713"/>
            <a:ext cx="7920037" cy="5630251"/>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4</a:t>
            </a:r>
            <a:r>
              <a:rPr kumimoji="1" lang="zh-CN" altLang="en-US" sz="2400" dirty="0">
                <a:effectLst>
                  <a:outerShdw blurRad="38100" dist="38100" dir="2700000" algn="tl">
                    <a:srgbClr val="C0C0C0"/>
                  </a:outerShdw>
                </a:effectLst>
                <a:latin typeface="楷体_GB2312" pitchFamily="49" charset="-122"/>
                <a:ea typeface="楷体_GB2312" pitchFamily="49" charset="-122"/>
              </a:rPr>
              <a:t>）在新的宏定义中，可以引用前面已定义的宏名。例如，</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楷体_GB2312" pitchFamily="49" charset="-122"/>
                <a:ea typeface="楷体_GB2312" pitchFamily="49" charset="-122"/>
              </a:rPr>
              <a:t>#define R     5</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#define PI 	  3.1416</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#define AREA  PI * R * R</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#define PERI  2 * PI * R</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在上述宏定义中，</a:t>
            </a:r>
            <a:r>
              <a:rPr kumimoji="1" lang="en-US" altLang="zh-CN" sz="2400" dirty="0">
                <a:effectLst>
                  <a:outerShdw blurRad="38100" dist="38100" dir="2700000" algn="tl">
                    <a:srgbClr val="C0C0C0"/>
                  </a:outerShdw>
                </a:effectLst>
                <a:latin typeface="楷体_GB2312" pitchFamily="49" charset="-122"/>
                <a:ea typeface="楷体_GB2312" pitchFamily="49" charset="-122"/>
              </a:rPr>
              <a:t>AREA</a:t>
            </a:r>
            <a:r>
              <a:rPr kumimoji="1" lang="zh-CN" altLang="en-US" sz="2400" dirty="0">
                <a:effectLst>
                  <a:outerShdw blurRad="38100" dist="38100" dir="2700000" algn="tl">
                    <a:srgbClr val="C0C0C0"/>
                  </a:outerShdw>
                </a:effectLst>
                <a:latin typeface="楷体_GB2312" pitchFamily="49" charset="-122"/>
                <a:ea typeface="楷体_GB2312" pitchFamily="49" charset="-122"/>
              </a:rPr>
              <a:t>被展开为</a:t>
            </a:r>
            <a:r>
              <a:rPr kumimoji="1" lang="en-US" altLang="zh-CN" sz="2400" dirty="0">
                <a:effectLst>
                  <a:outerShdw blurRad="38100" dist="38100" dir="2700000" algn="tl">
                    <a:srgbClr val="C0C0C0"/>
                  </a:outerShdw>
                </a:effectLst>
                <a:latin typeface="楷体_GB2312" pitchFamily="49" charset="-122"/>
                <a:ea typeface="楷体_GB2312" pitchFamily="49" charset="-122"/>
              </a:rPr>
              <a:t>3.1416*5*5</a:t>
            </a: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PERI</a:t>
            </a:r>
            <a:r>
              <a:rPr kumimoji="1" lang="zh-CN" altLang="en-US" sz="2400" dirty="0">
                <a:effectLst>
                  <a:outerShdw blurRad="38100" dist="38100" dir="2700000" algn="tl">
                    <a:srgbClr val="C0C0C0"/>
                  </a:outerShdw>
                </a:effectLst>
                <a:latin typeface="楷体_GB2312" pitchFamily="49" charset="-122"/>
                <a:ea typeface="楷体_GB2312" pitchFamily="49" charset="-122"/>
              </a:rPr>
              <a:t>被展开为</a:t>
            </a:r>
            <a:r>
              <a:rPr kumimoji="1" lang="en-US" altLang="zh-CN" sz="2400" dirty="0">
                <a:effectLst>
                  <a:outerShdw blurRad="38100" dist="38100" dir="2700000" algn="tl">
                    <a:srgbClr val="C0C0C0"/>
                  </a:outerShdw>
                </a:effectLst>
                <a:latin typeface="楷体_GB2312" pitchFamily="49" charset="-122"/>
                <a:ea typeface="楷体_GB2312" pitchFamily="49" charset="-122"/>
              </a:rPr>
              <a:t>2 * 3.1416 * 5</a:t>
            </a:r>
            <a:r>
              <a:rPr kumimoji="1" lang="zh-CN" altLang="en-US" sz="2400" dirty="0">
                <a:effectLst>
                  <a:outerShdw blurRad="38100" dist="38100" dir="2700000" algn="tl">
                    <a:srgbClr val="C0C0C0"/>
                  </a:outerShdw>
                </a:effectLst>
                <a:latin typeface="楷体_GB2312" pitchFamily="49" charset="-122"/>
                <a:ea typeface="楷体_GB2312" pitchFamily="49" charset="-122"/>
              </a:rPr>
              <a:t>。</a:t>
            </a:r>
            <a:endParaRPr kumimoji="1" lang="en-US" altLang="zh-CN"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zh-CN" altLang="en-US" sz="2400"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5</a:t>
            </a:r>
            <a:r>
              <a:rPr kumimoji="1" lang="zh-CN" altLang="en-US" sz="2400" dirty="0">
                <a:effectLst>
                  <a:outerShdw blurRad="38100" dist="38100" dir="2700000" algn="tl">
                    <a:srgbClr val="C0C0C0"/>
                  </a:outerShdw>
                </a:effectLst>
                <a:latin typeface="楷体_GB2312" pitchFamily="49" charset="-122"/>
                <a:ea typeface="楷体_GB2312" pitchFamily="49" charset="-122"/>
              </a:rPr>
              <a:t>）如果一个宏定义太长，一行写不下时可采用续行方法。续行是在键入回车符之前先键入符号</a:t>
            </a:r>
            <a:r>
              <a:rPr kumimoji="1" lang="zh-CN" altLang="en-US" sz="2400" dirty="0">
                <a:effectLst>
                  <a:outerShdw blurRad="38100" dist="38100" dir="2700000" algn="tl">
                    <a:srgbClr val="C0C0C0"/>
                  </a:outerShdw>
                </a:effectLst>
                <a:latin typeface="Times New Roman"/>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Times New Roman"/>
                <a:ea typeface="楷体_GB2312" pitchFamily="49" charset="-122"/>
              </a:rPr>
              <a:t>”</a:t>
            </a:r>
            <a:r>
              <a:rPr kumimoji="1" lang="zh-CN" altLang="en-US" sz="2400" dirty="0">
                <a:effectLst>
                  <a:outerShdw blurRad="38100" dist="38100" dir="2700000" algn="tl">
                    <a:srgbClr val="C0C0C0"/>
                  </a:outerShdw>
                </a:effectLst>
                <a:latin typeface="楷体_GB2312" pitchFamily="49" charset="-122"/>
                <a:ea typeface="楷体_GB2312" pitchFamily="49" charset="-122"/>
              </a:rPr>
              <a:t>。请注意，回车符要紧跟在符号</a:t>
            </a:r>
            <a:r>
              <a:rPr kumimoji="1" lang="zh-CN" altLang="en-US" sz="2400" dirty="0">
                <a:effectLst>
                  <a:outerShdw blurRad="38100" dist="38100" dir="2700000" algn="tl">
                    <a:srgbClr val="C0C0C0"/>
                  </a:outerShdw>
                </a:effectLst>
                <a:latin typeface="Times New Roman"/>
                <a:ea typeface="楷体_GB2312" pitchFamily="49" charset="-122"/>
              </a:rPr>
              <a:t>“</a:t>
            </a:r>
            <a:r>
              <a:rPr kumimoji="1" lang="en-US" altLang="zh-CN" sz="2400" dirty="0">
                <a:effectLst>
                  <a:outerShdw blurRad="38100" dist="38100" dir="2700000" algn="tl">
                    <a:srgbClr val="C0C0C0"/>
                  </a:outerShdw>
                </a:effectLst>
                <a:latin typeface="楷体_GB2312" pitchFamily="49" charset="-122"/>
                <a:ea typeface="楷体_GB2312" pitchFamily="49" charset="-122"/>
              </a:rPr>
              <a:t>\</a:t>
            </a:r>
            <a:r>
              <a:rPr kumimoji="1" lang="en-US" altLang="zh-CN" sz="2400" dirty="0">
                <a:effectLst>
                  <a:outerShdw blurRad="38100" dist="38100" dir="2700000" algn="tl">
                    <a:srgbClr val="C0C0C0"/>
                  </a:outerShdw>
                </a:effectLst>
                <a:latin typeface="Times New Roman"/>
                <a:ea typeface="楷体_GB2312" pitchFamily="49" charset="-122"/>
              </a:rPr>
              <a:t>”</a:t>
            </a:r>
            <a:r>
              <a:rPr kumimoji="1" lang="zh-CN" altLang="en-US" sz="2400" dirty="0">
                <a:effectLst>
                  <a:outerShdw blurRad="38100" dist="38100" dir="2700000" algn="tl">
                    <a:srgbClr val="C0C0C0"/>
                  </a:outerShdw>
                </a:effectLst>
                <a:latin typeface="楷体_GB2312" pitchFamily="49" charset="-122"/>
                <a:ea typeface="楷体_GB2312" pitchFamily="49" charset="-122"/>
              </a:rPr>
              <a:t>之后，中间不能插入其他符号。例如，</a:t>
            </a:r>
          </a:p>
          <a:p>
            <a:pPr algn="l" defTabSz="893763">
              <a:defRPr/>
            </a:pPr>
            <a:r>
              <a:rPr kumimoji="1" lang="zh-CN" altLang="en-US" sz="2400" dirty="0">
                <a:effectLst>
                  <a:outerShdw blurRad="38100" dist="38100" dir="2700000" algn="tl">
                    <a:srgbClr val="C0C0C0"/>
                  </a:outerShdw>
                </a:effectLst>
                <a:latin typeface="楷体_GB2312" pitchFamily="49" charset="-122"/>
                <a:ea typeface="楷体_GB2312" pitchFamily="49" charset="-122"/>
              </a:rPr>
              <a:t>	</a:t>
            </a:r>
            <a:r>
              <a:rPr kumimoji="1" lang="en-US" altLang="zh-CN" sz="2400" dirty="0">
                <a:effectLst>
                  <a:outerShdw blurRad="38100" dist="38100" dir="2700000" algn="tl">
                    <a:srgbClr val="C0C0C0"/>
                  </a:outerShdw>
                </a:effectLst>
                <a:latin typeface="楷体_GB2312" pitchFamily="49" charset="-122"/>
                <a:ea typeface="楷体_GB2312" pitchFamily="49" charset="-122"/>
              </a:rPr>
              <a:t>#define SWAPXY { </a:t>
            </a:r>
            <a:r>
              <a:rPr kumimoji="1" lang="en-US" altLang="zh-CN" sz="2400" dirty="0" err="1">
                <a:effectLst>
                  <a:outerShdw blurRad="38100" dist="38100" dir="2700000" algn="tl">
                    <a:srgbClr val="C0C0C0"/>
                  </a:outerShdw>
                </a:effectLst>
                <a:latin typeface="楷体_GB2312" pitchFamily="49" charset="-122"/>
                <a:ea typeface="楷体_GB2312" pitchFamily="49" charset="-122"/>
              </a:rPr>
              <a:t>int</a:t>
            </a:r>
            <a:r>
              <a:rPr kumimoji="1" lang="en-US" altLang="zh-CN" sz="2400" dirty="0">
                <a:effectLst>
                  <a:outerShdw blurRad="38100" dist="38100" dir="2700000" algn="tl">
                    <a:srgbClr val="C0C0C0"/>
                  </a:outerShdw>
                </a:effectLst>
                <a:latin typeface="楷体_GB2312" pitchFamily="49" charset="-122"/>
                <a:ea typeface="楷体_GB2312" pitchFamily="49" charset="-122"/>
              </a:rPr>
              <a:t> t = x; x = y;\</a:t>
            </a:r>
          </a:p>
          <a:p>
            <a:pPr algn="l" defTabSz="893763">
              <a:defRPr/>
            </a:pPr>
            <a:r>
              <a:rPr kumimoji="1" lang="en-US" altLang="zh-CN" sz="2400" dirty="0">
                <a:effectLst>
                  <a:outerShdw blurRad="38100" dist="38100" dir="2700000" algn="tl">
                    <a:srgbClr val="C0C0C0"/>
                  </a:outerShdw>
                </a:effectLst>
                <a:latin typeface="楷体_GB2312" pitchFamily="49" charset="-122"/>
                <a:ea typeface="楷体_GB2312" pitchFamily="49" charset="-122"/>
              </a:rPr>
              <a:t>					 y = t;}</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9106">
                                            <p:txEl>
                                              <p:pRg st="7" end="7"/>
                                            </p:txEl>
                                          </p:spTgt>
                                        </p:tgtEl>
                                        <p:attrNameLst>
                                          <p:attrName>style.visibility</p:attrName>
                                        </p:attrNameLst>
                                      </p:cBhvr>
                                      <p:to>
                                        <p:strVal val="visible"/>
                                      </p:to>
                                    </p:set>
                                    <p:anim calcmode="lin" valueType="num">
                                      <p:cBhvr additive="base">
                                        <p:cTn id="7" dur="500" fill="hold"/>
                                        <p:tgtEl>
                                          <p:spTgt spid="559106">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9106">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9106">
                                            <p:txEl>
                                              <p:pRg st="8" end="8"/>
                                            </p:txEl>
                                          </p:spTgt>
                                        </p:tgtEl>
                                        <p:attrNameLst>
                                          <p:attrName>style.visibility</p:attrName>
                                        </p:attrNameLst>
                                      </p:cBhvr>
                                      <p:to>
                                        <p:strVal val="visible"/>
                                      </p:to>
                                    </p:set>
                                    <p:anim calcmode="lin" valueType="num">
                                      <p:cBhvr additive="base">
                                        <p:cTn id="11" dur="500" fill="hold"/>
                                        <p:tgtEl>
                                          <p:spTgt spid="559106">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9106">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59106">
                                            <p:txEl>
                                              <p:pRg st="9" end="9"/>
                                            </p:txEl>
                                          </p:spTgt>
                                        </p:tgtEl>
                                        <p:attrNameLst>
                                          <p:attrName>style.visibility</p:attrName>
                                        </p:attrNameLst>
                                      </p:cBhvr>
                                      <p:to>
                                        <p:strVal val="visible"/>
                                      </p:to>
                                    </p:set>
                                    <p:anim calcmode="lin" valueType="num">
                                      <p:cBhvr additive="base">
                                        <p:cTn id="15" dur="500" fill="hold"/>
                                        <p:tgtEl>
                                          <p:spTgt spid="559106">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910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B368329-6109-498C-A7B9-F6406EC3A592}" type="slidenum">
              <a:rPr lang="en-US" altLang="zh-CN"/>
              <a:pPr>
                <a:defRPr/>
              </a:pPr>
              <a:t>111</a:t>
            </a:fld>
            <a:endParaRPr lang="en-US" altLang="zh-CN"/>
          </a:p>
        </p:txBody>
      </p:sp>
      <p:sp>
        <p:nvSpPr>
          <p:cNvPr id="495619" name="Text Box 3"/>
          <p:cNvSpPr txBox="1">
            <a:spLocks noChangeArrowheads="1"/>
          </p:cNvSpPr>
          <p:nvPr/>
        </p:nvSpPr>
        <p:spPr bwMode="auto">
          <a:xfrm>
            <a:off x="468313" y="609600"/>
            <a:ext cx="7991475" cy="3709725"/>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solidFill>
                  <a:srgbClr val="990000"/>
                </a:solidFill>
                <a:effectLst>
                  <a:outerShdw blurRad="38100" dist="38100" dir="2700000" algn="tl">
                    <a:srgbClr val="C0C0C0"/>
                  </a:outerShdw>
                </a:effectLst>
                <a:latin typeface="楷体_GB2312" pitchFamily="49" charset="-122"/>
                <a:ea typeface="楷体_GB2312" pitchFamily="49" charset="-122"/>
              </a:rPr>
              <a:t>带形式参数宏定义</a:t>
            </a:r>
          </a:p>
          <a:p>
            <a:pPr algn="just" defTabSz="893763" eaLnBrk="1" hangingPunct="1">
              <a:lnSpc>
                <a:spcPct val="105000"/>
              </a:lnSpc>
              <a:defRPr/>
            </a:pPr>
            <a:r>
              <a:rPr kumimoji="1" lang="zh-CN" altLang="en-US" i="1" dirty="0">
                <a:solidFill>
                  <a:srgbClr val="0000FF"/>
                </a:solidFill>
                <a:effectLst>
                  <a:outerShdw blurRad="38100" dist="38100" dir="2700000" algn="tl">
                    <a:srgbClr val="C0C0C0"/>
                  </a:outerShdw>
                </a:effectLst>
                <a:latin typeface="楷体_GB2312" pitchFamily="49" charset="-122"/>
                <a:ea typeface="楷体_GB2312" pitchFamily="49" charset="-122"/>
              </a:rPr>
              <a:t>带形式参数的宏定义进一步扩充了不带形式参数宏定义的能力，在字符序列替换同时还能进行参数替换。</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solidFill>
                  <a:srgbClr val="006600"/>
                </a:solidFill>
                <a:effectLst>
                  <a:outerShdw blurRad="38100" dist="38100" dir="2700000" algn="tl">
                    <a:srgbClr val="C0C0C0"/>
                  </a:outerShdw>
                </a:effectLst>
                <a:latin typeface="楷体_GB2312" pitchFamily="49" charset="-122"/>
                <a:ea typeface="楷体_GB2312" pitchFamily="49" charset="-122"/>
              </a:rPr>
              <a:t>带形式参数宏定义的一般形式为：</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kumimoji="1" lang="en-US" altLang="zh-CN" dirty="0">
                <a:solidFill>
                  <a:srgbClr val="0000FF"/>
                </a:solidFill>
                <a:effectLst>
                  <a:outerShdw blurRad="38100" dist="38100" dir="2700000" algn="tl">
                    <a:srgbClr val="C0C0C0"/>
                  </a:outerShdw>
                </a:effectLst>
                <a:latin typeface="楷体_GB2312" pitchFamily="49" charset="-122"/>
                <a:ea typeface="楷体_GB2312" pitchFamily="49" charset="-122"/>
              </a:rPr>
              <a:t>#define  </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标识符</a:t>
            </a:r>
            <a:r>
              <a:rPr kumimoji="1" lang="en-US" altLang="zh-CN" dirty="0">
                <a:solidFill>
                  <a:srgbClr val="0000FF"/>
                </a:solidFill>
                <a:effectLst>
                  <a:outerShdw blurRad="38100" dist="38100" dir="2700000" algn="tl">
                    <a:srgbClr val="C0C0C0"/>
                  </a:outerShdw>
                </a:effectLst>
                <a:latin typeface="楷体_GB2312" pitchFamily="49" charset="-122"/>
                <a:ea typeface="楷体_GB2312" pitchFamily="49" charset="-122"/>
              </a:rPr>
              <a:t>(</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形式参数表</a:t>
            </a:r>
            <a:r>
              <a:rPr kumimoji="1" lang="en-US" altLang="zh-CN" dirty="0">
                <a:solidFill>
                  <a:srgbClr val="0000FF"/>
                </a:solidFill>
                <a:effectLst>
                  <a:outerShdw blurRad="38100" dist="38100" dir="2700000" algn="tl">
                    <a:srgbClr val="C0C0C0"/>
                  </a:outerShdw>
                </a:effectLst>
                <a:latin typeface="楷体_GB2312" pitchFamily="49" charset="-122"/>
                <a:ea typeface="楷体_GB2312" pitchFamily="49" charset="-122"/>
              </a:rPr>
              <a:t>)  </a:t>
            </a:r>
            <a:r>
              <a:rPr kumimoji="1" lang="zh-CN" altLang="en-US" dirty="0">
                <a:solidFill>
                  <a:srgbClr val="0000FF"/>
                </a:solidFill>
                <a:effectLst>
                  <a:outerShdw blurRad="38100" dist="38100" dir="2700000" algn="tl">
                    <a:srgbClr val="C0C0C0"/>
                  </a:outerShdw>
                </a:effectLst>
                <a:latin typeface="楷体_GB2312" pitchFamily="49" charset="-122"/>
                <a:ea typeface="楷体_GB2312" pitchFamily="49" charset="-122"/>
              </a:rPr>
              <a:t>字符序列</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形式参数表中的形式参数之间用逗号分隔，字符序列中应包含形式参数表中的形式参数。</a:t>
            </a:r>
          </a:p>
        </p:txBody>
      </p:sp>
    </p:spTree>
  </p:cSld>
  <p:clrMapOvr>
    <a:masterClrMapping/>
  </p:clrMapOvr>
  <p:transition>
    <p:blinds/>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E61B911-5D73-416E-BFF6-7B59C0444A5A}" type="slidenum">
              <a:rPr lang="en-US" altLang="zh-CN"/>
              <a:pPr>
                <a:defRPr/>
              </a:pPr>
              <a:t>112</a:t>
            </a:fld>
            <a:endParaRPr lang="en-US" altLang="zh-CN"/>
          </a:p>
        </p:txBody>
      </p:sp>
      <p:sp>
        <p:nvSpPr>
          <p:cNvPr id="496643" name="Text Box 3"/>
          <p:cNvSpPr txBox="1">
            <a:spLocks noChangeArrowheads="1"/>
          </p:cNvSpPr>
          <p:nvPr/>
        </p:nvSpPr>
        <p:spPr bwMode="auto">
          <a:xfrm>
            <a:off x="611188" y="609600"/>
            <a:ext cx="8064500" cy="2774950"/>
          </a:xfrm>
          <a:prstGeom prst="rect">
            <a:avLst/>
          </a:prstGeom>
          <a:noFill/>
          <a:ln w="9525">
            <a:noFill/>
            <a:miter lim="800000"/>
            <a:headEnd/>
            <a:tailEnd/>
          </a:ln>
          <a:effectLst/>
        </p:spPr>
        <p:txBody>
          <a:bodyPr lIns="89401" tIns="44700" rIns="89401" bIns="44700">
            <a:spAutoFit/>
          </a:bodyPr>
          <a:lstStyle/>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如有宏定义：</a:t>
            </a:r>
          </a:p>
          <a:p>
            <a:pPr algn="just" defTabSz="893763" eaLnBrk="1" hangingPunct="1">
              <a:lnSpc>
                <a:spcPct val="105000"/>
              </a:lnSpc>
              <a:defRPr/>
            </a:pPr>
            <a:r>
              <a:rPr kumimoji="1" lang="en-US" altLang="zh-CN" dirty="0">
                <a:solidFill>
                  <a:srgbClr val="990000"/>
                </a:solidFill>
                <a:effectLst>
                  <a:outerShdw blurRad="38100" dist="38100" dir="2700000" algn="tl">
                    <a:srgbClr val="C0C0C0"/>
                  </a:outerShdw>
                </a:effectLst>
                <a:latin typeface="楷体_GB2312" pitchFamily="49" charset="-122"/>
                <a:ea typeface="楷体_GB2312" pitchFamily="49" charset="-122"/>
              </a:rPr>
              <a:t>#define  MAX(A, B)  ((A) &gt; (B) ? (A) : (B))</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则代码</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r>
              <a:rPr kumimoji="1" lang="en-US" altLang="zh-CN" dirty="0">
                <a:effectLst>
                  <a:outerShdw blurRad="38100" dist="38100" dir="2700000" algn="tl">
                    <a:srgbClr val="C0C0C0"/>
                  </a:outerShdw>
                </a:effectLst>
                <a:latin typeface="楷体_GB2312" pitchFamily="49" charset="-122"/>
                <a:ea typeface="楷体_GB2312" pitchFamily="49" charset="-122"/>
              </a:rPr>
              <a:t>y = MAX(</a:t>
            </a:r>
            <a:r>
              <a:rPr kumimoji="1" lang="en-US" altLang="zh-CN" dirty="0" err="1">
                <a:effectLst>
                  <a:outerShdw blurRad="38100" dist="38100" dir="2700000" algn="tl">
                    <a:srgbClr val="C0C0C0"/>
                  </a:outerShdw>
                </a:effectLst>
                <a:latin typeface="楷体_GB2312" pitchFamily="49" charset="-122"/>
                <a:ea typeface="楷体_GB2312" pitchFamily="49" charset="-122"/>
              </a:rPr>
              <a:t>p+q</a:t>
            </a:r>
            <a:r>
              <a:rPr kumimoji="1" lang="en-US" altLang="zh-CN" dirty="0">
                <a:effectLst>
                  <a:outerShdw blurRad="38100" dist="38100" dir="2700000" algn="tl">
                    <a:srgbClr val="C0C0C0"/>
                  </a:outerShdw>
                </a:effectLst>
                <a:latin typeface="楷体_GB2312" pitchFamily="49" charset="-122"/>
                <a:ea typeface="楷体_GB2312" pitchFamily="49" charset="-122"/>
              </a:rPr>
              <a:t>, </a:t>
            </a:r>
            <a:r>
              <a:rPr kumimoji="1" lang="en-US" altLang="zh-CN" dirty="0" err="1">
                <a:effectLst>
                  <a:outerShdw blurRad="38100" dist="38100" dir="2700000" algn="tl">
                    <a:srgbClr val="C0C0C0"/>
                  </a:outerShdw>
                </a:effectLst>
                <a:latin typeface="楷体_GB2312" pitchFamily="49" charset="-122"/>
                <a:ea typeface="楷体_GB2312" pitchFamily="49" charset="-122"/>
              </a:rPr>
              <a:t>u+v</a:t>
            </a:r>
            <a:r>
              <a:rPr kumimoji="1" lang="en-US" altLang="zh-CN" dirty="0">
                <a:effectLst>
                  <a:outerShdw blurRad="38100" dist="38100" dir="2700000" algn="tl">
                    <a:srgbClr val="C0C0C0"/>
                  </a:outerShdw>
                </a:effectLst>
                <a:latin typeface="楷体_GB2312" pitchFamily="49" charset="-122"/>
                <a:ea typeface="楷体_GB2312" pitchFamily="49" charset="-122"/>
              </a:rPr>
              <a:t>)</a:t>
            </a:r>
          </a:p>
          <a:p>
            <a:pPr algn="just" defTabSz="893763" eaLnBrk="1" hangingPunct="1">
              <a:lnSpc>
                <a:spcPct val="105000"/>
              </a:lnSpc>
              <a:defRPr/>
            </a:pPr>
            <a:r>
              <a:rPr kumimoji="1" lang="zh-CN" altLang="en-US" dirty="0">
                <a:effectLst>
                  <a:outerShdw blurRad="38100" dist="38100" dir="2700000" algn="tl">
                    <a:srgbClr val="C0C0C0"/>
                  </a:outerShdw>
                </a:effectLst>
                <a:latin typeface="楷体_GB2312" pitchFamily="49" charset="-122"/>
                <a:ea typeface="楷体_GB2312" pitchFamily="49" charset="-122"/>
              </a:rPr>
              <a:t>将被替换成</a:t>
            </a:r>
          </a:p>
          <a:p>
            <a:pPr algn="just" defTabSz="893763" eaLnBrk="1" hangingPunct="1">
              <a:lnSpc>
                <a:spcPct val="105000"/>
              </a:lnSpc>
              <a:defRPr/>
            </a:pPr>
            <a:r>
              <a:rPr kumimoji="1" lang="en-US" altLang="zh-CN" dirty="0">
                <a:effectLst>
                  <a:outerShdw blurRad="38100" dist="38100" dir="2700000" algn="tl">
                    <a:srgbClr val="C0C0C0"/>
                  </a:outerShdw>
                </a:effectLst>
                <a:latin typeface="楷体_GB2312" pitchFamily="49" charset="-122"/>
                <a:ea typeface="楷体_GB2312" pitchFamily="49" charset="-122"/>
              </a:rPr>
              <a:t>y =((</a:t>
            </a:r>
            <a:r>
              <a:rPr kumimoji="1" lang="en-US" altLang="zh-CN" dirty="0" err="1">
                <a:effectLst>
                  <a:outerShdw blurRad="38100" dist="38100" dir="2700000" algn="tl">
                    <a:srgbClr val="C0C0C0"/>
                  </a:outerShdw>
                </a:effectLst>
                <a:latin typeface="楷体_GB2312" pitchFamily="49" charset="-122"/>
                <a:ea typeface="楷体_GB2312" pitchFamily="49" charset="-122"/>
              </a:rPr>
              <a:t>p+q</a:t>
            </a:r>
            <a:r>
              <a:rPr kumimoji="1" lang="en-US" altLang="zh-CN" dirty="0">
                <a:effectLst>
                  <a:outerShdw blurRad="38100" dist="38100" dir="2700000" algn="tl">
                    <a:srgbClr val="C0C0C0"/>
                  </a:outerShdw>
                </a:effectLst>
                <a:latin typeface="楷体_GB2312" pitchFamily="49" charset="-122"/>
                <a:ea typeface="楷体_GB2312" pitchFamily="49" charset="-122"/>
              </a:rPr>
              <a:t>) &gt; (</a:t>
            </a:r>
            <a:r>
              <a:rPr kumimoji="1" lang="en-US" altLang="zh-CN" dirty="0" err="1">
                <a:effectLst>
                  <a:outerShdw blurRad="38100" dist="38100" dir="2700000" algn="tl">
                    <a:srgbClr val="C0C0C0"/>
                  </a:outerShdw>
                </a:effectLst>
                <a:latin typeface="楷体_GB2312" pitchFamily="49" charset="-122"/>
                <a:ea typeface="楷体_GB2312" pitchFamily="49" charset="-122"/>
              </a:rPr>
              <a:t>u+v</a:t>
            </a:r>
            <a:r>
              <a:rPr kumimoji="1" lang="en-US" altLang="zh-CN" dirty="0">
                <a:effectLst>
                  <a:outerShdw blurRad="38100" dist="38100" dir="2700000" algn="tl">
                    <a:srgbClr val="C0C0C0"/>
                  </a:outerShdw>
                </a:effectLst>
                <a:latin typeface="楷体_GB2312" pitchFamily="49" charset="-122"/>
                <a:ea typeface="楷体_GB2312" pitchFamily="49" charset="-122"/>
              </a:rPr>
              <a:t>) ? (</a:t>
            </a:r>
            <a:r>
              <a:rPr kumimoji="1" lang="en-US" altLang="zh-CN" dirty="0" err="1">
                <a:effectLst>
                  <a:outerShdw blurRad="38100" dist="38100" dir="2700000" algn="tl">
                    <a:srgbClr val="C0C0C0"/>
                  </a:outerShdw>
                </a:effectLst>
                <a:latin typeface="楷体_GB2312" pitchFamily="49" charset="-122"/>
                <a:ea typeface="楷体_GB2312" pitchFamily="49" charset="-122"/>
              </a:rPr>
              <a:t>p+q</a:t>
            </a:r>
            <a:r>
              <a:rPr kumimoji="1" lang="en-US" altLang="zh-CN" dirty="0">
                <a:effectLst>
                  <a:outerShdw blurRad="38100" dist="38100" dir="2700000" algn="tl">
                    <a:srgbClr val="C0C0C0"/>
                  </a:outerShdw>
                </a:effectLst>
                <a:latin typeface="楷体_GB2312" pitchFamily="49" charset="-122"/>
                <a:ea typeface="楷体_GB2312" pitchFamily="49" charset="-122"/>
              </a:rPr>
              <a:t>) : (</a:t>
            </a:r>
            <a:r>
              <a:rPr kumimoji="1" lang="en-US" altLang="zh-CN" dirty="0" err="1">
                <a:effectLst>
                  <a:outerShdw blurRad="38100" dist="38100" dir="2700000" algn="tl">
                    <a:srgbClr val="C0C0C0"/>
                  </a:outerShdw>
                </a:effectLst>
                <a:latin typeface="楷体_GB2312" pitchFamily="49" charset="-122"/>
                <a:ea typeface="楷体_GB2312" pitchFamily="49" charset="-122"/>
              </a:rPr>
              <a:t>u+v</a:t>
            </a:r>
            <a:r>
              <a:rPr kumimoji="1" lang="en-US" altLang="zh-CN" dirty="0">
                <a:effectLst>
                  <a:outerShdw blurRad="38100" dist="38100" dir="2700000" algn="tl">
                    <a:srgbClr val="C0C0C0"/>
                  </a:outerShdw>
                </a:effectLst>
                <a:latin typeface="楷体_GB2312" pitchFamily="49" charset="-122"/>
                <a:ea typeface="楷体_GB2312" pitchFamily="49" charset="-122"/>
              </a:rPr>
              <a:t>))</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7D38DD1-1441-46FC-815D-BF04424180AB}" type="slidenum">
              <a:rPr lang="en-US" altLang="zh-CN"/>
              <a:pPr>
                <a:defRPr/>
              </a:pPr>
              <a:t>113</a:t>
            </a:fld>
            <a:endParaRPr lang="en-US" altLang="zh-CN"/>
          </a:p>
        </p:txBody>
      </p:sp>
      <p:sp>
        <p:nvSpPr>
          <p:cNvPr id="497667" name="Text Box 3"/>
          <p:cNvSpPr txBox="1">
            <a:spLocks noChangeArrowheads="1"/>
          </p:cNvSpPr>
          <p:nvPr/>
        </p:nvSpPr>
        <p:spPr bwMode="auto">
          <a:xfrm>
            <a:off x="468313" y="609600"/>
            <a:ext cx="8135937" cy="3537371"/>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对带形参的宏定义，请注意以下几点：</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1</a:t>
            </a:r>
            <a:r>
              <a:rPr kumimoji="1" lang="zh-CN" altLang="en-US" dirty="0">
                <a:effectLst>
                  <a:outerShdw blurRad="38100" dist="38100" dir="2700000" algn="tl">
                    <a:srgbClr val="C0C0C0"/>
                  </a:outerShdw>
                </a:effectLst>
                <a:latin typeface="楷体_GB2312" pitchFamily="49" charset="-122"/>
                <a:ea typeface="楷体_GB2312" pitchFamily="49" charset="-122"/>
              </a:rPr>
              <a:t>）在宏定义时，标识符与左圆括号之间不允许有空白符号，应紧接在一起，否则将空白字符之后的字符都作为字符序列的一部分，即变成了不带形参的宏定义了。</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2</a:t>
            </a:r>
            <a:r>
              <a:rPr kumimoji="1" lang="zh-CN" altLang="en-US" dirty="0">
                <a:effectLst>
                  <a:outerShdw blurRad="38100" dist="38100" dir="2700000" algn="tl">
                    <a:srgbClr val="C0C0C0"/>
                  </a:outerShdw>
                </a:effectLst>
                <a:latin typeface="楷体_GB2312" pitchFamily="49" charset="-122"/>
                <a:ea typeface="楷体_GB2312" pitchFamily="49" charset="-122"/>
              </a:rPr>
              <a:t>）在宏调用时，实参的个数必须与宏定义中的形参个数相同。</a:t>
            </a:r>
          </a:p>
        </p:txBody>
      </p:sp>
    </p:spTree>
  </p:cSld>
  <p:clrMapOvr>
    <a:masterClrMapping/>
  </p:clrMapOvr>
  <p:transition>
    <p:blinds/>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29FD612-89F1-4966-AEE7-2F0BE453386C}" type="slidenum">
              <a:rPr lang="en-US" altLang="zh-CN"/>
              <a:pPr>
                <a:defRPr/>
              </a:pPr>
              <a:t>114</a:t>
            </a:fld>
            <a:endParaRPr lang="en-US" altLang="zh-CN"/>
          </a:p>
        </p:txBody>
      </p:sp>
      <p:sp>
        <p:nvSpPr>
          <p:cNvPr id="560130" name="Text Box 2"/>
          <p:cNvSpPr txBox="1">
            <a:spLocks noChangeArrowheads="1"/>
          </p:cNvSpPr>
          <p:nvPr/>
        </p:nvSpPr>
        <p:spPr bwMode="auto">
          <a:xfrm>
            <a:off x="755650" y="609600"/>
            <a:ext cx="7848600" cy="3505200"/>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3</a:t>
            </a:r>
            <a:r>
              <a:rPr kumimoji="1" lang="zh-CN" altLang="en-US" dirty="0">
                <a:effectLst>
                  <a:outerShdw blurRad="38100" dist="38100" dir="2700000" algn="tl">
                    <a:srgbClr val="C0C0C0"/>
                  </a:outerShdw>
                </a:effectLst>
                <a:latin typeface="楷体_GB2312" pitchFamily="49" charset="-122"/>
                <a:ea typeface="楷体_GB2312" pitchFamily="49" charset="-122"/>
              </a:rPr>
              <a:t>）在宏调用时，仅仅将实参表达式按原样替换形参，而不是将实参表达式的值传递给形参。例如，有如下宏定义</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r>
              <a:rPr kumimoji="1" lang="en-US" altLang="zh-CN" dirty="0">
                <a:effectLst>
                  <a:outerShdw blurRad="38100" dist="38100" dir="2700000" algn="tl">
                    <a:srgbClr val="C0C0C0"/>
                  </a:outerShdw>
                </a:effectLst>
                <a:latin typeface="楷体_GB2312" pitchFamily="49" charset="-122"/>
                <a:ea typeface="楷体_GB2312" pitchFamily="49" charset="-122"/>
              </a:rPr>
              <a:t>#define SQR(x) x * x</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则宏调用</a:t>
            </a:r>
            <a:r>
              <a:rPr kumimoji="1" lang="en-US" altLang="zh-CN" dirty="0">
                <a:effectLst>
                  <a:outerShdw blurRad="38100" dist="38100" dir="2700000" algn="tl">
                    <a:srgbClr val="C0C0C0"/>
                  </a:outerShdw>
                </a:effectLst>
                <a:latin typeface="楷体_GB2312" pitchFamily="49" charset="-122"/>
                <a:ea typeface="楷体_GB2312" pitchFamily="49" charset="-122"/>
              </a:rPr>
              <a:t>p = SQR(y); </a:t>
            </a:r>
            <a:r>
              <a:rPr kumimoji="1" lang="zh-CN" altLang="en-US" dirty="0">
                <a:effectLst>
                  <a:outerShdw blurRad="38100" dist="38100" dir="2700000" algn="tl">
                    <a:srgbClr val="C0C0C0"/>
                  </a:outerShdw>
                </a:effectLst>
                <a:latin typeface="楷体_GB2312" pitchFamily="49" charset="-122"/>
                <a:ea typeface="楷体_GB2312" pitchFamily="49" charset="-122"/>
              </a:rPr>
              <a:t>被展开为</a:t>
            </a:r>
            <a:r>
              <a:rPr kumimoji="1" lang="en-US" altLang="zh-CN" dirty="0">
                <a:effectLst>
                  <a:outerShdw blurRad="38100" dist="38100" dir="2700000" algn="tl">
                    <a:srgbClr val="C0C0C0"/>
                  </a:outerShdw>
                </a:effectLst>
                <a:latin typeface="楷体_GB2312" pitchFamily="49" charset="-122"/>
                <a:ea typeface="楷体_GB2312" pitchFamily="49" charset="-122"/>
              </a:rPr>
              <a:t>p = y * y;</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但宏定义</a:t>
            </a:r>
            <a:r>
              <a:rPr kumimoji="1" lang="en-US" altLang="zh-CN" dirty="0">
                <a:effectLst>
                  <a:outerShdw blurRad="38100" dist="38100" dir="2700000" algn="tl">
                    <a:srgbClr val="C0C0C0"/>
                  </a:outerShdw>
                </a:effectLst>
                <a:latin typeface="楷体_GB2312" pitchFamily="49" charset="-122"/>
                <a:ea typeface="楷体_GB2312" pitchFamily="49" charset="-122"/>
              </a:rPr>
              <a:t>q = SQR(u + v); </a:t>
            </a:r>
            <a:r>
              <a:rPr kumimoji="1" lang="zh-CN" altLang="en-US" dirty="0">
                <a:effectLst>
                  <a:outerShdw blurRad="38100" dist="38100" dir="2700000" algn="tl">
                    <a:srgbClr val="C0C0C0"/>
                  </a:outerShdw>
                </a:effectLst>
                <a:latin typeface="楷体_GB2312" pitchFamily="49" charset="-122"/>
                <a:ea typeface="楷体_GB2312" pitchFamily="49" charset="-122"/>
              </a:rPr>
              <a:t>被展开为</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    </a:t>
            </a:r>
            <a:r>
              <a:rPr kumimoji="1" lang="en-US" altLang="zh-CN" dirty="0">
                <a:effectLst>
                  <a:outerShdw blurRad="38100" dist="38100" dir="2700000" algn="tl">
                    <a:srgbClr val="C0C0C0"/>
                  </a:outerShdw>
                </a:effectLst>
                <a:latin typeface="楷体_GB2312" pitchFamily="49" charset="-122"/>
                <a:ea typeface="楷体_GB2312" pitchFamily="49" charset="-122"/>
              </a:rPr>
              <a:t>q = u + v * u + v;</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显然，这个展开结果不是编程者所希望的。</a:t>
            </a:r>
          </a:p>
        </p:txBody>
      </p:sp>
    </p:spTree>
  </p:cSld>
  <p:clrMapOvr>
    <a:masterClrMapping/>
  </p:clrMapOvr>
  <p:transition>
    <p:blinds/>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03A0E222-407F-437C-AF26-437BA2863055}" type="slidenum">
              <a:rPr lang="en-US" altLang="zh-CN"/>
              <a:pPr>
                <a:defRPr/>
              </a:pPr>
              <a:t>115</a:t>
            </a:fld>
            <a:endParaRPr lang="en-US" altLang="zh-CN"/>
          </a:p>
        </p:txBody>
      </p:sp>
      <p:sp>
        <p:nvSpPr>
          <p:cNvPr id="561154" name="Text Box 2"/>
          <p:cNvSpPr txBox="1">
            <a:spLocks noChangeArrowheads="1"/>
          </p:cNvSpPr>
          <p:nvPr/>
        </p:nvSpPr>
        <p:spPr bwMode="auto">
          <a:xfrm>
            <a:off x="755650" y="609600"/>
            <a:ext cx="7848600" cy="4786313"/>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为能保持实参的独立性，应在宏定义中给形参加上括号</a:t>
            </a:r>
            <a:r>
              <a:rPr kumimoji="1" lang="zh-CN" altLang="en-US">
                <a:effectLst>
                  <a:outerShdw blurRad="38100" dist="38100" dir="2700000" algn="tl">
                    <a:srgbClr val="C0C0C0"/>
                  </a:outerShdw>
                </a:effectLst>
                <a:latin typeface="Times New Roman"/>
                <a:ea typeface="楷体_GB2312" pitchFamily="49" charset="-122"/>
              </a:rPr>
              <a:t>“</a:t>
            </a:r>
            <a:r>
              <a:rPr kumimoji="1" lang="zh-CN" altLang="en-US">
                <a:effectLst>
                  <a:outerShdw blurRad="38100" dist="38100" dir="2700000" algn="tl">
                    <a:srgbClr val="C0C0C0"/>
                  </a:outerShdw>
                </a:effectLst>
                <a:latin typeface="楷体_GB2312" pitchFamily="49" charset="-122"/>
                <a:ea typeface="楷体_GB2312" pitchFamily="49" charset="-122"/>
              </a:rPr>
              <a:t>（）</a:t>
            </a:r>
            <a:r>
              <a:rPr kumimoji="1" lang="zh-CN" altLang="en-US">
                <a:effectLst>
                  <a:outerShdw blurRad="38100" dist="38100" dir="2700000" algn="tl">
                    <a:srgbClr val="C0C0C0"/>
                  </a:outerShdw>
                </a:effectLst>
                <a:latin typeface="Times New Roman"/>
                <a:ea typeface="楷体_GB2312" pitchFamily="49" charset="-122"/>
              </a:rPr>
              <a:t>”</a:t>
            </a:r>
            <a:r>
              <a:rPr kumimoji="1" lang="zh-CN" altLang="en-US">
                <a:effectLst>
                  <a:outerShdw blurRad="38100" dist="38100" dir="2700000" algn="tl">
                    <a:srgbClr val="C0C0C0"/>
                  </a:outerShdw>
                </a:effectLst>
                <a:latin typeface="楷体_GB2312" pitchFamily="49" charset="-122"/>
                <a:ea typeface="楷体_GB2312" pitchFamily="49" charset="-122"/>
              </a:rPr>
              <a:t>。如，</a:t>
            </a:r>
            <a:r>
              <a:rPr kumimoji="1" lang="en-US" altLang="zh-CN">
                <a:effectLst>
                  <a:outerShdw blurRad="38100" dist="38100" dir="2700000" algn="tl">
                    <a:srgbClr val="C0C0C0"/>
                  </a:outerShdw>
                </a:effectLst>
                <a:latin typeface="楷体_GB2312" pitchFamily="49" charset="-122"/>
                <a:ea typeface="楷体_GB2312" pitchFamily="49" charset="-122"/>
              </a:rPr>
              <a:t>SQR</a:t>
            </a:r>
            <a:r>
              <a:rPr kumimoji="1" lang="zh-CN" altLang="en-US">
                <a:effectLst>
                  <a:outerShdw blurRad="38100" dist="38100" dir="2700000" algn="tl">
                    <a:srgbClr val="C0C0C0"/>
                  </a:outerShdw>
                </a:effectLst>
                <a:latin typeface="楷体_GB2312" pitchFamily="49" charset="-122"/>
                <a:ea typeface="楷体_GB2312" pitchFamily="49" charset="-122"/>
              </a:rPr>
              <a:t>宏定义改写为：</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#define SQR(x) (x) * (x)</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如要保证宏定义整体的完整性，还可以将宏定义中的序符序列加括号。如，</a:t>
            </a:r>
            <a:r>
              <a:rPr kumimoji="1" lang="en-US" altLang="zh-CN">
                <a:effectLst>
                  <a:outerShdw blurRad="38100" dist="38100" dir="2700000" algn="tl">
                    <a:srgbClr val="C0C0C0"/>
                  </a:outerShdw>
                </a:effectLst>
                <a:latin typeface="楷体_GB2312" pitchFamily="49" charset="-122"/>
                <a:ea typeface="楷体_GB2312" pitchFamily="49" charset="-122"/>
              </a:rPr>
              <a:t>SQR</a:t>
            </a:r>
            <a:r>
              <a:rPr kumimoji="1" lang="zh-CN" altLang="en-US">
                <a:effectLst>
                  <a:outerShdw blurRad="38100" dist="38100" dir="2700000" algn="tl">
                    <a:srgbClr val="C0C0C0"/>
                  </a:outerShdw>
                </a:effectLst>
                <a:latin typeface="楷体_GB2312" pitchFamily="49" charset="-122"/>
                <a:ea typeface="楷体_GB2312" pitchFamily="49" charset="-122"/>
              </a:rPr>
              <a:t>宏定义进一步改写为：</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#define SQR(x) ((x) * (x))</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对于最后的宏定义，含宏调用的表达式</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r = 1.0/SQR(u+v)</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也能得到正确结果：</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r = 1.0/((u+v)*(u+v))</a:t>
            </a:r>
          </a:p>
        </p:txBody>
      </p:sp>
    </p:spTree>
  </p:cSld>
  <p:clrMapOvr>
    <a:masterClrMapping/>
  </p:clrMapOvr>
  <p:transition>
    <p:blinds/>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FA86A84-E9C4-432E-9ECE-37B720F85BA9}" type="slidenum">
              <a:rPr lang="en-US" altLang="zh-CN"/>
              <a:pPr>
                <a:defRPr/>
              </a:pPr>
              <a:t>116</a:t>
            </a:fld>
            <a:endParaRPr lang="en-US" altLang="zh-CN"/>
          </a:p>
        </p:txBody>
      </p:sp>
      <p:sp>
        <p:nvSpPr>
          <p:cNvPr id="562178" name="Text Box 2"/>
          <p:cNvSpPr txBox="1">
            <a:spLocks noChangeArrowheads="1"/>
          </p:cNvSpPr>
          <p:nvPr/>
        </p:nvSpPr>
        <p:spPr bwMode="auto">
          <a:xfrm>
            <a:off x="468313" y="609600"/>
            <a:ext cx="8135937" cy="6067425"/>
          </a:xfrm>
          <a:prstGeom prst="rect">
            <a:avLst/>
          </a:prstGeom>
          <a:noFill/>
          <a:ln w="9525">
            <a:noFill/>
            <a:miter lim="800000"/>
            <a:headEnd/>
            <a:tailEnd/>
          </a:ln>
          <a:effectLst/>
        </p:spPr>
        <p:txBody>
          <a:bodyPr lIns="89401" tIns="44700" rIns="89401" bIns="44700">
            <a:spAutoFit/>
          </a:bodyPr>
          <a:lstStyle/>
          <a:p>
            <a:pPr algn="l" defTabSz="893763">
              <a:defRPr/>
            </a:pPr>
            <a:r>
              <a:rPr kumimoji="1" lang="en-US" altLang="zh-CN" dirty="0">
                <a:solidFill>
                  <a:srgbClr val="0070C0"/>
                </a:solidFill>
                <a:effectLst>
                  <a:outerShdw blurRad="38100" dist="38100" dir="2700000" algn="tl">
                    <a:srgbClr val="C0C0C0"/>
                  </a:outerShdw>
                </a:effectLst>
                <a:latin typeface="楷体_GB2312" pitchFamily="49" charset="-122"/>
                <a:ea typeface="楷体_GB2312" pitchFamily="49" charset="-122"/>
              </a:rPr>
              <a:t>【</a:t>
            </a:r>
            <a:r>
              <a:rPr kumimoji="1" lang="zh-CN" altLang="en-US" dirty="0">
                <a:solidFill>
                  <a:srgbClr val="0070C0"/>
                </a:solidFill>
                <a:effectLst>
                  <a:outerShdw blurRad="38100" dist="38100" dir="2700000" algn="tl">
                    <a:srgbClr val="C0C0C0"/>
                  </a:outerShdw>
                </a:effectLst>
                <a:latin typeface="楷体_GB2312" pitchFamily="49" charset="-122"/>
                <a:ea typeface="楷体_GB2312" pitchFamily="49" charset="-122"/>
              </a:rPr>
              <a:t>例</a:t>
            </a:r>
            <a:r>
              <a:rPr kumimoji="1" lang="en-US" altLang="zh-CN" dirty="0">
                <a:solidFill>
                  <a:srgbClr val="0070C0"/>
                </a:solidFill>
                <a:effectLst>
                  <a:outerShdw blurRad="38100" dist="38100" dir="2700000" algn="tl">
                    <a:srgbClr val="C0C0C0"/>
                  </a:outerShdw>
                </a:effectLst>
                <a:latin typeface="楷体_GB2312" pitchFamily="49" charset="-122"/>
                <a:ea typeface="楷体_GB2312" pitchFamily="49" charset="-122"/>
              </a:rPr>
              <a:t>5.21】</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使用宏定义，计算半径为</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2</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4</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6</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8</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a:t>
            </a:r>
            <a:r>
              <a:rPr kumimoji="1" lang="en-US" altLang="zh-CN" dirty="0">
                <a:solidFill>
                  <a:srgbClr val="FF0000"/>
                </a:solidFill>
                <a:effectLst>
                  <a:outerShdw blurRad="38100" dist="38100" dir="2700000" algn="tl">
                    <a:srgbClr val="C0C0C0"/>
                  </a:outerShdw>
                </a:effectLst>
                <a:latin typeface="楷体_GB2312" pitchFamily="49" charset="-122"/>
                <a:ea typeface="楷体_GB2312" pitchFamily="49" charset="-122"/>
              </a:rPr>
              <a:t>10</a:t>
            </a:r>
            <a:r>
              <a:rPr kumimoji="1" lang="zh-CN" altLang="en-US" dirty="0">
                <a:solidFill>
                  <a:srgbClr val="FF0000"/>
                </a:solidFill>
                <a:effectLst>
                  <a:outerShdw blurRad="38100" dist="38100" dir="2700000" algn="tl">
                    <a:srgbClr val="C0C0C0"/>
                  </a:outerShdw>
                </a:effectLst>
                <a:latin typeface="楷体_GB2312" pitchFamily="49" charset="-122"/>
                <a:ea typeface="楷体_GB2312" pitchFamily="49" charset="-122"/>
              </a:rPr>
              <a:t>时圆的面积和圆的周长。</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#include &lt;</a:t>
            </a:r>
            <a:r>
              <a:rPr kumimoji="1" lang="en-US" altLang="zh-CN" dirty="0" err="1">
                <a:effectLst>
                  <a:outerShdw blurRad="38100" dist="38100" dir="2700000" algn="tl">
                    <a:srgbClr val="C0C0C0"/>
                  </a:outerShdw>
                </a:effectLst>
                <a:latin typeface="楷体_GB2312" pitchFamily="49" charset="-122"/>
                <a:ea typeface="楷体_GB2312" pitchFamily="49" charset="-122"/>
              </a:rPr>
              <a:t>stdio.h</a:t>
            </a:r>
            <a:r>
              <a:rPr kumimoji="1" lang="en-US" altLang="zh-CN" dirty="0">
                <a:effectLst>
                  <a:outerShdw blurRad="38100" dist="38100" dir="2700000" algn="tl">
                    <a:srgbClr val="C0C0C0"/>
                  </a:outerShdw>
                </a:effectLst>
                <a:latin typeface="楷体_GB2312" pitchFamily="49" charset="-122"/>
                <a:ea typeface="楷体_GB2312" pitchFamily="49" charset="-122"/>
              </a:rPr>
              <a:t>&gt;</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#define  PI  3.141592653</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#define  AREA(R)  PI * (R) * (R)</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#define  PERI(R)  2 * PI * (R)</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void main()</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a:t>
            </a:r>
            <a:r>
              <a:rPr kumimoji="1" lang="en-US" altLang="zh-CN" dirty="0" err="1">
                <a:effectLst>
                  <a:outerShdw blurRad="38100" dist="38100" dir="2700000" algn="tl">
                    <a:srgbClr val="C0C0C0"/>
                  </a:outerShdw>
                </a:effectLst>
                <a:latin typeface="楷体_GB2312" pitchFamily="49" charset="-122"/>
                <a:ea typeface="楷体_GB2312" pitchFamily="49" charset="-122"/>
              </a:rPr>
              <a:t>int</a:t>
            </a:r>
            <a:r>
              <a:rPr kumimoji="1" lang="en-US" altLang="zh-CN" dirty="0">
                <a:effectLst>
                  <a:outerShdw blurRad="38100" dist="38100" dir="2700000" algn="tl">
                    <a:srgbClr val="C0C0C0"/>
                  </a:outerShdw>
                </a:effectLst>
                <a:latin typeface="楷体_GB2312" pitchFamily="49" charset="-122"/>
                <a:ea typeface="楷体_GB2312" pitchFamily="49" charset="-122"/>
              </a:rPr>
              <a:t> r;</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for(r = 2; r &lt;= 10; r += 2)</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 </a:t>
            </a:r>
            <a:r>
              <a:rPr kumimoji="1" lang="en-US" altLang="zh-CN"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dirty="0">
                <a:effectLst>
                  <a:outerShdw blurRad="38100" dist="38100" dir="2700000" algn="tl">
                    <a:srgbClr val="C0C0C0"/>
                  </a:outerShdw>
                </a:effectLst>
                <a:latin typeface="楷体_GB2312" pitchFamily="49" charset="-122"/>
                <a:ea typeface="楷体_GB2312" pitchFamily="49" charset="-122"/>
              </a:rPr>
              <a:t>(" </a:t>
            </a:r>
            <a:r>
              <a:rPr kumimoji="1" lang="zh-CN" altLang="en-US" dirty="0">
                <a:effectLst>
                  <a:outerShdw blurRad="38100" dist="38100" dir="2700000" algn="tl">
                    <a:srgbClr val="C0C0C0"/>
                  </a:outerShdw>
                </a:effectLst>
                <a:latin typeface="楷体_GB2312" pitchFamily="49" charset="-122"/>
                <a:ea typeface="楷体_GB2312" pitchFamily="49" charset="-122"/>
              </a:rPr>
              <a:t>半径 </a:t>
            </a:r>
            <a:r>
              <a:rPr kumimoji="1" lang="en-US" altLang="zh-CN" dirty="0">
                <a:effectLst>
                  <a:outerShdw blurRad="38100" dist="38100" dir="2700000" algn="tl">
                    <a:srgbClr val="C0C0C0"/>
                  </a:outerShdw>
                </a:effectLst>
                <a:latin typeface="楷体_GB2312" pitchFamily="49" charset="-122"/>
                <a:ea typeface="楷体_GB2312" pitchFamily="49" charset="-122"/>
              </a:rPr>
              <a:t>= %2d</a:t>
            </a:r>
            <a:r>
              <a:rPr kumimoji="1" lang="zh-CN" altLang="en-US" dirty="0">
                <a:effectLst>
                  <a:outerShdw blurRad="38100" dist="38100" dir="2700000" algn="tl">
                    <a:srgbClr val="C0C0C0"/>
                  </a:outerShdw>
                </a:effectLst>
                <a:latin typeface="楷体_GB2312" pitchFamily="49" charset="-122"/>
                <a:ea typeface="楷体_GB2312" pitchFamily="49" charset="-122"/>
              </a:rPr>
              <a:t>，圆面积 </a:t>
            </a:r>
            <a:r>
              <a:rPr kumimoji="1" lang="en-US" altLang="zh-CN" dirty="0">
                <a:effectLst>
                  <a:outerShdw blurRad="38100" dist="38100" dir="2700000" algn="tl">
                    <a:srgbClr val="C0C0C0"/>
                  </a:outerShdw>
                </a:effectLst>
                <a:latin typeface="楷体_GB2312" pitchFamily="49" charset="-122"/>
                <a:ea typeface="楷体_GB2312" pitchFamily="49" charset="-122"/>
              </a:rPr>
              <a:t>= %f\t", </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r, AREA(r));</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a:t>
            </a:r>
            <a:r>
              <a:rPr kumimoji="1" lang="en-US" altLang="zh-CN" dirty="0" err="1">
                <a:effectLst>
                  <a:outerShdw blurRad="38100" dist="38100" dir="2700000" algn="tl">
                    <a:srgbClr val="C0C0C0"/>
                  </a:outerShdw>
                </a:effectLst>
                <a:latin typeface="楷体_GB2312" pitchFamily="49" charset="-122"/>
                <a:ea typeface="楷体_GB2312" pitchFamily="49" charset="-122"/>
              </a:rPr>
              <a:t>printf</a:t>
            </a:r>
            <a:r>
              <a:rPr kumimoji="1" lang="en-US" altLang="zh-CN" dirty="0">
                <a:effectLst>
                  <a:outerShdw blurRad="38100" dist="38100" dir="2700000" algn="tl">
                    <a:srgbClr val="C0C0C0"/>
                  </a:outerShdw>
                </a:effectLst>
                <a:latin typeface="楷体_GB2312" pitchFamily="49" charset="-122"/>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圆周长 </a:t>
            </a:r>
            <a:r>
              <a:rPr kumimoji="1" lang="en-US" altLang="zh-CN" dirty="0">
                <a:effectLst>
                  <a:outerShdw blurRad="38100" dist="38100" dir="2700000" algn="tl">
                    <a:srgbClr val="C0C0C0"/>
                  </a:outerShdw>
                </a:effectLst>
                <a:latin typeface="楷体_GB2312" pitchFamily="49" charset="-122"/>
                <a:ea typeface="楷体_GB2312" pitchFamily="49" charset="-122"/>
              </a:rPr>
              <a:t>= %f\n", PERI(r));</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  }</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a:t>
            </a:r>
          </a:p>
        </p:txBody>
      </p:sp>
    </p:spTree>
  </p:cSld>
  <p:clrMapOvr>
    <a:masterClrMapping/>
  </p:clrMapOvr>
  <p:transition>
    <p:blinds/>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E7DC71E-65DF-4719-B852-816720340C96}" type="slidenum">
              <a:rPr lang="en-US" altLang="zh-CN"/>
              <a:pPr>
                <a:defRPr/>
              </a:pPr>
              <a:t>117</a:t>
            </a:fld>
            <a:endParaRPr lang="en-US" altLang="zh-CN"/>
          </a:p>
        </p:txBody>
      </p:sp>
      <p:sp>
        <p:nvSpPr>
          <p:cNvPr id="563202" name="Text Box 2"/>
          <p:cNvSpPr txBox="1">
            <a:spLocks noChangeArrowheads="1"/>
          </p:cNvSpPr>
          <p:nvPr/>
        </p:nvSpPr>
        <p:spPr bwMode="auto">
          <a:xfrm>
            <a:off x="468313" y="609600"/>
            <a:ext cx="8135937" cy="5640388"/>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使用带参数的宏定义与使用函数是有区别的。主要有：</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a:t>
            </a:r>
            <a:r>
              <a:rPr kumimoji="1" lang="en-US" altLang="zh-CN">
                <a:effectLst>
                  <a:outerShdw blurRad="38100" dist="38100" dir="2700000" algn="tl">
                    <a:srgbClr val="C0C0C0"/>
                  </a:outerShdw>
                </a:effectLst>
                <a:latin typeface="楷体_GB2312" pitchFamily="49" charset="-122"/>
                <a:ea typeface="楷体_GB2312" pitchFamily="49" charset="-122"/>
              </a:rPr>
              <a:t>1</a:t>
            </a:r>
            <a:r>
              <a:rPr kumimoji="1" lang="zh-CN" altLang="en-US">
                <a:effectLst>
                  <a:outerShdw blurRad="38100" dist="38100" dir="2700000" algn="tl">
                    <a:srgbClr val="C0C0C0"/>
                  </a:outerShdw>
                </a:effectLst>
                <a:latin typeface="楷体_GB2312" pitchFamily="49" charset="-122"/>
                <a:ea typeface="楷体_GB2312" pitchFamily="49" charset="-122"/>
              </a:rPr>
              <a:t>）函数调用时，先求出实参表达式的值，然后传递给形参；而宏调用是将实参表达式按原样直接替换形参，这样实参的独立性就不一定存在。例如，例</a:t>
            </a:r>
            <a:r>
              <a:rPr kumimoji="1" lang="en-US" altLang="zh-CN">
                <a:effectLst>
                  <a:outerShdw blurRad="38100" dist="38100" dir="2700000" algn="tl">
                    <a:srgbClr val="C0C0C0"/>
                  </a:outerShdw>
                </a:effectLst>
                <a:latin typeface="楷体_GB2312" pitchFamily="49" charset="-122"/>
                <a:ea typeface="楷体_GB2312" pitchFamily="49" charset="-122"/>
              </a:rPr>
              <a:t>5.21</a:t>
            </a:r>
            <a:r>
              <a:rPr kumimoji="1" lang="zh-CN" altLang="en-US">
                <a:effectLst>
                  <a:outerShdw blurRad="38100" dist="38100" dir="2700000" algn="tl">
                    <a:srgbClr val="C0C0C0"/>
                  </a:outerShdw>
                </a:effectLst>
                <a:latin typeface="楷体_GB2312" pitchFamily="49" charset="-122"/>
                <a:ea typeface="楷体_GB2312" pitchFamily="49" charset="-122"/>
              </a:rPr>
              <a:t>中计算圆面积的宏定义改为：</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#define  AREA(R)  PI * R * R</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同时宏调用改为：</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		</a:t>
            </a:r>
            <a:r>
              <a:rPr kumimoji="1" lang="en-US" altLang="zh-CN">
                <a:effectLst>
                  <a:outerShdw blurRad="38100" dist="38100" dir="2700000" algn="tl">
                    <a:srgbClr val="C0C0C0"/>
                  </a:outerShdw>
                </a:effectLst>
                <a:latin typeface="楷体_GB2312" pitchFamily="49" charset="-122"/>
                <a:ea typeface="楷体_GB2312" pitchFamily="49" charset="-122"/>
              </a:rPr>
              <a:t>a = AREA(r+1);</a:t>
            </a:r>
          </a:p>
          <a:p>
            <a:pPr algn="l" defTabSz="893763">
              <a:defRPr/>
            </a:pPr>
            <a:r>
              <a:rPr kumimoji="1" lang="zh-CN" altLang="en-US">
                <a:effectLst>
                  <a:outerShdw blurRad="38100" dist="38100" dir="2700000" algn="tl">
                    <a:srgbClr val="C0C0C0"/>
                  </a:outerShdw>
                </a:effectLst>
                <a:latin typeface="楷体_GB2312" pitchFamily="49" charset="-122"/>
                <a:ea typeface="楷体_GB2312" pitchFamily="49" charset="-122"/>
              </a:rPr>
              <a:t>如果这样，在宏展开时因不先计算实参表达式</a:t>
            </a:r>
            <a:r>
              <a:rPr kumimoji="1" lang="en-US" altLang="zh-CN">
                <a:effectLst>
                  <a:outerShdw blurRad="38100" dist="38100" dir="2700000" algn="tl">
                    <a:srgbClr val="C0C0C0"/>
                  </a:outerShdw>
                </a:effectLst>
                <a:latin typeface="楷体_GB2312" pitchFamily="49" charset="-122"/>
                <a:ea typeface="楷体_GB2312" pitchFamily="49" charset="-122"/>
              </a:rPr>
              <a:t>r+1</a:t>
            </a:r>
            <a:r>
              <a:rPr kumimoji="1" lang="zh-CN" altLang="en-US">
                <a:effectLst>
                  <a:outerShdw blurRad="38100" dist="38100" dir="2700000" algn="tl">
                    <a:srgbClr val="C0C0C0"/>
                  </a:outerShdw>
                </a:effectLst>
                <a:latin typeface="楷体_GB2312" pitchFamily="49" charset="-122"/>
                <a:ea typeface="楷体_GB2312" pitchFamily="49" charset="-122"/>
              </a:rPr>
              <a:t>的值，而直接将实参表达式</a:t>
            </a:r>
            <a:r>
              <a:rPr kumimoji="1" lang="en-US" altLang="zh-CN">
                <a:effectLst>
                  <a:outerShdw blurRad="38100" dist="38100" dir="2700000" algn="tl">
                    <a:srgbClr val="C0C0C0"/>
                  </a:outerShdw>
                </a:effectLst>
                <a:latin typeface="楷体_GB2312" pitchFamily="49" charset="-122"/>
                <a:ea typeface="楷体_GB2312" pitchFamily="49" charset="-122"/>
              </a:rPr>
              <a:t>r+1</a:t>
            </a:r>
            <a:r>
              <a:rPr kumimoji="1" lang="zh-CN" altLang="en-US">
                <a:effectLst>
                  <a:outerShdw blurRad="38100" dist="38100" dir="2700000" algn="tl">
                    <a:srgbClr val="C0C0C0"/>
                  </a:outerShdw>
                </a:effectLst>
                <a:latin typeface="楷体_GB2312" pitchFamily="49" charset="-122"/>
                <a:ea typeface="楷体_GB2312" pitchFamily="49" charset="-122"/>
              </a:rPr>
              <a:t>替换</a:t>
            </a:r>
            <a:r>
              <a:rPr kumimoji="1" lang="en-US" altLang="zh-CN">
                <a:effectLst>
                  <a:outerShdw blurRad="38100" dist="38100" dir="2700000" algn="tl">
                    <a:srgbClr val="C0C0C0"/>
                  </a:outerShdw>
                </a:effectLst>
                <a:latin typeface="楷体_GB2312" pitchFamily="49" charset="-122"/>
                <a:ea typeface="楷体_GB2312" pitchFamily="49" charset="-122"/>
              </a:rPr>
              <a:t>R</a:t>
            </a:r>
            <a:r>
              <a:rPr kumimoji="1" lang="zh-CN" altLang="en-US">
                <a:effectLst>
                  <a:outerShdw blurRad="38100" dist="38100" dir="2700000" algn="tl">
                    <a:srgbClr val="C0C0C0"/>
                  </a:outerShdw>
                </a:effectLst>
                <a:latin typeface="楷体_GB2312" pitchFamily="49" charset="-122"/>
                <a:ea typeface="楷体_GB2312" pitchFamily="49" charset="-122"/>
              </a:rPr>
              <a:t>。展开时变成了以下不正确的代码</a:t>
            </a:r>
            <a:r>
              <a:rPr kumimoji="1" lang="en-US" altLang="zh-CN">
                <a:effectLst>
                  <a:outerShdw blurRad="38100" dist="38100" dir="2700000" algn="tl">
                    <a:srgbClr val="C0C0C0"/>
                  </a:outerShdw>
                </a:effectLst>
                <a:latin typeface="楷体_GB2312" pitchFamily="49" charset="-122"/>
                <a:ea typeface="楷体_GB2312" pitchFamily="49" charset="-122"/>
              </a:rPr>
              <a:t>:</a:t>
            </a:r>
          </a:p>
          <a:p>
            <a:pPr algn="l" defTabSz="893763">
              <a:defRPr/>
            </a:pPr>
            <a:r>
              <a:rPr kumimoji="1" lang="en-US" altLang="zh-CN">
                <a:effectLst>
                  <a:outerShdw blurRad="38100" dist="38100" dir="2700000" algn="tl">
                    <a:srgbClr val="C0C0C0"/>
                  </a:outerShdw>
                </a:effectLst>
                <a:latin typeface="楷体_GB2312" pitchFamily="49" charset="-122"/>
                <a:ea typeface="楷体_GB2312" pitchFamily="49" charset="-122"/>
              </a:rPr>
              <a:t>		a = 3.141592653 * r+1 * r+1;</a:t>
            </a:r>
          </a:p>
        </p:txBody>
      </p:sp>
    </p:spTree>
  </p:cSld>
  <p:clrMapOvr>
    <a:masterClrMapping/>
  </p:clrMapOvr>
  <p:transition>
    <p:blinds/>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3B0695E-B248-4B85-896F-BF6CE12B801C}" type="slidenum">
              <a:rPr lang="en-US" altLang="zh-CN"/>
              <a:pPr>
                <a:defRPr/>
              </a:pPr>
              <a:t>118</a:t>
            </a:fld>
            <a:endParaRPr lang="en-US" altLang="zh-CN"/>
          </a:p>
        </p:txBody>
      </p:sp>
      <p:sp>
        <p:nvSpPr>
          <p:cNvPr id="564226" name="Text Box 2"/>
          <p:cNvSpPr txBox="1">
            <a:spLocks noChangeArrowheads="1"/>
          </p:cNvSpPr>
          <p:nvPr/>
        </p:nvSpPr>
        <p:spPr bwMode="auto">
          <a:xfrm>
            <a:off x="468313" y="609600"/>
            <a:ext cx="8424862" cy="4399145"/>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2</a:t>
            </a:r>
            <a:r>
              <a:rPr kumimoji="1" lang="zh-CN" altLang="en-US" dirty="0">
                <a:effectLst>
                  <a:outerShdw blurRad="38100" dist="38100" dir="2700000" algn="tl">
                    <a:srgbClr val="C0C0C0"/>
                  </a:outerShdw>
                </a:effectLst>
                <a:latin typeface="楷体_GB2312" pitchFamily="49" charset="-122"/>
                <a:ea typeface="楷体_GB2312" pitchFamily="49" charset="-122"/>
              </a:rPr>
              <a:t>）函数调用是在程序运行时进行的，要为形参临时分配存储单元；而宏调用是在编译之前完成的，宏展开不需要为形参分配存储单元。</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3</a:t>
            </a:r>
            <a:r>
              <a:rPr kumimoji="1" lang="zh-CN" altLang="en-US" dirty="0">
                <a:effectLst>
                  <a:outerShdw blurRad="38100" dist="38100" dir="2700000" algn="tl">
                    <a:srgbClr val="C0C0C0"/>
                  </a:outerShdw>
                </a:effectLst>
                <a:latin typeface="楷体_GB2312" pitchFamily="49" charset="-122"/>
                <a:ea typeface="楷体_GB2312" pitchFamily="49" charset="-122"/>
              </a:rPr>
              <a:t>）函数调用的实参与函数定义的形参有类型匹配要求，而宏调用的实参与宏定义的形参之间没有类型的概念，只有字符序列的对应关系。</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4</a:t>
            </a:r>
            <a:r>
              <a:rPr kumimoji="1" lang="zh-CN" altLang="en-US" dirty="0">
                <a:effectLst>
                  <a:outerShdw blurRad="38100" dist="38100" dir="2700000" algn="tl">
                    <a:srgbClr val="C0C0C0"/>
                  </a:outerShdw>
                </a:effectLst>
                <a:latin typeface="楷体_GB2312" pitchFamily="49" charset="-122"/>
                <a:ea typeface="楷体_GB2312" pitchFamily="49" charset="-122"/>
              </a:rPr>
              <a:t>）每个宏调用展开就会产生一段程序代码，使得目标程序变长；而函数调用，程序代码不会变长。</a:t>
            </a:r>
          </a:p>
        </p:txBody>
      </p:sp>
    </p:spTree>
  </p:cSld>
  <p:clrMapOvr>
    <a:masterClrMapping/>
  </p:clrMapOvr>
  <p:transition>
    <p:blinds/>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EC6FB7C-33A3-4C4C-BCED-AE7A73B34372}" type="slidenum">
              <a:rPr lang="en-US" altLang="zh-CN"/>
              <a:pPr>
                <a:defRPr/>
              </a:pPr>
              <a:t>119</a:t>
            </a:fld>
            <a:endParaRPr lang="en-US" altLang="zh-CN"/>
          </a:p>
        </p:txBody>
      </p:sp>
      <p:sp>
        <p:nvSpPr>
          <p:cNvPr id="512002" name="Text Box 2"/>
          <p:cNvSpPr txBox="1">
            <a:spLocks noChangeArrowheads="1"/>
          </p:cNvSpPr>
          <p:nvPr/>
        </p:nvSpPr>
        <p:spPr bwMode="auto">
          <a:xfrm>
            <a:off x="323850" y="331788"/>
            <a:ext cx="6038850" cy="576262"/>
          </a:xfrm>
          <a:prstGeom prst="rect">
            <a:avLst/>
          </a:prstGeom>
          <a:noFill/>
          <a:ln w="9525">
            <a:noFill/>
            <a:miter lim="800000"/>
            <a:headEnd/>
            <a:tailEnd/>
          </a:ln>
          <a:effectLst/>
        </p:spPr>
        <p:txBody>
          <a:bodyPr lIns="89401" tIns="44700" rIns="89401" bIns="44700">
            <a:spAutoFit/>
          </a:bodyPr>
          <a:lstStyle/>
          <a:p>
            <a:pPr algn="l" defTabSz="893763" eaLnBrk="1" hangingPunct="1">
              <a:defRPr/>
            </a:pPr>
            <a:r>
              <a:rPr kumimoji="1" lang="zh-CN" altLang="en-US" sz="3200">
                <a:solidFill>
                  <a:srgbClr val="FF0000"/>
                </a:solidFill>
                <a:effectLst>
                  <a:outerShdw blurRad="38100" dist="38100" dir="2700000" algn="tl">
                    <a:srgbClr val="C0C0C0"/>
                  </a:outerShdw>
                </a:effectLst>
                <a:latin typeface="楷体_GB2312" pitchFamily="49" charset="-122"/>
                <a:ea typeface="楷体_GB2312" pitchFamily="49" charset="-122"/>
              </a:rPr>
              <a:t>文件包含</a:t>
            </a:r>
            <a:r>
              <a:rPr kumimoji="1" lang="zh-CN" altLang="en-US" sz="2300" b="0">
                <a:solidFill>
                  <a:srgbClr val="FF0000"/>
                </a:solidFill>
                <a:latin typeface="楷体_GB2312" pitchFamily="49" charset="-122"/>
                <a:ea typeface="楷体_GB2312" pitchFamily="49" charset="-122"/>
              </a:rPr>
              <a:t> </a:t>
            </a:r>
          </a:p>
        </p:txBody>
      </p:sp>
      <p:sp>
        <p:nvSpPr>
          <p:cNvPr id="512003" name="Text Box 3"/>
          <p:cNvSpPr txBox="1">
            <a:spLocks noChangeArrowheads="1"/>
          </p:cNvSpPr>
          <p:nvPr/>
        </p:nvSpPr>
        <p:spPr bwMode="auto">
          <a:xfrm>
            <a:off x="468313" y="1157288"/>
            <a:ext cx="7991475" cy="3968258"/>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文件包含是指，将指定文件中的内容嵌入到当前源程序文件中。文件包含命令的一般形式为：</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#include &lt;</a:t>
            </a:r>
            <a:r>
              <a:rPr kumimoji="1" lang="zh-CN" altLang="en-US" dirty="0">
                <a:effectLst>
                  <a:outerShdw blurRad="38100" dist="38100" dir="2700000" algn="tl">
                    <a:srgbClr val="C0C0C0"/>
                  </a:outerShdw>
                </a:effectLst>
                <a:latin typeface="楷体_GB2312" pitchFamily="49" charset="-122"/>
                <a:ea typeface="楷体_GB2312" pitchFamily="49" charset="-122"/>
              </a:rPr>
              <a:t>文件名</a:t>
            </a:r>
            <a:r>
              <a:rPr kumimoji="1" lang="en-US" altLang="zh-CN" dirty="0">
                <a:effectLst>
                  <a:outerShdw blurRad="38100" dist="38100" dir="2700000" algn="tl">
                    <a:srgbClr val="C0C0C0"/>
                  </a:outerShdw>
                </a:effectLst>
                <a:latin typeface="楷体_GB2312" pitchFamily="49" charset="-122"/>
                <a:ea typeface="楷体_GB2312" pitchFamily="49" charset="-122"/>
              </a:rPr>
              <a:t>&gt;</a:t>
            </a: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或</a:t>
            </a: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#include </a:t>
            </a:r>
            <a:r>
              <a:rPr kumimoji="1" lang="en-US" altLang="zh-CN" dirty="0">
                <a:effectLst>
                  <a:outerShdw blurRad="38100" dist="38100" dir="2700000" algn="tl">
                    <a:srgbClr val="C0C0C0"/>
                  </a:outerShdw>
                </a:effectLst>
                <a:latin typeface="Times New Roman"/>
                <a:ea typeface="楷体_GB2312" pitchFamily="49" charset="-122"/>
              </a:rPr>
              <a:t>”</a:t>
            </a:r>
            <a:r>
              <a:rPr kumimoji="1" lang="zh-CN" altLang="en-US" dirty="0">
                <a:effectLst>
                  <a:outerShdw blurRad="38100" dist="38100" dir="2700000" algn="tl">
                    <a:srgbClr val="C0C0C0"/>
                  </a:outerShdw>
                </a:effectLst>
                <a:latin typeface="楷体_GB2312" pitchFamily="49" charset="-122"/>
                <a:ea typeface="楷体_GB2312" pitchFamily="49" charset="-122"/>
              </a:rPr>
              <a:t>文件名</a:t>
            </a:r>
            <a:r>
              <a:rPr kumimoji="1" lang="zh-CN" altLang="en-US" dirty="0">
                <a:effectLst>
                  <a:outerShdw blurRad="38100" dist="38100" dir="2700000" algn="tl">
                    <a:srgbClr val="C0C0C0"/>
                  </a:outerShdw>
                </a:effectLst>
                <a:latin typeface="Times New Roman"/>
                <a:ea typeface="楷体_GB2312" pitchFamily="49" charset="-122"/>
              </a:rPr>
              <a:t>”</a:t>
            </a:r>
            <a:endParaRPr kumimoji="1" lang="zh-CN" altLang="en-US"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en-US" altLang="zh-CN" dirty="0">
                <a:effectLst>
                  <a:outerShdw blurRad="38100" dist="38100" dir="2700000" algn="tl">
                    <a:srgbClr val="C0C0C0"/>
                  </a:outerShdw>
                </a:effectLst>
                <a:latin typeface="楷体_GB2312" pitchFamily="49" charset="-122"/>
                <a:ea typeface="楷体_GB2312" pitchFamily="49" charset="-122"/>
              </a:rPr>
              <a:t>(1) </a:t>
            </a:r>
            <a:r>
              <a:rPr kumimoji="1" lang="zh-CN" altLang="en-US" dirty="0">
                <a:effectLst>
                  <a:outerShdw blurRad="38100" dist="38100" dir="2700000" algn="tl">
                    <a:srgbClr val="C0C0C0"/>
                  </a:outerShdw>
                </a:effectLst>
                <a:latin typeface="楷体_GB2312" pitchFamily="49" charset="-122"/>
                <a:ea typeface="楷体_GB2312" pitchFamily="49" charset="-122"/>
              </a:rPr>
              <a:t>用尖括号括住文件名的文件包含命令，被包含的文件应存放在</a:t>
            </a:r>
            <a:r>
              <a:rPr kumimoji="1" lang="en-US" altLang="zh-CN" dirty="0">
                <a:effectLst>
                  <a:outerShdw blurRad="38100" dist="38100" dir="2700000" algn="tl">
                    <a:srgbClr val="C0C0C0"/>
                  </a:outerShdw>
                </a:effectLst>
                <a:latin typeface="楷体_GB2312" pitchFamily="49" charset="-122"/>
                <a:ea typeface="楷体_GB2312" pitchFamily="49" charset="-122"/>
              </a:rPr>
              <a:t>C</a:t>
            </a:r>
            <a:r>
              <a:rPr kumimoji="1" lang="zh-CN" altLang="en-US" dirty="0">
                <a:effectLst>
                  <a:outerShdw blurRad="38100" dist="38100" dir="2700000" algn="tl">
                    <a:srgbClr val="C0C0C0"/>
                  </a:outerShdw>
                </a:effectLst>
                <a:latin typeface="楷体_GB2312" pitchFamily="49" charset="-122"/>
                <a:ea typeface="楷体_GB2312" pitchFamily="49" charset="-122"/>
              </a:rPr>
              <a:t>编译系统所在目录下，这种方式适用于嵌入</a:t>
            </a:r>
            <a:r>
              <a:rPr kumimoji="1" lang="en-US" altLang="zh-CN" dirty="0">
                <a:effectLst>
                  <a:outerShdw blurRad="38100" dist="38100" dir="2700000" algn="tl">
                    <a:srgbClr val="C0C0C0"/>
                  </a:outerShdw>
                </a:effectLst>
                <a:latin typeface="楷体_GB2312" pitchFamily="49" charset="-122"/>
                <a:ea typeface="楷体_GB2312" pitchFamily="49" charset="-122"/>
              </a:rPr>
              <a:t>C</a:t>
            </a:r>
            <a:r>
              <a:rPr kumimoji="1" lang="zh-CN" altLang="en-US" dirty="0">
                <a:effectLst>
                  <a:outerShdw blurRad="38100" dist="38100" dir="2700000" algn="tl">
                    <a:srgbClr val="C0C0C0"/>
                  </a:outerShdw>
                </a:effectLst>
                <a:latin typeface="楷体_GB2312" pitchFamily="49" charset="-122"/>
                <a:ea typeface="楷体_GB2312" pitchFamily="49" charset="-122"/>
              </a:rPr>
              <a:t>提供的头文件，因为</a:t>
            </a:r>
            <a:r>
              <a:rPr kumimoji="1" lang="en-US" altLang="zh-CN" dirty="0">
                <a:effectLst>
                  <a:outerShdw blurRad="38100" dist="38100" dir="2700000" algn="tl">
                    <a:srgbClr val="C0C0C0"/>
                  </a:outerShdw>
                </a:effectLst>
                <a:latin typeface="楷体_GB2312" pitchFamily="49" charset="-122"/>
                <a:ea typeface="楷体_GB2312" pitchFamily="49" charset="-122"/>
              </a:rPr>
              <a:t>C</a:t>
            </a:r>
            <a:r>
              <a:rPr kumimoji="1" lang="zh-CN" altLang="en-US" dirty="0">
                <a:effectLst>
                  <a:outerShdw blurRad="38100" dist="38100" dir="2700000" algn="tl">
                    <a:srgbClr val="C0C0C0"/>
                  </a:outerShdw>
                </a:effectLst>
                <a:latin typeface="楷体_GB2312" pitchFamily="49" charset="-122"/>
                <a:ea typeface="楷体_GB2312" pitchFamily="49" charset="-122"/>
              </a:rPr>
              <a:t>提供的头文件都存放在编译系统所在目录下。</a:t>
            </a:r>
          </a:p>
        </p:txBody>
      </p:sp>
    </p:spTree>
  </p:cSld>
  <p:clrMapOvr>
    <a:masterClrMapping/>
  </p:clrMapOvr>
  <p:transition>
    <p:blinds/>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B38F15F-FCA5-4D7E-A445-4F4DF2DAFAAE}" type="slidenum">
              <a:rPr lang="en-US" altLang="zh-CN"/>
              <a:pPr>
                <a:defRPr/>
              </a:pPr>
              <a:t>120</a:t>
            </a:fld>
            <a:endParaRPr lang="en-US" altLang="zh-CN"/>
          </a:p>
        </p:txBody>
      </p:sp>
      <p:sp>
        <p:nvSpPr>
          <p:cNvPr id="566275" name="Text Box 3"/>
          <p:cNvSpPr txBox="1">
            <a:spLocks noChangeArrowheads="1"/>
          </p:cNvSpPr>
          <p:nvPr/>
        </p:nvSpPr>
        <p:spPr bwMode="auto">
          <a:xfrm>
            <a:off x="539750" y="609600"/>
            <a:ext cx="7993063" cy="4399145"/>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2</a:t>
            </a:r>
            <a:r>
              <a:rPr kumimoji="1" lang="zh-CN" altLang="en-US" dirty="0">
                <a:effectLst>
                  <a:outerShdw blurRad="38100" dist="38100" dir="2700000" algn="tl">
                    <a:srgbClr val="C0C0C0"/>
                  </a:outerShdw>
                </a:effectLst>
                <a:latin typeface="楷体_GB2312" pitchFamily="49" charset="-122"/>
                <a:ea typeface="楷体_GB2312" pitchFamily="49" charset="-122"/>
              </a:rPr>
              <a:t>）用双引号括住文件名的文件包含命令，预处理程序先到当前文件所在的文件目录中寻找被包含的文件；如果找不到，再到编译系统所在目录下查找。也可以在文件名前给出路径，直接告诉预处理程序被包含文件所处的确切位置。</a:t>
            </a: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a:t>
            </a:r>
            <a:r>
              <a:rPr kumimoji="1" lang="en-US" altLang="zh-CN" dirty="0">
                <a:effectLst>
                  <a:outerShdw blurRad="38100" dist="38100" dir="2700000" algn="tl">
                    <a:srgbClr val="C0C0C0"/>
                  </a:outerShdw>
                </a:effectLst>
                <a:latin typeface="楷体_GB2312" pitchFamily="49" charset="-122"/>
                <a:ea typeface="楷体_GB2312" pitchFamily="49" charset="-122"/>
              </a:rPr>
              <a:t>3</a:t>
            </a:r>
            <a:r>
              <a:rPr kumimoji="1" lang="zh-CN" altLang="en-US" dirty="0">
                <a:effectLst>
                  <a:outerShdw blurRad="38100" dist="38100" dir="2700000" algn="tl">
                    <a:srgbClr val="C0C0C0"/>
                  </a:outerShdw>
                </a:effectLst>
                <a:latin typeface="楷体_GB2312" pitchFamily="49" charset="-122"/>
                <a:ea typeface="楷体_GB2312" pitchFamily="49" charset="-122"/>
              </a:rPr>
              <a:t>）一般地，用户自己编写的被包含文件多用双引号方式的文件包含命令；系统提供的被包含文件用尖括号方式的文件包含命令。</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6275">
                                            <p:txEl>
                                              <p:pRg st="3" end="3"/>
                                            </p:txEl>
                                          </p:spTgt>
                                        </p:tgtEl>
                                        <p:attrNameLst>
                                          <p:attrName>style.visibility</p:attrName>
                                        </p:attrNameLst>
                                      </p:cBhvr>
                                      <p:to>
                                        <p:strVal val="visible"/>
                                      </p:to>
                                    </p:set>
                                    <p:anim calcmode="lin" valueType="num">
                                      <p:cBhvr additive="base">
                                        <p:cTn id="7" dur="500" fill="hold"/>
                                        <p:tgtEl>
                                          <p:spTgt spid="56627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6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95ECEDDD-EED3-4596-A4EE-336042C65D9E}" type="slidenum">
              <a:rPr lang="en-US" altLang="zh-CN"/>
              <a:pPr>
                <a:defRPr/>
              </a:pPr>
              <a:t>121</a:t>
            </a:fld>
            <a:endParaRPr lang="en-US" altLang="zh-CN"/>
          </a:p>
        </p:txBody>
      </p:sp>
      <p:sp>
        <p:nvSpPr>
          <p:cNvPr id="567298" name="Text Box 2"/>
          <p:cNvSpPr txBox="1">
            <a:spLocks noChangeArrowheads="1"/>
          </p:cNvSpPr>
          <p:nvPr/>
        </p:nvSpPr>
        <p:spPr bwMode="auto">
          <a:xfrm>
            <a:off x="539750" y="609600"/>
            <a:ext cx="7993063" cy="4830032"/>
          </a:xfrm>
          <a:prstGeom prst="rect">
            <a:avLst/>
          </a:prstGeom>
          <a:noFill/>
          <a:ln w="9525">
            <a:noFill/>
            <a:miter lim="800000"/>
            <a:headEnd/>
            <a:tailEnd/>
          </a:ln>
          <a:effectLst/>
        </p:spPr>
        <p:txBody>
          <a:bodyPr lIns="89401" tIns="44700" rIns="89401" bIns="44700">
            <a:spAutoFit/>
          </a:bodyPr>
          <a:lstStyle/>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文件包含为组装大程序和程序复用提供了一种手段。在编写程序时，习惯将公共的常量定义、函数定义和全局变量的外部说明等构成一个源文件，作为以后被其他程序使用的头文件（扩展名一般用</a:t>
            </a:r>
            <a:r>
              <a:rPr kumimoji="1" lang="en-US" altLang="zh-CN" dirty="0">
                <a:effectLst>
                  <a:outerShdw blurRad="38100" dist="38100" dir="2700000" algn="tl">
                    <a:srgbClr val="C0C0C0"/>
                  </a:outerShdw>
                </a:effectLst>
                <a:latin typeface="楷体_GB2312" pitchFamily="49" charset="-122"/>
                <a:ea typeface="楷体_GB2312" pitchFamily="49" charset="-122"/>
              </a:rPr>
              <a:t>.h</a:t>
            </a:r>
            <a:r>
              <a:rPr kumimoji="1" lang="zh-CN" altLang="en-US" dirty="0">
                <a:effectLst>
                  <a:outerShdw blurRad="38100" dist="38100" dir="2700000" algn="tl">
                    <a:srgbClr val="C0C0C0"/>
                  </a:outerShdw>
                </a:effectLst>
                <a:latin typeface="楷体_GB2312" pitchFamily="49" charset="-122"/>
                <a:ea typeface="楷体_GB2312" pitchFamily="49" charset="-122"/>
              </a:rPr>
              <a:t>表示）。</a:t>
            </a: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endParaRPr kumimoji="1" lang="en-US" altLang="zh-CN" dirty="0">
              <a:effectLst>
                <a:outerShdw blurRad="38100" dist="38100" dir="2700000" algn="tl">
                  <a:srgbClr val="C0C0C0"/>
                </a:outerShdw>
              </a:effectLst>
              <a:latin typeface="楷体_GB2312" pitchFamily="49" charset="-122"/>
              <a:ea typeface="楷体_GB2312" pitchFamily="49" charset="-122"/>
            </a:endParaRPr>
          </a:p>
          <a:p>
            <a:pPr algn="l" defTabSz="893763">
              <a:defRPr/>
            </a:pPr>
            <a:r>
              <a:rPr kumimoji="1" lang="zh-CN" altLang="en-US" dirty="0">
                <a:effectLst>
                  <a:outerShdw blurRad="38100" dist="38100" dir="2700000" algn="tl">
                    <a:srgbClr val="C0C0C0"/>
                  </a:outerShdw>
                </a:effectLst>
                <a:latin typeface="楷体_GB2312" pitchFamily="49" charset="-122"/>
                <a:ea typeface="楷体_GB2312" pitchFamily="49" charset="-122"/>
              </a:rPr>
              <a:t>头文件中定义的对象如同工业上标准的零部件一样，被其他程序文件方便使用，减少重复定义的工作量，也使得编程人员能使用统一的数据结构和常量，保证程序的准确性和可靠性。</a:t>
            </a:r>
            <a:r>
              <a:rPr kumimoji="1" lang="zh-CN" altLang="en-US" dirty="0">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A5B61B6A-91A1-4082-A9F1-6A49CEC90E58}" type="slidenum">
              <a:rPr lang="en-US" altLang="zh-CN"/>
              <a:pPr>
                <a:defRPr/>
              </a:pPr>
              <a:t>122</a:t>
            </a:fld>
            <a:endParaRPr lang="en-US" altLang="zh-CN"/>
          </a:p>
        </p:txBody>
      </p:sp>
      <p:sp>
        <p:nvSpPr>
          <p:cNvPr id="118787" name="Text Box 2"/>
          <p:cNvSpPr txBox="1">
            <a:spLocks noChangeArrowheads="1"/>
          </p:cNvSpPr>
          <p:nvPr/>
        </p:nvSpPr>
        <p:spPr bwMode="auto">
          <a:xfrm>
            <a:off x="539750" y="609600"/>
            <a:ext cx="8208963" cy="4359275"/>
          </a:xfrm>
          <a:prstGeom prst="rect">
            <a:avLst/>
          </a:prstGeom>
          <a:noFill/>
          <a:ln w="9525">
            <a:noFill/>
            <a:miter lim="800000"/>
            <a:headEnd/>
            <a:tailEnd/>
          </a:ln>
        </p:spPr>
        <p:txBody>
          <a:bodyPr lIns="89401" tIns="44700" rIns="89401" bIns="44700">
            <a:spAutoFit/>
          </a:bodyPr>
          <a:lstStyle/>
          <a:p>
            <a:pPr algn="l" defTabSz="893763"/>
            <a:r>
              <a:rPr kumimoji="1" lang="en-US" altLang="zh-CN" dirty="0">
                <a:solidFill>
                  <a:srgbClr val="0070C0"/>
                </a:solidFill>
                <a:latin typeface="楷体_GB2312" pitchFamily="49" charset="-122"/>
                <a:ea typeface="楷体_GB2312" pitchFamily="49" charset="-122"/>
              </a:rPr>
              <a:t>【</a:t>
            </a:r>
            <a:r>
              <a:rPr kumimoji="1" lang="zh-CN" altLang="en-US" dirty="0">
                <a:solidFill>
                  <a:srgbClr val="0070C0"/>
                </a:solidFill>
                <a:latin typeface="楷体_GB2312" pitchFamily="49" charset="-122"/>
                <a:ea typeface="楷体_GB2312" pitchFamily="49" charset="-122"/>
              </a:rPr>
              <a:t>例</a:t>
            </a:r>
            <a:r>
              <a:rPr kumimoji="1" lang="en-US" altLang="zh-CN" dirty="0">
                <a:solidFill>
                  <a:srgbClr val="0070C0"/>
                </a:solidFill>
                <a:latin typeface="楷体_GB2312" pitchFamily="49" charset="-122"/>
                <a:ea typeface="楷体_GB2312" pitchFamily="49" charset="-122"/>
              </a:rPr>
              <a:t>5.22】</a:t>
            </a:r>
            <a:r>
              <a:rPr kumimoji="1" lang="zh-CN" altLang="en-US" dirty="0">
                <a:solidFill>
                  <a:srgbClr val="FF0000"/>
                </a:solidFill>
                <a:latin typeface="楷体_GB2312" pitchFamily="49" charset="-122"/>
                <a:ea typeface="楷体_GB2312" pitchFamily="49" charset="-122"/>
              </a:rPr>
              <a:t>本例将宏定义存于头文件</a:t>
            </a:r>
            <a:r>
              <a:rPr kumimoji="1" lang="en-US" altLang="zh-CN" dirty="0" err="1">
                <a:solidFill>
                  <a:srgbClr val="FF0000"/>
                </a:solidFill>
                <a:latin typeface="楷体_GB2312" pitchFamily="49" charset="-122"/>
                <a:ea typeface="楷体_GB2312" pitchFamily="49" charset="-122"/>
              </a:rPr>
              <a:t>format.h</a:t>
            </a:r>
            <a:r>
              <a:rPr kumimoji="1" lang="zh-CN" altLang="en-US" dirty="0">
                <a:solidFill>
                  <a:srgbClr val="FF0000"/>
                </a:solidFill>
                <a:latin typeface="楷体_GB2312" pitchFamily="49" charset="-122"/>
                <a:ea typeface="楷体_GB2312" pitchFamily="49" charset="-122"/>
              </a:rPr>
              <a:t>中，在含主函数的程序文件</a:t>
            </a:r>
            <a:r>
              <a:rPr kumimoji="1" lang="en-US" altLang="zh-CN" dirty="0" err="1">
                <a:solidFill>
                  <a:srgbClr val="FF0000"/>
                </a:solidFill>
                <a:latin typeface="楷体_GB2312" pitchFamily="49" charset="-122"/>
                <a:ea typeface="楷体_GB2312" pitchFamily="49" charset="-122"/>
              </a:rPr>
              <a:t>example.c</a:t>
            </a:r>
            <a:r>
              <a:rPr kumimoji="1" lang="zh-CN" altLang="en-US" dirty="0">
                <a:solidFill>
                  <a:srgbClr val="FF0000"/>
                </a:solidFill>
                <a:latin typeface="楷体_GB2312" pitchFamily="49" charset="-122"/>
                <a:ea typeface="楷体_GB2312" pitchFamily="49" charset="-122"/>
              </a:rPr>
              <a:t>有包含头文件</a:t>
            </a:r>
            <a:r>
              <a:rPr kumimoji="1" lang="en-US" altLang="zh-CN" dirty="0" err="1">
                <a:latin typeface="楷体_GB2312" pitchFamily="49" charset="-122"/>
                <a:ea typeface="楷体_GB2312" pitchFamily="49" charset="-122"/>
              </a:rPr>
              <a:t>format.h</a:t>
            </a:r>
            <a:r>
              <a:rPr kumimoji="1" lang="zh-CN" altLang="en-US" dirty="0">
                <a:latin typeface="楷体_GB2312" pitchFamily="49" charset="-122"/>
                <a:ea typeface="楷体_GB2312" pitchFamily="49" charset="-122"/>
              </a:rPr>
              <a:t>的预处理命令。</a:t>
            </a:r>
          </a:p>
          <a:p>
            <a:pPr algn="l" defTabSz="893763"/>
            <a:r>
              <a:rPr kumimoji="1" lang="zh-CN" altLang="en-US" dirty="0">
                <a:latin typeface="楷体_GB2312" pitchFamily="49" charset="-122"/>
                <a:ea typeface="楷体_GB2312" pitchFamily="49" charset="-122"/>
              </a:rPr>
              <a:t>（</a:t>
            </a:r>
            <a:r>
              <a:rPr kumimoji="1" lang="en-US" altLang="zh-CN" dirty="0">
                <a:latin typeface="楷体_GB2312" pitchFamily="49" charset="-122"/>
                <a:ea typeface="楷体_GB2312" pitchFamily="49" charset="-122"/>
              </a:rPr>
              <a:t>1</a:t>
            </a:r>
            <a:r>
              <a:rPr kumimoji="1" lang="zh-CN" altLang="en-US" dirty="0">
                <a:latin typeface="楷体_GB2312" pitchFamily="49" charset="-122"/>
                <a:ea typeface="楷体_GB2312" pitchFamily="49" charset="-122"/>
              </a:rPr>
              <a:t>）文件</a:t>
            </a:r>
            <a:r>
              <a:rPr kumimoji="1" lang="en-US" altLang="zh-CN" dirty="0" err="1">
                <a:latin typeface="楷体_GB2312" pitchFamily="49" charset="-122"/>
                <a:ea typeface="楷体_GB2312" pitchFamily="49" charset="-122"/>
              </a:rPr>
              <a:t>format.h</a:t>
            </a:r>
            <a:r>
              <a:rPr kumimoji="1" lang="zh-CN" altLang="en-US" dirty="0">
                <a:latin typeface="楷体_GB2312" pitchFamily="49" charset="-122"/>
                <a:ea typeface="楷体_GB2312" pitchFamily="49" charset="-122"/>
              </a:rPr>
              <a:t>的内容：</a:t>
            </a:r>
          </a:p>
          <a:p>
            <a:pPr algn="l" defTabSz="893763"/>
            <a:r>
              <a:rPr kumimoji="1" lang="en-US" altLang="zh-CN" dirty="0">
                <a:latin typeface="楷体_GB2312" pitchFamily="49" charset="-122"/>
                <a:ea typeface="楷体_GB2312" pitchFamily="49" charset="-122"/>
              </a:rPr>
              <a:t>#define  PR  </a:t>
            </a:r>
            <a:r>
              <a:rPr kumimoji="1" lang="en-US" altLang="zh-CN" dirty="0" err="1">
                <a:latin typeface="楷体_GB2312" pitchFamily="49" charset="-122"/>
                <a:ea typeface="楷体_GB2312" pitchFamily="49" charset="-122"/>
              </a:rPr>
              <a:t>printf</a:t>
            </a:r>
            <a:endParaRPr kumimoji="1" lang="en-US" altLang="zh-CN" dirty="0">
              <a:latin typeface="楷体_GB2312" pitchFamily="49" charset="-122"/>
              <a:ea typeface="楷体_GB2312" pitchFamily="49" charset="-122"/>
            </a:endParaRPr>
          </a:p>
          <a:p>
            <a:pPr algn="l" defTabSz="893763"/>
            <a:r>
              <a:rPr kumimoji="1" lang="en-US" altLang="zh-CN" dirty="0">
                <a:latin typeface="楷体_GB2312" pitchFamily="49" charset="-122"/>
                <a:ea typeface="楷体_GB2312" pitchFamily="49" charset="-122"/>
              </a:rPr>
              <a:t>#define  NL  "\n"</a:t>
            </a:r>
          </a:p>
          <a:p>
            <a:pPr algn="l" defTabSz="893763"/>
            <a:r>
              <a:rPr kumimoji="1" lang="en-US" altLang="zh-CN" dirty="0">
                <a:latin typeface="楷体_GB2312" pitchFamily="49" charset="-122"/>
                <a:ea typeface="楷体_GB2312" pitchFamily="49" charset="-122"/>
              </a:rPr>
              <a:t>#define  F   "%6.3f"</a:t>
            </a:r>
          </a:p>
          <a:p>
            <a:pPr algn="l" defTabSz="893763"/>
            <a:r>
              <a:rPr kumimoji="1" lang="en-US" altLang="zh-CN" dirty="0">
                <a:latin typeface="楷体_GB2312" pitchFamily="49" charset="-122"/>
                <a:ea typeface="楷体_GB2312" pitchFamily="49" charset="-122"/>
              </a:rPr>
              <a:t>#define  F1  F NL</a:t>
            </a:r>
          </a:p>
          <a:p>
            <a:pPr algn="l" defTabSz="893763"/>
            <a:r>
              <a:rPr kumimoji="1" lang="en-US" altLang="zh-CN" dirty="0">
                <a:latin typeface="楷体_GB2312" pitchFamily="49" charset="-122"/>
                <a:ea typeface="楷体_GB2312" pitchFamily="49" charset="-122"/>
              </a:rPr>
              <a:t>#define  F2  F </a:t>
            </a:r>
            <a:r>
              <a:rPr kumimoji="1" lang="en-US" altLang="zh-CN" dirty="0" err="1">
                <a:latin typeface="楷体_GB2312" pitchFamily="49" charset="-122"/>
                <a:ea typeface="楷体_GB2312" pitchFamily="49" charset="-122"/>
              </a:rPr>
              <a:t>F</a:t>
            </a:r>
            <a:r>
              <a:rPr kumimoji="1" lang="en-US" altLang="zh-CN" dirty="0">
                <a:latin typeface="楷体_GB2312" pitchFamily="49" charset="-122"/>
                <a:ea typeface="楷体_GB2312" pitchFamily="49" charset="-122"/>
              </a:rPr>
              <a:t> NL</a:t>
            </a:r>
          </a:p>
          <a:p>
            <a:pPr algn="l" defTabSz="893763"/>
            <a:r>
              <a:rPr kumimoji="1" lang="en-US" altLang="zh-CN" dirty="0">
                <a:latin typeface="楷体_GB2312" pitchFamily="49" charset="-122"/>
                <a:ea typeface="楷体_GB2312" pitchFamily="49" charset="-122"/>
              </a:rPr>
              <a:t>#define  F3  F </a:t>
            </a:r>
            <a:r>
              <a:rPr kumimoji="1" lang="en-US" altLang="zh-CN" dirty="0" err="1">
                <a:latin typeface="楷体_GB2312" pitchFamily="49" charset="-122"/>
                <a:ea typeface="楷体_GB2312" pitchFamily="49" charset="-122"/>
              </a:rPr>
              <a:t>F</a:t>
            </a:r>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F</a:t>
            </a:r>
            <a:r>
              <a:rPr kumimoji="1" lang="en-US" altLang="zh-CN" dirty="0">
                <a:latin typeface="楷体_GB2312" pitchFamily="49" charset="-122"/>
                <a:ea typeface="楷体_GB2312" pitchFamily="49" charset="-122"/>
              </a:rPr>
              <a:t> NL</a:t>
            </a:r>
          </a:p>
        </p:txBody>
      </p:sp>
    </p:spTree>
  </p:cSld>
  <p:clrMapOvr>
    <a:masterClrMapping/>
  </p:clrMapOvr>
  <p:transition>
    <p:blinds/>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6FF6C47A-4038-4CAB-BE50-9CECA34004FC}" type="slidenum">
              <a:rPr lang="en-US" altLang="zh-CN"/>
              <a:pPr>
                <a:defRPr/>
              </a:pPr>
              <a:t>123</a:t>
            </a:fld>
            <a:endParaRPr lang="en-US" altLang="zh-CN"/>
          </a:p>
        </p:txBody>
      </p:sp>
      <p:sp>
        <p:nvSpPr>
          <p:cNvPr id="119811" name="Text Box 2"/>
          <p:cNvSpPr txBox="1">
            <a:spLocks noChangeArrowheads="1"/>
          </p:cNvSpPr>
          <p:nvPr/>
        </p:nvSpPr>
        <p:spPr bwMode="auto">
          <a:xfrm>
            <a:off x="539750" y="609600"/>
            <a:ext cx="7993063" cy="5213350"/>
          </a:xfrm>
          <a:prstGeom prst="rect">
            <a:avLst/>
          </a:prstGeom>
          <a:noFill/>
          <a:ln w="9525">
            <a:noFill/>
            <a:miter lim="800000"/>
            <a:headEnd/>
            <a:tailEnd/>
          </a:ln>
        </p:spPr>
        <p:txBody>
          <a:bodyPr lIns="89401" tIns="44700" rIns="89401" bIns="44700">
            <a:spAutoFit/>
          </a:bodyPr>
          <a:lstStyle/>
          <a:p>
            <a:pPr algn="l" defTabSz="893763"/>
            <a:r>
              <a:rPr kumimoji="1" lang="zh-CN" altLang="en-US" dirty="0">
                <a:latin typeface="楷体_GB2312" pitchFamily="49" charset="-122"/>
                <a:ea typeface="楷体_GB2312" pitchFamily="49" charset="-122"/>
              </a:rPr>
              <a:t>（</a:t>
            </a:r>
            <a:r>
              <a:rPr kumimoji="1" lang="en-US" altLang="zh-CN" dirty="0">
                <a:latin typeface="楷体_GB2312" pitchFamily="49" charset="-122"/>
                <a:ea typeface="楷体_GB2312" pitchFamily="49" charset="-122"/>
              </a:rPr>
              <a:t>2</a:t>
            </a:r>
            <a:r>
              <a:rPr kumimoji="1" lang="zh-CN" altLang="en-US" dirty="0">
                <a:latin typeface="楷体_GB2312" pitchFamily="49" charset="-122"/>
                <a:ea typeface="楷体_GB2312" pitchFamily="49" charset="-122"/>
              </a:rPr>
              <a:t>）文件</a:t>
            </a:r>
            <a:r>
              <a:rPr kumimoji="1" lang="en-US" altLang="zh-CN" dirty="0" err="1">
                <a:latin typeface="楷体_GB2312" pitchFamily="49" charset="-122"/>
                <a:ea typeface="楷体_GB2312" pitchFamily="49" charset="-122"/>
              </a:rPr>
              <a:t>example.c</a:t>
            </a:r>
            <a:r>
              <a:rPr kumimoji="1" lang="zh-CN" altLang="en-US" dirty="0">
                <a:latin typeface="楷体_GB2312" pitchFamily="49" charset="-122"/>
                <a:ea typeface="楷体_GB2312" pitchFamily="49" charset="-122"/>
              </a:rPr>
              <a:t>的内容：</a:t>
            </a:r>
          </a:p>
          <a:p>
            <a:pPr algn="l" defTabSz="893763"/>
            <a:r>
              <a:rPr kumimoji="1" lang="en-US" altLang="zh-CN" dirty="0">
                <a:latin typeface="楷体_GB2312" pitchFamily="49" charset="-122"/>
                <a:ea typeface="楷体_GB2312" pitchFamily="49" charset="-122"/>
              </a:rPr>
              <a:t>#include &lt;</a:t>
            </a:r>
            <a:r>
              <a:rPr kumimoji="1" lang="en-US" altLang="zh-CN" dirty="0" err="1">
                <a:latin typeface="楷体_GB2312" pitchFamily="49" charset="-122"/>
                <a:ea typeface="楷体_GB2312" pitchFamily="49" charset="-122"/>
              </a:rPr>
              <a:t>stdio.h</a:t>
            </a:r>
            <a:r>
              <a:rPr kumimoji="1" lang="en-US" altLang="zh-CN" dirty="0">
                <a:latin typeface="楷体_GB2312" pitchFamily="49" charset="-122"/>
                <a:ea typeface="楷体_GB2312" pitchFamily="49" charset="-122"/>
              </a:rPr>
              <a:t>&gt;</a:t>
            </a:r>
          </a:p>
          <a:p>
            <a:pPr algn="l" defTabSz="893763"/>
            <a:r>
              <a:rPr kumimoji="1" lang="en-US" altLang="zh-CN" dirty="0">
                <a:latin typeface="楷体_GB2312" pitchFamily="49" charset="-122"/>
                <a:ea typeface="楷体_GB2312" pitchFamily="49" charset="-122"/>
              </a:rPr>
              <a:t>#include "</a:t>
            </a:r>
            <a:r>
              <a:rPr kumimoji="1" lang="en-US" altLang="zh-CN" dirty="0" err="1">
                <a:latin typeface="楷体_GB2312" pitchFamily="49" charset="-122"/>
                <a:ea typeface="楷体_GB2312" pitchFamily="49" charset="-122"/>
              </a:rPr>
              <a:t>format.h</a:t>
            </a:r>
            <a:r>
              <a:rPr kumimoji="1" lang="en-US" altLang="zh-CN" dirty="0">
                <a:latin typeface="楷体_GB2312" pitchFamily="49" charset="-122"/>
                <a:ea typeface="楷体_GB2312" pitchFamily="49" charset="-122"/>
              </a:rPr>
              <a:t>"	/* </a:t>
            </a:r>
            <a:r>
              <a:rPr kumimoji="1" lang="zh-CN" altLang="en-US" dirty="0">
                <a:latin typeface="楷体_GB2312" pitchFamily="49" charset="-122"/>
                <a:ea typeface="楷体_GB2312" pitchFamily="49" charset="-122"/>
              </a:rPr>
              <a:t>将</a:t>
            </a:r>
            <a:r>
              <a:rPr kumimoji="1" lang="en-US" altLang="zh-CN" dirty="0" err="1">
                <a:latin typeface="楷体_GB2312" pitchFamily="49" charset="-122"/>
                <a:ea typeface="楷体_GB2312" pitchFamily="49" charset="-122"/>
              </a:rPr>
              <a:t>format.h</a:t>
            </a:r>
            <a:r>
              <a:rPr kumimoji="1" lang="zh-CN" altLang="en-US" dirty="0">
                <a:latin typeface="楷体_GB2312" pitchFamily="49" charset="-122"/>
                <a:ea typeface="楷体_GB2312" pitchFamily="49" charset="-122"/>
              </a:rPr>
              <a:t>文件中的代码放于此位置 *</a:t>
            </a:r>
            <a:r>
              <a:rPr kumimoji="1" lang="en-US" altLang="zh-CN" dirty="0">
                <a:latin typeface="楷体_GB2312" pitchFamily="49" charset="-122"/>
                <a:ea typeface="楷体_GB2312" pitchFamily="49" charset="-122"/>
              </a:rPr>
              <a:t>/</a:t>
            </a:r>
          </a:p>
          <a:p>
            <a:pPr algn="l" defTabSz="893763"/>
            <a:r>
              <a:rPr kumimoji="1" lang="en-US" altLang="zh-CN" dirty="0" err="1">
                <a:latin typeface="楷体_GB2312" pitchFamily="49" charset="-122"/>
                <a:ea typeface="楷体_GB2312" pitchFamily="49" charset="-122"/>
              </a:rPr>
              <a:t>int</a:t>
            </a:r>
            <a:r>
              <a:rPr kumimoji="1" lang="en-US" altLang="zh-CN" dirty="0">
                <a:latin typeface="楷体_GB2312" pitchFamily="49" charset="-122"/>
                <a:ea typeface="楷体_GB2312" pitchFamily="49" charset="-122"/>
              </a:rPr>
              <a:t> main( )</a:t>
            </a:r>
          </a:p>
          <a:p>
            <a:pPr algn="l" defTabSz="893763"/>
            <a:r>
              <a:rPr kumimoji="1" lang="en-US" altLang="zh-CN" dirty="0">
                <a:latin typeface="楷体_GB2312" pitchFamily="49" charset="-122"/>
                <a:ea typeface="楷体_GB2312" pitchFamily="49" charset="-122"/>
              </a:rPr>
              <a:t>{  float x, y, z;</a:t>
            </a:r>
          </a:p>
          <a:p>
            <a:pPr algn="l" defTabSz="893763"/>
            <a:r>
              <a:rPr kumimoji="1" lang="en-US" altLang="zh-CN" dirty="0">
                <a:latin typeface="楷体_GB2312" pitchFamily="49" charset="-122"/>
                <a:ea typeface="楷体_GB2312" pitchFamily="49" charset="-122"/>
              </a:rPr>
              <a:t>   x = 1.2; y = 2.3; z = 3.4;</a:t>
            </a:r>
          </a:p>
          <a:p>
            <a:pPr algn="l" defTabSz="893763"/>
            <a:r>
              <a:rPr kumimoji="1" lang="en-US" altLang="zh-CN" dirty="0">
                <a:latin typeface="楷体_GB2312" pitchFamily="49" charset="-122"/>
                <a:ea typeface="楷体_GB2312" pitchFamily="49" charset="-122"/>
              </a:rPr>
              <a:t>   PR(F1, x);       </a:t>
            </a:r>
          </a:p>
          <a:p>
            <a:pPr algn="l" defTabSz="893763"/>
            <a:r>
              <a:rPr kumimoji="1" lang="en-US" altLang="zh-CN" dirty="0">
                <a:latin typeface="楷体_GB2312" pitchFamily="49" charset="-122"/>
                <a:ea typeface="楷体_GB2312" pitchFamily="49" charset="-122"/>
              </a:rPr>
              <a:t>   PR(F2, x, y);</a:t>
            </a:r>
          </a:p>
          <a:p>
            <a:pPr algn="l" defTabSz="893763"/>
            <a:r>
              <a:rPr kumimoji="1" lang="en-US" altLang="zh-CN" dirty="0">
                <a:latin typeface="楷体_GB2312" pitchFamily="49" charset="-122"/>
                <a:ea typeface="楷体_GB2312" pitchFamily="49" charset="-122"/>
              </a:rPr>
              <a:t>   PR(F3,x, y, z);</a:t>
            </a:r>
          </a:p>
          <a:p>
            <a:pPr algn="l" defTabSz="893763"/>
            <a:r>
              <a:rPr kumimoji="1" lang="en-US" altLang="zh-CN" dirty="0">
                <a:latin typeface="楷体_GB2312" pitchFamily="49" charset="-122"/>
                <a:ea typeface="楷体_GB2312" pitchFamily="49" charset="-122"/>
              </a:rPr>
              <a:t>   return 0;</a:t>
            </a:r>
          </a:p>
          <a:p>
            <a:pPr algn="l" defTabSz="893763"/>
            <a:r>
              <a:rPr kumimoji="1" lang="en-US" altLang="zh-CN" dirty="0">
                <a:latin typeface="楷体_GB2312" pitchFamily="49" charset="-122"/>
                <a:ea typeface="楷体_GB2312" pitchFamily="49" charset="-122"/>
              </a:rPr>
              <a:t>}</a:t>
            </a:r>
          </a:p>
        </p:txBody>
      </p:sp>
      <p:sp>
        <p:nvSpPr>
          <p:cNvPr id="3" name="矩形 2"/>
          <p:cNvSpPr/>
          <p:nvPr/>
        </p:nvSpPr>
        <p:spPr>
          <a:xfrm>
            <a:off x="4211960" y="3700264"/>
            <a:ext cx="4932040" cy="654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err="1"/>
              <a:t>printf</a:t>
            </a:r>
            <a:r>
              <a:rPr lang="en-US" altLang="zh-CN" dirty="0"/>
              <a:t>(</a:t>
            </a:r>
            <a:r>
              <a:rPr kumimoji="1" lang="en-US" altLang="zh-CN" dirty="0">
                <a:latin typeface="楷体_GB2312" pitchFamily="49" charset="-122"/>
                <a:ea typeface="楷体_GB2312" pitchFamily="49" charset="-122"/>
              </a:rPr>
              <a:t>"%6.3f" "\n ", x </a:t>
            </a:r>
            <a:r>
              <a:rPr lang="en-US" altLang="zh-CN" dirty="0"/>
              <a:t>)</a:t>
            </a:r>
            <a:endParaRPr lang="zh-CN" altLang="en-US"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9811">
                                            <p:txEl>
                                              <p:pRg st="7" end="7"/>
                                            </p:txEl>
                                          </p:spTgt>
                                        </p:tgtEl>
                                        <p:attrNameLst>
                                          <p:attrName>style.visibility</p:attrName>
                                        </p:attrNameLst>
                                      </p:cBhvr>
                                      <p:to>
                                        <p:strVal val="visible"/>
                                      </p:to>
                                    </p:set>
                                    <p:anim calcmode="lin" valueType="num">
                                      <p:cBhvr additive="base">
                                        <p:cTn id="13" dur="500" fill="hold"/>
                                        <p:tgtEl>
                                          <p:spTgt spid="119811">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9811">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9811">
                                            <p:txEl>
                                              <p:pRg st="8" end="8"/>
                                            </p:txEl>
                                          </p:spTgt>
                                        </p:tgtEl>
                                        <p:attrNameLst>
                                          <p:attrName>style.visibility</p:attrName>
                                        </p:attrNameLst>
                                      </p:cBhvr>
                                      <p:to>
                                        <p:strVal val="visible"/>
                                      </p:to>
                                    </p:set>
                                    <p:anim calcmode="lin" valueType="num">
                                      <p:cBhvr additive="base">
                                        <p:cTn id="17" dur="500" fill="hold"/>
                                        <p:tgtEl>
                                          <p:spTgt spid="119811">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9811">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9811">
                                            <p:txEl>
                                              <p:pRg st="9" end="9"/>
                                            </p:txEl>
                                          </p:spTgt>
                                        </p:tgtEl>
                                        <p:attrNameLst>
                                          <p:attrName>style.visibility</p:attrName>
                                        </p:attrNameLst>
                                      </p:cBhvr>
                                      <p:to>
                                        <p:strVal val="visible"/>
                                      </p:to>
                                    </p:set>
                                    <p:anim calcmode="lin" valueType="num">
                                      <p:cBhvr additive="base">
                                        <p:cTn id="21" dur="500" fill="hold"/>
                                        <p:tgtEl>
                                          <p:spTgt spid="119811">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981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CDBA524-DFE1-4161-BA28-5D8587D46F20}" type="slidenum">
              <a:rPr lang="en-US" altLang="zh-CN"/>
              <a:pPr>
                <a:defRPr/>
              </a:pPr>
              <a:t>124</a:t>
            </a:fld>
            <a:endParaRPr lang="en-US" altLang="zh-CN"/>
          </a:p>
        </p:txBody>
      </p:sp>
      <p:sp>
        <p:nvSpPr>
          <p:cNvPr id="120835" name="Text Box 2"/>
          <p:cNvSpPr txBox="1">
            <a:spLocks noChangeArrowheads="1"/>
          </p:cNvSpPr>
          <p:nvPr/>
        </p:nvSpPr>
        <p:spPr bwMode="auto">
          <a:xfrm>
            <a:off x="395288" y="620713"/>
            <a:ext cx="8424862" cy="4786312"/>
          </a:xfrm>
          <a:prstGeom prst="rect">
            <a:avLst/>
          </a:prstGeom>
          <a:noFill/>
          <a:ln w="9525">
            <a:noFill/>
            <a:miter lim="800000"/>
            <a:headEnd/>
            <a:tailEnd/>
          </a:ln>
        </p:spPr>
        <p:txBody>
          <a:bodyPr lIns="89401" tIns="44700" rIns="89401" bIns="44700">
            <a:spAutoFit/>
          </a:bodyPr>
          <a:lstStyle/>
          <a:p>
            <a:pPr algn="l" defTabSz="893763"/>
            <a:r>
              <a:rPr kumimoji="1" lang="zh-CN" altLang="en-US" dirty="0">
                <a:latin typeface="楷体_GB2312" pitchFamily="49" charset="-122"/>
                <a:ea typeface="楷体_GB2312" pitchFamily="49" charset="-122"/>
              </a:rPr>
              <a:t>在使用文件包含命令时，需注意以下几点：</a:t>
            </a:r>
          </a:p>
          <a:p>
            <a:pPr algn="l" defTabSz="893763"/>
            <a:r>
              <a:rPr kumimoji="1" lang="zh-CN" altLang="en-US" dirty="0">
                <a:latin typeface="楷体_GB2312" pitchFamily="49" charset="-122"/>
                <a:ea typeface="楷体_GB2312" pitchFamily="49" charset="-122"/>
              </a:rPr>
              <a:t>（</a:t>
            </a:r>
            <a:r>
              <a:rPr kumimoji="1" lang="en-US" altLang="zh-CN" dirty="0">
                <a:latin typeface="楷体_GB2312" pitchFamily="49" charset="-122"/>
                <a:ea typeface="楷体_GB2312" pitchFamily="49" charset="-122"/>
              </a:rPr>
              <a:t>1</a:t>
            </a:r>
            <a:r>
              <a:rPr kumimoji="1" lang="zh-CN" altLang="en-US" dirty="0">
                <a:latin typeface="楷体_GB2312" pitchFamily="49" charset="-122"/>
                <a:ea typeface="楷体_GB2312" pitchFamily="49" charset="-122"/>
              </a:rPr>
              <a:t>）一个文件包含命令指定一个被包含的文件。如果要包含多个文件，就得用多个文件包含命令。</a:t>
            </a:r>
          </a:p>
          <a:p>
            <a:pPr algn="l" defTabSz="893763"/>
            <a:r>
              <a:rPr kumimoji="1" lang="zh-CN" altLang="en-US" dirty="0">
                <a:latin typeface="楷体_GB2312" pitchFamily="49" charset="-122"/>
                <a:ea typeface="楷体_GB2312" pitchFamily="49" charset="-122"/>
              </a:rPr>
              <a:t>（</a:t>
            </a:r>
            <a:r>
              <a:rPr kumimoji="1" lang="en-US" altLang="zh-CN" dirty="0">
                <a:latin typeface="楷体_GB2312" pitchFamily="49" charset="-122"/>
                <a:ea typeface="楷体_GB2312" pitchFamily="49" charset="-122"/>
              </a:rPr>
              <a:t>2</a:t>
            </a:r>
            <a:r>
              <a:rPr kumimoji="1" lang="zh-CN" altLang="en-US" dirty="0">
                <a:latin typeface="楷体_GB2312" pitchFamily="49" charset="-122"/>
                <a:ea typeface="楷体_GB2312" pitchFamily="49" charset="-122"/>
              </a:rPr>
              <a:t>）在有多个文件包含命令的情况下，文件包含命令出现的顺序会有一定的关系。例如，文件</a:t>
            </a:r>
            <a:r>
              <a:rPr kumimoji="1" lang="en-US" altLang="zh-CN" dirty="0" err="1">
                <a:latin typeface="楷体_GB2312" pitchFamily="49" charset="-122"/>
                <a:ea typeface="楷体_GB2312" pitchFamily="49" charset="-122"/>
              </a:rPr>
              <a:t>file.c</a:t>
            </a:r>
            <a:r>
              <a:rPr kumimoji="1" lang="zh-CN" altLang="en-US" dirty="0">
                <a:latin typeface="楷体_GB2312" pitchFamily="49" charset="-122"/>
                <a:ea typeface="楷体_GB2312" pitchFamily="49" charset="-122"/>
              </a:rPr>
              <a:t>包含文件</a:t>
            </a:r>
            <a:r>
              <a:rPr kumimoji="1" lang="en-US" altLang="zh-CN" dirty="0">
                <a:latin typeface="楷体_GB2312" pitchFamily="49" charset="-122"/>
                <a:ea typeface="楷体_GB2312" pitchFamily="49" charset="-122"/>
              </a:rPr>
              <a:t>file1.h</a:t>
            </a:r>
            <a:r>
              <a:rPr kumimoji="1" lang="zh-CN" altLang="en-US" dirty="0">
                <a:latin typeface="楷体_GB2312" pitchFamily="49" charset="-122"/>
                <a:ea typeface="楷体_GB2312" pitchFamily="49" charset="-122"/>
              </a:rPr>
              <a:t>和</a:t>
            </a:r>
            <a:r>
              <a:rPr kumimoji="1" lang="en-US" altLang="zh-CN" dirty="0">
                <a:latin typeface="楷体_GB2312" pitchFamily="49" charset="-122"/>
                <a:ea typeface="楷体_GB2312" pitchFamily="49" charset="-122"/>
              </a:rPr>
              <a:t>file2.h</a:t>
            </a:r>
            <a:r>
              <a:rPr kumimoji="1" lang="zh-CN" altLang="en-US" dirty="0">
                <a:latin typeface="楷体_GB2312" pitchFamily="49" charset="-122"/>
                <a:ea typeface="楷体_GB2312" pitchFamily="49" charset="-122"/>
              </a:rPr>
              <a:t>，且文件</a:t>
            </a:r>
            <a:r>
              <a:rPr kumimoji="1" lang="en-US" altLang="zh-CN" dirty="0">
                <a:latin typeface="楷体_GB2312" pitchFamily="49" charset="-122"/>
                <a:ea typeface="楷体_GB2312" pitchFamily="49" charset="-122"/>
              </a:rPr>
              <a:t>file1.h</a:t>
            </a:r>
            <a:r>
              <a:rPr kumimoji="1" lang="zh-CN" altLang="en-US" dirty="0">
                <a:latin typeface="楷体_GB2312" pitchFamily="49" charset="-122"/>
                <a:ea typeface="楷体_GB2312" pitchFamily="49" charset="-122"/>
              </a:rPr>
              <a:t>要引用</a:t>
            </a:r>
            <a:r>
              <a:rPr kumimoji="1" lang="en-US" altLang="zh-CN" dirty="0">
                <a:latin typeface="楷体_GB2312" pitchFamily="49" charset="-122"/>
                <a:ea typeface="楷体_GB2312" pitchFamily="49" charset="-122"/>
              </a:rPr>
              <a:t>file2.h</a:t>
            </a:r>
            <a:r>
              <a:rPr kumimoji="1" lang="zh-CN" altLang="en-US" dirty="0">
                <a:latin typeface="楷体_GB2312" pitchFamily="49" charset="-122"/>
                <a:ea typeface="楷体_GB2312" pitchFamily="49" charset="-122"/>
              </a:rPr>
              <a:t>中定义或说明的对象，在</a:t>
            </a:r>
            <a:r>
              <a:rPr kumimoji="1" lang="en-US" altLang="zh-CN" dirty="0" err="1">
                <a:latin typeface="楷体_GB2312" pitchFamily="49" charset="-122"/>
                <a:ea typeface="楷体_GB2312" pitchFamily="49" charset="-122"/>
              </a:rPr>
              <a:t>file.c</a:t>
            </a:r>
            <a:r>
              <a:rPr kumimoji="1" lang="zh-CN" altLang="en-US" dirty="0">
                <a:latin typeface="楷体_GB2312" pitchFamily="49" charset="-122"/>
                <a:ea typeface="楷体_GB2312" pitchFamily="49" charset="-122"/>
              </a:rPr>
              <a:t>中的包含</a:t>
            </a:r>
            <a:r>
              <a:rPr kumimoji="1" lang="en-US" altLang="zh-CN" dirty="0">
                <a:latin typeface="楷体_GB2312" pitchFamily="49" charset="-122"/>
                <a:ea typeface="楷体_GB2312" pitchFamily="49" charset="-122"/>
              </a:rPr>
              <a:t>file2.h</a:t>
            </a:r>
            <a:r>
              <a:rPr kumimoji="1" lang="zh-CN" altLang="en-US" dirty="0">
                <a:latin typeface="楷体_GB2312" pitchFamily="49" charset="-122"/>
                <a:ea typeface="楷体_GB2312" pitchFamily="49" charset="-122"/>
              </a:rPr>
              <a:t>的命令应出现在包含</a:t>
            </a:r>
            <a:r>
              <a:rPr kumimoji="1" lang="en-US" altLang="zh-CN" dirty="0">
                <a:latin typeface="楷体_GB2312" pitchFamily="49" charset="-122"/>
                <a:ea typeface="楷体_GB2312" pitchFamily="49" charset="-122"/>
              </a:rPr>
              <a:t>file1.h</a:t>
            </a:r>
            <a:r>
              <a:rPr kumimoji="1" lang="zh-CN" altLang="en-US" dirty="0">
                <a:latin typeface="楷体_GB2312" pitchFamily="49" charset="-122"/>
                <a:ea typeface="楷体_GB2312" pitchFamily="49" charset="-122"/>
              </a:rPr>
              <a:t>的命令之前。即在</a:t>
            </a:r>
            <a:r>
              <a:rPr kumimoji="1" lang="en-US" altLang="zh-CN" dirty="0" err="1">
                <a:latin typeface="楷体_GB2312" pitchFamily="49" charset="-122"/>
                <a:ea typeface="楷体_GB2312" pitchFamily="49" charset="-122"/>
              </a:rPr>
              <a:t>file.c</a:t>
            </a:r>
            <a:r>
              <a:rPr kumimoji="1" lang="zh-CN" altLang="en-US" dirty="0">
                <a:latin typeface="楷体_GB2312" pitchFamily="49" charset="-122"/>
                <a:ea typeface="楷体_GB2312" pitchFamily="49" charset="-122"/>
              </a:rPr>
              <a:t>中正确的代码为：</a:t>
            </a:r>
          </a:p>
          <a:p>
            <a:pPr algn="l" defTabSz="893763"/>
            <a:r>
              <a:rPr kumimoji="1" lang="zh-CN" altLang="en-US" dirty="0">
                <a:latin typeface="楷体_GB2312" pitchFamily="49" charset="-122"/>
                <a:ea typeface="楷体_GB2312" pitchFamily="49" charset="-122"/>
              </a:rPr>
              <a:t>	</a:t>
            </a:r>
            <a:r>
              <a:rPr kumimoji="1" lang="en-US" altLang="zh-CN" dirty="0">
                <a:latin typeface="BatangChe" pitchFamily="49" charset="-127"/>
                <a:ea typeface="BatangChe" pitchFamily="49" charset="-127"/>
              </a:rPr>
              <a:t>#include  “file2.h”</a:t>
            </a:r>
          </a:p>
          <a:p>
            <a:pPr algn="l" defTabSz="893763"/>
            <a:r>
              <a:rPr kumimoji="1" lang="en-US" altLang="zh-CN" dirty="0">
                <a:latin typeface="BatangChe" pitchFamily="49" charset="-127"/>
                <a:ea typeface="BatangChe" pitchFamily="49" charset="-127"/>
              </a:rPr>
              <a:t>	#include  “file1.h”</a:t>
            </a:r>
          </a:p>
        </p:txBody>
      </p:sp>
    </p:spTree>
  </p:cSld>
  <p:clrMapOvr>
    <a:masterClrMapping/>
  </p:clrMapOvr>
  <p:transition>
    <p:blinds/>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DAA09E5-FC52-4487-AB40-2FB2785717A1}" type="slidenum">
              <a:rPr lang="en-US" altLang="zh-CN"/>
              <a:pPr>
                <a:defRPr/>
              </a:pPr>
              <a:t>125</a:t>
            </a:fld>
            <a:endParaRPr lang="en-US" altLang="zh-CN"/>
          </a:p>
        </p:txBody>
      </p:sp>
      <p:sp>
        <p:nvSpPr>
          <p:cNvPr id="121859" name="Text Box 2"/>
          <p:cNvSpPr txBox="1">
            <a:spLocks noChangeArrowheads="1"/>
          </p:cNvSpPr>
          <p:nvPr/>
        </p:nvSpPr>
        <p:spPr bwMode="auto">
          <a:xfrm>
            <a:off x="395288" y="620713"/>
            <a:ext cx="8424862" cy="6067425"/>
          </a:xfrm>
          <a:prstGeom prst="rect">
            <a:avLst/>
          </a:prstGeom>
          <a:noFill/>
          <a:ln w="9525">
            <a:noFill/>
            <a:miter lim="800000"/>
            <a:headEnd/>
            <a:tailEnd/>
          </a:ln>
        </p:spPr>
        <p:txBody>
          <a:bodyPr lIns="89401" tIns="44700" rIns="89401" bIns="44700">
            <a:spAutoFit/>
          </a:bodyPr>
          <a:lstStyle/>
          <a:p>
            <a:pPr algn="l" defTabSz="893763"/>
            <a:r>
              <a:rPr kumimoji="1" lang="en-US" altLang="zh-CN" dirty="0">
                <a:solidFill>
                  <a:srgbClr val="0070C0"/>
                </a:solidFill>
                <a:latin typeface="楷体_GB2312" pitchFamily="49" charset="-122"/>
                <a:ea typeface="楷体_GB2312" pitchFamily="49" charset="-122"/>
              </a:rPr>
              <a:t>【</a:t>
            </a:r>
            <a:r>
              <a:rPr kumimoji="1" lang="zh-CN" altLang="en-US" dirty="0">
                <a:solidFill>
                  <a:srgbClr val="0070C0"/>
                </a:solidFill>
                <a:latin typeface="楷体_GB2312" pitchFamily="49" charset="-122"/>
                <a:ea typeface="楷体_GB2312" pitchFamily="49" charset="-122"/>
              </a:rPr>
              <a:t>例</a:t>
            </a:r>
            <a:r>
              <a:rPr kumimoji="1" lang="en-US" altLang="zh-CN" dirty="0">
                <a:solidFill>
                  <a:srgbClr val="0070C0"/>
                </a:solidFill>
                <a:latin typeface="楷体_GB2312" pitchFamily="49" charset="-122"/>
                <a:ea typeface="楷体_GB2312" pitchFamily="49" charset="-122"/>
              </a:rPr>
              <a:t>5.23】</a:t>
            </a:r>
            <a:r>
              <a:rPr kumimoji="1" lang="zh-CN" altLang="en-US" dirty="0">
                <a:solidFill>
                  <a:srgbClr val="FF0000"/>
                </a:solidFill>
                <a:latin typeface="楷体_GB2312" pitchFamily="49" charset="-122"/>
                <a:ea typeface="楷体_GB2312" pitchFamily="49" charset="-122"/>
              </a:rPr>
              <a:t>计算</a:t>
            </a:r>
            <a:r>
              <a:rPr kumimoji="1" lang="en-US" altLang="zh-CN" dirty="0" err="1">
                <a:solidFill>
                  <a:srgbClr val="FF0000"/>
                </a:solidFill>
                <a:latin typeface="楷体_GB2312" pitchFamily="49" charset="-122"/>
                <a:ea typeface="楷体_GB2312" pitchFamily="49" charset="-122"/>
              </a:rPr>
              <a:t>x</a:t>
            </a:r>
            <a:r>
              <a:rPr kumimoji="1" lang="en-US" altLang="zh-CN" baseline="30000" dirty="0" err="1">
                <a:solidFill>
                  <a:srgbClr val="FF0000"/>
                </a:solidFill>
                <a:latin typeface="楷体_GB2312" pitchFamily="49" charset="-122"/>
                <a:ea typeface="楷体_GB2312" pitchFamily="49" charset="-122"/>
              </a:rPr>
              <a:t>y</a:t>
            </a:r>
            <a:r>
              <a:rPr kumimoji="1" lang="zh-CN" altLang="en-US" dirty="0">
                <a:solidFill>
                  <a:srgbClr val="FF0000"/>
                </a:solidFill>
                <a:latin typeface="楷体_GB2312" pitchFamily="49" charset="-122"/>
                <a:ea typeface="楷体_GB2312" pitchFamily="49" charset="-122"/>
              </a:rPr>
              <a:t>。</a:t>
            </a:r>
          </a:p>
          <a:p>
            <a:pPr algn="l" defTabSz="893763"/>
            <a:r>
              <a:rPr kumimoji="1" lang="zh-CN" altLang="en-US" dirty="0">
                <a:latin typeface="楷体_GB2312" pitchFamily="49" charset="-122"/>
                <a:ea typeface="楷体_GB2312" pitchFamily="49" charset="-122"/>
              </a:rPr>
              <a:t>文件</a:t>
            </a:r>
            <a:r>
              <a:rPr kumimoji="1" lang="en-US" altLang="zh-CN" dirty="0">
                <a:latin typeface="楷体_GB2312" pitchFamily="49" charset="-122"/>
                <a:ea typeface="楷体_GB2312" pitchFamily="49" charset="-122"/>
              </a:rPr>
              <a:t>file1.c</a:t>
            </a:r>
            <a:r>
              <a:rPr kumimoji="1" lang="zh-CN" altLang="en-US" dirty="0">
                <a:latin typeface="楷体_GB2312" pitchFamily="49" charset="-122"/>
                <a:ea typeface="楷体_GB2312" pitchFamily="49" charset="-122"/>
              </a:rPr>
              <a:t>中的内容：</a:t>
            </a:r>
          </a:p>
          <a:p>
            <a:pPr algn="l" defTabSz="893763"/>
            <a:r>
              <a:rPr kumimoji="1" lang="en-US" altLang="zh-CN" dirty="0">
                <a:latin typeface="楷体_GB2312" pitchFamily="49" charset="-122"/>
                <a:ea typeface="楷体_GB2312" pitchFamily="49" charset="-122"/>
              </a:rPr>
              <a:t>#include &lt;</a:t>
            </a:r>
            <a:r>
              <a:rPr kumimoji="1" lang="en-US" altLang="zh-CN" dirty="0" err="1">
                <a:latin typeface="楷体_GB2312" pitchFamily="49" charset="-122"/>
                <a:ea typeface="楷体_GB2312" pitchFamily="49" charset="-122"/>
              </a:rPr>
              <a:t>stdio.h</a:t>
            </a:r>
            <a:r>
              <a:rPr kumimoji="1" lang="en-US" altLang="zh-CN" dirty="0">
                <a:latin typeface="楷体_GB2312" pitchFamily="49" charset="-122"/>
                <a:ea typeface="楷体_GB2312" pitchFamily="49" charset="-122"/>
              </a:rPr>
              <a:t>&gt;</a:t>
            </a:r>
          </a:p>
          <a:p>
            <a:pPr algn="l" defTabSz="893763"/>
            <a:r>
              <a:rPr kumimoji="1" lang="en-US" altLang="zh-CN" dirty="0">
                <a:latin typeface="楷体_GB2312" pitchFamily="49" charset="-122"/>
                <a:ea typeface="楷体_GB2312" pitchFamily="49" charset="-122"/>
              </a:rPr>
              <a:t>#include "d:\c\file2.c"	  /* </a:t>
            </a:r>
            <a:r>
              <a:rPr kumimoji="1" lang="zh-CN" altLang="en-US" dirty="0">
                <a:latin typeface="楷体_GB2312" pitchFamily="49" charset="-122"/>
                <a:ea typeface="楷体_GB2312" pitchFamily="49" charset="-122"/>
              </a:rPr>
              <a:t>指明要包含文件</a:t>
            </a:r>
            <a:r>
              <a:rPr kumimoji="1" lang="en-US" altLang="zh-CN" dirty="0">
                <a:latin typeface="楷体_GB2312" pitchFamily="49" charset="-122"/>
                <a:ea typeface="楷体_GB2312" pitchFamily="49" charset="-122"/>
              </a:rPr>
              <a:t>file2.c</a:t>
            </a:r>
            <a:r>
              <a:rPr kumimoji="1" lang="zh-CN" altLang="en-US" dirty="0">
                <a:latin typeface="楷体_GB2312" pitchFamily="49" charset="-122"/>
                <a:ea typeface="楷体_GB2312" pitchFamily="49" charset="-122"/>
              </a:rPr>
              <a:t>的完整路径 *</a:t>
            </a:r>
            <a:r>
              <a:rPr kumimoji="1" lang="en-US" altLang="zh-CN" dirty="0">
                <a:latin typeface="楷体_GB2312" pitchFamily="49" charset="-122"/>
                <a:ea typeface="楷体_GB2312" pitchFamily="49" charset="-122"/>
              </a:rPr>
              <a:t>/</a:t>
            </a:r>
          </a:p>
          <a:p>
            <a:pPr algn="l" defTabSz="893763"/>
            <a:r>
              <a:rPr kumimoji="1" lang="en-US" altLang="zh-CN" dirty="0" err="1">
                <a:latin typeface="楷体_GB2312" pitchFamily="49" charset="-122"/>
                <a:ea typeface="楷体_GB2312" pitchFamily="49" charset="-122"/>
              </a:rPr>
              <a:t>int</a:t>
            </a:r>
            <a:r>
              <a:rPr kumimoji="1" lang="en-US" altLang="zh-CN" dirty="0">
                <a:latin typeface="楷体_GB2312" pitchFamily="49" charset="-122"/>
                <a:ea typeface="楷体_GB2312" pitchFamily="49" charset="-122"/>
              </a:rPr>
              <a:t> main()</a:t>
            </a:r>
          </a:p>
          <a:p>
            <a:pPr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int</a:t>
            </a:r>
            <a:r>
              <a:rPr kumimoji="1" lang="en-US" altLang="zh-CN" dirty="0">
                <a:latin typeface="楷体_GB2312" pitchFamily="49" charset="-122"/>
                <a:ea typeface="楷体_GB2312" pitchFamily="49" charset="-122"/>
              </a:rPr>
              <a:t> x, y;</a:t>
            </a:r>
          </a:p>
          <a:p>
            <a:pPr algn="l" defTabSz="893763"/>
            <a:r>
              <a:rPr kumimoji="1" lang="en-US" altLang="zh-CN" dirty="0">
                <a:latin typeface="楷体_GB2312" pitchFamily="49" charset="-122"/>
                <a:ea typeface="楷体_GB2312" pitchFamily="49" charset="-122"/>
              </a:rPr>
              <a:t>  double power(</a:t>
            </a:r>
            <a:r>
              <a:rPr kumimoji="1" lang="en-US" altLang="zh-CN" dirty="0" err="1">
                <a:latin typeface="楷体_GB2312" pitchFamily="49" charset="-122"/>
                <a:ea typeface="楷体_GB2312" pitchFamily="49" charset="-122"/>
              </a:rPr>
              <a:t>int</a:t>
            </a:r>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int</a:t>
            </a:r>
            <a:r>
              <a:rPr kumimoji="1" lang="en-US" altLang="zh-CN" dirty="0">
                <a:latin typeface="楷体_GB2312" pitchFamily="49" charset="-122"/>
                <a:ea typeface="楷体_GB2312" pitchFamily="49" charset="-122"/>
              </a:rPr>
              <a:t>); /* </a:t>
            </a:r>
            <a:r>
              <a:rPr kumimoji="1" lang="zh-CN" altLang="en-US" dirty="0">
                <a:latin typeface="楷体_GB2312" pitchFamily="49" charset="-122"/>
                <a:ea typeface="楷体_GB2312" pitchFamily="49" charset="-122"/>
              </a:rPr>
              <a:t>函数说明 *</a:t>
            </a:r>
            <a:r>
              <a:rPr kumimoji="1" lang="en-US" altLang="zh-CN" dirty="0">
                <a:latin typeface="楷体_GB2312" pitchFamily="49" charset="-122"/>
                <a:ea typeface="楷体_GB2312" pitchFamily="49" charset="-122"/>
              </a:rPr>
              <a:t>/ </a:t>
            </a:r>
          </a:p>
          <a:p>
            <a:pPr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printf</a:t>
            </a:r>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请输入计算 </a:t>
            </a:r>
            <a:r>
              <a:rPr kumimoji="1" lang="en-US" altLang="zh-CN" dirty="0">
                <a:latin typeface="楷体_GB2312" pitchFamily="49" charset="-122"/>
                <a:ea typeface="楷体_GB2312" pitchFamily="49" charset="-122"/>
              </a:rPr>
              <a:t>x**y </a:t>
            </a:r>
            <a:r>
              <a:rPr kumimoji="1" lang="zh-CN" altLang="en-US" dirty="0">
                <a:latin typeface="楷体_GB2312" pitchFamily="49" charset="-122"/>
                <a:ea typeface="楷体_GB2312" pitchFamily="49" charset="-122"/>
              </a:rPr>
              <a:t>的两个自然数：</a:t>
            </a:r>
            <a:r>
              <a:rPr kumimoji="1" lang="en-US" altLang="zh-CN" dirty="0">
                <a:latin typeface="楷体_GB2312" pitchFamily="49" charset="-122"/>
                <a:ea typeface="楷体_GB2312" pitchFamily="49" charset="-122"/>
              </a:rPr>
              <a:t>");</a:t>
            </a:r>
          </a:p>
          <a:p>
            <a:pPr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scanf</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d%d</a:t>
            </a:r>
            <a:r>
              <a:rPr kumimoji="1" lang="en-US" altLang="zh-CN" dirty="0">
                <a:latin typeface="楷体_GB2312" pitchFamily="49" charset="-122"/>
                <a:ea typeface="楷体_GB2312" pitchFamily="49" charset="-122"/>
              </a:rPr>
              <a:t>", &amp;x, &amp;y);</a:t>
            </a:r>
          </a:p>
          <a:p>
            <a:pPr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printf</a:t>
            </a:r>
            <a:r>
              <a:rPr kumimoji="1" lang="en-US" altLang="zh-CN" dirty="0">
                <a:latin typeface="楷体_GB2312" pitchFamily="49" charset="-122"/>
                <a:ea typeface="楷体_GB2312" pitchFamily="49" charset="-122"/>
              </a:rPr>
              <a:t>(" %d**%d = %.0f\n",</a:t>
            </a:r>
          </a:p>
          <a:p>
            <a:pPr algn="l" defTabSz="893763"/>
            <a:r>
              <a:rPr kumimoji="1" lang="en-US" altLang="zh-CN" dirty="0">
                <a:latin typeface="楷体_GB2312" pitchFamily="49" charset="-122"/>
                <a:ea typeface="楷体_GB2312" pitchFamily="49" charset="-122"/>
              </a:rPr>
              <a:t>              x, y, power(x, y));</a:t>
            </a:r>
          </a:p>
          <a:p>
            <a:pPr algn="l" defTabSz="893763"/>
            <a:r>
              <a:rPr kumimoji="1" lang="en-US" altLang="zh-CN" dirty="0">
                <a:latin typeface="楷体_GB2312" pitchFamily="49" charset="-122"/>
                <a:ea typeface="楷体_GB2312" pitchFamily="49" charset="-122"/>
              </a:rPr>
              <a:t>  return 0;</a:t>
            </a:r>
          </a:p>
          <a:p>
            <a:pPr algn="l" defTabSz="893763"/>
            <a:r>
              <a:rPr kumimoji="1" lang="en-US" altLang="zh-CN" dirty="0">
                <a:latin typeface="楷体_GB2312" pitchFamily="49" charset="-122"/>
                <a:ea typeface="楷体_GB2312" pitchFamily="49" charset="-122"/>
              </a:rPr>
              <a:t>}</a:t>
            </a:r>
          </a:p>
        </p:txBody>
      </p:sp>
    </p:spTree>
  </p:cSld>
  <p:clrMapOvr>
    <a:masterClrMapping/>
  </p:clrMapOvr>
  <p:transition>
    <p:blinds/>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31C885C-6BCE-4C78-91E5-9A6F85459035}" type="slidenum">
              <a:rPr lang="en-US" altLang="zh-CN"/>
              <a:pPr>
                <a:defRPr/>
              </a:pPr>
              <a:t>126</a:t>
            </a:fld>
            <a:endParaRPr lang="en-US" altLang="zh-CN"/>
          </a:p>
        </p:txBody>
      </p:sp>
      <p:sp>
        <p:nvSpPr>
          <p:cNvPr id="122883" name="Text Box 2"/>
          <p:cNvSpPr txBox="1">
            <a:spLocks noChangeArrowheads="1"/>
          </p:cNvSpPr>
          <p:nvPr/>
        </p:nvSpPr>
        <p:spPr bwMode="auto">
          <a:xfrm>
            <a:off x="395288" y="620713"/>
            <a:ext cx="8424862" cy="3505200"/>
          </a:xfrm>
          <a:prstGeom prst="rect">
            <a:avLst/>
          </a:prstGeom>
          <a:noFill/>
          <a:ln w="9525">
            <a:noFill/>
            <a:miter lim="800000"/>
            <a:headEnd/>
            <a:tailEnd/>
          </a:ln>
        </p:spPr>
        <p:txBody>
          <a:bodyPr lIns="89401" tIns="44700" rIns="89401" bIns="44700">
            <a:spAutoFit/>
          </a:bodyPr>
          <a:lstStyle/>
          <a:p>
            <a:pPr algn="l" defTabSz="893763"/>
            <a:r>
              <a:rPr kumimoji="1" lang="en-US" altLang="zh-CN">
                <a:latin typeface="楷体_GB2312" pitchFamily="49" charset="-122"/>
                <a:ea typeface="楷体_GB2312" pitchFamily="49" charset="-122"/>
              </a:rPr>
              <a:t>D</a:t>
            </a:r>
            <a:r>
              <a:rPr kumimoji="1" lang="zh-CN" altLang="en-US">
                <a:latin typeface="楷体_GB2312" pitchFamily="49" charset="-122"/>
                <a:ea typeface="楷体_GB2312" pitchFamily="49" charset="-122"/>
              </a:rPr>
              <a:t>盘</a:t>
            </a:r>
            <a:r>
              <a:rPr kumimoji="1" lang="en-US" altLang="zh-CN">
                <a:latin typeface="楷体_GB2312" pitchFamily="49" charset="-122"/>
                <a:ea typeface="楷体_GB2312" pitchFamily="49" charset="-122"/>
              </a:rPr>
              <a:t>C</a:t>
            </a:r>
            <a:r>
              <a:rPr kumimoji="1" lang="zh-CN" altLang="en-US">
                <a:latin typeface="楷体_GB2312" pitchFamily="49" charset="-122"/>
                <a:ea typeface="楷体_GB2312" pitchFamily="49" charset="-122"/>
              </a:rPr>
              <a:t>目录下</a:t>
            </a:r>
            <a:r>
              <a:rPr kumimoji="1" lang="en-US" altLang="zh-CN">
                <a:latin typeface="楷体_GB2312" pitchFamily="49" charset="-122"/>
                <a:ea typeface="楷体_GB2312" pitchFamily="49" charset="-122"/>
              </a:rPr>
              <a:t>file2.c</a:t>
            </a:r>
            <a:r>
              <a:rPr kumimoji="1" lang="zh-CN" altLang="en-US">
                <a:latin typeface="楷体_GB2312" pitchFamily="49" charset="-122"/>
                <a:ea typeface="楷体_GB2312" pitchFamily="49" charset="-122"/>
              </a:rPr>
              <a:t>文件中的内容：</a:t>
            </a:r>
          </a:p>
          <a:p>
            <a:pPr algn="l" defTabSz="893763"/>
            <a:r>
              <a:rPr kumimoji="1" lang="en-US" altLang="zh-CN">
                <a:latin typeface="楷体_GB2312" pitchFamily="49" charset="-122"/>
                <a:ea typeface="楷体_GB2312" pitchFamily="49" charset="-122"/>
              </a:rPr>
              <a:t>double power(int m, int n)</a:t>
            </a:r>
          </a:p>
          <a:p>
            <a:pPr algn="l" defTabSz="893763"/>
            <a:r>
              <a:rPr kumimoji="1" lang="en-US" altLang="zh-CN">
                <a:latin typeface="楷体_GB2312" pitchFamily="49" charset="-122"/>
                <a:ea typeface="楷体_GB2312" pitchFamily="49" charset="-122"/>
              </a:rPr>
              <a:t>{ int i;</a:t>
            </a:r>
          </a:p>
          <a:p>
            <a:pPr algn="l" defTabSz="893763"/>
            <a:r>
              <a:rPr kumimoji="1" lang="en-US" altLang="zh-CN">
                <a:latin typeface="楷体_GB2312" pitchFamily="49" charset="-122"/>
                <a:ea typeface="楷体_GB2312" pitchFamily="49" charset="-122"/>
              </a:rPr>
              <a:t>  double y = 1.0;</a:t>
            </a:r>
          </a:p>
          <a:p>
            <a:pPr algn="l" defTabSz="893763"/>
            <a:r>
              <a:rPr kumimoji="1" lang="en-US" altLang="zh-CN">
                <a:latin typeface="楷体_GB2312" pitchFamily="49" charset="-122"/>
                <a:ea typeface="楷体_GB2312" pitchFamily="49" charset="-122"/>
              </a:rPr>
              <a:t>  for(i = 1; i &lt;= n; i++)</a:t>
            </a:r>
          </a:p>
          <a:p>
            <a:pPr algn="l" defTabSz="893763"/>
            <a:r>
              <a:rPr kumimoji="1" lang="en-US" altLang="zh-CN">
                <a:latin typeface="楷体_GB2312" pitchFamily="49" charset="-122"/>
                <a:ea typeface="楷体_GB2312" pitchFamily="49" charset="-122"/>
              </a:rPr>
              <a:t>      y *= m; </a:t>
            </a:r>
          </a:p>
          <a:p>
            <a:pPr algn="l" defTabSz="893763"/>
            <a:r>
              <a:rPr kumimoji="1" lang="en-US" altLang="zh-CN">
                <a:latin typeface="楷体_GB2312" pitchFamily="49" charset="-122"/>
                <a:ea typeface="楷体_GB2312" pitchFamily="49" charset="-122"/>
              </a:rPr>
              <a:t>  return y;</a:t>
            </a:r>
          </a:p>
          <a:p>
            <a:pPr algn="l" defTabSz="893763"/>
            <a:r>
              <a:rPr kumimoji="1" lang="en-US" altLang="zh-CN">
                <a:latin typeface="楷体_GB2312" pitchFamily="49" charset="-122"/>
                <a:ea typeface="楷体_GB2312" pitchFamily="49" charset="-122"/>
              </a:rPr>
              <a:t>}</a:t>
            </a:r>
          </a:p>
        </p:txBody>
      </p:sp>
    </p:spTree>
  </p:cSld>
  <p:clrMapOvr>
    <a:masterClrMapping/>
  </p:clrMapOvr>
  <p:transition>
    <p:blinds/>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634FEB16-7CD3-45E8-AF04-25E0BF76A8A6}" type="slidenum">
              <a:rPr lang="en-US" altLang="zh-CN"/>
              <a:pPr>
                <a:defRPr/>
              </a:pPr>
              <a:t>127</a:t>
            </a:fld>
            <a:endParaRPr lang="en-US" altLang="zh-CN"/>
          </a:p>
        </p:txBody>
      </p:sp>
      <p:sp>
        <p:nvSpPr>
          <p:cNvPr id="123907" name="Text Box 2"/>
          <p:cNvSpPr txBox="1">
            <a:spLocks noChangeArrowheads="1"/>
          </p:cNvSpPr>
          <p:nvPr/>
        </p:nvSpPr>
        <p:spPr bwMode="auto">
          <a:xfrm>
            <a:off x="179512" y="620713"/>
            <a:ext cx="8640638" cy="5753362"/>
          </a:xfrm>
          <a:prstGeom prst="rect">
            <a:avLst/>
          </a:prstGeom>
          <a:noFill/>
          <a:ln w="9525">
            <a:noFill/>
            <a:miter lim="800000"/>
            <a:headEnd/>
            <a:tailEnd/>
          </a:ln>
        </p:spPr>
        <p:txBody>
          <a:bodyPr wrap="square" lIns="89401" tIns="44700" rIns="89401" bIns="44700">
            <a:spAutoFit/>
          </a:bodyPr>
          <a:lstStyle/>
          <a:p>
            <a:pPr marL="538163" lvl="3" algn="l" defTabSz="893763"/>
            <a:r>
              <a:rPr lang="zh-CN" altLang="en-US" sz="3200" dirty="0">
                <a:solidFill>
                  <a:srgbClr val="990000"/>
                </a:solidFill>
                <a:latin typeface="楷体_GB2312" pitchFamily="49" charset="-122"/>
                <a:ea typeface="楷体_GB2312" pitchFamily="49" charset="-122"/>
              </a:rPr>
              <a:t>条件编译</a:t>
            </a:r>
            <a:endParaRPr kumimoji="1" lang="zh-CN" altLang="en-US" sz="3200" dirty="0">
              <a:solidFill>
                <a:srgbClr val="990000"/>
              </a:solidFill>
              <a:latin typeface="楷体_GB2312" pitchFamily="49" charset="-122"/>
              <a:ea typeface="楷体_GB2312" pitchFamily="49" charset="-122"/>
            </a:endParaRPr>
          </a:p>
          <a:p>
            <a:pPr marL="538163" lvl="3" algn="l" defTabSz="893763"/>
            <a:endParaRPr kumimoji="1" lang="zh-CN" altLang="en-US" dirty="0">
              <a:latin typeface="楷体_GB2312" pitchFamily="49" charset="-122"/>
              <a:ea typeface="楷体_GB2312" pitchFamily="49" charset="-122"/>
            </a:endParaRPr>
          </a:p>
          <a:p>
            <a:pPr marL="538163" lvl="3" algn="l" defTabSz="893763"/>
            <a:r>
              <a:rPr kumimoji="1" lang="zh-CN" altLang="en-US" dirty="0">
                <a:latin typeface="楷体_GB2312" pitchFamily="49" charset="-122"/>
                <a:ea typeface="楷体_GB2312" pitchFamily="49" charset="-122"/>
              </a:rPr>
              <a:t>条件编译是指在编译一个源程序文件时，其中部分代码段能根据条件成立与否有选择地被编译。即编译程序只编译没有条件或条件成立的代码段，而不编译不满足条件的代码段。</a:t>
            </a:r>
          </a:p>
          <a:p>
            <a:pPr marL="538163" lvl="3" algn="l" defTabSz="893763"/>
            <a:endParaRPr kumimoji="1" lang="en-US" altLang="zh-CN" dirty="0">
              <a:latin typeface="楷体_GB2312" pitchFamily="49" charset="-122"/>
              <a:ea typeface="楷体_GB2312" pitchFamily="49" charset="-122"/>
            </a:endParaRPr>
          </a:p>
          <a:p>
            <a:pPr marL="538163" lvl="3" algn="l" defTabSz="893763"/>
            <a:r>
              <a:rPr kumimoji="1" lang="zh-CN" altLang="en-US" dirty="0">
                <a:latin typeface="楷体_GB2312" pitchFamily="49" charset="-122"/>
                <a:ea typeface="楷体_GB2312" pitchFamily="49" charset="-122"/>
              </a:rPr>
              <a:t>条件编译能提高程序的可移植性和可维护性。设计者可以将所有与环境有关的内容编写成独立的程序段，并将它们配上相应的条件编译预处理命令。编译之前先设定与环境相应的条件，就能组装出适应环境要求的程序。</a:t>
            </a:r>
          </a:p>
          <a:p>
            <a:pPr marL="538163" lvl="3" algn="l" defTabSz="893763"/>
            <a:r>
              <a:rPr kumimoji="1" lang="zh-CN" altLang="en-US" dirty="0">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67C8537-A173-46E7-AEFA-2D6B8C146804}" type="slidenum">
              <a:rPr lang="en-US" altLang="zh-CN"/>
              <a:pPr>
                <a:defRPr/>
              </a:pPr>
              <a:t>128</a:t>
            </a:fld>
            <a:endParaRPr lang="en-US" altLang="zh-CN"/>
          </a:p>
        </p:txBody>
      </p:sp>
      <p:sp>
        <p:nvSpPr>
          <p:cNvPr id="124931" name="Text Box 2"/>
          <p:cNvSpPr txBox="1">
            <a:spLocks noChangeArrowheads="1"/>
          </p:cNvSpPr>
          <p:nvPr/>
        </p:nvSpPr>
        <p:spPr bwMode="auto">
          <a:xfrm>
            <a:off x="-252413" y="620713"/>
            <a:ext cx="9072563" cy="6553581"/>
          </a:xfrm>
          <a:prstGeom prst="rect">
            <a:avLst/>
          </a:prstGeom>
          <a:noFill/>
          <a:ln w="9525">
            <a:noFill/>
            <a:miter lim="800000"/>
            <a:headEnd/>
            <a:tailEnd/>
          </a:ln>
        </p:spPr>
        <p:txBody>
          <a:bodyPr lIns="89401" tIns="44700" rIns="89401" bIns="44700">
            <a:spAutoFit/>
          </a:bodyPr>
          <a:lstStyle/>
          <a:p>
            <a:pPr marL="538163" lvl="3" algn="l" defTabSz="893763"/>
            <a:r>
              <a:rPr kumimoji="1" lang="zh-CN" altLang="en-US" dirty="0">
                <a:latin typeface="楷体_GB2312" pitchFamily="49" charset="-122"/>
                <a:ea typeface="楷体_GB2312" pitchFamily="49" charset="-122"/>
              </a:rPr>
              <a:t>条件编译命令主要有三种相似的形式。</a:t>
            </a:r>
          </a:p>
          <a:p>
            <a:pPr marL="538163"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(1)  #</a:t>
            </a:r>
            <a:r>
              <a:rPr kumimoji="1" lang="en-US" altLang="zh-CN" dirty="0" err="1">
                <a:latin typeface="楷体_GB2312" pitchFamily="49" charset="-122"/>
                <a:ea typeface="楷体_GB2312" pitchFamily="49" charset="-122"/>
              </a:rPr>
              <a:t>ifdef</a:t>
            </a:r>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标识符</a:t>
            </a:r>
          </a:p>
          <a:p>
            <a:pPr marL="538163" lvl="3" algn="l" defTabSz="893763"/>
            <a:r>
              <a:rPr kumimoji="1" lang="zh-CN" altLang="en-US" dirty="0">
                <a:latin typeface="楷体_GB2312" pitchFamily="49" charset="-122"/>
                <a:ea typeface="楷体_GB2312" pitchFamily="49" charset="-122"/>
              </a:rPr>
              <a:t>          程序段</a:t>
            </a:r>
            <a:r>
              <a:rPr kumimoji="1" lang="en-US" altLang="zh-CN" dirty="0">
                <a:latin typeface="楷体_GB2312" pitchFamily="49" charset="-122"/>
                <a:ea typeface="楷体_GB2312" pitchFamily="49" charset="-122"/>
              </a:rPr>
              <a:t>1</a:t>
            </a:r>
          </a:p>
          <a:p>
            <a:pPr marL="538163" lvl="3" algn="l" defTabSz="893763"/>
            <a:r>
              <a:rPr kumimoji="1" lang="en-US" altLang="zh-CN" dirty="0">
                <a:latin typeface="楷体_GB2312" pitchFamily="49" charset="-122"/>
                <a:ea typeface="楷体_GB2312" pitchFamily="49" charset="-122"/>
              </a:rPr>
              <a:t>      #else</a:t>
            </a:r>
          </a:p>
          <a:p>
            <a:pPr marL="538163" lvl="3" algn="l" defTabSz="893763"/>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程序段</a:t>
            </a:r>
            <a:r>
              <a:rPr kumimoji="1" lang="en-US" altLang="zh-CN" dirty="0">
                <a:latin typeface="楷体_GB2312" pitchFamily="49" charset="-122"/>
                <a:ea typeface="楷体_GB2312" pitchFamily="49" charset="-122"/>
              </a:rPr>
              <a:t>2</a:t>
            </a:r>
          </a:p>
          <a:p>
            <a:pPr marL="538163" lvl="3"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a:p>
            <a:pPr marL="538163" lvl="3" algn="l" defTabSz="893763"/>
            <a:r>
              <a:rPr kumimoji="1" lang="zh-CN" altLang="en-US" dirty="0">
                <a:latin typeface="楷体_GB2312" pitchFamily="49" charset="-122"/>
                <a:ea typeface="楷体_GB2312" pitchFamily="49" charset="-122"/>
              </a:rPr>
              <a:t>当标识符已被定义</a:t>
            </a:r>
            <a:r>
              <a:rPr kumimoji="1" lang="en-US" altLang="zh-CN" dirty="0">
                <a:latin typeface="楷体_GB2312" pitchFamily="49" charset="-122"/>
                <a:ea typeface="楷体_GB2312" pitchFamily="49" charset="-122"/>
              </a:rPr>
              <a:t>(</a:t>
            </a:r>
            <a:r>
              <a:rPr kumimoji="1" lang="zh-CN" altLang="en-US" dirty="0">
                <a:latin typeface="楷体_GB2312" pitchFamily="49" charset="-122"/>
                <a:ea typeface="楷体_GB2312" pitchFamily="49" charset="-122"/>
              </a:rPr>
              <a:t>常用宏定义</a:t>
            </a:r>
            <a:r>
              <a:rPr kumimoji="1" lang="en-US" altLang="zh-CN" dirty="0">
                <a:latin typeface="楷体_GB2312" pitchFamily="49" charset="-122"/>
                <a:ea typeface="楷体_GB2312" pitchFamily="49" charset="-122"/>
              </a:rPr>
              <a:t>)</a:t>
            </a:r>
            <a:r>
              <a:rPr kumimoji="1" lang="zh-CN" altLang="en-US" dirty="0">
                <a:latin typeface="楷体_GB2312" pitchFamily="49" charset="-122"/>
                <a:ea typeface="楷体_GB2312" pitchFamily="49" charset="-122"/>
              </a:rPr>
              <a:t>，则程序段</a:t>
            </a:r>
            <a:r>
              <a:rPr kumimoji="1" lang="en-US" altLang="zh-CN" dirty="0">
                <a:latin typeface="楷体_GB2312" pitchFamily="49" charset="-122"/>
                <a:ea typeface="楷体_GB2312" pitchFamily="49" charset="-122"/>
              </a:rPr>
              <a:t>1</a:t>
            </a:r>
            <a:r>
              <a:rPr kumimoji="1" lang="zh-CN" altLang="en-US" dirty="0">
                <a:latin typeface="楷体_GB2312" pitchFamily="49" charset="-122"/>
                <a:ea typeface="楷体_GB2312" pitchFamily="49" charset="-122"/>
              </a:rPr>
              <a:t>参与编译，程序段</a:t>
            </a:r>
            <a:r>
              <a:rPr kumimoji="1" lang="en-US" altLang="zh-CN" dirty="0">
                <a:latin typeface="楷体_GB2312" pitchFamily="49" charset="-122"/>
                <a:ea typeface="楷体_GB2312" pitchFamily="49" charset="-122"/>
              </a:rPr>
              <a:t>2</a:t>
            </a:r>
            <a:r>
              <a:rPr kumimoji="1" lang="zh-CN" altLang="en-US" dirty="0">
                <a:latin typeface="楷体_GB2312" pitchFamily="49" charset="-122"/>
                <a:ea typeface="楷体_GB2312" pitchFamily="49" charset="-122"/>
              </a:rPr>
              <a:t>不参与编译；否则，反之。</a:t>
            </a:r>
            <a:endParaRPr kumimoji="1" lang="en-US" altLang="zh-CN" dirty="0">
              <a:latin typeface="楷体_GB2312" pitchFamily="49" charset="-122"/>
              <a:ea typeface="楷体_GB2312" pitchFamily="49" charset="-122"/>
            </a:endParaRPr>
          </a:p>
          <a:p>
            <a:pPr marL="538163" lvl="3" algn="l" defTabSz="893763"/>
            <a:endParaRPr kumimoji="1" lang="en-US" altLang="zh-CN" dirty="0">
              <a:latin typeface="楷体_GB2312" pitchFamily="49" charset="-122"/>
              <a:ea typeface="楷体_GB2312" pitchFamily="49" charset="-122"/>
            </a:endParaRPr>
          </a:p>
          <a:p>
            <a:pPr marL="538163" lvl="3" algn="l" defTabSz="893763"/>
            <a:r>
              <a:rPr kumimoji="1" lang="zh-CN" altLang="en-US" dirty="0">
                <a:latin typeface="楷体_GB2312" pitchFamily="49" charset="-122"/>
                <a:ea typeface="楷体_GB2312" pitchFamily="49" charset="-122"/>
              </a:rPr>
              <a:t>其中的标识符只要求是否已被定义，与标识符被定义成什么是无关的。如果标识符只用于这个目的，常用以下形式的宏定义来定义这类标识符：</a:t>
            </a:r>
          </a:p>
          <a:p>
            <a:pPr marL="538163"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#define  </a:t>
            </a:r>
            <a:r>
              <a:rPr kumimoji="1" lang="zh-CN" altLang="en-US" dirty="0">
                <a:latin typeface="楷体_GB2312" pitchFamily="49" charset="-122"/>
                <a:ea typeface="楷体_GB2312" pitchFamily="49" charset="-122"/>
              </a:rPr>
              <a:t>标识符</a:t>
            </a:r>
          </a:p>
          <a:p>
            <a:pPr marL="538163" lvl="3" algn="l" defTabSz="893763"/>
            <a:r>
              <a:rPr kumimoji="1" lang="zh-CN" altLang="en-US" dirty="0">
                <a:latin typeface="楷体_GB2312" pitchFamily="49" charset="-122"/>
                <a:ea typeface="楷体_GB2312" pitchFamily="49" charset="-122"/>
              </a:rPr>
              <a:t>即标识符之后为空，直接以换行结束该宏定义命令。</a:t>
            </a:r>
          </a:p>
          <a:p>
            <a:pPr marL="538163" lvl="3" algn="l" defTabSz="893763"/>
            <a:r>
              <a:rPr kumimoji="1" lang="zh-CN" altLang="en-US" dirty="0">
                <a:latin typeface="楷体_GB2312" pitchFamily="49" charset="-122"/>
                <a:ea typeface="楷体_GB2312" pitchFamily="49" charset="-122"/>
              </a:rPr>
              <a:t>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4931">
                                            <p:txEl>
                                              <p:pRg st="8" end="8"/>
                                            </p:txEl>
                                          </p:spTgt>
                                        </p:tgtEl>
                                        <p:attrNameLst>
                                          <p:attrName>style.visibility</p:attrName>
                                        </p:attrNameLst>
                                      </p:cBhvr>
                                      <p:to>
                                        <p:strVal val="visible"/>
                                      </p:to>
                                    </p:set>
                                    <p:anim calcmode="lin" valueType="num">
                                      <p:cBhvr additive="base">
                                        <p:cTn id="7" dur="500" fill="hold"/>
                                        <p:tgtEl>
                                          <p:spTgt spid="124931">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931">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4931">
                                            <p:txEl>
                                              <p:pRg st="9" end="9"/>
                                            </p:txEl>
                                          </p:spTgt>
                                        </p:tgtEl>
                                        <p:attrNameLst>
                                          <p:attrName>style.visibility</p:attrName>
                                        </p:attrNameLst>
                                      </p:cBhvr>
                                      <p:to>
                                        <p:strVal val="visible"/>
                                      </p:to>
                                    </p:set>
                                    <p:anim calcmode="lin" valueType="num">
                                      <p:cBhvr additive="base">
                                        <p:cTn id="11" dur="500" fill="hold"/>
                                        <p:tgtEl>
                                          <p:spTgt spid="124931">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4931">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4931">
                                            <p:txEl>
                                              <p:pRg st="10" end="10"/>
                                            </p:txEl>
                                          </p:spTgt>
                                        </p:tgtEl>
                                        <p:attrNameLst>
                                          <p:attrName>style.visibility</p:attrName>
                                        </p:attrNameLst>
                                      </p:cBhvr>
                                      <p:to>
                                        <p:strVal val="visible"/>
                                      </p:to>
                                    </p:set>
                                    <p:anim calcmode="lin" valueType="num">
                                      <p:cBhvr additive="base">
                                        <p:cTn id="15" dur="500" fill="hold"/>
                                        <p:tgtEl>
                                          <p:spTgt spid="124931">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4931">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908E1228-B4B1-4AB0-90BD-3B45224764C3}" type="slidenum">
              <a:rPr lang="en-US" altLang="zh-CN"/>
              <a:pPr>
                <a:defRPr/>
              </a:pPr>
              <a:t>129</a:t>
            </a:fld>
            <a:endParaRPr lang="en-US" altLang="zh-CN"/>
          </a:p>
        </p:txBody>
      </p:sp>
      <p:sp>
        <p:nvSpPr>
          <p:cNvPr id="125955" name="Text Box 2"/>
          <p:cNvSpPr txBox="1">
            <a:spLocks noChangeArrowheads="1"/>
          </p:cNvSpPr>
          <p:nvPr/>
        </p:nvSpPr>
        <p:spPr bwMode="auto">
          <a:xfrm>
            <a:off x="0" y="620713"/>
            <a:ext cx="8820150" cy="2244709"/>
          </a:xfrm>
          <a:prstGeom prst="rect">
            <a:avLst/>
          </a:prstGeom>
          <a:noFill/>
          <a:ln w="9525">
            <a:noFill/>
            <a:miter lim="800000"/>
            <a:headEnd/>
            <a:tailEnd/>
          </a:ln>
        </p:spPr>
        <p:txBody>
          <a:bodyPr wrap="square" lIns="89401" tIns="44700" rIns="89401" bIns="44700">
            <a:spAutoFit/>
          </a:bodyPr>
          <a:lstStyle/>
          <a:p>
            <a:pPr marL="1341438" lvl="3" algn="l" defTabSz="893763"/>
            <a:r>
              <a:rPr kumimoji="1" lang="zh-CN" altLang="en-US" dirty="0">
                <a:latin typeface="楷体_GB2312" pitchFamily="49" charset="-122"/>
                <a:ea typeface="楷体_GB2312" pitchFamily="49" charset="-122"/>
              </a:rPr>
              <a:t>在上述一般形式中，如果程序段</a:t>
            </a:r>
            <a:r>
              <a:rPr kumimoji="1" lang="en-US" altLang="zh-CN" dirty="0">
                <a:latin typeface="楷体_GB2312" pitchFamily="49" charset="-122"/>
                <a:ea typeface="楷体_GB2312" pitchFamily="49" charset="-122"/>
              </a:rPr>
              <a:t>2 </a:t>
            </a:r>
            <a:r>
              <a:rPr kumimoji="1" lang="zh-CN" altLang="en-US" dirty="0">
                <a:latin typeface="楷体_GB2312" pitchFamily="49" charset="-122"/>
                <a:ea typeface="楷体_GB2312" pitchFamily="49" charset="-122"/>
              </a:rPr>
              <a:t>为空，则可简写成如下一般形式</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ifdef</a:t>
            </a:r>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标识符</a:t>
            </a:r>
          </a:p>
          <a:p>
            <a:pPr marL="1341438" lvl="3" algn="l" defTabSz="893763"/>
            <a:r>
              <a:rPr kumimoji="1" lang="zh-CN" altLang="en-US" dirty="0">
                <a:latin typeface="楷体_GB2312" pitchFamily="49" charset="-122"/>
                <a:ea typeface="楷体_GB2312" pitchFamily="49" charset="-122"/>
              </a:rPr>
              <a:t>         程序段</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B10B219A-DCB5-45F0-9C62-65A0C5672248}" type="slidenum">
              <a:rPr lang="en-US" altLang="zh-CN"/>
              <a:pPr>
                <a:defRPr/>
              </a:pPr>
              <a:t>130</a:t>
            </a:fld>
            <a:endParaRPr lang="en-US" altLang="zh-CN"/>
          </a:p>
        </p:txBody>
      </p:sp>
      <p:sp>
        <p:nvSpPr>
          <p:cNvPr id="129027" name="Text Box 2"/>
          <p:cNvSpPr txBox="1">
            <a:spLocks noChangeArrowheads="1"/>
          </p:cNvSpPr>
          <p:nvPr/>
        </p:nvSpPr>
        <p:spPr bwMode="auto">
          <a:xfrm>
            <a:off x="-468313" y="620713"/>
            <a:ext cx="9288463" cy="5640387"/>
          </a:xfrm>
          <a:prstGeom prst="rect">
            <a:avLst/>
          </a:prstGeom>
          <a:noFill/>
          <a:ln w="9525">
            <a:noFill/>
            <a:miter lim="800000"/>
            <a:headEnd/>
            <a:tailEnd/>
          </a:ln>
        </p:spPr>
        <p:txBody>
          <a:bodyPr lIns="89401" tIns="44700" rIns="89401" bIns="44700">
            <a:spAutoFit/>
          </a:bodyPr>
          <a:lstStyle/>
          <a:p>
            <a:pPr marL="1341438" lvl="3" algn="l" defTabSz="893763"/>
            <a:r>
              <a:rPr kumimoji="1" lang="en-US" altLang="zh-CN">
                <a:latin typeface="楷体_GB2312" pitchFamily="49" charset="-122"/>
                <a:ea typeface="楷体_GB2312" pitchFamily="49" charset="-122"/>
              </a:rPr>
              <a:t>  (2) #ifndef   </a:t>
            </a:r>
            <a:r>
              <a:rPr kumimoji="1" lang="zh-CN" altLang="en-US">
                <a:latin typeface="楷体_GB2312" pitchFamily="49" charset="-122"/>
                <a:ea typeface="楷体_GB2312" pitchFamily="49" charset="-122"/>
              </a:rPr>
              <a:t>标识符</a:t>
            </a:r>
          </a:p>
          <a:p>
            <a:pPr marL="1341438" lvl="3" algn="l" defTabSz="893763"/>
            <a:r>
              <a:rPr kumimoji="1" lang="zh-CN" altLang="en-US">
                <a:latin typeface="楷体_GB2312" pitchFamily="49" charset="-122"/>
                <a:ea typeface="楷体_GB2312" pitchFamily="49" charset="-122"/>
              </a:rPr>
              <a:t>          程序段</a:t>
            </a:r>
            <a:r>
              <a:rPr kumimoji="1" lang="en-US" altLang="zh-CN">
                <a:latin typeface="楷体_GB2312" pitchFamily="49" charset="-122"/>
                <a:ea typeface="楷体_GB2312" pitchFamily="49" charset="-122"/>
              </a:rPr>
              <a:t>1</a:t>
            </a:r>
          </a:p>
          <a:p>
            <a:pPr marL="1341438" lvl="3" algn="l" defTabSz="893763"/>
            <a:r>
              <a:rPr kumimoji="1" lang="en-US" altLang="zh-CN">
                <a:latin typeface="楷体_GB2312" pitchFamily="49" charset="-122"/>
                <a:ea typeface="楷体_GB2312" pitchFamily="49" charset="-122"/>
              </a:rPr>
              <a:t>       #else</a:t>
            </a:r>
          </a:p>
          <a:p>
            <a:pPr marL="1341438" lvl="3" algn="l" defTabSz="893763"/>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程序段</a:t>
            </a:r>
            <a:r>
              <a:rPr kumimoji="1" lang="en-US" altLang="zh-CN">
                <a:latin typeface="楷体_GB2312" pitchFamily="49" charset="-122"/>
                <a:ea typeface="楷体_GB2312" pitchFamily="49" charset="-122"/>
              </a:rPr>
              <a:t>2</a:t>
            </a:r>
          </a:p>
          <a:p>
            <a:pPr marL="1341438" lvl="3" algn="l" defTabSz="893763"/>
            <a:r>
              <a:rPr kumimoji="1" lang="en-US" altLang="zh-CN">
                <a:latin typeface="楷体_GB2312" pitchFamily="49" charset="-122"/>
                <a:ea typeface="楷体_GB2312" pitchFamily="49" charset="-122"/>
              </a:rPr>
              <a:t>       #endif</a:t>
            </a:r>
          </a:p>
          <a:p>
            <a:pPr marL="1341438" lvl="3" algn="l" defTabSz="893763"/>
            <a:r>
              <a:rPr kumimoji="1" lang="zh-CN" altLang="en-US">
                <a:latin typeface="楷体_GB2312" pitchFamily="49" charset="-122"/>
                <a:ea typeface="楷体_GB2312" pitchFamily="49" charset="-122"/>
              </a:rPr>
              <a:t>这种条件编译形式与前面介绍的形式的唯一差异是第一行的</a:t>
            </a:r>
            <a:r>
              <a:rPr kumimoji="1" lang="en-US" altLang="zh-CN">
                <a:latin typeface="楷体_GB2312" pitchFamily="49" charset="-122"/>
                <a:ea typeface="楷体_GB2312" pitchFamily="49" charset="-122"/>
              </a:rPr>
              <a:t>ifdef</a:t>
            </a:r>
            <a:r>
              <a:rPr kumimoji="1" lang="zh-CN" altLang="en-US">
                <a:latin typeface="楷体_GB2312" pitchFamily="49" charset="-122"/>
                <a:ea typeface="楷体_GB2312" pitchFamily="49" charset="-122"/>
              </a:rPr>
              <a:t>改为</a:t>
            </a:r>
            <a:r>
              <a:rPr kumimoji="1" lang="en-US" altLang="zh-CN">
                <a:latin typeface="楷体_GB2312" pitchFamily="49" charset="-122"/>
                <a:ea typeface="楷体_GB2312" pitchFamily="49" charset="-122"/>
              </a:rPr>
              <a:t>ifndef</a:t>
            </a:r>
            <a:r>
              <a:rPr kumimoji="1" lang="zh-CN" altLang="en-US">
                <a:latin typeface="楷体_GB2312" pitchFamily="49" charset="-122"/>
                <a:ea typeface="楷体_GB2312" pitchFamily="49" charset="-122"/>
              </a:rPr>
              <a:t>。其意义是当标识符未被定义时，程序段</a:t>
            </a:r>
            <a:r>
              <a:rPr kumimoji="1" lang="en-US" altLang="zh-CN">
                <a:latin typeface="楷体_GB2312" pitchFamily="49" charset="-122"/>
                <a:ea typeface="楷体_GB2312" pitchFamily="49" charset="-122"/>
              </a:rPr>
              <a:t>1</a:t>
            </a:r>
            <a:r>
              <a:rPr kumimoji="1" lang="zh-CN" altLang="en-US">
                <a:latin typeface="楷体_GB2312" pitchFamily="49" charset="-122"/>
                <a:ea typeface="楷体_GB2312" pitchFamily="49" charset="-122"/>
              </a:rPr>
              <a:t>参与编译，程序段</a:t>
            </a:r>
            <a:r>
              <a:rPr kumimoji="1" lang="en-US" altLang="zh-CN">
                <a:latin typeface="楷体_GB2312" pitchFamily="49" charset="-122"/>
                <a:ea typeface="楷体_GB2312" pitchFamily="49" charset="-122"/>
              </a:rPr>
              <a:t>2</a:t>
            </a:r>
            <a:r>
              <a:rPr kumimoji="1" lang="zh-CN" altLang="en-US">
                <a:latin typeface="楷体_GB2312" pitchFamily="49" charset="-122"/>
                <a:ea typeface="楷体_GB2312" pitchFamily="49" charset="-122"/>
              </a:rPr>
              <a:t>不参与编译；否则，反之。</a:t>
            </a:r>
          </a:p>
          <a:p>
            <a:pPr marL="1341438" lvl="3" algn="l" defTabSz="893763"/>
            <a:r>
              <a:rPr kumimoji="1" lang="zh-CN" altLang="en-US">
                <a:latin typeface="楷体_GB2312" pitchFamily="49" charset="-122"/>
                <a:ea typeface="楷体_GB2312" pitchFamily="49" charset="-122"/>
              </a:rPr>
              <a:t>在上述形式中，当程序段</a:t>
            </a:r>
            <a:r>
              <a:rPr kumimoji="1" lang="en-US" altLang="zh-CN">
                <a:latin typeface="楷体_GB2312" pitchFamily="49" charset="-122"/>
                <a:ea typeface="楷体_GB2312" pitchFamily="49" charset="-122"/>
              </a:rPr>
              <a:t>2</a:t>
            </a:r>
            <a:r>
              <a:rPr kumimoji="1" lang="zh-CN" altLang="en-US">
                <a:latin typeface="楷体_GB2312" pitchFamily="49" charset="-122"/>
                <a:ea typeface="楷体_GB2312" pitchFamily="49" charset="-122"/>
              </a:rPr>
              <a:t>不出现时，也可简写成</a:t>
            </a:r>
          </a:p>
          <a:p>
            <a:pPr marL="1341438" lvl="3" algn="l" defTabSz="893763"/>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#ifndef   </a:t>
            </a:r>
            <a:r>
              <a:rPr kumimoji="1" lang="zh-CN" altLang="en-US">
                <a:latin typeface="楷体_GB2312" pitchFamily="49" charset="-122"/>
                <a:ea typeface="楷体_GB2312" pitchFamily="49" charset="-122"/>
              </a:rPr>
              <a:t>标识符</a:t>
            </a:r>
          </a:p>
          <a:p>
            <a:pPr marL="1341438" lvl="3" algn="l" defTabSz="893763"/>
            <a:r>
              <a:rPr kumimoji="1" lang="zh-CN" altLang="en-US">
                <a:latin typeface="楷体_GB2312" pitchFamily="49" charset="-122"/>
                <a:ea typeface="楷体_GB2312" pitchFamily="49" charset="-122"/>
              </a:rPr>
              <a:t>       程序段</a:t>
            </a:r>
          </a:p>
          <a:p>
            <a:pPr marL="1341438" lvl="3" algn="l" defTabSz="893763"/>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#endif</a:t>
            </a:r>
          </a:p>
        </p:txBody>
      </p:sp>
    </p:spTree>
  </p:cSld>
  <p:clrMapOvr>
    <a:masterClrMapping/>
  </p:clrMapOvr>
  <p:transition>
    <p:blinds/>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D21F5E9-1860-4FBC-842E-15894FC68C1E}" type="slidenum">
              <a:rPr lang="en-US" altLang="zh-CN"/>
              <a:pPr>
                <a:defRPr/>
              </a:pPr>
              <a:t>131</a:t>
            </a:fld>
            <a:endParaRPr lang="en-US" altLang="zh-CN"/>
          </a:p>
        </p:txBody>
      </p:sp>
      <p:sp>
        <p:nvSpPr>
          <p:cNvPr id="130051" name="Text Box 2"/>
          <p:cNvSpPr txBox="1">
            <a:spLocks noChangeArrowheads="1"/>
          </p:cNvSpPr>
          <p:nvPr/>
        </p:nvSpPr>
        <p:spPr bwMode="auto">
          <a:xfrm>
            <a:off x="-684213" y="620713"/>
            <a:ext cx="9504363" cy="6067425"/>
          </a:xfrm>
          <a:prstGeom prst="rect">
            <a:avLst/>
          </a:prstGeom>
          <a:noFill/>
          <a:ln w="9525">
            <a:noFill/>
            <a:miter lim="800000"/>
            <a:headEnd/>
            <a:tailEnd/>
          </a:ln>
        </p:spPr>
        <p:txBody>
          <a:bodyPr lIns="89401" tIns="44700" rIns="89401" bIns="44700">
            <a:spAutoFit/>
          </a:bodyPr>
          <a:lstStyle/>
          <a:p>
            <a:pPr marL="1341438" lvl="3" algn="l" defTabSz="893763"/>
            <a:r>
              <a:rPr kumimoji="1" lang="en-US" altLang="zh-CN" dirty="0">
                <a:latin typeface="楷体_GB2312" pitchFamily="49" charset="-122"/>
                <a:ea typeface="楷体_GB2312" pitchFamily="49" charset="-122"/>
              </a:rPr>
              <a:t>(3) #if   </a:t>
            </a:r>
            <a:r>
              <a:rPr kumimoji="1" lang="zh-CN" altLang="en-US" dirty="0">
                <a:latin typeface="楷体_GB2312" pitchFamily="49" charset="-122"/>
                <a:ea typeface="楷体_GB2312" pitchFamily="49" charset="-122"/>
              </a:rPr>
              <a:t>表达式</a:t>
            </a:r>
          </a:p>
          <a:p>
            <a:pPr marL="1341438" lvl="3" algn="l" defTabSz="893763"/>
            <a:r>
              <a:rPr kumimoji="1" lang="zh-CN" altLang="en-US" dirty="0">
                <a:latin typeface="楷体_GB2312" pitchFamily="49" charset="-122"/>
                <a:ea typeface="楷体_GB2312" pitchFamily="49" charset="-122"/>
              </a:rPr>
              <a:t>        程序段</a:t>
            </a:r>
            <a:r>
              <a:rPr kumimoji="1" lang="en-US" altLang="zh-CN" dirty="0">
                <a:latin typeface="楷体_GB2312" pitchFamily="49" charset="-122"/>
                <a:ea typeface="楷体_GB2312" pitchFamily="49" charset="-122"/>
              </a:rPr>
              <a:t>1</a:t>
            </a:r>
          </a:p>
          <a:p>
            <a:pPr marL="1341438" lvl="3" algn="l" defTabSz="893763"/>
            <a:r>
              <a:rPr kumimoji="1" lang="en-US" altLang="zh-CN" dirty="0">
                <a:latin typeface="楷体_GB2312" pitchFamily="49" charset="-122"/>
                <a:ea typeface="楷体_GB2312" pitchFamily="49" charset="-122"/>
              </a:rPr>
              <a:t>    #else</a:t>
            </a:r>
          </a:p>
          <a:p>
            <a:pPr marL="1341438" lvl="3" algn="l" defTabSz="893763"/>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程序段</a:t>
            </a:r>
            <a:r>
              <a:rPr kumimoji="1" lang="en-US" altLang="zh-CN" dirty="0">
                <a:latin typeface="楷体_GB2312" pitchFamily="49" charset="-122"/>
                <a:ea typeface="楷体_GB2312" pitchFamily="49" charset="-122"/>
              </a:rPr>
              <a:t>2</a:t>
            </a:r>
          </a:p>
          <a:p>
            <a:pPr marL="1341438" lvl="3"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a:p>
            <a:pPr marL="1341438" lvl="3" algn="l" defTabSz="893763"/>
            <a:r>
              <a:rPr kumimoji="1" lang="zh-CN" altLang="en-US" dirty="0">
                <a:latin typeface="楷体_GB2312" pitchFamily="49" charset="-122"/>
                <a:ea typeface="楷体_GB2312" pitchFamily="49" charset="-122"/>
              </a:rPr>
              <a:t>其中表达式为常量表达式，其意义是当指定的表达式值为非零时，程序段</a:t>
            </a:r>
            <a:r>
              <a:rPr kumimoji="1" lang="en-US" altLang="zh-CN" dirty="0">
                <a:latin typeface="楷体_GB2312" pitchFamily="49" charset="-122"/>
                <a:ea typeface="楷体_GB2312" pitchFamily="49" charset="-122"/>
              </a:rPr>
              <a:t>1</a:t>
            </a:r>
            <a:r>
              <a:rPr kumimoji="1" lang="zh-CN" altLang="en-US" dirty="0">
                <a:latin typeface="楷体_GB2312" pitchFamily="49" charset="-122"/>
                <a:ea typeface="楷体_GB2312" pitchFamily="49" charset="-122"/>
              </a:rPr>
              <a:t>参与编译，程序段</a:t>
            </a:r>
            <a:r>
              <a:rPr kumimoji="1" lang="en-US" altLang="zh-CN" dirty="0">
                <a:latin typeface="楷体_GB2312" pitchFamily="49" charset="-122"/>
                <a:ea typeface="楷体_GB2312" pitchFamily="49" charset="-122"/>
              </a:rPr>
              <a:t>2</a:t>
            </a:r>
            <a:r>
              <a:rPr kumimoji="1" lang="zh-CN" altLang="en-US" dirty="0">
                <a:latin typeface="楷体_GB2312" pitchFamily="49" charset="-122"/>
                <a:ea typeface="楷体_GB2312" pitchFamily="49" charset="-122"/>
              </a:rPr>
              <a:t>不参与编译；否则，反之。</a:t>
            </a:r>
          </a:p>
          <a:p>
            <a:pPr marL="1341438" lvl="3" algn="l" defTabSz="893763"/>
            <a:r>
              <a:rPr kumimoji="1" lang="zh-CN" altLang="en-US" dirty="0">
                <a:latin typeface="楷体_GB2312" pitchFamily="49" charset="-122"/>
                <a:ea typeface="楷体_GB2312" pitchFamily="49" charset="-122"/>
              </a:rPr>
              <a:t>这种形式的预处理命令能使系统根据给定的条件确定哪个程序段参与编译，哪个程序段不参与编译。</a:t>
            </a:r>
          </a:p>
          <a:p>
            <a:pPr marL="1341438" lvl="3" algn="l" defTabSz="893763"/>
            <a:r>
              <a:rPr kumimoji="1" lang="zh-CN" altLang="en-US" dirty="0">
                <a:latin typeface="楷体_GB2312" pitchFamily="49" charset="-122"/>
                <a:ea typeface="楷体_GB2312" pitchFamily="49" charset="-122"/>
              </a:rPr>
              <a:t>当程序段</a:t>
            </a:r>
            <a:r>
              <a:rPr kumimoji="1" lang="en-US" altLang="zh-CN" dirty="0">
                <a:latin typeface="楷体_GB2312" pitchFamily="49" charset="-122"/>
                <a:ea typeface="楷体_GB2312" pitchFamily="49" charset="-122"/>
              </a:rPr>
              <a:t>2</a:t>
            </a:r>
            <a:r>
              <a:rPr kumimoji="1" lang="zh-CN" altLang="en-US" dirty="0">
                <a:latin typeface="楷体_GB2312" pitchFamily="49" charset="-122"/>
                <a:ea typeface="楷体_GB2312" pitchFamily="49" charset="-122"/>
              </a:rPr>
              <a:t>不出现时，也可简写为</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#if   </a:t>
            </a:r>
            <a:r>
              <a:rPr kumimoji="1" lang="zh-CN" altLang="en-US" dirty="0">
                <a:latin typeface="楷体_GB2312" pitchFamily="49" charset="-122"/>
                <a:ea typeface="楷体_GB2312" pitchFamily="49" charset="-122"/>
              </a:rPr>
              <a:t>表达式</a:t>
            </a:r>
          </a:p>
          <a:p>
            <a:pPr marL="1341438" lvl="3" algn="l" defTabSz="893763"/>
            <a:r>
              <a:rPr kumimoji="1" lang="zh-CN" altLang="en-US" dirty="0">
                <a:latin typeface="楷体_GB2312" pitchFamily="49" charset="-122"/>
                <a:ea typeface="楷体_GB2312" pitchFamily="49" charset="-122"/>
              </a:rPr>
              <a:t>         程序段</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D408948B-879C-4B3B-B6F9-52400DC44CC8}" type="slidenum">
              <a:rPr lang="en-US" altLang="zh-CN"/>
              <a:pPr>
                <a:defRPr/>
              </a:pPr>
              <a:t>132</a:t>
            </a:fld>
            <a:endParaRPr lang="en-US" altLang="zh-CN"/>
          </a:p>
        </p:txBody>
      </p:sp>
      <p:sp>
        <p:nvSpPr>
          <p:cNvPr id="131075" name="Text Box 2"/>
          <p:cNvSpPr txBox="1">
            <a:spLocks noChangeArrowheads="1"/>
          </p:cNvSpPr>
          <p:nvPr/>
        </p:nvSpPr>
        <p:spPr bwMode="auto">
          <a:xfrm>
            <a:off x="467544" y="620713"/>
            <a:ext cx="8352606" cy="5260919"/>
          </a:xfrm>
          <a:prstGeom prst="rect">
            <a:avLst/>
          </a:prstGeom>
          <a:noFill/>
          <a:ln w="9525">
            <a:noFill/>
            <a:miter lim="800000"/>
            <a:headEnd/>
            <a:tailEnd/>
          </a:ln>
        </p:spPr>
        <p:txBody>
          <a:bodyPr wrap="square" lIns="89401" tIns="44700" rIns="89401" bIns="44700">
            <a:spAutoFit/>
          </a:bodyPr>
          <a:lstStyle/>
          <a:p>
            <a:pPr marL="0" lvl="3" algn="l" defTabSz="893763"/>
            <a:r>
              <a:rPr kumimoji="1" lang="zh-CN" altLang="en-US" dirty="0">
                <a:latin typeface="楷体_GB2312" pitchFamily="49" charset="-122"/>
                <a:ea typeface="楷体_GB2312" pitchFamily="49" charset="-122"/>
              </a:rPr>
              <a:t>条件编译与</a:t>
            </a:r>
            <a:r>
              <a:rPr kumimoji="1" lang="en-US" altLang="zh-CN" dirty="0">
                <a:latin typeface="楷体_GB2312" pitchFamily="49" charset="-122"/>
                <a:ea typeface="楷体_GB2312" pitchFamily="49" charset="-122"/>
              </a:rPr>
              <a:t>if</a:t>
            </a:r>
            <a:r>
              <a:rPr kumimoji="1" lang="zh-CN" altLang="en-US" dirty="0">
                <a:latin typeface="楷体_GB2312" pitchFamily="49" charset="-122"/>
                <a:ea typeface="楷体_GB2312" pitchFamily="49" charset="-122"/>
              </a:rPr>
              <a:t>语句有重要区别，条件编译是在预处理时判定的，不产生判定代码，其中一个不满足条件的程序段不参与编译，不会产生代码。</a:t>
            </a:r>
            <a:r>
              <a:rPr kumimoji="1" lang="en-US" altLang="zh-CN" dirty="0">
                <a:latin typeface="楷体_GB2312" pitchFamily="49" charset="-122"/>
                <a:ea typeface="楷体_GB2312" pitchFamily="49" charset="-122"/>
              </a:rPr>
              <a:t>if</a:t>
            </a:r>
            <a:r>
              <a:rPr kumimoji="1" lang="zh-CN" altLang="en-US" dirty="0">
                <a:latin typeface="楷体_GB2312" pitchFamily="49" charset="-122"/>
                <a:ea typeface="楷体_GB2312" pitchFamily="49" charset="-122"/>
              </a:rPr>
              <a:t>语句是在运行时判定的，且编译产生判定代码和两个分支程序段的代码。因此，条件编译可减少目标程序长度，能提高程序执行速度。但条件编译只能测试常量表达式，而</a:t>
            </a:r>
            <a:r>
              <a:rPr kumimoji="1" lang="en-US" altLang="zh-CN" dirty="0">
                <a:latin typeface="楷体_GB2312" pitchFamily="49" charset="-122"/>
                <a:ea typeface="楷体_GB2312" pitchFamily="49" charset="-122"/>
              </a:rPr>
              <a:t>if</a:t>
            </a:r>
            <a:r>
              <a:rPr kumimoji="1" lang="zh-CN" altLang="en-US" dirty="0">
                <a:latin typeface="楷体_GB2312" pitchFamily="49" charset="-122"/>
                <a:ea typeface="楷体_GB2312" pitchFamily="49" charset="-122"/>
              </a:rPr>
              <a:t>语句能对表达式作动态测试。</a:t>
            </a:r>
            <a:endParaRPr kumimoji="1" lang="en-US" altLang="zh-CN" dirty="0">
              <a:latin typeface="楷体_GB2312" pitchFamily="49" charset="-122"/>
              <a:ea typeface="楷体_GB2312" pitchFamily="49" charset="-122"/>
            </a:endParaRPr>
          </a:p>
          <a:p>
            <a:pPr marL="0" lvl="3" algn="l" defTabSz="893763"/>
            <a:endParaRPr kumimoji="1" lang="en-US" altLang="zh-CN" dirty="0">
              <a:latin typeface="楷体_GB2312" pitchFamily="49" charset="-122"/>
              <a:ea typeface="楷体_GB2312" pitchFamily="49" charset="-122"/>
            </a:endParaRPr>
          </a:p>
          <a:p>
            <a:pPr marL="0" lvl="3" algn="l" defTabSz="893763"/>
            <a:endParaRPr kumimoji="1" lang="en-US" altLang="zh-CN" dirty="0">
              <a:latin typeface="楷体_GB2312" pitchFamily="49" charset="-122"/>
              <a:ea typeface="楷体_GB2312" pitchFamily="49" charset="-122"/>
            </a:endParaRPr>
          </a:p>
          <a:p>
            <a:pPr marL="0" lvl="3" algn="l" defTabSz="893763"/>
            <a:r>
              <a:rPr kumimoji="1" lang="zh-CN" altLang="en-US" dirty="0">
                <a:latin typeface="楷体_GB2312" pitchFamily="49" charset="-122"/>
                <a:ea typeface="楷体_GB2312" pitchFamily="49" charset="-122"/>
              </a:rPr>
              <a:t>条件编译预处理命令也可呈嵌套结构。特别是为了便于描述 </a:t>
            </a:r>
            <a:r>
              <a:rPr kumimoji="1" lang="en-US" altLang="zh-CN" dirty="0">
                <a:latin typeface="楷体_GB2312" pitchFamily="49" charset="-122"/>
                <a:ea typeface="楷体_GB2312" pitchFamily="49" charset="-122"/>
              </a:rPr>
              <a:t>#else </a:t>
            </a:r>
            <a:r>
              <a:rPr kumimoji="1" lang="zh-CN" altLang="en-US" dirty="0">
                <a:latin typeface="楷体_GB2312" pitchFamily="49" charset="-122"/>
                <a:ea typeface="楷体_GB2312" pitchFamily="49" charset="-122"/>
              </a:rPr>
              <a:t>后的程序段又是条件编译情况，引入预处理理命令符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elif</a:t>
            </a:r>
            <a:r>
              <a:rPr kumimoji="1" lang="zh-CN" altLang="en-US" dirty="0">
                <a:latin typeface="楷体_GB2312" pitchFamily="49" charset="-122"/>
                <a:ea typeface="楷体_GB2312" pitchFamily="49" charset="-122"/>
              </a:rPr>
              <a:t>。它的意思就是</a:t>
            </a:r>
            <a:r>
              <a:rPr kumimoji="1" lang="en-US" altLang="zh-CN" dirty="0">
                <a:latin typeface="楷体_GB2312" pitchFamily="49" charset="-122"/>
                <a:ea typeface="楷体_GB2312" pitchFamily="49" charset="-122"/>
              </a:rPr>
              <a:t>#else #if</a:t>
            </a:r>
            <a:endParaRPr kumimoji="1" lang="zh-CN" altLang="en-US"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075">
                                            <p:txEl>
                                              <p:pRg st="3" end="3"/>
                                            </p:txEl>
                                          </p:spTgt>
                                        </p:tgtEl>
                                        <p:attrNameLst>
                                          <p:attrName>style.visibility</p:attrName>
                                        </p:attrNameLst>
                                      </p:cBhvr>
                                      <p:to>
                                        <p:strVal val="visible"/>
                                      </p:to>
                                    </p:set>
                                    <p:anim calcmode="lin" valueType="num">
                                      <p:cBhvr additive="base">
                                        <p:cTn id="7" dur="500" fill="hold"/>
                                        <p:tgtEl>
                                          <p:spTgt spid="13107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0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095EDBB-B7BB-472A-926B-FA95AEFBA430}" type="slidenum">
              <a:rPr lang="en-US" altLang="zh-CN"/>
              <a:pPr>
                <a:defRPr/>
              </a:pPr>
              <a:t>133</a:t>
            </a:fld>
            <a:endParaRPr lang="en-US" altLang="zh-CN"/>
          </a:p>
        </p:txBody>
      </p:sp>
      <p:sp>
        <p:nvSpPr>
          <p:cNvPr id="126979" name="Text Box 2"/>
          <p:cNvSpPr txBox="1">
            <a:spLocks noChangeArrowheads="1"/>
          </p:cNvSpPr>
          <p:nvPr/>
        </p:nvSpPr>
        <p:spPr bwMode="auto">
          <a:xfrm>
            <a:off x="-323850" y="620713"/>
            <a:ext cx="9144000" cy="5260919"/>
          </a:xfrm>
          <a:prstGeom prst="rect">
            <a:avLst/>
          </a:prstGeom>
          <a:noFill/>
          <a:ln w="9525">
            <a:noFill/>
            <a:miter lim="800000"/>
            <a:headEnd/>
            <a:tailEnd/>
          </a:ln>
        </p:spPr>
        <p:txBody>
          <a:bodyPr lIns="89401" tIns="44700" rIns="89401" bIns="44700">
            <a:spAutoFit/>
          </a:bodyPr>
          <a:lstStyle/>
          <a:p>
            <a:pPr marL="1341438" lvl="3" algn="l" defTabSz="893763"/>
            <a:r>
              <a:rPr kumimoji="1" lang="zh-CN" altLang="en-US" dirty="0">
                <a:latin typeface="楷体_GB2312" pitchFamily="49" charset="-122"/>
                <a:ea typeface="楷体_GB2312" pitchFamily="49" charset="-122"/>
              </a:rPr>
              <a:t>条件编译可以提高系统的可移植性：</a:t>
            </a:r>
            <a:endParaRPr kumimoji="1" lang="en-US" altLang="zh-CN" dirty="0">
              <a:latin typeface="楷体_GB2312" pitchFamily="49" charset="-122"/>
              <a:ea typeface="楷体_GB2312" pitchFamily="49" charset="-122"/>
            </a:endParaRPr>
          </a:p>
          <a:p>
            <a:pPr marL="1341438" lvl="3" algn="l" defTabSz="893763"/>
            <a:r>
              <a:rPr kumimoji="1" lang="zh-CN" altLang="en-US" dirty="0">
                <a:latin typeface="楷体_GB2312" pitchFamily="49" charset="-122"/>
                <a:ea typeface="楷体_GB2312" pitchFamily="49" charset="-122"/>
              </a:rPr>
              <a:t>把不同机型的整型量内部表示的差异描述成条件编译命令。</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ifdef</a:t>
            </a:r>
            <a:r>
              <a:rPr kumimoji="1" lang="en-US" altLang="zh-CN" dirty="0">
                <a:latin typeface="楷体_GB2312" pitchFamily="49" charset="-122"/>
                <a:ea typeface="楷体_GB2312" pitchFamily="49" charset="-122"/>
              </a:rPr>
              <a:t>  HOMEYWELL</a:t>
            </a:r>
          </a:p>
          <a:p>
            <a:pPr marL="1341438" lvl="3" algn="l" defTabSz="893763"/>
            <a:r>
              <a:rPr kumimoji="1" lang="en-US" altLang="zh-CN" dirty="0">
                <a:latin typeface="楷体_GB2312" pitchFamily="49" charset="-122"/>
                <a:ea typeface="楷体_GB2312" pitchFamily="49" charset="-122"/>
              </a:rPr>
              <a:t>       #define SHORT_SIZE  36</a:t>
            </a:r>
          </a:p>
          <a:p>
            <a:pPr marL="1341438" lvl="3" algn="l" defTabSz="893763"/>
            <a:r>
              <a:rPr kumimoji="1" lang="en-US" altLang="zh-CN" dirty="0">
                <a:latin typeface="楷体_GB2312" pitchFamily="49" charset="-122"/>
                <a:ea typeface="楷体_GB2312" pitchFamily="49" charset="-122"/>
              </a:rPr>
              <a:t>       #define INT_SIZE    36</a:t>
            </a:r>
          </a:p>
          <a:p>
            <a:pPr marL="1341438" lvl="3" algn="l" defTabSz="893763"/>
            <a:r>
              <a:rPr kumimoji="1" lang="en-US" altLang="zh-CN" dirty="0">
                <a:latin typeface="楷体_GB2312" pitchFamily="49" charset="-122"/>
                <a:ea typeface="楷体_GB2312" pitchFamily="49" charset="-122"/>
              </a:rPr>
              <a:t>       #define LONG_SIZE   36</a:t>
            </a:r>
          </a:p>
          <a:p>
            <a:pPr marL="1341438" lvl="3" algn="l" defTabSz="893763"/>
            <a:r>
              <a:rPr kumimoji="1" lang="en-US" altLang="zh-CN" dirty="0">
                <a:latin typeface="楷体_GB2312" pitchFamily="49" charset="-122"/>
                <a:ea typeface="楷体_GB2312" pitchFamily="49" charset="-122"/>
              </a:rPr>
              <a:t>    #else</a:t>
            </a:r>
          </a:p>
          <a:p>
            <a:pPr marL="1341438" lvl="3" algn="l" defTabSz="893763"/>
            <a:r>
              <a:rPr kumimoji="1" lang="en-US" altLang="zh-CN" dirty="0">
                <a:latin typeface="楷体_GB2312" pitchFamily="49" charset="-122"/>
                <a:ea typeface="楷体_GB2312" pitchFamily="49" charset="-122"/>
              </a:rPr>
              <a:t>       #define SHORT_SIZE  16</a:t>
            </a:r>
          </a:p>
          <a:p>
            <a:pPr marL="1341438" lvl="3" algn="l" defTabSz="893763"/>
            <a:r>
              <a:rPr kumimoji="1" lang="en-US" altLang="zh-CN" dirty="0">
                <a:latin typeface="楷体_GB2312" pitchFamily="49" charset="-122"/>
                <a:ea typeface="楷体_GB2312" pitchFamily="49" charset="-122"/>
              </a:rPr>
              <a:t>       #define INT_SIZE   16</a:t>
            </a:r>
          </a:p>
          <a:p>
            <a:pPr marL="1341438" lvl="3" algn="l" defTabSz="893763"/>
            <a:r>
              <a:rPr kumimoji="1" lang="en-US" altLang="zh-CN" dirty="0">
                <a:latin typeface="楷体_GB2312" pitchFamily="49" charset="-122"/>
                <a:ea typeface="楷体_GB2312" pitchFamily="49" charset="-122"/>
              </a:rPr>
              <a:t>       #define LONG_SIZE   32</a:t>
            </a:r>
          </a:p>
          <a:p>
            <a:pPr marL="1341438" lvl="3"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p:txBody>
      </p:sp>
    </p:spTree>
  </p:cSld>
  <p:clrMapOvr>
    <a:masterClrMapping/>
  </p:clrMapOvr>
  <p:transition>
    <p:blinds/>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6E154D9A-6006-402A-930D-BFE9B0BFA20B}" type="slidenum">
              <a:rPr lang="en-US" altLang="zh-CN"/>
              <a:pPr>
                <a:defRPr/>
              </a:pPr>
              <a:t>134</a:t>
            </a:fld>
            <a:endParaRPr lang="en-US" altLang="zh-CN"/>
          </a:p>
        </p:txBody>
      </p:sp>
      <p:sp>
        <p:nvSpPr>
          <p:cNvPr id="132099" name="Text Box 2"/>
          <p:cNvSpPr txBox="1">
            <a:spLocks noChangeArrowheads="1"/>
          </p:cNvSpPr>
          <p:nvPr/>
        </p:nvSpPr>
        <p:spPr bwMode="auto">
          <a:xfrm>
            <a:off x="-468313" y="620713"/>
            <a:ext cx="9288463" cy="5213350"/>
          </a:xfrm>
          <a:prstGeom prst="rect">
            <a:avLst/>
          </a:prstGeom>
          <a:noFill/>
          <a:ln w="9525">
            <a:noFill/>
            <a:miter lim="800000"/>
            <a:headEnd/>
            <a:tailEnd/>
          </a:ln>
        </p:spPr>
        <p:txBody>
          <a:bodyPr lIns="89401" tIns="44700" rIns="89401" bIns="44700">
            <a:spAutoFit/>
          </a:bodyPr>
          <a:lstStyle/>
          <a:p>
            <a:pPr marL="1341438" lvl="3" algn="l" defTabSz="893763"/>
            <a:r>
              <a:rPr kumimoji="1" lang="zh-CN" altLang="en-US" dirty="0">
                <a:latin typeface="楷体_GB2312" pitchFamily="49" charset="-122"/>
                <a:ea typeface="楷体_GB2312" pitchFamily="49" charset="-122"/>
              </a:rPr>
              <a:t>下面条件编译命令是测试宏名</a:t>
            </a:r>
            <a:r>
              <a:rPr kumimoji="1" lang="en-US" altLang="zh-CN" dirty="0">
                <a:latin typeface="楷体_GB2312" pitchFamily="49" charset="-122"/>
                <a:ea typeface="楷体_GB2312" pitchFamily="49" charset="-122"/>
              </a:rPr>
              <a:t>SYSTEM</a:t>
            </a:r>
            <a:r>
              <a:rPr kumimoji="1" lang="zh-CN" altLang="en-US" dirty="0">
                <a:latin typeface="楷体_GB2312" pitchFamily="49" charset="-122"/>
                <a:ea typeface="楷体_GB2312" pitchFamily="49" charset="-122"/>
              </a:rPr>
              <a:t>，以决定包含哪一个头文件。</a:t>
            </a:r>
          </a:p>
          <a:p>
            <a:pPr marL="1341438" lvl="3" algn="l" defTabSz="893763"/>
            <a:r>
              <a:rPr kumimoji="1" lang="en-US" altLang="zh-CN" dirty="0">
                <a:latin typeface="楷体_GB2312" pitchFamily="49" charset="-122"/>
                <a:ea typeface="楷体_GB2312" pitchFamily="49" charset="-122"/>
              </a:rPr>
              <a:t>#if SYSTEM == </a:t>
            </a:r>
            <a:r>
              <a:rPr kumimoji="1" lang="en-US" altLang="zh-CN" dirty="0" err="1">
                <a:latin typeface="楷体_GB2312" pitchFamily="49" charset="-122"/>
                <a:ea typeface="楷体_GB2312" pitchFamily="49" charset="-122"/>
              </a:rPr>
              <a:t>sysv</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    #define HDR </a:t>
            </a:r>
            <a:r>
              <a:rPr kumimoji="1" lang="en-US" altLang="zh-CN" dirty="0">
                <a:ea typeface="楷体_GB2312" pitchFamily="49" charset="-122"/>
              </a:rPr>
              <a:t>“</a:t>
            </a:r>
            <a:r>
              <a:rPr kumimoji="1" lang="en-US" altLang="zh-CN" dirty="0" err="1">
                <a:latin typeface="楷体_GB2312" pitchFamily="49" charset="-122"/>
                <a:ea typeface="楷体_GB2312" pitchFamily="49" charset="-122"/>
              </a:rPr>
              <a:t>sysv.h</a:t>
            </a:r>
            <a:r>
              <a:rPr kumimoji="1" lang="en-US" altLang="zh-CN" dirty="0">
                <a:ea typeface="楷体_GB2312" pitchFamily="49" charset="-122"/>
              </a:rPr>
              <a:t>”</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elif</a:t>
            </a:r>
            <a:r>
              <a:rPr kumimoji="1" lang="en-US" altLang="zh-CN" dirty="0">
                <a:latin typeface="楷体_GB2312" pitchFamily="49" charset="-122"/>
                <a:ea typeface="楷体_GB2312" pitchFamily="49" charset="-122"/>
              </a:rPr>
              <a:t> SYSTEM == BSD</a:t>
            </a:r>
          </a:p>
          <a:p>
            <a:pPr marL="1341438" lvl="3" algn="l" defTabSz="893763"/>
            <a:r>
              <a:rPr kumimoji="1" lang="en-US" altLang="zh-CN" dirty="0">
                <a:latin typeface="楷体_GB2312" pitchFamily="49" charset="-122"/>
                <a:ea typeface="楷体_GB2312" pitchFamily="49" charset="-122"/>
              </a:rPr>
              <a:t>    #define HDR  </a:t>
            </a:r>
            <a:r>
              <a:rPr kumimoji="1" lang="en-US" altLang="zh-CN" dirty="0">
                <a:ea typeface="楷体_GB2312" pitchFamily="49" charset="-122"/>
              </a:rPr>
              <a:t>“</a:t>
            </a:r>
            <a:r>
              <a:rPr kumimoji="1" lang="en-US" altLang="zh-CN" dirty="0" err="1">
                <a:latin typeface="楷体_GB2312" pitchFamily="49" charset="-122"/>
                <a:ea typeface="楷体_GB2312" pitchFamily="49" charset="-122"/>
              </a:rPr>
              <a:t>bsd.h</a:t>
            </a:r>
            <a:r>
              <a:rPr kumimoji="1" lang="en-US" altLang="zh-CN" dirty="0">
                <a:ea typeface="楷体_GB2312" pitchFamily="49" charset="-122"/>
              </a:rPr>
              <a:t>”</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elif</a:t>
            </a:r>
            <a:r>
              <a:rPr kumimoji="1" lang="en-US" altLang="zh-CN" dirty="0">
                <a:latin typeface="楷体_GB2312" pitchFamily="49" charset="-122"/>
                <a:ea typeface="楷体_GB2312" pitchFamily="49" charset="-122"/>
              </a:rPr>
              <a:t> SYSTEM == MSDOS</a:t>
            </a:r>
          </a:p>
          <a:p>
            <a:pPr marL="1341438" lvl="3" algn="l" defTabSz="893763"/>
            <a:r>
              <a:rPr kumimoji="1" lang="en-US" altLang="zh-CN" dirty="0">
                <a:latin typeface="楷体_GB2312" pitchFamily="49" charset="-122"/>
                <a:ea typeface="楷体_GB2312" pitchFamily="49" charset="-122"/>
              </a:rPr>
              <a:t>    #define HDR </a:t>
            </a:r>
            <a:r>
              <a:rPr kumimoji="1" lang="en-US" altLang="zh-CN" dirty="0">
                <a:ea typeface="楷体_GB2312" pitchFamily="49" charset="-122"/>
              </a:rPr>
              <a:t>“</a:t>
            </a:r>
            <a:r>
              <a:rPr kumimoji="1" lang="en-US" altLang="zh-CN" dirty="0" err="1">
                <a:latin typeface="楷体_GB2312" pitchFamily="49" charset="-122"/>
                <a:ea typeface="楷体_GB2312" pitchFamily="49" charset="-122"/>
              </a:rPr>
              <a:t>msdos.h</a:t>
            </a:r>
            <a:r>
              <a:rPr kumimoji="1" lang="en-US" altLang="zh-CN" dirty="0">
                <a:ea typeface="楷体_GB2312" pitchFamily="49" charset="-122"/>
              </a:rPr>
              <a:t>”</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#else</a:t>
            </a:r>
          </a:p>
          <a:p>
            <a:pPr marL="1341438" lvl="3" algn="l" defTabSz="893763"/>
            <a:r>
              <a:rPr kumimoji="1" lang="en-US" altLang="zh-CN" dirty="0">
                <a:latin typeface="楷体_GB2312" pitchFamily="49" charset="-122"/>
                <a:ea typeface="楷体_GB2312" pitchFamily="49" charset="-122"/>
              </a:rPr>
              <a:t>    #define HDR </a:t>
            </a:r>
            <a:r>
              <a:rPr kumimoji="1" lang="en-US" altLang="zh-CN" dirty="0">
                <a:ea typeface="楷体_GB2312" pitchFamily="49" charset="-122"/>
              </a:rPr>
              <a:t>“</a:t>
            </a:r>
            <a:r>
              <a:rPr kumimoji="1" lang="en-US" altLang="zh-CN" dirty="0" err="1">
                <a:latin typeface="楷体_GB2312" pitchFamily="49" charset="-122"/>
                <a:ea typeface="楷体_GB2312" pitchFamily="49" charset="-122"/>
              </a:rPr>
              <a:t>default.h</a:t>
            </a:r>
            <a:r>
              <a:rPr kumimoji="1" lang="en-US" altLang="zh-CN" dirty="0">
                <a:ea typeface="楷体_GB2312" pitchFamily="49" charset="-122"/>
              </a:rPr>
              <a:t>”</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a:p>
            <a:pPr marL="1341438" lvl="3" algn="l" defTabSz="893763"/>
            <a:r>
              <a:rPr kumimoji="1" lang="en-US" altLang="zh-CN" dirty="0">
                <a:latin typeface="楷体_GB2312" pitchFamily="49" charset="-122"/>
                <a:ea typeface="楷体_GB2312" pitchFamily="49" charset="-122"/>
              </a:rPr>
              <a:t>    #include HDR</a:t>
            </a:r>
          </a:p>
        </p:txBody>
      </p:sp>
    </p:spTree>
  </p:cSld>
  <p:clrMapOvr>
    <a:masterClrMapping/>
  </p:clrMapOvr>
  <p:transition>
    <p:blinds/>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213E192-75BE-446E-A914-8A767193C0C4}" type="slidenum">
              <a:rPr lang="en-US" altLang="zh-CN"/>
              <a:pPr>
                <a:defRPr/>
              </a:pPr>
              <a:t>135</a:t>
            </a:fld>
            <a:endParaRPr lang="en-US" altLang="zh-CN"/>
          </a:p>
        </p:txBody>
      </p:sp>
      <p:sp>
        <p:nvSpPr>
          <p:cNvPr id="128003" name="Text Box 2"/>
          <p:cNvSpPr txBox="1">
            <a:spLocks noChangeArrowheads="1"/>
          </p:cNvSpPr>
          <p:nvPr/>
        </p:nvSpPr>
        <p:spPr bwMode="auto">
          <a:xfrm>
            <a:off x="-541338" y="620713"/>
            <a:ext cx="9361488" cy="5691806"/>
          </a:xfrm>
          <a:prstGeom prst="rect">
            <a:avLst/>
          </a:prstGeom>
          <a:noFill/>
          <a:ln w="9525">
            <a:noFill/>
            <a:miter lim="800000"/>
            <a:headEnd/>
            <a:tailEnd/>
          </a:ln>
        </p:spPr>
        <p:txBody>
          <a:bodyPr lIns="89401" tIns="44700" rIns="89401" bIns="44700">
            <a:spAutoFit/>
          </a:bodyPr>
          <a:lstStyle/>
          <a:p>
            <a:pPr marL="1341438" lvl="3" algn="l" defTabSz="893763"/>
            <a:r>
              <a:rPr kumimoji="1" lang="zh-CN" altLang="en-US" dirty="0">
                <a:latin typeface="楷体_GB2312" pitchFamily="49" charset="-122"/>
                <a:ea typeface="楷体_GB2312" pitchFamily="49" charset="-122"/>
              </a:rPr>
              <a:t>条件编译另一种广泛的应用是在程序中插入调试状态下输出中间结果的代码。如：</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a:t>
            </a:r>
            <a:r>
              <a:rPr kumimoji="1" lang="en-US" altLang="zh-CN" dirty="0" err="1">
                <a:latin typeface="楷体_GB2312" pitchFamily="49" charset="-122"/>
                <a:ea typeface="楷体_GB2312" pitchFamily="49" charset="-122"/>
              </a:rPr>
              <a:t>ifdef</a:t>
            </a:r>
            <a:r>
              <a:rPr kumimoji="1" lang="en-US" altLang="zh-CN" dirty="0">
                <a:latin typeface="楷体_GB2312" pitchFamily="49" charset="-122"/>
                <a:ea typeface="楷体_GB2312" pitchFamily="49" charset="-122"/>
              </a:rPr>
              <a:t>  DEBUG</a:t>
            </a:r>
          </a:p>
          <a:p>
            <a:pPr marL="1341438" lvl="3"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printf</a:t>
            </a:r>
            <a:r>
              <a:rPr kumimoji="1" lang="en-US" altLang="zh-CN" dirty="0">
                <a:latin typeface="楷体_GB2312" pitchFamily="49" charset="-122"/>
                <a:ea typeface="楷体_GB2312" pitchFamily="49" charset="-122"/>
              </a:rPr>
              <a:t>("a=%d, b=%d\n", a, b);</a:t>
            </a:r>
          </a:p>
          <a:p>
            <a:pPr marL="1341438" lvl="3" algn="l" defTabSz="893763"/>
            <a:r>
              <a:rPr kumimoji="1" lang="en-US" altLang="zh-CN" dirty="0">
                <a:latin typeface="楷体_GB2312" pitchFamily="49" charset="-122"/>
                <a:ea typeface="楷体_GB2312" pitchFamily="49" charset="-122"/>
              </a:rPr>
              <a:t>    #</a:t>
            </a:r>
            <a:r>
              <a:rPr kumimoji="1" lang="en-US" altLang="zh-CN" dirty="0" err="1">
                <a:latin typeface="楷体_GB2312" pitchFamily="49" charset="-122"/>
                <a:ea typeface="楷体_GB2312" pitchFamily="49" charset="-122"/>
              </a:rPr>
              <a:t>endif</a:t>
            </a:r>
            <a:endParaRPr kumimoji="1" lang="en-US" altLang="zh-CN" dirty="0">
              <a:latin typeface="楷体_GB2312" pitchFamily="49" charset="-122"/>
              <a:ea typeface="楷体_GB2312" pitchFamily="49" charset="-122"/>
            </a:endParaRPr>
          </a:p>
          <a:p>
            <a:pPr marL="1341438" lvl="3" algn="l" defTabSz="893763"/>
            <a:r>
              <a:rPr kumimoji="1" lang="zh-CN" altLang="en-US" dirty="0">
                <a:latin typeface="楷体_GB2312" pitchFamily="49" charset="-122"/>
                <a:ea typeface="楷体_GB2312" pitchFamily="49" charset="-122"/>
              </a:rPr>
              <a:t>程序在调试状态下设置宏定义命令</a:t>
            </a:r>
          </a:p>
          <a:p>
            <a:pPr marL="1341438" lvl="3" algn="l" defTabSz="893763"/>
            <a:r>
              <a:rPr kumimoji="1" lang="zh-CN" altLang="en-US" dirty="0">
                <a:latin typeface="楷体_GB2312" pitchFamily="49" charset="-122"/>
                <a:ea typeface="楷体_GB2312" pitchFamily="49" charset="-122"/>
              </a:rPr>
              <a:t>    </a:t>
            </a:r>
            <a:r>
              <a:rPr kumimoji="1" lang="en-US" altLang="zh-CN" dirty="0">
                <a:latin typeface="楷体_GB2312" pitchFamily="49" charset="-122"/>
                <a:ea typeface="楷体_GB2312" pitchFamily="49" charset="-122"/>
              </a:rPr>
              <a:t>#define  BEBUG</a:t>
            </a:r>
          </a:p>
          <a:p>
            <a:pPr marL="1341438" lvl="3" algn="l" defTabSz="893763"/>
            <a:endParaRPr kumimoji="1" lang="en-US" altLang="zh-CN" dirty="0">
              <a:latin typeface="楷体_GB2312" pitchFamily="49" charset="-122"/>
              <a:ea typeface="楷体_GB2312" pitchFamily="49" charset="-122"/>
            </a:endParaRPr>
          </a:p>
          <a:p>
            <a:pPr marL="1341438" lvl="3" algn="l" defTabSz="893763"/>
            <a:r>
              <a:rPr kumimoji="1" lang="zh-CN" altLang="en-US" dirty="0">
                <a:latin typeface="楷体_GB2312" pitchFamily="49" charset="-122"/>
                <a:ea typeface="楷体_GB2312" pitchFamily="49" charset="-122"/>
              </a:rPr>
              <a:t>在要获得最终目标程序时，则不设置该命令。这样，在调试通过后，不必再修改程序，已获得了正确的最终程序。为了日后程序维护，将调试时使用的程序代码留在源程序中是专业程序员习惯采用的方法。</a:t>
            </a:r>
          </a:p>
        </p:txBody>
      </p:sp>
    </p:spTree>
    <p:extLst>
      <p:ext uri="{BB962C8B-B14F-4D97-AF65-F5344CB8AC3E}">
        <p14:creationId xmlns:p14="http://schemas.microsoft.com/office/powerpoint/2010/main" val="4141841591"/>
      </p:ext>
    </p:extLst>
  </p:cSld>
  <p:clrMapOvr>
    <a:masterClrMapping/>
  </p:clrMapOvr>
  <p:transition>
    <p:blinds/>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328654D-CDA6-E150-6EEE-7A7C0516BE59}"/>
              </a:ext>
            </a:extLst>
          </p:cNvPr>
          <p:cNvSpPr>
            <a:spLocks noGrp="1"/>
          </p:cNvSpPr>
          <p:nvPr>
            <p:ph type="sldNum" sz="quarter" idx="12"/>
          </p:nvPr>
        </p:nvSpPr>
        <p:spPr/>
        <p:txBody>
          <a:bodyPr/>
          <a:lstStyle/>
          <a:p>
            <a:pPr>
              <a:defRPr/>
            </a:pPr>
            <a:fld id="{F49E70A7-1F58-4C2E-8D93-0E5111D017F8}" type="slidenum">
              <a:rPr lang="en-US" altLang="zh-CN" smtClean="0"/>
              <a:pPr>
                <a:defRPr/>
              </a:pPr>
              <a:t>136</a:t>
            </a:fld>
            <a:endParaRPr lang="en-US" altLang="zh-CN"/>
          </a:p>
        </p:txBody>
      </p:sp>
      <p:sp>
        <p:nvSpPr>
          <p:cNvPr id="3" name="文本框 2">
            <a:extLst>
              <a:ext uri="{FF2B5EF4-FFF2-40B4-BE49-F238E27FC236}">
                <a16:creationId xmlns:a16="http://schemas.microsoft.com/office/drawing/2014/main" id="{E23B31CC-7506-E206-6BE3-985AF25B3B4B}"/>
              </a:ext>
            </a:extLst>
          </p:cNvPr>
          <p:cNvSpPr txBox="1"/>
          <p:nvPr/>
        </p:nvSpPr>
        <p:spPr>
          <a:xfrm>
            <a:off x="33736" y="476672"/>
            <a:ext cx="8784975" cy="5940088"/>
          </a:xfrm>
          <a:prstGeom prst="rect">
            <a:avLst/>
          </a:prstGeom>
          <a:noFill/>
        </p:spPr>
        <p:txBody>
          <a:bodyPr wrap="square" rtlCol="0">
            <a:spAutoFit/>
          </a:bodyPr>
          <a:lstStyle/>
          <a:p>
            <a:pPr algn="l"/>
            <a:r>
              <a:rPr lang="zh-CN" altLang="en-US" dirty="0">
                <a:solidFill>
                  <a:srgbClr val="FF0000"/>
                </a:solidFill>
              </a:rPr>
              <a:t>练习</a:t>
            </a:r>
            <a:r>
              <a:rPr lang="en-US" altLang="zh-CN" dirty="0">
                <a:solidFill>
                  <a:srgbClr val="FF0000"/>
                </a:solidFill>
              </a:rPr>
              <a:t>1</a:t>
            </a:r>
            <a:r>
              <a:rPr lang="zh-CN" altLang="en-US" dirty="0">
                <a:solidFill>
                  <a:srgbClr val="FF0000"/>
                </a:solidFill>
              </a:rPr>
              <a:t>：编写一个函数</a:t>
            </a:r>
            <a:endParaRPr lang="en-US" altLang="zh-CN" dirty="0">
              <a:solidFill>
                <a:srgbClr val="FF0000"/>
              </a:solidFill>
            </a:endParaRPr>
          </a:p>
          <a:p>
            <a:pPr algn="l"/>
            <a:r>
              <a:rPr lang="en-US" altLang="zh-CN" dirty="0">
                <a:solidFill>
                  <a:srgbClr val="FF0000"/>
                </a:solidFill>
              </a:rPr>
              <a:t>       int  </a:t>
            </a:r>
            <a:r>
              <a:rPr lang="en-US" altLang="zh-CN" dirty="0" err="1">
                <a:solidFill>
                  <a:srgbClr val="FF0000"/>
                </a:solidFill>
              </a:rPr>
              <a:t>isValid</a:t>
            </a:r>
            <a:r>
              <a:rPr lang="en-US" altLang="zh-CN" dirty="0">
                <a:solidFill>
                  <a:srgbClr val="FF0000"/>
                </a:solidFill>
              </a:rPr>
              <a:t>(char str[])</a:t>
            </a:r>
          </a:p>
          <a:p>
            <a:pPr algn="l"/>
            <a:r>
              <a:rPr lang="zh-CN" altLang="en-US" dirty="0"/>
              <a:t>判定字符串中的括号是否良好配对（分别返回</a:t>
            </a:r>
            <a:r>
              <a:rPr lang="en-US" altLang="zh-CN" dirty="0"/>
              <a:t>1</a:t>
            </a:r>
            <a:r>
              <a:rPr lang="zh-CN" altLang="en-US" dirty="0"/>
              <a:t>和</a:t>
            </a:r>
            <a:r>
              <a:rPr lang="en-US" altLang="zh-CN" dirty="0"/>
              <a:t>0</a:t>
            </a:r>
            <a:r>
              <a:rPr lang="zh-CN" altLang="en-US" dirty="0"/>
              <a:t>）</a:t>
            </a:r>
            <a:endParaRPr lang="en-US" altLang="zh-CN" dirty="0"/>
          </a:p>
          <a:p>
            <a:pPr algn="l"/>
            <a:endParaRPr lang="en-US" altLang="zh-CN" dirty="0"/>
          </a:p>
          <a:p>
            <a:pPr algn="l"/>
            <a:r>
              <a:rPr lang="zh-CN" altLang="en-US" dirty="0"/>
              <a:t>调用该函数的示例</a:t>
            </a:r>
            <a:r>
              <a:rPr lang="en-US" altLang="zh-CN" dirty="0"/>
              <a:t>main</a:t>
            </a:r>
            <a:r>
              <a:rPr lang="zh-CN" altLang="en-US" dirty="0"/>
              <a:t>函数如下：</a:t>
            </a:r>
            <a:endParaRPr lang="en-US" altLang="zh-CN" dirty="0"/>
          </a:p>
          <a:p>
            <a:pPr algn="l"/>
            <a:r>
              <a:rPr lang="en-US" altLang="zh-CN" sz="2400" dirty="0"/>
              <a:t>int main() {</a:t>
            </a:r>
          </a:p>
          <a:p>
            <a:pPr algn="l"/>
            <a:r>
              <a:rPr lang="en-US" altLang="zh-CN" sz="2400" dirty="0"/>
              <a:t>    char input1[] = "(((a)s))";  // Valid parentheses</a:t>
            </a:r>
          </a:p>
          <a:p>
            <a:pPr algn="l"/>
            <a:r>
              <a:rPr lang="en-US" altLang="zh-CN" sz="2400" dirty="0"/>
              <a:t>    char input2[] = "({[</a:t>
            </a:r>
            <a:r>
              <a:rPr lang="en-US" altLang="zh-CN" sz="2400" dirty="0" err="1"/>
              <a:t>asasa</a:t>
            </a:r>
            <a:r>
              <a:rPr lang="en-US" altLang="zh-CN" sz="2400" dirty="0"/>
              <a:t>()as]})";  // Valid parentheses</a:t>
            </a:r>
          </a:p>
          <a:p>
            <a:pPr algn="l"/>
            <a:r>
              <a:rPr lang="en-US" altLang="zh-CN" sz="2400" dirty="0"/>
              <a:t>    char input3[] = "({[}])";  // Invalid parentheses</a:t>
            </a:r>
          </a:p>
          <a:p>
            <a:pPr algn="l"/>
            <a:endParaRPr lang="en-US" altLang="zh-CN" sz="2400" dirty="0"/>
          </a:p>
          <a:p>
            <a:pPr algn="l"/>
            <a:r>
              <a:rPr lang="en-US" altLang="zh-CN" sz="2400" dirty="0"/>
              <a:t>   int result1 = </a:t>
            </a:r>
            <a:r>
              <a:rPr lang="en-US" altLang="zh-CN" sz="2400" dirty="0" err="1"/>
              <a:t>isValid</a:t>
            </a:r>
            <a:r>
              <a:rPr lang="en-US" altLang="zh-CN" sz="2400" dirty="0"/>
              <a:t>(input1);</a:t>
            </a:r>
          </a:p>
          <a:p>
            <a:pPr algn="l"/>
            <a:r>
              <a:rPr lang="en-US" altLang="zh-CN" sz="2400" dirty="0"/>
              <a:t>   int result2 = </a:t>
            </a:r>
            <a:r>
              <a:rPr lang="en-US" altLang="zh-CN" sz="2400" dirty="0" err="1"/>
              <a:t>isValid</a:t>
            </a:r>
            <a:r>
              <a:rPr lang="en-US" altLang="zh-CN" sz="2400" dirty="0"/>
              <a:t>(input2);</a:t>
            </a:r>
          </a:p>
          <a:p>
            <a:pPr algn="l"/>
            <a:r>
              <a:rPr lang="en-US" altLang="zh-CN" sz="2400" dirty="0"/>
              <a:t>   int result3 = </a:t>
            </a:r>
            <a:r>
              <a:rPr lang="en-US" altLang="zh-CN" sz="2400" dirty="0" err="1"/>
              <a:t>isValid</a:t>
            </a:r>
            <a:r>
              <a:rPr lang="en-US" altLang="zh-CN" sz="2400" dirty="0"/>
              <a:t>(input3);</a:t>
            </a:r>
          </a:p>
          <a:p>
            <a:pPr algn="l"/>
            <a:r>
              <a:rPr lang="en-US" altLang="zh-CN" sz="2400" dirty="0"/>
              <a:t>   return 0;</a:t>
            </a:r>
          </a:p>
          <a:p>
            <a:pPr algn="l"/>
            <a:r>
              <a:rPr lang="en-US" altLang="zh-CN" sz="2400" dirty="0"/>
              <a:t>}</a:t>
            </a:r>
            <a:endParaRPr lang="zh-CN" altLang="en-US" sz="2400" dirty="0"/>
          </a:p>
        </p:txBody>
      </p:sp>
    </p:spTree>
    <p:extLst>
      <p:ext uri="{BB962C8B-B14F-4D97-AF65-F5344CB8AC3E}">
        <p14:creationId xmlns:p14="http://schemas.microsoft.com/office/powerpoint/2010/main" val="2444280011"/>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67755F-F71A-546B-92FE-3BAC34E1D375}"/>
              </a:ext>
            </a:extLst>
          </p:cNvPr>
          <p:cNvSpPr>
            <a:spLocks noGrp="1"/>
          </p:cNvSpPr>
          <p:nvPr>
            <p:ph type="sldNum" sz="quarter" idx="12"/>
          </p:nvPr>
        </p:nvSpPr>
        <p:spPr/>
        <p:txBody>
          <a:bodyPr/>
          <a:lstStyle/>
          <a:p>
            <a:pPr>
              <a:defRPr/>
            </a:pPr>
            <a:fld id="{F49E70A7-1F58-4C2E-8D93-0E5111D017F8}" type="slidenum">
              <a:rPr lang="en-US" altLang="zh-CN" smtClean="0"/>
              <a:pPr>
                <a:defRPr/>
              </a:pPr>
              <a:t>137</a:t>
            </a:fld>
            <a:endParaRPr lang="en-US" altLang="zh-CN"/>
          </a:p>
        </p:txBody>
      </p:sp>
      <p:sp>
        <p:nvSpPr>
          <p:cNvPr id="3" name="文本框 2">
            <a:extLst>
              <a:ext uri="{FF2B5EF4-FFF2-40B4-BE49-F238E27FC236}">
                <a16:creationId xmlns:a16="http://schemas.microsoft.com/office/drawing/2014/main" id="{C6B11E9B-1B54-A731-7840-08C294C87E46}"/>
              </a:ext>
            </a:extLst>
          </p:cNvPr>
          <p:cNvSpPr txBox="1"/>
          <p:nvPr/>
        </p:nvSpPr>
        <p:spPr>
          <a:xfrm>
            <a:off x="0" y="260648"/>
            <a:ext cx="8964488" cy="6986528"/>
          </a:xfrm>
          <a:prstGeom prst="rect">
            <a:avLst/>
          </a:prstGeom>
          <a:noFill/>
        </p:spPr>
        <p:txBody>
          <a:bodyPr wrap="square" rtlCol="0">
            <a:spAutoFit/>
          </a:bodyPr>
          <a:lstStyle/>
          <a:p>
            <a:pPr algn="l"/>
            <a:r>
              <a:rPr lang="zh-CN" altLang="en-US" dirty="0">
                <a:solidFill>
                  <a:srgbClr val="FF0000"/>
                </a:solidFill>
              </a:rPr>
              <a:t>练习</a:t>
            </a:r>
            <a:r>
              <a:rPr lang="en-US" altLang="zh-CN" dirty="0">
                <a:solidFill>
                  <a:srgbClr val="FF0000"/>
                </a:solidFill>
              </a:rPr>
              <a:t>2</a:t>
            </a:r>
            <a:r>
              <a:rPr lang="zh-CN" altLang="en-US" dirty="0">
                <a:solidFill>
                  <a:srgbClr val="FF0000"/>
                </a:solidFill>
              </a:rPr>
              <a:t>：编写一个函数，它接收两个整数参数</a:t>
            </a:r>
            <a:r>
              <a:rPr lang="en-US" altLang="zh-CN" dirty="0">
                <a:solidFill>
                  <a:srgbClr val="FF0000"/>
                </a:solidFill>
              </a:rPr>
              <a:t>n</a:t>
            </a:r>
            <a:r>
              <a:rPr lang="zh-CN" altLang="en-US" dirty="0">
                <a:solidFill>
                  <a:srgbClr val="FF0000"/>
                </a:solidFill>
              </a:rPr>
              <a:t>和</a:t>
            </a:r>
            <a:r>
              <a:rPr lang="en-US" altLang="zh-CN" dirty="0">
                <a:solidFill>
                  <a:srgbClr val="FF0000"/>
                </a:solidFill>
              </a:rPr>
              <a:t>k</a:t>
            </a:r>
            <a:r>
              <a:rPr lang="zh-CN" altLang="en-US" dirty="0">
                <a:solidFill>
                  <a:srgbClr val="FF0000"/>
                </a:solidFill>
              </a:rPr>
              <a:t>，然后将</a:t>
            </a:r>
            <a:r>
              <a:rPr lang="en-US" altLang="zh-CN" dirty="0">
                <a:solidFill>
                  <a:srgbClr val="FF0000"/>
                </a:solidFill>
              </a:rPr>
              <a:t>10</a:t>
            </a:r>
            <a:r>
              <a:rPr lang="zh-CN" altLang="en-US" dirty="0">
                <a:solidFill>
                  <a:srgbClr val="FF0000"/>
                </a:solidFill>
              </a:rPr>
              <a:t>进制整数</a:t>
            </a:r>
            <a:r>
              <a:rPr lang="en-US" altLang="zh-CN" dirty="0">
                <a:solidFill>
                  <a:srgbClr val="FF0000"/>
                </a:solidFill>
              </a:rPr>
              <a:t>n</a:t>
            </a:r>
            <a:r>
              <a:rPr lang="zh-CN" altLang="en-US" dirty="0">
                <a:solidFill>
                  <a:srgbClr val="FF0000"/>
                </a:solidFill>
              </a:rPr>
              <a:t>以</a:t>
            </a:r>
            <a:r>
              <a:rPr lang="en-US" altLang="zh-CN" dirty="0">
                <a:solidFill>
                  <a:srgbClr val="FF0000"/>
                </a:solidFill>
              </a:rPr>
              <a:t>k</a:t>
            </a:r>
            <a:r>
              <a:rPr lang="zh-CN" altLang="en-US" dirty="0">
                <a:solidFill>
                  <a:srgbClr val="FF0000"/>
                </a:solidFill>
              </a:rPr>
              <a:t>进制输出</a:t>
            </a:r>
            <a:r>
              <a:rPr lang="en-US" altLang="zh-CN" dirty="0">
                <a:solidFill>
                  <a:srgbClr val="FF0000"/>
                </a:solidFill>
              </a:rPr>
              <a:t>:</a:t>
            </a:r>
          </a:p>
          <a:p>
            <a:pPr algn="l"/>
            <a:r>
              <a:rPr lang="zh-CN" altLang="en-US" dirty="0"/>
              <a:t>例如：</a:t>
            </a:r>
            <a:r>
              <a:rPr lang="en-US" altLang="zh-CN" dirty="0"/>
              <a:t>100</a:t>
            </a:r>
            <a:r>
              <a:rPr lang="zh-CN" altLang="en-US" dirty="0"/>
              <a:t>以</a:t>
            </a:r>
            <a:r>
              <a:rPr lang="en-US" altLang="zh-CN" dirty="0"/>
              <a:t>2</a:t>
            </a:r>
            <a:r>
              <a:rPr lang="zh-CN" altLang="en-US" dirty="0"/>
              <a:t>进制输出，结果为</a:t>
            </a:r>
            <a:r>
              <a:rPr lang="en-US" altLang="zh-CN" dirty="0"/>
              <a:t>1100100</a:t>
            </a:r>
          </a:p>
          <a:p>
            <a:pPr algn="l"/>
            <a:r>
              <a:rPr lang="en-US" altLang="zh-CN" dirty="0"/>
              <a:t>100</a:t>
            </a:r>
            <a:r>
              <a:rPr lang="zh-CN" altLang="en-US" dirty="0"/>
              <a:t>以</a:t>
            </a:r>
            <a:r>
              <a:rPr lang="en-US" altLang="zh-CN" dirty="0"/>
              <a:t>7</a:t>
            </a:r>
            <a:r>
              <a:rPr lang="zh-CN" altLang="en-US" dirty="0"/>
              <a:t>进制输出，结果为</a:t>
            </a:r>
            <a:r>
              <a:rPr lang="en-US" altLang="zh-CN" dirty="0"/>
              <a:t>202</a:t>
            </a:r>
          </a:p>
          <a:p>
            <a:pPr algn="l"/>
            <a:r>
              <a:rPr lang="zh-CN" altLang="en-US" dirty="0"/>
              <a:t>示例主函数如下：</a:t>
            </a:r>
            <a:endParaRPr lang="en-US" altLang="zh-CN" dirty="0"/>
          </a:p>
          <a:p>
            <a:pPr algn="l"/>
            <a:r>
              <a:rPr lang="en-US" altLang="zh-CN" dirty="0"/>
              <a:t>int main() {</a:t>
            </a:r>
          </a:p>
          <a:p>
            <a:pPr algn="l"/>
            <a:r>
              <a:rPr lang="en-US" altLang="zh-CN" dirty="0"/>
              <a:t>    int n, k;</a:t>
            </a:r>
          </a:p>
          <a:p>
            <a:pPr algn="l"/>
            <a:r>
              <a:rPr lang="en-US" altLang="zh-CN" dirty="0"/>
              <a:t>    </a:t>
            </a:r>
            <a:r>
              <a:rPr lang="en-US" altLang="zh-CN" dirty="0" err="1"/>
              <a:t>printf</a:t>
            </a:r>
            <a:r>
              <a:rPr lang="en-US" altLang="zh-CN" dirty="0"/>
              <a:t>("Enter an integer: ");</a:t>
            </a:r>
          </a:p>
          <a:p>
            <a:pPr algn="l"/>
            <a:r>
              <a:rPr lang="en-US" altLang="zh-CN" dirty="0"/>
              <a:t>    </a:t>
            </a:r>
            <a:r>
              <a:rPr lang="en-US" altLang="zh-CN" dirty="0" err="1"/>
              <a:t>scanf</a:t>
            </a:r>
            <a:r>
              <a:rPr lang="en-US" altLang="zh-CN" dirty="0"/>
              <a:t>("%d", &amp;n);</a:t>
            </a:r>
          </a:p>
          <a:p>
            <a:pPr algn="l"/>
            <a:r>
              <a:rPr lang="en-US" altLang="zh-CN" dirty="0"/>
              <a:t>    </a:t>
            </a:r>
            <a:r>
              <a:rPr lang="en-US" altLang="zh-CN" dirty="0" err="1"/>
              <a:t>printf</a:t>
            </a:r>
            <a:r>
              <a:rPr lang="en-US" altLang="zh-CN" dirty="0"/>
              <a:t>("Enter the base: ");</a:t>
            </a:r>
          </a:p>
          <a:p>
            <a:pPr algn="l"/>
            <a:r>
              <a:rPr lang="en-US" altLang="zh-CN" dirty="0"/>
              <a:t>    </a:t>
            </a:r>
            <a:r>
              <a:rPr lang="en-US" altLang="zh-CN" dirty="0" err="1"/>
              <a:t>scanf</a:t>
            </a:r>
            <a:r>
              <a:rPr lang="en-US" altLang="zh-CN" dirty="0"/>
              <a:t>("%d", &amp;k);</a:t>
            </a:r>
          </a:p>
          <a:p>
            <a:pPr algn="l"/>
            <a:r>
              <a:rPr lang="en-US" altLang="zh-CN" dirty="0"/>
              <a:t>    </a:t>
            </a:r>
            <a:r>
              <a:rPr lang="en-US" altLang="zh-CN" dirty="0" err="1"/>
              <a:t>printf</a:t>
            </a:r>
            <a:r>
              <a:rPr lang="en-US" altLang="zh-CN" dirty="0"/>
              <a:t>("The number %d in base %d is: ", n, k);</a:t>
            </a:r>
          </a:p>
          <a:p>
            <a:pPr algn="l"/>
            <a:r>
              <a:rPr lang="en-US" altLang="zh-CN" dirty="0"/>
              <a:t>    </a:t>
            </a:r>
            <a:r>
              <a:rPr lang="en-US" altLang="zh-CN" dirty="0" err="1"/>
              <a:t>printInBaseK</a:t>
            </a:r>
            <a:r>
              <a:rPr lang="en-US" altLang="zh-CN" dirty="0"/>
              <a:t>(n, k);</a:t>
            </a:r>
          </a:p>
          <a:p>
            <a:pPr algn="l"/>
            <a:r>
              <a:rPr lang="en-US" altLang="zh-CN" dirty="0"/>
              <a:t>    return 0;</a:t>
            </a:r>
          </a:p>
          <a:p>
            <a:pPr algn="l"/>
            <a:r>
              <a:rPr lang="en-US" altLang="zh-CN" dirty="0"/>
              <a:t>}</a:t>
            </a:r>
          </a:p>
          <a:p>
            <a:pPr algn="l"/>
            <a:endParaRPr lang="zh-CN" altLang="en-US" dirty="0"/>
          </a:p>
        </p:txBody>
      </p:sp>
    </p:spTree>
    <p:extLst>
      <p:ext uri="{BB962C8B-B14F-4D97-AF65-F5344CB8AC3E}">
        <p14:creationId xmlns:p14="http://schemas.microsoft.com/office/powerpoint/2010/main" val="149553375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HAPEID" val="xhKjrZp8ycusAa5KzTX4cs"/>
</p:tagLst>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9149</TotalTime>
  <Words>12042</Words>
  <Application>Microsoft Office PowerPoint</Application>
  <PresentationFormat>全屏显示(4:3)</PresentationFormat>
  <Paragraphs>1465</Paragraphs>
  <Slides>137</Slides>
  <Notes>1</Notes>
  <HiddenSlides>5</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137</vt:i4>
      </vt:variant>
    </vt:vector>
  </HeadingPairs>
  <TitlesOfParts>
    <vt:vector size="154" baseType="lpstr">
      <vt:lpstr>BatangChe</vt:lpstr>
      <vt:lpstr>Monotype Sorts</vt:lpstr>
      <vt:lpstr>等线</vt:lpstr>
      <vt:lpstr>黑体</vt:lpstr>
      <vt:lpstr>华文仿宋</vt:lpstr>
      <vt:lpstr>楷体_GB2312</vt:lpstr>
      <vt:lpstr>隶书</vt:lpstr>
      <vt:lpstr>宋体</vt:lpstr>
      <vt:lpstr>Arial</vt:lpstr>
      <vt:lpstr>Calibri</vt:lpstr>
      <vt:lpstr>Constantia</vt:lpstr>
      <vt:lpstr>Courier New</vt:lpstr>
      <vt:lpstr>Times New Roman</vt:lpstr>
      <vt:lpstr>Wingdings</vt:lpstr>
      <vt:lpstr>Wingdings 2</vt:lpstr>
      <vt:lpstr>Flow</vt:lpstr>
      <vt:lpstr>公式</vt:lpstr>
      <vt:lpstr>第5章 函数</vt:lpstr>
      <vt:lpstr>5.1  函数的基本概念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  库函数的使用方法 </vt:lpstr>
      <vt:lpstr>PowerPoint 演示文稿</vt:lpstr>
      <vt:lpstr>PowerPoint 演示文稿</vt:lpstr>
      <vt:lpstr>PowerPoint 演示文稿</vt:lpstr>
      <vt:lpstr>5.3  函数定义</vt:lpstr>
      <vt:lpstr>PowerPoint 演示文稿</vt:lpstr>
      <vt:lpstr>PowerPoint 演示文稿</vt:lpstr>
      <vt:lpstr>PowerPoint 演示文稿</vt:lpstr>
      <vt:lpstr>【例5.3】求两个数中最小值的函数min()</vt:lpstr>
      <vt:lpstr>【例5.4】求两个正整数最大公因子的函数gcd()</vt:lpstr>
      <vt:lpstr>PowerPoint 演示文稿</vt:lpstr>
      <vt:lpstr>PowerPoint 演示文稿</vt:lpstr>
      <vt:lpstr>【例5.5】输出换行符的函数printnl。</vt:lpstr>
      <vt:lpstr>【例5.6】空函数</vt:lpstr>
      <vt:lpstr>5.4 函数调用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 函数说明</vt:lpstr>
      <vt:lpstr>PowerPoint 演示文稿</vt:lpstr>
      <vt:lpstr>PowerPoint 演示文稿</vt:lpstr>
      <vt:lpstr>【例5.11】求两个数中最小值的程序。 </vt:lpstr>
      <vt:lpstr>PowerPoint 演示文稿</vt:lpstr>
      <vt:lpstr>5.6 递归函数基础</vt:lpstr>
      <vt:lpstr>函数嵌套调用示图</vt:lpstr>
      <vt:lpstr>递归函数调用示意图</vt:lpstr>
      <vt:lpstr>【例5.12】用递归实现阶乘计算函数</vt:lpstr>
      <vt:lpstr>PowerPoint 演示文稿</vt:lpstr>
      <vt:lpstr>PowerPoint 演示文稿</vt:lpstr>
      <vt:lpstr>PowerPoint 演示文稿</vt:lpstr>
      <vt:lpstr>PowerPoint 演示文稿</vt:lpstr>
      <vt:lpstr>递归与迭代</vt:lpstr>
      <vt:lpstr>递归与迭代</vt:lpstr>
      <vt:lpstr>递归</vt:lpstr>
      <vt:lpstr>【例5.14】求解的Hanoi塔问题</vt:lpstr>
      <vt:lpstr>汉诺塔（Hanoi）问题</vt:lpstr>
      <vt:lpstr>汉诺塔（Hanoi）问题</vt:lpstr>
      <vt:lpstr>汉诺塔（Hanoi）问题</vt:lpstr>
      <vt:lpstr>汉诺塔（Hanoi）问题</vt:lpstr>
      <vt:lpstr>汉诺塔（Hanoi）问题</vt:lpstr>
      <vt:lpstr>PowerPoint 演示文稿</vt:lpstr>
      <vt:lpstr>汉诺塔（Hanoi）问题</vt:lpstr>
      <vt:lpstr>汉诺塔（Hanoi）问题</vt:lpstr>
      <vt:lpstr>汉诺塔（Hanoi）问题</vt:lpstr>
      <vt:lpstr>求解Hanoi塔问题程序</vt:lpstr>
      <vt:lpstr>求解Hanoi塔问题程序</vt:lpstr>
      <vt:lpstr>5.7 函数程序设计实例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fudan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函数的设计方法</dc:title>
  <dc:subject>程序设计</dc:subject>
  <dc:creator>xkl&amp;zzz</dc:creator>
  <cp:lastModifiedBy>User</cp:lastModifiedBy>
  <cp:revision>254</cp:revision>
  <dcterms:created xsi:type="dcterms:W3CDTF">1998-11-11T15:45:32Z</dcterms:created>
  <dcterms:modified xsi:type="dcterms:W3CDTF">2025-11-20T08:10:08Z</dcterms:modified>
</cp:coreProperties>
</file>