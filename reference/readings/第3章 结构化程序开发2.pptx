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3"/>
  </p:notesMasterIdLst>
  <p:sldIdLst>
    <p:sldId id="295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96" r:id="rId15"/>
    <p:sldId id="313" r:id="rId16"/>
    <p:sldId id="312" r:id="rId17"/>
    <p:sldId id="269" r:id="rId18"/>
    <p:sldId id="294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310" r:id="rId30"/>
    <p:sldId id="309" r:id="rId31"/>
    <p:sldId id="280" r:id="rId32"/>
    <p:sldId id="281" r:id="rId33"/>
    <p:sldId id="282" r:id="rId34"/>
    <p:sldId id="283" r:id="rId35"/>
    <p:sldId id="284" r:id="rId36"/>
    <p:sldId id="285" r:id="rId37"/>
    <p:sldId id="314" r:id="rId38"/>
    <p:sldId id="315" r:id="rId39"/>
    <p:sldId id="298" r:id="rId40"/>
    <p:sldId id="299" r:id="rId41"/>
    <p:sldId id="300" r:id="rId42"/>
    <p:sldId id="301" r:id="rId43"/>
    <p:sldId id="302" r:id="rId44"/>
    <p:sldId id="303" r:id="rId45"/>
    <p:sldId id="304" r:id="rId46"/>
    <p:sldId id="305" r:id="rId47"/>
    <p:sldId id="306" r:id="rId48"/>
    <p:sldId id="307" r:id="rId49"/>
    <p:sldId id="308" r:id="rId50"/>
    <p:sldId id="316" r:id="rId51"/>
    <p:sldId id="292" r:id="rId5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239" autoAdjust="0"/>
  </p:normalViewPr>
  <p:slideViewPr>
    <p:cSldViewPr>
      <p:cViewPr>
        <p:scale>
          <a:sx n="75" d="100"/>
          <a:sy n="75" d="100"/>
        </p:scale>
        <p:origin x="1666" y="19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7089A0-DA50-46C8-800A-B99896E22B18}" type="datetimeFigureOut">
              <a:rPr lang="zh-CN" altLang="en-US" smtClean="0"/>
              <a:pPr/>
              <a:t>2025/10/16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5F76AD-DF5E-4168-9227-069659B04EB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20401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endParaRPr lang="zh-CN" altLang="en-US" dirty="0"/>
          </a:p>
        </p:txBody>
      </p:sp>
      <p:sp>
        <p:nvSpPr>
          <p:cNvPr id="9523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BF876D7-9264-4BC7-921A-C45566D1E903}" type="slidenum">
              <a:rPr lang="en-US" altLang="zh-CN" smtClean="0"/>
              <a:pPr/>
              <a:t>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625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zh-CN" altLang="en-US"/>
              <a:t>最小的</a:t>
            </a:r>
            <a:r>
              <a:rPr lang="en-US" altLang="zh-CN"/>
              <a:t>c=5</a:t>
            </a:r>
            <a:endParaRPr lang="zh-CN" altLang="en-US"/>
          </a:p>
        </p:txBody>
      </p:sp>
      <p:sp>
        <p:nvSpPr>
          <p:cNvPr id="9626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A24B3FB-81DA-4AAC-AB99-8F70EB68D6A2}" type="slidenum">
              <a:rPr lang="en-US" altLang="zh-CN" smtClean="0"/>
              <a:pPr/>
              <a:t>10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不支持直接跳出多重循环</a:t>
            </a:r>
            <a:endParaRPr lang="en-US" altLang="zh-CN" dirty="0"/>
          </a:p>
          <a:p>
            <a:r>
              <a:rPr lang="en-US" altLang="zh-CN" dirty="0"/>
              <a:t>Rust</a:t>
            </a:r>
            <a:r>
              <a:rPr lang="zh-CN" altLang="en-US" dirty="0"/>
              <a:t>中       </a:t>
            </a:r>
            <a:r>
              <a:rPr lang="en-US" altLang="zh-CN" dirty="0"/>
              <a:t>expected `while`, `for`, `loop` or `{` after a label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DFAC7A-699A-450C-8E4B-C519D9694B41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20489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5F76AD-DF5E-4168-9227-069659B04EBD}" type="slidenum">
              <a:rPr lang="zh-CN" altLang="en-US" smtClean="0"/>
              <a:pPr/>
              <a:t>18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5F76AD-DF5E-4168-9227-069659B04EBD}" type="slidenum">
              <a:rPr lang="zh-CN" altLang="en-US" smtClean="0"/>
              <a:pPr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87543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altLang="zh-CN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altLang="zh-CN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9B81F-C347-4BEF-BFDF-29C42F48304A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zh-CN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altLang="zh-CN"/>
              <a:t>Click to edit Master text styles</a:t>
            </a:r>
          </a:p>
          <a:p>
            <a:pPr lvl="1" eaLnBrk="1" latinLnBrk="0" hangingPunct="1"/>
            <a:r>
              <a:rPr lang="en-US" altLang="zh-CN"/>
              <a:t>Second level</a:t>
            </a:r>
          </a:p>
          <a:p>
            <a:pPr lvl="2" eaLnBrk="1" latinLnBrk="0" hangingPunct="1"/>
            <a:r>
              <a:rPr lang="en-US" altLang="zh-CN"/>
              <a:t>Third level</a:t>
            </a:r>
          </a:p>
          <a:p>
            <a:pPr lvl="3" eaLnBrk="1" latinLnBrk="0" hangingPunct="1"/>
            <a:r>
              <a:rPr lang="en-US" altLang="zh-CN"/>
              <a:t>Fourth level</a:t>
            </a:r>
          </a:p>
          <a:p>
            <a:pPr lvl="4" eaLnBrk="1" latinLnBrk="0" hangingPunct="1"/>
            <a:r>
              <a:rPr lang="en-US" altLang="zh-CN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9B81F-C347-4BEF-BFDF-29C42F48304A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altLang="zh-CN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altLang="zh-CN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9B81F-C347-4BEF-BFDF-29C42F48304A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altLang="zh-CN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altLang="zh-CN"/>
              <a:t>Click to edit Master text styles</a:t>
            </a:r>
          </a:p>
          <a:p>
            <a:pPr lvl="1" eaLnBrk="1" latinLnBrk="0" hangingPunct="1"/>
            <a:r>
              <a:rPr lang="en-US" altLang="zh-CN"/>
              <a:t>Second level</a:t>
            </a:r>
          </a:p>
          <a:p>
            <a:pPr lvl="2" eaLnBrk="1" latinLnBrk="0" hangingPunct="1"/>
            <a:r>
              <a:rPr lang="en-US" altLang="zh-CN"/>
              <a:t>Third level</a:t>
            </a:r>
          </a:p>
          <a:p>
            <a:pPr lvl="3" eaLnBrk="1" latinLnBrk="0" hangingPunct="1"/>
            <a:r>
              <a:rPr lang="en-US" altLang="zh-CN"/>
              <a:t>Fourth level</a:t>
            </a:r>
          </a:p>
          <a:p>
            <a:pPr lvl="4" eaLnBrk="1" latinLnBrk="0" hangingPunct="1"/>
            <a:r>
              <a:rPr lang="en-US" altLang="zh-CN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altLang="zh-CN"/>
              <a:t>Click to edit Master text styles</a:t>
            </a:r>
          </a:p>
          <a:p>
            <a:pPr lvl="1" eaLnBrk="1" latinLnBrk="0" hangingPunct="1"/>
            <a:r>
              <a:rPr lang="en-US" altLang="zh-CN"/>
              <a:t>Second level</a:t>
            </a:r>
          </a:p>
          <a:p>
            <a:pPr lvl="2" eaLnBrk="1" latinLnBrk="0" hangingPunct="1"/>
            <a:r>
              <a:rPr lang="en-US" altLang="zh-CN"/>
              <a:t>Third level</a:t>
            </a:r>
          </a:p>
          <a:p>
            <a:pPr lvl="3" eaLnBrk="1" latinLnBrk="0" hangingPunct="1"/>
            <a:r>
              <a:rPr lang="en-US" altLang="zh-CN"/>
              <a:t>Fourth level</a:t>
            </a:r>
          </a:p>
          <a:p>
            <a:pPr lvl="4" eaLnBrk="1" latinLnBrk="0" hangingPunct="1"/>
            <a:r>
              <a:rPr lang="en-US" altLang="zh-CN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9B81F-C347-4BEF-BFDF-29C42F48304A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altLang="zh-CN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altLang="zh-CN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altLang="zh-CN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altLang="zh-CN"/>
              <a:t>Click to edit Master text styles</a:t>
            </a:r>
          </a:p>
          <a:p>
            <a:pPr lvl="1" eaLnBrk="1" latinLnBrk="0" hangingPunct="1"/>
            <a:r>
              <a:rPr lang="en-US" altLang="zh-CN"/>
              <a:t>Second level</a:t>
            </a:r>
          </a:p>
          <a:p>
            <a:pPr lvl="2" eaLnBrk="1" latinLnBrk="0" hangingPunct="1"/>
            <a:r>
              <a:rPr lang="en-US" altLang="zh-CN"/>
              <a:t>Third level</a:t>
            </a:r>
          </a:p>
          <a:p>
            <a:pPr lvl="3" eaLnBrk="1" latinLnBrk="0" hangingPunct="1"/>
            <a:r>
              <a:rPr lang="en-US" altLang="zh-CN"/>
              <a:t>Fourth level</a:t>
            </a:r>
          </a:p>
          <a:p>
            <a:pPr lvl="4" eaLnBrk="1" latinLnBrk="0" hangingPunct="1"/>
            <a:r>
              <a:rPr lang="en-US" altLang="zh-CN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altLang="zh-CN"/>
              <a:t>Click to edit Master text styles</a:t>
            </a:r>
          </a:p>
          <a:p>
            <a:pPr lvl="1" eaLnBrk="1" latinLnBrk="0" hangingPunct="1"/>
            <a:r>
              <a:rPr lang="en-US" altLang="zh-CN"/>
              <a:t>Second level</a:t>
            </a:r>
          </a:p>
          <a:p>
            <a:pPr lvl="2" eaLnBrk="1" latinLnBrk="0" hangingPunct="1"/>
            <a:r>
              <a:rPr lang="en-US" altLang="zh-CN"/>
              <a:t>Third level</a:t>
            </a:r>
          </a:p>
          <a:p>
            <a:pPr lvl="3" eaLnBrk="1" latinLnBrk="0" hangingPunct="1"/>
            <a:r>
              <a:rPr lang="en-US" altLang="zh-CN"/>
              <a:t>Fourth level</a:t>
            </a:r>
          </a:p>
          <a:p>
            <a:pPr lvl="4" eaLnBrk="1" latinLnBrk="0" hangingPunct="1"/>
            <a:r>
              <a:rPr lang="en-US" altLang="zh-CN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9B81F-C347-4BEF-BFDF-29C42F48304A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altLang="zh-CN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9B81F-C347-4BEF-BFDF-29C42F48304A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9B81F-C347-4BEF-BFDF-29C42F48304A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altLang="zh-CN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altLang="zh-CN"/>
              <a:t>Click to edit Master text styles</a:t>
            </a:r>
          </a:p>
          <a:p>
            <a:pPr lvl="1" eaLnBrk="1" latinLnBrk="0" hangingPunct="1"/>
            <a:r>
              <a:rPr lang="en-US" altLang="zh-CN"/>
              <a:t>Second level</a:t>
            </a:r>
          </a:p>
          <a:p>
            <a:pPr lvl="2" eaLnBrk="1" latinLnBrk="0" hangingPunct="1"/>
            <a:r>
              <a:rPr lang="en-US" altLang="zh-CN"/>
              <a:t>Third level</a:t>
            </a:r>
          </a:p>
          <a:p>
            <a:pPr lvl="3" eaLnBrk="1" latinLnBrk="0" hangingPunct="1"/>
            <a:r>
              <a:rPr lang="en-US" altLang="zh-CN"/>
              <a:t>Fourth level</a:t>
            </a:r>
          </a:p>
          <a:p>
            <a:pPr lvl="4" eaLnBrk="1" latinLnBrk="0" hangingPunct="1"/>
            <a:r>
              <a:rPr lang="en-US" altLang="zh-CN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9B81F-C347-4BEF-BFDF-29C42F48304A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altLang="zh-CN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9B81F-C347-4BEF-BFDF-29C42F48304A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altLang="zh-CN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zh-CN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altLang="zh-CN"/>
              <a:t>Click to edit Master text styles</a:t>
            </a:r>
          </a:p>
          <a:p>
            <a:pPr lvl="1" eaLnBrk="1" latinLnBrk="0" hangingPunct="1"/>
            <a:r>
              <a:rPr lang="en-US" altLang="zh-CN"/>
              <a:t>Second level</a:t>
            </a:r>
          </a:p>
          <a:p>
            <a:pPr lvl="2" eaLnBrk="1" latinLnBrk="0" hangingPunct="1"/>
            <a:r>
              <a:rPr lang="en-US" altLang="zh-CN"/>
              <a:t>Third level</a:t>
            </a:r>
          </a:p>
          <a:p>
            <a:pPr lvl="3" eaLnBrk="1" latinLnBrk="0" hangingPunct="1"/>
            <a:r>
              <a:rPr lang="en-US" altLang="zh-CN"/>
              <a:t>Fourth level</a:t>
            </a:r>
          </a:p>
          <a:p>
            <a:pPr lvl="4" eaLnBrk="1" latinLnBrk="0" hangingPunct="1"/>
            <a:r>
              <a:rPr lang="en-US" altLang="zh-CN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9B81F-C347-4BEF-BFDF-29C42F48304A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altLang="zh-CN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altLang="zh-CN"/>
              <a:t>Click to edit Master text styles</a:t>
            </a:r>
          </a:p>
          <a:p>
            <a:pPr lvl="1" eaLnBrk="1" latinLnBrk="0" hangingPunct="1"/>
            <a:r>
              <a:rPr lang="en-US" altLang="zh-CN"/>
              <a:t>Second level</a:t>
            </a:r>
          </a:p>
          <a:p>
            <a:pPr lvl="2" eaLnBrk="1" latinLnBrk="0" hangingPunct="1"/>
            <a:r>
              <a:rPr lang="en-US" altLang="zh-CN"/>
              <a:t>Third level</a:t>
            </a:r>
          </a:p>
          <a:p>
            <a:pPr lvl="3" eaLnBrk="1" latinLnBrk="0" hangingPunct="1"/>
            <a:r>
              <a:rPr lang="en-US" altLang="zh-CN"/>
              <a:t>Fourth level</a:t>
            </a:r>
          </a:p>
          <a:p>
            <a:pPr lvl="4" eaLnBrk="1" latinLnBrk="0" hangingPunct="1"/>
            <a:r>
              <a:rPr lang="en-US" altLang="zh-CN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9B81F-C347-4BEF-BFDF-29C42F48304A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9750" y="404813"/>
            <a:ext cx="8001000" cy="75565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566738" y="1752600"/>
            <a:ext cx="3924300" cy="4267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3438" y="1752600"/>
            <a:ext cx="3924300" cy="4267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24A143-107D-45A7-B9C3-22524932A89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altLang="zh-CN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altLang="zh-CN"/>
              <a:t>Click to edit Master text styles</a:t>
            </a:r>
          </a:p>
          <a:p>
            <a:pPr lvl="1" eaLnBrk="1" latinLnBrk="0" hangingPunct="1"/>
            <a:r>
              <a:rPr kumimoji="0" lang="en-US" altLang="zh-CN"/>
              <a:t>Second level</a:t>
            </a:r>
          </a:p>
          <a:p>
            <a:pPr lvl="2" eaLnBrk="1" latinLnBrk="0" hangingPunct="1"/>
            <a:r>
              <a:rPr kumimoji="0" lang="en-US" altLang="zh-CN"/>
              <a:t>Third level</a:t>
            </a:r>
          </a:p>
          <a:p>
            <a:pPr lvl="3" eaLnBrk="1" latinLnBrk="0" hangingPunct="1"/>
            <a:r>
              <a:rPr kumimoji="0" lang="en-US" altLang="zh-CN"/>
              <a:t>Fourth level</a:t>
            </a:r>
          </a:p>
          <a:p>
            <a:pPr lvl="4" eaLnBrk="1" latinLnBrk="0" hangingPunct="1"/>
            <a:r>
              <a:rPr kumimoji="0" lang="en-US" altLang="zh-CN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47C9B81F-C347-4BEF-BFDF-29C42F48304A}" type="datetimeFigureOut">
              <a:rPr lang="en-US" smtClean="0"/>
              <a:pPr/>
              <a:t>10/16/2025</a:t>
            </a:fld>
            <a:endParaRPr lang="en-US" dirty="0">
              <a:solidFill>
                <a:schemeClr val="tx2">
                  <a:shade val="90000"/>
                </a:schemeClr>
              </a:solidFill>
            </a:endParaRPr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 algn="l" eaLnBrk="1" latinLnBrk="0" hangingPunct="1"/>
            <a:endParaRPr kumimoji="0" lang="en-US" dirty="0">
              <a:solidFill>
                <a:schemeClr val="tx2">
                  <a:shade val="90000"/>
                </a:schemeClr>
              </a:solidFill>
            </a:endParaRP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 dirty="0">
              <a:solidFill>
                <a:schemeClr val="tx2">
                  <a:shade val="90000"/>
                </a:schemeClr>
              </a:solidFill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gif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338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251520" y="620688"/>
            <a:ext cx="8280400" cy="6003925"/>
          </a:xfrm>
        </p:spPr>
        <p:txBody>
          <a:bodyPr>
            <a:normAutofit/>
          </a:bodyPr>
          <a:lstStyle/>
          <a:p>
            <a:pPr marL="0" indent="0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36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continue</a:t>
            </a:r>
            <a:r>
              <a:rPr lang="zh-CN" altLang="en-US" sz="36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语句</a:t>
            </a:r>
          </a:p>
          <a:p>
            <a:pPr marL="0" indent="0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endParaRPr lang="zh-CN" altLang="en-US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marL="0" indent="0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continue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语句只能出现在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循环结构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中，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continue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语句的执行将忽略它所在的循环体中在它之后的语句。</a:t>
            </a:r>
            <a:endParaRPr lang="en-US" altLang="zh-CN" sz="2800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marL="0" indent="0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continue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语句提早结束当前轮次循环体的执行，进入下一轮循环。</a:t>
            </a:r>
            <a:endParaRPr lang="en-US" altLang="zh-CN" sz="2800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marL="0" indent="0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endParaRPr lang="zh-CN" altLang="en-US" sz="2800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>
              <a:defRPr/>
            </a:pP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如果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continue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语句在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while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语句或</a:t>
            </a:r>
            <a:r>
              <a:rPr lang="en-US" altLang="zh-CN" sz="2800" b="1" dirty="0" err="1">
                <a:effectLst>
                  <a:outerShdw blurRad="38100" dist="38100" dir="2700000" algn="tl">
                    <a:srgbClr val="C0C0C0"/>
                  </a:outerShdw>
                </a:effectLst>
              </a:rPr>
              <a:t>do_while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语句循环体中，使控制转入对循环条件表达式的计算和测试；在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for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语句的循环体中，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continue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使控制转入到对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for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控制结构的表达式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3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的求值</a:t>
            </a:r>
            <a:endParaRPr lang="zh-CN" altLang="en-US" sz="2800" dirty="0"/>
          </a:p>
          <a:p>
            <a:pPr>
              <a:defRPr/>
            </a:pPr>
            <a:endParaRPr lang="zh-CN" altLang="en-US" sz="2800" dirty="0"/>
          </a:p>
        </p:txBody>
      </p:sp>
      <p:sp>
        <p:nvSpPr>
          <p:cNvPr id="14338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D49BF1-EF28-4E44-A298-8CF431C49F77}" type="slidenum">
              <a:rPr lang="en-US" altLang="zh-CN"/>
              <a:pPr>
                <a:defRPr/>
              </a:pPr>
              <a:t>1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83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83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983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983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983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983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71" name="Rectangle 3"/>
          <p:cNvSpPr>
            <a:spLocks noGrp="1" noChangeArrowheads="1"/>
          </p:cNvSpPr>
          <p:nvPr>
            <p:ph idx="1"/>
          </p:nvPr>
        </p:nvSpPr>
        <p:spPr>
          <a:xfrm>
            <a:off x="357158" y="1143000"/>
            <a:ext cx="8424863" cy="5715000"/>
          </a:xfrm>
        </p:spPr>
        <p:txBody>
          <a:bodyPr>
            <a:normAutofit/>
          </a:bodyPr>
          <a:lstStyle/>
          <a:p>
            <a:pPr marL="0" indent="0" algn="just" eaLnBrk="1" fontAlgn="auto" hangingPunct="1">
              <a:lnSpc>
                <a:spcPct val="105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zh-CN" altLang="en-US" b="1" dirty="0">
                <a:solidFill>
                  <a:srgbClr val="700000"/>
                </a:solidFill>
                <a:latin typeface="宋体" pitchFamily="2" charset="-122"/>
              </a:rPr>
              <a:t>编制一个程序</a:t>
            </a:r>
            <a:r>
              <a:rPr lang="en-US" altLang="zh-CN" b="1" dirty="0">
                <a:solidFill>
                  <a:srgbClr val="700000"/>
                </a:solidFill>
                <a:latin typeface="宋体" pitchFamily="2" charset="-122"/>
              </a:rPr>
              <a:t>, </a:t>
            </a:r>
            <a:r>
              <a:rPr lang="zh-CN" altLang="en-US" b="1" dirty="0">
                <a:solidFill>
                  <a:srgbClr val="700000"/>
                </a:solidFill>
                <a:latin typeface="宋体" pitchFamily="2" charset="-122"/>
              </a:rPr>
              <a:t>实现输入</a:t>
            </a:r>
            <a:r>
              <a:rPr lang="en-US" altLang="zh-CN" b="1" dirty="0">
                <a:solidFill>
                  <a:srgbClr val="700000"/>
                </a:solidFill>
                <a:latin typeface="宋体" pitchFamily="2" charset="-122"/>
              </a:rPr>
              <a:t>n</a:t>
            </a:r>
            <a:r>
              <a:rPr lang="zh-CN" altLang="en-US" b="1" dirty="0">
                <a:solidFill>
                  <a:srgbClr val="700000"/>
                </a:solidFill>
                <a:latin typeface="宋体" pitchFamily="2" charset="-122"/>
              </a:rPr>
              <a:t>个整数</a:t>
            </a:r>
            <a:r>
              <a:rPr lang="en-US" altLang="zh-CN" b="1" dirty="0">
                <a:solidFill>
                  <a:srgbClr val="700000"/>
                </a:solidFill>
                <a:latin typeface="宋体" pitchFamily="2" charset="-122"/>
              </a:rPr>
              <a:t>, </a:t>
            </a:r>
            <a:r>
              <a:rPr lang="zh-CN" altLang="en-US" b="1" dirty="0">
                <a:solidFill>
                  <a:srgbClr val="700000"/>
                </a:solidFill>
                <a:latin typeface="宋体" pitchFamily="2" charset="-122"/>
              </a:rPr>
              <a:t>输出其中的最大数，并指出其是第几个数。</a:t>
            </a:r>
          </a:p>
          <a:p>
            <a:pPr marL="0" indent="0" algn="just" eaLnBrk="1" fontAlgn="auto" hangingPunct="1">
              <a:lnSpc>
                <a:spcPct val="105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b="1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#include &lt;</a:t>
            </a:r>
            <a:r>
              <a:rPr lang="en-US" altLang="zh-CN" b="1" dirty="0" err="1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stdio.h</a:t>
            </a:r>
            <a:r>
              <a:rPr lang="en-US" altLang="zh-CN" b="1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&gt;</a:t>
            </a:r>
          </a:p>
          <a:p>
            <a:pPr marL="0" indent="0" algn="just" eaLnBrk="1" fontAlgn="auto" hangingPunct="1">
              <a:lnSpc>
                <a:spcPct val="105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b="1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void main()</a:t>
            </a:r>
          </a:p>
          <a:p>
            <a:pPr marL="0" indent="0" algn="just" eaLnBrk="1" fontAlgn="auto" hangingPunct="1">
              <a:lnSpc>
                <a:spcPct val="105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b="1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{  </a:t>
            </a:r>
            <a:r>
              <a:rPr lang="en-US" altLang="zh-CN" b="1" dirty="0" err="1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int</a:t>
            </a:r>
            <a:r>
              <a:rPr lang="en-US" altLang="zh-CN" b="1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 n, </a:t>
            </a:r>
            <a:r>
              <a:rPr lang="en-US" altLang="zh-CN" b="1" dirty="0" err="1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i</a:t>
            </a:r>
            <a:r>
              <a:rPr lang="en-US" altLang="zh-CN" b="1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, max, x, index;</a:t>
            </a:r>
          </a:p>
          <a:p>
            <a:pPr marL="0" indent="0" algn="just" eaLnBrk="1" fontAlgn="auto" hangingPunct="1">
              <a:lnSpc>
                <a:spcPct val="105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b="1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   </a:t>
            </a:r>
            <a:r>
              <a:rPr lang="en-US" altLang="zh-CN" b="1" dirty="0" err="1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printf</a:t>
            </a:r>
            <a:r>
              <a:rPr lang="en-US" altLang="zh-CN" b="1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("</a:t>
            </a:r>
            <a:r>
              <a:rPr lang="zh-CN" altLang="en-US" b="1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输入 </a:t>
            </a:r>
            <a:r>
              <a:rPr lang="en-US" altLang="zh-CN" b="1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n!\n"); </a:t>
            </a:r>
          </a:p>
          <a:p>
            <a:pPr marL="0" indent="0" algn="just" eaLnBrk="1" fontAlgn="auto" hangingPunct="1">
              <a:lnSpc>
                <a:spcPct val="105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b="1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   </a:t>
            </a:r>
            <a:r>
              <a:rPr lang="en-US" altLang="zh-CN" b="1" dirty="0" err="1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scanf</a:t>
            </a:r>
            <a:r>
              <a:rPr lang="en-US" altLang="zh-CN" b="1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("%d", &amp;n);</a:t>
            </a:r>
          </a:p>
          <a:p>
            <a:pPr marL="0" indent="0" algn="just" eaLnBrk="1" fontAlgn="auto" hangingPunct="1">
              <a:lnSpc>
                <a:spcPct val="105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zh-CN" altLang="en-US" b="1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。。。。。。</a:t>
            </a:r>
            <a:endParaRPr lang="en-US" altLang="zh-CN" b="1" dirty="0">
              <a:latin typeface="Times New Roman" pitchFamily="18" charset="0"/>
              <a:ea typeface="黑体" pitchFamily="2" charset="-122"/>
              <a:cs typeface="Times New Roman" pitchFamily="18" charset="0"/>
            </a:endParaRPr>
          </a:p>
          <a:p>
            <a:pPr marL="0" indent="0" algn="just" eaLnBrk="1" fontAlgn="auto" hangingPunct="1">
              <a:lnSpc>
                <a:spcPct val="105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endParaRPr lang="en-US" altLang="zh-CN" b="1" dirty="0">
              <a:latin typeface="Times New Roman" pitchFamily="18" charset="0"/>
              <a:ea typeface="黑体" pitchFamily="2" charset="-122"/>
              <a:cs typeface="Times New Roman" pitchFamily="18" charset="0"/>
            </a:endParaRPr>
          </a:p>
        </p:txBody>
      </p:sp>
      <p:sp>
        <p:nvSpPr>
          <p:cNvPr id="6144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249255F-351F-4663-B320-C33F72691A1F}" type="slidenum">
              <a:rPr lang="en-US" altLang="zh-CN"/>
              <a:pPr>
                <a:defRPr/>
              </a:pPr>
              <a:t>2</a:t>
            </a:fld>
            <a:endParaRPr lang="en-US" altLang="zh-CN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3"/>
          <p:cNvSpPr>
            <a:spLocks noGrp="1" noChangeArrowheads="1"/>
          </p:cNvSpPr>
          <p:nvPr>
            <p:ph idx="1"/>
          </p:nvPr>
        </p:nvSpPr>
        <p:spPr>
          <a:xfrm>
            <a:off x="250825" y="1268413"/>
            <a:ext cx="8424863" cy="5400675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lnSpc>
                <a:spcPct val="105000"/>
              </a:lnSpc>
              <a:buNone/>
              <a:defRPr/>
            </a:pPr>
            <a:r>
              <a:rPr lang="en-US" altLang="zh-CN" b="1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 for(</a:t>
            </a:r>
            <a:r>
              <a:rPr lang="en-US" altLang="zh-CN" b="1" dirty="0" err="1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i</a:t>
            </a:r>
            <a:r>
              <a:rPr lang="en-US" altLang="zh-CN" b="1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 = 1; </a:t>
            </a:r>
            <a:r>
              <a:rPr lang="en-US" altLang="zh-CN" b="1" dirty="0" err="1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i</a:t>
            </a:r>
            <a:r>
              <a:rPr lang="en-US" altLang="zh-CN" b="1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 &lt;= n; </a:t>
            </a:r>
            <a:r>
              <a:rPr lang="en-US" altLang="zh-CN" b="1" dirty="0" err="1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i</a:t>
            </a:r>
            <a:r>
              <a:rPr lang="en-US" altLang="zh-CN" b="1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++) {  </a:t>
            </a:r>
          </a:p>
          <a:p>
            <a:pPr marL="0" indent="0" algn="just">
              <a:lnSpc>
                <a:spcPct val="105000"/>
              </a:lnSpc>
              <a:buNone/>
              <a:defRPr/>
            </a:pPr>
            <a:r>
              <a:rPr lang="en-US" altLang="zh-CN" b="1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     </a:t>
            </a:r>
            <a:r>
              <a:rPr lang="en-US" altLang="zh-CN" b="1" dirty="0" err="1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printf</a:t>
            </a:r>
            <a:r>
              <a:rPr lang="en-US" altLang="zh-CN" b="1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("</a:t>
            </a:r>
            <a:r>
              <a:rPr lang="zh-CN" altLang="en-US" b="1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输入第</a:t>
            </a:r>
            <a:r>
              <a:rPr lang="en-US" altLang="zh-CN" b="1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%d</a:t>
            </a:r>
            <a:r>
              <a:rPr lang="zh-CN" altLang="en-US" b="1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个数据</a:t>
            </a:r>
            <a:r>
              <a:rPr lang="en-US" altLang="zh-CN" b="1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.", </a:t>
            </a:r>
            <a:r>
              <a:rPr lang="en-US" altLang="zh-CN" b="1" dirty="0" err="1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i</a:t>
            </a:r>
            <a:r>
              <a:rPr lang="en-US" altLang="zh-CN" b="1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); </a:t>
            </a:r>
          </a:p>
          <a:p>
            <a:pPr marL="0" indent="0" algn="just">
              <a:lnSpc>
                <a:spcPct val="105000"/>
              </a:lnSpc>
              <a:buNone/>
              <a:defRPr/>
            </a:pPr>
            <a:r>
              <a:rPr lang="en-US" altLang="zh-CN" b="1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      </a:t>
            </a:r>
            <a:r>
              <a:rPr lang="en-US" altLang="zh-CN" b="1" dirty="0" err="1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scanf</a:t>
            </a:r>
            <a:r>
              <a:rPr lang="en-US" altLang="zh-CN" b="1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("%d", &amp;x);       </a:t>
            </a:r>
          </a:p>
          <a:p>
            <a:pPr algn="just" eaLnBrk="1" hangingPunct="1">
              <a:lnSpc>
                <a:spcPct val="85000"/>
              </a:lnSpc>
              <a:spcBef>
                <a:spcPct val="15000"/>
              </a:spcBef>
              <a:buFont typeface="Wingdings" pitchFamily="2" charset="2"/>
              <a:buNone/>
            </a:pPr>
            <a:r>
              <a:rPr lang="en-US" altLang="zh-CN" b="1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 	  if (</a:t>
            </a:r>
            <a:r>
              <a:rPr lang="en-US" altLang="zh-CN" b="1" dirty="0" err="1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i</a:t>
            </a:r>
            <a:r>
              <a:rPr lang="en-US" altLang="zh-CN" b="1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 == 1) { </a:t>
            </a:r>
            <a:r>
              <a:rPr lang="en-US" altLang="zh-CN" b="1" dirty="0">
                <a:solidFill>
                  <a:srgbClr val="0000FF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/* </a:t>
            </a:r>
            <a:r>
              <a:rPr lang="zh-CN" altLang="en-US" b="1" dirty="0">
                <a:solidFill>
                  <a:srgbClr val="0000FF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输入第一个数 *</a:t>
            </a:r>
            <a:r>
              <a:rPr lang="en-US" altLang="zh-CN" b="1" dirty="0">
                <a:solidFill>
                  <a:srgbClr val="0000FF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/</a:t>
            </a:r>
            <a:endParaRPr lang="en-US" altLang="zh-CN" b="1" dirty="0">
              <a:latin typeface="Times New Roman" pitchFamily="18" charset="0"/>
              <a:ea typeface="黑体" pitchFamily="2" charset="-122"/>
              <a:cs typeface="Times New Roman" pitchFamily="18" charset="0"/>
            </a:endParaRPr>
          </a:p>
          <a:p>
            <a:pPr algn="just" eaLnBrk="1" hangingPunct="1">
              <a:lnSpc>
                <a:spcPct val="85000"/>
              </a:lnSpc>
              <a:spcBef>
                <a:spcPct val="15000"/>
              </a:spcBef>
              <a:buFont typeface="Wingdings" pitchFamily="2" charset="2"/>
              <a:buNone/>
            </a:pPr>
            <a:r>
              <a:rPr lang="en-US" altLang="zh-CN" b="1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        max = x; index = 1; continue; </a:t>
            </a:r>
          </a:p>
          <a:p>
            <a:pPr algn="just" eaLnBrk="1" hangingPunct="1">
              <a:lnSpc>
                <a:spcPct val="85000"/>
              </a:lnSpc>
              <a:spcBef>
                <a:spcPct val="15000"/>
              </a:spcBef>
              <a:buFont typeface="Wingdings" pitchFamily="2" charset="2"/>
              <a:buNone/>
            </a:pPr>
            <a:r>
              <a:rPr lang="en-US" altLang="zh-CN" b="1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      }  </a:t>
            </a:r>
            <a:r>
              <a:rPr lang="en-US" altLang="zh-CN" b="1" dirty="0">
                <a:solidFill>
                  <a:srgbClr val="0000FF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/* continue </a:t>
            </a:r>
            <a:r>
              <a:rPr lang="zh-CN" altLang="en-US" b="1" dirty="0">
                <a:solidFill>
                  <a:srgbClr val="0000FF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表示进入下一轮循环 *</a:t>
            </a:r>
            <a:r>
              <a:rPr lang="en-US" altLang="zh-CN" b="1" dirty="0">
                <a:solidFill>
                  <a:srgbClr val="0000FF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/</a:t>
            </a:r>
            <a:endParaRPr lang="en-US" altLang="zh-CN" b="1" dirty="0">
              <a:latin typeface="Times New Roman" pitchFamily="18" charset="0"/>
              <a:ea typeface="黑体" pitchFamily="2" charset="-122"/>
              <a:cs typeface="Times New Roman" pitchFamily="18" charset="0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     </a:t>
            </a:r>
            <a:r>
              <a:rPr lang="en-US" altLang="zh-CN" b="1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if ( x &gt; max) { </a:t>
            </a:r>
            <a:r>
              <a:rPr lang="en-US" altLang="zh-CN" b="1" dirty="0">
                <a:solidFill>
                  <a:srgbClr val="0000FF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/* </a:t>
            </a:r>
            <a:r>
              <a:rPr lang="zh-CN" altLang="en-US" b="1" dirty="0">
                <a:solidFill>
                  <a:srgbClr val="0000FF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输入了一个更大的数 *</a:t>
            </a:r>
            <a:r>
              <a:rPr lang="en-US" altLang="zh-CN" b="1" dirty="0">
                <a:solidFill>
                  <a:srgbClr val="0000FF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/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b="1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        max = x;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b="1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        index = </a:t>
            </a:r>
            <a:r>
              <a:rPr lang="en-US" altLang="zh-CN" b="1" dirty="0" err="1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i</a:t>
            </a:r>
            <a:r>
              <a:rPr lang="en-US" altLang="zh-CN" b="1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b="1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     }  /* end if */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b="1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  } /* end for */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b="1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  </a:t>
            </a:r>
            <a:r>
              <a:rPr lang="en-US" altLang="zh-CN" b="1" dirty="0" err="1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printf</a:t>
            </a:r>
            <a:r>
              <a:rPr lang="en-US" altLang="zh-CN" b="1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("</a:t>
            </a:r>
            <a:r>
              <a:rPr lang="zh-CN" altLang="en-US" b="1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最大数是</a:t>
            </a:r>
            <a:r>
              <a:rPr lang="en-US" altLang="zh-CN" b="1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:%d</a:t>
            </a:r>
            <a:r>
              <a:rPr lang="zh-CN" altLang="en-US" b="1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，它是第 </a:t>
            </a:r>
            <a:r>
              <a:rPr lang="en-US" altLang="zh-CN" b="1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%d </a:t>
            </a:r>
            <a:r>
              <a:rPr lang="zh-CN" altLang="en-US" b="1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个数。</a:t>
            </a:r>
            <a:br>
              <a:rPr lang="zh-CN" altLang="en-US" b="1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</a:br>
            <a:r>
              <a:rPr lang="zh-CN" altLang="en-US" b="1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        </a:t>
            </a:r>
            <a:r>
              <a:rPr lang="en-US" altLang="zh-CN" b="1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\n\n", max, index);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b="1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}</a:t>
            </a:r>
          </a:p>
        </p:txBody>
      </p:sp>
      <p:sp>
        <p:nvSpPr>
          <p:cNvPr id="6246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FDA2F86-FDDF-4005-AFE3-54A163EC5425}" type="slidenum">
              <a:rPr lang="en-US" altLang="zh-CN"/>
              <a:pPr>
                <a:defRPr/>
              </a:pPr>
              <a:t>3</a:t>
            </a:fld>
            <a:endParaRPr lang="en-US" altLang="zh-CN"/>
          </a:p>
        </p:txBody>
      </p:sp>
      <p:sp>
        <p:nvSpPr>
          <p:cNvPr id="4" name="矩形 3"/>
          <p:cNvSpPr/>
          <p:nvPr/>
        </p:nvSpPr>
        <p:spPr>
          <a:xfrm>
            <a:off x="5724128" y="2132856"/>
            <a:ext cx="2952328" cy="12241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在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for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语句的循环体中，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continue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使控制转入到对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for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控制结构的表达式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3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的求值</a:t>
            </a:r>
            <a:endParaRPr lang="zh-CN" alt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45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45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45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45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45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45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45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45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45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45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451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451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451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451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333375"/>
            <a:ext cx="8353425" cy="609600"/>
          </a:xfrm>
        </p:spPr>
        <p:txBody>
          <a:bodyPr/>
          <a:lstStyle/>
          <a:p>
            <a:pPr eaLnBrk="1" hangingPunct="1"/>
            <a:r>
              <a:rPr lang="zh-CN" altLang="en-US" sz="360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三种循环结构比较</a:t>
            </a:r>
          </a:p>
        </p:txBody>
      </p:sp>
      <p:sp>
        <p:nvSpPr>
          <p:cNvPr id="215043" name="Rectangle 3"/>
          <p:cNvSpPr>
            <a:spLocks noGrp="1" noChangeArrowheads="1"/>
          </p:cNvSpPr>
          <p:nvPr>
            <p:ph idx="1"/>
          </p:nvPr>
        </p:nvSpPr>
        <p:spPr>
          <a:xfrm>
            <a:off x="395288" y="1052513"/>
            <a:ext cx="8497887" cy="5400675"/>
          </a:xfrm>
        </p:spPr>
        <p:txBody>
          <a:bodyPr>
            <a:normAutofit/>
          </a:bodyPr>
          <a:lstStyle/>
          <a:p>
            <a:pPr marL="0" indent="0" eaLnBrk="1" fontAlgn="auto" hangingPunct="1">
              <a:lnSpc>
                <a:spcPct val="95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【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例</a:t>
            </a: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3.19】</a:t>
            </a:r>
            <a:r>
              <a:rPr lang="en-US" altLang="zh-CN" sz="2800" b="1" dirty="0">
                <a:solidFill>
                  <a:srgbClr val="66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p = 1 - 1/3 + 1/5 - 1/7 + …</a:t>
            </a:r>
          </a:p>
          <a:p>
            <a:pPr marL="0" indent="0" eaLnBrk="1" fontAlgn="auto" hangingPunct="1">
              <a:lnSpc>
                <a:spcPct val="95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要求：</a:t>
            </a:r>
            <a:r>
              <a:rPr lang="zh-CN" altLang="en-US" sz="2800" b="1" dirty="0">
                <a:solidFill>
                  <a:srgbClr val="66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当某项的绝对值小于</a:t>
            </a:r>
            <a:r>
              <a:rPr lang="en-US" altLang="zh-CN" sz="2800" b="1" dirty="0">
                <a:solidFill>
                  <a:srgbClr val="66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0.000001</a:t>
            </a:r>
            <a:r>
              <a:rPr lang="zh-CN" altLang="en-US" sz="2800" b="1" dirty="0">
                <a:solidFill>
                  <a:srgbClr val="66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时程序结束。</a:t>
            </a:r>
          </a:p>
          <a:p>
            <a:pPr marL="0" indent="0" eaLnBrk="1" fontAlgn="auto" hangingPunct="1">
              <a:lnSpc>
                <a:spcPct val="95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① 使用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while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循环语句</a:t>
            </a:r>
          </a:p>
          <a:p>
            <a:pPr marL="0" indent="0" eaLnBrk="1" fontAlgn="auto" hangingPunct="1">
              <a:lnSpc>
                <a:spcPct val="95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对当前项</a:t>
            </a: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t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的绝对值不小于</a:t>
            </a: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0.000001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时循环求和，并修正变量</a:t>
            </a: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d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（作为分母）和</a:t>
            </a: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t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，其代码为：</a:t>
            </a:r>
          </a:p>
          <a:p>
            <a:pPr marL="0" indent="0" eaLnBrk="1" fontAlgn="auto" hangingPunct="1">
              <a:lnSpc>
                <a:spcPct val="95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zh-CN" altLang="en-US" sz="2800" dirty="0">
                <a:latin typeface="宋体" pitchFamily="2" charset="-122"/>
              </a:rPr>
              <a:t>   </a:t>
            </a:r>
            <a:r>
              <a:rPr lang="en-US" altLang="zh-CN" sz="2800" b="1" dirty="0">
                <a:latin typeface="黑体" pitchFamily="2" charset="-122"/>
                <a:ea typeface="黑体" pitchFamily="2" charset="-122"/>
              </a:rPr>
              <a:t>p = 0.0; d = 1; t = 1.0; </a:t>
            </a:r>
          </a:p>
          <a:p>
            <a:pPr marL="0" indent="0" eaLnBrk="1" fontAlgn="auto" hangingPunct="1">
              <a:lnSpc>
                <a:spcPct val="95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800" b="1" dirty="0">
                <a:latin typeface="黑体" pitchFamily="2" charset="-122"/>
                <a:ea typeface="黑体" pitchFamily="2" charset="-122"/>
              </a:rPr>
              <a:t>   while (</a:t>
            </a:r>
            <a:r>
              <a:rPr lang="en-US" altLang="zh-CN" sz="2800" b="1" dirty="0" err="1">
                <a:latin typeface="黑体" pitchFamily="2" charset="-122"/>
                <a:ea typeface="黑体" pitchFamily="2" charset="-122"/>
              </a:rPr>
              <a:t>fabs</a:t>
            </a:r>
            <a:r>
              <a:rPr lang="en-US" altLang="zh-CN" sz="2800" b="1" dirty="0">
                <a:latin typeface="黑体" pitchFamily="2" charset="-122"/>
                <a:ea typeface="黑体" pitchFamily="2" charset="-122"/>
              </a:rPr>
              <a:t>(t) &gt;= 1.0e-6) { </a:t>
            </a:r>
          </a:p>
          <a:p>
            <a:pPr marL="0" indent="0" eaLnBrk="1" fontAlgn="auto" hangingPunct="1">
              <a:lnSpc>
                <a:spcPct val="95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800" b="1" dirty="0">
                <a:latin typeface="黑体" pitchFamily="2" charset="-122"/>
                <a:ea typeface="黑体" pitchFamily="2" charset="-122"/>
              </a:rPr>
              <a:t>     p += t;</a:t>
            </a:r>
          </a:p>
          <a:p>
            <a:pPr marL="0" indent="0" eaLnBrk="1" fontAlgn="auto" hangingPunct="1">
              <a:lnSpc>
                <a:spcPct val="95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800" b="1" dirty="0">
                <a:latin typeface="黑体" pitchFamily="2" charset="-122"/>
                <a:ea typeface="黑体" pitchFamily="2" charset="-122"/>
              </a:rPr>
              <a:t>     d += 2; </a:t>
            </a:r>
            <a:r>
              <a:rPr lang="en-US" altLang="zh-CN" sz="2800" b="1" dirty="0">
                <a:solidFill>
                  <a:srgbClr val="0000FF"/>
                </a:solidFill>
                <a:latin typeface="黑体" pitchFamily="2" charset="-122"/>
                <a:ea typeface="黑体" pitchFamily="2" charset="-122"/>
              </a:rPr>
              <a:t>/* </a:t>
            </a:r>
            <a:r>
              <a:rPr lang="zh-CN" altLang="en-US" sz="2800" b="1" dirty="0">
                <a:solidFill>
                  <a:srgbClr val="0000FF"/>
                </a:solidFill>
                <a:latin typeface="黑体" pitchFamily="2" charset="-122"/>
                <a:ea typeface="黑体" pitchFamily="2" charset="-122"/>
              </a:rPr>
              <a:t>后一项的分母递增</a:t>
            </a:r>
            <a:r>
              <a:rPr lang="en-US" altLang="zh-CN" sz="2800" b="1" dirty="0">
                <a:solidFill>
                  <a:srgbClr val="0000FF"/>
                </a:solidFill>
                <a:latin typeface="黑体" pitchFamily="2" charset="-122"/>
                <a:ea typeface="黑体" pitchFamily="2" charset="-122"/>
              </a:rPr>
              <a:t>2 */</a:t>
            </a:r>
          </a:p>
          <a:p>
            <a:pPr marL="0" indent="0" eaLnBrk="1" fontAlgn="auto" hangingPunct="1">
              <a:lnSpc>
                <a:spcPct val="95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800" b="1" dirty="0">
                <a:latin typeface="黑体" pitchFamily="2" charset="-122"/>
                <a:ea typeface="黑体" pitchFamily="2" charset="-122"/>
              </a:rPr>
              <a:t>     t = ((d-1)%4</a:t>
            </a:r>
            <a:r>
              <a:rPr lang="zh-CN" altLang="en-US" sz="2800" b="1" dirty="0">
                <a:latin typeface="黑体" pitchFamily="2" charset="-122"/>
                <a:ea typeface="黑体" pitchFamily="2" charset="-122"/>
              </a:rPr>
              <a:t>）</a:t>
            </a:r>
            <a:r>
              <a:rPr lang="en-US" altLang="zh-CN" sz="2800" b="1" dirty="0">
                <a:latin typeface="黑体" pitchFamily="2" charset="-122"/>
                <a:ea typeface="黑体" pitchFamily="2" charset="-122"/>
              </a:rPr>
              <a:t>? </a:t>
            </a:r>
            <a:r>
              <a:rPr lang="en-US" altLang="zh-CN" sz="2800" b="1" dirty="0">
                <a:latin typeface="Courier New"/>
                <a:ea typeface="黑体" pitchFamily="2" charset="-122"/>
              </a:rPr>
              <a:t>–</a:t>
            </a:r>
            <a:r>
              <a:rPr lang="en-US" altLang="zh-CN" sz="2800" b="1" dirty="0">
                <a:latin typeface="黑体" pitchFamily="2" charset="-122"/>
                <a:ea typeface="黑体" pitchFamily="2" charset="-122"/>
              </a:rPr>
              <a:t>1.0/d : 1.0/d;</a:t>
            </a:r>
          </a:p>
          <a:p>
            <a:pPr marL="0" indent="0" eaLnBrk="1" fontAlgn="auto" hangingPunct="1">
              <a:lnSpc>
                <a:spcPct val="95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800" b="1" dirty="0">
                <a:latin typeface="黑体" pitchFamily="2" charset="-122"/>
                <a:ea typeface="黑体" pitchFamily="2" charset="-122"/>
              </a:rPr>
              <a:t>   } </a:t>
            </a:r>
            <a:r>
              <a:rPr lang="en-US" altLang="zh-CN" sz="2800" b="1" dirty="0">
                <a:solidFill>
                  <a:srgbClr val="0000FF"/>
                </a:solidFill>
                <a:latin typeface="黑体" pitchFamily="2" charset="-122"/>
                <a:ea typeface="黑体" pitchFamily="2" charset="-122"/>
              </a:rPr>
              <a:t>/* (d-1)</a:t>
            </a:r>
            <a:r>
              <a:rPr lang="zh-CN" altLang="en-US" sz="2800" b="1" dirty="0">
                <a:solidFill>
                  <a:srgbClr val="0000FF"/>
                </a:solidFill>
                <a:latin typeface="黑体" pitchFamily="2" charset="-122"/>
                <a:ea typeface="黑体" pitchFamily="2" charset="-122"/>
              </a:rPr>
              <a:t>能除尽</a:t>
            </a:r>
            <a:r>
              <a:rPr lang="en-US" altLang="zh-CN" sz="2800" b="1" dirty="0">
                <a:solidFill>
                  <a:srgbClr val="0000FF"/>
                </a:solidFill>
                <a:latin typeface="黑体" pitchFamily="2" charset="-122"/>
                <a:ea typeface="黑体" pitchFamily="2" charset="-122"/>
              </a:rPr>
              <a:t>4</a:t>
            </a:r>
            <a:r>
              <a:rPr lang="zh-CN" altLang="en-US" sz="2800" b="1" dirty="0">
                <a:solidFill>
                  <a:srgbClr val="0000FF"/>
                </a:solidFill>
                <a:latin typeface="黑体" pitchFamily="2" charset="-122"/>
                <a:ea typeface="黑体" pitchFamily="2" charset="-122"/>
              </a:rPr>
              <a:t>则当前项为正，否则为负 *</a:t>
            </a:r>
            <a:r>
              <a:rPr lang="en-US" altLang="zh-CN" sz="2800" b="1" dirty="0">
                <a:solidFill>
                  <a:srgbClr val="0000FF"/>
                </a:solidFill>
                <a:latin typeface="黑体" pitchFamily="2" charset="-122"/>
                <a:ea typeface="黑体" pitchFamily="2" charset="-122"/>
              </a:rPr>
              <a:t>/</a:t>
            </a:r>
          </a:p>
        </p:txBody>
      </p:sp>
      <p:sp>
        <p:nvSpPr>
          <p:cNvPr id="6349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BE092B-5AE9-49CC-82E3-4669561D6FEA}" type="slidenum">
              <a:rPr lang="en-US" altLang="zh-CN"/>
              <a:pPr>
                <a:defRPr/>
              </a:pPr>
              <a:t>4</a:t>
            </a:fld>
            <a:endParaRPr lang="en-US" altLang="zh-C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1026"/>
          <p:cNvSpPr>
            <a:spLocks noGrp="1" noChangeArrowheads="1"/>
          </p:cNvSpPr>
          <p:nvPr>
            <p:ph type="title"/>
          </p:nvPr>
        </p:nvSpPr>
        <p:spPr>
          <a:xfrm>
            <a:off x="500063" y="642938"/>
            <a:ext cx="8375650" cy="609600"/>
          </a:xfrm>
        </p:spPr>
        <p:txBody>
          <a:bodyPr/>
          <a:lstStyle/>
          <a:p>
            <a:pPr eaLnBrk="1" hangingPunct="1"/>
            <a:r>
              <a:rPr lang="zh-CN" altLang="en-US"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使用 </a:t>
            </a:r>
            <a:r>
              <a:rPr lang="en-US" altLang="zh-CN"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do-while </a:t>
            </a:r>
            <a:r>
              <a:rPr lang="zh-CN" altLang="en-US"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循环语句</a:t>
            </a:r>
            <a:r>
              <a:rPr lang="en-US" altLang="zh-CN"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:</a:t>
            </a:r>
            <a:endParaRPr lang="zh-CN" altLang="en-US" sz="3200" b="1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217091" name="Rectangle 1027"/>
          <p:cNvSpPr>
            <a:spLocks noGrp="1" noChangeArrowheads="1"/>
          </p:cNvSpPr>
          <p:nvPr>
            <p:ph idx="1"/>
          </p:nvPr>
        </p:nvSpPr>
        <p:spPr>
          <a:xfrm>
            <a:off x="228600" y="2000250"/>
            <a:ext cx="8686800" cy="4629150"/>
          </a:xfrm>
        </p:spPr>
        <p:txBody>
          <a:bodyPr>
            <a:normAutofit lnSpcReduction="10000"/>
          </a:bodyPr>
          <a:lstStyle/>
          <a:p>
            <a:pPr marL="0" indent="0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循环求和，并修正变量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d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（作为分母）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和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t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（作为当前项），直至新的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t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的绝对值小于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0.000001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时结束，其代码为：</a:t>
            </a:r>
          </a:p>
          <a:p>
            <a:pPr marL="0" indent="0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// p = 1 - 1/3 + 1/5 - 1/7 + 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/>
                <a:ea typeface="黑体" pitchFamily="2" charset="-122"/>
              </a:rPr>
              <a:t>…</a:t>
            </a:r>
            <a:endParaRPr lang="en-US" altLang="zh-CN" dirty="0">
              <a:latin typeface="黑体" pitchFamily="2" charset="-122"/>
              <a:ea typeface="黑体" pitchFamily="2" charset="-122"/>
            </a:endParaRPr>
          </a:p>
          <a:p>
            <a:pPr marL="0" indent="0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800" dirty="0">
                <a:latin typeface="宋体" pitchFamily="2" charset="-122"/>
              </a:rPr>
              <a:t>  </a:t>
            </a:r>
            <a:r>
              <a:rPr lang="en-US" altLang="zh-CN" sz="2800" b="1" dirty="0">
                <a:latin typeface="黑体" pitchFamily="2" charset="-122"/>
                <a:ea typeface="黑体" pitchFamily="2" charset="-122"/>
              </a:rPr>
              <a:t>p = 0.0; d = 1; t = 1.0;  </a:t>
            </a:r>
          </a:p>
          <a:p>
            <a:pPr marL="0" indent="0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800" b="1" dirty="0">
                <a:latin typeface="黑体" pitchFamily="2" charset="-122"/>
                <a:ea typeface="黑体" pitchFamily="2" charset="-122"/>
              </a:rPr>
              <a:t>  do { </a:t>
            </a:r>
          </a:p>
          <a:p>
            <a:pPr marL="0" indent="0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800" b="1" dirty="0">
                <a:latin typeface="黑体" pitchFamily="2" charset="-122"/>
                <a:ea typeface="黑体" pitchFamily="2" charset="-122"/>
              </a:rPr>
              <a:t>     p += t;</a:t>
            </a:r>
          </a:p>
          <a:p>
            <a:pPr marL="0" indent="0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800" b="1" dirty="0">
                <a:latin typeface="黑体" pitchFamily="2" charset="-122"/>
                <a:ea typeface="黑体" pitchFamily="2" charset="-122"/>
              </a:rPr>
              <a:t>     d += 2; </a:t>
            </a:r>
            <a:r>
              <a:rPr lang="en-US" altLang="zh-CN" sz="3600" b="1" dirty="0">
                <a:solidFill>
                  <a:srgbClr val="0000FF"/>
                </a:solidFill>
                <a:latin typeface="黑体" pitchFamily="2" charset="-122"/>
                <a:ea typeface="黑体" pitchFamily="2" charset="-122"/>
              </a:rPr>
              <a:t>/* </a:t>
            </a:r>
            <a:r>
              <a:rPr lang="zh-CN" altLang="en-US" sz="3600" b="1" dirty="0">
                <a:solidFill>
                  <a:srgbClr val="0000FF"/>
                </a:solidFill>
                <a:latin typeface="黑体" pitchFamily="2" charset="-122"/>
                <a:ea typeface="黑体" pitchFamily="2" charset="-122"/>
              </a:rPr>
              <a:t>后一项的分母递增</a:t>
            </a:r>
            <a:r>
              <a:rPr lang="en-US" altLang="zh-CN" sz="3600" b="1" dirty="0">
                <a:solidFill>
                  <a:srgbClr val="0000FF"/>
                </a:solidFill>
                <a:latin typeface="黑体" pitchFamily="2" charset="-122"/>
                <a:ea typeface="黑体" pitchFamily="2" charset="-122"/>
              </a:rPr>
              <a:t>2 */</a:t>
            </a:r>
            <a:endParaRPr lang="en-US" altLang="zh-CN" sz="2800" b="1" dirty="0">
              <a:latin typeface="黑体" pitchFamily="2" charset="-122"/>
              <a:ea typeface="黑体" pitchFamily="2" charset="-122"/>
            </a:endParaRPr>
          </a:p>
          <a:p>
            <a:pPr marL="0" indent="0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800" b="1" dirty="0">
                <a:latin typeface="黑体" pitchFamily="2" charset="-122"/>
                <a:ea typeface="黑体" pitchFamily="2" charset="-122"/>
              </a:rPr>
              <a:t>     t = ((d-1)%4</a:t>
            </a:r>
            <a:r>
              <a:rPr lang="zh-CN" altLang="en-US" sz="2800" b="1" dirty="0">
                <a:latin typeface="黑体" pitchFamily="2" charset="-122"/>
                <a:ea typeface="黑体" pitchFamily="2" charset="-122"/>
              </a:rPr>
              <a:t>）</a:t>
            </a:r>
            <a:r>
              <a:rPr lang="en-US" altLang="zh-CN" sz="2800" b="1" dirty="0">
                <a:latin typeface="黑体" pitchFamily="2" charset="-122"/>
                <a:ea typeface="黑体" pitchFamily="2" charset="-122"/>
              </a:rPr>
              <a:t>? </a:t>
            </a:r>
            <a:r>
              <a:rPr lang="en-US" altLang="zh-CN" sz="2800" b="1" dirty="0">
                <a:latin typeface="Courier New"/>
                <a:ea typeface="黑体" pitchFamily="2" charset="-122"/>
              </a:rPr>
              <a:t>–</a:t>
            </a:r>
            <a:r>
              <a:rPr lang="en-US" altLang="zh-CN" sz="2800" b="1" dirty="0">
                <a:latin typeface="黑体" pitchFamily="2" charset="-122"/>
                <a:ea typeface="黑体" pitchFamily="2" charset="-122"/>
              </a:rPr>
              <a:t>1.0/d : 1.0/d;</a:t>
            </a:r>
          </a:p>
          <a:p>
            <a:pPr marL="0" indent="0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800" b="1" dirty="0">
                <a:latin typeface="黑体" pitchFamily="2" charset="-122"/>
                <a:ea typeface="黑体" pitchFamily="2" charset="-122"/>
              </a:rPr>
              <a:t>  } while (</a:t>
            </a:r>
            <a:r>
              <a:rPr lang="en-US" altLang="zh-CN" sz="2800" b="1" dirty="0" err="1">
                <a:latin typeface="黑体" pitchFamily="2" charset="-122"/>
                <a:ea typeface="黑体" pitchFamily="2" charset="-122"/>
              </a:rPr>
              <a:t>fabs</a:t>
            </a:r>
            <a:r>
              <a:rPr lang="en-US" altLang="zh-CN" sz="2800" b="1" dirty="0">
                <a:latin typeface="黑体" pitchFamily="2" charset="-122"/>
                <a:ea typeface="黑体" pitchFamily="2" charset="-122"/>
              </a:rPr>
              <a:t>(t) &gt;= 1.0e-6);</a:t>
            </a:r>
          </a:p>
          <a:p>
            <a:pPr marL="0" indent="0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800" b="1" dirty="0">
                <a:solidFill>
                  <a:srgbClr val="0000CC"/>
                </a:solidFill>
                <a:latin typeface="宋体" pitchFamily="2" charset="-122"/>
              </a:rPr>
              <a:t> </a:t>
            </a:r>
          </a:p>
        </p:txBody>
      </p:sp>
      <p:sp>
        <p:nvSpPr>
          <p:cNvPr id="6451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5A4A61-6C34-433F-8AE8-3ADB6828F71F}" type="slidenum">
              <a:rPr lang="en-US" altLang="zh-CN"/>
              <a:pPr>
                <a:defRPr/>
              </a:pPr>
              <a:t>5</a:t>
            </a:fld>
            <a:endParaRPr lang="en-US" altLang="zh-CN"/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>
          <a:xfrm>
            <a:off x="357188" y="642938"/>
            <a:ext cx="8520112" cy="609600"/>
          </a:xfrm>
        </p:spPr>
        <p:txBody>
          <a:bodyPr/>
          <a:lstStyle/>
          <a:p>
            <a:pPr eaLnBrk="1" hangingPunct="1"/>
            <a:r>
              <a:rPr lang="zh-CN" altLang="en-US"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使用 </a:t>
            </a:r>
            <a:r>
              <a:rPr lang="en-US" altLang="zh-CN"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for </a:t>
            </a:r>
            <a:r>
              <a:rPr lang="zh-CN" altLang="en-US"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循环语句</a:t>
            </a:r>
            <a:r>
              <a:rPr lang="en-US" altLang="zh-CN" sz="32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:</a:t>
            </a:r>
            <a:endParaRPr lang="zh-CN" altLang="en-US" sz="3200" b="1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218115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428750"/>
            <a:ext cx="8591550" cy="5200650"/>
          </a:xfrm>
        </p:spPr>
        <p:txBody>
          <a:bodyPr>
            <a:normAutofit/>
          </a:bodyPr>
          <a:lstStyle/>
          <a:p>
            <a:pPr marL="0" indent="0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从变量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d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（作为分母）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初值为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1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、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t 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（作为当前项）初值为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1.0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开始，当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t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的绝对值不小于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0.000001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时循环求和，每次循环后相应地修正变量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d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和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t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，其代码为：</a:t>
            </a:r>
          </a:p>
          <a:p>
            <a:pPr marL="0" indent="0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800" b="1" dirty="0">
                <a:solidFill>
                  <a:srgbClr val="CC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// p = 1 - 1/3 + 1/5 - 1/7 + </a:t>
            </a:r>
            <a:r>
              <a:rPr lang="en-US" altLang="zh-CN" sz="2800" b="1" dirty="0">
                <a:solidFill>
                  <a:srgbClr val="CC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/>
                <a:ea typeface="黑体" pitchFamily="2" charset="-122"/>
              </a:rPr>
              <a:t>…</a:t>
            </a:r>
            <a:endParaRPr lang="en-US" altLang="zh-CN" b="1" dirty="0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宋体" pitchFamily="2" charset="-122"/>
            </a:endParaRPr>
          </a:p>
          <a:p>
            <a:pPr marL="0" indent="0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3200" dirty="0">
                <a:latin typeface="宋体" pitchFamily="2" charset="-122"/>
              </a:rPr>
              <a:t>  </a:t>
            </a:r>
            <a:r>
              <a:rPr lang="en-US" altLang="zh-CN" sz="3200" b="1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for( p = 0.0, d = 1, t = 1.0; //</a:t>
            </a:r>
            <a:r>
              <a:rPr lang="zh-CN" altLang="en-US" sz="3200" b="1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表达式</a:t>
            </a:r>
            <a:r>
              <a:rPr lang="en-US" altLang="zh-CN" sz="3200" b="1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1 </a:t>
            </a:r>
          </a:p>
          <a:p>
            <a:pPr marL="0" indent="0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3200" b="1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      </a:t>
            </a:r>
            <a:r>
              <a:rPr lang="en-US" altLang="zh-CN" sz="3200" b="1" dirty="0" err="1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fabs</a:t>
            </a:r>
            <a:r>
              <a:rPr lang="en-US" altLang="zh-CN" sz="3200" b="1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(t) &gt;= 1.0e-6;  //</a:t>
            </a:r>
            <a:r>
              <a:rPr lang="zh-CN" altLang="en-US" sz="3200" b="1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表达式</a:t>
            </a:r>
            <a:r>
              <a:rPr lang="en-US" altLang="zh-CN" sz="3200" b="1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2</a:t>
            </a:r>
          </a:p>
          <a:p>
            <a:pPr marL="0" indent="0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3200" b="1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      d += 2,  //</a:t>
            </a:r>
            <a:r>
              <a:rPr lang="zh-CN" altLang="en-US" sz="3200" b="1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表达式</a:t>
            </a:r>
            <a:r>
              <a:rPr lang="en-US" altLang="zh-CN" sz="3200" b="1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3</a:t>
            </a:r>
            <a:r>
              <a:rPr lang="zh-CN" altLang="en-US" sz="3200" b="1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：对</a:t>
            </a:r>
            <a:r>
              <a:rPr lang="en-US" altLang="zh-CN" sz="3200" b="1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d</a:t>
            </a:r>
            <a:r>
              <a:rPr lang="zh-CN" altLang="en-US" sz="3200" b="1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和</a:t>
            </a:r>
            <a:r>
              <a:rPr lang="en-US" altLang="zh-CN" sz="3200" b="1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t</a:t>
            </a:r>
            <a:r>
              <a:rPr lang="zh-CN" altLang="en-US" sz="3200" b="1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的修正</a:t>
            </a:r>
          </a:p>
          <a:p>
            <a:pPr marL="0" indent="0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zh-CN" altLang="en-US" sz="3200" b="1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      </a:t>
            </a:r>
            <a:r>
              <a:rPr lang="en-US" altLang="zh-CN" sz="3200" b="1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t = ( ( d-1)%4) ? -1.0/d : 1.0/d ) </a:t>
            </a:r>
          </a:p>
          <a:p>
            <a:pPr marL="0" indent="0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3200" b="1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      p += t;//</a:t>
            </a:r>
            <a:r>
              <a:rPr lang="zh-CN" altLang="en-US" sz="3200" b="1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循环体</a:t>
            </a:r>
          </a:p>
          <a:p>
            <a:pPr marL="0" indent="0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endParaRPr lang="zh-CN" altLang="en-US" sz="3200" b="1" dirty="0">
              <a:latin typeface="黑体" pitchFamily="2" charset="-122"/>
              <a:ea typeface="黑体" pitchFamily="2" charset="-122"/>
            </a:endParaRPr>
          </a:p>
          <a:p>
            <a:pPr marL="0" indent="0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endParaRPr lang="en-US" altLang="zh-CN" sz="3200" dirty="0">
              <a:latin typeface="宋体" pitchFamily="2" charset="-122"/>
            </a:endParaRPr>
          </a:p>
        </p:txBody>
      </p:sp>
      <p:sp>
        <p:nvSpPr>
          <p:cNvPr id="6553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1B656E6-C70D-445F-A964-90E45DA8013B}" type="slidenum">
              <a:rPr lang="en-US" altLang="zh-CN"/>
              <a:pPr>
                <a:defRPr/>
              </a:pPr>
              <a:t>6</a:t>
            </a:fld>
            <a:endParaRPr lang="en-US" altLang="zh-CN"/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>
          <a:xfrm>
            <a:off x="428625" y="228600"/>
            <a:ext cx="8486775" cy="609600"/>
          </a:xfrm>
        </p:spPr>
        <p:txBody>
          <a:bodyPr/>
          <a:lstStyle/>
          <a:p>
            <a:pPr eaLnBrk="1" hangingPunct="1"/>
            <a:r>
              <a:rPr lang="zh-CN" altLang="en-US" sz="2800" b="1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三种循环语句在代码编写时也有一些区别：</a:t>
            </a:r>
          </a:p>
        </p:txBody>
      </p:sp>
      <p:sp>
        <p:nvSpPr>
          <p:cNvPr id="68611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914400"/>
            <a:ext cx="8591550" cy="5715000"/>
          </a:xfrm>
        </p:spPr>
        <p:txBody>
          <a:bodyPr/>
          <a:lstStyle/>
          <a:p>
            <a:pPr marL="0" indent="0" eaLnBrk="1" hangingPunct="1">
              <a:buFont typeface="Wingdings" pitchFamily="2" charset="2"/>
              <a:buNone/>
            </a:pPr>
            <a:r>
              <a:rPr lang="zh-CN" sz="3200" b="1" dirty="0"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3200" b="1" dirty="0"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sz="3200" b="1" dirty="0">
                <a:latin typeface="楷体_GB2312" pitchFamily="49" charset="-122"/>
                <a:ea typeface="楷体_GB2312" pitchFamily="49" charset="-122"/>
              </a:rPr>
              <a:t>）</a:t>
            </a:r>
            <a:r>
              <a:rPr lang="en-US" altLang="zh-CN" sz="3200" b="1" dirty="0">
                <a:latin typeface="楷体_GB2312" pitchFamily="49" charset="-122"/>
                <a:ea typeface="楷体_GB2312" pitchFamily="49" charset="-122"/>
              </a:rPr>
              <a:t>while</a:t>
            </a:r>
            <a:r>
              <a:rPr lang="zh-CN" sz="3200" b="1" dirty="0">
                <a:latin typeface="楷体_GB2312" pitchFamily="49" charset="-122"/>
                <a:ea typeface="楷体_GB2312" pitchFamily="49" charset="-122"/>
              </a:rPr>
              <a:t>语句和</a:t>
            </a:r>
            <a:r>
              <a:rPr lang="en-US" altLang="zh-CN" sz="3200" b="1" dirty="0">
                <a:latin typeface="楷体_GB2312" pitchFamily="49" charset="-122"/>
                <a:ea typeface="楷体_GB2312" pitchFamily="49" charset="-122"/>
              </a:rPr>
              <a:t>for</a:t>
            </a:r>
            <a:r>
              <a:rPr lang="zh-CN" sz="3200" b="1" dirty="0">
                <a:latin typeface="楷体_GB2312" pitchFamily="49" charset="-122"/>
                <a:ea typeface="楷体_GB2312" pitchFamily="49" charset="-122"/>
              </a:rPr>
              <a:t>语句，控制循环的条件表达式的求值和测试在前，循环体执行在后，因此极端情况，循环体可能一次也没有执行。</a:t>
            </a:r>
            <a:endParaRPr lang="en-US" altLang="zh-CN" sz="3200" b="1" dirty="0">
              <a:latin typeface="楷体_GB2312" pitchFamily="49" charset="-122"/>
              <a:ea typeface="楷体_GB2312" pitchFamily="49" charset="-122"/>
            </a:endParaRPr>
          </a:p>
          <a:p>
            <a:pPr marL="0" indent="0" eaLnBrk="1" hangingPunct="1">
              <a:buFont typeface="Wingdings" pitchFamily="2" charset="2"/>
              <a:buNone/>
            </a:pPr>
            <a:r>
              <a:rPr lang="en-US" altLang="zh-CN" sz="3200" b="1" dirty="0">
                <a:latin typeface="楷体_GB2312" pitchFamily="49" charset="-122"/>
                <a:ea typeface="楷体_GB2312" pitchFamily="49" charset="-122"/>
              </a:rPr>
              <a:t>do…while</a:t>
            </a:r>
            <a:r>
              <a:rPr lang="zh-CN" sz="3200" b="1" dirty="0">
                <a:latin typeface="楷体_GB2312" pitchFamily="49" charset="-122"/>
                <a:ea typeface="楷体_GB2312" pitchFamily="49" charset="-122"/>
              </a:rPr>
              <a:t>语句，循环体执行在前，控制循环的条件表达式的求值和测试在后。因此，循环体至少被执行过一次。</a:t>
            </a:r>
            <a:endParaRPr lang="zh-CN" sz="2800" b="1" dirty="0">
              <a:latin typeface="楷体_GB2312" pitchFamily="49" charset="-122"/>
              <a:ea typeface="楷体_GB2312" pitchFamily="49" charset="-122"/>
            </a:endParaRPr>
          </a:p>
          <a:p>
            <a:pPr marL="0" indent="0" eaLnBrk="1" hangingPunct="1">
              <a:buFont typeface="Wingdings" pitchFamily="2" charset="2"/>
              <a:buNone/>
            </a:pPr>
            <a:endParaRPr lang="en-US" altLang="zh-CN" sz="2400" b="1" dirty="0">
              <a:latin typeface="楷体_GB2312" pitchFamily="49" charset="-122"/>
              <a:ea typeface="楷体_GB2312" pitchFamily="49" charset="-122"/>
            </a:endParaRPr>
          </a:p>
          <a:p>
            <a:pPr marL="0" indent="0" eaLnBrk="1" hangingPunct="1">
              <a:buFont typeface="Wingdings" pitchFamily="2" charset="2"/>
              <a:buNone/>
            </a:pPr>
            <a:r>
              <a:rPr lang="zh-CN" sz="3200" b="1" dirty="0"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3200" b="1" dirty="0"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sz="3200" b="1" dirty="0">
                <a:latin typeface="楷体_GB2312" pitchFamily="49" charset="-122"/>
                <a:ea typeface="楷体_GB2312" pitchFamily="49" charset="-122"/>
              </a:rPr>
              <a:t>）</a:t>
            </a:r>
            <a:r>
              <a:rPr lang="en-US" altLang="zh-CN" sz="3200" b="1" dirty="0">
                <a:latin typeface="楷体_GB2312" pitchFamily="49" charset="-122"/>
                <a:ea typeface="楷体_GB2312" pitchFamily="49" charset="-122"/>
              </a:rPr>
              <a:t>do…while</a:t>
            </a:r>
            <a:r>
              <a:rPr lang="zh-CN" sz="3200" b="1" dirty="0">
                <a:latin typeface="楷体_GB2312" pitchFamily="49" charset="-122"/>
                <a:ea typeface="楷体_GB2312" pitchFamily="49" charset="-122"/>
              </a:rPr>
              <a:t>语句最后要接上一个分号，这是其句法的要求。</a:t>
            </a:r>
            <a:r>
              <a:rPr lang="en-US" altLang="zh-CN" sz="3200" b="1" dirty="0">
                <a:latin typeface="楷体_GB2312" pitchFamily="49" charset="-122"/>
                <a:ea typeface="楷体_GB2312" pitchFamily="49" charset="-122"/>
              </a:rPr>
              <a:t>while</a:t>
            </a:r>
            <a:r>
              <a:rPr lang="zh-CN" sz="3200" b="1" dirty="0">
                <a:latin typeface="楷体_GB2312" pitchFamily="49" charset="-122"/>
                <a:ea typeface="楷体_GB2312" pitchFamily="49" charset="-122"/>
              </a:rPr>
              <a:t>语句和</a:t>
            </a:r>
            <a:r>
              <a:rPr lang="en-US" altLang="zh-CN" sz="3200" b="1" dirty="0">
                <a:latin typeface="楷体_GB2312" pitchFamily="49" charset="-122"/>
                <a:ea typeface="楷体_GB2312" pitchFamily="49" charset="-122"/>
              </a:rPr>
              <a:t>for</a:t>
            </a:r>
            <a:r>
              <a:rPr lang="zh-CN" sz="3200" b="1" dirty="0">
                <a:latin typeface="楷体_GB2312" pitchFamily="49" charset="-122"/>
                <a:ea typeface="楷体_GB2312" pitchFamily="49" charset="-122"/>
              </a:rPr>
              <a:t>语句如果循环体是一个表达式语句，最后也会以分号结束，但这个分号是该表达式语句的要求。</a:t>
            </a:r>
          </a:p>
          <a:p>
            <a:pPr marL="0" indent="0" eaLnBrk="1" hangingPunct="1">
              <a:buFont typeface="Wingdings" pitchFamily="2" charset="2"/>
              <a:buNone/>
            </a:pPr>
            <a:endParaRPr lang="en-US" altLang="zh-CN" sz="2400" b="1" dirty="0">
              <a:latin typeface="楷体_GB2312" pitchFamily="49" charset="-122"/>
              <a:ea typeface="楷体_GB2312" pitchFamily="49" charset="-122"/>
            </a:endParaRPr>
          </a:p>
          <a:p>
            <a:pPr marL="0" indent="0" eaLnBrk="1" hangingPunct="1">
              <a:buFont typeface="Wingdings" pitchFamily="2" charset="2"/>
              <a:buNone/>
            </a:pPr>
            <a:endParaRPr lang="zh-CN" altLang="zh-CN" sz="2400" b="1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6656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EF3257A-5A52-4D44-8734-CC7E500F537F}" type="slidenum">
              <a:rPr lang="en-US" altLang="zh-CN"/>
              <a:pPr>
                <a:defRPr/>
              </a:pPr>
              <a:t>7</a:t>
            </a:fld>
            <a:endParaRPr lang="en-US" altLang="zh-CN"/>
          </a:p>
        </p:txBody>
      </p:sp>
      <p:sp>
        <p:nvSpPr>
          <p:cNvPr id="5" name="矩形 4"/>
          <p:cNvSpPr/>
          <p:nvPr/>
        </p:nvSpPr>
        <p:spPr>
          <a:xfrm>
            <a:off x="4860032" y="2132856"/>
            <a:ext cx="3816424" cy="14401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/>
              <a:t>可以用</a:t>
            </a:r>
            <a:r>
              <a:rPr lang="en-US" altLang="zh-CN" sz="2800" dirty="0"/>
              <a:t>while</a:t>
            </a:r>
            <a:r>
              <a:rPr lang="zh-CN" altLang="en-US" sz="2800" dirty="0"/>
              <a:t>，</a:t>
            </a:r>
            <a:r>
              <a:rPr lang="en-US" altLang="zh-CN" sz="2800" dirty="0"/>
              <a:t>for</a:t>
            </a:r>
            <a:r>
              <a:rPr lang="zh-CN" altLang="en-US" sz="2800" dirty="0"/>
              <a:t>表示</a:t>
            </a:r>
            <a:r>
              <a:rPr lang="en-US" altLang="zh-CN" sz="2800" dirty="0"/>
              <a:t>do</a:t>
            </a:r>
            <a:r>
              <a:rPr lang="zh-CN" altLang="en-US" sz="2800" dirty="0"/>
              <a:t>。。。</a:t>
            </a:r>
            <a:r>
              <a:rPr lang="en-US" altLang="zh-CN" sz="2800" dirty="0"/>
              <a:t>While</a:t>
            </a:r>
            <a:r>
              <a:rPr lang="zh-CN" altLang="en-US" sz="2800" dirty="0"/>
              <a:t>吗？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86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86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allAtOnce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963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 2" pitchFamily="18" charset="2"/>
              <a:buNone/>
            </a:pPr>
            <a:r>
              <a:rPr lang="en-US" altLang="zh-CN" sz="3200" b="1" dirty="0">
                <a:latin typeface="楷体_GB2312" pitchFamily="49" charset="-122"/>
                <a:ea typeface="楷体_GB2312" pitchFamily="49" charset="-122"/>
              </a:rPr>
              <a:t>(3</a:t>
            </a:r>
            <a:r>
              <a:rPr lang="zh-CN" altLang="zh-CN" sz="3200" b="1" dirty="0">
                <a:latin typeface="楷体_GB2312" pitchFamily="49" charset="-122"/>
                <a:ea typeface="楷体_GB2312" pitchFamily="49" charset="-122"/>
              </a:rPr>
              <a:t>）用</a:t>
            </a:r>
            <a:r>
              <a:rPr lang="en-US" altLang="zh-CN" sz="3200" b="1" dirty="0">
                <a:latin typeface="楷体_GB2312" pitchFamily="49" charset="-122"/>
                <a:ea typeface="楷体_GB2312" pitchFamily="49" charset="-122"/>
              </a:rPr>
              <a:t>while</a:t>
            </a:r>
            <a:r>
              <a:rPr lang="zh-CN" altLang="zh-CN" sz="3200" b="1" dirty="0">
                <a:latin typeface="楷体_GB2312" pitchFamily="49" charset="-122"/>
                <a:ea typeface="楷体_GB2312" pitchFamily="49" charset="-122"/>
              </a:rPr>
              <a:t>语句或</a:t>
            </a:r>
            <a:r>
              <a:rPr lang="en-US" altLang="zh-CN" sz="3200" b="1" dirty="0">
                <a:latin typeface="楷体_GB2312" pitchFamily="49" charset="-122"/>
                <a:ea typeface="楷体_GB2312" pitchFamily="49" charset="-122"/>
              </a:rPr>
              <a:t>do…while</a:t>
            </a:r>
            <a:r>
              <a:rPr lang="zh-CN" altLang="zh-CN" sz="3200" b="1" dirty="0">
                <a:latin typeface="楷体_GB2312" pitchFamily="49" charset="-122"/>
                <a:ea typeface="楷体_GB2312" pitchFamily="49" charset="-122"/>
              </a:rPr>
              <a:t>语句，通常在它们之前会有赋值语句给有关变量</a:t>
            </a:r>
            <a:r>
              <a:rPr lang="zh-CN" altLang="en-US" sz="3200" b="1" dirty="0">
                <a:latin typeface="楷体_GB2312" pitchFamily="49" charset="-122"/>
                <a:ea typeface="楷体_GB2312" pitchFamily="49" charset="-122"/>
              </a:rPr>
              <a:t>（循环控制变量）</a:t>
            </a:r>
            <a:r>
              <a:rPr lang="zh-CN" altLang="zh-CN" sz="3200" b="1" dirty="0">
                <a:latin typeface="楷体_GB2312" pitchFamily="49" charset="-122"/>
                <a:ea typeface="楷体_GB2312" pitchFamily="49" charset="-122"/>
              </a:rPr>
              <a:t>赋初值，在循环体中</a:t>
            </a:r>
            <a:r>
              <a:rPr lang="zh-CN" altLang="en-US" sz="3200" b="1" dirty="0">
                <a:latin typeface="楷体_GB2312" pitchFamily="49" charset="-122"/>
                <a:ea typeface="楷体_GB2312" pitchFamily="49" charset="-122"/>
              </a:rPr>
              <a:t>对该</a:t>
            </a:r>
            <a:r>
              <a:rPr lang="zh-CN" altLang="zh-CN" sz="3200" b="1" dirty="0">
                <a:latin typeface="楷体_GB2312" pitchFamily="49" charset="-122"/>
                <a:ea typeface="楷体_GB2312" pitchFamily="49" charset="-122"/>
              </a:rPr>
              <a:t>变量</a:t>
            </a:r>
            <a:r>
              <a:rPr lang="zh-CN" altLang="en-US" sz="3200" b="1" dirty="0">
                <a:latin typeface="楷体_GB2312" pitchFamily="49" charset="-122"/>
                <a:ea typeface="楷体_GB2312" pitchFamily="49" charset="-122"/>
              </a:rPr>
              <a:t>的</a:t>
            </a:r>
            <a:r>
              <a:rPr lang="zh-CN" altLang="zh-CN" sz="3200" b="1" dirty="0">
                <a:latin typeface="楷体_GB2312" pitchFamily="49" charset="-122"/>
                <a:ea typeface="楷体_GB2312" pitchFamily="49" charset="-122"/>
              </a:rPr>
              <a:t>值</a:t>
            </a:r>
            <a:r>
              <a:rPr lang="zh-CN" altLang="en-US" sz="3200" b="1" dirty="0">
                <a:latin typeface="楷体_GB2312" pitchFamily="49" charset="-122"/>
                <a:ea typeface="楷体_GB2312" pitchFamily="49" charset="-122"/>
              </a:rPr>
              <a:t>进行</a:t>
            </a:r>
            <a:r>
              <a:rPr lang="zh-CN" altLang="zh-CN" sz="3200" b="1" dirty="0">
                <a:latin typeface="楷体_GB2312" pitchFamily="49" charset="-122"/>
                <a:ea typeface="楷体_GB2312" pitchFamily="49" charset="-122"/>
              </a:rPr>
              <a:t>修正。而</a:t>
            </a:r>
            <a:r>
              <a:rPr lang="en-US" altLang="zh-CN" sz="3200" b="1" dirty="0">
                <a:latin typeface="楷体_GB2312" pitchFamily="49" charset="-122"/>
                <a:ea typeface="楷体_GB2312" pitchFamily="49" charset="-122"/>
              </a:rPr>
              <a:t>for</a:t>
            </a:r>
            <a:r>
              <a:rPr lang="zh-CN" altLang="zh-CN" sz="3200" b="1" dirty="0">
                <a:latin typeface="楷体_GB2312" pitchFamily="49" charset="-122"/>
                <a:ea typeface="楷体_GB2312" pitchFamily="49" charset="-122"/>
              </a:rPr>
              <a:t>语句的赋初值部分应出现在表达式</a:t>
            </a:r>
            <a:r>
              <a:rPr lang="en-US" altLang="zh-CN" sz="3200" b="1" dirty="0"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zh-CN" sz="3200" b="1" dirty="0">
                <a:latin typeface="楷体_GB2312" pitchFamily="49" charset="-122"/>
                <a:ea typeface="楷体_GB2312" pitchFamily="49" charset="-122"/>
              </a:rPr>
              <a:t>中，对变量的修正应出现在表达式</a:t>
            </a:r>
            <a:r>
              <a:rPr lang="en-US" altLang="zh-CN" sz="3200" b="1" dirty="0">
                <a:latin typeface="楷体_GB2312" pitchFamily="49" charset="-122"/>
                <a:ea typeface="楷体_GB2312" pitchFamily="49" charset="-122"/>
              </a:rPr>
              <a:t>3</a:t>
            </a:r>
            <a:r>
              <a:rPr lang="zh-CN" altLang="zh-CN" sz="3200" b="1" dirty="0">
                <a:latin typeface="楷体_GB2312" pitchFamily="49" charset="-122"/>
                <a:ea typeface="楷体_GB2312" pitchFamily="49" charset="-122"/>
              </a:rPr>
              <a:t>中。</a:t>
            </a:r>
            <a:endParaRPr lang="zh-CN" alt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02A7E8-E6FF-44C8-BEFE-343B7D7CB732}" type="slidenum">
              <a:rPr lang="en-US" altLang="zh-CN" smtClean="0"/>
              <a:pPr>
                <a:defRPr/>
              </a:pPr>
              <a:t>8</a:t>
            </a:fld>
            <a:endParaRPr lang="en-US" altLang="zh-C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404813"/>
            <a:ext cx="8470900" cy="609600"/>
          </a:xfrm>
        </p:spPr>
        <p:txBody>
          <a:bodyPr/>
          <a:lstStyle/>
          <a:p>
            <a:pPr eaLnBrk="1" hangingPunct="1"/>
            <a:r>
              <a:rPr lang="zh-CN" altLang="en-US" sz="360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嵌套的循环结构</a:t>
            </a:r>
          </a:p>
        </p:txBody>
      </p:sp>
      <p:sp>
        <p:nvSpPr>
          <p:cNvPr id="220163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1125538"/>
            <a:ext cx="8208962" cy="5138737"/>
          </a:xfrm>
        </p:spPr>
        <p:txBody>
          <a:bodyPr>
            <a:normAutofit/>
          </a:bodyPr>
          <a:lstStyle/>
          <a:p>
            <a:pPr marL="0" indent="0" algn="just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当一个循环结构的循环体中又包含一个完整的循环结构时，称为循环结构的嵌套。在实际应用中，三种循环语句可以相互嵌套，会呈现多种复杂形式。</a:t>
            </a:r>
          </a:p>
          <a:p>
            <a:pPr marL="0" indent="0" algn="just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endParaRPr lang="en-US" altLang="zh-CN" b="1" dirty="0">
              <a:latin typeface="黑体" pitchFamily="2" charset="-122"/>
              <a:ea typeface="黑体" pitchFamily="2" charset="-122"/>
            </a:endParaRPr>
          </a:p>
          <a:p>
            <a:pPr marL="0" indent="0" algn="just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800" b="1" dirty="0">
                <a:latin typeface="黑体" pitchFamily="2" charset="-122"/>
                <a:ea typeface="黑体" pitchFamily="2" charset="-122"/>
              </a:rPr>
              <a:t>【</a:t>
            </a:r>
            <a:r>
              <a:rPr lang="zh-CN" altLang="en-US" sz="2800" b="1" dirty="0">
                <a:latin typeface="黑体" pitchFamily="2" charset="-122"/>
                <a:ea typeface="黑体" pitchFamily="2" charset="-122"/>
              </a:rPr>
              <a:t>例</a:t>
            </a:r>
            <a:r>
              <a:rPr lang="en-US" altLang="zh-CN" sz="2800" b="1" dirty="0">
                <a:latin typeface="黑体" pitchFamily="2" charset="-122"/>
                <a:ea typeface="黑体" pitchFamily="2" charset="-122"/>
              </a:rPr>
              <a:t>3.20】</a:t>
            </a:r>
            <a:r>
              <a:rPr lang="zh-CN" altLang="en-US" sz="2800" b="1" dirty="0">
                <a:latin typeface="黑体" pitchFamily="2" charset="-122"/>
                <a:ea typeface="黑体" pitchFamily="2" charset="-122"/>
              </a:rPr>
              <a:t>已知</a:t>
            </a:r>
            <a:r>
              <a:rPr lang="zh-CN" altLang="en-US" sz="2800" b="1" dirty="0">
                <a:solidFill>
                  <a:srgbClr val="C00000"/>
                </a:solidFill>
                <a:latin typeface="黑体" pitchFamily="2" charset="-122"/>
                <a:ea typeface="黑体" pitchFamily="2" charset="-122"/>
              </a:rPr>
              <a:t>直角三角形</a:t>
            </a:r>
            <a:r>
              <a:rPr lang="zh-CN" altLang="en-US" sz="2800" b="1" dirty="0">
                <a:latin typeface="黑体" pitchFamily="2" charset="-122"/>
                <a:ea typeface="黑体" pitchFamily="2" charset="-122"/>
              </a:rPr>
              <a:t>每边长为</a:t>
            </a:r>
            <a:r>
              <a:rPr lang="en-US" altLang="zh-CN" sz="2800" b="1" dirty="0">
                <a:latin typeface="黑体" pitchFamily="2" charset="-122"/>
                <a:ea typeface="黑体" pitchFamily="2" charset="-122"/>
              </a:rPr>
              <a:t>25</a:t>
            </a:r>
            <a:r>
              <a:rPr lang="zh-CN" altLang="en-US" sz="2800" b="1" dirty="0">
                <a:latin typeface="黑体" pitchFamily="2" charset="-122"/>
                <a:ea typeface="黑体" pitchFamily="2" charset="-122"/>
              </a:rPr>
              <a:t>以内的整数，求出所有这样的直角三角形三边长。</a:t>
            </a:r>
          </a:p>
          <a:p>
            <a:pPr marL="0" indent="0" algn="just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zh-CN" altLang="en-US" sz="2800" b="1" dirty="0">
                <a:latin typeface="黑体" pitchFamily="2" charset="-122"/>
                <a:ea typeface="黑体" pitchFamily="2" charset="-122"/>
              </a:rPr>
              <a:t>设：三边长为</a:t>
            </a:r>
            <a:r>
              <a:rPr lang="en-US" altLang="zh-CN" sz="2800" b="1" dirty="0">
                <a:latin typeface="黑体" pitchFamily="2" charset="-122"/>
                <a:ea typeface="黑体" pitchFamily="2" charset="-122"/>
              </a:rPr>
              <a:t>a</a:t>
            </a:r>
            <a:r>
              <a:rPr lang="zh-CN" altLang="en-US" sz="2800" b="1" dirty="0">
                <a:latin typeface="黑体" pitchFamily="2" charset="-122"/>
                <a:ea typeface="黑体" pitchFamily="2" charset="-122"/>
              </a:rPr>
              <a:t>、</a:t>
            </a:r>
            <a:r>
              <a:rPr lang="en-US" altLang="zh-CN" sz="2800" b="1" dirty="0">
                <a:latin typeface="黑体" pitchFamily="2" charset="-122"/>
                <a:ea typeface="黑体" pitchFamily="2" charset="-122"/>
              </a:rPr>
              <a:t>b</a:t>
            </a:r>
            <a:r>
              <a:rPr lang="zh-CN" altLang="en-US" sz="2800" b="1" dirty="0">
                <a:latin typeface="黑体" pitchFamily="2" charset="-122"/>
                <a:ea typeface="黑体" pitchFamily="2" charset="-122"/>
              </a:rPr>
              <a:t>、</a:t>
            </a:r>
            <a:r>
              <a:rPr lang="en-US" altLang="zh-CN" sz="2800" b="1" dirty="0">
                <a:latin typeface="黑体" pitchFamily="2" charset="-122"/>
                <a:ea typeface="黑体" pitchFamily="2" charset="-122"/>
              </a:rPr>
              <a:t>c</a:t>
            </a:r>
            <a:r>
              <a:rPr lang="zh-CN" altLang="en-US" sz="2800" b="1" dirty="0">
                <a:latin typeface="黑体" pitchFamily="2" charset="-122"/>
                <a:ea typeface="黑体" pitchFamily="2" charset="-122"/>
              </a:rPr>
              <a:t>，且</a:t>
            </a:r>
            <a:r>
              <a:rPr lang="en-US" altLang="zh-CN" sz="2800" b="1" dirty="0">
                <a:latin typeface="黑体" pitchFamily="2" charset="-122"/>
                <a:ea typeface="黑体" pitchFamily="2" charset="-122"/>
              </a:rPr>
              <a:t>c &gt; b &gt;= a</a:t>
            </a:r>
            <a:r>
              <a:rPr lang="zh-CN" altLang="en-US" sz="2800" b="1" dirty="0">
                <a:latin typeface="黑体" pitchFamily="2" charset="-122"/>
                <a:ea typeface="黑体" pitchFamily="2" charset="-122"/>
              </a:rPr>
              <a:t>。用三重嵌套的</a:t>
            </a:r>
            <a:r>
              <a:rPr lang="en-US" altLang="zh-CN" sz="2800" b="1" dirty="0">
                <a:latin typeface="黑体" pitchFamily="2" charset="-122"/>
                <a:ea typeface="黑体" pitchFamily="2" charset="-122"/>
              </a:rPr>
              <a:t>for</a:t>
            </a:r>
            <a:r>
              <a:rPr lang="zh-CN" altLang="en-US" sz="2800" b="1" dirty="0">
                <a:latin typeface="黑体" pitchFamily="2" charset="-122"/>
                <a:ea typeface="黑体" pitchFamily="2" charset="-122"/>
              </a:rPr>
              <a:t>语句实现。设最外层的</a:t>
            </a:r>
            <a:r>
              <a:rPr lang="en-US" altLang="zh-CN" sz="2800" b="1" dirty="0">
                <a:latin typeface="黑体" pitchFamily="2" charset="-122"/>
                <a:ea typeface="黑体" pitchFamily="2" charset="-122"/>
              </a:rPr>
              <a:t>c</a:t>
            </a:r>
            <a:r>
              <a:rPr lang="zh-CN" altLang="en-US" sz="2800" b="1" dirty="0">
                <a:latin typeface="黑体" pitchFamily="2" charset="-122"/>
                <a:ea typeface="黑体" pitchFamily="2" charset="-122"/>
              </a:rPr>
              <a:t>的变化范围是</a:t>
            </a:r>
            <a:r>
              <a:rPr lang="en-US" altLang="zh-CN" sz="2800" b="1" dirty="0">
                <a:latin typeface="黑体" pitchFamily="2" charset="-122"/>
                <a:ea typeface="黑体" pitchFamily="2" charset="-122"/>
              </a:rPr>
              <a:t>3</a:t>
            </a:r>
            <a:r>
              <a:rPr lang="zh-CN" altLang="en-US" sz="2800" b="1" dirty="0">
                <a:latin typeface="黑体" pitchFamily="2" charset="-122"/>
                <a:ea typeface="黑体" pitchFamily="2" charset="-122"/>
              </a:rPr>
              <a:t>至</a:t>
            </a:r>
            <a:r>
              <a:rPr lang="en-US" altLang="zh-CN" sz="2800" b="1" dirty="0">
                <a:latin typeface="黑体" pitchFamily="2" charset="-122"/>
                <a:ea typeface="黑体" pitchFamily="2" charset="-122"/>
              </a:rPr>
              <a:t>25</a:t>
            </a:r>
            <a:r>
              <a:rPr lang="zh-CN" altLang="en-US" sz="2800" b="1" dirty="0">
                <a:latin typeface="黑体" pitchFamily="2" charset="-122"/>
                <a:ea typeface="黑体" pitchFamily="2" charset="-122"/>
              </a:rPr>
              <a:t>；对于确定的</a:t>
            </a:r>
            <a:r>
              <a:rPr lang="en-US" altLang="zh-CN" sz="2800" b="1" dirty="0">
                <a:latin typeface="黑体" pitchFamily="2" charset="-122"/>
                <a:ea typeface="黑体" pitchFamily="2" charset="-122"/>
              </a:rPr>
              <a:t>c</a:t>
            </a:r>
            <a:r>
              <a:rPr lang="zh-CN" altLang="en-US" sz="2800" b="1" dirty="0">
                <a:latin typeface="黑体" pitchFamily="2" charset="-122"/>
                <a:ea typeface="黑体" pitchFamily="2" charset="-122"/>
              </a:rPr>
              <a:t>、内层的</a:t>
            </a:r>
            <a:r>
              <a:rPr lang="en-US" altLang="zh-CN" sz="2800" b="1" dirty="0">
                <a:latin typeface="黑体" pitchFamily="2" charset="-122"/>
                <a:ea typeface="黑体" pitchFamily="2" charset="-122"/>
              </a:rPr>
              <a:t>b</a:t>
            </a:r>
            <a:r>
              <a:rPr lang="zh-CN" altLang="en-US" sz="2800" b="1" dirty="0">
                <a:latin typeface="黑体" pitchFamily="2" charset="-122"/>
                <a:ea typeface="黑体" pitchFamily="2" charset="-122"/>
              </a:rPr>
              <a:t>的取值范围是</a:t>
            </a:r>
            <a:r>
              <a:rPr lang="en-US" altLang="zh-CN" sz="2800" b="1" dirty="0">
                <a:latin typeface="黑体" pitchFamily="2" charset="-122"/>
                <a:ea typeface="黑体" pitchFamily="2" charset="-122"/>
              </a:rPr>
              <a:t>1</a:t>
            </a:r>
            <a:r>
              <a:rPr lang="zh-CN" altLang="en-US" sz="2800" b="1" dirty="0">
                <a:latin typeface="黑体" pitchFamily="2" charset="-122"/>
                <a:ea typeface="黑体" pitchFamily="2" charset="-122"/>
              </a:rPr>
              <a:t>至</a:t>
            </a:r>
            <a:r>
              <a:rPr lang="en-US" altLang="zh-CN" sz="2800" b="1" dirty="0">
                <a:latin typeface="黑体" pitchFamily="2" charset="-122"/>
                <a:ea typeface="黑体" pitchFamily="2" charset="-122"/>
              </a:rPr>
              <a:t>c-1</a:t>
            </a:r>
            <a:r>
              <a:rPr lang="zh-CN" altLang="en-US" sz="2800" b="1" dirty="0">
                <a:latin typeface="黑体" pitchFamily="2" charset="-122"/>
                <a:ea typeface="黑体" pitchFamily="2" charset="-122"/>
              </a:rPr>
              <a:t>；最内层的</a:t>
            </a:r>
            <a:r>
              <a:rPr lang="en-US" altLang="zh-CN" sz="2800" b="1" dirty="0">
                <a:latin typeface="黑体" pitchFamily="2" charset="-122"/>
                <a:ea typeface="黑体" pitchFamily="2" charset="-122"/>
              </a:rPr>
              <a:t>a</a:t>
            </a:r>
            <a:r>
              <a:rPr lang="zh-CN" altLang="en-US" sz="2800" b="1" dirty="0">
                <a:latin typeface="黑体" pitchFamily="2" charset="-122"/>
                <a:ea typeface="黑体" pitchFamily="2" charset="-122"/>
              </a:rPr>
              <a:t>的取值范围是</a:t>
            </a:r>
            <a:r>
              <a:rPr lang="en-US" altLang="zh-CN" sz="2800" b="1" dirty="0">
                <a:latin typeface="黑体" pitchFamily="2" charset="-122"/>
                <a:ea typeface="黑体" pitchFamily="2" charset="-122"/>
              </a:rPr>
              <a:t>1</a:t>
            </a:r>
            <a:r>
              <a:rPr lang="zh-CN" altLang="en-US" sz="2800" b="1" dirty="0">
                <a:latin typeface="黑体" pitchFamily="2" charset="-122"/>
                <a:ea typeface="黑体" pitchFamily="2" charset="-122"/>
              </a:rPr>
              <a:t>至</a:t>
            </a:r>
            <a:r>
              <a:rPr lang="en-US" altLang="zh-CN" sz="2800" b="1" dirty="0">
                <a:latin typeface="黑体" pitchFamily="2" charset="-122"/>
                <a:ea typeface="黑体" pitchFamily="2" charset="-122"/>
              </a:rPr>
              <a:t>b</a:t>
            </a:r>
            <a:r>
              <a:rPr lang="zh-CN" altLang="en-US" sz="2800" b="1" dirty="0">
                <a:latin typeface="黑体" pitchFamily="2" charset="-122"/>
                <a:ea typeface="黑体" pitchFamily="2" charset="-122"/>
              </a:rPr>
              <a:t>。</a:t>
            </a:r>
            <a:endParaRPr lang="zh-CN" altLang="en-US" sz="2800" b="1" dirty="0">
              <a:effectLst>
                <a:outerShdw blurRad="38100" dist="38100" dir="2700000" algn="tl">
                  <a:srgbClr val="C0C0C0"/>
                </a:outerShdw>
              </a:effectLst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6758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2DEABA-9CBB-4076-865F-42F219198042}" type="slidenum">
              <a:rPr lang="en-US" altLang="zh-CN"/>
              <a:pPr>
                <a:defRPr/>
              </a:pPr>
              <a:t>9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0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0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01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01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1" name="Rectangle 1027"/>
          <p:cNvSpPr>
            <a:spLocks noGrp="1" noChangeArrowheads="1"/>
          </p:cNvSpPr>
          <p:nvPr>
            <p:ph idx="1"/>
          </p:nvPr>
        </p:nvSpPr>
        <p:spPr>
          <a:xfrm>
            <a:off x="228600" y="1125538"/>
            <a:ext cx="8686800" cy="5503862"/>
          </a:xfrm>
        </p:spPr>
        <p:txBody>
          <a:bodyPr>
            <a:normAutofit lnSpcReduction="10000"/>
          </a:bodyPr>
          <a:lstStyle/>
          <a:p>
            <a:pPr marL="274320" indent="-274320" algn="just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800" b="1" dirty="0">
                <a:latin typeface="黑体" pitchFamily="2" charset="-122"/>
                <a:ea typeface="黑体" pitchFamily="2" charset="-122"/>
              </a:rPr>
              <a:t>#include &lt;</a:t>
            </a:r>
            <a:r>
              <a:rPr lang="en-US" altLang="zh-CN" sz="2800" b="1" dirty="0" err="1">
                <a:latin typeface="黑体" pitchFamily="2" charset="-122"/>
                <a:ea typeface="黑体" pitchFamily="2" charset="-122"/>
              </a:rPr>
              <a:t>stdio.h</a:t>
            </a:r>
            <a:r>
              <a:rPr lang="en-US" altLang="zh-CN" sz="2800" b="1" dirty="0">
                <a:latin typeface="黑体" pitchFamily="2" charset="-122"/>
                <a:ea typeface="黑体" pitchFamily="2" charset="-122"/>
              </a:rPr>
              <a:t>&gt;</a:t>
            </a:r>
          </a:p>
          <a:p>
            <a:pPr marL="274320" indent="-274320" algn="just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800" b="1" dirty="0">
                <a:latin typeface="黑体" pitchFamily="2" charset="-122"/>
                <a:ea typeface="黑体" pitchFamily="2" charset="-122"/>
              </a:rPr>
              <a:t>void main()</a:t>
            </a:r>
          </a:p>
          <a:p>
            <a:pPr marL="274320" indent="-274320" algn="just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800" b="1" dirty="0">
                <a:latin typeface="黑体" pitchFamily="2" charset="-122"/>
                <a:ea typeface="黑体" pitchFamily="2" charset="-122"/>
              </a:rPr>
              <a:t>{ </a:t>
            </a:r>
            <a:r>
              <a:rPr lang="en-US" altLang="zh-CN" sz="2800" b="1" dirty="0" err="1">
                <a:latin typeface="黑体" pitchFamily="2" charset="-122"/>
                <a:ea typeface="黑体" pitchFamily="2" charset="-122"/>
              </a:rPr>
              <a:t>int</a:t>
            </a:r>
            <a:r>
              <a:rPr lang="en-US" altLang="zh-CN" sz="2800" b="1" dirty="0">
                <a:latin typeface="黑体" pitchFamily="2" charset="-122"/>
                <a:ea typeface="黑体" pitchFamily="2" charset="-122"/>
              </a:rPr>
              <a:t> a, b, c;</a:t>
            </a:r>
          </a:p>
          <a:p>
            <a:pPr marL="274320" indent="-274320" algn="just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800" b="1" dirty="0">
                <a:latin typeface="黑体" pitchFamily="2" charset="-122"/>
                <a:ea typeface="黑体" pitchFamily="2" charset="-122"/>
              </a:rPr>
              <a:t>  for(c = 3; c &lt;= 25; </a:t>
            </a:r>
            <a:r>
              <a:rPr lang="en-US" altLang="zh-CN" sz="2800" b="1" dirty="0" err="1">
                <a:latin typeface="黑体" pitchFamily="2" charset="-122"/>
                <a:ea typeface="黑体" pitchFamily="2" charset="-122"/>
              </a:rPr>
              <a:t>c++</a:t>
            </a:r>
            <a:r>
              <a:rPr lang="en-US" altLang="zh-CN" sz="2800" b="1" dirty="0">
                <a:latin typeface="黑体" pitchFamily="2" charset="-122"/>
                <a:ea typeface="黑体" pitchFamily="2" charset="-122"/>
              </a:rPr>
              <a:t>)</a:t>
            </a:r>
          </a:p>
          <a:p>
            <a:pPr marL="274320" indent="-274320" algn="just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800" b="1" dirty="0">
                <a:latin typeface="黑体" pitchFamily="2" charset="-122"/>
                <a:ea typeface="黑体" pitchFamily="2" charset="-122"/>
              </a:rPr>
              <a:t>    for(b = 1; b &lt; c; b++)</a:t>
            </a:r>
          </a:p>
          <a:p>
            <a:pPr marL="274320" indent="-274320" algn="just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800" b="1" dirty="0">
                <a:latin typeface="黑体" pitchFamily="2" charset="-122"/>
                <a:ea typeface="黑体" pitchFamily="2" charset="-122"/>
              </a:rPr>
              <a:t>      for(a = 1; a &lt;= b; a++)</a:t>
            </a:r>
          </a:p>
          <a:p>
            <a:pPr marL="274320" indent="-274320" algn="just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800" b="1" dirty="0">
                <a:latin typeface="黑体" pitchFamily="2" charset="-122"/>
                <a:ea typeface="黑体" pitchFamily="2" charset="-122"/>
              </a:rPr>
              <a:t>        if(a*a + b*b == c*c) {</a:t>
            </a:r>
          </a:p>
          <a:p>
            <a:pPr marL="274320" indent="-274320" algn="just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800" b="1" dirty="0">
                <a:latin typeface="黑体" pitchFamily="2" charset="-122"/>
                <a:ea typeface="黑体" pitchFamily="2" charset="-122"/>
              </a:rPr>
              <a:t>          </a:t>
            </a:r>
            <a:r>
              <a:rPr lang="en-US" altLang="zh-CN" sz="2800" b="1" dirty="0" err="1">
                <a:latin typeface="黑体" pitchFamily="2" charset="-122"/>
                <a:ea typeface="黑体" pitchFamily="2" charset="-122"/>
              </a:rPr>
              <a:t>printf</a:t>
            </a:r>
            <a:r>
              <a:rPr lang="en-US" altLang="zh-CN" sz="2800" b="1" dirty="0">
                <a:latin typeface="黑体" pitchFamily="2" charset="-122"/>
                <a:ea typeface="黑体" pitchFamily="2" charset="-122"/>
              </a:rPr>
              <a:t>("A=%d\t B=%d\t C=%d\</a:t>
            </a:r>
            <a:r>
              <a:rPr lang="en-US" altLang="zh-CN" sz="2800" b="1" dirty="0" err="1">
                <a:latin typeface="黑体" pitchFamily="2" charset="-122"/>
                <a:ea typeface="黑体" pitchFamily="2" charset="-122"/>
              </a:rPr>
              <a:t>n",a,b,c</a:t>
            </a:r>
            <a:r>
              <a:rPr lang="en-US" altLang="zh-CN" sz="2800" b="1" dirty="0">
                <a:latin typeface="黑体" pitchFamily="2" charset="-122"/>
                <a:ea typeface="黑体" pitchFamily="2" charset="-122"/>
              </a:rPr>
              <a:t>);</a:t>
            </a:r>
          </a:p>
          <a:p>
            <a:pPr marL="274320" indent="-274320" algn="just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800" b="1" dirty="0">
                <a:latin typeface="黑体" pitchFamily="2" charset="-122"/>
                <a:ea typeface="黑体" pitchFamily="2" charset="-122"/>
              </a:rPr>
              <a:t>          </a:t>
            </a:r>
            <a:r>
              <a:rPr lang="en-US" altLang="zh-CN" sz="2800" b="1" dirty="0" err="1">
                <a:latin typeface="黑体" pitchFamily="2" charset="-122"/>
                <a:ea typeface="黑体" pitchFamily="2" charset="-122"/>
              </a:rPr>
              <a:t>scanf</a:t>
            </a:r>
            <a:r>
              <a:rPr lang="en-US" altLang="zh-CN" sz="2800" b="1" dirty="0">
                <a:latin typeface="黑体" pitchFamily="2" charset="-122"/>
                <a:ea typeface="黑体" pitchFamily="2" charset="-122"/>
              </a:rPr>
              <a:t>("%*c"); </a:t>
            </a:r>
            <a:r>
              <a:rPr lang="en-US" altLang="zh-CN" sz="2800" b="1" dirty="0">
                <a:solidFill>
                  <a:srgbClr val="0000FF"/>
                </a:solidFill>
                <a:latin typeface="黑体" pitchFamily="2" charset="-122"/>
                <a:ea typeface="黑体" pitchFamily="2" charset="-122"/>
              </a:rPr>
              <a:t>/* </a:t>
            </a:r>
            <a:r>
              <a:rPr lang="zh-CN" altLang="en-US" sz="2800" b="1" dirty="0">
                <a:solidFill>
                  <a:srgbClr val="0000FF"/>
                </a:solidFill>
                <a:latin typeface="黑体" pitchFamily="2" charset="-122"/>
                <a:ea typeface="黑体" pitchFamily="2" charset="-122"/>
              </a:rPr>
              <a:t>等待输入回车 *</a:t>
            </a:r>
            <a:r>
              <a:rPr lang="en-US" altLang="zh-CN" sz="2800" b="1" dirty="0">
                <a:solidFill>
                  <a:srgbClr val="0000FF"/>
                </a:solidFill>
                <a:latin typeface="黑体" pitchFamily="2" charset="-122"/>
                <a:ea typeface="黑体" pitchFamily="2" charset="-122"/>
              </a:rPr>
              <a:t>/</a:t>
            </a:r>
          </a:p>
          <a:p>
            <a:pPr marL="274320" indent="-274320" algn="just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800" b="1" dirty="0">
                <a:latin typeface="黑体" pitchFamily="2" charset="-122"/>
                <a:ea typeface="黑体" pitchFamily="2" charset="-122"/>
              </a:rPr>
              <a:t>	     } </a:t>
            </a:r>
            <a:r>
              <a:rPr lang="en-US" altLang="zh-CN" sz="2800" b="1" dirty="0">
                <a:solidFill>
                  <a:srgbClr val="0000FF"/>
                </a:solidFill>
                <a:latin typeface="黑体" pitchFamily="2" charset="-122"/>
                <a:ea typeface="黑体" pitchFamily="2" charset="-122"/>
              </a:rPr>
              <a:t>/* </a:t>
            </a:r>
            <a:r>
              <a:rPr lang="zh-CN" altLang="en-US" sz="2800" b="1" dirty="0">
                <a:solidFill>
                  <a:srgbClr val="0000FF"/>
                </a:solidFill>
                <a:latin typeface="黑体" pitchFamily="2" charset="-122"/>
                <a:ea typeface="黑体" pitchFamily="2" charset="-122"/>
              </a:rPr>
              <a:t>按回车后显示下一个满足条件结果 *</a:t>
            </a:r>
            <a:r>
              <a:rPr lang="en-US" altLang="zh-CN" sz="2800" b="1" dirty="0">
                <a:solidFill>
                  <a:srgbClr val="0000FF"/>
                </a:solidFill>
                <a:latin typeface="黑体" pitchFamily="2" charset="-122"/>
                <a:ea typeface="黑体" pitchFamily="2" charset="-122"/>
              </a:rPr>
              <a:t>/</a:t>
            </a:r>
          </a:p>
          <a:p>
            <a:pPr marL="274320" indent="-274320" algn="just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800" b="1" dirty="0">
                <a:latin typeface="黑体" pitchFamily="2" charset="-122"/>
                <a:ea typeface="黑体" pitchFamily="2" charset="-122"/>
              </a:rPr>
              <a:t>}</a:t>
            </a:r>
          </a:p>
        </p:txBody>
      </p:sp>
      <p:sp>
        <p:nvSpPr>
          <p:cNvPr id="6861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6975EB6-BE29-464B-939A-09E8F4CC3841}" type="slidenum">
              <a:rPr lang="en-US" altLang="zh-CN"/>
              <a:pPr>
                <a:defRPr/>
              </a:pPr>
              <a:t>10</a:t>
            </a:fld>
            <a:endParaRPr lang="en-US" altLang="zh-CN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86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86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86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86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86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86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86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86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86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86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86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86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1125538"/>
            <a:ext cx="8208962" cy="5472112"/>
          </a:xfrm>
        </p:spPr>
        <p:txBody>
          <a:bodyPr/>
          <a:lstStyle/>
          <a:p>
            <a:pPr marL="0" indent="0" algn="just" eaLnBrk="1" hangingPunct="1">
              <a:buFont typeface="Wingdings" pitchFamily="2" charset="2"/>
              <a:buNone/>
            </a:pPr>
            <a:r>
              <a:rPr lang="en-US" altLang="zh-CN" sz="2800" b="1">
                <a:latin typeface="宋体" pitchFamily="2" charset="-122"/>
              </a:rPr>
              <a:t>【</a:t>
            </a:r>
            <a:r>
              <a:rPr lang="zh-CN" altLang="en-US" sz="2800" b="1">
                <a:latin typeface="宋体" pitchFamily="2" charset="-122"/>
              </a:rPr>
              <a:t>例</a:t>
            </a:r>
            <a:r>
              <a:rPr lang="en-US" altLang="zh-CN" sz="2800" b="1">
                <a:latin typeface="宋体" pitchFamily="2" charset="-122"/>
              </a:rPr>
              <a:t>3.21】</a:t>
            </a:r>
            <a:r>
              <a:rPr lang="zh-CN" altLang="en-US" sz="2800" b="1">
                <a:latin typeface="宋体" pitchFamily="2" charset="-122"/>
              </a:rPr>
              <a:t>甲，乙，丙三位球迷分别预测已进入半决赛的四队</a:t>
            </a:r>
            <a:r>
              <a:rPr lang="en-US" altLang="zh-CN" sz="2800" b="1">
                <a:latin typeface="宋体" pitchFamily="2" charset="-122"/>
              </a:rPr>
              <a:t>A</a:t>
            </a:r>
            <a:r>
              <a:rPr lang="zh-CN" altLang="en-US" sz="2800" b="1">
                <a:latin typeface="宋体" pitchFamily="2" charset="-122"/>
              </a:rPr>
              <a:t>、</a:t>
            </a:r>
            <a:r>
              <a:rPr lang="en-US" altLang="zh-CN" sz="2800" b="1">
                <a:latin typeface="宋体" pitchFamily="2" charset="-122"/>
              </a:rPr>
              <a:t>B</a:t>
            </a:r>
            <a:r>
              <a:rPr lang="zh-CN" altLang="en-US" sz="2800" b="1">
                <a:latin typeface="宋体" pitchFamily="2" charset="-122"/>
              </a:rPr>
              <a:t>、</a:t>
            </a:r>
            <a:r>
              <a:rPr lang="en-US" altLang="zh-CN" sz="2800" b="1">
                <a:latin typeface="宋体" pitchFamily="2" charset="-122"/>
              </a:rPr>
              <a:t>C</a:t>
            </a:r>
            <a:r>
              <a:rPr lang="zh-CN" altLang="en-US" sz="2800" b="1">
                <a:latin typeface="宋体" pitchFamily="2" charset="-122"/>
              </a:rPr>
              <a:t>、</a:t>
            </a:r>
            <a:r>
              <a:rPr lang="en-US" altLang="zh-CN" sz="2800" b="1">
                <a:latin typeface="宋体" pitchFamily="2" charset="-122"/>
              </a:rPr>
              <a:t>D </a:t>
            </a:r>
            <a:r>
              <a:rPr lang="zh-CN" altLang="en-US" sz="2800" b="1">
                <a:latin typeface="宋体" pitchFamily="2" charset="-122"/>
              </a:rPr>
              <a:t>的名次如下：</a:t>
            </a:r>
          </a:p>
          <a:p>
            <a:pPr marL="0" indent="0" algn="just" eaLnBrk="1" hangingPunct="1">
              <a:buFont typeface="Wingdings" pitchFamily="2" charset="2"/>
              <a:buNone/>
            </a:pPr>
            <a:r>
              <a:rPr lang="zh-CN" altLang="en-US" sz="2800" b="1">
                <a:latin typeface="宋体" pitchFamily="2" charset="-122"/>
              </a:rPr>
              <a:t>甲预测：</a:t>
            </a:r>
            <a:r>
              <a:rPr lang="en-US" altLang="zh-CN" sz="2800" b="1">
                <a:latin typeface="宋体" pitchFamily="2" charset="-122"/>
              </a:rPr>
              <a:t>A</a:t>
            </a:r>
            <a:r>
              <a:rPr lang="zh-CN" altLang="en-US" sz="2800" b="1">
                <a:latin typeface="宋体" pitchFamily="2" charset="-122"/>
              </a:rPr>
              <a:t>第一名、</a:t>
            </a:r>
            <a:r>
              <a:rPr lang="en-US" altLang="zh-CN" sz="2800" b="1">
                <a:latin typeface="宋体" pitchFamily="2" charset="-122"/>
              </a:rPr>
              <a:t>B</a:t>
            </a:r>
            <a:r>
              <a:rPr lang="zh-CN" altLang="en-US" sz="2800" b="1">
                <a:latin typeface="宋体" pitchFamily="2" charset="-122"/>
              </a:rPr>
              <a:t>第二名；</a:t>
            </a:r>
          </a:p>
          <a:p>
            <a:pPr marL="0" indent="0" algn="just" eaLnBrk="1" hangingPunct="1">
              <a:buFont typeface="Wingdings" pitchFamily="2" charset="2"/>
              <a:buNone/>
            </a:pPr>
            <a:r>
              <a:rPr lang="zh-CN" altLang="en-US" sz="2800" b="1">
                <a:latin typeface="宋体" pitchFamily="2" charset="-122"/>
              </a:rPr>
              <a:t>乙预测：</a:t>
            </a:r>
            <a:r>
              <a:rPr lang="en-US" altLang="zh-CN" sz="2800" b="1">
                <a:latin typeface="宋体" pitchFamily="2" charset="-122"/>
              </a:rPr>
              <a:t>C</a:t>
            </a:r>
            <a:r>
              <a:rPr lang="zh-CN" altLang="en-US" sz="2800" b="1">
                <a:latin typeface="宋体" pitchFamily="2" charset="-122"/>
              </a:rPr>
              <a:t>第一名、</a:t>
            </a:r>
            <a:r>
              <a:rPr lang="en-US" altLang="zh-CN" sz="2800" b="1">
                <a:latin typeface="宋体" pitchFamily="2" charset="-122"/>
              </a:rPr>
              <a:t>D</a:t>
            </a:r>
            <a:r>
              <a:rPr lang="zh-CN" altLang="en-US" sz="2800" b="1">
                <a:latin typeface="宋体" pitchFamily="2" charset="-122"/>
              </a:rPr>
              <a:t>第三名；</a:t>
            </a:r>
          </a:p>
          <a:p>
            <a:pPr marL="0" indent="0" algn="just" eaLnBrk="1" hangingPunct="1">
              <a:buFont typeface="Wingdings" pitchFamily="2" charset="2"/>
              <a:buNone/>
            </a:pPr>
            <a:r>
              <a:rPr lang="zh-CN" altLang="en-US" sz="2800" b="1">
                <a:latin typeface="宋体" pitchFamily="2" charset="-122"/>
              </a:rPr>
              <a:t>丙预测：</a:t>
            </a:r>
            <a:r>
              <a:rPr lang="en-US" altLang="zh-CN" sz="2800" b="1">
                <a:latin typeface="宋体" pitchFamily="2" charset="-122"/>
              </a:rPr>
              <a:t>D</a:t>
            </a:r>
            <a:r>
              <a:rPr lang="zh-CN" altLang="en-US" sz="2800" b="1">
                <a:latin typeface="宋体" pitchFamily="2" charset="-122"/>
              </a:rPr>
              <a:t>第二名、</a:t>
            </a:r>
            <a:r>
              <a:rPr lang="en-US" altLang="zh-CN" sz="2800" b="1">
                <a:latin typeface="宋体" pitchFamily="2" charset="-122"/>
              </a:rPr>
              <a:t>A</a:t>
            </a:r>
            <a:r>
              <a:rPr lang="zh-CN" altLang="en-US" sz="2800" b="1">
                <a:latin typeface="宋体" pitchFamily="2" charset="-122"/>
              </a:rPr>
              <a:t>第三名。</a:t>
            </a:r>
          </a:p>
          <a:p>
            <a:pPr marL="0" indent="0" eaLnBrk="1" hangingPunct="1">
              <a:buFont typeface="Wingdings" pitchFamily="2" charset="2"/>
              <a:buNone/>
            </a:pPr>
            <a:endParaRPr lang="en-US" altLang="zh-CN" sz="3200" b="1">
              <a:latin typeface="宋体" pitchFamily="2" charset="-122"/>
            </a:endParaRPr>
          </a:p>
          <a:p>
            <a:pPr marL="0" indent="0" eaLnBrk="1" hangingPunct="1">
              <a:buFont typeface="Wingdings" pitchFamily="2" charset="2"/>
              <a:buNone/>
            </a:pPr>
            <a:r>
              <a:rPr lang="zh-CN" altLang="en-US" sz="3200" b="1">
                <a:latin typeface="宋体" pitchFamily="2" charset="-122"/>
              </a:rPr>
              <a:t>设：比赛结果四队名次互不相同，且甲、乙、丙的</a:t>
            </a:r>
            <a:r>
              <a:rPr lang="zh-CN" altLang="en-US" sz="3200" b="1">
                <a:solidFill>
                  <a:srgbClr val="C00000"/>
                </a:solidFill>
                <a:latin typeface="宋体" pitchFamily="2" charset="-122"/>
              </a:rPr>
              <a:t>预测各对一半</a:t>
            </a:r>
            <a:r>
              <a:rPr lang="zh-CN" altLang="en-US" sz="3200" b="1">
                <a:latin typeface="宋体" pitchFamily="2" charset="-122"/>
              </a:rPr>
              <a:t>。</a:t>
            </a:r>
          </a:p>
          <a:p>
            <a:pPr marL="0" indent="0" eaLnBrk="1" hangingPunct="1">
              <a:buFont typeface="Wingdings" pitchFamily="2" charset="2"/>
              <a:buNone/>
            </a:pPr>
            <a:r>
              <a:rPr lang="zh-CN" altLang="en-US" sz="3200" b="1">
                <a:latin typeface="宋体" pitchFamily="2" charset="-122"/>
              </a:rPr>
              <a:t>求：</a:t>
            </a:r>
            <a:r>
              <a:rPr lang="en-US" altLang="zh-CN" sz="3200" b="1">
                <a:latin typeface="宋体" pitchFamily="2" charset="-122"/>
              </a:rPr>
              <a:t>A</a:t>
            </a:r>
            <a:r>
              <a:rPr lang="zh-CN" altLang="en-US" sz="3200" b="1">
                <a:latin typeface="宋体" pitchFamily="2" charset="-122"/>
              </a:rPr>
              <a:t>、</a:t>
            </a:r>
            <a:r>
              <a:rPr lang="en-US" altLang="zh-CN" sz="3200" b="1">
                <a:latin typeface="宋体" pitchFamily="2" charset="-122"/>
              </a:rPr>
              <a:t>B</a:t>
            </a:r>
            <a:r>
              <a:rPr lang="zh-CN" altLang="en-US" sz="3200" b="1">
                <a:latin typeface="宋体" pitchFamily="2" charset="-122"/>
              </a:rPr>
              <a:t>、</a:t>
            </a:r>
            <a:r>
              <a:rPr lang="en-US" altLang="zh-CN" sz="3200" b="1">
                <a:latin typeface="宋体" pitchFamily="2" charset="-122"/>
              </a:rPr>
              <a:t>C</a:t>
            </a:r>
            <a:r>
              <a:rPr lang="zh-CN" altLang="en-US" sz="3200" b="1">
                <a:latin typeface="宋体" pitchFamily="2" charset="-122"/>
              </a:rPr>
              <a:t>、</a:t>
            </a:r>
            <a:r>
              <a:rPr lang="en-US" altLang="zh-CN" sz="3200" b="1">
                <a:latin typeface="宋体" pitchFamily="2" charset="-122"/>
              </a:rPr>
              <a:t>D </a:t>
            </a:r>
            <a:r>
              <a:rPr lang="zh-CN" altLang="en-US" sz="3200" b="1">
                <a:latin typeface="宋体" pitchFamily="2" charset="-122"/>
              </a:rPr>
              <a:t>四队的名次。</a:t>
            </a:r>
            <a:endParaRPr lang="zh-CN" altLang="en-US" sz="2800" b="1">
              <a:latin typeface="宋体" pitchFamily="2" charset="-122"/>
            </a:endParaRPr>
          </a:p>
        </p:txBody>
      </p:sp>
      <p:sp>
        <p:nvSpPr>
          <p:cNvPr id="6963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8CFF1C4-09B2-4EC1-A24B-418781628357}" type="slidenum">
              <a:rPr lang="en-US" altLang="zh-CN"/>
              <a:pPr>
                <a:defRPr/>
              </a:pPr>
              <a:t>11</a:t>
            </a:fld>
            <a:endParaRPr lang="en-US" altLang="zh-C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3"/>
          <p:cNvSpPr>
            <a:spLocks noGrp="1" noChangeArrowheads="1"/>
          </p:cNvSpPr>
          <p:nvPr>
            <p:ph idx="1"/>
          </p:nvPr>
        </p:nvSpPr>
        <p:spPr>
          <a:xfrm>
            <a:off x="179388" y="836613"/>
            <a:ext cx="8686800" cy="5360987"/>
          </a:xfrm>
        </p:spPr>
        <p:txBody>
          <a:bodyPr/>
          <a:lstStyle/>
          <a:p>
            <a:pPr marL="0" indent="0" algn="just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b="1" dirty="0">
                <a:latin typeface="黑体" pitchFamily="2" charset="-122"/>
                <a:ea typeface="黑体" pitchFamily="2" charset="-122"/>
              </a:rPr>
              <a:t>令变量</a:t>
            </a:r>
            <a:r>
              <a:rPr lang="en-US" altLang="zh-CN" b="1" dirty="0">
                <a:latin typeface="黑体" pitchFamily="2" charset="-122"/>
                <a:ea typeface="黑体" pitchFamily="2" charset="-122"/>
              </a:rPr>
              <a:t>a</a:t>
            </a:r>
            <a:r>
              <a:rPr lang="zh-CN" altLang="en-US" b="1" dirty="0">
                <a:latin typeface="黑体" pitchFamily="2" charset="-122"/>
                <a:ea typeface="黑体" pitchFamily="2" charset="-122"/>
              </a:rPr>
              <a:t>、</a:t>
            </a:r>
            <a:r>
              <a:rPr lang="en-US" altLang="zh-CN" b="1" dirty="0">
                <a:latin typeface="黑体" pitchFamily="2" charset="-122"/>
                <a:ea typeface="黑体" pitchFamily="2" charset="-122"/>
              </a:rPr>
              <a:t>b</a:t>
            </a:r>
            <a:r>
              <a:rPr lang="zh-CN" altLang="en-US" b="1" dirty="0">
                <a:latin typeface="黑体" pitchFamily="2" charset="-122"/>
                <a:ea typeface="黑体" pitchFamily="2" charset="-122"/>
              </a:rPr>
              <a:t>、</a:t>
            </a:r>
            <a:r>
              <a:rPr lang="en-US" altLang="zh-CN" b="1" dirty="0">
                <a:latin typeface="黑体" pitchFamily="2" charset="-122"/>
                <a:ea typeface="黑体" pitchFamily="2" charset="-122"/>
              </a:rPr>
              <a:t>c</a:t>
            </a:r>
            <a:r>
              <a:rPr lang="zh-CN" altLang="en-US" b="1" dirty="0">
                <a:latin typeface="黑体" pitchFamily="2" charset="-122"/>
                <a:ea typeface="黑体" pitchFamily="2" charset="-122"/>
              </a:rPr>
              <a:t>、</a:t>
            </a:r>
            <a:r>
              <a:rPr lang="en-US" altLang="zh-CN" b="1" dirty="0">
                <a:latin typeface="黑体" pitchFamily="2" charset="-122"/>
                <a:ea typeface="黑体" pitchFamily="2" charset="-122"/>
              </a:rPr>
              <a:t>d</a:t>
            </a:r>
            <a:r>
              <a:rPr lang="zh-CN" altLang="en-US" b="1" dirty="0">
                <a:latin typeface="黑体" pitchFamily="2" charset="-122"/>
                <a:ea typeface="黑体" pitchFamily="2" charset="-122"/>
              </a:rPr>
              <a:t>分别标记四队的名次，对四队所有可能的名次组合作循环测试，就能找到解。</a:t>
            </a:r>
          </a:p>
          <a:p>
            <a:pPr marL="0" indent="0" algn="just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b="1" dirty="0">
                <a:solidFill>
                  <a:srgbClr val="0000FF"/>
                </a:solidFill>
                <a:latin typeface="黑体" pitchFamily="2" charset="-122"/>
                <a:ea typeface="黑体" pitchFamily="2" charset="-122"/>
              </a:rPr>
              <a:t>甲的预测：</a:t>
            </a:r>
            <a:r>
              <a:rPr lang="zh-CN" altLang="en-US" b="1" dirty="0">
                <a:latin typeface="黑体" pitchFamily="2" charset="-122"/>
                <a:ea typeface="黑体" pitchFamily="2" charset="-122"/>
              </a:rPr>
              <a:t>预测对了一半。若</a:t>
            </a:r>
            <a:r>
              <a:rPr lang="en-US" altLang="zh-CN" b="1" dirty="0">
                <a:latin typeface="黑体" pitchFamily="2" charset="-122"/>
                <a:ea typeface="黑体" pitchFamily="2" charset="-122"/>
              </a:rPr>
              <a:t>A</a:t>
            </a:r>
            <a:r>
              <a:rPr lang="zh-CN" altLang="en-US" b="1" dirty="0">
                <a:latin typeface="黑体" pitchFamily="2" charset="-122"/>
                <a:ea typeface="黑体" pitchFamily="2" charset="-122"/>
              </a:rPr>
              <a:t>是第一名，则</a:t>
            </a:r>
            <a:r>
              <a:rPr lang="en-US" altLang="zh-CN" b="1" dirty="0">
                <a:latin typeface="黑体" pitchFamily="2" charset="-122"/>
                <a:ea typeface="黑体" pitchFamily="2" charset="-122"/>
              </a:rPr>
              <a:t>B</a:t>
            </a:r>
            <a:r>
              <a:rPr lang="zh-CN" altLang="en-US" b="1" dirty="0">
                <a:latin typeface="黑体" pitchFamily="2" charset="-122"/>
                <a:ea typeface="黑体" pitchFamily="2" charset="-122"/>
              </a:rPr>
              <a:t>不会是第二名；或者</a:t>
            </a:r>
            <a:r>
              <a:rPr lang="en-US" altLang="zh-CN" b="1" dirty="0">
                <a:latin typeface="黑体" pitchFamily="2" charset="-122"/>
                <a:ea typeface="黑体" pitchFamily="2" charset="-122"/>
              </a:rPr>
              <a:t>A</a:t>
            </a:r>
            <a:r>
              <a:rPr lang="zh-CN" altLang="en-US" b="1" dirty="0">
                <a:latin typeface="黑体" pitchFamily="2" charset="-122"/>
                <a:ea typeface="黑体" pitchFamily="2" charset="-122"/>
              </a:rPr>
              <a:t>不是第一名，则</a:t>
            </a:r>
            <a:r>
              <a:rPr lang="en-US" altLang="zh-CN" b="1" dirty="0">
                <a:latin typeface="黑体" pitchFamily="2" charset="-122"/>
                <a:ea typeface="黑体" pitchFamily="2" charset="-122"/>
              </a:rPr>
              <a:t>B</a:t>
            </a:r>
            <a:r>
              <a:rPr lang="zh-CN" altLang="en-US" b="1" dirty="0">
                <a:latin typeface="黑体" pitchFamily="2" charset="-122"/>
                <a:ea typeface="黑体" pitchFamily="2" charset="-122"/>
              </a:rPr>
              <a:t>必须是第二名。</a:t>
            </a:r>
          </a:p>
          <a:p>
            <a:pPr marL="0" indent="0" algn="just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b="1" dirty="0">
                <a:latin typeface="黑体" pitchFamily="2" charset="-122"/>
                <a:ea typeface="黑体" pitchFamily="2" charset="-122"/>
              </a:rPr>
              <a:t>用逻辑运算与关系运算描述如下：</a:t>
            </a:r>
          </a:p>
          <a:p>
            <a:pPr marL="0" indent="0" algn="just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b="1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    </a:t>
            </a:r>
            <a:r>
              <a:rPr lang="en-US" altLang="zh-CN" b="1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a == 1 &amp;&amp; b != 2 || a != 1 &amp;&amp; b == 2</a:t>
            </a:r>
          </a:p>
          <a:p>
            <a:pPr marL="0" indent="0" algn="just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b="1" dirty="0">
                <a:latin typeface="黑体" pitchFamily="2" charset="-122"/>
                <a:ea typeface="黑体" pitchFamily="2" charset="-122"/>
              </a:rPr>
              <a:t>    </a:t>
            </a:r>
            <a:r>
              <a:rPr lang="zh-CN" altLang="en-US" b="1" dirty="0">
                <a:latin typeface="黑体" pitchFamily="2" charset="-122"/>
                <a:ea typeface="黑体" pitchFamily="2" charset="-122"/>
              </a:rPr>
              <a:t>条件</a:t>
            </a:r>
            <a:r>
              <a:rPr lang="en-US" altLang="zh-CN" b="1" dirty="0">
                <a:latin typeface="黑体" pitchFamily="2" charset="-122"/>
                <a:ea typeface="黑体" pitchFamily="2" charset="-122"/>
              </a:rPr>
              <a:t>A</a:t>
            </a:r>
            <a:r>
              <a:rPr lang="zh-CN" altLang="en-US" b="1" dirty="0">
                <a:latin typeface="黑体" pitchFamily="2" charset="-122"/>
                <a:ea typeface="黑体" pitchFamily="2" charset="-122"/>
              </a:rPr>
              <a:t>是第一名和条件</a:t>
            </a:r>
            <a:r>
              <a:rPr lang="en-US" altLang="zh-CN" b="1" dirty="0">
                <a:latin typeface="黑体" pitchFamily="2" charset="-122"/>
                <a:ea typeface="黑体" pitchFamily="2" charset="-122"/>
              </a:rPr>
              <a:t>B</a:t>
            </a:r>
            <a:r>
              <a:rPr lang="zh-CN" altLang="en-US" b="1" dirty="0">
                <a:latin typeface="黑体" pitchFamily="2" charset="-122"/>
                <a:ea typeface="黑体" pitchFamily="2" charset="-122"/>
              </a:rPr>
              <a:t>是第二名不允许同时成立，即条件</a:t>
            </a:r>
            <a:r>
              <a:rPr lang="en-US" altLang="zh-CN" b="1" dirty="0">
                <a:latin typeface="黑体" pitchFamily="2" charset="-122"/>
                <a:ea typeface="黑体" pitchFamily="2" charset="-122"/>
              </a:rPr>
              <a:t>a==1</a:t>
            </a:r>
            <a:r>
              <a:rPr lang="zh-CN" altLang="en-US" b="1" dirty="0">
                <a:latin typeface="黑体" pitchFamily="2" charset="-122"/>
                <a:ea typeface="黑体" pitchFamily="2" charset="-122"/>
              </a:rPr>
              <a:t>和</a:t>
            </a:r>
            <a:r>
              <a:rPr lang="en-US" altLang="zh-CN" b="1" dirty="0">
                <a:latin typeface="黑体" pitchFamily="2" charset="-122"/>
                <a:ea typeface="黑体" pitchFamily="2" charset="-122"/>
              </a:rPr>
              <a:t>b==2</a:t>
            </a:r>
            <a:r>
              <a:rPr lang="zh-CN" altLang="en-US" b="1" dirty="0">
                <a:latin typeface="黑体" pitchFamily="2" charset="-122"/>
                <a:ea typeface="黑体" pitchFamily="2" charset="-122"/>
              </a:rPr>
              <a:t>不允许相等。这样预测对一半的条件可写成：</a:t>
            </a:r>
            <a:r>
              <a:rPr lang="zh-CN" altLang="en-US" b="1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（</a:t>
            </a:r>
            <a:r>
              <a:rPr lang="en-US" altLang="zh-CN" b="1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a == 1) != (b == 2)</a:t>
            </a:r>
          </a:p>
          <a:p>
            <a:pPr marL="0" indent="0" algn="just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b="1" dirty="0">
                <a:solidFill>
                  <a:srgbClr val="0000FF"/>
                </a:solidFill>
                <a:latin typeface="黑体" pitchFamily="2" charset="-122"/>
                <a:ea typeface="黑体" pitchFamily="2" charset="-122"/>
              </a:rPr>
              <a:t>乙预测的条件为：</a:t>
            </a:r>
            <a:r>
              <a:rPr lang="zh-CN" altLang="en-US" b="1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（</a:t>
            </a:r>
            <a:r>
              <a:rPr lang="en-US" altLang="zh-CN" b="1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c == 1) != (d == 3)</a:t>
            </a:r>
            <a:r>
              <a:rPr lang="en-US" altLang="zh-CN" b="1" dirty="0">
                <a:latin typeface="黑体" pitchFamily="2" charset="-122"/>
                <a:ea typeface="黑体" pitchFamily="2" charset="-122"/>
              </a:rPr>
              <a:t> </a:t>
            </a:r>
            <a:endParaRPr lang="en-US" altLang="zh-CN" b="1" dirty="0">
              <a:solidFill>
                <a:srgbClr val="FF0000"/>
              </a:solidFill>
              <a:latin typeface="黑体" pitchFamily="2" charset="-122"/>
              <a:ea typeface="黑体" pitchFamily="2" charset="-122"/>
            </a:endParaRPr>
          </a:p>
          <a:p>
            <a:pPr marL="0" indent="0" algn="just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b="1" dirty="0">
                <a:solidFill>
                  <a:srgbClr val="0000FF"/>
                </a:solidFill>
                <a:latin typeface="黑体" pitchFamily="2" charset="-122"/>
                <a:ea typeface="黑体" pitchFamily="2" charset="-122"/>
              </a:rPr>
              <a:t>丙预测的条件为：</a:t>
            </a:r>
            <a:r>
              <a:rPr lang="zh-CN" altLang="en-US" b="1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（</a:t>
            </a:r>
            <a:r>
              <a:rPr lang="en-US" altLang="zh-CN" b="1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d == 2) != (a == 3)</a:t>
            </a:r>
            <a:r>
              <a:rPr lang="en-US" altLang="zh-CN" b="1" dirty="0">
                <a:latin typeface="黑体" pitchFamily="2" charset="-122"/>
                <a:ea typeface="黑体" pitchFamily="2" charset="-122"/>
              </a:rPr>
              <a:t> </a:t>
            </a:r>
          </a:p>
        </p:txBody>
      </p:sp>
      <p:sp>
        <p:nvSpPr>
          <p:cNvPr id="7065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DC59AE3-554C-4BCD-BE01-2144497D7ECF}" type="slidenum">
              <a:rPr lang="en-US" altLang="zh-CN"/>
              <a:pPr>
                <a:defRPr/>
              </a:pPr>
              <a:t>12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3" name="Rectangle 3"/>
          <p:cNvSpPr>
            <a:spLocks noGrp="1" noChangeArrowheads="1"/>
          </p:cNvSpPr>
          <p:nvPr>
            <p:ph idx="1"/>
          </p:nvPr>
        </p:nvSpPr>
        <p:spPr>
          <a:xfrm>
            <a:off x="349250" y="692150"/>
            <a:ext cx="8686800" cy="5503863"/>
          </a:xfrm>
        </p:spPr>
        <p:txBody>
          <a:bodyPr>
            <a:normAutofit lnSpcReduction="10000"/>
          </a:bodyPr>
          <a:lstStyle/>
          <a:p>
            <a:pPr marL="274320" indent="-274320" eaLnBrk="1" fontAlgn="auto" hangingPunct="1">
              <a:lnSpc>
                <a:spcPct val="85000"/>
              </a:lnSpc>
              <a:spcBef>
                <a:spcPct val="500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b="1" dirty="0">
                <a:latin typeface="黑体" pitchFamily="2" charset="-122"/>
                <a:ea typeface="黑体" pitchFamily="2" charset="-122"/>
              </a:rPr>
              <a:t>#include &lt;</a:t>
            </a:r>
            <a:r>
              <a:rPr lang="en-US" altLang="zh-CN" b="1" dirty="0" err="1">
                <a:latin typeface="黑体" pitchFamily="2" charset="-122"/>
                <a:ea typeface="黑体" pitchFamily="2" charset="-122"/>
              </a:rPr>
              <a:t>stdio.h</a:t>
            </a:r>
            <a:r>
              <a:rPr lang="en-US" altLang="zh-CN" b="1" dirty="0">
                <a:latin typeface="黑体" pitchFamily="2" charset="-122"/>
                <a:ea typeface="黑体" pitchFamily="2" charset="-122"/>
              </a:rPr>
              <a:t>&gt;</a:t>
            </a:r>
          </a:p>
          <a:p>
            <a:pPr marL="274320" indent="-274320" eaLnBrk="1" fontAlgn="auto" hangingPunct="1">
              <a:lnSpc>
                <a:spcPct val="85000"/>
              </a:lnSpc>
              <a:spcBef>
                <a:spcPct val="500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b="1" dirty="0">
                <a:latin typeface="黑体" pitchFamily="2" charset="-122"/>
                <a:ea typeface="黑体" pitchFamily="2" charset="-122"/>
              </a:rPr>
              <a:t>void main()</a:t>
            </a:r>
          </a:p>
          <a:p>
            <a:pPr marL="274320" indent="-274320" eaLnBrk="1" fontAlgn="auto" hangingPunct="1">
              <a:lnSpc>
                <a:spcPct val="85000"/>
              </a:lnSpc>
              <a:spcBef>
                <a:spcPct val="500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b="1" dirty="0">
                <a:latin typeface="黑体" pitchFamily="2" charset="-122"/>
                <a:ea typeface="黑体" pitchFamily="2" charset="-122"/>
              </a:rPr>
              <a:t>{ </a:t>
            </a:r>
            <a:r>
              <a:rPr lang="en-US" altLang="zh-CN" b="1" dirty="0" err="1">
                <a:latin typeface="黑体" pitchFamily="2" charset="-122"/>
                <a:ea typeface="黑体" pitchFamily="2" charset="-122"/>
              </a:rPr>
              <a:t>int</a:t>
            </a:r>
            <a:r>
              <a:rPr lang="en-US" altLang="zh-CN" b="1" dirty="0">
                <a:latin typeface="黑体" pitchFamily="2" charset="-122"/>
                <a:ea typeface="黑体" pitchFamily="2" charset="-122"/>
              </a:rPr>
              <a:t> a, b, c, d, t;</a:t>
            </a:r>
          </a:p>
          <a:p>
            <a:pPr marL="274320" indent="-274320" eaLnBrk="1" fontAlgn="auto" hangingPunct="1">
              <a:lnSpc>
                <a:spcPct val="85000"/>
              </a:lnSpc>
              <a:spcBef>
                <a:spcPct val="500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b="1" dirty="0">
                <a:latin typeface="黑体" pitchFamily="2" charset="-122"/>
                <a:ea typeface="黑体" pitchFamily="2" charset="-122"/>
              </a:rPr>
              <a:t>  for(a = 1; a &lt;= 4; a++)</a:t>
            </a:r>
          </a:p>
          <a:p>
            <a:pPr marL="274320" indent="-274320" eaLnBrk="1" fontAlgn="auto" hangingPunct="1">
              <a:lnSpc>
                <a:spcPct val="85000"/>
              </a:lnSpc>
              <a:spcBef>
                <a:spcPct val="500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b="1" dirty="0">
                <a:latin typeface="黑体" pitchFamily="2" charset="-122"/>
                <a:ea typeface="黑体" pitchFamily="2" charset="-122"/>
              </a:rPr>
              <a:t>    for(b = 1; b &lt;= 4; b++) {</a:t>
            </a:r>
          </a:p>
          <a:p>
            <a:pPr>
              <a:lnSpc>
                <a:spcPct val="85000"/>
              </a:lnSpc>
              <a:spcBef>
                <a:spcPct val="5000"/>
              </a:spcBef>
              <a:buNone/>
              <a:defRPr/>
            </a:pPr>
            <a:r>
              <a:rPr lang="en-US" altLang="zh-CN" b="1" dirty="0">
                <a:latin typeface="黑体" pitchFamily="2" charset="-122"/>
                <a:ea typeface="黑体" pitchFamily="2" charset="-122"/>
              </a:rPr>
              <a:t>      if(b == a) continue; </a:t>
            </a:r>
            <a:endParaRPr lang="en-US" altLang="zh-CN" b="1" dirty="0">
              <a:solidFill>
                <a:srgbClr val="0000FF"/>
              </a:solidFill>
              <a:latin typeface="黑体" pitchFamily="2" charset="-122"/>
              <a:ea typeface="黑体" pitchFamily="2" charset="-122"/>
            </a:endParaRPr>
          </a:p>
          <a:p>
            <a:pPr marL="274320" indent="-274320" eaLnBrk="1" fontAlgn="auto" hangingPunct="1">
              <a:lnSpc>
                <a:spcPct val="85000"/>
              </a:lnSpc>
              <a:spcBef>
                <a:spcPct val="500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b="1" dirty="0">
                <a:latin typeface="黑体" pitchFamily="2" charset="-122"/>
                <a:ea typeface="黑体" pitchFamily="2" charset="-122"/>
              </a:rPr>
              <a:t>      for(c = 1; c &lt;= 4; </a:t>
            </a:r>
            <a:r>
              <a:rPr lang="en-US" altLang="zh-CN" b="1" dirty="0" err="1">
                <a:latin typeface="黑体" pitchFamily="2" charset="-122"/>
                <a:ea typeface="黑体" pitchFamily="2" charset="-122"/>
              </a:rPr>
              <a:t>c++</a:t>
            </a:r>
            <a:r>
              <a:rPr lang="en-US" altLang="zh-CN" b="1" dirty="0">
                <a:latin typeface="黑体" pitchFamily="2" charset="-122"/>
                <a:ea typeface="黑体" pitchFamily="2" charset="-122"/>
              </a:rPr>
              <a:t>) {</a:t>
            </a:r>
          </a:p>
          <a:p>
            <a:pPr marL="274320" indent="-274320" eaLnBrk="1" fontAlgn="auto" hangingPunct="1">
              <a:lnSpc>
                <a:spcPct val="85000"/>
              </a:lnSpc>
              <a:spcBef>
                <a:spcPct val="500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b="1" dirty="0">
                <a:latin typeface="黑体" pitchFamily="2" charset="-122"/>
                <a:ea typeface="黑体" pitchFamily="2" charset="-122"/>
              </a:rPr>
              <a:t>        if(c == a || c == b) continue; </a:t>
            </a:r>
          </a:p>
          <a:p>
            <a:pPr marL="274320" indent="-274320" eaLnBrk="1" fontAlgn="auto" hangingPunct="1">
              <a:lnSpc>
                <a:spcPct val="85000"/>
              </a:lnSpc>
              <a:spcBef>
                <a:spcPct val="500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b="1" dirty="0">
                <a:latin typeface="黑体" pitchFamily="2" charset="-122"/>
                <a:ea typeface="黑体" pitchFamily="2" charset="-122"/>
              </a:rPr>
              <a:t>        d = 10-a-b-c;  </a:t>
            </a:r>
            <a:r>
              <a:rPr lang="en-US" altLang="zh-CN" b="1" dirty="0">
                <a:solidFill>
                  <a:srgbClr val="0000FF"/>
                </a:solidFill>
                <a:latin typeface="黑体" pitchFamily="2" charset="-122"/>
                <a:ea typeface="黑体" pitchFamily="2" charset="-122"/>
              </a:rPr>
              <a:t>/* </a:t>
            </a:r>
            <a:r>
              <a:rPr lang="zh-CN" altLang="en-US" b="1" dirty="0">
                <a:solidFill>
                  <a:srgbClr val="0000FF"/>
                </a:solidFill>
                <a:latin typeface="黑体" pitchFamily="2" charset="-122"/>
                <a:ea typeface="黑体" pitchFamily="2" charset="-122"/>
              </a:rPr>
              <a:t>四队名次之和为</a:t>
            </a:r>
            <a:r>
              <a:rPr lang="en-US" altLang="zh-CN" b="1" dirty="0">
                <a:solidFill>
                  <a:srgbClr val="0000FF"/>
                </a:solidFill>
                <a:latin typeface="黑体" pitchFamily="2" charset="-122"/>
                <a:ea typeface="黑体" pitchFamily="2" charset="-122"/>
              </a:rPr>
              <a:t>10 */</a:t>
            </a:r>
          </a:p>
          <a:p>
            <a:pPr marL="274320" indent="-274320" eaLnBrk="1" fontAlgn="auto" hangingPunct="1">
              <a:lnSpc>
                <a:spcPct val="85000"/>
              </a:lnSpc>
              <a:spcBef>
                <a:spcPct val="500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b="1" dirty="0">
                <a:latin typeface="黑体" pitchFamily="2" charset="-122"/>
                <a:ea typeface="黑体" pitchFamily="2" charset="-122"/>
              </a:rPr>
              <a:t>        t = ((a==1)!=(b==2)) &amp;&amp; ((c==1)!=(d==3))</a:t>
            </a:r>
          </a:p>
          <a:p>
            <a:pPr marL="274320" indent="-274320" eaLnBrk="1" fontAlgn="auto" hangingPunct="1">
              <a:lnSpc>
                <a:spcPct val="85000"/>
              </a:lnSpc>
              <a:spcBef>
                <a:spcPct val="500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b="1" dirty="0">
                <a:latin typeface="黑体" pitchFamily="2" charset="-122"/>
                <a:ea typeface="黑体" pitchFamily="2" charset="-122"/>
              </a:rPr>
              <a:t>                  &amp;&amp; ((d==2)!=(a==3));</a:t>
            </a:r>
          </a:p>
          <a:p>
            <a:pPr marL="274320" indent="-274320" eaLnBrk="1" fontAlgn="auto" hangingPunct="1">
              <a:lnSpc>
                <a:spcPct val="85000"/>
              </a:lnSpc>
              <a:spcBef>
                <a:spcPct val="500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b="1" dirty="0">
                <a:latin typeface="黑体" pitchFamily="2" charset="-122"/>
                <a:ea typeface="黑体" pitchFamily="2" charset="-122"/>
              </a:rPr>
              <a:t>        if(t)               				  		</a:t>
            </a:r>
            <a:r>
              <a:rPr lang="en-US" altLang="zh-CN" b="1" dirty="0" err="1">
                <a:latin typeface="黑体" pitchFamily="2" charset="-122"/>
                <a:ea typeface="黑体" pitchFamily="2" charset="-122"/>
              </a:rPr>
              <a:t>printf</a:t>
            </a:r>
            <a:r>
              <a:rPr lang="en-US" altLang="zh-CN" b="1" dirty="0">
                <a:latin typeface="黑体" pitchFamily="2" charset="-122"/>
                <a:ea typeface="黑体" pitchFamily="2" charset="-122"/>
              </a:rPr>
              <a:t>("A=%</a:t>
            </a:r>
            <a:r>
              <a:rPr lang="en-US" altLang="zh-CN" b="1" dirty="0" err="1">
                <a:latin typeface="黑体" pitchFamily="2" charset="-122"/>
                <a:ea typeface="黑体" pitchFamily="2" charset="-122"/>
              </a:rPr>
              <a:t>d,B</a:t>
            </a:r>
            <a:r>
              <a:rPr lang="en-US" altLang="zh-CN" b="1" dirty="0">
                <a:latin typeface="黑体" pitchFamily="2" charset="-122"/>
                <a:ea typeface="黑体" pitchFamily="2" charset="-122"/>
              </a:rPr>
              <a:t>=%</a:t>
            </a:r>
            <a:r>
              <a:rPr lang="en-US" altLang="zh-CN" b="1" dirty="0" err="1">
                <a:latin typeface="黑体" pitchFamily="2" charset="-122"/>
                <a:ea typeface="黑体" pitchFamily="2" charset="-122"/>
              </a:rPr>
              <a:t>d,C</a:t>
            </a:r>
            <a:r>
              <a:rPr lang="en-US" altLang="zh-CN" b="1" dirty="0">
                <a:latin typeface="黑体" pitchFamily="2" charset="-122"/>
                <a:ea typeface="黑体" pitchFamily="2" charset="-122"/>
              </a:rPr>
              <a:t>=%</a:t>
            </a:r>
            <a:r>
              <a:rPr lang="en-US" altLang="zh-CN" b="1" dirty="0" err="1">
                <a:latin typeface="黑体" pitchFamily="2" charset="-122"/>
                <a:ea typeface="黑体" pitchFamily="2" charset="-122"/>
              </a:rPr>
              <a:t>d,D</a:t>
            </a:r>
            <a:r>
              <a:rPr lang="en-US" altLang="zh-CN" b="1" dirty="0">
                <a:latin typeface="黑体" pitchFamily="2" charset="-122"/>
                <a:ea typeface="黑体" pitchFamily="2" charset="-122"/>
              </a:rPr>
              <a:t>=%d\</a:t>
            </a:r>
            <a:r>
              <a:rPr lang="en-US" altLang="zh-CN" b="1" dirty="0" err="1">
                <a:latin typeface="黑体" pitchFamily="2" charset="-122"/>
                <a:ea typeface="黑体" pitchFamily="2" charset="-122"/>
              </a:rPr>
              <a:t>n",a,b,c,d</a:t>
            </a:r>
            <a:r>
              <a:rPr lang="en-US" altLang="zh-CN" b="1" dirty="0">
                <a:latin typeface="黑体" pitchFamily="2" charset="-122"/>
                <a:ea typeface="黑体" pitchFamily="2" charset="-122"/>
              </a:rPr>
              <a:t>);</a:t>
            </a:r>
          </a:p>
          <a:p>
            <a:pPr marL="274320" indent="-274320" eaLnBrk="1" fontAlgn="auto" hangingPunct="1">
              <a:lnSpc>
                <a:spcPct val="85000"/>
              </a:lnSpc>
              <a:spcBef>
                <a:spcPct val="500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b="1" dirty="0">
                <a:latin typeface="黑体" pitchFamily="2" charset="-122"/>
                <a:ea typeface="黑体" pitchFamily="2" charset="-122"/>
              </a:rPr>
              <a:t>      </a:t>
            </a:r>
            <a:r>
              <a:rPr lang="en-US" altLang="zh-CN" sz="2100" b="1" dirty="0">
                <a:latin typeface="黑体" pitchFamily="2" charset="-122"/>
                <a:ea typeface="黑体" pitchFamily="2" charset="-122"/>
              </a:rPr>
              <a:t>} /* end for c */</a:t>
            </a:r>
          </a:p>
          <a:p>
            <a:pPr marL="274320" indent="-274320" eaLnBrk="1" fontAlgn="auto" hangingPunct="1">
              <a:lnSpc>
                <a:spcPct val="85000"/>
              </a:lnSpc>
              <a:spcBef>
                <a:spcPct val="500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100" b="1" dirty="0">
                <a:latin typeface="黑体" pitchFamily="2" charset="-122"/>
                <a:ea typeface="黑体" pitchFamily="2" charset="-122"/>
              </a:rPr>
              <a:t>    }  /* end for b */</a:t>
            </a:r>
          </a:p>
          <a:p>
            <a:pPr marL="274320" indent="-274320" eaLnBrk="1" fontAlgn="auto" hangingPunct="1">
              <a:lnSpc>
                <a:spcPct val="85000"/>
              </a:lnSpc>
              <a:spcBef>
                <a:spcPct val="500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100" b="1" dirty="0">
                <a:latin typeface="黑体" pitchFamily="2" charset="-122"/>
                <a:ea typeface="黑体" pitchFamily="2" charset="-122"/>
              </a:rPr>
              <a:t>}</a:t>
            </a:r>
            <a:endParaRPr lang="en-US" altLang="zh-CN" b="1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7168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9D444CA-8C88-444A-A703-B2AA17112E36}" type="slidenum">
              <a:rPr lang="en-US" altLang="zh-CN"/>
              <a:pPr>
                <a:defRPr/>
              </a:pPr>
              <a:t>13</a:t>
            </a:fld>
            <a:endParaRPr lang="en-US" altLang="zh-CN"/>
          </a:p>
        </p:txBody>
      </p:sp>
      <p:sp>
        <p:nvSpPr>
          <p:cNvPr id="4" name="TextBox 3"/>
          <p:cNvSpPr txBox="1"/>
          <p:nvPr/>
        </p:nvSpPr>
        <p:spPr>
          <a:xfrm>
            <a:off x="5143504" y="2214554"/>
            <a:ext cx="27462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0000FF"/>
                </a:solidFill>
                <a:latin typeface="黑体" pitchFamily="2" charset="-122"/>
                <a:ea typeface="黑体" pitchFamily="2" charset="-122"/>
              </a:rPr>
              <a:t>/* </a:t>
            </a:r>
            <a:r>
              <a:rPr lang="zh-CN" altLang="en-US" b="1" dirty="0">
                <a:solidFill>
                  <a:srgbClr val="0000FF"/>
                </a:solidFill>
                <a:latin typeface="黑体" pitchFamily="2" charset="-122"/>
                <a:ea typeface="黑体" pitchFamily="2" charset="-122"/>
              </a:rPr>
              <a:t>两队名次不可相同 *</a:t>
            </a:r>
            <a:r>
              <a:rPr lang="en-US" altLang="zh-CN" b="1" dirty="0">
                <a:solidFill>
                  <a:srgbClr val="0000FF"/>
                </a:solidFill>
                <a:latin typeface="黑体" pitchFamily="2" charset="-122"/>
                <a:ea typeface="黑体" pitchFamily="2" charset="-122"/>
              </a:rPr>
              <a:t>/</a:t>
            </a:r>
            <a:endParaRPr lang="zh-CN" alt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168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168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16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16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16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16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168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168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16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16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16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16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16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16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716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716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7168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7168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26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23850" y="1428736"/>
            <a:ext cx="8280400" cy="5075252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zh-CN" altLang="en-US" sz="4000" dirty="0">
                <a:latin typeface="黑体" pitchFamily="2" charset="-122"/>
                <a:ea typeface="黑体" pitchFamily="2" charset="-122"/>
              </a:rPr>
              <a:t>嵌套的循环结构</a:t>
            </a:r>
            <a:endParaRPr lang="en-US" altLang="zh-CN" sz="4000" dirty="0">
              <a:latin typeface="黑体" pitchFamily="2" charset="-122"/>
              <a:ea typeface="黑体" pitchFamily="2" charset="-122"/>
            </a:endParaRPr>
          </a:p>
          <a:p>
            <a:pPr marL="0" indent="0">
              <a:buNone/>
              <a:defRPr/>
            </a:pPr>
            <a:endParaRPr lang="en-US" altLang="zh-CN" sz="4000" dirty="0">
              <a:latin typeface="黑体" pitchFamily="2" charset="-122"/>
              <a:ea typeface="黑体" pitchFamily="2" charset="-122"/>
            </a:endParaRPr>
          </a:p>
          <a:p>
            <a:pPr marL="0" indent="0">
              <a:buNone/>
              <a:defRPr/>
            </a:pPr>
            <a:r>
              <a:rPr lang="en-US" altLang="zh-CN" sz="40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continue,break</a:t>
            </a:r>
            <a:r>
              <a:rPr lang="zh-CN" altLang="en-US" sz="4000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只对当前层次的循环起作用；</a:t>
            </a:r>
            <a:endParaRPr lang="en-US" altLang="zh-CN" sz="4000" dirty="0">
              <a:effectLst>
                <a:outerShdw blurRad="38100" dist="38100" dir="2700000" algn="tl">
                  <a:srgbClr val="C0C0C0"/>
                </a:outerShdw>
              </a:effectLst>
              <a:latin typeface="黑体" pitchFamily="2" charset="-122"/>
              <a:ea typeface="黑体" pitchFamily="2" charset="-122"/>
            </a:endParaRPr>
          </a:p>
          <a:p>
            <a:pPr marL="0" indent="0">
              <a:buNone/>
              <a:defRPr/>
            </a:pPr>
            <a:endParaRPr lang="en-US" altLang="zh-CN" sz="3900" dirty="0">
              <a:effectLst>
                <a:outerShdw blurRad="38100" dist="38100" dir="2700000" algn="tl">
                  <a:srgbClr val="C0C0C0"/>
                </a:outerShdw>
              </a:effectLst>
              <a:latin typeface="黑体" pitchFamily="2" charset="-122"/>
              <a:ea typeface="黑体" pitchFamily="2" charset="-122"/>
            </a:endParaRPr>
          </a:p>
          <a:p>
            <a:pPr marL="0" indent="0" eaLnBrk="1" fontAlgn="auto" hangingPunct="1">
              <a:spcAft>
                <a:spcPts val="0"/>
              </a:spcAft>
              <a:buClr>
                <a:schemeClr val="accent3"/>
              </a:buClr>
              <a:buFont typeface="Wingdings 2" pitchFamily="18" charset="2"/>
              <a:buNone/>
              <a:defRPr/>
            </a:pPr>
            <a:r>
              <a:rPr lang="zh-CN" altLang="en-US" sz="3900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如何一次跳出多重循环？</a:t>
            </a:r>
            <a:endParaRPr lang="en-US" altLang="zh-CN" sz="3900" dirty="0">
              <a:effectLst>
                <a:outerShdw blurRad="38100" dist="38100" dir="2700000" algn="tl">
                  <a:srgbClr val="C0C0C0"/>
                </a:outerShdw>
              </a:effectLst>
              <a:latin typeface="黑体" pitchFamily="2" charset="-122"/>
              <a:ea typeface="黑体" pitchFamily="2" charset="-122"/>
            </a:endParaRPr>
          </a:p>
          <a:p>
            <a:pPr marL="0" indent="0" eaLnBrk="1" fontAlgn="auto" hangingPunct="1">
              <a:spcAft>
                <a:spcPts val="0"/>
              </a:spcAft>
              <a:buClr>
                <a:schemeClr val="accent3"/>
              </a:buClr>
              <a:buFont typeface="Wingdings 2" pitchFamily="18" charset="2"/>
              <a:buNone/>
              <a:defRPr/>
            </a:pPr>
            <a:r>
              <a:rPr lang="en-US" altLang="zh-CN" sz="39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goto</a:t>
            </a:r>
            <a:r>
              <a:rPr lang="zh-CN" altLang="en-US" sz="3900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语句</a:t>
            </a:r>
            <a:r>
              <a:rPr lang="en-US" altLang="zh-CN" sz="3900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??</a:t>
            </a:r>
            <a:endParaRPr lang="zh-CN" altLang="en-US" sz="3900" dirty="0">
              <a:effectLst>
                <a:outerShdw blurRad="38100" dist="38100" dir="2700000" algn="tl">
                  <a:srgbClr val="C0C0C0"/>
                </a:outerShdw>
              </a:effectLst>
              <a:latin typeface="黑体" pitchFamily="2" charset="-122"/>
              <a:ea typeface="黑体" pitchFamily="2" charset="-122"/>
            </a:endParaRPr>
          </a:p>
          <a:p>
            <a:pPr marL="0" indent="0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endParaRPr lang="en-US" altLang="zh-CN" sz="2200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1266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42B522C-85DD-4EB6-BAEB-2A878B3F4B7C}" type="slidenum">
              <a:rPr lang="en-US" altLang="zh-CN"/>
              <a:pPr>
                <a:defRPr/>
              </a:pPr>
              <a:t>14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5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5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95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95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95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95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CF5372-C309-76AF-A845-64D6EED87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标志量的写法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B4196BC-FBA4-4850-477E-BD4E5F056431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251520" y="1160463"/>
            <a:ext cx="8496944" cy="5580905"/>
          </a:xfrm>
        </p:spPr>
        <p:txBody>
          <a:bodyPr>
            <a:normAutofit lnSpcReduction="10000"/>
          </a:bodyPr>
          <a:lstStyle/>
          <a:p>
            <a:pPr marL="274320" indent="-274320" eaLnBrk="1" fontAlgn="auto" hangingPunct="1">
              <a:lnSpc>
                <a:spcPct val="85000"/>
              </a:lnSpc>
              <a:spcBef>
                <a:spcPct val="500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b="1" dirty="0">
                <a:latin typeface="黑体" pitchFamily="2" charset="-122"/>
                <a:ea typeface="黑体" pitchFamily="2" charset="-122"/>
              </a:rPr>
              <a:t>for(a = 1; a &lt;= 100; a++)  {</a:t>
            </a:r>
          </a:p>
          <a:p>
            <a:pPr marL="274320" indent="-274320" eaLnBrk="1" fontAlgn="auto" hangingPunct="1">
              <a:lnSpc>
                <a:spcPct val="85000"/>
              </a:lnSpc>
              <a:spcBef>
                <a:spcPct val="500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b="1" dirty="0">
                <a:latin typeface="黑体" pitchFamily="2" charset="-122"/>
                <a:ea typeface="黑体" pitchFamily="2" charset="-122"/>
              </a:rPr>
              <a:t>    int flag = 0;</a:t>
            </a:r>
          </a:p>
          <a:p>
            <a:pPr marL="274320" indent="-274320" eaLnBrk="1" fontAlgn="auto" hangingPunct="1">
              <a:lnSpc>
                <a:spcPct val="85000"/>
              </a:lnSpc>
              <a:spcBef>
                <a:spcPct val="500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b="1" dirty="0">
                <a:latin typeface="黑体" pitchFamily="2" charset="-122"/>
                <a:ea typeface="黑体" pitchFamily="2" charset="-122"/>
              </a:rPr>
              <a:t>    for(b = 1; b &lt;= 100; b++) {</a:t>
            </a:r>
          </a:p>
          <a:p>
            <a:pPr marL="274320" indent="-274320" eaLnBrk="1" fontAlgn="auto" hangingPunct="1">
              <a:lnSpc>
                <a:spcPct val="85000"/>
              </a:lnSpc>
              <a:spcBef>
                <a:spcPct val="500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b="1" dirty="0">
                <a:latin typeface="黑体" pitchFamily="2" charset="-122"/>
                <a:ea typeface="黑体" pitchFamily="2" charset="-122"/>
              </a:rPr>
              <a:t>       </a:t>
            </a:r>
            <a:r>
              <a:rPr lang="zh-CN" altLang="en-US" b="1" dirty="0">
                <a:latin typeface="黑体" pitchFamily="2" charset="-122"/>
                <a:ea typeface="黑体" pitchFamily="2" charset="-122"/>
              </a:rPr>
              <a:t>回答问题</a:t>
            </a:r>
            <a:r>
              <a:rPr lang="en-US" altLang="zh-CN" b="1" dirty="0">
                <a:latin typeface="黑体" pitchFamily="2" charset="-122"/>
                <a:ea typeface="黑体" pitchFamily="2" charset="-122"/>
              </a:rPr>
              <a:t>b</a:t>
            </a:r>
            <a:r>
              <a:rPr lang="zh-CN" altLang="en-US" b="1" dirty="0">
                <a:latin typeface="黑体" pitchFamily="2" charset="-122"/>
                <a:ea typeface="黑体" pitchFamily="2" charset="-122"/>
              </a:rPr>
              <a:t>；</a:t>
            </a:r>
            <a:r>
              <a:rPr lang="en-US" altLang="zh-CN" b="1" dirty="0">
                <a:latin typeface="黑体" pitchFamily="2" charset="-122"/>
                <a:ea typeface="黑体" pitchFamily="2" charset="-122"/>
              </a:rPr>
              <a:t> </a:t>
            </a:r>
          </a:p>
          <a:p>
            <a:pPr marL="274320" indent="-274320" eaLnBrk="1" fontAlgn="auto" hangingPunct="1">
              <a:lnSpc>
                <a:spcPct val="85000"/>
              </a:lnSpc>
              <a:spcBef>
                <a:spcPct val="500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b="1" dirty="0">
                <a:latin typeface="黑体" pitchFamily="2" charset="-122"/>
                <a:ea typeface="黑体" pitchFamily="2" charset="-122"/>
              </a:rPr>
              <a:t>       if(</a:t>
            </a:r>
            <a:r>
              <a:rPr lang="zh-CN" altLang="en-US" b="1" dirty="0">
                <a:latin typeface="黑体" pitchFamily="2" charset="-122"/>
                <a:ea typeface="黑体" pitchFamily="2" charset="-122"/>
              </a:rPr>
              <a:t>答案完美无缺</a:t>
            </a:r>
            <a:r>
              <a:rPr lang="en-US" altLang="zh-CN" b="1" dirty="0">
                <a:latin typeface="黑体" pitchFamily="2" charset="-122"/>
                <a:ea typeface="黑体" pitchFamily="2" charset="-122"/>
              </a:rPr>
              <a:t>){</a:t>
            </a:r>
          </a:p>
          <a:p>
            <a:pPr marL="274320" indent="-274320" eaLnBrk="1" fontAlgn="auto" hangingPunct="1">
              <a:lnSpc>
                <a:spcPct val="85000"/>
              </a:lnSpc>
              <a:spcBef>
                <a:spcPct val="500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b="1" dirty="0">
                <a:latin typeface="黑体" pitchFamily="2" charset="-122"/>
                <a:ea typeface="黑体" pitchFamily="2" charset="-122"/>
              </a:rPr>
              <a:t>           flag = 1;</a:t>
            </a:r>
          </a:p>
          <a:p>
            <a:pPr marL="274320" indent="-274320" eaLnBrk="1" fontAlgn="auto" hangingPunct="1">
              <a:lnSpc>
                <a:spcPct val="85000"/>
              </a:lnSpc>
              <a:spcBef>
                <a:spcPct val="500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b="1" dirty="0">
                <a:latin typeface="黑体" pitchFamily="2" charset="-122"/>
                <a:ea typeface="黑体" pitchFamily="2" charset="-122"/>
              </a:rPr>
              <a:t>           break;  /*</a:t>
            </a:r>
            <a:r>
              <a:rPr lang="zh-CN" altLang="en-US" b="1" dirty="0">
                <a:latin typeface="黑体" pitchFamily="2" charset="-122"/>
                <a:ea typeface="黑体" pitchFamily="2" charset="-122"/>
              </a:rPr>
              <a:t> </a:t>
            </a:r>
            <a:r>
              <a:rPr lang="en-US" altLang="zh-CN" b="1" dirty="0">
                <a:latin typeface="黑体" pitchFamily="2" charset="-122"/>
                <a:ea typeface="黑体" pitchFamily="2" charset="-122"/>
              </a:rPr>
              <a:t>for</a:t>
            </a:r>
            <a:r>
              <a:rPr lang="zh-CN" altLang="en-US" b="1" dirty="0">
                <a:latin typeface="黑体" pitchFamily="2" charset="-122"/>
                <a:ea typeface="黑体" pitchFamily="2" charset="-122"/>
              </a:rPr>
              <a:t> </a:t>
            </a:r>
            <a:r>
              <a:rPr lang="en-US" altLang="zh-CN" b="1" dirty="0">
                <a:latin typeface="黑体" pitchFamily="2" charset="-122"/>
                <a:ea typeface="黑体" pitchFamily="2" charset="-122"/>
              </a:rPr>
              <a:t>b</a:t>
            </a:r>
            <a:r>
              <a:rPr lang="zh-CN" altLang="en-US" b="1" dirty="0">
                <a:latin typeface="黑体" pitchFamily="2" charset="-122"/>
                <a:ea typeface="黑体" pitchFamily="2" charset="-122"/>
              </a:rPr>
              <a:t>的循环  </a:t>
            </a:r>
            <a:r>
              <a:rPr lang="en-US" altLang="zh-CN" b="1" dirty="0">
                <a:latin typeface="黑体" pitchFamily="2" charset="-122"/>
                <a:ea typeface="黑体" pitchFamily="2" charset="-122"/>
              </a:rPr>
              <a:t>*/</a:t>
            </a:r>
          </a:p>
          <a:p>
            <a:pPr marL="274320" indent="-274320" eaLnBrk="1" fontAlgn="auto" hangingPunct="1">
              <a:lnSpc>
                <a:spcPct val="85000"/>
              </a:lnSpc>
              <a:spcBef>
                <a:spcPct val="500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b="1" dirty="0">
                <a:latin typeface="黑体" pitchFamily="2" charset="-122"/>
                <a:ea typeface="黑体" pitchFamily="2" charset="-122"/>
              </a:rPr>
              <a:t>        }</a:t>
            </a:r>
          </a:p>
          <a:p>
            <a:pPr marL="274320" indent="-274320" eaLnBrk="1" fontAlgn="auto" hangingPunct="1">
              <a:lnSpc>
                <a:spcPct val="85000"/>
              </a:lnSpc>
              <a:spcBef>
                <a:spcPct val="500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b="1" dirty="0">
                <a:latin typeface="黑体" pitchFamily="2" charset="-122"/>
                <a:ea typeface="黑体" pitchFamily="2" charset="-122"/>
              </a:rPr>
              <a:t>        if(</a:t>
            </a:r>
            <a:r>
              <a:rPr lang="zh-CN" altLang="en-US" b="1" dirty="0">
                <a:latin typeface="黑体" pitchFamily="2" charset="-122"/>
                <a:ea typeface="黑体" pitchFamily="2" charset="-122"/>
              </a:rPr>
              <a:t>答案不着边际</a:t>
            </a:r>
            <a:r>
              <a:rPr lang="en-US" altLang="zh-CN" b="1" dirty="0">
                <a:latin typeface="黑体" pitchFamily="2" charset="-122"/>
                <a:ea typeface="黑体" pitchFamily="2" charset="-122"/>
              </a:rPr>
              <a:t>)</a:t>
            </a:r>
          </a:p>
          <a:p>
            <a:pPr marL="274320" indent="-274320" eaLnBrk="1" fontAlgn="auto" hangingPunct="1">
              <a:lnSpc>
                <a:spcPct val="85000"/>
              </a:lnSpc>
              <a:spcBef>
                <a:spcPct val="500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b="1" dirty="0">
                <a:latin typeface="黑体" pitchFamily="2" charset="-122"/>
                <a:ea typeface="黑体" pitchFamily="2" charset="-122"/>
              </a:rPr>
              <a:t>            break; /*</a:t>
            </a:r>
            <a:r>
              <a:rPr lang="zh-CN" altLang="en-US" b="1" dirty="0">
                <a:latin typeface="黑体" pitchFamily="2" charset="-122"/>
                <a:ea typeface="黑体" pitchFamily="2" charset="-122"/>
              </a:rPr>
              <a:t> </a:t>
            </a:r>
            <a:r>
              <a:rPr lang="en-US" altLang="zh-CN" b="1" dirty="0">
                <a:latin typeface="黑体" pitchFamily="2" charset="-122"/>
                <a:ea typeface="黑体" pitchFamily="2" charset="-122"/>
              </a:rPr>
              <a:t>for</a:t>
            </a:r>
            <a:r>
              <a:rPr lang="zh-CN" altLang="en-US" b="1" dirty="0">
                <a:latin typeface="黑体" pitchFamily="2" charset="-122"/>
                <a:ea typeface="黑体" pitchFamily="2" charset="-122"/>
              </a:rPr>
              <a:t> </a:t>
            </a:r>
            <a:r>
              <a:rPr lang="en-US" altLang="zh-CN" b="1" dirty="0">
                <a:latin typeface="黑体" pitchFamily="2" charset="-122"/>
                <a:ea typeface="黑体" pitchFamily="2" charset="-122"/>
              </a:rPr>
              <a:t>b</a:t>
            </a:r>
            <a:r>
              <a:rPr lang="zh-CN" altLang="en-US" b="1" dirty="0">
                <a:latin typeface="黑体" pitchFamily="2" charset="-122"/>
                <a:ea typeface="黑体" pitchFamily="2" charset="-122"/>
              </a:rPr>
              <a:t>的循环  </a:t>
            </a:r>
            <a:r>
              <a:rPr lang="en-US" altLang="zh-CN" b="1" dirty="0">
                <a:latin typeface="黑体" pitchFamily="2" charset="-122"/>
                <a:ea typeface="黑体" pitchFamily="2" charset="-122"/>
              </a:rPr>
              <a:t>*/</a:t>
            </a:r>
          </a:p>
          <a:p>
            <a:pPr marL="274320" indent="-274320" eaLnBrk="1" fontAlgn="auto" hangingPunct="1">
              <a:lnSpc>
                <a:spcPct val="85000"/>
              </a:lnSpc>
              <a:spcBef>
                <a:spcPct val="500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b="1" dirty="0">
                <a:latin typeface="黑体" pitchFamily="2" charset="-122"/>
                <a:ea typeface="黑体" pitchFamily="2" charset="-122"/>
              </a:rPr>
              <a:t>    }</a:t>
            </a:r>
          </a:p>
          <a:p>
            <a:pPr>
              <a:lnSpc>
                <a:spcPct val="85000"/>
              </a:lnSpc>
              <a:spcBef>
                <a:spcPct val="5000"/>
              </a:spcBef>
              <a:buNone/>
              <a:defRPr/>
            </a:pPr>
            <a:r>
              <a:rPr lang="en-US" altLang="zh-CN" b="1" dirty="0">
                <a:latin typeface="黑体" pitchFamily="2" charset="-122"/>
                <a:ea typeface="黑体" pitchFamily="2" charset="-122"/>
              </a:rPr>
              <a:t>    if(flag) {</a:t>
            </a:r>
          </a:p>
          <a:p>
            <a:pPr>
              <a:lnSpc>
                <a:spcPct val="85000"/>
              </a:lnSpc>
              <a:spcBef>
                <a:spcPct val="5000"/>
              </a:spcBef>
              <a:buNone/>
              <a:defRPr/>
            </a:pPr>
            <a:r>
              <a:rPr lang="en-US" altLang="zh-CN" b="1" dirty="0">
                <a:latin typeface="黑体" pitchFamily="2" charset="-122"/>
                <a:ea typeface="黑体" pitchFamily="2" charset="-122"/>
              </a:rPr>
              <a:t>       </a:t>
            </a:r>
            <a:r>
              <a:rPr lang="zh-CN" altLang="en-US" b="1" dirty="0">
                <a:latin typeface="黑体" pitchFamily="2" charset="-122"/>
                <a:ea typeface="黑体" pitchFamily="2" charset="-122"/>
              </a:rPr>
              <a:t>输出：</a:t>
            </a:r>
            <a:r>
              <a:rPr lang="zh-CN" altLang="en-US" sz="2800" b="1" dirty="0">
                <a:latin typeface="黑体" pitchFamily="2" charset="-122"/>
                <a:ea typeface="黑体" pitchFamily="2" charset="-122"/>
              </a:rPr>
              <a:t>天选之人已经找到；</a:t>
            </a:r>
            <a:endParaRPr lang="en-US" altLang="zh-CN" b="1" dirty="0">
              <a:latin typeface="黑体" pitchFamily="2" charset="-122"/>
              <a:ea typeface="黑体" pitchFamily="2" charset="-122"/>
            </a:endParaRPr>
          </a:p>
          <a:p>
            <a:pPr marL="274320" indent="-274320" eaLnBrk="1" fontAlgn="auto" hangingPunct="1">
              <a:lnSpc>
                <a:spcPct val="85000"/>
              </a:lnSpc>
              <a:spcBef>
                <a:spcPct val="500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b="1" dirty="0">
                <a:latin typeface="黑体" pitchFamily="2" charset="-122"/>
                <a:ea typeface="黑体" pitchFamily="2" charset="-122"/>
              </a:rPr>
              <a:t>	      break; </a:t>
            </a: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/*</a:t>
            </a:r>
            <a:r>
              <a:rPr lang="zh-CN" altLang="en-US" sz="2400" b="1" dirty="0">
                <a:latin typeface="黑体" pitchFamily="2" charset="-122"/>
                <a:ea typeface="黑体" pitchFamily="2" charset="-122"/>
              </a:rPr>
              <a:t> </a:t>
            </a: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for</a:t>
            </a:r>
            <a:r>
              <a:rPr lang="zh-CN" altLang="en-US" sz="2400" b="1" dirty="0">
                <a:latin typeface="黑体" pitchFamily="2" charset="-122"/>
                <a:ea typeface="黑体" pitchFamily="2" charset="-122"/>
              </a:rPr>
              <a:t> </a:t>
            </a: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a</a:t>
            </a:r>
            <a:r>
              <a:rPr lang="zh-CN" altLang="en-US" sz="2400" b="1" dirty="0">
                <a:latin typeface="黑体" pitchFamily="2" charset="-122"/>
                <a:ea typeface="黑体" pitchFamily="2" charset="-122"/>
              </a:rPr>
              <a:t>的循环  </a:t>
            </a: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*/</a:t>
            </a:r>
            <a:endParaRPr lang="en-US" altLang="zh-CN" sz="2100" b="1" dirty="0">
              <a:latin typeface="黑体" pitchFamily="2" charset="-122"/>
              <a:ea typeface="黑体" pitchFamily="2" charset="-122"/>
            </a:endParaRPr>
          </a:p>
          <a:p>
            <a:pPr marL="274320" indent="-274320" eaLnBrk="1" fontAlgn="auto" hangingPunct="1">
              <a:lnSpc>
                <a:spcPct val="85000"/>
              </a:lnSpc>
              <a:spcBef>
                <a:spcPct val="500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100" b="1" dirty="0">
                <a:latin typeface="黑体" pitchFamily="2" charset="-122"/>
                <a:ea typeface="黑体" pitchFamily="2" charset="-122"/>
              </a:rPr>
              <a:t>     }</a:t>
            </a:r>
          </a:p>
          <a:p>
            <a:pPr marL="274320" indent="-274320" eaLnBrk="1" fontAlgn="auto" hangingPunct="1">
              <a:lnSpc>
                <a:spcPct val="85000"/>
              </a:lnSpc>
              <a:spcBef>
                <a:spcPct val="500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100" b="1" dirty="0">
                <a:latin typeface="黑体" pitchFamily="2" charset="-122"/>
                <a:ea typeface="黑体" pitchFamily="2" charset="-122"/>
              </a:rPr>
              <a:t>}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457560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025819" y="708853"/>
            <a:ext cx="2401261" cy="364992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>
              <a:defRPr/>
            </a:pPr>
            <a:r>
              <a:rPr lang="zh-CN" altLang="en-US" sz="2669" b="1" dirty="0">
                <a:latin typeface="TimesNewRomanPS"/>
              </a:rPr>
              <a:t>跳出多重循环的例子（参考）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1183342" y="3751730"/>
            <a:ext cx="211311" cy="211311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>
              <a:defRPr/>
            </a:pPr>
            <a:r>
              <a:rPr lang="zh-CN" altLang="en-US" sz="1668">
                <a:latin typeface="SimSun" panose="02010600030101010101" pitchFamily="2" charset="-122"/>
              </a:rPr>
              <a:t>　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7972185" y="5941679"/>
            <a:ext cx="149839" cy="134471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>
              <a:defRPr/>
            </a:pPr>
            <a:r>
              <a:rPr lang="en-US" altLang="zh-CN" sz="1167">
                <a:latin typeface="TimesNewRomanPSMT"/>
              </a:rPr>
              <a:t>22</a:t>
            </a:r>
            <a:endParaRPr lang="zh-CN" altLang="en-US" sz="1167">
              <a:latin typeface="TimesNewRomanPSM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86571" y="1599150"/>
            <a:ext cx="7035453" cy="427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178" dirty="0"/>
              <a:t>Java</a:t>
            </a:r>
            <a:r>
              <a:rPr lang="zh-CN" altLang="en-US" sz="2178" dirty="0"/>
              <a:t>，</a:t>
            </a:r>
            <a:r>
              <a:rPr lang="en-US" altLang="zh-CN" sz="2178" dirty="0"/>
              <a:t>Rust</a:t>
            </a:r>
            <a:r>
              <a:rPr lang="zh-CN" altLang="en-US" sz="2178" dirty="0"/>
              <a:t>，</a:t>
            </a:r>
            <a:r>
              <a:rPr lang="en-US" altLang="zh-CN" sz="2178" dirty="0"/>
              <a:t>Go</a:t>
            </a:r>
            <a:r>
              <a:rPr lang="zh-CN" altLang="en-US" sz="2178" dirty="0"/>
              <a:t>等语言都支持使用标号跳出多重循环</a:t>
            </a:r>
            <a:endParaRPr lang="en-US" altLang="zh-CN" sz="2178" dirty="0"/>
          </a:p>
        </p:txBody>
      </p:sp>
      <p:sp>
        <p:nvSpPr>
          <p:cNvPr id="23" name="矩形 22"/>
          <p:cNvSpPr/>
          <p:nvPr/>
        </p:nvSpPr>
        <p:spPr>
          <a:xfrm>
            <a:off x="1183341" y="1947693"/>
            <a:ext cx="7135495" cy="42629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936" dirty="0" err="1">
                <a:solidFill>
                  <a:srgbClr val="00B0F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fn</a:t>
            </a:r>
            <a:r>
              <a:rPr lang="en-US" altLang="zh-CN" sz="1936" dirty="0">
                <a:latin typeface="华文新魏" panose="02010800040101010101" pitchFamily="2" charset="-122"/>
                <a:ea typeface="华文新魏" panose="02010800040101010101" pitchFamily="2" charset="-122"/>
              </a:rPr>
              <a:t> main() {    </a:t>
            </a:r>
          </a:p>
          <a:p>
            <a:r>
              <a:rPr lang="en-US" altLang="zh-CN" sz="1936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'outer: </a:t>
            </a:r>
            <a:r>
              <a:rPr lang="en-US" altLang="zh-CN" sz="1936" dirty="0">
                <a:solidFill>
                  <a:srgbClr val="00B0F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for</a:t>
            </a:r>
            <a:r>
              <a:rPr lang="en-US" altLang="zh-CN" sz="1936" dirty="0">
                <a:latin typeface="华文新魏" panose="02010800040101010101" pitchFamily="2" charset="-122"/>
                <a:ea typeface="华文新魏" panose="02010800040101010101" pitchFamily="2" charset="-122"/>
              </a:rPr>
              <a:t> x </a:t>
            </a:r>
            <a:r>
              <a:rPr lang="en-US" altLang="zh-CN" sz="1936" dirty="0">
                <a:solidFill>
                  <a:srgbClr val="00B0F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in</a:t>
            </a:r>
            <a:r>
              <a:rPr lang="en-US" altLang="zh-CN" sz="1936" dirty="0">
                <a:latin typeface="华文新魏" panose="02010800040101010101" pitchFamily="2" charset="-122"/>
                <a:ea typeface="华文新魏" panose="02010800040101010101" pitchFamily="2" charset="-122"/>
              </a:rPr>
              <a:t> 0..10 {        </a:t>
            </a:r>
          </a:p>
          <a:p>
            <a:r>
              <a:rPr lang="en-US" altLang="zh-CN" sz="1936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               </a:t>
            </a:r>
            <a:r>
              <a:rPr lang="en-US" altLang="zh-CN" sz="1936" dirty="0">
                <a:solidFill>
                  <a:srgbClr val="00B0F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for</a:t>
            </a:r>
            <a:r>
              <a:rPr lang="en-US" altLang="zh-CN" sz="1936" dirty="0">
                <a:latin typeface="华文新魏" panose="02010800040101010101" pitchFamily="2" charset="-122"/>
                <a:ea typeface="华文新魏" panose="02010800040101010101" pitchFamily="2" charset="-122"/>
              </a:rPr>
              <a:t> y </a:t>
            </a:r>
            <a:r>
              <a:rPr lang="en-US" altLang="zh-CN" sz="1936" dirty="0">
                <a:solidFill>
                  <a:srgbClr val="00B0F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in</a:t>
            </a:r>
            <a:r>
              <a:rPr lang="en-US" altLang="zh-CN" sz="1936" dirty="0">
                <a:latin typeface="华文新魏" panose="02010800040101010101" pitchFamily="2" charset="-122"/>
                <a:ea typeface="华文新魏" panose="02010800040101010101" pitchFamily="2" charset="-122"/>
              </a:rPr>
              <a:t> 0..10 {            </a:t>
            </a:r>
          </a:p>
          <a:p>
            <a:r>
              <a:rPr lang="en-US" altLang="zh-CN" sz="1936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                    </a:t>
            </a:r>
            <a:r>
              <a:rPr lang="en-US" altLang="zh-CN" sz="1936" dirty="0">
                <a:solidFill>
                  <a:srgbClr val="00B0F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for</a:t>
            </a:r>
            <a:r>
              <a:rPr lang="en-US" altLang="zh-CN" sz="1936" dirty="0">
                <a:latin typeface="华文新魏" panose="02010800040101010101" pitchFamily="2" charset="-122"/>
                <a:ea typeface="华文新魏" panose="02010800040101010101" pitchFamily="2" charset="-122"/>
              </a:rPr>
              <a:t> z </a:t>
            </a:r>
            <a:r>
              <a:rPr lang="en-US" altLang="zh-CN" sz="1936" dirty="0">
                <a:solidFill>
                  <a:srgbClr val="00B0F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in</a:t>
            </a:r>
            <a:r>
              <a:rPr lang="en-US" altLang="zh-CN" sz="1936" dirty="0">
                <a:latin typeface="华文新魏" panose="02010800040101010101" pitchFamily="2" charset="-122"/>
                <a:ea typeface="华文新魏" panose="02010800040101010101" pitchFamily="2" charset="-122"/>
              </a:rPr>
              <a:t> 0..10 {                </a:t>
            </a:r>
          </a:p>
          <a:p>
            <a:r>
              <a:rPr lang="en-US" altLang="zh-CN" sz="1936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                          </a:t>
            </a:r>
            <a:r>
              <a:rPr lang="en-US" altLang="zh-CN" sz="1936" dirty="0">
                <a:solidFill>
                  <a:srgbClr val="00B0F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if</a:t>
            </a:r>
            <a:r>
              <a:rPr lang="en-US" altLang="zh-CN" sz="1936" dirty="0">
                <a:latin typeface="华文新魏" panose="02010800040101010101" pitchFamily="2" charset="-122"/>
                <a:ea typeface="华文新魏" panose="02010800040101010101" pitchFamily="2" charset="-122"/>
              </a:rPr>
              <a:t> x + y + z &gt; 5 { </a:t>
            </a:r>
          </a:p>
          <a:p>
            <a:r>
              <a:rPr lang="en-US" altLang="zh-CN" sz="1936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                                        </a:t>
            </a:r>
            <a:r>
              <a:rPr lang="en-US" altLang="zh-CN" sz="1936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println</a:t>
            </a:r>
            <a:r>
              <a:rPr lang="en-US" altLang="zh-CN" sz="1936" dirty="0">
                <a:latin typeface="华文新魏" panose="02010800040101010101" pitchFamily="2" charset="-122"/>
                <a:ea typeface="华文新魏" panose="02010800040101010101" pitchFamily="2" charset="-122"/>
              </a:rPr>
              <a:t>!("x={}, y={}, z={}", </a:t>
            </a:r>
          </a:p>
          <a:p>
            <a:r>
              <a:rPr lang="en-US" altLang="zh-CN" sz="1936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                                                    x, y, z); </a:t>
            </a:r>
          </a:p>
          <a:p>
            <a:r>
              <a:rPr lang="en-US" altLang="zh-CN" sz="1936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                                         </a:t>
            </a:r>
            <a:r>
              <a:rPr lang="en-US" altLang="zh-CN" sz="1936" dirty="0">
                <a:solidFill>
                  <a:srgbClr val="00B0F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break</a:t>
            </a:r>
            <a:r>
              <a:rPr lang="en-US" altLang="zh-CN" sz="1936" dirty="0">
                <a:latin typeface="华文新魏" panose="02010800040101010101" pitchFamily="2" charset="-122"/>
                <a:ea typeface="华文新魏" panose="02010800040101010101" pitchFamily="2" charset="-122"/>
              </a:rPr>
              <a:t> 'outer;                </a:t>
            </a:r>
          </a:p>
          <a:p>
            <a:r>
              <a:rPr lang="en-US" altLang="zh-CN" sz="1936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                         }            </a:t>
            </a:r>
          </a:p>
          <a:p>
            <a:r>
              <a:rPr lang="en-US" altLang="zh-CN" sz="1936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                    }        </a:t>
            </a:r>
          </a:p>
          <a:p>
            <a:r>
              <a:rPr lang="en-US" altLang="zh-CN" sz="1936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                }    </a:t>
            </a:r>
          </a:p>
          <a:p>
            <a:r>
              <a:rPr lang="en-US" altLang="zh-CN" sz="1936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           }    </a:t>
            </a:r>
          </a:p>
          <a:p>
            <a:r>
              <a:rPr lang="en-US" altLang="zh-CN" sz="1936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</a:t>
            </a:r>
            <a:r>
              <a:rPr lang="en-US" altLang="zh-CN" sz="1936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println</a:t>
            </a:r>
            <a:r>
              <a:rPr lang="en-US" altLang="zh-CN" sz="1936" dirty="0">
                <a:latin typeface="华文新魏" panose="02010800040101010101" pitchFamily="2" charset="-122"/>
                <a:ea typeface="华文新魏" panose="02010800040101010101" pitchFamily="2" charset="-122"/>
              </a:rPr>
              <a:t>!("done");</a:t>
            </a:r>
          </a:p>
          <a:p>
            <a:r>
              <a:rPr lang="en-US" altLang="zh-CN" sz="1936" dirty="0">
                <a:latin typeface="华文新魏" panose="02010800040101010101" pitchFamily="2" charset="-122"/>
                <a:ea typeface="华文新魏" panose="02010800040101010101" pitchFamily="2" charset="-122"/>
              </a:rPr>
              <a:t>}</a:t>
            </a:r>
            <a:endParaRPr lang="zh-CN" altLang="en-US" sz="1936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313770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1026"/>
          <p:cNvSpPr>
            <a:spLocks noGrp="1" noChangeArrowheads="1"/>
          </p:cNvSpPr>
          <p:nvPr>
            <p:ph type="title"/>
          </p:nvPr>
        </p:nvSpPr>
        <p:spPr>
          <a:xfrm>
            <a:off x="323850" y="260350"/>
            <a:ext cx="8591550" cy="609600"/>
          </a:xfrm>
        </p:spPr>
        <p:txBody>
          <a:bodyPr/>
          <a:lstStyle/>
          <a:p>
            <a:pPr eaLnBrk="1" hangingPunct="1"/>
            <a:r>
              <a:rPr lang="en-US" altLang="zh-CN" sz="360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3.5  </a:t>
            </a:r>
            <a:r>
              <a:rPr lang="zh-CN" altLang="en-US" sz="360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简单程序设计实例</a:t>
            </a:r>
          </a:p>
        </p:txBody>
      </p:sp>
      <p:sp>
        <p:nvSpPr>
          <p:cNvPr id="310275" name="Rectangle 1027"/>
          <p:cNvSpPr>
            <a:spLocks noGrp="1" noChangeArrowheads="1"/>
          </p:cNvSpPr>
          <p:nvPr>
            <p:ph idx="1"/>
          </p:nvPr>
        </p:nvSpPr>
        <p:spPr>
          <a:xfrm>
            <a:off x="250825" y="990600"/>
            <a:ext cx="8569325" cy="5534025"/>
          </a:xfrm>
        </p:spPr>
        <p:txBody>
          <a:bodyPr>
            <a:normAutofit/>
          </a:bodyPr>
          <a:lstStyle/>
          <a:p>
            <a:pPr marL="0" indent="0" algn="just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【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例</a:t>
            </a: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3.23】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输入整数</a:t>
            </a: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n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，输出由</a:t>
            </a: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2*n+1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行、</a:t>
            </a: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2*n+1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列，</a:t>
            </a:r>
          </a:p>
          <a:p>
            <a:pPr marL="0" indent="0" algn="just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以下形式</a:t>
            </a: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(n = 2)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的图案。</a:t>
            </a:r>
          </a:p>
          <a:p>
            <a:pPr marL="0" indent="0" algn="just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zh-CN" altLang="en-US" b="1" dirty="0">
                <a:solidFill>
                  <a:srgbClr val="CC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  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             </a:t>
            </a:r>
            <a:r>
              <a:rPr lang="zh-CN" altLang="en-US" b="1" dirty="0">
                <a:solidFill>
                  <a:srgbClr val="CC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	    	*</a:t>
            </a:r>
          </a:p>
          <a:p>
            <a:pPr marL="0" indent="0" algn="just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zh-CN" altLang="en-US" b="1" dirty="0">
                <a:solidFill>
                  <a:srgbClr val="CC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                    * * *</a:t>
            </a:r>
          </a:p>
          <a:p>
            <a:pPr marL="0" indent="0" algn="just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zh-CN" altLang="en-US" b="1" dirty="0">
                <a:solidFill>
                  <a:srgbClr val="CC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                  * * * * *</a:t>
            </a:r>
          </a:p>
          <a:p>
            <a:pPr marL="0" indent="0" algn="just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zh-CN" altLang="en-US" b="1" dirty="0">
                <a:solidFill>
                  <a:srgbClr val="CC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                    * * *</a:t>
            </a:r>
          </a:p>
          <a:p>
            <a:pPr marL="0" indent="0" algn="just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zh-CN" altLang="en-US" b="1" dirty="0">
                <a:solidFill>
                  <a:srgbClr val="CC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                      *</a:t>
            </a:r>
          </a:p>
          <a:p>
            <a:pPr marL="0" indent="0" algn="just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分析：</a:t>
            </a:r>
            <a:r>
              <a:rPr lang="zh-CN" altLang="en-US" sz="2400" b="1" dirty="0">
                <a:solidFill>
                  <a:srgbClr val="66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图案上面有</a:t>
            </a:r>
            <a:r>
              <a:rPr lang="en-US" altLang="zh-CN" sz="2400" b="1" dirty="0">
                <a:solidFill>
                  <a:srgbClr val="66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n+1</a:t>
            </a:r>
            <a:r>
              <a:rPr lang="zh-CN" altLang="en-US" sz="2400" b="1" dirty="0">
                <a:solidFill>
                  <a:srgbClr val="66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行，下面有</a:t>
            </a:r>
            <a:r>
              <a:rPr lang="en-US" altLang="zh-CN" sz="2400" b="1" dirty="0">
                <a:solidFill>
                  <a:srgbClr val="66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n</a:t>
            </a:r>
            <a:r>
              <a:rPr lang="zh-CN" altLang="en-US" sz="2400" b="1" dirty="0">
                <a:solidFill>
                  <a:srgbClr val="66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行。同一行上的两个星号字符之间有一个空格符。对于上半部分，设第一行的星号字符位于屏幕的中间，则后行图案的起始位置比前行起始位置提前两个位置。而对于下半部，第一行的起始位置比上半部最后一行起始位置后移两个字符位置，以后各行也相继后移两个位置。</a:t>
            </a:r>
          </a:p>
        </p:txBody>
      </p:sp>
      <p:sp>
        <p:nvSpPr>
          <p:cNvPr id="7270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34C1F2-DF71-4063-B0D5-0394B5E4DB73}" type="slidenum">
              <a:rPr lang="en-US" altLang="zh-CN"/>
              <a:pPr>
                <a:defRPr/>
              </a:pPr>
              <a:t>17</a:t>
            </a:fld>
            <a:endParaRPr lang="en-US" altLang="zh-CN"/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endParaRPr lang="zh-CN" alt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714480" y="2214554"/>
          <a:ext cx="5786479" cy="321471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4776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7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76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76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76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072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920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7765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765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7765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7765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7765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535785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bg2">
                              <a:lumMod val="90000"/>
                            </a:schemeClr>
                          </a:solidFill>
                        </a:rPr>
                        <a:t>36</a:t>
                      </a:r>
                      <a:endParaRPr lang="zh-CN" altLang="en-US" dirty="0">
                        <a:solidFill>
                          <a:schemeClr val="bg2">
                            <a:lumMod val="9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chemeClr val="bg2">
                              <a:lumMod val="90000"/>
                            </a:schemeClr>
                          </a:solidFill>
                        </a:rPr>
                        <a:t>37</a:t>
                      </a:r>
                      <a:endParaRPr lang="zh-CN" altLang="en-US" sz="1600" dirty="0">
                        <a:solidFill>
                          <a:schemeClr val="bg2">
                            <a:lumMod val="9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chemeClr val="bg2">
                              <a:lumMod val="90000"/>
                            </a:schemeClr>
                          </a:solidFill>
                        </a:rPr>
                        <a:t>38</a:t>
                      </a:r>
                      <a:endParaRPr lang="zh-CN" altLang="en-US" sz="1600" dirty="0">
                        <a:solidFill>
                          <a:schemeClr val="bg2">
                            <a:lumMod val="9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chemeClr val="bg2">
                              <a:lumMod val="90000"/>
                            </a:schemeClr>
                          </a:solidFill>
                        </a:rPr>
                        <a:t>39</a:t>
                      </a:r>
                      <a:endParaRPr lang="zh-CN" altLang="en-US" sz="1600" dirty="0">
                        <a:solidFill>
                          <a:schemeClr val="bg2">
                            <a:lumMod val="9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rgbClr val="FF0000"/>
                          </a:solidFill>
                        </a:rPr>
                        <a:t>40</a:t>
                      </a:r>
                      <a:endParaRPr lang="zh-CN" alt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chemeClr val="accent3"/>
                          </a:solidFill>
                        </a:rPr>
                        <a:t>41</a:t>
                      </a:r>
                      <a:endParaRPr lang="zh-CN" altLang="en-US" sz="1600" dirty="0">
                        <a:solidFill>
                          <a:schemeClr val="accent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chemeClr val="bg2">
                              <a:lumMod val="90000"/>
                            </a:schemeClr>
                          </a:solidFill>
                        </a:rPr>
                        <a:t>42</a:t>
                      </a:r>
                      <a:endParaRPr lang="zh-CN" altLang="en-US" sz="1600" dirty="0">
                        <a:solidFill>
                          <a:schemeClr val="bg2">
                            <a:lumMod val="9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chemeClr val="bg2">
                              <a:lumMod val="90000"/>
                            </a:schemeClr>
                          </a:solidFill>
                        </a:rPr>
                        <a:t>43</a:t>
                      </a:r>
                      <a:endParaRPr lang="zh-CN" altLang="en-US" sz="1600" dirty="0">
                        <a:solidFill>
                          <a:schemeClr val="bg2">
                            <a:lumMod val="9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chemeClr val="bg2">
                              <a:lumMod val="90000"/>
                            </a:schemeClr>
                          </a:solidFill>
                        </a:rPr>
                        <a:t>44</a:t>
                      </a:r>
                      <a:endParaRPr lang="zh-CN" altLang="en-US" sz="1600" dirty="0">
                        <a:solidFill>
                          <a:schemeClr val="bg2">
                            <a:lumMod val="9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chemeClr val="bg2">
                              <a:lumMod val="90000"/>
                            </a:schemeClr>
                          </a:solidFill>
                        </a:rPr>
                        <a:t>45</a:t>
                      </a:r>
                      <a:endParaRPr lang="zh-CN" altLang="en-US" sz="1600" dirty="0">
                        <a:solidFill>
                          <a:schemeClr val="bg2">
                            <a:lumMod val="9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chemeClr val="bg2">
                              <a:lumMod val="90000"/>
                            </a:schemeClr>
                          </a:solidFill>
                        </a:rPr>
                        <a:t>46</a:t>
                      </a:r>
                      <a:endParaRPr lang="zh-CN" altLang="en-US" sz="1600" dirty="0">
                        <a:solidFill>
                          <a:schemeClr val="bg2">
                            <a:lumMod val="9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>
                        <a:solidFill>
                          <a:schemeClr val="bg2">
                            <a:lumMod val="9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5785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accent1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x</a:t>
                      </a:r>
                      <a:endParaRPr lang="zh-CN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5785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accent1"/>
                          </a:solidFill>
                        </a:rPr>
                        <a:t>1</a:t>
                      </a:r>
                      <a:endParaRPr lang="zh-CN" altLang="en-US" b="1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x</a:t>
                      </a:r>
                      <a:endParaRPr lang="zh-CN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x</a:t>
                      </a:r>
                      <a:endParaRPr lang="zh-CN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x</a:t>
                      </a:r>
                      <a:endParaRPr lang="zh-CN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5785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accent1"/>
                          </a:solidFill>
                        </a:rPr>
                        <a:t>2</a:t>
                      </a:r>
                      <a:endParaRPr lang="zh-CN" altLang="en-US" b="1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x</a:t>
                      </a:r>
                      <a:endParaRPr lang="zh-CN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x</a:t>
                      </a:r>
                      <a:endParaRPr lang="zh-CN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x</a:t>
                      </a:r>
                      <a:endParaRPr lang="zh-CN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x</a:t>
                      </a:r>
                      <a:endParaRPr lang="zh-CN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x</a:t>
                      </a:r>
                      <a:endParaRPr lang="zh-CN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5785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accent1"/>
                          </a:solidFill>
                        </a:rPr>
                        <a:t>1</a:t>
                      </a:r>
                      <a:endParaRPr lang="zh-CN" altLang="en-US" b="1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x</a:t>
                      </a:r>
                      <a:endParaRPr lang="zh-CN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x</a:t>
                      </a:r>
                      <a:endParaRPr lang="zh-CN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x</a:t>
                      </a:r>
                      <a:endParaRPr lang="zh-CN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5785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accent1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x</a:t>
                      </a:r>
                      <a:endParaRPr lang="zh-CN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000496" y="5715016"/>
            <a:ext cx="8274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N=2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3"/>
          <p:cNvSpPr>
            <a:spLocks noGrp="1" noChangeArrowheads="1"/>
          </p:cNvSpPr>
          <p:nvPr>
            <p:ph idx="1"/>
          </p:nvPr>
        </p:nvSpPr>
        <p:spPr>
          <a:xfrm>
            <a:off x="250825" y="714356"/>
            <a:ext cx="8497888" cy="5883294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b="1" dirty="0">
                <a:latin typeface="Arial" charset="0"/>
                <a:ea typeface="黑体" pitchFamily="2" charset="-122"/>
              </a:rPr>
              <a:t>#include &lt;</a:t>
            </a:r>
            <a:r>
              <a:rPr lang="en-US" altLang="zh-CN" b="1" dirty="0" err="1">
                <a:latin typeface="Arial" charset="0"/>
                <a:ea typeface="黑体" pitchFamily="2" charset="-122"/>
              </a:rPr>
              <a:t>stdio.h</a:t>
            </a:r>
            <a:r>
              <a:rPr lang="en-US" altLang="zh-CN" b="1" dirty="0">
                <a:latin typeface="Arial" charset="0"/>
                <a:ea typeface="黑体" pitchFamily="2" charset="-122"/>
              </a:rPr>
              <a:t>&gt;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b="1" dirty="0">
                <a:latin typeface="Arial" charset="0"/>
                <a:ea typeface="黑体" pitchFamily="2" charset="-122"/>
              </a:rPr>
              <a:t>void main()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b="1" dirty="0">
                <a:latin typeface="Arial" charset="0"/>
                <a:ea typeface="黑体" pitchFamily="2" charset="-122"/>
              </a:rPr>
              <a:t>{  </a:t>
            </a:r>
            <a:r>
              <a:rPr lang="en-US" altLang="zh-CN" b="1" dirty="0" err="1">
                <a:latin typeface="Arial" charset="0"/>
                <a:ea typeface="黑体" pitchFamily="2" charset="-122"/>
              </a:rPr>
              <a:t>int</a:t>
            </a:r>
            <a:r>
              <a:rPr lang="en-US" altLang="zh-CN" b="1" dirty="0">
                <a:latin typeface="Arial" charset="0"/>
                <a:ea typeface="黑体" pitchFamily="2" charset="-122"/>
              </a:rPr>
              <a:t> n, j, k;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b="1" dirty="0">
                <a:latin typeface="Arial" charset="0"/>
                <a:ea typeface="黑体" pitchFamily="2" charset="-122"/>
              </a:rPr>
              <a:t>   </a:t>
            </a:r>
            <a:r>
              <a:rPr lang="en-US" altLang="zh-CN" b="1" dirty="0" err="1">
                <a:latin typeface="Arial" charset="0"/>
                <a:ea typeface="黑体" pitchFamily="2" charset="-122"/>
              </a:rPr>
              <a:t>printf</a:t>
            </a:r>
            <a:r>
              <a:rPr lang="en-US" altLang="zh-CN" b="1" dirty="0">
                <a:latin typeface="Arial" charset="0"/>
                <a:ea typeface="黑体" pitchFamily="2" charset="-122"/>
              </a:rPr>
              <a:t>("Enter n:"); </a:t>
            </a:r>
            <a:r>
              <a:rPr lang="en-US" altLang="zh-CN" b="1" dirty="0" err="1">
                <a:latin typeface="Arial" charset="0"/>
                <a:ea typeface="黑体" pitchFamily="2" charset="-122"/>
              </a:rPr>
              <a:t>scanf</a:t>
            </a:r>
            <a:r>
              <a:rPr lang="en-US" altLang="zh-CN" b="1" dirty="0">
                <a:latin typeface="Arial" charset="0"/>
                <a:ea typeface="黑体" pitchFamily="2" charset="-122"/>
              </a:rPr>
              <a:t>("%d", &amp;n);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b="1" dirty="0">
                <a:latin typeface="Arial" charset="0"/>
                <a:ea typeface="黑体" pitchFamily="2" charset="-122"/>
              </a:rPr>
              <a:t>   for(j = 0; j &lt;= n; j++) </a:t>
            </a:r>
            <a:r>
              <a:rPr lang="en-US" altLang="zh-CN" b="1" dirty="0">
                <a:solidFill>
                  <a:srgbClr val="0000FF"/>
                </a:solidFill>
                <a:latin typeface="Arial" charset="0"/>
                <a:ea typeface="黑体" pitchFamily="2" charset="-122"/>
              </a:rPr>
              <a:t>/* </a:t>
            </a:r>
            <a:r>
              <a:rPr lang="zh-CN" altLang="en-US" b="1" dirty="0">
                <a:solidFill>
                  <a:srgbClr val="0000FF"/>
                </a:solidFill>
                <a:latin typeface="Arial" charset="0"/>
                <a:ea typeface="黑体" pitchFamily="2" charset="-122"/>
              </a:rPr>
              <a:t>图案上半部分 *</a:t>
            </a:r>
            <a:r>
              <a:rPr lang="en-US" altLang="zh-CN" b="1" dirty="0">
                <a:solidFill>
                  <a:srgbClr val="0000FF"/>
                </a:solidFill>
                <a:latin typeface="Arial" charset="0"/>
                <a:ea typeface="黑体" pitchFamily="2" charset="-122"/>
              </a:rPr>
              <a:t>/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b="1" dirty="0">
                <a:latin typeface="Arial" charset="0"/>
                <a:ea typeface="黑体" pitchFamily="2" charset="-122"/>
              </a:rPr>
              <a:t>   { 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b="1" dirty="0">
                <a:latin typeface="Arial" charset="0"/>
                <a:ea typeface="黑体" pitchFamily="2" charset="-122"/>
              </a:rPr>
              <a:t>		</a:t>
            </a:r>
            <a:r>
              <a:rPr lang="en-US" altLang="zh-CN" b="1" dirty="0" err="1">
                <a:latin typeface="Arial" charset="0"/>
                <a:ea typeface="黑体" pitchFamily="2" charset="-122"/>
              </a:rPr>
              <a:t>printf</a:t>
            </a:r>
            <a:r>
              <a:rPr lang="en-US" altLang="zh-CN" b="1" dirty="0">
                <a:latin typeface="Arial" charset="0"/>
                <a:ea typeface="黑体" pitchFamily="2" charset="-122"/>
              </a:rPr>
              <a:t>("%*c", 40 - 2*j, ’ ’); </a:t>
            </a:r>
            <a:r>
              <a:rPr lang="en-US" altLang="zh-CN" b="1" dirty="0">
                <a:solidFill>
                  <a:srgbClr val="0000FF"/>
                </a:solidFill>
                <a:latin typeface="Arial" charset="0"/>
                <a:ea typeface="黑体" pitchFamily="2" charset="-122"/>
              </a:rPr>
              <a:t>/* </a:t>
            </a:r>
            <a:r>
              <a:rPr lang="zh-CN" altLang="en-US" b="1" dirty="0">
                <a:solidFill>
                  <a:srgbClr val="0000FF"/>
                </a:solidFill>
                <a:latin typeface="Arial" charset="0"/>
                <a:ea typeface="黑体" pitchFamily="2" charset="-122"/>
              </a:rPr>
              <a:t>输出</a:t>
            </a:r>
            <a:r>
              <a:rPr lang="en-US" altLang="zh-CN" b="1" dirty="0">
                <a:solidFill>
                  <a:srgbClr val="0000FF"/>
                </a:solidFill>
                <a:latin typeface="Arial" charset="0"/>
                <a:ea typeface="黑体" pitchFamily="2" charset="-122"/>
              </a:rPr>
              <a:t>40-2*j</a:t>
            </a:r>
            <a:r>
              <a:rPr lang="zh-CN" altLang="en-US" b="1" dirty="0">
                <a:solidFill>
                  <a:srgbClr val="0000FF"/>
                </a:solidFill>
                <a:latin typeface="Arial" charset="0"/>
                <a:ea typeface="黑体" pitchFamily="2" charset="-122"/>
              </a:rPr>
              <a:t>个空格 *</a:t>
            </a:r>
            <a:r>
              <a:rPr lang="en-US" altLang="zh-CN" b="1" dirty="0">
                <a:solidFill>
                  <a:srgbClr val="0000FF"/>
                </a:solidFill>
                <a:latin typeface="Arial" charset="0"/>
                <a:ea typeface="黑体" pitchFamily="2" charset="-122"/>
              </a:rPr>
              <a:t>/</a:t>
            </a:r>
            <a:endParaRPr lang="en-US" altLang="zh-CN" b="1" dirty="0">
              <a:latin typeface="Arial" charset="0"/>
              <a:ea typeface="黑体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b="1" dirty="0">
                <a:latin typeface="Arial" charset="0"/>
                <a:ea typeface="黑体" pitchFamily="2" charset="-122"/>
              </a:rPr>
              <a:t>     	for(k = 1; k &lt;= 2*j+1; k++) </a:t>
            </a:r>
            <a:r>
              <a:rPr lang="en-US" altLang="zh-CN" b="1" dirty="0" err="1">
                <a:latin typeface="Arial" charset="0"/>
                <a:ea typeface="黑体" pitchFamily="2" charset="-122"/>
              </a:rPr>
              <a:t>printf</a:t>
            </a:r>
            <a:r>
              <a:rPr lang="en-US" altLang="zh-CN" b="1" dirty="0">
                <a:latin typeface="Arial" charset="0"/>
                <a:ea typeface="黑体" pitchFamily="2" charset="-122"/>
              </a:rPr>
              <a:t>(</a:t>
            </a:r>
            <a:r>
              <a:rPr lang="zh-CN" altLang="en-US" b="1">
                <a:latin typeface="Arial" charset="0"/>
                <a:ea typeface="黑体" pitchFamily="2" charset="-122"/>
              </a:rPr>
              <a:t>“</a:t>
            </a:r>
            <a:r>
              <a:rPr lang="en-US" altLang="zh-CN" b="1">
                <a:latin typeface="Arial" charset="0"/>
                <a:ea typeface="黑体" pitchFamily="2" charset="-122"/>
              </a:rPr>
              <a:t> </a:t>
            </a:r>
            <a:r>
              <a:rPr lang="en-US" altLang="zh-CN" b="1" dirty="0">
                <a:latin typeface="Arial" charset="0"/>
                <a:ea typeface="黑体" pitchFamily="2" charset="-122"/>
              </a:rPr>
              <a:t>*");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b="1" dirty="0">
                <a:latin typeface="Arial" charset="0"/>
                <a:ea typeface="黑体" pitchFamily="2" charset="-122"/>
              </a:rPr>
              <a:t>     	</a:t>
            </a:r>
            <a:r>
              <a:rPr lang="en-US" altLang="zh-CN" b="1" dirty="0" err="1">
                <a:latin typeface="Arial" charset="0"/>
                <a:ea typeface="黑体" pitchFamily="2" charset="-122"/>
              </a:rPr>
              <a:t>printf</a:t>
            </a:r>
            <a:r>
              <a:rPr lang="en-US" altLang="zh-CN" b="1" dirty="0">
                <a:latin typeface="Arial" charset="0"/>
                <a:ea typeface="黑体" pitchFamily="2" charset="-122"/>
              </a:rPr>
              <a:t>("\n");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b="1" dirty="0">
                <a:latin typeface="Arial" charset="0"/>
                <a:ea typeface="黑体" pitchFamily="2" charset="-122"/>
              </a:rPr>
              <a:t>   }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b="1" dirty="0">
                <a:latin typeface="Arial" charset="0"/>
                <a:ea typeface="黑体" pitchFamily="2" charset="-122"/>
              </a:rPr>
              <a:t>   for(j = n-1; j &gt;= 0; j--) </a:t>
            </a:r>
            <a:r>
              <a:rPr lang="en-US" altLang="zh-CN" b="1" dirty="0">
                <a:solidFill>
                  <a:srgbClr val="0000FF"/>
                </a:solidFill>
                <a:latin typeface="Arial" charset="0"/>
                <a:ea typeface="黑体" pitchFamily="2" charset="-122"/>
              </a:rPr>
              <a:t>/* </a:t>
            </a:r>
            <a:r>
              <a:rPr lang="zh-CN" altLang="en-US" b="1" dirty="0">
                <a:solidFill>
                  <a:srgbClr val="0000FF"/>
                </a:solidFill>
                <a:latin typeface="Arial" charset="0"/>
                <a:ea typeface="黑体" pitchFamily="2" charset="-122"/>
              </a:rPr>
              <a:t>图案下半部分 *</a:t>
            </a:r>
            <a:r>
              <a:rPr lang="en-US" altLang="zh-CN" b="1" dirty="0">
                <a:solidFill>
                  <a:srgbClr val="0000FF"/>
                </a:solidFill>
                <a:latin typeface="Arial" charset="0"/>
                <a:ea typeface="黑体" pitchFamily="2" charset="-122"/>
              </a:rPr>
              <a:t>/</a:t>
            </a:r>
            <a:endParaRPr lang="en-US" altLang="zh-CN" b="1" dirty="0">
              <a:latin typeface="Arial" charset="0"/>
              <a:ea typeface="黑体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b="1" dirty="0">
                <a:latin typeface="Arial" charset="0"/>
                <a:ea typeface="黑体" pitchFamily="2" charset="-122"/>
              </a:rPr>
              <a:t>   { 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b="1" dirty="0">
                <a:latin typeface="Arial" charset="0"/>
                <a:ea typeface="黑体" pitchFamily="2" charset="-122"/>
              </a:rPr>
              <a:t>		</a:t>
            </a:r>
            <a:r>
              <a:rPr lang="en-US" altLang="zh-CN" b="1" dirty="0" err="1">
                <a:latin typeface="Arial" charset="0"/>
                <a:ea typeface="黑体" pitchFamily="2" charset="-122"/>
              </a:rPr>
              <a:t>printf</a:t>
            </a:r>
            <a:r>
              <a:rPr lang="en-US" altLang="zh-CN" b="1" dirty="0">
                <a:latin typeface="Arial" charset="0"/>
                <a:ea typeface="黑体" pitchFamily="2" charset="-122"/>
              </a:rPr>
              <a:t>("%*c", 40 - 2*j, ’ ’);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b="1" dirty="0">
                <a:latin typeface="Arial" charset="0"/>
                <a:ea typeface="黑体" pitchFamily="2" charset="-122"/>
              </a:rPr>
              <a:t>     	for(k = 1; k &lt;= 2*j+1; k++) </a:t>
            </a:r>
            <a:r>
              <a:rPr lang="en-US" altLang="zh-CN" b="1" dirty="0" err="1">
                <a:latin typeface="Arial" charset="0"/>
                <a:ea typeface="黑体" pitchFamily="2" charset="-122"/>
              </a:rPr>
              <a:t>printf</a:t>
            </a:r>
            <a:r>
              <a:rPr lang="en-US" altLang="zh-CN" b="1" dirty="0">
                <a:latin typeface="Arial" charset="0"/>
                <a:ea typeface="黑体" pitchFamily="2" charset="-122"/>
              </a:rPr>
              <a:t>(" *");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b="1" dirty="0">
                <a:latin typeface="Arial" charset="0"/>
                <a:ea typeface="黑体" pitchFamily="2" charset="-122"/>
              </a:rPr>
              <a:t>     	</a:t>
            </a:r>
            <a:r>
              <a:rPr lang="en-US" altLang="zh-CN" b="1" dirty="0" err="1">
                <a:latin typeface="Arial" charset="0"/>
                <a:ea typeface="黑体" pitchFamily="2" charset="-122"/>
              </a:rPr>
              <a:t>printf</a:t>
            </a:r>
            <a:r>
              <a:rPr lang="en-US" altLang="zh-CN" b="1" dirty="0">
                <a:latin typeface="Arial" charset="0"/>
                <a:ea typeface="黑体" pitchFamily="2" charset="-122"/>
              </a:rPr>
              <a:t>("\n");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b="1" dirty="0">
                <a:latin typeface="Arial" charset="0"/>
                <a:ea typeface="黑体" pitchFamily="2" charset="-122"/>
              </a:rPr>
              <a:t>   }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b="1" dirty="0">
                <a:latin typeface="Arial" charset="0"/>
                <a:ea typeface="黑体" pitchFamily="2" charset="-122"/>
              </a:rPr>
              <a:t>}</a:t>
            </a:r>
          </a:p>
        </p:txBody>
      </p:sp>
      <p:sp>
        <p:nvSpPr>
          <p:cNvPr id="7373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0238B77-CBE6-4508-84DF-6D5025A3D7CC}" type="slidenum">
              <a:rPr lang="en-US" altLang="zh-CN"/>
              <a:pPr>
                <a:defRPr/>
              </a:pPr>
              <a:t>19</a:t>
            </a:fld>
            <a:endParaRPr lang="en-US" altLang="zh-CN"/>
          </a:p>
        </p:txBody>
      </p:sp>
      <p:sp>
        <p:nvSpPr>
          <p:cNvPr id="4" name="矩形 3"/>
          <p:cNvSpPr/>
          <p:nvPr/>
        </p:nvSpPr>
        <p:spPr>
          <a:xfrm>
            <a:off x="5508104" y="5229200"/>
            <a:ext cx="3096344" cy="10081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err="1">
                <a:solidFill>
                  <a:schemeClr val="tx1"/>
                </a:solidFill>
                <a:latin typeface="Arial" charset="0"/>
                <a:ea typeface="黑体" pitchFamily="2" charset="-122"/>
              </a:rPr>
              <a:t>printf</a:t>
            </a:r>
            <a:r>
              <a:rPr lang="en-US" altLang="zh-CN" b="1" dirty="0">
                <a:solidFill>
                  <a:schemeClr val="tx1"/>
                </a:solidFill>
                <a:latin typeface="Arial" charset="0"/>
                <a:ea typeface="黑体" pitchFamily="2" charset="-122"/>
              </a:rPr>
              <a:t>("%*c", 40 - 2*j, ’ ’); </a:t>
            </a:r>
          </a:p>
          <a:p>
            <a:pPr algn="ctr"/>
            <a:r>
              <a:rPr lang="en-US" altLang="zh-CN" b="1" dirty="0">
                <a:solidFill>
                  <a:schemeClr val="tx1"/>
                </a:solidFill>
                <a:latin typeface="Arial" charset="0"/>
                <a:ea typeface="黑体" pitchFamily="2" charset="-122"/>
              </a:rPr>
              <a:t>*:  </a:t>
            </a:r>
            <a:r>
              <a:rPr lang="zh-CN" altLang="en-US" b="1" dirty="0">
                <a:solidFill>
                  <a:schemeClr val="tx1"/>
                </a:solidFill>
                <a:latin typeface="Arial" charset="0"/>
                <a:ea typeface="黑体" pitchFamily="2" charset="-122"/>
              </a:rPr>
              <a:t>输出单个空格，右对齐，</a:t>
            </a:r>
            <a:r>
              <a:rPr lang="en-US" altLang="zh-CN" b="1" dirty="0">
                <a:solidFill>
                  <a:schemeClr val="tx1"/>
                </a:solidFill>
                <a:latin typeface="Arial" charset="0"/>
                <a:ea typeface="黑体" pitchFamily="2" charset="-122"/>
              </a:rPr>
              <a:t>40-2*j</a:t>
            </a:r>
            <a:r>
              <a:rPr lang="zh-CN" altLang="en-US" b="1" dirty="0">
                <a:solidFill>
                  <a:schemeClr val="tx1"/>
                </a:solidFill>
                <a:latin typeface="Arial" charset="0"/>
                <a:ea typeface="黑体" pitchFamily="2" charset="-122"/>
              </a:rPr>
              <a:t>是宽度</a:t>
            </a:r>
            <a:endParaRPr lang="zh-CN" alt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68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68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68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68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680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680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68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68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7680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7680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680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680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680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680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7680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7680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7680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7680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7680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7680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7680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7680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7680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7680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531" name="Rectangle 3"/>
          <p:cNvSpPr>
            <a:spLocks noGrp="1" noChangeArrowheads="1"/>
          </p:cNvSpPr>
          <p:nvPr>
            <p:ph idx="1"/>
          </p:nvPr>
        </p:nvSpPr>
        <p:spPr>
          <a:xfrm>
            <a:off x="395288" y="476250"/>
            <a:ext cx="8424862" cy="6048375"/>
          </a:xfrm>
        </p:spPr>
        <p:txBody>
          <a:bodyPr>
            <a:normAutofit/>
          </a:bodyPr>
          <a:lstStyle/>
          <a:p>
            <a:pPr marL="0" indent="0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8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【</a:t>
            </a:r>
            <a:r>
              <a:rPr lang="zh-CN" altLang="en-US" sz="28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例</a:t>
            </a:r>
            <a:r>
              <a:rPr lang="en-US" altLang="zh-CN" sz="28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3.23】</a:t>
            </a:r>
            <a:r>
              <a:rPr lang="zh-CN" altLang="en-US" b="1">
                <a:effectLst>
                  <a:outerShdw blurRad="38100" dist="38100" dir="2700000" algn="tl">
                    <a:srgbClr val="C0C0C0"/>
                  </a:outerShdw>
                </a:effectLst>
              </a:rPr>
              <a:t>试输入整数</a:t>
            </a:r>
            <a:r>
              <a:rPr lang="en-US" alt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n(&lt;10)</a:t>
            </a:r>
            <a:r>
              <a:rPr lang="zh-CN" altLang="en-US" b="1">
                <a:effectLst>
                  <a:outerShdw blurRad="38100" dist="38100" dir="2700000" algn="tl">
                    <a:srgbClr val="C0C0C0"/>
                  </a:outerShdw>
                </a:effectLst>
              </a:rPr>
              <a:t>，输出以下形式的数字排列图案。所示图案假定</a:t>
            </a:r>
            <a:r>
              <a:rPr lang="en-US" alt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n=3</a:t>
            </a:r>
            <a:r>
              <a:rPr lang="zh-CN" altLang="en-US" b="1">
                <a:effectLst>
                  <a:outerShdw blurRad="38100" dist="38100" dir="2700000" algn="tl">
                    <a:srgbClr val="C0C0C0"/>
                  </a:outerShdw>
                </a:effectLst>
              </a:rPr>
              <a:t>。</a:t>
            </a:r>
          </a:p>
          <a:p>
            <a:pPr marL="0" indent="0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zh-CN" altLang="en-US" b="1">
                <a:effectLst>
                  <a:outerShdw blurRad="38100" dist="38100" dir="2700000" algn="tl">
                    <a:srgbClr val="C0C0C0"/>
                  </a:outerShdw>
                </a:effectLst>
              </a:rPr>
              <a:t>                     </a:t>
            </a:r>
            <a:r>
              <a:rPr lang="en-US" alt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</a:p>
          <a:p>
            <a:pPr marL="0" indent="0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                  1 2 1</a:t>
            </a:r>
          </a:p>
          <a:p>
            <a:pPr marL="0" indent="0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               1 2 3 2 1</a:t>
            </a:r>
          </a:p>
          <a:p>
            <a:pPr marL="0" indent="0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                  1 2 1</a:t>
            </a:r>
          </a:p>
          <a:p>
            <a:pPr marL="0" indent="0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                     1</a:t>
            </a:r>
          </a:p>
          <a:p>
            <a:pPr marL="0" indent="0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zh-CN" altLang="en-US" sz="28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分析：</a:t>
            </a:r>
            <a:r>
              <a:rPr lang="zh-CN" altLang="en-US" b="1">
                <a:effectLst>
                  <a:outerShdw blurRad="38100" dist="38100" dir="2700000" algn="tl">
                    <a:srgbClr val="C0C0C0"/>
                  </a:outerShdw>
                </a:effectLst>
              </a:rPr>
              <a:t>将图案分成上下两部分，并对每行的开始前导空格符作按行变化的控制。</a:t>
            </a:r>
          </a:p>
          <a:p>
            <a:pPr marL="0" indent="0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zh-CN" altLang="en-US" b="1">
                <a:effectLst>
                  <a:outerShdw blurRad="38100" dist="38100" dir="2700000" algn="tl">
                    <a:srgbClr val="C0C0C0"/>
                  </a:outerShdw>
                </a:effectLst>
              </a:rPr>
              <a:t>利用每行的对称性，分两个循环组织输出。如果上半部的行从</a:t>
            </a:r>
            <a:r>
              <a:rPr lang="en-US" alt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lang="zh-CN" altLang="en-US" b="1">
                <a:effectLst>
                  <a:outerShdw blurRad="38100" dist="38100" dir="2700000" algn="tl">
                    <a:srgbClr val="C0C0C0"/>
                  </a:outerShdw>
                </a:effectLst>
              </a:rPr>
              <a:t>开始至</a:t>
            </a:r>
            <a:r>
              <a:rPr lang="en-US" alt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n</a:t>
            </a:r>
            <a:r>
              <a:rPr lang="zh-CN" altLang="en-US" b="1">
                <a:effectLst>
                  <a:outerShdw blurRad="38100" dist="38100" dir="2700000" algn="tl">
                    <a:srgbClr val="C0C0C0"/>
                  </a:outerShdw>
                </a:effectLst>
              </a:rPr>
              <a:t>编号，对于</a:t>
            </a:r>
            <a:r>
              <a:rPr lang="en-US" alt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j</a:t>
            </a:r>
            <a:r>
              <a:rPr lang="zh-CN" altLang="en-US" b="1">
                <a:effectLst>
                  <a:outerShdw blurRad="38100" dist="38100" dir="2700000" algn="tl">
                    <a:srgbClr val="C0C0C0"/>
                  </a:outerShdw>
                </a:effectLst>
              </a:rPr>
              <a:t>行，前一半输出</a:t>
            </a:r>
            <a:r>
              <a:rPr lang="en-US" alt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lang="zh-CN" altLang="en-US" b="1">
                <a:effectLst>
                  <a:outerShdw blurRad="38100" dist="38100" dir="2700000" algn="tl">
                    <a:srgbClr val="C0C0C0"/>
                  </a:outerShdw>
                </a:effectLst>
              </a:rPr>
              <a:t>至</a:t>
            </a:r>
            <a:r>
              <a:rPr lang="en-US" alt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j</a:t>
            </a:r>
            <a:r>
              <a:rPr lang="zh-CN" altLang="en-US" b="1">
                <a:effectLst>
                  <a:outerShdw blurRad="38100" dist="38100" dir="2700000" algn="tl">
                    <a:srgbClr val="C0C0C0"/>
                  </a:outerShdw>
                </a:effectLst>
              </a:rPr>
              <a:t>，后一半输出</a:t>
            </a:r>
            <a:r>
              <a:rPr lang="en-US" alt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j-1</a:t>
            </a:r>
            <a:r>
              <a:rPr lang="zh-CN" altLang="en-US" b="1">
                <a:effectLst>
                  <a:outerShdw blurRad="38100" dist="38100" dir="2700000" algn="tl">
                    <a:srgbClr val="C0C0C0"/>
                  </a:outerShdw>
                </a:effectLst>
              </a:rPr>
              <a:t>至</a:t>
            </a:r>
            <a:r>
              <a:rPr lang="en-US" alt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lang="zh-CN" altLang="en-US" b="1">
                <a:effectLst>
                  <a:outerShdw blurRad="38100" dist="38100" dir="2700000" algn="tl">
                    <a:srgbClr val="C0C0C0"/>
                  </a:outerShdw>
                </a:effectLst>
              </a:rPr>
              <a:t>。如果下半部的行从</a:t>
            </a:r>
            <a:r>
              <a:rPr lang="en-US" alt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n-1</a:t>
            </a:r>
            <a:r>
              <a:rPr lang="zh-CN" altLang="en-US" b="1">
                <a:effectLst>
                  <a:outerShdw blurRad="38100" dist="38100" dir="2700000" algn="tl">
                    <a:srgbClr val="C0C0C0"/>
                  </a:outerShdw>
                </a:effectLst>
              </a:rPr>
              <a:t>至</a:t>
            </a:r>
            <a:r>
              <a:rPr lang="en-US" alt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lang="zh-CN" altLang="en-US" b="1">
                <a:effectLst>
                  <a:outerShdw blurRad="38100" dist="38100" dir="2700000" algn="tl">
                    <a:srgbClr val="C0C0C0"/>
                  </a:outerShdw>
                </a:effectLst>
              </a:rPr>
              <a:t>编号，则每行结构与上半部相同。</a:t>
            </a:r>
            <a:r>
              <a:rPr lang="zh-CN" altLang="en-US"/>
              <a:t> </a:t>
            </a:r>
          </a:p>
        </p:txBody>
      </p:sp>
      <p:sp>
        <p:nvSpPr>
          <p:cNvPr id="7475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B17ED89-146B-48AE-A465-FF693FAD2059}" type="slidenum">
              <a:rPr lang="en-US" altLang="zh-CN"/>
              <a:pPr>
                <a:defRPr/>
              </a:pPr>
              <a:t>20</a:t>
            </a:fld>
            <a:endParaRPr lang="en-US" altLang="zh-CN"/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idx="1"/>
          </p:nvPr>
        </p:nvSpPr>
        <p:spPr>
          <a:xfrm>
            <a:off x="250825" y="476250"/>
            <a:ext cx="8497888" cy="61214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dirty="0"/>
              <a:t> </a:t>
            </a:r>
            <a:r>
              <a:rPr lang="en-US" altLang="zh-CN" sz="2400" b="1" dirty="0"/>
              <a:t>#include &lt;</a:t>
            </a:r>
            <a:r>
              <a:rPr lang="en-US" altLang="zh-CN" sz="2400" b="1" dirty="0" err="1"/>
              <a:t>stdio.h</a:t>
            </a:r>
            <a:r>
              <a:rPr lang="en-US" altLang="zh-CN" sz="2400" b="1" dirty="0"/>
              <a:t>&gt;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b="1" dirty="0"/>
              <a:t>void main()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b="1" dirty="0"/>
              <a:t> {  </a:t>
            </a:r>
            <a:r>
              <a:rPr lang="en-US" altLang="zh-CN" sz="2400" b="1" dirty="0" err="1"/>
              <a:t>int</a:t>
            </a:r>
            <a:r>
              <a:rPr lang="en-US" altLang="zh-CN" sz="2400" b="1" dirty="0"/>
              <a:t> n, j, k, space;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b="1" dirty="0"/>
              <a:t>      </a:t>
            </a:r>
            <a:r>
              <a:rPr lang="en-US" altLang="zh-CN" sz="2400" b="1" dirty="0" err="1"/>
              <a:t>printf</a:t>
            </a:r>
            <a:r>
              <a:rPr lang="en-US" altLang="zh-CN" sz="2400" b="1" dirty="0"/>
              <a:t>("</a:t>
            </a:r>
            <a:r>
              <a:rPr lang="zh-CN" altLang="en-US" sz="2400" b="1" dirty="0"/>
              <a:t>输入 </a:t>
            </a:r>
            <a:r>
              <a:rPr lang="en-US" altLang="zh-CN" sz="2400" b="1" dirty="0"/>
              <a:t>n!\n");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b="1" dirty="0"/>
              <a:t>      </a:t>
            </a:r>
            <a:r>
              <a:rPr lang="en-US" altLang="zh-CN" sz="2400" b="1" dirty="0" err="1"/>
              <a:t>scanf</a:t>
            </a:r>
            <a:r>
              <a:rPr lang="en-US" altLang="zh-CN" sz="2400" b="1" dirty="0"/>
              <a:t>("%d", &amp;n);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b="1" dirty="0"/>
              <a:t>      space = 40; //</a:t>
            </a:r>
            <a:r>
              <a:rPr lang="zh-CN" altLang="en-US" sz="2400" b="1" dirty="0"/>
              <a:t>准备输出上半图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 sz="2400" b="1" dirty="0"/>
              <a:t>      </a:t>
            </a:r>
            <a:r>
              <a:rPr lang="en-US" altLang="zh-CN" sz="2400" b="1" dirty="0"/>
              <a:t>for(j = 1; j &lt;= n; j++, space -= 2) {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b="1" dirty="0"/>
              <a:t>            </a:t>
            </a:r>
            <a:r>
              <a:rPr lang="en-US" altLang="zh-CN" sz="2400" b="1" dirty="0" err="1"/>
              <a:t>printf</a:t>
            </a:r>
            <a:r>
              <a:rPr lang="en-US" altLang="zh-CN" sz="2400" b="1" dirty="0"/>
              <a:t>("%*c", space, </a:t>
            </a:r>
            <a:r>
              <a:rPr lang="en-US" altLang="zh-CN" sz="2400" b="1" dirty="0">
                <a:latin typeface="Arial" charset="0"/>
              </a:rPr>
              <a:t>’</a:t>
            </a:r>
            <a:r>
              <a:rPr lang="en-US" altLang="zh-CN" sz="2400" b="1" dirty="0"/>
              <a:t> </a:t>
            </a:r>
            <a:r>
              <a:rPr lang="en-US" altLang="zh-CN" sz="2400" b="1" dirty="0">
                <a:latin typeface="Arial" charset="0"/>
              </a:rPr>
              <a:t>’</a:t>
            </a:r>
            <a:r>
              <a:rPr lang="en-US" altLang="zh-CN" sz="2400" b="1" dirty="0"/>
              <a:t>);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b="1" dirty="0"/>
              <a:t>            for(k = 1; k &lt;= j; k++)//</a:t>
            </a:r>
            <a:r>
              <a:rPr lang="zh-CN" altLang="en-US" sz="2400" b="1" dirty="0"/>
              <a:t>顺序输出</a:t>
            </a:r>
            <a:r>
              <a:rPr lang="en-US" altLang="zh-CN" sz="2400" b="1" dirty="0"/>
              <a:t>1</a:t>
            </a:r>
            <a:r>
              <a:rPr lang="zh-CN" altLang="en-US" sz="2400" b="1" dirty="0"/>
              <a:t>至</a:t>
            </a:r>
            <a:r>
              <a:rPr lang="en-US" altLang="zh-CN" sz="2400" b="1" dirty="0"/>
              <a:t>j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b="1" dirty="0"/>
              <a:t>             	</a:t>
            </a:r>
            <a:r>
              <a:rPr lang="en-US" altLang="zh-CN" sz="2400" b="1" dirty="0" err="1"/>
              <a:t>printf</a:t>
            </a:r>
            <a:r>
              <a:rPr lang="en-US" altLang="zh-CN" sz="2400" b="1" dirty="0"/>
              <a:t>("%2d", k);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b="1" dirty="0"/>
              <a:t>            for(k = j-1; k &gt;= 1; k--)//</a:t>
            </a:r>
            <a:r>
              <a:rPr lang="zh-CN" altLang="en-US" sz="2400" b="1" dirty="0"/>
              <a:t>顺序输出</a:t>
            </a:r>
            <a:r>
              <a:rPr lang="en-US" altLang="zh-CN" sz="2400" b="1" dirty="0"/>
              <a:t>j-1</a:t>
            </a:r>
            <a:r>
              <a:rPr lang="zh-CN" altLang="en-US" sz="2400" b="1" dirty="0"/>
              <a:t>至</a:t>
            </a:r>
            <a:r>
              <a:rPr lang="en-US" altLang="zh-CN" sz="2400" b="1" dirty="0"/>
              <a:t>1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b="1" dirty="0"/>
              <a:t>               	</a:t>
            </a:r>
            <a:r>
              <a:rPr lang="en-US" altLang="zh-CN" sz="2400" b="1" dirty="0" err="1"/>
              <a:t>printf</a:t>
            </a:r>
            <a:r>
              <a:rPr lang="en-US" altLang="zh-CN" sz="2400" b="1" dirty="0"/>
              <a:t>("%2d", k);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b="1" dirty="0"/>
              <a:t>            </a:t>
            </a:r>
            <a:r>
              <a:rPr lang="en-US" altLang="zh-CN" sz="2400" b="1" dirty="0" err="1"/>
              <a:t>printf</a:t>
            </a:r>
            <a:r>
              <a:rPr lang="en-US" altLang="zh-CN" sz="2400" b="1" dirty="0"/>
              <a:t>("\n");//</a:t>
            </a:r>
            <a:r>
              <a:rPr lang="zh-CN" altLang="en-US" sz="2400" b="1" dirty="0"/>
              <a:t>一行输出结束，换行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 sz="2400" b="1" dirty="0"/>
              <a:t>     </a:t>
            </a:r>
            <a:r>
              <a:rPr lang="en-US" altLang="zh-CN" sz="2400" b="1" dirty="0"/>
              <a:t>}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b="1" dirty="0"/>
              <a:t>    </a:t>
            </a:r>
          </a:p>
        </p:txBody>
      </p:sp>
      <p:sp>
        <p:nvSpPr>
          <p:cNvPr id="7577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F17FD9-D4EA-4D0C-BFB3-CBBBA58BFB90}" type="slidenum">
              <a:rPr lang="en-US" altLang="zh-CN"/>
              <a:pPr>
                <a:defRPr/>
              </a:pPr>
              <a:t>21</a:t>
            </a:fld>
            <a:endParaRPr lang="en-US" altLang="zh-CN"/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idx="1"/>
          </p:nvPr>
        </p:nvSpPr>
        <p:spPr>
          <a:xfrm>
            <a:off x="250825" y="476250"/>
            <a:ext cx="8497888" cy="61214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b="1" dirty="0"/>
              <a:t>     space += 4;//</a:t>
            </a:r>
            <a:r>
              <a:rPr lang="zh-CN" altLang="en-US" b="1" dirty="0"/>
              <a:t>准备输出下半图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b="1" dirty="0"/>
              <a:t>     </a:t>
            </a:r>
            <a:r>
              <a:rPr lang="en-US" altLang="zh-CN" b="1" dirty="0"/>
              <a:t>for(j=n-1; j &gt;= 1; j--, space +=2){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b="1" dirty="0"/>
              <a:t>          </a:t>
            </a:r>
            <a:r>
              <a:rPr lang="en-US" altLang="zh-CN" b="1" dirty="0" err="1"/>
              <a:t>printf</a:t>
            </a:r>
            <a:r>
              <a:rPr lang="en-US" altLang="zh-CN" b="1" dirty="0"/>
              <a:t>("%*c", space, </a:t>
            </a:r>
            <a:r>
              <a:rPr lang="en-US" altLang="zh-CN" b="1" dirty="0">
                <a:latin typeface="Arial" charset="0"/>
              </a:rPr>
              <a:t>’</a:t>
            </a:r>
            <a:r>
              <a:rPr lang="en-US" altLang="zh-CN" b="1" dirty="0"/>
              <a:t> </a:t>
            </a:r>
            <a:r>
              <a:rPr lang="en-US" altLang="zh-CN" b="1" dirty="0">
                <a:latin typeface="Arial" charset="0"/>
              </a:rPr>
              <a:t>’</a:t>
            </a:r>
            <a:r>
              <a:rPr lang="en-US" altLang="zh-CN" b="1" dirty="0"/>
              <a:t>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b="1" dirty="0"/>
              <a:t>          for(k = 1; k &lt;= j; k++)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b="1" dirty="0"/>
              <a:t>             </a:t>
            </a:r>
            <a:r>
              <a:rPr lang="en-US" altLang="zh-CN" b="1" dirty="0" err="1"/>
              <a:t>printf</a:t>
            </a:r>
            <a:r>
              <a:rPr lang="en-US" altLang="zh-CN" b="1" dirty="0"/>
              <a:t>("%2d", k);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b="1" dirty="0"/>
              <a:t>          for(k = j-1; k &gt;= 1; k--)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b="1" dirty="0"/>
              <a:t>             </a:t>
            </a:r>
            <a:r>
              <a:rPr lang="en-US" altLang="zh-CN" b="1" dirty="0" err="1"/>
              <a:t>printf</a:t>
            </a:r>
            <a:r>
              <a:rPr lang="en-US" altLang="zh-CN" b="1" dirty="0"/>
              <a:t>("%2d", k);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b="1" dirty="0"/>
              <a:t>          </a:t>
            </a:r>
            <a:r>
              <a:rPr lang="en-US" altLang="zh-CN" b="1" dirty="0" err="1"/>
              <a:t>printf</a:t>
            </a:r>
            <a:r>
              <a:rPr lang="en-US" altLang="zh-CN" b="1" dirty="0"/>
              <a:t>("\n");//</a:t>
            </a:r>
            <a:r>
              <a:rPr lang="zh-CN" altLang="en-US" b="1" dirty="0"/>
              <a:t>一行输出结束，换行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b="1" dirty="0"/>
              <a:t>        </a:t>
            </a:r>
            <a:r>
              <a:rPr lang="en-US" altLang="zh-CN" b="1" dirty="0"/>
              <a:t>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b="1" dirty="0"/>
              <a:t>     }</a:t>
            </a:r>
          </a:p>
        </p:txBody>
      </p:sp>
      <p:sp>
        <p:nvSpPr>
          <p:cNvPr id="7680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180D9E9-B53D-4819-A588-1F14508A1CBE}" type="slidenum">
              <a:rPr lang="en-US" altLang="zh-CN"/>
              <a:pPr>
                <a:defRPr/>
              </a:pPr>
              <a:t>22</a:t>
            </a:fld>
            <a:endParaRPr lang="en-US" altLang="zh-CN"/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228600"/>
            <a:ext cx="8686800" cy="60960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【</a:t>
            </a:r>
            <a:r>
              <a:rPr lang="zh-CN" altLang="en-US" sz="2800" b="1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例</a:t>
            </a:r>
            <a:r>
              <a:rPr lang="en-US" altLang="zh-CN" sz="2800" b="1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3.25】</a:t>
            </a:r>
            <a:r>
              <a:rPr lang="zh-CN" altLang="en-US" sz="2800" b="1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输入</a:t>
            </a:r>
            <a:r>
              <a:rPr lang="en-US" altLang="zh-CN" sz="2800" b="1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n</a:t>
            </a:r>
            <a:r>
              <a:rPr lang="zh-CN" altLang="en-US" sz="2800" b="1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个整数</a:t>
            </a:r>
            <a:r>
              <a:rPr lang="en-US" altLang="en-US" sz="2800" b="1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(&gt;2)</a:t>
            </a:r>
            <a:r>
              <a:rPr lang="en-US" altLang="zh-CN" sz="2800" b="1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,</a:t>
            </a:r>
            <a:r>
              <a:rPr lang="zh-CN" altLang="en-US" sz="2800" b="1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输出其中的次最大数</a:t>
            </a:r>
          </a:p>
        </p:txBody>
      </p:sp>
      <p:sp>
        <p:nvSpPr>
          <p:cNvPr id="80899" name="Rectangle 3"/>
          <p:cNvSpPr>
            <a:spLocks noGrp="1" noChangeArrowheads="1"/>
          </p:cNvSpPr>
          <p:nvPr>
            <p:ph idx="1"/>
          </p:nvPr>
        </p:nvSpPr>
        <p:spPr>
          <a:xfrm>
            <a:off x="323850" y="981075"/>
            <a:ext cx="8496300" cy="5576888"/>
          </a:xfrm>
        </p:spPr>
        <p:txBody>
          <a:bodyPr>
            <a:normAutofit/>
          </a:bodyPr>
          <a:lstStyle/>
          <a:p>
            <a:pPr marL="536575" indent="-536575" algn="just" eaLnBrk="1" hangingPunct="1">
              <a:buFont typeface="Wingdings" pitchFamily="2" charset="2"/>
              <a:buNone/>
            </a:pPr>
            <a:r>
              <a:rPr lang="zh-CN" altLang="en-US" sz="3200" b="1" dirty="0">
                <a:solidFill>
                  <a:srgbClr val="0000FF"/>
                </a:solidFill>
                <a:latin typeface="黑体" pitchFamily="2" charset="-122"/>
                <a:ea typeface="黑体" pitchFamily="2" charset="-122"/>
              </a:rPr>
              <a:t>分析：</a:t>
            </a:r>
          </a:p>
          <a:p>
            <a:pPr marL="536575" indent="-536575" algn="just" eaLnBrk="1" hangingPunct="1">
              <a:buFont typeface="Wingdings" pitchFamily="2" charset="2"/>
              <a:buNone/>
            </a:pPr>
            <a:r>
              <a:rPr lang="en-US" altLang="zh-CN" sz="2800" b="1" dirty="0">
                <a:latin typeface="宋体" pitchFamily="2" charset="-122"/>
              </a:rPr>
              <a:t>1. </a:t>
            </a:r>
            <a:r>
              <a:rPr lang="zh-CN" altLang="en-US" sz="2800" b="1" dirty="0">
                <a:latin typeface="宋体" pitchFamily="2" charset="-122"/>
              </a:rPr>
              <a:t>为求次最大，程序在循环过程中需保留两个数，当前临时最大数</a:t>
            </a:r>
            <a:r>
              <a:rPr lang="en-US" altLang="zh-CN" sz="2800" b="1" dirty="0">
                <a:latin typeface="宋体" pitchFamily="2" charset="-122"/>
              </a:rPr>
              <a:t>max1</a:t>
            </a:r>
            <a:r>
              <a:rPr lang="zh-CN" altLang="en-US" sz="2800" b="1" dirty="0">
                <a:latin typeface="宋体" pitchFamily="2" charset="-122"/>
              </a:rPr>
              <a:t>和当前临时次最大数</a:t>
            </a:r>
            <a:r>
              <a:rPr lang="en-US" altLang="zh-CN" sz="2800" b="1" dirty="0">
                <a:latin typeface="宋体" pitchFamily="2" charset="-122"/>
              </a:rPr>
              <a:t>max2</a:t>
            </a:r>
            <a:r>
              <a:rPr lang="zh-CN" altLang="en-US" sz="2800" b="1" dirty="0">
                <a:latin typeface="宋体" pitchFamily="2" charset="-122"/>
              </a:rPr>
              <a:t>。</a:t>
            </a:r>
          </a:p>
          <a:p>
            <a:pPr marL="536575" indent="-536575" algn="just" eaLnBrk="1" hangingPunct="1">
              <a:buFont typeface="Wingdings" pitchFamily="2" charset="2"/>
              <a:buNone/>
            </a:pPr>
            <a:r>
              <a:rPr lang="en-US" altLang="zh-CN" sz="2800" b="1" dirty="0">
                <a:latin typeface="宋体" pitchFamily="2" charset="-122"/>
              </a:rPr>
              <a:t>2. </a:t>
            </a:r>
            <a:r>
              <a:rPr lang="zh-CN" altLang="en-US" sz="2800" b="1" dirty="0">
                <a:latin typeface="宋体" pitchFamily="2" charset="-122"/>
              </a:rPr>
              <a:t>程序将输入的第一个数暂时保留，待输入第二个数后，确定</a:t>
            </a:r>
            <a:r>
              <a:rPr lang="en-US" altLang="zh-CN" sz="2800" b="1" dirty="0">
                <a:latin typeface="宋体" pitchFamily="2" charset="-122"/>
              </a:rPr>
              <a:t>max1</a:t>
            </a:r>
            <a:r>
              <a:rPr lang="zh-CN" altLang="en-US" sz="2800" b="1" dirty="0">
                <a:latin typeface="宋体" pitchFamily="2" charset="-122"/>
              </a:rPr>
              <a:t>和</a:t>
            </a:r>
            <a:r>
              <a:rPr lang="en-US" altLang="zh-CN" sz="2800" b="1" dirty="0">
                <a:latin typeface="宋体" pitchFamily="2" charset="-122"/>
              </a:rPr>
              <a:t>max2</a:t>
            </a:r>
            <a:r>
              <a:rPr lang="zh-CN" altLang="en-US" sz="2800" b="1" dirty="0">
                <a:latin typeface="宋体" pitchFamily="2" charset="-122"/>
              </a:rPr>
              <a:t>。</a:t>
            </a:r>
          </a:p>
          <a:p>
            <a:pPr marL="536575" indent="-536575" algn="just" eaLnBrk="1" hangingPunct="1">
              <a:buFont typeface="Wingdings" pitchFamily="2" charset="2"/>
              <a:buNone/>
            </a:pPr>
            <a:r>
              <a:rPr lang="en-US" altLang="zh-CN" sz="2800" b="1" dirty="0">
                <a:latin typeface="宋体" pitchFamily="2" charset="-122"/>
              </a:rPr>
              <a:t>3. </a:t>
            </a:r>
            <a:r>
              <a:rPr lang="zh-CN" altLang="en-US" sz="2800" b="1" dirty="0">
                <a:latin typeface="宋体" pitchFamily="2" charset="-122"/>
              </a:rPr>
              <a:t>从第三个输入数</a:t>
            </a:r>
            <a:r>
              <a:rPr lang="en-US" altLang="zh-CN" sz="2800" b="1" dirty="0">
                <a:latin typeface="宋体" pitchFamily="2" charset="-122"/>
              </a:rPr>
              <a:t>x</a:t>
            </a:r>
            <a:r>
              <a:rPr lang="zh-CN" altLang="en-US" sz="2800" b="1" dirty="0">
                <a:latin typeface="宋体" pitchFamily="2" charset="-122"/>
              </a:rPr>
              <a:t>开始，根据</a:t>
            </a:r>
            <a:r>
              <a:rPr lang="en-US" altLang="zh-CN" sz="2800" b="1" dirty="0">
                <a:latin typeface="宋体" pitchFamily="2" charset="-122"/>
              </a:rPr>
              <a:t>x</a:t>
            </a:r>
            <a:r>
              <a:rPr lang="zh-CN" altLang="en-US" sz="2800" b="1" dirty="0">
                <a:latin typeface="宋体" pitchFamily="2" charset="-122"/>
              </a:rPr>
              <a:t>调整</a:t>
            </a:r>
            <a:r>
              <a:rPr lang="en-US" altLang="zh-CN" sz="2800" b="1" dirty="0">
                <a:latin typeface="宋体" pitchFamily="2" charset="-122"/>
              </a:rPr>
              <a:t>max1</a:t>
            </a:r>
            <a:r>
              <a:rPr lang="zh-CN" altLang="en-US" sz="2800" b="1" dirty="0">
                <a:latin typeface="宋体" pitchFamily="2" charset="-122"/>
              </a:rPr>
              <a:t>和</a:t>
            </a:r>
            <a:r>
              <a:rPr lang="en-US" altLang="zh-CN" sz="2800" b="1" dirty="0">
                <a:latin typeface="宋体" pitchFamily="2" charset="-122"/>
              </a:rPr>
              <a:t>max2</a:t>
            </a:r>
            <a:r>
              <a:rPr lang="zh-CN" altLang="en-US" sz="2800" b="1" dirty="0">
                <a:latin typeface="宋体" pitchFamily="2" charset="-122"/>
              </a:rPr>
              <a:t>。调整过程需考虑以下几种可能：</a:t>
            </a:r>
          </a:p>
          <a:p>
            <a:pPr marL="536575" indent="-536575" algn="just" eaLnBrk="1" hangingPunct="1"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  <a:latin typeface="黑体" pitchFamily="2" charset="-122"/>
                <a:ea typeface="黑体" pitchFamily="2" charset="-122"/>
              </a:rPr>
              <a:t>若 </a:t>
            </a:r>
            <a:r>
              <a:rPr lang="en-US" altLang="zh-CN" sz="2800" b="1" dirty="0">
                <a:solidFill>
                  <a:srgbClr val="0000FF"/>
                </a:solidFill>
                <a:latin typeface="黑体" pitchFamily="2" charset="-122"/>
                <a:ea typeface="黑体" pitchFamily="2" charset="-122"/>
              </a:rPr>
              <a:t>x&gt;max1</a:t>
            </a:r>
            <a:r>
              <a:rPr lang="zh-CN" altLang="en-US" sz="2800" b="1" dirty="0">
                <a:solidFill>
                  <a:srgbClr val="0000FF"/>
                </a:solidFill>
                <a:latin typeface="黑体" pitchFamily="2" charset="-122"/>
                <a:ea typeface="黑体" pitchFamily="2" charset="-122"/>
              </a:rPr>
              <a:t>，则以</a:t>
            </a:r>
            <a:r>
              <a:rPr lang="en-US" altLang="zh-CN" sz="2800" b="1" dirty="0">
                <a:solidFill>
                  <a:srgbClr val="0000FF"/>
                </a:solidFill>
                <a:latin typeface="黑体" pitchFamily="2" charset="-122"/>
                <a:ea typeface="黑体" pitchFamily="2" charset="-122"/>
              </a:rPr>
              <a:t>max1</a:t>
            </a:r>
            <a:r>
              <a:rPr lang="zh-CN" altLang="en-US" sz="2800" b="1" dirty="0">
                <a:solidFill>
                  <a:srgbClr val="0000FF"/>
                </a:solidFill>
                <a:latin typeface="黑体" pitchFamily="2" charset="-122"/>
                <a:ea typeface="黑体" pitchFamily="2" charset="-122"/>
              </a:rPr>
              <a:t>作为新的</a:t>
            </a:r>
            <a:r>
              <a:rPr lang="en-US" altLang="zh-CN" sz="2800" b="1" dirty="0">
                <a:solidFill>
                  <a:srgbClr val="0000FF"/>
                </a:solidFill>
                <a:latin typeface="黑体" pitchFamily="2" charset="-122"/>
                <a:ea typeface="黑体" pitchFamily="2" charset="-122"/>
              </a:rPr>
              <a:t>max2</a:t>
            </a:r>
            <a:r>
              <a:rPr lang="zh-CN" altLang="en-US" sz="2800" b="1" dirty="0">
                <a:solidFill>
                  <a:srgbClr val="0000FF"/>
                </a:solidFill>
                <a:latin typeface="黑体" pitchFamily="2" charset="-122"/>
                <a:ea typeface="黑体" pitchFamily="2" charset="-122"/>
              </a:rPr>
              <a:t>，</a:t>
            </a:r>
            <a:r>
              <a:rPr lang="en-US" altLang="zh-CN" sz="2800" b="1" dirty="0">
                <a:solidFill>
                  <a:srgbClr val="0000FF"/>
                </a:solidFill>
                <a:latin typeface="黑体" pitchFamily="2" charset="-122"/>
                <a:ea typeface="黑体" pitchFamily="2" charset="-122"/>
              </a:rPr>
              <a:t>x</a:t>
            </a:r>
            <a:r>
              <a:rPr lang="zh-CN" altLang="en-US" sz="2800" b="1" dirty="0">
                <a:solidFill>
                  <a:srgbClr val="0000FF"/>
                </a:solidFill>
                <a:latin typeface="黑体" pitchFamily="2" charset="-122"/>
                <a:ea typeface="黑体" pitchFamily="2" charset="-122"/>
              </a:rPr>
              <a:t>作为新的</a:t>
            </a:r>
            <a:r>
              <a:rPr lang="en-US" altLang="zh-CN" sz="2800" b="1" dirty="0">
                <a:solidFill>
                  <a:srgbClr val="0000FF"/>
                </a:solidFill>
                <a:latin typeface="黑体" pitchFamily="2" charset="-122"/>
                <a:ea typeface="黑体" pitchFamily="2" charset="-122"/>
              </a:rPr>
              <a:t>max1</a:t>
            </a:r>
            <a:r>
              <a:rPr lang="zh-CN" altLang="en-US" sz="2800" b="1" dirty="0">
                <a:solidFill>
                  <a:srgbClr val="0000FF"/>
                </a:solidFill>
                <a:latin typeface="黑体" pitchFamily="2" charset="-122"/>
                <a:ea typeface="黑体" pitchFamily="2" charset="-122"/>
              </a:rPr>
              <a:t>；</a:t>
            </a:r>
          </a:p>
          <a:p>
            <a:pPr marL="536575" indent="-536575" algn="just" eaLnBrk="1" hangingPunct="1"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  <a:latin typeface="黑体" pitchFamily="2" charset="-122"/>
                <a:ea typeface="黑体" pitchFamily="2" charset="-122"/>
              </a:rPr>
              <a:t>若 </a:t>
            </a:r>
            <a:r>
              <a:rPr lang="en-US" altLang="zh-CN" sz="2800" b="1" dirty="0">
                <a:solidFill>
                  <a:srgbClr val="0000FF"/>
                </a:solidFill>
                <a:latin typeface="黑体" pitchFamily="2" charset="-122"/>
                <a:ea typeface="黑体" pitchFamily="2" charset="-122"/>
              </a:rPr>
              <a:t>max1&gt;x&gt;max2</a:t>
            </a:r>
            <a:r>
              <a:rPr lang="zh-CN" altLang="en-US" sz="2800" b="1" dirty="0">
                <a:solidFill>
                  <a:srgbClr val="0000FF"/>
                </a:solidFill>
                <a:latin typeface="黑体" pitchFamily="2" charset="-122"/>
                <a:ea typeface="黑体" pitchFamily="2" charset="-122"/>
              </a:rPr>
              <a:t>，则以</a:t>
            </a:r>
            <a:r>
              <a:rPr lang="en-US" altLang="zh-CN" sz="2800" b="1" dirty="0">
                <a:solidFill>
                  <a:srgbClr val="0000FF"/>
                </a:solidFill>
                <a:latin typeface="黑体" pitchFamily="2" charset="-122"/>
                <a:ea typeface="黑体" pitchFamily="2" charset="-122"/>
              </a:rPr>
              <a:t>x</a:t>
            </a:r>
            <a:r>
              <a:rPr lang="zh-CN" altLang="en-US" sz="2800" b="1" dirty="0">
                <a:solidFill>
                  <a:srgbClr val="0000FF"/>
                </a:solidFill>
                <a:latin typeface="黑体" pitchFamily="2" charset="-122"/>
                <a:ea typeface="黑体" pitchFamily="2" charset="-122"/>
              </a:rPr>
              <a:t>作为新的</a:t>
            </a:r>
            <a:r>
              <a:rPr lang="en-US" altLang="zh-CN" sz="2800" b="1" dirty="0">
                <a:solidFill>
                  <a:srgbClr val="0000FF"/>
                </a:solidFill>
                <a:latin typeface="黑体" pitchFamily="2" charset="-122"/>
                <a:ea typeface="黑体" pitchFamily="2" charset="-122"/>
              </a:rPr>
              <a:t>max2</a:t>
            </a:r>
            <a:r>
              <a:rPr lang="zh-CN" altLang="en-US" sz="2800" b="1" dirty="0">
                <a:solidFill>
                  <a:srgbClr val="0000FF"/>
                </a:solidFill>
                <a:latin typeface="黑体" pitchFamily="2" charset="-122"/>
                <a:ea typeface="黑体" pitchFamily="2" charset="-122"/>
              </a:rPr>
              <a:t>；</a:t>
            </a:r>
          </a:p>
          <a:p>
            <a:pPr marL="536575" indent="-536575" algn="just" eaLnBrk="1" hangingPunct="1"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  <a:latin typeface="黑体" pitchFamily="2" charset="-122"/>
                <a:ea typeface="黑体" pitchFamily="2" charset="-122"/>
              </a:rPr>
              <a:t>若 </a:t>
            </a:r>
            <a:r>
              <a:rPr lang="en-US" altLang="zh-CN" sz="2800" b="1" dirty="0">
                <a:solidFill>
                  <a:srgbClr val="0000FF"/>
                </a:solidFill>
                <a:latin typeface="黑体" pitchFamily="2" charset="-122"/>
                <a:ea typeface="黑体" pitchFamily="2" charset="-122"/>
              </a:rPr>
              <a:t>x&lt;max2</a:t>
            </a:r>
            <a:r>
              <a:rPr lang="zh-CN" altLang="en-US" sz="2800" b="1" dirty="0">
                <a:solidFill>
                  <a:srgbClr val="0000FF"/>
                </a:solidFill>
                <a:latin typeface="黑体" pitchFamily="2" charset="-122"/>
                <a:ea typeface="黑体" pitchFamily="2" charset="-122"/>
              </a:rPr>
              <a:t>，则不调整。</a:t>
            </a:r>
          </a:p>
        </p:txBody>
      </p:sp>
      <p:sp>
        <p:nvSpPr>
          <p:cNvPr id="7782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664A278-39F1-4573-A886-5AA6F2D061BD}" type="slidenum">
              <a:rPr lang="en-US" altLang="zh-CN"/>
              <a:pPr>
                <a:defRPr/>
              </a:pPr>
              <a:t>23</a:t>
            </a:fld>
            <a:endParaRPr lang="en-US" altLang="zh-CN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08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08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08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08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08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08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08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08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08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08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08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08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08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08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404813"/>
            <a:ext cx="8447087" cy="6453187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b="1" dirty="0">
                <a:latin typeface="黑体" pitchFamily="2" charset="-122"/>
                <a:ea typeface="黑体" pitchFamily="2" charset="-122"/>
              </a:rPr>
              <a:t>#include &lt;</a:t>
            </a:r>
            <a:r>
              <a:rPr lang="en-US" altLang="zh-CN" b="1" dirty="0" err="1">
                <a:latin typeface="黑体" pitchFamily="2" charset="-122"/>
                <a:ea typeface="黑体" pitchFamily="2" charset="-122"/>
              </a:rPr>
              <a:t>stdio.h</a:t>
            </a:r>
            <a:r>
              <a:rPr lang="en-US" altLang="zh-CN" b="1" dirty="0">
                <a:latin typeface="黑体" pitchFamily="2" charset="-122"/>
                <a:ea typeface="黑体" pitchFamily="2" charset="-122"/>
              </a:rPr>
              <a:t>&gt;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b="1" dirty="0">
                <a:latin typeface="黑体" pitchFamily="2" charset="-122"/>
                <a:ea typeface="黑体" pitchFamily="2" charset="-122"/>
              </a:rPr>
              <a:t>void main()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b="1" dirty="0">
                <a:latin typeface="黑体" pitchFamily="2" charset="-122"/>
                <a:ea typeface="黑体" pitchFamily="2" charset="-122"/>
              </a:rPr>
              <a:t>{  </a:t>
            </a:r>
            <a:r>
              <a:rPr lang="en-US" altLang="zh-CN" b="1" dirty="0" err="1">
                <a:latin typeface="黑体" pitchFamily="2" charset="-122"/>
                <a:ea typeface="黑体" pitchFamily="2" charset="-122"/>
              </a:rPr>
              <a:t>int</a:t>
            </a:r>
            <a:r>
              <a:rPr lang="en-US" altLang="zh-CN" b="1" dirty="0">
                <a:latin typeface="黑体" pitchFamily="2" charset="-122"/>
                <a:ea typeface="黑体" pitchFamily="2" charset="-122"/>
              </a:rPr>
              <a:t> n, </a:t>
            </a:r>
            <a:r>
              <a:rPr lang="en-US" altLang="zh-CN" b="1" dirty="0" err="1">
                <a:latin typeface="黑体" pitchFamily="2" charset="-122"/>
                <a:ea typeface="黑体" pitchFamily="2" charset="-122"/>
              </a:rPr>
              <a:t>i</a:t>
            </a:r>
            <a:r>
              <a:rPr lang="en-US" altLang="zh-CN" b="1" dirty="0">
                <a:latin typeface="黑体" pitchFamily="2" charset="-122"/>
                <a:ea typeface="黑体" pitchFamily="2" charset="-122"/>
              </a:rPr>
              <a:t>, max1, max2, x, temp;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b="1" dirty="0">
                <a:latin typeface="黑体" pitchFamily="2" charset="-122"/>
                <a:ea typeface="黑体" pitchFamily="2" charset="-122"/>
              </a:rPr>
              <a:t>   </a:t>
            </a:r>
            <a:r>
              <a:rPr lang="en-US" altLang="zh-CN" b="1" dirty="0" err="1">
                <a:latin typeface="黑体" pitchFamily="2" charset="-122"/>
                <a:ea typeface="黑体" pitchFamily="2" charset="-122"/>
              </a:rPr>
              <a:t>printf</a:t>
            </a:r>
            <a:r>
              <a:rPr lang="en-US" altLang="zh-CN" b="1" dirty="0">
                <a:latin typeface="黑体" pitchFamily="2" charset="-122"/>
                <a:ea typeface="黑体" pitchFamily="2" charset="-122"/>
              </a:rPr>
              <a:t>("</a:t>
            </a:r>
            <a:r>
              <a:rPr lang="zh-CN" altLang="en-US" b="1" dirty="0">
                <a:latin typeface="黑体" pitchFamily="2" charset="-122"/>
                <a:ea typeface="黑体" pitchFamily="2" charset="-122"/>
              </a:rPr>
              <a:t>输入 </a:t>
            </a:r>
            <a:r>
              <a:rPr lang="en-US" altLang="zh-CN" b="1" dirty="0">
                <a:latin typeface="黑体" pitchFamily="2" charset="-122"/>
                <a:ea typeface="黑体" pitchFamily="2" charset="-122"/>
              </a:rPr>
              <a:t>n(&gt;=2)!\n");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b="1" dirty="0">
                <a:latin typeface="黑体" pitchFamily="2" charset="-122"/>
                <a:ea typeface="黑体" pitchFamily="2" charset="-122"/>
              </a:rPr>
              <a:t>   </a:t>
            </a:r>
            <a:r>
              <a:rPr lang="en-US" altLang="zh-CN" b="1" dirty="0" err="1">
                <a:latin typeface="黑体" pitchFamily="2" charset="-122"/>
                <a:ea typeface="黑体" pitchFamily="2" charset="-122"/>
              </a:rPr>
              <a:t>scanf</a:t>
            </a:r>
            <a:r>
              <a:rPr lang="en-US" altLang="zh-CN" b="1" dirty="0">
                <a:latin typeface="黑体" pitchFamily="2" charset="-122"/>
                <a:ea typeface="黑体" pitchFamily="2" charset="-122"/>
              </a:rPr>
              <a:t>("%d", &amp;n);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b="1" dirty="0">
                <a:latin typeface="黑体" pitchFamily="2" charset="-122"/>
                <a:ea typeface="黑体" pitchFamily="2" charset="-122"/>
              </a:rPr>
              <a:t>   if (n &lt; 2) return;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b="1" dirty="0">
                <a:latin typeface="黑体" pitchFamily="2" charset="-122"/>
                <a:ea typeface="黑体" pitchFamily="2" charset="-122"/>
              </a:rPr>
              <a:t>   </a:t>
            </a:r>
            <a:r>
              <a:rPr lang="en-US" altLang="zh-CN" b="1" dirty="0" err="1">
                <a:latin typeface="黑体" pitchFamily="2" charset="-122"/>
                <a:ea typeface="黑体" pitchFamily="2" charset="-122"/>
              </a:rPr>
              <a:t>printf</a:t>
            </a:r>
            <a:r>
              <a:rPr lang="en-US" altLang="zh-CN" b="1" dirty="0">
                <a:latin typeface="黑体" pitchFamily="2" charset="-122"/>
                <a:ea typeface="黑体" pitchFamily="2" charset="-122"/>
              </a:rPr>
              <a:t>("</a:t>
            </a:r>
            <a:r>
              <a:rPr lang="zh-CN" altLang="en-US" b="1" dirty="0">
                <a:latin typeface="黑体" pitchFamily="2" charset="-122"/>
                <a:ea typeface="黑体" pitchFamily="2" charset="-122"/>
              </a:rPr>
              <a:t>输入第 </a:t>
            </a:r>
            <a:r>
              <a:rPr lang="en-US" altLang="zh-CN" b="1" dirty="0">
                <a:latin typeface="黑体" pitchFamily="2" charset="-122"/>
                <a:ea typeface="黑体" pitchFamily="2" charset="-122"/>
              </a:rPr>
              <a:t>1</a:t>
            </a:r>
            <a:r>
              <a:rPr lang="zh-CN" altLang="en-US" b="1" dirty="0">
                <a:latin typeface="黑体" pitchFamily="2" charset="-122"/>
                <a:ea typeface="黑体" pitchFamily="2" charset="-122"/>
              </a:rPr>
              <a:t>个整数：</a:t>
            </a:r>
            <a:r>
              <a:rPr lang="en-US" altLang="zh-CN" b="1" dirty="0">
                <a:latin typeface="黑体" pitchFamily="2" charset="-122"/>
                <a:ea typeface="黑体" pitchFamily="2" charset="-122"/>
              </a:rPr>
              <a:t>");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b="1" dirty="0">
                <a:latin typeface="黑体" pitchFamily="2" charset="-122"/>
                <a:ea typeface="黑体" pitchFamily="2" charset="-122"/>
              </a:rPr>
              <a:t>   </a:t>
            </a:r>
            <a:r>
              <a:rPr lang="en-US" altLang="zh-CN" b="1" dirty="0" err="1">
                <a:latin typeface="黑体" pitchFamily="2" charset="-122"/>
                <a:ea typeface="黑体" pitchFamily="2" charset="-122"/>
              </a:rPr>
              <a:t>scanf</a:t>
            </a:r>
            <a:r>
              <a:rPr lang="en-US" altLang="zh-CN" b="1" dirty="0">
                <a:latin typeface="黑体" pitchFamily="2" charset="-122"/>
                <a:ea typeface="黑体" pitchFamily="2" charset="-122"/>
              </a:rPr>
              <a:t>("%d", &amp;temp);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b="1" dirty="0">
                <a:latin typeface="黑体" pitchFamily="2" charset="-122"/>
                <a:ea typeface="黑体" pitchFamily="2" charset="-122"/>
              </a:rPr>
              <a:t>   </a:t>
            </a:r>
            <a:r>
              <a:rPr lang="en-US" altLang="zh-CN" b="1" dirty="0" err="1">
                <a:latin typeface="黑体" pitchFamily="2" charset="-122"/>
                <a:ea typeface="黑体" pitchFamily="2" charset="-122"/>
              </a:rPr>
              <a:t>printf</a:t>
            </a:r>
            <a:r>
              <a:rPr lang="en-US" altLang="zh-CN" b="1" dirty="0">
                <a:latin typeface="黑体" pitchFamily="2" charset="-122"/>
                <a:ea typeface="黑体" pitchFamily="2" charset="-122"/>
              </a:rPr>
              <a:t>("</a:t>
            </a:r>
            <a:r>
              <a:rPr lang="zh-CN" altLang="en-US" b="1" dirty="0">
                <a:latin typeface="黑体" pitchFamily="2" charset="-122"/>
                <a:ea typeface="黑体" pitchFamily="2" charset="-122"/>
              </a:rPr>
              <a:t>输入第 </a:t>
            </a:r>
            <a:r>
              <a:rPr lang="en-US" altLang="zh-CN" b="1" dirty="0">
                <a:latin typeface="黑体" pitchFamily="2" charset="-122"/>
                <a:ea typeface="黑体" pitchFamily="2" charset="-122"/>
              </a:rPr>
              <a:t>2 </a:t>
            </a:r>
            <a:r>
              <a:rPr lang="zh-CN" altLang="en-US" b="1" dirty="0">
                <a:latin typeface="黑体" pitchFamily="2" charset="-122"/>
                <a:ea typeface="黑体" pitchFamily="2" charset="-122"/>
              </a:rPr>
              <a:t>个整数：</a:t>
            </a:r>
            <a:r>
              <a:rPr lang="en-US" altLang="zh-CN" b="1" dirty="0">
                <a:latin typeface="黑体" pitchFamily="2" charset="-122"/>
                <a:ea typeface="黑体" pitchFamily="2" charset="-122"/>
              </a:rPr>
              <a:t>");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b="1" dirty="0">
                <a:latin typeface="黑体" pitchFamily="2" charset="-122"/>
                <a:ea typeface="黑体" pitchFamily="2" charset="-122"/>
              </a:rPr>
              <a:t>   </a:t>
            </a:r>
            <a:r>
              <a:rPr lang="en-US" altLang="zh-CN" b="1" dirty="0" err="1">
                <a:latin typeface="黑体" pitchFamily="2" charset="-122"/>
                <a:ea typeface="黑体" pitchFamily="2" charset="-122"/>
              </a:rPr>
              <a:t>scanf</a:t>
            </a:r>
            <a:r>
              <a:rPr lang="en-US" altLang="zh-CN" b="1" dirty="0">
                <a:latin typeface="黑体" pitchFamily="2" charset="-122"/>
                <a:ea typeface="黑体" pitchFamily="2" charset="-122"/>
              </a:rPr>
              <a:t>("%d", &amp;x);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b="1" dirty="0">
                <a:latin typeface="黑体" pitchFamily="2" charset="-122"/>
                <a:ea typeface="黑体" pitchFamily="2" charset="-122"/>
              </a:rPr>
              <a:t>   if (temp &lt; x) { max1 = x; max2 = temp;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b="1" dirty="0">
                <a:latin typeface="黑体" pitchFamily="2" charset="-122"/>
                <a:ea typeface="黑体" pitchFamily="2" charset="-122"/>
              </a:rPr>
              <a:t>   }</a:t>
            </a:r>
          </a:p>
          <a:p>
            <a:pPr>
              <a:lnSpc>
                <a:spcPct val="90000"/>
              </a:lnSpc>
              <a:buNone/>
            </a:pPr>
            <a:r>
              <a:rPr lang="en-US" altLang="zh-CN" b="1" dirty="0">
                <a:latin typeface="黑体" pitchFamily="2" charset="-122"/>
                <a:ea typeface="黑体" pitchFamily="2" charset="-122"/>
              </a:rPr>
              <a:t>	 else { max1 = temp; max2 = x; }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zh-CN" b="1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7885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28BB2B0-EC6D-4B73-BEFF-99A59148869B}" type="slidenum">
              <a:rPr lang="en-US" altLang="zh-CN"/>
              <a:pPr>
                <a:defRPr/>
              </a:pPr>
              <a:t>24</a:t>
            </a:fld>
            <a:endParaRPr lang="en-US" altLang="zh-CN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19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19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19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19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192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192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192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192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192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192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192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192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192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8192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908050"/>
            <a:ext cx="8686800" cy="5721350"/>
          </a:xfrm>
        </p:spPr>
        <p:txBody>
          <a:bodyPr/>
          <a:lstStyle/>
          <a:p>
            <a:pPr eaLnBrk="1" hangingPunct="1">
              <a:spcBef>
                <a:spcPct val="10000"/>
              </a:spcBef>
              <a:buFont typeface="Wingdings" pitchFamily="2" charset="2"/>
              <a:buNone/>
            </a:pPr>
            <a:r>
              <a:rPr lang="en-US" altLang="zh-CN" b="1" dirty="0">
                <a:latin typeface="黑体" pitchFamily="2" charset="-122"/>
                <a:ea typeface="黑体" pitchFamily="2" charset="-122"/>
              </a:rPr>
              <a:t> </a:t>
            </a:r>
          </a:p>
          <a:p>
            <a:pPr eaLnBrk="1" hangingPunct="1">
              <a:spcBef>
                <a:spcPct val="10000"/>
              </a:spcBef>
              <a:buFont typeface="Wingdings" pitchFamily="2" charset="2"/>
              <a:buNone/>
            </a:pPr>
            <a:r>
              <a:rPr lang="en-US" altLang="zh-CN" b="1" dirty="0">
                <a:latin typeface="黑体" pitchFamily="2" charset="-122"/>
                <a:ea typeface="黑体" pitchFamily="2" charset="-122"/>
              </a:rPr>
              <a:t> for(</a:t>
            </a:r>
            <a:r>
              <a:rPr lang="en-US" altLang="zh-CN" b="1" dirty="0" err="1">
                <a:latin typeface="黑体" pitchFamily="2" charset="-122"/>
                <a:ea typeface="黑体" pitchFamily="2" charset="-122"/>
              </a:rPr>
              <a:t>i</a:t>
            </a:r>
            <a:r>
              <a:rPr lang="en-US" altLang="zh-CN" b="1" dirty="0">
                <a:latin typeface="黑体" pitchFamily="2" charset="-122"/>
                <a:ea typeface="黑体" pitchFamily="2" charset="-122"/>
              </a:rPr>
              <a:t> = 3; </a:t>
            </a:r>
            <a:r>
              <a:rPr lang="en-US" altLang="zh-CN" b="1" dirty="0" err="1">
                <a:latin typeface="黑体" pitchFamily="2" charset="-122"/>
                <a:ea typeface="黑体" pitchFamily="2" charset="-122"/>
              </a:rPr>
              <a:t>i</a:t>
            </a:r>
            <a:r>
              <a:rPr lang="en-US" altLang="zh-CN" b="1" dirty="0">
                <a:latin typeface="黑体" pitchFamily="2" charset="-122"/>
                <a:ea typeface="黑体" pitchFamily="2" charset="-122"/>
              </a:rPr>
              <a:t> &lt;= n; </a:t>
            </a:r>
            <a:r>
              <a:rPr lang="en-US" altLang="zh-CN" b="1" dirty="0" err="1">
                <a:latin typeface="黑体" pitchFamily="2" charset="-122"/>
                <a:ea typeface="黑体" pitchFamily="2" charset="-122"/>
              </a:rPr>
              <a:t>i</a:t>
            </a:r>
            <a:r>
              <a:rPr lang="en-US" altLang="zh-CN" b="1" dirty="0">
                <a:latin typeface="黑体" pitchFamily="2" charset="-122"/>
                <a:ea typeface="黑体" pitchFamily="2" charset="-122"/>
              </a:rPr>
              <a:t>++) {  </a:t>
            </a:r>
          </a:p>
          <a:p>
            <a:pPr eaLnBrk="1" hangingPunct="1">
              <a:spcBef>
                <a:spcPct val="10000"/>
              </a:spcBef>
              <a:buFont typeface="Wingdings" pitchFamily="2" charset="2"/>
              <a:buNone/>
            </a:pPr>
            <a:r>
              <a:rPr lang="en-US" altLang="zh-CN" b="1" dirty="0">
                <a:latin typeface="黑体" pitchFamily="2" charset="-122"/>
                <a:ea typeface="黑体" pitchFamily="2" charset="-122"/>
              </a:rPr>
              <a:t>      </a:t>
            </a:r>
            <a:r>
              <a:rPr lang="en-US" altLang="zh-CN" b="1" dirty="0" err="1">
                <a:latin typeface="黑体" pitchFamily="2" charset="-122"/>
                <a:ea typeface="黑体" pitchFamily="2" charset="-122"/>
              </a:rPr>
              <a:t>printf</a:t>
            </a:r>
            <a:r>
              <a:rPr lang="en-US" altLang="zh-CN" b="1" dirty="0">
                <a:latin typeface="黑体" pitchFamily="2" charset="-122"/>
                <a:ea typeface="黑体" pitchFamily="2" charset="-122"/>
              </a:rPr>
              <a:t>("</a:t>
            </a:r>
            <a:r>
              <a:rPr lang="zh-CN" altLang="en-US" b="1" dirty="0">
                <a:latin typeface="黑体" pitchFamily="2" charset="-122"/>
                <a:ea typeface="黑体" pitchFamily="2" charset="-122"/>
              </a:rPr>
              <a:t>输入第 </a:t>
            </a:r>
            <a:r>
              <a:rPr lang="en-US" altLang="zh-CN" b="1" dirty="0">
                <a:latin typeface="黑体" pitchFamily="2" charset="-122"/>
                <a:ea typeface="黑体" pitchFamily="2" charset="-122"/>
              </a:rPr>
              <a:t>%d </a:t>
            </a:r>
            <a:r>
              <a:rPr lang="zh-CN" altLang="en-US" b="1" dirty="0">
                <a:latin typeface="黑体" pitchFamily="2" charset="-122"/>
                <a:ea typeface="黑体" pitchFamily="2" charset="-122"/>
              </a:rPr>
              <a:t>个整数：</a:t>
            </a:r>
            <a:r>
              <a:rPr lang="en-US" altLang="zh-CN" b="1" dirty="0">
                <a:latin typeface="黑体" pitchFamily="2" charset="-122"/>
                <a:ea typeface="黑体" pitchFamily="2" charset="-122"/>
              </a:rPr>
              <a:t>", </a:t>
            </a:r>
            <a:r>
              <a:rPr lang="en-US" altLang="zh-CN" b="1" dirty="0" err="1">
                <a:latin typeface="黑体" pitchFamily="2" charset="-122"/>
                <a:ea typeface="黑体" pitchFamily="2" charset="-122"/>
              </a:rPr>
              <a:t>i</a:t>
            </a:r>
            <a:r>
              <a:rPr lang="en-US" altLang="zh-CN" b="1" dirty="0">
                <a:latin typeface="黑体" pitchFamily="2" charset="-122"/>
                <a:ea typeface="黑体" pitchFamily="2" charset="-122"/>
              </a:rPr>
              <a:t>);</a:t>
            </a:r>
          </a:p>
          <a:p>
            <a:pPr eaLnBrk="1" hangingPunct="1">
              <a:spcBef>
                <a:spcPct val="10000"/>
              </a:spcBef>
              <a:buFont typeface="Wingdings" pitchFamily="2" charset="2"/>
              <a:buNone/>
            </a:pPr>
            <a:r>
              <a:rPr lang="en-US" altLang="zh-CN" b="1" dirty="0">
                <a:latin typeface="黑体" pitchFamily="2" charset="-122"/>
                <a:ea typeface="黑体" pitchFamily="2" charset="-122"/>
              </a:rPr>
              <a:t>      </a:t>
            </a:r>
            <a:r>
              <a:rPr lang="en-US" altLang="zh-CN" b="1" dirty="0" err="1">
                <a:latin typeface="黑体" pitchFamily="2" charset="-122"/>
                <a:ea typeface="黑体" pitchFamily="2" charset="-122"/>
              </a:rPr>
              <a:t>scanf</a:t>
            </a:r>
            <a:r>
              <a:rPr lang="en-US" altLang="zh-CN" b="1" dirty="0">
                <a:latin typeface="黑体" pitchFamily="2" charset="-122"/>
                <a:ea typeface="黑体" pitchFamily="2" charset="-122"/>
              </a:rPr>
              <a:t>("%d", &amp;x);</a:t>
            </a:r>
          </a:p>
          <a:p>
            <a:pPr eaLnBrk="1" hangingPunct="1">
              <a:spcBef>
                <a:spcPct val="10000"/>
              </a:spcBef>
              <a:buFont typeface="Wingdings" pitchFamily="2" charset="2"/>
              <a:buNone/>
            </a:pPr>
            <a:r>
              <a:rPr lang="en-US" altLang="zh-CN" b="1" dirty="0">
                <a:latin typeface="黑体" pitchFamily="2" charset="-122"/>
                <a:ea typeface="黑体" pitchFamily="2" charset="-122"/>
              </a:rPr>
              <a:t>      if ( x &gt; max1) {</a:t>
            </a:r>
          </a:p>
          <a:p>
            <a:pPr eaLnBrk="1" hangingPunct="1">
              <a:spcBef>
                <a:spcPct val="10000"/>
              </a:spcBef>
              <a:buFont typeface="Wingdings" pitchFamily="2" charset="2"/>
              <a:buNone/>
            </a:pPr>
            <a:r>
              <a:rPr lang="en-US" altLang="zh-CN" b="1" dirty="0">
                <a:latin typeface="黑体" pitchFamily="2" charset="-122"/>
                <a:ea typeface="黑体" pitchFamily="2" charset="-122"/>
              </a:rPr>
              <a:t>          max2 = max1; max1 = x;</a:t>
            </a:r>
          </a:p>
          <a:p>
            <a:pPr eaLnBrk="1" hangingPunct="1">
              <a:spcBef>
                <a:spcPct val="10000"/>
              </a:spcBef>
              <a:buFont typeface="Wingdings" pitchFamily="2" charset="2"/>
              <a:buNone/>
            </a:pPr>
            <a:r>
              <a:rPr lang="en-US" altLang="zh-CN" b="1" dirty="0">
                <a:latin typeface="黑体" pitchFamily="2" charset="-122"/>
                <a:ea typeface="黑体" pitchFamily="2" charset="-122"/>
              </a:rPr>
              <a:t>      }</a:t>
            </a:r>
          </a:p>
          <a:p>
            <a:pPr eaLnBrk="1" hangingPunct="1">
              <a:spcBef>
                <a:spcPct val="10000"/>
              </a:spcBef>
              <a:buFont typeface="Wingdings" pitchFamily="2" charset="2"/>
              <a:buNone/>
            </a:pPr>
            <a:r>
              <a:rPr lang="en-US" altLang="zh-CN" b="1" dirty="0">
                <a:latin typeface="黑体" pitchFamily="2" charset="-122"/>
                <a:ea typeface="黑体" pitchFamily="2" charset="-122"/>
              </a:rPr>
              <a:t>      else if (x &gt; max2) max2 = x;</a:t>
            </a:r>
          </a:p>
          <a:p>
            <a:pPr eaLnBrk="1" hangingPunct="1">
              <a:spcBef>
                <a:spcPct val="10000"/>
              </a:spcBef>
              <a:buFont typeface="Wingdings" pitchFamily="2" charset="2"/>
              <a:buNone/>
            </a:pPr>
            <a:r>
              <a:rPr lang="en-US" altLang="zh-CN" b="1" dirty="0">
                <a:latin typeface="黑体" pitchFamily="2" charset="-122"/>
                <a:ea typeface="黑体" pitchFamily="2" charset="-122"/>
              </a:rPr>
              <a:t> }</a:t>
            </a:r>
          </a:p>
          <a:p>
            <a:pPr eaLnBrk="1" hangingPunct="1">
              <a:spcBef>
                <a:spcPct val="10000"/>
              </a:spcBef>
              <a:buFont typeface="Wingdings" pitchFamily="2" charset="2"/>
              <a:buNone/>
            </a:pPr>
            <a:r>
              <a:rPr lang="en-US" altLang="zh-CN" b="1" dirty="0">
                <a:latin typeface="黑体" pitchFamily="2" charset="-122"/>
                <a:ea typeface="黑体" pitchFamily="2" charset="-122"/>
              </a:rPr>
              <a:t> </a:t>
            </a:r>
            <a:r>
              <a:rPr lang="en-US" altLang="zh-CN" b="1" dirty="0" err="1">
                <a:latin typeface="黑体" pitchFamily="2" charset="-122"/>
                <a:ea typeface="黑体" pitchFamily="2" charset="-122"/>
              </a:rPr>
              <a:t>printf</a:t>
            </a:r>
            <a:r>
              <a:rPr lang="en-US" altLang="zh-CN" b="1" dirty="0">
                <a:latin typeface="黑体" pitchFamily="2" charset="-122"/>
                <a:ea typeface="黑体" pitchFamily="2" charset="-122"/>
              </a:rPr>
              <a:t>("</a:t>
            </a:r>
            <a:r>
              <a:rPr lang="zh-CN" altLang="en-US" b="1" dirty="0">
                <a:latin typeface="黑体" pitchFamily="2" charset="-122"/>
                <a:ea typeface="黑体" pitchFamily="2" charset="-122"/>
              </a:rPr>
              <a:t>次最大是 </a:t>
            </a:r>
            <a:r>
              <a:rPr lang="en-US" altLang="zh-CN" b="1" dirty="0">
                <a:latin typeface="黑体" pitchFamily="2" charset="-122"/>
                <a:ea typeface="黑体" pitchFamily="2" charset="-122"/>
              </a:rPr>
              <a:t>%d\n\n", max2);</a:t>
            </a:r>
          </a:p>
          <a:p>
            <a:pPr eaLnBrk="1" hangingPunct="1">
              <a:spcBef>
                <a:spcPct val="10000"/>
              </a:spcBef>
              <a:buFont typeface="Wingdings" pitchFamily="2" charset="2"/>
              <a:buNone/>
            </a:pPr>
            <a:r>
              <a:rPr lang="en-US" altLang="zh-CN" b="1" dirty="0">
                <a:latin typeface="黑体" pitchFamily="2" charset="-122"/>
                <a:ea typeface="黑体" pitchFamily="2" charset="-122"/>
              </a:rPr>
              <a:t>}</a:t>
            </a:r>
          </a:p>
        </p:txBody>
      </p:sp>
      <p:sp>
        <p:nvSpPr>
          <p:cNvPr id="7987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EECE9C9-B013-4C9D-99B9-E8F280B2635C}" type="slidenum">
              <a:rPr lang="en-US" altLang="zh-CN"/>
              <a:pPr>
                <a:defRPr/>
              </a:pPr>
              <a:t>25</a:t>
            </a:fld>
            <a:endParaRPr lang="en-US" altLang="zh-CN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>
          <a:xfrm>
            <a:off x="250825" y="549275"/>
            <a:ext cx="8748713" cy="2735709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zh-CN" sz="2800" b="1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【</a:t>
            </a:r>
            <a:r>
              <a:rPr lang="zh-CN" altLang="en-US" sz="2800" b="1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例</a:t>
            </a:r>
            <a:r>
              <a:rPr lang="en-US" altLang="zh-CN" sz="2800" b="1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】</a:t>
            </a:r>
            <a:r>
              <a:rPr lang="zh-CN" altLang="en-US" sz="2800" b="1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求以下算式</a:t>
            </a:r>
            <a:r>
              <a:rPr lang="en-US" altLang="zh-CN" sz="2800" b="1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:</a:t>
            </a:r>
            <a:br>
              <a:rPr lang="en-US" altLang="zh-CN" sz="2800" b="1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</a:br>
            <a:r>
              <a:rPr lang="en-US" altLang="zh-CN" sz="2800" b="1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     S = 1 + 1+2 + 1+2+3 + ..... + 1+2+3...+n</a:t>
            </a:r>
            <a:br>
              <a:rPr lang="en-US" altLang="zh-CN" sz="2800" b="1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</a:br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其中</a:t>
            </a: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n</a:t>
            </a:r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从键盘输入。</a:t>
            </a:r>
            <a:b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</a:br>
            <a:r>
              <a:rPr lang="zh-CN" altLang="en-US" sz="2400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分析：</a:t>
            </a:r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为计算</a:t>
            </a: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s</a:t>
            </a:r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，让</a:t>
            </a:r>
            <a:r>
              <a:rPr lang="en-US" altLang="zh-CN" sz="2400" b="1" dirty="0" err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i</a:t>
            </a:r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从</a:t>
            </a: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至</a:t>
            </a: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n</a:t>
            </a:r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变化，循环体先计算</a:t>
            </a: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p = 1+2+...+</a:t>
            </a:r>
            <a:r>
              <a:rPr lang="en-US" altLang="zh-CN" sz="2400" b="1" dirty="0" err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i</a:t>
            </a:r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，然后将</a:t>
            </a: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p</a:t>
            </a:r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累计到</a:t>
            </a: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s</a:t>
            </a:r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。为计算</a:t>
            </a: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p</a:t>
            </a:r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，用循环，让</a:t>
            </a: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j</a:t>
            </a:r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从</a:t>
            </a: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至</a:t>
            </a:r>
            <a:r>
              <a:rPr lang="en-US" altLang="zh-CN" sz="2400" b="1" dirty="0" err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i</a:t>
            </a:r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变化，将</a:t>
            </a: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j</a:t>
            </a:r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累计到</a:t>
            </a: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p</a:t>
            </a:r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即可。</a:t>
            </a: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/>
            </a:r>
            <a:b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</a:b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/>
            </a:r>
            <a:b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</a:b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/>
            </a:r>
            <a:b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</a:br>
            <a: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/>
            </a:r>
            <a:br>
              <a:rPr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</a:br>
            <a:endParaRPr lang="zh-CN" altLang="en-US" sz="2400" b="1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8089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9749A9-8D96-4F1E-B330-B2943EBD50B0}" type="slidenum">
              <a:rPr lang="en-US" altLang="zh-CN"/>
              <a:pPr>
                <a:defRPr/>
              </a:pPr>
              <a:t>26</a:t>
            </a:fld>
            <a:endParaRPr lang="en-US" altLang="zh-CN"/>
          </a:p>
        </p:txBody>
      </p:sp>
      <p:sp>
        <p:nvSpPr>
          <p:cNvPr id="4" name="TextBox 3"/>
          <p:cNvSpPr txBox="1"/>
          <p:nvPr/>
        </p:nvSpPr>
        <p:spPr>
          <a:xfrm>
            <a:off x="285721" y="4293096"/>
            <a:ext cx="857256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注意外循环相继两次的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p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值的差异，记第</a:t>
            </a:r>
            <a:r>
              <a:rPr lang="en-US" altLang="zh-CN" sz="2400" b="1" dirty="0" err="1">
                <a:latin typeface="楷体_GB2312" pitchFamily="49" charset="-122"/>
                <a:ea typeface="楷体_GB2312" pitchFamily="49" charset="-122"/>
              </a:rPr>
              <a:t>i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次循环的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p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值为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p</a:t>
            </a:r>
            <a:r>
              <a:rPr lang="en-US" altLang="zh-CN" sz="2400" b="1" baseline="-25000" dirty="0">
                <a:latin typeface="楷体_GB2312" pitchFamily="49" charset="-122"/>
                <a:ea typeface="楷体_GB2312" pitchFamily="49" charset="-122"/>
              </a:rPr>
              <a:t>i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，第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i-1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次循环的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p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值为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p</a:t>
            </a:r>
            <a:r>
              <a:rPr lang="en-US" altLang="zh-CN" sz="2400" b="1" baseline="-25000" dirty="0">
                <a:latin typeface="楷体_GB2312" pitchFamily="49" charset="-122"/>
                <a:ea typeface="楷体_GB2312" pitchFamily="49" charset="-122"/>
              </a:rPr>
              <a:t>i-1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。有</a:t>
            </a:r>
            <a:r>
              <a:rPr lang="zh-CN" altLang="en-US" sz="24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等式</a:t>
            </a:r>
            <a:r>
              <a:rPr lang="en-US" altLang="zh-CN" sz="24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p</a:t>
            </a:r>
            <a:r>
              <a:rPr lang="en-US" altLang="zh-CN" sz="2400" b="1" baseline="-2500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i</a:t>
            </a:r>
            <a:r>
              <a:rPr lang="en-US" altLang="zh-CN" sz="24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=p</a:t>
            </a:r>
            <a:r>
              <a:rPr lang="en-US" altLang="zh-CN" sz="2400" b="1" baseline="-2500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i-1</a:t>
            </a:r>
            <a:r>
              <a:rPr lang="en-US" altLang="zh-CN" sz="24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+i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。这样，计算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p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的内循环可以省略，同时置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p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初值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0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的工作必需移至循环开始之前，与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s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一起赋初值。 </a:t>
            </a:r>
            <a:endParaRPr lang="zh-CN" altLang="en-US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179512" y="2276872"/>
            <a:ext cx="896448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如代码：</a:t>
            </a:r>
            <a:br>
              <a:rPr lang="zh-CN" altLang="en-US" b="1" dirty="0">
                <a:latin typeface="楷体_GB2312" pitchFamily="49" charset="-122"/>
                <a:ea typeface="楷体_GB2312" pitchFamily="49" charset="-122"/>
              </a:rPr>
            </a:br>
            <a:r>
              <a:rPr lang="en-US" altLang="zh-CN" b="1" dirty="0">
                <a:latin typeface="楷体_GB2312" pitchFamily="49" charset="-122"/>
                <a:ea typeface="楷体_GB2312" pitchFamily="49" charset="-122"/>
              </a:rPr>
              <a:t>for(s = 0, </a:t>
            </a:r>
            <a:r>
              <a:rPr lang="en-US" altLang="zh-CN" b="1" dirty="0" err="1">
                <a:latin typeface="楷体_GB2312" pitchFamily="49" charset="-122"/>
                <a:ea typeface="楷体_GB2312" pitchFamily="49" charset="-122"/>
              </a:rPr>
              <a:t>i</a:t>
            </a:r>
            <a:r>
              <a:rPr lang="en-US" altLang="zh-CN" b="1" dirty="0">
                <a:latin typeface="楷体_GB2312" pitchFamily="49" charset="-122"/>
                <a:ea typeface="楷体_GB2312" pitchFamily="49" charset="-122"/>
              </a:rPr>
              <a:t> = 1; </a:t>
            </a:r>
            <a:r>
              <a:rPr lang="en-US" altLang="zh-CN" b="1" dirty="0" err="1">
                <a:latin typeface="楷体_GB2312" pitchFamily="49" charset="-122"/>
                <a:ea typeface="楷体_GB2312" pitchFamily="49" charset="-122"/>
              </a:rPr>
              <a:t>i</a:t>
            </a:r>
            <a:r>
              <a:rPr lang="en-US" altLang="zh-CN" b="1" dirty="0">
                <a:latin typeface="楷体_GB2312" pitchFamily="49" charset="-122"/>
                <a:ea typeface="楷体_GB2312" pitchFamily="49" charset="-122"/>
              </a:rPr>
              <a:t> &lt;= n; </a:t>
            </a:r>
            <a:r>
              <a:rPr lang="en-US" altLang="zh-CN" b="1" dirty="0" err="1">
                <a:latin typeface="楷体_GB2312" pitchFamily="49" charset="-122"/>
                <a:ea typeface="楷体_GB2312" pitchFamily="49" charset="-122"/>
              </a:rPr>
              <a:t>i</a:t>
            </a:r>
            <a:r>
              <a:rPr lang="en-US" altLang="zh-CN" b="1" dirty="0">
                <a:latin typeface="楷体_GB2312" pitchFamily="49" charset="-122"/>
                <a:ea typeface="楷体_GB2312" pitchFamily="49" charset="-122"/>
              </a:rPr>
              <a:t>++) {</a:t>
            </a:r>
            <a:br>
              <a:rPr lang="en-US" altLang="zh-CN" b="1" dirty="0">
                <a:latin typeface="楷体_GB2312" pitchFamily="49" charset="-122"/>
                <a:ea typeface="楷体_GB2312" pitchFamily="49" charset="-122"/>
              </a:rPr>
            </a:br>
            <a:r>
              <a:rPr lang="en-US" altLang="zh-CN" b="1" dirty="0">
                <a:latin typeface="楷体_GB2312" pitchFamily="49" charset="-122"/>
                <a:ea typeface="楷体_GB2312" pitchFamily="49" charset="-122"/>
              </a:rPr>
              <a:t>    for(p = 0, j = 1; j &lt;= </a:t>
            </a:r>
            <a:r>
              <a:rPr lang="en-US" altLang="zh-CN" b="1" dirty="0" err="1">
                <a:latin typeface="楷体_GB2312" pitchFamily="49" charset="-122"/>
                <a:ea typeface="楷体_GB2312" pitchFamily="49" charset="-122"/>
              </a:rPr>
              <a:t>i</a:t>
            </a:r>
            <a:r>
              <a:rPr lang="en-US" altLang="zh-CN" b="1" dirty="0">
                <a:latin typeface="楷体_GB2312" pitchFamily="49" charset="-122"/>
                <a:ea typeface="楷体_GB2312" pitchFamily="49" charset="-122"/>
              </a:rPr>
              <a:t>; j++)//p = 1+2+......+</a:t>
            </a:r>
            <a:r>
              <a:rPr lang="en-US" altLang="zh-CN" b="1" dirty="0" err="1">
                <a:latin typeface="楷体_GB2312" pitchFamily="49" charset="-122"/>
                <a:ea typeface="楷体_GB2312" pitchFamily="49" charset="-122"/>
              </a:rPr>
              <a:t>i</a:t>
            </a:r>
            <a:r>
              <a:rPr lang="en-US" altLang="zh-CN" b="1" dirty="0">
                <a:latin typeface="楷体_GB2312" pitchFamily="49" charset="-122"/>
                <a:ea typeface="楷体_GB2312" pitchFamily="49" charset="-122"/>
              </a:rPr>
              <a:t/>
            </a:r>
            <a:br>
              <a:rPr lang="en-US" altLang="zh-CN" b="1" dirty="0">
                <a:latin typeface="楷体_GB2312" pitchFamily="49" charset="-122"/>
                <a:ea typeface="楷体_GB2312" pitchFamily="49" charset="-122"/>
              </a:rPr>
            </a:br>
            <a:r>
              <a:rPr lang="en-US" altLang="zh-CN" b="1" dirty="0">
                <a:latin typeface="楷体_GB2312" pitchFamily="49" charset="-122"/>
                <a:ea typeface="楷体_GB2312" pitchFamily="49" charset="-122"/>
              </a:rPr>
              <a:t>        p += j;</a:t>
            </a:r>
            <a:br>
              <a:rPr lang="en-US" altLang="zh-CN" b="1" dirty="0">
                <a:latin typeface="楷体_GB2312" pitchFamily="49" charset="-122"/>
                <a:ea typeface="楷体_GB2312" pitchFamily="49" charset="-122"/>
              </a:rPr>
            </a:br>
            <a:r>
              <a:rPr lang="en-US" altLang="zh-CN" b="1" dirty="0">
                <a:latin typeface="楷体_GB2312" pitchFamily="49" charset="-122"/>
                <a:ea typeface="楷体_GB2312" pitchFamily="49" charset="-122"/>
              </a:rPr>
              <a:t>    s += p;//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将当前的</a:t>
            </a:r>
            <a:r>
              <a:rPr lang="en-US" altLang="zh-CN" b="1" dirty="0">
                <a:latin typeface="楷体_GB2312" pitchFamily="49" charset="-122"/>
                <a:ea typeface="楷体_GB2312" pitchFamily="49" charset="-122"/>
              </a:rPr>
              <a:t>p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累计到</a:t>
            </a:r>
            <a:r>
              <a:rPr lang="en-US" altLang="zh-CN" b="1" dirty="0">
                <a:latin typeface="楷体_GB2312" pitchFamily="49" charset="-122"/>
                <a:ea typeface="楷体_GB2312" pitchFamily="49" charset="-122"/>
              </a:rPr>
              <a:t>s</a:t>
            </a:r>
            <a:br>
              <a:rPr lang="en-US" altLang="zh-CN" b="1" dirty="0">
                <a:latin typeface="楷体_GB2312" pitchFamily="49" charset="-122"/>
                <a:ea typeface="楷体_GB2312" pitchFamily="49" charset="-122"/>
              </a:rPr>
            </a:br>
            <a:r>
              <a:rPr lang="en-US" altLang="zh-CN" b="1" dirty="0">
                <a:latin typeface="楷体_GB2312" pitchFamily="49" charset="-122"/>
                <a:ea typeface="楷体_GB2312" pitchFamily="49" charset="-122"/>
              </a:rPr>
              <a:t>}</a:t>
            </a:r>
            <a:endParaRPr lang="zh-CN" alt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1196975"/>
            <a:ext cx="8531225" cy="4365625"/>
          </a:xfrm>
        </p:spPr>
        <p:txBody>
          <a:bodyPr/>
          <a:lstStyle/>
          <a:p>
            <a:pPr eaLnBrk="1" hangingPunct="1"/>
            <a:r>
              <a:rPr lang="en-US" altLang="zh-CN" sz="2800" dirty="0">
                <a:solidFill>
                  <a:schemeClr val="tx1"/>
                </a:solidFill>
              </a:rPr>
              <a:t>#include &lt;</a:t>
            </a:r>
            <a:r>
              <a:rPr lang="en-US" altLang="zh-CN" sz="2800" dirty="0" err="1">
                <a:solidFill>
                  <a:schemeClr val="tx1"/>
                </a:solidFill>
              </a:rPr>
              <a:t>stdio.h</a:t>
            </a:r>
            <a:r>
              <a:rPr lang="en-US" altLang="zh-CN" sz="2800" dirty="0">
                <a:solidFill>
                  <a:schemeClr val="tx1"/>
                </a:solidFill>
              </a:rPr>
              <a:t>&gt;</a:t>
            </a:r>
            <a:br>
              <a:rPr lang="en-US" altLang="zh-CN" sz="2800" dirty="0">
                <a:solidFill>
                  <a:schemeClr val="tx1"/>
                </a:solidFill>
              </a:rPr>
            </a:br>
            <a:r>
              <a:rPr lang="en-US" altLang="zh-CN" sz="2800" dirty="0">
                <a:solidFill>
                  <a:schemeClr val="tx1"/>
                </a:solidFill>
              </a:rPr>
              <a:t>void main()</a:t>
            </a:r>
            <a:br>
              <a:rPr lang="en-US" altLang="zh-CN" sz="2800" dirty="0">
                <a:solidFill>
                  <a:schemeClr val="tx1"/>
                </a:solidFill>
              </a:rPr>
            </a:br>
            <a:r>
              <a:rPr lang="en-US" altLang="zh-CN" sz="2800" dirty="0">
                <a:solidFill>
                  <a:schemeClr val="tx1"/>
                </a:solidFill>
              </a:rPr>
              <a:t>{  int </a:t>
            </a:r>
            <a:r>
              <a:rPr lang="en-US" altLang="zh-CN" sz="2800" dirty="0" err="1">
                <a:solidFill>
                  <a:schemeClr val="tx1"/>
                </a:solidFill>
              </a:rPr>
              <a:t>i</a:t>
            </a:r>
            <a:r>
              <a:rPr lang="en-US" altLang="zh-CN" sz="2800" dirty="0">
                <a:solidFill>
                  <a:schemeClr val="tx1"/>
                </a:solidFill>
              </a:rPr>
              <a:t>, p, s, n;</a:t>
            </a:r>
            <a:br>
              <a:rPr lang="en-US" altLang="zh-CN" sz="2800" dirty="0">
                <a:solidFill>
                  <a:schemeClr val="tx1"/>
                </a:solidFill>
              </a:rPr>
            </a:br>
            <a:r>
              <a:rPr lang="en-US" altLang="zh-CN" sz="2800" dirty="0">
                <a:solidFill>
                  <a:schemeClr val="tx1"/>
                </a:solidFill>
              </a:rPr>
              <a:t>    </a:t>
            </a:r>
            <a:r>
              <a:rPr lang="en-US" altLang="zh-CN" sz="2800" dirty="0" err="1">
                <a:solidFill>
                  <a:schemeClr val="tx1"/>
                </a:solidFill>
              </a:rPr>
              <a:t>printf</a:t>
            </a:r>
            <a:r>
              <a:rPr lang="en-US" altLang="zh-CN" sz="2800" dirty="0">
                <a:solidFill>
                  <a:schemeClr val="tx1"/>
                </a:solidFill>
              </a:rPr>
              <a:t>("Enter n!\n");</a:t>
            </a:r>
            <a:br>
              <a:rPr lang="en-US" altLang="zh-CN" sz="2800" dirty="0">
                <a:solidFill>
                  <a:schemeClr val="tx1"/>
                </a:solidFill>
              </a:rPr>
            </a:br>
            <a:r>
              <a:rPr lang="en-US" altLang="zh-CN" sz="2800" dirty="0">
                <a:solidFill>
                  <a:schemeClr val="tx1"/>
                </a:solidFill>
              </a:rPr>
              <a:t>    </a:t>
            </a:r>
            <a:r>
              <a:rPr lang="en-US" altLang="zh-CN" sz="2800" dirty="0" err="1">
                <a:solidFill>
                  <a:schemeClr val="tx1"/>
                </a:solidFill>
              </a:rPr>
              <a:t>scanf</a:t>
            </a:r>
            <a:r>
              <a:rPr lang="en-US" altLang="zh-CN" sz="2800" dirty="0">
                <a:solidFill>
                  <a:schemeClr val="tx1"/>
                </a:solidFill>
              </a:rPr>
              <a:t>("%d", &amp;n);</a:t>
            </a:r>
            <a:br>
              <a:rPr lang="en-US" altLang="zh-CN" sz="2800" dirty="0">
                <a:solidFill>
                  <a:schemeClr val="tx1"/>
                </a:solidFill>
              </a:rPr>
            </a:br>
            <a:r>
              <a:rPr lang="en-US" altLang="zh-CN" sz="2800" dirty="0">
                <a:solidFill>
                  <a:schemeClr val="tx1"/>
                </a:solidFill>
              </a:rPr>
              <a:t>    for(</a:t>
            </a:r>
            <a:r>
              <a:rPr lang="en-US" altLang="zh-CN" sz="2800" dirty="0" err="1">
                <a:solidFill>
                  <a:schemeClr val="tx1"/>
                </a:solidFill>
              </a:rPr>
              <a:t>i</a:t>
            </a:r>
            <a:r>
              <a:rPr lang="en-US" altLang="zh-CN" sz="2800" dirty="0">
                <a:solidFill>
                  <a:schemeClr val="tx1"/>
                </a:solidFill>
              </a:rPr>
              <a:t> = 1, p = s = 0; </a:t>
            </a:r>
            <a:r>
              <a:rPr lang="en-US" altLang="zh-CN" sz="2800" dirty="0" err="1">
                <a:solidFill>
                  <a:schemeClr val="tx1"/>
                </a:solidFill>
              </a:rPr>
              <a:t>i</a:t>
            </a:r>
            <a:r>
              <a:rPr lang="en-US" altLang="zh-CN" sz="2800" dirty="0">
                <a:solidFill>
                  <a:schemeClr val="tx1"/>
                </a:solidFill>
              </a:rPr>
              <a:t> &lt;= n; </a:t>
            </a:r>
            <a:r>
              <a:rPr lang="en-US" altLang="zh-CN" sz="2800" dirty="0" err="1">
                <a:solidFill>
                  <a:schemeClr val="tx1"/>
                </a:solidFill>
              </a:rPr>
              <a:t>i</a:t>
            </a:r>
            <a:r>
              <a:rPr lang="en-US" altLang="zh-CN" sz="2800" dirty="0">
                <a:solidFill>
                  <a:schemeClr val="tx1"/>
                </a:solidFill>
              </a:rPr>
              <a:t>++) </a:t>
            </a:r>
            <a:br>
              <a:rPr lang="en-US" altLang="zh-CN" sz="2800" dirty="0">
                <a:solidFill>
                  <a:schemeClr val="tx1"/>
                </a:solidFill>
              </a:rPr>
            </a:br>
            <a:r>
              <a:rPr lang="en-US" altLang="zh-CN" sz="2800" dirty="0">
                <a:solidFill>
                  <a:schemeClr val="tx1"/>
                </a:solidFill>
              </a:rPr>
              <a:t>       </a:t>
            </a:r>
            <a:r>
              <a:rPr lang="en-US" altLang="zh-CN" sz="2800" dirty="0">
                <a:solidFill>
                  <a:srgbClr val="FF0000"/>
                </a:solidFill>
              </a:rPr>
              <a:t>s += p += </a:t>
            </a:r>
            <a:r>
              <a:rPr lang="en-US" altLang="zh-CN" sz="2800" dirty="0" err="1">
                <a:solidFill>
                  <a:srgbClr val="FF0000"/>
                </a:solidFill>
              </a:rPr>
              <a:t>i</a:t>
            </a:r>
            <a:r>
              <a:rPr lang="en-US" altLang="zh-CN" sz="2800" dirty="0">
                <a:solidFill>
                  <a:srgbClr val="FF0000"/>
                </a:solidFill>
              </a:rPr>
              <a:t>; </a:t>
            </a:r>
            <a:br>
              <a:rPr lang="en-US" altLang="zh-CN" sz="2800" dirty="0">
                <a:solidFill>
                  <a:srgbClr val="FF0000"/>
                </a:solidFill>
              </a:rPr>
            </a:br>
            <a:r>
              <a:rPr lang="en-US" altLang="zh-CN" sz="2800" dirty="0">
                <a:solidFill>
                  <a:schemeClr val="tx1"/>
                </a:solidFill>
              </a:rPr>
              <a:t>   </a:t>
            </a:r>
            <a:r>
              <a:rPr lang="en-US" altLang="zh-CN" sz="2800" dirty="0" err="1">
                <a:solidFill>
                  <a:schemeClr val="tx1"/>
                </a:solidFill>
              </a:rPr>
              <a:t>printf</a:t>
            </a:r>
            <a:r>
              <a:rPr lang="en-US" altLang="zh-CN" sz="2800" dirty="0">
                <a:solidFill>
                  <a:schemeClr val="tx1"/>
                </a:solidFill>
              </a:rPr>
              <a:t>("S = %d\n", s);</a:t>
            </a:r>
            <a:br>
              <a:rPr lang="en-US" altLang="zh-CN" sz="2800" dirty="0">
                <a:solidFill>
                  <a:schemeClr val="tx1"/>
                </a:solidFill>
              </a:rPr>
            </a:br>
            <a:r>
              <a:rPr lang="en-US" altLang="zh-CN" sz="2800" dirty="0">
                <a:solidFill>
                  <a:schemeClr val="tx1"/>
                </a:solidFill>
              </a:rPr>
              <a:t>} </a:t>
            </a:r>
          </a:p>
        </p:txBody>
      </p:sp>
      <p:sp>
        <p:nvSpPr>
          <p:cNvPr id="84995" name="灯片编号占位符 5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93D2321C-7BB3-4696-A866-C8E9E1872F65}" type="slidenum">
              <a:rPr lang="en-US" altLang="zh-CN" smtClean="0">
                <a:solidFill>
                  <a:schemeClr val="tx1"/>
                </a:solidFill>
                <a:ea typeface="宋体" pitchFamily="2" charset="-122"/>
              </a:rPr>
              <a:pPr/>
              <a:t>27</a:t>
            </a:fld>
            <a:endParaRPr lang="en-US" altLang="zh-CN">
              <a:solidFill>
                <a:schemeClr val="tx1"/>
              </a:solidFill>
              <a:ea typeface="宋体" pitchFamily="2" charset="-122"/>
            </a:endParaRPr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title"/>
          </p:nvPr>
        </p:nvSpPr>
        <p:spPr>
          <a:xfrm>
            <a:off x="250825" y="260350"/>
            <a:ext cx="8686800" cy="1079500"/>
          </a:xfrm>
        </p:spPr>
        <p:txBody>
          <a:bodyPr/>
          <a:lstStyle/>
          <a:p>
            <a:pPr marL="1887538" indent="-1887538" eaLnBrk="1" hangingPunct="1"/>
            <a:r>
              <a:rPr lang="en-US" altLang="zh-CN" sz="300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【</a:t>
            </a:r>
            <a:r>
              <a:rPr lang="zh-CN" altLang="en-US" sz="300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例</a:t>
            </a:r>
            <a:r>
              <a:rPr lang="en-US" altLang="zh-CN" sz="300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3.26】</a:t>
            </a:r>
            <a:r>
              <a:rPr lang="zh-CN" altLang="en-US" sz="300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找出所有各位数字的立方和等于</a:t>
            </a:r>
            <a:r>
              <a:rPr lang="en-US" altLang="zh-CN" sz="300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1099</a:t>
            </a:r>
            <a:r>
              <a:rPr lang="zh-CN" altLang="en-US" sz="300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的三位整数</a:t>
            </a:r>
          </a:p>
        </p:txBody>
      </p:sp>
      <p:sp>
        <p:nvSpPr>
          <p:cNvPr id="86019" name="Rectangle 3"/>
          <p:cNvSpPr>
            <a:spLocks noGrp="1" noChangeArrowheads="1"/>
          </p:cNvSpPr>
          <p:nvPr>
            <p:ph idx="1"/>
          </p:nvPr>
        </p:nvSpPr>
        <p:spPr>
          <a:xfrm>
            <a:off x="323850" y="1341438"/>
            <a:ext cx="8496300" cy="5184775"/>
          </a:xfrm>
        </p:spPr>
        <p:txBody>
          <a:bodyPr/>
          <a:lstStyle/>
          <a:p>
            <a:pPr marL="514350" indent="-514350" eaLnBrk="1" hangingPunct="1">
              <a:buFont typeface="Wingdings" pitchFamily="2" charset="2"/>
              <a:buAutoNum type="arabicPeriod"/>
            </a:pPr>
            <a:r>
              <a:rPr lang="zh-CN" altLang="en-US" b="1" dirty="0"/>
              <a:t>三重循环</a:t>
            </a:r>
            <a:endParaRPr lang="en-US" altLang="zh-CN" b="1" dirty="0"/>
          </a:p>
          <a:p>
            <a:pPr marL="0" indent="0" eaLnBrk="1" hangingPunct="1">
              <a:buNone/>
            </a:pPr>
            <a:r>
              <a:rPr lang="en-US" altLang="zh-CN" b="1" dirty="0"/>
              <a:t>     for(a=1;a&lt;=9;a++)</a:t>
            </a:r>
          </a:p>
          <a:p>
            <a:pPr marL="0" indent="0">
              <a:buNone/>
            </a:pPr>
            <a:r>
              <a:rPr lang="en-US" altLang="zh-CN" b="1" dirty="0"/>
              <a:t>        for(b=0;b&lt;=9;b++)</a:t>
            </a:r>
          </a:p>
          <a:p>
            <a:pPr marL="0" indent="0">
              <a:buNone/>
            </a:pPr>
            <a:r>
              <a:rPr lang="en-US" altLang="zh-CN" b="1" dirty="0"/>
              <a:t>           for(c=0;c&lt;=9;c++)</a:t>
            </a:r>
          </a:p>
          <a:p>
            <a:pPr marL="0" indent="0">
              <a:buNone/>
            </a:pPr>
            <a:r>
              <a:rPr lang="en-US" altLang="zh-CN" b="1" dirty="0"/>
              <a:t>               {</a:t>
            </a:r>
          </a:p>
          <a:p>
            <a:pPr marL="0" indent="0">
              <a:buNone/>
            </a:pPr>
            <a:r>
              <a:rPr lang="en-US" altLang="zh-CN" b="1" dirty="0"/>
              <a:t>               ……              </a:t>
            </a:r>
          </a:p>
          <a:p>
            <a:pPr marL="0" indent="0">
              <a:buNone/>
            </a:pPr>
            <a:r>
              <a:rPr lang="en-US" altLang="zh-CN" b="1" dirty="0"/>
              <a:t>                }</a:t>
            </a:r>
          </a:p>
          <a:p>
            <a:pPr marL="0" indent="0" eaLnBrk="1" hangingPunct="1">
              <a:buNone/>
            </a:pPr>
            <a:endParaRPr lang="en-US" altLang="zh-CN" b="1" dirty="0"/>
          </a:p>
          <a:p>
            <a:pPr marL="0" indent="0" eaLnBrk="1" hangingPunct="1">
              <a:buNone/>
            </a:pPr>
            <a:endParaRPr lang="en-US" altLang="zh-CN" b="1" dirty="0"/>
          </a:p>
          <a:p>
            <a:pPr marL="0" indent="0" eaLnBrk="1" hangingPunct="1">
              <a:buNone/>
            </a:pPr>
            <a:endParaRPr lang="zh-CN" altLang="en-US" b="1" dirty="0"/>
          </a:p>
        </p:txBody>
      </p:sp>
      <p:sp>
        <p:nvSpPr>
          <p:cNvPr id="8294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8DCEEBA-DCDB-43CF-8A58-78E060A1D64E}" type="slidenum">
              <a:rPr lang="en-US" altLang="zh-CN"/>
              <a:pPr>
                <a:defRPr/>
              </a:pPr>
              <a:t>28</a:t>
            </a:fld>
            <a:endParaRPr lang="en-US" altLang="zh-CN"/>
          </a:p>
        </p:txBody>
      </p:sp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title"/>
          </p:nvPr>
        </p:nvSpPr>
        <p:spPr>
          <a:xfrm>
            <a:off x="250825" y="260350"/>
            <a:ext cx="8686800" cy="1079500"/>
          </a:xfrm>
        </p:spPr>
        <p:txBody>
          <a:bodyPr/>
          <a:lstStyle/>
          <a:p>
            <a:pPr marL="1887538" indent="-1887538" eaLnBrk="1" hangingPunct="1"/>
            <a:r>
              <a:rPr lang="en-US" altLang="zh-CN" sz="300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【</a:t>
            </a:r>
            <a:r>
              <a:rPr lang="zh-CN" altLang="en-US" sz="300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例</a:t>
            </a:r>
            <a:r>
              <a:rPr lang="en-US" altLang="zh-CN" sz="300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3.26】</a:t>
            </a:r>
            <a:r>
              <a:rPr lang="zh-CN" altLang="en-US" sz="300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找出所有各位数字的立方和等于</a:t>
            </a:r>
            <a:r>
              <a:rPr lang="en-US" altLang="zh-CN" sz="300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1099</a:t>
            </a:r>
            <a:r>
              <a:rPr lang="zh-CN" altLang="en-US" sz="300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的三位整数</a:t>
            </a:r>
          </a:p>
        </p:txBody>
      </p:sp>
      <p:sp>
        <p:nvSpPr>
          <p:cNvPr id="86019" name="Rectangle 3"/>
          <p:cNvSpPr>
            <a:spLocks noGrp="1" noChangeArrowheads="1"/>
          </p:cNvSpPr>
          <p:nvPr>
            <p:ph idx="1"/>
          </p:nvPr>
        </p:nvSpPr>
        <p:spPr>
          <a:xfrm>
            <a:off x="323850" y="1341438"/>
            <a:ext cx="8496300" cy="5184775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altLang="zh-CN" b="1" dirty="0"/>
              <a:t>2. </a:t>
            </a:r>
            <a:r>
              <a:rPr lang="zh-CN" altLang="en-US" b="1" dirty="0"/>
              <a:t>数的拆分</a:t>
            </a:r>
            <a:endParaRPr lang="en-US" altLang="zh-CN" b="1" dirty="0"/>
          </a:p>
          <a:p>
            <a:pPr marL="0" indent="0" eaLnBrk="1" hangingPunct="1">
              <a:buNone/>
            </a:pPr>
            <a:r>
              <a:rPr lang="en-US" altLang="zh-CN" b="1" dirty="0"/>
              <a:t>     for(</a:t>
            </a:r>
            <a:r>
              <a:rPr lang="en-US" altLang="zh-CN" b="1" dirty="0" err="1"/>
              <a:t>i</a:t>
            </a:r>
            <a:r>
              <a:rPr lang="en-US" altLang="zh-CN" b="1" dirty="0"/>
              <a:t>=100;i&lt;=999;i++)</a:t>
            </a:r>
          </a:p>
          <a:p>
            <a:pPr marL="0" indent="0" eaLnBrk="1" hangingPunct="1">
              <a:buNone/>
            </a:pPr>
            <a:r>
              <a:rPr lang="en-US" altLang="zh-CN" b="1" dirty="0"/>
              <a:t>     {</a:t>
            </a:r>
          </a:p>
          <a:p>
            <a:pPr marL="0" indent="0" eaLnBrk="1" hangingPunct="1">
              <a:buNone/>
            </a:pPr>
            <a:r>
              <a:rPr lang="en-US" altLang="zh-CN" b="1" dirty="0"/>
              <a:t>        a=</a:t>
            </a:r>
            <a:r>
              <a:rPr lang="en-US" altLang="zh-CN" b="1" dirty="0" err="1"/>
              <a:t>i</a:t>
            </a:r>
            <a:r>
              <a:rPr lang="en-US" altLang="zh-CN" b="1" dirty="0"/>
              <a:t>/100;</a:t>
            </a:r>
          </a:p>
          <a:p>
            <a:pPr marL="0" indent="0" eaLnBrk="1" hangingPunct="1">
              <a:buNone/>
            </a:pPr>
            <a:r>
              <a:rPr lang="en-US" altLang="zh-CN" b="1" dirty="0"/>
              <a:t>        b=(i%100)/10;</a:t>
            </a:r>
          </a:p>
          <a:p>
            <a:pPr marL="0" indent="0" eaLnBrk="1" hangingPunct="1">
              <a:buNone/>
            </a:pPr>
            <a:r>
              <a:rPr lang="en-US" altLang="zh-CN" b="1" dirty="0"/>
              <a:t>        c=i%10;</a:t>
            </a:r>
          </a:p>
          <a:p>
            <a:pPr marL="0" indent="0" eaLnBrk="1" hangingPunct="1">
              <a:buNone/>
            </a:pPr>
            <a:r>
              <a:rPr lang="en-US" altLang="zh-CN" b="1" dirty="0"/>
              <a:t>        …….</a:t>
            </a:r>
          </a:p>
          <a:p>
            <a:pPr marL="0" indent="0" eaLnBrk="1" hangingPunct="1">
              <a:buNone/>
            </a:pPr>
            <a:r>
              <a:rPr lang="en-US" altLang="zh-CN" b="1" dirty="0"/>
              <a:t>      }</a:t>
            </a:r>
          </a:p>
          <a:p>
            <a:pPr marL="0" indent="0" eaLnBrk="1" hangingPunct="1">
              <a:buNone/>
            </a:pPr>
            <a:endParaRPr lang="en-US" altLang="zh-CN" b="1" dirty="0"/>
          </a:p>
          <a:p>
            <a:pPr marL="0" indent="0" eaLnBrk="1" hangingPunct="1">
              <a:buNone/>
            </a:pPr>
            <a:endParaRPr lang="zh-CN" altLang="en-US" b="1" dirty="0"/>
          </a:p>
        </p:txBody>
      </p:sp>
      <p:sp>
        <p:nvSpPr>
          <p:cNvPr id="8294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8DCEEBA-DCDB-43CF-8A58-78E060A1D64E}" type="slidenum">
              <a:rPr lang="en-US" altLang="zh-CN"/>
              <a:pPr>
                <a:defRPr/>
              </a:pPr>
              <a:t>29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7219444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title"/>
          </p:nvPr>
        </p:nvSpPr>
        <p:spPr>
          <a:xfrm>
            <a:off x="250825" y="260350"/>
            <a:ext cx="8686800" cy="1079500"/>
          </a:xfrm>
        </p:spPr>
        <p:txBody>
          <a:bodyPr/>
          <a:lstStyle/>
          <a:p>
            <a:pPr marL="1887538" indent="-1887538" eaLnBrk="1" hangingPunct="1"/>
            <a:r>
              <a:rPr lang="en-US" altLang="zh-CN" sz="300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【</a:t>
            </a:r>
            <a:r>
              <a:rPr lang="zh-CN" altLang="en-US" sz="300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例</a:t>
            </a:r>
            <a:r>
              <a:rPr lang="en-US" altLang="zh-CN" sz="300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3.27】</a:t>
            </a:r>
            <a:r>
              <a:rPr lang="zh-CN" altLang="en-US" sz="300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输入一整数，输出小于等于该整数的全部质数</a:t>
            </a:r>
          </a:p>
        </p:txBody>
      </p:sp>
      <p:sp>
        <p:nvSpPr>
          <p:cNvPr id="86019" name="Rectangle 3"/>
          <p:cNvSpPr>
            <a:spLocks noGrp="1" noChangeArrowheads="1"/>
          </p:cNvSpPr>
          <p:nvPr>
            <p:ph idx="1"/>
          </p:nvPr>
        </p:nvSpPr>
        <p:spPr>
          <a:xfrm>
            <a:off x="323850" y="1341438"/>
            <a:ext cx="8496300" cy="5184775"/>
          </a:xfrm>
        </p:spPr>
        <p:txBody>
          <a:bodyPr/>
          <a:lstStyle/>
          <a:p>
            <a:pPr marL="0" indent="0" eaLnBrk="1" hangingPunct="1">
              <a:buFont typeface="Wingdings" pitchFamily="2" charset="2"/>
              <a:buNone/>
            </a:pPr>
            <a:r>
              <a:rPr lang="zh-CN" altLang="en-US" b="1" dirty="0"/>
              <a:t>设输入整数为</a:t>
            </a:r>
            <a:r>
              <a:rPr lang="en-US" altLang="zh-CN" b="1" dirty="0"/>
              <a:t>m</a:t>
            </a:r>
            <a:r>
              <a:rPr lang="zh-CN" altLang="en-US" b="1" dirty="0"/>
              <a:t>，程序首先输出质数</a:t>
            </a:r>
            <a:r>
              <a:rPr lang="en-US" altLang="zh-CN" b="1" dirty="0"/>
              <a:t>2</a:t>
            </a:r>
            <a:r>
              <a:rPr lang="zh-CN" altLang="en-US" b="1" dirty="0"/>
              <a:t>，之后对指定范围内的奇数</a:t>
            </a:r>
            <a:r>
              <a:rPr lang="en-US" altLang="zh-CN" b="1" dirty="0"/>
              <a:t>n(3&lt;=n&lt;=m)</a:t>
            </a:r>
            <a:r>
              <a:rPr lang="zh-CN" altLang="en-US" b="1" dirty="0"/>
              <a:t>判其是否是质数，若</a:t>
            </a:r>
            <a:r>
              <a:rPr lang="en-US" altLang="zh-CN" b="1" dirty="0"/>
              <a:t>n</a:t>
            </a:r>
            <a:r>
              <a:rPr lang="zh-CN" altLang="en-US" b="1" dirty="0"/>
              <a:t>是质数，则将数</a:t>
            </a:r>
            <a:r>
              <a:rPr lang="en-US" altLang="zh-CN" b="1" dirty="0"/>
              <a:t>n</a:t>
            </a:r>
            <a:r>
              <a:rPr lang="zh-CN" altLang="en-US" b="1" dirty="0"/>
              <a:t>输出。</a:t>
            </a:r>
          </a:p>
          <a:p>
            <a:pPr marL="0" indent="0" eaLnBrk="1" hangingPunct="1">
              <a:buFont typeface="Wingdings" pitchFamily="2" charset="2"/>
              <a:buNone/>
            </a:pPr>
            <a:endParaRPr lang="en-US" altLang="zh-CN" b="1" dirty="0"/>
          </a:p>
          <a:p>
            <a:pPr marL="0" indent="0" eaLnBrk="1" hangingPunct="1">
              <a:buFont typeface="Wingdings" pitchFamily="2" charset="2"/>
              <a:buNone/>
            </a:pPr>
            <a:r>
              <a:rPr lang="zh-CN" altLang="en-US" b="1" dirty="0"/>
              <a:t>判断奇数</a:t>
            </a:r>
            <a:r>
              <a:rPr lang="en-US" altLang="zh-CN" b="1" dirty="0"/>
              <a:t>n(&gt;2)</a:t>
            </a:r>
            <a:r>
              <a:rPr lang="zh-CN" altLang="en-US" b="1" dirty="0"/>
              <a:t>是否是一个质数。让整数变量</a:t>
            </a:r>
            <a:r>
              <a:rPr lang="en-US" altLang="zh-CN" b="1" dirty="0"/>
              <a:t>k</a:t>
            </a:r>
            <a:r>
              <a:rPr lang="zh-CN" altLang="en-US" b="1" dirty="0"/>
              <a:t>自</a:t>
            </a:r>
            <a:r>
              <a:rPr lang="en-US" altLang="zh-CN" b="1" dirty="0"/>
              <a:t>3</a:t>
            </a:r>
            <a:r>
              <a:rPr lang="zh-CN" altLang="en-US" b="1" dirty="0"/>
              <a:t>开始，每次增</a:t>
            </a:r>
            <a:r>
              <a:rPr lang="en-US" altLang="zh-CN" b="1" dirty="0"/>
              <a:t>2</a:t>
            </a:r>
            <a:r>
              <a:rPr lang="zh-CN" altLang="en-US" b="1" dirty="0"/>
              <a:t>，直至</a:t>
            </a:r>
            <a:r>
              <a:rPr lang="en-US" altLang="zh-CN" b="1" dirty="0"/>
              <a:t>k</a:t>
            </a:r>
            <a:r>
              <a:rPr lang="zh-CN" altLang="en-US" b="1" dirty="0"/>
              <a:t>的平方超过</a:t>
            </a:r>
            <a:r>
              <a:rPr lang="en-US" altLang="zh-CN" b="1" dirty="0"/>
              <a:t>n</a:t>
            </a:r>
            <a:r>
              <a:rPr lang="zh-CN" altLang="en-US" b="1" dirty="0"/>
              <a:t>为止。如果其中某个</a:t>
            </a:r>
            <a:r>
              <a:rPr lang="en-US" altLang="zh-CN" b="1" dirty="0"/>
              <a:t>k</a:t>
            </a:r>
            <a:r>
              <a:rPr lang="zh-CN" altLang="en-US" b="1" dirty="0"/>
              <a:t>能整除</a:t>
            </a:r>
            <a:r>
              <a:rPr lang="en-US" altLang="zh-CN" b="1" dirty="0"/>
              <a:t>n</a:t>
            </a:r>
            <a:r>
              <a:rPr lang="zh-CN" altLang="en-US" b="1" dirty="0"/>
              <a:t>，则</a:t>
            </a:r>
            <a:r>
              <a:rPr lang="en-US" altLang="zh-CN" b="1" dirty="0"/>
              <a:t>n</a:t>
            </a:r>
            <a:r>
              <a:rPr lang="zh-CN" altLang="en-US" b="1" dirty="0"/>
              <a:t>不是质数，结束测试循环。如果所有这样的</a:t>
            </a:r>
            <a:r>
              <a:rPr lang="en-US" altLang="zh-CN" b="1" dirty="0"/>
              <a:t>k</a:t>
            </a:r>
            <a:r>
              <a:rPr lang="zh-CN" altLang="en-US" b="1" dirty="0"/>
              <a:t>都不能整除</a:t>
            </a:r>
            <a:r>
              <a:rPr lang="en-US" altLang="zh-CN" b="1" dirty="0"/>
              <a:t>n</a:t>
            </a:r>
            <a:r>
              <a:rPr lang="zh-CN" altLang="en-US" b="1" dirty="0"/>
              <a:t>，因</a:t>
            </a:r>
            <a:r>
              <a:rPr lang="en-US" altLang="zh-CN" b="1" dirty="0"/>
              <a:t>k*k</a:t>
            </a:r>
            <a:r>
              <a:rPr lang="zh-CN" altLang="en-US" b="1" dirty="0"/>
              <a:t>大于</a:t>
            </a:r>
            <a:r>
              <a:rPr lang="en-US" altLang="zh-CN" b="1" dirty="0"/>
              <a:t>n</a:t>
            </a:r>
            <a:r>
              <a:rPr lang="zh-CN" altLang="en-US" b="1" dirty="0"/>
              <a:t>结束测试循环，</a:t>
            </a:r>
            <a:r>
              <a:rPr lang="en-US" altLang="zh-CN" b="1" dirty="0"/>
              <a:t>n</a:t>
            </a:r>
            <a:r>
              <a:rPr lang="zh-CN" altLang="en-US" b="1" dirty="0"/>
              <a:t>是质数。</a:t>
            </a:r>
            <a:r>
              <a:rPr lang="zh-CN" altLang="en-US" dirty="0"/>
              <a:t> </a:t>
            </a:r>
          </a:p>
        </p:txBody>
      </p:sp>
      <p:sp>
        <p:nvSpPr>
          <p:cNvPr id="8294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8DCEEBA-DCDB-43CF-8A58-78E060A1D64E}" type="slidenum">
              <a:rPr lang="en-US" altLang="zh-CN"/>
              <a:pPr>
                <a:defRPr/>
              </a:pPr>
              <a:t>30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73158786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1" name="Rectangle 3"/>
          <p:cNvSpPr>
            <a:spLocks noGrp="1" noChangeArrowheads="1"/>
          </p:cNvSpPr>
          <p:nvPr>
            <p:ph idx="1"/>
          </p:nvPr>
        </p:nvSpPr>
        <p:spPr>
          <a:xfrm>
            <a:off x="323850" y="404813"/>
            <a:ext cx="8496300" cy="6121400"/>
          </a:xfrm>
        </p:spPr>
        <p:txBody>
          <a:bodyPr>
            <a:normAutofit lnSpcReduction="10000"/>
          </a:bodyPr>
          <a:lstStyle/>
          <a:p>
            <a:pPr marL="0" indent="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400" b="1" dirty="0"/>
              <a:t>#include  &lt;</a:t>
            </a:r>
            <a:r>
              <a:rPr lang="en-US" altLang="zh-CN" sz="2400" b="1" dirty="0" err="1"/>
              <a:t>stdio.h</a:t>
            </a:r>
            <a:r>
              <a:rPr lang="en-US" altLang="zh-CN" sz="2400" b="1" dirty="0"/>
              <a:t>&gt;</a:t>
            </a:r>
          </a:p>
          <a:p>
            <a:pPr marL="0" indent="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400" b="1" dirty="0"/>
              <a:t>void main()</a:t>
            </a:r>
          </a:p>
          <a:p>
            <a:pPr marL="0" indent="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400" b="1" dirty="0"/>
              <a:t>{  long m, n, k;</a:t>
            </a:r>
          </a:p>
          <a:p>
            <a:pPr marL="0" indent="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400" b="1" dirty="0"/>
              <a:t>    </a:t>
            </a:r>
            <a:r>
              <a:rPr lang="en-US" altLang="zh-CN" sz="2400" b="1" dirty="0" err="1"/>
              <a:t>int</a:t>
            </a:r>
            <a:r>
              <a:rPr lang="en-US" altLang="zh-CN" sz="2400" b="1" dirty="0"/>
              <a:t> j; /* j</a:t>
            </a:r>
            <a:r>
              <a:rPr lang="zh-CN" altLang="en-US" sz="2400" b="1" dirty="0"/>
              <a:t>用于控制每行输出</a:t>
            </a:r>
            <a:r>
              <a:rPr lang="en-US" altLang="zh-CN" sz="2400" b="1" dirty="0"/>
              <a:t>10</a:t>
            </a:r>
            <a:r>
              <a:rPr lang="zh-CN" altLang="en-US" sz="2400" b="1" dirty="0"/>
              <a:t>个质数*</a:t>
            </a:r>
            <a:r>
              <a:rPr lang="en-US" altLang="zh-CN" sz="2400" b="1" dirty="0"/>
              <a:t>/</a:t>
            </a:r>
          </a:p>
          <a:p>
            <a:pPr marL="0" indent="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400" b="1" dirty="0"/>
              <a:t>    </a:t>
            </a:r>
            <a:r>
              <a:rPr lang="en-US" altLang="zh-CN" sz="2400" b="1" dirty="0" err="1"/>
              <a:t>printf</a:t>
            </a:r>
            <a:r>
              <a:rPr lang="en-US" altLang="zh-CN" sz="2400" b="1" dirty="0"/>
              <a:t>(</a:t>
            </a:r>
            <a:r>
              <a:rPr lang="en-US" altLang="zh-CN" sz="2400" b="1" dirty="0">
                <a:latin typeface="Arial" charset="0"/>
              </a:rPr>
              <a:t>”</a:t>
            </a:r>
            <a:r>
              <a:rPr lang="zh-CN" altLang="en-US" sz="2400" b="1" dirty="0"/>
              <a:t>输入整数</a:t>
            </a:r>
            <a:r>
              <a:rPr lang="en-US" altLang="zh-CN" sz="2400" b="1" dirty="0"/>
              <a:t>(&gt;2)\n</a:t>
            </a:r>
            <a:r>
              <a:rPr lang="en-US" altLang="zh-CN" sz="2400" b="1" dirty="0">
                <a:latin typeface="Arial" charset="0"/>
              </a:rPr>
              <a:t>”</a:t>
            </a:r>
            <a:r>
              <a:rPr lang="en-US" altLang="zh-CN" sz="2400" b="1" dirty="0"/>
              <a:t>);   </a:t>
            </a:r>
            <a:r>
              <a:rPr lang="en-US" altLang="zh-CN" sz="2400" b="1" dirty="0" err="1"/>
              <a:t>scanf</a:t>
            </a:r>
            <a:r>
              <a:rPr lang="en-US" altLang="zh-CN" sz="2400" b="1" dirty="0"/>
              <a:t>(</a:t>
            </a:r>
            <a:r>
              <a:rPr lang="en-US" altLang="zh-CN" sz="2400" b="1" dirty="0">
                <a:latin typeface="Arial" charset="0"/>
              </a:rPr>
              <a:t>”</a:t>
            </a:r>
            <a:r>
              <a:rPr lang="en-US" altLang="zh-CN" sz="2400" b="1" dirty="0"/>
              <a:t>%ld</a:t>
            </a:r>
            <a:r>
              <a:rPr lang="en-US" altLang="zh-CN" sz="2400" b="1" dirty="0">
                <a:latin typeface="Arial" charset="0"/>
              </a:rPr>
              <a:t>”</a:t>
            </a:r>
            <a:r>
              <a:rPr lang="en-US" altLang="zh-CN" sz="2400" b="1" dirty="0"/>
              <a:t>, &amp;m);</a:t>
            </a:r>
          </a:p>
          <a:p>
            <a:pPr marL="0" indent="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400" b="1" dirty="0"/>
              <a:t>    </a:t>
            </a:r>
            <a:r>
              <a:rPr lang="en-US" altLang="zh-CN" sz="2400" b="1" dirty="0" err="1"/>
              <a:t>printf</a:t>
            </a:r>
            <a:r>
              <a:rPr lang="en-US" altLang="zh-CN" sz="2400" b="1" dirty="0"/>
              <a:t>(</a:t>
            </a:r>
            <a:r>
              <a:rPr lang="en-US" altLang="zh-CN" sz="2400" b="1" dirty="0">
                <a:latin typeface="Arial" charset="0"/>
              </a:rPr>
              <a:t>”</a:t>
            </a:r>
            <a:r>
              <a:rPr lang="en-US" altLang="zh-CN" sz="2400" b="1" dirty="0"/>
              <a:t>%6d</a:t>
            </a:r>
            <a:r>
              <a:rPr lang="en-US" altLang="zh-CN" sz="2400" b="1" dirty="0">
                <a:latin typeface="Arial" charset="0"/>
              </a:rPr>
              <a:t>”</a:t>
            </a:r>
            <a:r>
              <a:rPr lang="en-US" altLang="zh-CN" sz="2400" b="1" dirty="0"/>
              <a:t>, 2);  j = 1;</a:t>
            </a:r>
          </a:p>
          <a:p>
            <a:pPr marL="0" indent="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400" b="1" dirty="0"/>
              <a:t>    for(n = 3L; n &lt;= m; n += 2) {</a:t>
            </a:r>
          </a:p>
          <a:p>
            <a:pPr marL="0" indent="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400" b="1" dirty="0"/>
              <a:t>       for(k = 3L; k*k &lt;= n; k += 2L)</a:t>
            </a:r>
          </a:p>
          <a:p>
            <a:pPr marL="0" indent="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400" b="1" dirty="0"/>
              <a:t>          if (n % k == 0) </a:t>
            </a:r>
          </a:p>
          <a:p>
            <a:pPr marL="0" indent="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400" b="1" dirty="0"/>
              <a:t>              break;//</a:t>
            </a:r>
            <a:r>
              <a:rPr lang="zh-CN" altLang="en-US" sz="2400" b="1" dirty="0"/>
              <a:t>测试</a:t>
            </a:r>
            <a:r>
              <a:rPr lang="en-US" altLang="zh-CN" sz="2400" b="1" dirty="0"/>
              <a:t>k</a:t>
            </a:r>
            <a:r>
              <a:rPr lang="zh-CN" altLang="en-US" sz="2400" b="1" dirty="0"/>
              <a:t>对</a:t>
            </a:r>
            <a:r>
              <a:rPr lang="en-US" altLang="zh-CN" sz="2400" b="1" dirty="0"/>
              <a:t>n</a:t>
            </a:r>
            <a:r>
              <a:rPr lang="zh-CN" altLang="en-US" sz="2400" b="1" dirty="0"/>
              <a:t>的整除性，若能整除结束测试</a:t>
            </a:r>
          </a:p>
          <a:p>
            <a:pPr marL="0" indent="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zh-CN" altLang="en-US" sz="2400" b="1" dirty="0"/>
              <a:t>       </a:t>
            </a:r>
            <a:r>
              <a:rPr lang="en-US" altLang="zh-CN" sz="2400" b="1" dirty="0"/>
              <a:t>if(k*k &gt; n){//</a:t>
            </a:r>
            <a:r>
              <a:rPr lang="zh-CN" altLang="en-US" sz="2400" b="1" dirty="0"/>
              <a:t>所有的</a:t>
            </a:r>
            <a:r>
              <a:rPr lang="en-US" altLang="zh-CN" sz="2400" b="1" dirty="0"/>
              <a:t>k</a:t>
            </a:r>
            <a:r>
              <a:rPr lang="zh-CN" altLang="en-US" sz="2400" b="1" dirty="0"/>
              <a:t>都不能整除</a:t>
            </a:r>
            <a:r>
              <a:rPr lang="en-US" altLang="zh-CN" sz="2400" b="1" dirty="0"/>
              <a:t>n</a:t>
            </a:r>
            <a:r>
              <a:rPr lang="zh-CN" altLang="en-US" sz="2400" b="1" dirty="0"/>
              <a:t>，则</a:t>
            </a:r>
            <a:r>
              <a:rPr lang="en-US" altLang="zh-CN" sz="2400" b="1" dirty="0"/>
              <a:t>n</a:t>
            </a:r>
            <a:r>
              <a:rPr lang="zh-CN" altLang="en-US" sz="2400" b="1" dirty="0"/>
              <a:t>是质数</a:t>
            </a:r>
          </a:p>
          <a:p>
            <a:pPr marL="0" indent="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zh-CN" altLang="en-US" sz="2400" b="1" dirty="0"/>
              <a:t>          </a:t>
            </a:r>
            <a:r>
              <a:rPr lang="en-US" altLang="zh-CN" sz="2400" b="1" dirty="0"/>
              <a:t>if (j++ % 10 == 0) </a:t>
            </a:r>
            <a:r>
              <a:rPr lang="en-US" altLang="zh-CN" sz="2400" b="1" dirty="0" err="1"/>
              <a:t>printf</a:t>
            </a:r>
            <a:r>
              <a:rPr lang="en-US" altLang="zh-CN" sz="2400" b="1" dirty="0"/>
              <a:t>(</a:t>
            </a:r>
            <a:r>
              <a:rPr lang="en-US" altLang="zh-CN" sz="2400" b="1" dirty="0">
                <a:latin typeface="Arial" charset="0"/>
              </a:rPr>
              <a:t>”</a:t>
            </a:r>
            <a:r>
              <a:rPr lang="en-US" altLang="zh-CN" sz="2400" b="1" dirty="0"/>
              <a:t>\n</a:t>
            </a:r>
            <a:r>
              <a:rPr lang="en-US" altLang="zh-CN" sz="2400" b="1" dirty="0">
                <a:latin typeface="Arial" charset="0"/>
              </a:rPr>
              <a:t>”</a:t>
            </a:r>
            <a:r>
              <a:rPr lang="en-US" altLang="zh-CN" sz="2400" b="1" dirty="0"/>
              <a:t>);</a:t>
            </a:r>
          </a:p>
          <a:p>
            <a:pPr marL="0" indent="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400" b="1" dirty="0"/>
              <a:t>          </a:t>
            </a:r>
            <a:r>
              <a:rPr lang="en-US" altLang="zh-CN" sz="2400" b="1" dirty="0" err="1"/>
              <a:t>printf</a:t>
            </a:r>
            <a:r>
              <a:rPr lang="en-US" altLang="zh-CN" sz="2400" b="1" dirty="0"/>
              <a:t>(</a:t>
            </a:r>
            <a:r>
              <a:rPr lang="en-US" altLang="zh-CN" sz="2400" b="1" dirty="0">
                <a:latin typeface="Arial" charset="0"/>
              </a:rPr>
              <a:t>”</a:t>
            </a:r>
            <a:r>
              <a:rPr lang="en-US" altLang="zh-CN" sz="2400" b="1" dirty="0"/>
              <a:t>%6ld</a:t>
            </a:r>
            <a:r>
              <a:rPr lang="en-US" altLang="zh-CN" sz="2400" b="1" dirty="0">
                <a:latin typeface="Arial" charset="0"/>
              </a:rPr>
              <a:t>”</a:t>
            </a:r>
            <a:r>
              <a:rPr lang="en-US" altLang="zh-CN" sz="2400" b="1" dirty="0"/>
              <a:t>, n);</a:t>
            </a:r>
          </a:p>
          <a:p>
            <a:pPr marL="0" indent="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400" b="1" dirty="0"/>
              <a:t>       }</a:t>
            </a:r>
          </a:p>
          <a:p>
            <a:pPr marL="0" indent="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400" b="1" dirty="0"/>
              <a:t>   }</a:t>
            </a:r>
          </a:p>
          <a:p>
            <a:pPr marL="0" indent="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400" b="1" dirty="0"/>
              <a:t>   </a:t>
            </a:r>
            <a:r>
              <a:rPr lang="en-US" altLang="zh-CN" sz="2400" b="1" dirty="0" err="1"/>
              <a:t>printf</a:t>
            </a:r>
            <a:r>
              <a:rPr lang="en-US" altLang="zh-CN" sz="2400" b="1" dirty="0"/>
              <a:t>(</a:t>
            </a:r>
            <a:r>
              <a:rPr lang="en-US" altLang="zh-CN" sz="2400" b="1" dirty="0">
                <a:latin typeface="Arial" charset="0"/>
              </a:rPr>
              <a:t>”</a:t>
            </a:r>
            <a:r>
              <a:rPr lang="en-US" altLang="zh-CN" sz="2400" b="1" dirty="0"/>
              <a:t>\n</a:t>
            </a:r>
            <a:r>
              <a:rPr lang="en-US" altLang="zh-CN" sz="2400" b="1" dirty="0">
                <a:latin typeface="Arial" charset="0"/>
              </a:rPr>
              <a:t>”</a:t>
            </a:r>
            <a:r>
              <a:rPr lang="en-US" altLang="zh-CN" sz="2400" b="1" dirty="0"/>
              <a:t>);</a:t>
            </a:r>
          </a:p>
          <a:p>
            <a:pPr marL="0" indent="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400" b="1" dirty="0"/>
              <a:t>}</a:t>
            </a:r>
          </a:p>
        </p:txBody>
      </p:sp>
      <p:sp>
        <p:nvSpPr>
          <p:cNvPr id="8397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284109C-619E-4D24-BCFF-3A161F235CD1}" type="slidenum">
              <a:rPr lang="en-US" altLang="zh-CN"/>
              <a:pPr>
                <a:defRPr/>
              </a:pPr>
              <a:t>31</a:t>
            </a:fld>
            <a:endParaRPr lang="en-US" altLang="zh-CN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39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39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397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397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39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39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39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39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39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39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397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397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397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397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8397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8397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397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397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idx="1"/>
          </p:nvPr>
        </p:nvSpPr>
        <p:spPr>
          <a:xfrm>
            <a:off x="323850" y="404813"/>
            <a:ext cx="8496300" cy="6121400"/>
          </a:xfrm>
        </p:spPr>
        <p:txBody>
          <a:bodyPr/>
          <a:lstStyle/>
          <a:p>
            <a:pPr marL="0" indent="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800" b="1" dirty="0"/>
              <a:t>【</a:t>
            </a:r>
            <a:r>
              <a:rPr lang="zh-CN" altLang="en-US" sz="2800" b="1" dirty="0"/>
              <a:t>例</a:t>
            </a:r>
            <a:r>
              <a:rPr lang="en-US" altLang="zh-CN" sz="2800" b="1" dirty="0"/>
              <a:t>3.28】</a:t>
            </a:r>
            <a:r>
              <a:rPr lang="zh-CN" altLang="en-US" sz="2800" b="1" dirty="0"/>
              <a:t>求</a:t>
            </a:r>
            <a:r>
              <a:rPr lang="en-US" altLang="zh-CN" sz="2800" b="1" dirty="0"/>
              <a:t>Fibonacci</a:t>
            </a:r>
            <a:r>
              <a:rPr lang="zh-CN" altLang="en-US" sz="2800" b="1" dirty="0"/>
              <a:t>数列的前</a:t>
            </a:r>
            <a:r>
              <a:rPr lang="en-US" altLang="zh-CN" sz="2800" b="1" dirty="0"/>
              <a:t>40</a:t>
            </a:r>
            <a:r>
              <a:rPr lang="zh-CN" altLang="en-US" sz="2800" b="1" dirty="0"/>
              <a:t>个数。</a:t>
            </a:r>
            <a:r>
              <a:rPr lang="en-US" altLang="zh-CN" sz="2800" b="1" dirty="0"/>
              <a:t>Fibonacci</a:t>
            </a:r>
            <a:r>
              <a:rPr lang="zh-CN" altLang="en-US" sz="2800" b="1" dirty="0"/>
              <a:t>数列的前</a:t>
            </a:r>
            <a:r>
              <a:rPr lang="en-US" altLang="zh-CN" sz="2800" b="1" dirty="0"/>
              <a:t>7</a:t>
            </a:r>
            <a:r>
              <a:rPr lang="zh-CN" altLang="en-US" sz="2800" b="1" dirty="0"/>
              <a:t>个数是：</a:t>
            </a:r>
          </a:p>
          <a:p>
            <a:pPr marL="0" indent="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 sz="2800" b="1" dirty="0"/>
              <a:t>      </a:t>
            </a:r>
            <a:r>
              <a:rPr lang="en-US" altLang="zh-CN" sz="2800" b="1" dirty="0"/>
              <a:t>0</a:t>
            </a:r>
            <a:r>
              <a:rPr lang="zh-CN" altLang="en-US" sz="2800" b="1" dirty="0"/>
              <a:t>，</a:t>
            </a:r>
            <a:r>
              <a:rPr lang="en-US" altLang="zh-CN" sz="2800" b="1" dirty="0"/>
              <a:t>1</a:t>
            </a:r>
            <a:r>
              <a:rPr lang="zh-CN" altLang="en-US" sz="2800" b="1" dirty="0"/>
              <a:t>，</a:t>
            </a:r>
            <a:r>
              <a:rPr lang="en-US" altLang="zh-CN" sz="2800" b="1" dirty="0"/>
              <a:t>1</a:t>
            </a:r>
            <a:r>
              <a:rPr lang="zh-CN" altLang="en-US" sz="2800" b="1" dirty="0"/>
              <a:t>，</a:t>
            </a:r>
            <a:r>
              <a:rPr lang="en-US" altLang="zh-CN" sz="2800" b="1" dirty="0"/>
              <a:t>2</a:t>
            </a:r>
            <a:r>
              <a:rPr lang="zh-CN" altLang="en-US" sz="2800" b="1" dirty="0"/>
              <a:t>，</a:t>
            </a:r>
            <a:r>
              <a:rPr lang="en-US" altLang="zh-CN" sz="2800" b="1" dirty="0"/>
              <a:t>3</a:t>
            </a:r>
            <a:r>
              <a:rPr lang="zh-CN" altLang="en-US" sz="2800" b="1" dirty="0"/>
              <a:t>，</a:t>
            </a:r>
            <a:r>
              <a:rPr lang="en-US" altLang="zh-CN" sz="2800" b="1" dirty="0"/>
              <a:t>5</a:t>
            </a:r>
            <a:r>
              <a:rPr lang="zh-CN" altLang="en-US" sz="2800" b="1" dirty="0"/>
              <a:t>，</a:t>
            </a:r>
            <a:r>
              <a:rPr lang="en-US" altLang="zh-CN" sz="2800" b="1" dirty="0"/>
              <a:t>8</a:t>
            </a:r>
            <a:r>
              <a:rPr lang="zh-CN" altLang="en-US" sz="2800" b="1" dirty="0"/>
              <a:t>，</a:t>
            </a:r>
            <a:r>
              <a:rPr lang="en-US" altLang="zh-CN" sz="2800" b="1" dirty="0"/>
              <a:t>...</a:t>
            </a:r>
          </a:p>
          <a:p>
            <a:pPr marL="0" indent="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800" b="1" dirty="0"/>
              <a:t>Fibonacci</a:t>
            </a:r>
            <a:r>
              <a:rPr lang="zh-CN" altLang="en-US" sz="2800" b="1" dirty="0"/>
              <a:t>数列有以下公式定义：</a:t>
            </a:r>
          </a:p>
          <a:p>
            <a:pPr marL="0" indent="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 sz="2800" b="1" dirty="0"/>
              <a:t>                </a:t>
            </a:r>
            <a:r>
              <a:rPr lang="en-US" altLang="zh-CN" sz="2800" b="1" dirty="0"/>
              <a:t>0, n = 0;</a:t>
            </a:r>
          </a:p>
          <a:p>
            <a:pPr marL="0" indent="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800" b="1" dirty="0"/>
              <a:t>     Fn =    1, n = 1;</a:t>
            </a:r>
          </a:p>
          <a:p>
            <a:pPr marL="0" indent="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800" b="1" dirty="0"/>
              <a:t>                Fn-1 + Fn-2, n &gt; 1</a:t>
            </a:r>
            <a:r>
              <a:rPr lang="zh-CN" altLang="en-US" sz="2800" b="1" dirty="0"/>
              <a:t>。</a:t>
            </a:r>
          </a:p>
          <a:p>
            <a:pPr marL="0" indent="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 sz="2800" b="1" dirty="0"/>
              <a:t>为求</a:t>
            </a:r>
            <a:r>
              <a:rPr lang="en-US" altLang="zh-CN" sz="2800" b="1" dirty="0"/>
              <a:t>Fibonacci</a:t>
            </a:r>
            <a:r>
              <a:rPr lang="zh-CN" altLang="en-US" sz="2800" b="1" dirty="0"/>
              <a:t>数列的前</a:t>
            </a:r>
            <a:r>
              <a:rPr lang="en-US" altLang="zh-CN" sz="2800" b="1" dirty="0"/>
              <a:t>40</a:t>
            </a:r>
            <a:r>
              <a:rPr lang="zh-CN" altLang="en-US" sz="2800" b="1" dirty="0"/>
              <a:t>个数，可以采用递推法，记数列相继两项为</a:t>
            </a:r>
            <a:r>
              <a:rPr lang="en-US" altLang="zh-CN" sz="2800" b="1" dirty="0"/>
              <a:t>f1</a:t>
            </a:r>
            <a:r>
              <a:rPr lang="zh-CN" altLang="en-US" sz="2800" b="1" dirty="0"/>
              <a:t>和</a:t>
            </a:r>
            <a:r>
              <a:rPr lang="en-US" altLang="zh-CN" sz="2800" b="1" dirty="0"/>
              <a:t>f2</a:t>
            </a:r>
            <a:r>
              <a:rPr lang="zh-CN" altLang="en-US" sz="2800" b="1" dirty="0"/>
              <a:t>，它们的初值分别为</a:t>
            </a:r>
            <a:r>
              <a:rPr lang="en-US" altLang="zh-CN" sz="2800" b="1" dirty="0"/>
              <a:t>0</a:t>
            </a:r>
            <a:r>
              <a:rPr lang="zh-CN" altLang="en-US" sz="2800" b="1" dirty="0"/>
              <a:t>和</a:t>
            </a:r>
            <a:r>
              <a:rPr lang="en-US" altLang="zh-CN" sz="2800" b="1" dirty="0"/>
              <a:t>1</a:t>
            </a:r>
            <a:r>
              <a:rPr lang="zh-CN" altLang="en-US" sz="2800" b="1" dirty="0"/>
              <a:t>。按以下递推规则，由数列的前两项求出数列相继的后两项：</a:t>
            </a:r>
          </a:p>
          <a:p>
            <a:pPr marL="0" indent="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800" b="1" dirty="0"/>
              <a:t>f1 = f1 + f2 /*</a:t>
            </a:r>
            <a:r>
              <a:rPr lang="zh-CN" altLang="en-US" sz="2800" b="1" dirty="0"/>
              <a:t>由前第</a:t>
            </a:r>
            <a:r>
              <a:rPr lang="en-US" altLang="zh-CN" sz="2800" b="1" dirty="0"/>
              <a:t>1</a:t>
            </a:r>
            <a:r>
              <a:rPr lang="zh-CN" altLang="en-US" sz="2800" b="1" dirty="0"/>
              <a:t>、</a:t>
            </a:r>
            <a:r>
              <a:rPr lang="en-US" altLang="zh-CN" sz="2800" b="1" dirty="0"/>
              <a:t>2</a:t>
            </a:r>
            <a:r>
              <a:rPr lang="zh-CN" altLang="en-US" sz="2800" b="1" dirty="0"/>
              <a:t>项求出第</a:t>
            </a:r>
            <a:r>
              <a:rPr lang="en-US" altLang="zh-CN" sz="2800" b="1" dirty="0"/>
              <a:t>3</a:t>
            </a:r>
            <a:r>
              <a:rPr lang="zh-CN" altLang="en-US" sz="2800" b="1" dirty="0"/>
              <a:t>项*</a:t>
            </a:r>
            <a:r>
              <a:rPr lang="en-US" altLang="zh-CN" sz="2800" b="1" dirty="0"/>
              <a:t>/</a:t>
            </a:r>
          </a:p>
          <a:p>
            <a:pPr marL="0" indent="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800" b="1" dirty="0"/>
              <a:t>f2 = f1 + f2 /*</a:t>
            </a:r>
            <a:r>
              <a:rPr lang="zh-CN" altLang="en-US" sz="2800" b="1" dirty="0"/>
              <a:t>由前第</a:t>
            </a:r>
            <a:r>
              <a:rPr lang="en-US" altLang="zh-CN" sz="2800" b="1" dirty="0"/>
              <a:t>2</a:t>
            </a:r>
            <a:r>
              <a:rPr lang="zh-CN" altLang="en-US" sz="2800" b="1" dirty="0"/>
              <a:t>、</a:t>
            </a:r>
            <a:r>
              <a:rPr lang="en-US" altLang="zh-CN" sz="2800" b="1" dirty="0"/>
              <a:t>3</a:t>
            </a:r>
            <a:r>
              <a:rPr lang="zh-CN" altLang="en-US" sz="2800" b="1" dirty="0"/>
              <a:t>项求出第</a:t>
            </a:r>
            <a:r>
              <a:rPr lang="en-US" altLang="zh-CN" sz="2800" b="1" dirty="0"/>
              <a:t>4</a:t>
            </a:r>
            <a:r>
              <a:rPr lang="zh-CN" altLang="en-US" sz="2800" b="1" dirty="0"/>
              <a:t>项*</a:t>
            </a:r>
            <a:r>
              <a:rPr lang="en-US" altLang="zh-CN" sz="2800" b="1" dirty="0"/>
              <a:t>/</a:t>
            </a:r>
          </a:p>
        </p:txBody>
      </p:sp>
      <p:sp>
        <p:nvSpPr>
          <p:cNvPr id="8499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A004D31-F17D-420D-B4A1-1F3686022CB4}" type="slidenum">
              <a:rPr lang="en-US" altLang="zh-CN"/>
              <a:pPr>
                <a:defRPr/>
              </a:pPr>
              <a:t>32</a:t>
            </a:fld>
            <a:endParaRPr lang="en-US" altLang="zh-CN"/>
          </a:p>
        </p:txBody>
      </p:sp>
      <p:sp>
        <p:nvSpPr>
          <p:cNvPr id="88068" name="AutoShape 3"/>
          <p:cNvSpPr>
            <a:spLocks/>
          </p:cNvSpPr>
          <p:nvPr/>
        </p:nvSpPr>
        <p:spPr bwMode="auto">
          <a:xfrm>
            <a:off x="1641455" y="2214554"/>
            <a:ext cx="73025" cy="1008062"/>
          </a:xfrm>
          <a:prstGeom prst="leftBrace">
            <a:avLst>
              <a:gd name="adj1" fmla="val 115036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0112" y="1041316"/>
            <a:ext cx="1840481" cy="116563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2320" y="1197304"/>
            <a:ext cx="1524000" cy="100965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idx="1"/>
          </p:nvPr>
        </p:nvSpPr>
        <p:spPr>
          <a:xfrm>
            <a:off x="323850" y="404813"/>
            <a:ext cx="8496300" cy="6121400"/>
          </a:xfrm>
        </p:spPr>
        <p:txBody>
          <a:bodyPr/>
          <a:lstStyle/>
          <a:p>
            <a:pPr marL="0" indent="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3200" b="1" dirty="0"/>
              <a:t>#include  &lt;</a:t>
            </a:r>
            <a:r>
              <a:rPr lang="en-US" altLang="zh-CN" sz="3200" b="1" dirty="0" err="1"/>
              <a:t>stdio.h</a:t>
            </a:r>
            <a:r>
              <a:rPr lang="en-US" altLang="zh-CN" sz="3200" b="1" dirty="0"/>
              <a:t>&gt;</a:t>
            </a:r>
          </a:p>
          <a:p>
            <a:pPr marL="0" indent="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3200" b="1" dirty="0"/>
              <a:t>void main()</a:t>
            </a:r>
          </a:p>
          <a:p>
            <a:pPr marL="0" indent="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3200" b="1" dirty="0"/>
              <a:t>{  long f1 = 0, f2 = 1, </a:t>
            </a:r>
            <a:r>
              <a:rPr lang="en-US" altLang="zh-CN" sz="3200" b="1" dirty="0" err="1"/>
              <a:t>i</a:t>
            </a:r>
            <a:r>
              <a:rPr lang="en-US" altLang="zh-CN" sz="3200" b="1" dirty="0"/>
              <a:t>;</a:t>
            </a:r>
          </a:p>
          <a:p>
            <a:pPr marL="0" indent="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3200" b="1" dirty="0"/>
              <a:t>    for(</a:t>
            </a:r>
            <a:r>
              <a:rPr lang="en-US" altLang="zh-CN" sz="3200" b="1" dirty="0" err="1"/>
              <a:t>i</a:t>
            </a:r>
            <a:r>
              <a:rPr lang="en-US" altLang="zh-CN" sz="3200" b="1" dirty="0"/>
              <a:t> = 1;i &lt;= 20; </a:t>
            </a:r>
            <a:r>
              <a:rPr lang="en-US" altLang="zh-CN" sz="3200" b="1" dirty="0" err="1"/>
              <a:t>i</a:t>
            </a:r>
            <a:r>
              <a:rPr lang="en-US" altLang="zh-CN" sz="3200" b="1" dirty="0"/>
              <a:t>++){ </a:t>
            </a:r>
          </a:p>
          <a:p>
            <a:pPr marL="0" indent="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3200" b="1" dirty="0"/>
              <a:t>      </a:t>
            </a:r>
            <a:r>
              <a:rPr lang="en-US" altLang="zh-CN" sz="3200" b="1" dirty="0" err="1"/>
              <a:t>printf</a:t>
            </a:r>
            <a:r>
              <a:rPr lang="en-US" altLang="zh-CN" sz="3200" b="1" dirty="0"/>
              <a:t>("%8ld%8ld",f1,f2);</a:t>
            </a:r>
          </a:p>
          <a:p>
            <a:pPr marL="0" indent="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3200" b="1" dirty="0"/>
              <a:t>      if(i%2==0)  </a:t>
            </a:r>
            <a:r>
              <a:rPr lang="en-US" altLang="zh-CN" sz="3200" b="1" dirty="0" err="1"/>
              <a:t>printf</a:t>
            </a:r>
            <a:r>
              <a:rPr lang="en-US" altLang="zh-CN" sz="3200" b="1" dirty="0"/>
              <a:t>("\n");</a:t>
            </a:r>
          </a:p>
          <a:p>
            <a:pPr marL="0" indent="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3200" b="1" dirty="0"/>
              <a:t>      f1 += f2; //</a:t>
            </a:r>
            <a:r>
              <a:rPr lang="zh-CN" altLang="en-US" sz="3200" b="1" dirty="0"/>
              <a:t>由前第</a:t>
            </a:r>
            <a:r>
              <a:rPr lang="en-US" altLang="zh-CN" sz="3200" b="1" dirty="0"/>
              <a:t>1</a:t>
            </a:r>
            <a:r>
              <a:rPr lang="zh-CN" altLang="en-US" sz="3200" b="1" dirty="0"/>
              <a:t>、</a:t>
            </a:r>
            <a:r>
              <a:rPr lang="en-US" altLang="zh-CN" sz="3200" b="1" dirty="0"/>
              <a:t>2</a:t>
            </a:r>
            <a:r>
              <a:rPr lang="zh-CN" altLang="en-US" sz="3200" b="1" dirty="0"/>
              <a:t>项求出第</a:t>
            </a:r>
            <a:r>
              <a:rPr lang="en-US" altLang="zh-CN" sz="3200" b="1" dirty="0"/>
              <a:t>3</a:t>
            </a:r>
            <a:r>
              <a:rPr lang="zh-CN" altLang="en-US" sz="3200" b="1" dirty="0"/>
              <a:t>项</a:t>
            </a:r>
          </a:p>
          <a:p>
            <a:pPr marL="0" indent="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 sz="3200" b="1" dirty="0"/>
              <a:t>      </a:t>
            </a:r>
            <a:r>
              <a:rPr lang="en-US" altLang="zh-CN" sz="3200" b="1" dirty="0"/>
              <a:t>f2 += f1; //</a:t>
            </a:r>
            <a:r>
              <a:rPr lang="zh-CN" altLang="en-US" sz="3200" b="1" dirty="0"/>
              <a:t>由前第</a:t>
            </a:r>
            <a:r>
              <a:rPr lang="en-US" altLang="zh-CN" sz="3200" b="1" dirty="0"/>
              <a:t>2</a:t>
            </a:r>
            <a:r>
              <a:rPr lang="zh-CN" altLang="en-US" sz="3200" b="1" dirty="0"/>
              <a:t>、</a:t>
            </a:r>
            <a:r>
              <a:rPr lang="en-US" altLang="zh-CN" sz="3200" b="1" dirty="0"/>
              <a:t>3</a:t>
            </a:r>
            <a:r>
              <a:rPr lang="zh-CN" altLang="en-US" sz="3200" b="1" dirty="0"/>
              <a:t>项求出第</a:t>
            </a:r>
            <a:r>
              <a:rPr lang="en-US" altLang="zh-CN" sz="3200" b="1" dirty="0"/>
              <a:t>4</a:t>
            </a:r>
            <a:r>
              <a:rPr lang="zh-CN" altLang="en-US" sz="3200" b="1" dirty="0"/>
              <a:t>项</a:t>
            </a:r>
          </a:p>
          <a:p>
            <a:pPr marL="0" indent="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 sz="3200" b="1" dirty="0"/>
              <a:t>   </a:t>
            </a:r>
            <a:r>
              <a:rPr lang="en-US" altLang="zh-CN" sz="3200" b="1" dirty="0"/>
              <a:t>}</a:t>
            </a:r>
          </a:p>
          <a:p>
            <a:pPr marL="0" indent="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3200" b="1" dirty="0"/>
              <a:t>}</a:t>
            </a:r>
          </a:p>
        </p:txBody>
      </p:sp>
      <p:sp>
        <p:nvSpPr>
          <p:cNvPr id="8601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A5230B7-B765-4C71-B647-6A479F9A159A}" type="slidenum">
              <a:rPr lang="en-US" altLang="zh-CN"/>
              <a:pPr>
                <a:defRPr/>
              </a:pPr>
              <a:t>33</a:t>
            </a:fld>
            <a:endParaRPr lang="en-US" altLang="zh-CN"/>
          </a:p>
        </p:txBody>
      </p:sp>
    </p:spTree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1026"/>
          <p:cNvSpPr>
            <a:spLocks noGrp="1" noChangeArrowheads="1"/>
          </p:cNvSpPr>
          <p:nvPr>
            <p:ph type="title"/>
          </p:nvPr>
        </p:nvSpPr>
        <p:spPr>
          <a:xfrm>
            <a:off x="250825" y="404813"/>
            <a:ext cx="8686800" cy="609600"/>
          </a:xfrm>
        </p:spPr>
        <p:txBody>
          <a:bodyPr/>
          <a:lstStyle/>
          <a:p>
            <a:pPr eaLnBrk="1" hangingPunct="1"/>
            <a:r>
              <a:rPr lang="en-US" altLang="zh-CN" sz="3400" dirty="0">
                <a:latin typeface="宋体" pitchFamily="2" charset="-122"/>
              </a:rPr>
              <a:t>【</a:t>
            </a:r>
            <a:r>
              <a:rPr lang="zh-CN" altLang="en-US" sz="3400" dirty="0">
                <a:latin typeface="宋体" pitchFamily="2" charset="-122"/>
              </a:rPr>
              <a:t>例</a:t>
            </a:r>
            <a:r>
              <a:rPr lang="en-US" altLang="zh-CN" sz="3400">
                <a:latin typeface="宋体" pitchFamily="2" charset="-122"/>
              </a:rPr>
              <a:t>3.29】</a:t>
            </a:r>
            <a:r>
              <a:rPr lang="zh-CN" altLang="en-US" sz="3400" dirty="0">
                <a:latin typeface="宋体" pitchFamily="2" charset="-122"/>
              </a:rPr>
              <a:t>输入</a:t>
            </a:r>
            <a:r>
              <a:rPr lang="en-US" altLang="zh-CN" sz="3400" dirty="0">
                <a:latin typeface="宋体" pitchFamily="2" charset="-122"/>
              </a:rPr>
              <a:t>x</a:t>
            </a:r>
            <a:r>
              <a:rPr lang="zh-CN" altLang="en-US" sz="3400" dirty="0">
                <a:latin typeface="宋体" pitchFamily="2" charset="-122"/>
              </a:rPr>
              <a:t>，求级数</a:t>
            </a:r>
            <a:r>
              <a:rPr lang="en-US" altLang="zh-CN" sz="3400" dirty="0">
                <a:latin typeface="宋体" pitchFamily="2" charset="-122"/>
              </a:rPr>
              <a:t>s(x)</a:t>
            </a:r>
            <a:r>
              <a:rPr lang="zh-CN" altLang="en-US" sz="3400" dirty="0">
                <a:latin typeface="宋体" pitchFamily="2" charset="-122"/>
              </a:rPr>
              <a:t>的近似值</a:t>
            </a:r>
          </a:p>
        </p:txBody>
      </p:sp>
      <p:sp>
        <p:nvSpPr>
          <p:cNvPr id="319491" name="Rectangle 1027"/>
          <p:cNvSpPr>
            <a:spLocks noGrp="1" noChangeArrowheads="1"/>
          </p:cNvSpPr>
          <p:nvPr>
            <p:ph idx="1"/>
          </p:nvPr>
        </p:nvSpPr>
        <p:spPr>
          <a:xfrm>
            <a:off x="395288" y="1268413"/>
            <a:ext cx="8447087" cy="4752975"/>
          </a:xfrm>
        </p:spPr>
        <p:txBody>
          <a:bodyPr>
            <a:normAutofit/>
          </a:bodyPr>
          <a:lstStyle/>
          <a:p>
            <a:pPr marL="0" indent="0" algn="just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zh-CN" alt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约定求和的精度为</a:t>
            </a:r>
            <a:r>
              <a:rPr lang="en-US" altLang="zh-CN" b="1" dirty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0.000001</a:t>
            </a:r>
            <a:r>
              <a:rPr lang="zh-CN" alt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。</a:t>
            </a:r>
          </a:p>
          <a:p>
            <a:pPr marL="0" indent="0" algn="just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zh-CN" altLang="en-US" b="1" dirty="0">
                <a:solidFill>
                  <a:srgbClr val="66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               </a:t>
            </a:r>
            <a:r>
              <a:rPr lang="en-US" altLang="zh-CN" b="1" dirty="0">
                <a:solidFill>
                  <a:srgbClr val="66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x</a:t>
            </a:r>
            <a:r>
              <a:rPr lang="en-US" altLang="zh-CN" b="1" baseline="30000" dirty="0">
                <a:solidFill>
                  <a:srgbClr val="66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3</a:t>
            </a:r>
            <a:r>
              <a:rPr lang="en-US" altLang="zh-CN" b="1" dirty="0">
                <a:solidFill>
                  <a:srgbClr val="66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    x</a:t>
            </a:r>
            <a:r>
              <a:rPr lang="en-US" altLang="zh-CN" b="1" baseline="30000" dirty="0">
                <a:solidFill>
                  <a:srgbClr val="66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5</a:t>
            </a:r>
            <a:r>
              <a:rPr lang="en-US" altLang="zh-CN" b="1" dirty="0">
                <a:solidFill>
                  <a:srgbClr val="66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     x</a:t>
            </a:r>
            <a:r>
              <a:rPr lang="en-US" altLang="zh-CN" b="1" baseline="30000" dirty="0">
                <a:solidFill>
                  <a:srgbClr val="66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7</a:t>
            </a:r>
            <a:endParaRPr lang="en-US" altLang="zh-CN" b="1" dirty="0">
              <a:solidFill>
                <a:srgbClr val="660033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宋体" pitchFamily="2" charset="-122"/>
            </a:endParaRPr>
          </a:p>
          <a:p>
            <a:pPr marL="0" indent="0" algn="just" eaLnBrk="1" fontAlgn="auto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b="1" dirty="0">
                <a:solidFill>
                  <a:srgbClr val="66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   s(x) = x - --- + --- - --- + ┅</a:t>
            </a:r>
          </a:p>
          <a:p>
            <a:pPr marL="0" indent="0" algn="just" eaLnBrk="1" fontAlgn="auto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b="1" dirty="0">
                <a:solidFill>
                  <a:srgbClr val="66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              3*1!   5*2!   7*3!</a:t>
            </a:r>
          </a:p>
          <a:p>
            <a:pPr marL="0" indent="0" algn="just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zh-CN" alt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一般地，设级数为：</a:t>
            </a:r>
          </a:p>
          <a:p>
            <a:pPr marL="0" indent="0" algn="just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zh-CN" altLang="en-US" b="1" dirty="0">
                <a:solidFill>
                  <a:srgbClr val="66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   </a:t>
            </a:r>
            <a:r>
              <a:rPr lang="en-US" altLang="zh-CN" b="1" dirty="0">
                <a:solidFill>
                  <a:srgbClr val="66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s(x) = t</a:t>
            </a:r>
            <a:r>
              <a:rPr lang="en-US" altLang="zh-CN" b="1" baseline="-25000" dirty="0">
                <a:solidFill>
                  <a:srgbClr val="66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0</a:t>
            </a:r>
            <a:r>
              <a:rPr lang="en-US" altLang="zh-CN" b="1" dirty="0">
                <a:solidFill>
                  <a:srgbClr val="66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 + t</a:t>
            </a:r>
            <a:r>
              <a:rPr lang="en-US" altLang="zh-CN" b="1" baseline="-25000" dirty="0">
                <a:solidFill>
                  <a:srgbClr val="66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1</a:t>
            </a:r>
            <a:r>
              <a:rPr lang="en-US" altLang="zh-CN" b="1" dirty="0">
                <a:solidFill>
                  <a:srgbClr val="66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 + t</a:t>
            </a:r>
            <a:r>
              <a:rPr lang="en-US" altLang="zh-CN" b="1" baseline="-25000" dirty="0">
                <a:solidFill>
                  <a:srgbClr val="66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2</a:t>
            </a:r>
            <a:r>
              <a:rPr lang="en-US" altLang="zh-CN" b="1" dirty="0">
                <a:solidFill>
                  <a:srgbClr val="66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+  ┅  + </a:t>
            </a:r>
            <a:r>
              <a:rPr lang="en-US" altLang="zh-CN" b="1" dirty="0" err="1">
                <a:solidFill>
                  <a:srgbClr val="66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t</a:t>
            </a:r>
            <a:r>
              <a:rPr lang="en-US" altLang="zh-CN" b="1" baseline="-25000" dirty="0" err="1">
                <a:solidFill>
                  <a:srgbClr val="66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n</a:t>
            </a:r>
            <a:endParaRPr lang="en-US" altLang="zh-CN" b="1" baseline="-25000" dirty="0">
              <a:solidFill>
                <a:srgbClr val="660033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宋体" pitchFamily="2" charset="-122"/>
            </a:endParaRPr>
          </a:p>
          <a:p>
            <a:pPr marL="0" indent="0" algn="just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endParaRPr lang="en-US" altLang="zh-CN" b="1" baseline="-25000" dirty="0">
              <a:solidFill>
                <a:srgbClr val="660033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宋体" pitchFamily="2" charset="-122"/>
            </a:endParaRPr>
          </a:p>
          <a:p>
            <a:pPr marL="0" indent="0" algn="just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b="1" dirty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t</a:t>
            </a:r>
            <a:r>
              <a:rPr lang="en-US" altLang="zh-CN" b="1" baseline="-25000" dirty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k+1</a:t>
            </a:r>
            <a:r>
              <a:rPr lang="zh-CN" alt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与</a:t>
            </a:r>
            <a:r>
              <a:rPr lang="en-US" altLang="zh-CN" b="1" dirty="0" err="1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t</a:t>
            </a:r>
            <a:r>
              <a:rPr lang="en-US" altLang="zh-CN" b="1" baseline="-25000" dirty="0" err="1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k</a:t>
            </a:r>
            <a:r>
              <a:rPr lang="zh-CN" alt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之间关系为：</a:t>
            </a:r>
          </a:p>
          <a:p>
            <a:pPr marL="0" indent="0" algn="just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endParaRPr lang="zh-CN" altLang="en-US" b="1" baseline="-25000" dirty="0">
              <a:solidFill>
                <a:srgbClr val="660033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宋体" pitchFamily="2" charset="-122"/>
            </a:endParaRPr>
          </a:p>
          <a:p>
            <a:pPr marL="0" indent="0" algn="just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zh-CN" altLang="en-US" b="1" dirty="0">
                <a:solidFill>
                  <a:srgbClr val="66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   </a:t>
            </a:r>
            <a:r>
              <a:rPr lang="en-US" altLang="zh-CN" b="1" dirty="0">
                <a:solidFill>
                  <a:srgbClr val="66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t</a:t>
            </a:r>
            <a:r>
              <a:rPr lang="en-US" altLang="zh-CN" b="1" baseline="-25000" dirty="0">
                <a:solidFill>
                  <a:srgbClr val="66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k+1</a:t>
            </a:r>
            <a:r>
              <a:rPr lang="en-US" altLang="zh-CN" b="1" dirty="0">
                <a:solidFill>
                  <a:srgbClr val="66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= -</a:t>
            </a:r>
            <a:r>
              <a:rPr lang="en-US" altLang="zh-CN" b="1" dirty="0" err="1">
                <a:solidFill>
                  <a:srgbClr val="66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t</a:t>
            </a:r>
            <a:r>
              <a:rPr lang="en-US" altLang="zh-CN" b="1" baseline="-25000" dirty="0" err="1">
                <a:solidFill>
                  <a:srgbClr val="66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k</a:t>
            </a:r>
            <a:r>
              <a:rPr lang="en-US" altLang="zh-CN" b="1" dirty="0">
                <a:solidFill>
                  <a:srgbClr val="66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*x</a:t>
            </a:r>
            <a:r>
              <a:rPr lang="en-US" altLang="zh-CN" b="1" baseline="30000" dirty="0">
                <a:solidFill>
                  <a:srgbClr val="66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2</a:t>
            </a:r>
            <a:r>
              <a:rPr lang="en-US" altLang="zh-CN" b="1" dirty="0">
                <a:solidFill>
                  <a:srgbClr val="66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*(2*k+1)/((2*k+3)*(k+1))</a:t>
            </a:r>
          </a:p>
        </p:txBody>
      </p:sp>
      <p:sp>
        <p:nvSpPr>
          <p:cNvPr id="8704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9E58243-057A-4492-9A25-8BDE607A7E71}" type="slidenum">
              <a:rPr lang="en-US" altLang="zh-CN"/>
              <a:pPr>
                <a:defRPr/>
              </a:pPr>
              <a:t>34</a:t>
            </a:fld>
            <a:endParaRPr lang="en-US" altLang="zh-CN"/>
          </a:p>
        </p:txBody>
      </p:sp>
      <p:sp>
        <p:nvSpPr>
          <p:cNvPr id="5" name="TextBox 4"/>
          <p:cNvSpPr txBox="1"/>
          <p:nvPr/>
        </p:nvSpPr>
        <p:spPr>
          <a:xfrm>
            <a:off x="6357950" y="2071678"/>
            <a:ext cx="250033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</a:rPr>
              <a:t>含有高阶幂和大阶数乘的级数求和一般需要采用递推法，即根据当前项计算出下一项。</a:t>
            </a:r>
          </a:p>
        </p:txBody>
      </p:sp>
    </p:spTree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228600"/>
            <a:ext cx="8591550" cy="609600"/>
          </a:xfrm>
        </p:spPr>
        <p:txBody>
          <a:bodyPr/>
          <a:lstStyle/>
          <a:p>
            <a:pPr eaLnBrk="1" hangingPunct="1"/>
            <a:r>
              <a:rPr lang="zh-CN" altLang="en-US" sz="3400">
                <a:latin typeface="宋体" pitchFamily="2" charset="-122"/>
              </a:rPr>
              <a:t>算法</a:t>
            </a:r>
          </a:p>
        </p:txBody>
      </p:sp>
      <p:sp>
        <p:nvSpPr>
          <p:cNvPr id="320515" name="Rectangle 3"/>
          <p:cNvSpPr>
            <a:spLocks noGrp="1" noChangeArrowheads="1"/>
          </p:cNvSpPr>
          <p:nvPr>
            <p:ph idx="1"/>
          </p:nvPr>
        </p:nvSpPr>
        <p:spPr>
          <a:xfrm>
            <a:off x="250825" y="990600"/>
            <a:ext cx="8686800" cy="5607050"/>
          </a:xfrm>
        </p:spPr>
        <p:txBody>
          <a:bodyPr>
            <a:normAutofit/>
          </a:bodyPr>
          <a:lstStyle/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zh-CN" altLang="en-US" sz="2800" b="1" dirty="0">
                <a:solidFill>
                  <a:srgbClr val="66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求级数部分和的算法可描述如下：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800" b="1" dirty="0">
                <a:solidFill>
                  <a:srgbClr val="66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{ s = 0;  </a:t>
            </a:r>
            <a:r>
              <a:rPr lang="en-US" altLang="zh-CN" sz="2800" b="1" dirty="0">
                <a:solidFill>
                  <a:srgbClr val="00808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/* </a:t>
            </a:r>
            <a:r>
              <a:rPr lang="zh-CN" altLang="en-US" sz="2800" b="1" dirty="0">
                <a:solidFill>
                  <a:srgbClr val="00808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级数的部分和变量</a:t>
            </a:r>
            <a:r>
              <a:rPr lang="en-US" altLang="zh-CN" sz="2800" b="1" dirty="0">
                <a:solidFill>
                  <a:srgbClr val="00808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s</a:t>
            </a:r>
            <a:r>
              <a:rPr lang="zh-CN" altLang="en-US" sz="2800" b="1" dirty="0">
                <a:solidFill>
                  <a:srgbClr val="00808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置初值</a:t>
            </a:r>
            <a:r>
              <a:rPr lang="en-US" altLang="zh-CN" sz="2800" b="1" dirty="0">
                <a:solidFill>
                  <a:srgbClr val="00808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0 */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800" b="1" dirty="0">
                <a:solidFill>
                  <a:srgbClr val="66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  t = </a:t>
            </a:r>
            <a:r>
              <a:rPr lang="zh-CN" altLang="en-US" sz="2800" b="1" dirty="0">
                <a:solidFill>
                  <a:srgbClr val="66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首项值</a:t>
            </a:r>
            <a:r>
              <a:rPr lang="en-US" altLang="zh-CN" sz="2800" b="1" dirty="0">
                <a:solidFill>
                  <a:srgbClr val="66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; </a:t>
            </a:r>
            <a:r>
              <a:rPr lang="en-US" altLang="zh-CN" sz="2800" b="1" dirty="0">
                <a:solidFill>
                  <a:srgbClr val="00808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/* </a:t>
            </a:r>
            <a:r>
              <a:rPr lang="zh-CN" altLang="en-US" sz="2800" b="1" dirty="0">
                <a:solidFill>
                  <a:srgbClr val="00808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置通项变量</a:t>
            </a:r>
            <a:r>
              <a:rPr lang="en-US" altLang="zh-CN" sz="2800" b="1" dirty="0">
                <a:solidFill>
                  <a:srgbClr val="00808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t</a:t>
            </a:r>
            <a:r>
              <a:rPr lang="zh-CN" altLang="en-US" sz="2800" b="1" dirty="0">
                <a:solidFill>
                  <a:srgbClr val="00808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为级数的首项值 *</a:t>
            </a:r>
            <a:r>
              <a:rPr lang="en-US" altLang="zh-CN" sz="2800" b="1" dirty="0">
                <a:solidFill>
                  <a:srgbClr val="00808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/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800" b="1" dirty="0">
                <a:solidFill>
                  <a:srgbClr val="66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  k = 0; </a:t>
            </a:r>
            <a:r>
              <a:rPr lang="en-US" altLang="zh-CN" sz="2800" b="1" dirty="0">
                <a:solidFill>
                  <a:srgbClr val="00808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/* </a:t>
            </a:r>
            <a:r>
              <a:rPr lang="zh-CN" altLang="en-US" sz="2800" b="1" dirty="0">
                <a:solidFill>
                  <a:srgbClr val="00808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置项序号变量</a:t>
            </a:r>
            <a:r>
              <a:rPr lang="en-US" altLang="zh-CN" sz="2800" b="1" dirty="0">
                <a:solidFill>
                  <a:srgbClr val="00808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k</a:t>
            </a:r>
            <a:r>
              <a:rPr lang="zh-CN" altLang="en-US" sz="2800" b="1" dirty="0">
                <a:solidFill>
                  <a:srgbClr val="00808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为</a:t>
            </a:r>
            <a:r>
              <a:rPr lang="en-US" altLang="zh-CN" sz="2800" b="1" dirty="0">
                <a:solidFill>
                  <a:srgbClr val="00808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0 */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800" b="1" dirty="0">
                <a:solidFill>
                  <a:srgbClr val="66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  while (</a:t>
            </a:r>
            <a:r>
              <a:rPr lang="en-US" altLang="zh-CN" sz="2800" b="1" dirty="0" err="1">
                <a:solidFill>
                  <a:srgbClr val="66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fabs</a:t>
            </a:r>
            <a:r>
              <a:rPr lang="en-US" altLang="zh-CN" sz="2800" b="1" dirty="0">
                <a:solidFill>
                  <a:srgbClr val="66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(t) &gt;= Epsilon) { 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800" b="1" dirty="0">
                <a:solidFill>
                  <a:srgbClr val="66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    s += t;  </a:t>
            </a:r>
            <a:r>
              <a:rPr lang="en-US" altLang="zh-CN" sz="2800" b="1" dirty="0">
                <a:solidFill>
                  <a:srgbClr val="00808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/* </a:t>
            </a:r>
            <a:r>
              <a:rPr lang="zh-CN" altLang="en-US" sz="2800" b="1" dirty="0">
                <a:solidFill>
                  <a:srgbClr val="00808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累计当前项</a:t>
            </a:r>
            <a:r>
              <a:rPr lang="en-US" altLang="zh-CN" sz="2800" b="1" dirty="0" err="1">
                <a:solidFill>
                  <a:srgbClr val="00808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t</a:t>
            </a:r>
            <a:r>
              <a:rPr lang="en-US" altLang="zh-CN" sz="2800" b="1" baseline="-25000" dirty="0" err="1">
                <a:solidFill>
                  <a:srgbClr val="00808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k</a:t>
            </a:r>
            <a:r>
              <a:rPr lang="zh-CN" altLang="en-US" sz="2800" b="1" dirty="0">
                <a:solidFill>
                  <a:srgbClr val="00808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到部分和 *</a:t>
            </a:r>
            <a:r>
              <a:rPr lang="en-US" altLang="zh-CN" sz="2800" b="1" dirty="0">
                <a:solidFill>
                  <a:srgbClr val="00808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/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800" b="1" dirty="0">
                <a:solidFill>
                  <a:srgbClr val="66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    t = f(</a:t>
            </a:r>
            <a:r>
              <a:rPr lang="en-US" altLang="zh-CN" sz="2800" b="1" dirty="0" err="1">
                <a:solidFill>
                  <a:srgbClr val="66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t,k</a:t>
            </a:r>
            <a:r>
              <a:rPr lang="en-US" altLang="zh-CN" sz="2800" b="1" dirty="0">
                <a:solidFill>
                  <a:srgbClr val="66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);</a:t>
            </a:r>
            <a:r>
              <a:rPr lang="en-US" altLang="zh-CN" sz="2800" b="1" dirty="0">
                <a:solidFill>
                  <a:srgbClr val="00808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/* </a:t>
            </a:r>
            <a:r>
              <a:rPr lang="zh-CN" altLang="en-US" sz="2800" b="1" dirty="0">
                <a:solidFill>
                  <a:srgbClr val="00808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由当前项</a:t>
            </a:r>
            <a:r>
              <a:rPr lang="en-US" altLang="zh-CN" sz="2800" b="1" dirty="0">
                <a:solidFill>
                  <a:srgbClr val="00808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t</a:t>
            </a:r>
            <a:r>
              <a:rPr lang="zh-CN" altLang="en-US" sz="2800" b="1" dirty="0">
                <a:solidFill>
                  <a:srgbClr val="00808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和</a:t>
            </a:r>
            <a:r>
              <a:rPr lang="en-US" altLang="zh-CN" sz="2800" b="1" dirty="0">
                <a:solidFill>
                  <a:srgbClr val="00808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k</a:t>
            </a:r>
            <a:r>
              <a:rPr lang="zh-CN" altLang="en-US" sz="2800" b="1" dirty="0">
                <a:solidFill>
                  <a:srgbClr val="00808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计算下一个当前项的值 *</a:t>
            </a:r>
            <a:r>
              <a:rPr lang="en-US" altLang="zh-CN" sz="2800" b="1" dirty="0">
                <a:solidFill>
                  <a:srgbClr val="00808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/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800" b="1" dirty="0">
                <a:solidFill>
                  <a:srgbClr val="66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    k++;     </a:t>
            </a:r>
            <a:r>
              <a:rPr lang="en-US" altLang="zh-CN" sz="2800" b="1" dirty="0">
                <a:solidFill>
                  <a:srgbClr val="00808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/* </a:t>
            </a:r>
            <a:r>
              <a:rPr lang="zh-CN" altLang="en-US" sz="2800" b="1" dirty="0">
                <a:solidFill>
                  <a:srgbClr val="00808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项序号增</a:t>
            </a:r>
            <a:r>
              <a:rPr lang="en-US" altLang="zh-CN" sz="2800" b="1" dirty="0">
                <a:solidFill>
                  <a:srgbClr val="00808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1 */</a:t>
            </a:r>
            <a:endParaRPr lang="en-US" altLang="zh-CN" sz="2800" b="1" dirty="0">
              <a:solidFill>
                <a:srgbClr val="660033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宋体" pitchFamily="2" charset="-122"/>
            </a:endParaRP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800" b="1" dirty="0">
                <a:solidFill>
                  <a:srgbClr val="66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  }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800" b="1" dirty="0">
                <a:solidFill>
                  <a:srgbClr val="66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}</a:t>
            </a:r>
          </a:p>
        </p:txBody>
      </p:sp>
      <p:sp>
        <p:nvSpPr>
          <p:cNvPr id="8806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B933391-4A59-412F-B5AF-78F9500AA066}" type="slidenum">
              <a:rPr lang="en-US" altLang="zh-CN"/>
              <a:pPr>
                <a:defRPr/>
              </a:pPr>
              <a:t>35</a:t>
            </a:fld>
            <a:endParaRPr lang="en-US" altLang="zh-CN"/>
          </a:p>
        </p:txBody>
      </p:sp>
    </p:spTree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1" name="Rectangle 1027"/>
          <p:cNvSpPr>
            <a:spLocks noGrp="1" noChangeArrowheads="1"/>
          </p:cNvSpPr>
          <p:nvPr>
            <p:ph type="body" sz="half" idx="1"/>
          </p:nvPr>
        </p:nvSpPr>
        <p:spPr>
          <a:xfrm>
            <a:off x="955675" y="404813"/>
            <a:ext cx="7251700" cy="5321300"/>
          </a:xfrm>
        </p:spPr>
        <p:txBody>
          <a:bodyPr>
            <a:normAutofit fontScale="92500" lnSpcReduction="10000"/>
          </a:bodyPr>
          <a:lstStyle/>
          <a:p>
            <a:pPr marL="274320" indent="-274320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400" b="1">
                <a:latin typeface="Arial" charset="0"/>
                <a:ea typeface="黑体" pitchFamily="2" charset="-122"/>
              </a:rPr>
              <a:t>#include  &lt;stdio.h&gt;</a:t>
            </a:r>
          </a:p>
          <a:p>
            <a:pPr marL="274320" indent="-274320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400" b="1">
                <a:latin typeface="Arial" charset="0"/>
                <a:ea typeface="黑体" pitchFamily="2" charset="-122"/>
              </a:rPr>
              <a:t>#include  &lt;math.h&gt;</a:t>
            </a:r>
          </a:p>
          <a:p>
            <a:pPr marL="274320" indent="-274320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400" b="1">
                <a:latin typeface="Arial" charset="0"/>
                <a:ea typeface="黑体" pitchFamily="2" charset="-122"/>
              </a:rPr>
              <a:t>#define  Epsilon  0.000001 </a:t>
            </a:r>
          </a:p>
          <a:p>
            <a:pPr marL="274320" indent="-274320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400" b="1">
                <a:latin typeface="Arial" charset="0"/>
                <a:ea typeface="黑体" pitchFamily="2" charset="-122"/>
              </a:rPr>
              <a:t>void main()</a:t>
            </a:r>
          </a:p>
          <a:p>
            <a:pPr marL="274320" indent="-274320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400" b="1">
                <a:latin typeface="Arial" charset="0"/>
                <a:ea typeface="黑体" pitchFamily="2" charset="-122"/>
              </a:rPr>
              <a:t>{  int k; double s, x, t;</a:t>
            </a:r>
          </a:p>
          <a:p>
            <a:pPr marL="274320" indent="-274320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400" b="1">
                <a:latin typeface="Arial" charset="0"/>
                <a:ea typeface="黑体" pitchFamily="2" charset="-122"/>
              </a:rPr>
              <a:t>   printf (“Enter x</a:t>
            </a:r>
            <a:r>
              <a:rPr lang="zh-CN" altLang="en-US" sz="2400" b="1">
                <a:latin typeface="Arial" charset="0"/>
                <a:ea typeface="黑体" pitchFamily="2" charset="-122"/>
              </a:rPr>
              <a:t>：”</a:t>
            </a:r>
            <a:r>
              <a:rPr lang="en-US" altLang="zh-CN" sz="2400" b="1">
                <a:latin typeface="Arial" charset="0"/>
                <a:ea typeface="黑体" pitchFamily="2" charset="-122"/>
              </a:rPr>
              <a:t>);      scanf(“%lf”, &amp;x);</a:t>
            </a:r>
          </a:p>
          <a:p>
            <a:pPr marL="274320" indent="-274320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400" b="1">
                <a:latin typeface="Arial" charset="0"/>
                <a:ea typeface="黑体" pitchFamily="2" charset="-122"/>
              </a:rPr>
              <a:t>   s = 0.0;  </a:t>
            </a:r>
            <a:r>
              <a:rPr lang="en-US" altLang="zh-CN" sz="2400" b="1">
                <a:solidFill>
                  <a:srgbClr val="0000FF"/>
                </a:solidFill>
                <a:latin typeface="Arial" charset="0"/>
                <a:ea typeface="黑体" pitchFamily="2" charset="-122"/>
              </a:rPr>
              <a:t>/* </a:t>
            </a:r>
            <a:r>
              <a:rPr lang="zh-CN" altLang="en-US" sz="2400" b="1">
                <a:solidFill>
                  <a:srgbClr val="0000FF"/>
                </a:solidFill>
                <a:latin typeface="Arial" charset="0"/>
                <a:ea typeface="黑体" pitchFamily="2" charset="-122"/>
              </a:rPr>
              <a:t>级数的部分和变量</a:t>
            </a:r>
            <a:r>
              <a:rPr lang="en-US" altLang="zh-CN" sz="2400" b="1">
                <a:solidFill>
                  <a:srgbClr val="0000FF"/>
                </a:solidFill>
                <a:latin typeface="Arial" charset="0"/>
                <a:ea typeface="黑体" pitchFamily="2" charset="-122"/>
              </a:rPr>
              <a:t>s</a:t>
            </a:r>
            <a:r>
              <a:rPr lang="zh-CN" altLang="en-US" sz="2400" b="1">
                <a:solidFill>
                  <a:srgbClr val="0000FF"/>
                </a:solidFill>
                <a:latin typeface="Arial" charset="0"/>
                <a:ea typeface="黑体" pitchFamily="2" charset="-122"/>
              </a:rPr>
              <a:t>置初值</a:t>
            </a:r>
            <a:r>
              <a:rPr lang="en-US" altLang="zh-CN" sz="2400" b="1">
                <a:solidFill>
                  <a:srgbClr val="0000FF"/>
                </a:solidFill>
                <a:latin typeface="Arial" charset="0"/>
                <a:ea typeface="黑体" pitchFamily="2" charset="-122"/>
              </a:rPr>
              <a:t>0 */</a:t>
            </a:r>
          </a:p>
          <a:p>
            <a:pPr marL="274320" indent="-274320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400" b="1">
                <a:latin typeface="Arial" charset="0"/>
                <a:ea typeface="黑体" pitchFamily="2" charset="-122"/>
              </a:rPr>
              <a:t>   t = x;      </a:t>
            </a:r>
            <a:r>
              <a:rPr lang="en-US" altLang="zh-CN" sz="2400" b="1">
                <a:solidFill>
                  <a:srgbClr val="0000FF"/>
                </a:solidFill>
                <a:latin typeface="Arial" charset="0"/>
                <a:ea typeface="黑体" pitchFamily="2" charset="-122"/>
              </a:rPr>
              <a:t>/* </a:t>
            </a:r>
            <a:r>
              <a:rPr lang="zh-CN" altLang="en-US" sz="2400" b="1">
                <a:solidFill>
                  <a:srgbClr val="0000FF"/>
                </a:solidFill>
                <a:latin typeface="Arial" charset="0"/>
                <a:ea typeface="黑体" pitchFamily="2" charset="-122"/>
              </a:rPr>
              <a:t>置通项变量</a:t>
            </a:r>
            <a:r>
              <a:rPr lang="en-US" altLang="zh-CN" sz="2400" b="1">
                <a:solidFill>
                  <a:srgbClr val="0000FF"/>
                </a:solidFill>
                <a:latin typeface="Arial" charset="0"/>
                <a:ea typeface="黑体" pitchFamily="2" charset="-122"/>
              </a:rPr>
              <a:t>t</a:t>
            </a:r>
            <a:r>
              <a:rPr lang="zh-CN" altLang="en-US" sz="2400" b="1">
                <a:solidFill>
                  <a:srgbClr val="0000FF"/>
                </a:solidFill>
                <a:latin typeface="Arial" charset="0"/>
                <a:ea typeface="黑体" pitchFamily="2" charset="-122"/>
              </a:rPr>
              <a:t>为级数的首项值 *</a:t>
            </a:r>
            <a:r>
              <a:rPr lang="en-US" altLang="zh-CN" sz="2400" b="1">
                <a:solidFill>
                  <a:srgbClr val="0000FF"/>
                </a:solidFill>
                <a:latin typeface="Arial" charset="0"/>
                <a:ea typeface="黑体" pitchFamily="2" charset="-122"/>
              </a:rPr>
              <a:t>/</a:t>
            </a:r>
          </a:p>
          <a:p>
            <a:pPr marL="274320" indent="-274320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400" b="1">
                <a:latin typeface="Arial" charset="0"/>
                <a:ea typeface="黑体" pitchFamily="2" charset="-122"/>
              </a:rPr>
              <a:t>   k = 0;     </a:t>
            </a:r>
            <a:r>
              <a:rPr lang="en-US" altLang="zh-CN" sz="2400" b="1">
                <a:solidFill>
                  <a:srgbClr val="0000FF"/>
                </a:solidFill>
                <a:latin typeface="Arial" charset="0"/>
                <a:ea typeface="黑体" pitchFamily="2" charset="-122"/>
              </a:rPr>
              <a:t>/* </a:t>
            </a:r>
            <a:r>
              <a:rPr lang="zh-CN" altLang="en-US" sz="2400" b="1">
                <a:solidFill>
                  <a:srgbClr val="0000FF"/>
                </a:solidFill>
                <a:latin typeface="Arial" charset="0"/>
                <a:ea typeface="黑体" pitchFamily="2" charset="-122"/>
              </a:rPr>
              <a:t>置项序号变量</a:t>
            </a:r>
            <a:r>
              <a:rPr lang="en-US" altLang="zh-CN" sz="2400" b="1">
                <a:solidFill>
                  <a:srgbClr val="0000FF"/>
                </a:solidFill>
                <a:latin typeface="Arial" charset="0"/>
                <a:ea typeface="黑体" pitchFamily="2" charset="-122"/>
              </a:rPr>
              <a:t>k</a:t>
            </a:r>
            <a:r>
              <a:rPr lang="zh-CN" altLang="en-US" sz="2400" b="1">
                <a:solidFill>
                  <a:srgbClr val="0000FF"/>
                </a:solidFill>
                <a:latin typeface="Arial" charset="0"/>
                <a:ea typeface="黑体" pitchFamily="2" charset="-122"/>
              </a:rPr>
              <a:t>为</a:t>
            </a:r>
            <a:r>
              <a:rPr lang="en-US" altLang="zh-CN" sz="2400" b="1">
                <a:solidFill>
                  <a:srgbClr val="0000FF"/>
                </a:solidFill>
                <a:latin typeface="Arial" charset="0"/>
                <a:ea typeface="黑体" pitchFamily="2" charset="-122"/>
              </a:rPr>
              <a:t>0 */</a:t>
            </a:r>
          </a:p>
          <a:p>
            <a:pPr marL="274320" indent="-274320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400" b="1">
                <a:latin typeface="Arial" charset="0"/>
                <a:ea typeface="黑体" pitchFamily="2" charset="-122"/>
              </a:rPr>
              <a:t>   while (fabs(t) &gt;= Epsilon) </a:t>
            </a:r>
          </a:p>
          <a:p>
            <a:pPr marL="274320" indent="-274320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400" b="1">
                <a:latin typeface="Arial" charset="0"/>
                <a:ea typeface="黑体" pitchFamily="2" charset="-122"/>
              </a:rPr>
              <a:t>   {    s += t; t = -t*x*x*(2.0*k+1)/((2.0*k+3)*(k+1)); </a:t>
            </a:r>
          </a:p>
          <a:p>
            <a:pPr marL="274320" indent="-274320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400" b="1">
                <a:latin typeface="Arial" charset="0"/>
                <a:ea typeface="黑体" pitchFamily="2" charset="-122"/>
              </a:rPr>
              <a:t>        k++;     </a:t>
            </a:r>
            <a:r>
              <a:rPr lang="en-US" altLang="zh-CN" sz="2400" b="1">
                <a:solidFill>
                  <a:srgbClr val="0000FF"/>
                </a:solidFill>
                <a:latin typeface="Arial" charset="0"/>
                <a:ea typeface="黑体" pitchFamily="2" charset="-122"/>
              </a:rPr>
              <a:t>/* </a:t>
            </a:r>
            <a:r>
              <a:rPr lang="zh-CN" altLang="en-US" sz="2400" b="1">
                <a:solidFill>
                  <a:srgbClr val="0000FF"/>
                </a:solidFill>
                <a:latin typeface="Arial" charset="0"/>
                <a:ea typeface="黑体" pitchFamily="2" charset="-122"/>
              </a:rPr>
              <a:t>项序号增</a:t>
            </a:r>
            <a:r>
              <a:rPr lang="en-US" altLang="zh-CN" sz="2400" b="1">
                <a:solidFill>
                  <a:srgbClr val="0000FF"/>
                </a:solidFill>
                <a:latin typeface="Arial" charset="0"/>
                <a:ea typeface="黑体" pitchFamily="2" charset="-122"/>
              </a:rPr>
              <a:t>1 */</a:t>
            </a:r>
          </a:p>
          <a:p>
            <a:pPr marL="274320" indent="-274320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400" b="1">
                <a:latin typeface="Arial" charset="0"/>
                <a:ea typeface="黑体" pitchFamily="2" charset="-122"/>
              </a:rPr>
              <a:t>    }  </a:t>
            </a:r>
          </a:p>
          <a:p>
            <a:pPr marL="274320" indent="-274320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400" b="1">
                <a:latin typeface="Arial" charset="0"/>
                <a:ea typeface="黑体" pitchFamily="2" charset="-122"/>
              </a:rPr>
              <a:t>   printf(“s(%f) = %f\n”, x, s);</a:t>
            </a:r>
          </a:p>
          <a:p>
            <a:pPr marL="274320" indent="-274320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r>
              <a:rPr lang="en-US" altLang="zh-CN" sz="2400" b="1">
                <a:latin typeface="Arial" charset="0"/>
                <a:ea typeface="黑体" pitchFamily="2" charset="-122"/>
              </a:rPr>
              <a:t>}</a:t>
            </a:r>
          </a:p>
        </p:txBody>
      </p:sp>
      <p:sp>
        <p:nvSpPr>
          <p:cNvPr id="89090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9EABA56-FD00-4B4B-8863-953877908F4B}" type="slidenum">
              <a:rPr lang="en-US" altLang="zh-CN"/>
              <a:pPr>
                <a:defRPr/>
              </a:pPr>
              <a:t>36</a:t>
            </a:fld>
            <a:endParaRPr lang="en-US" altLang="zh-CN"/>
          </a:p>
        </p:txBody>
      </p:sp>
    </p:spTree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34AEBA-4109-6A14-6BBE-B145F4829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201A7BD-2758-8996-14B9-FB193F6BA207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566738" y="1752600"/>
            <a:ext cx="8469758" cy="4267200"/>
          </a:xfrm>
        </p:spPr>
        <p:txBody>
          <a:bodyPr>
            <a:normAutofit lnSpcReduction="10000"/>
          </a:bodyPr>
          <a:lstStyle/>
          <a:p>
            <a:pPr latinLnBrk="1"/>
            <a:r>
              <a:rPr lang="zh-CN" altLang="zh-CN" dirty="0"/>
              <a:t>国王要给他的忠诚骑士支付金币。在他服务的第一天，骑士将获得一枚金币。在接下来的两天的每一天（服务的第二和第三天），骑士将获得</a:t>
            </a:r>
            <a:r>
              <a:rPr lang="en-US" altLang="zh-CN" dirty="0"/>
              <a:t>2</a:t>
            </a:r>
            <a:r>
              <a:rPr lang="zh-CN" altLang="zh-CN" dirty="0"/>
              <a:t>枚金币。在接下来的</a:t>
            </a:r>
            <a:r>
              <a:rPr lang="en-US" altLang="zh-CN" dirty="0"/>
              <a:t>3</a:t>
            </a:r>
            <a:r>
              <a:rPr lang="zh-CN" altLang="zh-CN" dirty="0"/>
              <a:t>天的每一天（服务的第四，第五和第六天），骑士将获得</a:t>
            </a:r>
            <a:r>
              <a:rPr lang="en-US" altLang="zh-CN" dirty="0"/>
              <a:t>3</a:t>
            </a:r>
            <a:r>
              <a:rPr lang="zh-CN" altLang="zh-CN" dirty="0"/>
              <a:t>枚金币。在接下来的</a:t>
            </a:r>
            <a:r>
              <a:rPr lang="en-US" altLang="zh-CN" dirty="0"/>
              <a:t>4</a:t>
            </a:r>
            <a:r>
              <a:rPr lang="zh-CN" altLang="zh-CN" dirty="0"/>
              <a:t>天的每一天（服务的第七，第八，第九和第十天），骑士将获得</a:t>
            </a:r>
            <a:r>
              <a:rPr lang="en-US" altLang="zh-CN" dirty="0"/>
              <a:t>4</a:t>
            </a:r>
            <a:r>
              <a:rPr lang="zh-CN" altLang="zh-CN" dirty="0"/>
              <a:t>枚金币。这种支付模式将无限期地继续下去：在连续</a:t>
            </a:r>
            <a:r>
              <a:rPr lang="en-US" altLang="zh-CN" i="1" dirty="0"/>
              <a:t>N</a:t>
            </a:r>
            <a:r>
              <a:rPr lang="zh-CN" altLang="zh-CN" dirty="0"/>
              <a:t>天的每一天获得</a:t>
            </a:r>
            <a:r>
              <a:rPr lang="en-US" altLang="zh-CN" i="1" dirty="0"/>
              <a:t>N</a:t>
            </a:r>
            <a:r>
              <a:rPr lang="zh-CN" altLang="zh-CN" dirty="0"/>
              <a:t>枚金币之后，在下一个连续的</a:t>
            </a:r>
            <a:r>
              <a:rPr lang="en-US" altLang="zh-CN" i="1" dirty="0"/>
              <a:t>N</a:t>
            </a:r>
            <a:r>
              <a:rPr lang="en-US" altLang="zh-CN" dirty="0"/>
              <a:t> +1</a:t>
            </a:r>
            <a:r>
              <a:rPr lang="zh-CN" altLang="zh-CN" dirty="0"/>
              <a:t>天的每一天，骑士将获得</a:t>
            </a:r>
            <a:r>
              <a:rPr lang="en-US" altLang="zh-CN" i="1" dirty="0"/>
              <a:t>N</a:t>
            </a:r>
            <a:r>
              <a:rPr lang="en-US" altLang="zh-CN" dirty="0"/>
              <a:t> +1</a:t>
            </a:r>
            <a:r>
              <a:rPr lang="zh-CN" altLang="zh-CN" dirty="0"/>
              <a:t>枚金币，其中</a:t>
            </a:r>
            <a:r>
              <a:rPr lang="en-US" altLang="zh-CN" i="1" dirty="0"/>
              <a:t>N</a:t>
            </a:r>
            <a:r>
              <a:rPr lang="zh-CN" altLang="zh-CN" dirty="0"/>
              <a:t>是任意的正整数。</a:t>
            </a:r>
          </a:p>
          <a:p>
            <a:r>
              <a:rPr lang="zh-CN" altLang="zh-CN" dirty="0"/>
              <a:t>请编写程序，在给定天数的情况下，求出国王要支付给骑士的金币的总数（从第一天开始计算）。</a:t>
            </a:r>
            <a:endParaRPr lang="zh-CN" altLang="en-US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493700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41B74A4-A4BE-847A-5955-131F798527DA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566738" y="332656"/>
            <a:ext cx="8577262" cy="6525344"/>
          </a:xfrm>
        </p:spPr>
        <p:txBody>
          <a:bodyPr>
            <a:normAutofit fontScale="85000" lnSpcReduction="20000"/>
          </a:bodyPr>
          <a:lstStyle/>
          <a:p>
            <a:r>
              <a:rPr lang="en-US" altLang="zh-CN" dirty="0"/>
              <a:t>#include &lt;</a:t>
            </a:r>
            <a:r>
              <a:rPr lang="en-US" altLang="zh-CN" dirty="0" err="1"/>
              <a:t>stdio.h</a:t>
            </a:r>
            <a:r>
              <a:rPr lang="en-US" altLang="zh-CN" dirty="0"/>
              <a:t>&gt;</a:t>
            </a:r>
          </a:p>
          <a:p>
            <a:r>
              <a:rPr lang="en-US" altLang="zh-CN" dirty="0"/>
              <a:t>int main() {</a:t>
            </a:r>
          </a:p>
          <a:p>
            <a:r>
              <a:rPr lang="en-US" altLang="zh-CN" dirty="0"/>
              <a:t>    int days;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printf</a:t>
            </a:r>
            <a:r>
              <a:rPr lang="en-US" altLang="zh-CN" dirty="0"/>
              <a:t>(“Please input the number of days: ");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scanf</a:t>
            </a:r>
            <a:r>
              <a:rPr lang="en-US" altLang="zh-CN" dirty="0"/>
              <a:t>("%d", &amp;days);</a:t>
            </a:r>
          </a:p>
          <a:p>
            <a:r>
              <a:rPr lang="en-US" altLang="zh-CN" dirty="0"/>
              <a:t>    int total = 0; // </a:t>
            </a:r>
            <a:r>
              <a:rPr lang="zh-CN" altLang="en-US" dirty="0"/>
              <a:t>总金币数</a:t>
            </a:r>
          </a:p>
          <a:p>
            <a:r>
              <a:rPr lang="zh-CN" altLang="en-US" dirty="0"/>
              <a:t>    </a:t>
            </a:r>
            <a:r>
              <a:rPr lang="en-US" altLang="zh-CN" dirty="0"/>
              <a:t>int current = 1; // </a:t>
            </a:r>
            <a:r>
              <a:rPr lang="zh-CN" altLang="en-US" dirty="0"/>
              <a:t>当前服务的天数和当前天数的金币数</a:t>
            </a:r>
          </a:p>
          <a:p>
            <a:endParaRPr lang="zh-CN" altLang="en-US" dirty="0"/>
          </a:p>
          <a:p>
            <a:r>
              <a:rPr lang="zh-CN" altLang="en-US" dirty="0"/>
              <a:t>    </a:t>
            </a:r>
            <a:r>
              <a:rPr lang="en-US" altLang="zh-CN" dirty="0"/>
              <a:t>while (days &gt; 0) {</a:t>
            </a:r>
          </a:p>
          <a:p>
            <a:r>
              <a:rPr lang="en-US" altLang="zh-CN" dirty="0"/>
              <a:t>        for (int </a:t>
            </a:r>
            <a:r>
              <a:rPr lang="en-US" altLang="zh-CN" dirty="0" err="1"/>
              <a:t>i</a:t>
            </a:r>
            <a:r>
              <a:rPr lang="en-US" altLang="zh-CN" dirty="0"/>
              <a:t> = 0; </a:t>
            </a:r>
            <a:r>
              <a:rPr lang="en-US" altLang="zh-CN" dirty="0" err="1"/>
              <a:t>i</a:t>
            </a:r>
            <a:r>
              <a:rPr lang="en-US" altLang="zh-CN" dirty="0"/>
              <a:t> &lt; current &amp;&amp; days &gt; 0; </a:t>
            </a:r>
            <a:r>
              <a:rPr lang="en-US" altLang="zh-CN" dirty="0" err="1"/>
              <a:t>i</a:t>
            </a:r>
            <a:r>
              <a:rPr lang="en-US" altLang="zh-CN" dirty="0"/>
              <a:t>++) {</a:t>
            </a:r>
          </a:p>
          <a:p>
            <a:r>
              <a:rPr lang="en-US" altLang="zh-CN" dirty="0"/>
              <a:t>            total += current;</a:t>
            </a:r>
          </a:p>
          <a:p>
            <a:r>
              <a:rPr lang="en-US" altLang="zh-CN" dirty="0"/>
              <a:t>            days--;</a:t>
            </a:r>
          </a:p>
          <a:p>
            <a:r>
              <a:rPr lang="en-US" altLang="zh-CN" dirty="0"/>
              <a:t>        }</a:t>
            </a:r>
          </a:p>
          <a:p>
            <a:r>
              <a:rPr lang="en-US" altLang="zh-CN" dirty="0"/>
              <a:t>        current++;</a:t>
            </a:r>
          </a:p>
          <a:p>
            <a:r>
              <a:rPr lang="en-US" altLang="zh-CN" dirty="0"/>
              <a:t>}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printf</a:t>
            </a:r>
            <a:r>
              <a:rPr lang="en-US" altLang="zh-CN" dirty="0"/>
              <a:t>(“Total coins: %d\n", total);</a:t>
            </a:r>
          </a:p>
          <a:p>
            <a:r>
              <a:rPr lang="en-US" altLang="zh-CN" dirty="0"/>
              <a:t>    return 0;</a:t>
            </a:r>
          </a:p>
          <a:p>
            <a:r>
              <a:rPr lang="en-US" altLang="zh-CN" dirty="0"/>
              <a:t>}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4193829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0" name="Picture 3" descr="j019538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87675" y="4652963"/>
            <a:ext cx="2046288" cy="2089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6804025" y="4221163"/>
            <a:ext cx="2089150" cy="1152525"/>
            <a:chOff x="521" y="3294"/>
            <a:chExt cx="726" cy="726"/>
          </a:xfrm>
        </p:grpSpPr>
        <p:sp>
          <p:nvSpPr>
            <p:cNvPr id="567301" name="Oval 5"/>
            <p:cNvSpPr>
              <a:spLocks noChangeArrowheads="1"/>
            </p:cNvSpPr>
            <p:nvPr/>
          </p:nvSpPr>
          <p:spPr bwMode="auto">
            <a:xfrm>
              <a:off x="521" y="3294"/>
              <a:ext cx="726" cy="726"/>
            </a:xfrm>
            <a:prstGeom prst="ellipse">
              <a:avLst/>
            </a:prstGeom>
            <a:solidFill>
              <a:srgbClr val="0066CC"/>
            </a:solidFill>
            <a:ln w="19050" algn="ctr">
              <a:solidFill>
                <a:srgbClr val="99CCFF"/>
              </a:solidFill>
              <a:round/>
              <a:headEnd/>
              <a:tailEnd/>
            </a:ln>
            <a:effectLst>
              <a:outerShdw dist="35921" dir="2700000" algn="ctr" rotWithShape="0">
                <a:srgbClr val="990000"/>
              </a:outerShdw>
            </a:effectLst>
          </p:spPr>
          <p:txBody>
            <a:bodyPr wrap="none" lIns="0" tIns="0" rIns="0" bIns="0" anchor="ctr">
              <a:spAutoFit/>
            </a:bodyPr>
            <a:lstStyle/>
            <a:p>
              <a:pPr algn="ctr" eaLnBrk="0" hangingPunct="0">
                <a:lnSpc>
                  <a:spcPct val="95000"/>
                </a:lnSpc>
                <a:spcBef>
                  <a:spcPct val="20000"/>
                </a:spcBef>
                <a:buClr>
                  <a:srgbClr val="FFCC66"/>
                </a:buClr>
                <a:buSzPct val="80000"/>
                <a:buFont typeface="Monotype Sorts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67302" name="Text Box 6"/>
            <p:cNvSpPr txBox="1">
              <a:spLocks noChangeArrowheads="1"/>
            </p:cNvSpPr>
            <p:nvPr/>
          </p:nvSpPr>
          <p:spPr bwMode="auto">
            <a:xfrm>
              <a:off x="612" y="3479"/>
              <a:ext cx="590" cy="346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kumimoji="1" lang="zh-CN" altLang="en-US">
                  <a:solidFill>
                    <a:srgbClr val="FFFF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隶书" pitchFamily="49" charset="-122"/>
                  <a:ea typeface="隶书" pitchFamily="49" charset="-122"/>
                </a:rPr>
                <a:t>只猜</a:t>
              </a:r>
              <a:r>
                <a:rPr kumimoji="1" lang="en-US" altLang="zh-CN">
                  <a:solidFill>
                    <a:srgbClr val="FFFF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隶书" pitchFamily="49" charset="-122"/>
                  <a:ea typeface="隶书" pitchFamily="49" charset="-122"/>
                </a:rPr>
                <a:t>1</a:t>
              </a:r>
              <a:r>
                <a:rPr kumimoji="1" lang="zh-CN" altLang="en-US">
                  <a:solidFill>
                    <a:srgbClr val="FFFF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隶书" pitchFamily="49" charset="-122"/>
                  <a:ea typeface="隶书" pitchFamily="49" charset="-122"/>
                </a:rPr>
                <a:t>次</a:t>
              </a:r>
            </a:p>
          </p:txBody>
        </p:sp>
      </p:grpSp>
      <p:grpSp>
        <p:nvGrpSpPr>
          <p:cNvPr id="3" name="Group 7"/>
          <p:cNvGrpSpPr>
            <a:grpSpLocks/>
          </p:cNvGrpSpPr>
          <p:nvPr/>
        </p:nvGrpSpPr>
        <p:grpSpPr bwMode="auto">
          <a:xfrm>
            <a:off x="4140200" y="3644900"/>
            <a:ext cx="3455988" cy="1152525"/>
            <a:chOff x="521" y="3294"/>
            <a:chExt cx="726" cy="726"/>
          </a:xfrm>
        </p:grpSpPr>
        <p:sp>
          <p:nvSpPr>
            <p:cNvPr id="567304" name="Oval 8"/>
            <p:cNvSpPr>
              <a:spLocks noChangeArrowheads="1"/>
            </p:cNvSpPr>
            <p:nvPr/>
          </p:nvSpPr>
          <p:spPr bwMode="auto">
            <a:xfrm>
              <a:off x="521" y="3294"/>
              <a:ext cx="726" cy="726"/>
            </a:xfrm>
            <a:prstGeom prst="ellipse">
              <a:avLst/>
            </a:prstGeom>
            <a:solidFill>
              <a:srgbClr val="0066CC"/>
            </a:solidFill>
            <a:ln w="19050" algn="ctr">
              <a:solidFill>
                <a:srgbClr val="99CCFF"/>
              </a:solidFill>
              <a:round/>
              <a:headEnd/>
              <a:tailEnd/>
            </a:ln>
            <a:effectLst>
              <a:outerShdw dist="35921" dir="2700000" algn="ctr" rotWithShape="0">
                <a:srgbClr val="990000"/>
              </a:outerShdw>
            </a:effectLst>
          </p:spPr>
          <p:txBody>
            <a:bodyPr lIns="0" tIns="0" rIns="0" bIns="0" anchor="ctr">
              <a:spAutoFit/>
            </a:bodyPr>
            <a:lstStyle/>
            <a:p>
              <a:pPr algn="ctr" eaLnBrk="0" hangingPunct="0">
                <a:lnSpc>
                  <a:spcPct val="95000"/>
                </a:lnSpc>
                <a:spcBef>
                  <a:spcPct val="20000"/>
                </a:spcBef>
                <a:buClr>
                  <a:srgbClr val="FFCC66"/>
                </a:buClr>
                <a:buSzPct val="80000"/>
                <a:buFont typeface="Monotype Sorts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67305" name="Text Box 9"/>
            <p:cNvSpPr txBox="1">
              <a:spLocks noChangeArrowheads="1"/>
            </p:cNvSpPr>
            <p:nvPr/>
          </p:nvSpPr>
          <p:spPr bwMode="auto">
            <a:xfrm>
              <a:off x="612" y="3479"/>
              <a:ext cx="590" cy="346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kumimoji="1" lang="zh-CN" altLang="en-US">
                  <a:solidFill>
                    <a:srgbClr val="FFFF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隶书" pitchFamily="49" charset="-122"/>
                  <a:ea typeface="隶书" pitchFamily="49" charset="-122"/>
                </a:rPr>
                <a:t>直到猜对为止</a:t>
              </a:r>
            </a:p>
          </p:txBody>
        </p:sp>
      </p:grpSp>
      <p:grpSp>
        <p:nvGrpSpPr>
          <p:cNvPr id="4" name="Group 10"/>
          <p:cNvGrpSpPr>
            <a:grpSpLocks/>
          </p:cNvGrpSpPr>
          <p:nvPr/>
        </p:nvGrpSpPr>
        <p:grpSpPr bwMode="auto">
          <a:xfrm>
            <a:off x="2411413" y="2852738"/>
            <a:ext cx="2879725" cy="1152525"/>
            <a:chOff x="521" y="3294"/>
            <a:chExt cx="726" cy="726"/>
          </a:xfrm>
        </p:grpSpPr>
        <p:sp>
          <p:nvSpPr>
            <p:cNvPr id="567307" name="Oval 11"/>
            <p:cNvSpPr>
              <a:spLocks noChangeArrowheads="1"/>
            </p:cNvSpPr>
            <p:nvPr/>
          </p:nvSpPr>
          <p:spPr bwMode="auto">
            <a:xfrm>
              <a:off x="521" y="3294"/>
              <a:ext cx="726" cy="726"/>
            </a:xfrm>
            <a:prstGeom prst="ellipse">
              <a:avLst/>
            </a:prstGeom>
            <a:solidFill>
              <a:srgbClr val="0066CC"/>
            </a:solidFill>
            <a:ln w="19050" algn="ctr">
              <a:solidFill>
                <a:srgbClr val="99CCFF"/>
              </a:solidFill>
              <a:round/>
              <a:headEnd/>
              <a:tailEnd/>
            </a:ln>
            <a:effectLst>
              <a:outerShdw dist="35921" dir="2700000" algn="ctr" rotWithShape="0">
                <a:srgbClr val="990000"/>
              </a:outerShdw>
            </a:effectLst>
          </p:spPr>
          <p:txBody>
            <a:bodyPr lIns="0" tIns="0" rIns="0" bIns="0" anchor="ctr">
              <a:spAutoFit/>
            </a:bodyPr>
            <a:lstStyle/>
            <a:p>
              <a:pPr algn="ctr" eaLnBrk="0" hangingPunct="0">
                <a:lnSpc>
                  <a:spcPct val="95000"/>
                </a:lnSpc>
                <a:spcBef>
                  <a:spcPct val="20000"/>
                </a:spcBef>
                <a:buClr>
                  <a:srgbClr val="FFCC66"/>
                </a:buClr>
                <a:buSzPct val="80000"/>
                <a:buFont typeface="Monotype Sorts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67308" name="Text Box 12"/>
            <p:cNvSpPr txBox="1">
              <a:spLocks noChangeArrowheads="1"/>
            </p:cNvSpPr>
            <p:nvPr/>
          </p:nvSpPr>
          <p:spPr bwMode="auto">
            <a:xfrm>
              <a:off x="612" y="3479"/>
              <a:ext cx="590" cy="346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kumimoji="1" lang="zh-CN" altLang="en-US">
                  <a:solidFill>
                    <a:srgbClr val="FFFF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隶书" pitchFamily="49" charset="-122"/>
                  <a:ea typeface="隶书" pitchFamily="49" charset="-122"/>
                </a:rPr>
                <a:t>最多猜</a:t>
              </a:r>
              <a:r>
                <a:rPr kumimoji="1" lang="en-US" altLang="zh-CN">
                  <a:solidFill>
                    <a:srgbClr val="FFFF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隶书" pitchFamily="49" charset="-122"/>
                  <a:ea typeface="隶书" pitchFamily="49" charset="-122"/>
                </a:rPr>
                <a:t>10</a:t>
              </a:r>
              <a:r>
                <a:rPr kumimoji="1" lang="zh-CN" altLang="en-US">
                  <a:solidFill>
                    <a:srgbClr val="FFFF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隶书" pitchFamily="49" charset="-122"/>
                  <a:ea typeface="隶书" pitchFamily="49" charset="-122"/>
                </a:rPr>
                <a:t>次</a:t>
              </a:r>
            </a:p>
          </p:txBody>
        </p:sp>
      </p:grpSp>
      <p:grpSp>
        <p:nvGrpSpPr>
          <p:cNvPr id="5" name="Group 13"/>
          <p:cNvGrpSpPr>
            <a:grpSpLocks/>
          </p:cNvGrpSpPr>
          <p:nvPr/>
        </p:nvGrpSpPr>
        <p:grpSpPr bwMode="auto">
          <a:xfrm>
            <a:off x="0" y="1774825"/>
            <a:ext cx="3455988" cy="1582738"/>
            <a:chOff x="3334" y="1888"/>
            <a:chExt cx="2177" cy="1043"/>
          </a:xfrm>
        </p:grpSpPr>
        <p:sp>
          <p:nvSpPr>
            <p:cNvPr id="567310" name="Oval 14"/>
            <p:cNvSpPr>
              <a:spLocks noChangeArrowheads="1"/>
            </p:cNvSpPr>
            <p:nvPr/>
          </p:nvSpPr>
          <p:spPr bwMode="auto">
            <a:xfrm>
              <a:off x="3334" y="1888"/>
              <a:ext cx="2177" cy="1043"/>
            </a:xfrm>
            <a:prstGeom prst="ellipse">
              <a:avLst/>
            </a:prstGeom>
            <a:solidFill>
              <a:srgbClr val="0066CC"/>
            </a:solidFill>
            <a:ln w="19050" algn="ctr">
              <a:solidFill>
                <a:srgbClr val="99CCFF"/>
              </a:solidFill>
              <a:round/>
              <a:headEnd/>
              <a:tailEnd/>
            </a:ln>
            <a:effectLst>
              <a:outerShdw dist="35921" dir="2700000" algn="ctr" rotWithShape="0">
                <a:srgbClr val="990000"/>
              </a:outerShdw>
            </a:effectLst>
          </p:spPr>
          <p:txBody>
            <a:bodyPr lIns="0" tIns="0" rIns="0" bIns="0" anchor="ctr">
              <a:spAutoFit/>
            </a:bodyPr>
            <a:lstStyle/>
            <a:p>
              <a:pPr algn="ctr" eaLnBrk="0" hangingPunct="0">
                <a:lnSpc>
                  <a:spcPct val="95000"/>
                </a:lnSpc>
                <a:spcBef>
                  <a:spcPct val="20000"/>
                </a:spcBef>
                <a:buClr>
                  <a:srgbClr val="FFCC66"/>
                </a:buClr>
                <a:buSzPct val="80000"/>
                <a:buFont typeface="Monotype Sorts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67311" name="Text Box 15"/>
            <p:cNvSpPr txBox="1">
              <a:spLocks noChangeArrowheads="1"/>
            </p:cNvSpPr>
            <p:nvPr/>
          </p:nvSpPr>
          <p:spPr bwMode="auto">
            <a:xfrm>
              <a:off x="3553" y="2007"/>
              <a:ext cx="1769" cy="816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ctr">
                <a:lnSpc>
                  <a:spcPct val="75000"/>
                </a:lnSpc>
                <a:defRPr/>
              </a:pPr>
              <a:r>
                <a:rPr kumimoji="1" lang="zh-CN" altLang="en-US">
                  <a:solidFill>
                    <a:srgbClr val="FFFF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隶书" pitchFamily="49" charset="-122"/>
                  <a:ea typeface="隶书" pitchFamily="49" charset="-122"/>
                </a:rPr>
                <a:t>猜多个数</a:t>
              </a:r>
            </a:p>
            <a:p>
              <a:pPr algn="ctr">
                <a:lnSpc>
                  <a:spcPct val="75000"/>
                </a:lnSpc>
                <a:defRPr/>
              </a:pPr>
              <a:r>
                <a:rPr kumimoji="1" lang="en-US" altLang="zh-CN">
                  <a:solidFill>
                    <a:srgbClr val="FFFF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隶书" pitchFamily="49" charset="-122"/>
                  <a:ea typeface="隶书" pitchFamily="49" charset="-122"/>
                </a:rPr>
                <a:t>10</a:t>
              </a:r>
              <a:r>
                <a:rPr kumimoji="1" lang="zh-CN" altLang="en-US">
                  <a:solidFill>
                    <a:srgbClr val="FFFF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隶书" pitchFamily="49" charset="-122"/>
                  <a:ea typeface="隶书" pitchFamily="49" charset="-122"/>
                </a:rPr>
                <a:t>次猜不对就猜下一个数</a:t>
              </a:r>
            </a:p>
          </p:txBody>
        </p:sp>
      </p:grpSp>
      <p:sp>
        <p:nvSpPr>
          <p:cNvPr id="567312" name="Line 16"/>
          <p:cNvSpPr>
            <a:spLocks noChangeShapeType="1"/>
          </p:cNvSpPr>
          <p:nvPr/>
        </p:nvSpPr>
        <p:spPr bwMode="auto">
          <a:xfrm flipH="1" flipV="1">
            <a:off x="1619250" y="1484313"/>
            <a:ext cx="7200900" cy="2881312"/>
          </a:xfrm>
          <a:prstGeom prst="line">
            <a:avLst/>
          </a:prstGeom>
          <a:noFill/>
          <a:ln w="38100">
            <a:solidFill>
              <a:srgbClr val="800000"/>
            </a:solidFill>
            <a:round/>
            <a:headEnd/>
            <a:tailEnd type="triangle" w="med" len="lg"/>
          </a:ln>
          <a:effectLst/>
        </p:spPr>
        <p:txBody>
          <a:bodyPr lIns="0" tIns="0" rIns="0" bIns="0"/>
          <a:lstStyle/>
          <a:p>
            <a:pPr algn="ctr" eaLnBrk="0" hangingPunct="0">
              <a:lnSpc>
                <a:spcPct val="95000"/>
              </a:lnSpc>
              <a:spcBef>
                <a:spcPct val="20000"/>
              </a:spcBef>
              <a:buClr>
                <a:srgbClr val="FFCC66"/>
              </a:buClr>
              <a:buSzPct val="80000"/>
              <a:buFont typeface="Monotype Sorts" charset="2"/>
              <a:buNone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32776" name="Picture 17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9750" y="5373688"/>
            <a:ext cx="1296988" cy="973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67314" name="Rectangle 18"/>
          <p:cNvSpPr>
            <a:spLocks noGrp="1" noChangeArrowheads="1"/>
          </p:cNvSpPr>
          <p:nvPr>
            <p:ph type="title"/>
          </p:nvPr>
        </p:nvSpPr>
        <p:spPr>
          <a:xfrm>
            <a:off x="684213" y="557213"/>
            <a:ext cx="7772400" cy="1503362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zh-CN" altLang="en-US" sz="4000" dirty="0">
                <a:solidFill>
                  <a:srgbClr val="880000"/>
                </a:solidFill>
              </a:rPr>
              <a:t>循序渐进式编程</a:t>
            </a:r>
            <a:r>
              <a:rPr lang="zh-CN" altLang="en-US" sz="4000" dirty="0"/>
              <a:t>：猜数游戏</a:t>
            </a:r>
            <a:br>
              <a:rPr lang="zh-CN" altLang="en-US" sz="4000" dirty="0"/>
            </a:br>
            <a:endParaRPr lang="en-US" altLang="zh-CN" sz="4000" dirty="0"/>
          </a:p>
        </p:txBody>
      </p:sp>
      <p:pic>
        <p:nvPicPr>
          <p:cNvPr id="32778" name="Picture 6" descr="J0234687"/>
          <p:cNvPicPr>
            <a:picLocks noChangeAspect="1" noChangeArrowheads="1" noCrop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380288" y="2317750"/>
            <a:ext cx="1584325" cy="933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567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3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60648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zh-CN" altLang="en-US" sz="4000" dirty="0"/>
              <a:t>猜数游戏用到的库函数</a:t>
            </a:r>
          </a:p>
        </p:txBody>
      </p:sp>
      <p:sp>
        <p:nvSpPr>
          <p:cNvPr id="5683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570038"/>
            <a:ext cx="8062912" cy="4954587"/>
          </a:xfrm>
        </p:spPr>
        <p:txBody>
          <a:bodyPr/>
          <a:lstStyle/>
          <a:p>
            <a:pPr>
              <a:lnSpc>
                <a:spcPct val="90000"/>
              </a:lnSpc>
              <a:buFont typeface="Monotype Sorts" charset="2"/>
              <a:buChar char=""/>
              <a:defRPr/>
            </a:pPr>
            <a:r>
              <a:rPr lang="zh-CN" altLang="en-US">
                <a:latin typeface="Courier New" pitchFamily="49" charset="0"/>
                <a:ea typeface="华文仿宋" pitchFamily="2" charset="-122"/>
              </a:rPr>
              <a:t>怎样模拟计算机“想”一个数呢？</a:t>
            </a:r>
          </a:p>
          <a:p>
            <a:pPr>
              <a:lnSpc>
                <a:spcPct val="90000"/>
              </a:lnSpc>
              <a:buFont typeface="Monotype Sorts" charset="2"/>
              <a:buChar char=""/>
              <a:defRPr/>
            </a:pPr>
            <a:r>
              <a:rPr lang="zh-CN" altLang="en-US">
                <a:latin typeface="Courier New" pitchFamily="49" charset="0"/>
                <a:ea typeface="华文仿宋" pitchFamily="2" charset="-122"/>
              </a:rPr>
              <a:t>随机函数</a:t>
            </a:r>
            <a:r>
              <a:rPr lang="en-US" altLang="zh-CN">
                <a:solidFill>
                  <a:schemeClr val="tx1"/>
                </a:solidFill>
                <a:latin typeface="Courier New" pitchFamily="49" charset="0"/>
                <a:ea typeface="华文仿宋" pitchFamily="2" charset="-122"/>
              </a:rPr>
              <a:t>rand()</a:t>
            </a:r>
            <a:endParaRPr lang="zh-CN" altLang="en-US">
              <a:solidFill>
                <a:schemeClr val="tx1"/>
              </a:solidFill>
              <a:latin typeface="Courier New" pitchFamily="49" charset="0"/>
              <a:ea typeface="华文仿宋" pitchFamily="2" charset="-122"/>
            </a:endParaRPr>
          </a:p>
          <a:p>
            <a:pPr>
              <a:lnSpc>
                <a:spcPct val="90000"/>
              </a:lnSpc>
              <a:buFont typeface="Monotype Sorts" charset="2"/>
              <a:buChar char=""/>
              <a:defRPr/>
            </a:pPr>
            <a:r>
              <a:rPr lang="zh-CN" altLang="en-US">
                <a:latin typeface="Courier New" pitchFamily="49" charset="0"/>
                <a:ea typeface="华文仿宋" pitchFamily="2" charset="-122"/>
              </a:rPr>
              <a:t>产生</a:t>
            </a:r>
            <a:r>
              <a:rPr lang="en-US" altLang="zh-CN">
                <a:latin typeface="Courier New" pitchFamily="49" charset="0"/>
                <a:ea typeface="华文仿宋" pitchFamily="2" charset="-122"/>
              </a:rPr>
              <a:t>[0,RAND_MAX] </a:t>
            </a:r>
            <a:r>
              <a:rPr lang="zh-CN" altLang="en-US">
                <a:latin typeface="Courier New" pitchFamily="49" charset="0"/>
                <a:ea typeface="华文仿宋" pitchFamily="2" charset="-122"/>
              </a:rPr>
              <a:t>之间的随机数</a:t>
            </a:r>
          </a:p>
          <a:p>
            <a:pPr lvl="1">
              <a:lnSpc>
                <a:spcPct val="90000"/>
              </a:lnSpc>
              <a:defRPr/>
            </a:pPr>
            <a:r>
              <a:rPr lang="en-US" altLang="zh-CN">
                <a:latin typeface="Courier New" pitchFamily="49" charset="0"/>
                <a:ea typeface="宋体" pitchFamily="2" charset="-122"/>
              </a:rPr>
              <a:t>magic = rand(); </a:t>
            </a:r>
          </a:p>
          <a:p>
            <a:pPr>
              <a:lnSpc>
                <a:spcPct val="90000"/>
              </a:lnSpc>
              <a:buFont typeface="Monotype Sorts" charset="2"/>
              <a:buChar char=""/>
              <a:defRPr/>
            </a:pPr>
            <a:r>
              <a:rPr lang="en-US" altLang="zh-CN">
                <a:latin typeface="Courier New" pitchFamily="49" charset="0"/>
                <a:ea typeface="宋体" pitchFamily="2" charset="-122"/>
              </a:rPr>
              <a:t>#include &lt;stdlib.h&gt;</a:t>
            </a:r>
          </a:p>
          <a:p>
            <a:pPr lvl="1">
              <a:lnSpc>
                <a:spcPct val="90000"/>
              </a:lnSpc>
              <a:defRPr/>
            </a:pPr>
            <a:r>
              <a:rPr lang="en-US" altLang="zh-CN">
                <a:latin typeface="Courier New" pitchFamily="49" charset="0"/>
                <a:ea typeface="宋体" pitchFamily="2" charset="-122"/>
              </a:rPr>
              <a:t>RAND_MAX</a:t>
            </a:r>
            <a:r>
              <a:rPr lang="zh-CN" altLang="en-US">
                <a:ea typeface="宋体" pitchFamily="2" charset="-122"/>
              </a:rPr>
              <a:t>在</a:t>
            </a:r>
            <a:r>
              <a:rPr lang="en-US" altLang="zh-CN">
                <a:latin typeface="Courier New" pitchFamily="49" charset="0"/>
                <a:ea typeface="宋体" pitchFamily="2" charset="-122"/>
              </a:rPr>
              <a:t>stdlib.h</a:t>
            </a:r>
            <a:r>
              <a:rPr lang="zh-CN" altLang="en-US">
                <a:ea typeface="宋体" pitchFamily="2" charset="-122"/>
              </a:rPr>
              <a:t>中定义，不大于双字节整数的最大值</a:t>
            </a:r>
            <a:r>
              <a:rPr lang="en-US" altLang="zh-CN">
                <a:ea typeface="宋体" pitchFamily="2" charset="-122"/>
              </a:rPr>
              <a:t>32767 </a:t>
            </a:r>
          </a:p>
          <a:p>
            <a:pPr>
              <a:lnSpc>
                <a:spcPct val="90000"/>
              </a:lnSpc>
              <a:buFont typeface="Monotype Sorts" charset="2"/>
              <a:buChar char=""/>
              <a:defRPr/>
            </a:pPr>
            <a:r>
              <a:rPr lang="zh-CN" altLang="en-US">
                <a:latin typeface="Courier New" pitchFamily="49" charset="0"/>
                <a:ea typeface="华文仿宋" pitchFamily="2" charset="-122"/>
              </a:rPr>
              <a:t>产生</a:t>
            </a:r>
            <a:r>
              <a:rPr lang="en-US" altLang="zh-CN">
                <a:latin typeface="Courier New" pitchFamily="49" charset="0"/>
                <a:ea typeface="华文仿宋" pitchFamily="2" charset="-122"/>
              </a:rPr>
              <a:t>[0,b-1] </a:t>
            </a:r>
            <a:r>
              <a:rPr lang="zh-CN" altLang="en-US">
                <a:latin typeface="Courier New" pitchFamily="49" charset="0"/>
                <a:ea typeface="华文仿宋" pitchFamily="2" charset="-122"/>
              </a:rPr>
              <a:t>之间的随机数</a:t>
            </a:r>
          </a:p>
          <a:p>
            <a:pPr lvl="1">
              <a:lnSpc>
                <a:spcPct val="90000"/>
              </a:lnSpc>
              <a:defRPr/>
            </a:pPr>
            <a:r>
              <a:rPr lang="en-US" altLang="zh-CN">
                <a:latin typeface="Courier New" pitchFamily="49" charset="0"/>
                <a:ea typeface="宋体" pitchFamily="2" charset="-122"/>
              </a:rPr>
              <a:t>magic = rand()%b;</a:t>
            </a:r>
          </a:p>
          <a:p>
            <a:pPr>
              <a:lnSpc>
                <a:spcPct val="90000"/>
              </a:lnSpc>
              <a:buFont typeface="Monotype Sorts" charset="2"/>
              <a:buChar char=""/>
              <a:defRPr/>
            </a:pPr>
            <a:r>
              <a:rPr lang="zh-CN" altLang="en-US">
                <a:latin typeface="Courier New" pitchFamily="49" charset="0"/>
                <a:ea typeface="华文仿宋" pitchFamily="2" charset="-122"/>
              </a:rPr>
              <a:t>产生</a:t>
            </a:r>
            <a:r>
              <a:rPr lang="en-US" altLang="zh-CN">
                <a:latin typeface="Courier New" pitchFamily="49" charset="0"/>
                <a:ea typeface="华文仿宋" pitchFamily="2" charset="-122"/>
              </a:rPr>
              <a:t>[a,a+b-1] </a:t>
            </a:r>
            <a:r>
              <a:rPr lang="zh-CN" altLang="en-US">
                <a:latin typeface="Courier New" pitchFamily="49" charset="0"/>
                <a:ea typeface="华文仿宋" pitchFamily="2" charset="-122"/>
              </a:rPr>
              <a:t>之间的随机数</a:t>
            </a:r>
          </a:p>
          <a:p>
            <a:pPr lvl="1">
              <a:lnSpc>
                <a:spcPct val="90000"/>
              </a:lnSpc>
              <a:defRPr/>
            </a:pPr>
            <a:r>
              <a:rPr lang="en-US" altLang="zh-CN">
                <a:latin typeface="Courier New" pitchFamily="49" charset="0"/>
                <a:ea typeface="宋体" pitchFamily="2" charset="-122"/>
              </a:rPr>
              <a:t>magic = rand()%b + a;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3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683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3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683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3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683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3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683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3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683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3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683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3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683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3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5683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3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5683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8323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350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34925" y="44450"/>
            <a:ext cx="9109075" cy="6813550"/>
          </a:xfrm>
          <a:solidFill>
            <a:srgbClr val="E5FFFF"/>
          </a:solidFill>
        </p:spPr>
        <p:txBody>
          <a:bodyPr>
            <a:normAutofit/>
          </a:bodyPr>
          <a:lstStyle/>
          <a:p>
            <a:pPr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#</a:t>
            </a:r>
            <a:r>
              <a:rPr lang="fr-FR" altLang="zh-CN" sz="1800" dirty="0">
                <a:solidFill>
                  <a:schemeClr val="accent2"/>
                </a:solidFill>
                <a:latin typeface="Courier New" pitchFamily="49" charset="0"/>
                <a:ea typeface="宋体" pitchFamily="2" charset="-122"/>
              </a:rPr>
              <a:t>include</a:t>
            </a: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  &lt;stdlib.h&gt;</a:t>
            </a:r>
            <a:endParaRPr lang="en-US" altLang="zh-CN" sz="1800" dirty="0">
              <a:solidFill>
                <a:schemeClr val="tx1"/>
              </a:solidFill>
              <a:latin typeface="Courier New" pitchFamily="49" charset="0"/>
              <a:ea typeface="宋体" pitchFamily="2" charset="-122"/>
            </a:endParaRPr>
          </a:p>
          <a:p>
            <a:pPr>
              <a:lnSpc>
                <a:spcPct val="75000"/>
              </a:lnSpc>
              <a:buFont typeface="Monotype Sorts" charset="2"/>
              <a:buNone/>
              <a:defRPr/>
            </a:pPr>
            <a:r>
              <a:rPr lang="en-US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#</a:t>
            </a:r>
            <a:r>
              <a:rPr lang="en-US" altLang="zh-CN" sz="1800" dirty="0">
                <a:solidFill>
                  <a:schemeClr val="accent2"/>
                </a:solidFill>
                <a:latin typeface="Courier New" pitchFamily="49" charset="0"/>
                <a:ea typeface="宋体" pitchFamily="2" charset="-122"/>
              </a:rPr>
              <a:t>include</a:t>
            </a:r>
            <a:r>
              <a:rPr lang="en-US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  &lt;</a:t>
            </a:r>
            <a:r>
              <a:rPr lang="en-US" altLang="zh-CN" sz="1800" dirty="0" err="1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stdio.h</a:t>
            </a:r>
            <a:r>
              <a:rPr lang="en-US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&gt;</a:t>
            </a:r>
          </a:p>
          <a:p>
            <a:pPr>
              <a:lnSpc>
                <a:spcPct val="75000"/>
              </a:lnSpc>
              <a:buFont typeface="Monotype Sorts" charset="2"/>
              <a:buNone/>
              <a:defRPr/>
            </a:pPr>
            <a:r>
              <a:rPr lang="en-US" altLang="zh-CN" sz="1800" dirty="0">
                <a:ea typeface="宋体" pitchFamily="2" charset="-122"/>
              </a:rPr>
              <a:t> void </a:t>
            </a: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main()</a:t>
            </a:r>
          </a:p>
          <a:p>
            <a:pPr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{ </a:t>
            </a:r>
          </a:p>
          <a:p>
            <a:pPr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	</a:t>
            </a:r>
            <a:r>
              <a:rPr lang="fr-FR" altLang="zh-CN" sz="1800" dirty="0">
                <a:solidFill>
                  <a:schemeClr val="accent2"/>
                </a:solidFill>
                <a:latin typeface="Courier New" pitchFamily="49" charset="0"/>
                <a:ea typeface="宋体" pitchFamily="2" charset="-122"/>
              </a:rPr>
              <a:t>int</a:t>
            </a: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  magic;       /*</a:t>
            </a:r>
            <a:r>
              <a:rPr lang="zh-CN" altLang="fr-FR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计算机</a:t>
            </a: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"</a:t>
            </a:r>
            <a:r>
              <a:rPr lang="zh-CN" altLang="fr-FR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想</a:t>
            </a: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"</a:t>
            </a:r>
            <a:r>
              <a:rPr lang="zh-CN" altLang="fr-FR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的数*</a:t>
            </a: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/</a:t>
            </a:r>
          </a:p>
          <a:p>
            <a:pPr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	</a:t>
            </a:r>
            <a:r>
              <a:rPr lang="fr-FR" altLang="zh-CN" sz="1800" dirty="0">
                <a:solidFill>
                  <a:schemeClr val="accent2"/>
                </a:solidFill>
                <a:latin typeface="Courier New" pitchFamily="49" charset="0"/>
                <a:ea typeface="宋体" pitchFamily="2" charset="-122"/>
              </a:rPr>
              <a:t>int</a:t>
            </a: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  guess;       /*</a:t>
            </a:r>
            <a:r>
              <a:rPr lang="zh-CN" altLang="fr-FR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人猜的数*</a:t>
            </a: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/</a:t>
            </a:r>
          </a:p>
          <a:p>
            <a:pPr>
              <a:lnSpc>
                <a:spcPct val="75000"/>
              </a:lnSpc>
              <a:buFont typeface="Monotype Sorts" charset="2"/>
              <a:buNone/>
              <a:defRPr/>
            </a:pPr>
            <a:endParaRPr lang="fr-FR" altLang="zh-CN" sz="1800" dirty="0">
              <a:solidFill>
                <a:schemeClr val="tx1"/>
              </a:solidFill>
              <a:latin typeface="Courier New" pitchFamily="49" charset="0"/>
              <a:ea typeface="宋体" pitchFamily="2" charset="-122"/>
            </a:endParaRPr>
          </a:p>
          <a:p>
            <a:pPr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	</a:t>
            </a:r>
            <a:r>
              <a:rPr lang="fr-FR" altLang="zh-CN" sz="1800" dirty="0">
                <a:solidFill>
                  <a:srgbClr val="FF0000"/>
                </a:solidFill>
                <a:latin typeface="Courier New" pitchFamily="49" charset="0"/>
                <a:ea typeface="宋体" pitchFamily="2" charset="-122"/>
              </a:rPr>
              <a:t>magic = rand()%100 + 1;   </a:t>
            </a: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/*“</a:t>
            </a:r>
            <a:r>
              <a:rPr lang="zh-CN" altLang="fr-FR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想</a:t>
            </a: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”</a:t>
            </a:r>
            <a:r>
              <a:rPr lang="zh-CN" altLang="fr-FR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一个</a:t>
            </a: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[1</a:t>
            </a:r>
            <a:r>
              <a:rPr lang="zh-CN" altLang="fr-FR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，</a:t>
            </a: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100]</a:t>
            </a:r>
            <a:r>
              <a:rPr lang="zh-CN" altLang="fr-FR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之间的数</a:t>
            </a: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magic*/</a:t>
            </a:r>
          </a:p>
          <a:p>
            <a:pPr>
              <a:lnSpc>
                <a:spcPct val="75000"/>
              </a:lnSpc>
              <a:buFont typeface="Monotype Sorts" charset="2"/>
              <a:buNone/>
              <a:defRPr/>
            </a:pPr>
            <a:endParaRPr lang="fr-FR" altLang="zh-CN" sz="1800" dirty="0">
              <a:solidFill>
                <a:schemeClr val="tx1"/>
              </a:solidFill>
              <a:latin typeface="Courier New" pitchFamily="49" charset="0"/>
              <a:ea typeface="宋体" pitchFamily="2" charset="-122"/>
            </a:endParaRPr>
          </a:p>
          <a:p>
            <a:pPr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	printf("Please guess a magic number:");</a:t>
            </a:r>
          </a:p>
          <a:p>
            <a:pPr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	scanf("%d", &amp;guess); </a:t>
            </a:r>
          </a:p>
          <a:p>
            <a:pPr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      </a:t>
            </a:r>
          </a:p>
          <a:p>
            <a:pPr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	</a:t>
            </a:r>
            <a:r>
              <a:rPr lang="fr-FR" altLang="zh-CN" sz="1800" dirty="0">
                <a:solidFill>
                  <a:schemeClr val="accent2"/>
                </a:solidFill>
                <a:latin typeface="Courier New" pitchFamily="49" charset="0"/>
                <a:ea typeface="宋体" pitchFamily="2" charset="-122"/>
              </a:rPr>
              <a:t>if</a:t>
            </a: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 (guess &gt; magic)</a:t>
            </a:r>
          </a:p>
          <a:p>
            <a:pPr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	{</a:t>
            </a:r>
          </a:p>
          <a:p>
            <a:pPr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        printf("Wrong! Too high!\n"); </a:t>
            </a:r>
          </a:p>
          <a:p>
            <a:pPr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	}</a:t>
            </a:r>
          </a:p>
          <a:p>
            <a:pPr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	</a:t>
            </a:r>
            <a:r>
              <a:rPr lang="fr-FR" altLang="zh-CN" sz="1800" dirty="0">
                <a:solidFill>
                  <a:schemeClr val="accent2"/>
                </a:solidFill>
                <a:latin typeface="Courier New" pitchFamily="49" charset="0"/>
                <a:ea typeface="宋体" pitchFamily="2" charset="-122"/>
              </a:rPr>
              <a:t>else if</a:t>
            </a: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 (guess &lt; magic)    </a:t>
            </a:r>
          </a:p>
          <a:p>
            <a:pPr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	     {</a:t>
            </a:r>
          </a:p>
          <a:p>
            <a:pPr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        	printf("Wrong! Too low!\n");  </a:t>
            </a:r>
          </a:p>
          <a:p>
            <a:pPr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	     }</a:t>
            </a:r>
          </a:p>
          <a:p>
            <a:pPr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	     </a:t>
            </a:r>
            <a:r>
              <a:rPr lang="fr-FR" altLang="zh-CN" sz="1800" dirty="0">
                <a:solidFill>
                  <a:schemeClr val="accent2"/>
                </a:solidFill>
                <a:latin typeface="Courier New" pitchFamily="49" charset="0"/>
                <a:ea typeface="宋体" pitchFamily="2" charset="-122"/>
              </a:rPr>
              <a:t>else</a:t>
            </a: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                  </a:t>
            </a:r>
          </a:p>
          <a:p>
            <a:pPr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	     { </a:t>
            </a:r>
          </a:p>
          <a:p>
            <a:pPr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			printf("Right! \n");                </a:t>
            </a:r>
          </a:p>
          <a:p>
            <a:pPr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			printf("The number is:%d \n", magic);  </a:t>
            </a:r>
          </a:p>
          <a:p>
            <a:pPr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	     } </a:t>
            </a:r>
          </a:p>
          <a:p>
            <a:pPr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}</a:t>
            </a:r>
            <a:endParaRPr lang="zh-CN" altLang="en-US" sz="1800" dirty="0">
              <a:solidFill>
                <a:schemeClr val="tx1"/>
              </a:solidFill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569346" name="Rectangle 2"/>
          <p:cNvSpPr>
            <a:spLocks noChangeArrowheads="1"/>
          </p:cNvSpPr>
          <p:nvPr/>
        </p:nvSpPr>
        <p:spPr bwMode="auto">
          <a:xfrm>
            <a:off x="467544" y="5776913"/>
            <a:ext cx="7850187" cy="1081087"/>
          </a:xfrm>
          <a:prstGeom prst="rect">
            <a:avLst/>
          </a:prstGeom>
          <a:solidFill>
            <a:srgbClr val="FF6699">
              <a:alpha val="24706"/>
            </a:srgb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lIns="92075" tIns="46037" rIns="92075" bIns="46037" anchor="ctr"/>
          <a:lstStyle/>
          <a:p>
            <a:pPr algn="ctr" eaLnBrk="0" hangingPunct="0">
              <a:lnSpc>
                <a:spcPct val="95000"/>
              </a:lnSpc>
              <a:spcBef>
                <a:spcPct val="20000"/>
              </a:spcBef>
              <a:buClr>
                <a:srgbClr val="FFCC66"/>
              </a:buClr>
              <a:buSzPct val="80000"/>
              <a:buFont typeface="Monotype Sorts" charset="2"/>
              <a:buNone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69347" name="Rectangle 3"/>
          <p:cNvSpPr>
            <a:spLocks noChangeArrowheads="1"/>
          </p:cNvSpPr>
          <p:nvPr/>
        </p:nvSpPr>
        <p:spPr bwMode="auto">
          <a:xfrm>
            <a:off x="468313" y="4278313"/>
            <a:ext cx="7850187" cy="1081087"/>
          </a:xfrm>
          <a:prstGeom prst="rect">
            <a:avLst/>
          </a:prstGeom>
          <a:solidFill>
            <a:schemeClr val="accent1">
              <a:lumMod val="75000"/>
              <a:alpha val="25000"/>
            </a:scheme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lIns="92075" tIns="46037" rIns="92075" bIns="46037" anchor="ctr"/>
          <a:lstStyle/>
          <a:p>
            <a:pPr algn="ctr" eaLnBrk="0" hangingPunct="0">
              <a:lnSpc>
                <a:spcPct val="95000"/>
              </a:lnSpc>
              <a:spcBef>
                <a:spcPct val="20000"/>
              </a:spcBef>
              <a:buClr>
                <a:srgbClr val="FFCC66"/>
              </a:buClr>
              <a:buSzPct val="80000"/>
              <a:buFont typeface="Monotype Sorts" charset="2"/>
              <a:buNone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69348" name="Rectangle 4"/>
          <p:cNvSpPr>
            <a:spLocks noChangeArrowheads="1"/>
          </p:cNvSpPr>
          <p:nvPr/>
        </p:nvSpPr>
        <p:spPr bwMode="auto">
          <a:xfrm>
            <a:off x="468313" y="3141663"/>
            <a:ext cx="7850187" cy="1081087"/>
          </a:xfrm>
          <a:prstGeom prst="rect">
            <a:avLst/>
          </a:prstGeom>
          <a:solidFill>
            <a:srgbClr val="CC00CC">
              <a:alpha val="26667"/>
            </a:srgb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lIns="92075" tIns="46037" rIns="92075" bIns="46037" anchor="ctr"/>
          <a:lstStyle/>
          <a:p>
            <a:pPr algn="ctr" eaLnBrk="0" hangingPunct="0">
              <a:lnSpc>
                <a:spcPct val="95000"/>
              </a:lnSpc>
              <a:spcBef>
                <a:spcPct val="20000"/>
              </a:spcBef>
              <a:buClr>
                <a:srgbClr val="FFCC66"/>
              </a:buClr>
              <a:buSzPct val="80000"/>
              <a:buFont typeface="Monotype Sorts" charset="2"/>
              <a:buNone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5076825" y="188913"/>
            <a:ext cx="2089150" cy="1152525"/>
            <a:chOff x="521" y="3294"/>
            <a:chExt cx="726" cy="726"/>
          </a:xfrm>
        </p:grpSpPr>
        <p:sp>
          <p:nvSpPr>
            <p:cNvPr id="569353" name="Oval 9"/>
            <p:cNvSpPr>
              <a:spLocks noChangeArrowheads="1"/>
            </p:cNvSpPr>
            <p:nvPr/>
          </p:nvSpPr>
          <p:spPr bwMode="auto">
            <a:xfrm>
              <a:off x="521" y="3294"/>
              <a:ext cx="726" cy="726"/>
            </a:xfrm>
            <a:prstGeom prst="ellipse">
              <a:avLst/>
            </a:prstGeom>
            <a:solidFill>
              <a:srgbClr val="0066CC"/>
            </a:solidFill>
            <a:ln w="19050" algn="ctr">
              <a:solidFill>
                <a:srgbClr val="99CCFF"/>
              </a:solidFill>
              <a:round/>
              <a:headEnd/>
              <a:tailEnd/>
            </a:ln>
            <a:effectLst>
              <a:outerShdw dist="35921" dir="2700000" algn="ctr" rotWithShape="0">
                <a:srgbClr val="990000"/>
              </a:outerShdw>
            </a:effectLst>
          </p:spPr>
          <p:txBody>
            <a:bodyPr wrap="none" lIns="0" tIns="0" rIns="0" bIns="0" anchor="ctr">
              <a:spAutoFit/>
            </a:bodyPr>
            <a:lstStyle/>
            <a:p>
              <a:pPr algn="ctr" eaLnBrk="0" hangingPunct="0">
                <a:lnSpc>
                  <a:spcPct val="95000"/>
                </a:lnSpc>
                <a:spcBef>
                  <a:spcPct val="20000"/>
                </a:spcBef>
                <a:buClr>
                  <a:srgbClr val="FFCC66"/>
                </a:buClr>
                <a:buSzPct val="80000"/>
                <a:buFont typeface="Monotype Sorts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69354" name="Text Box 10"/>
            <p:cNvSpPr txBox="1">
              <a:spLocks noChangeArrowheads="1"/>
            </p:cNvSpPr>
            <p:nvPr/>
          </p:nvSpPr>
          <p:spPr bwMode="auto">
            <a:xfrm>
              <a:off x="612" y="3479"/>
              <a:ext cx="590" cy="346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kumimoji="1" lang="zh-CN" altLang="en-US">
                  <a:solidFill>
                    <a:srgbClr val="FFFF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隶书" pitchFamily="49" charset="-122"/>
                  <a:ea typeface="隶书" pitchFamily="49" charset="-122"/>
                </a:rPr>
                <a:t>只猜</a:t>
              </a:r>
              <a:r>
                <a:rPr kumimoji="1" lang="en-US" altLang="zh-CN">
                  <a:solidFill>
                    <a:srgbClr val="FFFF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隶书" pitchFamily="49" charset="-122"/>
                  <a:ea typeface="隶书" pitchFamily="49" charset="-122"/>
                </a:rPr>
                <a:t>1</a:t>
              </a:r>
              <a:r>
                <a:rPr kumimoji="1" lang="zh-CN" altLang="en-US">
                  <a:solidFill>
                    <a:srgbClr val="FFFF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隶书" pitchFamily="49" charset="-122"/>
                  <a:ea typeface="隶书" pitchFamily="49" charset="-122"/>
                </a:rPr>
                <a:t>次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56935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56935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373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0" y="0"/>
            <a:ext cx="9144000" cy="6858000"/>
          </a:xfrm>
          <a:solidFill>
            <a:srgbClr val="E5FFFF"/>
          </a:solidFill>
        </p:spPr>
        <p:txBody>
          <a:bodyPr/>
          <a:lstStyle/>
          <a:p>
            <a:pPr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#</a:t>
            </a:r>
            <a:r>
              <a:rPr lang="fr-FR" altLang="zh-CN" sz="1800" dirty="0">
                <a:solidFill>
                  <a:schemeClr val="accent2"/>
                </a:solidFill>
                <a:latin typeface="Courier New" pitchFamily="49" charset="0"/>
                <a:ea typeface="宋体" pitchFamily="2" charset="-122"/>
              </a:rPr>
              <a:t>include</a:t>
            </a: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  &lt;stdlib.h&gt;</a:t>
            </a:r>
          </a:p>
          <a:p>
            <a:pPr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#</a:t>
            </a:r>
            <a:r>
              <a:rPr lang="fr-FR" altLang="zh-CN" sz="1800" dirty="0">
                <a:solidFill>
                  <a:schemeClr val="accent2"/>
                </a:solidFill>
                <a:latin typeface="Courier New" pitchFamily="49" charset="0"/>
                <a:ea typeface="宋体" pitchFamily="2" charset="-122"/>
              </a:rPr>
              <a:t>include</a:t>
            </a: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  &lt;stdio.h&gt;</a:t>
            </a:r>
          </a:p>
          <a:p>
            <a:pPr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int main()</a:t>
            </a:r>
          </a:p>
          <a:p>
            <a:pPr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{ </a:t>
            </a:r>
          </a:p>
          <a:p>
            <a:pPr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	</a:t>
            </a:r>
            <a:r>
              <a:rPr lang="fr-FR" altLang="zh-CN" sz="1800" dirty="0">
                <a:solidFill>
                  <a:schemeClr val="accent2"/>
                </a:solidFill>
                <a:latin typeface="Courier New" pitchFamily="49" charset="0"/>
                <a:ea typeface="宋体" pitchFamily="2" charset="-122"/>
              </a:rPr>
              <a:t>int</a:t>
            </a: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  magic;               </a:t>
            </a:r>
          </a:p>
          <a:p>
            <a:pPr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	</a:t>
            </a:r>
            <a:r>
              <a:rPr lang="fr-FR" altLang="zh-CN" sz="1800" dirty="0">
                <a:solidFill>
                  <a:schemeClr val="accent2"/>
                </a:solidFill>
                <a:latin typeface="Courier New" pitchFamily="49" charset="0"/>
                <a:ea typeface="宋体" pitchFamily="2" charset="-122"/>
              </a:rPr>
              <a:t>int</a:t>
            </a: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  guess;               </a:t>
            </a:r>
          </a:p>
          <a:p>
            <a:pPr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	</a:t>
            </a:r>
            <a:r>
              <a:rPr lang="fr-FR" altLang="zh-CN" sz="1800" dirty="0">
                <a:solidFill>
                  <a:schemeClr val="accent2"/>
                </a:solidFill>
                <a:latin typeface="Courier New" pitchFamily="49" charset="0"/>
                <a:ea typeface="宋体" pitchFamily="2" charset="-122"/>
              </a:rPr>
              <a:t>int</a:t>
            </a:r>
            <a:r>
              <a:rPr lang="fr-FR" altLang="zh-CN" sz="1800" dirty="0">
                <a:solidFill>
                  <a:schemeClr val="hlink"/>
                </a:solidFill>
                <a:latin typeface="Courier New" pitchFamily="49" charset="0"/>
                <a:ea typeface="宋体" pitchFamily="2" charset="-122"/>
              </a:rPr>
              <a:t>  </a:t>
            </a:r>
            <a:r>
              <a:rPr lang="fr-FR" altLang="zh-CN" sz="1800" dirty="0">
                <a:solidFill>
                  <a:srgbClr val="FF0000"/>
                </a:solidFill>
                <a:latin typeface="Courier New" pitchFamily="49" charset="0"/>
                <a:ea typeface="宋体" pitchFamily="2" charset="-122"/>
              </a:rPr>
              <a:t>counter;             </a:t>
            </a: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/*</a:t>
            </a:r>
            <a:r>
              <a:rPr lang="zh-CN" altLang="fr-FR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记录人猜次数的计数器变量*</a:t>
            </a: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/</a:t>
            </a:r>
          </a:p>
          <a:p>
            <a:pPr>
              <a:lnSpc>
                <a:spcPct val="75000"/>
              </a:lnSpc>
              <a:buFont typeface="Monotype Sorts" charset="2"/>
              <a:buNone/>
              <a:defRPr/>
            </a:pPr>
            <a:endParaRPr lang="fr-FR" altLang="zh-CN" sz="1800" dirty="0">
              <a:solidFill>
                <a:schemeClr val="tx1"/>
              </a:solidFill>
              <a:latin typeface="Courier New" pitchFamily="49" charset="0"/>
              <a:ea typeface="宋体" pitchFamily="2" charset="-122"/>
            </a:endParaRPr>
          </a:p>
          <a:p>
            <a:pPr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	magic = rand() % 100 + 1; </a:t>
            </a:r>
          </a:p>
          <a:p>
            <a:pPr>
              <a:lnSpc>
                <a:spcPct val="75000"/>
              </a:lnSpc>
              <a:buFont typeface="Monotype Sorts" charset="2"/>
              <a:buNone/>
              <a:defRPr/>
            </a:pPr>
            <a:endParaRPr lang="fr-FR" altLang="zh-CN" sz="1800" dirty="0">
              <a:solidFill>
                <a:schemeClr val="tx1"/>
              </a:solidFill>
              <a:latin typeface="Courier New" pitchFamily="49" charset="0"/>
              <a:ea typeface="宋体" pitchFamily="2" charset="-122"/>
            </a:endParaRPr>
          </a:p>
          <a:p>
            <a:pPr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	</a:t>
            </a:r>
            <a:r>
              <a:rPr lang="fr-FR" altLang="zh-CN" sz="1800" dirty="0">
                <a:solidFill>
                  <a:srgbClr val="FF0000"/>
                </a:solidFill>
                <a:latin typeface="Courier New" pitchFamily="49" charset="0"/>
                <a:ea typeface="宋体" pitchFamily="2" charset="-122"/>
              </a:rPr>
              <a:t>counter = 0;              </a:t>
            </a: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/*</a:t>
            </a:r>
            <a:r>
              <a:rPr lang="zh-CN" altLang="fr-FR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计数器变量</a:t>
            </a: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count</a:t>
            </a:r>
            <a:r>
              <a:rPr lang="zh-CN" altLang="fr-FR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初始化为</a:t>
            </a: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0*/</a:t>
            </a:r>
          </a:p>
          <a:p>
            <a:pPr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	</a:t>
            </a:r>
            <a:r>
              <a:rPr lang="fr-FR" altLang="zh-CN" sz="1800" dirty="0">
                <a:solidFill>
                  <a:schemeClr val="accent2"/>
                </a:solidFill>
                <a:latin typeface="Courier New" pitchFamily="49" charset="0"/>
                <a:ea typeface="宋体" pitchFamily="2" charset="-122"/>
              </a:rPr>
              <a:t>do</a:t>
            </a:r>
            <a:r>
              <a:rPr lang="fr-FR" altLang="zh-CN" sz="1800" dirty="0">
                <a:solidFill>
                  <a:schemeClr val="hlink"/>
                </a:solidFill>
                <a:latin typeface="Courier New" pitchFamily="49" charset="0"/>
                <a:ea typeface="宋体" pitchFamily="2" charset="-122"/>
              </a:rPr>
              <a:t>{</a:t>
            </a:r>
          </a:p>
          <a:p>
            <a:pPr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		printf("Please guess a magic number:");</a:t>
            </a:r>
          </a:p>
          <a:p>
            <a:pPr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		scanf("%d", &amp;guess);        </a:t>
            </a:r>
          </a:p>
          <a:p>
            <a:pPr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		</a:t>
            </a:r>
            <a:r>
              <a:rPr lang="fr-FR" altLang="zh-CN" sz="1800" dirty="0">
                <a:solidFill>
                  <a:srgbClr val="FF0000"/>
                </a:solidFill>
                <a:latin typeface="Courier New" pitchFamily="49" charset="0"/>
                <a:ea typeface="宋体" pitchFamily="2" charset="-122"/>
              </a:rPr>
              <a:t>counter ++;                 </a:t>
            </a: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/*</a:t>
            </a:r>
            <a:r>
              <a:rPr lang="zh-CN" altLang="fr-FR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计数器变量</a:t>
            </a: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count</a:t>
            </a:r>
            <a:r>
              <a:rPr lang="zh-CN" altLang="fr-FR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加</a:t>
            </a: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1*/</a:t>
            </a:r>
          </a:p>
          <a:p>
            <a:pPr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		</a:t>
            </a:r>
            <a:r>
              <a:rPr lang="fr-FR" altLang="zh-CN" sz="1800" dirty="0">
                <a:solidFill>
                  <a:schemeClr val="accent2"/>
                </a:solidFill>
                <a:latin typeface="Courier New" pitchFamily="49" charset="0"/>
                <a:ea typeface="宋体" pitchFamily="2" charset="-122"/>
              </a:rPr>
              <a:t>if</a:t>
            </a: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 (guess &gt; magic)          </a:t>
            </a:r>
          </a:p>
          <a:p>
            <a:pPr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		    printf("Wrong! Too high!\n");</a:t>
            </a:r>
          </a:p>
          <a:p>
            <a:pPr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		</a:t>
            </a:r>
            <a:r>
              <a:rPr lang="fr-FR" altLang="zh-CN" sz="1800" dirty="0">
                <a:solidFill>
                  <a:schemeClr val="accent2"/>
                </a:solidFill>
                <a:latin typeface="Courier New" pitchFamily="49" charset="0"/>
                <a:ea typeface="宋体" pitchFamily="2" charset="-122"/>
              </a:rPr>
              <a:t>else if</a:t>
            </a: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 (guess &lt; magic)       </a:t>
            </a:r>
          </a:p>
          <a:p>
            <a:pPr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		    	printf("Wrong! Too low!\n");</a:t>
            </a:r>
          </a:p>
          <a:p>
            <a:pPr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800" dirty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ea typeface="宋体" pitchFamily="2" charset="-122"/>
              </a:rPr>
              <a:t>            else</a:t>
            </a:r>
          </a:p>
          <a:p>
            <a:pPr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           	printf("Right!\n");</a:t>
            </a:r>
          </a:p>
          <a:p>
            <a:pPr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	</a:t>
            </a:r>
            <a:r>
              <a:rPr lang="fr-FR" altLang="zh-CN" sz="1800" dirty="0">
                <a:solidFill>
                  <a:schemeClr val="hlink"/>
                </a:solidFill>
                <a:latin typeface="Courier New" pitchFamily="49" charset="0"/>
                <a:ea typeface="宋体" pitchFamily="2" charset="-122"/>
              </a:rPr>
              <a:t>}</a:t>
            </a:r>
            <a:r>
              <a:rPr lang="fr-FR" altLang="zh-CN" sz="1800" dirty="0">
                <a:solidFill>
                  <a:schemeClr val="accent2"/>
                </a:solidFill>
                <a:latin typeface="Courier New" pitchFamily="49" charset="0"/>
                <a:ea typeface="宋体" pitchFamily="2" charset="-122"/>
              </a:rPr>
              <a:t>while</a:t>
            </a:r>
            <a:r>
              <a:rPr lang="fr-FR" altLang="zh-CN" sz="1800" dirty="0">
                <a:solidFill>
                  <a:schemeClr val="hlink"/>
                </a:solidFill>
                <a:latin typeface="Courier New" pitchFamily="49" charset="0"/>
                <a:ea typeface="宋体" pitchFamily="2" charset="-122"/>
              </a:rPr>
              <a:t> </a:t>
            </a:r>
            <a:r>
              <a:rPr lang="fr-FR" altLang="zh-CN" sz="1800" dirty="0">
                <a:solidFill>
                  <a:srgbClr val="FF0000"/>
                </a:solidFill>
                <a:latin typeface="Courier New" pitchFamily="49" charset="0"/>
                <a:ea typeface="宋体" pitchFamily="2" charset="-122"/>
              </a:rPr>
              <a:t>(guess != magic);       </a:t>
            </a:r>
          </a:p>
          <a:p>
            <a:pPr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       </a:t>
            </a:r>
          </a:p>
          <a:p>
            <a:pPr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	printf("counter = %d \n", counter);  </a:t>
            </a:r>
          </a:p>
          <a:p>
            <a:pPr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800" dirty="0">
                <a:latin typeface="Courier New" pitchFamily="49" charset="0"/>
                <a:ea typeface="宋体" pitchFamily="2" charset="-122"/>
              </a:rPr>
              <a:t>  return 0;</a:t>
            </a:r>
            <a:endParaRPr lang="fr-FR" altLang="zh-CN" sz="1800" dirty="0">
              <a:solidFill>
                <a:schemeClr val="tx1"/>
              </a:solidFill>
              <a:latin typeface="Courier New" pitchFamily="49" charset="0"/>
              <a:ea typeface="宋体" pitchFamily="2" charset="-122"/>
            </a:endParaRPr>
          </a:p>
          <a:p>
            <a:pPr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}</a:t>
            </a:r>
            <a:endParaRPr lang="zh-CN" altLang="en-US" sz="1800" dirty="0">
              <a:solidFill>
                <a:schemeClr val="tx1"/>
              </a:solidFill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570370" name="Rectangle 2"/>
          <p:cNvSpPr>
            <a:spLocks noChangeArrowheads="1"/>
          </p:cNvSpPr>
          <p:nvPr/>
        </p:nvSpPr>
        <p:spPr bwMode="auto">
          <a:xfrm>
            <a:off x="539552" y="3861048"/>
            <a:ext cx="7850187" cy="1627188"/>
          </a:xfrm>
          <a:prstGeom prst="rect">
            <a:avLst/>
          </a:prstGeom>
          <a:solidFill>
            <a:srgbClr val="CC00CC">
              <a:alpha val="23000"/>
            </a:srgb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lIns="92075" tIns="46037" rIns="92075" bIns="46037" anchor="ctr"/>
          <a:lstStyle/>
          <a:p>
            <a:pPr algn="ctr" eaLnBrk="0" hangingPunct="0">
              <a:lnSpc>
                <a:spcPct val="95000"/>
              </a:lnSpc>
              <a:spcBef>
                <a:spcPct val="20000"/>
              </a:spcBef>
              <a:buClr>
                <a:srgbClr val="FFCC66"/>
              </a:buClr>
              <a:buSzPct val="80000"/>
              <a:buFont typeface="Monotype Sorts" charset="2"/>
              <a:buNone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3851275" y="188913"/>
            <a:ext cx="3455988" cy="1152525"/>
            <a:chOff x="521" y="3294"/>
            <a:chExt cx="726" cy="726"/>
          </a:xfrm>
        </p:grpSpPr>
        <p:sp>
          <p:nvSpPr>
            <p:cNvPr id="570376" name="Oval 8"/>
            <p:cNvSpPr>
              <a:spLocks noChangeArrowheads="1"/>
            </p:cNvSpPr>
            <p:nvPr/>
          </p:nvSpPr>
          <p:spPr bwMode="auto">
            <a:xfrm>
              <a:off x="521" y="3294"/>
              <a:ext cx="726" cy="726"/>
            </a:xfrm>
            <a:prstGeom prst="ellipse">
              <a:avLst/>
            </a:prstGeom>
            <a:solidFill>
              <a:srgbClr val="0066CC"/>
            </a:solidFill>
            <a:ln w="19050" algn="ctr">
              <a:solidFill>
                <a:srgbClr val="99CCFF"/>
              </a:solidFill>
              <a:round/>
              <a:headEnd/>
              <a:tailEnd/>
            </a:ln>
            <a:effectLst>
              <a:outerShdw dist="35921" dir="2700000" algn="ctr" rotWithShape="0">
                <a:srgbClr val="990000"/>
              </a:outerShdw>
            </a:effectLst>
          </p:spPr>
          <p:txBody>
            <a:bodyPr lIns="0" tIns="0" rIns="0" bIns="0" anchor="ctr">
              <a:spAutoFit/>
            </a:bodyPr>
            <a:lstStyle/>
            <a:p>
              <a:pPr algn="ctr" eaLnBrk="0" hangingPunct="0">
                <a:lnSpc>
                  <a:spcPct val="95000"/>
                </a:lnSpc>
                <a:spcBef>
                  <a:spcPct val="20000"/>
                </a:spcBef>
                <a:buClr>
                  <a:srgbClr val="FFCC66"/>
                </a:buClr>
                <a:buSzPct val="80000"/>
                <a:buFont typeface="Monotype Sorts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70377" name="Text Box 9"/>
            <p:cNvSpPr txBox="1">
              <a:spLocks noChangeArrowheads="1"/>
            </p:cNvSpPr>
            <p:nvPr/>
          </p:nvSpPr>
          <p:spPr bwMode="auto">
            <a:xfrm>
              <a:off x="612" y="3479"/>
              <a:ext cx="590" cy="346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kumimoji="1" lang="zh-CN" altLang="en-US">
                  <a:solidFill>
                    <a:srgbClr val="FFFF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隶书" pitchFamily="49" charset="-122"/>
                  <a:ea typeface="隶书" pitchFamily="49" charset="-122"/>
                </a:rPr>
                <a:t>直到猜对为止</a:t>
              </a:r>
            </a:p>
          </p:txBody>
        </p:sp>
      </p:grpSp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323850" y="2841625"/>
            <a:ext cx="8675688" cy="2944813"/>
          </a:xfrm>
          <a:prstGeom prst="rect">
            <a:avLst/>
          </a:prstGeom>
          <a:solidFill>
            <a:srgbClr val="FFC000">
              <a:alpha val="15000"/>
            </a:srgb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lIns="92075" tIns="46037" rIns="92075" bIns="46037" anchor="ctr"/>
          <a:lstStyle/>
          <a:p>
            <a:pPr algn="ctr" eaLnBrk="0" hangingPunct="0">
              <a:lnSpc>
                <a:spcPct val="95000"/>
              </a:lnSpc>
              <a:spcBef>
                <a:spcPct val="20000"/>
              </a:spcBef>
              <a:buClr>
                <a:srgbClr val="FFCC66"/>
              </a:buClr>
              <a:buSzPct val="80000"/>
              <a:buFont typeface="Monotype Sorts" charset="2"/>
              <a:buNone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57037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57037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 tmFilter="0, 0; .2, .5; .8, .5; 1, 0"/>
                                        <p:tgtEl>
                                          <p:spTgt spid="57037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250" autoRev="1" fill="hold"/>
                                        <p:tgtEl>
                                          <p:spTgt spid="57037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 tmFilter="0, 0; .2, .5; .8, .5; 1, 0"/>
                                        <p:tgtEl>
                                          <p:spTgt spid="57037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250" autoRev="1" fill="hold"/>
                                        <p:tgtEl>
                                          <p:spTgt spid="57037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 tmFilter="0, 0; .2, .5; .8, .5; 1, 0"/>
                                        <p:tgtEl>
                                          <p:spTgt spid="57037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250" autoRev="1" fill="hold"/>
                                        <p:tgtEl>
                                          <p:spTgt spid="57037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39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04664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zh-CN" altLang="en-US" sz="4000" dirty="0"/>
              <a:t>猜数游戏用到的库函数</a:t>
            </a:r>
          </a:p>
        </p:txBody>
      </p:sp>
      <p:sp>
        <p:nvSpPr>
          <p:cNvPr id="571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3700" y="1571625"/>
            <a:ext cx="8642350" cy="4968875"/>
          </a:xfrm>
        </p:spPr>
        <p:txBody>
          <a:bodyPr/>
          <a:lstStyle/>
          <a:p>
            <a:pPr>
              <a:lnSpc>
                <a:spcPct val="100000"/>
              </a:lnSpc>
              <a:buFont typeface="Monotype Sorts" charset="2"/>
              <a:buChar char=""/>
              <a:defRPr/>
            </a:pPr>
            <a:r>
              <a:rPr lang="zh-CN" altLang="en-US" dirty="0">
                <a:ea typeface="华文仿宋" pitchFamily="2" charset="-122"/>
              </a:rPr>
              <a:t>每次运行程序时计算机所</a:t>
            </a:r>
            <a:r>
              <a:rPr lang="zh-CN" altLang="en-US" dirty="0">
                <a:latin typeface="华文仿宋"/>
                <a:ea typeface="华文仿宋" pitchFamily="2" charset="-122"/>
              </a:rPr>
              <a:t>“</a:t>
            </a:r>
            <a:r>
              <a:rPr lang="zh-CN" altLang="en-US" dirty="0">
                <a:ea typeface="华文仿宋" pitchFamily="2" charset="-122"/>
              </a:rPr>
              <a:t>想</a:t>
            </a:r>
            <a:r>
              <a:rPr lang="zh-CN" altLang="en-US" dirty="0">
                <a:latin typeface="华文仿宋"/>
                <a:ea typeface="华文仿宋" pitchFamily="2" charset="-122"/>
              </a:rPr>
              <a:t>”</a:t>
            </a:r>
            <a:r>
              <a:rPr lang="zh-CN" altLang="en-US" dirty="0">
                <a:ea typeface="华文仿宋" pitchFamily="2" charset="-122"/>
              </a:rPr>
              <a:t>的数都是一样的，这是什么原因呢？</a:t>
            </a:r>
          </a:p>
          <a:p>
            <a:pPr lvl="1">
              <a:lnSpc>
                <a:spcPct val="100000"/>
              </a:lnSpc>
              <a:defRPr/>
            </a:pPr>
            <a:r>
              <a:rPr lang="zh-CN" altLang="en-US" dirty="0">
                <a:ea typeface="宋体" pitchFamily="2" charset="-122"/>
              </a:rPr>
              <a:t>函数</a:t>
            </a:r>
            <a:r>
              <a:rPr lang="en-US" altLang="zh-CN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rand()</a:t>
            </a:r>
            <a:r>
              <a:rPr lang="zh-CN" altLang="en-US" dirty="0">
                <a:solidFill>
                  <a:srgbClr val="FF0000"/>
                </a:solidFill>
                <a:latin typeface="Courier New" pitchFamily="49" charset="0"/>
                <a:ea typeface="宋体" pitchFamily="2" charset="-122"/>
              </a:rPr>
              <a:t>产生的只是伪随机数</a:t>
            </a:r>
            <a:endParaRPr lang="zh-CN" altLang="en-US" dirty="0">
              <a:solidFill>
                <a:srgbClr val="FF0000"/>
              </a:solidFill>
              <a:ea typeface="宋体" pitchFamily="2" charset="-122"/>
            </a:endParaRPr>
          </a:p>
          <a:p>
            <a:pPr>
              <a:lnSpc>
                <a:spcPct val="100000"/>
              </a:lnSpc>
              <a:buFont typeface="Monotype Sorts" charset="2"/>
              <a:buChar char=""/>
              <a:defRPr/>
            </a:pPr>
            <a:r>
              <a:rPr lang="zh-CN" altLang="en-US" dirty="0">
                <a:ea typeface="华文仿宋" pitchFamily="2" charset="-122"/>
              </a:rPr>
              <a:t>随机函数</a:t>
            </a:r>
            <a:r>
              <a:rPr lang="en-US" altLang="zh-CN" dirty="0" err="1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srand</a:t>
            </a:r>
            <a:endParaRPr lang="en-US" altLang="zh-CN" dirty="0">
              <a:solidFill>
                <a:schemeClr val="tx1"/>
              </a:solidFill>
              <a:latin typeface="Courier New" pitchFamily="49" charset="0"/>
              <a:ea typeface="宋体" pitchFamily="2" charset="-122"/>
            </a:endParaRPr>
          </a:p>
          <a:p>
            <a:pPr lvl="1">
              <a:lnSpc>
                <a:spcPct val="100000"/>
              </a:lnSpc>
              <a:defRPr/>
            </a:pPr>
            <a:r>
              <a:rPr lang="zh-CN" altLang="en-US" dirty="0">
                <a:ea typeface="宋体" pitchFamily="2" charset="-122"/>
              </a:rPr>
              <a:t>为函数</a:t>
            </a:r>
            <a:r>
              <a:rPr lang="en-US" altLang="zh-CN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rand()</a:t>
            </a:r>
            <a:r>
              <a:rPr lang="zh-CN" altLang="en-US" dirty="0">
                <a:ea typeface="宋体" pitchFamily="2" charset="-122"/>
              </a:rPr>
              <a:t>设置随机数种子来实现对函数</a:t>
            </a:r>
            <a:r>
              <a:rPr lang="en-US" altLang="zh-CN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rand</a:t>
            </a:r>
            <a:r>
              <a:rPr lang="zh-CN" altLang="en-US" dirty="0">
                <a:ea typeface="宋体" pitchFamily="2" charset="-122"/>
              </a:rPr>
              <a:t>所产生的伪随机数的 “随机化”  </a:t>
            </a:r>
          </a:p>
          <a:p>
            <a:pPr>
              <a:lnSpc>
                <a:spcPct val="100000"/>
              </a:lnSpc>
              <a:buFont typeface="Monotype Sorts" charset="2"/>
              <a:buChar char=""/>
              <a:defRPr/>
            </a:pPr>
            <a:r>
              <a:rPr lang="zh-CN" altLang="en-US" dirty="0">
                <a:latin typeface="华文仿宋" pitchFamily="2" charset="-122"/>
                <a:ea typeface="华文仿宋" pitchFamily="2" charset="-122"/>
              </a:rPr>
              <a:t>通过输入随机数种子，产生</a:t>
            </a:r>
            <a:r>
              <a:rPr lang="en-US" altLang="zh-CN" dirty="0">
                <a:latin typeface="Courier New" pitchFamily="49" charset="0"/>
                <a:ea typeface="华文仿宋" pitchFamily="2" charset="-122"/>
                <a:cs typeface="Courier New" pitchFamily="49" charset="0"/>
              </a:rPr>
              <a:t>[0,100]</a:t>
            </a:r>
            <a:r>
              <a:rPr lang="zh-CN" altLang="en-US" dirty="0">
                <a:latin typeface="华文仿宋" pitchFamily="2" charset="-122"/>
                <a:ea typeface="华文仿宋" pitchFamily="2" charset="-122"/>
              </a:rPr>
              <a:t>之间的随机数</a:t>
            </a:r>
          </a:p>
          <a:p>
            <a:pPr lvl="1">
              <a:lnSpc>
                <a:spcPct val="100000"/>
              </a:lnSpc>
              <a:buFontTx/>
              <a:buNone/>
              <a:defRPr/>
            </a:pPr>
            <a:r>
              <a:rPr lang="fr-FR" altLang="zh-CN" dirty="0">
                <a:latin typeface="Courier New" pitchFamily="49" charset="0"/>
                <a:ea typeface="宋体" pitchFamily="2" charset="-122"/>
              </a:rPr>
              <a:t>scanf("%u", &amp;seed);    </a:t>
            </a:r>
          </a:p>
          <a:p>
            <a:pPr lvl="1">
              <a:lnSpc>
                <a:spcPct val="100000"/>
              </a:lnSpc>
              <a:buFontTx/>
              <a:buNone/>
              <a:defRPr/>
            </a:pPr>
            <a:r>
              <a:rPr lang="fr-FR" altLang="zh-CN" dirty="0">
                <a:latin typeface="Courier New" pitchFamily="49" charset="0"/>
                <a:ea typeface="宋体" pitchFamily="2" charset="-122"/>
              </a:rPr>
              <a:t>srand(seed); </a:t>
            </a:r>
          </a:p>
          <a:p>
            <a:pPr lvl="1">
              <a:lnSpc>
                <a:spcPct val="100000"/>
              </a:lnSpc>
              <a:buFontTx/>
              <a:buNone/>
              <a:defRPr/>
            </a:pPr>
            <a:r>
              <a:rPr lang="fr-FR" altLang="zh-CN" dirty="0">
                <a:latin typeface="Courier New" pitchFamily="49" charset="0"/>
                <a:ea typeface="宋体" pitchFamily="2" charset="-122"/>
              </a:rPr>
              <a:t>magic = rand() % 100 + 1; </a:t>
            </a:r>
            <a:endParaRPr lang="zh-CN" altLang="en-US" dirty="0">
              <a:latin typeface="Courier New" pitchFamily="49" charset="0"/>
              <a:ea typeface="宋体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71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71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3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713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3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713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3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713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3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713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3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5713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1395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373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0" y="0"/>
            <a:ext cx="9144000" cy="6858000"/>
          </a:xfrm>
          <a:solidFill>
            <a:srgbClr val="E5FFFF"/>
          </a:solidFill>
        </p:spPr>
        <p:txBody>
          <a:bodyPr/>
          <a:lstStyle/>
          <a:p>
            <a:pPr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#</a:t>
            </a:r>
            <a:r>
              <a:rPr lang="fr-FR" altLang="zh-CN" sz="1800" dirty="0">
                <a:solidFill>
                  <a:schemeClr val="accent2"/>
                </a:solidFill>
                <a:latin typeface="Courier New" pitchFamily="49" charset="0"/>
                <a:ea typeface="宋体" pitchFamily="2" charset="-122"/>
              </a:rPr>
              <a:t>include</a:t>
            </a: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  &lt;stdlib.h&gt;</a:t>
            </a:r>
          </a:p>
          <a:p>
            <a:pPr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#</a:t>
            </a:r>
            <a:r>
              <a:rPr lang="fr-FR" altLang="zh-CN" sz="1800" dirty="0">
                <a:solidFill>
                  <a:schemeClr val="accent2"/>
                </a:solidFill>
                <a:latin typeface="Courier New" pitchFamily="49" charset="0"/>
                <a:ea typeface="宋体" pitchFamily="2" charset="-122"/>
              </a:rPr>
              <a:t>include</a:t>
            </a: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  &lt;stdio.h&gt;</a:t>
            </a:r>
          </a:p>
          <a:p>
            <a:pPr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800" dirty="0">
                <a:latin typeface="Courier New" pitchFamily="49" charset="0"/>
                <a:ea typeface="宋体" pitchFamily="2" charset="-122"/>
              </a:rPr>
              <a:t>v</a:t>
            </a: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oid main()</a:t>
            </a:r>
          </a:p>
          <a:p>
            <a:pPr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{ </a:t>
            </a:r>
          </a:p>
          <a:p>
            <a:pPr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	</a:t>
            </a:r>
            <a:r>
              <a:rPr lang="fr-FR" altLang="zh-CN" sz="1800" dirty="0">
                <a:solidFill>
                  <a:schemeClr val="accent2"/>
                </a:solidFill>
                <a:latin typeface="Courier New" pitchFamily="49" charset="0"/>
                <a:ea typeface="宋体" pitchFamily="2" charset="-122"/>
              </a:rPr>
              <a:t>int</a:t>
            </a: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  magic;               </a:t>
            </a:r>
          </a:p>
          <a:p>
            <a:pPr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	</a:t>
            </a:r>
            <a:r>
              <a:rPr lang="fr-FR" altLang="zh-CN" sz="1800" dirty="0">
                <a:solidFill>
                  <a:schemeClr val="accent2"/>
                </a:solidFill>
                <a:latin typeface="Courier New" pitchFamily="49" charset="0"/>
                <a:ea typeface="宋体" pitchFamily="2" charset="-122"/>
              </a:rPr>
              <a:t>int</a:t>
            </a: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  guess;               </a:t>
            </a:r>
          </a:p>
          <a:p>
            <a:pPr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	</a:t>
            </a:r>
            <a:r>
              <a:rPr lang="fr-FR" altLang="zh-CN" sz="1800" dirty="0">
                <a:solidFill>
                  <a:schemeClr val="accent2"/>
                </a:solidFill>
                <a:latin typeface="Courier New" pitchFamily="49" charset="0"/>
                <a:ea typeface="宋体" pitchFamily="2" charset="-122"/>
              </a:rPr>
              <a:t>int</a:t>
            </a:r>
            <a:r>
              <a:rPr lang="fr-FR" altLang="zh-CN" sz="1800" dirty="0">
                <a:solidFill>
                  <a:schemeClr val="hlink"/>
                </a:solidFill>
                <a:latin typeface="Courier New" pitchFamily="49" charset="0"/>
                <a:ea typeface="宋体" pitchFamily="2" charset="-122"/>
              </a:rPr>
              <a:t>  </a:t>
            </a: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counter;             /*</a:t>
            </a:r>
            <a:r>
              <a:rPr lang="zh-CN" altLang="fr-FR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记录人猜次数的计数器变量*</a:t>
            </a: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/</a:t>
            </a:r>
          </a:p>
          <a:p>
            <a:pPr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800" dirty="0">
                <a:solidFill>
                  <a:schemeClr val="accent2"/>
                </a:solidFill>
                <a:latin typeface="Courier New" pitchFamily="49" charset="0"/>
                <a:ea typeface="宋体" pitchFamily="2" charset="-122"/>
              </a:rPr>
              <a:t>   unsigned int</a:t>
            </a: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 </a:t>
            </a:r>
            <a:r>
              <a:rPr lang="fr-FR" altLang="zh-CN" sz="1800" dirty="0">
                <a:solidFill>
                  <a:srgbClr val="FF0000"/>
                </a:solidFill>
                <a:latin typeface="Courier New" pitchFamily="49" charset="0"/>
                <a:ea typeface="宋体" pitchFamily="2" charset="-122"/>
              </a:rPr>
              <a:t>seed;</a:t>
            </a:r>
          </a:p>
          <a:p>
            <a:pPr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800" dirty="0">
                <a:solidFill>
                  <a:schemeClr val="hlink"/>
                </a:solidFill>
                <a:latin typeface="Courier New" pitchFamily="49" charset="0"/>
                <a:ea typeface="宋体" pitchFamily="2" charset="-122"/>
              </a:rPr>
              <a:t>   </a:t>
            </a:r>
            <a:r>
              <a:rPr lang="fr-FR" altLang="zh-CN" sz="1800" dirty="0">
                <a:solidFill>
                  <a:srgbClr val="FF0000"/>
                </a:solidFill>
                <a:latin typeface="Courier New" pitchFamily="49" charset="0"/>
                <a:ea typeface="宋体" pitchFamily="2" charset="-122"/>
              </a:rPr>
              <a:t>printf("Please enter seed:");	</a:t>
            </a:r>
          </a:p>
          <a:p>
            <a:pPr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800" dirty="0">
                <a:solidFill>
                  <a:srgbClr val="FF0000"/>
                </a:solidFill>
                <a:latin typeface="Courier New" pitchFamily="49" charset="0"/>
                <a:ea typeface="宋体" pitchFamily="2" charset="-122"/>
              </a:rPr>
              <a:t>	scanf("%u", &amp;seed);</a:t>
            </a:r>
          </a:p>
          <a:p>
            <a:pPr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800" dirty="0">
                <a:solidFill>
                  <a:srgbClr val="FF0000"/>
                </a:solidFill>
                <a:latin typeface="Courier New" pitchFamily="49" charset="0"/>
                <a:ea typeface="宋体" pitchFamily="2" charset="-122"/>
              </a:rPr>
              <a:t>	srand(seed);</a:t>
            </a:r>
          </a:p>
          <a:p>
            <a:pPr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	magic = rand() % 100 + 1; </a:t>
            </a:r>
          </a:p>
          <a:p>
            <a:pPr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	counter = 0;              /*</a:t>
            </a:r>
            <a:r>
              <a:rPr lang="zh-CN" altLang="fr-FR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计数器变量</a:t>
            </a: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count</a:t>
            </a:r>
            <a:r>
              <a:rPr lang="zh-CN" altLang="fr-FR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初始化为</a:t>
            </a: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0*/</a:t>
            </a:r>
          </a:p>
          <a:p>
            <a:pPr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	</a:t>
            </a:r>
            <a:r>
              <a:rPr lang="fr-FR" altLang="zh-CN" sz="1800" dirty="0">
                <a:solidFill>
                  <a:schemeClr val="accent2"/>
                </a:solidFill>
                <a:latin typeface="Courier New" pitchFamily="49" charset="0"/>
                <a:ea typeface="宋体" pitchFamily="2" charset="-122"/>
              </a:rPr>
              <a:t>do</a:t>
            </a:r>
            <a:r>
              <a:rPr lang="fr-FR" altLang="zh-CN" sz="1800" dirty="0">
                <a:solidFill>
                  <a:schemeClr val="hlink"/>
                </a:solidFill>
                <a:latin typeface="Courier New" pitchFamily="49" charset="0"/>
                <a:ea typeface="宋体" pitchFamily="2" charset="-122"/>
              </a:rPr>
              <a:t>{</a:t>
            </a:r>
          </a:p>
          <a:p>
            <a:pPr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		printf("Please guess a magic number:");</a:t>
            </a:r>
          </a:p>
          <a:p>
            <a:pPr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		scanf("%d", &amp;guess);        </a:t>
            </a:r>
          </a:p>
          <a:p>
            <a:pPr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		counter ++;                 /*</a:t>
            </a:r>
            <a:r>
              <a:rPr lang="zh-CN" altLang="fr-FR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计数器变量</a:t>
            </a: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count</a:t>
            </a:r>
            <a:r>
              <a:rPr lang="zh-CN" altLang="fr-FR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加</a:t>
            </a: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1*/</a:t>
            </a:r>
          </a:p>
          <a:p>
            <a:pPr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		</a:t>
            </a:r>
            <a:r>
              <a:rPr lang="fr-FR" altLang="zh-CN" sz="1800" dirty="0">
                <a:solidFill>
                  <a:schemeClr val="accent2"/>
                </a:solidFill>
                <a:latin typeface="Courier New" pitchFamily="49" charset="0"/>
                <a:ea typeface="宋体" pitchFamily="2" charset="-122"/>
              </a:rPr>
              <a:t>if</a:t>
            </a: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 (guess &gt; magic)          </a:t>
            </a:r>
          </a:p>
          <a:p>
            <a:pPr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		    printf("Wrong! Too high!\n");</a:t>
            </a:r>
          </a:p>
          <a:p>
            <a:pPr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		</a:t>
            </a:r>
            <a:r>
              <a:rPr lang="fr-FR" altLang="zh-CN" sz="1800" dirty="0">
                <a:solidFill>
                  <a:schemeClr val="accent2"/>
                </a:solidFill>
                <a:latin typeface="Courier New" pitchFamily="49" charset="0"/>
                <a:ea typeface="宋体" pitchFamily="2" charset="-122"/>
              </a:rPr>
              <a:t>else if</a:t>
            </a: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 (guess &lt; magic)       </a:t>
            </a:r>
          </a:p>
          <a:p>
            <a:pPr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		    printf("Wrong! Too low!\n");</a:t>
            </a:r>
          </a:p>
          <a:p>
            <a:pPr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800" dirty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ea typeface="宋体" pitchFamily="2" charset="-122"/>
              </a:rPr>
              <a:t>       else</a:t>
            </a:r>
          </a:p>
          <a:p>
            <a:pPr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           printf("Right!\n");</a:t>
            </a:r>
          </a:p>
          <a:p>
            <a:pPr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	</a:t>
            </a:r>
            <a:r>
              <a:rPr lang="fr-FR" altLang="zh-CN" sz="1800" dirty="0">
                <a:solidFill>
                  <a:schemeClr val="hlink"/>
                </a:solidFill>
                <a:latin typeface="Courier New" pitchFamily="49" charset="0"/>
                <a:ea typeface="宋体" pitchFamily="2" charset="-122"/>
              </a:rPr>
              <a:t>}</a:t>
            </a:r>
            <a:r>
              <a:rPr lang="fr-FR" altLang="zh-CN" sz="1800" dirty="0">
                <a:solidFill>
                  <a:schemeClr val="accent2"/>
                </a:solidFill>
                <a:latin typeface="Courier New" pitchFamily="49" charset="0"/>
                <a:ea typeface="宋体" pitchFamily="2" charset="-122"/>
              </a:rPr>
              <a:t>while</a:t>
            </a:r>
            <a:r>
              <a:rPr lang="fr-FR" altLang="zh-CN" sz="1800" dirty="0">
                <a:solidFill>
                  <a:schemeClr val="hlink"/>
                </a:solidFill>
                <a:latin typeface="Courier New" pitchFamily="49" charset="0"/>
                <a:ea typeface="宋体" pitchFamily="2" charset="-122"/>
              </a:rPr>
              <a:t> </a:t>
            </a: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(guess != magic);        </a:t>
            </a:r>
          </a:p>
          <a:p>
            <a:pPr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	printf("counter = %d \n", counter);  </a:t>
            </a:r>
          </a:p>
          <a:p>
            <a:pPr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}</a:t>
            </a:r>
            <a:endParaRPr lang="zh-CN" altLang="en-US" sz="1800" dirty="0">
              <a:solidFill>
                <a:schemeClr val="tx1"/>
              </a:solidFill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570370" name="Rectangle 2"/>
          <p:cNvSpPr>
            <a:spLocks noChangeArrowheads="1"/>
          </p:cNvSpPr>
          <p:nvPr/>
        </p:nvSpPr>
        <p:spPr bwMode="auto">
          <a:xfrm>
            <a:off x="642938" y="4397375"/>
            <a:ext cx="7850187" cy="1627188"/>
          </a:xfrm>
          <a:prstGeom prst="rect">
            <a:avLst/>
          </a:prstGeom>
          <a:solidFill>
            <a:srgbClr val="CC00CC">
              <a:alpha val="23000"/>
            </a:srgb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lIns="92075" tIns="46037" rIns="92075" bIns="46037" anchor="ctr"/>
          <a:lstStyle/>
          <a:p>
            <a:pPr algn="ctr" eaLnBrk="0" hangingPunct="0">
              <a:lnSpc>
                <a:spcPct val="95000"/>
              </a:lnSpc>
              <a:spcBef>
                <a:spcPct val="20000"/>
              </a:spcBef>
              <a:buClr>
                <a:srgbClr val="FFCC66"/>
              </a:buClr>
              <a:buSzPct val="80000"/>
              <a:buFont typeface="Monotype Sorts" charset="2"/>
              <a:buNone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70371" name="Rectangle 3"/>
          <p:cNvSpPr>
            <a:spLocks noChangeArrowheads="1"/>
          </p:cNvSpPr>
          <p:nvPr/>
        </p:nvSpPr>
        <p:spPr bwMode="auto">
          <a:xfrm>
            <a:off x="323850" y="3397250"/>
            <a:ext cx="8675688" cy="2944813"/>
          </a:xfrm>
          <a:prstGeom prst="rect">
            <a:avLst/>
          </a:prstGeom>
          <a:solidFill>
            <a:srgbClr val="FFC000">
              <a:alpha val="15000"/>
            </a:srgb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lIns="92075" tIns="46037" rIns="92075" bIns="46037" anchor="ctr"/>
          <a:lstStyle/>
          <a:p>
            <a:pPr algn="ctr" eaLnBrk="0" hangingPunct="0">
              <a:lnSpc>
                <a:spcPct val="95000"/>
              </a:lnSpc>
              <a:spcBef>
                <a:spcPct val="20000"/>
              </a:spcBef>
              <a:buClr>
                <a:srgbClr val="FFCC66"/>
              </a:buClr>
              <a:buSzPct val="80000"/>
              <a:buFont typeface="Monotype Sorts" charset="2"/>
              <a:buNone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3851275" y="188913"/>
            <a:ext cx="3455988" cy="1152525"/>
            <a:chOff x="521" y="3294"/>
            <a:chExt cx="726" cy="726"/>
          </a:xfrm>
        </p:grpSpPr>
        <p:sp>
          <p:nvSpPr>
            <p:cNvPr id="570376" name="Oval 8"/>
            <p:cNvSpPr>
              <a:spLocks noChangeArrowheads="1"/>
            </p:cNvSpPr>
            <p:nvPr/>
          </p:nvSpPr>
          <p:spPr bwMode="auto">
            <a:xfrm>
              <a:off x="521" y="3294"/>
              <a:ext cx="726" cy="726"/>
            </a:xfrm>
            <a:prstGeom prst="ellipse">
              <a:avLst/>
            </a:prstGeom>
            <a:solidFill>
              <a:srgbClr val="0066CC"/>
            </a:solidFill>
            <a:ln w="19050" algn="ctr">
              <a:solidFill>
                <a:srgbClr val="99CCFF"/>
              </a:solidFill>
              <a:round/>
              <a:headEnd/>
              <a:tailEnd/>
            </a:ln>
            <a:effectLst>
              <a:outerShdw dist="35921" dir="2700000" algn="ctr" rotWithShape="0">
                <a:srgbClr val="990000"/>
              </a:outerShdw>
            </a:effectLst>
          </p:spPr>
          <p:txBody>
            <a:bodyPr lIns="0" tIns="0" rIns="0" bIns="0" anchor="ctr">
              <a:spAutoFit/>
            </a:bodyPr>
            <a:lstStyle/>
            <a:p>
              <a:pPr algn="ctr" eaLnBrk="0" hangingPunct="0">
                <a:lnSpc>
                  <a:spcPct val="95000"/>
                </a:lnSpc>
                <a:spcBef>
                  <a:spcPct val="20000"/>
                </a:spcBef>
                <a:buClr>
                  <a:srgbClr val="FFCC66"/>
                </a:buClr>
                <a:buSzPct val="80000"/>
                <a:buFont typeface="Monotype Sorts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70377" name="Text Box 9"/>
            <p:cNvSpPr txBox="1">
              <a:spLocks noChangeArrowheads="1"/>
            </p:cNvSpPr>
            <p:nvPr/>
          </p:nvSpPr>
          <p:spPr bwMode="auto">
            <a:xfrm>
              <a:off x="612" y="3479"/>
              <a:ext cx="590" cy="346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kumimoji="1" lang="zh-CN" altLang="en-US">
                  <a:solidFill>
                    <a:srgbClr val="FFFF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隶书" pitchFamily="49" charset="-122"/>
                  <a:ea typeface="隶书" pitchFamily="49" charset="-122"/>
                </a:rPr>
                <a:t>直到猜对为止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57037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57037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57037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57037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57037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57037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4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 tmFilter="0, 0; .2, .5; .8, .5; 1, 0"/>
                                        <p:tgtEl>
                                          <p:spTgt spid="57037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" dur="250" autoRev="1" fill="hold"/>
                                        <p:tgtEl>
                                          <p:spTgt spid="57037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04664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zh-CN" altLang="en-US" sz="4000" dirty="0"/>
              <a:t>猜数游戏用到的库函数</a:t>
            </a:r>
          </a:p>
        </p:txBody>
      </p:sp>
      <p:sp>
        <p:nvSpPr>
          <p:cNvPr id="5734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484313"/>
            <a:ext cx="8424862" cy="4968875"/>
          </a:xfrm>
        </p:spPr>
        <p:txBody>
          <a:bodyPr/>
          <a:lstStyle/>
          <a:p>
            <a:pPr>
              <a:buFont typeface="Monotype Sorts" charset="2"/>
              <a:buChar char=""/>
              <a:defRPr/>
            </a:pPr>
            <a:r>
              <a:rPr lang="zh-CN" altLang="en-US" dirty="0">
                <a:latin typeface="Courier New" pitchFamily="49" charset="0"/>
                <a:ea typeface="华文仿宋" pitchFamily="2" charset="-122"/>
              </a:rPr>
              <a:t>使用计算机读取其时钟值并把该值自动设置为随机数种子，产生</a:t>
            </a:r>
            <a:r>
              <a:rPr lang="en-US" altLang="zh-CN" dirty="0">
                <a:latin typeface="Courier New" pitchFamily="49" charset="0"/>
                <a:ea typeface="华文仿宋" pitchFamily="2" charset="-122"/>
              </a:rPr>
              <a:t>[0,100]</a:t>
            </a:r>
            <a:r>
              <a:rPr lang="zh-CN" altLang="en-US" dirty="0">
                <a:latin typeface="Courier New" pitchFamily="49" charset="0"/>
                <a:ea typeface="华文仿宋" pitchFamily="2" charset="-122"/>
              </a:rPr>
              <a:t>之间的随机数</a:t>
            </a:r>
          </a:p>
          <a:p>
            <a:pPr>
              <a:buFont typeface="Monotype Sorts" charset="2"/>
              <a:buChar char=""/>
              <a:defRPr/>
            </a:pPr>
            <a:r>
              <a:rPr lang="zh-CN" altLang="en-US" dirty="0">
                <a:latin typeface="Courier New" pitchFamily="49" charset="0"/>
                <a:ea typeface="华文仿宋" pitchFamily="2" charset="-122"/>
              </a:rPr>
              <a:t>函数</a:t>
            </a:r>
            <a:r>
              <a:rPr lang="en-US" altLang="zh-CN" dirty="0">
                <a:solidFill>
                  <a:schemeClr val="tx1"/>
                </a:solidFill>
                <a:latin typeface="Courier New" pitchFamily="49" charset="0"/>
                <a:ea typeface="华文仿宋" pitchFamily="2" charset="-122"/>
              </a:rPr>
              <a:t>time()</a:t>
            </a:r>
            <a:r>
              <a:rPr lang="zh-CN" altLang="en-US" dirty="0">
                <a:latin typeface="Courier New" pitchFamily="49" charset="0"/>
                <a:ea typeface="华文仿宋" pitchFamily="2" charset="-122"/>
              </a:rPr>
              <a:t>返回以秒计算的当前时间值，该值被转换为无符号整数并用作随机数发生器的种子</a:t>
            </a:r>
            <a:r>
              <a:rPr lang="zh-CN" altLang="en-US" dirty="0">
                <a:ea typeface="宋体" pitchFamily="2" charset="-122"/>
              </a:rPr>
              <a:t> </a:t>
            </a:r>
          </a:p>
          <a:p>
            <a:pPr lvl="1">
              <a:buFontTx/>
              <a:buNone/>
              <a:defRPr/>
            </a:pPr>
            <a:r>
              <a:rPr lang="en-US" altLang="zh-CN" dirty="0">
                <a:latin typeface="Courier New" pitchFamily="49" charset="0"/>
                <a:ea typeface="宋体" pitchFamily="2" charset="-122"/>
              </a:rPr>
              <a:t>#include  &lt;</a:t>
            </a:r>
            <a:r>
              <a:rPr lang="en-US" altLang="zh-CN" dirty="0" err="1">
                <a:latin typeface="Courier New" pitchFamily="49" charset="0"/>
                <a:ea typeface="宋体" pitchFamily="2" charset="-122"/>
              </a:rPr>
              <a:t>time.h</a:t>
            </a:r>
            <a:r>
              <a:rPr lang="en-US" altLang="zh-CN" dirty="0">
                <a:latin typeface="Courier New" pitchFamily="49" charset="0"/>
                <a:ea typeface="宋体" pitchFamily="2" charset="-122"/>
              </a:rPr>
              <a:t>&gt; </a:t>
            </a:r>
          </a:p>
          <a:p>
            <a:pPr lvl="1">
              <a:buFontTx/>
              <a:buNone/>
              <a:defRPr/>
            </a:pPr>
            <a:endParaRPr lang="en-US" altLang="zh-CN" dirty="0">
              <a:latin typeface="Courier New" pitchFamily="49" charset="0"/>
              <a:ea typeface="宋体" pitchFamily="2" charset="-122"/>
            </a:endParaRPr>
          </a:p>
          <a:p>
            <a:pPr lvl="1">
              <a:buFontTx/>
              <a:buNone/>
              <a:defRPr/>
            </a:pPr>
            <a:r>
              <a:rPr lang="en-US" altLang="zh-CN" dirty="0" err="1">
                <a:latin typeface="Courier New" pitchFamily="49" charset="0"/>
                <a:ea typeface="宋体" pitchFamily="2" charset="-122"/>
              </a:rPr>
              <a:t>srand</a:t>
            </a:r>
            <a:r>
              <a:rPr lang="en-US" altLang="zh-CN" dirty="0">
                <a:latin typeface="Courier New" pitchFamily="49" charset="0"/>
                <a:ea typeface="宋体" pitchFamily="2" charset="-122"/>
              </a:rPr>
              <a:t>(time(NULL)); </a:t>
            </a:r>
            <a:endParaRPr lang="fr-FR" altLang="zh-CN" dirty="0">
              <a:latin typeface="Courier New" pitchFamily="49" charset="0"/>
              <a:ea typeface="宋体" pitchFamily="2" charset="-122"/>
            </a:endParaRPr>
          </a:p>
          <a:p>
            <a:pPr lvl="1">
              <a:buFontTx/>
              <a:buNone/>
              <a:defRPr/>
            </a:pPr>
            <a:r>
              <a:rPr lang="fr-FR" altLang="zh-CN" dirty="0">
                <a:latin typeface="Courier New" pitchFamily="49" charset="0"/>
                <a:ea typeface="宋体" pitchFamily="2" charset="-122"/>
              </a:rPr>
              <a:t>magic = rand() % 100 + 1; </a:t>
            </a:r>
          </a:p>
          <a:p>
            <a:pPr lvl="1">
              <a:buFontTx/>
              <a:buNone/>
              <a:defRPr/>
            </a:pPr>
            <a:endParaRPr lang="fr-FR" altLang="zh-CN" dirty="0">
              <a:latin typeface="Courier New" pitchFamily="49" charset="0"/>
              <a:ea typeface="宋体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73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73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73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73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73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443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373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0" y="0"/>
            <a:ext cx="9144000" cy="6858000"/>
          </a:xfrm>
          <a:solidFill>
            <a:srgbClr val="E5FFFF"/>
          </a:solidFill>
        </p:spPr>
        <p:txBody>
          <a:bodyPr/>
          <a:lstStyle/>
          <a:p>
            <a:pPr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#</a:t>
            </a:r>
            <a:r>
              <a:rPr lang="fr-FR" altLang="zh-CN" sz="1800" dirty="0">
                <a:solidFill>
                  <a:schemeClr val="accent2"/>
                </a:solidFill>
                <a:latin typeface="Courier New" pitchFamily="49" charset="0"/>
                <a:ea typeface="宋体" pitchFamily="2" charset="-122"/>
              </a:rPr>
              <a:t>include</a:t>
            </a: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  &lt;stdlib.h&gt;</a:t>
            </a:r>
          </a:p>
          <a:p>
            <a:pPr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#</a:t>
            </a:r>
            <a:r>
              <a:rPr lang="fr-FR" altLang="zh-CN" sz="1800" dirty="0">
                <a:solidFill>
                  <a:schemeClr val="accent2"/>
                </a:solidFill>
                <a:latin typeface="Courier New" pitchFamily="49" charset="0"/>
                <a:ea typeface="宋体" pitchFamily="2" charset="-122"/>
              </a:rPr>
              <a:t>include</a:t>
            </a: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  &lt;stdio.h&gt;</a:t>
            </a:r>
          </a:p>
          <a:p>
            <a:pPr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800" dirty="0">
                <a:solidFill>
                  <a:srgbClr val="FF0000"/>
                </a:solidFill>
                <a:latin typeface="Courier New" pitchFamily="49" charset="0"/>
                <a:ea typeface="宋体" pitchFamily="2" charset="-122"/>
              </a:rPr>
              <a:t>#include  &lt;time.h&gt;</a:t>
            </a:r>
          </a:p>
          <a:p>
            <a:pPr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int main()</a:t>
            </a:r>
          </a:p>
          <a:p>
            <a:pPr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{ </a:t>
            </a:r>
          </a:p>
          <a:p>
            <a:pPr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	</a:t>
            </a:r>
            <a:r>
              <a:rPr lang="fr-FR" altLang="zh-CN" sz="1800" dirty="0">
                <a:solidFill>
                  <a:schemeClr val="accent2"/>
                </a:solidFill>
                <a:latin typeface="Courier New" pitchFamily="49" charset="0"/>
                <a:ea typeface="宋体" pitchFamily="2" charset="-122"/>
              </a:rPr>
              <a:t>int</a:t>
            </a: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  magic;               </a:t>
            </a:r>
          </a:p>
          <a:p>
            <a:pPr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	</a:t>
            </a:r>
            <a:r>
              <a:rPr lang="fr-FR" altLang="zh-CN" sz="1800" dirty="0">
                <a:solidFill>
                  <a:schemeClr val="accent2"/>
                </a:solidFill>
                <a:latin typeface="Courier New" pitchFamily="49" charset="0"/>
                <a:ea typeface="宋体" pitchFamily="2" charset="-122"/>
              </a:rPr>
              <a:t>int</a:t>
            </a: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  guess;               </a:t>
            </a:r>
          </a:p>
          <a:p>
            <a:pPr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	</a:t>
            </a:r>
            <a:r>
              <a:rPr lang="fr-FR" altLang="zh-CN" sz="1800" dirty="0">
                <a:solidFill>
                  <a:schemeClr val="accent2"/>
                </a:solidFill>
                <a:latin typeface="Courier New" pitchFamily="49" charset="0"/>
                <a:ea typeface="宋体" pitchFamily="2" charset="-122"/>
              </a:rPr>
              <a:t>int</a:t>
            </a:r>
            <a:r>
              <a:rPr lang="fr-FR" altLang="zh-CN" sz="1800" dirty="0">
                <a:solidFill>
                  <a:schemeClr val="hlink"/>
                </a:solidFill>
                <a:latin typeface="Courier New" pitchFamily="49" charset="0"/>
                <a:ea typeface="宋体" pitchFamily="2" charset="-122"/>
              </a:rPr>
              <a:t>  </a:t>
            </a: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counter;             /*</a:t>
            </a:r>
            <a:r>
              <a:rPr lang="zh-CN" altLang="fr-FR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记录人猜次数的计数器变量*</a:t>
            </a: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/</a:t>
            </a:r>
          </a:p>
          <a:p>
            <a:pPr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800" dirty="0">
                <a:solidFill>
                  <a:schemeClr val="accent2"/>
                </a:solidFill>
                <a:latin typeface="Courier New" pitchFamily="49" charset="0"/>
                <a:ea typeface="宋体" pitchFamily="2" charset="-122"/>
              </a:rPr>
              <a:t>   </a:t>
            </a:r>
            <a:endParaRPr lang="fr-FR" altLang="zh-CN" sz="1800" dirty="0">
              <a:solidFill>
                <a:srgbClr val="FF0000"/>
              </a:solidFill>
              <a:latin typeface="Courier New" pitchFamily="49" charset="0"/>
              <a:ea typeface="宋体" pitchFamily="2" charset="-122"/>
            </a:endParaRPr>
          </a:p>
          <a:p>
            <a:pPr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800" dirty="0">
                <a:solidFill>
                  <a:srgbClr val="FF0000"/>
                </a:solidFill>
                <a:latin typeface="Courier New" pitchFamily="49" charset="0"/>
                <a:ea typeface="宋体" pitchFamily="2" charset="-122"/>
              </a:rPr>
              <a:t>   srand(time(NULL));</a:t>
            </a:r>
          </a:p>
          <a:p>
            <a:pPr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	magic = rand() % 100 + 1; </a:t>
            </a:r>
          </a:p>
          <a:p>
            <a:pPr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	counter = 0;              /*</a:t>
            </a:r>
            <a:r>
              <a:rPr lang="zh-CN" altLang="fr-FR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计数器变量</a:t>
            </a: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count</a:t>
            </a:r>
            <a:r>
              <a:rPr lang="zh-CN" altLang="fr-FR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初始化为</a:t>
            </a: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0*/</a:t>
            </a:r>
          </a:p>
          <a:p>
            <a:pPr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	</a:t>
            </a:r>
            <a:r>
              <a:rPr lang="fr-FR" altLang="zh-CN" sz="1800" dirty="0">
                <a:solidFill>
                  <a:schemeClr val="accent2"/>
                </a:solidFill>
                <a:latin typeface="Courier New" pitchFamily="49" charset="0"/>
                <a:ea typeface="宋体" pitchFamily="2" charset="-122"/>
              </a:rPr>
              <a:t>do</a:t>
            </a:r>
            <a:r>
              <a:rPr lang="fr-FR" altLang="zh-CN" sz="1800" dirty="0">
                <a:solidFill>
                  <a:schemeClr val="hlink"/>
                </a:solidFill>
                <a:latin typeface="Courier New" pitchFamily="49" charset="0"/>
                <a:ea typeface="宋体" pitchFamily="2" charset="-122"/>
              </a:rPr>
              <a:t>{</a:t>
            </a:r>
          </a:p>
          <a:p>
            <a:pPr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		printf("Please guess a magic number:");</a:t>
            </a:r>
          </a:p>
          <a:p>
            <a:pPr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		scanf("%d", &amp;guess);        </a:t>
            </a:r>
          </a:p>
          <a:p>
            <a:pPr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		counter ++;                 /*</a:t>
            </a:r>
            <a:r>
              <a:rPr lang="zh-CN" altLang="fr-FR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计数器变量</a:t>
            </a: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count</a:t>
            </a:r>
            <a:r>
              <a:rPr lang="zh-CN" altLang="fr-FR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加</a:t>
            </a: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1*/</a:t>
            </a:r>
          </a:p>
          <a:p>
            <a:pPr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		</a:t>
            </a:r>
            <a:r>
              <a:rPr lang="fr-FR" altLang="zh-CN" sz="1800" dirty="0">
                <a:solidFill>
                  <a:schemeClr val="accent2"/>
                </a:solidFill>
                <a:latin typeface="Courier New" pitchFamily="49" charset="0"/>
                <a:ea typeface="宋体" pitchFamily="2" charset="-122"/>
              </a:rPr>
              <a:t>if</a:t>
            </a: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 (guess &gt; magic)          </a:t>
            </a:r>
          </a:p>
          <a:p>
            <a:pPr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		    printf("Wrong! Too high!\n");</a:t>
            </a:r>
          </a:p>
          <a:p>
            <a:pPr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		</a:t>
            </a:r>
            <a:r>
              <a:rPr lang="fr-FR" altLang="zh-CN" sz="1800" dirty="0">
                <a:solidFill>
                  <a:schemeClr val="accent2"/>
                </a:solidFill>
                <a:latin typeface="Courier New" pitchFamily="49" charset="0"/>
                <a:ea typeface="宋体" pitchFamily="2" charset="-122"/>
              </a:rPr>
              <a:t>else if</a:t>
            </a: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 (guess &lt; magic)       </a:t>
            </a:r>
          </a:p>
          <a:p>
            <a:pPr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		    printf("Wrong! Too low!\n");</a:t>
            </a:r>
          </a:p>
          <a:p>
            <a:pPr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800" dirty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ea typeface="宋体" pitchFamily="2" charset="-122"/>
              </a:rPr>
              <a:t>       else</a:t>
            </a:r>
          </a:p>
          <a:p>
            <a:pPr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           printf("Right!\n");</a:t>
            </a:r>
          </a:p>
          <a:p>
            <a:pPr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	</a:t>
            </a:r>
            <a:r>
              <a:rPr lang="fr-FR" altLang="zh-CN" sz="1800" dirty="0">
                <a:solidFill>
                  <a:schemeClr val="hlink"/>
                </a:solidFill>
                <a:latin typeface="Courier New" pitchFamily="49" charset="0"/>
                <a:ea typeface="宋体" pitchFamily="2" charset="-122"/>
              </a:rPr>
              <a:t>}</a:t>
            </a:r>
            <a:r>
              <a:rPr lang="fr-FR" altLang="zh-CN" sz="1800" dirty="0">
                <a:solidFill>
                  <a:schemeClr val="accent2"/>
                </a:solidFill>
                <a:latin typeface="Courier New" pitchFamily="49" charset="0"/>
                <a:ea typeface="宋体" pitchFamily="2" charset="-122"/>
              </a:rPr>
              <a:t>while</a:t>
            </a:r>
            <a:r>
              <a:rPr lang="fr-FR" altLang="zh-CN" sz="1800" dirty="0">
                <a:solidFill>
                  <a:schemeClr val="hlink"/>
                </a:solidFill>
                <a:latin typeface="Courier New" pitchFamily="49" charset="0"/>
                <a:ea typeface="宋体" pitchFamily="2" charset="-122"/>
              </a:rPr>
              <a:t> </a:t>
            </a: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(guess != magic);        </a:t>
            </a:r>
          </a:p>
          <a:p>
            <a:pPr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	printf("counter = %d \n", counter);  </a:t>
            </a:r>
          </a:p>
          <a:p>
            <a:pPr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800" dirty="0">
                <a:latin typeface="Courier New" pitchFamily="49" charset="0"/>
                <a:ea typeface="宋体" pitchFamily="2" charset="-122"/>
              </a:rPr>
              <a:t>  return 0;</a:t>
            </a:r>
            <a:endParaRPr lang="fr-FR" altLang="zh-CN" sz="1800" dirty="0">
              <a:solidFill>
                <a:schemeClr val="tx1"/>
              </a:solidFill>
              <a:latin typeface="Courier New" pitchFamily="49" charset="0"/>
              <a:ea typeface="宋体" pitchFamily="2" charset="-122"/>
            </a:endParaRPr>
          </a:p>
          <a:p>
            <a:pPr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}</a:t>
            </a:r>
            <a:endParaRPr lang="zh-CN" altLang="en-US" sz="1800" dirty="0">
              <a:solidFill>
                <a:schemeClr val="tx1"/>
              </a:solidFill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570370" name="Rectangle 2"/>
          <p:cNvSpPr>
            <a:spLocks noChangeArrowheads="1"/>
          </p:cNvSpPr>
          <p:nvPr/>
        </p:nvSpPr>
        <p:spPr bwMode="auto">
          <a:xfrm>
            <a:off x="642938" y="4397375"/>
            <a:ext cx="7850187" cy="1627188"/>
          </a:xfrm>
          <a:prstGeom prst="rect">
            <a:avLst/>
          </a:prstGeom>
          <a:solidFill>
            <a:srgbClr val="CC00CC">
              <a:alpha val="23000"/>
            </a:srgb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lIns="92075" tIns="46037" rIns="92075" bIns="46037" anchor="ctr"/>
          <a:lstStyle/>
          <a:p>
            <a:pPr algn="ctr" eaLnBrk="0" hangingPunct="0">
              <a:lnSpc>
                <a:spcPct val="95000"/>
              </a:lnSpc>
              <a:spcBef>
                <a:spcPct val="20000"/>
              </a:spcBef>
              <a:buClr>
                <a:srgbClr val="FFCC66"/>
              </a:buClr>
              <a:buSzPct val="80000"/>
              <a:buFont typeface="Monotype Sorts" charset="2"/>
              <a:buNone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70371" name="Rectangle 3"/>
          <p:cNvSpPr>
            <a:spLocks noChangeArrowheads="1"/>
          </p:cNvSpPr>
          <p:nvPr/>
        </p:nvSpPr>
        <p:spPr bwMode="auto">
          <a:xfrm>
            <a:off x="323850" y="3397250"/>
            <a:ext cx="8675688" cy="2944813"/>
          </a:xfrm>
          <a:prstGeom prst="rect">
            <a:avLst/>
          </a:prstGeom>
          <a:solidFill>
            <a:srgbClr val="FFC000">
              <a:alpha val="15000"/>
            </a:srgb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lIns="92075" tIns="46037" rIns="92075" bIns="46037" anchor="ctr"/>
          <a:lstStyle/>
          <a:p>
            <a:pPr algn="ctr" eaLnBrk="0" hangingPunct="0">
              <a:lnSpc>
                <a:spcPct val="95000"/>
              </a:lnSpc>
              <a:spcBef>
                <a:spcPct val="20000"/>
              </a:spcBef>
              <a:buClr>
                <a:srgbClr val="FFCC66"/>
              </a:buClr>
              <a:buSzPct val="80000"/>
              <a:buFont typeface="Monotype Sorts" charset="2"/>
              <a:buNone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3851275" y="188913"/>
            <a:ext cx="3455988" cy="1152525"/>
            <a:chOff x="521" y="3294"/>
            <a:chExt cx="726" cy="726"/>
          </a:xfrm>
        </p:grpSpPr>
        <p:sp>
          <p:nvSpPr>
            <p:cNvPr id="570376" name="Oval 8"/>
            <p:cNvSpPr>
              <a:spLocks noChangeArrowheads="1"/>
            </p:cNvSpPr>
            <p:nvPr/>
          </p:nvSpPr>
          <p:spPr bwMode="auto">
            <a:xfrm>
              <a:off x="521" y="3294"/>
              <a:ext cx="726" cy="726"/>
            </a:xfrm>
            <a:prstGeom prst="ellipse">
              <a:avLst/>
            </a:prstGeom>
            <a:solidFill>
              <a:srgbClr val="0066CC"/>
            </a:solidFill>
            <a:ln w="19050" algn="ctr">
              <a:solidFill>
                <a:srgbClr val="99CCFF"/>
              </a:solidFill>
              <a:round/>
              <a:headEnd/>
              <a:tailEnd/>
            </a:ln>
            <a:effectLst>
              <a:outerShdw dist="35921" dir="2700000" algn="ctr" rotWithShape="0">
                <a:srgbClr val="990000"/>
              </a:outerShdw>
            </a:effectLst>
          </p:spPr>
          <p:txBody>
            <a:bodyPr lIns="0" tIns="0" rIns="0" bIns="0" anchor="ctr">
              <a:spAutoFit/>
            </a:bodyPr>
            <a:lstStyle/>
            <a:p>
              <a:pPr algn="ctr" eaLnBrk="0" hangingPunct="0">
                <a:lnSpc>
                  <a:spcPct val="95000"/>
                </a:lnSpc>
                <a:spcBef>
                  <a:spcPct val="20000"/>
                </a:spcBef>
                <a:buClr>
                  <a:srgbClr val="FFCC66"/>
                </a:buClr>
                <a:buSzPct val="80000"/>
                <a:buFont typeface="Monotype Sorts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70377" name="Text Box 9"/>
            <p:cNvSpPr txBox="1">
              <a:spLocks noChangeArrowheads="1"/>
            </p:cNvSpPr>
            <p:nvPr/>
          </p:nvSpPr>
          <p:spPr bwMode="auto">
            <a:xfrm>
              <a:off x="612" y="3479"/>
              <a:ext cx="590" cy="346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kumimoji="1" lang="zh-CN" altLang="en-US">
                  <a:solidFill>
                    <a:srgbClr val="FFFF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隶书" pitchFamily="49" charset="-122"/>
                  <a:ea typeface="隶书" pitchFamily="49" charset="-122"/>
                </a:rPr>
                <a:t>直到猜对为止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57037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57037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 tmFilter="0, 0; .2, .5; .8, .5; 1, 0"/>
                                        <p:tgtEl>
                                          <p:spTgt spid="5703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250" autoRev="1" fill="hold"/>
                                        <p:tgtEl>
                                          <p:spTgt spid="5703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373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0" y="0"/>
            <a:ext cx="9144000" cy="6858000"/>
          </a:xfrm>
          <a:solidFill>
            <a:srgbClr val="E5FFFF"/>
          </a:solidFill>
        </p:spPr>
        <p:txBody>
          <a:bodyPr/>
          <a:lstStyle/>
          <a:p>
            <a:pPr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#</a:t>
            </a:r>
            <a:r>
              <a:rPr lang="fr-FR" altLang="zh-CN" sz="1800" dirty="0">
                <a:solidFill>
                  <a:schemeClr val="accent2"/>
                </a:solidFill>
                <a:latin typeface="Courier New" pitchFamily="49" charset="0"/>
                <a:ea typeface="宋体" pitchFamily="2" charset="-122"/>
              </a:rPr>
              <a:t>include</a:t>
            </a: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  &lt;stdlib.h&gt;</a:t>
            </a:r>
          </a:p>
          <a:p>
            <a:pPr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#</a:t>
            </a:r>
            <a:r>
              <a:rPr lang="fr-FR" altLang="zh-CN" sz="1800" dirty="0">
                <a:solidFill>
                  <a:schemeClr val="accent2"/>
                </a:solidFill>
                <a:latin typeface="Courier New" pitchFamily="49" charset="0"/>
                <a:ea typeface="宋体" pitchFamily="2" charset="-122"/>
              </a:rPr>
              <a:t>include</a:t>
            </a: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  &lt;stdio.h&gt;</a:t>
            </a:r>
          </a:p>
          <a:p>
            <a:pPr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#</a:t>
            </a:r>
            <a:r>
              <a:rPr lang="fr-FR" altLang="zh-CN" sz="1800" dirty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ea typeface="宋体" pitchFamily="2" charset="-122"/>
              </a:rPr>
              <a:t>include</a:t>
            </a: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  &lt;time.h&gt;</a:t>
            </a:r>
          </a:p>
          <a:p>
            <a:pPr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void main()</a:t>
            </a:r>
          </a:p>
          <a:p>
            <a:pPr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{ </a:t>
            </a:r>
          </a:p>
          <a:p>
            <a:pPr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	</a:t>
            </a:r>
            <a:r>
              <a:rPr lang="fr-FR" altLang="zh-CN" sz="1800" dirty="0">
                <a:solidFill>
                  <a:schemeClr val="accent2"/>
                </a:solidFill>
                <a:latin typeface="Courier New" pitchFamily="49" charset="0"/>
                <a:ea typeface="宋体" pitchFamily="2" charset="-122"/>
              </a:rPr>
              <a:t>int</a:t>
            </a: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  magic;               </a:t>
            </a:r>
          </a:p>
          <a:p>
            <a:pPr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	</a:t>
            </a:r>
            <a:r>
              <a:rPr lang="fr-FR" altLang="zh-CN" sz="1800" dirty="0">
                <a:solidFill>
                  <a:schemeClr val="accent2"/>
                </a:solidFill>
                <a:latin typeface="Courier New" pitchFamily="49" charset="0"/>
                <a:ea typeface="宋体" pitchFamily="2" charset="-122"/>
              </a:rPr>
              <a:t>int</a:t>
            </a: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  guess;               </a:t>
            </a:r>
          </a:p>
          <a:p>
            <a:pPr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	</a:t>
            </a:r>
            <a:r>
              <a:rPr lang="fr-FR" altLang="zh-CN" sz="1800" dirty="0">
                <a:solidFill>
                  <a:schemeClr val="accent2"/>
                </a:solidFill>
                <a:latin typeface="Courier New" pitchFamily="49" charset="0"/>
                <a:ea typeface="宋体" pitchFamily="2" charset="-122"/>
              </a:rPr>
              <a:t>int</a:t>
            </a:r>
            <a:r>
              <a:rPr lang="fr-FR" altLang="zh-CN" sz="1800" dirty="0">
                <a:solidFill>
                  <a:schemeClr val="hlink"/>
                </a:solidFill>
                <a:latin typeface="Courier New" pitchFamily="49" charset="0"/>
                <a:ea typeface="宋体" pitchFamily="2" charset="-122"/>
              </a:rPr>
              <a:t>  </a:t>
            </a: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counter;             /*</a:t>
            </a:r>
            <a:r>
              <a:rPr lang="zh-CN" altLang="fr-FR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记录人猜次数的计数器变量*</a:t>
            </a: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/</a:t>
            </a:r>
          </a:p>
          <a:p>
            <a:pPr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800" dirty="0">
                <a:solidFill>
                  <a:schemeClr val="accent2"/>
                </a:solidFill>
                <a:latin typeface="Courier New" pitchFamily="49" charset="0"/>
                <a:ea typeface="宋体" pitchFamily="2" charset="-122"/>
              </a:rPr>
              <a:t>   </a:t>
            </a:r>
            <a:endParaRPr lang="fr-FR" altLang="zh-CN" sz="1800" dirty="0">
              <a:solidFill>
                <a:srgbClr val="FF0000"/>
              </a:solidFill>
              <a:latin typeface="Courier New" pitchFamily="49" charset="0"/>
              <a:ea typeface="宋体" pitchFamily="2" charset="-122"/>
            </a:endParaRPr>
          </a:p>
          <a:p>
            <a:pPr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800" dirty="0">
                <a:solidFill>
                  <a:srgbClr val="FF0000"/>
                </a:solidFill>
                <a:latin typeface="Courier New" pitchFamily="49" charset="0"/>
                <a:ea typeface="宋体" pitchFamily="2" charset="-122"/>
              </a:rPr>
              <a:t>   </a:t>
            </a: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srand(time(NULL)); </a:t>
            </a:r>
          </a:p>
          <a:p>
            <a:pPr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	magic = rand() % 100 + 1;</a:t>
            </a:r>
          </a:p>
          <a:p>
            <a:pPr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 </a:t>
            </a:r>
          </a:p>
          <a:p>
            <a:pPr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	counter = 0;              /*</a:t>
            </a:r>
            <a:r>
              <a:rPr lang="zh-CN" altLang="fr-FR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计数器变量</a:t>
            </a: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count</a:t>
            </a:r>
            <a:r>
              <a:rPr lang="zh-CN" altLang="fr-FR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初始化为</a:t>
            </a: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0*/</a:t>
            </a:r>
          </a:p>
          <a:p>
            <a:pPr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	</a:t>
            </a:r>
            <a:r>
              <a:rPr lang="fr-FR" altLang="zh-CN" sz="1800" dirty="0">
                <a:solidFill>
                  <a:schemeClr val="accent2"/>
                </a:solidFill>
                <a:latin typeface="Courier New" pitchFamily="49" charset="0"/>
                <a:ea typeface="宋体" pitchFamily="2" charset="-122"/>
              </a:rPr>
              <a:t>do</a:t>
            </a:r>
            <a:r>
              <a:rPr lang="fr-FR" altLang="zh-CN" sz="1800" dirty="0">
                <a:solidFill>
                  <a:schemeClr val="hlink"/>
                </a:solidFill>
                <a:latin typeface="Courier New" pitchFamily="49" charset="0"/>
                <a:ea typeface="宋体" pitchFamily="2" charset="-122"/>
              </a:rPr>
              <a:t>{</a:t>
            </a:r>
          </a:p>
          <a:p>
            <a:pPr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		printf("Please guess a magic number:");</a:t>
            </a:r>
          </a:p>
          <a:p>
            <a:pPr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		scanf("%d", &amp;guess);        </a:t>
            </a:r>
          </a:p>
          <a:p>
            <a:pPr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		counter ++;                 /*</a:t>
            </a:r>
            <a:r>
              <a:rPr lang="zh-CN" altLang="fr-FR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计数器变量</a:t>
            </a: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count</a:t>
            </a:r>
            <a:r>
              <a:rPr lang="zh-CN" altLang="fr-FR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加</a:t>
            </a: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1*/</a:t>
            </a:r>
          </a:p>
          <a:p>
            <a:pPr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		</a:t>
            </a:r>
            <a:r>
              <a:rPr lang="fr-FR" altLang="zh-CN" sz="1800" dirty="0">
                <a:solidFill>
                  <a:schemeClr val="accent2"/>
                </a:solidFill>
                <a:latin typeface="Courier New" pitchFamily="49" charset="0"/>
                <a:ea typeface="宋体" pitchFamily="2" charset="-122"/>
              </a:rPr>
              <a:t>if</a:t>
            </a: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 (guess &gt; magic)          </a:t>
            </a:r>
          </a:p>
          <a:p>
            <a:pPr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		    printf("Wrong! Too high!\n");</a:t>
            </a:r>
          </a:p>
          <a:p>
            <a:pPr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		</a:t>
            </a:r>
            <a:r>
              <a:rPr lang="fr-FR" altLang="zh-CN" sz="1800" dirty="0">
                <a:solidFill>
                  <a:schemeClr val="accent2"/>
                </a:solidFill>
                <a:latin typeface="Courier New" pitchFamily="49" charset="0"/>
                <a:ea typeface="宋体" pitchFamily="2" charset="-122"/>
              </a:rPr>
              <a:t>else if</a:t>
            </a: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 (guess &lt; magic)       </a:t>
            </a:r>
          </a:p>
          <a:p>
            <a:pPr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		    printf("Wrong! Too low!\n");</a:t>
            </a:r>
          </a:p>
          <a:p>
            <a:pPr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800" dirty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ea typeface="宋体" pitchFamily="2" charset="-122"/>
              </a:rPr>
              <a:t>       else</a:t>
            </a:r>
          </a:p>
          <a:p>
            <a:pPr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           printf("Right!\n");</a:t>
            </a:r>
          </a:p>
          <a:p>
            <a:pPr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	</a:t>
            </a:r>
            <a:r>
              <a:rPr lang="fr-FR" altLang="zh-CN" sz="1800" dirty="0">
                <a:solidFill>
                  <a:schemeClr val="hlink"/>
                </a:solidFill>
                <a:latin typeface="Courier New" pitchFamily="49" charset="0"/>
                <a:ea typeface="宋体" pitchFamily="2" charset="-122"/>
              </a:rPr>
              <a:t>}</a:t>
            </a:r>
            <a:r>
              <a:rPr lang="fr-FR" altLang="zh-CN" sz="1800" dirty="0">
                <a:solidFill>
                  <a:schemeClr val="accent2"/>
                </a:solidFill>
                <a:latin typeface="Courier New" pitchFamily="49" charset="0"/>
                <a:ea typeface="宋体" pitchFamily="2" charset="-122"/>
              </a:rPr>
              <a:t>while</a:t>
            </a:r>
            <a:r>
              <a:rPr lang="fr-FR" altLang="zh-CN" sz="1800" dirty="0">
                <a:solidFill>
                  <a:schemeClr val="hlink"/>
                </a:solidFill>
                <a:latin typeface="Courier New" pitchFamily="49" charset="0"/>
                <a:ea typeface="宋体" pitchFamily="2" charset="-122"/>
              </a:rPr>
              <a:t> </a:t>
            </a: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(guess != magic </a:t>
            </a:r>
            <a:r>
              <a:rPr lang="fr-FR" altLang="zh-CN" sz="1800" dirty="0">
                <a:solidFill>
                  <a:srgbClr val="FF0000"/>
                </a:solidFill>
                <a:latin typeface="Courier New" pitchFamily="49" charset="0"/>
                <a:ea typeface="宋体" pitchFamily="2" charset="-122"/>
              </a:rPr>
              <a:t>&amp;&amp; counter &lt; 10</a:t>
            </a: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);        </a:t>
            </a:r>
          </a:p>
          <a:p>
            <a:pPr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	printf("counter = %d \n", counter);  </a:t>
            </a:r>
          </a:p>
          <a:p>
            <a:pPr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}</a:t>
            </a:r>
            <a:endParaRPr lang="zh-CN" altLang="en-US" sz="1800" dirty="0">
              <a:solidFill>
                <a:schemeClr val="tx1"/>
              </a:solidFill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570370" name="Rectangle 2"/>
          <p:cNvSpPr>
            <a:spLocks noChangeArrowheads="1"/>
          </p:cNvSpPr>
          <p:nvPr/>
        </p:nvSpPr>
        <p:spPr bwMode="auto">
          <a:xfrm>
            <a:off x="642938" y="4397375"/>
            <a:ext cx="7850187" cy="1627188"/>
          </a:xfrm>
          <a:prstGeom prst="rect">
            <a:avLst/>
          </a:prstGeom>
          <a:solidFill>
            <a:srgbClr val="CC00CC">
              <a:alpha val="23000"/>
            </a:srgb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lIns="92075" tIns="46037" rIns="92075" bIns="46037" anchor="ctr"/>
          <a:lstStyle/>
          <a:p>
            <a:pPr algn="ctr" eaLnBrk="0" hangingPunct="0">
              <a:lnSpc>
                <a:spcPct val="95000"/>
              </a:lnSpc>
              <a:spcBef>
                <a:spcPct val="20000"/>
              </a:spcBef>
              <a:buClr>
                <a:srgbClr val="FFCC66"/>
              </a:buClr>
              <a:buSzPct val="80000"/>
              <a:buFont typeface="Monotype Sorts" charset="2"/>
              <a:buNone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70371" name="Rectangle 3"/>
          <p:cNvSpPr>
            <a:spLocks noChangeArrowheads="1"/>
          </p:cNvSpPr>
          <p:nvPr/>
        </p:nvSpPr>
        <p:spPr bwMode="auto">
          <a:xfrm>
            <a:off x="323850" y="3373438"/>
            <a:ext cx="8675688" cy="2944812"/>
          </a:xfrm>
          <a:prstGeom prst="rect">
            <a:avLst/>
          </a:prstGeom>
          <a:solidFill>
            <a:srgbClr val="FFC000">
              <a:alpha val="15000"/>
            </a:srgb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lIns="92075" tIns="46037" rIns="92075" bIns="46037" anchor="ctr"/>
          <a:lstStyle/>
          <a:p>
            <a:pPr algn="ctr" eaLnBrk="0" hangingPunct="0">
              <a:lnSpc>
                <a:spcPct val="95000"/>
              </a:lnSpc>
              <a:spcBef>
                <a:spcPct val="20000"/>
              </a:spcBef>
              <a:buClr>
                <a:srgbClr val="FFCC66"/>
              </a:buClr>
              <a:buSzPct val="80000"/>
              <a:buFont typeface="Monotype Sorts" charset="2"/>
              <a:buNone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4068763" y="188913"/>
            <a:ext cx="2879725" cy="1152525"/>
            <a:chOff x="521" y="3294"/>
            <a:chExt cx="726" cy="726"/>
          </a:xfrm>
        </p:grpSpPr>
        <p:sp>
          <p:nvSpPr>
            <p:cNvPr id="10" name="Oval 9"/>
            <p:cNvSpPr>
              <a:spLocks noChangeArrowheads="1"/>
            </p:cNvSpPr>
            <p:nvPr/>
          </p:nvSpPr>
          <p:spPr bwMode="auto">
            <a:xfrm>
              <a:off x="521" y="3294"/>
              <a:ext cx="726" cy="726"/>
            </a:xfrm>
            <a:prstGeom prst="ellipse">
              <a:avLst/>
            </a:prstGeom>
            <a:solidFill>
              <a:srgbClr val="0066CC"/>
            </a:solidFill>
            <a:ln w="19050" algn="ctr">
              <a:solidFill>
                <a:srgbClr val="99CCFF"/>
              </a:solidFill>
              <a:round/>
              <a:headEnd/>
              <a:tailEnd/>
            </a:ln>
            <a:effectLst>
              <a:outerShdw dist="35921" dir="2700000" algn="ctr" rotWithShape="0">
                <a:srgbClr val="990000"/>
              </a:outerShdw>
            </a:effectLst>
          </p:spPr>
          <p:txBody>
            <a:bodyPr lIns="0" tIns="0" rIns="0" bIns="0" anchor="ctr">
              <a:spAutoFit/>
            </a:bodyPr>
            <a:lstStyle/>
            <a:p>
              <a:pPr algn="ctr" eaLnBrk="0" hangingPunct="0">
                <a:lnSpc>
                  <a:spcPct val="95000"/>
                </a:lnSpc>
                <a:spcBef>
                  <a:spcPct val="20000"/>
                </a:spcBef>
                <a:buClr>
                  <a:srgbClr val="FFCC66"/>
                </a:buClr>
                <a:buSzPct val="80000"/>
                <a:buFont typeface="Monotype Sorts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2" name="Text Box 10"/>
            <p:cNvSpPr txBox="1">
              <a:spLocks noChangeArrowheads="1"/>
            </p:cNvSpPr>
            <p:nvPr/>
          </p:nvSpPr>
          <p:spPr bwMode="auto">
            <a:xfrm>
              <a:off x="612" y="3479"/>
              <a:ext cx="590" cy="346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kumimoji="1" lang="zh-CN" altLang="en-US">
                  <a:solidFill>
                    <a:srgbClr val="FFFF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隶书" pitchFamily="49" charset="-122"/>
                  <a:ea typeface="隶书" pitchFamily="49" charset="-122"/>
                </a:rPr>
                <a:t>最多猜</a:t>
              </a:r>
              <a:r>
                <a:rPr kumimoji="1" lang="en-US" altLang="zh-CN">
                  <a:solidFill>
                    <a:srgbClr val="FFFF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隶书" pitchFamily="49" charset="-122"/>
                  <a:ea typeface="隶书" pitchFamily="49" charset="-122"/>
                </a:rPr>
                <a:t>10</a:t>
              </a:r>
              <a:r>
                <a:rPr kumimoji="1" lang="zh-CN" altLang="en-US">
                  <a:solidFill>
                    <a:srgbClr val="FFFF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隶书" pitchFamily="49" charset="-122"/>
                  <a:ea typeface="隶书" pitchFamily="49" charset="-122"/>
                </a:rPr>
                <a:t>次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57037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57037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539" name="Rectangle 3"/>
          <p:cNvSpPr>
            <a:spLocks noChangeArrowheads="1"/>
          </p:cNvSpPr>
          <p:nvPr/>
        </p:nvSpPr>
        <p:spPr bwMode="auto">
          <a:xfrm>
            <a:off x="107950" y="785813"/>
            <a:ext cx="8675688" cy="5832475"/>
          </a:xfrm>
          <a:prstGeom prst="rect">
            <a:avLst/>
          </a:prstGeom>
          <a:solidFill>
            <a:srgbClr val="E5FFFF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2075" tIns="46037" rIns="92075" bIns="46037" anchor="ctr"/>
          <a:lstStyle/>
          <a:p>
            <a:pPr algn="ctr" eaLnBrk="0" hangingPunct="0">
              <a:lnSpc>
                <a:spcPct val="95000"/>
              </a:lnSpc>
              <a:spcBef>
                <a:spcPct val="20000"/>
              </a:spcBef>
              <a:buClr>
                <a:srgbClr val="FFCC66"/>
              </a:buClr>
              <a:buSzPct val="80000"/>
              <a:buFont typeface="Monotype Sorts" charset="2"/>
              <a:buNone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77538" name="Rectangle 2"/>
          <p:cNvSpPr>
            <a:spLocks noChangeArrowheads="1"/>
          </p:cNvSpPr>
          <p:nvPr/>
        </p:nvSpPr>
        <p:spPr bwMode="auto">
          <a:xfrm>
            <a:off x="969963" y="1722438"/>
            <a:ext cx="6697662" cy="3311525"/>
          </a:xfrm>
          <a:prstGeom prst="rect">
            <a:avLst/>
          </a:prstGeom>
          <a:solidFill>
            <a:srgbClr val="FFFFCC">
              <a:alpha val="60000"/>
            </a:srgbClr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2075" tIns="46037" rIns="92075" bIns="46037" anchor="ctr"/>
          <a:lstStyle/>
          <a:p>
            <a:pPr algn="ctr" eaLnBrk="0" hangingPunct="0">
              <a:lnSpc>
                <a:spcPct val="95000"/>
              </a:lnSpc>
              <a:spcBef>
                <a:spcPct val="20000"/>
              </a:spcBef>
              <a:buClr>
                <a:srgbClr val="FFCC66"/>
              </a:buClr>
              <a:buSzPct val="80000"/>
              <a:buFont typeface="Monotype Sorts" charset="2"/>
              <a:buNone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77540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179388" y="549275"/>
            <a:ext cx="7705725" cy="6119813"/>
          </a:xfrm>
        </p:spPr>
        <p:txBody>
          <a:bodyPr>
            <a:normAutofit lnSpcReduction="10000"/>
          </a:bodyPr>
          <a:lstStyle/>
          <a:p>
            <a:pPr>
              <a:buFont typeface="Monotype Sorts" charset="2"/>
              <a:buNone/>
              <a:defRPr/>
            </a:pPr>
            <a:r>
              <a:rPr lang="en-US" altLang="zh-CN" sz="17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……</a:t>
            </a:r>
          </a:p>
          <a:p>
            <a:pPr>
              <a:buFont typeface="Monotype Sorts" charset="2"/>
              <a:buNone/>
              <a:defRPr/>
            </a:pPr>
            <a:r>
              <a:rPr lang="en-US" altLang="zh-CN" sz="1700" dirty="0">
                <a:solidFill>
                  <a:srgbClr val="FF0000"/>
                </a:solidFill>
                <a:latin typeface="Courier New" pitchFamily="49" charset="0"/>
                <a:ea typeface="宋体" pitchFamily="2" charset="-122"/>
              </a:rPr>
              <a:t>do{</a:t>
            </a:r>
          </a:p>
          <a:p>
            <a:pPr>
              <a:buFont typeface="Monotype Sorts" charset="2"/>
              <a:buNone/>
              <a:defRPr/>
            </a:pPr>
            <a:r>
              <a:rPr lang="en-US" altLang="zh-CN" sz="17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		magic = rand() % 100 + 1;   </a:t>
            </a:r>
          </a:p>
          <a:p>
            <a:pPr>
              <a:buFont typeface="Monotype Sorts" charset="2"/>
              <a:buNone/>
              <a:defRPr/>
            </a:pPr>
            <a:r>
              <a:rPr lang="en-US" altLang="zh-CN" sz="17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		counter = 0;            </a:t>
            </a:r>
          </a:p>
          <a:p>
            <a:pPr>
              <a:buFont typeface="Monotype Sorts" charset="2"/>
              <a:buNone/>
              <a:defRPr/>
            </a:pPr>
            <a:r>
              <a:rPr lang="en-US" altLang="zh-CN" sz="17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		</a:t>
            </a:r>
            <a:r>
              <a:rPr lang="en-US" altLang="zh-CN" sz="1700" dirty="0">
                <a:solidFill>
                  <a:schemeClr val="accent2"/>
                </a:solidFill>
                <a:latin typeface="Courier New" pitchFamily="49" charset="0"/>
                <a:ea typeface="宋体" pitchFamily="2" charset="-122"/>
              </a:rPr>
              <a:t>do</a:t>
            </a:r>
            <a:r>
              <a:rPr lang="en-US" altLang="zh-CN" sz="17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{</a:t>
            </a:r>
          </a:p>
          <a:p>
            <a:pPr>
              <a:buFont typeface="Monotype Sorts" charset="2"/>
              <a:buNone/>
              <a:defRPr/>
            </a:pPr>
            <a:r>
              <a:rPr lang="en-US" altLang="zh-CN" sz="17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			</a:t>
            </a:r>
            <a:r>
              <a:rPr lang="en-US" altLang="zh-CN" sz="1700" dirty="0" err="1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printf</a:t>
            </a:r>
            <a:r>
              <a:rPr lang="en-US" altLang="zh-CN" sz="17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("Please guess a magic number:");</a:t>
            </a:r>
          </a:p>
          <a:p>
            <a:pPr>
              <a:buFont typeface="Monotype Sorts" charset="2"/>
              <a:buNone/>
              <a:defRPr/>
            </a:pPr>
            <a:r>
              <a:rPr lang="en-US" altLang="zh-CN" sz="17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			</a:t>
            </a:r>
            <a:r>
              <a:rPr lang="en-US" altLang="zh-CN" sz="1700" dirty="0" err="1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scanf</a:t>
            </a:r>
            <a:r>
              <a:rPr lang="en-US" altLang="zh-CN" sz="17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("%d", &amp;guess);       </a:t>
            </a:r>
          </a:p>
          <a:p>
            <a:pPr>
              <a:buFont typeface="Monotype Sorts" charset="2"/>
              <a:buNone/>
              <a:defRPr/>
            </a:pPr>
            <a:r>
              <a:rPr lang="en-US" altLang="zh-CN" sz="17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			counter ++;               </a:t>
            </a:r>
          </a:p>
          <a:p>
            <a:pPr>
              <a:buFont typeface="Monotype Sorts" charset="2"/>
              <a:buNone/>
              <a:defRPr/>
            </a:pPr>
            <a:r>
              <a:rPr lang="en-US" altLang="zh-CN" sz="17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			</a:t>
            </a:r>
            <a:r>
              <a:rPr lang="en-US" altLang="zh-CN" sz="1700" dirty="0">
                <a:solidFill>
                  <a:schemeClr val="accent2"/>
                </a:solidFill>
                <a:latin typeface="Courier New" pitchFamily="49" charset="0"/>
                <a:ea typeface="宋体" pitchFamily="2" charset="-122"/>
              </a:rPr>
              <a:t>if</a:t>
            </a:r>
            <a:r>
              <a:rPr lang="en-US" altLang="zh-CN" sz="17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 (guess &gt; magic)    </a:t>
            </a:r>
          </a:p>
          <a:p>
            <a:pPr>
              <a:buFont typeface="Monotype Sorts" charset="2"/>
              <a:buNone/>
              <a:defRPr/>
            </a:pPr>
            <a:r>
              <a:rPr lang="en-US" altLang="zh-CN" sz="17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			    </a:t>
            </a:r>
            <a:r>
              <a:rPr lang="en-US" altLang="zh-CN" sz="1700" dirty="0" err="1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printf</a:t>
            </a:r>
            <a:r>
              <a:rPr lang="en-US" altLang="zh-CN" sz="17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("</a:t>
            </a:r>
            <a:r>
              <a:rPr lang="en-US" altLang="zh-CN" sz="1700" dirty="0" err="1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Wrong!Too</a:t>
            </a:r>
            <a:r>
              <a:rPr lang="en-US" altLang="zh-CN" sz="17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 high!\n");</a:t>
            </a:r>
          </a:p>
          <a:p>
            <a:pPr>
              <a:buFont typeface="Monotype Sorts" charset="2"/>
              <a:buNone/>
              <a:defRPr/>
            </a:pPr>
            <a:r>
              <a:rPr lang="en-US" altLang="zh-CN" sz="17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			</a:t>
            </a:r>
            <a:r>
              <a:rPr lang="en-US" altLang="zh-CN" sz="1700" dirty="0">
                <a:solidFill>
                  <a:schemeClr val="accent2"/>
                </a:solidFill>
                <a:latin typeface="Courier New" pitchFamily="49" charset="0"/>
                <a:ea typeface="宋体" pitchFamily="2" charset="-122"/>
              </a:rPr>
              <a:t>else if</a:t>
            </a:r>
            <a:r>
              <a:rPr lang="en-US" altLang="zh-CN" sz="17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 (guess &lt; magic)  </a:t>
            </a:r>
          </a:p>
          <a:p>
            <a:pPr>
              <a:buFont typeface="Monotype Sorts" charset="2"/>
              <a:buNone/>
              <a:defRPr/>
            </a:pPr>
            <a:r>
              <a:rPr lang="en-US" altLang="zh-CN" sz="17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			    </a:t>
            </a:r>
            <a:r>
              <a:rPr lang="en-US" altLang="zh-CN" sz="1700" dirty="0" err="1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printf</a:t>
            </a:r>
            <a:r>
              <a:rPr lang="en-US" altLang="zh-CN" sz="17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("</a:t>
            </a:r>
            <a:r>
              <a:rPr lang="en-US" altLang="zh-CN" sz="1700" dirty="0" err="1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Wrong!Too</a:t>
            </a:r>
            <a:r>
              <a:rPr lang="en-US" altLang="zh-CN" sz="17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 low!\n");</a:t>
            </a:r>
          </a:p>
          <a:p>
            <a:pPr>
              <a:buFont typeface="Monotype Sorts" charset="2"/>
              <a:buNone/>
              <a:defRPr/>
            </a:pPr>
            <a:r>
              <a:rPr lang="en-US" altLang="zh-CN" sz="17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			</a:t>
            </a:r>
            <a:r>
              <a:rPr lang="en-US" altLang="zh-CN" sz="1700" dirty="0">
                <a:solidFill>
                  <a:schemeClr val="accent2"/>
                </a:solidFill>
                <a:latin typeface="Courier New" pitchFamily="49" charset="0"/>
                <a:ea typeface="宋体" pitchFamily="2" charset="-122"/>
              </a:rPr>
              <a:t>else</a:t>
            </a:r>
          </a:p>
          <a:p>
            <a:pPr>
              <a:buFont typeface="Monotype Sorts" charset="2"/>
              <a:buNone/>
              <a:defRPr/>
            </a:pPr>
            <a:r>
              <a:rPr lang="en-US" altLang="zh-CN" sz="17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			    </a:t>
            </a:r>
            <a:r>
              <a:rPr lang="en-US" altLang="zh-CN" sz="1700" dirty="0" err="1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printf</a:t>
            </a:r>
            <a:r>
              <a:rPr lang="en-US" altLang="zh-CN" sz="17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("Right!\n");</a:t>
            </a:r>
          </a:p>
          <a:p>
            <a:pPr>
              <a:buFont typeface="Monotype Sorts" charset="2"/>
              <a:buNone/>
              <a:defRPr/>
            </a:pPr>
            <a:r>
              <a:rPr lang="en-US" altLang="zh-CN" sz="17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		}</a:t>
            </a:r>
            <a:r>
              <a:rPr lang="en-US" altLang="zh-CN" sz="1700" dirty="0">
                <a:solidFill>
                  <a:schemeClr val="accent2"/>
                </a:solidFill>
                <a:latin typeface="Courier New" pitchFamily="49" charset="0"/>
                <a:ea typeface="宋体" pitchFamily="2" charset="-122"/>
              </a:rPr>
              <a:t>while</a:t>
            </a:r>
            <a:r>
              <a:rPr lang="en-US" altLang="zh-CN" sz="17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 (guess != magic &amp;&amp; counter &lt; 10);</a:t>
            </a:r>
          </a:p>
          <a:p>
            <a:pPr>
              <a:buFont typeface="Monotype Sorts" charset="2"/>
              <a:buNone/>
              <a:defRPr/>
            </a:pPr>
            <a:r>
              <a:rPr lang="en-US" altLang="zh-CN" sz="17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		</a:t>
            </a:r>
          </a:p>
          <a:p>
            <a:pPr>
              <a:buFont typeface="Monotype Sorts" charset="2"/>
              <a:buNone/>
              <a:defRPr/>
            </a:pPr>
            <a:r>
              <a:rPr lang="en-US" altLang="zh-CN" sz="17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		</a:t>
            </a:r>
            <a:r>
              <a:rPr lang="en-US" altLang="zh-CN" sz="1700" dirty="0" err="1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printf</a:t>
            </a:r>
            <a:r>
              <a:rPr lang="en-US" altLang="zh-CN" sz="17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("counter = %d\n", counter); </a:t>
            </a:r>
          </a:p>
          <a:p>
            <a:pPr>
              <a:buFont typeface="Monotype Sorts" charset="2"/>
              <a:buNone/>
              <a:defRPr/>
            </a:pPr>
            <a:r>
              <a:rPr lang="en-US" altLang="zh-CN" sz="17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		</a:t>
            </a:r>
            <a:r>
              <a:rPr lang="en-US" altLang="zh-CN" sz="1700" dirty="0" err="1">
                <a:solidFill>
                  <a:srgbClr val="FF0000"/>
                </a:solidFill>
                <a:latin typeface="Courier New" pitchFamily="49" charset="0"/>
                <a:ea typeface="宋体" pitchFamily="2" charset="-122"/>
              </a:rPr>
              <a:t>printf</a:t>
            </a:r>
            <a:r>
              <a:rPr lang="en-US" altLang="zh-CN" sz="1700" dirty="0">
                <a:solidFill>
                  <a:srgbClr val="FF0000"/>
                </a:solidFill>
                <a:latin typeface="Courier New" pitchFamily="49" charset="0"/>
                <a:ea typeface="宋体" pitchFamily="2" charset="-122"/>
              </a:rPr>
              <a:t>("Do you want to continue(Y/N or y/n)?");</a:t>
            </a:r>
          </a:p>
          <a:p>
            <a:pPr>
              <a:buFont typeface="Monotype Sorts" charset="2"/>
              <a:buNone/>
              <a:defRPr/>
            </a:pPr>
            <a:r>
              <a:rPr lang="en-US" altLang="zh-CN" sz="1700" dirty="0">
                <a:solidFill>
                  <a:srgbClr val="FF0000"/>
                </a:solidFill>
                <a:latin typeface="Courier New" pitchFamily="49" charset="0"/>
                <a:ea typeface="宋体" pitchFamily="2" charset="-122"/>
              </a:rPr>
              <a:t>		</a:t>
            </a:r>
            <a:r>
              <a:rPr lang="en-US" altLang="zh-CN" sz="1700" dirty="0" err="1">
                <a:solidFill>
                  <a:srgbClr val="FF0000"/>
                </a:solidFill>
                <a:latin typeface="Courier New" pitchFamily="49" charset="0"/>
                <a:ea typeface="宋体" pitchFamily="2" charset="-122"/>
              </a:rPr>
              <a:t>scanf</a:t>
            </a:r>
            <a:r>
              <a:rPr lang="en-US" altLang="zh-CN" sz="1700" dirty="0">
                <a:solidFill>
                  <a:srgbClr val="FF0000"/>
                </a:solidFill>
                <a:latin typeface="Courier New" pitchFamily="49" charset="0"/>
                <a:ea typeface="宋体" pitchFamily="2" charset="-122"/>
              </a:rPr>
              <a:t>(" %c", &amp;reply);</a:t>
            </a:r>
          </a:p>
          <a:p>
            <a:pPr>
              <a:buFont typeface="Monotype Sorts" charset="2"/>
              <a:buNone/>
              <a:defRPr/>
            </a:pPr>
            <a:r>
              <a:rPr lang="en-US" altLang="zh-CN" sz="17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	</a:t>
            </a:r>
            <a:r>
              <a:rPr lang="en-US" altLang="zh-CN" sz="1700" dirty="0">
                <a:solidFill>
                  <a:srgbClr val="FF0000"/>
                </a:solidFill>
                <a:latin typeface="Courier New" pitchFamily="49" charset="0"/>
                <a:ea typeface="宋体" pitchFamily="2" charset="-122"/>
              </a:rPr>
              <a:t>}while ((reply == 'Y') || (reply == 'y')); </a:t>
            </a:r>
            <a:endParaRPr lang="zh-CN" altLang="en-US" sz="1700" dirty="0">
              <a:solidFill>
                <a:srgbClr val="FF0000"/>
              </a:solidFill>
              <a:latin typeface="Courier New" pitchFamily="49" charset="0"/>
              <a:ea typeface="宋体" pitchFamily="2" charset="-122"/>
            </a:endParaRP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4441825" y="74613"/>
            <a:ext cx="4635500" cy="1655762"/>
            <a:chOff x="2789" y="255"/>
            <a:chExt cx="2920" cy="1043"/>
          </a:xfrm>
        </p:grpSpPr>
        <p:sp>
          <p:nvSpPr>
            <p:cNvPr id="577542" name="Oval 6"/>
            <p:cNvSpPr>
              <a:spLocks noChangeArrowheads="1"/>
            </p:cNvSpPr>
            <p:nvPr/>
          </p:nvSpPr>
          <p:spPr bwMode="auto">
            <a:xfrm>
              <a:off x="2789" y="255"/>
              <a:ext cx="2920" cy="1043"/>
            </a:xfrm>
            <a:prstGeom prst="ellipse">
              <a:avLst/>
            </a:prstGeom>
            <a:solidFill>
              <a:srgbClr val="0066CC"/>
            </a:solidFill>
            <a:ln w="19050" algn="ctr">
              <a:solidFill>
                <a:srgbClr val="99CCFF"/>
              </a:solidFill>
              <a:round/>
              <a:headEnd/>
              <a:tailEnd/>
            </a:ln>
            <a:effectLst>
              <a:outerShdw dist="35921" dir="2700000" algn="ctr" rotWithShape="0">
                <a:srgbClr val="990000"/>
              </a:outerShdw>
            </a:effectLst>
          </p:spPr>
          <p:txBody>
            <a:bodyPr lIns="0" tIns="0" rIns="0" bIns="0" anchor="ctr">
              <a:spAutoFit/>
            </a:bodyPr>
            <a:lstStyle/>
            <a:p>
              <a:pPr algn="ctr" eaLnBrk="0" hangingPunct="0">
                <a:lnSpc>
                  <a:spcPct val="95000"/>
                </a:lnSpc>
                <a:spcBef>
                  <a:spcPct val="20000"/>
                </a:spcBef>
                <a:buClr>
                  <a:srgbClr val="FFCC66"/>
                </a:buClr>
                <a:buSzPct val="80000"/>
                <a:buFont typeface="Monotype Sorts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77543" name="Text Box 7"/>
            <p:cNvSpPr txBox="1">
              <a:spLocks noChangeArrowheads="1"/>
            </p:cNvSpPr>
            <p:nvPr/>
          </p:nvSpPr>
          <p:spPr bwMode="auto">
            <a:xfrm>
              <a:off x="2987" y="364"/>
              <a:ext cx="2514" cy="753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ctr" eaLnBrk="0" hangingPunct="0">
                <a:lnSpc>
                  <a:spcPct val="80000"/>
                </a:lnSpc>
                <a:spcBef>
                  <a:spcPct val="20000"/>
                </a:spcBef>
                <a:buClr>
                  <a:srgbClr val="FFCC66"/>
                </a:buClr>
                <a:buSzPct val="80000"/>
                <a:buFont typeface="Monotype Sorts" charset="2"/>
                <a:buNone/>
                <a:defRPr/>
              </a:pPr>
              <a:r>
                <a:rPr kumimoji="1" lang="zh-CN" altLang="en-US" sz="2800" b="1">
                  <a:solidFill>
                    <a:srgbClr val="FFFF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隶书" pitchFamily="49" charset="-122"/>
                  <a:ea typeface="隶书" pitchFamily="49" charset="-122"/>
                </a:rPr>
                <a:t>猜多个数</a:t>
              </a:r>
            </a:p>
            <a:p>
              <a:pPr algn="ctr" eaLnBrk="0" hangingPunct="0">
                <a:lnSpc>
                  <a:spcPct val="80000"/>
                </a:lnSpc>
                <a:spcBef>
                  <a:spcPct val="20000"/>
                </a:spcBef>
                <a:buClr>
                  <a:srgbClr val="FFCC66"/>
                </a:buClr>
                <a:buSzPct val="80000"/>
                <a:buFont typeface="Monotype Sorts" charset="2"/>
                <a:buNone/>
                <a:defRPr/>
              </a:pPr>
              <a:r>
                <a:rPr kumimoji="1" lang="en-US" altLang="zh-CN" sz="2800" b="1">
                  <a:solidFill>
                    <a:srgbClr val="FFFF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隶书" pitchFamily="49" charset="-122"/>
                  <a:ea typeface="隶书" pitchFamily="49" charset="-122"/>
                </a:rPr>
                <a:t>10</a:t>
              </a:r>
              <a:r>
                <a:rPr kumimoji="1" lang="zh-CN" altLang="en-US" sz="2800" b="1">
                  <a:solidFill>
                    <a:srgbClr val="FFFF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隶书" pitchFamily="49" charset="-122"/>
                  <a:ea typeface="隶书" pitchFamily="49" charset="-122"/>
                </a:rPr>
                <a:t>次猜不对就猜下一个数</a:t>
              </a:r>
            </a:p>
            <a:p>
              <a:pPr algn="ctr" eaLnBrk="0" hangingPunct="0">
                <a:lnSpc>
                  <a:spcPct val="80000"/>
                </a:lnSpc>
                <a:spcBef>
                  <a:spcPct val="20000"/>
                </a:spcBef>
                <a:buClr>
                  <a:srgbClr val="FFCC66"/>
                </a:buClr>
                <a:buSzPct val="80000"/>
                <a:buFont typeface="Monotype Sorts" charset="2"/>
                <a:buNone/>
                <a:defRPr/>
              </a:pPr>
              <a:r>
                <a:rPr lang="zh-CN" altLang="en-US" sz="2800" b="1">
                  <a:solidFill>
                    <a:srgbClr val="FFFF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隶书" pitchFamily="49" charset="-122"/>
                </a:rPr>
                <a:t>直到用户选择结束为止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5775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5775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577540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577540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577540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577540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4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 tmFilter="0, 0; .2, .5; .8, .5; 1, 0"/>
                                        <p:tgtEl>
                                          <p:spTgt spid="577540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" dur="250" autoRev="1" fill="hold"/>
                                        <p:tgtEl>
                                          <p:spTgt spid="577540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539" name="Rectangle 3"/>
          <p:cNvSpPr>
            <a:spLocks noChangeArrowheads="1"/>
          </p:cNvSpPr>
          <p:nvPr/>
        </p:nvSpPr>
        <p:spPr bwMode="auto">
          <a:xfrm>
            <a:off x="107950" y="785813"/>
            <a:ext cx="8675688" cy="5832475"/>
          </a:xfrm>
          <a:prstGeom prst="rect">
            <a:avLst/>
          </a:prstGeom>
          <a:solidFill>
            <a:srgbClr val="E5FFFF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2075" tIns="46037" rIns="92075" bIns="46037" anchor="ctr"/>
          <a:lstStyle/>
          <a:p>
            <a:pPr algn="ctr" eaLnBrk="0" hangingPunct="0">
              <a:lnSpc>
                <a:spcPct val="95000"/>
              </a:lnSpc>
              <a:spcBef>
                <a:spcPct val="20000"/>
              </a:spcBef>
              <a:buClr>
                <a:srgbClr val="FFCC66"/>
              </a:buClr>
              <a:buSzPct val="80000"/>
              <a:buFont typeface="Monotype Sorts" charset="2"/>
              <a:buNone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77538" name="Rectangle 2"/>
          <p:cNvSpPr>
            <a:spLocks noChangeArrowheads="1"/>
          </p:cNvSpPr>
          <p:nvPr/>
        </p:nvSpPr>
        <p:spPr bwMode="auto">
          <a:xfrm>
            <a:off x="969963" y="1722438"/>
            <a:ext cx="6697662" cy="3311525"/>
          </a:xfrm>
          <a:prstGeom prst="rect">
            <a:avLst/>
          </a:prstGeom>
          <a:solidFill>
            <a:srgbClr val="FFFFCC">
              <a:alpha val="60000"/>
            </a:srgbClr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2075" tIns="46037" rIns="92075" bIns="46037" anchor="ctr"/>
          <a:lstStyle/>
          <a:p>
            <a:pPr algn="ctr" eaLnBrk="0" hangingPunct="0">
              <a:lnSpc>
                <a:spcPct val="95000"/>
              </a:lnSpc>
              <a:spcBef>
                <a:spcPct val="20000"/>
              </a:spcBef>
              <a:buClr>
                <a:srgbClr val="FFCC66"/>
              </a:buClr>
              <a:buSzPct val="80000"/>
              <a:buFont typeface="Monotype Sorts" charset="2"/>
              <a:buNone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77540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179388" y="549275"/>
            <a:ext cx="7705725" cy="6119813"/>
          </a:xfrm>
        </p:spPr>
        <p:txBody>
          <a:bodyPr>
            <a:normAutofit lnSpcReduction="10000"/>
          </a:bodyPr>
          <a:lstStyle/>
          <a:p>
            <a:pPr>
              <a:buFont typeface="Monotype Sorts" charset="2"/>
              <a:buNone/>
              <a:defRPr/>
            </a:pPr>
            <a:r>
              <a:rPr lang="en-US" altLang="zh-CN" sz="17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……</a:t>
            </a:r>
          </a:p>
          <a:p>
            <a:pPr>
              <a:buFont typeface="Monotype Sorts" charset="2"/>
              <a:buNone/>
              <a:defRPr/>
            </a:pPr>
            <a:r>
              <a:rPr lang="en-US" altLang="zh-CN" sz="17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do{</a:t>
            </a:r>
          </a:p>
          <a:p>
            <a:pPr>
              <a:buFont typeface="Monotype Sorts" charset="2"/>
              <a:buNone/>
              <a:defRPr/>
            </a:pPr>
            <a:r>
              <a:rPr lang="en-US" altLang="zh-CN" sz="17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		magic = rand() % 100 + 1;   </a:t>
            </a:r>
          </a:p>
          <a:p>
            <a:pPr>
              <a:buFont typeface="Monotype Sorts" charset="2"/>
              <a:buNone/>
              <a:defRPr/>
            </a:pPr>
            <a:r>
              <a:rPr lang="en-US" altLang="zh-CN" sz="17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		counter = 0;            </a:t>
            </a:r>
          </a:p>
          <a:p>
            <a:pPr>
              <a:buFont typeface="Monotype Sorts" charset="2"/>
              <a:buNone/>
              <a:defRPr/>
            </a:pPr>
            <a:r>
              <a:rPr lang="en-US" altLang="zh-CN" sz="17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		</a:t>
            </a:r>
            <a:r>
              <a:rPr lang="en-US" altLang="zh-CN" sz="1700" dirty="0">
                <a:solidFill>
                  <a:schemeClr val="accent2"/>
                </a:solidFill>
                <a:latin typeface="Courier New" pitchFamily="49" charset="0"/>
                <a:ea typeface="宋体" pitchFamily="2" charset="-122"/>
              </a:rPr>
              <a:t>do</a:t>
            </a:r>
            <a:r>
              <a:rPr lang="en-US" altLang="zh-CN" sz="17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{</a:t>
            </a:r>
          </a:p>
          <a:p>
            <a:pPr>
              <a:buFont typeface="Monotype Sorts" charset="2"/>
              <a:buNone/>
              <a:defRPr/>
            </a:pPr>
            <a:r>
              <a:rPr lang="en-US" altLang="zh-CN" sz="17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			</a:t>
            </a:r>
            <a:r>
              <a:rPr lang="en-US" altLang="zh-CN" sz="1700" dirty="0" err="1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printf</a:t>
            </a:r>
            <a:r>
              <a:rPr lang="en-US" altLang="zh-CN" sz="17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("Please guess a magic number:");</a:t>
            </a:r>
          </a:p>
          <a:p>
            <a:pPr>
              <a:buFont typeface="Monotype Sorts" charset="2"/>
              <a:buNone/>
              <a:defRPr/>
            </a:pPr>
            <a:r>
              <a:rPr lang="en-US" altLang="zh-CN" sz="17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			</a:t>
            </a:r>
            <a:r>
              <a:rPr lang="en-US" altLang="zh-CN" sz="1700" dirty="0" err="1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scanf</a:t>
            </a:r>
            <a:r>
              <a:rPr lang="en-US" altLang="zh-CN" sz="17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("%d", &amp;guess);       </a:t>
            </a:r>
          </a:p>
          <a:p>
            <a:pPr>
              <a:buFont typeface="Monotype Sorts" charset="2"/>
              <a:buNone/>
              <a:defRPr/>
            </a:pPr>
            <a:r>
              <a:rPr lang="en-US" altLang="zh-CN" sz="17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			counter ++;               </a:t>
            </a:r>
          </a:p>
          <a:p>
            <a:pPr>
              <a:buFont typeface="Monotype Sorts" charset="2"/>
              <a:buNone/>
              <a:defRPr/>
            </a:pPr>
            <a:r>
              <a:rPr lang="en-US" altLang="zh-CN" sz="17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			</a:t>
            </a:r>
            <a:r>
              <a:rPr lang="en-US" altLang="zh-CN" sz="1700" dirty="0">
                <a:solidFill>
                  <a:schemeClr val="accent2"/>
                </a:solidFill>
                <a:latin typeface="Courier New" pitchFamily="49" charset="0"/>
                <a:ea typeface="宋体" pitchFamily="2" charset="-122"/>
              </a:rPr>
              <a:t>if</a:t>
            </a:r>
            <a:r>
              <a:rPr lang="en-US" altLang="zh-CN" sz="17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 (guess &gt; magic)    </a:t>
            </a:r>
          </a:p>
          <a:p>
            <a:pPr>
              <a:buFont typeface="Monotype Sorts" charset="2"/>
              <a:buNone/>
              <a:defRPr/>
            </a:pPr>
            <a:r>
              <a:rPr lang="en-US" altLang="zh-CN" sz="17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			    </a:t>
            </a:r>
            <a:r>
              <a:rPr lang="en-US" altLang="zh-CN" sz="1700" dirty="0" err="1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printf</a:t>
            </a:r>
            <a:r>
              <a:rPr lang="en-US" altLang="zh-CN" sz="17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("</a:t>
            </a:r>
            <a:r>
              <a:rPr lang="en-US" altLang="zh-CN" sz="1700" dirty="0" err="1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Wrong!Too</a:t>
            </a:r>
            <a:r>
              <a:rPr lang="en-US" altLang="zh-CN" sz="17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 high!\n");</a:t>
            </a:r>
          </a:p>
          <a:p>
            <a:pPr>
              <a:buFont typeface="Monotype Sorts" charset="2"/>
              <a:buNone/>
              <a:defRPr/>
            </a:pPr>
            <a:r>
              <a:rPr lang="en-US" altLang="zh-CN" sz="17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			</a:t>
            </a:r>
            <a:r>
              <a:rPr lang="en-US" altLang="zh-CN" sz="1700" dirty="0">
                <a:solidFill>
                  <a:schemeClr val="accent2"/>
                </a:solidFill>
                <a:latin typeface="Courier New" pitchFamily="49" charset="0"/>
                <a:ea typeface="宋体" pitchFamily="2" charset="-122"/>
              </a:rPr>
              <a:t>else if</a:t>
            </a:r>
            <a:r>
              <a:rPr lang="en-US" altLang="zh-CN" sz="17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 (guess &lt; magic)  </a:t>
            </a:r>
          </a:p>
          <a:p>
            <a:pPr>
              <a:buFont typeface="Monotype Sorts" charset="2"/>
              <a:buNone/>
              <a:defRPr/>
            </a:pPr>
            <a:r>
              <a:rPr lang="en-US" altLang="zh-CN" sz="17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			    </a:t>
            </a:r>
            <a:r>
              <a:rPr lang="en-US" altLang="zh-CN" sz="1700" dirty="0" err="1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printf</a:t>
            </a:r>
            <a:r>
              <a:rPr lang="en-US" altLang="zh-CN" sz="17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("</a:t>
            </a:r>
            <a:r>
              <a:rPr lang="en-US" altLang="zh-CN" sz="1700" dirty="0" err="1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Wrong!Too</a:t>
            </a:r>
            <a:r>
              <a:rPr lang="en-US" altLang="zh-CN" sz="17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 low!\n");</a:t>
            </a:r>
          </a:p>
          <a:p>
            <a:pPr>
              <a:buFont typeface="Monotype Sorts" charset="2"/>
              <a:buNone/>
              <a:defRPr/>
            </a:pPr>
            <a:r>
              <a:rPr lang="en-US" altLang="zh-CN" sz="17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			</a:t>
            </a:r>
            <a:r>
              <a:rPr lang="en-US" altLang="zh-CN" sz="1700" dirty="0">
                <a:solidFill>
                  <a:schemeClr val="accent2"/>
                </a:solidFill>
                <a:latin typeface="Courier New" pitchFamily="49" charset="0"/>
                <a:ea typeface="宋体" pitchFamily="2" charset="-122"/>
              </a:rPr>
              <a:t>else</a:t>
            </a:r>
          </a:p>
          <a:p>
            <a:pPr>
              <a:buFont typeface="Monotype Sorts" charset="2"/>
              <a:buNone/>
              <a:defRPr/>
            </a:pPr>
            <a:r>
              <a:rPr lang="en-US" altLang="zh-CN" sz="17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			    </a:t>
            </a:r>
            <a:r>
              <a:rPr lang="en-US" altLang="zh-CN" sz="1700" dirty="0" err="1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printf</a:t>
            </a:r>
            <a:r>
              <a:rPr lang="en-US" altLang="zh-CN" sz="17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("Right!\n");</a:t>
            </a:r>
          </a:p>
          <a:p>
            <a:pPr>
              <a:buFont typeface="Monotype Sorts" charset="2"/>
              <a:buNone/>
              <a:defRPr/>
            </a:pPr>
            <a:r>
              <a:rPr lang="en-US" altLang="zh-CN" sz="17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		}</a:t>
            </a:r>
            <a:r>
              <a:rPr lang="en-US" altLang="zh-CN" sz="1700" dirty="0">
                <a:solidFill>
                  <a:schemeClr val="accent2"/>
                </a:solidFill>
                <a:latin typeface="Courier New" pitchFamily="49" charset="0"/>
                <a:ea typeface="宋体" pitchFamily="2" charset="-122"/>
              </a:rPr>
              <a:t>while</a:t>
            </a:r>
            <a:r>
              <a:rPr lang="en-US" altLang="zh-CN" sz="17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 (guess != magic &amp;&amp; counter &lt; 10);</a:t>
            </a:r>
          </a:p>
          <a:p>
            <a:pPr>
              <a:buFont typeface="Monotype Sorts" charset="2"/>
              <a:buNone/>
              <a:defRPr/>
            </a:pPr>
            <a:r>
              <a:rPr lang="en-US" altLang="zh-CN" sz="17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		</a:t>
            </a:r>
          </a:p>
          <a:p>
            <a:pPr>
              <a:buFont typeface="Monotype Sorts" charset="2"/>
              <a:buNone/>
              <a:defRPr/>
            </a:pPr>
            <a:r>
              <a:rPr lang="en-US" altLang="zh-CN" sz="17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		</a:t>
            </a:r>
            <a:r>
              <a:rPr lang="en-US" altLang="zh-CN" sz="1700" dirty="0" err="1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printf</a:t>
            </a:r>
            <a:r>
              <a:rPr lang="en-US" altLang="zh-CN" sz="17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("counter = %d\n", counter); </a:t>
            </a:r>
          </a:p>
          <a:p>
            <a:pPr>
              <a:buFont typeface="Monotype Sorts" charset="2"/>
              <a:buNone/>
              <a:defRPr/>
            </a:pPr>
            <a:r>
              <a:rPr lang="en-US" altLang="zh-CN" sz="17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		</a:t>
            </a:r>
            <a:r>
              <a:rPr lang="en-US" altLang="zh-CN" sz="1700" dirty="0" err="1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printf</a:t>
            </a:r>
            <a:r>
              <a:rPr lang="en-US" altLang="zh-CN" sz="17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("Do you want to continue(Y/N or y/n)?");</a:t>
            </a:r>
          </a:p>
          <a:p>
            <a:pPr>
              <a:buFont typeface="Monotype Sorts" charset="2"/>
              <a:buNone/>
              <a:defRPr/>
            </a:pPr>
            <a:r>
              <a:rPr lang="en-US" altLang="zh-CN" sz="17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		</a:t>
            </a:r>
            <a:r>
              <a:rPr lang="en-US" altLang="zh-CN" sz="1700" dirty="0" err="1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scanf</a:t>
            </a:r>
            <a:r>
              <a:rPr lang="en-US" altLang="zh-CN" sz="17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(" %c", &amp;reply);</a:t>
            </a:r>
          </a:p>
          <a:p>
            <a:pPr>
              <a:buFont typeface="Monotype Sorts" charset="2"/>
              <a:buNone/>
              <a:defRPr/>
            </a:pPr>
            <a:r>
              <a:rPr lang="en-US" altLang="zh-CN" sz="17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	}while ((reply == 'Y') || (reply == 'y')); </a:t>
            </a:r>
            <a:endParaRPr lang="zh-CN" altLang="en-US" sz="1700" dirty="0">
              <a:solidFill>
                <a:schemeClr val="tx1"/>
              </a:solidFill>
              <a:latin typeface="Courier New" pitchFamily="49" charset="0"/>
              <a:ea typeface="宋体" pitchFamily="2" charset="-122"/>
            </a:endParaRP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5429250" y="574675"/>
            <a:ext cx="3643313" cy="711200"/>
            <a:chOff x="2789" y="255"/>
            <a:chExt cx="2920" cy="1043"/>
          </a:xfrm>
        </p:grpSpPr>
        <p:sp>
          <p:nvSpPr>
            <p:cNvPr id="11" name="Oval 6"/>
            <p:cNvSpPr>
              <a:spLocks noChangeArrowheads="1"/>
            </p:cNvSpPr>
            <p:nvPr/>
          </p:nvSpPr>
          <p:spPr bwMode="auto">
            <a:xfrm>
              <a:off x="2789" y="255"/>
              <a:ext cx="2920" cy="1043"/>
            </a:xfrm>
            <a:prstGeom prst="ellipse">
              <a:avLst/>
            </a:prstGeom>
            <a:solidFill>
              <a:srgbClr val="0066CC"/>
            </a:solidFill>
            <a:ln w="19050" algn="ctr">
              <a:solidFill>
                <a:srgbClr val="99CCFF"/>
              </a:solidFill>
              <a:round/>
              <a:headEnd/>
              <a:tailEnd/>
            </a:ln>
            <a:effectLst>
              <a:outerShdw dist="35921" dir="2700000" algn="ctr" rotWithShape="0">
                <a:srgbClr val="990000"/>
              </a:outerShdw>
            </a:effectLst>
          </p:spPr>
          <p:txBody>
            <a:bodyPr lIns="0" tIns="0" rIns="0" bIns="0" anchor="ctr">
              <a:spAutoFit/>
            </a:bodyPr>
            <a:lstStyle/>
            <a:p>
              <a:pPr algn="ctr" eaLnBrk="0" hangingPunct="0">
                <a:lnSpc>
                  <a:spcPct val="95000"/>
                </a:lnSpc>
                <a:spcBef>
                  <a:spcPct val="20000"/>
                </a:spcBef>
                <a:buClr>
                  <a:srgbClr val="FFCC66"/>
                </a:buClr>
                <a:buSzPct val="80000"/>
                <a:buFont typeface="Monotype Sorts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2" name="Text Box 7"/>
            <p:cNvSpPr txBox="1">
              <a:spLocks noChangeArrowheads="1"/>
            </p:cNvSpPr>
            <p:nvPr/>
          </p:nvSpPr>
          <p:spPr bwMode="auto">
            <a:xfrm>
              <a:off x="3013" y="565"/>
              <a:ext cx="2514" cy="459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ctr" eaLnBrk="0" hangingPunct="0">
                <a:lnSpc>
                  <a:spcPct val="80000"/>
                </a:lnSpc>
                <a:spcBef>
                  <a:spcPct val="20000"/>
                </a:spcBef>
                <a:buClr>
                  <a:srgbClr val="FFCC66"/>
                </a:buClr>
                <a:buSzPct val="80000"/>
                <a:buFont typeface="Monotype Sorts" charset="2"/>
                <a:buNone/>
                <a:defRPr/>
              </a:pPr>
              <a:r>
                <a:rPr lang="zh-CN" altLang="en-US" sz="2800" b="1" dirty="0">
                  <a:solidFill>
                    <a:srgbClr val="FFFF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隶书" pitchFamily="49" charset="-122"/>
                </a:rPr>
                <a:t>防止非法字符输入</a:t>
              </a:r>
            </a:p>
          </p:txBody>
        </p:sp>
      </p:grpSp>
      <p:sp>
        <p:nvSpPr>
          <p:cNvPr id="15" name="Rectangle 57"/>
          <p:cNvSpPr>
            <a:spLocks noChangeArrowheads="1"/>
          </p:cNvSpPr>
          <p:nvPr/>
        </p:nvSpPr>
        <p:spPr bwMode="auto">
          <a:xfrm>
            <a:off x="2071688" y="2276872"/>
            <a:ext cx="3071812" cy="269875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 sz="180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317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06825" y="4365104"/>
            <a:ext cx="5194300" cy="1743075"/>
          </a:xfrm>
          <a:prstGeom prst="rect">
            <a:avLst/>
          </a:prstGeom>
          <a:noFill/>
          <a:ln w="50800" cmpd="thickThin">
            <a:solidFill>
              <a:schemeClr val="accent2">
                <a:lumMod val="50000"/>
              </a:schemeClr>
            </a:solidFill>
            <a:miter lim="800000"/>
            <a:headEnd/>
            <a:tailEnd/>
          </a:ln>
          <a:effectLst/>
        </p:spPr>
      </p:pic>
      <p:sp>
        <p:nvSpPr>
          <p:cNvPr id="14" name="右弧形箭头 13"/>
          <p:cNvSpPr/>
          <p:nvPr/>
        </p:nvSpPr>
        <p:spPr bwMode="auto">
          <a:xfrm>
            <a:off x="5167313" y="2420938"/>
            <a:ext cx="642937" cy="1857375"/>
          </a:xfrm>
          <a:prstGeom prst="curvedLeftArrow">
            <a:avLst/>
          </a:prstGeom>
          <a:blipFill>
            <a:blip r:embed="rId3" cstate="print"/>
            <a:tile tx="0" ty="0" sx="100000" sy="100000" flip="none" algn="tl"/>
          </a:blip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5921" dir="2700000" algn="ctr" rotWithShape="0">
              <a:schemeClr val="tx1"/>
            </a:outerShdw>
          </a:effectLst>
        </p:spPr>
        <p:txBody>
          <a:bodyPr lIns="92075" tIns="46037" rIns="92075" bIns="46037"/>
          <a:lstStyle/>
          <a:p>
            <a:pPr algn="ctr" eaLnBrk="0" hangingPunct="0">
              <a:lnSpc>
                <a:spcPct val="95000"/>
              </a:lnSpc>
              <a:spcBef>
                <a:spcPct val="20000"/>
              </a:spcBef>
              <a:buClr>
                <a:srgbClr val="FFCC66"/>
              </a:buClr>
              <a:buSzPct val="80000"/>
              <a:buFont typeface="Monotype Sorts" charset="2"/>
              <a:buNone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17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17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373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0" y="0"/>
            <a:ext cx="9144000" cy="6858000"/>
          </a:xfrm>
          <a:solidFill>
            <a:srgbClr val="E5FFFF"/>
          </a:solidFill>
        </p:spPr>
        <p:txBody>
          <a:bodyPr/>
          <a:lstStyle/>
          <a:p>
            <a:pPr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#</a:t>
            </a:r>
            <a:r>
              <a:rPr lang="fr-FR" altLang="zh-CN" sz="1800" dirty="0">
                <a:solidFill>
                  <a:schemeClr val="accent2"/>
                </a:solidFill>
                <a:latin typeface="Courier New" pitchFamily="49" charset="0"/>
                <a:ea typeface="宋体" pitchFamily="2" charset="-122"/>
              </a:rPr>
              <a:t>include</a:t>
            </a: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  &lt;stdlib.h&gt;</a:t>
            </a:r>
          </a:p>
          <a:p>
            <a:pPr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#</a:t>
            </a:r>
            <a:r>
              <a:rPr lang="fr-FR" altLang="zh-CN" sz="1800" dirty="0">
                <a:solidFill>
                  <a:schemeClr val="accent2"/>
                </a:solidFill>
                <a:latin typeface="Courier New" pitchFamily="49" charset="0"/>
                <a:ea typeface="宋体" pitchFamily="2" charset="-122"/>
              </a:rPr>
              <a:t>include</a:t>
            </a: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  &lt;stdio.h&gt;</a:t>
            </a:r>
          </a:p>
          <a:p>
            <a:pPr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#</a:t>
            </a:r>
            <a:r>
              <a:rPr lang="fr-FR" altLang="zh-CN" sz="1800" dirty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ea typeface="宋体" pitchFamily="2" charset="-122"/>
              </a:rPr>
              <a:t>include</a:t>
            </a: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  &lt;time.h&gt;</a:t>
            </a:r>
          </a:p>
          <a:p>
            <a:pPr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int main()</a:t>
            </a:r>
          </a:p>
          <a:p>
            <a:pPr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{ </a:t>
            </a:r>
          </a:p>
          <a:p>
            <a:pPr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	</a:t>
            </a:r>
            <a:r>
              <a:rPr lang="fr-FR" altLang="zh-CN" sz="1800" dirty="0">
                <a:solidFill>
                  <a:schemeClr val="accent2"/>
                </a:solidFill>
                <a:latin typeface="Courier New" pitchFamily="49" charset="0"/>
                <a:ea typeface="宋体" pitchFamily="2" charset="-122"/>
              </a:rPr>
              <a:t>int</a:t>
            </a: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  magic</a:t>
            </a:r>
            <a:r>
              <a:rPr lang="fr-FR" altLang="zh-CN" sz="1800" dirty="0">
                <a:latin typeface="Courier New" pitchFamily="49" charset="0"/>
                <a:ea typeface="宋体" pitchFamily="2" charset="-122"/>
              </a:rPr>
              <a:t>,</a:t>
            </a: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 guess</a:t>
            </a:r>
            <a:r>
              <a:rPr lang="fr-FR" altLang="zh-CN" sz="1800" dirty="0">
                <a:latin typeface="Courier New" pitchFamily="49" charset="0"/>
                <a:ea typeface="宋体" pitchFamily="2" charset="-122"/>
              </a:rPr>
              <a:t>;</a:t>
            </a: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              </a:t>
            </a:r>
          </a:p>
          <a:p>
            <a:pPr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	srand(time(NULL)); </a:t>
            </a:r>
          </a:p>
          <a:p>
            <a:pPr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	magic = rand() % 100 + 1;</a:t>
            </a:r>
          </a:p>
          <a:p>
            <a:pPr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 </a:t>
            </a:r>
          </a:p>
          <a:p>
            <a:pPr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	</a:t>
            </a:r>
            <a:r>
              <a:rPr lang="en-US" altLang="zh-CN" sz="1800" dirty="0">
                <a:solidFill>
                  <a:srgbClr val="FF0000"/>
                </a:solidFill>
                <a:latin typeface="Courier New" pitchFamily="49" charset="0"/>
                <a:ea typeface="宋体" pitchFamily="2" charset="-122"/>
              </a:rPr>
              <a:t>long start = time(NULL);</a:t>
            </a:r>
          </a:p>
          <a:p>
            <a:pPr>
              <a:lnSpc>
                <a:spcPct val="75000"/>
              </a:lnSpc>
              <a:buFont typeface="Monotype Sorts" charset="2"/>
              <a:buNone/>
              <a:defRPr/>
            </a:pPr>
            <a:r>
              <a:rPr lang="en-US" altLang="zh-CN" sz="1800" dirty="0">
                <a:latin typeface="Courier New" pitchFamily="49" charset="0"/>
                <a:ea typeface="宋体" pitchFamily="2" charset="-122"/>
              </a:rPr>
              <a:t>  </a:t>
            </a:r>
            <a:r>
              <a:rPr lang="fr-FR" altLang="zh-CN" sz="1800" dirty="0">
                <a:solidFill>
                  <a:schemeClr val="accent2"/>
                </a:solidFill>
                <a:latin typeface="Courier New" pitchFamily="49" charset="0"/>
                <a:ea typeface="宋体" pitchFamily="2" charset="-122"/>
              </a:rPr>
              <a:t>do</a:t>
            </a:r>
            <a:r>
              <a:rPr lang="fr-FR" altLang="zh-CN" sz="1800" dirty="0">
                <a:solidFill>
                  <a:schemeClr val="hlink"/>
                </a:solidFill>
                <a:latin typeface="Courier New" pitchFamily="49" charset="0"/>
                <a:ea typeface="宋体" pitchFamily="2" charset="-122"/>
              </a:rPr>
              <a:t>{</a:t>
            </a:r>
          </a:p>
          <a:p>
            <a:pPr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		printf("Please guess a magic number:");</a:t>
            </a:r>
          </a:p>
          <a:p>
            <a:pPr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		scanf("%d", &amp;guess);        </a:t>
            </a:r>
          </a:p>
          <a:p>
            <a:pPr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		</a:t>
            </a:r>
            <a:r>
              <a:rPr lang="fr-FR" altLang="zh-CN" sz="1800" dirty="0">
                <a:solidFill>
                  <a:schemeClr val="accent2"/>
                </a:solidFill>
                <a:latin typeface="Courier New" pitchFamily="49" charset="0"/>
                <a:ea typeface="宋体" pitchFamily="2" charset="-122"/>
              </a:rPr>
              <a:t>if</a:t>
            </a: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 (guess &gt; magic)          </a:t>
            </a:r>
          </a:p>
          <a:p>
            <a:pPr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		    printf("Wrong! Too high!\n");</a:t>
            </a:r>
          </a:p>
          <a:p>
            <a:pPr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		</a:t>
            </a:r>
            <a:r>
              <a:rPr lang="fr-FR" altLang="zh-CN" sz="1800" dirty="0">
                <a:solidFill>
                  <a:schemeClr val="accent2"/>
                </a:solidFill>
                <a:latin typeface="Courier New" pitchFamily="49" charset="0"/>
                <a:ea typeface="宋体" pitchFamily="2" charset="-122"/>
              </a:rPr>
              <a:t>else if</a:t>
            </a: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 (guess &lt; magic)       </a:t>
            </a:r>
          </a:p>
          <a:p>
            <a:pPr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		    printf("Wrong! Too low!\n");</a:t>
            </a:r>
          </a:p>
          <a:p>
            <a:pPr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800" dirty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ea typeface="宋体" pitchFamily="2" charset="-122"/>
              </a:rPr>
              <a:t>       else</a:t>
            </a:r>
          </a:p>
          <a:p>
            <a:pPr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           printf("Right!\n");</a:t>
            </a:r>
          </a:p>
          <a:p>
            <a:pPr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	</a:t>
            </a:r>
            <a:r>
              <a:rPr lang="fr-FR" altLang="zh-CN" sz="1800" dirty="0">
                <a:solidFill>
                  <a:schemeClr val="hlink"/>
                </a:solidFill>
                <a:latin typeface="Courier New" pitchFamily="49" charset="0"/>
                <a:ea typeface="宋体" pitchFamily="2" charset="-122"/>
              </a:rPr>
              <a:t>}</a:t>
            </a:r>
            <a:r>
              <a:rPr lang="fr-FR" altLang="zh-CN" sz="1800" dirty="0">
                <a:solidFill>
                  <a:schemeClr val="accent2"/>
                </a:solidFill>
                <a:latin typeface="Courier New" pitchFamily="49" charset="0"/>
                <a:ea typeface="宋体" pitchFamily="2" charset="-122"/>
              </a:rPr>
              <a:t>while</a:t>
            </a:r>
            <a:r>
              <a:rPr lang="fr-FR" altLang="zh-CN" sz="1800" dirty="0">
                <a:solidFill>
                  <a:schemeClr val="hlink"/>
                </a:solidFill>
                <a:latin typeface="Courier New" pitchFamily="49" charset="0"/>
                <a:ea typeface="宋体" pitchFamily="2" charset="-122"/>
              </a:rPr>
              <a:t> </a:t>
            </a: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(guess != magic);        </a:t>
            </a:r>
          </a:p>
          <a:p>
            <a:pPr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	 </a:t>
            </a:r>
            <a:r>
              <a:rPr lang="fr-FR" altLang="zh-CN" sz="1800" dirty="0">
                <a:solidFill>
                  <a:srgbClr val="FF0000"/>
                </a:solidFill>
                <a:latin typeface="Courier New" pitchFamily="49" charset="0"/>
                <a:ea typeface="宋体" pitchFamily="2" charset="-122"/>
              </a:rPr>
              <a:t>long end = time(NULL);</a:t>
            </a:r>
          </a:p>
          <a:p>
            <a:pPr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800" dirty="0">
                <a:latin typeface="Courier New" pitchFamily="49" charset="0"/>
                <a:ea typeface="宋体" pitchFamily="2" charset="-122"/>
              </a:rPr>
              <a:t>  </a:t>
            </a:r>
            <a:r>
              <a:rPr lang="en-US" altLang="zh-CN" sz="1800" dirty="0">
                <a:solidFill>
                  <a:srgbClr val="FF0000"/>
                </a:solidFill>
                <a:latin typeface="Courier New" pitchFamily="49" charset="0"/>
              </a:rPr>
              <a:t>	 </a:t>
            </a:r>
            <a:r>
              <a:rPr lang="en-US" altLang="zh-CN" sz="1800" dirty="0" err="1">
                <a:solidFill>
                  <a:srgbClr val="FF0000"/>
                </a:solidFill>
                <a:latin typeface="Courier New" pitchFamily="49" charset="0"/>
              </a:rPr>
              <a:t>printf</a:t>
            </a:r>
            <a:r>
              <a:rPr lang="en-US" altLang="zh-CN" sz="1800" dirty="0">
                <a:solidFill>
                  <a:srgbClr val="FF0000"/>
                </a:solidFill>
                <a:latin typeface="Courier New" pitchFamily="49" charset="0"/>
              </a:rPr>
              <a:t>("It takes %</a:t>
            </a:r>
            <a:r>
              <a:rPr lang="en-US" altLang="zh-CN" sz="1800" dirty="0" err="1">
                <a:solidFill>
                  <a:srgbClr val="FF0000"/>
                </a:solidFill>
                <a:latin typeface="Courier New" pitchFamily="49" charset="0"/>
              </a:rPr>
              <a:t>ld</a:t>
            </a:r>
            <a:r>
              <a:rPr lang="en-US" altLang="zh-CN" sz="1800" dirty="0">
                <a:solidFill>
                  <a:srgbClr val="FF0000"/>
                </a:solidFill>
                <a:latin typeface="Courier New" pitchFamily="49" charset="0"/>
              </a:rPr>
              <a:t> seconds.\n", end - start);</a:t>
            </a:r>
          </a:p>
          <a:p>
            <a:pPr>
              <a:lnSpc>
                <a:spcPct val="75000"/>
              </a:lnSpc>
              <a:buFont typeface="Monotype Sorts" charset="2"/>
              <a:buNone/>
              <a:defRPr/>
            </a:pPr>
            <a:r>
              <a:rPr lang="en-US" altLang="zh-CN" sz="1800" dirty="0">
                <a:solidFill>
                  <a:srgbClr val="FF0000"/>
                </a:solidFill>
                <a:latin typeface="Courier New" pitchFamily="49" charset="0"/>
              </a:rPr>
              <a:t>   </a:t>
            </a:r>
            <a:r>
              <a:rPr lang="en-US" altLang="zh-CN" sz="1800" dirty="0">
                <a:latin typeface="Courier New" pitchFamily="49" charset="0"/>
              </a:rPr>
              <a:t>return 0;</a:t>
            </a:r>
          </a:p>
          <a:p>
            <a:pPr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8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}</a:t>
            </a:r>
            <a:endParaRPr lang="zh-CN" altLang="en-US" sz="1800" dirty="0">
              <a:solidFill>
                <a:schemeClr val="tx1"/>
              </a:solidFill>
              <a:latin typeface="Courier New" pitchFamily="49" charset="0"/>
              <a:ea typeface="宋体" pitchFamily="2" charset="-122"/>
            </a:endParaRPr>
          </a:p>
        </p:txBody>
      </p:sp>
      <p:grpSp>
        <p:nvGrpSpPr>
          <p:cNvPr id="3" name="Group 8">
            <a:extLst>
              <a:ext uri="{FF2B5EF4-FFF2-40B4-BE49-F238E27FC236}">
                <a16:creationId xmlns:a16="http://schemas.microsoft.com/office/drawing/2014/main" id="{A8E207C5-10AC-342F-2AD1-5CED7B7EDC9D}"/>
              </a:ext>
            </a:extLst>
          </p:cNvPr>
          <p:cNvGrpSpPr>
            <a:grpSpLocks/>
          </p:cNvGrpSpPr>
          <p:nvPr/>
        </p:nvGrpSpPr>
        <p:grpSpPr bwMode="auto">
          <a:xfrm>
            <a:off x="4068763" y="188913"/>
            <a:ext cx="2879725" cy="1152525"/>
            <a:chOff x="521" y="3294"/>
            <a:chExt cx="726" cy="726"/>
          </a:xfrm>
        </p:grpSpPr>
        <p:sp>
          <p:nvSpPr>
            <p:cNvPr id="4" name="Oval 9">
              <a:extLst>
                <a:ext uri="{FF2B5EF4-FFF2-40B4-BE49-F238E27FC236}">
                  <a16:creationId xmlns:a16="http://schemas.microsoft.com/office/drawing/2014/main" id="{BD9ECB47-AA07-5776-9A6F-E84F1A55D5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1" y="3294"/>
              <a:ext cx="726" cy="726"/>
            </a:xfrm>
            <a:prstGeom prst="ellipse">
              <a:avLst/>
            </a:prstGeom>
            <a:solidFill>
              <a:srgbClr val="0066CC"/>
            </a:solidFill>
            <a:ln w="19050" algn="ctr">
              <a:solidFill>
                <a:srgbClr val="99CCFF"/>
              </a:solidFill>
              <a:round/>
              <a:headEnd/>
              <a:tailEnd/>
            </a:ln>
            <a:effectLst>
              <a:outerShdw dist="35921" dir="2700000" algn="ctr" rotWithShape="0">
                <a:srgbClr val="990000"/>
              </a:outerShdw>
            </a:effectLst>
          </p:spPr>
          <p:txBody>
            <a:bodyPr lIns="0" tIns="0" rIns="0" bIns="0" anchor="ctr">
              <a:spAutoFit/>
            </a:bodyPr>
            <a:lstStyle/>
            <a:p>
              <a:pPr algn="ctr" eaLnBrk="0" hangingPunct="0">
                <a:lnSpc>
                  <a:spcPct val="95000"/>
                </a:lnSpc>
                <a:spcBef>
                  <a:spcPct val="20000"/>
                </a:spcBef>
                <a:buClr>
                  <a:srgbClr val="FFCC66"/>
                </a:buClr>
                <a:buSzPct val="80000"/>
                <a:buFont typeface="Monotype Sorts" charset="2"/>
                <a:buNone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" name="Text Box 10">
              <a:extLst>
                <a:ext uri="{FF2B5EF4-FFF2-40B4-BE49-F238E27FC236}">
                  <a16:creationId xmlns:a16="http://schemas.microsoft.com/office/drawing/2014/main" id="{5BE79BCD-0459-5477-CA99-936D52D8E6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2" y="3479"/>
              <a:ext cx="590" cy="233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kumimoji="1" lang="zh-CN" altLang="en-US" sz="2400" dirty="0">
                  <a:solidFill>
                    <a:srgbClr val="FFFF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隶书" pitchFamily="49" charset="-122"/>
                  <a:ea typeface="隶书" pitchFamily="49" charset="-122"/>
                </a:rPr>
                <a:t>记录时间</a:t>
              </a:r>
              <a:endParaRPr lang="zh-CN" altLang="en-US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117137848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57037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57037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472" y="214290"/>
            <a:ext cx="8001000" cy="755650"/>
          </a:xfrm>
        </p:spPr>
        <p:txBody>
          <a:bodyPr>
            <a:normAutofit/>
          </a:bodyPr>
          <a:lstStyle/>
          <a:p>
            <a:r>
              <a:rPr lang="zh-CN" altLang="en-US" sz="4000" b="1" dirty="0">
                <a:latin typeface="黑体" pitchFamily="2" charset="-122"/>
                <a:ea typeface="黑体" pitchFamily="2" charset="-122"/>
              </a:rPr>
              <a:t>程序练习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54791" y="2564904"/>
            <a:ext cx="8434418" cy="1000132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altLang="zh-CN" dirty="0"/>
              <a:t>2.  </a:t>
            </a:r>
            <a:r>
              <a:rPr lang="zh-CN" altLang="zh-CN" dirty="0"/>
              <a:t>三色球问题。若一个口袋中放有</a:t>
            </a:r>
            <a:r>
              <a:rPr lang="en-US" altLang="zh-CN" dirty="0"/>
              <a:t>12</a:t>
            </a:r>
            <a:r>
              <a:rPr lang="zh-CN" altLang="zh-CN" dirty="0"/>
              <a:t>个球，其中有</a:t>
            </a:r>
            <a:r>
              <a:rPr lang="en-US" altLang="zh-CN" dirty="0"/>
              <a:t>3</a:t>
            </a:r>
            <a:r>
              <a:rPr lang="zh-CN" altLang="zh-CN" dirty="0"/>
              <a:t>个红色的，</a:t>
            </a:r>
            <a:r>
              <a:rPr lang="en-US" altLang="zh-CN" dirty="0"/>
              <a:t>3</a:t>
            </a:r>
            <a:r>
              <a:rPr lang="zh-CN" altLang="zh-CN" dirty="0"/>
              <a:t>个白色的，</a:t>
            </a:r>
            <a:r>
              <a:rPr lang="en-US" altLang="zh-CN" dirty="0"/>
              <a:t>6</a:t>
            </a:r>
            <a:r>
              <a:rPr lang="zh-CN" altLang="zh-CN" dirty="0"/>
              <a:t>个黑色的，从中任取</a:t>
            </a:r>
            <a:r>
              <a:rPr lang="en-US" altLang="zh-CN" dirty="0"/>
              <a:t>8</a:t>
            </a:r>
            <a:r>
              <a:rPr lang="zh-CN" altLang="zh-CN" dirty="0"/>
              <a:t>个球，</a:t>
            </a:r>
            <a:r>
              <a:rPr lang="zh-CN" altLang="en-US" dirty="0"/>
              <a:t>输出所有</a:t>
            </a:r>
            <a:r>
              <a:rPr lang="zh-CN" altLang="zh-CN" dirty="0"/>
              <a:t>不同的颜色搭配</a:t>
            </a:r>
            <a:r>
              <a:rPr lang="en-US" altLang="zh-CN" dirty="0"/>
              <a:t>.</a:t>
            </a:r>
          </a:p>
          <a:p>
            <a:endParaRPr lang="zh-CN" altLang="zh-CN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500034" y="1000108"/>
            <a:ext cx="8358246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1.  </a:t>
            </a:r>
            <a:r>
              <a:rPr lang="zh-CN" altLang="zh-CN" sz="2400" dirty="0"/>
              <a:t>从键盘任意输入一个</a:t>
            </a:r>
            <a:r>
              <a:rPr lang="en-US" altLang="zh-CN" sz="2400" dirty="0"/>
              <a:t>4</a:t>
            </a:r>
            <a:r>
              <a:rPr lang="zh-CN" altLang="zh-CN" sz="2400" dirty="0"/>
              <a:t>位数</a:t>
            </a:r>
            <a:r>
              <a:rPr lang="en-US" altLang="zh-CN" sz="2400" i="1" dirty="0"/>
              <a:t>x</a:t>
            </a:r>
            <a:r>
              <a:rPr lang="zh-CN" altLang="zh-CN" sz="2400" dirty="0"/>
              <a:t>，编程计算</a:t>
            </a:r>
            <a:r>
              <a:rPr lang="en-US" altLang="zh-CN" sz="2400" i="1" dirty="0"/>
              <a:t>x</a:t>
            </a:r>
            <a:r>
              <a:rPr lang="zh-CN" altLang="zh-CN" sz="2400" dirty="0"/>
              <a:t>的每一位数字相加之和（忽略整数前的正负号）</a:t>
            </a:r>
            <a:r>
              <a:rPr lang="en-US" altLang="zh-CN" sz="2400" dirty="0"/>
              <a:t>. </a:t>
            </a:r>
            <a:r>
              <a:rPr lang="zh-CN" altLang="zh-CN" sz="2400" dirty="0"/>
              <a:t>例如，输入</a:t>
            </a:r>
            <a:r>
              <a:rPr lang="en-US" altLang="zh-CN" sz="2400" i="1" dirty="0"/>
              <a:t>x</a:t>
            </a:r>
            <a:r>
              <a:rPr lang="zh-CN" altLang="zh-CN" sz="2400" dirty="0"/>
              <a:t>为</a:t>
            </a:r>
            <a:r>
              <a:rPr lang="en-US" altLang="zh-CN" sz="2400" dirty="0"/>
              <a:t>1234</a:t>
            </a:r>
            <a:r>
              <a:rPr lang="zh-CN" altLang="zh-CN" sz="2400" dirty="0"/>
              <a:t>，则由</a:t>
            </a:r>
            <a:r>
              <a:rPr lang="en-US" altLang="zh-CN" sz="2400" dirty="0"/>
              <a:t>1234</a:t>
            </a:r>
            <a:r>
              <a:rPr lang="zh-CN" altLang="zh-CN" sz="2400" dirty="0"/>
              <a:t>分离出其千位</a:t>
            </a:r>
            <a:r>
              <a:rPr lang="en-US" altLang="zh-CN" sz="2400" dirty="0"/>
              <a:t>1</a:t>
            </a:r>
            <a:r>
              <a:rPr lang="zh-CN" altLang="zh-CN" sz="2400" dirty="0"/>
              <a:t>、百位</a:t>
            </a:r>
            <a:r>
              <a:rPr lang="en-US" altLang="zh-CN" sz="2400" dirty="0"/>
              <a:t>2</a:t>
            </a:r>
            <a:r>
              <a:rPr lang="zh-CN" altLang="zh-CN" sz="2400" dirty="0"/>
              <a:t>、十位</a:t>
            </a:r>
            <a:r>
              <a:rPr lang="en-US" altLang="zh-CN" sz="2400" dirty="0"/>
              <a:t>3</a:t>
            </a:r>
            <a:r>
              <a:rPr lang="zh-CN" altLang="zh-CN" sz="2400" dirty="0"/>
              <a:t>、个位</a:t>
            </a:r>
            <a:r>
              <a:rPr lang="en-US" altLang="zh-CN" sz="2400" dirty="0"/>
              <a:t>4</a:t>
            </a:r>
            <a:r>
              <a:rPr lang="zh-CN" altLang="zh-CN" sz="2400" dirty="0"/>
              <a:t>，然后计算</a:t>
            </a:r>
            <a:r>
              <a:rPr lang="en-US" altLang="zh-CN" sz="2400" dirty="0"/>
              <a:t>1+2+3+4=10</a:t>
            </a:r>
            <a:r>
              <a:rPr lang="zh-CN" altLang="zh-CN" sz="2400" dirty="0"/>
              <a:t>，并输出</a:t>
            </a:r>
            <a:r>
              <a:rPr lang="en-US" altLang="zh-CN" sz="2400" dirty="0"/>
              <a:t>10.</a:t>
            </a:r>
            <a:endParaRPr lang="zh-CN" altLang="zh-CN" sz="2400" dirty="0"/>
          </a:p>
          <a:p>
            <a:endParaRPr lang="zh-CN" altLang="en-US" dirty="0"/>
          </a:p>
        </p:txBody>
      </p:sp>
      <p:sp>
        <p:nvSpPr>
          <p:cNvPr id="8" name="Text Placeholder 2"/>
          <p:cNvSpPr txBox="1">
            <a:spLocks/>
          </p:cNvSpPr>
          <p:nvPr/>
        </p:nvSpPr>
        <p:spPr>
          <a:xfrm>
            <a:off x="392849" y="3861048"/>
            <a:ext cx="8358246" cy="2376264"/>
          </a:xfrm>
          <a:prstGeom prst="rect">
            <a:avLst/>
          </a:prstGeom>
        </p:spPr>
        <p:txBody>
          <a:bodyPr vert="horz">
            <a:noAutofit/>
          </a:bodyPr>
          <a:lstStyle/>
          <a:p>
            <a:pPr marL="0" indent="0">
              <a:buNone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3.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一串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色珠子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由左到右按照两个红珠子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三个黄珠子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一个蓝珠子的规律串起来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请编写程序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输入珠子自左数的位置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显示珠子的颜色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</a:p>
          <a:p>
            <a:pPr marL="0" indent="0">
              <a:buNone/>
            </a:pPr>
            <a:endParaRPr lang="en-US" altLang="zh-CN" sz="2400" dirty="0"/>
          </a:p>
          <a:p>
            <a:r>
              <a:rPr lang="en-US" altLang="zh-CN" sz="2400" dirty="0"/>
              <a:t>4. </a:t>
            </a:r>
            <a:r>
              <a:rPr lang="zh-CN" altLang="en-US" sz="2400" dirty="0"/>
              <a:t>一个数如果恰好等于它的因子之和，这个数就称为“完数”。例如，</a:t>
            </a:r>
            <a:r>
              <a:rPr lang="en-US" altLang="zh-CN" sz="2400" dirty="0"/>
              <a:t>6</a:t>
            </a:r>
            <a:r>
              <a:rPr lang="zh-CN" altLang="en-US" sz="2400" dirty="0"/>
              <a:t>的因子为</a:t>
            </a:r>
            <a:r>
              <a:rPr lang="en-US" altLang="zh-CN" sz="2400" dirty="0"/>
              <a:t>1,2,3</a:t>
            </a:r>
            <a:r>
              <a:rPr lang="zh-CN" altLang="en-US" sz="2400" dirty="0"/>
              <a:t>，且</a:t>
            </a:r>
            <a:r>
              <a:rPr lang="en-US" altLang="zh-CN" sz="2400" dirty="0"/>
              <a:t>6=1+2+3</a:t>
            </a:r>
            <a:r>
              <a:rPr lang="zh-CN" altLang="en-US" sz="2400" dirty="0"/>
              <a:t>，因此</a:t>
            </a:r>
            <a:r>
              <a:rPr lang="en-US" altLang="zh-CN" sz="2400" dirty="0"/>
              <a:t>6</a:t>
            </a:r>
            <a:r>
              <a:rPr lang="zh-CN" altLang="en-US" sz="2400" dirty="0"/>
              <a:t>是完数。求出所有</a:t>
            </a:r>
            <a:r>
              <a:rPr lang="en-US" altLang="zh-CN" sz="2400" dirty="0"/>
              <a:t>1000</a:t>
            </a:r>
            <a:r>
              <a:rPr lang="zh-CN" altLang="en-US" sz="2400" dirty="0"/>
              <a:t>之内的完数，并按照格式输出：</a:t>
            </a:r>
            <a:r>
              <a:rPr lang="en-US" altLang="zh-CN" sz="2400" dirty="0"/>
              <a:t>X=y1+y2+y3</a:t>
            </a:r>
            <a:r>
              <a:rPr lang="zh-CN" altLang="en-US" sz="2400" dirty="0"/>
              <a:t>。。。</a:t>
            </a:r>
            <a:endParaRPr lang="en-US" altLang="zh-CN" sz="2400" dirty="0"/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efault Theme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1697</TotalTime>
  <Words>4386</Words>
  <Application>Microsoft Office PowerPoint</Application>
  <PresentationFormat>全屏显示(4:3)</PresentationFormat>
  <Paragraphs>677</Paragraphs>
  <Slides>51</Slides>
  <Notes>5</Notes>
  <HiddenSlides>3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51</vt:i4>
      </vt:variant>
    </vt:vector>
  </HeadingPairs>
  <TitlesOfParts>
    <vt:vector size="69" baseType="lpstr">
      <vt:lpstr>Monotype Sorts</vt:lpstr>
      <vt:lpstr>TimesNewRomanPS</vt:lpstr>
      <vt:lpstr>TimesNewRomanPSMT</vt:lpstr>
      <vt:lpstr>黑体</vt:lpstr>
      <vt:lpstr>华文仿宋</vt:lpstr>
      <vt:lpstr>华文新魏</vt:lpstr>
      <vt:lpstr>楷体_GB2312</vt:lpstr>
      <vt:lpstr>隶书</vt:lpstr>
      <vt:lpstr>SimSun</vt:lpstr>
      <vt:lpstr>SimSun</vt:lpstr>
      <vt:lpstr>Arial</vt:lpstr>
      <vt:lpstr>Calibri</vt:lpstr>
      <vt:lpstr>Constantia</vt:lpstr>
      <vt:lpstr>Courier New</vt:lpstr>
      <vt:lpstr>Times New Roman</vt:lpstr>
      <vt:lpstr>Wingdings</vt:lpstr>
      <vt:lpstr>Wingdings 2</vt:lpstr>
      <vt:lpstr>Default Theme</vt:lpstr>
      <vt:lpstr>PowerPoint 演示文稿</vt:lpstr>
      <vt:lpstr>PowerPoint 演示文稿</vt:lpstr>
      <vt:lpstr>PowerPoint 演示文稿</vt:lpstr>
      <vt:lpstr>三种循环结构比较</vt:lpstr>
      <vt:lpstr>使用 do-while 循环语句:</vt:lpstr>
      <vt:lpstr>使用 for 循环语句:</vt:lpstr>
      <vt:lpstr>三种循环语句在代码编写时也有一些区别：</vt:lpstr>
      <vt:lpstr>PowerPoint 演示文稿</vt:lpstr>
      <vt:lpstr>嵌套的循环结构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标志量的写法</vt:lpstr>
      <vt:lpstr>PowerPoint 演示文稿</vt:lpstr>
      <vt:lpstr>3.5  简单程序设计实例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【例3.25】输入n个整数(&gt;2),输出其中的次最大数</vt:lpstr>
      <vt:lpstr>PowerPoint 演示文稿</vt:lpstr>
      <vt:lpstr>PowerPoint 演示文稿</vt:lpstr>
      <vt:lpstr>【例】求以下算式:      S = 1 + 1+2 + 1+2+3 + ..... + 1+2+3...+n 其中n从键盘输入。 分析：为计算s，让i从1至n变化，循环体先计算p = 1+2+...+i，然后将p累计到s。为计算p，用循环，让j从1至i变化，将j累计到p即可。    </vt:lpstr>
      <vt:lpstr>#include &lt;stdio.h&gt; void main() {  int i, p, s, n;     printf("Enter n!\n");     scanf("%d", &amp;n);     for(i = 1, p = s = 0; i &lt;= n; i++)         s += p += i;     printf("S = %d\n", s); } </vt:lpstr>
      <vt:lpstr>【例3.26】找出所有各位数字的立方和等于1099的三位整数</vt:lpstr>
      <vt:lpstr>【例3.26】找出所有各位数字的立方和等于1099的三位整数</vt:lpstr>
      <vt:lpstr>【例3.27】输入一整数，输出小于等于该整数的全部质数</vt:lpstr>
      <vt:lpstr>PowerPoint 演示文稿</vt:lpstr>
      <vt:lpstr>PowerPoint 演示文稿</vt:lpstr>
      <vt:lpstr>PowerPoint 演示文稿</vt:lpstr>
      <vt:lpstr>【例3.29】输入x，求级数s(x)的近似值</vt:lpstr>
      <vt:lpstr>算法</vt:lpstr>
      <vt:lpstr>PowerPoint 演示文稿</vt:lpstr>
      <vt:lpstr>PowerPoint 演示文稿</vt:lpstr>
      <vt:lpstr>PowerPoint 演示文稿</vt:lpstr>
      <vt:lpstr>循序渐进式编程：猜数游戏 </vt:lpstr>
      <vt:lpstr>猜数游戏用到的库函数</vt:lpstr>
      <vt:lpstr>PowerPoint 演示文稿</vt:lpstr>
      <vt:lpstr>PowerPoint 演示文稿</vt:lpstr>
      <vt:lpstr>猜数游戏用到的库函数</vt:lpstr>
      <vt:lpstr>PowerPoint 演示文稿</vt:lpstr>
      <vt:lpstr>猜数游戏用到的库函数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程序练习</vt:lpstr>
    </vt:vector>
  </TitlesOfParts>
  <Company>番茄花园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home</dc:creator>
  <cp:lastModifiedBy>User</cp:lastModifiedBy>
  <cp:revision>118</cp:revision>
  <dcterms:created xsi:type="dcterms:W3CDTF">2009-10-14T02:29:49Z</dcterms:created>
  <dcterms:modified xsi:type="dcterms:W3CDTF">2025-10-16T07:59:03Z</dcterms:modified>
</cp:coreProperties>
</file>